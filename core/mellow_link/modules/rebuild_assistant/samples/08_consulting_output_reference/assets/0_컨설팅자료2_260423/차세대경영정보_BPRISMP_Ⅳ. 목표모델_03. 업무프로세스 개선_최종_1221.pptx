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833" saveSubsetFonts="1">
  <p:sldMasterIdLst>
    <p:sldMasterId id="2147483671" r:id="rId4"/>
  </p:sldMasterIdLst>
  <p:notesMasterIdLst>
    <p:notesMasterId r:id="rId287"/>
  </p:notesMasterIdLst>
  <p:handoutMasterIdLst>
    <p:handoutMasterId r:id="rId288"/>
  </p:handoutMasterIdLst>
  <p:sldIdLst>
    <p:sldId id="1501" r:id="rId5"/>
    <p:sldId id="1606" r:id="rId6"/>
    <p:sldId id="1924" r:id="rId7"/>
    <p:sldId id="1502" r:id="rId8"/>
    <p:sldId id="1503" r:id="rId9"/>
    <p:sldId id="1504" r:id="rId10"/>
    <p:sldId id="1505" r:id="rId11"/>
    <p:sldId id="1506" r:id="rId12"/>
    <p:sldId id="1507" r:id="rId13"/>
    <p:sldId id="1508" r:id="rId14"/>
    <p:sldId id="1509" r:id="rId15"/>
    <p:sldId id="1510" r:id="rId16"/>
    <p:sldId id="1511" r:id="rId17"/>
    <p:sldId id="1512" r:id="rId18"/>
    <p:sldId id="1513" r:id="rId19"/>
    <p:sldId id="1514" r:id="rId20"/>
    <p:sldId id="1515" r:id="rId21"/>
    <p:sldId id="1828" r:id="rId22"/>
    <p:sldId id="1829" r:id="rId23"/>
    <p:sldId id="1830" r:id="rId24"/>
    <p:sldId id="1831" r:id="rId25"/>
    <p:sldId id="1832" r:id="rId26"/>
    <p:sldId id="1833" r:id="rId27"/>
    <p:sldId id="1834" r:id="rId28"/>
    <p:sldId id="1835" r:id="rId29"/>
    <p:sldId id="1836" r:id="rId30"/>
    <p:sldId id="1837" r:id="rId31"/>
    <p:sldId id="1838" r:id="rId32"/>
    <p:sldId id="1839" r:id="rId33"/>
    <p:sldId id="1840" r:id="rId34"/>
    <p:sldId id="1841" r:id="rId35"/>
    <p:sldId id="1842" r:id="rId36"/>
    <p:sldId id="1843" r:id="rId37"/>
    <p:sldId id="1844" r:id="rId38"/>
    <p:sldId id="1845" r:id="rId39"/>
    <p:sldId id="1846" r:id="rId40"/>
    <p:sldId id="1847" r:id="rId41"/>
    <p:sldId id="1848" r:id="rId42"/>
    <p:sldId id="1849" r:id="rId43"/>
    <p:sldId id="1850" r:id="rId44"/>
    <p:sldId id="1851" r:id="rId45"/>
    <p:sldId id="1852" r:id="rId46"/>
    <p:sldId id="1853" r:id="rId47"/>
    <p:sldId id="1854" r:id="rId48"/>
    <p:sldId id="1855" r:id="rId49"/>
    <p:sldId id="1856" r:id="rId50"/>
    <p:sldId id="1857" r:id="rId51"/>
    <p:sldId id="1858" r:id="rId52"/>
    <p:sldId id="1859" r:id="rId53"/>
    <p:sldId id="1860" r:id="rId54"/>
    <p:sldId id="1861" r:id="rId55"/>
    <p:sldId id="1862" r:id="rId56"/>
    <p:sldId id="1863" r:id="rId57"/>
    <p:sldId id="1864" r:id="rId58"/>
    <p:sldId id="1865" r:id="rId59"/>
    <p:sldId id="1866" r:id="rId60"/>
    <p:sldId id="1932" r:id="rId61"/>
    <p:sldId id="1868" r:id="rId62"/>
    <p:sldId id="1869" r:id="rId63"/>
    <p:sldId id="1870" r:id="rId64"/>
    <p:sldId id="1871" r:id="rId65"/>
    <p:sldId id="1872" r:id="rId66"/>
    <p:sldId id="1873" r:id="rId67"/>
    <p:sldId id="1874" r:id="rId68"/>
    <p:sldId id="1875" r:id="rId69"/>
    <p:sldId id="1876" r:id="rId70"/>
    <p:sldId id="1877" r:id="rId71"/>
    <p:sldId id="1933" r:id="rId72"/>
    <p:sldId id="1879" r:id="rId73"/>
    <p:sldId id="1934" r:id="rId74"/>
    <p:sldId id="1881" r:id="rId75"/>
    <p:sldId id="1882" r:id="rId76"/>
    <p:sldId id="1883" r:id="rId77"/>
    <p:sldId id="1884" r:id="rId78"/>
    <p:sldId id="1885" r:id="rId79"/>
    <p:sldId id="1886" r:id="rId80"/>
    <p:sldId id="1887" r:id="rId81"/>
    <p:sldId id="1888" r:id="rId82"/>
    <p:sldId id="1889" r:id="rId83"/>
    <p:sldId id="1890" r:id="rId84"/>
    <p:sldId id="1891" r:id="rId85"/>
    <p:sldId id="1892" r:id="rId86"/>
    <p:sldId id="1893" r:id="rId87"/>
    <p:sldId id="1894" r:id="rId88"/>
    <p:sldId id="1895" r:id="rId89"/>
    <p:sldId id="1896" r:id="rId90"/>
    <p:sldId id="1897" r:id="rId91"/>
    <p:sldId id="1898" r:id="rId92"/>
    <p:sldId id="1899" r:id="rId93"/>
    <p:sldId id="1935" r:id="rId94"/>
    <p:sldId id="1936" r:id="rId95"/>
    <p:sldId id="1937" r:id="rId96"/>
    <p:sldId id="1938" r:id="rId97"/>
    <p:sldId id="1904" r:id="rId98"/>
    <p:sldId id="1905" r:id="rId99"/>
    <p:sldId id="1906" r:id="rId100"/>
    <p:sldId id="1907" r:id="rId101"/>
    <p:sldId id="1908" r:id="rId102"/>
    <p:sldId id="1909" r:id="rId103"/>
    <p:sldId id="1910" r:id="rId104"/>
    <p:sldId id="1911" r:id="rId105"/>
    <p:sldId id="1912" r:id="rId106"/>
    <p:sldId id="1939" r:id="rId107"/>
    <p:sldId id="1914" r:id="rId108"/>
    <p:sldId id="1915" r:id="rId109"/>
    <p:sldId id="1916" r:id="rId110"/>
    <p:sldId id="1940" r:id="rId111"/>
    <p:sldId id="1804" r:id="rId112"/>
    <p:sldId id="1941" r:id="rId113"/>
    <p:sldId id="1806" r:id="rId114"/>
    <p:sldId id="1807" r:id="rId115"/>
    <p:sldId id="1808" r:id="rId116"/>
    <p:sldId id="1809" r:id="rId117"/>
    <p:sldId id="1810" r:id="rId118"/>
    <p:sldId id="1811" r:id="rId119"/>
    <p:sldId id="1812" r:id="rId120"/>
    <p:sldId id="1813" r:id="rId121"/>
    <p:sldId id="1942" r:id="rId122"/>
    <p:sldId id="1815" r:id="rId123"/>
    <p:sldId id="1816" r:id="rId124"/>
    <p:sldId id="1817" r:id="rId125"/>
    <p:sldId id="1818" r:id="rId126"/>
    <p:sldId id="1819" r:id="rId127"/>
    <p:sldId id="1827" r:id="rId128"/>
    <p:sldId id="1696" r:id="rId129"/>
    <p:sldId id="1697" r:id="rId130"/>
    <p:sldId id="1698" r:id="rId131"/>
    <p:sldId id="1699" r:id="rId132"/>
    <p:sldId id="1700" r:id="rId133"/>
    <p:sldId id="1701" r:id="rId134"/>
    <p:sldId id="1702" r:id="rId135"/>
    <p:sldId id="1703" r:id="rId136"/>
    <p:sldId id="1704" r:id="rId137"/>
    <p:sldId id="1705" r:id="rId138"/>
    <p:sldId id="1706" r:id="rId139"/>
    <p:sldId id="1707" r:id="rId140"/>
    <p:sldId id="1708" r:id="rId141"/>
    <p:sldId id="1943" r:id="rId142"/>
    <p:sldId id="1710" r:id="rId143"/>
    <p:sldId id="1711" r:id="rId144"/>
    <p:sldId id="1712" r:id="rId145"/>
    <p:sldId id="1713" r:id="rId146"/>
    <p:sldId id="1714" r:id="rId147"/>
    <p:sldId id="1715" r:id="rId148"/>
    <p:sldId id="1716" r:id="rId149"/>
    <p:sldId id="1717" r:id="rId150"/>
    <p:sldId id="1718" r:id="rId151"/>
    <p:sldId id="1719" r:id="rId152"/>
    <p:sldId id="1720" r:id="rId153"/>
    <p:sldId id="1721" r:id="rId154"/>
    <p:sldId id="1722" r:id="rId155"/>
    <p:sldId id="1723" r:id="rId156"/>
    <p:sldId id="1724" r:id="rId157"/>
    <p:sldId id="1944" r:id="rId158"/>
    <p:sldId id="1726" r:id="rId159"/>
    <p:sldId id="1727" r:id="rId160"/>
    <p:sldId id="1728" r:id="rId161"/>
    <p:sldId id="1945" r:id="rId162"/>
    <p:sldId id="1946" r:id="rId163"/>
    <p:sldId id="1731" r:id="rId164"/>
    <p:sldId id="1953" r:id="rId165"/>
    <p:sldId id="1732" r:id="rId166"/>
    <p:sldId id="1733" r:id="rId167"/>
    <p:sldId id="1734" r:id="rId168"/>
    <p:sldId id="1735" r:id="rId169"/>
    <p:sldId id="1736" r:id="rId170"/>
    <p:sldId id="1737" r:id="rId171"/>
    <p:sldId id="1738" r:id="rId172"/>
    <p:sldId id="1954" r:id="rId173"/>
    <p:sldId id="1739" r:id="rId174"/>
    <p:sldId id="1740" r:id="rId175"/>
    <p:sldId id="1741" r:id="rId176"/>
    <p:sldId id="1742" r:id="rId177"/>
    <p:sldId id="1743" r:id="rId178"/>
    <p:sldId id="1744" r:id="rId179"/>
    <p:sldId id="1745" r:id="rId180"/>
    <p:sldId id="1746" r:id="rId181"/>
    <p:sldId id="1747" r:id="rId182"/>
    <p:sldId id="1748" r:id="rId183"/>
    <p:sldId id="1947" r:id="rId184"/>
    <p:sldId id="1750" r:id="rId185"/>
    <p:sldId id="1751" r:id="rId186"/>
    <p:sldId id="1752" r:id="rId187"/>
    <p:sldId id="1753" r:id="rId188"/>
    <p:sldId id="1754" r:id="rId189"/>
    <p:sldId id="1755" r:id="rId190"/>
    <p:sldId id="1756" r:id="rId191"/>
    <p:sldId id="1757" r:id="rId192"/>
    <p:sldId id="1758" r:id="rId193"/>
    <p:sldId id="1759" r:id="rId194"/>
    <p:sldId id="1760" r:id="rId195"/>
    <p:sldId id="1761" r:id="rId196"/>
    <p:sldId id="1762" r:id="rId197"/>
    <p:sldId id="1763" r:id="rId198"/>
    <p:sldId id="1764" r:id="rId199"/>
    <p:sldId id="1765" r:id="rId200"/>
    <p:sldId id="1766" r:id="rId201"/>
    <p:sldId id="1767" r:id="rId202"/>
    <p:sldId id="1768" r:id="rId203"/>
    <p:sldId id="1769" r:id="rId204"/>
    <p:sldId id="1770" r:id="rId205"/>
    <p:sldId id="1948" r:id="rId206"/>
    <p:sldId id="1772" r:id="rId207"/>
    <p:sldId id="1773" r:id="rId208"/>
    <p:sldId id="1774" r:id="rId209"/>
    <p:sldId id="1949" r:id="rId210"/>
    <p:sldId id="1776" r:id="rId211"/>
    <p:sldId id="1777" r:id="rId212"/>
    <p:sldId id="1778" r:id="rId213"/>
    <p:sldId id="1950" r:id="rId214"/>
    <p:sldId id="1780" r:id="rId215"/>
    <p:sldId id="1781" r:id="rId216"/>
    <p:sldId id="1782" r:id="rId217"/>
    <p:sldId id="1783" r:id="rId218"/>
    <p:sldId id="1784" r:id="rId219"/>
    <p:sldId id="1785" r:id="rId220"/>
    <p:sldId id="1786" r:id="rId221"/>
    <p:sldId id="1787" r:id="rId222"/>
    <p:sldId id="1788" r:id="rId223"/>
    <p:sldId id="1789" r:id="rId224"/>
    <p:sldId id="1790" r:id="rId225"/>
    <p:sldId id="1791" r:id="rId226"/>
    <p:sldId id="1792" r:id="rId227"/>
    <p:sldId id="1793" r:id="rId228"/>
    <p:sldId id="1794" r:id="rId229"/>
    <p:sldId id="1795" r:id="rId230"/>
    <p:sldId id="1796" r:id="rId231"/>
    <p:sldId id="1797" r:id="rId232"/>
    <p:sldId id="1951" r:id="rId233"/>
    <p:sldId id="1799" r:id="rId234"/>
    <p:sldId id="1952" r:id="rId235"/>
    <p:sldId id="1801" r:id="rId236"/>
    <p:sldId id="1802" r:id="rId237"/>
    <p:sldId id="1803" r:id="rId238"/>
    <p:sldId id="1918" r:id="rId239"/>
    <p:sldId id="1919" r:id="rId240"/>
    <p:sldId id="1955" r:id="rId241"/>
    <p:sldId id="1956" r:id="rId242"/>
    <p:sldId id="1957" r:id="rId243"/>
    <p:sldId id="1958" r:id="rId244"/>
    <p:sldId id="1614" r:id="rId245"/>
    <p:sldId id="1615" r:id="rId246"/>
    <p:sldId id="1616" r:id="rId247"/>
    <p:sldId id="1617" r:id="rId248"/>
    <p:sldId id="1618" r:id="rId249"/>
    <p:sldId id="1619" r:id="rId250"/>
    <p:sldId id="1620" r:id="rId251"/>
    <p:sldId id="1621" r:id="rId252"/>
    <p:sldId id="1622" r:id="rId253"/>
    <p:sldId id="1623" r:id="rId254"/>
    <p:sldId id="1624" r:id="rId255"/>
    <p:sldId id="1625" r:id="rId256"/>
    <p:sldId id="1626" r:id="rId257"/>
    <p:sldId id="1627" r:id="rId258"/>
    <p:sldId id="1628" r:id="rId259"/>
    <p:sldId id="1629" r:id="rId260"/>
    <p:sldId id="1959" r:id="rId261"/>
    <p:sldId id="1631" r:id="rId262"/>
    <p:sldId id="1968" r:id="rId263"/>
    <p:sldId id="1969" r:id="rId264"/>
    <p:sldId id="1960" r:id="rId265"/>
    <p:sldId id="1961" r:id="rId266"/>
    <p:sldId id="1962" r:id="rId267"/>
    <p:sldId id="1963" r:id="rId268"/>
    <p:sldId id="1964" r:id="rId269"/>
    <p:sldId id="1965" r:id="rId270"/>
    <p:sldId id="1638" r:id="rId271"/>
    <p:sldId id="1639" r:id="rId272"/>
    <p:sldId id="1640" r:id="rId273"/>
    <p:sldId id="1641" r:id="rId274"/>
    <p:sldId id="1642" r:id="rId275"/>
    <p:sldId id="1643" r:id="rId276"/>
    <p:sldId id="1966" r:id="rId277"/>
    <p:sldId id="1645" r:id="rId278"/>
    <p:sldId id="1967" r:id="rId279"/>
    <p:sldId id="1925" r:id="rId280"/>
    <p:sldId id="1926" r:id="rId281"/>
    <p:sldId id="1927" r:id="rId282"/>
    <p:sldId id="1928" r:id="rId283"/>
    <p:sldId id="1929" r:id="rId284"/>
    <p:sldId id="1930" r:id="rId285"/>
    <p:sldId id="1931" r:id="rId286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022" userDrawn="1">
          <p15:clr>
            <a:srgbClr val="A4A3A4"/>
          </p15:clr>
        </p15:guide>
        <p15:guide id="2" orient="horz" pos="4201" userDrawn="1">
          <p15:clr>
            <a:srgbClr val="A4A3A4"/>
          </p15:clr>
        </p15:guide>
        <p15:guide id="3" orient="horz" pos="550" userDrawn="1">
          <p15:clr>
            <a:srgbClr val="A4A3A4"/>
          </p15:clr>
        </p15:guide>
        <p15:guide id="4" orient="horz" pos="3974">
          <p15:clr>
            <a:srgbClr val="A4A3A4"/>
          </p15:clr>
        </p15:guide>
        <p15:guide id="5" orient="horz" pos="981" userDrawn="1">
          <p15:clr>
            <a:srgbClr val="A4A3A4"/>
          </p15:clr>
        </p15:guide>
        <p15:guide id="6" orient="horz" pos="3339">
          <p15:clr>
            <a:srgbClr val="A4A3A4"/>
          </p15:clr>
        </p15:guide>
        <p15:guide id="7" orient="horz" pos="3249" userDrawn="1">
          <p15:clr>
            <a:srgbClr val="A4A3A4"/>
          </p15:clr>
        </p15:guide>
        <p15:guide id="8" pos="3120" userDrawn="1">
          <p15:clr>
            <a:srgbClr val="A4A3A4"/>
          </p15:clr>
        </p15:guide>
        <p15:guide id="13" pos="217" userDrawn="1">
          <p15:clr>
            <a:srgbClr val="A4A3A4"/>
          </p15:clr>
        </p15:guide>
        <p15:guide id="16" pos="6000">
          <p15:clr>
            <a:srgbClr val="A4A3A4"/>
          </p15:clr>
        </p15:guide>
        <p15:guide id="17" orient="horz" pos="1253" userDrawn="1">
          <p15:clr>
            <a:srgbClr val="A4A3A4"/>
          </p15:clr>
        </p15:guide>
        <p15:guide id="18" orient="horz" pos="2160" userDrawn="1">
          <p15:clr>
            <a:srgbClr val="A4A3A4"/>
          </p15:clr>
        </p15:guide>
        <p15:guide id="19" orient="horz" pos="1434">
          <p15:clr>
            <a:srgbClr val="A4A3A4"/>
          </p15:clr>
        </p15:guide>
        <p15:guide id="20" orient="horz" pos="4065">
          <p15:clr>
            <a:srgbClr val="A4A3A4"/>
          </p15:clr>
        </p15:guide>
        <p15:guide id="21" orient="horz" pos="1071">
          <p15:clr>
            <a:srgbClr val="A4A3A4"/>
          </p15:clr>
        </p15:guide>
        <p15:guide id="22" orient="horz" pos="1026">
          <p15:clr>
            <a:srgbClr val="A4A3A4"/>
          </p15:clr>
        </p15:guide>
        <p15:guide id="23" orient="horz" pos="3430">
          <p15:clr>
            <a:srgbClr val="A4A3A4"/>
          </p15:clr>
        </p15:guide>
        <p15:guide id="24" orient="horz" pos="120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 userDrawn="1">
          <p15:clr>
            <a:srgbClr val="A4A3A4"/>
          </p15:clr>
        </p15:guide>
        <p15:guide id="2" pos="2142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08CD2"/>
    <a:srgbClr val="233C5A"/>
    <a:srgbClr val="B1CFFC"/>
    <a:srgbClr val="003058"/>
    <a:srgbClr val="00437A"/>
    <a:srgbClr val="BFBFBF"/>
    <a:srgbClr val="01458C"/>
    <a:srgbClr val="015EBB"/>
    <a:srgbClr val="FF6600"/>
    <a:srgbClr val="FFC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3B4B98B0-60AC-42C2-AFA5-B58CD77FA1E5}" styleName="밝은 스타일 1 - 강조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3C2FFA5D-87B4-456A-9821-1D502468CF0F}" styleName="테마 스타일 1 - 강조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4075" autoAdjust="0"/>
    <p:restoredTop sz="96582" autoAdjust="0"/>
  </p:normalViewPr>
  <p:slideViewPr>
    <p:cSldViewPr>
      <p:cViewPr>
        <p:scale>
          <a:sx n="96" d="100"/>
          <a:sy n="96" d="100"/>
        </p:scale>
        <p:origin x="2418" y="558"/>
      </p:cViewPr>
      <p:guideLst>
        <p:guide orient="horz" pos="3022"/>
        <p:guide orient="horz" pos="4201"/>
        <p:guide orient="horz" pos="550"/>
        <p:guide orient="horz" pos="3974"/>
        <p:guide orient="horz" pos="981"/>
        <p:guide orient="horz" pos="3339"/>
        <p:guide orient="horz" pos="3249"/>
        <p:guide pos="3120"/>
        <p:guide pos="217"/>
        <p:guide pos="6000"/>
        <p:guide orient="horz" pos="1253"/>
        <p:guide orient="horz" pos="2160"/>
        <p:guide orient="horz" pos="1434"/>
        <p:guide orient="horz" pos="4065"/>
        <p:guide orient="horz" pos="1071"/>
        <p:guide orient="horz" pos="1026"/>
        <p:guide orient="horz" pos="3430"/>
        <p:guide orient="horz" pos="1207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3" d="100"/>
        <a:sy n="33" d="100"/>
      </p:scale>
      <p:origin x="0" y="0"/>
    </p:cViewPr>
  </p:notesTextViewPr>
  <p:sorterViewPr>
    <p:cViewPr>
      <p:scale>
        <a:sx n="100" d="100"/>
        <a:sy n="100" d="100"/>
      </p:scale>
      <p:origin x="0" y="42966"/>
    </p:cViewPr>
  </p:sorterViewPr>
  <p:notesViewPr>
    <p:cSldViewPr showGuides="1">
      <p:cViewPr varScale="1">
        <p:scale>
          <a:sx n="63" d="100"/>
          <a:sy n="63" d="100"/>
        </p:scale>
        <p:origin x="-3402" y="-132"/>
      </p:cViewPr>
      <p:guideLst>
        <p:guide orient="horz" pos="3127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viewProps" Target="viewProps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269" Type="http://schemas.openxmlformats.org/officeDocument/2006/relationships/slide" Target="slides/slide265.xml"/><Relationship Id="rId12" Type="http://schemas.openxmlformats.org/officeDocument/2006/relationships/slide" Target="slides/slide8.xml"/><Relationship Id="rId33" Type="http://schemas.openxmlformats.org/officeDocument/2006/relationships/slide" Target="slides/slide29.xml"/><Relationship Id="rId108" Type="http://schemas.openxmlformats.org/officeDocument/2006/relationships/slide" Target="slides/slide104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54" Type="http://schemas.openxmlformats.org/officeDocument/2006/relationships/slide" Target="slides/slide50.xml"/><Relationship Id="rId75" Type="http://schemas.openxmlformats.org/officeDocument/2006/relationships/slide" Target="slides/slide71.xml"/><Relationship Id="rId96" Type="http://schemas.openxmlformats.org/officeDocument/2006/relationships/slide" Target="slides/slide92.xml"/><Relationship Id="rId140" Type="http://schemas.openxmlformats.org/officeDocument/2006/relationships/slide" Target="slides/slide136.xml"/><Relationship Id="rId161" Type="http://schemas.openxmlformats.org/officeDocument/2006/relationships/slide" Target="slides/slide157.xml"/><Relationship Id="rId182" Type="http://schemas.openxmlformats.org/officeDocument/2006/relationships/slide" Target="slides/slide178.xml"/><Relationship Id="rId217" Type="http://schemas.openxmlformats.org/officeDocument/2006/relationships/slide" Target="slides/slide213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291" Type="http://schemas.openxmlformats.org/officeDocument/2006/relationships/theme" Target="theme/theme1.xml"/><Relationship Id="rId44" Type="http://schemas.openxmlformats.org/officeDocument/2006/relationships/slide" Target="slides/slide40.xml"/><Relationship Id="rId65" Type="http://schemas.openxmlformats.org/officeDocument/2006/relationships/slide" Target="slides/slide61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51" Type="http://schemas.openxmlformats.org/officeDocument/2006/relationships/slide" Target="slides/slide147.xml"/><Relationship Id="rId172" Type="http://schemas.openxmlformats.org/officeDocument/2006/relationships/slide" Target="slides/slide168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28" Type="http://schemas.openxmlformats.org/officeDocument/2006/relationships/slide" Target="slides/slide224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281" Type="http://schemas.openxmlformats.org/officeDocument/2006/relationships/slide" Target="slides/slide277.xml"/><Relationship Id="rId34" Type="http://schemas.openxmlformats.org/officeDocument/2006/relationships/slide" Target="slides/slide30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62" Type="http://schemas.openxmlformats.org/officeDocument/2006/relationships/slide" Target="slides/slide158.xml"/><Relationship Id="rId183" Type="http://schemas.openxmlformats.org/officeDocument/2006/relationships/slide" Target="slides/slide179.xml"/><Relationship Id="rId218" Type="http://schemas.openxmlformats.org/officeDocument/2006/relationships/slide" Target="slides/slide214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71" Type="http://schemas.openxmlformats.org/officeDocument/2006/relationships/slide" Target="slides/slide267.xml"/><Relationship Id="rId292" Type="http://schemas.openxmlformats.org/officeDocument/2006/relationships/tableStyles" Target="tableStyles.xml"/><Relationship Id="rId24" Type="http://schemas.openxmlformats.org/officeDocument/2006/relationships/slide" Target="slides/slide20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31" Type="http://schemas.openxmlformats.org/officeDocument/2006/relationships/slide" Target="slides/slide127.xml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8" Type="http://schemas.openxmlformats.org/officeDocument/2006/relationships/slide" Target="slides/slide4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1" Type="http://schemas.openxmlformats.org/officeDocument/2006/relationships/slide" Target="slides/slide247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notesMaster" Target="notesMasters/notesMaster1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handoutMaster" Target="handoutMasters/handoutMaster1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presProps" Target="presProps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l">
              <a:defRPr sz="1200"/>
            </a:lvl1pPr>
          </a:lstStyle>
          <a:p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997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r">
              <a:defRPr sz="1200"/>
            </a:lvl1pPr>
          </a:lstStyle>
          <a:p>
            <a:fld id="{BBE509C9-7006-4EEF-AE0A-F60A68CFABC4}" type="datetimeFigureOut">
              <a:rPr lang="ko-KR" altLang="en-US" smtClean="0">
                <a:latin typeface="맑은 고딕" pitchFamily="50" charset="-127"/>
                <a:ea typeface="맑은 고딕" pitchFamily="50" charset="-127"/>
              </a:rPr>
              <a:pPr/>
              <a:t>2019-08-07</a:t>
            </a:fld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997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r">
              <a:defRPr sz="1200"/>
            </a:lvl1pPr>
          </a:lstStyle>
          <a:p>
            <a:fld id="{FB5D320A-A8AF-4B3E-BD67-EE5ADA87D3BF}" type="slidenum">
              <a:rPr lang="ko-KR" altLang="en-US" smtClean="0">
                <a:latin typeface="맑은 고딕" pitchFamily="50" charset="-127"/>
                <a:ea typeface="맑은 고딕" pitchFamily="50" charset="-127"/>
              </a:rPr>
              <a:pPr/>
              <a:t>‹#›</a:t>
            </a:fld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90864253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l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49997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r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10D8B3E8-78D5-42AF-92B2-138AC5B36093}" type="datetimeFigureOut">
              <a:rPr lang="ko-KR" altLang="en-US" smtClean="0"/>
              <a:pPr/>
              <a:t>2019-08-07</a:t>
            </a:fld>
            <a:endParaRPr lang="ko-KR" altLang="en-US" dirty="0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11200" y="744538"/>
            <a:ext cx="5375275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690" tIns="45846" rIns="91690" bIns="45846" rtlCol="0" anchor="ctr"/>
          <a:lstStyle/>
          <a:p>
            <a:endParaRPr lang="ko-KR" altLang="en-US" dirty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131" y="4715154"/>
            <a:ext cx="5439415" cy="4466987"/>
          </a:xfrm>
          <a:prstGeom prst="rect">
            <a:avLst/>
          </a:prstGeom>
        </p:spPr>
        <p:txBody>
          <a:bodyPr vert="horz" lIns="91690" tIns="45846" rIns="91690" bIns="45846" rtlCol="0"/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l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49997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r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EFB921B9-838A-44D3-89D5-5DB0505CE71D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5052705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837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835517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850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268829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852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8328684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853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167916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854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2985987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942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315684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1033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8132555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1067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9241183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1073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19812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1075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3856706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1077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5670270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1078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9434928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1081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3438647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1083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8119650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1084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9394441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1085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094330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1089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6221305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1090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046614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1093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828218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1094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543827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1095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3609640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1099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3475643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1100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041779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1104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3455271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1105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1108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1109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1110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1111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1112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1113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1114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4516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본문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62339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just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lang="ko-KR" altLang="en-US" sz="1600" b="1" kern="1200" cap="none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j-cs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  <a:prstGeom prst="rect">
            <a:avLst/>
          </a:prstGeom>
        </p:spPr>
        <p:txBody>
          <a:bodyPr lIns="0" anchor="ctr" anchorCtr="0">
            <a:norm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kumimoji="1" lang="ko-KR" altLang="en-US" sz="2000" b="1" kern="0" cap="none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27" name="내용 개체 틀 26"/>
          <p:cNvSpPr>
            <a:spLocks noGrp="1"/>
          </p:cNvSpPr>
          <p:nvPr>
            <p:ph sz="quarter" idx="13"/>
          </p:nvPr>
        </p:nvSpPr>
        <p:spPr>
          <a:xfrm>
            <a:off x="6281401" y="0"/>
            <a:ext cx="3234507" cy="782680"/>
          </a:xfrm>
          <a:prstGeom prst="rect">
            <a:avLst/>
          </a:prstGeom>
        </p:spPr>
        <p:txBody>
          <a:bodyPr lIns="0" rIns="0" anchor="ctr">
            <a:noAutofit/>
          </a:bodyPr>
          <a:lstStyle>
            <a:lvl1pPr marL="0" indent="0" algn="r">
              <a:buNone/>
              <a:defRPr sz="12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algn="r">
              <a:defRPr sz="1200">
                <a:solidFill>
                  <a:srgbClr val="039BE7"/>
                </a:solidFill>
              </a:defRPr>
            </a:lvl2pPr>
            <a:lvl3pPr algn="r">
              <a:defRPr sz="1200">
                <a:solidFill>
                  <a:srgbClr val="039BE7"/>
                </a:solidFill>
              </a:defRPr>
            </a:lvl3pPr>
            <a:lvl4pPr algn="r">
              <a:defRPr sz="1200">
                <a:solidFill>
                  <a:srgbClr val="039BE7"/>
                </a:solidFill>
              </a:defRPr>
            </a:lvl4pPr>
            <a:lvl5pPr algn="r">
              <a:defRPr sz="1200">
                <a:solidFill>
                  <a:srgbClr val="039BE7"/>
                </a:solidFill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13" name="Line 23"/>
          <p:cNvSpPr>
            <a:spLocks noChangeShapeType="1"/>
          </p:cNvSpPr>
          <p:nvPr userDrawn="1"/>
        </p:nvSpPr>
        <p:spPr bwMode="auto">
          <a:xfrm>
            <a:off x="344488" y="795338"/>
            <a:ext cx="9180512" cy="0"/>
          </a:xfrm>
          <a:prstGeom prst="line">
            <a:avLst/>
          </a:prstGeom>
          <a:noFill/>
          <a:ln w="31750">
            <a:gradFill flip="none" rotWithShape="1">
              <a:gsLst>
                <a:gs pos="0">
                  <a:srgbClr val="FFC000"/>
                </a:gs>
                <a:gs pos="18000">
                  <a:srgbClr val="1B587C">
                    <a:lumMod val="60000"/>
                    <a:lumOff val="40000"/>
                  </a:srgbClr>
                </a:gs>
                <a:gs pos="8000">
                  <a:srgbClr val="1B587C">
                    <a:lumMod val="60000"/>
                    <a:lumOff val="40000"/>
                  </a:srgbClr>
                </a:gs>
                <a:gs pos="28000">
                  <a:srgbClr val="14425D"/>
                </a:gs>
                <a:gs pos="7000">
                  <a:srgbClr val="FFC000"/>
                </a:gs>
                <a:gs pos="46000">
                  <a:srgbClr val="1B587C">
                    <a:lumMod val="75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Line 23"/>
          <p:cNvSpPr>
            <a:spLocks noChangeShapeType="1"/>
          </p:cNvSpPr>
          <p:nvPr userDrawn="1"/>
        </p:nvSpPr>
        <p:spPr bwMode="auto">
          <a:xfrm>
            <a:off x="344488" y="6427788"/>
            <a:ext cx="9180512" cy="0"/>
          </a:xfrm>
          <a:prstGeom prst="line">
            <a:avLst/>
          </a:prstGeom>
          <a:noFill/>
          <a:ln w="6350">
            <a:solidFill>
              <a:sysClr val="windowText" lastClr="000000">
                <a:lumMod val="75000"/>
                <a:lumOff val="25000"/>
              </a:sys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바닥글 개체 틀 5"/>
          <p:cNvSpPr txBox="1">
            <a:spLocks noGrp="1"/>
          </p:cNvSpPr>
          <p:nvPr userDrawn="1"/>
        </p:nvSpPr>
        <p:spPr bwMode="auto">
          <a:xfrm>
            <a:off x="906217" y="6557288"/>
            <a:ext cx="2170358" cy="244476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anchor="b"/>
          <a:lstStyle/>
          <a:p>
            <a:pPr>
              <a:defRPr/>
            </a:pPr>
            <a:r>
              <a:rPr kumimoji="1" lang="en-US" altLang="ko-KR" sz="800" b="1" i="1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© 2018 VTW, All Right Reserved</a:t>
            </a:r>
          </a:p>
        </p:txBody>
      </p:sp>
      <p:sp>
        <p:nvSpPr>
          <p:cNvPr id="26" name="Text Box 72"/>
          <p:cNvSpPr txBox="1">
            <a:spLocks noChangeArrowheads="1"/>
          </p:cNvSpPr>
          <p:nvPr userDrawn="1"/>
        </p:nvSpPr>
        <p:spPr bwMode="auto">
          <a:xfrm>
            <a:off x="4685273" y="6567155"/>
            <a:ext cx="53545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54000" rIns="5400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t>Ⅳ - </a:t>
            </a:r>
            <a:fld id="{1617468F-D50F-46BD-AB0C-23FE001B05EB}" type="slidenum">
              <a:rPr kumimoji="1" lang="en-US" altLang="ko-KR" sz="10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pPr algn="ctr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en-US" altLang="ko-KR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  <a:cs typeface="Times New Roman" panose="02020603050405020304" pitchFamily="18" charset="0"/>
            </a:endParaRPr>
          </a:p>
        </p:txBody>
      </p:sp>
      <p:pic>
        <p:nvPicPr>
          <p:cNvPr id="11" name="그림 10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344488" y="6462713"/>
            <a:ext cx="612673" cy="325033"/>
          </a:xfrm>
          <a:prstGeom prst="rect">
            <a:avLst/>
          </a:prstGeom>
        </p:spPr>
      </p:pic>
      <p:pic>
        <p:nvPicPr>
          <p:cNvPr id="12" name="Picture 11" descr="C:\Users\yslee\Desktop\VTW LOGO\VTW LOGO Img file\vtw-logo4.gif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4191" y="6557288"/>
            <a:ext cx="1229519" cy="190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896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  <a:prstGeom prst="rect">
            <a:avLst/>
          </a:prstGeom>
        </p:spPr>
        <p:txBody>
          <a:bodyPr lIns="0" anchor="ctr" anchorCtr="0">
            <a:norm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kumimoji="1" lang="ko-KR" altLang="en-US" sz="2000" b="1" kern="0" cap="none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27" name="내용 개체 틀 26"/>
          <p:cNvSpPr>
            <a:spLocks noGrp="1"/>
          </p:cNvSpPr>
          <p:nvPr>
            <p:ph sz="quarter" idx="13"/>
          </p:nvPr>
        </p:nvSpPr>
        <p:spPr>
          <a:xfrm>
            <a:off x="6281401" y="0"/>
            <a:ext cx="3234507" cy="782680"/>
          </a:xfrm>
          <a:prstGeom prst="rect">
            <a:avLst/>
          </a:prstGeom>
        </p:spPr>
        <p:txBody>
          <a:bodyPr lIns="0" rIns="0" anchor="ctr">
            <a:noAutofit/>
          </a:bodyPr>
          <a:lstStyle>
            <a:lvl1pPr marL="0" indent="0" algn="r">
              <a:buNone/>
              <a:defRPr sz="12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algn="r">
              <a:defRPr sz="1200">
                <a:solidFill>
                  <a:srgbClr val="039BE7"/>
                </a:solidFill>
              </a:defRPr>
            </a:lvl2pPr>
            <a:lvl3pPr algn="r">
              <a:defRPr sz="1200">
                <a:solidFill>
                  <a:srgbClr val="039BE7"/>
                </a:solidFill>
              </a:defRPr>
            </a:lvl3pPr>
            <a:lvl4pPr algn="r">
              <a:defRPr sz="1200">
                <a:solidFill>
                  <a:srgbClr val="039BE7"/>
                </a:solidFill>
              </a:defRPr>
            </a:lvl4pPr>
            <a:lvl5pPr algn="r">
              <a:defRPr sz="1200">
                <a:solidFill>
                  <a:srgbClr val="039BE7"/>
                </a:solidFill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13" name="Line 23"/>
          <p:cNvSpPr>
            <a:spLocks noChangeShapeType="1"/>
          </p:cNvSpPr>
          <p:nvPr userDrawn="1"/>
        </p:nvSpPr>
        <p:spPr bwMode="auto">
          <a:xfrm>
            <a:off x="344488" y="795338"/>
            <a:ext cx="9180512" cy="0"/>
          </a:xfrm>
          <a:prstGeom prst="line">
            <a:avLst/>
          </a:prstGeom>
          <a:noFill/>
          <a:ln w="31750">
            <a:gradFill flip="none" rotWithShape="1">
              <a:gsLst>
                <a:gs pos="0">
                  <a:srgbClr val="FFC000"/>
                </a:gs>
                <a:gs pos="18000">
                  <a:srgbClr val="1B587C">
                    <a:lumMod val="60000"/>
                    <a:lumOff val="40000"/>
                  </a:srgbClr>
                </a:gs>
                <a:gs pos="8000">
                  <a:srgbClr val="1B587C">
                    <a:lumMod val="60000"/>
                    <a:lumOff val="40000"/>
                  </a:srgbClr>
                </a:gs>
                <a:gs pos="28000">
                  <a:srgbClr val="14425D"/>
                </a:gs>
                <a:gs pos="7000">
                  <a:srgbClr val="FFC000"/>
                </a:gs>
                <a:gs pos="46000">
                  <a:srgbClr val="1B587C">
                    <a:lumMod val="75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Line 23"/>
          <p:cNvSpPr>
            <a:spLocks noChangeShapeType="1"/>
          </p:cNvSpPr>
          <p:nvPr userDrawn="1"/>
        </p:nvSpPr>
        <p:spPr bwMode="auto">
          <a:xfrm>
            <a:off x="344488" y="6427788"/>
            <a:ext cx="9180512" cy="0"/>
          </a:xfrm>
          <a:prstGeom prst="line">
            <a:avLst/>
          </a:prstGeom>
          <a:noFill/>
          <a:ln w="6350">
            <a:solidFill>
              <a:sysClr val="windowText" lastClr="000000">
                <a:lumMod val="75000"/>
                <a:lumOff val="25000"/>
              </a:sys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바닥글 개체 틀 5"/>
          <p:cNvSpPr txBox="1">
            <a:spLocks noGrp="1"/>
          </p:cNvSpPr>
          <p:nvPr userDrawn="1"/>
        </p:nvSpPr>
        <p:spPr bwMode="auto">
          <a:xfrm>
            <a:off x="906217" y="6557288"/>
            <a:ext cx="2170358" cy="244476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anchor="b"/>
          <a:lstStyle/>
          <a:p>
            <a:pPr>
              <a:defRPr/>
            </a:pPr>
            <a:r>
              <a:rPr kumimoji="1" lang="en-US" altLang="ko-KR" sz="800" b="1" i="1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© 2018 VTW, All Right Reserved</a:t>
            </a:r>
          </a:p>
        </p:txBody>
      </p:sp>
      <p:sp>
        <p:nvSpPr>
          <p:cNvPr id="26" name="Text Box 72"/>
          <p:cNvSpPr txBox="1">
            <a:spLocks noChangeArrowheads="1"/>
          </p:cNvSpPr>
          <p:nvPr userDrawn="1"/>
        </p:nvSpPr>
        <p:spPr bwMode="auto">
          <a:xfrm>
            <a:off x="4685273" y="6567155"/>
            <a:ext cx="535453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54000" rIns="5400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t>Ⅳ - </a:t>
            </a:r>
            <a:fld id="{1617468F-D50F-46BD-AB0C-23FE001B05EB}" type="slidenum">
              <a:rPr kumimoji="1" lang="en-US" altLang="ko-KR" sz="10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pPr algn="ctr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en-US" altLang="ko-KR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  <a:cs typeface="Times New Roman" panose="02020603050405020304" pitchFamily="18" charset="0"/>
            </a:endParaRPr>
          </a:p>
        </p:txBody>
      </p:sp>
      <p:pic>
        <p:nvPicPr>
          <p:cNvPr id="10" name="그림 9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344488" y="6462713"/>
            <a:ext cx="612673" cy="325033"/>
          </a:xfrm>
          <a:prstGeom prst="rect">
            <a:avLst/>
          </a:prstGeom>
        </p:spPr>
      </p:pic>
      <p:pic>
        <p:nvPicPr>
          <p:cNvPr id="11" name="Picture 11" descr="C:\Users\yslee\Desktop\VTW LOGO\VTW LOGO Img file\vtw-logo4.gif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4191" y="6557288"/>
            <a:ext cx="1229519" cy="190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896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목차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776536" y="798612"/>
            <a:ext cx="5760640" cy="4525963"/>
          </a:xfrm>
          <a:prstGeom prst="rect">
            <a:avLst/>
          </a:prstGeom>
        </p:spPr>
        <p:txBody>
          <a:bodyPr>
            <a:normAutofit/>
          </a:bodyPr>
          <a:lstStyle>
            <a:lvl1pPr marL="400050" indent="-400050">
              <a:lnSpc>
                <a:spcPct val="120000"/>
              </a:lnSpc>
              <a:buFont typeface="+mj-lt"/>
              <a:buAutoNum type="romanUcPeriod"/>
              <a:defRPr sz="1800" b="1">
                <a:solidFill>
                  <a:srgbClr val="00437A"/>
                </a:solidFill>
                <a:latin typeface="맑은 고딕" pitchFamily="50" charset="-127"/>
                <a:ea typeface="맑은 고딕" pitchFamily="50" charset="-127"/>
              </a:defRPr>
            </a:lvl1pPr>
            <a:lvl2pPr>
              <a:defRPr sz="1800" b="1">
                <a:solidFill>
                  <a:srgbClr val="00B0F0"/>
                </a:solidFill>
              </a:defRPr>
            </a:lvl2pPr>
            <a:lvl3pPr>
              <a:defRPr sz="1800" b="1">
                <a:solidFill>
                  <a:srgbClr val="00B0F0"/>
                </a:solidFill>
              </a:defRPr>
            </a:lvl3pPr>
            <a:lvl4pPr>
              <a:defRPr sz="1800" b="1">
                <a:solidFill>
                  <a:srgbClr val="00B0F0"/>
                </a:solidFill>
              </a:defRPr>
            </a:lvl4pPr>
            <a:lvl5pPr>
              <a:defRPr sz="1800" b="1">
                <a:solidFill>
                  <a:srgbClr val="00B0F0"/>
                </a:solidFill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grpSp>
        <p:nvGrpSpPr>
          <p:cNvPr id="2" name="그룹 16"/>
          <p:cNvGrpSpPr/>
          <p:nvPr userDrawn="1"/>
        </p:nvGrpSpPr>
        <p:grpSpPr>
          <a:xfrm>
            <a:off x="6824603" y="908720"/>
            <a:ext cx="2187634" cy="1958589"/>
            <a:chOff x="6824603" y="908720"/>
            <a:chExt cx="2187634" cy="1958589"/>
          </a:xfrm>
          <a:solidFill>
            <a:srgbClr val="00437A"/>
          </a:solidFill>
        </p:grpSpPr>
        <p:grpSp>
          <p:nvGrpSpPr>
            <p:cNvPr id="4" name="그룹 17"/>
            <p:cNvGrpSpPr/>
            <p:nvPr/>
          </p:nvGrpSpPr>
          <p:grpSpPr>
            <a:xfrm>
              <a:off x="6825208" y="908720"/>
              <a:ext cx="2187029" cy="230399"/>
              <a:chOff x="7185248" y="1123952"/>
              <a:chExt cx="2187029" cy="230399"/>
            </a:xfrm>
            <a:grpFill/>
          </p:grpSpPr>
          <p:sp>
            <p:nvSpPr>
              <p:cNvPr id="23" name="직사각형 22"/>
              <p:cNvSpPr/>
              <p:nvPr/>
            </p:nvSpPr>
            <p:spPr bwMode="auto">
              <a:xfrm rot="5400000">
                <a:off x="8215185" y="94758"/>
                <a:ext cx="126881" cy="2185270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4" name="직사각형 23"/>
              <p:cNvSpPr/>
              <p:nvPr/>
            </p:nvSpPr>
            <p:spPr bwMode="auto">
              <a:xfrm rot="5400000">
                <a:off x="7139787" y="1178937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" name="직사각형 24"/>
              <p:cNvSpPr/>
              <p:nvPr/>
            </p:nvSpPr>
            <p:spPr bwMode="auto">
              <a:xfrm rot="5400000">
                <a:off x="9196865" y="1178938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5" name="그룹 18"/>
            <p:cNvGrpSpPr/>
            <p:nvPr/>
          </p:nvGrpSpPr>
          <p:grpSpPr>
            <a:xfrm>
              <a:off x="6824603" y="2636912"/>
              <a:ext cx="2186617" cy="230397"/>
              <a:chOff x="7184643" y="2780929"/>
              <a:chExt cx="2186617" cy="230397"/>
            </a:xfrm>
            <a:grpFill/>
          </p:grpSpPr>
          <p:sp>
            <p:nvSpPr>
              <p:cNvPr id="20" name="직사각형 19"/>
              <p:cNvSpPr/>
              <p:nvPr/>
            </p:nvSpPr>
            <p:spPr bwMode="auto">
              <a:xfrm rot="16200000">
                <a:off x="8214443" y="1855251"/>
                <a:ext cx="126881" cy="2185270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1" name="직사각형 20"/>
              <p:cNvSpPr/>
              <p:nvPr/>
            </p:nvSpPr>
            <p:spPr bwMode="auto">
              <a:xfrm rot="16200000">
                <a:off x="9195848" y="2826391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2" name="직사각형 21"/>
              <p:cNvSpPr/>
              <p:nvPr/>
            </p:nvSpPr>
            <p:spPr bwMode="auto">
              <a:xfrm rot="16200000">
                <a:off x="7139182" y="2826390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084379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900" r:id="rId1"/>
    <p:sldLayoutId id="2147483983" r:id="rId2"/>
    <p:sldLayoutId id="2147483982" r:id="rId3"/>
  </p:sldLayoutIdLst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dirty="0">
                <a:solidFill>
                  <a:srgbClr val="00437A"/>
                </a:solidFill>
                <a:latin typeface="맑은 고딕" pitchFamily="50" charset="-127"/>
                <a:ea typeface="맑은 고딕" pitchFamily="50" charset="-127"/>
              </a:rPr>
              <a:t>Ⅳ. </a:t>
            </a:r>
            <a:r>
              <a:rPr lang="ko-KR" altLang="en-US" sz="2400" b="1" spc="-300" dirty="0">
                <a:solidFill>
                  <a:srgbClr val="00437A"/>
                </a:solidFill>
                <a:latin typeface="맑은 고딕" pitchFamily="50" charset="-127"/>
                <a:ea typeface="맑은 고딕" pitchFamily="50" charset="-127"/>
              </a:rPr>
              <a:t>목표모델 설계</a:t>
            </a:r>
            <a:endParaRPr lang="en-US" altLang="ko-KR" sz="2400" b="1" spc="-300" dirty="0">
              <a:solidFill>
                <a:srgbClr val="00437A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목표모델 수립 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Font typeface="+mj-lt"/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목표모델 개선과제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Font typeface="+mj-lt"/>
              <a:buAutoNum type="arabicPeriod"/>
            </a:pPr>
            <a:r>
              <a:rPr lang="ko-KR" altLang="en-US" dirty="0"/>
              <a:t>목표 업무프로세스 설계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1600" dirty="0"/>
              <a:t>3.1 </a:t>
            </a:r>
            <a:r>
              <a:rPr lang="ko-KR" altLang="en-US" sz="1600" dirty="0"/>
              <a:t>개요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3.2 </a:t>
            </a:r>
            <a:r>
              <a:rPr lang="ko-KR" altLang="en-US" sz="1600" dirty="0"/>
              <a:t>통합재무 업무프로세스 개선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3.3 </a:t>
            </a:r>
            <a:r>
              <a:rPr lang="ko-KR" altLang="en-US" sz="1600" dirty="0"/>
              <a:t>인적자원관리 업무프로세스 개선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3.4 </a:t>
            </a:r>
            <a:r>
              <a:rPr lang="ko-KR" altLang="en-US" sz="1600" dirty="0"/>
              <a:t>기금지원관리 업무프로세스 개선</a:t>
            </a:r>
            <a:endParaRPr lang="en-US" altLang="ko-KR" sz="1600" dirty="0"/>
          </a:p>
          <a:p>
            <a:pPr marL="0" indent="379413">
              <a:lnSpc>
                <a:spcPct val="150000"/>
              </a:lnSpc>
              <a:buNone/>
            </a:pPr>
            <a:r>
              <a:rPr lang="en-US" altLang="ko-KR" sz="1600" dirty="0"/>
              <a:t>3.5 </a:t>
            </a:r>
            <a:r>
              <a:rPr lang="ko-KR" altLang="en-US" sz="1600" dirty="0"/>
              <a:t>경영정보기반 프로세스 거버넌스 정립</a:t>
            </a:r>
            <a:endParaRPr lang="en-US" altLang="ko-KR" sz="1600" dirty="0"/>
          </a:p>
          <a:p>
            <a:pPr>
              <a:lnSpc>
                <a:spcPct val="150000"/>
              </a:lnSpc>
              <a:buFont typeface="+mj-lt"/>
              <a:buAutoNum type="arabicPeriod" startAt="5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정보시스템 아키텍처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91432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개선과제의 개선사항 기반 통합재무</a:t>
            </a:r>
            <a:r>
              <a:rPr lang="en-US" altLang="ko-KR" dirty="0"/>
              <a:t>, </a:t>
            </a:r>
            <a:r>
              <a:rPr lang="ko-KR" altLang="en-US" dirty="0"/>
              <a:t>인적자원</a:t>
            </a:r>
            <a:r>
              <a:rPr lang="en-US" altLang="ko-KR" dirty="0"/>
              <a:t>, </a:t>
            </a:r>
            <a:r>
              <a:rPr lang="ko-KR" altLang="en-US" dirty="0"/>
              <a:t>기금지원</a:t>
            </a:r>
            <a:r>
              <a:rPr lang="en-US" altLang="ko-KR" dirty="0"/>
              <a:t>, </a:t>
            </a:r>
            <a:r>
              <a:rPr lang="ko-KR" altLang="en-US" dirty="0"/>
              <a:t>계약관리 대상으로  </a:t>
            </a:r>
            <a:r>
              <a:rPr lang="en-US" altLang="ko-KR" dirty="0"/>
              <a:t>To-Be</a:t>
            </a:r>
            <a:r>
              <a:rPr lang="ko-KR" altLang="en-US" dirty="0"/>
              <a:t>의 업무기능 및 업무프로세스 맵을 설계함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 lIns="0" anchor="ctr" anchorCtr="0">
            <a:normAutofit/>
          </a:bodyPr>
          <a:lstStyle/>
          <a:p>
            <a:r>
              <a:rPr lang="en-US" altLang="ko-KR" dirty="0"/>
              <a:t>3.1 </a:t>
            </a:r>
            <a:r>
              <a:rPr lang="ko-KR" altLang="en-US" dirty="0"/>
              <a:t>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3.1.1 </a:t>
            </a:r>
            <a:r>
              <a:rPr lang="ko-KR" altLang="en-US" dirty="0"/>
              <a:t>목표 업무프로세스 설계절차</a:t>
            </a:r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3.1 </a:t>
            </a:r>
            <a:r>
              <a:rPr lang="ko-KR" altLang="en-US" dirty="0">
                <a:solidFill>
                  <a:prstClr val="black"/>
                </a:solidFill>
              </a:rPr>
              <a:t>개요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="" xmlns:a16="http://schemas.microsoft.com/office/drawing/2014/main" id="{4971C708-4330-43A6-BB03-2783B6E1B783}"/>
              </a:ext>
            </a:extLst>
          </p:cNvPr>
          <p:cNvSpPr/>
          <p:nvPr/>
        </p:nvSpPr>
        <p:spPr bwMode="auto">
          <a:xfrm>
            <a:off x="344488" y="1628775"/>
            <a:ext cx="1236293" cy="687227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R="0" lvl="0" indent="0"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목표 업무프로세스 설계 목적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="" xmlns:a16="http://schemas.microsoft.com/office/drawing/2014/main" id="{03D717DA-DAB2-4F11-822E-C9036E77810B}"/>
              </a:ext>
            </a:extLst>
          </p:cNvPr>
          <p:cNvSpPr/>
          <p:nvPr/>
        </p:nvSpPr>
        <p:spPr bwMode="auto">
          <a:xfrm>
            <a:off x="1674348" y="1628774"/>
            <a:ext cx="7848164" cy="685801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108000" tIns="72000" rIns="36000" bIns="72000" rtlCol="0" anchor="ctr"/>
          <a:lstStyle/>
          <a:p>
            <a:pPr marL="93663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개선과제의 개선사항을 기반으로 </a:t>
            </a:r>
            <a:r>
              <a:rPr lang="en-US" altLang="ko-KR" sz="1200" b="1" kern="0" dirty="0">
                <a:solidFill>
                  <a:prstClr val="black"/>
                </a:solidFill>
                <a:latin typeface="+mn-ea"/>
              </a:rPr>
              <a:t>To-Be</a:t>
            </a: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의 업무기능 및 업무프로세스 맵을 설계함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="" xmlns:a16="http://schemas.microsoft.com/office/drawing/2014/main" id="{25DA8CDC-D248-4210-99F3-77CF4E091E0D}"/>
              </a:ext>
            </a:extLst>
          </p:cNvPr>
          <p:cNvSpPr/>
          <p:nvPr/>
        </p:nvSpPr>
        <p:spPr bwMode="auto">
          <a:xfrm>
            <a:off x="344488" y="2420889"/>
            <a:ext cx="1236293" cy="798794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R="0" lvl="0" indent="0"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수행 업무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="" xmlns:a16="http://schemas.microsoft.com/office/drawing/2014/main" id="{DDBD85BD-0319-4CDD-81B5-C3CEFA468A52}"/>
              </a:ext>
            </a:extLst>
          </p:cNvPr>
          <p:cNvSpPr/>
          <p:nvPr/>
        </p:nvSpPr>
        <p:spPr bwMode="auto">
          <a:xfrm>
            <a:off x="1674348" y="2420888"/>
            <a:ext cx="7848164" cy="798794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108000" tIns="72000" rIns="36000" bIns="72000" rtlCol="0" anchor="ctr"/>
          <a:lstStyle/>
          <a:p>
            <a:pPr marL="93663" lvl="0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spc="-100" dirty="0">
                <a:solidFill>
                  <a:prstClr val="black"/>
                </a:solidFill>
                <a:latin typeface="+mn-ea"/>
              </a:rPr>
              <a:t>차세대 경영정보시스템의 현황 및 요건분석 기반 미래 업무분류 구조도를 정의함</a:t>
            </a:r>
            <a:endParaRPr lang="en-US" altLang="ko-KR" sz="1200" b="1" kern="0" spc="-100" dirty="0">
              <a:solidFill>
                <a:prstClr val="black"/>
              </a:solidFill>
              <a:latin typeface="+mn-ea"/>
            </a:endParaRPr>
          </a:p>
          <a:p>
            <a:pPr marL="93663" lvl="0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spc="-100" dirty="0">
                <a:solidFill>
                  <a:prstClr val="black"/>
                </a:solidFill>
                <a:latin typeface="+mn-ea"/>
              </a:rPr>
              <a:t>차세대 경영정보시스템의 현황 및 요건분석 기반 미래 업무프로세스 맵을 정의함</a:t>
            </a:r>
            <a:endParaRPr lang="en-US" altLang="ko-KR" sz="1200" b="1" kern="0" spc="-1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5" name="이등변 삼각형 184">
            <a:extLst>
              <a:ext uri="{FF2B5EF4-FFF2-40B4-BE49-F238E27FC236}">
                <a16:creationId xmlns="" xmlns:a16="http://schemas.microsoft.com/office/drawing/2014/main" id="{EBA556C0-4EB3-4B72-8072-B64D367174AB}"/>
              </a:ext>
            </a:extLst>
          </p:cNvPr>
          <p:cNvSpPr/>
          <p:nvPr/>
        </p:nvSpPr>
        <p:spPr bwMode="auto">
          <a:xfrm flipV="1">
            <a:off x="3726371" y="5508533"/>
            <a:ext cx="2197465" cy="221941"/>
          </a:xfrm>
          <a:prstGeom prst="triangle">
            <a:avLst/>
          </a:prstGeom>
          <a:solidFill>
            <a:srgbClr val="4678B4">
              <a:lumMod val="60000"/>
              <a:lumOff val="4000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marR="0" lvl="0" indent="-85725" defTabSz="91440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="" xmlns:a16="http://schemas.microsoft.com/office/drawing/2014/main" id="{FBF839FF-3329-4AF2-9EFA-955151901F75}"/>
              </a:ext>
            </a:extLst>
          </p:cNvPr>
          <p:cNvSpPr/>
          <p:nvPr/>
        </p:nvSpPr>
        <p:spPr bwMode="auto">
          <a:xfrm>
            <a:off x="344488" y="3621989"/>
            <a:ext cx="4464494" cy="1679219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36000" tIns="72000" rIns="36000" bIns="72000" rtlCol="0" anchor="ctr"/>
          <a:lstStyle/>
          <a:p>
            <a:pPr marL="93663" marR="0" lvl="0" indent="-93663" defTabSz="91440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ts val="200"/>
              </a:spcAft>
              <a:buClr>
                <a:srgbClr val="508CD2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="" xmlns:a16="http://schemas.microsoft.com/office/drawing/2014/main" id="{C453419D-360B-4BE7-A481-A4B124C0B7FD}"/>
              </a:ext>
            </a:extLst>
          </p:cNvPr>
          <p:cNvSpPr/>
          <p:nvPr/>
        </p:nvSpPr>
        <p:spPr bwMode="auto">
          <a:xfrm>
            <a:off x="334328" y="3289077"/>
            <a:ext cx="4474654" cy="332911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buClrTx/>
              <a:buFontTx/>
              <a:buNone/>
              <a:defRPr/>
            </a:pPr>
            <a:r>
              <a:rPr lang="en-US" altLang="ko-KR" sz="1200" b="1" kern="0" dirty="0">
                <a:solidFill>
                  <a:srgbClr val="FFFFFF"/>
                </a:solidFill>
                <a:latin typeface="+mn-ea"/>
              </a:rPr>
              <a:t>(TO-BE) </a:t>
            </a:r>
            <a:r>
              <a:rPr lang="ko-KR" altLang="en-US" sz="1200" b="1" kern="0" dirty="0">
                <a:solidFill>
                  <a:srgbClr val="FFFFFF"/>
                </a:solidFill>
                <a:latin typeface="+mn-ea"/>
              </a:rPr>
              <a:t>업무분류 및 기능 정의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="" xmlns:a16="http://schemas.microsoft.com/office/drawing/2014/main" id="{120E786F-7681-45B7-B8C8-2DD9AE65BA10}"/>
              </a:ext>
            </a:extLst>
          </p:cNvPr>
          <p:cNvSpPr/>
          <p:nvPr/>
        </p:nvSpPr>
        <p:spPr>
          <a:xfrm>
            <a:off x="344926" y="3670231"/>
            <a:ext cx="4320042" cy="48087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71450" lvl="0" indent="-171450" eaLnBrk="0" fontAlgn="base" latinLnBrk="0" hangingPunct="0">
              <a:spcBef>
                <a:spcPct val="3500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본 사업 범위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(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통합재무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_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계약관리 포함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인적자원관리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기금지원관리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)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대상으로 미래 업무분류 구조도 및 미래 업무기능을 정의함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" name="그룹 28"/>
          <p:cNvGrpSpPr/>
          <p:nvPr/>
        </p:nvGrpSpPr>
        <p:grpSpPr>
          <a:xfrm>
            <a:off x="499549" y="4406044"/>
            <a:ext cx="4144212" cy="720000"/>
            <a:chOff x="520756" y="4406044"/>
            <a:chExt cx="4144212" cy="720000"/>
          </a:xfrm>
        </p:grpSpPr>
        <p:sp>
          <p:nvSpPr>
            <p:cNvPr id="195" name="Rectangle 53">
              <a:extLst>
                <a:ext uri="{FF2B5EF4-FFF2-40B4-BE49-F238E27FC236}">
                  <a16:creationId xmlns="" xmlns:a16="http://schemas.microsoft.com/office/drawing/2014/main" id="{E70F1C44-6D48-443B-B688-624666084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756" y="4406044"/>
              <a:ext cx="1983972" cy="720000"/>
            </a:xfrm>
            <a:prstGeom prst="rect">
              <a:avLst/>
            </a:prstGeom>
            <a:solidFill>
              <a:srgbClr val="508CD2">
                <a:lumMod val="40000"/>
                <a:lumOff val="60000"/>
              </a:srgbClr>
            </a:solidFill>
            <a:ln w="952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36000" rIns="36000" bIns="36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457200" eaLnBrk="0" latinLnBrk="0" hangingPunct="0">
                <a:lnSpc>
                  <a:spcPct val="105000"/>
                </a:lnSpc>
                <a:buClr>
                  <a:srgbClr val="328030"/>
                </a:buClr>
                <a:defRPr/>
              </a:pP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>(TO-BE) </a:t>
              </a:r>
              <a:b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업무분류 구조도</a:t>
              </a: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/>
              </a:r>
              <a:b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정의</a:t>
              </a:r>
              <a:endParaRPr lang="en-US" altLang="ko-KR" sz="1100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97" name="Rectangle 53">
              <a:extLst>
                <a:ext uri="{FF2B5EF4-FFF2-40B4-BE49-F238E27FC236}">
                  <a16:creationId xmlns="" xmlns:a16="http://schemas.microsoft.com/office/drawing/2014/main" id="{CE6A39E6-6A41-4350-BBBA-FAD77E7D1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0996" y="4406044"/>
              <a:ext cx="1983972" cy="720000"/>
            </a:xfrm>
            <a:prstGeom prst="rect">
              <a:avLst/>
            </a:prstGeom>
            <a:solidFill>
              <a:srgbClr val="508CD2">
                <a:lumMod val="40000"/>
                <a:lumOff val="60000"/>
              </a:srgbClr>
            </a:solidFill>
            <a:ln w="952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36000" rIns="36000" bIns="36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457200" eaLnBrk="0" latinLnBrk="0" hangingPunct="0">
                <a:lnSpc>
                  <a:spcPct val="105000"/>
                </a:lnSpc>
                <a:buClr>
                  <a:srgbClr val="328030"/>
                </a:buClr>
                <a:defRPr/>
              </a:pP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>(TO-BE) </a:t>
              </a: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 </a:t>
              </a: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/>
              </a:r>
              <a:b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업무기능 정의</a:t>
              </a: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="" xmlns:a16="http://schemas.microsoft.com/office/drawing/2014/main" id="{C453419D-360B-4BE7-A481-A4B124C0B7FD}"/>
              </a:ext>
            </a:extLst>
          </p:cNvPr>
          <p:cNvSpPr/>
          <p:nvPr/>
        </p:nvSpPr>
        <p:spPr bwMode="auto">
          <a:xfrm>
            <a:off x="344488" y="5752562"/>
            <a:ext cx="9180000" cy="471537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defRPr/>
            </a:pP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정보시스템 아키텍처 적용 및 이행과제 도출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="" xmlns:a16="http://schemas.microsoft.com/office/drawing/2014/main" id="{3607A9E9-8D87-479B-AE72-B0380FE2AA7A}"/>
              </a:ext>
            </a:extLst>
          </p:cNvPr>
          <p:cNvSpPr/>
          <p:nvPr/>
        </p:nvSpPr>
        <p:spPr bwMode="auto">
          <a:xfrm>
            <a:off x="5070473" y="3621989"/>
            <a:ext cx="4454527" cy="1679219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36000" tIns="72000" rIns="36000" bIns="72000" rtlCol="0" anchor="ctr"/>
          <a:lstStyle/>
          <a:p>
            <a:pPr marL="93663" marR="0" lvl="0" indent="-93663" defTabSz="91440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ts val="200"/>
              </a:spcAft>
              <a:buClr>
                <a:srgbClr val="508CD2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="" xmlns:a16="http://schemas.microsoft.com/office/drawing/2014/main" id="{F56FE926-019D-4DC3-A5CB-46B74808237D}"/>
              </a:ext>
            </a:extLst>
          </p:cNvPr>
          <p:cNvSpPr/>
          <p:nvPr/>
        </p:nvSpPr>
        <p:spPr bwMode="auto">
          <a:xfrm>
            <a:off x="5060313" y="3289077"/>
            <a:ext cx="4464688" cy="332911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defRPr/>
            </a:pPr>
            <a:r>
              <a:rPr lang="en-US" altLang="ko-KR" sz="1200" b="1" kern="0" dirty="0">
                <a:solidFill>
                  <a:srgbClr val="FFFFFF"/>
                </a:solidFill>
                <a:latin typeface="+mn-ea"/>
              </a:rPr>
              <a:t>(TO-BE) </a:t>
            </a: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업무프로세스 맵 정의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561FAEB0-D4A9-4449-A806-60F5B159800E}"/>
              </a:ext>
            </a:extLst>
          </p:cNvPr>
          <p:cNvSpPr/>
          <p:nvPr/>
        </p:nvSpPr>
        <p:spPr>
          <a:xfrm>
            <a:off x="5142699" y="3670231"/>
            <a:ext cx="4320042" cy="48087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71450" lvl="0" indent="-171450" eaLnBrk="0" fontAlgn="base" latinLnBrk="0" hangingPunct="0">
              <a:spcBef>
                <a:spcPct val="3500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본 사업 범위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(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통합재무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_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계약관리 포함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인적자원관리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기금지원관리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,)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대상으로 미래 업무프로세스 맵 및 미래 업무활동명을 정의함</a:t>
            </a:r>
            <a:endParaRPr lang="en-US" altLang="ko-KR" sz="1200" kern="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30" name="그룹 29"/>
          <p:cNvGrpSpPr/>
          <p:nvPr/>
        </p:nvGrpSpPr>
        <p:grpSpPr>
          <a:xfrm>
            <a:off x="5220551" y="4406044"/>
            <a:ext cx="4144212" cy="720000"/>
            <a:chOff x="5273284" y="4406044"/>
            <a:chExt cx="4144212" cy="720000"/>
          </a:xfrm>
        </p:grpSpPr>
        <p:sp>
          <p:nvSpPr>
            <p:cNvPr id="27" name="Rectangle 53">
              <a:extLst>
                <a:ext uri="{FF2B5EF4-FFF2-40B4-BE49-F238E27FC236}">
                  <a16:creationId xmlns="" xmlns:a16="http://schemas.microsoft.com/office/drawing/2014/main" id="{E70F1C44-6D48-443B-B688-624666084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3284" y="4406044"/>
              <a:ext cx="1983972" cy="720000"/>
            </a:xfrm>
            <a:prstGeom prst="rect">
              <a:avLst/>
            </a:prstGeom>
            <a:solidFill>
              <a:srgbClr val="508CD2">
                <a:lumMod val="40000"/>
                <a:lumOff val="60000"/>
              </a:srgbClr>
            </a:solidFill>
            <a:ln w="952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36000" rIns="36000" bIns="36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457200" eaLnBrk="0" latinLnBrk="0" hangingPunct="0">
                <a:lnSpc>
                  <a:spcPct val="105000"/>
                </a:lnSpc>
                <a:buClr>
                  <a:srgbClr val="328030"/>
                </a:buClr>
                <a:defRPr/>
              </a:pPr>
              <a:r>
                <a:rPr lang="ko-KR" altLang="en-US" sz="1100" dirty="0">
                  <a:latin typeface="+mn-ea"/>
                </a:rPr>
                <a:t>업무프로세스 맵 정의</a:t>
              </a:r>
              <a:endParaRPr lang="en-US" altLang="ko-KR" sz="1100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8" name="Rectangle 53">
              <a:extLst>
                <a:ext uri="{FF2B5EF4-FFF2-40B4-BE49-F238E27FC236}">
                  <a16:creationId xmlns="" xmlns:a16="http://schemas.microsoft.com/office/drawing/2014/main" id="{CE6A39E6-6A41-4350-BBBA-FAD77E7D1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3524" y="4406044"/>
              <a:ext cx="1983972" cy="720000"/>
            </a:xfrm>
            <a:prstGeom prst="rect">
              <a:avLst/>
            </a:prstGeom>
            <a:solidFill>
              <a:srgbClr val="508CD2">
                <a:lumMod val="40000"/>
                <a:lumOff val="60000"/>
              </a:srgbClr>
            </a:solidFill>
            <a:ln w="952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36000" rIns="36000" bIns="36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457200" eaLnBrk="0" latinLnBrk="0" hangingPunct="0">
                <a:lnSpc>
                  <a:spcPct val="105000"/>
                </a:lnSpc>
                <a:buClr>
                  <a:srgbClr val="328030"/>
                </a:buClr>
                <a:defRPr/>
              </a:pP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업무활동명 정의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813241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본 사업범위</a:t>
            </a:r>
            <a:r>
              <a:rPr lang="en-US" altLang="ko-KR" dirty="0"/>
              <a:t>(</a:t>
            </a:r>
            <a:r>
              <a:rPr lang="ko-KR" altLang="en-US" dirty="0"/>
              <a:t>통합재무</a:t>
            </a:r>
            <a:r>
              <a:rPr lang="en-US" altLang="ko-KR" dirty="0"/>
              <a:t>, </a:t>
            </a:r>
            <a:r>
              <a:rPr lang="ko-KR" altLang="en-US" dirty="0"/>
              <a:t>계약관리</a:t>
            </a:r>
            <a:r>
              <a:rPr lang="en-US" altLang="ko-KR" dirty="0"/>
              <a:t>, </a:t>
            </a:r>
            <a:r>
              <a:rPr lang="ko-KR" altLang="en-US" dirty="0"/>
              <a:t>인적자원관리</a:t>
            </a:r>
            <a:r>
              <a:rPr lang="en-US" altLang="ko-KR" dirty="0"/>
              <a:t>, </a:t>
            </a:r>
            <a:r>
              <a:rPr lang="ko-KR" altLang="en-US" dirty="0"/>
              <a:t>기금지원</a:t>
            </a:r>
            <a:r>
              <a:rPr lang="en-US" altLang="ko-KR" dirty="0"/>
              <a:t>) </a:t>
            </a:r>
            <a:r>
              <a:rPr lang="ko-KR" altLang="en-US" dirty="0"/>
              <a:t>업무프로세스 개선을 정의하기 위한  표기법을 정의하여 업무기능 정의 및 업무프로세스 맵 작성 시 반영함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3.1.2 </a:t>
            </a:r>
            <a:r>
              <a:rPr lang="ko-KR" altLang="en-US" dirty="0"/>
              <a:t>사용 양식 및 다이어그램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3.1 </a:t>
            </a:r>
            <a:r>
              <a:rPr lang="ko-KR" altLang="en-US" dirty="0">
                <a:solidFill>
                  <a:prstClr val="black"/>
                </a:solidFill>
              </a:rPr>
              <a:t>개요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13" name="Line 5">
            <a:extLst>
              <a:ext uri="{FF2B5EF4-FFF2-40B4-BE49-F238E27FC236}">
                <a16:creationId xmlns="" xmlns:a16="http://schemas.microsoft.com/office/drawing/2014/main" id="{20ACE431-296A-49BC-9A08-34F9B8B0B2FA}"/>
              </a:ext>
            </a:extLst>
          </p:cNvPr>
          <p:cNvSpPr>
            <a:spLocks noChangeAspect="1" noChangeShapeType="1"/>
          </p:cNvSpPr>
          <p:nvPr/>
        </p:nvSpPr>
        <p:spPr bwMode="auto">
          <a:xfrm flipH="1">
            <a:off x="4953000" y="2032866"/>
            <a:ext cx="1843" cy="42480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4" name="Rectangle 3">
            <a:extLst>
              <a:ext uri="{FF2B5EF4-FFF2-40B4-BE49-F238E27FC236}">
                <a16:creationId xmlns="" xmlns:a16="http://schemas.microsoft.com/office/drawing/2014/main" id="{35136BA6-CB07-4627-A9CB-3CFCFC1EC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19" y="1973097"/>
            <a:ext cx="9170481" cy="4326170"/>
          </a:xfrm>
          <a:prstGeom prst="rect">
            <a:avLst/>
          </a:prstGeom>
          <a:noFill/>
          <a:ln w="12700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ko-KR" sz="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5" name="Text Box 13">
            <a:extLst>
              <a:ext uri="{FF2B5EF4-FFF2-40B4-BE49-F238E27FC236}">
                <a16:creationId xmlns="" xmlns:a16="http://schemas.microsoft.com/office/drawing/2014/main" id="{4021AFA3-72DF-4B39-8C2F-1ED247E4C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2700" y="2683978"/>
            <a:ext cx="900000" cy="396000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Task</a:t>
            </a:r>
            <a:b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</a:b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(Online)</a:t>
            </a:r>
          </a:p>
        </p:txBody>
      </p:sp>
      <p:sp>
        <p:nvSpPr>
          <p:cNvPr id="16" name="Rectangle 11">
            <a:extLst>
              <a:ext uri="{FF2B5EF4-FFF2-40B4-BE49-F238E27FC236}">
                <a16:creationId xmlns="" xmlns:a16="http://schemas.microsoft.com/office/drawing/2014/main" id="{E68816C1-9B05-48E9-94AE-8931A6947D9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5532" y="2676097"/>
            <a:ext cx="936000" cy="411762"/>
          </a:xfrm>
          <a:prstGeom prst="rect">
            <a:avLst/>
          </a:prstGeom>
          <a:noFill/>
          <a:ln w="1397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Activity  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7" name="Text Box 7">
            <a:extLst>
              <a:ext uri="{FF2B5EF4-FFF2-40B4-BE49-F238E27FC236}">
                <a16:creationId xmlns="" xmlns:a16="http://schemas.microsoft.com/office/drawing/2014/main" id="{8483F306-F6B7-4C17-9346-D67CA77AF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2700" y="3361078"/>
            <a:ext cx="900000" cy="396000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Task</a:t>
            </a:r>
            <a:b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</a:b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(Offline)</a:t>
            </a:r>
          </a:p>
        </p:txBody>
      </p:sp>
      <p:sp>
        <p:nvSpPr>
          <p:cNvPr id="18" name="Rectangle 11">
            <a:extLst>
              <a:ext uri="{FF2B5EF4-FFF2-40B4-BE49-F238E27FC236}">
                <a16:creationId xmlns="" xmlns:a16="http://schemas.microsoft.com/office/drawing/2014/main" id="{64333A6E-1AF4-4DBF-BAC2-42BABEB8CCF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00010" y="3353197"/>
            <a:ext cx="936000" cy="411762"/>
          </a:xfrm>
          <a:prstGeom prst="rect">
            <a:avLst/>
          </a:prstGeom>
          <a:noFill/>
          <a:ln w="3302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Activity 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9" name="Text Box 7">
            <a:extLst>
              <a:ext uri="{FF2B5EF4-FFF2-40B4-BE49-F238E27FC236}">
                <a16:creationId xmlns="" xmlns:a16="http://schemas.microsoft.com/office/drawing/2014/main" id="{1A20B0D6-77B3-4CFC-B312-EA20309521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4073204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의사결정 판단</a:t>
            </a:r>
          </a:p>
        </p:txBody>
      </p:sp>
      <p:sp>
        <p:nvSpPr>
          <p:cNvPr id="20" name="순서도: 판단 58">
            <a:extLst>
              <a:ext uri="{FF2B5EF4-FFF2-40B4-BE49-F238E27FC236}">
                <a16:creationId xmlns="" xmlns:a16="http://schemas.microsoft.com/office/drawing/2014/main" id="{A1F47256-C88A-400D-B442-4AF50C843C6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1655" y="3994292"/>
            <a:ext cx="936000" cy="449202"/>
          </a:xfrm>
          <a:prstGeom prst="flowChartDecision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Activity</a:t>
            </a: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endParaRPr kumimoji="1" lang="en-US" altLang="ko-KR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1" name="Text Box 7">
            <a:extLst>
              <a:ext uri="{FF2B5EF4-FFF2-40B4-BE49-F238E27FC236}">
                <a16:creationId xmlns="" xmlns:a16="http://schemas.microsoft.com/office/drawing/2014/main" id="{FDC018F8-09D0-4194-88C0-03799B842B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4757280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연결되는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타 프로세스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22" name="순서도: 종속 처리 64">
            <a:extLst>
              <a:ext uri="{FF2B5EF4-FFF2-40B4-BE49-F238E27FC236}">
                <a16:creationId xmlns="" xmlns:a16="http://schemas.microsoft.com/office/drawing/2014/main" id="{DC01F6DF-ED37-4EBA-8AF2-073DF1F61D5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7326" y="4678368"/>
            <a:ext cx="936000" cy="411762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Process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3" name="Text Box 7">
            <a:extLst>
              <a:ext uri="{FF2B5EF4-FFF2-40B4-BE49-F238E27FC236}">
                <a16:creationId xmlns="" xmlns:a16="http://schemas.microsoft.com/office/drawing/2014/main" id="{92845742-9605-4EF8-80C4-1155B9719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2166078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프로세스 시작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/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종료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</a:endParaRPr>
          </a:p>
        </p:txBody>
      </p:sp>
      <p:cxnSp>
        <p:nvCxnSpPr>
          <p:cNvPr id="24" name="Shape 266">
            <a:extLst>
              <a:ext uri="{FF2B5EF4-FFF2-40B4-BE49-F238E27FC236}">
                <a16:creationId xmlns="" xmlns:a16="http://schemas.microsoft.com/office/drawing/2014/main" id="{D94F67EB-5934-42C7-882A-892950CD5D2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88668" y="5579777"/>
            <a:ext cx="93600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" name="Text Box 7">
            <a:extLst>
              <a:ext uri="{FF2B5EF4-FFF2-40B4-BE49-F238E27FC236}">
                <a16:creationId xmlns="" xmlns:a16="http://schemas.microsoft.com/office/drawing/2014/main" id="{29575C60-E81D-4D3C-BB00-832DA64D2D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5432264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Task Flow (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업무 흐름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)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26" name="Text Box 7">
            <a:extLst>
              <a:ext uri="{FF2B5EF4-FFF2-40B4-BE49-F238E27FC236}">
                <a16:creationId xmlns="" xmlns:a16="http://schemas.microsoft.com/office/drawing/2014/main" id="{E18532BB-ED8E-477F-8A47-9560DC23D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5899212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spc="-100" dirty="0">
                <a:solidFill>
                  <a:srgbClr val="000000"/>
                </a:solidFill>
                <a:cs typeface="Arial Unicode MS" pitchFamily="50" charset="-127"/>
              </a:rPr>
              <a:t>입</a:t>
            </a:r>
            <a:r>
              <a:rPr kumimoji="1" lang="en-US" altLang="ko-KR" sz="1200" b="1" spc="-100" dirty="0">
                <a:solidFill>
                  <a:srgbClr val="000000"/>
                </a:solidFill>
                <a:cs typeface="Arial Unicode MS" pitchFamily="50" charset="-127"/>
              </a:rPr>
              <a:t>/</a:t>
            </a:r>
            <a:r>
              <a:rPr kumimoji="1" lang="ko-KR" altLang="en-US" sz="1200" b="1" spc="-100" dirty="0">
                <a:solidFill>
                  <a:srgbClr val="000000"/>
                </a:solidFill>
                <a:cs typeface="Arial Unicode MS" pitchFamily="50" charset="-127"/>
              </a:rPr>
              <a:t>출력 </a:t>
            </a:r>
            <a:r>
              <a:rPr kumimoji="1" lang="en-US" altLang="ko-KR" sz="1200" b="1" spc="-100" dirty="0">
                <a:solidFill>
                  <a:srgbClr val="000000"/>
                </a:solidFill>
                <a:cs typeface="Arial Unicode MS" pitchFamily="50" charset="-127"/>
              </a:rPr>
              <a:t>Flow </a:t>
            </a:r>
            <a:r>
              <a:rPr kumimoji="1" lang="ko-KR" altLang="en-US" sz="1200" b="1" spc="-100" dirty="0">
                <a:solidFill>
                  <a:srgbClr val="000000"/>
                </a:solidFill>
                <a:cs typeface="Arial Unicode MS" pitchFamily="50" charset="-127"/>
              </a:rPr>
              <a:t>혹은 타 프로세스 연결</a:t>
            </a:r>
            <a:endParaRPr kumimoji="1" lang="en-US" altLang="ko-KR" sz="1200" b="1" spc="-100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cxnSp>
        <p:nvCxnSpPr>
          <p:cNvPr id="27" name="Shape 266">
            <a:extLst>
              <a:ext uri="{FF2B5EF4-FFF2-40B4-BE49-F238E27FC236}">
                <a16:creationId xmlns="" xmlns:a16="http://schemas.microsoft.com/office/drawing/2014/main" id="{7F0F192C-717B-4E7C-B079-611664143A6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63267" y="6073649"/>
            <a:ext cx="93600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8" name="순서도: 수행의 시작/종료 69">
            <a:extLst>
              <a:ext uri="{FF2B5EF4-FFF2-40B4-BE49-F238E27FC236}">
                <a16:creationId xmlns="" xmlns:a16="http://schemas.microsoft.com/office/drawing/2014/main" id="{90AAF74F-E020-4F74-9936-4AD21DBCB0A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2500" y="2060514"/>
            <a:ext cx="936000" cy="411762"/>
          </a:xfrm>
          <a:prstGeom prst="hexagon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맑은 고딕" pitchFamily="50" charset="-127"/>
              </a:rPr>
              <a:t>시작</a:t>
            </a: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맑은 고딕" pitchFamily="50" charset="-127"/>
              </a:rPr>
              <a:t>/</a:t>
            </a:r>
            <a:b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맑은 고딕" pitchFamily="50" charset="-127"/>
              </a:rPr>
            </a:br>
            <a:r>
              <a:rPr kumimoji="1" lang="ko-KR" altLang="en-US" sz="1200" b="1" kern="0" dirty="0">
                <a:solidFill>
                  <a:prstClr val="black"/>
                </a:solidFill>
                <a:ea typeface="맑은 고딕" pitchFamily="50" charset="-127"/>
              </a:rPr>
              <a:t>종료</a:t>
            </a:r>
            <a:endParaRPr kumimoji="1" 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맑은 고딕" pitchFamily="50" charset="-127"/>
            </a:endParaRPr>
          </a:p>
        </p:txBody>
      </p:sp>
      <p:grpSp>
        <p:nvGrpSpPr>
          <p:cNvPr id="5" name="그룹 37">
            <a:extLst>
              <a:ext uri="{FF2B5EF4-FFF2-40B4-BE49-F238E27FC236}">
                <a16:creationId xmlns="" xmlns:a16="http://schemas.microsoft.com/office/drawing/2014/main" id="{C777D98E-CAEE-4366-B260-5F1A16106143}"/>
              </a:ext>
            </a:extLst>
          </p:cNvPr>
          <p:cNvGrpSpPr/>
          <p:nvPr/>
        </p:nvGrpSpPr>
        <p:grpSpPr>
          <a:xfrm>
            <a:off x="3080792" y="1641159"/>
            <a:ext cx="3746804" cy="307777"/>
            <a:chOff x="2743200" y="1659791"/>
            <a:chExt cx="4419600" cy="424341"/>
          </a:xfrm>
        </p:grpSpPr>
        <p:sp>
          <p:nvSpPr>
            <p:cNvPr id="30" name="Text Box 605">
              <a:extLst>
                <a:ext uri="{FF2B5EF4-FFF2-40B4-BE49-F238E27FC236}">
                  <a16:creationId xmlns="" xmlns:a16="http://schemas.microsoft.com/office/drawing/2014/main" id="{C480D8BE-0DFA-4FB2-8F05-9700233BD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1659791"/>
              <a:ext cx="4419600" cy="424341"/>
            </a:xfrm>
            <a:prstGeom prst="rect">
              <a:avLst/>
            </a:prstGeom>
            <a:noFill/>
            <a:ln w="9525" algn="ctr">
              <a:noFill/>
              <a:prstDash val="dash"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 eaLnBrk="0" latinLnBrk="0" hangingPunct="0">
                <a:spcBef>
                  <a:spcPct val="50000"/>
                </a:spcBef>
                <a:defRPr/>
              </a:pPr>
              <a:r>
                <a:rPr lang="ko-KR" altLang="en-US" sz="1400" b="1" kern="0" dirty="0">
                  <a:solidFill>
                    <a:prstClr val="black"/>
                  </a:solidFill>
                </a:rPr>
                <a:t>사용 다이어그램</a:t>
              </a:r>
            </a:p>
          </p:txBody>
        </p:sp>
        <p:cxnSp>
          <p:nvCxnSpPr>
            <p:cNvPr id="31" name="직선 연결선 12">
              <a:extLst>
                <a:ext uri="{FF2B5EF4-FFF2-40B4-BE49-F238E27FC236}">
                  <a16:creationId xmlns="" xmlns:a16="http://schemas.microsoft.com/office/drawing/2014/main" id="{16280B1E-377C-4B38-8E0C-256BD26D44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31013" y="2067979"/>
              <a:ext cx="2843974" cy="0"/>
            </a:xfrm>
            <a:prstGeom prst="line">
              <a:avLst/>
            </a:prstGeom>
            <a:noFill/>
            <a:ln w="12700" algn="ctr">
              <a:solidFill>
                <a:sysClr val="windowText" lastClr="000000"/>
              </a:solidFill>
              <a:round/>
              <a:headEnd/>
              <a:tailEnd/>
            </a:ln>
          </p:spPr>
        </p:cxnSp>
      </p:grpSp>
      <p:sp>
        <p:nvSpPr>
          <p:cNvPr id="32" name="Text Box 11">
            <a:extLst>
              <a:ext uri="{FF2B5EF4-FFF2-40B4-BE49-F238E27FC236}">
                <a16:creationId xmlns="" xmlns:a16="http://schemas.microsoft.com/office/drawing/2014/main" id="{A16D041A-36DE-4B95-B3E7-7B54004493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2803307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등록 데이터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33" name="원통 68">
            <a:extLst>
              <a:ext uri="{FF2B5EF4-FFF2-40B4-BE49-F238E27FC236}">
                <a16:creationId xmlns="" xmlns:a16="http://schemas.microsoft.com/office/drawing/2014/main" id="{4D420994-D82F-4483-86F2-50CDF8261CC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82929" y="2708920"/>
            <a:ext cx="936000" cy="374322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System 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4" name="Text Box 11">
            <a:extLst>
              <a:ext uri="{FF2B5EF4-FFF2-40B4-BE49-F238E27FC236}">
                <a16:creationId xmlns="" xmlns:a16="http://schemas.microsoft.com/office/drawing/2014/main" id="{F2171D5A-9506-439A-B5E4-11EDBD12BC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3414794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입력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/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출력</a:t>
            </a:r>
          </a:p>
        </p:txBody>
      </p:sp>
      <p:sp>
        <p:nvSpPr>
          <p:cNvPr id="43" name="순서도: 문서 78">
            <a:extLst>
              <a:ext uri="{FF2B5EF4-FFF2-40B4-BE49-F238E27FC236}">
                <a16:creationId xmlns="" xmlns:a16="http://schemas.microsoft.com/office/drawing/2014/main" id="{FAFF9DBE-3251-4C2E-8FE8-EAC57F402BF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78452" y="3320410"/>
            <a:ext cx="936000" cy="374322"/>
          </a:xfrm>
          <a:prstGeom prst="flowChartDocument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kern="0" dirty="0">
                <a:solidFill>
                  <a:prstClr val="black"/>
                </a:solidFill>
              </a:rPr>
              <a:t>In/</a:t>
            </a: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Output Report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4" name="Text Box 21">
            <a:extLst>
              <a:ext uri="{FF2B5EF4-FFF2-40B4-BE49-F238E27FC236}">
                <a16:creationId xmlns="" xmlns:a16="http://schemas.microsoft.com/office/drawing/2014/main" id="{B791AB1B-44CC-4CCF-B581-401E3D4F1A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3843689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앞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,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뒷장으로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연결</a:t>
            </a:r>
          </a:p>
        </p:txBody>
      </p:sp>
      <p:sp>
        <p:nvSpPr>
          <p:cNvPr id="45" name="Text Box 21">
            <a:extLst>
              <a:ext uri="{FF2B5EF4-FFF2-40B4-BE49-F238E27FC236}">
                <a16:creationId xmlns="" xmlns:a16="http://schemas.microsoft.com/office/drawing/2014/main" id="{E1FA268B-E26B-444F-B1A6-8D1F5302E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4231395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부연  설명</a:t>
            </a:r>
          </a:p>
        </p:txBody>
      </p:sp>
      <p:grpSp>
        <p:nvGrpSpPr>
          <p:cNvPr id="6" name="그룹 100">
            <a:extLst>
              <a:ext uri="{FF2B5EF4-FFF2-40B4-BE49-F238E27FC236}">
                <a16:creationId xmlns="" xmlns:a16="http://schemas.microsoft.com/office/drawing/2014/main" id="{6214FE1F-4716-4AB9-9538-E5B0517CD11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404761" y="4207677"/>
            <a:ext cx="717806" cy="255480"/>
            <a:chOff x="4271707" y="5214950"/>
            <a:chExt cx="565817" cy="249238"/>
          </a:xfrm>
        </p:grpSpPr>
        <p:sp>
          <p:nvSpPr>
            <p:cNvPr id="47" name="Line 175">
              <a:extLst>
                <a:ext uri="{FF2B5EF4-FFF2-40B4-BE49-F238E27FC236}">
                  <a16:creationId xmlns="" xmlns:a16="http://schemas.microsoft.com/office/drawing/2014/main" id="{BBFC3069-92EB-4F7F-9DAE-0F991FDF97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9730" y="5323666"/>
              <a:ext cx="257794" cy="140522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7" name="그룹 56">
              <a:extLst>
                <a:ext uri="{FF2B5EF4-FFF2-40B4-BE49-F238E27FC236}">
                  <a16:creationId xmlns="" xmlns:a16="http://schemas.microsoft.com/office/drawing/2014/main" id="{6FF0A2B0-C603-4860-8A8B-AF6F997061B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271707" y="5214950"/>
              <a:ext cx="308020" cy="227049"/>
              <a:chOff x="2509838" y="3465513"/>
              <a:chExt cx="523535" cy="487362"/>
            </a:xfrm>
          </p:grpSpPr>
          <p:sp>
            <p:nvSpPr>
              <p:cNvPr id="49" name="Freeform 176">
                <a:extLst>
                  <a:ext uri="{FF2B5EF4-FFF2-40B4-BE49-F238E27FC236}">
                    <a16:creationId xmlns="" xmlns:a16="http://schemas.microsoft.com/office/drawing/2014/main" id="{288BA62B-A366-433D-A4E2-371A17D91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838" y="3465513"/>
                <a:ext cx="120650" cy="487362"/>
              </a:xfrm>
              <a:custGeom>
                <a:avLst/>
                <a:gdLst>
                  <a:gd name="T0" fmla="*/ 2147483647 w 56"/>
                  <a:gd name="T1" fmla="*/ 0 h 210"/>
                  <a:gd name="T2" fmla="*/ 0 w 56"/>
                  <a:gd name="T3" fmla="*/ 0 h 210"/>
                  <a:gd name="T4" fmla="*/ 0 w 56"/>
                  <a:gd name="T5" fmla="*/ 2147483647 h 210"/>
                  <a:gd name="T6" fmla="*/ 2147483647 w 56"/>
                  <a:gd name="T7" fmla="*/ 2147483647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210"/>
                  <a:gd name="T14" fmla="*/ 56 w 5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210">
                    <a:moveTo>
                      <a:pt x="56" y="0"/>
                    </a:moveTo>
                    <a:lnTo>
                      <a:pt x="0" y="0"/>
                    </a:lnTo>
                    <a:lnTo>
                      <a:pt x="0" y="210"/>
                    </a:lnTo>
                    <a:lnTo>
                      <a:pt x="56" y="210"/>
                    </a:lnTo>
                  </a:path>
                </a:pathLst>
              </a:custGeom>
              <a:noFill/>
              <a:ln w="144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200" b="1" i="0" u="sng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Rectangle 179">
                <a:extLst>
                  <a:ext uri="{FF2B5EF4-FFF2-40B4-BE49-F238E27FC236}">
                    <a16:creationId xmlns="" xmlns:a16="http://schemas.microsoft.com/office/drawing/2014/main" id="{ED255503-FCF7-4668-AC70-BC7B7487D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018" y="3490217"/>
                <a:ext cx="412355" cy="3867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  <a:tab pos="896938" algn="l"/>
                    <a:tab pos="1346200" algn="l"/>
                    <a:tab pos="1795463" algn="l"/>
                    <a:tab pos="2244725" algn="l"/>
                    <a:tab pos="2693988" algn="l"/>
                    <a:tab pos="3143250" algn="l"/>
                    <a:tab pos="3592513" algn="l"/>
                    <a:tab pos="4041775" algn="l"/>
                    <a:tab pos="4491038" algn="l"/>
                    <a:tab pos="4940300" algn="l"/>
                    <a:tab pos="5389563" algn="l"/>
                    <a:tab pos="5838825" algn="l"/>
                    <a:tab pos="6288088" algn="l"/>
                    <a:tab pos="6737350" algn="l"/>
                    <a:tab pos="7186613" algn="l"/>
                    <a:tab pos="7635875" algn="l"/>
                    <a:tab pos="8085138" algn="l"/>
                    <a:tab pos="8534400" algn="l"/>
                    <a:tab pos="8983663" algn="l"/>
                  </a:tabLst>
                  <a:defRPr/>
                </a:pPr>
                <a:r>
                  <a:rPr kumimoji="1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설명</a:t>
                </a:r>
                <a:endPara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51" name="Text Box 7">
            <a:extLst>
              <a:ext uri="{FF2B5EF4-FFF2-40B4-BE49-F238E27FC236}">
                <a16:creationId xmlns="" xmlns:a16="http://schemas.microsoft.com/office/drawing/2014/main" id="{73C59739-3FDB-4242-BAA2-AAD074B290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2207980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타 시스템 사용 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Task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="" xmlns:a16="http://schemas.microsoft.com/office/drawing/2014/main" id="{29092D2D-FC6C-473C-8C0B-260F8C9FBA74}"/>
              </a:ext>
            </a:extLst>
          </p:cNvPr>
          <p:cNvSpPr/>
          <p:nvPr/>
        </p:nvSpPr>
        <p:spPr>
          <a:xfrm>
            <a:off x="5641613" y="381163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53" name="Rectangle 11">
            <a:extLst>
              <a:ext uri="{FF2B5EF4-FFF2-40B4-BE49-F238E27FC236}">
                <a16:creationId xmlns="" xmlns:a16="http://schemas.microsoft.com/office/drawing/2014/main" id="{1BA8DCFB-0AE6-496D-B735-D9448B2BF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9862" y="4567717"/>
            <a:ext cx="865816" cy="423159"/>
          </a:xfrm>
          <a:prstGeom prst="rect">
            <a:avLst/>
          </a:prstGeom>
          <a:pattFill prst="ltUpDiag">
            <a:fgClr>
              <a:sysClr val="window" lastClr="FFFFFF">
                <a:lumMod val="65000"/>
              </a:sysClr>
            </a:fgClr>
            <a:bgClr>
              <a:sysClr val="window" lastClr="FFFFFF"/>
            </a:bgClr>
          </a:pattFill>
          <a:ln w="9525" cap="flat" cmpd="sng" algn="ctr">
            <a:noFill/>
            <a:prstDash val="solid"/>
          </a:ln>
          <a:effectLst/>
          <a:ex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54" name="Text Box 21">
            <a:extLst>
              <a:ext uri="{FF2B5EF4-FFF2-40B4-BE49-F238E27FC236}">
                <a16:creationId xmlns="" xmlns:a16="http://schemas.microsoft.com/office/drawing/2014/main" id="{77A77F07-D98A-451C-AE76-B6B4285FBA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4689841"/>
            <a:ext cx="2412000" cy="178912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상세화를 위한 범위 표시</a:t>
            </a:r>
            <a:endParaRPr kumimoji="1" lang="ko-KR" altLang="en-US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FCE11D21-BB28-49D5-8985-2D26365102A5}"/>
              </a:ext>
            </a:extLst>
          </p:cNvPr>
          <p:cNvSpPr/>
          <p:nvPr/>
        </p:nvSpPr>
        <p:spPr bwMode="auto">
          <a:xfrm>
            <a:off x="5272234" y="2089053"/>
            <a:ext cx="936000" cy="49036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1200" b="1" kern="0" dirty="0">
                <a:solidFill>
                  <a:prstClr val="black"/>
                </a:solidFill>
              </a:rPr>
              <a:t>Activity  Name</a:t>
            </a:r>
            <a:endParaRPr lang="en-US" altLang="ko-KR" sz="1200" kern="0" dirty="0">
              <a:solidFill>
                <a:prstClr val="black"/>
              </a:solidFill>
            </a:endParaRPr>
          </a:p>
        </p:txBody>
      </p:sp>
      <p:sp>
        <p:nvSpPr>
          <p:cNvPr id="56" name="Text Box 13">
            <a:extLst>
              <a:ext uri="{FF2B5EF4-FFF2-40B4-BE49-F238E27FC236}">
                <a16:creationId xmlns="" xmlns:a16="http://schemas.microsoft.com/office/drawing/2014/main" id="{CB1CBEC9-02CB-4151-84C4-90813BC968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9885" y="2777960"/>
            <a:ext cx="1296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일용직 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Task</a:t>
            </a:r>
            <a:b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</a:b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(Online)</a:t>
            </a:r>
          </a:p>
        </p:txBody>
      </p:sp>
      <p:sp>
        <p:nvSpPr>
          <p:cNvPr id="57" name="Rectangle 11">
            <a:extLst>
              <a:ext uri="{FF2B5EF4-FFF2-40B4-BE49-F238E27FC236}">
                <a16:creationId xmlns="" xmlns:a16="http://schemas.microsoft.com/office/drawing/2014/main" id="{703E0861-9221-4B41-B793-51EE3F586F7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52998" y="2676097"/>
            <a:ext cx="936000" cy="411762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200" b="1" kern="0" dirty="0">
                <a:solidFill>
                  <a:prstClr val="black"/>
                </a:solidFill>
              </a:rPr>
              <a:t>Activity  Name</a:t>
            </a:r>
            <a:endParaRPr kumimoji="1" lang="ko-KR" altLang="en-US" sz="1200" b="1" kern="0" dirty="0">
              <a:solidFill>
                <a:prstClr val="black"/>
              </a:solidFill>
            </a:endParaRPr>
          </a:p>
        </p:txBody>
      </p:sp>
      <p:sp>
        <p:nvSpPr>
          <p:cNvPr id="58" name="Text Box 7">
            <a:extLst>
              <a:ext uri="{FF2B5EF4-FFF2-40B4-BE49-F238E27FC236}">
                <a16:creationId xmlns="" xmlns:a16="http://schemas.microsoft.com/office/drawing/2014/main" id="{28D8DB0C-6D99-431D-B654-D3B723A9B2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5408" y="3455060"/>
            <a:ext cx="1296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일용직 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Task</a:t>
            </a:r>
            <a:b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</a:b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(Offline)</a:t>
            </a:r>
          </a:p>
        </p:txBody>
      </p:sp>
      <p:sp>
        <p:nvSpPr>
          <p:cNvPr id="59" name="Rectangle 11">
            <a:extLst>
              <a:ext uri="{FF2B5EF4-FFF2-40B4-BE49-F238E27FC236}">
                <a16:creationId xmlns="" xmlns:a16="http://schemas.microsoft.com/office/drawing/2014/main" id="{B2E42C41-B5AE-4927-A80D-BF30F158046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57476" y="3353197"/>
            <a:ext cx="936000" cy="411762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200" b="1" kern="0" dirty="0">
                <a:solidFill>
                  <a:prstClr val="black"/>
                </a:solidFill>
              </a:rPr>
              <a:t>Activity Name</a:t>
            </a:r>
            <a:endParaRPr kumimoji="1" lang="ko-KR" altLang="en-US" sz="1200" b="1" kern="0" dirty="0">
              <a:solidFill>
                <a:prstClr val="black"/>
              </a:solidFill>
            </a:endParaRPr>
          </a:p>
        </p:txBody>
      </p:sp>
      <p:sp>
        <p:nvSpPr>
          <p:cNvPr id="68" name="Text Box 7">
            <a:extLst>
              <a:ext uri="{FF2B5EF4-FFF2-40B4-BE49-F238E27FC236}">
                <a16:creationId xmlns="" xmlns:a16="http://schemas.microsoft.com/office/drawing/2014/main" id="{A90068D5-2FC4-4F5E-8C3D-195896A720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5008" y="5071111"/>
            <a:ext cx="4417725" cy="1094193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square" anchor="ctr"/>
          <a:lstStyle/>
          <a:p>
            <a:pPr marL="180975" indent="-180975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※ AS-IS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대비 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TO-BE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변화가 없을 경우 현행 표기법 유지함</a:t>
            </a:r>
            <a:endParaRPr kumimoji="1" lang="en-US" altLang="ko-KR" sz="1400" b="1" dirty="0">
              <a:solidFill>
                <a:srgbClr val="000000"/>
              </a:solidFill>
              <a:latin typeface="+mn-ea"/>
              <a:cs typeface="Arial Unicode MS" pitchFamily="50" charset="-127"/>
              <a:sym typeface="Wingdings" pitchFamily="2" charset="2"/>
            </a:endParaRPr>
          </a:p>
          <a:p>
            <a:pPr marL="180975" indent="-180975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※ AS-IS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대비 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TO-BE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변화가 있을 경우 표기법의 색을 </a:t>
            </a:r>
            <a:r>
              <a:rPr kumimoji="1" lang="ko-KR" altLang="en-US" sz="1400" b="1" dirty="0">
                <a:solidFill>
                  <a:srgbClr val="0073D2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파란색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으로 변경함</a:t>
            </a:r>
            <a:endParaRPr kumimoji="1" lang="en-US" altLang="ko-KR" sz="1400" b="1" dirty="0">
              <a:solidFill>
                <a:srgbClr val="000000"/>
              </a:solidFill>
              <a:latin typeface="+mn-ea"/>
              <a:cs typeface="Arial Unicode MS" pitchFamily="50" charset="-127"/>
              <a:sym typeface="Wingding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81076813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noFill/>
          <a:ln w="63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중기사업계획은 수작업으로 처리되는 것을 시스템화하고</a:t>
            </a:r>
            <a:r>
              <a:rPr lang="en-US" altLang="ko-KR" dirty="0"/>
              <a:t>, </a:t>
            </a:r>
            <a:r>
              <a:rPr lang="ko-KR" altLang="en-US" dirty="0"/>
              <a:t>예산편성 효율화를 위해 정형화된 예산 편성</a:t>
            </a:r>
            <a:r>
              <a:rPr lang="en-US" altLang="ko-KR" dirty="0"/>
              <a:t>, </a:t>
            </a:r>
            <a:r>
              <a:rPr lang="ko-KR" altLang="en-US" dirty="0"/>
              <a:t>내역사업 도입 등 편성준비 과정을 강화하고</a:t>
            </a:r>
            <a:r>
              <a:rPr lang="en-US" altLang="ko-KR" dirty="0"/>
              <a:t>, </a:t>
            </a:r>
            <a:r>
              <a:rPr lang="ko-KR" altLang="en-US" dirty="0"/>
              <a:t>예산요구</a:t>
            </a:r>
            <a:r>
              <a:rPr lang="en-US" altLang="ko-KR" dirty="0"/>
              <a:t>, </a:t>
            </a:r>
            <a:r>
              <a:rPr lang="ko-KR" altLang="en-US" dirty="0"/>
              <a:t>조정</a:t>
            </a:r>
            <a:r>
              <a:rPr lang="en-US" altLang="ko-KR" dirty="0"/>
              <a:t>, </a:t>
            </a:r>
            <a:r>
              <a:rPr lang="ko-KR" altLang="en-US" dirty="0"/>
              <a:t>심의</a:t>
            </a:r>
            <a:r>
              <a:rPr lang="en-US" altLang="ko-KR" dirty="0"/>
              <a:t>, </a:t>
            </a:r>
            <a:r>
              <a:rPr lang="ko-KR" altLang="en-US" dirty="0"/>
              <a:t>확정업무의 프로세스를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 </a:t>
            </a:r>
            <a:r>
              <a:rPr lang="ko-KR" altLang="en-US" dirty="0"/>
              <a:t>통합재무 업무프로세스 개선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3.2.1 </a:t>
            </a:r>
            <a:r>
              <a:rPr lang="ko-KR" altLang="en-US" dirty="0"/>
              <a:t>통합재무</a:t>
            </a:r>
            <a:r>
              <a:rPr lang="en-US" altLang="ko-KR" dirty="0"/>
              <a:t> </a:t>
            </a:r>
            <a:r>
              <a:rPr lang="ko-KR" altLang="en-US" dirty="0"/>
              <a:t>업무기능 정의 </a:t>
            </a:r>
            <a:r>
              <a:rPr lang="en-US" altLang="ko-KR" dirty="0"/>
              <a:t>(1/14)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8" y="1952800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+mn-ea"/>
            </a:endParaRPr>
          </a:p>
        </p:txBody>
      </p:sp>
      <p:sp>
        <p:nvSpPr>
          <p:cNvPr id="316" name="Rectangle 43">
            <a:extLst>
              <a:ext uri="{FF2B5EF4-FFF2-40B4-BE49-F238E27FC236}">
                <a16:creationId xmlns="" xmlns:a16="http://schemas.microsoft.com/office/drawing/2014/main" id="{F6A7BD53-EDB7-4ACE-ACD6-9D9808E65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914" y="272703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중기사업계획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17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stCxn id="320" idx="2"/>
            <a:endCxn id="316" idx="0"/>
          </p:cNvCxnSpPr>
          <p:nvPr/>
        </p:nvCxnSpPr>
        <p:spPr bwMode="auto">
          <a:xfrm rot="5400000">
            <a:off x="3349028" y="900978"/>
            <a:ext cx="270790" cy="338133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18" name="Rectangle 43">
            <a:extLst>
              <a:ext uri="{FF2B5EF4-FFF2-40B4-BE49-F238E27FC236}">
                <a16:creationId xmlns="" xmlns:a16="http://schemas.microsoft.com/office/drawing/2014/main" id="{55A536C4-1F9D-4CFC-B360-5BE659245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998" y="339299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작성요청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319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316" idx="2"/>
            <a:endCxn id="318" idx="0"/>
          </p:cNvCxnSpPr>
          <p:nvPr/>
        </p:nvCxnSpPr>
        <p:spPr bwMode="auto">
          <a:xfrm>
            <a:off x="1793756" y="3126413"/>
            <a:ext cx="42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0" name="Rectangle 43">
            <a:extLst>
              <a:ext uri="{FF2B5EF4-FFF2-40B4-BE49-F238E27FC236}">
                <a16:creationId xmlns="" xmlns:a16="http://schemas.microsoft.com/office/drawing/2014/main" id="{C37FE70D-B49D-4E1B-8525-B9801948F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2058161"/>
            <a:ext cx="8029272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1.1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예산관리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321" name="Rectangle 43">
            <a:extLst>
              <a:ext uri="{FF2B5EF4-FFF2-40B4-BE49-F238E27FC236}">
                <a16:creationId xmlns="" xmlns:a16="http://schemas.microsoft.com/office/drawing/2014/main" id="{D6022CC8-8B0F-4459-9750-B32A286F0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1689" y="272703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예산편성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2" name="Rectangle 43">
            <a:extLst>
              <a:ext uri="{FF2B5EF4-FFF2-40B4-BE49-F238E27FC236}">
                <a16:creationId xmlns="" xmlns:a16="http://schemas.microsoft.com/office/drawing/2014/main" id="{AAC9D106-BE04-41F1-AFEB-0A5D0264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632" y="272703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1.1.3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예산집행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3" name="Rectangle 43">
            <a:extLst>
              <a:ext uri="{FF2B5EF4-FFF2-40B4-BE49-F238E27FC236}">
                <a16:creationId xmlns="" xmlns:a16="http://schemas.microsoft.com/office/drawing/2014/main" id="{710E7DA3-5FB4-4ACB-A8F3-7C5B8554A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0481" y="272703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1.1.4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예산변경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4" name="Rectangle 43">
            <a:extLst>
              <a:ext uri="{FF2B5EF4-FFF2-40B4-BE49-F238E27FC236}">
                <a16:creationId xmlns="" xmlns:a16="http://schemas.microsoft.com/office/drawing/2014/main" id="{1F3C037D-8663-4BB2-8F50-67E55BF23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7057" y="272703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1.1.5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+mn-ea"/>
              </a:rPr>
              <a:t>예산절감</a:t>
            </a: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·</a:t>
            </a:r>
            <a:r>
              <a:rPr lang="ko-KR" altLang="en-US" sz="1100" b="1" kern="0" dirty="0">
                <a:solidFill>
                  <a:srgbClr val="000000"/>
                </a:solidFill>
                <a:latin typeface="+mn-ea"/>
              </a:rPr>
              <a:t>이월</a:t>
            </a:r>
          </a:p>
        </p:txBody>
      </p:sp>
      <p:cxnSp>
        <p:nvCxnSpPr>
          <p:cNvPr id="325" name="꺾인 연결선 95">
            <a:extLst>
              <a:ext uri="{FF2B5EF4-FFF2-40B4-BE49-F238E27FC236}">
                <a16:creationId xmlns="" xmlns:a16="http://schemas.microsoft.com/office/drawing/2014/main" id="{4707B7F0-4A9A-48EF-A615-1016A4AB6D50}"/>
              </a:ext>
            </a:extLst>
          </p:cNvPr>
          <p:cNvCxnSpPr>
            <a:stCxn id="320" idx="2"/>
            <a:endCxn id="324" idx="0"/>
          </p:cNvCxnSpPr>
          <p:nvPr/>
        </p:nvCxnSpPr>
        <p:spPr bwMode="auto">
          <a:xfrm rot="16200000" flipH="1">
            <a:off x="6062099" y="1569239"/>
            <a:ext cx="270790" cy="204481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6" name="꺾인 연결선 98">
            <a:extLst>
              <a:ext uri="{FF2B5EF4-FFF2-40B4-BE49-F238E27FC236}">
                <a16:creationId xmlns="" xmlns:a16="http://schemas.microsoft.com/office/drawing/2014/main" id="{140F111D-6450-4FBD-BB10-FB50112D1751}"/>
              </a:ext>
            </a:extLst>
          </p:cNvPr>
          <p:cNvCxnSpPr>
            <a:stCxn id="320" idx="2"/>
            <a:endCxn id="321" idx="0"/>
          </p:cNvCxnSpPr>
          <p:nvPr/>
        </p:nvCxnSpPr>
        <p:spPr bwMode="auto">
          <a:xfrm rot="5400000">
            <a:off x="4059415" y="1611365"/>
            <a:ext cx="270790" cy="1960558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7" name="꺾인 연결선 101">
            <a:extLst>
              <a:ext uri="{FF2B5EF4-FFF2-40B4-BE49-F238E27FC236}">
                <a16:creationId xmlns="" xmlns:a16="http://schemas.microsoft.com/office/drawing/2014/main" id="{BA41D50E-5184-4CAD-B9D9-E23D3EC512F4}"/>
              </a:ext>
            </a:extLst>
          </p:cNvPr>
          <p:cNvCxnSpPr>
            <a:stCxn id="320" idx="2"/>
            <a:endCxn id="322" idx="0"/>
          </p:cNvCxnSpPr>
          <p:nvPr/>
        </p:nvCxnSpPr>
        <p:spPr bwMode="auto">
          <a:xfrm rot="5400000">
            <a:off x="4743887" y="2295837"/>
            <a:ext cx="270790" cy="59161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8" name="꺾인 연결선 104">
            <a:extLst>
              <a:ext uri="{FF2B5EF4-FFF2-40B4-BE49-F238E27FC236}">
                <a16:creationId xmlns="" xmlns:a16="http://schemas.microsoft.com/office/drawing/2014/main" id="{7D6841DF-7D60-4A15-8D68-2DF204ABC742}"/>
              </a:ext>
            </a:extLst>
          </p:cNvPr>
          <p:cNvCxnSpPr>
            <a:stCxn id="320" idx="2"/>
            <a:endCxn id="323" idx="0"/>
          </p:cNvCxnSpPr>
          <p:nvPr/>
        </p:nvCxnSpPr>
        <p:spPr bwMode="auto">
          <a:xfrm rot="16200000" flipH="1">
            <a:off x="5403811" y="2227527"/>
            <a:ext cx="270790" cy="72823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29" name="Rectangle 43">
            <a:extLst>
              <a:ext uri="{FF2B5EF4-FFF2-40B4-BE49-F238E27FC236}">
                <a16:creationId xmlns="" xmlns:a16="http://schemas.microsoft.com/office/drawing/2014/main" id="{E965CCD8-2743-48F9-8315-B5DADCCD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1688" y="3392997"/>
            <a:ext cx="1245685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편성준비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30" name="Rectangle 43">
            <a:extLst>
              <a:ext uri="{FF2B5EF4-FFF2-40B4-BE49-F238E27FC236}">
                <a16:creationId xmlns="" xmlns:a16="http://schemas.microsoft.com/office/drawing/2014/main" id="{178EBF35-26B2-480A-87C2-82B04DC8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716" y="339299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1.1.3.1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예산집행계획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2" name="Rectangle 43">
            <a:extLst>
              <a:ext uri="{FF2B5EF4-FFF2-40B4-BE49-F238E27FC236}">
                <a16:creationId xmlns="" xmlns:a16="http://schemas.microsoft.com/office/drawing/2014/main" id="{A402D1D2-36A2-408F-9FA1-94C47FEEA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7141" y="339299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1.1.5.1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예산절감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3" name="Rectangle 43">
            <a:extLst>
              <a:ext uri="{FF2B5EF4-FFF2-40B4-BE49-F238E27FC236}">
                <a16:creationId xmlns="" xmlns:a16="http://schemas.microsoft.com/office/drawing/2014/main" id="{70CCE5AE-3D2E-4940-9C11-ABFBE5F5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1689" y="3946770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예산요구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34" name="Rectangle 43">
            <a:extLst>
              <a:ext uri="{FF2B5EF4-FFF2-40B4-BE49-F238E27FC236}">
                <a16:creationId xmlns="" xmlns:a16="http://schemas.microsoft.com/office/drawing/2014/main" id="{C6AF2B82-F503-46E0-AD73-C09C27E99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1689" y="4500543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예산요구조정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35" name="Rectangle 43">
            <a:extLst>
              <a:ext uri="{FF2B5EF4-FFF2-40B4-BE49-F238E27FC236}">
                <a16:creationId xmlns="" xmlns:a16="http://schemas.microsoft.com/office/drawing/2014/main" id="{FB16AB14-DCB7-4BB3-B826-76FB9C0BA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1689" y="5051406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1.1.2.4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예산심의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36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716" y="3946770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1.1.3.2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예산배정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37" name="꺾인 연결선 91">
            <a:extLst>
              <a:ext uri="{FF2B5EF4-FFF2-40B4-BE49-F238E27FC236}">
                <a16:creationId xmlns="" xmlns:a16="http://schemas.microsoft.com/office/drawing/2014/main" id="{46BE52CD-219C-4FE0-BAF9-A389CB6A694E}"/>
              </a:ext>
            </a:extLst>
          </p:cNvPr>
          <p:cNvCxnSpPr>
            <a:stCxn id="321" idx="2"/>
            <a:endCxn id="329" idx="0"/>
          </p:cNvCxnSpPr>
          <p:nvPr/>
        </p:nvCxnSpPr>
        <p:spPr bwMode="auto">
          <a:xfrm>
            <a:off x="3214531" y="3126413"/>
            <a:ext cx="0" cy="26658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8" name="꺾인 연결선 91">
            <a:extLst>
              <a:ext uri="{FF2B5EF4-FFF2-40B4-BE49-F238E27FC236}">
                <a16:creationId xmlns="" xmlns:a16="http://schemas.microsoft.com/office/drawing/2014/main" id="{E5264E3C-153B-4603-8339-982EA3EFD6B0}"/>
              </a:ext>
            </a:extLst>
          </p:cNvPr>
          <p:cNvCxnSpPr>
            <a:stCxn id="322" idx="2"/>
            <a:endCxn id="330" idx="0"/>
          </p:cNvCxnSpPr>
          <p:nvPr/>
        </p:nvCxnSpPr>
        <p:spPr bwMode="auto">
          <a:xfrm>
            <a:off x="4583474" y="3126413"/>
            <a:ext cx="42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9" name="꺾인 연결선 91">
            <a:extLst>
              <a:ext uri="{FF2B5EF4-FFF2-40B4-BE49-F238E27FC236}">
                <a16:creationId xmlns="" xmlns:a16="http://schemas.microsoft.com/office/drawing/2014/main" id="{EFB36DBF-C4D7-484B-B813-6C87C11905B8}"/>
              </a:ext>
            </a:extLst>
          </p:cNvPr>
          <p:cNvCxnSpPr>
            <a:stCxn id="323" idx="2"/>
            <a:endCxn id="349" idx="0"/>
          </p:cNvCxnSpPr>
          <p:nvPr/>
        </p:nvCxnSpPr>
        <p:spPr bwMode="auto">
          <a:xfrm flipH="1">
            <a:off x="5903281" y="3126413"/>
            <a:ext cx="42" cy="27693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0" name="꺾인 연결선 91">
            <a:extLst>
              <a:ext uri="{FF2B5EF4-FFF2-40B4-BE49-F238E27FC236}">
                <a16:creationId xmlns="" xmlns:a16="http://schemas.microsoft.com/office/drawing/2014/main" id="{D538DF82-7B4A-4238-AA2A-4BD4B1FC198E}"/>
              </a:ext>
            </a:extLst>
          </p:cNvPr>
          <p:cNvCxnSpPr>
            <a:stCxn id="324" idx="2"/>
            <a:endCxn id="332" idx="0"/>
          </p:cNvCxnSpPr>
          <p:nvPr/>
        </p:nvCxnSpPr>
        <p:spPr bwMode="auto">
          <a:xfrm>
            <a:off x="7219899" y="3126413"/>
            <a:ext cx="42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1" name="꺾인 연결선 91">
            <a:extLst>
              <a:ext uri="{FF2B5EF4-FFF2-40B4-BE49-F238E27FC236}">
                <a16:creationId xmlns="" xmlns:a16="http://schemas.microsoft.com/office/drawing/2014/main" id="{C1093954-97D2-42CF-B1F6-164C80F61F06}"/>
              </a:ext>
            </a:extLst>
          </p:cNvPr>
          <p:cNvCxnSpPr>
            <a:stCxn id="329" idx="2"/>
            <a:endCxn id="333" idx="0"/>
          </p:cNvCxnSpPr>
          <p:nvPr/>
        </p:nvCxnSpPr>
        <p:spPr bwMode="auto">
          <a:xfrm>
            <a:off x="3214531" y="3815738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2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330" idx="2"/>
            <a:endCxn id="336" idx="0"/>
          </p:cNvCxnSpPr>
          <p:nvPr/>
        </p:nvCxnSpPr>
        <p:spPr bwMode="auto">
          <a:xfrm>
            <a:off x="4583516" y="3815737"/>
            <a:ext cx="0" cy="13103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3" name="꺾인 연결선 91">
            <a:extLst>
              <a:ext uri="{FF2B5EF4-FFF2-40B4-BE49-F238E27FC236}">
                <a16:creationId xmlns="" xmlns:a16="http://schemas.microsoft.com/office/drawing/2014/main" id="{0FDB1728-739B-4663-8E33-2C7F9C8B6D4C}"/>
              </a:ext>
            </a:extLst>
          </p:cNvPr>
          <p:cNvCxnSpPr>
            <a:stCxn id="333" idx="2"/>
            <a:endCxn id="334" idx="0"/>
          </p:cNvCxnSpPr>
          <p:nvPr/>
        </p:nvCxnSpPr>
        <p:spPr bwMode="auto">
          <a:xfrm>
            <a:off x="3214531" y="4369511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4" name="꺾인 연결선 91">
            <a:extLst>
              <a:ext uri="{FF2B5EF4-FFF2-40B4-BE49-F238E27FC236}">
                <a16:creationId xmlns="" xmlns:a16="http://schemas.microsoft.com/office/drawing/2014/main" id="{5A327428-C648-4BDA-8B8C-10424E53D48C}"/>
              </a:ext>
            </a:extLst>
          </p:cNvPr>
          <p:cNvCxnSpPr>
            <a:stCxn id="334" idx="2"/>
            <a:endCxn id="335" idx="0"/>
          </p:cNvCxnSpPr>
          <p:nvPr/>
        </p:nvCxnSpPr>
        <p:spPr bwMode="auto">
          <a:xfrm>
            <a:off x="3214531" y="4923284"/>
            <a:ext cx="0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5" name="Rectangle 43">
            <a:extLst>
              <a:ext uri="{FF2B5EF4-FFF2-40B4-BE49-F238E27FC236}">
                <a16:creationId xmlns="" xmlns:a16="http://schemas.microsoft.com/office/drawing/2014/main" id="{5EA76E40-3173-4A0C-B239-99BF3DD71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0350" y="272703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1.1.6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+mn-ea"/>
              </a:rPr>
              <a:t>예산종합평가</a:t>
            </a:r>
          </a:p>
        </p:txBody>
      </p:sp>
      <p:cxnSp>
        <p:nvCxnSpPr>
          <p:cNvPr id="346" name="꺾인 연결선 69">
            <a:extLst>
              <a:ext uri="{FF2B5EF4-FFF2-40B4-BE49-F238E27FC236}">
                <a16:creationId xmlns="" xmlns:a16="http://schemas.microsoft.com/office/drawing/2014/main" id="{135AD304-C4D2-4D92-8163-BDD70B7D769A}"/>
              </a:ext>
            </a:extLst>
          </p:cNvPr>
          <p:cNvCxnSpPr>
            <a:stCxn id="320" idx="2"/>
            <a:endCxn id="345" idx="0"/>
          </p:cNvCxnSpPr>
          <p:nvPr/>
        </p:nvCxnSpPr>
        <p:spPr bwMode="auto">
          <a:xfrm rot="16200000" flipH="1">
            <a:off x="6738745" y="892592"/>
            <a:ext cx="270790" cy="339810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48" name="꺾인 연결선 91">
            <a:extLst>
              <a:ext uri="{FF2B5EF4-FFF2-40B4-BE49-F238E27FC236}">
                <a16:creationId xmlns="" xmlns:a16="http://schemas.microsoft.com/office/drawing/2014/main" id="{B7342035-BFB6-4623-978A-0DD668652F6A}"/>
              </a:ext>
            </a:extLst>
          </p:cNvPr>
          <p:cNvCxnSpPr>
            <a:cxnSpLocks/>
            <a:stCxn id="345" idx="2"/>
          </p:cNvCxnSpPr>
          <p:nvPr/>
        </p:nvCxnSpPr>
        <p:spPr bwMode="auto">
          <a:xfrm flipH="1">
            <a:off x="8566926" y="3126413"/>
            <a:ext cx="6266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9" name="Rectangle 43">
            <a:extLst>
              <a:ext uri="{FF2B5EF4-FFF2-40B4-BE49-F238E27FC236}">
                <a16:creationId xmlns="" xmlns:a16="http://schemas.microsoft.com/office/drawing/2014/main" id="{516D57EA-8179-4547-AFA2-EF10E8DF8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0481" y="340335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1.1.4.1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예산변경신청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0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0481" y="3959098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1.1.4.2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예산변경승인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52" name="꺾인 연결선 91">
            <a:extLst>
              <a:ext uri="{FF2B5EF4-FFF2-40B4-BE49-F238E27FC236}">
                <a16:creationId xmlns="" xmlns:a16="http://schemas.microsoft.com/office/drawing/2014/main" id="{D9020392-6D4A-4B21-8B86-95FF602905AC}"/>
              </a:ext>
            </a:extLst>
          </p:cNvPr>
          <p:cNvCxnSpPr>
            <a:stCxn id="349" idx="2"/>
            <a:endCxn id="350" idx="0"/>
          </p:cNvCxnSpPr>
          <p:nvPr/>
        </p:nvCxnSpPr>
        <p:spPr bwMode="auto">
          <a:xfrm>
            <a:off x="5903281" y="3826093"/>
            <a:ext cx="0" cy="1330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3" name="Rectangle 43">
            <a:extLst>
              <a:ext uri="{FF2B5EF4-FFF2-40B4-BE49-F238E27FC236}">
                <a16:creationId xmlns="" xmlns:a16="http://schemas.microsoft.com/office/drawing/2014/main" id="{1FE693CD-399F-49A0-809A-A7B82892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998" y="394479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사업계획작성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54" name="Rectangle 43">
            <a:extLst>
              <a:ext uri="{FF2B5EF4-FFF2-40B4-BE49-F238E27FC236}">
                <a16:creationId xmlns="" xmlns:a16="http://schemas.microsoft.com/office/drawing/2014/main" id="{3F7C3607-3FBE-4F11-994A-E538406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998" y="449659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사업계획취합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55" name="Rectangle 43">
            <a:extLst>
              <a:ext uri="{FF2B5EF4-FFF2-40B4-BE49-F238E27FC236}">
                <a16:creationId xmlns="" xmlns:a16="http://schemas.microsoft.com/office/drawing/2014/main" id="{376807C9-270C-4295-BADB-AB6D87D4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998" y="505140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사업계획승인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356" name="꺾인 연결선 91">
            <a:extLst>
              <a:ext uri="{FF2B5EF4-FFF2-40B4-BE49-F238E27FC236}">
                <a16:creationId xmlns="" xmlns:a16="http://schemas.microsoft.com/office/drawing/2014/main" id="{C40C9A90-9A50-4418-A92B-D549DB775864}"/>
              </a:ext>
            </a:extLst>
          </p:cNvPr>
          <p:cNvCxnSpPr>
            <a:stCxn id="318" idx="2"/>
            <a:endCxn id="353" idx="0"/>
          </p:cNvCxnSpPr>
          <p:nvPr/>
        </p:nvCxnSpPr>
        <p:spPr bwMode="auto">
          <a:xfrm>
            <a:off x="1793798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7" name="꺾인 연결선 91">
            <a:extLst>
              <a:ext uri="{FF2B5EF4-FFF2-40B4-BE49-F238E27FC236}">
                <a16:creationId xmlns="" xmlns:a16="http://schemas.microsoft.com/office/drawing/2014/main" id="{B65E55FB-9ED9-49B9-A004-E4FAF0F3433F}"/>
              </a:ext>
            </a:extLst>
          </p:cNvPr>
          <p:cNvCxnSpPr>
            <a:stCxn id="353" idx="2"/>
            <a:endCxn id="354" idx="0"/>
          </p:cNvCxnSpPr>
          <p:nvPr/>
        </p:nvCxnSpPr>
        <p:spPr bwMode="auto">
          <a:xfrm>
            <a:off x="1793798" y="43675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8" name="꺾인 연결선 91">
            <a:extLst>
              <a:ext uri="{FF2B5EF4-FFF2-40B4-BE49-F238E27FC236}">
                <a16:creationId xmlns="" xmlns:a16="http://schemas.microsoft.com/office/drawing/2014/main" id="{BC32C143-0962-4169-9BDC-CE51A8DF9DB6}"/>
              </a:ext>
            </a:extLst>
          </p:cNvPr>
          <p:cNvCxnSpPr>
            <a:stCxn id="354" idx="2"/>
            <a:endCxn id="355" idx="0"/>
          </p:cNvCxnSpPr>
          <p:nvPr/>
        </p:nvCxnSpPr>
        <p:spPr bwMode="auto">
          <a:xfrm>
            <a:off x="1793798" y="4919337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9" name="Rectangle 43">
            <a:extLst>
              <a:ext uri="{FF2B5EF4-FFF2-40B4-BE49-F238E27FC236}">
                <a16:creationId xmlns="" xmlns:a16="http://schemas.microsoft.com/office/drawing/2014/main" id="{183944B1-7232-4A5E-8628-B115F000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0998" y="560674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1.1.1.5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사업계획등록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60" name="Rectangle 43">
            <a:extLst>
              <a:ext uri="{FF2B5EF4-FFF2-40B4-BE49-F238E27FC236}">
                <a16:creationId xmlns="" xmlns:a16="http://schemas.microsoft.com/office/drawing/2014/main" id="{05DA83E7-A9BE-4E91-9B7E-86C2B9B77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0481" y="4509960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1.1.4.3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예산변경반영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61" name="꺾인 연결선 91">
            <a:extLst>
              <a:ext uri="{FF2B5EF4-FFF2-40B4-BE49-F238E27FC236}">
                <a16:creationId xmlns="" xmlns:a16="http://schemas.microsoft.com/office/drawing/2014/main" id="{3D7259BF-8F70-46BF-880C-8A50AA91A40A}"/>
              </a:ext>
            </a:extLst>
          </p:cNvPr>
          <p:cNvCxnSpPr>
            <a:stCxn id="355" idx="2"/>
            <a:endCxn id="359" idx="0"/>
          </p:cNvCxnSpPr>
          <p:nvPr/>
        </p:nvCxnSpPr>
        <p:spPr bwMode="auto">
          <a:xfrm>
            <a:off x="1793798" y="5474147"/>
            <a:ext cx="0" cy="13259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62" name="Rectangle 43">
            <a:extLst>
              <a:ext uri="{FF2B5EF4-FFF2-40B4-BE49-F238E27FC236}">
                <a16:creationId xmlns="" xmlns:a16="http://schemas.microsoft.com/office/drawing/2014/main" id="{1CCFF26E-1B5E-4C0E-B6D9-8BF7DF72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1689" y="5608920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1.1.2.5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예산확정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363" name="꺾인 연결선 91">
            <a:extLst>
              <a:ext uri="{FF2B5EF4-FFF2-40B4-BE49-F238E27FC236}">
                <a16:creationId xmlns="" xmlns:a16="http://schemas.microsoft.com/office/drawing/2014/main" id="{857CB15F-5C89-4B02-9508-F2A9338609C1}"/>
              </a:ext>
            </a:extLst>
          </p:cNvPr>
          <p:cNvCxnSpPr>
            <a:stCxn id="335" idx="2"/>
            <a:endCxn id="362" idx="0"/>
          </p:cNvCxnSpPr>
          <p:nvPr/>
        </p:nvCxnSpPr>
        <p:spPr bwMode="auto">
          <a:xfrm>
            <a:off x="3214531" y="5474147"/>
            <a:ext cx="0" cy="13477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64" name="꺾인 연결선 91">
            <a:extLst>
              <a:ext uri="{FF2B5EF4-FFF2-40B4-BE49-F238E27FC236}">
                <a16:creationId xmlns="" xmlns:a16="http://schemas.microsoft.com/office/drawing/2014/main" id="{65572B57-A27A-430A-938D-CCBBAAC5A8D3}"/>
              </a:ext>
            </a:extLst>
          </p:cNvPr>
          <p:cNvCxnSpPr>
            <a:stCxn id="350" idx="2"/>
            <a:endCxn id="360" idx="0"/>
          </p:cNvCxnSpPr>
          <p:nvPr/>
        </p:nvCxnSpPr>
        <p:spPr bwMode="auto">
          <a:xfrm>
            <a:off x="5903281" y="4381839"/>
            <a:ext cx="0" cy="128121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Rectangle 43">
            <a:extLst>
              <a:ext uri="{FF2B5EF4-FFF2-40B4-BE49-F238E27FC236}">
                <a16:creationId xmlns="" xmlns:a16="http://schemas.microsoft.com/office/drawing/2014/main" id="{78B858DD-518B-45F9-8530-B0F31134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7141" y="394479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1.1.5.2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예산이월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60" name="꺾인 연결선 91">
            <a:extLst>
              <a:ext uri="{FF2B5EF4-FFF2-40B4-BE49-F238E27FC236}">
                <a16:creationId xmlns="" xmlns:a16="http://schemas.microsoft.com/office/drawing/2014/main" id="{AD7CD1B6-DB58-4971-90B4-343157356751}"/>
              </a:ext>
            </a:extLst>
          </p:cNvPr>
          <p:cNvCxnSpPr>
            <a:cxnSpLocks/>
            <a:stCxn id="59" idx="0"/>
            <a:endCxn id="332" idx="2"/>
          </p:cNvCxnSpPr>
          <p:nvPr/>
        </p:nvCxnSpPr>
        <p:spPr bwMode="auto">
          <a:xfrm flipV="1">
            <a:off x="7219941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3" name="Rectangle 43">
            <a:extLst>
              <a:ext uri="{FF2B5EF4-FFF2-40B4-BE49-F238E27FC236}">
                <a16:creationId xmlns="" xmlns:a16="http://schemas.microsoft.com/office/drawing/2014/main" id="{9F316396-9A47-439A-9482-65354621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0350" y="339299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1.1.6.1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예산종합평가준비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64" name="Rectangle 43">
            <a:extLst>
              <a:ext uri="{FF2B5EF4-FFF2-40B4-BE49-F238E27FC236}">
                <a16:creationId xmlns="" xmlns:a16="http://schemas.microsoft.com/office/drawing/2014/main" id="{9DED2B55-68C8-41A5-BDA5-81831BDF0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0350" y="394479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1.1.6.2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예산종합평가처리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65" name="꺾인 연결선 91">
            <a:extLst>
              <a:ext uri="{FF2B5EF4-FFF2-40B4-BE49-F238E27FC236}">
                <a16:creationId xmlns="" xmlns:a16="http://schemas.microsoft.com/office/drawing/2014/main" id="{2B41A8A5-8167-45A0-ABA9-096F9E17219E}"/>
              </a:ext>
            </a:extLst>
          </p:cNvPr>
          <p:cNvCxnSpPr>
            <a:cxnSpLocks/>
            <a:stCxn id="64" idx="0"/>
            <a:endCxn id="63" idx="2"/>
          </p:cNvCxnSpPr>
          <p:nvPr/>
        </p:nvCxnSpPr>
        <p:spPr bwMode="auto">
          <a:xfrm flipV="1">
            <a:off x="8573150" y="3815737"/>
            <a:ext cx="0" cy="12905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Level2</a:t>
            </a:r>
          </a:p>
        </p:txBody>
      </p:sp>
      <p:sp>
        <p:nvSpPr>
          <p:cNvPr id="67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Level3</a:t>
            </a:r>
          </a:p>
        </p:txBody>
      </p:sp>
      <p:sp>
        <p:nvSpPr>
          <p:cNvPr id="68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Level4</a:t>
            </a:r>
          </a:p>
        </p:txBody>
      </p:sp>
    </p:spTree>
    <p:extLst>
      <p:ext uri="{BB962C8B-B14F-4D97-AF65-F5344CB8AC3E}">
        <p14:creationId xmlns:p14="http://schemas.microsoft.com/office/powerpoint/2010/main" val="377921654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지출품의는 지출요구 등록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계약 관련 지출요구일 경우 계약관리를 연계하여 계약정보를 필수 입력 하도록 지출품의를 변경하고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전사 월 결산도입에 따라 기금회계 월결산 프로세스를 신설함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  <a:latin typeface="맑은 고딕"/>
              </a:rPr>
              <a:t>3.2.1 </a:t>
            </a:r>
            <a:r>
              <a:rPr lang="ko-KR" altLang="en-US" dirty="0">
                <a:solidFill>
                  <a:prstClr val="black"/>
                </a:solidFill>
                <a:latin typeface="맑은 고딕"/>
              </a:rPr>
              <a:t>통합재무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 </a:t>
            </a:r>
            <a:r>
              <a:rPr lang="ko-KR" altLang="en-US" dirty="0">
                <a:solidFill>
                  <a:prstClr val="black"/>
                </a:solidFill>
                <a:latin typeface="맑은 고딕"/>
              </a:rPr>
              <a:t>업무기능 정의 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(2/14)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rgbClr val="00437A"/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354519" y="1952800"/>
            <a:ext cx="9170481" cy="442852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+mn-ea"/>
            </a:endParaRPr>
          </a:p>
        </p:txBody>
      </p:sp>
      <p:sp>
        <p:nvSpPr>
          <p:cNvPr id="7" name="Rectangle 43"/>
          <p:cNvSpPr>
            <a:spLocks noChangeArrowheads="1"/>
          </p:cNvSpPr>
          <p:nvPr/>
        </p:nvSpPr>
        <p:spPr bwMode="auto">
          <a:xfrm>
            <a:off x="1259045" y="2060848"/>
            <a:ext cx="125193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1.2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수입관리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85" name="Rectangle 43"/>
          <p:cNvSpPr>
            <a:spLocks noChangeArrowheads="1"/>
          </p:cNvSpPr>
          <p:nvPr/>
        </p:nvSpPr>
        <p:spPr bwMode="auto">
          <a:xfrm>
            <a:off x="1265297" y="272972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1.2.1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수입관리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86" name="Rectangle 43"/>
          <p:cNvSpPr>
            <a:spLocks noChangeArrowheads="1"/>
          </p:cNvSpPr>
          <p:nvPr/>
        </p:nvSpPr>
        <p:spPr bwMode="auto">
          <a:xfrm>
            <a:off x="2612740" y="272972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1.3.1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지출관리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99" name="꺾인 연결선 98"/>
          <p:cNvCxnSpPr>
            <a:stCxn id="7" idx="2"/>
            <a:endCxn id="85" idx="0"/>
          </p:cNvCxnSpPr>
          <p:nvPr/>
        </p:nvCxnSpPr>
        <p:spPr bwMode="auto">
          <a:xfrm>
            <a:off x="1885013" y="2458936"/>
            <a:ext cx="3126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2" name="꺾인 연결선 101"/>
          <p:cNvCxnSpPr>
            <a:stCxn id="58" idx="2"/>
            <a:endCxn id="86" idx="0"/>
          </p:cNvCxnSpPr>
          <p:nvPr/>
        </p:nvCxnSpPr>
        <p:spPr bwMode="auto">
          <a:xfrm flipH="1">
            <a:off x="3235582" y="2458936"/>
            <a:ext cx="3126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17" name="Rectangle 43"/>
          <p:cNvSpPr>
            <a:spLocks noChangeArrowheads="1"/>
          </p:cNvSpPr>
          <p:nvPr/>
        </p:nvSpPr>
        <p:spPr bwMode="auto">
          <a:xfrm>
            <a:off x="1265297" y="3383690"/>
            <a:ext cx="1245685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1.2.1.1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수입인식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18" name="Rectangle 43"/>
          <p:cNvSpPr>
            <a:spLocks noChangeArrowheads="1"/>
          </p:cNvSpPr>
          <p:nvPr/>
        </p:nvSpPr>
        <p:spPr bwMode="auto">
          <a:xfrm>
            <a:off x="2612740" y="3383689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1.3.1.1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지출품의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21" name="Rectangle 43"/>
          <p:cNvSpPr>
            <a:spLocks noChangeArrowheads="1"/>
          </p:cNvSpPr>
          <p:nvPr/>
        </p:nvSpPr>
        <p:spPr bwMode="auto">
          <a:xfrm>
            <a:off x="1265297" y="3887745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1.2.1.2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징수요구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23" name="Rectangle 43"/>
          <p:cNvSpPr>
            <a:spLocks noChangeArrowheads="1"/>
          </p:cNvSpPr>
          <p:nvPr/>
        </p:nvSpPr>
        <p:spPr bwMode="auto">
          <a:xfrm>
            <a:off x="1265297" y="4391801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1.2.1.3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징수처리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24" name="Rectangle 43"/>
          <p:cNvSpPr>
            <a:spLocks noChangeArrowheads="1"/>
          </p:cNvSpPr>
          <p:nvPr/>
        </p:nvSpPr>
        <p:spPr bwMode="auto">
          <a:xfrm>
            <a:off x="1265297" y="4898767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1.2.1.4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수납요구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25" name="Rectangle 43"/>
          <p:cNvSpPr>
            <a:spLocks noChangeArrowheads="1"/>
          </p:cNvSpPr>
          <p:nvPr/>
        </p:nvSpPr>
        <p:spPr bwMode="auto">
          <a:xfrm>
            <a:off x="2612740" y="388774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1.3.1.2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지출요구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126" name="꺾인 연결선 91"/>
          <p:cNvCxnSpPr>
            <a:stCxn id="85" idx="2"/>
            <a:endCxn id="117" idx="0"/>
          </p:cNvCxnSpPr>
          <p:nvPr/>
        </p:nvCxnSpPr>
        <p:spPr bwMode="auto">
          <a:xfrm>
            <a:off x="1888139" y="3129100"/>
            <a:ext cx="1" cy="2545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0" name="꺾인 연결선 91"/>
          <p:cNvCxnSpPr>
            <a:stCxn id="86" idx="2"/>
            <a:endCxn id="118" idx="0"/>
          </p:cNvCxnSpPr>
          <p:nvPr/>
        </p:nvCxnSpPr>
        <p:spPr bwMode="auto">
          <a:xfrm flipH="1">
            <a:off x="3235540" y="3129100"/>
            <a:ext cx="42" cy="25458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0" name="꺾인 연결선 91"/>
          <p:cNvCxnSpPr>
            <a:stCxn id="117" idx="2"/>
            <a:endCxn id="121" idx="0"/>
          </p:cNvCxnSpPr>
          <p:nvPr/>
        </p:nvCxnSpPr>
        <p:spPr bwMode="auto">
          <a:xfrm flipH="1">
            <a:off x="1888139" y="3806431"/>
            <a:ext cx="1" cy="8131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4" name="꺾인 연결선 91"/>
          <p:cNvCxnSpPr>
            <a:stCxn id="118" idx="2"/>
            <a:endCxn id="125" idx="0"/>
          </p:cNvCxnSpPr>
          <p:nvPr/>
        </p:nvCxnSpPr>
        <p:spPr bwMode="auto">
          <a:xfrm>
            <a:off x="3235540" y="3806430"/>
            <a:ext cx="0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꺾인 연결선 91"/>
          <p:cNvCxnSpPr>
            <a:stCxn id="121" idx="2"/>
            <a:endCxn id="123" idx="0"/>
          </p:cNvCxnSpPr>
          <p:nvPr/>
        </p:nvCxnSpPr>
        <p:spPr bwMode="auto">
          <a:xfrm>
            <a:off x="1888139" y="4310486"/>
            <a:ext cx="0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0" name="꺾인 연결선 91"/>
          <p:cNvCxnSpPr>
            <a:stCxn id="123" idx="2"/>
            <a:endCxn id="124" idx="0"/>
          </p:cNvCxnSpPr>
          <p:nvPr/>
        </p:nvCxnSpPr>
        <p:spPr bwMode="auto">
          <a:xfrm>
            <a:off x="1888139" y="4814542"/>
            <a:ext cx="0" cy="8422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6" name="Rectangle 43"/>
          <p:cNvSpPr>
            <a:spLocks noChangeArrowheads="1"/>
          </p:cNvSpPr>
          <p:nvPr/>
        </p:nvSpPr>
        <p:spPr bwMode="auto">
          <a:xfrm>
            <a:off x="2612740" y="4391801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1.3.1.3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지출원인행위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47" name="Rectangle 43"/>
          <p:cNvSpPr>
            <a:spLocks noChangeArrowheads="1"/>
          </p:cNvSpPr>
          <p:nvPr/>
        </p:nvSpPr>
        <p:spPr bwMode="auto">
          <a:xfrm>
            <a:off x="2612740" y="4898767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1.3.1.4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지출처리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63" name="Rectangle 43"/>
          <p:cNvSpPr>
            <a:spLocks noChangeArrowheads="1"/>
          </p:cNvSpPr>
          <p:nvPr/>
        </p:nvSpPr>
        <p:spPr bwMode="auto">
          <a:xfrm>
            <a:off x="3966435" y="2060848"/>
            <a:ext cx="5325198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1.4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결산관리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cxnSp>
        <p:nvCxnSpPr>
          <p:cNvPr id="66" name="꺾인 연결선 91"/>
          <p:cNvCxnSpPr>
            <a:stCxn id="125" idx="2"/>
            <a:endCxn id="46" idx="0"/>
          </p:cNvCxnSpPr>
          <p:nvPr/>
        </p:nvCxnSpPr>
        <p:spPr bwMode="auto">
          <a:xfrm>
            <a:off x="3235540" y="4310486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9" name="꺾인 연결선 91"/>
          <p:cNvCxnSpPr>
            <a:stCxn id="46" idx="2"/>
            <a:endCxn id="47" idx="0"/>
          </p:cNvCxnSpPr>
          <p:nvPr/>
        </p:nvCxnSpPr>
        <p:spPr bwMode="auto">
          <a:xfrm>
            <a:off x="3235582" y="4814542"/>
            <a:ext cx="0" cy="8422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7" name="Rectangle 43"/>
          <p:cNvSpPr>
            <a:spLocks noChangeArrowheads="1"/>
          </p:cNvSpPr>
          <p:nvPr/>
        </p:nvSpPr>
        <p:spPr bwMode="auto">
          <a:xfrm>
            <a:off x="1265297" y="5399913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1.2.1.5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수납처리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58" name="Rectangle 43"/>
          <p:cNvSpPr>
            <a:spLocks noChangeArrowheads="1"/>
          </p:cNvSpPr>
          <p:nvPr/>
        </p:nvSpPr>
        <p:spPr bwMode="auto">
          <a:xfrm>
            <a:off x="2612740" y="2060848"/>
            <a:ext cx="125193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1.3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지출관리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64" name="Rectangle 43"/>
          <p:cNvSpPr>
            <a:spLocks noChangeArrowheads="1"/>
          </p:cNvSpPr>
          <p:nvPr/>
        </p:nvSpPr>
        <p:spPr bwMode="auto">
          <a:xfrm>
            <a:off x="3966435" y="272972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1.4.1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월결산 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(</a:t>
            </a: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법인회계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)</a:t>
            </a:r>
          </a:p>
        </p:txBody>
      </p:sp>
      <p:sp>
        <p:nvSpPr>
          <p:cNvPr id="67" name="Rectangle 43"/>
          <p:cNvSpPr>
            <a:spLocks noChangeArrowheads="1"/>
          </p:cNvSpPr>
          <p:nvPr/>
        </p:nvSpPr>
        <p:spPr bwMode="auto">
          <a:xfrm>
            <a:off x="6713885" y="272972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1.4.3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연결산 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(</a:t>
            </a: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법인회계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)</a:t>
            </a:r>
          </a:p>
        </p:txBody>
      </p:sp>
      <p:sp>
        <p:nvSpPr>
          <p:cNvPr id="68" name="Rectangle 43"/>
          <p:cNvSpPr>
            <a:spLocks noChangeArrowheads="1"/>
          </p:cNvSpPr>
          <p:nvPr/>
        </p:nvSpPr>
        <p:spPr bwMode="auto">
          <a:xfrm>
            <a:off x="8046033" y="272972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1.4.4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연결산 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(</a:t>
            </a: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기금회계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)</a:t>
            </a:r>
          </a:p>
        </p:txBody>
      </p:sp>
      <p:cxnSp>
        <p:nvCxnSpPr>
          <p:cNvPr id="70" name="꺾인 연결선 91"/>
          <p:cNvCxnSpPr>
            <a:endCxn id="57" idx="0"/>
          </p:cNvCxnSpPr>
          <p:nvPr/>
        </p:nvCxnSpPr>
        <p:spPr bwMode="auto">
          <a:xfrm>
            <a:off x="1885013" y="5271791"/>
            <a:ext cx="3126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4" name="Rectangle 43"/>
          <p:cNvSpPr>
            <a:spLocks noChangeArrowheads="1"/>
          </p:cNvSpPr>
          <p:nvPr/>
        </p:nvSpPr>
        <p:spPr bwMode="auto">
          <a:xfrm>
            <a:off x="3966435" y="3383689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일반전표처리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76" name="Rectangle 43"/>
          <p:cNvSpPr>
            <a:spLocks noChangeArrowheads="1"/>
          </p:cNvSpPr>
          <p:nvPr/>
        </p:nvSpPr>
        <p:spPr bwMode="auto">
          <a:xfrm>
            <a:off x="3966435" y="388774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마감처리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77" name="Rectangle 43"/>
          <p:cNvSpPr>
            <a:spLocks noChangeArrowheads="1"/>
          </p:cNvSpPr>
          <p:nvPr/>
        </p:nvSpPr>
        <p:spPr bwMode="auto">
          <a:xfrm>
            <a:off x="3966435" y="4391801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결산서조회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78" name="꺾인 연결선 77"/>
          <p:cNvCxnSpPr>
            <a:stCxn id="63" idx="2"/>
            <a:endCxn id="64" idx="0"/>
          </p:cNvCxnSpPr>
          <p:nvPr/>
        </p:nvCxnSpPr>
        <p:spPr bwMode="auto">
          <a:xfrm rot="5400000">
            <a:off x="5473761" y="1574453"/>
            <a:ext cx="270790" cy="203975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80" name="꺾인 연결선 91"/>
          <p:cNvCxnSpPr>
            <a:stCxn id="64" idx="2"/>
            <a:endCxn id="74" idx="0"/>
          </p:cNvCxnSpPr>
          <p:nvPr/>
        </p:nvCxnSpPr>
        <p:spPr bwMode="auto">
          <a:xfrm flipH="1">
            <a:off x="4589235" y="3129100"/>
            <a:ext cx="42" cy="25458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3" name="꺾인 연결선 91"/>
          <p:cNvCxnSpPr>
            <a:stCxn id="76" idx="2"/>
            <a:endCxn id="77" idx="0"/>
          </p:cNvCxnSpPr>
          <p:nvPr/>
        </p:nvCxnSpPr>
        <p:spPr bwMode="auto">
          <a:xfrm>
            <a:off x="4589235" y="4310486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꺾인 연결선 91"/>
          <p:cNvCxnSpPr>
            <a:stCxn id="74" idx="2"/>
            <a:endCxn id="76" idx="0"/>
          </p:cNvCxnSpPr>
          <p:nvPr/>
        </p:nvCxnSpPr>
        <p:spPr bwMode="auto">
          <a:xfrm>
            <a:off x="4589235" y="3806430"/>
            <a:ext cx="0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2" name="Rectangle 43"/>
          <p:cNvSpPr>
            <a:spLocks noChangeArrowheads="1"/>
          </p:cNvSpPr>
          <p:nvPr/>
        </p:nvSpPr>
        <p:spPr bwMode="auto">
          <a:xfrm>
            <a:off x="6713885" y="3383689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1.4.3.1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일반전표처리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93" name="Rectangle 43"/>
          <p:cNvSpPr>
            <a:spLocks noChangeArrowheads="1"/>
          </p:cNvSpPr>
          <p:nvPr/>
        </p:nvSpPr>
        <p:spPr bwMode="auto">
          <a:xfrm>
            <a:off x="6713885" y="388774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1.4.3.2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마감처리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94" name="Rectangle 43"/>
          <p:cNvSpPr>
            <a:spLocks noChangeArrowheads="1"/>
          </p:cNvSpPr>
          <p:nvPr/>
        </p:nvSpPr>
        <p:spPr bwMode="auto">
          <a:xfrm>
            <a:off x="6713885" y="4391801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1.4.3.3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결산처리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95" name="꺾인 연결선 91"/>
          <p:cNvCxnSpPr>
            <a:stCxn id="67" idx="2"/>
            <a:endCxn id="92" idx="0"/>
          </p:cNvCxnSpPr>
          <p:nvPr/>
        </p:nvCxnSpPr>
        <p:spPr bwMode="auto">
          <a:xfrm flipH="1">
            <a:off x="7336685" y="3129100"/>
            <a:ext cx="42" cy="25458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" name="꺾인 연결선 91"/>
          <p:cNvCxnSpPr>
            <a:stCxn id="93" idx="2"/>
            <a:endCxn id="94" idx="0"/>
          </p:cNvCxnSpPr>
          <p:nvPr/>
        </p:nvCxnSpPr>
        <p:spPr bwMode="auto">
          <a:xfrm>
            <a:off x="7336685" y="4310486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" name="꺾인 연결선 91"/>
          <p:cNvCxnSpPr>
            <a:stCxn id="92" idx="2"/>
            <a:endCxn id="93" idx="0"/>
          </p:cNvCxnSpPr>
          <p:nvPr/>
        </p:nvCxnSpPr>
        <p:spPr bwMode="auto">
          <a:xfrm>
            <a:off x="7336685" y="3806430"/>
            <a:ext cx="0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8" name="Rectangle 43"/>
          <p:cNvSpPr>
            <a:spLocks noChangeArrowheads="1"/>
          </p:cNvSpPr>
          <p:nvPr/>
        </p:nvSpPr>
        <p:spPr bwMode="auto">
          <a:xfrm>
            <a:off x="6713885" y="4895857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1.4.3.4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결산보고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09" name="Rectangle 43"/>
          <p:cNvSpPr>
            <a:spLocks noChangeArrowheads="1"/>
          </p:cNvSpPr>
          <p:nvPr/>
        </p:nvSpPr>
        <p:spPr bwMode="auto">
          <a:xfrm>
            <a:off x="6713885" y="5399913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1.4.3.5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잔액이월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110" name="꺾인 연결선 91"/>
          <p:cNvCxnSpPr>
            <a:stCxn id="108" idx="2"/>
            <a:endCxn id="109" idx="0"/>
          </p:cNvCxnSpPr>
          <p:nvPr/>
        </p:nvCxnSpPr>
        <p:spPr bwMode="auto">
          <a:xfrm>
            <a:off x="7336685" y="5318598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꺾인 연결선 91"/>
          <p:cNvCxnSpPr>
            <a:stCxn id="94" idx="2"/>
            <a:endCxn id="108" idx="0"/>
          </p:cNvCxnSpPr>
          <p:nvPr/>
        </p:nvCxnSpPr>
        <p:spPr bwMode="auto">
          <a:xfrm flipH="1">
            <a:off x="7336685" y="4814542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7" name="Rectangle 43"/>
          <p:cNvSpPr>
            <a:spLocks noChangeArrowheads="1"/>
          </p:cNvSpPr>
          <p:nvPr/>
        </p:nvSpPr>
        <p:spPr bwMode="auto">
          <a:xfrm>
            <a:off x="8046033" y="3383689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1.4.4.1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일반전표처리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>
            <a:off x="8046033" y="388774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1.4.4.2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마감처리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29" name="Rectangle 43"/>
          <p:cNvSpPr>
            <a:spLocks noChangeArrowheads="1"/>
          </p:cNvSpPr>
          <p:nvPr/>
        </p:nvSpPr>
        <p:spPr bwMode="auto">
          <a:xfrm>
            <a:off x="8046033" y="4391801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1.4.4.3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결산처리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31" name="Rectangle 43"/>
          <p:cNvSpPr>
            <a:spLocks noChangeArrowheads="1"/>
          </p:cNvSpPr>
          <p:nvPr/>
        </p:nvSpPr>
        <p:spPr bwMode="auto">
          <a:xfrm>
            <a:off x="8046033" y="4895857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1.4.4.4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결산보고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32" name="Rectangle 43"/>
          <p:cNvSpPr>
            <a:spLocks noChangeArrowheads="1"/>
          </p:cNvSpPr>
          <p:nvPr/>
        </p:nvSpPr>
        <p:spPr bwMode="auto">
          <a:xfrm>
            <a:off x="8046033" y="5399913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1.4.4.5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dBrain </a:t>
            </a:r>
            <a:r>
              <a:rPr lang="ko-KR" altLang="en-US" sz="1100" b="1" kern="0" dirty="0">
                <a:latin typeface="+mn-ea"/>
              </a:rPr>
              <a:t>전송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133" name="꺾인 연결선 91"/>
          <p:cNvCxnSpPr>
            <a:stCxn id="68" idx="2"/>
            <a:endCxn id="127" idx="0"/>
          </p:cNvCxnSpPr>
          <p:nvPr/>
        </p:nvCxnSpPr>
        <p:spPr bwMode="auto">
          <a:xfrm flipH="1">
            <a:off x="8668833" y="3129100"/>
            <a:ext cx="42" cy="25458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4" name="꺾인 연결선 91"/>
          <p:cNvCxnSpPr>
            <a:stCxn id="128" idx="2"/>
            <a:endCxn id="129" idx="0"/>
          </p:cNvCxnSpPr>
          <p:nvPr/>
        </p:nvCxnSpPr>
        <p:spPr bwMode="auto">
          <a:xfrm>
            <a:off x="8668833" y="4310486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5" name="꺾인 연결선 91"/>
          <p:cNvCxnSpPr>
            <a:stCxn id="127" idx="2"/>
            <a:endCxn id="128" idx="0"/>
          </p:cNvCxnSpPr>
          <p:nvPr/>
        </p:nvCxnSpPr>
        <p:spPr bwMode="auto">
          <a:xfrm>
            <a:off x="8668833" y="3806430"/>
            <a:ext cx="0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꺾인 연결선 91"/>
          <p:cNvCxnSpPr>
            <a:stCxn id="131" idx="2"/>
            <a:endCxn id="132" idx="0"/>
          </p:cNvCxnSpPr>
          <p:nvPr/>
        </p:nvCxnSpPr>
        <p:spPr bwMode="auto">
          <a:xfrm>
            <a:off x="8668833" y="5318598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꺾인 연결선 91"/>
          <p:cNvCxnSpPr>
            <a:stCxn id="129" idx="2"/>
            <a:endCxn id="131" idx="0"/>
          </p:cNvCxnSpPr>
          <p:nvPr/>
        </p:nvCxnSpPr>
        <p:spPr bwMode="auto">
          <a:xfrm flipH="1">
            <a:off x="8668833" y="4814542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꺾인 연결선 144"/>
          <p:cNvCxnSpPr>
            <a:stCxn id="63" idx="2"/>
            <a:endCxn id="67" idx="0"/>
          </p:cNvCxnSpPr>
          <p:nvPr/>
        </p:nvCxnSpPr>
        <p:spPr bwMode="auto">
          <a:xfrm rot="16200000" flipH="1">
            <a:off x="6847485" y="2240484"/>
            <a:ext cx="270790" cy="70769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46" name="꺾인 연결선 145"/>
          <p:cNvCxnSpPr>
            <a:stCxn id="63" idx="2"/>
            <a:endCxn id="68" idx="0"/>
          </p:cNvCxnSpPr>
          <p:nvPr/>
        </p:nvCxnSpPr>
        <p:spPr bwMode="auto">
          <a:xfrm rot="16200000" flipH="1">
            <a:off x="7513559" y="1574410"/>
            <a:ext cx="270790" cy="203984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79" name="Rectangle 43"/>
          <p:cNvSpPr>
            <a:spLocks noChangeArrowheads="1"/>
          </p:cNvSpPr>
          <p:nvPr/>
        </p:nvSpPr>
        <p:spPr bwMode="auto">
          <a:xfrm>
            <a:off x="8046033" y="5903969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1.4.4.6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잔액이월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82" name="꺾인 연결선 91"/>
          <p:cNvCxnSpPr>
            <a:stCxn id="132" idx="2"/>
            <a:endCxn id="79" idx="0"/>
          </p:cNvCxnSpPr>
          <p:nvPr/>
        </p:nvCxnSpPr>
        <p:spPr bwMode="auto">
          <a:xfrm>
            <a:off x="8668875" y="5822654"/>
            <a:ext cx="0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5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Level2</a:t>
            </a:r>
          </a:p>
        </p:txBody>
      </p:sp>
      <p:sp>
        <p:nvSpPr>
          <p:cNvPr id="81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Level3</a:t>
            </a:r>
          </a:p>
        </p:txBody>
      </p:sp>
      <p:sp>
        <p:nvSpPr>
          <p:cNvPr id="96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Level4</a:t>
            </a:r>
          </a:p>
        </p:txBody>
      </p:sp>
      <p:sp>
        <p:nvSpPr>
          <p:cNvPr id="100" name="Rectangle 43"/>
          <p:cNvSpPr>
            <a:spLocks noChangeArrowheads="1"/>
          </p:cNvSpPr>
          <p:nvPr/>
        </p:nvSpPr>
        <p:spPr bwMode="auto">
          <a:xfrm>
            <a:off x="5340202" y="272972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1.4.2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월결산 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(</a:t>
            </a: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기금회계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)</a:t>
            </a:r>
          </a:p>
        </p:txBody>
      </p:sp>
      <p:sp>
        <p:nvSpPr>
          <p:cNvPr id="101" name="Rectangle 43"/>
          <p:cNvSpPr>
            <a:spLocks noChangeArrowheads="1"/>
          </p:cNvSpPr>
          <p:nvPr/>
        </p:nvSpPr>
        <p:spPr bwMode="auto">
          <a:xfrm>
            <a:off x="5340202" y="3383689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1.4.2.1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일반전표처리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03" name="Rectangle 43"/>
          <p:cNvSpPr>
            <a:spLocks noChangeArrowheads="1"/>
          </p:cNvSpPr>
          <p:nvPr/>
        </p:nvSpPr>
        <p:spPr bwMode="auto">
          <a:xfrm>
            <a:off x="5340202" y="388774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1.4.2.2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마감처리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04" name="Rectangle 43"/>
          <p:cNvSpPr>
            <a:spLocks noChangeArrowheads="1"/>
          </p:cNvSpPr>
          <p:nvPr/>
        </p:nvSpPr>
        <p:spPr bwMode="auto">
          <a:xfrm>
            <a:off x="5340202" y="4391801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1.4.2.3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결산서조회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105" name="꺾인 연결선 91"/>
          <p:cNvCxnSpPr>
            <a:stCxn id="100" idx="2"/>
            <a:endCxn id="101" idx="0"/>
          </p:cNvCxnSpPr>
          <p:nvPr/>
        </p:nvCxnSpPr>
        <p:spPr bwMode="auto">
          <a:xfrm flipH="1">
            <a:off x="5963002" y="3129100"/>
            <a:ext cx="42" cy="25458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꺾인 연결선 91"/>
          <p:cNvCxnSpPr>
            <a:stCxn id="103" idx="2"/>
            <a:endCxn id="104" idx="0"/>
          </p:cNvCxnSpPr>
          <p:nvPr/>
        </p:nvCxnSpPr>
        <p:spPr bwMode="auto">
          <a:xfrm>
            <a:off x="5963002" y="4310486"/>
            <a:ext cx="42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꺾인 연결선 91"/>
          <p:cNvCxnSpPr>
            <a:stCxn id="101" idx="2"/>
            <a:endCxn id="103" idx="0"/>
          </p:cNvCxnSpPr>
          <p:nvPr/>
        </p:nvCxnSpPr>
        <p:spPr bwMode="auto">
          <a:xfrm>
            <a:off x="5963002" y="3806430"/>
            <a:ext cx="0" cy="813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꺾인 연결선 111"/>
          <p:cNvCxnSpPr>
            <a:stCxn id="63" idx="2"/>
            <a:endCxn id="100" idx="0"/>
          </p:cNvCxnSpPr>
          <p:nvPr/>
        </p:nvCxnSpPr>
        <p:spPr bwMode="auto">
          <a:xfrm rot="5400000">
            <a:off x="6160644" y="2261336"/>
            <a:ext cx="270790" cy="66599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</p:spTree>
    <p:extLst>
      <p:ext uri="{BB962C8B-B14F-4D97-AF65-F5344CB8AC3E}">
        <p14:creationId xmlns:p14="http://schemas.microsoft.com/office/powerpoint/2010/main" val="2082257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</a:rPr>
              <a:t>자금수급계획은 수작업으로 처리되는 것을 전산화하고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자금배정은 배정요청과 자금배정을 전산화하여 업무분장을 개선하고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금융상품처리는 전표처리 이후 수입관리에서 처리할 수 있도록 개선함</a:t>
            </a:r>
          </a:p>
          <a:p>
            <a:pPr algn="just" latinLnBrk="0"/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3/14)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rgbClr val="00437A"/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354519" y="1952800"/>
            <a:ext cx="9170481" cy="442852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+mn-ea"/>
            </a:endParaRPr>
          </a:p>
        </p:txBody>
      </p:sp>
      <p:sp>
        <p:nvSpPr>
          <p:cNvPr id="55" name="Rectangle 43"/>
          <p:cNvSpPr>
            <a:spLocks noChangeArrowheads="1"/>
          </p:cNvSpPr>
          <p:nvPr/>
        </p:nvSpPr>
        <p:spPr bwMode="auto">
          <a:xfrm>
            <a:off x="2576736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1.6.1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자금수급계획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56" name="Rectangle 43"/>
          <p:cNvSpPr>
            <a:spLocks noChangeArrowheads="1"/>
          </p:cNvSpPr>
          <p:nvPr/>
        </p:nvSpPr>
        <p:spPr bwMode="auto">
          <a:xfrm>
            <a:off x="2576736" y="337626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1.6.1.1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작성요청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63" name="Rectangle 43"/>
          <p:cNvSpPr>
            <a:spLocks noChangeArrowheads="1"/>
          </p:cNvSpPr>
          <p:nvPr/>
        </p:nvSpPr>
        <p:spPr bwMode="auto">
          <a:xfrm>
            <a:off x="6676154" y="2077431"/>
            <a:ext cx="1245600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0" tIns="36000" rIns="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1.7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부가금관리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49" name="Rectangle 43"/>
          <p:cNvSpPr>
            <a:spLocks noChangeArrowheads="1"/>
          </p:cNvSpPr>
          <p:nvPr/>
        </p:nvSpPr>
        <p:spPr bwMode="auto">
          <a:xfrm>
            <a:off x="2576736" y="2077431"/>
            <a:ext cx="3978574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1.6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자금관리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cxnSp>
        <p:nvCxnSpPr>
          <p:cNvPr id="87" name="꺾인 연결선 86"/>
          <p:cNvCxnSpPr>
            <a:stCxn id="49" idx="2"/>
            <a:endCxn id="55" idx="0"/>
          </p:cNvCxnSpPr>
          <p:nvPr/>
        </p:nvCxnSpPr>
        <p:spPr bwMode="auto">
          <a:xfrm rot="5400000">
            <a:off x="3747406" y="1927692"/>
            <a:ext cx="270790" cy="136644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89" name="꺾인 연결선 91"/>
          <p:cNvCxnSpPr>
            <a:stCxn id="55" idx="2"/>
            <a:endCxn id="56" idx="0"/>
          </p:cNvCxnSpPr>
          <p:nvPr/>
        </p:nvCxnSpPr>
        <p:spPr bwMode="auto">
          <a:xfrm flipH="1">
            <a:off x="3199536" y="3145683"/>
            <a:ext cx="42" cy="23057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4" name="Rectangle 43"/>
          <p:cNvSpPr>
            <a:spLocks noChangeArrowheads="1"/>
          </p:cNvSpPr>
          <p:nvPr/>
        </p:nvSpPr>
        <p:spPr bwMode="auto">
          <a:xfrm>
            <a:off x="3943712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1.6.2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자금배정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57" name="꺾인 연결선 56"/>
          <p:cNvCxnSpPr>
            <a:stCxn id="49" idx="2"/>
            <a:endCxn id="54" idx="0"/>
          </p:cNvCxnSpPr>
          <p:nvPr/>
        </p:nvCxnSpPr>
        <p:spPr bwMode="auto">
          <a:xfrm rot="16200000" flipH="1">
            <a:off x="4430893" y="2610648"/>
            <a:ext cx="270790" cy="53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58" name="Rectangle 43"/>
          <p:cNvSpPr>
            <a:spLocks noChangeArrowheads="1"/>
          </p:cNvSpPr>
          <p:nvPr/>
        </p:nvSpPr>
        <p:spPr bwMode="auto">
          <a:xfrm>
            <a:off x="3943796" y="393003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1.6.2.2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자금배정요청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59" name="꺾인 연결선 91"/>
          <p:cNvCxnSpPr>
            <a:stCxn id="54" idx="2"/>
            <a:endCxn id="58" idx="0"/>
          </p:cNvCxnSpPr>
          <p:nvPr/>
        </p:nvCxnSpPr>
        <p:spPr bwMode="auto">
          <a:xfrm>
            <a:off x="4566554" y="3145683"/>
            <a:ext cx="42" cy="78434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/>
          <p:cNvSpPr>
            <a:spLocks noChangeArrowheads="1"/>
          </p:cNvSpPr>
          <p:nvPr/>
        </p:nvSpPr>
        <p:spPr bwMode="auto">
          <a:xfrm>
            <a:off x="5309626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1.6.3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금융상품관리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67" name="Rectangle 43"/>
          <p:cNvSpPr>
            <a:spLocks noChangeArrowheads="1"/>
          </p:cNvSpPr>
          <p:nvPr/>
        </p:nvSpPr>
        <p:spPr bwMode="auto">
          <a:xfrm>
            <a:off x="5309710" y="337626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1.6.3.1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금융상품선정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68" name="꺾인 연결선 67"/>
          <p:cNvCxnSpPr>
            <a:stCxn id="49" idx="2"/>
            <a:endCxn id="66" idx="0"/>
          </p:cNvCxnSpPr>
          <p:nvPr/>
        </p:nvCxnSpPr>
        <p:spPr bwMode="auto">
          <a:xfrm rot="16200000" flipH="1">
            <a:off x="5113850" y="1927691"/>
            <a:ext cx="270790" cy="136644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0" name="꺾인 연결선 91"/>
          <p:cNvCxnSpPr>
            <a:stCxn id="66" idx="2"/>
            <a:endCxn id="67" idx="0"/>
          </p:cNvCxnSpPr>
          <p:nvPr/>
        </p:nvCxnSpPr>
        <p:spPr bwMode="auto">
          <a:xfrm>
            <a:off x="5932468" y="3145683"/>
            <a:ext cx="42" cy="23057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8042598" y="2077431"/>
            <a:ext cx="1245600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0" tIns="36000" rIns="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1.8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융자관리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73" name="Rectangle 43"/>
          <p:cNvSpPr>
            <a:spLocks noChangeArrowheads="1"/>
          </p:cNvSpPr>
          <p:nvPr/>
        </p:nvSpPr>
        <p:spPr bwMode="auto">
          <a:xfrm>
            <a:off x="6676154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1.7.1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부가금관리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74" name="Rectangle 43"/>
          <p:cNvSpPr>
            <a:spLocks noChangeArrowheads="1"/>
          </p:cNvSpPr>
          <p:nvPr/>
        </p:nvSpPr>
        <p:spPr bwMode="auto">
          <a:xfrm>
            <a:off x="6676154" y="337626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1.7.1.1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부가금신고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79" name="Rectangle 43"/>
          <p:cNvSpPr>
            <a:spLocks noChangeArrowheads="1"/>
          </p:cNvSpPr>
          <p:nvPr/>
        </p:nvSpPr>
        <p:spPr bwMode="auto">
          <a:xfrm>
            <a:off x="8042514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1.8.1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융자관리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80" name="Rectangle 43"/>
          <p:cNvSpPr>
            <a:spLocks noChangeArrowheads="1"/>
          </p:cNvSpPr>
          <p:nvPr/>
        </p:nvSpPr>
        <p:spPr bwMode="auto">
          <a:xfrm>
            <a:off x="8042598" y="337626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1.8.1.1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융자공모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81" name="Rectangle 43"/>
          <p:cNvSpPr>
            <a:spLocks noChangeArrowheads="1"/>
          </p:cNvSpPr>
          <p:nvPr/>
        </p:nvSpPr>
        <p:spPr bwMode="auto">
          <a:xfrm>
            <a:off x="6676154" y="393003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1.7.1.2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부가금납부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82" name="Rectangle 43"/>
          <p:cNvSpPr>
            <a:spLocks noChangeArrowheads="1"/>
          </p:cNvSpPr>
          <p:nvPr/>
        </p:nvSpPr>
        <p:spPr bwMode="auto">
          <a:xfrm>
            <a:off x="8042598" y="393003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1.8.1.2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융자심의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83" name="Rectangle 43"/>
          <p:cNvSpPr>
            <a:spLocks noChangeArrowheads="1"/>
          </p:cNvSpPr>
          <p:nvPr/>
        </p:nvSpPr>
        <p:spPr bwMode="auto">
          <a:xfrm>
            <a:off x="8042598" y="4483808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1.8.1.3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융자금지급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84" name="꺾인 연결선 83"/>
          <p:cNvCxnSpPr>
            <a:stCxn id="63" idx="2"/>
            <a:endCxn id="73" idx="0"/>
          </p:cNvCxnSpPr>
          <p:nvPr/>
        </p:nvCxnSpPr>
        <p:spPr bwMode="auto">
          <a:xfrm>
            <a:off x="7298954" y="2475519"/>
            <a:ext cx="42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90" name="꺾인 연결선 89"/>
          <p:cNvCxnSpPr>
            <a:stCxn id="71" idx="2"/>
            <a:endCxn id="79" idx="0"/>
          </p:cNvCxnSpPr>
          <p:nvPr/>
        </p:nvCxnSpPr>
        <p:spPr bwMode="auto">
          <a:xfrm flipH="1">
            <a:off x="8665356" y="2475519"/>
            <a:ext cx="42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91" name="꺾인 연결선 91"/>
          <p:cNvCxnSpPr>
            <a:stCxn id="73" idx="2"/>
            <a:endCxn id="74" idx="0"/>
          </p:cNvCxnSpPr>
          <p:nvPr/>
        </p:nvCxnSpPr>
        <p:spPr bwMode="auto">
          <a:xfrm flipH="1">
            <a:off x="7298954" y="3145683"/>
            <a:ext cx="42" cy="23057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2" name="꺾인 연결선 91"/>
          <p:cNvCxnSpPr>
            <a:stCxn id="79" idx="2"/>
            <a:endCxn id="80" idx="0"/>
          </p:cNvCxnSpPr>
          <p:nvPr/>
        </p:nvCxnSpPr>
        <p:spPr bwMode="auto">
          <a:xfrm>
            <a:off x="8665356" y="3145683"/>
            <a:ext cx="42" cy="23057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3" name="꺾인 연결선 91"/>
          <p:cNvCxnSpPr>
            <a:stCxn id="80" idx="2"/>
            <a:endCxn id="82" idx="0"/>
          </p:cNvCxnSpPr>
          <p:nvPr/>
        </p:nvCxnSpPr>
        <p:spPr bwMode="auto">
          <a:xfrm>
            <a:off x="8665398" y="3799003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4" name="꺾인 연결선 91"/>
          <p:cNvCxnSpPr>
            <a:stCxn id="74" idx="2"/>
            <a:endCxn id="81" idx="0"/>
          </p:cNvCxnSpPr>
          <p:nvPr/>
        </p:nvCxnSpPr>
        <p:spPr bwMode="auto">
          <a:xfrm>
            <a:off x="7298954" y="3799003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" name="꺾인 연결선 91"/>
          <p:cNvCxnSpPr>
            <a:stCxn id="82" idx="2"/>
            <a:endCxn id="83" idx="0"/>
          </p:cNvCxnSpPr>
          <p:nvPr/>
        </p:nvCxnSpPr>
        <p:spPr bwMode="auto">
          <a:xfrm>
            <a:off x="8665398" y="4352776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7" name="Rectangle 43"/>
          <p:cNvSpPr>
            <a:spLocks noChangeArrowheads="1"/>
          </p:cNvSpPr>
          <p:nvPr/>
        </p:nvSpPr>
        <p:spPr bwMode="auto">
          <a:xfrm>
            <a:off x="5309710" y="393003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1.6.3.2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금융상품운용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98" name="Rectangle 43"/>
          <p:cNvSpPr>
            <a:spLocks noChangeArrowheads="1"/>
          </p:cNvSpPr>
          <p:nvPr/>
        </p:nvSpPr>
        <p:spPr bwMode="auto">
          <a:xfrm>
            <a:off x="3943796" y="4483804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1.6.2.3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자금배정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00" name="Rectangle 43"/>
          <p:cNvSpPr>
            <a:spLocks noChangeArrowheads="1"/>
          </p:cNvSpPr>
          <p:nvPr/>
        </p:nvSpPr>
        <p:spPr bwMode="auto">
          <a:xfrm>
            <a:off x="8042598" y="5032447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1.8.1.4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융자금상환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101" name="꺾인 연결선 91"/>
          <p:cNvCxnSpPr>
            <a:stCxn id="83" idx="2"/>
            <a:endCxn id="100" idx="0"/>
          </p:cNvCxnSpPr>
          <p:nvPr/>
        </p:nvCxnSpPr>
        <p:spPr bwMode="auto">
          <a:xfrm>
            <a:off x="8665398" y="4906549"/>
            <a:ext cx="0" cy="12589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꺾인 연결선 91"/>
          <p:cNvCxnSpPr>
            <a:stCxn id="58" idx="2"/>
            <a:endCxn id="98" idx="0"/>
          </p:cNvCxnSpPr>
          <p:nvPr/>
        </p:nvCxnSpPr>
        <p:spPr bwMode="auto">
          <a:xfrm>
            <a:off x="4566596" y="4352773"/>
            <a:ext cx="0" cy="131031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꺾인 연결선 91"/>
          <p:cNvCxnSpPr>
            <a:stCxn id="67" idx="2"/>
            <a:endCxn id="97" idx="0"/>
          </p:cNvCxnSpPr>
          <p:nvPr/>
        </p:nvCxnSpPr>
        <p:spPr bwMode="auto">
          <a:xfrm>
            <a:off x="5932510" y="3799003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5" name="Rectangle 43"/>
          <p:cNvSpPr>
            <a:spLocks noChangeArrowheads="1"/>
          </p:cNvSpPr>
          <p:nvPr/>
        </p:nvSpPr>
        <p:spPr bwMode="auto">
          <a:xfrm>
            <a:off x="2576736" y="3930033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1.6.1.2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지출계획작성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06" name="Rectangle 43"/>
          <p:cNvSpPr>
            <a:spLocks noChangeArrowheads="1"/>
          </p:cNvSpPr>
          <p:nvPr/>
        </p:nvSpPr>
        <p:spPr bwMode="auto">
          <a:xfrm>
            <a:off x="2576736" y="4483804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1.6.1.3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수급계획작성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07" name="Rectangle 43"/>
          <p:cNvSpPr>
            <a:spLocks noChangeArrowheads="1"/>
          </p:cNvSpPr>
          <p:nvPr/>
        </p:nvSpPr>
        <p:spPr bwMode="auto">
          <a:xfrm>
            <a:off x="2576736" y="503565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1.6.1.4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수급계획확정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10" name="Rectangle 43"/>
          <p:cNvSpPr>
            <a:spLocks noChangeArrowheads="1"/>
          </p:cNvSpPr>
          <p:nvPr/>
        </p:nvSpPr>
        <p:spPr bwMode="auto">
          <a:xfrm>
            <a:off x="3943796" y="337626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1.6.2.1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지출예정금액확인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60" name="꺾인 연결선 91"/>
          <p:cNvCxnSpPr>
            <a:stCxn id="56" idx="2"/>
            <a:endCxn id="105" idx="0"/>
          </p:cNvCxnSpPr>
          <p:nvPr/>
        </p:nvCxnSpPr>
        <p:spPr bwMode="auto">
          <a:xfrm>
            <a:off x="3199536" y="3799003"/>
            <a:ext cx="0" cy="13103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1" name="꺾인 연결선 91"/>
          <p:cNvCxnSpPr>
            <a:stCxn id="105" idx="2"/>
            <a:endCxn id="106" idx="0"/>
          </p:cNvCxnSpPr>
          <p:nvPr/>
        </p:nvCxnSpPr>
        <p:spPr bwMode="auto">
          <a:xfrm>
            <a:off x="3199536" y="4352774"/>
            <a:ext cx="0" cy="13103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2" name="꺾인 연결선 91"/>
          <p:cNvCxnSpPr>
            <a:stCxn id="106" idx="2"/>
            <a:endCxn id="107" idx="0"/>
          </p:cNvCxnSpPr>
          <p:nvPr/>
        </p:nvCxnSpPr>
        <p:spPr bwMode="auto">
          <a:xfrm>
            <a:off x="3199536" y="4906545"/>
            <a:ext cx="0" cy="129111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2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Level2</a:t>
            </a:r>
          </a:p>
        </p:txBody>
      </p:sp>
      <p:sp>
        <p:nvSpPr>
          <p:cNvPr id="53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Level3</a:t>
            </a:r>
          </a:p>
        </p:txBody>
      </p:sp>
      <p:sp>
        <p:nvSpPr>
          <p:cNvPr id="64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Level4</a:t>
            </a:r>
          </a:p>
        </p:txBody>
      </p:sp>
      <p:sp>
        <p:nvSpPr>
          <p:cNvPr id="65" name="Rectangle 43"/>
          <p:cNvSpPr>
            <a:spLocks noChangeArrowheads="1"/>
          </p:cNvSpPr>
          <p:nvPr/>
        </p:nvSpPr>
        <p:spPr bwMode="auto">
          <a:xfrm>
            <a:off x="1209593" y="2060848"/>
            <a:ext cx="1245683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1.5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세무관리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69" name="Rectangle 43"/>
          <p:cNvSpPr>
            <a:spLocks noChangeArrowheads="1"/>
          </p:cNvSpPr>
          <p:nvPr/>
        </p:nvSpPr>
        <p:spPr bwMode="auto">
          <a:xfrm>
            <a:off x="1209593" y="272972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1.5.1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세무신고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72" name="Rectangle 43"/>
          <p:cNvSpPr>
            <a:spLocks noChangeArrowheads="1"/>
          </p:cNvSpPr>
          <p:nvPr/>
        </p:nvSpPr>
        <p:spPr bwMode="auto">
          <a:xfrm>
            <a:off x="1209593" y="3383690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1.5.1.1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세무신고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75" name="꺾인 연결선 68"/>
          <p:cNvCxnSpPr>
            <a:stCxn id="65" idx="2"/>
            <a:endCxn id="69" idx="0"/>
          </p:cNvCxnSpPr>
          <p:nvPr/>
        </p:nvCxnSpPr>
        <p:spPr bwMode="auto">
          <a:xfrm>
            <a:off x="1832435" y="2458936"/>
            <a:ext cx="0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6" name="꺾인 연결선 91"/>
          <p:cNvCxnSpPr>
            <a:stCxn id="69" idx="2"/>
            <a:endCxn id="72" idx="0"/>
          </p:cNvCxnSpPr>
          <p:nvPr/>
        </p:nvCxnSpPr>
        <p:spPr bwMode="auto">
          <a:xfrm flipH="1">
            <a:off x="1832393" y="3129100"/>
            <a:ext cx="42" cy="2545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273712929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자산관리의 취득과 등록은 계약관리와 연계된 정보를 </a:t>
            </a:r>
            <a:r>
              <a:rPr lang="ko-KR" altLang="en-US" dirty="0">
                <a:latin typeface="+mn-ea"/>
                <a:ea typeface="+mn-ea"/>
              </a:rPr>
              <a:t>기준으로 처리되도록 프로세스를 개선하고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내부관리손익 도입에 따라 경륜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경정과 골프장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기금 구분회계를 신설하며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발주요청업무를 시스템화 하고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 결과를 시스템에 등록할 수 있도록 업무처리를 개선함</a:t>
            </a:r>
          </a:p>
          <a:p>
            <a:pPr algn="just" latinLnBrk="0"/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4/14)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맑은 고딕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맑은 고딕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맑은 고딕"/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맑은 고딕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맑은 고딕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맑은 고딕"/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맑은 고딕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맑은 고딕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맑은 고딕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rgbClr val="00437A"/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354519" y="1952800"/>
            <a:ext cx="9170481" cy="442852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+mn-ea"/>
            </a:endParaRPr>
          </a:p>
        </p:txBody>
      </p:sp>
      <p:sp>
        <p:nvSpPr>
          <p:cNvPr id="62" name="Rectangle 43"/>
          <p:cNvSpPr>
            <a:spLocks noChangeArrowheads="1"/>
          </p:cNvSpPr>
          <p:nvPr/>
        </p:nvSpPr>
        <p:spPr bwMode="auto">
          <a:xfrm>
            <a:off x="1260000" y="2078604"/>
            <a:ext cx="2612880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1.9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관재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85" name="Rectangle 43"/>
          <p:cNvSpPr>
            <a:spLocks noChangeArrowheads="1"/>
          </p:cNvSpPr>
          <p:nvPr/>
        </p:nvSpPr>
        <p:spPr bwMode="auto">
          <a:xfrm>
            <a:off x="1260000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1.9.1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자산관리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86" name="Rectangle 43"/>
          <p:cNvSpPr>
            <a:spLocks noChangeArrowheads="1"/>
          </p:cNvSpPr>
          <p:nvPr/>
        </p:nvSpPr>
        <p:spPr bwMode="auto">
          <a:xfrm>
            <a:off x="2632271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1.9.2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재물조사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99" name="꺾인 연결선 98"/>
          <p:cNvCxnSpPr>
            <a:stCxn id="62" idx="2"/>
            <a:endCxn id="85" idx="0"/>
          </p:cNvCxnSpPr>
          <p:nvPr/>
        </p:nvCxnSpPr>
        <p:spPr bwMode="auto">
          <a:xfrm rot="5400000">
            <a:off x="2089833" y="2269701"/>
            <a:ext cx="269617" cy="683598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2" name="꺾인 연결선 101"/>
          <p:cNvCxnSpPr>
            <a:stCxn id="62" idx="2"/>
            <a:endCxn id="86" idx="0"/>
          </p:cNvCxnSpPr>
          <p:nvPr/>
        </p:nvCxnSpPr>
        <p:spPr bwMode="auto">
          <a:xfrm rot="16200000" flipH="1">
            <a:off x="2775968" y="2267163"/>
            <a:ext cx="269617" cy="68867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17" name="Rectangle 43"/>
          <p:cNvSpPr>
            <a:spLocks noChangeArrowheads="1"/>
          </p:cNvSpPr>
          <p:nvPr/>
        </p:nvSpPr>
        <p:spPr bwMode="auto">
          <a:xfrm>
            <a:off x="1260000" y="3377436"/>
            <a:ext cx="1245685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1.9.1.1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자산취득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18" name="Rectangle 43"/>
          <p:cNvSpPr>
            <a:spLocks noChangeArrowheads="1"/>
          </p:cNvSpPr>
          <p:nvPr/>
        </p:nvSpPr>
        <p:spPr bwMode="auto">
          <a:xfrm>
            <a:off x="2627280" y="337743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1.9.2.1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재물조사요청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23" name="Rectangle 43"/>
          <p:cNvSpPr>
            <a:spLocks noChangeArrowheads="1"/>
          </p:cNvSpPr>
          <p:nvPr/>
        </p:nvSpPr>
        <p:spPr bwMode="auto">
          <a:xfrm>
            <a:off x="1260000" y="3933056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1.9.1.2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자산정보관리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126" name="꺾인 연결선 91"/>
          <p:cNvCxnSpPr>
            <a:stCxn id="85" idx="2"/>
            <a:endCxn id="117" idx="0"/>
          </p:cNvCxnSpPr>
          <p:nvPr/>
        </p:nvCxnSpPr>
        <p:spPr bwMode="auto">
          <a:xfrm>
            <a:off x="1882842" y="3145683"/>
            <a:ext cx="1" cy="23175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0" name="꺾인 연결선 91"/>
          <p:cNvCxnSpPr>
            <a:stCxn id="86" idx="2"/>
            <a:endCxn id="118" idx="0"/>
          </p:cNvCxnSpPr>
          <p:nvPr/>
        </p:nvCxnSpPr>
        <p:spPr bwMode="auto">
          <a:xfrm flipH="1">
            <a:off x="3250080" y="3145683"/>
            <a:ext cx="5033" cy="23175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0" name="꺾인 연결선 91"/>
          <p:cNvCxnSpPr>
            <a:stCxn id="117" idx="2"/>
            <a:endCxn id="123" idx="0"/>
          </p:cNvCxnSpPr>
          <p:nvPr/>
        </p:nvCxnSpPr>
        <p:spPr bwMode="auto">
          <a:xfrm flipH="1">
            <a:off x="1882842" y="3800177"/>
            <a:ext cx="1" cy="13287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Rectangle 43"/>
          <p:cNvSpPr>
            <a:spLocks noChangeArrowheads="1"/>
          </p:cNvSpPr>
          <p:nvPr/>
        </p:nvSpPr>
        <p:spPr bwMode="auto">
          <a:xfrm>
            <a:off x="2627280" y="3931208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1.9.2.2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재물조사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50" name="Rectangle 43"/>
          <p:cNvSpPr>
            <a:spLocks noChangeArrowheads="1"/>
          </p:cNvSpPr>
          <p:nvPr/>
        </p:nvSpPr>
        <p:spPr bwMode="auto">
          <a:xfrm>
            <a:off x="2627280" y="4484981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1.9.2.3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재물조사반영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6" name="Rectangle 43"/>
          <p:cNvSpPr>
            <a:spLocks noChangeArrowheads="1"/>
          </p:cNvSpPr>
          <p:nvPr/>
        </p:nvSpPr>
        <p:spPr bwMode="auto">
          <a:xfrm>
            <a:off x="1260000" y="4486829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1.9.1.3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자산처분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27" name="꺾인 연결선 91"/>
          <p:cNvCxnSpPr>
            <a:stCxn id="123" idx="2"/>
            <a:endCxn id="26" idx="0"/>
          </p:cNvCxnSpPr>
          <p:nvPr/>
        </p:nvCxnSpPr>
        <p:spPr bwMode="auto">
          <a:xfrm>
            <a:off x="1882842" y="4355797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8" name="꺾인 연결선 91"/>
          <p:cNvCxnSpPr>
            <a:stCxn id="118" idx="2"/>
            <a:endCxn id="49" idx="0"/>
          </p:cNvCxnSpPr>
          <p:nvPr/>
        </p:nvCxnSpPr>
        <p:spPr bwMode="auto">
          <a:xfrm>
            <a:off x="3250080" y="3800176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0" name="꺾인 연결선 91"/>
          <p:cNvCxnSpPr>
            <a:stCxn id="49" idx="2"/>
            <a:endCxn id="50" idx="0"/>
          </p:cNvCxnSpPr>
          <p:nvPr/>
        </p:nvCxnSpPr>
        <p:spPr bwMode="auto">
          <a:xfrm>
            <a:off x="3250080" y="4353949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9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Level2</a:t>
            </a:r>
          </a:p>
        </p:txBody>
      </p:sp>
      <p:sp>
        <p:nvSpPr>
          <p:cNvPr id="31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Level3</a:t>
            </a:r>
          </a:p>
        </p:txBody>
      </p:sp>
      <p:sp>
        <p:nvSpPr>
          <p:cNvPr id="32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+mn-ea"/>
              </a:rPr>
              <a:t>Level4</a:t>
            </a:r>
          </a:p>
        </p:txBody>
      </p:sp>
      <p:sp>
        <p:nvSpPr>
          <p:cNvPr id="33" name="Rectangle 43"/>
          <p:cNvSpPr>
            <a:spLocks noChangeArrowheads="1"/>
          </p:cNvSpPr>
          <p:nvPr/>
        </p:nvSpPr>
        <p:spPr bwMode="auto">
          <a:xfrm>
            <a:off x="4004542" y="2078604"/>
            <a:ext cx="3996000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1.10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내부관리손익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34" name="Rectangle 43"/>
          <p:cNvSpPr>
            <a:spLocks noChangeArrowheads="1"/>
          </p:cNvSpPr>
          <p:nvPr/>
        </p:nvSpPr>
        <p:spPr bwMode="auto">
          <a:xfrm>
            <a:off x="4004542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1.10.1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경륜</a:t>
            </a:r>
            <a:r>
              <a:rPr lang="en-US" altLang="ko-KR" sz="1100" b="1" kern="0" spc="-150" dirty="0">
                <a:solidFill>
                  <a:srgbClr val="000000"/>
                </a:solidFill>
                <a:latin typeface="+mn-ea"/>
              </a:rPr>
              <a:t>/</a:t>
            </a: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경정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5" name="Rectangle 43"/>
          <p:cNvSpPr>
            <a:spLocks noChangeArrowheads="1"/>
          </p:cNvSpPr>
          <p:nvPr/>
        </p:nvSpPr>
        <p:spPr bwMode="auto">
          <a:xfrm>
            <a:off x="5376813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1.10.2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골프장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6" name="꺾인 연결선 35"/>
          <p:cNvCxnSpPr>
            <a:stCxn id="33" idx="2"/>
            <a:endCxn id="34" idx="0"/>
          </p:cNvCxnSpPr>
          <p:nvPr/>
        </p:nvCxnSpPr>
        <p:spPr bwMode="auto">
          <a:xfrm rot="5400000">
            <a:off x="5180155" y="1923921"/>
            <a:ext cx="269617" cy="1375158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7" name="꺾인 연결선 36"/>
          <p:cNvCxnSpPr>
            <a:stCxn id="33" idx="2"/>
            <a:endCxn id="35" idx="0"/>
          </p:cNvCxnSpPr>
          <p:nvPr/>
        </p:nvCxnSpPr>
        <p:spPr bwMode="auto">
          <a:xfrm rot="5400000">
            <a:off x="5866291" y="2610057"/>
            <a:ext cx="269617" cy="288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8" name="Rectangle 43"/>
          <p:cNvSpPr>
            <a:spLocks noChangeArrowheads="1"/>
          </p:cNvSpPr>
          <p:nvPr/>
        </p:nvSpPr>
        <p:spPr bwMode="auto">
          <a:xfrm>
            <a:off x="4004542" y="3377436"/>
            <a:ext cx="1245685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사업별 손익 산출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5376813" y="337743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손익자료집계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40" name="Rectangle 43"/>
          <p:cNvSpPr>
            <a:spLocks noChangeArrowheads="1"/>
          </p:cNvSpPr>
          <p:nvPr/>
        </p:nvSpPr>
        <p:spPr bwMode="auto">
          <a:xfrm>
            <a:off x="4004542" y="3931209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지점별 손익 산출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41" name="Rectangle 43"/>
          <p:cNvSpPr>
            <a:spLocks noChangeArrowheads="1"/>
          </p:cNvSpPr>
          <p:nvPr/>
        </p:nvSpPr>
        <p:spPr bwMode="auto">
          <a:xfrm>
            <a:off x="4004542" y="4484982"/>
            <a:ext cx="1245684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공동활용지점 정산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42" name="꺾인 연결선 91"/>
          <p:cNvCxnSpPr>
            <a:stCxn id="34" idx="2"/>
            <a:endCxn id="38" idx="0"/>
          </p:cNvCxnSpPr>
          <p:nvPr/>
        </p:nvCxnSpPr>
        <p:spPr bwMode="auto">
          <a:xfrm>
            <a:off x="4627384" y="3145683"/>
            <a:ext cx="1" cy="23175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3" name="꺾인 연결선 91"/>
          <p:cNvCxnSpPr>
            <a:stCxn id="35" idx="2"/>
            <a:endCxn id="39" idx="0"/>
          </p:cNvCxnSpPr>
          <p:nvPr/>
        </p:nvCxnSpPr>
        <p:spPr bwMode="auto">
          <a:xfrm flipH="1">
            <a:off x="5999613" y="3145683"/>
            <a:ext cx="42" cy="23175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꺾인 연결선 91"/>
          <p:cNvCxnSpPr>
            <a:stCxn id="38" idx="2"/>
            <a:endCxn id="40" idx="0"/>
          </p:cNvCxnSpPr>
          <p:nvPr/>
        </p:nvCxnSpPr>
        <p:spPr bwMode="auto">
          <a:xfrm flipH="1">
            <a:off x="4627384" y="3800177"/>
            <a:ext cx="1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꺾인 연결선 91"/>
          <p:cNvCxnSpPr>
            <a:stCxn id="40" idx="2"/>
            <a:endCxn id="41" idx="0"/>
          </p:cNvCxnSpPr>
          <p:nvPr/>
        </p:nvCxnSpPr>
        <p:spPr bwMode="auto">
          <a:xfrm>
            <a:off x="4627384" y="4353950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6" name="Rectangle 43"/>
          <p:cNvSpPr>
            <a:spLocks noChangeArrowheads="1"/>
          </p:cNvSpPr>
          <p:nvPr/>
        </p:nvSpPr>
        <p:spPr bwMode="auto">
          <a:xfrm>
            <a:off x="5376813" y="3931208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배부기준관리 </a:t>
            </a: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/>
            </a:r>
            <a:br>
              <a:rPr lang="en-US" altLang="ko-KR" sz="1100" b="1" kern="0" dirty="0">
                <a:solidFill>
                  <a:srgbClr val="0070C0"/>
                </a:solidFill>
                <a:latin typeface="+mn-ea"/>
              </a:rPr>
            </a:b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및 배부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47" name="Rectangle 43"/>
          <p:cNvSpPr>
            <a:spLocks noChangeArrowheads="1"/>
          </p:cNvSpPr>
          <p:nvPr/>
        </p:nvSpPr>
        <p:spPr bwMode="auto">
          <a:xfrm>
            <a:off x="5376813" y="4484981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손익계산서 산출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52" name="꺾인 연결선 91"/>
          <p:cNvCxnSpPr>
            <a:stCxn id="39" idx="2"/>
            <a:endCxn id="46" idx="0"/>
          </p:cNvCxnSpPr>
          <p:nvPr/>
        </p:nvCxnSpPr>
        <p:spPr bwMode="auto">
          <a:xfrm>
            <a:off x="5999613" y="3800176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3" name="꺾인 연결선 91"/>
          <p:cNvCxnSpPr>
            <a:stCxn id="46" idx="2"/>
            <a:endCxn id="47" idx="0"/>
          </p:cNvCxnSpPr>
          <p:nvPr/>
        </p:nvCxnSpPr>
        <p:spPr bwMode="auto">
          <a:xfrm>
            <a:off x="5999613" y="4353949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Rectangle 43">
            <a:extLst>
              <a:ext uri="{FF2B5EF4-FFF2-40B4-BE49-F238E27FC236}">
                <a16:creationId xmlns="" xmlns:a16="http://schemas.microsoft.com/office/drawing/2014/main" id="{66DD8CCA-7FC6-4F85-9132-B63DF3D68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353" y="2077431"/>
            <a:ext cx="1245600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0" tIns="36000" rIns="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+mn-ea"/>
              </a:rPr>
              <a:t>1.11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계약관리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51" name="Rectangle 43">
            <a:extLst>
              <a:ext uri="{FF2B5EF4-FFF2-40B4-BE49-F238E27FC236}">
                <a16:creationId xmlns="" xmlns:a16="http://schemas.microsoft.com/office/drawing/2014/main" id="{E4CD87D1-092B-4889-85B1-6F26B2CC5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353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1.11.1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계약관리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54" name="Rectangle 43">
            <a:extLst>
              <a:ext uri="{FF2B5EF4-FFF2-40B4-BE49-F238E27FC236}">
                <a16:creationId xmlns="" xmlns:a16="http://schemas.microsoft.com/office/drawing/2014/main" id="{4FF2FA7C-8E9A-4F2E-80D6-D7233D830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437" y="3376262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1.11.1.1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계약요청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56" name="Rectangle 43">
            <a:extLst>
              <a:ext uri="{FF2B5EF4-FFF2-40B4-BE49-F238E27FC236}">
                <a16:creationId xmlns="" xmlns:a16="http://schemas.microsoft.com/office/drawing/2014/main" id="{6DC169BD-7B8D-4A57-A3B1-5DE04A94FA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437" y="3931208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1.11.1.2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계약관리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57" name="꺾인 연결선 89">
            <a:extLst>
              <a:ext uri="{FF2B5EF4-FFF2-40B4-BE49-F238E27FC236}">
                <a16:creationId xmlns="" xmlns:a16="http://schemas.microsoft.com/office/drawing/2014/main" id="{300E20F6-B1A1-4E9D-9925-2698A816055A}"/>
              </a:ext>
            </a:extLst>
          </p:cNvPr>
          <p:cNvCxnSpPr>
            <a:stCxn id="48" idx="2"/>
            <a:endCxn id="51" idx="0"/>
          </p:cNvCxnSpPr>
          <p:nvPr/>
        </p:nvCxnSpPr>
        <p:spPr bwMode="auto">
          <a:xfrm>
            <a:off x="8744153" y="2475519"/>
            <a:ext cx="42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58" name="꺾인 연결선 91">
            <a:extLst>
              <a:ext uri="{FF2B5EF4-FFF2-40B4-BE49-F238E27FC236}">
                <a16:creationId xmlns="" xmlns:a16="http://schemas.microsoft.com/office/drawing/2014/main" id="{2560B6E8-0145-490C-868D-4051719E7324}"/>
              </a:ext>
            </a:extLst>
          </p:cNvPr>
          <p:cNvCxnSpPr>
            <a:stCxn id="51" idx="2"/>
            <a:endCxn id="54" idx="0"/>
          </p:cNvCxnSpPr>
          <p:nvPr/>
        </p:nvCxnSpPr>
        <p:spPr bwMode="auto">
          <a:xfrm>
            <a:off x="8744195" y="3145683"/>
            <a:ext cx="42" cy="23057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꺾인 연결선 91">
            <a:extLst>
              <a:ext uri="{FF2B5EF4-FFF2-40B4-BE49-F238E27FC236}">
                <a16:creationId xmlns="" xmlns:a16="http://schemas.microsoft.com/office/drawing/2014/main" id="{C42656B1-D2A6-4428-A866-0046917A73CD}"/>
              </a:ext>
            </a:extLst>
          </p:cNvPr>
          <p:cNvCxnSpPr>
            <a:stCxn id="54" idx="2"/>
            <a:endCxn id="56" idx="0"/>
          </p:cNvCxnSpPr>
          <p:nvPr/>
        </p:nvCxnSpPr>
        <p:spPr bwMode="auto">
          <a:xfrm>
            <a:off x="8744237" y="3799003"/>
            <a:ext cx="0" cy="1322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1" name="Rectangle 43">
            <a:extLst>
              <a:ext uri="{FF2B5EF4-FFF2-40B4-BE49-F238E27FC236}">
                <a16:creationId xmlns="" xmlns:a16="http://schemas.microsoft.com/office/drawing/2014/main" id="{CB4D4979-275E-4373-A812-40410950A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437" y="4479847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1.11.1.3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검사</a:t>
            </a: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검수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63" name="꺾인 연결선 91">
            <a:extLst>
              <a:ext uri="{FF2B5EF4-FFF2-40B4-BE49-F238E27FC236}">
                <a16:creationId xmlns="" xmlns:a16="http://schemas.microsoft.com/office/drawing/2014/main" id="{53DB2A66-E09B-4693-AEEF-DC87BFE32031}"/>
              </a:ext>
            </a:extLst>
          </p:cNvPr>
          <p:cNvCxnSpPr>
            <a:stCxn id="56" idx="2"/>
            <a:endCxn id="61" idx="0"/>
          </p:cNvCxnSpPr>
          <p:nvPr/>
        </p:nvCxnSpPr>
        <p:spPr bwMode="auto">
          <a:xfrm>
            <a:off x="8744237" y="4353949"/>
            <a:ext cx="0" cy="12589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4" name="Rectangle 43">
            <a:extLst>
              <a:ext uri="{FF2B5EF4-FFF2-40B4-BE49-F238E27FC236}">
                <a16:creationId xmlns="" xmlns:a16="http://schemas.microsoft.com/office/drawing/2014/main" id="{D3149C8B-D008-4C4A-AF61-025407D20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352" y="5035901"/>
            <a:ext cx="1245685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197EC6"/>
                </a:solidFill>
                <a:latin typeface="+mn-ea"/>
              </a:rPr>
              <a:t>1.11.1.4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197EC6"/>
                </a:solidFill>
                <a:latin typeface="+mn-ea"/>
              </a:rPr>
              <a:t>대금지급</a:t>
            </a:r>
            <a:endParaRPr lang="en-US" altLang="ko-KR" sz="1100" b="1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69" name="꺾인 연결선 91">
            <a:extLst>
              <a:ext uri="{FF2B5EF4-FFF2-40B4-BE49-F238E27FC236}">
                <a16:creationId xmlns="" xmlns:a16="http://schemas.microsoft.com/office/drawing/2014/main" id="{D2F87422-E655-4DE5-A003-2E9BD7722F57}"/>
              </a:ext>
            </a:extLst>
          </p:cNvPr>
          <p:cNvCxnSpPr>
            <a:stCxn id="61" idx="2"/>
            <a:endCxn id="64" idx="0"/>
          </p:cNvCxnSpPr>
          <p:nvPr/>
        </p:nvCxnSpPr>
        <p:spPr bwMode="auto">
          <a:xfrm flipH="1">
            <a:off x="8744195" y="4902588"/>
            <a:ext cx="42" cy="13331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5" name="Rectangle 43">
            <a:extLst>
              <a:ext uri="{FF2B5EF4-FFF2-40B4-BE49-F238E27FC236}">
                <a16:creationId xmlns="" xmlns:a16="http://schemas.microsoft.com/office/drawing/2014/main" id="{77E69BB3-4741-4F38-BB8D-B1E558E07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9084" y="2746309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1.10.3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기금 구분회계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66" name="Rectangle 43">
            <a:extLst>
              <a:ext uri="{FF2B5EF4-FFF2-40B4-BE49-F238E27FC236}">
                <a16:creationId xmlns="" xmlns:a16="http://schemas.microsoft.com/office/drawing/2014/main" id="{D613E5FD-467A-45D4-8129-8834F7C28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84" y="3377435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1.10.3.1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기초자료집계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67" name="꺾인 연결선 91">
            <a:extLst>
              <a:ext uri="{FF2B5EF4-FFF2-40B4-BE49-F238E27FC236}">
                <a16:creationId xmlns="" xmlns:a16="http://schemas.microsoft.com/office/drawing/2014/main" id="{90D1B1BA-91D8-455F-AC9A-2118E1545CA1}"/>
              </a:ext>
            </a:extLst>
          </p:cNvPr>
          <p:cNvCxnSpPr>
            <a:stCxn id="65" idx="2"/>
            <a:endCxn id="66" idx="0"/>
          </p:cNvCxnSpPr>
          <p:nvPr/>
        </p:nvCxnSpPr>
        <p:spPr bwMode="auto">
          <a:xfrm>
            <a:off x="7371926" y="3145683"/>
            <a:ext cx="4158" cy="23175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8" name="Rectangle 43">
            <a:extLst>
              <a:ext uri="{FF2B5EF4-FFF2-40B4-BE49-F238E27FC236}">
                <a16:creationId xmlns="" xmlns:a16="http://schemas.microsoft.com/office/drawing/2014/main" id="{205616FE-A605-4B70-A505-A909BCB42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84" y="3931208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1.10.3.2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구분항목과 공통항목의 분리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0" name="Rectangle 43">
            <a:extLst>
              <a:ext uri="{FF2B5EF4-FFF2-40B4-BE49-F238E27FC236}">
                <a16:creationId xmlns="" xmlns:a16="http://schemas.microsoft.com/office/drawing/2014/main" id="{9E14F26C-590A-4F76-8C16-B328F25CA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84" y="4484981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1.10.3.3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배부기준관리 및 배부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71" name="꺾인 연결선 91">
            <a:extLst>
              <a:ext uri="{FF2B5EF4-FFF2-40B4-BE49-F238E27FC236}">
                <a16:creationId xmlns="" xmlns:a16="http://schemas.microsoft.com/office/drawing/2014/main" id="{22BF740A-A895-4B75-B460-7E82209A5ABC}"/>
              </a:ext>
            </a:extLst>
          </p:cNvPr>
          <p:cNvCxnSpPr>
            <a:stCxn id="66" idx="2"/>
            <a:endCxn id="68" idx="0"/>
          </p:cNvCxnSpPr>
          <p:nvPr/>
        </p:nvCxnSpPr>
        <p:spPr bwMode="auto">
          <a:xfrm>
            <a:off x="7376084" y="3800176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꺾인 연결선 91">
            <a:extLst>
              <a:ext uri="{FF2B5EF4-FFF2-40B4-BE49-F238E27FC236}">
                <a16:creationId xmlns="" xmlns:a16="http://schemas.microsoft.com/office/drawing/2014/main" id="{44A1D24B-688C-4D2F-BD68-5ADFBCFBE736}"/>
              </a:ext>
            </a:extLst>
          </p:cNvPr>
          <p:cNvCxnSpPr>
            <a:stCxn id="68" idx="2"/>
            <a:endCxn id="70" idx="0"/>
          </p:cNvCxnSpPr>
          <p:nvPr/>
        </p:nvCxnSpPr>
        <p:spPr bwMode="auto">
          <a:xfrm>
            <a:off x="7376084" y="4353949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3" name="Rectangle 43">
            <a:extLst>
              <a:ext uri="{FF2B5EF4-FFF2-40B4-BE49-F238E27FC236}">
                <a16:creationId xmlns="" xmlns:a16="http://schemas.microsoft.com/office/drawing/2014/main" id="{B2728897-5307-4286-9768-5E136FD63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84" y="5032447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70C0"/>
                </a:solidFill>
                <a:latin typeface="+mn-ea"/>
              </a:rPr>
              <a:t>1.10.3.4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70C0"/>
                </a:solidFill>
                <a:latin typeface="+mn-ea"/>
              </a:rPr>
              <a:t>구분회계별 항목 집계</a:t>
            </a:r>
            <a:endParaRPr lang="en-US" altLang="ko-KR" sz="1100" b="1" kern="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4" name="Rectangle 43">
            <a:extLst>
              <a:ext uri="{FF2B5EF4-FFF2-40B4-BE49-F238E27FC236}">
                <a16:creationId xmlns="" xmlns:a16="http://schemas.microsoft.com/office/drawing/2014/main" id="{36765C71-B572-4959-A186-A9F58D848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84" y="5611740"/>
            <a:ext cx="1245685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197EC6"/>
                </a:solidFill>
                <a:latin typeface="+mn-ea"/>
              </a:rPr>
              <a:t>1.10.3.5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197EC6"/>
                </a:solidFill>
                <a:latin typeface="+mn-ea"/>
              </a:rPr>
              <a:t>재정운영표</a:t>
            </a:r>
            <a:r>
              <a:rPr lang="en-US" altLang="ko-KR" sz="1100" b="1" kern="0" dirty="0">
                <a:solidFill>
                  <a:srgbClr val="197EC6"/>
                </a:solidFill>
                <a:latin typeface="+mn-ea"/>
              </a:rPr>
              <a:t>, </a:t>
            </a:r>
            <a:r>
              <a:rPr lang="ko-KR" altLang="en-US" sz="1100" b="1" kern="0" dirty="0">
                <a:solidFill>
                  <a:srgbClr val="197EC6"/>
                </a:solidFill>
                <a:latin typeface="+mn-ea"/>
              </a:rPr>
              <a:t>재정상태표 작성</a:t>
            </a:r>
            <a:endParaRPr lang="en-US" altLang="ko-KR" sz="1100" b="1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75" name="꺾인 연결선 35">
            <a:extLst>
              <a:ext uri="{FF2B5EF4-FFF2-40B4-BE49-F238E27FC236}">
                <a16:creationId xmlns="" xmlns:a16="http://schemas.microsoft.com/office/drawing/2014/main" id="{71245A11-2BAE-432D-B791-C288CBA261F6}"/>
              </a:ext>
            </a:extLst>
          </p:cNvPr>
          <p:cNvCxnSpPr>
            <a:cxnSpLocks/>
            <a:stCxn id="33" idx="2"/>
            <a:endCxn id="65" idx="0"/>
          </p:cNvCxnSpPr>
          <p:nvPr/>
        </p:nvCxnSpPr>
        <p:spPr bwMode="auto">
          <a:xfrm rot="16200000" flipH="1">
            <a:off x="6552426" y="1926808"/>
            <a:ext cx="269617" cy="136938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6" name="꺾인 연결선 91">
            <a:extLst>
              <a:ext uri="{FF2B5EF4-FFF2-40B4-BE49-F238E27FC236}">
                <a16:creationId xmlns="" xmlns:a16="http://schemas.microsoft.com/office/drawing/2014/main" id="{44A1D24B-688C-4D2F-BD68-5ADFBCFBE736}"/>
              </a:ext>
            </a:extLst>
          </p:cNvPr>
          <p:cNvCxnSpPr>
            <a:stCxn id="70" idx="2"/>
            <a:endCxn id="73" idx="0"/>
          </p:cNvCxnSpPr>
          <p:nvPr/>
        </p:nvCxnSpPr>
        <p:spPr bwMode="auto">
          <a:xfrm>
            <a:off x="7376084" y="4907722"/>
            <a:ext cx="0" cy="12472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7" name="꺾인 연결선 91">
            <a:extLst>
              <a:ext uri="{FF2B5EF4-FFF2-40B4-BE49-F238E27FC236}">
                <a16:creationId xmlns="" xmlns:a16="http://schemas.microsoft.com/office/drawing/2014/main" id="{44A1D24B-688C-4D2F-BD68-5ADFBCFBE736}"/>
              </a:ext>
            </a:extLst>
          </p:cNvPr>
          <p:cNvCxnSpPr>
            <a:stCxn id="73" idx="2"/>
            <a:endCxn id="74" idx="0"/>
          </p:cNvCxnSpPr>
          <p:nvPr/>
        </p:nvCxnSpPr>
        <p:spPr bwMode="auto">
          <a:xfrm>
            <a:off x="7376084" y="5455188"/>
            <a:ext cx="43" cy="15655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232611307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중기사업계획의 수입과 지출에 대한 내용을 작성하고 </a:t>
            </a:r>
            <a:r>
              <a:rPr lang="en-US" altLang="ko-KR" dirty="0">
                <a:latin typeface="+mn-ea"/>
                <a:ea typeface="+mn-ea"/>
              </a:rPr>
              <a:t>dBrain</a:t>
            </a:r>
            <a:r>
              <a:rPr lang="ko-KR" altLang="en-US" dirty="0">
                <a:latin typeface="+mn-ea"/>
                <a:ea typeface="+mn-ea"/>
              </a:rPr>
              <a:t>에 등록하여 관리하는 업무로 개선하고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예산편성은 회계연도 기준 집행을 위한 법인회계와 기금회계로 구분하여 작성할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/>
              <a:t>5/14)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4562421"/>
              </p:ext>
            </p:extLst>
          </p:nvPr>
        </p:nvGraphicFramePr>
        <p:xfrm>
          <a:off x="354520" y="1736814"/>
          <a:ext cx="9180512" cy="4416666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275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중기사업계획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중기사업계획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중기사업계획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을 작성하고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dBrain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에 등록하고 관리하는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+mn-ea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예산팀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수작업으로 진행 중인  중기사업계획을 전산화하여 업무 편의성을 향상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91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+mn-ea"/>
                          <a:ea typeface="+mn-ea"/>
                        </a:rPr>
                        <a:t>작성요청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사업담당자에게 중기사업계획 작성 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사업계획작성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사업별 중기사업계획 작성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당해연도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+ 4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사업계획취합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작성된 전체 중기사업계획을 취합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사업계획승인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취합완료된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중기사업계획에 대한 승인 요청 및 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사업계획등록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승인완료된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중기사업계획을 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dBrain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에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81677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예산편성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회계연도에 집행하기 위하여 법인회계의 사업별 예산을 편성하고 기금회계의 기금운용계획을 작성하는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공단본부예산팀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Analog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방식에서 정형화되고 세분화된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Digital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방식으로 전환하여 일관되고 명확한 예산편성과 다양한 예산분석 체계를 마련하여 효율적인 예산편성과 내역사업별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Life-Cycle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관리가 가능하도록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412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편성준비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예산팀에서 예산구조와 정형화된 예산편성 테이블을 준비하고 각 업무부서로 예산편성지침을 전달하여 예산편성을 준비하는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예산요구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업무부서에서 해당 회계연도에 진행할 사업별 예산요구내역을 내역사업과 예산과목별 정형화예산식으로 작성하는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412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예산요구조정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업무부서에서 작성된 예산요구내역을 전체 예산에 맞게 조정하는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1105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예산심의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조정완료된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예산을 정부기관에서 심의하는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1105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예산확정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조정완료된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예산을 예산편성심의회를 거쳐 확정하는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639554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예산집행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예산변경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예산절감</a:t>
            </a:r>
            <a:r>
              <a:rPr lang="en-US" altLang="ko-KR" dirty="0">
                <a:latin typeface="+mn-ea"/>
                <a:ea typeface="+mn-ea"/>
              </a:rPr>
              <a:t>·</a:t>
            </a:r>
            <a:r>
              <a:rPr lang="ko-KR" altLang="en-US" dirty="0">
                <a:latin typeface="+mn-ea"/>
                <a:ea typeface="+mn-ea"/>
              </a:rPr>
              <a:t>이월 업무프로세스는 기존을 유지하고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예산종합평가는 제도 도입을 위해 정보화 할 수 있도록 절차를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6/14)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115196"/>
              </p:ext>
            </p:extLst>
          </p:nvPr>
        </p:nvGraphicFramePr>
        <p:xfrm>
          <a:off x="354520" y="1628800"/>
          <a:ext cx="9170482" cy="4419312"/>
        </p:xfrm>
        <a:graphic>
          <a:graphicData uri="http://schemas.openxmlformats.org/drawingml/2006/table">
            <a:tbl>
              <a:tblPr firstRow="1" bandRow="1"/>
              <a:tblGrid>
                <a:gridCol w="3912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383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38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4616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예산집행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예산집행계획을 작성하고 예산을 부서별로 배정하는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공단본부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예산팀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경륜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경정본부 사업전략팀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과학원 행정지원팀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946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예산집행계획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예산집행계획을 작성하는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946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+mn-ea"/>
                          <a:ea typeface="+mn-ea"/>
                        </a:rPr>
                        <a:t>예산배정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업무부서에서 작성한 배정요청에 따라 예산을 배정하는 업무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94616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예산이용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 등 예산변경사항 발생 시 예산변경하는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공단본부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예산팀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경륜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경정본부 사업전략팀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과학원 행정지원팀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946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예산변경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사항 발생 시 예산변경을 신청하는 업무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94616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신청된 예산변경사항을 승인하고 예산에 반영하는 업무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946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예산변경반영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변경이 확정된 예산을 반영하는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94616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예산절감이월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예산절감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및 불용처리와 연도말 예산을 익년도로 이월하는 업무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공단본부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예산팀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경륜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경정본부 사업전략팀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과학원 행정지원팀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946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예산절감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예산절감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예산불용을 처리하는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946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예산이월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명시이월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사고이월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계속비이월 등 예산이월에 관한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94616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예산종합평가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부서별 예산책임제도 정착 및 효율적 예산운영을 위한 평가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공단본부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세세목별 성과대상과 제외대상을 설정하고 항목별 배정 및 산정방안을 세팅하여 부서별 예산종합평가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946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예산종합평가준비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예산팀이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예산종합평가를 위해 계획수립 후 항목별 배점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등 설정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3962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+mn-ea"/>
                          <a:ea typeface="+mn-ea"/>
                        </a:rPr>
                        <a:t>예산종합평가처리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부서별로 제출한 성과결과와 계획수립 시 설정된 항목별 배점에 따라 예산종합평가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738702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수입관리 업무프로세스는 현행 유지하고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지출관리 업무프로세스는 계약관리의 계약정보를 선택할 수 있도록 업무프로세스를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7/14)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1387381"/>
              </p:ext>
            </p:extLst>
          </p:nvPr>
        </p:nvGraphicFramePr>
        <p:xfrm>
          <a:off x="354520" y="1723944"/>
          <a:ext cx="9170482" cy="4481872"/>
        </p:xfrm>
        <a:graphic>
          <a:graphicData uri="http://schemas.openxmlformats.org/drawingml/2006/table">
            <a:tbl>
              <a:tblPr firstRow="1" bandRow="1"/>
              <a:tblGrid>
                <a:gridCol w="38232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972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9842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수입관리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 수입에 대한 전표 작성 및 확정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공단전부서</a:t>
                      </a:r>
                      <a:endParaRPr lang="en-US" altLang="ko-KR" sz="900" b="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징수처리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 자금운용팀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회계팀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과학원 행정지원팀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수납처리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 자금운용팀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회계팀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과학원 행정지원팀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9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507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수입인식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발생된 수입에 대한 인식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징수요구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입금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)-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징수요구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부가금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스포츠센터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파크텔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주차관재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신용카드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선수금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선수금정산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체육산업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임대관리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관재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미수금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미수금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수정세금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징수요구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797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징수요구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발생된 수입에 대한 징수요구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308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+mn-ea"/>
                          <a:ea typeface="+mn-ea"/>
                        </a:rPr>
                        <a:t>징수처리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요구된 징수 건에 대한 전표 처리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507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수납요구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요청된 징수에 대하여 입금이 완료된 건에 대한 수납요구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90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+mn-ea"/>
                          <a:ea typeface="+mn-ea"/>
                        </a:rPr>
                        <a:t>수납처리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수납요구 건에 대한 전표 반제 및 확정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83348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건에 대한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전표 작성 및 확정과 예산의 집행 업무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공단전부서</a:t>
                      </a:r>
                    </a:p>
                    <a:p>
                      <a:pPr algn="ctr" latinLnBrk="1"/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지출원인행위와 지출처리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 재무관리팀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회계팀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과학원 행정지원팀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계약관련 지출요구 시  계약관리 시스템의 계약정보를 선택할 수 있도록 변경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675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지출품의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회의비 및 업무추진비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급량비에 대한 지출 품의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지출요구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지출품의 건 및 일반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지출요구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법인카드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법인카드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경륜경정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),             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지로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(CMS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공과금납부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개산급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개산급정산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사업기타소득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기타소득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포상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국내여비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식비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일비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보조금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체육인복지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기부금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기부금 정산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급여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     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선수상금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융자금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여입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지출요구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여입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지출요구</a:t>
                      </a:r>
                      <a:r>
                        <a:rPr lang="en-US" altLang="ko-KR" sz="1000" b="0" spc="-70" baseline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pc="-70" baseline="0" dirty="0">
                          <a:latin typeface="+mn-ea"/>
                          <a:ea typeface="+mn-ea"/>
                        </a:rPr>
                        <a:t>입금에 대한 요구 등록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812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지출원인행위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요구 건에 대한 지출예산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처리와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생성 및 확정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요구 건에 대한 전표 반제 및 확정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97170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전사 차원의 월결산 도입함에 따라 법인회계 월 결산 업무프로세스와 기금회계의 월 결산 업무프로세스를 신설함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8/14)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7942091"/>
              </p:ext>
            </p:extLst>
          </p:nvPr>
        </p:nvGraphicFramePr>
        <p:xfrm>
          <a:off x="354520" y="1723944"/>
          <a:ext cx="9170482" cy="2973112"/>
        </p:xfrm>
        <a:graphic>
          <a:graphicData uri="http://schemas.openxmlformats.org/drawingml/2006/table">
            <a:tbl>
              <a:tblPr firstRow="1" bandRow="1"/>
              <a:tblGrid>
                <a:gridCol w="37344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0837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8569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334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법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인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회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법인회계에 대한 월 결산 처리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본부 회계팀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본부 회계팀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법인회계 사업별 월 결산과 공단 총괄 월 결산의 취합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675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일반전표처리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집행이 아닌 입출금 사항에 대한 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전표처리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부가세 등에 대한 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결산서조회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총계정원장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합계잔액시산표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손익계산서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재무상태표 등 결산 명세서 조회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3819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금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회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기금회계에 대한 월 결산 처리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기금회계 사업별 월 결산과 공단 총괄 월 결산의 취합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일반전표처리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집행이 아닌 입출금 사항에 대한 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전표처리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부가세 등에 대한 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결산서조회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총계정원장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합계잔액시산표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재정운영표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재정상태표 등 결산 명세서 조회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931035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법인회계 연결산</a:t>
            </a:r>
            <a:r>
              <a:rPr lang="ko-KR" altLang="en-US" dirty="0"/>
              <a:t> 업무프로세스</a:t>
            </a:r>
            <a:r>
              <a:rPr lang="en-US" altLang="ko-KR" dirty="0"/>
              <a:t>(</a:t>
            </a:r>
            <a:r>
              <a:rPr lang="ko-KR" altLang="en-US" dirty="0"/>
              <a:t>일반전표처리</a:t>
            </a:r>
            <a:r>
              <a:rPr lang="en-US" altLang="ko-KR" dirty="0"/>
              <a:t>, </a:t>
            </a:r>
            <a:r>
              <a:rPr lang="ko-KR" altLang="en-US" dirty="0"/>
              <a:t>마감처리</a:t>
            </a:r>
            <a:r>
              <a:rPr lang="en-US" altLang="ko-KR" dirty="0"/>
              <a:t>, </a:t>
            </a:r>
            <a:r>
              <a:rPr lang="ko-KR" altLang="en-US" dirty="0"/>
              <a:t>결산처리</a:t>
            </a:r>
            <a:r>
              <a:rPr lang="en-US" altLang="ko-KR" dirty="0"/>
              <a:t>, </a:t>
            </a:r>
            <a:r>
              <a:rPr lang="ko-KR" altLang="en-US" dirty="0"/>
              <a:t>결산보고</a:t>
            </a:r>
            <a:r>
              <a:rPr lang="en-US" altLang="ko-KR" dirty="0"/>
              <a:t>, </a:t>
            </a:r>
            <a:r>
              <a:rPr lang="ko-KR" altLang="en-US" dirty="0"/>
              <a:t>잔액이월</a:t>
            </a:r>
            <a:r>
              <a:rPr lang="en-US" altLang="ko-KR" dirty="0"/>
              <a:t>)</a:t>
            </a:r>
            <a:r>
              <a:rPr lang="ko-KR" altLang="en-US" dirty="0"/>
              <a:t>와 기금회계의 연결산 업무프로세스</a:t>
            </a:r>
            <a:r>
              <a:rPr lang="en-US" altLang="ko-KR" dirty="0"/>
              <a:t>(</a:t>
            </a:r>
            <a:r>
              <a:rPr lang="ko-KR" altLang="en-US" dirty="0"/>
              <a:t>일반전표처리</a:t>
            </a:r>
            <a:r>
              <a:rPr lang="en-US" altLang="ko-KR" dirty="0"/>
              <a:t>, </a:t>
            </a:r>
            <a:r>
              <a:rPr lang="ko-KR" altLang="en-US" dirty="0"/>
              <a:t>마감처리</a:t>
            </a:r>
            <a:r>
              <a:rPr lang="en-US" altLang="ko-KR" dirty="0"/>
              <a:t>, </a:t>
            </a:r>
            <a:r>
              <a:rPr lang="ko-KR" altLang="en-US" dirty="0"/>
              <a:t>결산처리</a:t>
            </a:r>
            <a:r>
              <a:rPr lang="en-US" altLang="ko-KR" dirty="0"/>
              <a:t>, </a:t>
            </a:r>
            <a:r>
              <a:rPr lang="ko-KR" altLang="en-US" dirty="0"/>
              <a:t>결산보고</a:t>
            </a:r>
            <a:r>
              <a:rPr lang="en-US" altLang="ko-KR" dirty="0"/>
              <a:t>, dBrain </a:t>
            </a:r>
            <a:r>
              <a:rPr lang="ko-KR" altLang="en-US" dirty="0"/>
              <a:t>전송</a:t>
            </a:r>
            <a:r>
              <a:rPr lang="en-US" altLang="ko-KR" dirty="0"/>
              <a:t>, </a:t>
            </a:r>
            <a:r>
              <a:rPr lang="ko-KR" altLang="en-US" dirty="0"/>
              <a:t>잔액이월</a:t>
            </a:r>
            <a:r>
              <a:rPr lang="en-US" altLang="ko-KR" dirty="0"/>
              <a:t>)</a:t>
            </a:r>
            <a:r>
              <a:rPr lang="ko-KR" altLang="en-US" dirty="0"/>
              <a:t>는 </a:t>
            </a:r>
            <a:r>
              <a:rPr lang="ko-KR" altLang="en-US" sz="1600" dirty="0"/>
              <a:t>현행을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9/14)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3973579"/>
              </p:ext>
            </p:extLst>
          </p:nvPr>
        </p:nvGraphicFramePr>
        <p:xfrm>
          <a:off x="354520" y="1723944"/>
          <a:ext cx="9170482" cy="3674152"/>
        </p:xfrm>
        <a:graphic>
          <a:graphicData uri="http://schemas.openxmlformats.org/drawingml/2006/table">
            <a:tbl>
              <a:tblPr firstRow="1" bandRow="1"/>
              <a:tblGrid>
                <a:gridCol w="37344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0837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8569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8198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법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인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회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법인회계에 대한 연결산 업무처리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본부 회계팀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본부 회계팀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일반전표처리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집행이 아닌 입출금 사항에 대한 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전표처리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부가세 등에 대한 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결산처리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조정분개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손익대체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명세서 확인 등 결산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결산보고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내부 결산보고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잔액이월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잔액에 대한 이월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38198">
                <a:tc rowSpan="7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7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기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금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회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기금회계에 대한 연결산 업무처리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일반전표처리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집행이 아닌 입출금 사항에 대한 전표처리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결의서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전표처리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부가세 등에 대한 마감처리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결산처리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조정분개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손익대체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명세서 확인 등 결산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결산보고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내부 결산보고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dBrain</a:t>
                      </a:r>
                      <a:r>
                        <a:rPr lang="en-US" altLang="ko-KR" sz="1000" b="1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1" baseline="0" dirty="0">
                          <a:latin typeface="+mn-ea"/>
                          <a:ea typeface="+mn-ea"/>
                        </a:rPr>
                        <a:t>전송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결산보고서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dBrain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전송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잔액이월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잔액에 대한 이월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228450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자금수급계획은 수작업으로 처리되는 것을 전산화하고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자금배정은 배정요청과 자금배정을 전산화하여 업무분장을 개선하고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금융상품처리는 전표처리 이후 수입관리에서 처리할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10/14)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3617707"/>
              </p:ext>
            </p:extLst>
          </p:nvPr>
        </p:nvGraphicFramePr>
        <p:xfrm>
          <a:off x="354520" y="1723944"/>
          <a:ext cx="9170482" cy="4740952"/>
        </p:xfrm>
        <a:graphic>
          <a:graphicData uri="http://schemas.openxmlformats.org/drawingml/2006/table">
            <a:tbl>
              <a:tblPr firstRow="1" bandRow="1"/>
              <a:tblGrid>
                <a:gridCol w="35000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3204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8198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세무신고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dirty="0">
                          <a:latin typeface="+mn-ea"/>
                        </a:rPr>
                        <a:t>매출</a:t>
                      </a:r>
                      <a:r>
                        <a:rPr lang="en-US" altLang="ko-KR" sz="1000" dirty="0">
                          <a:latin typeface="+mn-ea"/>
                        </a:rPr>
                        <a:t>(</a:t>
                      </a:r>
                      <a:r>
                        <a:rPr lang="ko-KR" altLang="en-US" sz="1000" dirty="0">
                          <a:latin typeface="+mn-ea"/>
                        </a:rPr>
                        <a:t>세금</a:t>
                      </a:r>
                      <a:r>
                        <a:rPr lang="en-US" altLang="ko-KR" sz="1000" dirty="0">
                          <a:latin typeface="+mn-ea"/>
                        </a:rPr>
                        <a:t>)</a:t>
                      </a:r>
                      <a:r>
                        <a:rPr lang="ko-KR" altLang="en-US" sz="1000" dirty="0">
                          <a:latin typeface="+mn-ea"/>
                        </a:rPr>
                        <a:t>계산 결의서</a:t>
                      </a:r>
                      <a:r>
                        <a:rPr lang="en-US" altLang="ko-KR" sz="1000" dirty="0">
                          <a:latin typeface="+mn-ea"/>
                        </a:rPr>
                        <a:t>, </a:t>
                      </a:r>
                      <a:r>
                        <a:rPr lang="ko-KR" altLang="en-US" sz="1000" dirty="0">
                          <a:latin typeface="+mn-ea"/>
                        </a:rPr>
                        <a:t>부가세 자료 조정</a:t>
                      </a:r>
                      <a:r>
                        <a:rPr lang="en-US" altLang="ko-KR" sz="1000" dirty="0">
                          <a:latin typeface="+mn-ea"/>
                        </a:rPr>
                        <a:t>, </a:t>
                      </a:r>
                      <a:r>
                        <a:rPr lang="ko-KR" altLang="en-US" sz="1000" dirty="0">
                          <a:latin typeface="+mn-ea"/>
                        </a:rPr>
                        <a:t>세금계산서 발행</a:t>
                      </a:r>
                      <a:r>
                        <a:rPr lang="en-US" altLang="ko-KR" sz="1000" dirty="0">
                          <a:latin typeface="+mn-ea"/>
                        </a:rPr>
                        <a:t>, </a:t>
                      </a:r>
                      <a:r>
                        <a:rPr lang="ko-KR" altLang="en-US" sz="1000" dirty="0" err="1">
                          <a:latin typeface="+mn-ea"/>
                        </a:rPr>
                        <a:t>홈텍스</a:t>
                      </a:r>
                      <a:r>
                        <a:rPr lang="ko-KR" altLang="en-US" sz="1000" dirty="0">
                          <a:latin typeface="+mn-ea"/>
                        </a:rPr>
                        <a:t> 신고 등 세무신고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latin typeface="+mn-ea"/>
                          <a:ea typeface="+mn-ea"/>
                        </a:rPr>
                        <a:t>공단본부재무관리팀</a:t>
                      </a:r>
                      <a:r>
                        <a:rPr lang="en-US" altLang="ko-KR" sz="8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8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dirty="0">
                          <a:latin typeface="+mn-ea"/>
                          <a:ea typeface="+mn-ea"/>
                        </a:rPr>
                        <a:t>경정본부 회계팀</a:t>
                      </a:r>
                      <a:r>
                        <a:rPr lang="en-US" altLang="ko-KR" sz="8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공단본부재무관리팀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경정본부 회계팀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과학원 행정지원팀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세무신고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38198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자금수급계획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월수입지출계획 작성 및 확정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자금운영팀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/>
                        <a:t>자금수급계획은 수작업으로 처리되는 것을 전산화로 개선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작성요청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억원 이상 지출계획이 있는 사업부서에 익월지출계획 작성 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지출계획작성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억원 이상 지출계획에 대한 익월지출계획 작성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주간단위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수급계획작성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지출계획에 대한 수급계획 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수급계획확정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자금수급계획 확정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3819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자금배정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자금배정 요청 및 통보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자금운용팀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회계팀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 자금운용팀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회계팀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/>
                        <a:t>배정요청과 자금배정을 전산화로 개선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pc="-200" baseline="0" dirty="0">
                          <a:latin typeface="+mn-ea"/>
                          <a:ea typeface="+mn-ea"/>
                        </a:rPr>
                        <a:t>지출예정금액확인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일일 지출예정금액 확인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38198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자금배정요청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지출예정금액에 대한 배정요청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자금배정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배정요청금액에 대한 자금 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38198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금융상품관리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금융상품 등록 및 운용 현황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자금운용팀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자금운용팀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이자수익 등의 전표처리와 금융상품의 운용결과를 처리하고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 내용을 수입관리에서 전표처리 하도록 개선함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금융상품선정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각종 지침에 따른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운용대상 금융상품 선정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3819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금융상품운용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운용 중인 금융상품 관리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만기해지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중도해지 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039831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자산관리는 계약관리의 계약요청정보와 연계된 자산정보가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검수를 통하여 자산대장정보로 등록되도록 개선하고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부가금관리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융자관리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재물조사는 현행 유지함</a:t>
            </a:r>
            <a:r>
              <a:rPr lang="ko-KR" altLang="en-US" sz="1600" dirty="0">
                <a:latin typeface="+mn-ea"/>
                <a:ea typeface="+mn-ea"/>
              </a:rPr>
              <a:t>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11/14)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9838696"/>
              </p:ext>
            </p:extLst>
          </p:nvPr>
        </p:nvGraphicFramePr>
        <p:xfrm>
          <a:off x="354520" y="1723944"/>
          <a:ext cx="9170482" cy="4904172"/>
        </p:xfrm>
        <a:graphic>
          <a:graphicData uri="http://schemas.openxmlformats.org/drawingml/2006/table">
            <a:tbl>
              <a:tblPr firstRow="1" bandRow="1"/>
              <a:tblGrid>
                <a:gridCol w="35000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3204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990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99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1600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부가금관리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 부가금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자금운용팀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자금운용팀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부가금신고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 부가금 납부대상 금액 신고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부가금납부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 부가금 신고 금액 납부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16000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18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융자관리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 지급대상 선정 및 원장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산업지원팀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산업지원팀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융자공모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 지급대상 선정을 위한 융자 공모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융자심의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 지급대상 선정을 위한 심의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융자금지급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 지급대상 선정에 대한 융자금 지급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융자금상환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지급 융자금에 대한 상환관리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16000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19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자산관리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취득 자산의 취득 및 관리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처분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 총무팀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사업지원팀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총무팀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경정본부 사업지원팀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자산취득을 위한 자산정보등록 절차를 검사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검수단계로 이관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자산취득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자산대장에 등록되어 관리되는 자산의 취득에 관한 업무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FA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정산전표에 대한 반제 처리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취득일자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취득금액 확정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자산정보관리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등록 자산의 변경사항 등에 대한 이력관리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자산처분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불용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폐기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매각 등 자산 처분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16000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재물조사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재물조사 요청 및 결과 등록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 총무팀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사업지원팀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재물조사요청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재물조사 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재물조사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정기 재물조사의 실시에 관한 업무처리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재물조사반영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재물조사 결과 차이가 발생된 자산에 대한 반영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420459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내부관리손익 도입으로 경륜</a:t>
            </a:r>
            <a:r>
              <a:rPr lang="en-US" altLang="ko-KR" sz="1600" dirty="0">
                <a:latin typeface="+mn-ea"/>
                <a:ea typeface="+mn-ea"/>
              </a:rPr>
              <a:t>/</a:t>
            </a:r>
            <a:r>
              <a:rPr lang="ko-KR" altLang="en-US" sz="1600" dirty="0">
                <a:latin typeface="+mn-ea"/>
                <a:ea typeface="+mn-ea"/>
              </a:rPr>
              <a:t>경정 사업본부의 사업별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지점별</a:t>
            </a:r>
            <a:r>
              <a:rPr lang="en-US" altLang="ko-KR" dirty="0">
                <a:latin typeface="+mn-ea"/>
                <a:ea typeface="+mn-ea"/>
              </a:rPr>
              <a:t> </a:t>
            </a:r>
            <a:r>
              <a:rPr lang="ko-KR" altLang="en-US" dirty="0">
                <a:latin typeface="+mn-ea"/>
                <a:ea typeface="+mn-ea"/>
              </a:rPr>
              <a:t>손익산출과 공동활용지점에 대한 사업비 정산 프로세스를 신설하고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골프장별 내부관리 손익계산서를 산출하는 업무프로세스를 신설함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  <a:latin typeface="맑은 고딕"/>
              </a:rPr>
              <a:t>12/14)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5604234"/>
              </p:ext>
            </p:extLst>
          </p:nvPr>
        </p:nvGraphicFramePr>
        <p:xfrm>
          <a:off x="354520" y="1723944"/>
          <a:ext cx="9170482" cy="2981527"/>
        </p:xfrm>
        <a:graphic>
          <a:graphicData uri="http://schemas.openxmlformats.org/drawingml/2006/table">
            <a:tbl>
              <a:tblPr firstRow="1" bandRow="1"/>
              <a:tblGrid>
                <a:gridCol w="35000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3204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990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99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58599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경륜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경정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 사업의 내부관리 손익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경정본부 회계팀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경정본부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 사업본부의 사업별 및 지점별 손익산출과 공동활용지점에 대한 사업비용 정산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58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사업별 손익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경륜사업의 경주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비경주 사업별 손익 산출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경정사업의 경주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비경주 사업별 손익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58599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지점별 손익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경륜사업의 지점별 손익 산출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경정사업의 지점별 손익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58599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공동활용지점 정산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 사업의 공동활용지점의 사업비용 정산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58599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골프장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골프장사업실 골프장별 내부관리 손익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ko-KR" altLang="en-US" sz="900" b="0" dirty="0" err="1">
                          <a:latin typeface="+mn-ea"/>
                          <a:ea typeface="+mn-ea"/>
                        </a:rPr>
                        <a:t>재무간리팀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스포츠레저사업본부 골프장사업실</a:t>
                      </a:r>
                      <a:r>
                        <a:rPr lang="en-US" altLang="ko-KR" sz="9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dirty="0">
                          <a:latin typeface="+mn-ea"/>
                          <a:ea typeface="+mn-ea"/>
                        </a:rPr>
                        <a:t>각 골프장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스포츠레저사업본부 골프장사업실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골프장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현재 연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 지자체와 협약에 의해 작성되는 골프장별 손익계산서를 월 단위 내부관리 손익계산서로 작성하여 투자비의 회수내역 등을 검토자료로 활용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258599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손익자료 집계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골프장별 수입과 지출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골프장사업실의 인건비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경비 집계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58599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배부기준 관리 및 배부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골프장사업실의 인건비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경비를 배부기준에 따라 각 골프장에 배부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258599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손익계산서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골프장별 내부관리 손익계산서 산출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043310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기존 수작업으로 작성하여 공시하고 있는 기금회계의 생활체육육성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전문체육육성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스포츠산업육성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장애인체육육성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체육인프라운영의 사업단위별 재정운영표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재정상태표 작성을 전산화함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(13/14)</a:t>
            </a:r>
            <a:endParaRPr lang="ko-KR" altLang="en-US" dirty="0"/>
          </a:p>
        </p:txBody>
      </p:sp>
      <p:sp>
        <p:nvSpPr>
          <p:cNvPr id="7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6500128"/>
              </p:ext>
            </p:extLst>
          </p:nvPr>
        </p:nvGraphicFramePr>
        <p:xfrm>
          <a:off x="354520" y="1723944"/>
          <a:ext cx="9170482" cy="2929780"/>
        </p:xfrm>
        <a:graphic>
          <a:graphicData uri="http://schemas.openxmlformats.org/drawingml/2006/table">
            <a:tbl>
              <a:tblPr firstRow="1" bandRow="1"/>
              <a:tblGrid>
                <a:gridCol w="3912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8736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기금구분회계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기금회계 사업단위별 재정운영표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재정상태표를 작성하여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ALIO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에 공시하고 산출물을 전산으로 처리하는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재무관리팀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재무관리팀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기존 수작업으로 작성하여 공시하고 있는 기금회계의 생활체육육성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전문체육육성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스포츠산업육성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장애인체육육성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체육인프라운영의 사업단위별 재정운영표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재정상태표 작성을 전산화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0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기초자료집계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기금회계 결산자료를 각 계정과목과 사업단위별로 구분하여 집계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60040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구분항목과 공통항목의 분리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사업단위로 직접 구분되는 수익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부채와 공통항목을 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044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배부기준관리 및 배부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공통항목을 각 사업단위로 배부하기 위한 배부기준 자료를 집계하여 배부율을 산출하고 각 사업단위로 공통항목을 배부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04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구분회계별 항목 집계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사업단위별 직접 구분되는 수익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부채와 공통항목의   배부된 항목을 집계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3204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재정운영표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재정상태표 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집계된 항목을 수익과 비용은 재정운영표로 자산과 부채는 재정상태표로 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62582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기존 수작업으로 진행되던 계약요청업무를 시스템화 하고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 결과를 시스템에 등록할 수 있도록 업무처리를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prstClr val="black"/>
                </a:solidFill>
              </a:rPr>
              <a:t>3.2.1 </a:t>
            </a:r>
            <a:r>
              <a:rPr lang="ko-KR" altLang="en-US" dirty="0">
                <a:solidFill>
                  <a:prstClr val="black"/>
                </a:solidFill>
              </a:rPr>
              <a:t>통합재무 업무기능 정의 </a:t>
            </a:r>
            <a:r>
              <a:rPr lang="en-US" altLang="ko-KR" dirty="0">
                <a:solidFill>
                  <a:prstClr val="black"/>
                </a:solidFill>
              </a:rPr>
              <a:t>(14/14)</a:t>
            </a:r>
            <a:endParaRPr lang="ko-KR" altLang="en-US" dirty="0"/>
          </a:p>
        </p:txBody>
      </p:sp>
      <p:sp>
        <p:nvSpPr>
          <p:cNvPr id="7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0918271"/>
              </p:ext>
            </p:extLst>
          </p:nvPr>
        </p:nvGraphicFramePr>
        <p:xfrm>
          <a:off x="354520" y="1723944"/>
          <a:ext cx="9170482" cy="3905336"/>
        </p:xfrm>
        <a:graphic>
          <a:graphicData uri="http://schemas.openxmlformats.org/drawingml/2006/table">
            <a:tbl>
              <a:tblPr firstRow="1" bandRow="1"/>
              <a:tblGrid>
                <a:gridCol w="3912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8736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24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구매계약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공사계약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용역계약 등 계약을 관리하는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총무팀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경정본부 사업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지원팀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과학원 행정지원팀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기존 수작업으로 진행되던 계약요청업무를 시스템화하고 검사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검수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결과를 시스템에 등록할 수 있도록 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0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계약요청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구매계약 및 공사계약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용역계약을 요청하는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업무</a:t>
                      </a:r>
                      <a:endParaRPr lang="en-US" altLang="ko-KR" sz="1000" b="0" baseline="0" dirty="0">
                        <a:latin typeface="+mn-ea"/>
                        <a:ea typeface="+mn-ea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계약요청정보</a:t>
                      </a:r>
                      <a:endParaRPr lang="en-US" altLang="ko-KR" sz="1000" b="0" baseline="0" dirty="0">
                        <a:latin typeface="+mn-ea"/>
                        <a:ea typeface="+mn-ea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계약요청내역정보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044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 건에 대한 계약정보를 등록하는 업무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계약요청정보를 이용한 계약정보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입찰정보 등록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계약요청내역정보를 이용한 계약내역등록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선정된 거래처에 대한 기업인증유형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대기업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중소기업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여성기업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장애인인증 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확인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계약내역의 내역별 인증정보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기술개발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친환경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중증장애인 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등록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04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검사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검수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구매된 제품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상품에 대한 납품 및 검사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검수를 진행하는 업무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계약내역을 이용한 임시자산등록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임시자산등록으로 생성된 자산관리번호를 바코드로 인쇄 및   부착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계약내역에 대한 검사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검수 완료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3204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대금지급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업체에 대금을 지급하는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103496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중기사업계획 업무의 기금사업일 경우 세부사업별 당해년도 포함하여 향후 </a:t>
            </a:r>
            <a:r>
              <a:rPr lang="en-US" altLang="ko-KR" sz="1600" dirty="0">
                <a:latin typeface="+mn-ea"/>
                <a:ea typeface="+mn-ea"/>
              </a:rPr>
              <a:t>5</a:t>
            </a:r>
            <a:r>
              <a:rPr lang="ko-KR" altLang="en-US" sz="1600" dirty="0">
                <a:latin typeface="+mn-ea"/>
                <a:ea typeface="+mn-ea"/>
              </a:rPr>
              <a:t>개년도 사업계획 작성 요청을 할 수 있도록 업무프로세스를 전산화로 변경함 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 </a:t>
            </a:r>
            <a:r>
              <a:rPr lang="ko-KR" altLang="en-US" dirty="0"/>
              <a:t>통합재무</a:t>
            </a:r>
            <a:r>
              <a:rPr lang="en-US" altLang="ko-KR" dirty="0"/>
              <a:t> </a:t>
            </a:r>
            <a:r>
              <a:rPr lang="ko-KR" altLang="en-US" dirty="0"/>
              <a:t>업무프로세스 맵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3.2.2.1 </a:t>
            </a:r>
            <a:r>
              <a:rPr lang="ko-KR" altLang="en-US" dirty="0"/>
              <a:t>중기사업계획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</a:p>
        </p:txBody>
      </p:sp>
      <p:graphicFrame>
        <p:nvGraphicFramePr>
          <p:cNvPr id="67" name="표 66">
            <a:extLst>
              <a:ext uri="{FF2B5EF4-FFF2-40B4-BE49-F238E27FC236}">
                <a16:creationId xmlns="" xmlns:a16="http://schemas.microsoft.com/office/drawing/2014/main" id="{B9C1765B-1F8E-42AC-B47B-D049433647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527678"/>
              </p:ext>
            </p:extLst>
          </p:nvPr>
        </p:nvGraphicFramePr>
        <p:xfrm>
          <a:off x="344488" y="1916832"/>
          <a:ext cx="9181019" cy="4392492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1.1.1.1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작성요청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사업계획취합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1.1.1.4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사업계획승인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1.1.1.5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사업계획등록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003923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기획재정부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03923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003923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003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197640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중기사업계획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1698486" y="465313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1. </a:t>
            </a:r>
            <a:r>
              <a:rPr lang="ko-KR" altLang="en-US" sz="900" kern="0" dirty="0">
                <a:solidFill>
                  <a:srgbClr val="197EC6"/>
                </a:solidFill>
              </a:rPr>
              <a:t>사업계획 작성 요청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70" name="Shape 266">
            <a:extLst>
              <a:ext uri="{FF2B5EF4-FFF2-40B4-BE49-F238E27FC236}">
                <a16:creationId xmlns="" xmlns:a16="http://schemas.microsoft.com/office/drawing/2014/main" id="{51B320B7-F57B-41B8-B696-6A31F90BD156}"/>
              </a:ext>
            </a:extLst>
          </p:cNvPr>
          <p:cNvCxnSpPr>
            <a:cxnSpLocks noChangeShapeType="1"/>
            <a:stCxn id="84" idx="2"/>
            <a:endCxn id="69" idx="0"/>
          </p:cNvCxnSpPr>
          <p:nvPr/>
        </p:nvCxnSpPr>
        <p:spPr bwMode="auto">
          <a:xfrm>
            <a:off x="2074807" y="4107518"/>
            <a:ext cx="1892" cy="54561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>
            <a:extLst>
              <a:ext uri="{FF2B5EF4-FFF2-40B4-BE49-F238E27FC236}">
                <a16:creationId xmlns="" xmlns:a16="http://schemas.microsoft.com/office/drawing/2014/main" id="{DBD0E142-3842-4B0C-9872-B5AFD77DD41E}"/>
              </a:ext>
            </a:extLst>
          </p:cNvPr>
          <p:cNvSpPr/>
          <p:nvPr/>
        </p:nvSpPr>
        <p:spPr bwMode="auto">
          <a:xfrm>
            <a:off x="5037023" y="49084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4. </a:t>
            </a:r>
            <a:r>
              <a:rPr lang="ko-KR" altLang="en-US" sz="900" kern="0" dirty="0">
                <a:solidFill>
                  <a:srgbClr val="197EC6"/>
                </a:solidFill>
              </a:rPr>
              <a:t>사업계획 취합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="" xmlns:a16="http://schemas.microsoft.com/office/drawing/2014/main" id="{EE6B892F-0F1D-4B34-ABE4-37BC9198A787}"/>
              </a:ext>
            </a:extLst>
          </p:cNvPr>
          <p:cNvSpPr/>
          <p:nvPr/>
        </p:nvSpPr>
        <p:spPr bwMode="auto">
          <a:xfrm>
            <a:off x="6645188" y="364665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사업계획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3" name="Shape 266">
            <a:extLst>
              <a:ext uri="{FF2B5EF4-FFF2-40B4-BE49-F238E27FC236}">
                <a16:creationId xmlns="" xmlns:a16="http://schemas.microsoft.com/office/drawing/2014/main" id="{200486F7-A9E9-471F-9303-76449E812FF4}"/>
              </a:ext>
            </a:extLst>
          </p:cNvPr>
          <p:cNvCxnSpPr>
            <a:cxnSpLocks noChangeShapeType="1"/>
            <a:stCxn id="71" idx="0"/>
            <a:endCxn id="80" idx="2"/>
          </p:cNvCxnSpPr>
          <p:nvPr/>
        </p:nvCxnSpPr>
        <p:spPr bwMode="auto">
          <a:xfrm flipV="1">
            <a:off x="5415236" y="4703085"/>
            <a:ext cx="0" cy="2053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>
            <a:extLst>
              <a:ext uri="{FF2B5EF4-FFF2-40B4-BE49-F238E27FC236}">
                <a16:creationId xmlns="" xmlns:a16="http://schemas.microsoft.com/office/drawing/2014/main" id="{9F56E6CB-2C65-450C-B7C6-2D262A3A35BF}"/>
              </a:ext>
            </a:extLst>
          </p:cNvPr>
          <p:cNvCxnSpPr>
            <a:cxnSpLocks noChangeShapeType="1"/>
            <a:stCxn id="82" idx="0"/>
            <a:endCxn id="87" idx="2"/>
          </p:cNvCxnSpPr>
          <p:nvPr/>
        </p:nvCxnSpPr>
        <p:spPr bwMode="auto">
          <a:xfrm flipV="1">
            <a:off x="8679585" y="2947605"/>
            <a:ext cx="170" cy="6990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직사각형 74">
            <a:extLst>
              <a:ext uri="{FF2B5EF4-FFF2-40B4-BE49-F238E27FC236}">
                <a16:creationId xmlns="" xmlns:a16="http://schemas.microsoft.com/office/drawing/2014/main" id="{C5E17638-3C94-4359-9A7E-2C7FA001BBFB}"/>
              </a:ext>
            </a:extLst>
          </p:cNvPr>
          <p:cNvSpPr/>
          <p:nvPr/>
        </p:nvSpPr>
        <p:spPr bwMode="auto">
          <a:xfrm>
            <a:off x="3367754" y="59165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</a:rPr>
              <a:t>사업계획 작성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76" name="Shape 266">
            <a:extLst>
              <a:ext uri="{FF2B5EF4-FFF2-40B4-BE49-F238E27FC236}">
                <a16:creationId xmlns="" xmlns:a16="http://schemas.microsoft.com/office/drawing/2014/main" id="{D02D0724-784E-4DB4-8396-F79C841EC21F}"/>
              </a:ext>
            </a:extLst>
          </p:cNvPr>
          <p:cNvCxnSpPr>
            <a:cxnSpLocks noChangeShapeType="1"/>
            <a:stCxn id="69" idx="2"/>
            <a:endCxn id="75" idx="1"/>
          </p:cNvCxnSpPr>
          <p:nvPr/>
        </p:nvCxnSpPr>
        <p:spPr bwMode="auto">
          <a:xfrm rot="16200000" flipH="1">
            <a:off x="2170716" y="4879889"/>
            <a:ext cx="1103020" cy="1291055"/>
          </a:xfrm>
          <a:prstGeom prst="bentConnector2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7" name="직사각형 76">
            <a:extLst>
              <a:ext uri="{FF2B5EF4-FFF2-40B4-BE49-F238E27FC236}">
                <a16:creationId xmlns="" xmlns:a16="http://schemas.microsoft.com/office/drawing/2014/main" id="{756A2DA0-E49B-43EA-9998-1E7947B1F048}"/>
              </a:ext>
            </a:extLst>
          </p:cNvPr>
          <p:cNvSpPr/>
          <p:nvPr/>
        </p:nvSpPr>
        <p:spPr bwMode="auto">
          <a:xfrm>
            <a:off x="3367754" y="537321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3. </a:t>
            </a:r>
            <a:r>
              <a:rPr lang="ko-KR" altLang="en-US" sz="900" kern="0" dirty="0">
                <a:solidFill>
                  <a:srgbClr val="197EC6"/>
                </a:solidFill>
              </a:rPr>
              <a:t>사업계획 승인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78" name="Shape 266">
            <a:extLst>
              <a:ext uri="{FF2B5EF4-FFF2-40B4-BE49-F238E27FC236}">
                <a16:creationId xmlns="" xmlns:a16="http://schemas.microsoft.com/office/drawing/2014/main" id="{F3378E86-EBBF-4870-9635-ED6629B191BD}"/>
              </a:ext>
            </a:extLst>
          </p:cNvPr>
          <p:cNvCxnSpPr>
            <a:cxnSpLocks noChangeShapeType="1"/>
            <a:stCxn id="77" idx="0"/>
            <a:endCxn id="71" idx="1"/>
          </p:cNvCxnSpPr>
          <p:nvPr/>
        </p:nvCxnSpPr>
        <p:spPr bwMode="auto">
          <a:xfrm rot="5400000" flipH="1" flipV="1">
            <a:off x="4239295" y="4575488"/>
            <a:ext cx="304401" cy="129105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>
            <a:extLst>
              <a:ext uri="{FF2B5EF4-FFF2-40B4-BE49-F238E27FC236}">
                <a16:creationId xmlns="" xmlns:a16="http://schemas.microsoft.com/office/drawing/2014/main" id="{E290BC30-C31A-45D7-AF0D-C7650A5D296E}"/>
              </a:ext>
            </a:extLst>
          </p:cNvPr>
          <p:cNvCxnSpPr>
            <a:cxnSpLocks noChangeShapeType="1"/>
            <a:stCxn id="75" idx="0"/>
            <a:endCxn id="77" idx="2"/>
          </p:cNvCxnSpPr>
          <p:nvPr/>
        </p:nvCxnSpPr>
        <p:spPr bwMode="auto">
          <a:xfrm flipV="1">
            <a:off x="3745967" y="5693987"/>
            <a:ext cx="0" cy="2225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" name="직사각형 79">
            <a:extLst>
              <a:ext uri="{FF2B5EF4-FFF2-40B4-BE49-F238E27FC236}">
                <a16:creationId xmlns="" xmlns:a16="http://schemas.microsoft.com/office/drawing/2014/main" id="{6FCF20F5-59AA-45A5-B7E8-3A95B5BCC471}"/>
              </a:ext>
            </a:extLst>
          </p:cNvPr>
          <p:cNvSpPr/>
          <p:nvPr/>
        </p:nvSpPr>
        <p:spPr bwMode="auto">
          <a:xfrm>
            <a:off x="5037023" y="438231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사업계획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1" name="Shape 266">
            <a:extLst>
              <a:ext uri="{FF2B5EF4-FFF2-40B4-BE49-F238E27FC236}">
                <a16:creationId xmlns="" xmlns:a16="http://schemas.microsoft.com/office/drawing/2014/main" id="{D14D1850-A20A-4CAF-A846-C93594F78777}"/>
              </a:ext>
            </a:extLst>
          </p:cNvPr>
          <p:cNvCxnSpPr>
            <a:cxnSpLocks noChangeShapeType="1"/>
            <a:stCxn id="80" idx="0"/>
            <a:endCxn id="72" idx="1"/>
          </p:cNvCxnSpPr>
          <p:nvPr/>
        </p:nvCxnSpPr>
        <p:spPr bwMode="auto">
          <a:xfrm rot="5400000" flipH="1" flipV="1">
            <a:off x="5742577" y="3479703"/>
            <a:ext cx="575271" cy="122995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>
            <a:extLst>
              <a:ext uri="{FF2B5EF4-FFF2-40B4-BE49-F238E27FC236}">
                <a16:creationId xmlns="" xmlns:a16="http://schemas.microsoft.com/office/drawing/2014/main" id="{FABCF880-D160-4ACF-A8C3-B828166601F6}"/>
              </a:ext>
            </a:extLst>
          </p:cNvPr>
          <p:cNvSpPr/>
          <p:nvPr/>
        </p:nvSpPr>
        <p:spPr bwMode="auto">
          <a:xfrm>
            <a:off x="8301372" y="3646657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사업계획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75">
            <a:extLst>
              <a:ext uri="{FF2B5EF4-FFF2-40B4-BE49-F238E27FC236}">
                <a16:creationId xmlns="" xmlns:a16="http://schemas.microsoft.com/office/drawing/2014/main" id="{F6284771-5438-4E61-815B-A7ADEAC6E97D}"/>
              </a:ext>
            </a:extLst>
          </p:cNvPr>
          <p:cNvGrpSpPr/>
          <p:nvPr/>
        </p:nvGrpSpPr>
        <p:grpSpPr>
          <a:xfrm>
            <a:off x="1696424" y="3702771"/>
            <a:ext cx="756425" cy="410305"/>
            <a:chOff x="1696424" y="2542858"/>
            <a:chExt cx="756425" cy="410305"/>
          </a:xfrm>
        </p:grpSpPr>
        <p:sp>
          <p:nvSpPr>
            <p:cNvPr id="84" name="직사각형 83">
              <a:extLst>
                <a:ext uri="{FF2B5EF4-FFF2-40B4-BE49-F238E27FC236}">
                  <a16:creationId xmlns="" xmlns:a16="http://schemas.microsoft.com/office/drawing/2014/main" id="{C4FC3EE6-99BE-40A5-AA19-48ECD614AA12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85" name="육각형 84">
              <a:extLst>
                <a:ext uri="{FF2B5EF4-FFF2-40B4-BE49-F238E27FC236}">
                  <a16:creationId xmlns="" xmlns:a16="http://schemas.microsoft.com/office/drawing/2014/main" id="{B2203D34-630E-40F6-82D4-757240EE7F3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매년 초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74">
            <a:extLst>
              <a:ext uri="{FF2B5EF4-FFF2-40B4-BE49-F238E27FC236}">
                <a16:creationId xmlns="" xmlns:a16="http://schemas.microsoft.com/office/drawing/2014/main" id="{96E0390A-0161-47CE-A6E4-61D957CFBA79}"/>
              </a:ext>
            </a:extLst>
          </p:cNvPr>
          <p:cNvGrpSpPr/>
          <p:nvPr/>
        </p:nvGrpSpPr>
        <p:grpSpPr>
          <a:xfrm>
            <a:off x="8301372" y="2542858"/>
            <a:ext cx="756425" cy="410305"/>
            <a:chOff x="8315229" y="2542858"/>
            <a:chExt cx="756425" cy="410305"/>
          </a:xfrm>
        </p:grpSpPr>
        <p:sp>
          <p:nvSpPr>
            <p:cNvPr id="87" name="직사각형 86">
              <a:extLst>
                <a:ext uri="{FF2B5EF4-FFF2-40B4-BE49-F238E27FC236}">
                  <a16:creationId xmlns="" xmlns:a16="http://schemas.microsoft.com/office/drawing/2014/main" id="{08EC2016-4C29-44E8-AC14-F0F928F1BDF2}"/>
                </a:ext>
              </a:extLst>
            </p:cNvPr>
            <p:cNvSpPr/>
            <p:nvPr/>
          </p:nvSpPr>
          <p:spPr>
            <a:xfrm>
              <a:off x="8443711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88" name="육각형 87">
              <a:extLst>
                <a:ext uri="{FF2B5EF4-FFF2-40B4-BE49-F238E27FC236}">
                  <a16:creationId xmlns="" xmlns:a16="http://schemas.microsoft.com/office/drawing/2014/main" id="{E7E225E2-0CEB-4B22-8572-0397E8D68BB5}"/>
                </a:ext>
              </a:extLst>
            </p:cNvPr>
            <p:cNvSpPr/>
            <p:nvPr/>
          </p:nvSpPr>
          <p:spPr bwMode="auto">
            <a:xfrm>
              <a:off x="8315229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사업계획 확인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89" name="Shape 266">
            <a:extLst>
              <a:ext uri="{FF2B5EF4-FFF2-40B4-BE49-F238E27FC236}">
                <a16:creationId xmlns="" xmlns:a16="http://schemas.microsoft.com/office/drawing/2014/main" id="{C5DBAB6F-66C9-4A5E-9798-DA54557F5829}"/>
              </a:ext>
            </a:extLst>
          </p:cNvPr>
          <p:cNvCxnSpPr>
            <a:cxnSpLocks noChangeShapeType="1"/>
            <a:stCxn id="72" idx="3"/>
            <a:endCxn id="82" idx="1"/>
          </p:cNvCxnSpPr>
          <p:nvPr/>
        </p:nvCxnSpPr>
        <p:spPr bwMode="auto">
          <a:xfrm>
            <a:off x="7401613" y="3807043"/>
            <a:ext cx="89975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2447984" y="4689140"/>
            <a:ext cx="236764" cy="282225"/>
            <a:chOff x="3031001" y="4549936"/>
            <a:chExt cx="248467" cy="282225"/>
          </a:xfrm>
        </p:grpSpPr>
        <p:sp>
          <p:nvSpPr>
            <p:cNvPr id="91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7" y="4644665"/>
              <a:ext cx="158411" cy="58420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665003" y="4716677"/>
            <a:ext cx="193995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기금사업만 해당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세부사업별 당해년도 포함 향후 </a:t>
            </a:r>
            <a:r>
              <a:rPr kumimoji="1" lang="en-US" altLang="ko-KR" sz="800" kern="0" dirty="0">
                <a:solidFill>
                  <a:srgbClr val="0070C0"/>
                </a:solidFill>
              </a:rPr>
              <a:t>5</a:t>
            </a:r>
            <a:r>
              <a:rPr kumimoji="1" lang="ko-KR" altLang="en-US" sz="800" kern="0" dirty="0">
                <a:solidFill>
                  <a:srgbClr val="0070C0"/>
                </a:solidFill>
              </a:rPr>
              <a:t>개년도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</a:endParaRPr>
          </a:p>
        </p:txBody>
      </p:sp>
      <p:grpSp>
        <p:nvGrpSpPr>
          <p:cNvPr id="8" name="그룹 89">
            <a:extLst>
              <a:ext uri="{FF2B5EF4-FFF2-40B4-BE49-F238E27FC236}">
                <a16:creationId xmlns="" xmlns:a16="http://schemas.microsoft.com/office/drawing/2014/main" id="{9017ACDD-4085-43E5-A251-E14ABF71ABFD}"/>
              </a:ext>
            </a:extLst>
          </p:cNvPr>
          <p:cNvGrpSpPr/>
          <p:nvPr/>
        </p:nvGrpSpPr>
        <p:grpSpPr>
          <a:xfrm>
            <a:off x="8149002" y="3965795"/>
            <a:ext cx="484267" cy="939369"/>
            <a:chOff x="3031001" y="4008185"/>
            <a:chExt cx="508205" cy="939369"/>
          </a:xfrm>
        </p:grpSpPr>
        <p:sp>
          <p:nvSpPr>
            <p:cNvPr id="95" name="Line 175">
              <a:extLst>
                <a:ext uri="{FF2B5EF4-FFF2-40B4-BE49-F238E27FC236}">
                  <a16:creationId xmlns="" xmlns:a16="http://schemas.microsoft.com/office/drawing/2014/main" id="{4E96CA2C-8458-4850-8117-D0B0D160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6" y="4008185"/>
              <a:ext cx="418150" cy="636481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6" name="Freeform 176">
              <a:extLst>
                <a:ext uri="{FF2B5EF4-FFF2-40B4-BE49-F238E27FC236}">
                  <a16:creationId xmlns="" xmlns:a16="http://schemas.microsoft.com/office/drawing/2014/main" id="{629A2A07-89CD-4391-B53F-497CD6540A1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33226"/>
              <a:ext cx="90052" cy="41432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7" name="Rectangle 179">
            <a:extLst>
              <a:ext uri="{FF2B5EF4-FFF2-40B4-BE49-F238E27FC236}">
                <a16:creationId xmlns="" xmlns:a16="http://schemas.microsoft.com/office/drawing/2014/main" id="{B323447B-2552-4950-889C-4554BA94C5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17196" y="4511485"/>
            <a:ext cx="146781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b="1" kern="0" noProof="0" dirty="0">
                <a:solidFill>
                  <a:prstClr val="black"/>
                </a:solidFill>
              </a:rPr>
              <a:t>공단 예산담당자가 문체부</a:t>
            </a:r>
            <a:r>
              <a:rPr kumimoji="1" lang="en-US" altLang="ko-KR" sz="800" b="1" kern="0" noProof="0" dirty="0">
                <a:solidFill>
                  <a:prstClr val="black"/>
                </a:solidFill>
              </a:rPr>
              <a:t>ID</a:t>
            </a:r>
            <a:r>
              <a:rPr kumimoji="1" lang="ko-KR" altLang="en-US" sz="800" b="1" kern="0" noProof="0" dirty="0">
                <a:solidFill>
                  <a:prstClr val="black"/>
                </a:solidFill>
              </a:rPr>
              <a:t>를 이용</a:t>
            </a:r>
            <a:r>
              <a:rPr kumimoji="1" lang="ko-KR" altLang="en-US" sz="800" kern="0" noProof="0" dirty="0">
                <a:solidFill>
                  <a:prstClr val="black"/>
                </a:solidFill>
              </a:rPr>
              <a:t>하여 세부사업별 중기사업계획을 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dBrain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에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 </a:t>
            </a:r>
            <a:r>
              <a:rPr kumimoji="1" lang="ko-KR" altLang="en-US" sz="800" kern="0" noProof="0" dirty="0">
                <a:solidFill>
                  <a:prstClr val="black"/>
                </a:solidFill>
              </a:rPr>
              <a:t>등록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59515408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중기사업계획의 기금사업을 진행하는 사업부서에 중기사업계획작성을 요청할 수 있도록 추가하여 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3.2.2.1 </a:t>
            </a:r>
            <a:r>
              <a:rPr lang="ko-KR" altLang="en-US" dirty="0"/>
              <a:t>중기사업계획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637577"/>
              </p:ext>
            </p:extLst>
          </p:nvPr>
        </p:nvGraphicFramePr>
        <p:xfrm>
          <a:off x="344488" y="1604186"/>
          <a:ext cx="9180513" cy="320040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 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사업계획작성요청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기금사업을 진행하는 사업부서에 중기사업계획작성을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중기사업계획 작성에 필요한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요청받은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사업부서는 </a:t>
                      </a:r>
                      <a:r>
                        <a:rPr lang="ko-KR" altLang="en-US" sz="10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당해년도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포함 향후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 년도의 중기사업계획을 작성하여 내부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개년 중기 사업계획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중기사업계획 내부 승인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개년 중기 사업 계획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통합재무정보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사업계획취합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사업부서별 내부 </a:t>
                      </a:r>
                      <a:r>
                        <a:rPr lang="ko-KR" altLang="en-US" sz="10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승인완료된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중기사업계획을 취합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개년 중기 사업계획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통합재무정보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취합된 중기사업계획을 문화체육관광부에 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개년 중기 사업계획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중기사업계획 승인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처리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개년 중기 사업계획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문화체육관광부에서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승인된 중기사업계획을 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dBrain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 등록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개년 중기 사업계획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dBrain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789618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예산편성 효율화를 위해 정형화된 예산편성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내역사업 도입 등 편성준비 과정을 강화하고 예산요구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예산조정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예산심의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예산확정업무도 이러한 신개념이 적용되도록 업무프로세스를 변경함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예산편성 </a:t>
            </a:r>
            <a:r>
              <a:rPr lang="en-US" altLang="ko-KR" dirty="0"/>
              <a:t>(1/6)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예산편성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/>
          </p:nvPr>
        </p:nvGraphicFramePr>
        <p:xfrm>
          <a:off x="344488" y="1918800"/>
          <a:ext cx="9181020" cy="4328932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1.1.2.1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편성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준비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70946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601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82528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사업수행사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2" name="TextBox 141"/>
          <p:cNvSpPr txBox="1"/>
          <p:nvPr/>
        </p:nvSpPr>
        <p:spPr>
          <a:xfrm>
            <a:off x="4297246" y="2495486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grpSp>
        <p:nvGrpSpPr>
          <p:cNvPr id="5" name="그룹 41"/>
          <p:cNvGrpSpPr/>
          <p:nvPr/>
        </p:nvGrpSpPr>
        <p:grpSpPr>
          <a:xfrm>
            <a:off x="1496616" y="2504962"/>
            <a:ext cx="756425" cy="410305"/>
            <a:chOff x="1748643" y="2622651"/>
            <a:chExt cx="756425" cy="410305"/>
          </a:xfrm>
        </p:grpSpPr>
        <p:sp>
          <p:nvSpPr>
            <p:cNvPr id="156" name="직사각형 155"/>
            <p:cNvSpPr/>
            <p:nvPr/>
          </p:nvSpPr>
          <p:spPr>
            <a:xfrm>
              <a:off x="1877125" y="26336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57" name="육각형 156"/>
            <p:cNvSpPr/>
            <p:nvPr/>
          </p:nvSpPr>
          <p:spPr bwMode="auto">
            <a:xfrm>
              <a:off x="1748643" y="26226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매년 </a:t>
              </a:r>
              <a:r>
                <a:rPr lang="en-US" altLang="ko-KR" sz="900" kern="0" dirty="0">
                  <a:solidFill>
                    <a:prstClr val="black"/>
                  </a:solidFill>
                </a:rPr>
                <a:t>4</a:t>
              </a:r>
              <a:r>
                <a:rPr lang="ko-KR" altLang="en-US" sz="900" kern="0" dirty="0">
                  <a:solidFill>
                    <a:prstClr val="black"/>
                  </a:solidFill>
                </a:rPr>
                <a:t>월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58" name="직사각형 157"/>
          <p:cNvSpPr/>
          <p:nvPr/>
        </p:nvSpPr>
        <p:spPr bwMode="auto">
          <a:xfrm>
            <a:off x="5204687" y="3053273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3. </a:t>
            </a:r>
            <a:r>
              <a:rPr lang="ko-KR" altLang="en-US" sz="900" kern="0" dirty="0">
                <a:solidFill>
                  <a:srgbClr val="015EBB"/>
                </a:solidFill>
              </a:rPr>
              <a:t>정형화 예산 테이블현행화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59" name="순서도: 판단 58"/>
          <p:cNvSpPr>
            <a:spLocks noChangeAspect="1" noChangeArrowheads="1"/>
          </p:cNvSpPr>
          <p:nvPr/>
        </p:nvSpPr>
        <p:spPr bwMode="auto">
          <a:xfrm>
            <a:off x="3413673" y="2487559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15EBB"/>
                </a:solidFill>
              </a:rPr>
              <a:t>예산과목</a:t>
            </a:r>
            <a:endParaRPr lang="en-US" altLang="ko-KR" sz="900" kern="0" dirty="0">
              <a:solidFill>
                <a:srgbClr val="015EBB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015EBB"/>
                </a:solidFill>
              </a:rPr>
              <a:t>변경</a:t>
            </a:r>
          </a:p>
        </p:txBody>
      </p:sp>
      <p:sp>
        <p:nvSpPr>
          <p:cNvPr id="160" name="직사각형 159"/>
          <p:cNvSpPr/>
          <p:nvPr/>
        </p:nvSpPr>
        <p:spPr bwMode="auto">
          <a:xfrm>
            <a:off x="2432720" y="25511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국가예산 지침 검토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61" name="Shape 266"/>
          <p:cNvCxnSpPr>
            <a:cxnSpLocks noChangeShapeType="1"/>
            <a:stCxn id="157" idx="0"/>
            <a:endCxn id="160" idx="1"/>
          </p:cNvCxnSpPr>
          <p:nvPr/>
        </p:nvCxnSpPr>
        <p:spPr bwMode="auto">
          <a:xfrm>
            <a:off x="2253041" y="2710115"/>
            <a:ext cx="179679" cy="1372"/>
          </a:xfrm>
          <a:prstGeom prst="straightConnector1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2" name="Shape 266"/>
          <p:cNvCxnSpPr>
            <a:cxnSpLocks noChangeShapeType="1"/>
            <a:stCxn id="160" idx="3"/>
            <a:endCxn id="159" idx="1"/>
          </p:cNvCxnSpPr>
          <p:nvPr/>
        </p:nvCxnSpPr>
        <p:spPr bwMode="auto">
          <a:xfrm flipV="1">
            <a:off x="3189145" y="2711486"/>
            <a:ext cx="224528" cy="1"/>
          </a:xfrm>
          <a:prstGeom prst="straightConnector1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" name="Shape 266"/>
          <p:cNvCxnSpPr>
            <a:cxnSpLocks noChangeShapeType="1"/>
            <a:stCxn id="159" idx="2"/>
            <a:endCxn id="177" idx="1"/>
          </p:cNvCxnSpPr>
          <p:nvPr/>
        </p:nvCxnSpPr>
        <p:spPr bwMode="auto">
          <a:xfrm rot="16200000" flipH="1">
            <a:off x="3908544" y="2907148"/>
            <a:ext cx="276663" cy="333190"/>
          </a:xfrm>
          <a:prstGeom prst="bentConnector2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4" name="TextBox 163"/>
          <p:cNvSpPr txBox="1"/>
          <p:nvPr/>
        </p:nvSpPr>
        <p:spPr>
          <a:xfrm>
            <a:off x="3866522" y="2911718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65" name="순서도: 판단 58"/>
          <p:cNvSpPr>
            <a:spLocks noChangeAspect="1" noChangeArrowheads="1"/>
          </p:cNvSpPr>
          <p:nvPr/>
        </p:nvSpPr>
        <p:spPr bwMode="auto">
          <a:xfrm>
            <a:off x="6196279" y="2989731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  <a:ex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15EBB"/>
                </a:solidFill>
              </a:rPr>
              <a:t>기준액</a:t>
            </a:r>
            <a:r>
              <a:rPr lang="en-US" altLang="ko-KR" sz="900" kern="0" dirty="0">
                <a:solidFill>
                  <a:srgbClr val="015EBB"/>
                </a:solidFill>
              </a:rPr>
              <a:t>(</a:t>
            </a:r>
            <a:r>
              <a:rPr lang="ko-KR" altLang="en-US" sz="900" kern="0" dirty="0">
                <a:solidFill>
                  <a:srgbClr val="015EBB"/>
                </a:solidFill>
              </a:rPr>
              <a:t>요율</a:t>
            </a:r>
            <a:r>
              <a:rPr lang="en-US" altLang="ko-KR" sz="900" kern="0" dirty="0">
                <a:solidFill>
                  <a:srgbClr val="015EBB"/>
                </a:solidFill>
              </a:rPr>
              <a:t>)</a:t>
            </a:r>
          </a:p>
          <a:p>
            <a:pPr algn="ctr" latinLnBrk="0"/>
            <a:r>
              <a:rPr lang="ko-KR" altLang="en-US" sz="900" kern="0" dirty="0">
                <a:solidFill>
                  <a:srgbClr val="015EBB"/>
                </a:solidFill>
              </a:rPr>
              <a:t>변경</a:t>
            </a:r>
          </a:p>
        </p:txBody>
      </p:sp>
      <p:cxnSp>
        <p:nvCxnSpPr>
          <p:cNvPr id="166" name="Shape 266"/>
          <p:cNvCxnSpPr>
            <a:cxnSpLocks noChangeShapeType="1"/>
            <a:stCxn id="159" idx="3"/>
            <a:endCxn id="165" idx="0"/>
          </p:cNvCxnSpPr>
          <p:nvPr/>
        </p:nvCxnSpPr>
        <p:spPr bwMode="auto">
          <a:xfrm>
            <a:off x="4346887" y="2711486"/>
            <a:ext cx="2315999" cy="278245"/>
          </a:xfrm>
          <a:prstGeom prst="bentConnector2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7" name="Shape 266"/>
          <p:cNvCxnSpPr>
            <a:cxnSpLocks noChangeShapeType="1"/>
            <a:stCxn id="158" idx="3"/>
            <a:endCxn id="165" idx="1"/>
          </p:cNvCxnSpPr>
          <p:nvPr/>
        </p:nvCxnSpPr>
        <p:spPr bwMode="auto">
          <a:xfrm flipV="1">
            <a:off x="5961112" y="3213658"/>
            <a:ext cx="235167" cy="1"/>
          </a:xfrm>
          <a:prstGeom prst="straightConnector1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8" name="직사각형 167"/>
          <p:cNvSpPr/>
          <p:nvPr/>
        </p:nvSpPr>
        <p:spPr bwMode="auto">
          <a:xfrm>
            <a:off x="7009943" y="3500870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4. </a:t>
            </a:r>
            <a:r>
              <a:rPr lang="ko-KR" altLang="en-US" sz="900" kern="0" dirty="0">
                <a:solidFill>
                  <a:srgbClr val="015EBB"/>
                </a:solidFill>
              </a:rPr>
              <a:t>기준단가 </a:t>
            </a:r>
            <a:r>
              <a:rPr lang="en-US" altLang="ko-KR" sz="900" kern="0" dirty="0">
                <a:solidFill>
                  <a:srgbClr val="015EBB"/>
                </a:solidFill>
              </a:rPr>
              <a:t>(</a:t>
            </a:r>
            <a:r>
              <a:rPr lang="ko-KR" altLang="en-US" sz="900" kern="0" dirty="0">
                <a:solidFill>
                  <a:srgbClr val="015EBB"/>
                </a:solidFill>
              </a:rPr>
              <a:t>요율</a:t>
            </a:r>
            <a:r>
              <a:rPr lang="en-US" altLang="ko-KR" sz="900" kern="0" dirty="0">
                <a:solidFill>
                  <a:srgbClr val="015EBB"/>
                </a:solidFill>
              </a:rPr>
              <a:t>)</a:t>
            </a:r>
            <a:r>
              <a:rPr lang="ko-KR" altLang="en-US" sz="900" kern="0" dirty="0">
                <a:solidFill>
                  <a:srgbClr val="015EBB"/>
                </a:solidFill>
              </a:rPr>
              <a:t>현행화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69" name="직사각형 168"/>
          <p:cNvSpPr/>
          <p:nvPr/>
        </p:nvSpPr>
        <p:spPr bwMode="auto">
          <a:xfrm>
            <a:off x="8004552" y="35008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예산 편성 지침 시달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70" name="Shape 266"/>
          <p:cNvCxnSpPr>
            <a:cxnSpLocks noChangeShapeType="1"/>
            <a:stCxn id="168" idx="3"/>
            <a:endCxn id="169" idx="1"/>
          </p:cNvCxnSpPr>
          <p:nvPr/>
        </p:nvCxnSpPr>
        <p:spPr bwMode="auto">
          <a:xfrm flipV="1">
            <a:off x="7766368" y="3661255"/>
            <a:ext cx="238184" cy="1"/>
          </a:xfrm>
          <a:prstGeom prst="straightConnector1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1" name="타원 170"/>
          <p:cNvSpPr/>
          <p:nvPr/>
        </p:nvSpPr>
        <p:spPr>
          <a:xfrm>
            <a:off x="8999158" y="356837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wrap="square"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72" name="Shape 266"/>
          <p:cNvCxnSpPr>
            <a:cxnSpLocks noChangeShapeType="1"/>
            <a:stCxn id="165" idx="3"/>
            <a:endCxn id="169" idx="0"/>
          </p:cNvCxnSpPr>
          <p:nvPr/>
        </p:nvCxnSpPr>
        <p:spPr bwMode="auto">
          <a:xfrm>
            <a:off x="7129493" y="3213658"/>
            <a:ext cx="1253272" cy="287211"/>
          </a:xfrm>
          <a:prstGeom prst="bentConnector2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3" name="Shape 266"/>
          <p:cNvCxnSpPr>
            <a:cxnSpLocks noChangeShapeType="1"/>
            <a:stCxn id="165" idx="2"/>
            <a:endCxn id="168" idx="1"/>
          </p:cNvCxnSpPr>
          <p:nvPr/>
        </p:nvCxnSpPr>
        <p:spPr bwMode="auto">
          <a:xfrm rot="16200000" flipH="1">
            <a:off x="6724578" y="3375891"/>
            <a:ext cx="223672" cy="347057"/>
          </a:xfrm>
          <a:prstGeom prst="bentConnector2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4" name="TextBox 173"/>
          <p:cNvSpPr txBox="1"/>
          <p:nvPr/>
        </p:nvSpPr>
        <p:spPr>
          <a:xfrm>
            <a:off x="7077144" y="2987899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175" name="TextBox 174"/>
          <p:cNvSpPr txBox="1"/>
          <p:nvPr/>
        </p:nvSpPr>
        <p:spPr>
          <a:xfrm>
            <a:off x="6646420" y="3404131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cxnSp>
        <p:nvCxnSpPr>
          <p:cNvPr id="176" name="Shape 266"/>
          <p:cNvCxnSpPr>
            <a:cxnSpLocks noChangeShapeType="1"/>
            <a:stCxn id="169" idx="3"/>
            <a:endCxn id="171" idx="2"/>
          </p:cNvCxnSpPr>
          <p:nvPr/>
        </p:nvCxnSpPr>
        <p:spPr bwMode="auto">
          <a:xfrm flipV="1">
            <a:off x="8760977" y="3661254"/>
            <a:ext cx="238181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7" name="직사각형 176"/>
          <p:cNvSpPr/>
          <p:nvPr/>
        </p:nvSpPr>
        <p:spPr bwMode="auto">
          <a:xfrm>
            <a:off x="4213470" y="3051689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2. </a:t>
            </a:r>
            <a:r>
              <a:rPr lang="ko-KR" altLang="en-US" sz="900" kern="0" dirty="0">
                <a:solidFill>
                  <a:srgbClr val="015EBB"/>
                </a:solidFill>
              </a:rPr>
              <a:t>예산과목 및 코드 정비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78" name="Shape 266"/>
          <p:cNvCxnSpPr>
            <a:cxnSpLocks noChangeShapeType="1"/>
            <a:stCxn id="177" idx="3"/>
            <a:endCxn id="158" idx="1"/>
          </p:cNvCxnSpPr>
          <p:nvPr/>
        </p:nvCxnSpPr>
        <p:spPr bwMode="auto">
          <a:xfrm>
            <a:off x="4969895" y="3212075"/>
            <a:ext cx="234792" cy="1584"/>
          </a:xfrm>
          <a:prstGeom prst="straightConnector1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09093823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예산편성 효율화를 위해 정형화된 예산편성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내역사업 도입 등 편성준비 과정을 강화하고 예산요구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예산요구조정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예산심의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예산확정업무도 이러한 신개념이 적용되도록 업무프로세스를 변경함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예산편성 </a:t>
            </a:r>
            <a:r>
              <a:rPr lang="en-US" altLang="ko-KR" dirty="0"/>
              <a:t>(2/6)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예산편성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7169335"/>
              </p:ext>
            </p:extLst>
          </p:nvPr>
        </p:nvGraphicFramePr>
        <p:xfrm>
          <a:off x="344488" y="1918800"/>
          <a:ext cx="9181020" cy="4328932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80831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4366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1.1.2.2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1.1.2.3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예산요구조정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70946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601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82528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사업수행사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119" name="Shape 266"/>
          <p:cNvCxnSpPr>
            <a:cxnSpLocks noChangeShapeType="1"/>
            <a:stCxn id="77" idx="4"/>
            <a:endCxn id="121" idx="1"/>
          </p:cNvCxnSpPr>
          <p:nvPr/>
        </p:nvCxnSpPr>
        <p:spPr bwMode="auto">
          <a:xfrm rot="16200000" flipH="1">
            <a:off x="875515" y="3832961"/>
            <a:ext cx="1847414" cy="25888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0" name="Shape 266"/>
          <p:cNvCxnSpPr>
            <a:cxnSpLocks noChangeShapeType="1"/>
            <a:stCxn id="123" idx="3"/>
            <a:endCxn id="132" idx="1"/>
          </p:cNvCxnSpPr>
          <p:nvPr/>
        </p:nvCxnSpPr>
        <p:spPr bwMode="auto">
          <a:xfrm>
            <a:off x="7154155" y="2932847"/>
            <a:ext cx="43002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직사각형 120"/>
          <p:cNvSpPr/>
          <p:nvPr/>
        </p:nvSpPr>
        <p:spPr bwMode="auto">
          <a:xfrm>
            <a:off x="1928664" y="472572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6. </a:t>
            </a:r>
            <a:r>
              <a:rPr lang="ko-KR" altLang="en-US" sz="900" kern="0" dirty="0">
                <a:solidFill>
                  <a:srgbClr val="015EBB"/>
                </a:solidFill>
              </a:rPr>
              <a:t>예산요구서 작성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22" name="Shape 266"/>
          <p:cNvCxnSpPr>
            <a:cxnSpLocks noChangeShapeType="1"/>
            <a:stCxn id="126" idx="0"/>
            <a:endCxn id="124" idx="1"/>
          </p:cNvCxnSpPr>
          <p:nvPr/>
        </p:nvCxnSpPr>
        <p:spPr bwMode="auto">
          <a:xfrm rot="5400000" flipH="1" flipV="1">
            <a:off x="3273680" y="3081828"/>
            <a:ext cx="1252237" cy="95427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" name="직사각형 122"/>
          <p:cNvSpPr/>
          <p:nvPr/>
        </p:nvSpPr>
        <p:spPr bwMode="auto">
          <a:xfrm>
            <a:off x="6397730" y="277246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solidFill>
                  <a:srgbClr val="015EBB"/>
                </a:solidFill>
              </a:rPr>
              <a:t>13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015EBB"/>
                </a:solidFill>
                <a:effectLst/>
                <a:uLnTx/>
                <a:uFillTx/>
              </a:rPr>
              <a:t>.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15EBB"/>
                </a:solidFill>
                <a:effectLst/>
                <a:uLnTx/>
                <a:uFillTx/>
              </a:rPr>
              <a:t>예산</a:t>
            </a:r>
            <a:r>
              <a:rPr lang="ko-KR" altLang="en-US" sz="900" kern="0" dirty="0">
                <a:solidFill>
                  <a:srgbClr val="015EBB"/>
                </a:solidFill>
              </a:rPr>
              <a:t>요구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15EBB"/>
                </a:solidFill>
                <a:effectLst/>
                <a:uLnTx/>
                <a:uFillTx/>
              </a:rPr>
              <a:t>조정</a:t>
            </a:r>
            <a:endParaRPr kumimoji="0" lang="en-US" altLang="ko-KR" sz="900" b="0" i="0" u="none" strike="noStrike" kern="0" cap="none" spc="0" normalizeH="0" baseline="0" noProof="0" dirty="0">
              <a:ln>
                <a:noFill/>
              </a:ln>
              <a:solidFill>
                <a:srgbClr val="015EBB"/>
              </a:solidFill>
              <a:effectLst/>
              <a:uLnTx/>
              <a:uFillTx/>
            </a:endParaRPr>
          </a:p>
        </p:txBody>
      </p:sp>
      <p:sp>
        <p:nvSpPr>
          <p:cNvPr id="124" name="직사각형 123"/>
          <p:cNvSpPr/>
          <p:nvPr/>
        </p:nvSpPr>
        <p:spPr bwMode="auto">
          <a:xfrm>
            <a:off x="4376936" y="277246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solidFill>
                  <a:prstClr val="black"/>
                </a:solidFill>
              </a:rPr>
              <a:t>9.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예산 요구서 취합</a:t>
            </a:r>
            <a:endParaRPr kumimoji="0" lang="en-US" altLang="ko-KR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6" name="직사각형 125"/>
          <p:cNvSpPr/>
          <p:nvPr/>
        </p:nvSpPr>
        <p:spPr bwMode="auto">
          <a:xfrm>
            <a:off x="3044447" y="418508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예산 요구서 </a:t>
            </a:r>
            <a:r>
              <a:rPr lang="en-US" altLang="ko-KR" sz="900" kern="0" dirty="0">
                <a:solidFill>
                  <a:prstClr val="black"/>
                </a:solidFill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27" name="Shape 266"/>
          <p:cNvCxnSpPr>
            <a:cxnSpLocks noChangeShapeType="1"/>
            <a:stCxn id="121" idx="3"/>
            <a:endCxn id="144" idx="1"/>
          </p:cNvCxnSpPr>
          <p:nvPr/>
        </p:nvCxnSpPr>
        <p:spPr bwMode="auto">
          <a:xfrm>
            <a:off x="2685089" y="4886110"/>
            <a:ext cx="35935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" name="순서도: 판단 58"/>
          <p:cNvSpPr>
            <a:spLocks noChangeAspect="1" noChangeArrowheads="1"/>
          </p:cNvSpPr>
          <p:nvPr/>
        </p:nvSpPr>
        <p:spPr bwMode="auto">
          <a:xfrm>
            <a:off x="7584182" y="2708920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기금회계</a:t>
            </a:r>
          </a:p>
        </p:txBody>
      </p:sp>
      <p:sp>
        <p:nvSpPr>
          <p:cNvPr id="133" name="직사각형 132"/>
          <p:cNvSpPr/>
          <p:nvPr/>
        </p:nvSpPr>
        <p:spPr bwMode="auto">
          <a:xfrm>
            <a:off x="4376936" y="566124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사업계획 제출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34" name="직사각형 133"/>
          <p:cNvSpPr/>
          <p:nvPr/>
        </p:nvSpPr>
        <p:spPr bwMode="auto">
          <a:xfrm>
            <a:off x="4339114" y="3468269"/>
            <a:ext cx="832068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</a:rPr>
              <a:t>사업계획서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35" name="타원 134"/>
          <p:cNvSpPr/>
          <p:nvPr/>
        </p:nvSpPr>
        <p:spPr>
          <a:xfrm>
            <a:off x="9021452" y="283984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wrap="square"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36" name="타원 135"/>
          <p:cNvSpPr/>
          <p:nvPr/>
        </p:nvSpPr>
        <p:spPr>
          <a:xfrm>
            <a:off x="9021452" y="326218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37" name="Shape 266"/>
          <p:cNvCxnSpPr>
            <a:cxnSpLocks noChangeShapeType="1"/>
            <a:stCxn id="77" idx="4"/>
            <a:endCxn id="133" idx="1"/>
          </p:cNvCxnSpPr>
          <p:nvPr/>
        </p:nvCxnSpPr>
        <p:spPr bwMode="auto">
          <a:xfrm rot="16200000" flipH="1">
            <a:off x="1631889" y="3076587"/>
            <a:ext cx="2782938" cy="270715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8" name="Shape 266"/>
          <p:cNvCxnSpPr>
            <a:cxnSpLocks noChangeShapeType="1"/>
            <a:stCxn id="133" idx="0"/>
            <a:endCxn id="134" idx="2"/>
          </p:cNvCxnSpPr>
          <p:nvPr/>
        </p:nvCxnSpPr>
        <p:spPr bwMode="auto">
          <a:xfrm flipH="1" flipV="1">
            <a:off x="4755148" y="3789040"/>
            <a:ext cx="1" cy="18722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9" name="Shape 266"/>
          <p:cNvCxnSpPr>
            <a:cxnSpLocks noChangeShapeType="1"/>
            <a:stCxn id="132" idx="2"/>
            <a:endCxn id="136" idx="2"/>
          </p:cNvCxnSpPr>
          <p:nvPr/>
        </p:nvCxnSpPr>
        <p:spPr bwMode="auto">
          <a:xfrm rot="16200000" flipH="1">
            <a:off x="8436975" y="2770586"/>
            <a:ext cx="198291" cy="97066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0" name="Shape 266"/>
          <p:cNvCxnSpPr>
            <a:cxnSpLocks noChangeShapeType="1"/>
            <a:stCxn id="132" idx="3"/>
            <a:endCxn id="135" idx="2"/>
          </p:cNvCxnSpPr>
          <p:nvPr/>
        </p:nvCxnSpPr>
        <p:spPr bwMode="auto">
          <a:xfrm flipV="1">
            <a:off x="8517396" y="2932726"/>
            <a:ext cx="504056" cy="12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2" name="TextBox 141"/>
          <p:cNvSpPr txBox="1"/>
          <p:nvPr/>
        </p:nvSpPr>
        <p:spPr>
          <a:xfrm>
            <a:off x="8407134" y="2730507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143" name="TextBox 142"/>
          <p:cNvSpPr txBox="1"/>
          <p:nvPr/>
        </p:nvSpPr>
        <p:spPr>
          <a:xfrm>
            <a:off x="8013340" y="3097663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44" name="직사각형 143"/>
          <p:cNvSpPr/>
          <p:nvPr/>
        </p:nvSpPr>
        <p:spPr bwMode="auto">
          <a:xfrm>
            <a:off x="3044447" y="472572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예산요구서 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45" name="Shape 266"/>
          <p:cNvCxnSpPr>
            <a:cxnSpLocks noChangeShapeType="1"/>
            <a:stCxn id="144" idx="0"/>
            <a:endCxn id="126" idx="2"/>
          </p:cNvCxnSpPr>
          <p:nvPr/>
        </p:nvCxnSpPr>
        <p:spPr bwMode="auto">
          <a:xfrm flipV="1">
            <a:off x="3422660" y="4505855"/>
            <a:ext cx="0" cy="2198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67"/>
          <p:cNvGrpSpPr/>
          <p:nvPr/>
        </p:nvGrpSpPr>
        <p:grpSpPr>
          <a:xfrm flipH="1">
            <a:off x="2126519" y="5046495"/>
            <a:ext cx="252784" cy="470737"/>
            <a:chOff x="3031001" y="4361424"/>
            <a:chExt cx="265280" cy="470737"/>
          </a:xfrm>
        </p:grpSpPr>
        <p:sp>
          <p:nvSpPr>
            <p:cNvPr id="147" name="Line 175"/>
            <p:cNvSpPr>
              <a:spLocks noChangeShapeType="1"/>
            </p:cNvSpPr>
            <p:nvPr/>
          </p:nvSpPr>
          <p:spPr bwMode="auto">
            <a:xfrm flipH="1">
              <a:off x="3121058" y="4361424"/>
              <a:ext cx="175223" cy="283241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8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49" name="Rectangle 179"/>
          <p:cNvSpPr>
            <a:spLocks noChangeArrowheads="1"/>
          </p:cNvSpPr>
          <p:nvPr/>
        </p:nvSpPr>
        <p:spPr bwMode="auto">
          <a:xfrm flipH="1">
            <a:off x="2359544" y="5262544"/>
            <a:ext cx="15133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법인회계 수행사업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기금보조사업 중 자체수행사업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" name="그룹 71"/>
          <p:cNvGrpSpPr/>
          <p:nvPr/>
        </p:nvGrpSpPr>
        <p:grpSpPr>
          <a:xfrm flipH="1">
            <a:off x="5673080" y="3789039"/>
            <a:ext cx="285076" cy="469789"/>
            <a:chOff x="3031001" y="4362372"/>
            <a:chExt cx="299167" cy="469789"/>
          </a:xfrm>
        </p:grpSpPr>
        <p:sp>
          <p:nvSpPr>
            <p:cNvPr id="151" name="Line 175"/>
            <p:cNvSpPr>
              <a:spLocks noChangeShapeType="1"/>
            </p:cNvSpPr>
            <p:nvPr/>
          </p:nvSpPr>
          <p:spPr bwMode="auto">
            <a:xfrm flipH="1">
              <a:off x="3121058" y="4362372"/>
              <a:ext cx="209110" cy="282292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2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3" name="Rectangle 179"/>
          <p:cNvSpPr>
            <a:spLocks noChangeArrowheads="1"/>
          </p:cNvSpPr>
          <p:nvPr/>
        </p:nvSpPr>
        <p:spPr bwMode="auto">
          <a:xfrm flipH="1">
            <a:off x="5941428" y="4004140"/>
            <a:ext cx="117181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기금보조사업 중 민간수행사업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7" name="타원 76"/>
          <p:cNvSpPr/>
          <p:nvPr/>
        </p:nvSpPr>
        <p:spPr>
          <a:xfrm>
            <a:off x="1568624" y="285293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wrap="square"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5492719" y="34682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12. </a:t>
            </a:r>
            <a:r>
              <a:rPr lang="ko-KR" altLang="en-US" sz="900" kern="0" dirty="0">
                <a:solidFill>
                  <a:srgbClr val="015EBB"/>
                </a:solidFill>
              </a:rPr>
              <a:t>기금회계 예산추가요구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81" name="Shape 266"/>
          <p:cNvCxnSpPr>
            <a:cxnSpLocks noChangeShapeType="1"/>
            <a:stCxn id="134" idx="3"/>
            <a:endCxn id="80" idx="1"/>
          </p:cNvCxnSpPr>
          <p:nvPr/>
        </p:nvCxnSpPr>
        <p:spPr bwMode="auto">
          <a:xfrm flipV="1">
            <a:off x="5171182" y="3628654"/>
            <a:ext cx="321537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" name="Shape 266"/>
          <p:cNvCxnSpPr>
            <a:cxnSpLocks noChangeShapeType="1"/>
            <a:stCxn id="124" idx="3"/>
            <a:endCxn id="123" idx="1"/>
          </p:cNvCxnSpPr>
          <p:nvPr/>
        </p:nvCxnSpPr>
        <p:spPr bwMode="auto">
          <a:xfrm>
            <a:off x="5133361" y="2932847"/>
            <a:ext cx="126436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" name="Shape 266"/>
          <p:cNvCxnSpPr>
            <a:cxnSpLocks noChangeShapeType="1"/>
            <a:stCxn id="80" idx="3"/>
            <a:endCxn id="123" idx="2"/>
          </p:cNvCxnSpPr>
          <p:nvPr/>
        </p:nvCxnSpPr>
        <p:spPr bwMode="auto">
          <a:xfrm flipV="1">
            <a:off x="6249144" y="3093232"/>
            <a:ext cx="526799" cy="53542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07839085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예산편성 효율화를 위해 정형화된 예산편성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내역사업 도입 등 편성준비 과정을 강화하고 예산요구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예산조정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예산심의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예산확정업무도 이러한 신개념이 적용되도록 업무프로세스를 변경함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예산편성 </a:t>
            </a:r>
            <a:r>
              <a:rPr lang="en-US" altLang="ko-KR" dirty="0"/>
              <a:t>(3/6)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예산편성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6" name="표 75"/>
          <p:cNvGraphicFramePr>
            <a:graphicFrameLocks noGrp="1"/>
          </p:cNvGraphicFramePr>
          <p:nvPr>
            <p:extLst/>
          </p:nvPr>
        </p:nvGraphicFramePr>
        <p:xfrm>
          <a:off x="344488" y="1918800"/>
          <a:ext cx="9181020" cy="4390521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633670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90821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1.1.2.4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예산심의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1.1.2.5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예산확정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85575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85575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기획재정부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85575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문화체육관광부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60446">
                <a:tc rowSpan="3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이사회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6044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기금운용심의회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9361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7" name="타원 76"/>
          <p:cNvSpPr/>
          <p:nvPr/>
        </p:nvSpPr>
        <p:spPr>
          <a:xfrm>
            <a:off x="1388604" y="5984047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78" name="타원 77"/>
          <p:cNvSpPr/>
          <p:nvPr/>
        </p:nvSpPr>
        <p:spPr>
          <a:xfrm>
            <a:off x="1388604" y="554873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3081133" y="591046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</a:rPr>
              <a:t>예산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사전협의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3080792" y="5481228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</a:rPr>
              <a:t>기금운용 계획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제출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4556615" y="36122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</a:rPr>
              <a:t>예산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심의 및 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4556614" y="590807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</a:rPr>
              <a:t>예산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심의요청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3" name="직사각형 82"/>
          <p:cNvSpPr/>
          <p:nvPr/>
        </p:nvSpPr>
        <p:spPr bwMode="auto">
          <a:xfrm>
            <a:off x="3080792" y="2996952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</a:rPr>
              <a:t>심의 및 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3080792" y="2455655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</a:rPr>
              <a:t>국회심의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7761312" y="2456892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</a:rPr>
              <a:t>기금운용 계획</a:t>
            </a:r>
            <a:r>
              <a:rPr lang="en-US" altLang="ko-KR" sz="900" kern="0" dirty="0">
                <a:solidFill>
                  <a:prstClr val="black"/>
                </a:solidFill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</a:rPr>
              <a:t>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6" name="직사각형 85"/>
          <p:cNvSpPr/>
          <p:nvPr/>
        </p:nvSpPr>
        <p:spPr bwMode="auto">
          <a:xfrm>
            <a:off x="5745088" y="42210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24. </a:t>
            </a:r>
            <a:r>
              <a:rPr lang="ko-KR" altLang="en-US" sz="900" kern="0" dirty="0">
                <a:solidFill>
                  <a:prstClr val="black"/>
                </a:solidFill>
              </a:rPr>
              <a:t>예산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의결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7" name="직사각형 86"/>
          <p:cNvSpPr/>
          <p:nvPr/>
        </p:nvSpPr>
        <p:spPr bwMode="auto">
          <a:xfrm>
            <a:off x="5745986" y="59165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25. </a:t>
            </a:r>
            <a:r>
              <a:rPr lang="ko-KR" altLang="en-US" sz="900" kern="0" dirty="0">
                <a:solidFill>
                  <a:prstClr val="black"/>
                </a:solidFill>
              </a:rPr>
              <a:t>예산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제출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8" name="직사각형 87"/>
          <p:cNvSpPr/>
          <p:nvPr/>
        </p:nvSpPr>
        <p:spPr bwMode="auto">
          <a:xfrm>
            <a:off x="6788863" y="36090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</a:rPr>
              <a:t>예산</a:t>
            </a:r>
            <a:r>
              <a:rPr lang="en-US" altLang="ko-KR" sz="900" kern="0" dirty="0">
                <a:solidFill>
                  <a:prstClr val="black"/>
                </a:solidFill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</a:rPr>
              <a:t>승인 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9" name="Shape 266"/>
          <p:cNvCxnSpPr>
            <a:cxnSpLocks noChangeShapeType="1"/>
            <a:stCxn id="78" idx="6"/>
            <a:endCxn id="166" idx="1"/>
          </p:cNvCxnSpPr>
          <p:nvPr/>
        </p:nvCxnSpPr>
        <p:spPr bwMode="auto">
          <a:xfrm>
            <a:off x="1590918" y="5641614"/>
            <a:ext cx="26699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94" idx="0"/>
            <a:endCxn id="83" idx="2"/>
          </p:cNvCxnSpPr>
          <p:nvPr/>
        </p:nvCxnSpPr>
        <p:spPr bwMode="auto">
          <a:xfrm flipV="1">
            <a:off x="3459005" y="3317723"/>
            <a:ext cx="0" cy="15514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83" idx="0"/>
            <a:endCxn id="84" idx="2"/>
          </p:cNvCxnSpPr>
          <p:nvPr/>
        </p:nvCxnSpPr>
        <p:spPr bwMode="auto">
          <a:xfrm flipV="1">
            <a:off x="3459005" y="2776426"/>
            <a:ext cx="0" cy="22052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84" idx="3"/>
            <a:endCxn id="85" idx="1"/>
          </p:cNvCxnSpPr>
          <p:nvPr/>
        </p:nvCxnSpPr>
        <p:spPr bwMode="auto">
          <a:xfrm>
            <a:off x="3837217" y="2616041"/>
            <a:ext cx="3924095" cy="12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77" idx="6"/>
            <a:endCxn id="168" idx="1"/>
          </p:cNvCxnSpPr>
          <p:nvPr/>
        </p:nvCxnSpPr>
        <p:spPr bwMode="auto">
          <a:xfrm>
            <a:off x="1590918" y="6076927"/>
            <a:ext cx="26699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직사각형 93"/>
          <p:cNvSpPr/>
          <p:nvPr/>
        </p:nvSpPr>
        <p:spPr bwMode="auto">
          <a:xfrm>
            <a:off x="3080792" y="4869160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</a:rPr>
              <a:t>의결 및 제출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5" name="Shape 266"/>
          <p:cNvCxnSpPr>
            <a:cxnSpLocks noChangeShapeType="1"/>
            <a:stCxn id="80" idx="0"/>
            <a:endCxn id="94" idx="2"/>
          </p:cNvCxnSpPr>
          <p:nvPr/>
        </p:nvCxnSpPr>
        <p:spPr bwMode="auto">
          <a:xfrm flipV="1">
            <a:off x="3459005" y="5189931"/>
            <a:ext cx="0" cy="2912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79" idx="3"/>
            <a:endCxn id="82" idx="1"/>
          </p:cNvCxnSpPr>
          <p:nvPr/>
        </p:nvCxnSpPr>
        <p:spPr bwMode="auto">
          <a:xfrm flipV="1">
            <a:off x="3837558" y="6068460"/>
            <a:ext cx="719056" cy="239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81" idx="3"/>
            <a:endCxn id="86" idx="0"/>
          </p:cNvCxnSpPr>
          <p:nvPr/>
        </p:nvCxnSpPr>
        <p:spPr bwMode="auto">
          <a:xfrm>
            <a:off x="5313040" y="3772671"/>
            <a:ext cx="810261" cy="44841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8" name="Shape 266"/>
          <p:cNvCxnSpPr>
            <a:cxnSpLocks noChangeShapeType="1"/>
            <a:stCxn id="82" idx="0"/>
            <a:endCxn id="81" idx="2"/>
          </p:cNvCxnSpPr>
          <p:nvPr/>
        </p:nvCxnSpPr>
        <p:spPr bwMode="auto">
          <a:xfrm flipV="1">
            <a:off x="4934827" y="3933056"/>
            <a:ext cx="1" cy="197501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9" name="Shape 266"/>
          <p:cNvCxnSpPr>
            <a:cxnSpLocks noChangeShapeType="1"/>
            <a:stCxn id="86" idx="2"/>
            <a:endCxn id="87" idx="0"/>
          </p:cNvCxnSpPr>
          <p:nvPr/>
        </p:nvCxnSpPr>
        <p:spPr bwMode="auto">
          <a:xfrm>
            <a:off x="6123301" y="4541859"/>
            <a:ext cx="898" cy="13746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0" name="Shape 266"/>
          <p:cNvCxnSpPr>
            <a:cxnSpLocks noChangeShapeType="1"/>
            <a:stCxn id="87" idx="3"/>
            <a:endCxn id="88" idx="2"/>
          </p:cNvCxnSpPr>
          <p:nvPr/>
        </p:nvCxnSpPr>
        <p:spPr bwMode="auto">
          <a:xfrm flipV="1">
            <a:off x="6502411" y="3929791"/>
            <a:ext cx="664665" cy="214713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1" name="Shape 266"/>
          <p:cNvCxnSpPr>
            <a:cxnSpLocks noChangeShapeType="1"/>
            <a:stCxn id="88" idx="3"/>
            <a:endCxn id="178" idx="0"/>
          </p:cNvCxnSpPr>
          <p:nvPr/>
        </p:nvCxnSpPr>
        <p:spPr bwMode="auto">
          <a:xfrm>
            <a:off x="7545288" y="3769406"/>
            <a:ext cx="594237" cy="164307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2" name="Shape 266"/>
          <p:cNvCxnSpPr>
            <a:cxnSpLocks noChangeShapeType="1"/>
            <a:stCxn id="85" idx="2"/>
            <a:endCxn id="178" idx="0"/>
          </p:cNvCxnSpPr>
          <p:nvPr/>
        </p:nvCxnSpPr>
        <p:spPr bwMode="auto">
          <a:xfrm>
            <a:off x="8139525" y="2777663"/>
            <a:ext cx="0" cy="26348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99"/>
          <p:cNvGrpSpPr/>
          <p:nvPr/>
        </p:nvGrpSpPr>
        <p:grpSpPr>
          <a:xfrm>
            <a:off x="7761312" y="5862071"/>
            <a:ext cx="612000" cy="410305"/>
            <a:chOff x="8445388" y="5367648"/>
            <a:chExt cx="756425" cy="410305"/>
          </a:xfrm>
        </p:grpSpPr>
        <p:sp>
          <p:nvSpPr>
            <p:cNvPr id="164" name="직사각형 163"/>
            <p:cNvSpPr/>
            <p:nvPr/>
          </p:nvSpPr>
          <p:spPr>
            <a:xfrm>
              <a:off x="8573870" y="537864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65" name="육각형 164"/>
            <p:cNvSpPr/>
            <p:nvPr/>
          </p:nvSpPr>
          <p:spPr bwMode="auto">
            <a:xfrm>
              <a:off x="8445388" y="536764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예산</a:t>
              </a:r>
              <a:endParaRPr lang="en-US" altLang="ko-KR" sz="900" kern="0" dirty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확정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66" name="직사각형 165"/>
          <p:cNvSpPr/>
          <p:nvPr/>
        </p:nvSpPr>
        <p:spPr bwMode="auto">
          <a:xfrm>
            <a:off x="1857916" y="5481228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</a:rPr>
              <a:t>기금운용 계획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67" name="Shape 266"/>
          <p:cNvCxnSpPr>
            <a:cxnSpLocks noChangeShapeType="1"/>
            <a:stCxn id="166" idx="3"/>
            <a:endCxn id="80" idx="1"/>
          </p:cNvCxnSpPr>
          <p:nvPr/>
        </p:nvCxnSpPr>
        <p:spPr bwMode="auto">
          <a:xfrm>
            <a:off x="2614341" y="5641614"/>
            <a:ext cx="46645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8" name="직사각형 167"/>
          <p:cNvSpPr/>
          <p:nvPr/>
        </p:nvSpPr>
        <p:spPr bwMode="auto">
          <a:xfrm>
            <a:off x="1857916" y="59165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20. </a:t>
            </a:r>
            <a:r>
              <a:rPr lang="ko-KR" altLang="en-US" sz="900" kern="0" dirty="0">
                <a:solidFill>
                  <a:srgbClr val="015EBB"/>
                </a:solidFill>
              </a:rPr>
              <a:t>법인회계 예산</a:t>
            </a:r>
            <a:r>
              <a:rPr lang="en-US" altLang="ko-KR" sz="900" kern="0" dirty="0">
                <a:solidFill>
                  <a:srgbClr val="015EBB"/>
                </a:solidFill>
              </a:rPr>
              <a:t>(</a:t>
            </a:r>
            <a:r>
              <a:rPr lang="ko-KR" altLang="en-US" sz="900" kern="0" dirty="0">
                <a:solidFill>
                  <a:srgbClr val="015EBB"/>
                </a:solidFill>
              </a:rPr>
              <a:t>안</a:t>
            </a:r>
            <a:r>
              <a:rPr lang="en-US" altLang="ko-KR" sz="900" kern="0" dirty="0">
                <a:solidFill>
                  <a:srgbClr val="015EBB"/>
                </a:solidFill>
              </a:rPr>
              <a:t>) </a:t>
            </a:r>
            <a:r>
              <a:rPr lang="ko-KR" altLang="en-US" sz="900" kern="0" dirty="0">
                <a:solidFill>
                  <a:srgbClr val="015EBB"/>
                </a:solidFill>
              </a:rPr>
              <a:t>작성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69" name="Shape 266"/>
          <p:cNvCxnSpPr>
            <a:cxnSpLocks noChangeShapeType="1"/>
            <a:stCxn id="168" idx="3"/>
            <a:endCxn id="79" idx="1"/>
          </p:cNvCxnSpPr>
          <p:nvPr/>
        </p:nvCxnSpPr>
        <p:spPr bwMode="auto">
          <a:xfrm flipV="1">
            <a:off x="2614341" y="6070851"/>
            <a:ext cx="466792" cy="607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143"/>
          <p:cNvGrpSpPr/>
          <p:nvPr/>
        </p:nvGrpSpPr>
        <p:grpSpPr>
          <a:xfrm flipH="1">
            <a:off x="3765209" y="5700850"/>
            <a:ext cx="261693" cy="209642"/>
            <a:chOff x="3031001" y="4700583"/>
            <a:chExt cx="274628" cy="209642"/>
          </a:xfrm>
        </p:grpSpPr>
        <p:sp>
          <p:nvSpPr>
            <p:cNvPr id="171" name="Line 175"/>
            <p:cNvSpPr>
              <a:spLocks noChangeShapeType="1"/>
            </p:cNvSpPr>
            <p:nvPr/>
          </p:nvSpPr>
          <p:spPr bwMode="auto">
            <a:xfrm flipH="1" flipV="1">
              <a:off x="3121052" y="4768992"/>
              <a:ext cx="184577" cy="141233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Freeform 176"/>
            <p:cNvSpPr>
              <a:spLocks noChangeArrowheads="1"/>
            </p:cNvSpPr>
            <p:nvPr/>
          </p:nvSpPr>
          <p:spPr bwMode="auto">
            <a:xfrm flipH="1">
              <a:off x="3031001" y="4700583"/>
              <a:ext cx="90051" cy="12527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73" name="Rectangle 179"/>
          <p:cNvSpPr>
            <a:spLocks noChangeArrowheads="1"/>
          </p:cNvSpPr>
          <p:nvPr/>
        </p:nvSpPr>
        <p:spPr bwMode="auto">
          <a:xfrm flipH="1">
            <a:off x="4007159" y="5699400"/>
            <a:ext cx="8522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문화체육관광부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7" name="그룹 147"/>
          <p:cNvGrpSpPr/>
          <p:nvPr/>
        </p:nvGrpSpPr>
        <p:grpSpPr>
          <a:xfrm flipH="1">
            <a:off x="3728864" y="4590181"/>
            <a:ext cx="285958" cy="282225"/>
            <a:chOff x="3031001" y="4549936"/>
            <a:chExt cx="300093" cy="282225"/>
          </a:xfrm>
        </p:grpSpPr>
        <p:sp>
          <p:nvSpPr>
            <p:cNvPr id="175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210036" cy="179030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77" name="Rectangle 179"/>
          <p:cNvSpPr>
            <a:spLocks noChangeArrowheads="1"/>
          </p:cNvSpPr>
          <p:nvPr/>
        </p:nvSpPr>
        <p:spPr bwMode="auto">
          <a:xfrm flipH="1">
            <a:off x="3995073" y="4617718"/>
            <a:ext cx="9340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문화체육관광부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기획재정부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78" name="직사각형 177"/>
          <p:cNvSpPr/>
          <p:nvPr/>
        </p:nvSpPr>
        <p:spPr bwMode="auto">
          <a:xfrm>
            <a:off x="7761312" y="5412485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27. </a:t>
            </a:r>
            <a:r>
              <a:rPr lang="ko-KR" altLang="en-US" sz="900" kern="0" dirty="0">
                <a:solidFill>
                  <a:srgbClr val="015EBB"/>
                </a:solidFill>
              </a:rPr>
              <a:t>심의결과반영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79" name="Shape 266"/>
          <p:cNvCxnSpPr>
            <a:cxnSpLocks noChangeShapeType="1"/>
            <a:stCxn id="178" idx="2"/>
          </p:cNvCxnSpPr>
          <p:nvPr/>
        </p:nvCxnSpPr>
        <p:spPr bwMode="auto">
          <a:xfrm rot="16200000" flipH="1">
            <a:off x="8075117" y="5797663"/>
            <a:ext cx="128817" cy="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순서도: 종속 처리 64">
            <a:extLst>
              <a:ext uri="{FF2B5EF4-FFF2-40B4-BE49-F238E27FC236}">
                <a16:creationId xmlns="" xmlns:a16="http://schemas.microsoft.com/office/drawing/2014/main" id="{A67732C6-CE18-4744-97F9-48D0D7DDC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5504" y="5876376"/>
            <a:ext cx="864000" cy="396000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800" kern="0" dirty="0">
                <a:solidFill>
                  <a:prstClr val="black"/>
                </a:solidFill>
                <a:latin typeface="+mn-ea"/>
              </a:rPr>
              <a:t>4.1.1.2</a:t>
            </a:r>
          </a:p>
          <a:p>
            <a:pPr algn="ctr" latinLnBrk="0"/>
            <a:r>
              <a:rPr lang="ko-KR" altLang="en-US" sz="800" kern="0" dirty="0">
                <a:solidFill>
                  <a:prstClr val="black"/>
                </a:solidFill>
                <a:latin typeface="+mn-ea"/>
              </a:rPr>
              <a:t>보조금집행</a:t>
            </a:r>
            <a:endParaRPr lang="en-US" altLang="ko-KR" sz="800" kern="0" dirty="0">
              <a:solidFill>
                <a:prstClr val="black"/>
              </a:solidFill>
              <a:latin typeface="+mn-ea"/>
            </a:endParaRPr>
          </a:p>
          <a:p>
            <a:pPr algn="ctr" latinLnBrk="0"/>
            <a:r>
              <a:rPr lang="ko-KR" altLang="en-US" sz="800" kern="0" dirty="0">
                <a:solidFill>
                  <a:prstClr val="black"/>
                </a:solidFill>
                <a:latin typeface="+mn-ea"/>
              </a:rPr>
              <a:t>계획작성</a:t>
            </a:r>
            <a:endParaRPr lang="en-US" altLang="ko-KR" sz="8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52" name="Shape 266">
            <a:extLst>
              <a:ext uri="{FF2B5EF4-FFF2-40B4-BE49-F238E27FC236}">
                <a16:creationId xmlns="" xmlns:a16="http://schemas.microsoft.com/office/drawing/2014/main" id="{26DF7F01-F06C-4B5A-BF58-98D827DCF566}"/>
              </a:ext>
            </a:extLst>
          </p:cNvPr>
          <p:cNvCxnSpPr>
            <a:cxnSpLocks noChangeShapeType="1"/>
            <a:stCxn id="165" idx="0"/>
            <a:endCxn id="51" idx="1"/>
          </p:cNvCxnSpPr>
          <p:nvPr/>
        </p:nvCxnSpPr>
        <p:spPr bwMode="auto">
          <a:xfrm>
            <a:off x="8373312" y="6067224"/>
            <a:ext cx="252192" cy="715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8890145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예산편성 효율화를 위해 정형화된 예산편성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내역사업 도입 등 편성준비 과정을 강화하고 예산요구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예산조정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예산심의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예산확정업무도 이러한 신개념이 적용되도록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예산편성 </a:t>
            </a:r>
            <a:r>
              <a:rPr lang="en-US" altLang="ko-KR" dirty="0"/>
              <a:t>(4/6)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0D3D1DFD-E002-4D9E-BB70-E264FD2863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1339917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국가예산지침검토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국가의 익년도 예산안 편성 및 기금운용계획안 작성 세부지침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내용 검토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국가예산편성지침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예산과목 및 코드 정비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국가예산편성지침의 예산과목변경 등 코드변경 요인 발생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 기금회계 및 법인회계 예산구조와 예산과목 조정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국가예산편성지침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예산과목구조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정형화 예산 테이블 현행화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예산과목변경에 따른 세세목별 세입세출예산편성 산출식에 따라 정형화 예산편성 테이블 현행화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변경된 예산과목에 따른 정형화계산식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기준단가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요율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현행화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국가예산편성지침과 공단 내부 방침 등을 고려하여 정형화 예산편성 테이블의 기준단가 및 요율을 현행화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국가예산편성지침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기준단가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기준요율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예산편성지침 시달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회계연도 예산편성 지침을 업무부서 및 기금보조금 사업자에게 배포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예산편성지침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업무부서는 예산에 필요한 사업들의 내역사업을 만들고 정형화된 예산편성 산출식을 사용하여 예산요구서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예산요구서승인요청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업무부서는 작성한 예산요구서를 부서장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팀장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에게 승인 받기 위하여 통합재무시스템 결재를 통해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업무부서의 장은 업무부서별로 요청된 예산요구서를 통합재무정보시스템을 통해 검토 후 승인처리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예산요구서 취합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각 업무부서에서 제출한 예산요구서를 취합하여 예산안 금액 취합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사업계획서제출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사업수행사는 기금보조금 사업에 대한 사업계획서 작성하여 공단 예산부서에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059766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예산편성 효율화를 위해 정형화된 예산편성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내역사업 도입 등 편성준비 과정을 강화하고 예산요구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예산조정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예산심의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예산확정업무도 이러한 신개념이 적용되도록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예산편성 </a:t>
            </a:r>
            <a:r>
              <a:rPr lang="en-US" altLang="ko-KR" dirty="0"/>
              <a:t>(5/6)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77FB2EA7-E79E-4019-A194-ACF1DC912B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2598469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사업계획서접수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예산부서는 각 사업수행사에서 제출한 기금보조금에 대한 사업계획서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접수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기금회계 예산 추가 요구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예산조정 기간 중 사업수행사로부터 접수한 사업계획서를 취합하여 기금보조사업 중 민간수행사업 분에 해당하는 기금회계 예산을 추가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 등록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예산요구조정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업무부서와 협의된 조정 내용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협의사항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기금전입금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보조금 등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내역사업별로 정형화된 예산편성 산출식에 의거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기금운용계획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사업계획서와 조정된 기금 사업 예산서를 취합하여 기금운용계획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기금운용계획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dBrain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기금운용계획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예산부서는 작성된 기금운용계획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기금운용심의회에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기금운용계획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dBrain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의결 및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제출된 기금운용계획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심의하여 문화체육관광부와 기획재정부에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기금운용계획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dBrain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심의 및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기획재정부는 제출된 기금운용계획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심의 및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기금운용계획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dBrain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국회심의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기획재정부에서 제출된 기금운용계획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국회에서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심의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기금운용계획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dBrain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기금운용계획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국회에서 공단에서 제출한 국민체육진흥기금을 포함한 기금운용계획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기금운용계획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dBrain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법인회계 예산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협의된 예산 조정 내용을 이용하여 법인회계예산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작성하고 문화체육관광부와 사전협의를 위해 예산안 인쇄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법인회계예산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7132783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예산편성 효율화를 위해 정형화된 예산편성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내역사업 도입 등 편성준비 과정을 강화하고 예산요구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예산조정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예산심의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예산확정업무도 이러한 신개념이 적용되도록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예산편성 </a:t>
            </a:r>
            <a:r>
              <a:rPr lang="en-US" altLang="ko-KR" dirty="0"/>
              <a:t>(6/6)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34108179-22BF-46B5-AA28-9CC1DE03A3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0364468"/>
              </p:ext>
            </p:extLst>
          </p:nvPr>
        </p:nvGraphicFramePr>
        <p:xfrm>
          <a:off x="344488" y="1604186"/>
          <a:ext cx="9180513" cy="320040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사전 협의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예산부서는 법인회계예산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문화체육관광부와 사전 협의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법인회계예산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심의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사전협의에 따라 작성한 법인회계예산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문화체육관광부와 기획재정부에 심의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법인회계예산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b="1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심의 및 조정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공단에서 제출한 법인회계예산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문화체육관광부와 기획재정부가 심의 및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법인회계예산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문화체육관광부가 기획재정부와 심의 조정 한 법인회계예산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이사회에서 의결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법인회계예산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이사회 의결 완료된 법인회계예산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문화체육관광부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법인회계예산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승인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문화체육관광부는 공단에서 제출한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법인회계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 대한 승인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법인회계예산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심의결과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국회 확정된 기금운용계획과 이사회를 거쳐 문화체육관광부에서 승인된 법인회계 예산에 대하여 심의조정된 결과를 예산편성내역에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기금회계예산서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법인회계예산서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통합재무정보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092107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예산집행 </a:t>
            </a:r>
            <a:r>
              <a:rPr lang="ko-KR" altLang="en-US" sz="1600" dirty="0">
                <a:latin typeface="+mn-ea"/>
                <a:ea typeface="+mn-ea"/>
              </a:rPr>
              <a:t>업무는 예산집행계획수립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예산 집행 계획 작성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집행 계획 승인 등</a:t>
            </a:r>
            <a:r>
              <a:rPr lang="en-US" altLang="ko-KR" sz="1600" dirty="0">
                <a:latin typeface="+mn-ea"/>
                <a:ea typeface="+mn-ea"/>
              </a:rPr>
              <a:t>), </a:t>
            </a:r>
            <a:r>
              <a:rPr lang="ko-KR" altLang="en-US" sz="1600" dirty="0">
                <a:latin typeface="+mn-ea"/>
                <a:ea typeface="+mn-ea"/>
              </a:rPr>
              <a:t>예산배정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정기배정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dirty="0" err="1">
                <a:latin typeface="+mn-ea"/>
                <a:ea typeface="+mn-ea"/>
              </a:rPr>
              <a:t>비정기</a:t>
            </a:r>
            <a:r>
              <a:rPr lang="ko-KR" altLang="en-US" sz="1600" dirty="0" err="1">
                <a:latin typeface="+mn-ea"/>
                <a:ea typeface="+mn-ea"/>
              </a:rPr>
              <a:t>배정</a:t>
            </a:r>
            <a:r>
              <a:rPr lang="ko-KR" altLang="en-US" sz="1600" dirty="0">
                <a:latin typeface="+mn-ea"/>
                <a:ea typeface="+mn-ea"/>
              </a:rPr>
              <a:t> 등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 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예산집행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예산집행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609931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34837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8965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1.1.3.1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예산집행계획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1.1.3.2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예산배정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44" name="Shape 266"/>
          <p:cNvCxnSpPr>
            <a:cxnSpLocks noChangeShapeType="1"/>
            <a:stCxn id="32" idx="2"/>
            <a:endCxn id="45" idx="0"/>
          </p:cNvCxnSpPr>
          <p:nvPr/>
        </p:nvCxnSpPr>
        <p:spPr bwMode="auto">
          <a:xfrm flipH="1">
            <a:off x="1825107" y="5057883"/>
            <a:ext cx="171" cy="6426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직사각형 44"/>
          <p:cNvSpPr/>
          <p:nvPr/>
        </p:nvSpPr>
        <p:spPr bwMode="auto">
          <a:xfrm>
            <a:off x="1446894" y="57005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예산 집행 계획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6" name="Shape 266"/>
          <p:cNvCxnSpPr>
            <a:cxnSpLocks noChangeShapeType="1"/>
            <a:stCxn id="89" idx="3"/>
            <a:endCxn id="39" idx="1"/>
          </p:cNvCxnSpPr>
          <p:nvPr/>
        </p:nvCxnSpPr>
        <p:spPr bwMode="auto">
          <a:xfrm>
            <a:off x="4088904" y="2806061"/>
            <a:ext cx="129630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" name="직사각형 83"/>
          <p:cNvSpPr/>
          <p:nvPr/>
        </p:nvSpPr>
        <p:spPr bwMode="auto">
          <a:xfrm>
            <a:off x="3332138" y="472514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예산집행 계획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45" idx="3"/>
            <a:endCxn id="59" idx="1"/>
          </p:cNvCxnSpPr>
          <p:nvPr/>
        </p:nvCxnSpPr>
        <p:spPr bwMode="auto">
          <a:xfrm>
            <a:off x="2203319" y="5860903"/>
            <a:ext cx="112847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" name="직사각형 88"/>
          <p:cNvSpPr/>
          <p:nvPr/>
        </p:nvSpPr>
        <p:spPr bwMode="auto">
          <a:xfrm>
            <a:off x="3332479" y="264567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예산부서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6825208" y="57332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예산 배정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1" name="직사각형 90"/>
          <p:cNvSpPr/>
          <p:nvPr/>
        </p:nvSpPr>
        <p:spPr bwMode="auto">
          <a:xfrm>
            <a:off x="5385207" y="472884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예산 배정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84" idx="0"/>
            <a:endCxn id="89" idx="2"/>
          </p:cNvCxnSpPr>
          <p:nvPr/>
        </p:nvCxnSpPr>
        <p:spPr bwMode="auto">
          <a:xfrm flipV="1">
            <a:off x="3710351" y="2966446"/>
            <a:ext cx="341" cy="17586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118" idx="0"/>
            <a:endCxn id="91" idx="2"/>
          </p:cNvCxnSpPr>
          <p:nvPr/>
        </p:nvCxnSpPr>
        <p:spPr bwMode="auto">
          <a:xfrm flipV="1">
            <a:off x="5763420" y="5049617"/>
            <a:ext cx="0" cy="6836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101" idx="3"/>
            <a:endCxn id="53" idx="3"/>
          </p:cNvCxnSpPr>
          <p:nvPr/>
        </p:nvCxnSpPr>
        <p:spPr bwMode="auto">
          <a:xfrm flipV="1">
            <a:off x="6141632" y="2806061"/>
            <a:ext cx="2267752" cy="92734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5385207" y="264567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정기 배정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분기별</a:t>
            </a:r>
            <a:r>
              <a:rPr lang="en-US" altLang="ko-KR" sz="900" kern="0" dirty="0">
                <a:solidFill>
                  <a:prstClr val="black"/>
                </a:solidFill>
              </a:rPr>
              <a:t>)</a:t>
            </a:r>
          </a:p>
        </p:txBody>
      </p:sp>
      <p:cxnSp>
        <p:nvCxnSpPr>
          <p:cNvPr id="41" name="Shape 266"/>
          <p:cNvCxnSpPr>
            <a:cxnSpLocks noChangeShapeType="1"/>
            <a:stCxn id="39" idx="3"/>
            <a:endCxn id="53" idx="3"/>
          </p:cNvCxnSpPr>
          <p:nvPr/>
        </p:nvCxnSpPr>
        <p:spPr bwMode="auto">
          <a:xfrm>
            <a:off x="6141632" y="2806061"/>
            <a:ext cx="226775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46"/>
          <p:cNvGrpSpPr/>
          <p:nvPr/>
        </p:nvGrpSpPr>
        <p:grpSpPr>
          <a:xfrm>
            <a:off x="8409384" y="2600908"/>
            <a:ext cx="756425" cy="410305"/>
            <a:chOff x="8445388" y="5367648"/>
            <a:chExt cx="756425" cy="410305"/>
          </a:xfrm>
        </p:grpSpPr>
        <p:sp>
          <p:nvSpPr>
            <p:cNvPr id="52" name="직사각형 51"/>
            <p:cNvSpPr/>
            <p:nvPr/>
          </p:nvSpPr>
          <p:spPr>
            <a:xfrm>
              <a:off x="8573870" y="537864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3" name="육각형 52"/>
            <p:cNvSpPr/>
            <p:nvPr/>
          </p:nvSpPr>
          <p:spPr bwMode="auto">
            <a:xfrm>
              <a:off x="8445388" y="536764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배정완료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21"/>
          <p:cNvGrpSpPr/>
          <p:nvPr/>
        </p:nvGrpSpPr>
        <p:grpSpPr>
          <a:xfrm>
            <a:off x="1446895" y="4653136"/>
            <a:ext cx="756425" cy="410305"/>
            <a:chOff x="1446895" y="3951573"/>
            <a:chExt cx="756425" cy="410305"/>
          </a:xfrm>
        </p:grpSpPr>
        <p:sp>
          <p:nvSpPr>
            <p:cNvPr id="32" name="직사각형 31"/>
            <p:cNvSpPr/>
            <p:nvPr/>
          </p:nvSpPr>
          <p:spPr>
            <a:xfrm>
              <a:off x="1575377" y="396256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33" name="육각형 32"/>
            <p:cNvSpPr/>
            <p:nvPr/>
          </p:nvSpPr>
          <p:spPr bwMode="auto">
            <a:xfrm>
              <a:off x="1446895" y="395157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연초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9" name="직사각형 58"/>
          <p:cNvSpPr/>
          <p:nvPr/>
        </p:nvSpPr>
        <p:spPr bwMode="auto">
          <a:xfrm>
            <a:off x="3331797" y="57005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예산 집행 계획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0" name="Shape 266"/>
          <p:cNvCxnSpPr>
            <a:cxnSpLocks noChangeShapeType="1"/>
            <a:stCxn id="63" idx="3"/>
            <a:endCxn id="90" idx="3"/>
          </p:cNvCxnSpPr>
          <p:nvPr/>
        </p:nvCxnSpPr>
        <p:spPr bwMode="auto">
          <a:xfrm flipH="1">
            <a:off x="7581633" y="5888144"/>
            <a:ext cx="827751" cy="54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60"/>
          <p:cNvGrpSpPr/>
          <p:nvPr/>
        </p:nvGrpSpPr>
        <p:grpSpPr>
          <a:xfrm>
            <a:off x="8409384" y="5682991"/>
            <a:ext cx="756425" cy="410305"/>
            <a:chOff x="1446895" y="3951573"/>
            <a:chExt cx="756425" cy="410305"/>
          </a:xfrm>
        </p:grpSpPr>
        <p:sp>
          <p:nvSpPr>
            <p:cNvPr id="62" name="직사각형 61"/>
            <p:cNvSpPr/>
            <p:nvPr/>
          </p:nvSpPr>
          <p:spPr>
            <a:xfrm>
              <a:off x="1575377" y="396256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3" name="육각형 62"/>
            <p:cNvSpPr/>
            <p:nvPr/>
          </p:nvSpPr>
          <p:spPr bwMode="auto">
            <a:xfrm>
              <a:off x="1446895" y="395157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필요 시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66" name="Shape 266"/>
          <p:cNvCxnSpPr>
            <a:cxnSpLocks noChangeShapeType="1"/>
            <a:stCxn id="59" idx="0"/>
            <a:endCxn id="84" idx="2"/>
          </p:cNvCxnSpPr>
          <p:nvPr/>
        </p:nvCxnSpPr>
        <p:spPr bwMode="auto">
          <a:xfrm flipV="1">
            <a:off x="3710010" y="5045915"/>
            <a:ext cx="341" cy="6546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1" name="직사각형 100"/>
          <p:cNvSpPr/>
          <p:nvPr/>
        </p:nvSpPr>
        <p:spPr bwMode="auto">
          <a:xfrm>
            <a:off x="5385207" y="357301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 err="1">
                <a:solidFill>
                  <a:prstClr val="black"/>
                </a:solidFill>
              </a:rPr>
              <a:t>비정기배정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9" name="Shape 266"/>
          <p:cNvCxnSpPr>
            <a:cxnSpLocks noChangeShapeType="1"/>
            <a:stCxn id="91" idx="0"/>
            <a:endCxn id="101" idx="2"/>
          </p:cNvCxnSpPr>
          <p:nvPr/>
        </p:nvCxnSpPr>
        <p:spPr bwMode="auto">
          <a:xfrm flipV="1">
            <a:off x="5763420" y="3893787"/>
            <a:ext cx="0" cy="83505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8" name="직사각형 117"/>
          <p:cNvSpPr/>
          <p:nvPr/>
        </p:nvSpPr>
        <p:spPr bwMode="auto">
          <a:xfrm>
            <a:off x="5385207" y="57332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 배정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7" name="Shape 266"/>
          <p:cNvCxnSpPr>
            <a:cxnSpLocks noChangeShapeType="1"/>
            <a:stCxn id="90" idx="1"/>
            <a:endCxn id="118" idx="3"/>
          </p:cNvCxnSpPr>
          <p:nvPr/>
        </p:nvCxnSpPr>
        <p:spPr bwMode="auto">
          <a:xfrm flipH="1">
            <a:off x="6141632" y="5893642"/>
            <a:ext cx="68357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28712008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예산집행 </a:t>
            </a:r>
            <a:r>
              <a:rPr lang="ko-KR" altLang="en-US" dirty="0">
                <a:latin typeface="+mn-ea"/>
              </a:rPr>
              <a:t>업무는 예산집행계획수립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예산 집행 계획 작성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집행 계획 승인 등</a:t>
            </a:r>
            <a:r>
              <a:rPr lang="en-US" altLang="ko-KR" dirty="0">
                <a:latin typeface="+mn-ea"/>
              </a:rPr>
              <a:t>), </a:t>
            </a:r>
            <a:r>
              <a:rPr lang="ko-KR" altLang="en-US" dirty="0">
                <a:latin typeface="+mn-ea"/>
              </a:rPr>
              <a:t>예산배정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정기배정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비정기배정</a:t>
            </a:r>
            <a:r>
              <a:rPr lang="ko-KR" altLang="en-US" dirty="0">
                <a:latin typeface="+mn-ea"/>
              </a:rPr>
              <a:t> 등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업무로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예산집행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5174547"/>
              </p:ext>
            </p:extLst>
          </p:nvPr>
        </p:nvGraphicFramePr>
        <p:xfrm>
          <a:off x="344489" y="1584356"/>
          <a:ext cx="9181019" cy="3772182"/>
        </p:xfrm>
        <a:graphic>
          <a:graphicData uri="http://schemas.openxmlformats.org/drawingml/2006/table">
            <a:tbl>
              <a:tblPr firstRow="1" bandRow="1"/>
              <a:tblGrid>
                <a:gridCol w="36572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287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09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 집행 계획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 집행 계획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 집행 계획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 집행 계획 승인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 집행 계획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 집행 계획 승인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부서장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예산부서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집행 계획 승인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사업본부 예산부서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정기배정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분기별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분기별 예산 정기 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 배정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 배정 신청서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예산배정정보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 배정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 배정 승인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예산배정정보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 배정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 배정 승인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부서장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예산배정정보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err="1">
                          <a:latin typeface="+mn-ea"/>
                          <a:ea typeface="+mn-ea"/>
                        </a:rPr>
                        <a:t>비정기배정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비정기적으로 예산을 배정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추가배정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우선배정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차감배정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하는 업무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예산배정정보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651022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5193217"/>
              </p:ext>
            </p:extLst>
          </p:nvPr>
        </p:nvGraphicFramePr>
        <p:xfrm>
          <a:off x="344488" y="1916832"/>
          <a:ext cx="9181020" cy="4398012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1.1.4.1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예산변경신청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1060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106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예산변경 업무는 예산변경인식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예산변경신청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예산변경승인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예산변경반영 </a:t>
            </a:r>
            <a:r>
              <a:rPr lang="ko-KR" altLang="en-US" dirty="0">
                <a:latin typeface="+mn-ea"/>
                <a:ea typeface="+mn-ea"/>
              </a:rPr>
              <a:t>업무로 </a:t>
            </a:r>
            <a:r>
              <a:rPr lang="ko-KR" altLang="en-US" sz="1600" dirty="0">
                <a:latin typeface="+mn-ea"/>
                <a:ea typeface="+mn-ea"/>
              </a:rPr>
              <a:t>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예산변경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44" name="Shape 266"/>
          <p:cNvCxnSpPr>
            <a:cxnSpLocks noChangeShapeType="1"/>
            <a:stCxn id="33" idx="3"/>
            <a:endCxn id="45" idx="1"/>
          </p:cNvCxnSpPr>
          <p:nvPr/>
        </p:nvCxnSpPr>
        <p:spPr bwMode="auto">
          <a:xfrm>
            <a:off x="5168682" y="5328355"/>
            <a:ext cx="36004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직사각형 44"/>
          <p:cNvSpPr/>
          <p:nvPr/>
        </p:nvSpPr>
        <p:spPr bwMode="auto">
          <a:xfrm>
            <a:off x="5528723" y="51679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45" idx="3"/>
            <a:endCxn id="42" idx="1"/>
          </p:cNvCxnSpPr>
          <p:nvPr/>
        </p:nvCxnSpPr>
        <p:spPr bwMode="auto">
          <a:xfrm flipV="1">
            <a:off x="6285148" y="5326340"/>
            <a:ext cx="477521" cy="20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" name="직사각형 86"/>
          <p:cNvSpPr/>
          <p:nvPr/>
        </p:nvSpPr>
        <p:spPr bwMode="auto">
          <a:xfrm>
            <a:off x="6753541" y="277113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예산부서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8" name="Shape 266"/>
          <p:cNvCxnSpPr>
            <a:cxnSpLocks noChangeShapeType="1"/>
            <a:stCxn id="42" idx="0"/>
            <a:endCxn id="87" idx="2"/>
          </p:cNvCxnSpPr>
          <p:nvPr/>
        </p:nvCxnSpPr>
        <p:spPr bwMode="auto">
          <a:xfrm flipH="1" flipV="1">
            <a:off x="7131754" y="3091904"/>
            <a:ext cx="9128" cy="20740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87" idx="3"/>
          </p:cNvCxnSpPr>
          <p:nvPr/>
        </p:nvCxnSpPr>
        <p:spPr bwMode="auto">
          <a:xfrm flipV="1">
            <a:off x="7509966" y="2929325"/>
            <a:ext cx="503374" cy="21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" name="직사각형 29"/>
          <p:cNvSpPr/>
          <p:nvPr/>
        </p:nvSpPr>
        <p:spPr bwMode="auto">
          <a:xfrm>
            <a:off x="3116796" y="51679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변경가능 예산 협의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4412257" y="51679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35"/>
          <p:cNvGrpSpPr/>
          <p:nvPr/>
        </p:nvGrpSpPr>
        <p:grpSpPr>
          <a:xfrm flipH="1">
            <a:off x="3539560" y="5488740"/>
            <a:ext cx="307440" cy="356556"/>
            <a:chOff x="3031001" y="4475605"/>
            <a:chExt cx="322637" cy="356556"/>
          </a:xfrm>
        </p:grpSpPr>
        <p:sp>
          <p:nvSpPr>
            <p:cNvPr id="37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9" name="Rectangle 179"/>
          <p:cNvSpPr>
            <a:spLocks noChangeArrowheads="1"/>
          </p:cNvSpPr>
          <p:nvPr/>
        </p:nvSpPr>
        <p:spPr bwMode="auto">
          <a:xfrm flipH="1">
            <a:off x="3827249" y="5590608"/>
            <a:ext cx="11617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불용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/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절감 예산 확인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부서간 협의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6762669" y="516595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9" name="Shape 266"/>
          <p:cNvCxnSpPr>
            <a:cxnSpLocks noChangeShapeType="1"/>
            <a:stCxn id="30" idx="3"/>
            <a:endCxn id="33" idx="1"/>
          </p:cNvCxnSpPr>
          <p:nvPr/>
        </p:nvCxnSpPr>
        <p:spPr bwMode="auto">
          <a:xfrm>
            <a:off x="3873221" y="5328355"/>
            <a:ext cx="53903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27" idx="0"/>
            <a:endCxn id="30" idx="1"/>
          </p:cNvCxnSpPr>
          <p:nvPr/>
        </p:nvCxnSpPr>
        <p:spPr bwMode="auto">
          <a:xfrm>
            <a:off x="2289045" y="5326341"/>
            <a:ext cx="827751" cy="201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61"/>
          <p:cNvGrpSpPr/>
          <p:nvPr/>
        </p:nvGrpSpPr>
        <p:grpSpPr>
          <a:xfrm>
            <a:off x="1532620" y="5121188"/>
            <a:ext cx="756425" cy="410305"/>
            <a:chOff x="1532620" y="4422851"/>
            <a:chExt cx="756425" cy="410305"/>
          </a:xfrm>
        </p:grpSpPr>
        <p:sp>
          <p:nvSpPr>
            <p:cNvPr id="26" name="직사각형 25"/>
            <p:cNvSpPr/>
            <p:nvPr/>
          </p:nvSpPr>
          <p:spPr>
            <a:xfrm>
              <a:off x="1661102" y="44338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7" name="육각형 26"/>
            <p:cNvSpPr/>
            <p:nvPr/>
          </p:nvSpPr>
          <p:spPr bwMode="auto">
            <a:xfrm>
              <a:off x="1532620" y="44228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예산변경 인식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32" name="직사각형 31"/>
          <p:cNvSpPr/>
          <p:nvPr/>
        </p:nvSpPr>
        <p:spPr bwMode="auto">
          <a:xfrm>
            <a:off x="8013340" y="277113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예산조정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8013340" y="363530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예산전용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3" name="Shape 266"/>
          <p:cNvCxnSpPr>
            <a:cxnSpLocks noChangeShapeType="1"/>
            <a:stCxn id="87" idx="3"/>
            <a:endCxn id="34" idx="1"/>
          </p:cNvCxnSpPr>
          <p:nvPr/>
        </p:nvCxnSpPr>
        <p:spPr bwMode="auto">
          <a:xfrm>
            <a:off x="7509966" y="2931519"/>
            <a:ext cx="503374" cy="86416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" name="타원 56"/>
          <p:cNvSpPr/>
          <p:nvPr/>
        </p:nvSpPr>
        <p:spPr>
          <a:xfrm>
            <a:off x="9070825" y="283644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60" name="타원 59"/>
          <p:cNvSpPr/>
          <p:nvPr/>
        </p:nvSpPr>
        <p:spPr>
          <a:xfrm>
            <a:off x="9070825" y="3702807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61" name="Shape 266"/>
          <p:cNvCxnSpPr>
            <a:cxnSpLocks noChangeShapeType="1"/>
            <a:stCxn id="32" idx="3"/>
            <a:endCxn id="57" idx="2"/>
          </p:cNvCxnSpPr>
          <p:nvPr/>
        </p:nvCxnSpPr>
        <p:spPr bwMode="auto">
          <a:xfrm flipV="1">
            <a:off x="8769765" y="2929325"/>
            <a:ext cx="301060" cy="21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" name="Shape 266"/>
          <p:cNvCxnSpPr>
            <a:cxnSpLocks noChangeShapeType="1"/>
            <a:stCxn id="34" idx="3"/>
            <a:endCxn id="60" idx="2"/>
          </p:cNvCxnSpPr>
          <p:nvPr/>
        </p:nvCxnSpPr>
        <p:spPr bwMode="auto">
          <a:xfrm flipV="1">
            <a:off x="8769765" y="3795687"/>
            <a:ext cx="301060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64"/>
          <p:cNvGrpSpPr/>
          <p:nvPr/>
        </p:nvGrpSpPr>
        <p:grpSpPr>
          <a:xfrm>
            <a:off x="8317968" y="3963807"/>
            <a:ext cx="307440" cy="356556"/>
            <a:chOff x="3031001" y="4475605"/>
            <a:chExt cx="322637" cy="356556"/>
          </a:xfrm>
        </p:grpSpPr>
        <p:sp>
          <p:nvSpPr>
            <p:cNvPr id="66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9" name="Rectangle 179"/>
          <p:cNvSpPr>
            <a:spLocks noChangeArrowheads="1"/>
          </p:cNvSpPr>
          <p:nvPr/>
        </p:nvSpPr>
        <p:spPr bwMode="auto">
          <a:xfrm flipH="1">
            <a:off x="7309998" y="4064471"/>
            <a:ext cx="11617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단위사업 간 예산변경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목 간 예산변경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8" name="그룹 69"/>
          <p:cNvGrpSpPr/>
          <p:nvPr/>
        </p:nvGrpSpPr>
        <p:grpSpPr>
          <a:xfrm>
            <a:off x="8849532" y="3012549"/>
            <a:ext cx="202315" cy="424047"/>
            <a:chOff x="2908741" y="4398443"/>
            <a:chExt cx="212316" cy="424047"/>
          </a:xfrm>
        </p:grpSpPr>
        <p:sp>
          <p:nvSpPr>
            <p:cNvPr id="73" name="Line 175"/>
            <p:cNvSpPr>
              <a:spLocks noChangeShapeType="1"/>
            </p:cNvSpPr>
            <p:nvPr/>
          </p:nvSpPr>
          <p:spPr bwMode="auto">
            <a:xfrm>
              <a:off x="2908741" y="4398443"/>
              <a:ext cx="212316" cy="246221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Freeform 176"/>
            <p:cNvSpPr>
              <a:spLocks noChangeArrowheads="1"/>
            </p:cNvSpPr>
            <p:nvPr/>
          </p:nvSpPr>
          <p:spPr bwMode="auto">
            <a:xfrm flipH="1">
              <a:off x="3030999" y="4549936"/>
              <a:ext cx="90051" cy="272554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6" name="Rectangle 179"/>
          <p:cNvSpPr>
            <a:spLocks noChangeArrowheads="1"/>
          </p:cNvSpPr>
          <p:nvPr/>
        </p:nvSpPr>
        <p:spPr bwMode="auto">
          <a:xfrm flipH="1">
            <a:off x="7828812" y="3182779"/>
            <a:ext cx="11566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세부사업 간 예산변경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 err="1">
                <a:solidFill>
                  <a:prstClr val="black"/>
                </a:solidFill>
              </a:rPr>
              <a:t>세세목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 간 예산변경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81222973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9477645"/>
              </p:ext>
            </p:extLst>
          </p:nvPr>
        </p:nvGraphicFramePr>
        <p:xfrm>
          <a:off x="344488" y="1916832"/>
          <a:ext cx="9181020" cy="4356484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02078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1.1.4.2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예산변경승인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1.1.4.3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예산변경반영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44848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기획재정부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44116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4006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기금심의회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68052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1521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예산변경 업무는 예산변경인식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예산변경신청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예산변경승인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예산변경반영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예산변경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59" name="Shape 266"/>
          <p:cNvCxnSpPr>
            <a:cxnSpLocks noChangeShapeType="1"/>
            <a:stCxn id="35" idx="6"/>
            <a:endCxn id="50" idx="1"/>
          </p:cNvCxnSpPr>
          <p:nvPr/>
        </p:nvCxnSpPr>
        <p:spPr bwMode="auto">
          <a:xfrm flipV="1">
            <a:off x="1662926" y="5581337"/>
            <a:ext cx="234435" cy="220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" name="타원 33"/>
          <p:cNvSpPr/>
          <p:nvPr/>
        </p:nvSpPr>
        <p:spPr>
          <a:xfrm>
            <a:off x="1460612" y="593927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35" name="타원 34"/>
          <p:cNvSpPr/>
          <p:nvPr/>
        </p:nvSpPr>
        <p:spPr>
          <a:xfrm>
            <a:off x="1460612" y="549066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46" name="직사각형 45"/>
          <p:cNvSpPr/>
          <p:nvPr/>
        </p:nvSpPr>
        <p:spPr bwMode="auto">
          <a:xfrm>
            <a:off x="6208493" y="5871448"/>
            <a:ext cx="776601" cy="32932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7" name="순서도: 판단 58"/>
          <p:cNvSpPr>
            <a:spLocks noChangeAspect="1" noChangeArrowheads="1"/>
          </p:cNvSpPr>
          <p:nvPr/>
        </p:nvSpPr>
        <p:spPr bwMode="auto">
          <a:xfrm>
            <a:off x="3080792" y="5357411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자체전용</a:t>
            </a:r>
          </a:p>
        </p:txBody>
      </p:sp>
      <p:sp>
        <p:nvSpPr>
          <p:cNvPr id="48" name="순서도: 판단 58"/>
          <p:cNvSpPr>
            <a:spLocks noChangeAspect="1" noChangeArrowheads="1"/>
          </p:cNvSpPr>
          <p:nvPr/>
        </p:nvSpPr>
        <p:spPr bwMode="auto">
          <a:xfrm>
            <a:off x="5245679" y="5357411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기금회계</a:t>
            </a:r>
          </a:p>
        </p:txBody>
      </p:sp>
      <p:sp>
        <p:nvSpPr>
          <p:cNvPr id="49" name="순서도: 판단 58"/>
          <p:cNvSpPr>
            <a:spLocks noChangeAspect="1" noChangeArrowheads="1"/>
          </p:cNvSpPr>
          <p:nvPr/>
        </p:nvSpPr>
        <p:spPr bwMode="auto">
          <a:xfrm>
            <a:off x="3080792" y="4643926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기금회계</a:t>
            </a:r>
          </a:p>
        </p:txBody>
      </p:sp>
      <p:sp>
        <p:nvSpPr>
          <p:cNvPr id="50" name="직사각형 49"/>
          <p:cNvSpPr/>
          <p:nvPr/>
        </p:nvSpPr>
        <p:spPr bwMode="auto">
          <a:xfrm>
            <a:off x="1897361" y="542095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6212799" y="472840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2" name="직사각형 51"/>
          <p:cNvSpPr/>
          <p:nvPr/>
        </p:nvSpPr>
        <p:spPr bwMode="auto">
          <a:xfrm>
            <a:off x="6212799" y="42210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3" name="직사각형 52"/>
          <p:cNvSpPr/>
          <p:nvPr/>
        </p:nvSpPr>
        <p:spPr bwMode="auto">
          <a:xfrm>
            <a:off x="6213140" y="369417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4" name="직사각형 53"/>
          <p:cNvSpPr/>
          <p:nvPr/>
        </p:nvSpPr>
        <p:spPr bwMode="auto">
          <a:xfrm>
            <a:off x="6213140" y="32129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6208493" y="25289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7" name="Shape 266"/>
          <p:cNvCxnSpPr>
            <a:cxnSpLocks noChangeShapeType="1"/>
            <a:stCxn id="34" idx="6"/>
            <a:endCxn id="46" idx="1"/>
          </p:cNvCxnSpPr>
          <p:nvPr/>
        </p:nvCxnSpPr>
        <p:spPr bwMode="auto">
          <a:xfrm>
            <a:off x="1662926" y="6032159"/>
            <a:ext cx="4545567" cy="39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0" name="Shape 266"/>
          <p:cNvCxnSpPr>
            <a:cxnSpLocks noChangeShapeType="1"/>
            <a:stCxn id="46" idx="3"/>
            <a:endCxn id="43" idx="3"/>
          </p:cNvCxnSpPr>
          <p:nvPr/>
        </p:nvCxnSpPr>
        <p:spPr bwMode="auto">
          <a:xfrm flipV="1">
            <a:off x="6985094" y="6032160"/>
            <a:ext cx="1567965" cy="39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1" name="Shape 266"/>
          <p:cNvCxnSpPr>
            <a:cxnSpLocks noChangeShapeType="1"/>
            <a:stCxn id="50" idx="3"/>
            <a:endCxn id="47" idx="1"/>
          </p:cNvCxnSpPr>
          <p:nvPr/>
        </p:nvCxnSpPr>
        <p:spPr bwMode="auto">
          <a:xfrm>
            <a:off x="2653786" y="5581337"/>
            <a:ext cx="427006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" name="Shape 266"/>
          <p:cNvCxnSpPr>
            <a:cxnSpLocks noChangeShapeType="1"/>
            <a:stCxn id="47" idx="3"/>
            <a:endCxn id="48" idx="1"/>
          </p:cNvCxnSpPr>
          <p:nvPr/>
        </p:nvCxnSpPr>
        <p:spPr bwMode="auto">
          <a:xfrm>
            <a:off x="4014006" y="5581338"/>
            <a:ext cx="123167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48" idx="0"/>
            <a:endCxn id="52" idx="1"/>
          </p:cNvCxnSpPr>
          <p:nvPr/>
        </p:nvCxnSpPr>
        <p:spPr bwMode="auto">
          <a:xfrm rot="5400000" flipH="1" flipV="1">
            <a:off x="5474574" y="4619187"/>
            <a:ext cx="975937" cy="50051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48" idx="3"/>
            <a:endCxn id="51" idx="2"/>
          </p:cNvCxnSpPr>
          <p:nvPr/>
        </p:nvCxnSpPr>
        <p:spPr bwMode="auto">
          <a:xfrm flipV="1">
            <a:off x="6178893" y="5049180"/>
            <a:ext cx="412119" cy="53215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/>
          <p:cNvCxnSpPr>
            <a:cxnSpLocks noChangeShapeType="1"/>
            <a:stCxn id="49" idx="0"/>
            <a:endCxn id="72" idx="1"/>
          </p:cNvCxnSpPr>
          <p:nvPr/>
        </p:nvCxnSpPr>
        <p:spPr bwMode="auto">
          <a:xfrm rot="5400000" flipH="1" flipV="1">
            <a:off x="3593115" y="4338268"/>
            <a:ext cx="259942" cy="35137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/>
          <p:cNvCxnSpPr>
            <a:cxnSpLocks noChangeShapeType="1"/>
            <a:stCxn id="47" idx="0"/>
            <a:endCxn id="49" idx="2"/>
          </p:cNvCxnSpPr>
          <p:nvPr/>
        </p:nvCxnSpPr>
        <p:spPr bwMode="auto">
          <a:xfrm flipV="1">
            <a:off x="3547399" y="5091779"/>
            <a:ext cx="0" cy="2656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" name="Shape 266"/>
          <p:cNvCxnSpPr>
            <a:cxnSpLocks noChangeShapeType="1"/>
            <a:stCxn id="49" idx="3"/>
            <a:endCxn id="65" idx="1"/>
          </p:cNvCxnSpPr>
          <p:nvPr/>
        </p:nvCxnSpPr>
        <p:spPr bwMode="auto">
          <a:xfrm>
            <a:off x="4014006" y="4867853"/>
            <a:ext cx="758633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51" idx="3"/>
            <a:endCxn id="41" idx="0"/>
          </p:cNvCxnSpPr>
          <p:nvPr/>
        </p:nvCxnSpPr>
        <p:spPr bwMode="auto">
          <a:xfrm>
            <a:off x="6969224" y="4888795"/>
            <a:ext cx="1962218" cy="94920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54" idx="0"/>
            <a:endCxn id="55" idx="2"/>
          </p:cNvCxnSpPr>
          <p:nvPr/>
        </p:nvCxnSpPr>
        <p:spPr bwMode="auto">
          <a:xfrm flipH="1" flipV="1">
            <a:off x="6586706" y="2849671"/>
            <a:ext cx="4647" cy="36330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/>
          <p:cNvCxnSpPr>
            <a:cxnSpLocks noChangeShapeType="1"/>
            <a:stCxn id="52" idx="3"/>
            <a:endCxn id="41" idx="0"/>
          </p:cNvCxnSpPr>
          <p:nvPr/>
        </p:nvCxnSpPr>
        <p:spPr bwMode="auto">
          <a:xfrm>
            <a:off x="6969224" y="4381474"/>
            <a:ext cx="1962218" cy="145652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" name="Shape 266"/>
          <p:cNvCxnSpPr>
            <a:cxnSpLocks noChangeShapeType="1"/>
            <a:stCxn id="53" idx="3"/>
            <a:endCxn id="41" idx="0"/>
          </p:cNvCxnSpPr>
          <p:nvPr/>
        </p:nvCxnSpPr>
        <p:spPr bwMode="auto">
          <a:xfrm>
            <a:off x="6969565" y="3854556"/>
            <a:ext cx="1961877" cy="198344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" name="TextBox 118"/>
          <p:cNvSpPr txBox="1"/>
          <p:nvPr/>
        </p:nvSpPr>
        <p:spPr>
          <a:xfrm>
            <a:off x="3967973" y="5562128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20" name="TextBox 119"/>
          <p:cNvSpPr txBox="1"/>
          <p:nvPr/>
        </p:nvSpPr>
        <p:spPr>
          <a:xfrm>
            <a:off x="3548635" y="5137169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121" name="TextBox 120"/>
          <p:cNvSpPr txBox="1"/>
          <p:nvPr/>
        </p:nvSpPr>
        <p:spPr>
          <a:xfrm>
            <a:off x="5711921" y="5166348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22" name="TextBox 121"/>
          <p:cNvSpPr txBox="1"/>
          <p:nvPr/>
        </p:nvSpPr>
        <p:spPr>
          <a:xfrm>
            <a:off x="6141040" y="5402591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123" name="TextBox 122"/>
          <p:cNvSpPr txBox="1"/>
          <p:nvPr/>
        </p:nvSpPr>
        <p:spPr>
          <a:xfrm>
            <a:off x="3508009" y="4478080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24" name="TextBox 123"/>
          <p:cNvSpPr txBox="1"/>
          <p:nvPr/>
        </p:nvSpPr>
        <p:spPr>
          <a:xfrm>
            <a:off x="3937128" y="4714323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cxnSp>
        <p:nvCxnSpPr>
          <p:cNvPr id="58" name="Shape 266"/>
          <p:cNvCxnSpPr>
            <a:cxnSpLocks noChangeShapeType="1"/>
            <a:stCxn id="55" idx="3"/>
            <a:endCxn id="41" idx="0"/>
          </p:cNvCxnSpPr>
          <p:nvPr/>
        </p:nvCxnSpPr>
        <p:spPr bwMode="auto">
          <a:xfrm>
            <a:off x="6964918" y="2689286"/>
            <a:ext cx="1966524" cy="314871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14"/>
          <p:cNvGrpSpPr/>
          <p:nvPr/>
        </p:nvGrpSpPr>
        <p:grpSpPr>
          <a:xfrm>
            <a:off x="8553059" y="5827007"/>
            <a:ext cx="756425" cy="410305"/>
            <a:chOff x="8553059" y="5827007"/>
            <a:chExt cx="756425" cy="410305"/>
          </a:xfrm>
        </p:grpSpPr>
        <p:sp>
          <p:nvSpPr>
            <p:cNvPr id="41" name="직사각형 40"/>
            <p:cNvSpPr/>
            <p:nvPr/>
          </p:nvSpPr>
          <p:spPr>
            <a:xfrm>
              <a:off x="8681541" y="583800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43" name="육각형 42"/>
            <p:cNvSpPr/>
            <p:nvPr/>
          </p:nvSpPr>
          <p:spPr bwMode="auto">
            <a:xfrm>
              <a:off x="8553059" y="582700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예산변경 반영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65" name="직사각형 64"/>
          <p:cNvSpPr/>
          <p:nvPr/>
        </p:nvSpPr>
        <p:spPr bwMode="auto">
          <a:xfrm>
            <a:off x="4772639" y="47074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7" name="Shape 266"/>
          <p:cNvCxnSpPr>
            <a:cxnSpLocks noChangeShapeType="1"/>
            <a:stCxn id="65" idx="0"/>
            <a:endCxn id="53" idx="1"/>
          </p:cNvCxnSpPr>
          <p:nvPr/>
        </p:nvCxnSpPr>
        <p:spPr bwMode="auto">
          <a:xfrm rot="5400000" flipH="1" flipV="1">
            <a:off x="5255540" y="3749868"/>
            <a:ext cx="852912" cy="10622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3898773" y="422359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예산변경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5" name="Shape 266"/>
          <p:cNvCxnSpPr>
            <a:cxnSpLocks noChangeShapeType="1"/>
            <a:stCxn id="72" idx="0"/>
            <a:endCxn id="54" idx="1"/>
          </p:cNvCxnSpPr>
          <p:nvPr/>
        </p:nvCxnSpPr>
        <p:spPr bwMode="auto">
          <a:xfrm rot="5400000" flipH="1" flipV="1">
            <a:off x="4819945" y="2830403"/>
            <a:ext cx="850236" cy="193615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70376102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예산변경 업무는 예산변경인식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예산변경신청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예산변경승인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예산변경반영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예산변경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1759773"/>
              </p:ext>
            </p:extLst>
          </p:nvPr>
        </p:nvGraphicFramePr>
        <p:xfrm>
          <a:off x="344489" y="1584356"/>
          <a:ext cx="9181019" cy="4206720"/>
        </p:xfrm>
        <a:graphic>
          <a:graphicData uri="http://schemas.openxmlformats.org/drawingml/2006/table">
            <a:tbl>
              <a:tblPr firstRow="1" bandRow="1"/>
              <a:tblGrid>
                <a:gridCol w="37460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511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4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변경가능 예산 협의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절감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불용예산이나 타 부서 예산 중 변경가능 예산을 찾아서 협의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4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예산담당자는 예산 변경서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변경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4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작성된 예산 전용서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변경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4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부서장은 요청된 예산 변경서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변경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4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예산부서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승인처리된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예산변경서  승인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사업본부 예산관리자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변경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4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전용일 경우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예산변경 승인을 요청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변경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54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조정일 경우 예산팀에서 승인하고 예산 변경일 경우 자체전용인 경우와 자체전용 불가인 경우로 나누어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지고 법인회계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기금회계에 따라 승인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latinLnBrk="0"/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승인 </a:t>
                      </a:r>
                      <a:r>
                        <a:rPr lang="ko-KR" altLang="en-US" sz="1000" b="0" baseline="0" dirty="0" err="1">
                          <a:latin typeface="+mn-ea"/>
                          <a:ea typeface="+mn-ea"/>
                        </a:rPr>
                        <a:t>완료시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배정금액도 잔액기준으로 차감 또는 추가배정을 자동으로 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예산 변경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07900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예산절감 업무는 예산절감 단일 업무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절감계획 수립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작성통보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절감</a:t>
            </a:r>
            <a:r>
              <a:rPr lang="en-US" altLang="ko-KR" sz="1600" dirty="0">
                <a:latin typeface="+mn-ea"/>
                <a:ea typeface="+mn-ea"/>
              </a:rPr>
              <a:t>/</a:t>
            </a:r>
            <a:r>
              <a:rPr lang="ko-KR" altLang="en-US" sz="1600" dirty="0">
                <a:latin typeface="+mn-ea"/>
                <a:ea typeface="+mn-ea"/>
              </a:rPr>
              <a:t>불용서 작성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예산부서 승인 등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3.2.2.5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예산절감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·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이월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910067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예산절감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이월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2695703"/>
              </p:ext>
            </p:extLst>
          </p:nvPr>
        </p:nvGraphicFramePr>
        <p:xfrm>
          <a:off x="344488" y="1924188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1.1.5.1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예산절감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담당팀장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23" name="Shape 266">
            <a:extLst>
              <a:ext uri="{FF2B5EF4-FFF2-40B4-BE49-F238E27FC236}">
                <a16:creationId xmlns="" xmlns:a16="http://schemas.microsoft.com/office/drawing/2014/main" id="{92DFEF70-9002-4B3F-B75F-B67897992A69}"/>
              </a:ext>
            </a:extLst>
          </p:cNvPr>
          <p:cNvCxnSpPr>
            <a:cxnSpLocks noChangeShapeType="1"/>
            <a:stCxn id="40" idx="2"/>
            <a:endCxn id="49" idx="0"/>
          </p:cNvCxnSpPr>
          <p:nvPr/>
        </p:nvCxnSpPr>
        <p:spPr bwMode="auto">
          <a:xfrm flipH="1">
            <a:off x="1874829" y="2904999"/>
            <a:ext cx="170" cy="53135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4" name="직사각형 23">
            <a:extLst>
              <a:ext uri="{FF2B5EF4-FFF2-40B4-BE49-F238E27FC236}">
                <a16:creationId xmlns="" xmlns:a16="http://schemas.microsoft.com/office/drawing/2014/main" id="{44C0DDBA-D8CE-4F0B-99E4-EDC0D01AAB5F}"/>
              </a:ext>
            </a:extLst>
          </p:cNvPr>
          <p:cNvSpPr/>
          <p:nvPr/>
        </p:nvSpPr>
        <p:spPr bwMode="auto">
          <a:xfrm>
            <a:off x="2913271" y="5491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절감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불용서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="" xmlns:a16="http://schemas.microsoft.com/office/drawing/2014/main" id="{DCE77E13-3276-4D48-A854-98355A596513}"/>
              </a:ext>
            </a:extLst>
          </p:cNvPr>
          <p:cNvSpPr/>
          <p:nvPr/>
        </p:nvSpPr>
        <p:spPr bwMode="auto">
          <a:xfrm>
            <a:off x="5746581" y="5491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절감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불용서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29" name="Shape 266">
            <a:extLst>
              <a:ext uri="{FF2B5EF4-FFF2-40B4-BE49-F238E27FC236}">
                <a16:creationId xmlns="" xmlns:a16="http://schemas.microsoft.com/office/drawing/2014/main" id="{4208196E-70CC-4D36-A882-4C6F09F6E679}"/>
              </a:ext>
            </a:extLst>
          </p:cNvPr>
          <p:cNvCxnSpPr>
            <a:cxnSpLocks noChangeShapeType="1"/>
            <a:stCxn id="34" idx="3"/>
            <a:endCxn id="28" idx="1"/>
          </p:cNvCxnSpPr>
          <p:nvPr/>
        </p:nvCxnSpPr>
        <p:spPr bwMode="auto">
          <a:xfrm>
            <a:off x="5086351" y="5652235"/>
            <a:ext cx="66023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3" name="Shape 266">
            <a:extLst>
              <a:ext uri="{FF2B5EF4-FFF2-40B4-BE49-F238E27FC236}">
                <a16:creationId xmlns="" xmlns:a16="http://schemas.microsoft.com/office/drawing/2014/main" id="{85D53206-2513-4743-BC8A-B208E2EEFA50}"/>
              </a:ext>
            </a:extLst>
          </p:cNvPr>
          <p:cNvCxnSpPr>
            <a:cxnSpLocks noChangeShapeType="1"/>
            <a:stCxn id="28" idx="0"/>
            <a:endCxn id="35" idx="1"/>
          </p:cNvCxnSpPr>
          <p:nvPr/>
        </p:nvCxnSpPr>
        <p:spPr bwMode="auto">
          <a:xfrm rot="5400000" flipH="1" flipV="1">
            <a:off x="5696462" y="4025075"/>
            <a:ext cx="1895107" cy="103844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" name="직사각형 33">
            <a:extLst>
              <a:ext uri="{FF2B5EF4-FFF2-40B4-BE49-F238E27FC236}">
                <a16:creationId xmlns="" xmlns:a16="http://schemas.microsoft.com/office/drawing/2014/main" id="{95A9A25D-D559-4350-B697-E17F705AAB3B}"/>
              </a:ext>
            </a:extLst>
          </p:cNvPr>
          <p:cNvSpPr/>
          <p:nvPr/>
        </p:nvSpPr>
        <p:spPr bwMode="auto">
          <a:xfrm>
            <a:off x="4329926" y="5491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절감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불용서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="" xmlns:a16="http://schemas.microsoft.com/office/drawing/2014/main" id="{06333513-207E-4FCF-92BE-D8E452610029}"/>
              </a:ext>
            </a:extLst>
          </p:cNvPr>
          <p:cNvSpPr/>
          <p:nvPr/>
        </p:nvSpPr>
        <p:spPr bwMode="auto">
          <a:xfrm>
            <a:off x="7163236" y="34363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예산부서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6" name="Shape 266">
            <a:extLst>
              <a:ext uri="{FF2B5EF4-FFF2-40B4-BE49-F238E27FC236}">
                <a16:creationId xmlns="" xmlns:a16="http://schemas.microsoft.com/office/drawing/2014/main" id="{C48EBC6B-31BC-41C4-94C3-4CC058D0D30D}"/>
              </a:ext>
            </a:extLst>
          </p:cNvPr>
          <p:cNvCxnSpPr>
            <a:cxnSpLocks noChangeShapeType="1"/>
            <a:stCxn id="35" idx="3"/>
            <a:endCxn id="48" idx="3"/>
          </p:cNvCxnSpPr>
          <p:nvPr/>
        </p:nvCxnSpPr>
        <p:spPr bwMode="auto">
          <a:xfrm flipV="1">
            <a:off x="7919661" y="3596741"/>
            <a:ext cx="660231" cy="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>
            <a:extLst>
              <a:ext uri="{FF2B5EF4-FFF2-40B4-BE49-F238E27FC236}">
                <a16:creationId xmlns="" xmlns:a16="http://schemas.microsoft.com/office/drawing/2014/main" id="{A97B3C15-7BE9-4D93-BBAB-7090C47271D7}"/>
              </a:ext>
            </a:extLst>
          </p:cNvPr>
          <p:cNvCxnSpPr>
            <a:cxnSpLocks noChangeShapeType="1"/>
            <a:stCxn id="24" idx="3"/>
            <a:endCxn id="34" idx="1"/>
          </p:cNvCxnSpPr>
          <p:nvPr/>
        </p:nvCxnSpPr>
        <p:spPr bwMode="auto">
          <a:xfrm>
            <a:off x="3669696" y="5652235"/>
            <a:ext cx="66023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6">
            <a:extLst>
              <a:ext uri="{FF2B5EF4-FFF2-40B4-BE49-F238E27FC236}">
                <a16:creationId xmlns="" xmlns:a16="http://schemas.microsoft.com/office/drawing/2014/main" id="{C5E9E291-7120-4132-B260-7FBB44370512}"/>
              </a:ext>
            </a:extLst>
          </p:cNvPr>
          <p:cNvGrpSpPr/>
          <p:nvPr/>
        </p:nvGrpSpPr>
        <p:grpSpPr>
          <a:xfrm>
            <a:off x="1496616" y="2500252"/>
            <a:ext cx="756425" cy="410305"/>
            <a:chOff x="2432720" y="3018693"/>
            <a:chExt cx="756425" cy="410305"/>
          </a:xfrm>
        </p:grpSpPr>
        <p:sp>
          <p:nvSpPr>
            <p:cNvPr id="40" name="직사각형 39">
              <a:extLst>
                <a:ext uri="{FF2B5EF4-FFF2-40B4-BE49-F238E27FC236}">
                  <a16:creationId xmlns="" xmlns:a16="http://schemas.microsoft.com/office/drawing/2014/main" id="{63E41C6C-32DC-4C5D-A361-4FF6EAF5D8F4}"/>
                </a:ext>
              </a:extLst>
            </p:cNvPr>
            <p:cNvSpPr/>
            <p:nvPr/>
          </p:nvSpPr>
          <p:spPr>
            <a:xfrm>
              <a:off x="2561202" y="302968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41" name="육각형 40">
              <a:extLst>
                <a:ext uri="{FF2B5EF4-FFF2-40B4-BE49-F238E27FC236}">
                  <a16:creationId xmlns="" xmlns:a16="http://schemas.microsoft.com/office/drawing/2014/main" id="{F1658F62-426A-441F-91FC-E26EFBEE3369}"/>
                </a:ext>
              </a:extLst>
            </p:cNvPr>
            <p:cNvSpPr/>
            <p:nvPr/>
          </p:nvSpPr>
          <p:spPr bwMode="auto">
            <a:xfrm>
              <a:off x="2432720" y="301869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연초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28">
            <a:extLst>
              <a:ext uri="{FF2B5EF4-FFF2-40B4-BE49-F238E27FC236}">
                <a16:creationId xmlns="" xmlns:a16="http://schemas.microsoft.com/office/drawing/2014/main" id="{49D96B47-4A91-45D9-AAA0-3AE842AF679C}"/>
              </a:ext>
            </a:extLst>
          </p:cNvPr>
          <p:cNvGrpSpPr/>
          <p:nvPr/>
        </p:nvGrpSpPr>
        <p:grpSpPr>
          <a:xfrm>
            <a:off x="8579892" y="3391588"/>
            <a:ext cx="756425" cy="410305"/>
            <a:chOff x="2432720" y="3018693"/>
            <a:chExt cx="756425" cy="410305"/>
          </a:xfrm>
        </p:grpSpPr>
        <p:sp>
          <p:nvSpPr>
            <p:cNvPr id="47" name="직사각형 46">
              <a:extLst>
                <a:ext uri="{FF2B5EF4-FFF2-40B4-BE49-F238E27FC236}">
                  <a16:creationId xmlns="" xmlns:a16="http://schemas.microsoft.com/office/drawing/2014/main" id="{0C1D3A71-C4A9-493E-86D8-7072BAE497E8}"/>
                </a:ext>
              </a:extLst>
            </p:cNvPr>
            <p:cNvSpPr/>
            <p:nvPr/>
          </p:nvSpPr>
          <p:spPr>
            <a:xfrm>
              <a:off x="2561202" y="302968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48" name="육각형 47">
              <a:extLst>
                <a:ext uri="{FF2B5EF4-FFF2-40B4-BE49-F238E27FC236}">
                  <a16:creationId xmlns="" xmlns:a16="http://schemas.microsoft.com/office/drawing/2014/main" id="{C2EA4B19-389A-4B37-BE8F-9509103D039E}"/>
                </a:ext>
              </a:extLst>
            </p:cNvPr>
            <p:cNvSpPr/>
            <p:nvPr/>
          </p:nvSpPr>
          <p:spPr bwMode="auto">
            <a:xfrm>
              <a:off x="2432720" y="301869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예산절감 확정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1496616" y="34363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절감계획 수립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="" xmlns:a16="http://schemas.microsoft.com/office/drawing/2014/main" id="{717C4118-0851-43E2-815B-2FE2A5CBA94B}"/>
              </a:ext>
            </a:extLst>
          </p:cNvPr>
          <p:cNvSpPr/>
          <p:nvPr/>
        </p:nvSpPr>
        <p:spPr bwMode="auto">
          <a:xfrm>
            <a:off x="2913271" y="34363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작성통보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1" name="Shape 266">
            <a:extLst>
              <a:ext uri="{FF2B5EF4-FFF2-40B4-BE49-F238E27FC236}">
                <a16:creationId xmlns="" xmlns:a16="http://schemas.microsoft.com/office/drawing/2014/main" id="{95B84453-5B18-4DD4-B776-256B767C7EFE}"/>
              </a:ext>
            </a:extLst>
          </p:cNvPr>
          <p:cNvCxnSpPr>
            <a:cxnSpLocks noChangeShapeType="1"/>
            <a:stCxn id="49" idx="3"/>
            <a:endCxn id="50" idx="1"/>
          </p:cNvCxnSpPr>
          <p:nvPr/>
        </p:nvCxnSpPr>
        <p:spPr bwMode="auto">
          <a:xfrm>
            <a:off x="2253041" y="3596742"/>
            <a:ext cx="66023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" name="Shape 266">
            <a:extLst>
              <a:ext uri="{FF2B5EF4-FFF2-40B4-BE49-F238E27FC236}">
                <a16:creationId xmlns="" xmlns:a16="http://schemas.microsoft.com/office/drawing/2014/main" id="{D580FC1E-9299-4DE1-BA6E-3A74A5FD9C53}"/>
              </a:ext>
            </a:extLst>
          </p:cNvPr>
          <p:cNvCxnSpPr>
            <a:cxnSpLocks noChangeShapeType="1"/>
            <a:stCxn id="50" idx="2"/>
            <a:endCxn id="24" idx="0"/>
          </p:cNvCxnSpPr>
          <p:nvPr/>
        </p:nvCxnSpPr>
        <p:spPr bwMode="auto">
          <a:xfrm>
            <a:off x="3291484" y="3757127"/>
            <a:ext cx="0" cy="17347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25354806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예산절감 업무는 예산절감 단일 업무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절감계획 수립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작성통보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절감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불용서 작성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예산부서 승인 등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3.2.2.5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예산절감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·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이월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F13E62FA-ADCE-4C2B-A486-5EB04C5687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6498592"/>
              </p:ext>
            </p:extLst>
          </p:nvPr>
        </p:nvGraphicFramePr>
        <p:xfrm>
          <a:off x="344489" y="1584356"/>
          <a:ext cx="9181021" cy="2657028"/>
        </p:xfrm>
        <a:graphic>
          <a:graphicData uri="http://schemas.openxmlformats.org/drawingml/2006/table">
            <a:tbl>
              <a:tblPr firstRow="1" bandRow="1"/>
              <a:tblGrid>
                <a:gridCol w="37464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396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608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절감계획수립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예산팀은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예산절감계획을 수립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작성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예산절감은 분기별과 익년도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예산불용은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연말 불용발생 시 업무부서에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절감 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그룹웨어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절감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불용서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예산담당자는 예산 변경서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절감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절감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불용서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작성된 예산 절감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불용서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절감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절감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불용서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 부서장은 요청된 예산 절감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불용서승인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절감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예산부서승인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승인처리된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예산 절감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불용서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절감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908514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예산이월 </a:t>
            </a:r>
            <a:r>
              <a:rPr lang="ko-KR" altLang="en-US" sz="1600" dirty="0">
                <a:latin typeface="+mn-ea"/>
                <a:ea typeface="+mn-ea"/>
              </a:rPr>
              <a:t>업무는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예산이월 단일 </a:t>
            </a:r>
            <a:r>
              <a:rPr lang="ko-KR" altLang="en-US" sz="1600" dirty="0">
                <a:latin typeface="+mn-ea"/>
                <a:ea typeface="+mn-ea"/>
              </a:rPr>
              <a:t>업무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예산이월 요청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이월예산서 작성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이월예산서 승인 등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3.2.2.5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예산절감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·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이월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907916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예산절감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이월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511000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1.1.5.2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예산이월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75328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920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7920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8640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결산담당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920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44" name="Shape 266"/>
          <p:cNvCxnSpPr>
            <a:cxnSpLocks noChangeShapeType="1"/>
            <a:stCxn id="50" idx="2"/>
            <a:endCxn id="45" idx="1"/>
          </p:cNvCxnSpPr>
          <p:nvPr/>
        </p:nvCxnSpPr>
        <p:spPr bwMode="auto">
          <a:xfrm rot="16200000" flipH="1">
            <a:off x="4341069" y="5032948"/>
            <a:ext cx="111842" cy="197611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직사각형 44"/>
          <p:cNvSpPr/>
          <p:nvPr/>
        </p:nvSpPr>
        <p:spPr bwMode="auto">
          <a:xfrm>
            <a:off x="5385048" y="59165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이월예산서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7509284" y="59165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</a:t>
            </a:r>
            <a:r>
              <a:rPr lang="ko-KR" altLang="en-US" sz="900" kern="0" dirty="0">
                <a:solidFill>
                  <a:prstClr val="black"/>
                </a:solidFill>
              </a:rPr>
              <a:t>이월예산서 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45" idx="3"/>
            <a:endCxn id="37" idx="1"/>
          </p:cNvCxnSpPr>
          <p:nvPr/>
        </p:nvCxnSpPr>
        <p:spPr bwMode="auto">
          <a:xfrm>
            <a:off x="6141473" y="6076927"/>
            <a:ext cx="32369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" name="직사각형 86"/>
          <p:cNvSpPr/>
          <p:nvPr/>
        </p:nvSpPr>
        <p:spPr bwMode="auto">
          <a:xfrm>
            <a:off x="6141132" y="41163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예산부서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8" name="Shape 266"/>
          <p:cNvCxnSpPr>
            <a:cxnSpLocks noChangeShapeType="1"/>
            <a:stCxn id="84" idx="0"/>
            <a:endCxn id="87" idx="2"/>
          </p:cNvCxnSpPr>
          <p:nvPr/>
        </p:nvCxnSpPr>
        <p:spPr bwMode="auto">
          <a:xfrm rot="16200000" flipV="1">
            <a:off x="6463707" y="4492751"/>
            <a:ext cx="1479429" cy="136815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28" idx="3"/>
            <a:endCxn id="60" idx="3"/>
          </p:cNvCxnSpPr>
          <p:nvPr/>
        </p:nvCxnSpPr>
        <p:spPr bwMode="auto">
          <a:xfrm>
            <a:off x="8125961" y="4276727"/>
            <a:ext cx="390071" cy="54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9" name="TextBox 48"/>
          <p:cNvSpPr txBox="1"/>
          <p:nvPr/>
        </p:nvSpPr>
        <p:spPr>
          <a:xfrm>
            <a:off x="1676636" y="5301208"/>
            <a:ext cx="7906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92075" indent="-92075">
              <a:buFont typeface="Arial" panose="020B0604020202020204" pitchFamily="34" charset="0"/>
              <a:buChar char="•"/>
            </a:pPr>
            <a:r>
              <a:rPr lang="ko-KR" altLang="en-US" sz="800" dirty="0"/>
              <a:t>명시이월</a:t>
            </a:r>
            <a:endParaRPr lang="en-US" altLang="ko-KR" sz="800" dirty="0"/>
          </a:p>
          <a:p>
            <a:pPr marL="92075" indent="-92075">
              <a:buFont typeface="Arial" panose="020B0604020202020204" pitchFamily="34" charset="0"/>
              <a:buChar char="•"/>
            </a:pPr>
            <a:r>
              <a:rPr lang="ko-KR" altLang="en-US" sz="800" dirty="0"/>
              <a:t>사고이월</a:t>
            </a:r>
            <a:endParaRPr lang="en-US" altLang="ko-KR" sz="800" dirty="0"/>
          </a:p>
          <a:p>
            <a:pPr marL="92075" indent="-92075">
              <a:buFont typeface="Arial" panose="020B0604020202020204" pitchFamily="34" charset="0"/>
              <a:buChar char="•"/>
            </a:pPr>
            <a:r>
              <a:rPr lang="ko-KR" altLang="en-US" sz="800" dirty="0"/>
              <a:t>계속비이월</a:t>
            </a:r>
          </a:p>
        </p:txBody>
      </p:sp>
      <p:grpSp>
        <p:nvGrpSpPr>
          <p:cNvPr id="5" name="그룹 7"/>
          <p:cNvGrpSpPr/>
          <p:nvPr/>
        </p:nvGrpSpPr>
        <p:grpSpPr>
          <a:xfrm>
            <a:off x="1496616" y="4869160"/>
            <a:ext cx="756425" cy="410305"/>
            <a:chOff x="2562248" y="4583845"/>
            <a:chExt cx="756425" cy="410305"/>
          </a:xfrm>
        </p:grpSpPr>
        <p:sp>
          <p:nvSpPr>
            <p:cNvPr id="26" name="직사각형 25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7" name="육각형 26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이월예산 발생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34" name="직사각형 33"/>
          <p:cNvSpPr/>
          <p:nvPr/>
        </p:nvSpPr>
        <p:spPr bwMode="auto">
          <a:xfrm>
            <a:off x="2468724" y="491392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예산이월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6465168" y="59165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</a:t>
            </a:r>
            <a:r>
              <a:rPr lang="ko-KR" altLang="en-US" sz="900" kern="0" dirty="0">
                <a:solidFill>
                  <a:prstClr val="black"/>
                </a:solidFill>
              </a:rPr>
              <a:t>이월예산서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2" name="Shape 266"/>
          <p:cNvCxnSpPr>
            <a:cxnSpLocks noChangeShapeType="1"/>
            <a:stCxn id="37" idx="3"/>
            <a:endCxn id="84" idx="1"/>
          </p:cNvCxnSpPr>
          <p:nvPr/>
        </p:nvCxnSpPr>
        <p:spPr bwMode="auto">
          <a:xfrm>
            <a:off x="7221593" y="6076927"/>
            <a:ext cx="28769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6" name="Shape 266"/>
          <p:cNvCxnSpPr>
            <a:cxnSpLocks noChangeShapeType="1"/>
            <a:stCxn id="27" idx="0"/>
            <a:endCxn id="34" idx="1"/>
          </p:cNvCxnSpPr>
          <p:nvPr/>
        </p:nvCxnSpPr>
        <p:spPr bwMode="auto">
          <a:xfrm flipV="1">
            <a:off x="2253041" y="5074312"/>
            <a:ext cx="215683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49"/>
          <p:cNvGrpSpPr/>
          <p:nvPr/>
        </p:nvGrpSpPr>
        <p:grpSpPr>
          <a:xfrm>
            <a:off x="2342777" y="5301208"/>
            <a:ext cx="307440" cy="420793"/>
            <a:chOff x="3031001" y="4475605"/>
            <a:chExt cx="322637" cy="420793"/>
          </a:xfrm>
        </p:grpSpPr>
        <p:sp>
          <p:nvSpPr>
            <p:cNvPr id="51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Freeform 176"/>
            <p:cNvSpPr>
              <a:spLocks noChangeArrowheads="1"/>
            </p:cNvSpPr>
            <p:nvPr/>
          </p:nvSpPr>
          <p:spPr bwMode="auto">
            <a:xfrm flipH="1">
              <a:off x="3031001" y="4500354"/>
              <a:ext cx="90051" cy="396044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" name="그룹 57"/>
          <p:cNvGrpSpPr/>
          <p:nvPr/>
        </p:nvGrpSpPr>
        <p:grpSpPr>
          <a:xfrm>
            <a:off x="8516032" y="4077072"/>
            <a:ext cx="756425" cy="410305"/>
            <a:chOff x="2562248" y="4583845"/>
            <a:chExt cx="756425" cy="410305"/>
          </a:xfrm>
        </p:grpSpPr>
        <p:sp>
          <p:nvSpPr>
            <p:cNvPr id="59" name="직사각형 58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0" name="육각형 59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예산이월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28" name="순서도: 판단 58"/>
          <p:cNvSpPr>
            <a:spLocks noChangeAspect="1" noChangeArrowheads="1"/>
          </p:cNvSpPr>
          <p:nvPr/>
        </p:nvSpPr>
        <p:spPr bwMode="auto">
          <a:xfrm>
            <a:off x="7192747" y="4052800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기금회계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19964" y="3886954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30" name="TextBox 29"/>
          <p:cNvSpPr txBox="1"/>
          <p:nvPr/>
        </p:nvSpPr>
        <p:spPr>
          <a:xfrm>
            <a:off x="8049083" y="4123197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33" name="직사각형 32"/>
          <p:cNvSpPr/>
          <p:nvPr/>
        </p:nvSpPr>
        <p:spPr bwMode="auto">
          <a:xfrm>
            <a:off x="7871358" y="328498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이사회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6" name="Shape 266"/>
          <p:cNvCxnSpPr>
            <a:cxnSpLocks noChangeShapeType="1"/>
            <a:stCxn id="87" idx="3"/>
            <a:endCxn id="28" idx="1"/>
          </p:cNvCxnSpPr>
          <p:nvPr/>
        </p:nvCxnSpPr>
        <p:spPr bwMode="auto">
          <a:xfrm>
            <a:off x="6897557" y="4276727"/>
            <a:ext cx="29519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" name="Shape 266"/>
          <p:cNvCxnSpPr>
            <a:cxnSpLocks noChangeShapeType="1"/>
            <a:stCxn id="28" idx="0"/>
            <a:endCxn id="33" idx="1"/>
          </p:cNvCxnSpPr>
          <p:nvPr/>
        </p:nvCxnSpPr>
        <p:spPr bwMode="auto">
          <a:xfrm rot="5400000" flipH="1" flipV="1">
            <a:off x="7461641" y="3643083"/>
            <a:ext cx="607430" cy="21200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" name="Shape 266"/>
          <p:cNvCxnSpPr>
            <a:cxnSpLocks noChangeShapeType="1"/>
            <a:stCxn id="33" idx="2"/>
            <a:endCxn id="60" idx="3"/>
          </p:cNvCxnSpPr>
          <p:nvPr/>
        </p:nvCxnSpPr>
        <p:spPr bwMode="auto">
          <a:xfrm rot="16200000" flipH="1">
            <a:off x="8044566" y="3810759"/>
            <a:ext cx="676470" cy="26646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순서도: 판단 58"/>
          <p:cNvSpPr>
            <a:spLocks noChangeAspect="1" noChangeArrowheads="1"/>
          </p:cNvSpPr>
          <p:nvPr/>
        </p:nvSpPr>
        <p:spPr bwMode="auto">
          <a:xfrm>
            <a:off x="2942326" y="5517232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보조금</a:t>
            </a:r>
          </a:p>
        </p:txBody>
      </p:sp>
      <p:cxnSp>
        <p:nvCxnSpPr>
          <p:cNvPr id="53" name="Shape 266"/>
          <p:cNvCxnSpPr>
            <a:cxnSpLocks noChangeShapeType="1"/>
            <a:stCxn id="34" idx="3"/>
            <a:endCxn id="50" idx="0"/>
          </p:cNvCxnSpPr>
          <p:nvPr/>
        </p:nvCxnSpPr>
        <p:spPr bwMode="auto">
          <a:xfrm>
            <a:off x="3225149" y="5074312"/>
            <a:ext cx="183784" cy="44292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" name="직사각형 56"/>
          <p:cNvSpPr/>
          <p:nvPr/>
        </p:nvSpPr>
        <p:spPr bwMode="auto">
          <a:xfrm>
            <a:off x="4253751" y="249350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예산이월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4253752" y="55807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예산이월 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1" name="Shape 266"/>
          <p:cNvCxnSpPr>
            <a:cxnSpLocks noChangeShapeType="1"/>
            <a:stCxn id="50" idx="3"/>
            <a:endCxn id="58" idx="1"/>
          </p:cNvCxnSpPr>
          <p:nvPr/>
        </p:nvCxnSpPr>
        <p:spPr bwMode="auto">
          <a:xfrm flipV="1">
            <a:off x="3875540" y="5741158"/>
            <a:ext cx="378212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2" name="Shape 266"/>
          <p:cNvCxnSpPr>
            <a:cxnSpLocks noChangeShapeType="1"/>
            <a:stCxn id="58" idx="0"/>
            <a:endCxn id="57" idx="2"/>
          </p:cNvCxnSpPr>
          <p:nvPr/>
        </p:nvCxnSpPr>
        <p:spPr bwMode="auto">
          <a:xfrm flipH="1" flipV="1">
            <a:off x="4631964" y="2814277"/>
            <a:ext cx="1" cy="276649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" name="Shape 266"/>
          <p:cNvCxnSpPr>
            <a:cxnSpLocks noChangeShapeType="1"/>
            <a:stCxn id="57" idx="3"/>
            <a:endCxn id="45" idx="1"/>
          </p:cNvCxnSpPr>
          <p:nvPr/>
        </p:nvCxnSpPr>
        <p:spPr bwMode="auto">
          <a:xfrm>
            <a:off x="5010176" y="2653892"/>
            <a:ext cx="374872" cy="342303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" name="TextBox 47"/>
          <p:cNvSpPr txBox="1"/>
          <p:nvPr/>
        </p:nvSpPr>
        <p:spPr>
          <a:xfrm>
            <a:off x="3408931" y="5913284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54" name="TextBox 53"/>
          <p:cNvSpPr txBox="1"/>
          <p:nvPr/>
        </p:nvSpPr>
        <p:spPr>
          <a:xfrm>
            <a:off x="3808530" y="5502622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40855801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예산이월 </a:t>
            </a:r>
            <a:r>
              <a:rPr lang="ko-KR" altLang="en-US" dirty="0">
                <a:latin typeface="+mn-ea"/>
              </a:rPr>
              <a:t>업무는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예산이월 단일 </a:t>
            </a:r>
            <a:r>
              <a:rPr lang="ko-KR" altLang="en-US" dirty="0">
                <a:latin typeface="+mn-ea"/>
              </a:rPr>
              <a:t>업무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예산이월 요청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이월예산서 작성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이월예산서 승인 등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3.2.2.5 </a:t>
            </a:r>
            <a:r>
              <a:rPr lang="ko-KR" altLang="en-US" dirty="0"/>
              <a:t>예산절감</a:t>
            </a:r>
            <a:r>
              <a:rPr lang="en-US" altLang="ko-KR" dirty="0"/>
              <a:t>·</a:t>
            </a:r>
            <a:r>
              <a:rPr lang="ko-KR" altLang="en-US" dirty="0"/>
              <a:t>이월 </a:t>
            </a:r>
            <a:r>
              <a:rPr lang="en-US" altLang="ko-KR" dirty="0"/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6127541"/>
              </p:ext>
            </p:extLst>
          </p:nvPr>
        </p:nvGraphicFramePr>
        <p:xfrm>
          <a:off x="344489" y="1584356"/>
          <a:ext cx="9181019" cy="3400464"/>
        </p:xfrm>
        <a:graphic>
          <a:graphicData uri="http://schemas.openxmlformats.org/drawingml/2006/table">
            <a:tbl>
              <a:tblPr firstRow="1" bandRow="1"/>
              <a:tblGrid>
                <a:gridCol w="37179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7370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예산이월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사고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계속비 등 예산이월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예산이월 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업무부서 예산담당자는 예산이월에 대한 사항을 문화체육관광부에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이월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예산이월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문화체육관광부는 요청된 예산이월 사항에 대하여 승인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이월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이월예산서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업무부서 예산담당자는 이월 예산서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이월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이월예산서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작성한 이월 </a:t>
                      </a:r>
                      <a:r>
                        <a:rPr lang="ko-KR" altLang="en-US" sz="1000" b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예산서를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업무부서 부서장에게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이월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이월예산서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업무부서 부서장은 요청된 이월 예산서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이월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업무부서에서 </a:t>
                      </a:r>
                      <a:r>
                        <a:rPr lang="ko-KR" altLang="en-US" sz="1000" b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승인처리된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이월 예산서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이월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이사회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법인회계 </a:t>
                      </a:r>
                      <a:r>
                        <a:rPr lang="ko-KR" altLang="en-US" sz="1000" b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이월예산서를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국민체육진흥공단 이사회에서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910917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부서별 예산책임제도 정착 및 예산운영 효율화를 위한 예산종합평가제도를 자동화하여 평가결과에 대한 신뢰성 향상을 도모할 수 있도록 성과평가 일련의 절차와 기능을 구현함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3.2.2.6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예산종합평가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8189649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예산종합평가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344488" y="1918800"/>
          <a:ext cx="9181020" cy="43905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31236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93254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1.1.6.1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예산종합평가준비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1.1.6.2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1332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예산편성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·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집행심의회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80831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92088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" name="그룹 7"/>
          <p:cNvGrpSpPr/>
          <p:nvPr/>
        </p:nvGrpSpPr>
        <p:grpSpPr>
          <a:xfrm>
            <a:off x="1424608" y="2859085"/>
            <a:ext cx="756425" cy="410305"/>
            <a:chOff x="2562248" y="4583845"/>
            <a:chExt cx="756425" cy="410305"/>
          </a:xfrm>
        </p:grpSpPr>
        <p:sp>
          <p:nvSpPr>
            <p:cNvPr id="76" name="직사각형 75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7" name="육각형 76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연초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78" name="직사각형 77"/>
          <p:cNvSpPr/>
          <p:nvPr/>
        </p:nvSpPr>
        <p:spPr bwMode="auto">
          <a:xfrm>
            <a:off x="1424608" y="362239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예산종합 평가계획수립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2324367" y="362239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5. </a:t>
            </a:r>
            <a:r>
              <a:rPr lang="ko-KR" altLang="en-US" sz="900" kern="0" dirty="0">
                <a:solidFill>
                  <a:srgbClr val="015EBB"/>
                </a:solidFill>
              </a:rPr>
              <a:t>평가지표별 배점 등록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3224809" y="362239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6. </a:t>
            </a:r>
            <a:r>
              <a:rPr lang="ko-KR" altLang="en-US" sz="900" kern="0" dirty="0">
                <a:solidFill>
                  <a:srgbClr val="015EBB"/>
                </a:solidFill>
              </a:rPr>
              <a:t>세세목별 성과속성등록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3224808" y="429347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7. </a:t>
            </a:r>
            <a:r>
              <a:rPr lang="ko-KR" altLang="en-US" sz="900" kern="0" dirty="0">
                <a:solidFill>
                  <a:srgbClr val="015EBB"/>
                </a:solidFill>
              </a:rPr>
              <a:t>세세목예산 </a:t>
            </a:r>
            <a:r>
              <a:rPr lang="ko-KR" altLang="en-US" sz="900" kern="0" spc="-300" dirty="0">
                <a:solidFill>
                  <a:srgbClr val="015EBB"/>
                </a:solidFill>
              </a:rPr>
              <a:t>성과제외대상설정</a:t>
            </a:r>
            <a:endParaRPr lang="en-US" altLang="ko-KR" sz="900" kern="0" spc="-300" dirty="0">
              <a:solidFill>
                <a:srgbClr val="015EBB"/>
              </a:solidFill>
            </a:endParaRPr>
          </a:p>
        </p:txBody>
      </p:sp>
      <p:sp>
        <p:nvSpPr>
          <p:cNvPr id="83" name="직사각형 82"/>
          <p:cNvSpPr/>
          <p:nvPr/>
        </p:nvSpPr>
        <p:spPr bwMode="auto">
          <a:xfrm>
            <a:off x="3728864" y="496995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4. </a:t>
            </a:r>
            <a:r>
              <a:rPr lang="ko-KR" altLang="en-US" sz="900" kern="0" dirty="0">
                <a:solidFill>
                  <a:srgbClr val="015EBB"/>
                </a:solidFill>
              </a:rPr>
              <a:t>성과관리 사업내역조정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86" name="직사각형 85"/>
          <p:cNvSpPr/>
          <p:nvPr/>
        </p:nvSpPr>
        <p:spPr bwMode="auto">
          <a:xfrm>
            <a:off x="1424608" y="579679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3. </a:t>
            </a:r>
            <a:r>
              <a:rPr lang="ko-KR" altLang="en-US" sz="900" kern="0" dirty="0">
                <a:solidFill>
                  <a:srgbClr val="015EBB"/>
                </a:solidFill>
              </a:rPr>
              <a:t>성과관리 대상사업등록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89" name="직사각형 88"/>
          <p:cNvSpPr/>
          <p:nvPr/>
        </p:nvSpPr>
        <p:spPr bwMode="auto">
          <a:xfrm>
            <a:off x="1424608" y="496995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예산종합 평가계획통보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1" name="Shape 266"/>
          <p:cNvCxnSpPr>
            <a:cxnSpLocks noChangeShapeType="1"/>
            <a:endCxn id="78" idx="0"/>
          </p:cNvCxnSpPr>
          <p:nvPr/>
        </p:nvCxnSpPr>
        <p:spPr bwMode="auto">
          <a:xfrm>
            <a:off x="1802820" y="3277667"/>
            <a:ext cx="1" cy="3447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78" idx="2"/>
            <a:endCxn id="89" idx="0"/>
          </p:cNvCxnSpPr>
          <p:nvPr/>
        </p:nvCxnSpPr>
        <p:spPr bwMode="auto">
          <a:xfrm>
            <a:off x="1802821" y="3943170"/>
            <a:ext cx="0" cy="10267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89" idx="2"/>
            <a:endCxn id="86" idx="0"/>
          </p:cNvCxnSpPr>
          <p:nvPr/>
        </p:nvCxnSpPr>
        <p:spPr bwMode="auto">
          <a:xfrm>
            <a:off x="1802821" y="5290729"/>
            <a:ext cx="0" cy="5060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78" idx="3"/>
            <a:endCxn id="80" idx="1"/>
          </p:cNvCxnSpPr>
          <p:nvPr/>
        </p:nvCxnSpPr>
        <p:spPr bwMode="auto">
          <a:xfrm>
            <a:off x="2181033" y="3782785"/>
            <a:ext cx="14333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80" idx="3"/>
            <a:endCxn id="81" idx="1"/>
          </p:cNvCxnSpPr>
          <p:nvPr/>
        </p:nvCxnSpPr>
        <p:spPr bwMode="auto">
          <a:xfrm>
            <a:off x="3080792" y="3782785"/>
            <a:ext cx="14401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86" idx="3"/>
            <a:endCxn id="83" idx="2"/>
          </p:cNvCxnSpPr>
          <p:nvPr/>
        </p:nvCxnSpPr>
        <p:spPr bwMode="auto">
          <a:xfrm flipV="1">
            <a:off x="2181033" y="5290729"/>
            <a:ext cx="1926044" cy="66645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8" name="Shape 266"/>
          <p:cNvCxnSpPr>
            <a:cxnSpLocks noChangeShapeType="1"/>
            <a:stCxn id="81" idx="2"/>
            <a:endCxn id="82" idx="0"/>
          </p:cNvCxnSpPr>
          <p:nvPr/>
        </p:nvCxnSpPr>
        <p:spPr bwMode="auto">
          <a:xfrm flipH="1">
            <a:off x="3603021" y="3943170"/>
            <a:ext cx="1" cy="3503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" name="직사각형 98"/>
          <p:cNvSpPr/>
          <p:nvPr/>
        </p:nvSpPr>
        <p:spPr bwMode="auto">
          <a:xfrm>
            <a:off x="4736976" y="429347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예산종합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평가실시통보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0" name="Shape 266"/>
          <p:cNvCxnSpPr>
            <a:cxnSpLocks noChangeShapeType="1"/>
            <a:stCxn id="83" idx="0"/>
            <a:endCxn id="99" idx="1"/>
          </p:cNvCxnSpPr>
          <p:nvPr/>
        </p:nvCxnSpPr>
        <p:spPr bwMode="auto">
          <a:xfrm rot="5400000" flipH="1" flipV="1">
            <a:off x="4163980" y="4396963"/>
            <a:ext cx="516093" cy="62989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" name="Shape 266"/>
          <p:cNvCxnSpPr>
            <a:cxnSpLocks noChangeShapeType="1"/>
            <a:stCxn id="82" idx="3"/>
            <a:endCxn id="99" idx="1"/>
          </p:cNvCxnSpPr>
          <p:nvPr/>
        </p:nvCxnSpPr>
        <p:spPr bwMode="auto">
          <a:xfrm>
            <a:off x="3981233" y="4453865"/>
            <a:ext cx="75574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9" name="직사각형 108"/>
          <p:cNvSpPr/>
          <p:nvPr/>
        </p:nvSpPr>
        <p:spPr bwMode="auto">
          <a:xfrm>
            <a:off x="5708743" y="278707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10. </a:t>
            </a:r>
            <a:r>
              <a:rPr lang="ko-KR" altLang="en-US" sz="900" kern="0" dirty="0">
                <a:solidFill>
                  <a:srgbClr val="015EBB"/>
                </a:solidFill>
              </a:rPr>
              <a:t>경상경비 집행률 산정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10" name="Shape 266"/>
          <p:cNvCxnSpPr>
            <a:cxnSpLocks noChangeShapeType="1"/>
            <a:stCxn id="99" idx="3"/>
            <a:endCxn id="109" idx="1"/>
          </p:cNvCxnSpPr>
          <p:nvPr/>
        </p:nvCxnSpPr>
        <p:spPr bwMode="auto">
          <a:xfrm flipV="1">
            <a:off x="5493401" y="2947463"/>
            <a:ext cx="215342" cy="150640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2" name="직사각형 111"/>
          <p:cNvSpPr/>
          <p:nvPr/>
        </p:nvSpPr>
        <p:spPr bwMode="auto">
          <a:xfrm>
            <a:off x="5708743" y="31766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11. </a:t>
            </a:r>
            <a:r>
              <a:rPr lang="ko-KR" altLang="en-US" sz="900" kern="0" dirty="0">
                <a:solidFill>
                  <a:srgbClr val="015EBB"/>
                </a:solidFill>
              </a:rPr>
              <a:t>사업비 집행률 산정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13" name="직사각형 112"/>
          <p:cNvSpPr/>
          <p:nvPr/>
        </p:nvSpPr>
        <p:spPr bwMode="auto">
          <a:xfrm>
            <a:off x="5708743" y="356620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12. </a:t>
            </a:r>
            <a:r>
              <a:rPr lang="ko-KR" altLang="en-US" sz="900" kern="0" dirty="0">
                <a:solidFill>
                  <a:srgbClr val="015EBB"/>
                </a:solidFill>
              </a:rPr>
              <a:t>사업비 조기집행실적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14" name="직사각형 113"/>
          <p:cNvSpPr/>
          <p:nvPr/>
        </p:nvSpPr>
        <p:spPr bwMode="auto">
          <a:xfrm>
            <a:off x="4741747" y="57967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9. </a:t>
            </a:r>
            <a:r>
              <a:rPr lang="ko-KR" altLang="en-US" sz="900" kern="0" dirty="0">
                <a:solidFill>
                  <a:srgbClr val="015EBB"/>
                </a:solidFill>
              </a:rPr>
              <a:t>성과관리 사업실적등록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15" name="Shape 266"/>
          <p:cNvCxnSpPr>
            <a:cxnSpLocks noChangeShapeType="1"/>
            <a:stCxn id="99" idx="2"/>
            <a:endCxn id="114" idx="0"/>
          </p:cNvCxnSpPr>
          <p:nvPr/>
        </p:nvCxnSpPr>
        <p:spPr bwMode="auto">
          <a:xfrm>
            <a:off x="5115189" y="4614250"/>
            <a:ext cx="4771" cy="118254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8" name="직사각형 117"/>
          <p:cNvSpPr/>
          <p:nvPr/>
        </p:nvSpPr>
        <p:spPr bwMode="auto">
          <a:xfrm>
            <a:off x="5708743" y="39557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13. </a:t>
            </a:r>
            <a:r>
              <a:rPr lang="ko-KR" altLang="en-US" sz="900" kern="0" dirty="0">
                <a:solidFill>
                  <a:srgbClr val="015EBB"/>
                </a:solidFill>
              </a:rPr>
              <a:t>예산전용 평가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19" name="직사각형 118"/>
          <p:cNvSpPr/>
          <p:nvPr/>
        </p:nvSpPr>
        <p:spPr bwMode="auto">
          <a:xfrm>
            <a:off x="5708743" y="43453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14. </a:t>
            </a:r>
            <a:r>
              <a:rPr lang="ko-KR" altLang="en-US" sz="900" kern="0" dirty="0">
                <a:solidFill>
                  <a:srgbClr val="015EBB"/>
                </a:solidFill>
              </a:rPr>
              <a:t>예산조정 평가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20" name="직사각형 119"/>
          <p:cNvSpPr/>
          <p:nvPr/>
        </p:nvSpPr>
        <p:spPr bwMode="auto">
          <a:xfrm>
            <a:off x="5708743" y="47348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15. </a:t>
            </a:r>
            <a:r>
              <a:rPr lang="ko-KR" altLang="en-US" sz="900" kern="0" dirty="0">
                <a:solidFill>
                  <a:srgbClr val="015EBB"/>
                </a:solidFill>
              </a:rPr>
              <a:t>예산이월 평가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21" name="Shape 266"/>
          <p:cNvCxnSpPr>
            <a:cxnSpLocks noChangeShapeType="1"/>
            <a:stCxn id="99" idx="3"/>
            <a:endCxn id="112" idx="1"/>
          </p:cNvCxnSpPr>
          <p:nvPr/>
        </p:nvCxnSpPr>
        <p:spPr bwMode="auto">
          <a:xfrm flipV="1">
            <a:off x="5493401" y="3337026"/>
            <a:ext cx="215342" cy="111683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4" name="Shape 266"/>
          <p:cNvCxnSpPr>
            <a:cxnSpLocks noChangeShapeType="1"/>
            <a:stCxn id="99" idx="3"/>
            <a:endCxn id="113" idx="1"/>
          </p:cNvCxnSpPr>
          <p:nvPr/>
        </p:nvCxnSpPr>
        <p:spPr bwMode="auto">
          <a:xfrm flipV="1">
            <a:off x="5493401" y="3726589"/>
            <a:ext cx="215342" cy="72727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" name="Shape 266"/>
          <p:cNvCxnSpPr>
            <a:cxnSpLocks noChangeShapeType="1"/>
            <a:stCxn id="99" idx="3"/>
            <a:endCxn id="118" idx="1"/>
          </p:cNvCxnSpPr>
          <p:nvPr/>
        </p:nvCxnSpPr>
        <p:spPr bwMode="auto">
          <a:xfrm flipV="1">
            <a:off x="5493401" y="4116152"/>
            <a:ext cx="215342" cy="33771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0" name="Shape 266"/>
          <p:cNvCxnSpPr>
            <a:cxnSpLocks noChangeShapeType="1"/>
            <a:stCxn id="99" idx="3"/>
            <a:endCxn id="119" idx="1"/>
          </p:cNvCxnSpPr>
          <p:nvPr/>
        </p:nvCxnSpPr>
        <p:spPr bwMode="auto">
          <a:xfrm>
            <a:off x="5493401" y="4453865"/>
            <a:ext cx="215342" cy="518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" name="Shape 266"/>
          <p:cNvCxnSpPr>
            <a:cxnSpLocks noChangeShapeType="1"/>
            <a:stCxn id="99" idx="3"/>
            <a:endCxn id="120" idx="1"/>
          </p:cNvCxnSpPr>
          <p:nvPr/>
        </p:nvCxnSpPr>
        <p:spPr bwMode="auto">
          <a:xfrm>
            <a:off x="5493401" y="4453865"/>
            <a:ext cx="215342" cy="44141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" name="직사각형 135"/>
          <p:cNvSpPr/>
          <p:nvPr/>
        </p:nvSpPr>
        <p:spPr bwMode="auto">
          <a:xfrm>
            <a:off x="5708743" y="512445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16. </a:t>
            </a:r>
            <a:r>
              <a:rPr lang="ko-KR" altLang="en-US" sz="900" kern="0" dirty="0">
                <a:solidFill>
                  <a:srgbClr val="015EBB"/>
                </a:solidFill>
              </a:rPr>
              <a:t>성과관리</a:t>
            </a:r>
            <a:endParaRPr lang="en-US" altLang="ko-KR" sz="900" kern="0" dirty="0">
              <a:solidFill>
                <a:srgbClr val="015EBB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015EBB"/>
                </a:solidFill>
              </a:rPr>
              <a:t>사업평가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37" name="Shape 266"/>
          <p:cNvCxnSpPr>
            <a:cxnSpLocks noChangeShapeType="1"/>
            <a:stCxn id="114" idx="3"/>
            <a:endCxn id="136" idx="2"/>
          </p:cNvCxnSpPr>
          <p:nvPr/>
        </p:nvCxnSpPr>
        <p:spPr bwMode="auto">
          <a:xfrm flipV="1">
            <a:off x="5498172" y="5445224"/>
            <a:ext cx="588784" cy="51195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1" name="직사각형 140"/>
          <p:cNvSpPr/>
          <p:nvPr/>
        </p:nvSpPr>
        <p:spPr bwMode="auto">
          <a:xfrm>
            <a:off x="6681192" y="57967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18. </a:t>
            </a:r>
            <a:r>
              <a:rPr lang="ko-KR" altLang="en-US" sz="900" kern="0" dirty="0">
                <a:solidFill>
                  <a:srgbClr val="015EBB"/>
                </a:solidFill>
              </a:rPr>
              <a:t>결과확인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42" name="직사각형 141"/>
          <p:cNvSpPr/>
          <p:nvPr/>
        </p:nvSpPr>
        <p:spPr bwMode="auto">
          <a:xfrm>
            <a:off x="6681192" y="395138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17. </a:t>
            </a:r>
            <a:r>
              <a:rPr lang="ko-KR" altLang="en-US" sz="900" kern="0" dirty="0">
                <a:solidFill>
                  <a:srgbClr val="015EBB"/>
                </a:solidFill>
              </a:rPr>
              <a:t>예산종합 평가결과작성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grpSp>
        <p:nvGrpSpPr>
          <p:cNvPr id="6" name="그룹 7"/>
          <p:cNvGrpSpPr/>
          <p:nvPr/>
        </p:nvGrpSpPr>
        <p:grpSpPr>
          <a:xfrm>
            <a:off x="7689304" y="4969958"/>
            <a:ext cx="756425" cy="410305"/>
            <a:chOff x="2562248" y="4583845"/>
            <a:chExt cx="756425" cy="410305"/>
          </a:xfrm>
        </p:grpSpPr>
        <p:sp>
          <p:nvSpPr>
            <p:cNvPr id="144" name="직사각형 143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45" name="육각형 144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결과확정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146" name="Shape 266"/>
          <p:cNvCxnSpPr>
            <a:cxnSpLocks noChangeShapeType="1"/>
            <a:stCxn id="109" idx="3"/>
            <a:endCxn id="142" idx="1"/>
          </p:cNvCxnSpPr>
          <p:nvPr/>
        </p:nvCxnSpPr>
        <p:spPr bwMode="auto">
          <a:xfrm>
            <a:off x="6465168" y="2947463"/>
            <a:ext cx="216024" cy="116430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12" idx="3"/>
            <a:endCxn id="142" idx="1"/>
          </p:cNvCxnSpPr>
          <p:nvPr/>
        </p:nvCxnSpPr>
        <p:spPr bwMode="auto">
          <a:xfrm>
            <a:off x="6465168" y="3337026"/>
            <a:ext cx="216024" cy="77474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2" name="Shape 266"/>
          <p:cNvCxnSpPr>
            <a:cxnSpLocks noChangeShapeType="1"/>
            <a:stCxn id="113" idx="3"/>
            <a:endCxn id="142" idx="1"/>
          </p:cNvCxnSpPr>
          <p:nvPr/>
        </p:nvCxnSpPr>
        <p:spPr bwMode="auto">
          <a:xfrm>
            <a:off x="6465168" y="3726589"/>
            <a:ext cx="216024" cy="38517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5" name="Shape 266"/>
          <p:cNvCxnSpPr>
            <a:cxnSpLocks noChangeShapeType="1"/>
            <a:stCxn id="118" idx="3"/>
            <a:endCxn id="142" idx="1"/>
          </p:cNvCxnSpPr>
          <p:nvPr/>
        </p:nvCxnSpPr>
        <p:spPr bwMode="auto">
          <a:xfrm flipV="1">
            <a:off x="6465168" y="4111767"/>
            <a:ext cx="216024" cy="438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8" name="Shape 266"/>
          <p:cNvCxnSpPr>
            <a:cxnSpLocks noChangeShapeType="1"/>
            <a:stCxn id="119" idx="3"/>
            <a:endCxn id="142" idx="1"/>
          </p:cNvCxnSpPr>
          <p:nvPr/>
        </p:nvCxnSpPr>
        <p:spPr bwMode="auto">
          <a:xfrm flipV="1">
            <a:off x="6465168" y="4111767"/>
            <a:ext cx="216024" cy="39394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1" name="Shape 266"/>
          <p:cNvCxnSpPr>
            <a:cxnSpLocks noChangeShapeType="1"/>
            <a:stCxn id="120" idx="3"/>
            <a:endCxn id="142" idx="1"/>
          </p:cNvCxnSpPr>
          <p:nvPr/>
        </p:nvCxnSpPr>
        <p:spPr bwMode="auto">
          <a:xfrm flipV="1">
            <a:off x="6465168" y="4111767"/>
            <a:ext cx="216024" cy="78351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4" name="Shape 266"/>
          <p:cNvCxnSpPr>
            <a:cxnSpLocks noChangeShapeType="1"/>
            <a:stCxn id="136" idx="3"/>
            <a:endCxn id="142" idx="1"/>
          </p:cNvCxnSpPr>
          <p:nvPr/>
        </p:nvCxnSpPr>
        <p:spPr bwMode="auto">
          <a:xfrm flipV="1">
            <a:off x="6465168" y="4111767"/>
            <a:ext cx="216024" cy="117307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7" name="순서도: 판단 58"/>
          <p:cNvSpPr>
            <a:spLocks noChangeAspect="1" noChangeArrowheads="1"/>
          </p:cNvSpPr>
          <p:nvPr/>
        </p:nvSpPr>
        <p:spPr bwMode="auto">
          <a:xfrm>
            <a:off x="7617296" y="5733256"/>
            <a:ext cx="933214" cy="44785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결과수용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373615" y="5974457"/>
            <a:ext cx="32412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No</a:t>
            </a:r>
            <a:endParaRPr lang="ko-KR" altLang="en-US" sz="800" dirty="0"/>
          </a:p>
        </p:txBody>
      </p:sp>
      <p:sp>
        <p:nvSpPr>
          <p:cNvPr id="169" name="TextBox 168"/>
          <p:cNvSpPr txBox="1"/>
          <p:nvPr/>
        </p:nvSpPr>
        <p:spPr>
          <a:xfrm>
            <a:off x="8031855" y="5517232"/>
            <a:ext cx="34176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Yes</a:t>
            </a:r>
            <a:endParaRPr lang="ko-KR" altLang="en-US" sz="800" dirty="0"/>
          </a:p>
        </p:txBody>
      </p:sp>
      <p:cxnSp>
        <p:nvCxnSpPr>
          <p:cNvPr id="170" name="Shape 266"/>
          <p:cNvCxnSpPr>
            <a:cxnSpLocks noChangeShapeType="1"/>
            <a:stCxn id="142" idx="2"/>
            <a:endCxn id="141" idx="0"/>
          </p:cNvCxnSpPr>
          <p:nvPr/>
        </p:nvCxnSpPr>
        <p:spPr bwMode="auto">
          <a:xfrm>
            <a:off x="7059405" y="4272152"/>
            <a:ext cx="0" cy="15246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3" name="Shape 266"/>
          <p:cNvCxnSpPr>
            <a:cxnSpLocks noChangeShapeType="1"/>
            <a:stCxn id="141" idx="3"/>
            <a:endCxn id="167" idx="1"/>
          </p:cNvCxnSpPr>
          <p:nvPr/>
        </p:nvCxnSpPr>
        <p:spPr bwMode="auto">
          <a:xfrm>
            <a:off x="7437617" y="5957182"/>
            <a:ext cx="17967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6" name="Shape 266"/>
          <p:cNvCxnSpPr>
            <a:cxnSpLocks noChangeShapeType="1"/>
            <a:stCxn id="167" idx="0"/>
          </p:cNvCxnSpPr>
          <p:nvPr/>
        </p:nvCxnSpPr>
        <p:spPr bwMode="auto">
          <a:xfrm flipH="1" flipV="1">
            <a:off x="8064519" y="5371987"/>
            <a:ext cx="19384" cy="3612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9" name="직사각형 178"/>
          <p:cNvSpPr/>
          <p:nvPr/>
        </p:nvSpPr>
        <p:spPr bwMode="auto">
          <a:xfrm>
            <a:off x="8696255" y="57967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19. </a:t>
            </a:r>
            <a:r>
              <a:rPr lang="ko-KR" altLang="en-US" sz="900" kern="0" dirty="0">
                <a:solidFill>
                  <a:srgbClr val="015EBB"/>
                </a:solidFill>
              </a:rPr>
              <a:t>이의신청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80" name="Shape 266"/>
          <p:cNvCxnSpPr>
            <a:cxnSpLocks noChangeShapeType="1"/>
            <a:stCxn id="167" idx="3"/>
            <a:endCxn id="179" idx="1"/>
          </p:cNvCxnSpPr>
          <p:nvPr/>
        </p:nvCxnSpPr>
        <p:spPr bwMode="auto">
          <a:xfrm flipV="1">
            <a:off x="8550510" y="5957182"/>
            <a:ext cx="145745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4" name="직사각형 183"/>
          <p:cNvSpPr/>
          <p:nvPr/>
        </p:nvSpPr>
        <p:spPr bwMode="auto">
          <a:xfrm>
            <a:off x="8697138" y="234888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</a:rPr>
              <a:t>소원청구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심의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85" name="직사각형 184"/>
          <p:cNvSpPr/>
          <p:nvPr/>
        </p:nvSpPr>
        <p:spPr bwMode="auto">
          <a:xfrm>
            <a:off x="7668841" y="39642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21. </a:t>
            </a:r>
            <a:r>
              <a:rPr lang="ko-KR" altLang="en-US" sz="900" kern="0" dirty="0">
                <a:solidFill>
                  <a:srgbClr val="015EBB"/>
                </a:solidFill>
              </a:rPr>
              <a:t>결과반영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86" name="Shape 266"/>
          <p:cNvCxnSpPr>
            <a:cxnSpLocks noChangeShapeType="1"/>
            <a:stCxn id="179" idx="0"/>
            <a:endCxn id="184" idx="2"/>
          </p:cNvCxnSpPr>
          <p:nvPr/>
        </p:nvCxnSpPr>
        <p:spPr bwMode="auto">
          <a:xfrm flipV="1">
            <a:off x="9074468" y="2669651"/>
            <a:ext cx="883" cy="31271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9" name="Shape 266"/>
          <p:cNvCxnSpPr>
            <a:cxnSpLocks noChangeShapeType="1"/>
            <a:stCxn id="184" idx="1"/>
            <a:endCxn id="185" idx="0"/>
          </p:cNvCxnSpPr>
          <p:nvPr/>
        </p:nvCxnSpPr>
        <p:spPr bwMode="auto">
          <a:xfrm rot="10800000" flipV="1">
            <a:off x="8047054" y="2509265"/>
            <a:ext cx="650084" cy="145497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" name="Shape 266"/>
          <p:cNvCxnSpPr>
            <a:cxnSpLocks noChangeShapeType="1"/>
            <a:stCxn id="185" idx="2"/>
          </p:cNvCxnSpPr>
          <p:nvPr/>
        </p:nvCxnSpPr>
        <p:spPr bwMode="auto">
          <a:xfrm>
            <a:off x="8047054" y="4285008"/>
            <a:ext cx="17465" cy="68314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39705494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부서별 예산책임제도 정착 및 예산운영 효율화를 위한 예산종합평가제도를 자동화하여 평가결과에 대한 신뢰성 향상을 도모할 수 있도록 성과평가 일련의 절차와 기능을 구현함</a:t>
            </a:r>
            <a:endParaRPr lang="ko-KR" altLang="en-US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3.2.2.6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예산종합평가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8951855"/>
              </p:ext>
            </p:extLst>
          </p:nvPr>
        </p:nvGraphicFramePr>
        <p:xfrm>
          <a:off x="344489" y="1584356"/>
          <a:ext cx="9181019" cy="4512860"/>
        </p:xfrm>
        <a:graphic>
          <a:graphicData uri="http://schemas.openxmlformats.org/drawingml/2006/table">
            <a:tbl>
              <a:tblPr firstRow="1" bandRow="1"/>
              <a:tblGrid>
                <a:gridCol w="37179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7370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3247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예산종합평가계획 수립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연초 목적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지난해 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당해 세부운영계획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평가지표 배점 등을 포함한 예산종합평가계획 수립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예산종합평가계획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예산종합평가계획을 공단의 모든 부서에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예산종합평가계획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성과관리대상사업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공단의 모든 부서는 예산종합평가계획을 숙지하고 성과관리 대상사업을 선정하여 투입지표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과정지표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결과지표를 작성하여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성과관리사업정보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성과관리사업내역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부서에서 작성한 성과관리 대상 사업내역을 검토하여 조정 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성과관리사업정보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평가지표별 배점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예산종합평가계획에 의거 평가지표별 배점과 지수를 비롯한 산출방법을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평가지표별 산출식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세세목별 성과속성 등록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세세목별로 경상경비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비경상경비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사업비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제외대상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 성과속성을 설정하여 등록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세세목별 성과속성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세세목예산 성과제외대상 설정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예산부서는 성과속성이 적용된 당해년도 지출예산의 세세목별 예산액 중 성과 제외대상 설정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성과속성이 적용된 지출예산정보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5041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예산종합평가실시 통보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평가 시기가 되면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(7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월 이후 분기별 실시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익년도 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2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월 최종 평가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)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성과속성이 적용된 지출예산정보와 성과관리 사업내역 정보를 바탕으로 모든 부서에 예산종합평가실시일정 통보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성과관리 사업실적 등록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성과관리 사업이 선정된 부서는 예산성과관리사업 관리지표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투입지표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과정지표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결과지표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달성 여부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성과관리사업 실적정보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경상경비 집행률 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경상경비의 수정예산 대비 집행액 비율을 통해 경상경비 집행률 산정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+mn-ea"/>
                        </a:rPr>
                        <a:t> 후 해당배점에 따른 지수값 산출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경상경비집행률 점수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998895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부서별 예산책임제도 정착 및 예산운영 효율화를 위한 예산종합평가제도를 자동화하여 평가결과에 대한 신뢰성 향상을 도모할 수 있도록 성과평가 일련의 절차와 기능을 구현함</a:t>
            </a:r>
            <a:endParaRPr lang="ko-KR" altLang="en-US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3.2.2.6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예산종합평가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9713208"/>
              </p:ext>
            </p:extLst>
          </p:nvPr>
        </p:nvGraphicFramePr>
        <p:xfrm>
          <a:off x="344489" y="1584356"/>
          <a:ext cx="9181019" cy="4804764"/>
        </p:xfrm>
        <a:graphic>
          <a:graphicData uri="http://schemas.openxmlformats.org/drawingml/2006/table">
            <a:tbl>
              <a:tblPr firstRow="1" bandRow="1"/>
              <a:tblGrid>
                <a:gridCol w="37179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7370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3247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사업비 집행률 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비경상경비의 수정예산 대비 집행액 비율을 통해 사업비 집행률 산정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후 해당 배점에 따른 지수값 산출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사업비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집행률 점수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사업비 조기집행실적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기재부 재정조기집행 점검 대상 법인회계 예산에 한해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집행계획 대비 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월까지 집행실적을 점검하여 집행률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산정 후 해당배점에 따른 지수값 산출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사업비조기점수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예산전용 평가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부서별 수정예산 대비 예산전용 회수와 전용금액에 따른 지수값 산출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예산전용회수점수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예산전용금액점수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예산조정 평가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부서별 수정예산 대비 예산조정 회수와 조정금액에 따른 지수값 산출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예산조정회수점수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예산조정금액점수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80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예산이월 평가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명시이월 및 사고이월 건수에 따른 지수값과 부서별 수정예산 대비 이월금액 비율에 따른 지수값 산출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예산이월회수점수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예산이월금액점수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성과관리사업평가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성과관리사업의 투입지표의 집행률에 따라 지수값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산정과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과정지표</a:t>
                      </a:r>
                      <a:r>
                        <a:rPr lang="en-US" altLang="ko-KR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및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결과지표의 달성에 따른 지수값 산출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성과관리사업 </a:t>
                      </a:r>
                      <a:r>
                        <a:rPr lang="ko-KR" altLang="en-US" sz="1000" b="0" spc="-15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투입점수</a:t>
                      </a:r>
                      <a:r>
                        <a:rPr lang="en-US" altLang="ko-KR" sz="1000" b="0" spc="-15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spc="-15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과정</a:t>
                      </a:r>
                      <a:r>
                        <a:rPr lang="en-US" altLang="ko-KR" sz="1000" b="0" spc="-15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·</a:t>
                      </a:r>
                      <a:r>
                        <a:rPr lang="ko-KR" altLang="en-US" sz="1000" b="0" spc="-15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결과점수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예산종합평가결과 작성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지표별 평가점수를 산정하여 예산종합평가결과를 작성하여 모든 부서에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결과확인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모든 부서는 예산부서에서 통보한 예산종합평가결과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예산종합평가결과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예산종합평가결과를 수용할 수 없으면 불복사유를 작성하여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이의신청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소원청구심의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이의신청을 접수한 예산부서는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예산편성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집행심의회에 상정하여 부서요청에 의한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소원청구 심의 및 평가 제외여부 결정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800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결과반영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예산편성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집행심의회에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의해 결정된 결정사항을 반영하여 평가결과 확정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예산종합평가결과 확정정보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398903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스포츠센터 수강료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공원 내 시설물 임대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 err="1">
                <a:latin typeface="+mn-ea"/>
                <a:ea typeface="+mn-ea"/>
              </a:rPr>
              <a:t>차량주차료</a:t>
            </a:r>
            <a:r>
              <a:rPr lang="ko-KR" altLang="en-US" sz="1600" dirty="0">
                <a:latin typeface="+mn-ea"/>
                <a:ea typeface="+mn-ea"/>
              </a:rPr>
              <a:t> 유형별로 수입인식의 업무프로세스가 있으며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9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수입인식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33856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공단본부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스포츠센터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일산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분당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385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체육산업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임대관리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439303625"/>
                  </a:ext>
                </a:extLst>
              </a:tr>
              <a:tr h="1338563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체육산업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주차관리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Rectangle 11">
            <a:extLst>
              <a:ext uri="{FF2B5EF4-FFF2-40B4-BE49-F238E27FC236}">
                <a16:creationId xmlns="" xmlns:a16="http://schemas.microsoft.com/office/drawing/2014/main" id="{17EB3382-DF9D-40D7-85A1-5AC6BD7E0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764" y="2384884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스포츠 교실 수강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1" name="Rectangle 11">
            <a:extLst>
              <a:ext uri="{FF2B5EF4-FFF2-40B4-BE49-F238E27FC236}">
                <a16:creationId xmlns="" xmlns:a16="http://schemas.microsoft.com/office/drawing/2014/main" id="{41E525D4-27AE-4763-8890-E80E65541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1246" y="2384884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현금등 非카드 결제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="" xmlns:a16="http://schemas.microsoft.com/office/drawing/2014/main" id="{C026F31D-AA0A-4DBE-A763-69E84279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1246" y="3180608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카드 결제</a:t>
            </a:r>
          </a:p>
        </p:txBody>
      </p:sp>
      <p:sp>
        <p:nvSpPr>
          <p:cNvPr id="13" name="Rectangle 11">
            <a:extLst>
              <a:ext uri="{FF2B5EF4-FFF2-40B4-BE49-F238E27FC236}">
                <a16:creationId xmlns="" xmlns:a16="http://schemas.microsoft.com/office/drawing/2014/main" id="{EAE2DA53-2FC8-4651-BA05-E66CC4CF7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9044" y="270892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5.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수강료 집계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원통 68">
            <a:extLst>
              <a:ext uri="{FF2B5EF4-FFF2-40B4-BE49-F238E27FC236}">
                <a16:creationId xmlns="" xmlns:a16="http://schemas.microsoft.com/office/drawing/2014/main" id="{F353BF11-AB4A-4B35-B0D4-9646276BE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1338" y="2674671"/>
            <a:ext cx="900000" cy="396000"/>
          </a:xfrm>
          <a:prstGeom prst="can">
            <a:avLst>
              <a:gd name="adj" fmla="val 25000"/>
            </a:avLst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  <a:ex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회원관리</a:t>
            </a:r>
            <a:endParaRPr kumimoji="1" lang="en-US" altLang="ko-KR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시스템</a:t>
            </a:r>
          </a:p>
        </p:txBody>
      </p:sp>
      <p:sp>
        <p:nvSpPr>
          <p:cNvPr id="28" name="Rectangle 11">
            <a:extLst>
              <a:ext uri="{FF2B5EF4-FFF2-40B4-BE49-F238E27FC236}">
                <a16:creationId xmlns="" xmlns:a16="http://schemas.microsoft.com/office/drawing/2014/main" id="{F15E320F-BA4A-464E-A151-33AEF1887B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764" y="4143767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시설사용 계약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0" name="Rectangle 11">
            <a:extLst>
              <a:ext uri="{FF2B5EF4-FFF2-40B4-BE49-F238E27FC236}">
                <a16:creationId xmlns="" xmlns:a16="http://schemas.microsoft.com/office/drawing/2014/main" id="{F49B457A-A216-4CEE-AFFB-5C542C705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1246" y="4143767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임대료 결제</a:t>
            </a:r>
          </a:p>
        </p:txBody>
      </p:sp>
      <p:sp>
        <p:nvSpPr>
          <p:cNvPr id="32" name="Rectangle 11">
            <a:extLst>
              <a:ext uri="{FF2B5EF4-FFF2-40B4-BE49-F238E27FC236}">
                <a16:creationId xmlns="" xmlns:a16="http://schemas.microsoft.com/office/drawing/2014/main" id="{CACEB5B7-663B-4CBB-9A23-5988CA69A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9044" y="4143767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8.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임대료 집계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4" name="Rectangle 11">
            <a:extLst>
              <a:ext uri="{FF2B5EF4-FFF2-40B4-BE49-F238E27FC236}">
                <a16:creationId xmlns="" xmlns:a16="http://schemas.microsoft.com/office/drawing/2014/main" id="{F66B52B1-8B99-4531-BCA0-D46A98569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764" y="5468474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주차료 결제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6" name="Rectangle 11">
            <a:extLst>
              <a:ext uri="{FF2B5EF4-FFF2-40B4-BE49-F238E27FC236}">
                <a16:creationId xmlns="" xmlns:a16="http://schemas.microsoft.com/office/drawing/2014/main" id="{6DEF51C2-C4DB-4359-8F8C-26D275AAE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1246" y="5190358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현금 등 非카드 결제</a:t>
            </a:r>
          </a:p>
        </p:txBody>
      </p:sp>
      <p:sp>
        <p:nvSpPr>
          <p:cNvPr id="37" name="Rectangle 11">
            <a:extLst>
              <a:ext uri="{FF2B5EF4-FFF2-40B4-BE49-F238E27FC236}">
                <a16:creationId xmlns="" xmlns:a16="http://schemas.microsoft.com/office/drawing/2014/main" id="{2268D782-C74A-46DE-A60B-7355B145D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1246" y="5828514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</a:rPr>
              <a:t>카드 결제</a:t>
            </a:r>
          </a:p>
        </p:txBody>
      </p:sp>
      <p:sp>
        <p:nvSpPr>
          <p:cNvPr id="38" name="Rectangle 11">
            <a:extLst>
              <a:ext uri="{FF2B5EF4-FFF2-40B4-BE49-F238E27FC236}">
                <a16:creationId xmlns="" xmlns:a16="http://schemas.microsoft.com/office/drawing/2014/main" id="{39076DDA-13AB-4424-B159-497C8B50C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9044" y="5468474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12.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주차료 집계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원통 68">
            <a:extLst>
              <a:ext uri="{FF2B5EF4-FFF2-40B4-BE49-F238E27FC236}">
                <a16:creationId xmlns="" xmlns:a16="http://schemas.microsoft.com/office/drawing/2014/main" id="{4F94DC97-E57E-4F8D-A327-D302A0299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1338" y="4105967"/>
            <a:ext cx="900000" cy="396000"/>
          </a:xfrm>
          <a:prstGeom prst="can">
            <a:avLst>
              <a:gd name="adj" fmla="val 25000"/>
            </a:avLst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  <a:ex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임대</a:t>
            </a: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관리</a:t>
            </a:r>
            <a:endParaRPr kumimoji="1" lang="en-US" altLang="ko-KR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시스템</a:t>
            </a:r>
          </a:p>
        </p:txBody>
      </p:sp>
      <p:sp>
        <p:nvSpPr>
          <p:cNvPr id="40" name="원통 68">
            <a:extLst>
              <a:ext uri="{FF2B5EF4-FFF2-40B4-BE49-F238E27FC236}">
                <a16:creationId xmlns="" xmlns:a16="http://schemas.microsoft.com/office/drawing/2014/main" id="{EEB80245-F634-4230-89D3-3D2AB4ED5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1338" y="5427499"/>
            <a:ext cx="900000" cy="396000"/>
          </a:xfrm>
          <a:prstGeom prst="can">
            <a:avLst>
              <a:gd name="adj" fmla="val 25000"/>
            </a:avLst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  <a:ex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주차</a:t>
            </a: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관재</a:t>
            </a:r>
            <a:endParaRPr kumimoji="1" lang="en-US" altLang="ko-KR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시스템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="" xmlns:a16="http://schemas.microsoft.com/office/drawing/2014/main" id="{120BEEF4-38CF-4430-B6C7-09AB6D773DB4}"/>
              </a:ext>
            </a:extLst>
          </p:cNvPr>
          <p:cNvSpPr/>
          <p:nvPr/>
        </p:nvSpPr>
        <p:spPr>
          <a:xfrm>
            <a:off x="9093460" y="4211087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48" name="Shape 266">
            <a:extLst>
              <a:ext uri="{FF2B5EF4-FFF2-40B4-BE49-F238E27FC236}">
                <a16:creationId xmlns="" xmlns:a16="http://schemas.microsoft.com/office/drawing/2014/main" id="{6126EA94-DAE1-4C81-AADA-B9A2B4C83F2B}"/>
              </a:ext>
            </a:extLst>
          </p:cNvPr>
          <p:cNvCxnSpPr>
            <a:cxnSpLocks noChangeShapeType="1"/>
            <a:stCxn id="63" idx="0"/>
            <a:endCxn id="10" idx="1"/>
          </p:cNvCxnSpPr>
          <p:nvPr/>
        </p:nvCxnSpPr>
        <p:spPr bwMode="auto">
          <a:xfrm flipV="1">
            <a:off x="2341806" y="2545084"/>
            <a:ext cx="486958" cy="42535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" name="Shape 266">
            <a:extLst>
              <a:ext uri="{FF2B5EF4-FFF2-40B4-BE49-F238E27FC236}">
                <a16:creationId xmlns="" xmlns:a16="http://schemas.microsoft.com/office/drawing/2014/main" id="{4AE2C51E-16F2-4512-A496-0C64F1D0E4A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41806" y="4303967"/>
            <a:ext cx="486958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Shape 266">
            <a:extLst>
              <a:ext uri="{FF2B5EF4-FFF2-40B4-BE49-F238E27FC236}">
                <a16:creationId xmlns="" xmlns:a16="http://schemas.microsoft.com/office/drawing/2014/main" id="{4A0CE35E-BE3F-4895-9331-620372B09B5D}"/>
              </a:ext>
            </a:extLst>
          </p:cNvPr>
          <p:cNvCxnSpPr>
            <a:cxnSpLocks noChangeShapeType="1"/>
            <a:stCxn id="75" idx="0"/>
            <a:endCxn id="34" idx="1"/>
          </p:cNvCxnSpPr>
          <p:nvPr/>
        </p:nvCxnSpPr>
        <p:spPr bwMode="auto">
          <a:xfrm>
            <a:off x="2341806" y="5617033"/>
            <a:ext cx="486958" cy="1164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" name="Shape 266">
            <a:extLst>
              <a:ext uri="{FF2B5EF4-FFF2-40B4-BE49-F238E27FC236}">
                <a16:creationId xmlns="" xmlns:a16="http://schemas.microsoft.com/office/drawing/2014/main" id="{336F4113-3FB3-4F60-B4F1-1B9FC74BB40B}"/>
              </a:ext>
            </a:extLst>
          </p:cNvPr>
          <p:cNvCxnSpPr>
            <a:cxnSpLocks noChangeShapeType="1"/>
            <a:stCxn id="10" idx="3"/>
            <a:endCxn id="11" idx="1"/>
          </p:cNvCxnSpPr>
          <p:nvPr/>
        </p:nvCxnSpPr>
        <p:spPr bwMode="auto">
          <a:xfrm>
            <a:off x="3584764" y="2545084"/>
            <a:ext cx="58648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1" name="Shape 266">
            <a:extLst>
              <a:ext uri="{FF2B5EF4-FFF2-40B4-BE49-F238E27FC236}">
                <a16:creationId xmlns="" xmlns:a16="http://schemas.microsoft.com/office/drawing/2014/main" id="{FE26066F-5A1C-4E0C-A28C-A15B77673FDE}"/>
              </a:ext>
            </a:extLst>
          </p:cNvPr>
          <p:cNvCxnSpPr>
            <a:cxnSpLocks noChangeShapeType="1"/>
            <a:stCxn id="10" idx="3"/>
            <a:endCxn id="12" idx="1"/>
          </p:cNvCxnSpPr>
          <p:nvPr/>
        </p:nvCxnSpPr>
        <p:spPr bwMode="auto">
          <a:xfrm>
            <a:off x="3584764" y="2545084"/>
            <a:ext cx="586482" cy="79572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4" name="Shape 266">
            <a:extLst>
              <a:ext uri="{FF2B5EF4-FFF2-40B4-BE49-F238E27FC236}">
                <a16:creationId xmlns="" xmlns:a16="http://schemas.microsoft.com/office/drawing/2014/main" id="{62845A2B-634A-45D9-BB8C-DBD14B16642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84764" y="4303967"/>
            <a:ext cx="58648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>
            <a:extLst>
              <a:ext uri="{FF2B5EF4-FFF2-40B4-BE49-F238E27FC236}">
                <a16:creationId xmlns="" xmlns:a16="http://schemas.microsoft.com/office/drawing/2014/main" id="{D385327B-D9B2-4D84-BAE6-3845C382FCD9}"/>
              </a:ext>
            </a:extLst>
          </p:cNvPr>
          <p:cNvCxnSpPr>
            <a:cxnSpLocks noChangeShapeType="1"/>
            <a:stCxn id="34" idx="3"/>
            <a:endCxn id="36" idx="1"/>
          </p:cNvCxnSpPr>
          <p:nvPr/>
        </p:nvCxnSpPr>
        <p:spPr bwMode="auto">
          <a:xfrm flipV="1">
            <a:off x="3584764" y="5350558"/>
            <a:ext cx="586482" cy="27811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>
            <a:extLst>
              <a:ext uri="{FF2B5EF4-FFF2-40B4-BE49-F238E27FC236}">
                <a16:creationId xmlns="" xmlns:a16="http://schemas.microsoft.com/office/drawing/2014/main" id="{CDAABBC2-0CCF-447A-87D5-584895ADCDE7}"/>
              </a:ext>
            </a:extLst>
          </p:cNvPr>
          <p:cNvCxnSpPr>
            <a:cxnSpLocks noChangeShapeType="1"/>
            <a:stCxn id="34" idx="3"/>
            <a:endCxn id="37" idx="1"/>
          </p:cNvCxnSpPr>
          <p:nvPr/>
        </p:nvCxnSpPr>
        <p:spPr bwMode="auto">
          <a:xfrm>
            <a:off x="3584764" y="5628674"/>
            <a:ext cx="586482" cy="3600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" name="Shape 266">
            <a:extLst>
              <a:ext uri="{FF2B5EF4-FFF2-40B4-BE49-F238E27FC236}">
                <a16:creationId xmlns="" xmlns:a16="http://schemas.microsoft.com/office/drawing/2014/main" id="{353DE669-5CB1-4251-895E-87789D2B2968}"/>
              </a:ext>
            </a:extLst>
          </p:cNvPr>
          <p:cNvCxnSpPr>
            <a:cxnSpLocks noChangeShapeType="1"/>
            <a:stCxn id="11" idx="3"/>
            <a:endCxn id="13" idx="1"/>
          </p:cNvCxnSpPr>
          <p:nvPr/>
        </p:nvCxnSpPr>
        <p:spPr bwMode="auto">
          <a:xfrm>
            <a:off x="4927246" y="2545084"/>
            <a:ext cx="421798" cy="32403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>
            <a:extLst>
              <a:ext uri="{FF2B5EF4-FFF2-40B4-BE49-F238E27FC236}">
                <a16:creationId xmlns="" xmlns:a16="http://schemas.microsoft.com/office/drawing/2014/main" id="{81EB833E-4836-4F89-81A5-F0167C6DAB34}"/>
              </a:ext>
            </a:extLst>
          </p:cNvPr>
          <p:cNvCxnSpPr>
            <a:cxnSpLocks noChangeShapeType="1"/>
            <a:stCxn id="12" idx="3"/>
            <a:endCxn id="13" idx="1"/>
          </p:cNvCxnSpPr>
          <p:nvPr/>
        </p:nvCxnSpPr>
        <p:spPr bwMode="auto">
          <a:xfrm flipV="1">
            <a:off x="4927246" y="2869120"/>
            <a:ext cx="421798" cy="4716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" name="Shape 266">
            <a:extLst>
              <a:ext uri="{FF2B5EF4-FFF2-40B4-BE49-F238E27FC236}">
                <a16:creationId xmlns="" xmlns:a16="http://schemas.microsoft.com/office/drawing/2014/main" id="{FC40536D-959E-4777-A1DF-F6A45D5F48C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27246" y="4303967"/>
            <a:ext cx="42179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>
            <a:extLst>
              <a:ext uri="{FF2B5EF4-FFF2-40B4-BE49-F238E27FC236}">
                <a16:creationId xmlns="" xmlns:a16="http://schemas.microsoft.com/office/drawing/2014/main" id="{D335E922-A601-4F8C-BA0D-4CAF8F85DD2D}"/>
              </a:ext>
            </a:extLst>
          </p:cNvPr>
          <p:cNvCxnSpPr>
            <a:cxnSpLocks noChangeShapeType="1"/>
            <a:stCxn id="36" idx="3"/>
            <a:endCxn id="38" idx="1"/>
          </p:cNvCxnSpPr>
          <p:nvPr/>
        </p:nvCxnSpPr>
        <p:spPr bwMode="auto">
          <a:xfrm>
            <a:off x="4927246" y="5350558"/>
            <a:ext cx="421798" cy="27811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>
            <a:extLst>
              <a:ext uri="{FF2B5EF4-FFF2-40B4-BE49-F238E27FC236}">
                <a16:creationId xmlns="" xmlns:a16="http://schemas.microsoft.com/office/drawing/2014/main" id="{4A9DFEFC-0410-47C7-8AEB-F879C0FB8EBC}"/>
              </a:ext>
            </a:extLst>
          </p:cNvPr>
          <p:cNvCxnSpPr>
            <a:cxnSpLocks noChangeShapeType="1"/>
            <a:stCxn id="37" idx="3"/>
            <a:endCxn id="38" idx="1"/>
          </p:cNvCxnSpPr>
          <p:nvPr/>
        </p:nvCxnSpPr>
        <p:spPr bwMode="auto">
          <a:xfrm flipV="1">
            <a:off x="4927246" y="5628674"/>
            <a:ext cx="421798" cy="3600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" name="Shape 266">
            <a:extLst>
              <a:ext uri="{FF2B5EF4-FFF2-40B4-BE49-F238E27FC236}">
                <a16:creationId xmlns="" xmlns:a16="http://schemas.microsoft.com/office/drawing/2014/main" id="{6C036875-B24D-42D1-8C29-D4636476988B}"/>
              </a:ext>
            </a:extLst>
          </p:cNvPr>
          <p:cNvCxnSpPr>
            <a:cxnSpLocks noChangeShapeType="1"/>
            <a:stCxn id="13" idx="3"/>
            <a:endCxn id="14" idx="2"/>
          </p:cNvCxnSpPr>
          <p:nvPr/>
        </p:nvCxnSpPr>
        <p:spPr bwMode="auto">
          <a:xfrm>
            <a:off x="6105044" y="2869120"/>
            <a:ext cx="406294" cy="35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>
            <a:extLst>
              <a:ext uri="{FF2B5EF4-FFF2-40B4-BE49-F238E27FC236}">
                <a16:creationId xmlns="" xmlns:a16="http://schemas.microsoft.com/office/drawing/2014/main" id="{2964289F-648F-4F85-A49F-A0E4AA5E55D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05044" y="4303967"/>
            <a:ext cx="40629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>
            <a:extLst>
              <a:ext uri="{FF2B5EF4-FFF2-40B4-BE49-F238E27FC236}">
                <a16:creationId xmlns="" xmlns:a16="http://schemas.microsoft.com/office/drawing/2014/main" id="{EA3EC7DA-2B23-48EB-9606-1E9238AEF814}"/>
              </a:ext>
            </a:extLst>
          </p:cNvPr>
          <p:cNvCxnSpPr>
            <a:cxnSpLocks noChangeShapeType="1"/>
            <a:stCxn id="38" idx="3"/>
            <a:endCxn id="40" idx="2"/>
          </p:cNvCxnSpPr>
          <p:nvPr/>
        </p:nvCxnSpPr>
        <p:spPr bwMode="auto">
          <a:xfrm flipV="1">
            <a:off x="6105044" y="5625499"/>
            <a:ext cx="406294" cy="31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0" name="Shape 266">
            <a:extLst>
              <a:ext uri="{FF2B5EF4-FFF2-40B4-BE49-F238E27FC236}">
                <a16:creationId xmlns="" xmlns:a16="http://schemas.microsoft.com/office/drawing/2014/main" id="{0A941A29-A314-46A8-ABB5-354F5A23D98F}"/>
              </a:ext>
            </a:extLst>
          </p:cNvPr>
          <p:cNvCxnSpPr>
            <a:cxnSpLocks noChangeShapeType="1"/>
            <a:stCxn id="14" idx="4"/>
            <a:endCxn id="123" idx="2"/>
          </p:cNvCxnSpPr>
          <p:nvPr/>
        </p:nvCxnSpPr>
        <p:spPr bwMode="auto">
          <a:xfrm>
            <a:off x="7411338" y="2872671"/>
            <a:ext cx="493990" cy="143129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" name="원통 68">
            <a:extLst>
              <a:ext uri="{FF2B5EF4-FFF2-40B4-BE49-F238E27FC236}">
                <a16:creationId xmlns="" xmlns:a16="http://schemas.microsoft.com/office/drawing/2014/main" id="{9ABA2FA7-3AA7-4C37-BB88-45EE8F6FE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5328" y="4105967"/>
            <a:ext cx="900000" cy="396000"/>
          </a:xfrm>
          <a:prstGeom prst="can">
            <a:avLst>
              <a:gd name="adj" fmla="val 25000"/>
            </a:avLst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  <a:ex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통합재무정보</a:t>
            </a:r>
            <a:endParaRPr kumimoji="1" lang="en-US" altLang="ko-KR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시스템</a:t>
            </a:r>
          </a:p>
        </p:txBody>
      </p:sp>
      <p:cxnSp>
        <p:nvCxnSpPr>
          <p:cNvPr id="126" name="Shape 266">
            <a:extLst>
              <a:ext uri="{FF2B5EF4-FFF2-40B4-BE49-F238E27FC236}">
                <a16:creationId xmlns="" xmlns:a16="http://schemas.microsoft.com/office/drawing/2014/main" id="{886F67D6-8FE6-4CB5-8CF1-227C5C21BA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11338" y="4303967"/>
            <a:ext cx="49399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" name="Shape 266">
            <a:extLst>
              <a:ext uri="{FF2B5EF4-FFF2-40B4-BE49-F238E27FC236}">
                <a16:creationId xmlns="" xmlns:a16="http://schemas.microsoft.com/office/drawing/2014/main" id="{507232C3-E56A-4538-BF9E-D695599A6F7C}"/>
              </a:ext>
            </a:extLst>
          </p:cNvPr>
          <p:cNvCxnSpPr>
            <a:cxnSpLocks noChangeShapeType="1"/>
            <a:stCxn id="40" idx="4"/>
            <a:endCxn id="123" idx="2"/>
          </p:cNvCxnSpPr>
          <p:nvPr/>
        </p:nvCxnSpPr>
        <p:spPr bwMode="auto">
          <a:xfrm flipV="1">
            <a:off x="7411338" y="4303967"/>
            <a:ext cx="493990" cy="132153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1" name="Shape 266">
            <a:extLst>
              <a:ext uri="{FF2B5EF4-FFF2-40B4-BE49-F238E27FC236}">
                <a16:creationId xmlns="" xmlns:a16="http://schemas.microsoft.com/office/drawing/2014/main" id="{D8EC23D8-81DE-4CAC-85DD-435ECF4BEFB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805328" y="4303967"/>
            <a:ext cx="28813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Rectangle 11">
            <a:extLst>
              <a:ext uri="{FF2B5EF4-FFF2-40B4-BE49-F238E27FC236}">
                <a16:creationId xmlns="" xmlns:a16="http://schemas.microsoft.com/office/drawing/2014/main" id="{A23FB7E2-B9CB-404D-9AA6-E67446A5C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764" y="3180608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일일입장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9" name="Shape 266">
            <a:extLst>
              <a:ext uri="{FF2B5EF4-FFF2-40B4-BE49-F238E27FC236}">
                <a16:creationId xmlns="" xmlns:a16="http://schemas.microsoft.com/office/drawing/2014/main" id="{3509459A-C7B5-4894-BDE0-CEA942744676}"/>
              </a:ext>
            </a:extLst>
          </p:cNvPr>
          <p:cNvCxnSpPr>
            <a:cxnSpLocks noChangeShapeType="1"/>
            <a:stCxn id="68" idx="3"/>
            <a:endCxn id="12" idx="1"/>
          </p:cNvCxnSpPr>
          <p:nvPr/>
        </p:nvCxnSpPr>
        <p:spPr bwMode="auto">
          <a:xfrm>
            <a:off x="3584764" y="3340808"/>
            <a:ext cx="58648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>
            <a:extLst>
              <a:ext uri="{FF2B5EF4-FFF2-40B4-BE49-F238E27FC236}">
                <a16:creationId xmlns="" xmlns:a16="http://schemas.microsoft.com/office/drawing/2014/main" id="{2A345FE1-C87A-49BE-9D6A-F8BA7DD8348C}"/>
              </a:ext>
            </a:extLst>
          </p:cNvPr>
          <p:cNvCxnSpPr>
            <a:cxnSpLocks noChangeShapeType="1"/>
            <a:stCxn id="63" idx="0"/>
            <a:endCxn id="68" idx="1"/>
          </p:cNvCxnSpPr>
          <p:nvPr/>
        </p:nvCxnSpPr>
        <p:spPr bwMode="auto">
          <a:xfrm>
            <a:off x="2341806" y="2970438"/>
            <a:ext cx="486958" cy="37037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hape 266">
            <a:extLst>
              <a:ext uri="{FF2B5EF4-FFF2-40B4-BE49-F238E27FC236}">
                <a16:creationId xmlns="" xmlns:a16="http://schemas.microsoft.com/office/drawing/2014/main" id="{FE26066F-5A1C-4E0C-A28C-A15B77673FDE}"/>
              </a:ext>
            </a:extLst>
          </p:cNvPr>
          <p:cNvCxnSpPr>
            <a:cxnSpLocks noChangeShapeType="1"/>
            <a:stCxn id="68" idx="3"/>
            <a:endCxn id="11" idx="1"/>
          </p:cNvCxnSpPr>
          <p:nvPr/>
        </p:nvCxnSpPr>
        <p:spPr bwMode="auto">
          <a:xfrm flipV="1">
            <a:off x="3584764" y="2545084"/>
            <a:ext cx="586482" cy="79572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59"/>
          <p:cNvGrpSpPr/>
          <p:nvPr/>
        </p:nvGrpSpPr>
        <p:grpSpPr>
          <a:xfrm>
            <a:off x="1585381" y="2765285"/>
            <a:ext cx="756425" cy="410305"/>
            <a:chOff x="2562248" y="4583845"/>
            <a:chExt cx="756425" cy="410305"/>
          </a:xfrm>
        </p:grpSpPr>
        <p:sp>
          <p:nvSpPr>
            <p:cNvPr id="62" name="직사각형 61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3" name="육각형 62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latinLnBrk="0"/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스포츠센터 방문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6" name="그룹 64"/>
          <p:cNvGrpSpPr/>
          <p:nvPr/>
        </p:nvGrpSpPr>
        <p:grpSpPr>
          <a:xfrm>
            <a:off x="1585381" y="4098815"/>
            <a:ext cx="756425" cy="410305"/>
            <a:chOff x="2562248" y="4583845"/>
            <a:chExt cx="756425" cy="410305"/>
          </a:xfrm>
        </p:grpSpPr>
        <p:sp>
          <p:nvSpPr>
            <p:cNvPr id="71" name="직사각형 70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2" name="육각형 71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latinLnBrk="0"/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대관문의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7" name="그룹 72"/>
          <p:cNvGrpSpPr/>
          <p:nvPr/>
        </p:nvGrpSpPr>
        <p:grpSpPr>
          <a:xfrm>
            <a:off x="1585381" y="5411880"/>
            <a:ext cx="756425" cy="410305"/>
            <a:chOff x="2562248" y="4583845"/>
            <a:chExt cx="756425" cy="410305"/>
          </a:xfrm>
        </p:grpSpPr>
        <p:sp>
          <p:nvSpPr>
            <p:cNvPr id="74" name="직사각형 73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5" name="육각형 74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latinLnBrk="0"/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주차발생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0207003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올림픽유스호스텔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파크텔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의 수입인식은 고객접점부터 결제까지의 과정이 객실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식음료 등 수입발생 유형의 업무프로세스가 있으며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9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수입인식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5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올림픽유스호스텔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영업팀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5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고객지원팀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" name="Rectangle 11">
            <a:extLst>
              <a:ext uri="{FF2B5EF4-FFF2-40B4-BE49-F238E27FC236}">
                <a16:creationId xmlns="" xmlns:a16="http://schemas.microsoft.com/office/drawing/2014/main" id="{46FA319E-D9A3-49AE-AE93-9E1FEF6C8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5545" y="2477027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</a:t>
            </a:r>
            <a:r>
              <a:rPr lang="ko-KR" altLang="en-US" sz="900" kern="0" dirty="0">
                <a:solidFill>
                  <a:prstClr val="black"/>
                </a:solidFill>
              </a:rPr>
              <a:t> 객실 이용</a:t>
            </a:r>
          </a:p>
        </p:txBody>
      </p:sp>
      <p:sp>
        <p:nvSpPr>
          <p:cNvPr id="11" name="원통 68">
            <a:extLst>
              <a:ext uri="{FF2B5EF4-FFF2-40B4-BE49-F238E27FC236}">
                <a16:creationId xmlns="" xmlns:a16="http://schemas.microsoft.com/office/drawing/2014/main" id="{E22EC8A1-0BD9-4A54-B785-BEC2EEA88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9981" y="3097532"/>
            <a:ext cx="900000" cy="396000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파크텔</a:t>
            </a:r>
            <a:r>
              <a:rPr kumimoji="1" lang="en-US" altLang="ko-KR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PMS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시스템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6" name="Rectangle 11">
            <a:extLst>
              <a:ext uri="{FF2B5EF4-FFF2-40B4-BE49-F238E27FC236}">
                <a16:creationId xmlns="" xmlns:a16="http://schemas.microsoft.com/office/drawing/2014/main" id="{290C2B79-6D15-4076-8B6D-79022FE53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5545" y="4475127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</a:rPr>
              <a:t>식음료 주문 </a:t>
            </a:r>
            <a:r>
              <a:rPr lang="en-US" altLang="ko-KR" sz="900" kern="0" dirty="0">
                <a:solidFill>
                  <a:prstClr val="black"/>
                </a:solidFill>
              </a:rPr>
              <a:t>/ </a:t>
            </a:r>
            <a:r>
              <a:rPr lang="ko-KR" altLang="en-US" sz="900" kern="0" dirty="0">
                <a:solidFill>
                  <a:prstClr val="black"/>
                </a:solidFill>
              </a:rPr>
              <a:t>이용</a:t>
            </a:r>
          </a:p>
        </p:txBody>
      </p:sp>
      <p:sp>
        <p:nvSpPr>
          <p:cNvPr id="17" name="Rectangle 11">
            <a:extLst>
              <a:ext uri="{FF2B5EF4-FFF2-40B4-BE49-F238E27FC236}">
                <a16:creationId xmlns="" xmlns:a16="http://schemas.microsoft.com/office/drawing/2014/main" id="{38F1CF60-051B-4FB7-AA9F-43B0D3AE6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0706" y="3816396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20.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승인내역 집계</a:t>
            </a:r>
          </a:p>
        </p:txBody>
      </p:sp>
      <p:sp>
        <p:nvSpPr>
          <p:cNvPr id="19" name="Rectangle 11">
            <a:extLst>
              <a:ext uri="{FF2B5EF4-FFF2-40B4-BE49-F238E27FC236}">
                <a16:creationId xmlns="" xmlns:a16="http://schemas.microsoft.com/office/drawing/2014/main" id="{F982A7D1-A54A-428F-818F-CA980B96A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5545" y="3135332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</a:rPr>
              <a:t>시설사용 계약 </a:t>
            </a:r>
            <a:r>
              <a:rPr lang="en-US" altLang="ko-KR" sz="900" kern="0" dirty="0">
                <a:solidFill>
                  <a:prstClr val="black"/>
                </a:solidFill>
              </a:rPr>
              <a:t>/ </a:t>
            </a:r>
            <a:r>
              <a:rPr lang="ko-KR" altLang="en-US" sz="900" kern="0" dirty="0">
                <a:solidFill>
                  <a:prstClr val="black"/>
                </a:solidFill>
              </a:rPr>
              <a:t>이용</a:t>
            </a:r>
          </a:p>
        </p:txBody>
      </p:sp>
      <p:cxnSp>
        <p:nvCxnSpPr>
          <p:cNvPr id="23" name="Shape 266">
            <a:extLst>
              <a:ext uri="{FF2B5EF4-FFF2-40B4-BE49-F238E27FC236}">
                <a16:creationId xmlns="" xmlns:a16="http://schemas.microsoft.com/office/drawing/2014/main" id="{F6C82486-220D-4092-8354-0E3EA19D2116}"/>
              </a:ext>
            </a:extLst>
          </p:cNvPr>
          <p:cNvCxnSpPr>
            <a:cxnSpLocks noChangeShapeType="1"/>
            <a:stCxn id="53" idx="0"/>
            <a:endCxn id="9" idx="1"/>
          </p:cNvCxnSpPr>
          <p:nvPr/>
        </p:nvCxnSpPr>
        <p:spPr bwMode="auto">
          <a:xfrm flipV="1">
            <a:off x="2433061" y="2637227"/>
            <a:ext cx="632484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" name="Shape 266">
            <a:extLst>
              <a:ext uri="{FF2B5EF4-FFF2-40B4-BE49-F238E27FC236}">
                <a16:creationId xmlns="" xmlns:a16="http://schemas.microsoft.com/office/drawing/2014/main" id="{E58DDE6C-DD51-418C-84A8-D2ED48B8D189}"/>
              </a:ext>
            </a:extLst>
          </p:cNvPr>
          <p:cNvCxnSpPr>
            <a:cxnSpLocks noChangeShapeType="1"/>
            <a:stCxn id="59" idx="0"/>
            <a:endCxn id="19" idx="1"/>
          </p:cNvCxnSpPr>
          <p:nvPr/>
        </p:nvCxnSpPr>
        <p:spPr bwMode="auto">
          <a:xfrm flipV="1">
            <a:off x="2433061" y="3295532"/>
            <a:ext cx="632484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>
            <a:extLst>
              <a:ext uri="{FF2B5EF4-FFF2-40B4-BE49-F238E27FC236}">
                <a16:creationId xmlns="" xmlns:a16="http://schemas.microsoft.com/office/drawing/2014/main" id="{DA480716-F548-44D8-903D-0E2AB879BEAF}"/>
              </a:ext>
            </a:extLst>
          </p:cNvPr>
          <p:cNvCxnSpPr>
            <a:cxnSpLocks noChangeShapeType="1"/>
            <a:stCxn id="63" idx="0"/>
            <a:endCxn id="91" idx="1"/>
          </p:cNvCxnSpPr>
          <p:nvPr/>
        </p:nvCxnSpPr>
        <p:spPr bwMode="auto">
          <a:xfrm flipV="1">
            <a:off x="2447036" y="3976596"/>
            <a:ext cx="61850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" name="Shape 266">
            <a:extLst>
              <a:ext uri="{FF2B5EF4-FFF2-40B4-BE49-F238E27FC236}">
                <a16:creationId xmlns="" xmlns:a16="http://schemas.microsoft.com/office/drawing/2014/main" id="{821C4B9D-57E7-4CFF-A06A-16FD36C9C04B}"/>
              </a:ext>
            </a:extLst>
          </p:cNvPr>
          <p:cNvCxnSpPr>
            <a:cxnSpLocks noChangeShapeType="1"/>
            <a:stCxn id="66" idx="0"/>
            <a:endCxn id="16" idx="1"/>
          </p:cNvCxnSpPr>
          <p:nvPr/>
        </p:nvCxnSpPr>
        <p:spPr bwMode="auto">
          <a:xfrm flipV="1">
            <a:off x="2447036" y="4635327"/>
            <a:ext cx="61850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72">
            <a:extLst>
              <a:ext uri="{FF2B5EF4-FFF2-40B4-BE49-F238E27FC236}">
                <a16:creationId xmlns="" xmlns:a16="http://schemas.microsoft.com/office/drawing/2014/main" id="{534A871B-AB10-473A-8BA7-A648DAFF5F27}"/>
              </a:ext>
            </a:extLst>
          </p:cNvPr>
          <p:cNvGrpSpPr/>
          <p:nvPr/>
        </p:nvGrpSpPr>
        <p:grpSpPr>
          <a:xfrm>
            <a:off x="2375209" y="4974552"/>
            <a:ext cx="962123" cy="830997"/>
            <a:chOff x="1784648" y="5208814"/>
            <a:chExt cx="962123" cy="830997"/>
          </a:xfrm>
        </p:grpSpPr>
        <p:sp>
          <p:nvSpPr>
            <p:cNvPr id="5" name="TextBox 4">
              <a:extLst>
                <a:ext uri="{FF2B5EF4-FFF2-40B4-BE49-F238E27FC236}">
                  <a16:creationId xmlns="" xmlns:a16="http://schemas.microsoft.com/office/drawing/2014/main" id="{52F0572C-F5D1-4404-A38D-698B66947C44}"/>
                </a:ext>
              </a:extLst>
            </p:cNvPr>
            <p:cNvSpPr txBox="1"/>
            <p:nvPr/>
          </p:nvSpPr>
          <p:spPr>
            <a:xfrm>
              <a:off x="1784648" y="5208814"/>
              <a:ext cx="962123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식음료이용 발생</a:t>
              </a:r>
              <a:r>
                <a:rPr lang="en-US" altLang="ko-KR" sz="800" dirty="0">
                  <a:latin typeface="+mn-ea"/>
                </a:rPr>
                <a:t>:</a:t>
              </a: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연회</a:t>
              </a:r>
              <a:endParaRPr lang="en-US" altLang="ko-KR" sz="800" dirty="0">
                <a:latin typeface="+mn-ea"/>
              </a:endParaRP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커피숍</a:t>
              </a:r>
              <a:endParaRPr lang="en-US" altLang="ko-KR" sz="800" dirty="0">
                <a:latin typeface="+mn-ea"/>
              </a:endParaRP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한식당</a:t>
              </a:r>
              <a:endParaRPr lang="en-US" altLang="ko-KR" sz="800" dirty="0">
                <a:latin typeface="+mn-ea"/>
              </a:endParaRP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미니바</a:t>
              </a:r>
              <a:endParaRPr lang="en-US" altLang="ko-KR" sz="800" dirty="0">
                <a:latin typeface="+mn-ea"/>
              </a:endParaRP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휘트니스센터</a:t>
              </a:r>
            </a:p>
          </p:txBody>
        </p:sp>
        <p:sp>
          <p:nvSpPr>
            <p:cNvPr id="68" name="Freeform 176">
              <a:extLst>
                <a:ext uri="{FF2B5EF4-FFF2-40B4-BE49-F238E27FC236}">
                  <a16:creationId xmlns="" xmlns:a16="http://schemas.microsoft.com/office/drawing/2014/main" id="{0412519C-4A32-4708-BBB8-7C270F0B1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4648" y="5248645"/>
              <a:ext cx="72000" cy="75487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44" name="Shape 266">
            <a:extLst>
              <a:ext uri="{FF2B5EF4-FFF2-40B4-BE49-F238E27FC236}">
                <a16:creationId xmlns="" xmlns:a16="http://schemas.microsoft.com/office/drawing/2014/main" id="{9508E323-A59F-4C28-B4F7-64DF953F6E92}"/>
              </a:ext>
            </a:extLst>
          </p:cNvPr>
          <p:cNvCxnSpPr>
            <a:cxnSpLocks noChangeShapeType="1"/>
            <a:stCxn id="94" idx="3"/>
            <a:endCxn id="11" idx="2"/>
          </p:cNvCxnSpPr>
          <p:nvPr/>
        </p:nvCxnSpPr>
        <p:spPr bwMode="auto">
          <a:xfrm>
            <a:off x="6506706" y="3295532"/>
            <a:ext cx="48327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직선 연결선 74">
            <a:extLst>
              <a:ext uri="{FF2B5EF4-FFF2-40B4-BE49-F238E27FC236}">
                <a16:creationId xmlns="" xmlns:a16="http://schemas.microsoft.com/office/drawing/2014/main" id="{160EBEB0-BDE4-41FA-B237-F15C13BAF449}"/>
              </a:ext>
            </a:extLst>
          </p:cNvPr>
          <p:cNvCxnSpPr/>
          <p:nvPr/>
        </p:nvCxnSpPr>
        <p:spPr>
          <a:xfrm>
            <a:off x="2087177" y="4860306"/>
            <a:ext cx="288032" cy="61830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Rectangle 11">
            <a:extLst>
              <a:ext uri="{FF2B5EF4-FFF2-40B4-BE49-F238E27FC236}">
                <a16:creationId xmlns="" xmlns:a16="http://schemas.microsoft.com/office/drawing/2014/main" id="{FE7755ED-8204-45D1-9A22-718999710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5545" y="3816396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</a:rPr>
              <a:t>상담 </a:t>
            </a:r>
            <a:r>
              <a:rPr lang="en-US" altLang="ko-KR" sz="900" kern="0" dirty="0">
                <a:solidFill>
                  <a:prstClr val="black"/>
                </a:solidFill>
              </a:rPr>
              <a:t>/ </a:t>
            </a:r>
            <a:r>
              <a:rPr lang="ko-KR" altLang="en-US" sz="900" kern="0" dirty="0">
                <a:solidFill>
                  <a:prstClr val="black"/>
                </a:solidFill>
              </a:rPr>
              <a:t>가입 </a:t>
            </a:r>
            <a:r>
              <a:rPr lang="en-US" altLang="ko-KR" sz="900" kern="0" dirty="0">
                <a:solidFill>
                  <a:prstClr val="black"/>
                </a:solidFill>
              </a:rPr>
              <a:t>/ </a:t>
            </a:r>
            <a:r>
              <a:rPr lang="ko-KR" altLang="en-US" sz="900" kern="0" dirty="0">
                <a:solidFill>
                  <a:prstClr val="black"/>
                </a:solidFill>
              </a:rPr>
              <a:t>이용</a:t>
            </a:r>
          </a:p>
        </p:txBody>
      </p:sp>
      <p:sp>
        <p:nvSpPr>
          <p:cNvPr id="92" name="Rectangle 11">
            <a:extLst>
              <a:ext uri="{FF2B5EF4-FFF2-40B4-BE49-F238E27FC236}">
                <a16:creationId xmlns="" xmlns:a16="http://schemas.microsoft.com/office/drawing/2014/main" id="{79821141-A560-4E98-B027-C7800E876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5685" y="3135332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</a:rPr>
              <a:t>현금 등 非카드 결제</a:t>
            </a:r>
          </a:p>
        </p:txBody>
      </p:sp>
      <p:sp>
        <p:nvSpPr>
          <p:cNvPr id="81" name="타원 80">
            <a:extLst>
              <a:ext uri="{FF2B5EF4-FFF2-40B4-BE49-F238E27FC236}">
                <a16:creationId xmlns="" xmlns:a16="http://schemas.microsoft.com/office/drawing/2014/main" id="{9CF3215B-210D-4186-9E5E-7121C790EB3C}"/>
              </a:ext>
            </a:extLst>
          </p:cNvPr>
          <p:cNvSpPr/>
          <p:nvPr/>
        </p:nvSpPr>
        <p:spPr>
          <a:xfrm>
            <a:off x="8330027" y="320265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82" name="Shape 266">
            <a:extLst>
              <a:ext uri="{FF2B5EF4-FFF2-40B4-BE49-F238E27FC236}">
                <a16:creationId xmlns="" xmlns:a16="http://schemas.microsoft.com/office/drawing/2014/main" id="{E07EFD4E-8377-4D59-AE93-58D17938A02A}"/>
              </a:ext>
            </a:extLst>
          </p:cNvPr>
          <p:cNvCxnSpPr>
            <a:cxnSpLocks noChangeShapeType="1"/>
            <a:stCxn id="11" idx="4"/>
            <a:endCxn id="81" idx="2"/>
          </p:cNvCxnSpPr>
          <p:nvPr/>
        </p:nvCxnSpPr>
        <p:spPr bwMode="auto">
          <a:xfrm>
            <a:off x="7889981" y="3295532"/>
            <a:ext cx="44004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3" name="Rectangle 11">
            <a:extLst>
              <a:ext uri="{FF2B5EF4-FFF2-40B4-BE49-F238E27FC236}">
                <a16:creationId xmlns="" xmlns:a16="http://schemas.microsoft.com/office/drawing/2014/main" id="{E338D216-CEA3-496F-A49E-89FDD186C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5685" y="3816396"/>
            <a:ext cx="756000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</a:rPr>
              <a:t>카드 결제</a:t>
            </a:r>
          </a:p>
        </p:txBody>
      </p:sp>
      <p:sp>
        <p:nvSpPr>
          <p:cNvPr id="94" name="Rectangle 11">
            <a:extLst>
              <a:ext uri="{FF2B5EF4-FFF2-40B4-BE49-F238E27FC236}">
                <a16:creationId xmlns="" xmlns:a16="http://schemas.microsoft.com/office/drawing/2014/main" id="{F6F20D1D-DEEA-4E92-BAC8-85DBF17A2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0706" y="3135332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19.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판매수입 집계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99" name="Shape 266">
            <a:extLst>
              <a:ext uri="{FF2B5EF4-FFF2-40B4-BE49-F238E27FC236}">
                <a16:creationId xmlns="" xmlns:a16="http://schemas.microsoft.com/office/drawing/2014/main" id="{71E02E7A-5126-45FD-B2B7-23D620D19735}"/>
              </a:ext>
            </a:extLst>
          </p:cNvPr>
          <p:cNvCxnSpPr>
            <a:cxnSpLocks noChangeShapeType="1"/>
            <a:stCxn id="92" idx="3"/>
            <a:endCxn id="94" idx="1"/>
          </p:cNvCxnSpPr>
          <p:nvPr/>
        </p:nvCxnSpPr>
        <p:spPr bwMode="auto">
          <a:xfrm>
            <a:off x="5081685" y="3295532"/>
            <a:ext cx="66902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6" name="Shape 266">
            <a:extLst>
              <a:ext uri="{FF2B5EF4-FFF2-40B4-BE49-F238E27FC236}">
                <a16:creationId xmlns="" xmlns:a16="http://schemas.microsoft.com/office/drawing/2014/main" id="{D3CD4BC9-9C04-41C0-AA6F-107D0CBF4993}"/>
              </a:ext>
            </a:extLst>
          </p:cNvPr>
          <p:cNvCxnSpPr>
            <a:cxnSpLocks noChangeShapeType="1"/>
            <a:stCxn id="93" idx="3"/>
            <a:endCxn id="17" idx="1"/>
          </p:cNvCxnSpPr>
          <p:nvPr/>
        </p:nvCxnSpPr>
        <p:spPr bwMode="auto">
          <a:xfrm>
            <a:off x="5081685" y="3976596"/>
            <a:ext cx="66902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1" name="연결선: 꺾임 130">
            <a:extLst>
              <a:ext uri="{FF2B5EF4-FFF2-40B4-BE49-F238E27FC236}">
                <a16:creationId xmlns="" xmlns:a16="http://schemas.microsoft.com/office/drawing/2014/main" id="{9BD0F614-B2AF-4705-BDE9-188A0515CA91}"/>
              </a:ext>
            </a:extLst>
          </p:cNvPr>
          <p:cNvCxnSpPr>
            <a:cxnSpLocks/>
            <a:stCxn id="9" idx="3"/>
            <a:endCxn id="91" idx="3"/>
          </p:cNvCxnSpPr>
          <p:nvPr/>
        </p:nvCxnSpPr>
        <p:spPr>
          <a:xfrm>
            <a:off x="3821545" y="2637227"/>
            <a:ext cx="12700" cy="1339369"/>
          </a:xfrm>
          <a:prstGeom prst="bentConnector3">
            <a:avLst>
              <a:gd name="adj1" fmla="val 1800000"/>
            </a:avLst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연결선: 꺾임 132">
            <a:extLst>
              <a:ext uri="{FF2B5EF4-FFF2-40B4-BE49-F238E27FC236}">
                <a16:creationId xmlns="" xmlns:a16="http://schemas.microsoft.com/office/drawing/2014/main" id="{41CC5032-8E21-4800-ABE6-FD760ABC5DA1}"/>
              </a:ext>
            </a:extLst>
          </p:cNvPr>
          <p:cNvCxnSpPr>
            <a:cxnSpLocks/>
            <a:stCxn id="19" idx="3"/>
            <a:endCxn id="16" idx="3"/>
          </p:cNvCxnSpPr>
          <p:nvPr/>
        </p:nvCxnSpPr>
        <p:spPr>
          <a:xfrm>
            <a:off x="3821545" y="3295532"/>
            <a:ext cx="12700" cy="1339795"/>
          </a:xfrm>
          <a:prstGeom prst="bentConnector3">
            <a:avLst>
              <a:gd name="adj1" fmla="val 1800000"/>
            </a:avLst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hape 266">
            <a:extLst>
              <a:ext uri="{FF2B5EF4-FFF2-40B4-BE49-F238E27FC236}">
                <a16:creationId xmlns="" xmlns:a16="http://schemas.microsoft.com/office/drawing/2014/main" id="{75BA502D-7D0E-4509-9CF9-9AF1F8B7E1CC}"/>
              </a:ext>
            </a:extLst>
          </p:cNvPr>
          <p:cNvCxnSpPr>
            <a:cxnSpLocks noChangeShapeType="1"/>
            <a:stCxn id="19" idx="3"/>
            <a:endCxn id="92" idx="1"/>
          </p:cNvCxnSpPr>
          <p:nvPr/>
        </p:nvCxnSpPr>
        <p:spPr bwMode="auto">
          <a:xfrm>
            <a:off x="3821545" y="3295532"/>
            <a:ext cx="50414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1" name="Shape 266">
            <a:extLst>
              <a:ext uri="{FF2B5EF4-FFF2-40B4-BE49-F238E27FC236}">
                <a16:creationId xmlns="" xmlns:a16="http://schemas.microsoft.com/office/drawing/2014/main" id="{75016CFD-0C07-4F43-A84F-CE49D950CF83}"/>
              </a:ext>
            </a:extLst>
          </p:cNvPr>
          <p:cNvCxnSpPr>
            <a:cxnSpLocks noChangeShapeType="1"/>
            <a:stCxn id="91" idx="3"/>
            <a:endCxn id="93" idx="1"/>
          </p:cNvCxnSpPr>
          <p:nvPr/>
        </p:nvCxnSpPr>
        <p:spPr bwMode="auto">
          <a:xfrm>
            <a:off x="3821545" y="3976596"/>
            <a:ext cx="50414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>
            <a:extLst>
              <a:ext uri="{FF2B5EF4-FFF2-40B4-BE49-F238E27FC236}">
                <a16:creationId xmlns="" xmlns:a16="http://schemas.microsoft.com/office/drawing/2014/main" id="{17F9947B-DD4A-43A2-83EB-336B21C293BF}"/>
              </a:ext>
            </a:extLst>
          </p:cNvPr>
          <p:cNvCxnSpPr>
            <a:cxnSpLocks noChangeShapeType="1"/>
            <a:stCxn id="93" idx="3"/>
            <a:endCxn id="94" idx="1"/>
          </p:cNvCxnSpPr>
          <p:nvPr/>
        </p:nvCxnSpPr>
        <p:spPr bwMode="auto">
          <a:xfrm flipV="1">
            <a:off x="5081685" y="3295532"/>
            <a:ext cx="669021" cy="6810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156">
            <a:extLst>
              <a:ext uri="{FF2B5EF4-FFF2-40B4-BE49-F238E27FC236}">
                <a16:creationId xmlns="" xmlns:a16="http://schemas.microsoft.com/office/drawing/2014/main" id="{C3BEC350-5BEA-40C3-814F-F2767C1F4694}"/>
              </a:ext>
            </a:extLst>
          </p:cNvPr>
          <p:cNvGrpSpPr/>
          <p:nvPr/>
        </p:nvGrpSpPr>
        <p:grpSpPr>
          <a:xfrm>
            <a:off x="6488797" y="2673889"/>
            <a:ext cx="1131585" cy="369333"/>
            <a:chOff x="9956861" y="3446146"/>
            <a:chExt cx="1131585" cy="330108"/>
          </a:xfrm>
        </p:grpSpPr>
        <p:sp>
          <p:nvSpPr>
            <p:cNvPr id="155" name="TextBox 154">
              <a:extLst>
                <a:ext uri="{FF2B5EF4-FFF2-40B4-BE49-F238E27FC236}">
                  <a16:creationId xmlns="" xmlns:a16="http://schemas.microsoft.com/office/drawing/2014/main" id="{AEADEBF2-0921-4894-85D0-3778BF265A4A}"/>
                </a:ext>
              </a:extLst>
            </p:cNvPr>
            <p:cNvSpPr txBox="1"/>
            <p:nvPr/>
          </p:nvSpPr>
          <p:spPr>
            <a:xfrm>
              <a:off x="9992965" y="3446146"/>
              <a:ext cx="1095481" cy="302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일 단위 집계 내역 </a:t>
              </a:r>
              <a:r>
                <a:rPr lang="en-US" altLang="ko-KR" sz="800" dirty="0">
                  <a:latin typeface="+mn-ea"/>
                </a:rPr>
                <a:t>(</a:t>
              </a:r>
              <a:r>
                <a:rPr lang="ko-KR" altLang="en-US" sz="800" dirty="0">
                  <a:latin typeface="+mn-ea"/>
                </a:rPr>
                <a:t>경리일보</a:t>
              </a:r>
              <a:r>
                <a:rPr lang="en-US" altLang="ko-KR" sz="800" dirty="0">
                  <a:latin typeface="+mn-ea"/>
                </a:rPr>
                <a:t>)</a:t>
              </a:r>
              <a:endParaRPr lang="ko-KR" altLang="en-US" sz="800" dirty="0">
                <a:latin typeface="+mn-ea"/>
              </a:endParaRPr>
            </a:p>
          </p:txBody>
        </p:sp>
        <p:sp>
          <p:nvSpPr>
            <p:cNvPr id="156" name="Freeform 176">
              <a:extLst>
                <a:ext uri="{FF2B5EF4-FFF2-40B4-BE49-F238E27FC236}">
                  <a16:creationId xmlns="" xmlns:a16="http://schemas.microsoft.com/office/drawing/2014/main" id="{7EAFAF5F-D7A7-41E3-82EB-A782E6D37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6861" y="3446146"/>
              <a:ext cx="72000" cy="33010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="" xmlns:a16="http://schemas.microsoft.com/office/drawing/2014/main" id="{F4B46C58-5744-4590-A643-5582F2C14959}"/>
              </a:ext>
            </a:extLst>
          </p:cNvPr>
          <p:cNvCxnSpPr/>
          <p:nvPr/>
        </p:nvCxnSpPr>
        <p:spPr>
          <a:xfrm flipV="1">
            <a:off x="6218867" y="2872311"/>
            <a:ext cx="264333" cy="263021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그룹 159">
            <a:extLst>
              <a:ext uri="{FF2B5EF4-FFF2-40B4-BE49-F238E27FC236}">
                <a16:creationId xmlns="" xmlns:a16="http://schemas.microsoft.com/office/drawing/2014/main" id="{AC608579-52D4-4EBA-BF72-84FFD1DDB361}"/>
              </a:ext>
            </a:extLst>
          </p:cNvPr>
          <p:cNvGrpSpPr/>
          <p:nvPr/>
        </p:nvGrpSpPr>
        <p:grpSpPr>
          <a:xfrm>
            <a:off x="7889981" y="2728199"/>
            <a:ext cx="1080120" cy="338554"/>
            <a:chOff x="9956861" y="3105386"/>
            <a:chExt cx="1080120" cy="436323"/>
          </a:xfrm>
        </p:grpSpPr>
        <p:sp>
          <p:nvSpPr>
            <p:cNvPr id="161" name="TextBox 160">
              <a:extLst>
                <a:ext uri="{FF2B5EF4-FFF2-40B4-BE49-F238E27FC236}">
                  <a16:creationId xmlns="" xmlns:a16="http://schemas.microsoft.com/office/drawing/2014/main" id="{6A4B14EC-E99D-43B7-9552-AF12DE3CB5C9}"/>
                </a:ext>
              </a:extLst>
            </p:cNvPr>
            <p:cNvSpPr txBox="1"/>
            <p:nvPr/>
          </p:nvSpPr>
          <p:spPr>
            <a:xfrm>
              <a:off x="9956861" y="3105386"/>
              <a:ext cx="1080120" cy="4363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징수요구 불러오기 前 대기</a:t>
              </a:r>
            </a:p>
          </p:txBody>
        </p:sp>
        <p:sp>
          <p:nvSpPr>
            <p:cNvPr id="162" name="Freeform 176">
              <a:extLst>
                <a:ext uri="{FF2B5EF4-FFF2-40B4-BE49-F238E27FC236}">
                  <a16:creationId xmlns="" xmlns:a16="http://schemas.microsoft.com/office/drawing/2014/main" id="{E7A46643-6E5C-4563-A872-047535674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6861" y="3117330"/>
              <a:ext cx="72000" cy="42210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8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163" name="직선 연결선 162">
            <a:extLst>
              <a:ext uri="{FF2B5EF4-FFF2-40B4-BE49-F238E27FC236}">
                <a16:creationId xmlns="" xmlns:a16="http://schemas.microsoft.com/office/drawing/2014/main" id="{F571542A-ABB2-4D3B-B60E-16738F0B0ED0}"/>
              </a:ext>
            </a:extLst>
          </p:cNvPr>
          <p:cNvCxnSpPr/>
          <p:nvPr/>
        </p:nvCxnSpPr>
        <p:spPr>
          <a:xfrm flipV="1">
            <a:off x="7601949" y="2920969"/>
            <a:ext cx="288032" cy="176563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50"/>
          <p:cNvGrpSpPr/>
          <p:nvPr/>
        </p:nvGrpSpPr>
        <p:grpSpPr>
          <a:xfrm>
            <a:off x="1676636" y="2432075"/>
            <a:ext cx="756425" cy="410305"/>
            <a:chOff x="2562248" y="4583845"/>
            <a:chExt cx="756425" cy="410305"/>
          </a:xfrm>
        </p:grpSpPr>
        <p:sp>
          <p:nvSpPr>
            <p:cNvPr id="52" name="직사각형 51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3" name="육각형 52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latinLnBrk="0"/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고객 투숙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2" name="그룹 56"/>
          <p:cNvGrpSpPr/>
          <p:nvPr/>
        </p:nvGrpSpPr>
        <p:grpSpPr>
          <a:xfrm>
            <a:off x="1676636" y="3090380"/>
            <a:ext cx="756425" cy="410305"/>
            <a:chOff x="2562248" y="4583845"/>
            <a:chExt cx="756425" cy="410305"/>
          </a:xfrm>
        </p:grpSpPr>
        <p:sp>
          <p:nvSpPr>
            <p:cNvPr id="58" name="직사각형 57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9" name="육각형 58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대관 문의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3" name="그룹 60"/>
          <p:cNvGrpSpPr/>
          <p:nvPr/>
        </p:nvGrpSpPr>
        <p:grpSpPr>
          <a:xfrm>
            <a:off x="1690611" y="3771444"/>
            <a:ext cx="756425" cy="410305"/>
            <a:chOff x="2562248" y="4583845"/>
            <a:chExt cx="756425" cy="410305"/>
          </a:xfrm>
        </p:grpSpPr>
        <p:sp>
          <p:nvSpPr>
            <p:cNvPr id="62" name="직사각형 61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3" name="육각형 62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휘트니스 클럽 방문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" name="그룹 63"/>
          <p:cNvGrpSpPr/>
          <p:nvPr/>
        </p:nvGrpSpPr>
        <p:grpSpPr>
          <a:xfrm>
            <a:off x="1690611" y="4430175"/>
            <a:ext cx="756425" cy="410305"/>
            <a:chOff x="2562248" y="4583845"/>
            <a:chExt cx="756425" cy="410305"/>
          </a:xfrm>
        </p:grpSpPr>
        <p:sp>
          <p:nvSpPr>
            <p:cNvPr id="65" name="직사각형 64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6" name="육각형 65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식음료 판매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5" name="그룹 82"/>
          <p:cNvGrpSpPr/>
          <p:nvPr/>
        </p:nvGrpSpPr>
        <p:grpSpPr>
          <a:xfrm>
            <a:off x="7061768" y="3771444"/>
            <a:ext cx="756425" cy="410305"/>
            <a:chOff x="2562248" y="4583845"/>
            <a:chExt cx="756425" cy="410305"/>
          </a:xfrm>
        </p:grpSpPr>
        <p:sp>
          <p:nvSpPr>
            <p:cNvPr id="84" name="직사각형 83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85" name="육각형 84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종료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cxnSp>
        <p:nvCxnSpPr>
          <p:cNvPr id="86" name="Shape 266">
            <a:extLst>
              <a:ext uri="{FF2B5EF4-FFF2-40B4-BE49-F238E27FC236}">
                <a16:creationId xmlns="" xmlns:a16="http://schemas.microsoft.com/office/drawing/2014/main" id="{D3CD4BC9-9C04-41C0-AA6F-107D0CBF4993}"/>
              </a:ext>
            </a:extLst>
          </p:cNvPr>
          <p:cNvCxnSpPr>
            <a:cxnSpLocks noChangeShapeType="1"/>
            <a:stCxn id="17" idx="3"/>
            <a:endCxn id="85" idx="3"/>
          </p:cNvCxnSpPr>
          <p:nvPr/>
        </p:nvCxnSpPr>
        <p:spPr bwMode="auto">
          <a:xfrm>
            <a:off x="6506706" y="3976596"/>
            <a:ext cx="555062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49580025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경륜</a:t>
            </a:r>
            <a:r>
              <a:rPr lang="en-US" altLang="ko-KR" sz="1600" dirty="0">
                <a:latin typeface="+mn-ea"/>
                <a:ea typeface="+mn-ea"/>
              </a:rPr>
              <a:t>/</a:t>
            </a:r>
            <a:r>
              <a:rPr lang="ko-KR" altLang="en-US" sz="1600" dirty="0">
                <a:latin typeface="+mn-ea"/>
                <a:ea typeface="+mn-ea"/>
              </a:rPr>
              <a:t>경정사업은 투표권 판매와 상품 등 비투표권 판매로 수입인식 업무프로세스가 구분되며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75614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수입인식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경륜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경정사업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영업총괄팀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429282604"/>
                  </a:ext>
                </a:extLst>
              </a:tr>
            </a:tbl>
          </a:graphicData>
        </a:graphic>
      </p:graphicFrame>
      <p:grpSp>
        <p:nvGrpSpPr>
          <p:cNvPr id="5" name="그룹 8">
            <a:extLst>
              <a:ext uri="{FF2B5EF4-FFF2-40B4-BE49-F238E27FC236}">
                <a16:creationId xmlns="" xmlns:a16="http://schemas.microsoft.com/office/drawing/2014/main" id="{2A241CC2-3B40-4CE8-88C7-8CF63A1E7E9B}"/>
              </a:ext>
            </a:extLst>
          </p:cNvPr>
          <p:cNvGrpSpPr/>
          <p:nvPr/>
        </p:nvGrpSpPr>
        <p:grpSpPr>
          <a:xfrm>
            <a:off x="3332679" y="3437423"/>
            <a:ext cx="1260281" cy="707886"/>
            <a:chOff x="1784648" y="5208814"/>
            <a:chExt cx="1260281" cy="834272"/>
          </a:xfrm>
        </p:grpSpPr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1D8A6CB2-E2EE-4E87-85A3-6124B1A7894F}"/>
                </a:ext>
              </a:extLst>
            </p:cNvPr>
            <p:cNvSpPr txBox="1"/>
            <p:nvPr/>
          </p:nvSpPr>
          <p:spPr>
            <a:xfrm>
              <a:off x="1784648" y="5208814"/>
              <a:ext cx="1260281" cy="83427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판매채널</a:t>
              </a:r>
              <a:r>
                <a:rPr lang="en-US" altLang="ko-KR" sz="800" dirty="0">
                  <a:latin typeface="+mn-ea"/>
                </a:rPr>
                <a:t>:</a:t>
              </a: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그린카드 이용 판매</a:t>
              </a:r>
              <a:endParaRPr lang="en-US" altLang="ko-KR" sz="800" dirty="0">
                <a:latin typeface="+mn-ea"/>
              </a:endParaRP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그린카드 앱 이용 판매</a:t>
              </a:r>
              <a:endParaRPr lang="en-US" altLang="ko-KR" sz="800" dirty="0">
                <a:latin typeface="+mn-ea"/>
              </a:endParaRP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무인발매기 이용 판매</a:t>
              </a:r>
              <a:endParaRPr lang="en-US" altLang="ko-KR" sz="800" dirty="0">
                <a:latin typeface="+mn-ea"/>
              </a:endParaRPr>
            </a:p>
            <a:p>
              <a:r>
                <a:rPr lang="en-US" altLang="ko-KR" sz="800" dirty="0">
                  <a:latin typeface="+mn-ea"/>
                </a:rPr>
                <a:t>-</a:t>
              </a:r>
              <a:r>
                <a:rPr lang="ko-KR" altLang="en-US" sz="800" dirty="0">
                  <a:latin typeface="+mn-ea"/>
                </a:rPr>
                <a:t>발매창구 이용 판매</a:t>
              </a:r>
            </a:p>
          </p:txBody>
        </p:sp>
        <p:sp>
          <p:nvSpPr>
            <p:cNvPr id="11" name="Freeform 176">
              <a:extLst>
                <a:ext uri="{FF2B5EF4-FFF2-40B4-BE49-F238E27FC236}">
                  <a16:creationId xmlns="" xmlns:a16="http://schemas.microsoft.com/office/drawing/2014/main" id="{079F5840-4835-4801-96B6-8D69FA95F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4648" y="5248645"/>
              <a:ext cx="72000" cy="75333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cxnSp>
        <p:nvCxnSpPr>
          <p:cNvPr id="12" name="직선 연결선 11">
            <a:extLst>
              <a:ext uri="{FF2B5EF4-FFF2-40B4-BE49-F238E27FC236}">
                <a16:creationId xmlns="" xmlns:a16="http://schemas.microsoft.com/office/drawing/2014/main" id="{1E3187FA-EF1E-4BBA-83B3-DC8777E4A780}"/>
              </a:ext>
            </a:extLst>
          </p:cNvPr>
          <p:cNvCxnSpPr>
            <a:cxnSpLocks/>
          </p:cNvCxnSpPr>
          <p:nvPr/>
        </p:nvCxnSpPr>
        <p:spPr>
          <a:xfrm>
            <a:off x="3127818" y="3356992"/>
            <a:ext cx="204861" cy="35084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ectangle 11">
            <a:extLst>
              <a:ext uri="{FF2B5EF4-FFF2-40B4-BE49-F238E27FC236}">
                <a16:creationId xmlns="" xmlns:a16="http://schemas.microsoft.com/office/drawing/2014/main" id="{7A53BE63-E45E-4E78-8DC1-0EA652049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6916" y="303969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22.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확정 배당률 게시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5" name="Rectangle 11">
            <a:extLst>
              <a:ext uri="{FF2B5EF4-FFF2-40B4-BE49-F238E27FC236}">
                <a16:creationId xmlns="" xmlns:a16="http://schemas.microsoft.com/office/drawing/2014/main" id="{BC50448D-764A-48CB-B7F4-1A06E65E9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3144" y="303969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23.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배당금 환급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7" name="원통 68">
            <a:extLst>
              <a:ext uri="{FF2B5EF4-FFF2-40B4-BE49-F238E27FC236}">
                <a16:creationId xmlns="" xmlns:a16="http://schemas.microsoft.com/office/drawing/2014/main" id="{3E563984-89F8-48C6-B896-763E28945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53400" y="4117673"/>
            <a:ext cx="900000" cy="396000"/>
          </a:xfrm>
          <a:prstGeom prst="can">
            <a:avLst>
              <a:gd name="adj" fmla="val 25000"/>
            </a:avLst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  <a:extLst/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경주사업</a:t>
            </a:r>
            <a:endParaRPr kumimoji="1" lang="en-US" altLang="ko-KR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관리시스템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19" name="Shape 266">
            <a:extLst>
              <a:ext uri="{FF2B5EF4-FFF2-40B4-BE49-F238E27FC236}">
                <a16:creationId xmlns="" xmlns:a16="http://schemas.microsoft.com/office/drawing/2014/main" id="{3ECFD48C-A18B-4588-BD3C-422B64F3FD88}"/>
              </a:ext>
            </a:extLst>
          </p:cNvPr>
          <p:cNvCxnSpPr>
            <a:cxnSpLocks noChangeShapeType="1"/>
            <a:stCxn id="17" idx="4"/>
            <a:endCxn id="20" idx="2"/>
          </p:cNvCxnSpPr>
          <p:nvPr/>
        </p:nvCxnSpPr>
        <p:spPr bwMode="auto">
          <a:xfrm>
            <a:off x="8553400" y="4315673"/>
            <a:ext cx="39604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25">
            <a:extLst>
              <a:ext uri="{FF2B5EF4-FFF2-40B4-BE49-F238E27FC236}">
                <a16:creationId xmlns="" xmlns:a16="http://schemas.microsoft.com/office/drawing/2014/main" id="{B324BDE5-26F9-458E-917B-25C8565AE9F8}"/>
              </a:ext>
            </a:extLst>
          </p:cNvPr>
          <p:cNvGrpSpPr/>
          <p:nvPr/>
        </p:nvGrpSpPr>
        <p:grpSpPr>
          <a:xfrm>
            <a:off x="8337376" y="4518173"/>
            <a:ext cx="595035" cy="419695"/>
            <a:chOff x="9956861" y="3105386"/>
            <a:chExt cx="595035" cy="594986"/>
          </a:xfrm>
        </p:grpSpPr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B4FDD77E-66CC-4556-ABE1-B3F8215D5F46}"/>
                </a:ext>
              </a:extLst>
            </p:cNvPr>
            <p:cNvSpPr txBox="1"/>
            <p:nvPr/>
          </p:nvSpPr>
          <p:spPr>
            <a:xfrm>
              <a:off x="9956861" y="3105386"/>
              <a:ext cx="595035" cy="5949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징수요구</a:t>
              </a:r>
              <a:endParaRPr lang="en-US" altLang="ko-KR" sz="800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불러오기</a:t>
              </a:r>
              <a:endParaRPr lang="en-US" altLang="ko-KR" sz="800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前 대기</a:t>
              </a:r>
            </a:p>
          </p:txBody>
        </p:sp>
        <p:sp>
          <p:nvSpPr>
            <p:cNvPr id="28" name="Freeform 176">
              <a:extLst>
                <a:ext uri="{FF2B5EF4-FFF2-40B4-BE49-F238E27FC236}">
                  <a16:creationId xmlns="" xmlns:a16="http://schemas.microsoft.com/office/drawing/2014/main" id="{7035BDAA-8337-408B-818E-9AA9FE18F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6861" y="3117329"/>
              <a:ext cx="72000" cy="544873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cxnSp>
        <p:nvCxnSpPr>
          <p:cNvPr id="29" name="직선 연결선 28">
            <a:extLst>
              <a:ext uri="{FF2B5EF4-FFF2-40B4-BE49-F238E27FC236}">
                <a16:creationId xmlns="" xmlns:a16="http://schemas.microsoft.com/office/drawing/2014/main" id="{6DDD4E3D-BB63-4B6E-81EF-166730437795}"/>
              </a:ext>
            </a:extLst>
          </p:cNvPr>
          <p:cNvCxnSpPr>
            <a:endCxn id="27" idx="1"/>
          </p:cNvCxnSpPr>
          <p:nvPr/>
        </p:nvCxnSpPr>
        <p:spPr>
          <a:xfrm>
            <a:off x="8157356" y="4522940"/>
            <a:ext cx="180020" cy="205081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ectangle 11">
            <a:extLst>
              <a:ext uri="{FF2B5EF4-FFF2-40B4-BE49-F238E27FC236}">
                <a16:creationId xmlns="" xmlns:a16="http://schemas.microsoft.com/office/drawing/2014/main" id="{252CFC5A-1DD2-4D51-AAE5-FAA6141CE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5010" y="303969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24.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제세 및 수득금 집계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32" name="Shape 266">
            <a:extLst>
              <a:ext uri="{FF2B5EF4-FFF2-40B4-BE49-F238E27FC236}">
                <a16:creationId xmlns="" xmlns:a16="http://schemas.microsoft.com/office/drawing/2014/main" id="{F724A3FA-EAD4-4A30-B49D-17F75CE8B563}"/>
              </a:ext>
            </a:extLst>
          </p:cNvPr>
          <p:cNvCxnSpPr>
            <a:cxnSpLocks noChangeShapeType="1"/>
            <a:stCxn id="57" idx="0"/>
            <a:endCxn id="47" idx="1"/>
          </p:cNvCxnSpPr>
          <p:nvPr/>
        </p:nvCxnSpPr>
        <p:spPr bwMode="auto">
          <a:xfrm flipV="1">
            <a:off x="2268288" y="3199890"/>
            <a:ext cx="566863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" name="Shape 266">
            <a:extLst>
              <a:ext uri="{FF2B5EF4-FFF2-40B4-BE49-F238E27FC236}">
                <a16:creationId xmlns="" xmlns:a16="http://schemas.microsoft.com/office/drawing/2014/main" id="{FE8ACF68-76F6-402B-B552-F2156E3CDED2}"/>
              </a:ext>
            </a:extLst>
          </p:cNvPr>
          <p:cNvCxnSpPr>
            <a:cxnSpLocks noChangeShapeType="1"/>
            <a:stCxn id="13" idx="3"/>
            <a:endCxn id="15" idx="1"/>
          </p:cNvCxnSpPr>
          <p:nvPr/>
        </p:nvCxnSpPr>
        <p:spPr bwMode="auto">
          <a:xfrm>
            <a:off x="4952916" y="3199890"/>
            <a:ext cx="54022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>
            <a:extLst>
              <a:ext uri="{FF2B5EF4-FFF2-40B4-BE49-F238E27FC236}">
                <a16:creationId xmlns="" xmlns:a16="http://schemas.microsoft.com/office/drawing/2014/main" id="{8750F9DB-7079-48E3-95F6-8C503333B8D9}"/>
              </a:ext>
            </a:extLst>
          </p:cNvPr>
          <p:cNvCxnSpPr>
            <a:cxnSpLocks noChangeShapeType="1"/>
            <a:stCxn id="15" idx="3"/>
            <a:endCxn id="30" idx="1"/>
          </p:cNvCxnSpPr>
          <p:nvPr/>
        </p:nvCxnSpPr>
        <p:spPr bwMode="auto">
          <a:xfrm>
            <a:off x="6249144" y="3199890"/>
            <a:ext cx="59586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" name="Shape 266">
            <a:extLst>
              <a:ext uri="{FF2B5EF4-FFF2-40B4-BE49-F238E27FC236}">
                <a16:creationId xmlns="" xmlns:a16="http://schemas.microsoft.com/office/drawing/2014/main" id="{DC979A02-0312-4FF3-BBA8-5ED72A213B5E}"/>
              </a:ext>
            </a:extLst>
          </p:cNvPr>
          <p:cNvCxnSpPr>
            <a:cxnSpLocks noChangeShapeType="1"/>
            <a:stCxn id="30" idx="2"/>
            <a:endCxn id="17" idx="2"/>
          </p:cNvCxnSpPr>
          <p:nvPr/>
        </p:nvCxnSpPr>
        <p:spPr bwMode="auto">
          <a:xfrm rot="16200000" flipH="1">
            <a:off x="6960414" y="3622686"/>
            <a:ext cx="955583" cy="43039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Rectangle 11">
            <a:extLst>
              <a:ext uri="{FF2B5EF4-FFF2-40B4-BE49-F238E27FC236}">
                <a16:creationId xmlns="" xmlns:a16="http://schemas.microsoft.com/office/drawing/2014/main" id="{24E26328-3504-4A8E-BB46-CDBB7674D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7212" y="4807124"/>
            <a:ext cx="756000" cy="320400"/>
          </a:xfrm>
          <a:prstGeom prst="rect">
            <a:avLst/>
          </a:prstGeom>
          <a:solidFill>
            <a:schemeClr val="bg1"/>
          </a:solidFill>
          <a:ln w="3302">
            <a:solidFill>
              <a:srgbClr val="000000"/>
            </a:solidFill>
            <a:prstDash val="dash"/>
            <a:round/>
            <a:headEnd/>
            <a:tailEnd/>
          </a:ln>
          <a:extLst/>
        </p:spPr>
        <p:txBody>
          <a:bodyPr lIns="36000" tIns="0" rIns="3600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26.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현금 등 非카드 결제</a:t>
            </a:r>
          </a:p>
        </p:txBody>
      </p:sp>
      <p:sp>
        <p:nvSpPr>
          <p:cNvPr id="52" name="Rectangle 11">
            <a:extLst>
              <a:ext uri="{FF2B5EF4-FFF2-40B4-BE49-F238E27FC236}">
                <a16:creationId xmlns="" xmlns:a16="http://schemas.microsoft.com/office/drawing/2014/main" id="{C0EDDF16-39CA-4F8A-BB67-49E21B581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7212" y="5556872"/>
            <a:ext cx="756000" cy="320400"/>
          </a:xfrm>
          <a:prstGeom prst="rect">
            <a:avLst/>
          </a:prstGeom>
          <a:solidFill>
            <a:schemeClr val="bg1"/>
          </a:solidFill>
          <a:ln w="3302">
            <a:solidFill>
              <a:srgbClr val="000000"/>
            </a:solidFill>
            <a:prstDash val="dash"/>
            <a:round/>
            <a:headEnd/>
            <a:tailEnd/>
          </a:ln>
          <a:extLst/>
        </p:spPr>
        <p:txBody>
          <a:bodyPr lIns="36000" tIns="0" rIns="3600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27.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카드결제</a:t>
            </a:r>
          </a:p>
        </p:txBody>
      </p:sp>
      <p:sp>
        <p:nvSpPr>
          <p:cNvPr id="53" name="Rectangle 11">
            <a:extLst>
              <a:ext uri="{FF2B5EF4-FFF2-40B4-BE49-F238E27FC236}">
                <a16:creationId xmlns="" xmlns:a16="http://schemas.microsoft.com/office/drawing/2014/main" id="{1B42DBFB-9479-4D21-B378-B97F9408A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3244" y="4797152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28.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판매수입 집계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54" name="Shape 266">
            <a:extLst>
              <a:ext uri="{FF2B5EF4-FFF2-40B4-BE49-F238E27FC236}">
                <a16:creationId xmlns="" xmlns:a16="http://schemas.microsoft.com/office/drawing/2014/main" id="{CA1F75BF-CDDD-4D32-A189-D2F3BE426D73}"/>
              </a:ext>
            </a:extLst>
          </p:cNvPr>
          <p:cNvCxnSpPr>
            <a:cxnSpLocks noChangeShapeType="1"/>
            <a:stCxn id="55" idx="3"/>
            <a:endCxn id="51" idx="1"/>
          </p:cNvCxnSpPr>
          <p:nvPr/>
        </p:nvCxnSpPr>
        <p:spPr bwMode="auto">
          <a:xfrm flipV="1">
            <a:off x="3608248" y="4967324"/>
            <a:ext cx="1308964" cy="37760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" name="Shape 266">
            <a:extLst>
              <a:ext uri="{FF2B5EF4-FFF2-40B4-BE49-F238E27FC236}">
                <a16:creationId xmlns="" xmlns:a16="http://schemas.microsoft.com/office/drawing/2014/main" id="{1D0B1592-F121-4BBA-9A79-379D420A5864}"/>
              </a:ext>
            </a:extLst>
          </p:cNvPr>
          <p:cNvCxnSpPr>
            <a:cxnSpLocks noChangeShapeType="1"/>
            <a:stCxn id="55" idx="3"/>
            <a:endCxn id="52" idx="1"/>
          </p:cNvCxnSpPr>
          <p:nvPr/>
        </p:nvCxnSpPr>
        <p:spPr bwMode="auto">
          <a:xfrm>
            <a:off x="3608248" y="5344929"/>
            <a:ext cx="1308964" cy="37214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>
            <a:extLst>
              <a:ext uri="{FF2B5EF4-FFF2-40B4-BE49-F238E27FC236}">
                <a16:creationId xmlns="" xmlns:a16="http://schemas.microsoft.com/office/drawing/2014/main" id="{109F8FCC-327B-40C8-B9E4-CC988CFB8B87}"/>
              </a:ext>
            </a:extLst>
          </p:cNvPr>
          <p:cNvCxnSpPr>
            <a:cxnSpLocks noChangeShapeType="1"/>
            <a:stCxn id="51" idx="3"/>
            <a:endCxn id="53" idx="1"/>
          </p:cNvCxnSpPr>
          <p:nvPr/>
        </p:nvCxnSpPr>
        <p:spPr bwMode="auto">
          <a:xfrm flipV="1">
            <a:off x="5673212" y="4957352"/>
            <a:ext cx="720032" cy="99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8" name="Shape 266">
            <a:extLst>
              <a:ext uri="{FF2B5EF4-FFF2-40B4-BE49-F238E27FC236}">
                <a16:creationId xmlns="" xmlns:a16="http://schemas.microsoft.com/office/drawing/2014/main" id="{9B87B249-B97D-4548-A23B-82796B783504}"/>
              </a:ext>
            </a:extLst>
          </p:cNvPr>
          <p:cNvCxnSpPr>
            <a:cxnSpLocks noChangeShapeType="1"/>
            <a:stCxn id="52" idx="3"/>
            <a:endCxn id="53" idx="2"/>
          </p:cNvCxnSpPr>
          <p:nvPr/>
        </p:nvCxnSpPr>
        <p:spPr bwMode="auto">
          <a:xfrm flipV="1">
            <a:off x="5673212" y="5117552"/>
            <a:ext cx="1098032" cy="59952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" name="타원 19">
            <a:extLst>
              <a:ext uri="{FF2B5EF4-FFF2-40B4-BE49-F238E27FC236}">
                <a16:creationId xmlns="" xmlns:a16="http://schemas.microsoft.com/office/drawing/2014/main" id="{86B0B8EB-A6A9-44BF-9C3A-C677B39665D6}"/>
              </a:ext>
            </a:extLst>
          </p:cNvPr>
          <p:cNvSpPr/>
          <p:nvPr/>
        </p:nvSpPr>
        <p:spPr>
          <a:xfrm>
            <a:off x="8949444" y="422279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="" xmlns:a16="http://schemas.microsoft.com/office/drawing/2014/main" id="{8CA92FCE-51E5-4829-B955-99250A6DC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151" y="303969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21.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승자 투표권 판매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5" name="Rectangle 11">
            <a:extLst>
              <a:ext uri="{FF2B5EF4-FFF2-40B4-BE49-F238E27FC236}">
                <a16:creationId xmlns="" xmlns:a16="http://schemas.microsoft.com/office/drawing/2014/main" id="{D6A80FBB-4AD8-4FFC-AB53-3CA7B7940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2248" y="5184729"/>
            <a:ext cx="756000" cy="320400"/>
          </a:xfrm>
          <a:prstGeom prst="rect">
            <a:avLst/>
          </a:prstGeom>
          <a:solidFill>
            <a:schemeClr val="bg1"/>
          </a:solidFill>
          <a:ln w="3302">
            <a:solidFill>
              <a:srgbClr val="000000"/>
            </a:solidFill>
            <a:prstDash val="dash"/>
            <a:round/>
            <a:headEnd/>
            <a:tailEnd/>
          </a:ln>
          <a:extLst/>
        </p:spPr>
        <p:txBody>
          <a:bodyPr lIns="36000" tIns="0" rIns="3600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25.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상품판매</a:t>
            </a:r>
          </a:p>
        </p:txBody>
      </p:sp>
      <p:grpSp>
        <p:nvGrpSpPr>
          <p:cNvPr id="7" name="그룹 47"/>
          <p:cNvGrpSpPr/>
          <p:nvPr/>
        </p:nvGrpSpPr>
        <p:grpSpPr>
          <a:xfrm>
            <a:off x="1511863" y="2994738"/>
            <a:ext cx="756425" cy="410305"/>
            <a:chOff x="2562248" y="4583845"/>
            <a:chExt cx="756425" cy="410305"/>
          </a:xfrm>
        </p:grpSpPr>
        <p:sp>
          <p:nvSpPr>
            <p:cNvPr id="56" name="직사각형 55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육각형 56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시작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8" name="그룹 58"/>
          <p:cNvGrpSpPr/>
          <p:nvPr/>
        </p:nvGrpSpPr>
        <p:grpSpPr>
          <a:xfrm>
            <a:off x="1511863" y="5139351"/>
            <a:ext cx="756425" cy="410305"/>
            <a:chOff x="2562248" y="4583845"/>
            <a:chExt cx="756425" cy="410305"/>
          </a:xfrm>
        </p:grpSpPr>
        <p:sp>
          <p:nvSpPr>
            <p:cNvPr id="60" name="직사각형 59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육각형 60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시작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cxnSp>
        <p:nvCxnSpPr>
          <p:cNvPr id="63" name="Shape 266">
            <a:extLst>
              <a:ext uri="{FF2B5EF4-FFF2-40B4-BE49-F238E27FC236}">
                <a16:creationId xmlns="" xmlns:a16="http://schemas.microsoft.com/office/drawing/2014/main" id="{F724A3FA-EAD4-4A30-B49D-17F75CE8B563}"/>
              </a:ext>
            </a:extLst>
          </p:cNvPr>
          <p:cNvCxnSpPr>
            <a:cxnSpLocks noChangeShapeType="1"/>
            <a:stCxn id="47" idx="3"/>
            <a:endCxn id="13" idx="1"/>
          </p:cNvCxnSpPr>
          <p:nvPr/>
        </p:nvCxnSpPr>
        <p:spPr bwMode="auto">
          <a:xfrm>
            <a:off x="3591151" y="3199890"/>
            <a:ext cx="60576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>
            <a:extLst>
              <a:ext uri="{FF2B5EF4-FFF2-40B4-BE49-F238E27FC236}">
                <a16:creationId xmlns="" xmlns:a16="http://schemas.microsoft.com/office/drawing/2014/main" id="{F724A3FA-EAD4-4A30-B49D-17F75CE8B563}"/>
              </a:ext>
            </a:extLst>
          </p:cNvPr>
          <p:cNvCxnSpPr>
            <a:cxnSpLocks noChangeShapeType="1"/>
            <a:stCxn id="61" idx="0"/>
            <a:endCxn id="55" idx="1"/>
          </p:cNvCxnSpPr>
          <p:nvPr/>
        </p:nvCxnSpPr>
        <p:spPr bwMode="auto">
          <a:xfrm>
            <a:off x="2268288" y="5344504"/>
            <a:ext cx="583960" cy="42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4" name="Shape 266">
            <a:extLst>
              <a:ext uri="{FF2B5EF4-FFF2-40B4-BE49-F238E27FC236}">
                <a16:creationId xmlns="" xmlns:a16="http://schemas.microsoft.com/office/drawing/2014/main" id="{4F936C1D-7422-44DA-B30C-BCCE7F98DCE8}"/>
              </a:ext>
            </a:extLst>
          </p:cNvPr>
          <p:cNvCxnSpPr>
            <a:cxnSpLocks noChangeShapeType="1"/>
            <a:stCxn id="53" idx="3"/>
            <a:endCxn id="20" idx="4"/>
          </p:cNvCxnSpPr>
          <p:nvPr/>
        </p:nvCxnSpPr>
        <p:spPr bwMode="auto">
          <a:xfrm flipV="1">
            <a:off x="7149244" y="4408553"/>
            <a:ext cx="1901357" cy="54879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74430451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투표권사업은 체육진흥투표권 판매 후 환급금을 제외한 금액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수입금액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을 週</a:t>
            </a:r>
            <a:r>
              <a:rPr lang="en-US" altLang="ko-KR" sz="1600" dirty="0">
                <a:latin typeface="+mn-ea"/>
                <a:ea typeface="+mn-ea"/>
              </a:rPr>
              <a:t>1</a:t>
            </a:r>
            <a:r>
              <a:rPr lang="ko-KR" altLang="en-US" sz="1600" dirty="0">
                <a:latin typeface="+mn-ea"/>
                <a:ea typeface="+mn-ea"/>
              </a:rPr>
              <a:t>회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토토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와 月 </a:t>
            </a:r>
            <a:r>
              <a:rPr lang="en-US" altLang="ko-KR" sz="1600" dirty="0">
                <a:latin typeface="+mn-ea"/>
                <a:ea typeface="+mn-ea"/>
              </a:rPr>
              <a:t>1</a:t>
            </a:r>
            <a:r>
              <a:rPr lang="ko-KR" altLang="en-US" sz="1600" dirty="0">
                <a:latin typeface="+mn-ea"/>
                <a:ea typeface="+mn-ea"/>
              </a:rPr>
              <a:t>회 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프로토</a:t>
            </a:r>
            <a:r>
              <a:rPr lang="en-US" altLang="ko-KR" sz="1600" dirty="0">
                <a:latin typeface="+mn-ea"/>
                <a:ea typeface="+mn-ea"/>
              </a:rPr>
              <a:t>) </a:t>
            </a:r>
            <a:r>
              <a:rPr lang="ko-KR" altLang="en-US" sz="1600" dirty="0">
                <a:latin typeface="+mn-ea"/>
                <a:ea typeface="+mn-ea"/>
              </a:rPr>
              <a:t>간격으로 수탁사업자로부터 이체 받아 수입인식을 하고 있으며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(4/12)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수입인식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003922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투표권사업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자금운용팀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kumimoji="1" lang="ko-KR" altLang="en-US" sz="1200" b="1" kern="0" dirty="0">
                        <a:solidFill>
                          <a:prstClr val="black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03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투표권 사업팀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kumimoji="1" lang="ko-KR" altLang="en-US" sz="1200" b="1" kern="0" dirty="0">
                        <a:solidFill>
                          <a:prstClr val="black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531507648"/>
                  </a:ext>
                </a:extLst>
              </a:tr>
              <a:tr h="2007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㈜케이 토토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수탁사업자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328976411"/>
                  </a:ext>
                </a:extLst>
              </a:tr>
            </a:tbl>
          </a:graphicData>
        </a:graphic>
      </p:graphicFrame>
      <p:sp>
        <p:nvSpPr>
          <p:cNvPr id="12" name="Rectangle 11">
            <a:extLst>
              <a:ext uri="{FF2B5EF4-FFF2-40B4-BE49-F238E27FC236}">
                <a16:creationId xmlns="" xmlns:a16="http://schemas.microsoft.com/office/drawing/2014/main" id="{039A02E4-5111-4C0E-BDA9-47EF0F663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856" y="5373272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30.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적중결과 공지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3" name="Rectangle 11">
            <a:extLst>
              <a:ext uri="{FF2B5EF4-FFF2-40B4-BE49-F238E27FC236}">
                <a16:creationId xmlns="" xmlns:a16="http://schemas.microsoft.com/office/drawing/2014/main" id="{5E56A828-63F5-49A2-87D9-A89271108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537" y="5372002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32.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판매액 집계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5" name="Rectangle 11">
            <a:extLst>
              <a:ext uri="{FF2B5EF4-FFF2-40B4-BE49-F238E27FC236}">
                <a16:creationId xmlns="" xmlns:a16="http://schemas.microsoft.com/office/drawing/2014/main" id="{C4EEA040-EE5E-424B-8C60-856462E4F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827" y="450912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33.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판매액 이체 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6" name="Rectangle 11">
            <a:extLst>
              <a:ext uri="{FF2B5EF4-FFF2-40B4-BE49-F238E27FC236}">
                <a16:creationId xmlns="" xmlns:a16="http://schemas.microsoft.com/office/drawing/2014/main" id="{A49D86DA-AABA-4370-B4EE-22A62CB55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9218" y="2420888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34.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수입 계좌 확인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20" name="Shape 266">
            <a:extLst>
              <a:ext uri="{FF2B5EF4-FFF2-40B4-BE49-F238E27FC236}">
                <a16:creationId xmlns="" xmlns:a16="http://schemas.microsoft.com/office/drawing/2014/main" id="{5348B255-9819-4B72-99E8-73C4842B21C1}"/>
              </a:ext>
            </a:extLst>
          </p:cNvPr>
          <p:cNvCxnSpPr>
            <a:cxnSpLocks noChangeShapeType="1"/>
            <a:stCxn id="35" idx="3"/>
            <a:endCxn id="12" idx="1"/>
          </p:cNvCxnSpPr>
          <p:nvPr/>
        </p:nvCxnSpPr>
        <p:spPr bwMode="auto">
          <a:xfrm>
            <a:off x="3397290" y="5533472"/>
            <a:ext cx="46656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3" name="Shape 266">
            <a:extLst>
              <a:ext uri="{FF2B5EF4-FFF2-40B4-BE49-F238E27FC236}">
                <a16:creationId xmlns="" xmlns:a16="http://schemas.microsoft.com/office/drawing/2014/main" id="{A5C5E53B-7AE4-4845-9719-7A05E869D2A2}"/>
              </a:ext>
            </a:extLst>
          </p:cNvPr>
          <p:cNvCxnSpPr>
            <a:cxnSpLocks noChangeShapeType="1"/>
            <a:stCxn id="12" idx="3"/>
            <a:endCxn id="50" idx="1"/>
          </p:cNvCxnSpPr>
          <p:nvPr/>
        </p:nvCxnSpPr>
        <p:spPr bwMode="auto">
          <a:xfrm>
            <a:off x="4619856" y="5533472"/>
            <a:ext cx="45475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" name="Shape 266">
            <a:extLst>
              <a:ext uri="{FF2B5EF4-FFF2-40B4-BE49-F238E27FC236}">
                <a16:creationId xmlns="" xmlns:a16="http://schemas.microsoft.com/office/drawing/2014/main" id="{E3BF0970-BC5C-4861-8B99-5BFA89E48106}"/>
              </a:ext>
            </a:extLst>
          </p:cNvPr>
          <p:cNvCxnSpPr>
            <a:cxnSpLocks noChangeShapeType="1"/>
            <a:stCxn id="13" idx="0"/>
            <a:endCxn id="15" idx="2"/>
          </p:cNvCxnSpPr>
          <p:nvPr/>
        </p:nvCxnSpPr>
        <p:spPr bwMode="auto">
          <a:xfrm flipH="1" flipV="1">
            <a:off x="6601827" y="4829520"/>
            <a:ext cx="5710" cy="5424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" name="Shape 266">
            <a:extLst>
              <a:ext uri="{FF2B5EF4-FFF2-40B4-BE49-F238E27FC236}">
                <a16:creationId xmlns="" xmlns:a16="http://schemas.microsoft.com/office/drawing/2014/main" id="{D9611F13-5848-4F13-86C4-E4B4314F36A0}"/>
              </a:ext>
            </a:extLst>
          </p:cNvPr>
          <p:cNvCxnSpPr>
            <a:cxnSpLocks noChangeShapeType="1"/>
            <a:stCxn id="15" idx="0"/>
            <a:endCxn id="16" idx="1"/>
          </p:cNvCxnSpPr>
          <p:nvPr/>
        </p:nvCxnSpPr>
        <p:spPr bwMode="auto">
          <a:xfrm rot="5400000" flipH="1" flipV="1">
            <a:off x="6256506" y="2926409"/>
            <a:ext cx="1928032" cy="123739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" name="타원 47">
            <a:extLst>
              <a:ext uri="{FF2B5EF4-FFF2-40B4-BE49-F238E27FC236}">
                <a16:creationId xmlns="" xmlns:a16="http://schemas.microsoft.com/office/drawing/2014/main" id="{34575464-F3CB-45FF-B397-6BAF2DABE186}"/>
              </a:ext>
            </a:extLst>
          </p:cNvPr>
          <p:cNvSpPr/>
          <p:nvPr/>
        </p:nvSpPr>
        <p:spPr>
          <a:xfrm>
            <a:off x="9071166" y="371129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grpSp>
        <p:nvGrpSpPr>
          <p:cNvPr id="5" name="그룹 133"/>
          <p:cNvGrpSpPr/>
          <p:nvPr/>
        </p:nvGrpSpPr>
        <p:grpSpPr>
          <a:xfrm>
            <a:off x="5385048" y="2973414"/>
            <a:ext cx="873628" cy="338554"/>
            <a:chOff x="6033120" y="2973414"/>
            <a:chExt cx="873628" cy="338554"/>
          </a:xfrm>
        </p:grpSpPr>
        <p:sp>
          <p:nvSpPr>
            <p:cNvPr id="63" name="TextBox 62">
              <a:extLst>
                <a:ext uri="{FF2B5EF4-FFF2-40B4-BE49-F238E27FC236}">
                  <a16:creationId xmlns="" xmlns:a16="http://schemas.microsoft.com/office/drawing/2014/main" id="{F6061123-C3F3-4846-A67D-DBF9FF46E5C7}"/>
                </a:ext>
              </a:extLst>
            </p:cNvPr>
            <p:cNvSpPr txBox="1"/>
            <p:nvPr/>
          </p:nvSpPr>
          <p:spPr>
            <a:xfrm>
              <a:off x="6033120" y="2973414"/>
              <a:ext cx="87362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800" dirty="0">
                  <a:latin typeface="+mn-ea"/>
                </a:rPr>
                <a:t>토토 週</a:t>
              </a:r>
              <a:r>
                <a:rPr lang="en-US" altLang="ko-KR" sz="800" dirty="0">
                  <a:latin typeface="+mn-ea"/>
                </a:rPr>
                <a:t>1</a:t>
              </a:r>
              <a:r>
                <a:rPr lang="ko-KR" altLang="en-US" sz="800" dirty="0">
                  <a:latin typeface="+mn-ea"/>
                </a:rPr>
                <a:t>회</a:t>
              </a:r>
              <a:endParaRPr lang="en-US" altLang="ko-KR" sz="800" dirty="0">
                <a:latin typeface="+mn-ea"/>
              </a:endParaRPr>
            </a:p>
            <a:p>
              <a:pPr algn="r"/>
              <a:r>
                <a:rPr lang="ko-KR" altLang="en-US" sz="800" dirty="0">
                  <a:latin typeface="+mn-ea"/>
                </a:rPr>
                <a:t>프로토 月</a:t>
              </a:r>
              <a:r>
                <a:rPr lang="en-US" altLang="ko-KR" sz="800" dirty="0">
                  <a:latin typeface="+mn-ea"/>
                </a:rPr>
                <a:t>1</a:t>
              </a:r>
              <a:r>
                <a:rPr lang="ko-KR" altLang="en-US" sz="800" dirty="0">
                  <a:latin typeface="+mn-ea"/>
                </a:rPr>
                <a:t>회</a:t>
              </a:r>
            </a:p>
          </p:txBody>
        </p:sp>
        <p:sp>
          <p:nvSpPr>
            <p:cNvPr id="64" name="Freeform 176">
              <a:extLst>
                <a:ext uri="{FF2B5EF4-FFF2-40B4-BE49-F238E27FC236}">
                  <a16:creationId xmlns="" xmlns:a16="http://schemas.microsoft.com/office/drawing/2014/main" id="{97F2A6CA-AD09-48BE-A430-029771C34BF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6834747" y="2980828"/>
              <a:ext cx="72000" cy="33114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="" xmlns:a16="http://schemas.microsoft.com/office/drawing/2014/main" id="{5F4AA5F3-7412-4B35-8B0E-301456EDAB7E}"/>
              </a:ext>
            </a:extLst>
          </p:cNvPr>
          <p:cNvCxnSpPr>
            <a:stCxn id="63" idx="3"/>
          </p:cNvCxnSpPr>
          <p:nvPr/>
        </p:nvCxnSpPr>
        <p:spPr>
          <a:xfrm flipV="1">
            <a:off x="6258676" y="3032956"/>
            <a:ext cx="332505" cy="109735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원통 68">
            <a:extLst>
              <a:ext uri="{FF2B5EF4-FFF2-40B4-BE49-F238E27FC236}">
                <a16:creationId xmlns="" xmlns:a16="http://schemas.microsoft.com/office/drawing/2014/main" id="{930E1E27-B415-4A0E-8C7F-C4E458283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5218" y="5336596"/>
            <a:ext cx="900000" cy="396000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투표권 </a:t>
            </a:r>
            <a:r>
              <a:rPr kumimoji="1" lang="en-US" altLang="ko-KR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TOTO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시스템</a:t>
            </a:r>
          </a:p>
        </p:txBody>
      </p:sp>
      <p:cxnSp>
        <p:nvCxnSpPr>
          <p:cNvPr id="83" name="Shape 266">
            <a:extLst>
              <a:ext uri="{FF2B5EF4-FFF2-40B4-BE49-F238E27FC236}">
                <a16:creationId xmlns="" xmlns:a16="http://schemas.microsoft.com/office/drawing/2014/main" id="{477C3BA7-B139-4298-83FF-BFDC6F4CF452}"/>
              </a:ext>
            </a:extLst>
          </p:cNvPr>
          <p:cNvCxnSpPr>
            <a:cxnSpLocks noChangeShapeType="1"/>
            <a:stCxn id="75" idx="4"/>
            <a:endCxn id="48" idx="2"/>
          </p:cNvCxnSpPr>
          <p:nvPr/>
        </p:nvCxnSpPr>
        <p:spPr bwMode="auto">
          <a:xfrm flipV="1">
            <a:off x="8595218" y="3804172"/>
            <a:ext cx="475948" cy="173042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" name="Shape 266">
            <a:extLst>
              <a:ext uri="{FF2B5EF4-FFF2-40B4-BE49-F238E27FC236}">
                <a16:creationId xmlns="" xmlns:a16="http://schemas.microsoft.com/office/drawing/2014/main" id="{F464A146-DA9A-41F1-94F8-E7F303CF64A5}"/>
              </a:ext>
            </a:extLst>
          </p:cNvPr>
          <p:cNvCxnSpPr>
            <a:cxnSpLocks noChangeShapeType="1"/>
            <a:stCxn id="13" idx="3"/>
            <a:endCxn id="75" idx="2"/>
          </p:cNvCxnSpPr>
          <p:nvPr/>
        </p:nvCxnSpPr>
        <p:spPr bwMode="auto">
          <a:xfrm>
            <a:off x="6985537" y="5532202"/>
            <a:ext cx="709681" cy="23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>
            <a:extLst>
              <a:ext uri="{FF2B5EF4-FFF2-40B4-BE49-F238E27FC236}">
                <a16:creationId xmlns="" xmlns:a16="http://schemas.microsoft.com/office/drawing/2014/main" id="{4EF40C8C-A752-4B9D-A2B6-138A5391578A}"/>
              </a:ext>
            </a:extLst>
          </p:cNvPr>
          <p:cNvCxnSpPr>
            <a:cxnSpLocks noChangeShapeType="1"/>
            <a:stCxn id="16" idx="3"/>
            <a:endCxn id="48" idx="2"/>
          </p:cNvCxnSpPr>
          <p:nvPr/>
        </p:nvCxnSpPr>
        <p:spPr bwMode="auto">
          <a:xfrm>
            <a:off x="8595218" y="2581088"/>
            <a:ext cx="475948" cy="122308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" name="Rectangle 11">
            <a:extLst>
              <a:ext uri="{FF2B5EF4-FFF2-40B4-BE49-F238E27FC236}">
                <a16:creationId xmlns="" xmlns:a16="http://schemas.microsoft.com/office/drawing/2014/main" id="{A6D5FBF2-327B-4678-8996-300FD6600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1290" y="5373272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29.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토토 및 프로토 판매</a:t>
            </a:r>
          </a:p>
        </p:txBody>
      </p:sp>
      <p:cxnSp>
        <p:nvCxnSpPr>
          <p:cNvPr id="38" name="Shape 266">
            <a:extLst>
              <a:ext uri="{FF2B5EF4-FFF2-40B4-BE49-F238E27FC236}">
                <a16:creationId xmlns="" xmlns:a16="http://schemas.microsoft.com/office/drawing/2014/main" id="{6062DD2D-83FF-4551-B6B7-570B3C11E382}"/>
              </a:ext>
            </a:extLst>
          </p:cNvPr>
          <p:cNvCxnSpPr>
            <a:cxnSpLocks noChangeShapeType="1"/>
            <a:stCxn id="42" idx="0"/>
            <a:endCxn id="35" idx="1"/>
          </p:cNvCxnSpPr>
          <p:nvPr/>
        </p:nvCxnSpPr>
        <p:spPr bwMode="auto">
          <a:xfrm>
            <a:off x="2268288" y="5533472"/>
            <a:ext cx="37300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38"/>
          <p:cNvGrpSpPr/>
          <p:nvPr/>
        </p:nvGrpSpPr>
        <p:grpSpPr>
          <a:xfrm>
            <a:off x="1511863" y="5328319"/>
            <a:ext cx="756425" cy="410305"/>
            <a:chOff x="2562248" y="4583845"/>
            <a:chExt cx="756425" cy="410305"/>
          </a:xfrm>
        </p:grpSpPr>
        <p:sp>
          <p:nvSpPr>
            <p:cNvPr id="41" name="직사각형 40"/>
            <p:cNvSpPr/>
            <p:nvPr/>
          </p:nvSpPr>
          <p:spPr>
            <a:xfrm>
              <a:off x="2704535" y="459212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42" name="육각형 41"/>
            <p:cNvSpPr/>
            <p:nvPr/>
          </p:nvSpPr>
          <p:spPr bwMode="auto">
            <a:xfrm>
              <a:off x="2562248" y="4583845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900" kern="0" dirty="0">
                  <a:solidFill>
                    <a:prstClr val="black"/>
                  </a:solidFill>
                  <a:latin typeface="+mn-ea"/>
                </a:rPr>
                <a:t>시작</a:t>
              </a:r>
              <a:endParaRPr kumimoji="1"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50" name="Rectangle 11">
            <a:extLst>
              <a:ext uri="{FF2B5EF4-FFF2-40B4-BE49-F238E27FC236}">
                <a16:creationId xmlns="" xmlns:a16="http://schemas.microsoft.com/office/drawing/2014/main" id="{039A02E4-5111-4C0E-BDA9-47EF0F663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4609" y="5373272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31.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적중금 지급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70" name="Shape 266">
            <a:extLst>
              <a:ext uri="{FF2B5EF4-FFF2-40B4-BE49-F238E27FC236}">
                <a16:creationId xmlns="" xmlns:a16="http://schemas.microsoft.com/office/drawing/2014/main" id="{A5C5E53B-7AE4-4845-9719-7A05E869D2A2}"/>
              </a:ext>
            </a:extLst>
          </p:cNvPr>
          <p:cNvCxnSpPr>
            <a:cxnSpLocks noChangeShapeType="1"/>
            <a:stCxn id="50" idx="3"/>
            <a:endCxn id="13" idx="1"/>
          </p:cNvCxnSpPr>
          <p:nvPr/>
        </p:nvCxnSpPr>
        <p:spPr bwMode="auto">
          <a:xfrm flipV="1">
            <a:off x="5830609" y="5532202"/>
            <a:ext cx="398928" cy="12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Rectangle 11">
            <a:extLst>
              <a:ext uri="{FF2B5EF4-FFF2-40B4-BE49-F238E27FC236}">
                <a16:creationId xmlns="" xmlns:a16="http://schemas.microsoft.com/office/drawing/2014/main" id="{5E56A828-63F5-49A2-87D9-A89271108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9217" y="3644952"/>
            <a:ext cx="756000" cy="320400"/>
          </a:xfrm>
          <a:prstGeom prst="rect">
            <a:avLst/>
          </a:prstGeom>
          <a:solidFill>
            <a:schemeClr val="bg1"/>
          </a:solidFill>
          <a:ln w="3302">
            <a:solidFill>
              <a:srgbClr val="000000"/>
            </a:solidFill>
            <a:prstDash val="dash"/>
            <a:round/>
            <a:headEnd/>
            <a:tailEnd/>
          </a:ln>
          <a:extLst/>
        </p:spPr>
        <p:txBody>
          <a:bodyPr lIns="36000" tIns="0" rIns="3600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35.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판매액 집계 확인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72" name="Shape 266">
            <a:extLst>
              <a:ext uri="{FF2B5EF4-FFF2-40B4-BE49-F238E27FC236}">
                <a16:creationId xmlns="" xmlns:a16="http://schemas.microsoft.com/office/drawing/2014/main" id="{E3BF0970-BC5C-4861-8B99-5BFA89E48106}"/>
              </a:ext>
            </a:extLst>
          </p:cNvPr>
          <p:cNvCxnSpPr>
            <a:cxnSpLocks noChangeShapeType="1"/>
            <a:stCxn id="13" idx="3"/>
            <a:endCxn id="71" idx="1"/>
          </p:cNvCxnSpPr>
          <p:nvPr/>
        </p:nvCxnSpPr>
        <p:spPr bwMode="auto">
          <a:xfrm flipV="1">
            <a:off x="6985537" y="3805152"/>
            <a:ext cx="853680" cy="17270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" name="Shape 266">
            <a:extLst>
              <a:ext uri="{FF2B5EF4-FFF2-40B4-BE49-F238E27FC236}">
                <a16:creationId xmlns="" xmlns:a16="http://schemas.microsoft.com/office/drawing/2014/main" id="{A5C5E53B-7AE4-4845-9719-7A05E869D2A2}"/>
              </a:ext>
            </a:extLst>
          </p:cNvPr>
          <p:cNvCxnSpPr>
            <a:cxnSpLocks noChangeShapeType="1"/>
            <a:stCxn id="71" idx="3"/>
            <a:endCxn id="48" idx="2"/>
          </p:cNvCxnSpPr>
          <p:nvPr/>
        </p:nvCxnSpPr>
        <p:spPr bwMode="auto">
          <a:xfrm flipV="1">
            <a:off x="8595217" y="3804172"/>
            <a:ext cx="475949" cy="9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46454532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수입관리 </a:t>
            </a:r>
            <a:r>
              <a:rPr lang="ko-KR" altLang="en-US" sz="1600" dirty="0">
                <a:latin typeface="+mn-ea"/>
                <a:ea typeface="+mn-ea"/>
              </a:rPr>
              <a:t>업무는 수입인식 이후에 징수요구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징수처리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수납요구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수납처리 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(5/12)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4563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7885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징수요구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징수처리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099364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징수담당관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290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회계팀장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290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729081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수입부서부서장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729081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수입부서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0" name="직사각형 49"/>
          <p:cNvSpPr/>
          <p:nvPr/>
        </p:nvSpPr>
        <p:spPr bwMode="auto">
          <a:xfrm>
            <a:off x="2468724" y="580526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36.</a:t>
            </a:r>
            <a:r>
              <a:rPr lang="ko-KR" altLang="en-US" sz="900" kern="0" dirty="0">
                <a:solidFill>
                  <a:prstClr val="black"/>
                </a:solidFill>
              </a:rPr>
              <a:t>징수요구서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3836534" y="50884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38.</a:t>
            </a:r>
            <a:r>
              <a:rPr lang="ko-KR" altLang="en-US" sz="900" kern="0" dirty="0">
                <a:solidFill>
                  <a:prstClr val="black"/>
                </a:solidFill>
              </a:rPr>
              <a:t>징수요구서 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2" name="Shape 266"/>
          <p:cNvCxnSpPr>
            <a:cxnSpLocks noChangeShapeType="1"/>
            <a:stCxn id="66" idx="6"/>
            <a:endCxn id="50" idx="1"/>
          </p:cNvCxnSpPr>
          <p:nvPr/>
        </p:nvCxnSpPr>
        <p:spPr bwMode="auto">
          <a:xfrm flipV="1">
            <a:off x="1758032" y="5965650"/>
            <a:ext cx="710692" cy="82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직사각형 63"/>
          <p:cNvSpPr/>
          <p:nvPr/>
        </p:nvSpPr>
        <p:spPr bwMode="auto">
          <a:xfrm>
            <a:off x="5061012" y="432783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39.</a:t>
            </a:r>
            <a:r>
              <a:rPr lang="ko-KR" altLang="en-US" sz="900" kern="0" dirty="0">
                <a:solidFill>
                  <a:prstClr val="black"/>
                </a:solidFill>
              </a:rPr>
              <a:t>징수처리 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7185248" y="433142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40.</a:t>
            </a:r>
            <a:r>
              <a:rPr lang="ko-KR" altLang="en-US" sz="900" kern="0" dirty="0">
                <a:solidFill>
                  <a:prstClr val="black"/>
                </a:solidFill>
              </a:rPr>
              <a:t>미수금전표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8301713" y="350427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42.</a:t>
            </a:r>
            <a:r>
              <a:rPr lang="ko-KR" altLang="en-US" sz="900" kern="0" dirty="0">
                <a:solidFill>
                  <a:prstClr val="black"/>
                </a:solidFill>
              </a:rPr>
              <a:t>미수금전표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6123548" y="24208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43.</a:t>
            </a:r>
            <a:r>
              <a:rPr lang="ko-KR" altLang="en-US" sz="900" kern="0" dirty="0">
                <a:solidFill>
                  <a:prstClr val="black"/>
                </a:solidFill>
              </a:rPr>
              <a:t>징수담당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0" name="Shape 266"/>
          <p:cNvCxnSpPr>
            <a:cxnSpLocks noChangeShapeType="1"/>
            <a:stCxn id="51" idx="0"/>
            <a:endCxn id="64" idx="1"/>
          </p:cNvCxnSpPr>
          <p:nvPr/>
        </p:nvCxnSpPr>
        <p:spPr bwMode="auto">
          <a:xfrm rot="5400000" flipH="1" flipV="1">
            <a:off x="4337765" y="4365203"/>
            <a:ext cx="600229" cy="84626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" name="Shape 266"/>
          <p:cNvCxnSpPr>
            <a:cxnSpLocks noChangeShapeType="1"/>
            <a:stCxn id="64" idx="3"/>
            <a:endCxn id="89" idx="1"/>
          </p:cNvCxnSpPr>
          <p:nvPr/>
        </p:nvCxnSpPr>
        <p:spPr bwMode="auto">
          <a:xfrm flipV="1">
            <a:off x="5817437" y="4488219"/>
            <a:ext cx="229807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" name="Shape 266"/>
          <p:cNvCxnSpPr>
            <a:cxnSpLocks noChangeShapeType="1"/>
            <a:stCxn id="89" idx="0"/>
            <a:endCxn id="84" idx="2"/>
          </p:cNvCxnSpPr>
          <p:nvPr/>
        </p:nvCxnSpPr>
        <p:spPr bwMode="auto">
          <a:xfrm flipH="1" flipV="1">
            <a:off x="6501761" y="2741659"/>
            <a:ext cx="3121" cy="15269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5" name="직사각형 134"/>
          <p:cNvSpPr/>
          <p:nvPr/>
        </p:nvSpPr>
        <p:spPr>
          <a:xfrm>
            <a:off x="2925431" y="5962359"/>
            <a:ext cx="418050" cy="115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39" name="Shape 266"/>
          <p:cNvCxnSpPr>
            <a:cxnSpLocks noChangeShapeType="1"/>
            <a:stCxn id="50" idx="3"/>
            <a:endCxn id="67" idx="1"/>
          </p:cNvCxnSpPr>
          <p:nvPr/>
        </p:nvCxnSpPr>
        <p:spPr bwMode="auto">
          <a:xfrm>
            <a:off x="3225149" y="5965650"/>
            <a:ext cx="611386" cy="24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3836535" y="58077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37.</a:t>
            </a:r>
            <a:r>
              <a:rPr lang="ko-KR" altLang="en-US" sz="900" kern="0" dirty="0">
                <a:solidFill>
                  <a:prstClr val="black"/>
                </a:solidFill>
              </a:rPr>
              <a:t>징수요구서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3" name="Shape 266"/>
          <p:cNvCxnSpPr>
            <a:cxnSpLocks noChangeShapeType="1"/>
            <a:stCxn id="67" idx="0"/>
            <a:endCxn id="51" idx="2"/>
          </p:cNvCxnSpPr>
          <p:nvPr/>
        </p:nvCxnSpPr>
        <p:spPr bwMode="auto">
          <a:xfrm flipH="1" flipV="1">
            <a:off x="4214747" y="5409220"/>
            <a:ext cx="1" cy="3985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203"/>
          <p:cNvGrpSpPr/>
          <p:nvPr/>
        </p:nvGrpSpPr>
        <p:grpSpPr>
          <a:xfrm>
            <a:off x="6047244" y="4113076"/>
            <a:ext cx="1030333" cy="610908"/>
            <a:chOff x="5777797" y="3465584"/>
            <a:chExt cx="1030333" cy="610908"/>
          </a:xfrm>
        </p:grpSpPr>
        <p:sp>
          <p:nvSpPr>
            <p:cNvPr id="117" name="TextBox 116"/>
            <p:cNvSpPr txBox="1"/>
            <p:nvPr/>
          </p:nvSpPr>
          <p:spPr>
            <a:xfrm>
              <a:off x="6418280" y="3861048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요구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5823685" y="3465584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불요구</a:t>
              </a:r>
            </a:p>
          </p:txBody>
        </p:sp>
        <p:sp>
          <p:nvSpPr>
            <p:cNvPr id="89" name="순서도: 판단 58"/>
            <p:cNvSpPr>
              <a:spLocks noChangeAspect="1" noChangeArrowheads="1"/>
            </p:cNvSpPr>
            <p:nvPr/>
          </p:nvSpPr>
          <p:spPr bwMode="auto">
            <a:xfrm>
              <a:off x="5777797" y="3621105"/>
              <a:ext cx="915275" cy="439243"/>
            </a:xfrm>
            <a:prstGeom prst="flowChartDecision">
              <a:avLst/>
            </a:prstGeom>
            <a:noFill/>
            <a:ln w="9525" algn="ctr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36000" rIns="0" bIns="36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전표분개</a:t>
              </a:r>
            </a:p>
          </p:txBody>
        </p:sp>
      </p:grpSp>
      <p:cxnSp>
        <p:nvCxnSpPr>
          <p:cNvPr id="101" name="Shape 266"/>
          <p:cNvCxnSpPr>
            <a:cxnSpLocks noChangeShapeType="1"/>
            <a:stCxn id="89" idx="3"/>
            <a:endCxn id="79" idx="1"/>
          </p:cNvCxnSpPr>
          <p:nvPr/>
        </p:nvCxnSpPr>
        <p:spPr bwMode="auto">
          <a:xfrm>
            <a:off x="6962519" y="4488219"/>
            <a:ext cx="222729" cy="359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0" name="직사각형 169"/>
          <p:cNvSpPr/>
          <p:nvPr/>
        </p:nvSpPr>
        <p:spPr bwMode="auto">
          <a:xfrm>
            <a:off x="8301031" y="43278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41.</a:t>
            </a:r>
            <a:r>
              <a:rPr lang="ko-KR" altLang="en-US" sz="900" kern="0" dirty="0">
                <a:solidFill>
                  <a:prstClr val="black"/>
                </a:solidFill>
              </a:rPr>
              <a:t>미수금전표 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71" name="Shape 266"/>
          <p:cNvCxnSpPr>
            <a:cxnSpLocks noChangeShapeType="1"/>
            <a:stCxn id="79" idx="3"/>
            <a:endCxn id="170" idx="1"/>
          </p:cNvCxnSpPr>
          <p:nvPr/>
        </p:nvCxnSpPr>
        <p:spPr bwMode="auto">
          <a:xfrm flipV="1">
            <a:off x="7941673" y="4488218"/>
            <a:ext cx="359358" cy="359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9" name="Shape 266"/>
          <p:cNvCxnSpPr>
            <a:cxnSpLocks noChangeShapeType="1"/>
            <a:stCxn id="59" idx="3"/>
            <a:endCxn id="210" idx="2"/>
          </p:cNvCxnSpPr>
          <p:nvPr/>
        </p:nvCxnSpPr>
        <p:spPr bwMode="auto">
          <a:xfrm flipV="1">
            <a:off x="8388555" y="2576984"/>
            <a:ext cx="668901" cy="3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" name="꺾인 연결선 202"/>
          <p:cNvCxnSpPr>
            <a:stCxn id="170" idx="0"/>
            <a:endCxn id="80" idx="2"/>
          </p:cNvCxnSpPr>
          <p:nvPr/>
        </p:nvCxnSpPr>
        <p:spPr>
          <a:xfrm rot="5400000" flipH="1" flipV="1">
            <a:off x="8428191" y="4076097"/>
            <a:ext cx="502788" cy="682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" name="타원 209"/>
          <p:cNvSpPr/>
          <p:nvPr/>
        </p:nvSpPr>
        <p:spPr>
          <a:xfrm>
            <a:off x="9057456" y="248410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57" name="Shape 266"/>
          <p:cNvCxnSpPr>
            <a:cxnSpLocks noChangeShapeType="1"/>
            <a:stCxn id="59" idx="2"/>
            <a:endCxn id="58" idx="0"/>
          </p:cNvCxnSpPr>
          <p:nvPr/>
        </p:nvCxnSpPr>
        <p:spPr bwMode="auto">
          <a:xfrm flipH="1">
            <a:off x="7930719" y="2796915"/>
            <a:ext cx="199" cy="1592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7552506" y="29561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44.</a:t>
            </a:r>
            <a:r>
              <a:rPr lang="ko-KR" altLang="en-US" sz="900" kern="0" dirty="0">
                <a:solidFill>
                  <a:prstClr val="black"/>
                </a:solidFill>
              </a:rPr>
              <a:t>전자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세금</a:t>
            </a:r>
            <a:r>
              <a:rPr lang="en-US" altLang="ko-KR" sz="900" kern="0" dirty="0">
                <a:solidFill>
                  <a:prstClr val="black"/>
                </a:solidFill>
              </a:rPr>
              <a:t>)</a:t>
            </a:r>
            <a:r>
              <a:rPr lang="ko-KR" altLang="en-US" sz="900" kern="0" dirty="0">
                <a:solidFill>
                  <a:prstClr val="black"/>
                </a:solidFill>
              </a:rPr>
              <a:t> 계산서 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순서도: 판단 58"/>
          <p:cNvSpPr>
            <a:spLocks noChangeAspect="1" noChangeArrowheads="1"/>
          </p:cNvSpPr>
          <p:nvPr/>
        </p:nvSpPr>
        <p:spPr bwMode="auto">
          <a:xfrm>
            <a:off x="7473280" y="2357672"/>
            <a:ext cx="915275" cy="439243"/>
          </a:xfrm>
          <a:prstGeom prst="flowChartDecision">
            <a:avLst/>
          </a:prstGeom>
          <a:noFill/>
          <a:ln w="9525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과세여부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62" name="Shape 266"/>
          <p:cNvCxnSpPr>
            <a:cxnSpLocks noChangeShapeType="1"/>
            <a:stCxn id="84" idx="3"/>
            <a:endCxn id="59" idx="1"/>
          </p:cNvCxnSpPr>
          <p:nvPr/>
        </p:nvCxnSpPr>
        <p:spPr bwMode="auto">
          <a:xfrm flipV="1">
            <a:off x="6879973" y="2577294"/>
            <a:ext cx="593307" cy="39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" name="꺾인 연결선 20"/>
          <p:cNvCxnSpPr>
            <a:stCxn id="58" idx="3"/>
            <a:endCxn id="210" idx="2"/>
          </p:cNvCxnSpPr>
          <p:nvPr/>
        </p:nvCxnSpPr>
        <p:spPr>
          <a:xfrm flipV="1">
            <a:off x="8308931" y="2576984"/>
            <a:ext cx="748525" cy="539539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꺾인 연결선 9"/>
          <p:cNvCxnSpPr>
            <a:stCxn id="80" idx="1"/>
            <a:endCxn id="84" idx="2"/>
          </p:cNvCxnSpPr>
          <p:nvPr/>
        </p:nvCxnSpPr>
        <p:spPr>
          <a:xfrm rot="10800000">
            <a:off x="6501761" y="2741659"/>
            <a:ext cx="1799952" cy="923000"/>
          </a:xfrm>
          <a:prstGeom prst="bentConnector2">
            <a:avLst/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8355951" y="2357672"/>
            <a:ext cx="26321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70" name="TextBox 69"/>
          <p:cNvSpPr txBox="1"/>
          <p:nvPr/>
        </p:nvSpPr>
        <p:spPr>
          <a:xfrm>
            <a:off x="7689304" y="2739031"/>
            <a:ext cx="15426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66" name="타원 65"/>
          <p:cNvSpPr/>
          <p:nvPr/>
        </p:nvSpPr>
        <p:spPr>
          <a:xfrm>
            <a:off x="1555718" y="588100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40" name="순서도: 종속 처리 64">
            <a:extLst>
              <a:ext uri="{FF2B5EF4-FFF2-40B4-BE49-F238E27FC236}">
                <a16:creationId xmlns="" xmlns:a16="http://schemas.microsoft.com/office/drawing/2014/main" id="{7802EEEC-C952-4206-8752-7D0E7B1FBFC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88704" y="5163579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4.3.1.2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</a:rPr>
              <a:t>강제징수</a:t>
            </a:r>
          </a:p>
        </p:txBody>
      </p:sp>
      <p:cxnSp>
        <p:nvCxnSpPr>
          <p:cNvPr id="41" name="Shape 266">
            <a:extLst>
              <a:ext uri="{FF2B5EF4-FFF2-40B4-BE49-F238E27FC236}">
                <a16:creationId xmlns="" xmlns:a16="http://schemas.microsoft.com/office/drawing/2014/main" id="{4A24223C-740C-4B70-88C1-DB69AE8070AF}"/>
              </a:ext>
            </a:extLst>
          </p:cNvPr>
          <p:cNvCxnSpPr>
            <a:cxnSpLocks noChangeShapeType="1"/>
            <a:stCxn id="40" idx="2"/>
            <a:endCxn id="50" idx="0"/>
          </p:cNvCxnSpPr>
          <p:nvPr/>
        </p:nvCxnSpPr>
        <p:spPr bwMode="auto">
          <a:xfrm rot="16200000" flipH="1">
            <a:off x="2638004" y="5596331"/>
            <a:ext cx="288032" cy="12983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TextBox 44">
            <a:extLst>
              <a:ext uri="{FF2B5EF4-FFF2-40B4-BE49-F238E27FC236}">
                <a16:creationId xmlns="" xmlns:a16="http://schemas.microsoft.com/office/drawing/2014/main" id="{C8B70D1B-F2FD-46CB-B559-F6F51E3BA359}"/>
              </a:ext>
            </a:extLst>
          </p:cNvPr>
          <p:cNvSpPr txBox="1"/>
          <p:nvPr/>
        </p:nvSpPr>
        <p:spPr>
          <a:xfrm>
            <a:off x="3103253" y="5267452"/>
            <a:ext cx="69761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+mn-ea"/>
              </a:rPr>
              <a:t>기금환수팀</a:t>
            </a:r>
            <a:endParaRPr lang="en-US" altLang="ko-KR" sz="800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환수담당</a:t>
            </a:r>
          </a:p>
        </p:txBody>
      </p:sp>
      <p:cxnSp>
        <p:nvCxnSpPr>
          <p:cNvPr id="54" name="Shape 266">
            <a:extLst>
              <a:ext uri="{FF2B5EF4-FFF2-40B4-BE49-F238E27FC236}">
                <a16:creationId xmlns="" xmlns:a16="http://schemas.microsoft.com/office/drawing/2014/main" id="{073F306B-BFDE-4E26-B482-8446FD2F9636}"/>
              </a:ext>
            </a:extLst>
          </p:cNvPr>
          <p:cNvCxnSpPr>
            <a:cxnSpLocks noChangeShapeType="1"/>
            <a:stCxn id="61" idx="2"/>
            <a:endCxn id="50" idx="1"/>
          </p:cNvCxnSpPr>
          <p:nvPr/>
        </p:nvCxnSpPr>
        <p:spPr bwMode="auto">
          <a:xfrm rot="16200000" flipH="1">
            <a:off x="1361048" y="4857973"/>
            <a:ext cx="1894965" cy="3203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순서도: 종속 처리 64">
            <a:extLst>
              <a:ext uri="{FF2B5EF4-FFF2-40B4-BE49-F238E27FC236}">
                <a16:creationId xmlns="" xmlns:a16="http://schemas.microsoft.com/office/drawing/2014/main" id="{79476682-0EBA-44E6-A4B9-61A48CE14B8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719936" y="4224524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1.7.1.2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  <a:latin typeface="+mn-ea"/>
              </a:rPr>
              <a:t>부가금납부</a:t>
            </a:r>
          </a:p>
        </p:txBody>
      </p:sp>
      <p:sp>
        <p:nvSpPr>
          <p:cNvPr id="53" name="순서도: 종속 처리 64">
            <a:extLst>
              <a:ext uri="{FF2B5EF4-FFF2-40B4-BE49-F238E27FC236}">
                <a16:creationId xmlns="" xmlns:a16="http://schemas.microsoft.com/office/drawing/2014/main" id="{43533E2E-D7E3-4832-A699-2D955C3BAA9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719936" y="4732016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1.6.3.2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  <a:latin typeface="+mn-ea"/>
              </a:rPr>
              <a:t>금융상품운용</a:t>
            </a:r>
          </a:p>
        </p:txBody>
      </p:sp>
      <p:sp>
        <p:nvSpPr>
          <p:cNvPr id="61" name="순서도: 종속 처리 64">
            <a:extLst>
              <a:ext uri="{FF2B5EF4-FFF2-40B4-BE49-F238E27FC236}">
                <a16:creationId xmlns="" xmlns:a16="http://schemas.microsoft.com/office/drawing/2014/main" id="{0AB8AD46-9A4D-4C3B-A8FA-2FA12B9BE49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719936" y="3717032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1.8.1.4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  <a:latin typeface="+mn-ea"/>
              </a:rPr>
              <a:t>융자금상환</a:t>
            </a:r>
          </a:p>
        </p:txBody>
      </p:sp>
    </p:spTree>
    <p:extLst>
      <p:ext uri="{BB962C8B-B14F-4D97-AF65-F5344CB8AC3E}">
        <p14:creationId xmlns:p14="http://schemas.microsoft.com/office/powerpoint/2010/main" val="88220776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수입관리 </a:t>
            </a:r>
            <a:r>
              <a:rPr lang="ko-KR" altLang="en-US" dirty="0">
                <a:latin typeface="+mn-ea"/>
                <a:ea typeface="+mn-ea"/>
              </a:rPr>
              <a:t>업무는 수입인식 이후에 징수요구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징수처리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수납요구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수납처리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(6/12)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42849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81642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수납요구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수납처리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95308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수납담당관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400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회계팀장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0801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400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부서장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2601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수납당당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5" name="직사각형 84"/>
          <p:cNvSpPr/>
          <p:nvPr/>
        </p:nvSpPr>
        <p:spPr bwMode="auto">
          <a:xfrm>
            <a:off x="3412663" y="40410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47.</a:t>
            </a:r>
            <a:r>
              <a:rPr lang="ko-KR" altLang="en-US" sz="900" kern="0" dirty="0">
                <a:solidFill>
                  <a:prstClr val="black"/>
                </a:solidFill>
              </a:rPr>
              <a:t>입금액 분리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7" name="직사각형 86"/>
          <p:cNvSpPr/>
          <p:nvPr/>
        </p:nvSpPr>
        <p:spPr bwMode="auto">
          <a:xfrm>
            <a:off x="4700631" y="5803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48.</a:t>
            </a:r>
            <a:r>
              <a:rPr lang="ko-KR" altLang="en-US" sz="900" kern="0" dirty="0">
                <a:solidFill>
                  <a:prstClr val="black"/>
                </a:solidFill>
              </a:rPr>
              <a:t>수납결의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8" name="직사각형 87"/>
          <p:cNvSpPr/>
          <p:nvPr/>
        </p:nvSpPr>
        <p:spPr bwMode="auto">
          <a:xfrm>
            <a:off x="4694527" y="465313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50.</a:t>
            </a:r>
            <a:r>
              <a:rPr lang="ko-KR" altLang="en-US" sz="900" kern="0" dirty="0">
                <a:solidFill>
                  <a:prstClr val="black"/>
                </a:solidFill>
              </a:rPr>
              <a:t>수납결의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6" name="직사각형 95"/>
          <p:cNvSpPr/>
          <p:nvPr/>
        </p:nvSpPr>
        <p:spPr bwMode="auto">
          <a:xfrm>
            <a:off x="5958363" y="40770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51.</a:t>
            </a:r>
            <a:r>
              <a:rPr lang="ko-KR" altLang="en-US" sz="900" kern="0" dirty="0">
                <a:solidFill>
                  <a:prstClr val="black"/>
                </a:solidFill>
              </a:rPr>
              <a:t>수납 처리 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7" name="직사각형 96"/>
          <p:cNvSpPr/>
          <p:nvPr/>
        </p:nvSpPr>
        <p:spPr bwMode="auto">
          <a:xfrm>
            <a:off x="8154607" y="40740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52.</a:t>
            </a:r>
            <a:r>
              <a:rPr lang="ko-KR" altLang="en-US" sz="900" kern="0" dirty="0">
                <a:solidFill>
                  <a:prstClr val="black"/>
                </a:solidFill>
              </a:rPr>
              <a:t>수납전표 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8157015" y="299695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54.</a:t>
            </a:r>
            <a:r>
              <a:rPr lang="ko-KR" altLang="en-US" sz="900" kern="0" dirty="0">
                <a:solidFill>
                  <a:prstClr val="black"/>
                </a:solidFill>
              </a:rPr>
              <a:t>수납전표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9" name="직사각형 98"/>
          <p:cNvSpPr/>
          <p:nvPr/>
        </p:nvSpPr>
        <p:spPr bwMode="auto">
          <a:xfrm>
            <a:off x="7059652" y="23881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55.</a:t>
            </a:r>
            <a:r>
              <a:rPr lang="ko-KR" altLang="en-US" sz="900" kern="0" dirty="0">
                <a:solidFill>
                  <a:prstClr val="black"/>
                </a:solidFill>
              </a:rPr>
              <a:t>수납담당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10" name="Shape 266"/>
          <p:cNvCxnSpPr>
            <a:cxnSpLocks noChangeShapeType="1"/>
            <a:stCxn id="87" idx="0"/>
            <a:endCxn id="91" idx="2"/>
          </p:cNvCxnSpPr>
          <p:nvPr/>
        </p:nvCxnSpPr>
        <p:spPr bwMode="auto">
          <a:xfrm flipH="1" flipV="1">
            <a:off x="5075574" y="5523604"/>
            <a:ext cx="3270" cy="28026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직사각형 55"/>
          <p:cNvSpPr/>
          <p:nvPr/>
        </p:nvSpPr>
        <p:spPr bwMode="auto">
          <a:xfrm>
            <a:off x="2380886" y="58061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45.</a:t>
            </a:r>
            <a:r>
              <a:rPr lang="ko-KR" altLang="en-US" sz="900" kern="0" dirty="0">
                <a:solidFill>
                  <a:prstClr val="black"/>
                </a:solidFill>
              </a:rPr>
              <a:t>입금확인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1" name="순서도: 판단 58"/>
          <p:cNvSpPr>
            <a:spLocks noChangeAspect="1" noChangeArrowheads="1"/>
          </p:cNvSpPr>
          <p:nvPr/>
        </p:nvSpPr>
        <p:spPr bwMode="auto">
          <a:xfrm>
            <a:off x="3333239" y="5746902"/>
            <a:ext cx="915275" cy="439243"/>
          </a:xfrm>
          <a:prstGeom prst="flowChartDecision">
            <a:avLst/>
          </a:prstGeom>
          <a:noFill/>
          <a:ln w="9525" algn="ctr">
            <a:solidFill>
              <a:sysClr val="windowText" lastClr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입금액분리</a:t>
            </a:r>
          </a:p>
        </p:txBody>
      </p:sp>
      <p:sp>
        <p:nvSpPr>
          <p:cNvPr id="63" name="직사각형 62"/>
          <p:cNvSpPr/>
          <p:nvPr/>
        </p:nvSpPr>
        <p:spPr bwMode="auto">
          <a:xfrm>
            <a:off x="3412665" y="51942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46.</a:t>
            </a:r>
            <a:r>
              <a:rPr lang="ko-KR" altLang="en-US" sz="900" kern="0" dirty="0">
                <a:solidFill>
                  <a:prstClr val="black"/>
                </a:solidFill>
              </a:rPr>
              <a:t>분리요청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" name="직선 화살표 연결선 9"/>
          <p:cNvCxnSpPr>
            <a:stCxn id="161" idx="6"/>
            <a:endCxn id="56" idx="1"/>
          </p:cNvCxnSpPr>
          <p:nvPr/>
        </p:nvCxnSpPr>
        <p:spPr>
          <a:xfrm flipV="1">
            <a:off x="1734934" y="5966523"/>
            <a:ext cx="645952" cy="120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/>
          <p:cNvCxnSpPr>
            <a:stCxn id="56" idx="3"/>
            <a:endCxn id="61" idx="1"/>
          </p:cNvCxnSpPr>
          <p:nvPr/>
        </p:nvCxnSpPr>
        <p:spPr>
          <a:xfrm>
            <a:off x="3137311" y="5966523"/>
            <a:ext cx="195928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화살표 연결선 82"/>
          <p:cNvCxnSpPr>
            <a:stCxn id="61" idx="0"/>
            <a:endCxn id="63" idx="2"/>
          </p:cNvCxnSpPr>
          <p:nvPr/>
        </p:nvCxnSpPr>
        <p:spPr>
          <a:xfrm flipV="1">
            <a:off x="3790877" y="5515062"/>
            <a:ext cx="1" cy="23184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/>
          <p:cNvCxnSpPr>
            <a:stCxn id="63" idx="0"/>
            <a:endCxn id="85" idx="2"/>
          </p:cNvCxnSpPr>
          <p:nvPr/>
        </p:nvCxnSpPr>
        <p:spPr>
          <a:xfrm flipH="1" flipV="1">
            <a:off x="3790876" y="4361839"/>
            <a:ext cx="2" cy="83245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/>
          <p:cNvSpPr/>
          <p:nvPr/>
        </p:nvSpPr>
        <p:spPr bwMode="auto">
          <a:xfrm>
            <a:off x="4697361" y="520283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49.</a:t>
            </a:r>
            <a:r>
              <a:rPr lang="ko-KR" altLang="en-US" sz="900" kern="0" dirty="0">
                <a:solidFill>
                  <a:prstClr val="black"/>
                </a:solidFill>
              </a:rPr>
              <a:t>수납결의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0" name="꺾인 연결선 39"/>
          <p:cNvCxnSpPr>
            <a:stCxn id="85" idx="3"/>
            <a:endCxn id="87" idx="1"/>
          </p:cNvCxnSpPr>
          <p:nvPr/>
        </p:nvCxnSpPr>
        <p:spPr>
          <a:xfrm>
            <a:off x="4169088" y="4201454"/>
            <a:ext cx="531543" cy="176280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화살표 연결선 100"/>
          <p:cNvCxnSpPr>
            <a:stCxn id="61" idx="3"/>
            <a:endCxn id="87" idx="1"/>
          </p:cNvCxnSpPr>
          <p:nvPr/>
        </p:nvCxnSpPr>
        <p:spPr>
          <a:xfrm flipV="1">
            <a:off x="4248514" y="5964257"/>
            <a:ext cx="452117" cy="226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hape 266"/>
          <p:cNvCxnSpPr>
            <a:cxnSpLocks noChangeShapeType="1"/>
            <a:stCxn id="91" idx="0"/>
            <a:endCxn id="88" idx="2"/>
          </p:cNvCxnSpPr>
          <p:nvPr/>
        </p:nvCxnSpPr>
        <p:spPr bwMode="auto">
          <a:xfrm flipH="1" flipV="1">
            <a:off x="5072740" y="4973907"/>
            <a:ext cx="2834" cy="22892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TextBox 120"/>
          <p:cNvSpPr txBox="1"/>
          <p:nvPr/>
        </p:nvSpPr>
        <p:spPr>
          <a:xfrm>
            <a:off x="3512840" y="5589240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22" name="TextBox 121"/>
          <p:cNvSpPr txBox="1"/>
          <p:nvPr/>
        </p:nvSpPr>
        <p:spPr>
          <a:xfrm>
            <a:off x="4107119" y="5992236"/>
            <a:ext cx="26321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N</a:t>
            </a:r>
            <a:endParaRPr lang="ko-KR" altLang="en-US" sz="800" dirty="0"/>
          </a:p>
        </p:txBody>
      </p:sp>
      <p:cxnSp>
        <p:nvCxnSpPr>
          <p:cNvPr id="58" name="꺾인 연결선 57"/>
          <p:cNvCxnSpPr>
            <a:stCxn id="88" idx="0"/>
            <a:endCxn id="96" idx="1"/>
          </p:cNvCxnSpPr>
          <p:nvPr/>
        </p:nvCxnSpPr>
        <p:spPr>
          <a:xfrm rot="5400000" flipH="1" flipV="1">
            <a:off x="5307712" y="4002486"/>
            <a:ext cx="415678" cy="88562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66"/>
          <p:cNvGrpSpPr/>
          <p:nvPr/>
        </p:nvGrpSpPr>
        <p:grpSpPr>
          <a:xfrm>
            <a:off x="6980599" y="3862208"/>
            <a:ext cx="1030333" cy="610908"/>
            <a:chOff x="6370939" y="3392996"/>
            <a:chExt cx="1030333" cy="610908"/>
          </a:xfrm>
        </p:grpSpPr>
        <p:sp>
          <p:nvSpPr>
            <p:cNvPr id="123" name="TextBox 122"/>
            <p:cNvSpPr txBox="1"/>
            <p:nvPr/>
          </p:nvSpPr>
          <p:spPr>
            <a:xfrm>
              <a:off x="7011422" y="3788460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요구</a:t>
              </a: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6416827" y="3392996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불요구</a:t>
              </a:r>
            </a:p>
          </p:txBody>
        </p:sp>
        <p:sp>
          <p:nvSpPr>
            <p:cNvPr id="126" name="순서도: 판단 58"/>
            <p:cNvSpPr>
              <a:spLocks noChangeAspect="1" noChangeArrowheads="1"/>
            </p:cNvSpPr>
            <p:nvPr/>
          </p:nvSpPr>
          <p:spPr bwMode="auto">
            <a:xfrm>
              <a:off x="6370939" y="3548517"/>
              <a:ext cx="915275" cy="439243"/>
            </a:xfrm>
            <a:prstGeom prst="flowChartDecision">
              <a:avLst/>
            </a:prstGeom>
            <a:noFill/>
            <a:ln w="9525" algn="ctr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36000" rIns="0" bIns="36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전표분개</a:t>
              </a:r>
            </a:p>
          </p:txBody>
        </p:sp>
      </p:grpSp>
      <p:sp>
        <p:nvSpPr>
          <p:cNvPr id="130" name="직사각형 129"/>
          <p:cNvSpPr/>
          <p:nvPr/>
        </p:nvSpPr>
        <p:spPr bwMode="auto">
          <a:xfrm>
            <a:off x="8154606" y="357301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53.</a:t>
            </a:r>
            <a:r>
              <a:rPr lang="ko-KR" altLang="en-US" sz="900" kern="0" dirty="0">
                <a:solidFill>
                  <a:prstClr val="black"/>
                </a:solidFill>
              </a:rPr>
              <a:t>수납전표 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1" name="직선 화살표 연결선 130"/>
          <p:cNvCxnSpPr>
            <a:stCxn id="96" idx="3"/>
            <a:endCxn id="126" idx="1"/>
          </p:cNvCxnSpPr>
          <p:nvPr/>
        </p:nvCxnSpPr>
        <p:spPr>
          <a:xfrm flipV="1">
            <a:off x="6714788" y="4237351"/>
            <a:ext cx="265811" cy="10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직선 화살표 연결선 131"/>
          <p:cNvCxnSpPr>
            <a:stCxn id="126" idx="3"/>
            <a:endCxn id="97" idx="1"/>
          </p:cNvCxnSpPr>
          <p:nvPr/>
        </p:nvCxnSpPr>
        <p:spPr>
          <a:xfrm flipV="1">
            <a:off x="7895874" y="4234406"/>
            <a:ext cx="258733" cy="294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화살표 연결선 135"/>
          <p:cNvCxnSpPr>
            <a:stCxn id="97" idx="0"/>
            <a:endCxn id="130" idx="2"/>
          </p:cNvCxnSpPr>
          <p:nvPr/>
        </p:nvCxnSpPr>
        <p:spPr>
          <a:xfrm flipH="1" flipV="1">
            <a:off x="8532819" y="3893787"/>
            <a:ext cx="1" cy="18023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화살표 연결선 147"/>
          <p:cNvCxnSpPr>
            <a:stCxn id="99" idx="3"/>
            <a:endCxn id="55" idx="3"/>
          </p:cNvCxnSpPr>
          <p:nvPr/>
        </p:nvCxnSpPr>
        <p:spPr>
          <a:xfrm>
            <a:off x="7816077" y="2548535"/>
            <a:ext cx="845335" cy="488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꺾인 연결선 150"/>
          <p:cNvCxnSpPr>
            <a:stCxn id="49" idx="3"/>
            <a:endCxn id="56" idx="0"/>
          </p:cNvCxnSpPr>
          <p:nvPr/>
        </p:nvCxnSpPr>
        <p:spPr>
          <a:xfrm>
            <a:off x="2399578" y="5337909"/>
            <a:ext cx="359521" cy="46822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타원 160"/>
          <p:cNvSpPr/>
          <p:nvPr/>
        </p:nvSpPr>
        <p:spPr>
          <a:xfrm>
            <a:off x="1532620" y="587485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66" name="꺾인 연결선 165"/>
          <p:cNvCxnSpPr>
            <a:stCxn id="126" idx="0"/>
            <a:endCxn id="99" idx="2"/>
          </p:cNvCxnSpPr>
          <p:nvPr/>
        </p:nvCxnSpPr>
        <p:spPr>
          <a:xfrm rot="16200000" flipV="1">
            <a:off x="6783647" y="3363139"/>
            <a:ext cx="1308809" cy="37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화살표 연결선 51"/>
          <p:cNvCxnSpPr>
            <a:stCxn id="130" idx="0"/>
            <a:endCxn id="98" idx="2"/>
          </p:cNvCxnSpPr>
          <p:nvPr/>
        </p:nvCxnSpPr>
        <p:spPr>
          <a:xfrm flipV="1">
            <a:off x="8532819" y="3317723"/>
            <a:ext cx="2409" cy="25529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꺾인 연결선 56"/>
          <p:cNvCxnSpPr>
            <a:stCxn id="98" idx="1"/>
            <a:endCxn id="99" idx="2"/>
          </p:cNvCxnSpPr>
          <p:nvPr/>
        </p:nvCxnSpPr>
        <p:spPr>
          <a:xfrm rot="10800000">
            <a:off x="7437865" y="2708920"/>
            <a:ext cx="719150" cy="44841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/>
          <p:cNvSpPr/>
          <p:nvPr/>
        </p:nvSpPr>
        <p:spPr bwMode="auto">
          <a:xfrm>
            <a:off x="1643153" y="5177523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ITMS</a:t>
            </a:r>
          </a:p>
        </p:txBody>
      </p:sp>
      <p:grpSp>
        <p:nvGrpSpPr>
          <p:cNvPr id="6" name="그룹 52"/>
          <p:cNvGrpSpPr/>
          <p:nvPr/>
        </p:nvGrpSpPr>
        <p:grpSpPr>
          <a:xfrm>
            <a:off x="8661412" y="2348264"/>
            <a:ext cx="756425" cy="410305"/>
            <a:chOff x="8553059" y="5827007"/>
            <a:chExt cx="756425" cy="410305"/>
          </a:xfrm>
        </p:grpSpPr>
        <p:sp>
          <p:nvSpPr>
            <p:cNvPr id="54" name="직사각형 53"/>
            <p:cNvSpPr/>
            <p:nvPr/>
          </p:nvSpPr>
          <p:spPr>
            <a:xfrm>
              <a:off x="8681541" y="583800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5" name="육각형 54"/>
            <p:cNvSpPr/>
            <p:nvPr/>
          </p:nvSpPr>
          <p:spPr bwMode="auto">
            <a:xfrm>
              <a:off x="8553059" y="582700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수입처리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7" name="순서도: 종속 처리 64">
            <a:extLst>
              <a:ext uri="{FF2B5EF4-FFF2-40B4-BE49-F238E27FC236}">
                <a16:creationId xmlns="" xmlns:a16="http://schemas.microsoft.com/office/drawing/2014/main" id="{41238873-2369-48EA-8834-535F7F75511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680376" y="5811651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1.7.1.2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</a:rPr>
              <a:t>부가금납부</a:t>
            </a: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="" xmlns:a16="http://schemas.microsoft.com/office/drawing/2014/main" id="{0CC846AE-2856-490F-9337-25E2019458B8}"/>
              </a:ext>
            </a:extLst>
          </p:cNvPr>
          <p:cNvCxnSpPr>
            <a:cxnSpLocks/>
            <a:stCxn id="47" idx="1"/>
            <a:endCxn id="87" idx="3"/>
          </p:cNvCxnSpPr>
          <p:nvPr/>
        </p:nvCxnSpPr>
        <p:spPr>
          <a:xfrm flipH="1" flipV="1">
            <a:off x="5457056" y="5964257"/>
            <a:ext cx="223320" cy="2422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6476705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스포츠센터 수강료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공원 내 시설물 임대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 err="1">
                <a:latin typeface="+mn-ea"/>
                <a:ea typeface="+mn-ea"/>
              </a:rPr>
              <a:t>차량주차료</a:t>
            </a:r>
            <a:r>
              <a:rPr lang="ko-KR" altLang="en-US" dirty="0">
                <a:latin typeface="+mn-ea"/>
                <a:ea typeface="+mn-ea"/>
              </a:rPr>
              <a:t> 유형별로 수입인식의 업무프로세스가 있으며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(7/12)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155289"/>
              </p:ext>
            </p:extLst>
          </p:nvPr>
        </p:nvGraphicFramePr>
        <p:xfrm>
          <a:off x="344489" y="1584356"/>
          <a:ext cx="9181019" cy="4436930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스포츠교실 수강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스포츠센터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분당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에서 개최하는 스포츠교실 강좌에서 교육을 받길 원하는 고객이 강좌를 수강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일일입장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수영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스케이트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헬스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 연습장에 일시적 이용을 원하는 고객이 일시적으로 이용하는 경우 일일입장수입이 발생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현금 등 非카드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수강료를 현금 등 비카드로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수강료를 카드로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수강료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스포츠교실 강좌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수영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에어로빅 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에서 발생되는 수강료를 강좌별 기간별로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수강료수입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회원관리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시설사용 계약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올림픽공원 내 체육관 등의 임대를 원하는 경우 일정기간 임대차계약을 체결하여 시설물 임대차 거래가 발생됨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임대료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매월 정기적으로 임대료 결제를 위한 세금계산서 발행과 임대료 결제가 발생됨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임대료집계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임대료수입을 발생원천별 기간별로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임대료정보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임대관리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주차료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올림픽공원내 주차이용에 대한 주차요금을 수납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010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현금 등 非카드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주차료를 현금 등 비카드로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254373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올림픽유스호스텔</a:t>
            </a:r>
            <a:r>
              <a:rPr lang="en-US" altLang="ko-KR" dirty="0">
                <a:latin typeface="+mn-ea"/>
                <a:ea typeface="+mn-ea"/>
              </a:rPr>
              <a:t>(</a:t>
            </a:r>
            <a:r>
              <a:rPr lang="ko-KR" altLang="en-US" dirty="0">
                <a:latin typeface="+mn-ea"/>
                <a:ea typeface="+mn-ea"/>
              </a:rPr>
              <a:t>파크텔</a:t>
            </a:r>
            <a:r>
              <a:rPr lang="en-US" altLang="ko-KR" dirty="0">
                <a:latin typeface="+mn-ea"/>
                <a:ea typeface="+mn-ea"/>
              </a:rPr>
              <a:t>)</a:t>
            </a:r>
            <a:r>
              <a:rPr lang="ko-KR" altLang="en-US" dirty="0">
                <a:latin typeface="+mn-ea"/>
                <a:ea typeface="+mn-ea"/>
              </a:rPr>
              <a:t>의 수입인식은 고객접점부터 결제까지의 과정이 객실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식음료 등 수입발생 유형의 업무프로세스가 있으며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(8/12)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6377601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7460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511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주차료를 카드로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주차료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주차료를 기간별로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주차료 수입내역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주차관재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</a:rPr>
                        <a:t>객실 이용</a:t>
                      </a:r>
                      <a:endParaRPr kumimoji="1" lang="ko-KR" altLang="en-US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객실이용의사가 있는 고객이 파크텔 객실을 이용하는 경우 숙박안내를 받고 객실을 이용하는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시설사용계약</a:t>
                      </a:r>
                    </a:p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세미나 등의 목적으로 파크텔의 공간을 사용하고자 하는 경우 사용계약을 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정해진 일정에 사용하는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상담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가입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피트니스센터를 이용하는 고객은 회원가입 상담 후 이용요금을 결제한 후 체육시설을 이용하는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식음료 주문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음식점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커피숍 등을 이용하는 경우 원하는 식음료를 주문하고 이용하는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현금 등 非카드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객실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식음료 등의 이용이 끝난 후 결제를 현금 등 비카드로 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객실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식음료 등의 이용이 끝난 후 결제를 카드로 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판매수입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객실판매수입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식음료판매수입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대관수입 등을 집계하는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판매수입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파크텔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PMS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승인내역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카드결제내역 중 승인된 내역이 집계되는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카드승인내역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0442815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경륜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경정사업은 투표권 판매와 상품 등 비투표권 판매로 수입인식 업무프로세스가 구분되며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(9/12)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6963288"/>
              </p:ext>
            </p:extLst>
          </p:nvPr>
        </p:nvGraphicFramePr>
        <p:xfrm>
          <a:off x="344489" y="1584356"/>
          <a:ext cx="9181019" cy="3485946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승자투표권판매</a:t>
                      </a:r>
                      <a:endParaRPr kumimoji="1" lang="en-US" altLang="ko-KR" sz="1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구매표를 원하는 베팅을 기록한 후 승자투표권을 구매함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구매는 그린카드를 이용하여 판매기 또는 앱을 설치하여 구매하는 방법과 무인판매기 또는 발매창구에서 구매하는 방법이 있음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판매자료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경주사업관리시스템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확정배당률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 경기 종료 후 선수들의 순위가 확정되면 그 결과를 발표하고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순위에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베팅된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내용에 따라 배당률을 계산하여 확정 게시함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선수순위정보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배당율정보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경주사업관리시스템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배당금 환급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경주권 발매 금액 중에서 발매수득금 및 제세금을 뺀 후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적중 경주권을 구매한 고객에게 배당금을 환급해 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경주권구매정보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고객배당금정보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경주사업관리시스템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제세 및 수득금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판매금액의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16%(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농어촌특별세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2%,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지방교육세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4%,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레저세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10%)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는 제세금으로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12%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는 발매수득금으로 구분 집계함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제세금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수득금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경주사업관리시스템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상품판매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본장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광명스피돔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미사리경정장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지점 내 매점에서 상품을 판매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현금등 非카드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상품판매 결제는 현금 등 비카드로 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카드 결제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상품판매 결제를 카드로 하는 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판매수입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상품판매수입을 장소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기간별로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상품판매정보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640126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투표권사업은 체육진흥투표권 판매 후 환급금을 제외한 금액</a:t>
            </a:r>
            <a:r>
              <a:rPr lang="en-US" altLang="ko-KR" dirty="0">
                <a:latin typeface="+mn-ea"/>
                <a:ea typeface="+mn-ea"/>
              </a:rPr>
              <a:t>(</a:t>
            </a:r>
            <a:r>
              <a:rPr lang="ko-KR" altLang="en-US" dirty="0">
                <a:latin typeface="+mn-ea"/>
                <a:ea typeface="+mn-ea"/>
              </a:rPr>
              <a:t>수입금액</a:t>
            </a:r>
            <a:r>
              <a:rPr lang="en-US" altLang="ko-KR" dirty="0">
                <a:latin typeface="+mn-ea"/>
                <a:ea typeface="+mn-ea"/>
              </a:rPr>
              <a:t>)</a:t>
            </a:r>
            <a:r>
              <a:rPr lang="ko-KR" altLang="en-US" dirty="0">
                <a:latin typeface="+mn-ea"/>
                <a:ea typeface="+mn-ea"/>
              </a:rPr>
              <a:t>을 週 </a:t>
            </a:r>
            <a:r>
              <a:rPr lang="en-US" altLang="ko-KR" dirty="0">
                <a:latin typeface="+mn-ea"/>
                <a:ea typeface="+mn-ea"/>
              </a:rPr>
              <a:t>1</a:t>
            </a:r>
            <a:r>
              <a:rPr lang="ko-KR" altLang="en-US" dirty="0">
                <a:latin typeface="+mn-ea"/>
                <a:ea typeface="+mn-ea"/>
              </a:rPr>
              <a:t>회</a:t>
            </a:r>
            <a:r>
              <a:rPr lang="en-US" altLang="ko-KR" dirty="0">
                <a:latin typeface="+mn-ea"/>
                <a:ea typeface="+mn-ea"/>
              </a:rPr>
              <a:t>(</a:t>
            </a:r>
            <a:r>
              <a:rPr lang="ko-KR" altLang="en-US" dirty="0">
                <a:latin typeface="+mn-ea"/>
                <a:ea typeface="+mn-ea"/>
              </a:rPr>
              <a:t>토토</a:t>
            </a:r>
            <a:r>
              <a:rPr lang="en-US" altLang="ko-KR" dirty="0">
                <a:latin typeface="+mn-ea"/>
                <a:ea typeface="+mn-ea"/>
              </a:rPr>
              <a:t>)</a:t>
            </a:r>
            <a:r>
              <a:rPr lang="ko-KR" altLang="en-US" dirty="0">
                <a:latin typeface="+mn-ea"/>
                <a:ea typeface="+mn-ea"/>
              </a:rPr>
              <a:t>와 月 </a:t>
            </a:r>
            <a:r>
              <a:rPr lang="en-US" altLang="ko-KR" dirty="0">
                <a:latin typeface="+mn-ea"/>
                <a:ea typeface="+mn-ea"/>
              </a:rPr>
              <a:t>1</a:t>
            </a:r>
            <a:r>
              <a:rPr lang="ko-KR" altLang="en-US" dirty="0">
                <a:latin typeface="+mn-ea"/>
                <a:ea typeface="+mn-ea"/>
              </a:rPr>
              <a:t>회 </a:t>
            </a:r>
            <a:r>
              <a:rPr lang="en-US" altLang="ko-KR" dirty="0">
                <a:latin typeface="+mn-ea"/>
                <a:ea typeface="+mn-ea"/>
              </a:rPr>
              <a:t>(</a:t>
            </a:r>
            <a:r>
              <a:rPr lang="ko-KR" altLang="en-US" dirty="0">
                <a:latin typeface="+mn-ea"/>
                <a:ea typeface="+mn-ea"/>
              </a:rPr>
              <a:t>프로토</a:t>
            </a:r>
            <a:r>
              <a:rPr lang="en-US" altLang="ko-KR" dirty="0">
                <a:latin typeface="+mn-ea"/>
                <a:ea typeface="+mn-ea"/>
              </a:rPr>
              <a:t>) </a:t>
            </a:r>
            <a:r>
              <a:rPr lang="ko-KR" altLang="en-US" dirty="0">
                <a:latin typeface="+mn-ea"/>
                <a:ea typeface="+mn-ea"/>
              </a:rPr>
              <a:t>간격으로 수탁사업자로부터 </a:t>
            </a:r>
            <a:r>
              <a:rPr lang="ko-KR" altLang="en-US" dirty="0" err="1">
                <a:latin typeface="+mn-ea"/>
                <a:ea typeface="+mn-ea"/>
              </a:rPr>
              <a:t>이체받아</a:t>
            </a:r>
            <a:r>
              <a:rPr lang="ko-KR" altLang="en-US" dirty="0">
                <a:latin typeface="+mn-ea"/>
                <a:ea typeface="+mn-ea"/>
              </a:rPr>
              <a:t> 수입인식을 하고 있으며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(10/12)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9180177"/>
              </p:ext>
            </p:extLst>
          </p:nvPr>
        </p:nvGraphicFramePr>
        <p:xfrm>
          <a:off x="344489" y="1584356"/>
          <a:ext cx="9181019" cy="3028746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736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7385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토토 및 프로토 판매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온라인 또는 오프라인에서 투표권을 판매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투표권판매정보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TOTO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77473783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적중결과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공식 결과물의 토대로 적중결과를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적중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TOTO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56148388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적중금 지급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적중결과에 따라 고객에게 적중금을 지급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적중 결과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TOTO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판매액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판매회차별로 토토와 프로토의 판매금액과 적중결과에 따른 적중금 지급금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환급금을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적중금 지급정보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환급금정보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TOTO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판매액 이체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수탁회사는 토토와 프로토의 판매액에서 환급금을 제외한 금액을 주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토토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프로토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공단으로 이체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판매금액정보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ITMS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수입 계좌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투표권수입을 이체받는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KSPO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투표권 수입계좌에서 수입금액을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판매금액정보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ITMS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판매액 집계</a:t>
                      </a:r>
                      <a:r>
                        <a:rPr lang="ko-KR" altLang="en-US" sz="1000" b="1" baseline="0" dirty="0">
                          <a:latin typeface="+mn-ea"/>
                          <a:ea typeface="+mn-ea"/>
                        </a:rPr>
                        <a:t> 확인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판매회차별로 토토와 프로토의 판매금액과 적중결과에 따른 적중금 지급금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환급금 집계결과를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8906197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수입관리 </a:t>
            </a:r>
            <a:r>
              <a:rPr lang="ko-KR" altLang="en-US" dirty="0">
                <a:latin typeface="+mn-ea"/>
                <a:ea typeface="+mn-ea"/>
              </a:rPr>
              <a:t>업무는 수입인식 이후에 징수요구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징수처리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수납요구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수납처리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(11/12)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272789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징수요구서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담당부서는 수입발생건에 대해 징수요구서를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41827355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징수요구서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작성된 징수요구서에 대한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83258721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징수요구서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팀장은 승인요청된 징수요구서를 검토하여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54197046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징수처리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징수요구가 완료된 이후에 징수처리의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 결의서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731758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미수금 전표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징수처리 승인요청에 의하여 자동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5203398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미수금 전표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생성된 미수금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전표의 승인을 요청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미수금 전표 승인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요청된 미수금 전표를 검토하여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징수담당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징수 담당관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주로 자금부서 팀장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은 승인요청된 징수내역에 대해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계산서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과세여부에 따른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홈텍스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연계를 위한 전자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계산서 자동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입금확인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ITMS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를 이용한 입금내역을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입금내역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ITMS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85422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수입관리 </a:t>
            </a:r>
            <a:r>
              <a:rPr lang="ko-KR" altLang="en-US" dirty="0">
                <a:latin typeface="+mn-ea"/>
                <a:ea typeface="+mn-ea"/>
              </a:rPr>
              <a:t>업무는 수입인식 이후에 징수요구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징수처리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수납요구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수납처리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수입관리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(12/12)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6287125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분리요청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일괄 입금되어 입금액 분리가 필요한 경우 입금액 분리를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84424254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입금액분리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분리요청에 대한 입금액을 분리하는 업무를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입금액분리정보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11073026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수납결의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수납결의에 필요한 사항인 수납 요구서를 작성하여 수납결의 절차를 수행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1091461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수납결의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요구서의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8017588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수납결의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요구서를 검토하여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22905906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수납처리승인요청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처리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결의서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수납전표생성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수납처리승인요청에 의해 수납전표가 자동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수납전표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생성된 수납전표에 대한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수납전표승인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생성된 수납전표에 대한 승인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수납담당승인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수납처리 승인 요청에 대한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수납 결의서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31589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지출요구 등록은 계약 관련 지출 요구 시 계약관리와 연계하여 관련 계약정보를 필수로 입력 할 수 있도록 업무 프로세스로 개선하고 나머지는 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지출관리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지출품의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0156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순서도: 판단 58">
            <a:extLst>
              <a:ext uri="{FF2B5EF4-FFF2-40B4-BE49-F238E27FC236}">
                <a16:creationId xmlns="" xmlns:a16="http://schemas.microsoft.com/office/drawing/2014/main" id="{B1ADAC18-C7A9-45B0-9BE3-6F152D75D6B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437060" y="3935957"/>
            <a:ext cx="879955" cy="422294"/>
          </a:xfrm>
          <a:prstGeom prst="flowChartDecision">
            <a:avLst/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  <a:extLst/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간이결재</a:t>
            </a:r>
            <a:endParaRPr kumimoji="1" lang="en-US" altLang="ko-KR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대상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9" name="Rectangle 11">
            <a:extLst>
              <a:ext uri="{FF2B5EF4-FFF2-40B4-BE49-F238E27FC236}">
                <a16:creationId xmlns="" xmlns:a16="http://schemas.microsoft.com/office/drawing/2014/main" id="{C9CD520F-3401-4226-80D3-C7A4D0128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4888" y="5412856"/>
            <a:ext cx="756000" cy="320400"/>
          </a:xfrm>
          <a:prstGeom prst="rect">
            <a:avLst/>
          </a:prstGeom>
          <a:solidFill>
            <a:schemeClr val="bg1"/>
          </a:solidFill>
          <a:ln w="1397">
            <a:solidFill>
              <a:srgbClr val="000000"/>
            </a:solidFill>
            <a:round/>
            <a:headEnd/>
            <a:tailEnd/>
          </a:ln>
          <a:extLst/>
        </p:spPr>
        <p:txBody>
          <a:bodyPr lIns="36000" rIns="3600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4.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간이결재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내역작성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Rectangle 11">
            <a:extLst>
              <a:ext uri="{FF2B5EF4-FFF2-40B4-BE49-F238E27FC236}">
                <a16:creationId xmlns="" xmlns:a16="http://schemas.microsoft.com/office/drawing/2014/main" id="{5562C1FE-60B7-48E8-AFEC-9DE1868D6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532" y="5412856"/>
            <a:ext cx="756000" cy="320400"/>
          </a:xfrm>
          <a:prstGeom prst="rect">
            <a:avLst/>
          </a:prstGeom>
          <a:solidFill>
            <a:schemeClr val="bg1"/>
          </a:solidFill>
          <a:ln w="1397">
            <a:solidFill>
              <a:srgbClr val="000000"/>
            </a:solidFill>
            <a:round/>
            <a:headEnd/>
            <a:tailEnd/>
          </a:ln>
          <a:extLst/>
        </p:spPr>
        <p:txBody>
          <a:bodyPr lIns="36000" rIns="3600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5.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간이결재 승인요청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Rectangle 11">
            <a:extLst>
              <a:ext uri="{FF2B5EF4-FFF2-40B4-BE49-F238E27FC236}">
                <a16:creationId xmlns="" xmlns:a16="http://schemas.microsoft.com/office/drawing/2014/main" id="{7BC0AD76-3029-4D3C-9A5A-BC66F4B40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728" y="5412856"/>
            <a:ext cx="756000" cy="320400"/>
          </a:xfrm>
          <a:prstGeom prst="rect">
            <a:avLst/>
          </a:prstGeom>
          <a:solidFill>
            <a:schemeClr val="bg1"/>
          </a:solidFill>
          <a:ln w="1397">
            <a:solidFill>
              <a:srgbClr val="000000"/>
            </a:solidFill>
            <a:round/>
            <a:headEnd/>
            <a:tailEnd/>
          </a:ln>
          <a:extLst/>
        </p:spPr>
        <p:txBody>
          <a:bodyPr lIns="36000" rIns="3600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6.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간이결재 승인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="" xmlns:a16="http://schemas.microsoft.com/office/drawing/2014/main" id="{7B7D88E6-94E8-4C57-88E4-F5DF61527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4888" y="270834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1.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지출품의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algn="ctr" latinLnBrk="0"/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내역작성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3" name="Rectangle 11">
            <a:extLst>
              <a:ext uri="{FF2B5EF4-FFF2-40B4-BE49-F238E27FC236}">
                <a16:creationId xmlns="" xmlns:a16="http://schemas.microsoft.com/office/drawing/2014/main" id="{EDB82DFC-F864-40D9-9B1E-E12E5061A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9532" y="270834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2.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승인요청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Rectangle 11">
            <a:extLst>
              <a:ext uri="{FF2B5EF4-FFF2-40B4-BE49-F238E27FC236}">
                <a16:creationId xmlns="" xmlns:a16="http://schemas.microsoft.com/office/drawing/2014/main" id="{574F5AB3-169A-49EC-91A4-BDA2BD4EB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728" y="2708340"/>
            <a:ext cx="7560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3.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승인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="" xmlns:a16="http://schemas.microsoft.com/office/drawing/2014/main" id="{46322CC1-9D23-4351-8BAA-242F6F23966D}"/>
              </a:ext>
            </a:extLst>
          </p:cNvPr>
          <p:cNvSpPr/>
          <p:nvPr/>
        </p:nvSpPr>
        <p:spPr>
          <a:xfrm>
            <a:off x="9261524" y="405422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23" name="Shape 266">
            <a:extLst>
              <a:ext uri="{FF2B5EF4-FFF2-40B4-BE49-F238E27FC236}">
                <a16:creationId xmlns="" xmlns:a16="http://schemas.microsoft.com/office/drawing/2014/main" id="{02B40125-3A8D-4B84-92BA-3AE96C435445}"/>
              </a:ext>
            </a:extLst>
          </p:cNvPr>
          <p:cNvCxnSpPr>
            <a:cxnSpLocks noChangeShapeType="1"/>
            <a:stCxn id="14" idx="3"/>
            <a:endCxn id="22" idx="2"/>
          </p:cNvCxnSpPr>
          <p:nvPr/>
        </p:nvCxnSpPr>
        <p:spPr bwMode="auto">
          <a:xfrm>
            <a:off x="8039728" y="2868540"/>
            <a:ext cx="1221796" cy="127856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Shape 266">
            <a:extLst>
              <a:ext uri="{FF2B5EF4-FFF2-40B4-BE49-F238E27FC236}">
                <a16:creationId xmlns="" xmlns:a16="http://schemas.microsoft.com/office/drawing/2014/main" id="{54082AA2-2209-4579-80BD-42C81B35A817}"/>
              </a:ext>
            </a:extLst>
          </p:cNvPr>
          <p:cNvCxnSpPr>
            <a:cxnSpLocks noChangeShapeType="1"/>
            <a:stCxn id="12" idx="3"/>
            <a:endCxn id="13" idx="1"/>
          </p:cNvCxnSpPr>
          <p:nvPr/>
        </p:nvCxnSpPr>
        <p:spPr bwMode="auto">
          <a:xfrm>
            <a:off x="4700888" y="2868540"/>
            <a:ext cx="81864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" name="Shape 266">
            <a:extLst>
              <a:ext uri="{FF2B5EF4-FFF2-40B4-BE49-F238E27FC236}">
                <a16:creationId xmlns="" xmlns:a16="http://schemas.microsoft.com/office/drawing/2014/main" id="{1DDC7EE8-2943-48E9-9918-7C72BB358C58}"/>
              </a:ext>
            </a:extLst>
          </p:cNvPr>
          <p:cNvCxnSpPr>
            <a:cxnSpLocks noChangeShapeType="1"/>
            <a:stCxn id="13" idx="3"/>
            <a:endCxn id="14" idx="1"/>
          </p:cNvCxnSpPr>
          <p:nvPr/>
        </p:nvCxnSpPr>
        <p:spPr bwMode="auto">
          <a:xfrm>
            <a:off x="6275532" y="2868540"/>
            <a:ext cx="100819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3" name="Shape 266">
            <a:extLst>
              <a:ext uri="{FF2B5EF4-FFF2-40B4-BE49-F238E27FC236}">
                <a16:creationId xmlns="" xmlns:a16="http://schemas.microsoft.com/office/drawing/2014/main" id="{E03FE632-BAD9-47F5-9D7D-C063F85166FD}"/>
              </a:ext>
            </a:extLst>
          </p:cNvPr>
          <p:cNvCxnSpPr>
            <a:cxnSpLocks noChangeShapeType="1"/>
            <a:stCxn id="8" idx="0"/>
            <a:endCxn id="12" idx="1"/>
          </p:cNvCxnSpPr>
          <p:nvPr/>
        </p:nvCxnSpPr>
        <p:spPr bwMode="auto">
          <a:xfrm rot="5400000" flipH="1" flipV="1">
            <a:off x="2877255" y="2868324"/>
            <a:ext cx="1067417" cy="106785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" name="TextBox 33">
            <a:extLst>
              <a:ext uri="{FF2B5EF4-FFF2-40B4-BE49-F238E27FC236}">
                <a16:creationId xmlns="" xmlns:a16="http://schemas.microsoft.com/office/drawing/2014/main" id="{9D2A5E1C-04DC-424B-887E-5F9132012BD3}"/>
              </a:ext>
            </a:extLst>
          </p:cNvPr>
          <p:cNvSpPr txBox="1"/>
          <p:nvPr/>
        </p:nvSpPr>
        <p:spPr>
          <a:xfrm>
            <a:off x="2877037" y="3681028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N</a:t>
            </a:r>
            <a:endParaRPr lang="ko-KR" altLang="en-US" sz="900" dirty="0"/>
          </a:p>
        </p:txBody>
      </p:sp>
      <p:cxnSp>
        <p:nvCxnSpPr>
          <p:cNvPr id="47" name="Shape 266">
            <a:extLst>
              <a:ext uri="{FF2B5EF4-FFF2-40B4-BE49-F238E27FC236}">
                <a16:creationId xmlns="" xmlns:a16="http://schemas.microsoft.com/office/drawing/2014/main" id="{F385D87E-C0DB-4D6F-A77B-D9AA442A8A3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233084" y="4144208"/>
            <a:ext cx="203976" cy="579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Shape 266">
            <a:extLst>
              <a:ext uri="{FF2B5EF4-FFF2-40B4-BE49-F238E27FC236}">
                <a16:creationId xmlns="" xmlns:a16="http://schemas.microsoft.com/office/drawing/2014/main" id="{81602B55-C4DA-45F1-8536-BC0ABB5C4540}"/>
              </a:ext>
            </a:extLst>
          </p:cNvPr>
          <p:cNvCxnSpPr>
            <a:cxnSpLocks noChangeShapeType="1"/>
            <a:stCxn id="8" idx="2"/>
            <a:endCxn id="9" idx="1"/>
          </p:cNvCxnSpPr>
          <p:nvPr/>
        </p:nvCxnSpPr>
        <p:spPr bwMode="auto">
          <a:xfrm rot="16200000" flipH="1">
            <a:off x="2803561" y="4431728"/>
            <a:ext cx="1214805" cy="106785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TextBox 52">
            <a:extLst>
              <a:ext uri="{FF2B5EF4-FFF2-40B4-BE49-F238E27FC236}">
                <a16:creationId xmlns="" xmlns:a16="http://schemas.microsoft.com/office/drawing/2014/main" id="{EE1FD434-6EE2-462B-ADA6-963947406E97}"/>
              </a:ext>
            </a:extLst>
          </p:cNvPr>
          <p:cNvSpPr txBox="1"/>
          <p:nvPr/>
        </p:nvSpPr>
        <p:spPr>
          <a:xfrm>
            <a:off x="2891402" y="4336391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Y</a:t>
            </a:r>
            <a:endParaRPr lang="ko-KR" altLang="en-US" sz="900" dirty="0"/>
          </a:p>
        </p:txBody>
      </p:sp>
      <p:cxnSp>
        <p:nvCxnSpPr>
          <p:cNvPr id="54" name="Shape 266">
            <a:extLst>
              <a:ext uri="{FF2B5EF4-FFF2-40B4-BE49-F238E27FC236}">
                <a16:creationId xmlns="" xmlns:a16="http://schemas.microsoft.com/office/drawing/2014/main" id="{297E31A6-808C-4220-A999-44C4E459D7FD}"/>
              </a:ext>
            </a:extLst>
          </p:cNvPr>
          <p:cNvCxnSpPr>
            <a:cxnSpLocks noChangeShapeType="1"/>
            <a:stCxn id="9" idx="3"/>
            <a:endCxn id="10" idx="1"/>
          </p:cNvCxnSpPr>
          <p:nvPr/>
        </p:nvCxnSpPr>
        <p:spPr bwMode="auto">
          <a:xfrm>
            <a:off x="4700888" y="5573056"/>
            <a:ext cx="81864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" name="Shape 266">
            <a:extLst>
              <a:ext uri="{FF2B5EF4-FFF2-40B4-BE49-F238E27FC236}">
                <a16:creationId xmlns="" xmlns:a16="http://schemas.microsoft.com/office/drawing/2014/main" id="{8EBE1563-7EDD-47FA-AB7D-92B5D47B41CC}"/>
              </a:ext>
            </a:extLst>
          </p:cNvPr>
          <p:cNvCxnSpPr>
            <a:cxnSpLocks noChangeShapeType="1"/>
            <a:stCxn id="10" idx="3"/>
            <a:endCxn id="11" idx="1"/>
          </p:cNvCxnSpPr>
          <p:nvPr/>
        </p:nvCxnSpPr>
        <p:spPr bwMode="auto">
          <a:xfrm>
            <a:off x="6275532" y="5573056"/>
            <a:ext cx="100819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1" name="Shape 266">
            <a:extLst>
              <a:ext uri="{FF2B5EF4-FFF2-40B4-BE49-F238E27FC236}">
                <a16:creationId xmlns="" xmlns:a16="http://schemas.microsoft.com/office/drawing/2014/main" id="{11524AD4-14AB-429E-B7FA-86089DDAD0C4}"/>
              </a:ext>
            </a:extLst>
          </p:cNvPr>
          <p:cNvCxnSpPr>
            <a:cxnSpLocks noChangeShapeType="1"/>
            <a:stCxn id="11" idx="3"/>
            <a:endCxn id="22" idx="2"/>
          </p:cNvCxnSpPr>
          <p:nvPr/>
        </p:nvCxnSpPr>
        <p:spPr bwMode="auto">
          <a:xfrm flipV="1">
            <a:off x="8039728" y="4147104"/>
            <a:ext cx="1221796" cy="142595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41"/>
          <p:cNvGrpSpPr/>
          <p:nvPr/>
        </p:nvGrpSpPr>
        <p:grpSpPr>
          <a:xfrm>
            <a:off x="1476659" y="3941952"/>
            <a:ext cx="756425" cy="410305"/>
            <a:chOff x="8553059" y="5827007"/>
            <a:chExt cx="756425" cy="410305"/>
          </a:xfrm>
        </p:grpSpPr>
        <p:sp>
          <p:nvSpPr>
            <p:cNvPr id="44" name="직사각형 43"/>
            <p:cNvSpPr/>
            <p:nvPr/>
          </p:nvSpPr>
          <p:spPr>
            <a:xfrm>
              <a:off x="8681541" y="583800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45" name="육각형 44"/>
            <p:cNvSpPr/>
            <p:nvPr/>
          </p:nvSpPr>
          <p:spPr bwMode="auto">
            <a:xfrm>
              <a:off x="8553059" y="582700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47"/>
          <p:cNvGrpSpPr/>
          <p:nvPr/>
        </p:nvGrpSpPr>
        <p:grpSpPr>
          <a:xfrm>
            <a:off x="3188804" y="2420888"/>
            <a:ext cx="873628" cy="215444"/>
            <a:chOff x="6033120" y="2973414"/>
            <a:chExt cx="873628" cy="215444"/>
          </a:xfrm>
        </p:grpSpPr>
        <p:sp>
          <p:nvSpPr>
            <p:cNvPr id="50" name="TextBox 49">
              <a:extLst>
                <a:ext uri="{FF2B5EF4-FFF2-40B4-BE49-F238E27FC236}">
                  <a16:creationId xmlns="" xmlns:a16="http://schemas.microsoft.com/office/drawing/2014/main" id="{F6061123-C3F3-4846-A67D-DBF9FF46E5C7}"/>
                </a:ext>
              </a:extLst>
            </p:cNvPr>
            <p:cNvSpPr txBox="1"/>
            <p:nvPr/>
          </p:nvSpPr>
          <p:spPr>
            <a:xfrm>
              <a:off x="6033120" y="2973414"/>
              <a:ext cx="87362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800" dirty="0">
                  <a:latin typeface="+mn-ea"/>
                </a:rPr>
                <a:t>그룹웨어</a:t>
              </a:r>
            </a:p>
          </p:txBody>
        </p:sp>
        <p:sp>
          <p:nvSpPr>
            <p:cNvPr id="51" name="Freeform 176">
              <a:extLst>
                <a:ext uri="{FF2B5EF4-FFF2-40B4-BE49-F238E27FC236}">
                  <a16:creationId xmlns="" xmlns:a16="http://schemas.microsoft.com/office/drawing/2014/main" id="{97F2A6CA-AD09-48BE-A430-029771C34BF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6834747" y="2980828"/>
              <a:ext cx="72000" cy="20803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52" name="직선 연결선 51">
            <a:extLst>
              <a:ext uri="{FF2B5EF4-FFF2-40B4-BE49-F238E27FC236}">
                <a16:creationId xmlns="" xmlns:a16="http://schemas.microsoft.com/office/drawing/2014/main" id="{5F4AA5F3-7412-4B35-8B0E-301456EDAB7E}"/>
              </a:ext>
            </a:extLst>
          </p:cNvPr>
          <p:cNvCxnSpPr>
            <a:stCxn id="50" idx="3"/>
            <a:endCxn id="12" idx="0"/>
          </p:cNvCxnSpPr>
          <p:nvPr/>
        </p:nvCxnSpPr>
        <p:spPr>
          <a:xfrm>
            <a:off x="4062432" y="2528610"/>
            <a:ext cx="260456" cy="17973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그룹 54"/>
          <p:cNvGrpSpPr/>
          <p:nvPr/>
        </p:nvGrpSpPr>
        <p:grpSpPr>
          <a:xfrm>
            <a:off x="1430299" y="4581128"/>
            <a:ext cx="1218445" cy="461665"/>
            <a:chOff x="5688303" y="2901406"/>
            <a:chExt cx="1218445" cy="461665"/>
          </a:xfrm>
        </p:grpSpPr>
        <p:sp>
          <p:nvSpPr>
            <p:cNvPr id="56" name="TextBox 55">
              <a:extLst>
                <a:ext uri="{FF2B5EF4-FFF2-40B4-BE49-F238E27FC236}">
                  <a16:creationId xmlns="" xmlns:a16="http://schemas.microsoft.com/office/drawing/2014/main" id="{F6061123-C3F3-4846-A67D-DBF9FF46E5C7}"/>
                </a:ext>
              </a:extLst>
            </p:cNvPr>
            <p:cNvSpPr txBox="1"/>
            <p:nvPr/>
          </p:nvSpPr>
          <p:spPr>
            <a:xfrm>
              <a:off x="5688303" y="2901406"/>
              <a:ext cx="121844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800" dirty="0">
                  <a:latin typeface="+mn-ea"/>
                </a:rPr>
                <a:t>회의비</a:t>
              </a:r>
              <a:endParaRPr lang="en-US" altLang="ko-KR" sz="800" dirty="0">
                <a:latin typeface="+mn-ea"/>
              </a:endParaRPr>
            </a:p>
            <a:p>
              <a:pPr algn="r"/>
              <a:r>
                <a:rPr lang="ko-KR" altLang="en-US" sz="800" dirty="0">
                  <a:latin typeface="+mn-ea"/>
                </a:rPr>
                <a:t>업무추진비</a:t>
              </a:r>
              <a:endParaRPr lang="en-US" altLang="ko-KR" sz="800" dirty="0">
                <a:latin typeface="+mn-ea"/>
              </a:endParaRPr>
            </a:p>
            <a:p>
              <a:pPr algn="r"/>
              <a:r>
                <a:rPr lang="ko-KR" altLang="en-US" sz="800" dirty="0">
                  <a:latin typeface="+mn-ea"/>
                </a:rPr>
                <a:t>급량비</a:t>
              </a:r>
            </a:p>
          </p:txBody>
        </p:sp>
        <p:sp>
          <p:nvSpPr>
            <p:cNvPr id="58" name="Freeform 176">
              <a:extLst>
                <a:ext uri="{FF2B5EF4-FFF2-40B4-BE49-F238E27FC236}">
                  <a16:creationId xmlns="" xmlns:a16="http://schemas.microsoft.com/office/drawing/2014/main" id="{97F2A6CA-AD09-48BE-A430-029771C34BF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6834747" y="2980827"/>
              <a:ext cx="72000" cy="30137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900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59" name="직선 연결선 58">
            <a:extLst>
              <a:ext uri="{FF2B5EF4-FFF2-40B4-BE49-F238E27FC236}">
                <a16:creationId xmlns="" xmlns:a16="http://schemas.microsoft.com/office/drawing/2014/main" id="{5F4AA5F3-7412-4B35-8B0E-301456EDAB7E}"/>
              </a:ext>
            </a:extLst>
          </p:cNvPr>
          <p:cNvCxnSpPr>
            <a:stCxn id="56" idx="3"/>
          </p:cNvCxnSpPr>
          <p:nvPr/>
        </p:nvCxnSpPr>
        <p:spPr>
          <a:xfrm flipV="1">
            <a:off x="2648744" y="4618419"/>
            <a:ext cx="228293" cy="19354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6777199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지출요구 등록은 계약관련 지출요구 시 계약관리와 연계하여 관련 계약정보를 필수로 입력할 수 있도록 업무프로세스를 개선하고</a:t>
            </a:r>
            <a:r>
              <a:rPr lang="en-US" altLang="ko-KR" dirty="0">
                <a:latin typeface="+mn-ea"/>
                <a:ea typeface="+mn-ea"/>
              </a:rPr>
              <a:t> </a:t>
            </a:r>
            <a:r>
              <a:rPr lang="ko-KR" altLang="en-US" dirty="0">
                <a:latin typeface="+mn-ea"/>
                <a:ea typeface="+mn-ea"/>
              </a:rPr>
              <a:t>나머지는 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지출관리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지출요구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88334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예산부서부서장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640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지출부서부서장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682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4" name="직사각형 63"/>
          <p:cNvSpPr/>
          <p:nvPr/>
        </p:nvSpPr>
        <p:spPr bwMode="auto">
          <a:xfrm>
            <a:off x="4448944" y="51247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</a:t>
            </a:r>
            <a:r>
              <a:rPr lang="ko-KR" altLang="en-US" sz="900" kern="0" dirty="0">
                <a:solidFill>
                  <a:prstClr val="black"/>
                </a:solidFill>
              </a:rPr>
              <a:t>법인카드 분할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5169024" y="423966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10.</a:t>
            </a:r>
            <a:r>
              <a:rPr lang="ko-KR" altLang="en-US" sz="900" kern="0" dirty="0">
                <a:solidFill>
                  <a:srgbClr val="197EC6"/>
                </a:solidFill>
              </a:rPr>
              <a:t>지출요구</a:t>
            </a:r>
            <a:endParaRPr lang="en-US" altLang="ko-KR" sz="900" kern="0" dirty="0">
              <a:solidFill>
                <a:srgbClr val="197EC6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등록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7838506" y="256490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</a:t>
            </a:r>
            <a:r>
              <a:rPr lang="ko-KR" altLang="en-US" sz="900" kern="0" dirty="0">
                <a:solidFill>
                  <a:prstClr val="black"/>
                </a:solidFill>
              </a:rPr>
              <a:t>예산부서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6716855" y="344465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12.</a:t>
            </a:r>
            <a:r>
              <a:rPr lang="ko-KR" altLang="en-US" sz="900" kern="0" dirty="0">
                <a:solidFill>
                  <a:prstClr val="black"/>
                </a:solidFill>
              </a:rPr>
              <a:t>지출요구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2399173" y="4275416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7.</a:t>
            </a:r>
            <a:r>
              <a:rPr lang="ko-KR" altLang="en-US" sz="900" kern="0" dirty="0">
                <a:solidFill>
                  <a:prstClr val="black"/>
                </a:solidFill>
              </a:rPr>
              <a:t>법인카드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/>
            <a:r>
              <a:rPr lang="ko-KR" altLang="en-US" sz="900" kern="0" dirty="0">
                <a:solidFill>
                  <a:prstClr val="black"/>
                </a:solidFill>
              </a:rPr>
              <a:t>금액확인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6" name="직사각형 85"/>
          <p:cNvSpPr/>
          <p:nvPr/>
        </p:nvSpPr>
        <p:spPr bwMode="auto">
          <a:xfrm>
            <a:off x="3512840" y="51247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</a:t>
            </a:r>
            <a:r>
              <a:rPr lang="ko-KR" altLang="en-US" sz="900" kern="0" dirty="0">
                <a:solidFill>
                  <a:prstClr val="black"/>
                </a:solidFill>
              </a:rPr>
              <a:t>관련부서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분리금액확정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19"/>
          <p:cNvGrpSpPr/>
          <p:nvPr/>
        </p:nvGrpSpPr>
        <p:grpSpPr>
          <a:xfrm>
            <a:off x="2318498" y="5065550"/>
            <a:ext cx="1026673" cy="631702"/>
            <a:chOff x="3249619" y="6424606"/>
            <a:chExt cx="1026673" cy="631702"/>
          </a:xfrm>
        </p:grpSpPr>
        <p:sp>
          <p:nvSpPr>
            <p:cNvPr id="85" name="순서도: 판단 58"/>
            <p:cNvSpPr>
              <a:spLocks noChangeAspect="1" noChangeArrowheads="1"/>
            </p:cNvSpPr>
            <p:nvPr/>
          </p:nvSpPr>
          <p:spPr bwMode="auto">
            <a:xfrm>
              <a:off x="3249619" y="6424606"/>
              <a:ext cx="915275" cy="439243"/>
            </a:xfrm>
            <a:prstGeom prst="flowChartDecision">
              <a:avLst/>
            </a:prstGeom>
            <a:noFill/>
            <a:ln w="9525" algn="ctr">
              <a:solidFill>
                <a:sysClr val="windowText" lastClr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36000" rIns="0" bIns="36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prstClr val="black"/>
                  </a:solidFill>
                </a:rPr>
                <a:t>여러</a:t>
              </a:r>
              <a:r>
                <a:rPr kumimoji="1" lang="en-US" altLang="ko-KR" sz="800" kern="0" dirty="0">
                  <a:solidFill>
                    <a:prstClr val="black"/>
                  </a:solidFill>
                </a:rPr>
                <a:t/>
              </a:r>
              <a:br>
                <a:rPr kumimoji="1" lang="en-US" altLang="ko-KR" sz="800" kern="0" dirty="0">
                  <a:solidFill>
                    <a:prstClr val="black"/>
                  </a:solidFill>
                </a:rPr>
              </a:br>
              <a:r>
                <a:rPr kumimoji="1" lang="ko-KR" altLang="en-US" sz="800" kern="0" dirty="0">
                  <a:solidFill>
                    <a:prstClr val="black"/>
                  </a:solidFill>
                </a:rPr>
                <a:t>관련 부서</a:t>
              </a:r>
              <a:r>
                <a:rPr kumimoji="1" lang="en-US" altLang="ko-KR" sz="800" kern="0" dirty="0">
                  <a:solidFill>
                    <a:prstClr val="black"/>
                  </a:solidFill>
                </a:rPr>
                <a:t> </a:t>
              </a:r>
              <a:r>
                <a:rPr kumimoji="1" lang="ko-KR" altLang="en-US" sz="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취합</a:t>
              </a:r>
              <a:r>
                <a:rPr kumimoji="1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/>
              </a:r>
              <a:br>
                <a:rPr kumimoji="1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1" lang="ko-KR" altLang="en-US" sz="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결제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3298436" y="6840864"/>
              <a:ext cx="26321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/>
                <a:t>N</a:t>
              </a:r>
              <a:endParaRPr lang="ko-KR" altLang="en-US" sz="800" dirty="0"/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4033918" y="6669940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/>
                <a:t>Y</a:t>
              </a:r>
              <a:endParaRPr lang="ko-KR" altLang="en-US" sz="800" dirty="0"/>
            </a:p>
          </p:txBody>
        </p:sp>
      </p:grpSp>
      <p:sp>
        <p:nvSpPr>
          <p:cNvPr id="150" name="직사각형 149"/>
          <p:cNvSpPr/>
          <p:nvPr/>
        </p:nvSpPr>
        <p:spPr bwMode="auto">
          <a:xfrm>
            <a:off x="6717196" y="423966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11.</a:t>
            </a:r>
            <a:r>
              <a:rPr lang="ko-KR" altLang="en-US" sz="900" kern="0" dirty="0">
                <a:solidFill>
                  <a:prstClr val="black"/>
                </a:solidFill>
              </a:rPr>
              <a:t>지출요구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4" name="직선 화살표 연결선 153"/>
          <p:cNvCxnSpPr>
            <a:stCxn id="65" idx="2"/>
            <a:endCxn id="78" idx="0"/>
          </p:cNvCxnSpPr>
          <p:nvPr/>
        </p:nvCxnSpPr>
        <p:spPr>
          <a:xfrm>
            <a:off x="2777386" y="3747705"/>
            <a:ext cx="0" cy="52771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화살표 연결선 154"/>
          <p:cNvCxnSpPr>
            <a:stCxn id="78" idx="2"/>
            <a:endCxn id="85" idx="0"/>
          </p:cNvCxnSpPr>
          <p:nvPr/>
        </p:nvCxnSpPr>
        <p:spPr>
          <a:xfrm flipH="1">
            <a:off x="2776136" y="4596187"/>
            <a:ext cx="1250" cy="46936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화살표 연결선 155"/>
          <p:cNvCxnSpPr>
            <a:stCxn id="85" idx="3"/>
            <a:endCxn id="86" idx="1"/>
          </p:cNvCxnSpPr>
          <p:nvPr/>
        </p:nvCxnSpPr>
        <p:spPr>
          <a:xfrm flipV="1">
            <a:off x="3233773" y="5285171"/>
            <a:ext cx="279067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직선 화살표 연결선 156"/>
          <p:cNvCxnSpPr>
            <a:stCxn id="86" idx="3"/>
            <a:endCxn id="64" idx="1"/>
          </p:cNvCxnSpPr>
          <p:nvPr/>
        </p:nvCxnSpPr>
        <p:spPr>
          <a:xfrm>
            <a:off x="4269265" y="5285171"/>
            <a:ext cx="179679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꺾인 연결선 41"/>
          <p:cNvCxnSpPr>
            <a:stCxn id="64" idx="3"/>
            <a:endCxn id="79" idx="2"/>
          </p:cNvCxnSpPr>
          <p:nvPr/>
        </p:nvCxnSpPr>
        <p:spPr>
          <a:xfrm flipV="1">
            <a:off x="5205369" y="4560433"/>
            <a:ext cx="341868" cy="72473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그룹 158"/>
          <p:cNvGrpSpPr/>
          <p:nvPr/>
        </p:nvGrpSpPr>
        <p:grpSpPr>
          <a:xfrm>
            <a:off x="7754645" y="3194028"/>
            <a:ext cx="1099575" cy="666440"/>
            <a:chOff x="3236429" y="6213178"/>
            <a:chExt cx="1099575" cy="666440"/>
          </a:xfrm>
        </p:grpSpPr>
        <p:sp>
          <p:nvSpPr>
            <p:cNvPr id="160" name="순서도: 판단 58"/>
            <p:cNvSpPr>
              <a:spLocks noChangeAspect="1" noChangeArrowheads="1"/>
            </p:cNvSpPr>
            <p:nvPr/>
          </p:nvSpPr>
          <p:spPr bwMode="auto">
            <a:xfrm>
              <a:off x="3236429" y="6406398"/>
              <a:ext cx="915184" cy="439200"/>
            </a:xfrm>
            <a:prstGeom prst="flowChartDecision">
              <a:avLst/>
            </a:prstGeom>
            <a:noFill/>
            <a:ln w="9525" algn="ctr">
              <a:solidFill>
                <a:sysClr val="windowText" lastClr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36000" rIns="0" bIns="3600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</a:rPr>
                <a:t>지출부서와</a:t>
              </a:r>
              <a:endParaRPr lang="en-US" altLang="ko-KR" sz="800" kern="0" dirty="0">
                <a:solidFill>
                  <a:prstClr val="black"/>
                </a:solidFill>
              </a:endParaRPr>
            </a:p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</a:rPr>
                <a:t>예산부서</a:t>
              </a:r>
              <a:endParaRPr lang="en-US" altLang="ko-KR" sz="800" kern="0" dirty="0">
                <a:solidFill>
                  <a:prstClr val="black"/>
                </a:solidFill>
              </a:endParaRPr>
            </a:p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</a:rPr>
                <a:t>동일여부</a:t>
              </a:r>
              <a:endPara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3366271" y="6213178"/>
              <a:ext cx="26321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/>
                <a:t>N</a:t>
              </a:r>
              <a:endParaRPr lang="ko-KR" altLang="en-US" sz="800" dirty="0"/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4093630" y="6664174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/>
                <a:t>Y</a:t>
              </a:r>
              <a:endParaRPr lang="ko-KR" altLang="en-US" sz="800" dirty="0"/>
            </a:p>
          </p:txBody>
        </p:sp>
      </p:grpSp>
      <p:cxnSp>
        <p:nvCxnSpPr>
          <p:cNvPr id="163" name="직선 화살표 연결선 162"/>
          <p:cNvCxnSpPr>
            <a:stCxn id="79" idx="3"/>
            <a:endCxn id="150" idx="1"/>
          </p:cNvCxnSpPr>
          <p:nvPr/>
        </p:nvCxnSpPr>
        <p:spPr>
          <a:xfrm flipV="1">
            <a:off x="5925449" y="4400047"/>
            <a:ext cx="791747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직선 화살표 연결선 163"/>
          <p:cNvCxnSpPr>
            <a:stCxn id="84" idx="3"/>
            <a:endCxn id="160" idx="1"/>
          </p:cNvCxnSpPr>
          <p:nvPr/>
        </p:nvCxnSpPr>
        <p:spPr>
          <a:xfrm>
            <a:off x="7473280" y="3605037"/>
            <a:ext cx="281365" cy="181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꺾인 연결선 56"/>
          <p:cNvCxnSpPr>
            <a:stCxn id="150" idx="0"/>
            <a:endCxn id="84" idx="2"/>
          </p:cNvCxnSpPr>
          <p:nvPr/>
        </p:nvCxnSpPr>
        <p:spPr>
          <a:xfrm flipH="1" flipV="1">
            <a:off x="7095068" y="3765422"/>
            <a:ext cx="341" cy="47423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직선 화살표 연결선 164"/>
          <p:cNvCxnSpPr>
            <a:stCxn id="160" idx="0"/>
            <a:endCxn id="80" idx="2"/>
          </p:cNvCxnSpPr>
          <p:nvPr/>
        </p:nvCxnSpPr>
        <p:spPr>
          <a:xfrm flipV="1">
            <a:off x="8212237" y="2885675"/>
            <a:ext cx="4482" cy="50157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타원 165"/>
          <p:cNvSpPr/>
          <p:nvPr/>
        </p:nvSpPr>
        <p:spPr>
          <a:xfrm>
            <a:off x="9201472" y="26338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67" name="직선 화살표 연결선 166"/>
          <p:cNvCxnSpPr>
            <a:stCxn id="80" idx="3"/>
            <a:endCxn id="166" idx="2"/>
          </p:cNvCxnSpPr>
          <p:nvPr/>
        </p:nvCxnSpPr>
        <p:spPr>
          <a:xfrm>
            <a:off x="8594931" y="2725290"/>
            <a:ext cx="606541" cy="145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꺾인 연결선 92"/>
          <p:cNvCxnSpPr>
            <a:stCxn id="160" idx="3"/>
            <a:endCxn id="166" idx="2"/>
          </p:cNvCxnSpPr>
          <p:nvPr/>
        </p:nvCxnSpPr>
        <p:spPr>
          <a:xfrm flipV="1">
            <a:off x="8669829" y="2726740"/>
            <a:ext cx="531643" cy="880108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꺾인 연결선 197"/>
          <p:cNvCxnSpPr>
            <a:stCxn id="85" idx="2"/>
            <a:endCxn id="79" idx="2"/>
          </p:cNvCxnSpPr>
          <p:nvPr/>
        </p:nvCxnSpPr>
        <p:spPr>
          <a:xfrm rot="5400000" flipH="1" flipV="1">
            <a:off x="3689506" y="3647062"/>
            <a:ext cx="944360" cy="2771101"/>
          </a:xfrm>
          <a:prstGeom prst="bentConnector3">
            <a:avLst>
              <a:gd name="adj1" fmla="val -24207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꺾인 연결선 5"/>
          <p:cNvCxnSpPr>
            <a:stCxn id="60" idx="6"/>
            <a:endCxn id="79" idx="2"/>
          </p:cNvCxnSpPr>
          <p:nvPr/>
        </p:nvCxnSpPr>
        <p:spPr>
          <a:xfrm flipV="1">
            <a:off x="1869947" y="4560433"/>
            <a:ext cx="3677290" cy="1511991"/>
          </a:xfrm>
          <a:prstGeom prst="bentConnector2">
            <a:avLst/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타원 59"/>
          <p:cNvSpPr/>
          <p:nvPr/>
        </p:nvSpPr>
        <p:spPr>
          <a:xfrm>
            <a:off x="1667633" y="597954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62" name="꺾인 연결선 61"/>
          <p:cNvCxnSpPr>
            <a:stCxn id="60" idx="6"/>
            <a:endCxn id="78" idx="1"/>
          </p:cNvCxnSpPr>
          <p:nvPr/>
        </p:nvCxnSpPr>
        <p:spPr>
          <a:xfrm flipV="1">
            <a:off x="1869947" y="4435802"/>
            <a:ext cx="529226" cy="163662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/>
          <p:cNvSpPr/>
          <p:nvPr/>
        </p:nvSpPr>
        <p:spPr bwMode="auto">
          <a:xfrm>
            <a:off x="2399173" y="3426934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ITMS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="" xmlns:a16="http://schemas.microsoft.com/office/drawing/2014/main" id="{23E4C5ED-5D9E-4FF1-9EFE-099812AA3F6A}"/>
              </a:ext>
            </a:extLst>
          </p:cNvPr>
          <p:cNvSpPr txBox="1"/>
          <p:nvPr/>
        </p:nvSpPr>
        <p:spPr>
          <a:xfrm>
            <a:off x="4039854" y="3440507"/>
            <a:ext cx="129201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800" dirty="0">
                <a:solidFill>
                  <a:srgbClr val="197EC6"/>
                </a:solidFill>
                <a:latin typeface="+mn-ea"/>
              </a:rPr>
              <a:t>계약관련 지출요구 시</a:t>
            </a:r>
            <a:endParaRPr lang="en-US" altLang="ko-KR" sz="800" dirty="0">
              <a:solidFill>
                <a:srgbClr val="197EC6"/>
              </a:solidFill>
              <a:latin typeface="+mn-ea"/>
            </a:endParaRPr>
          </a:p>
          <a:p>
            <a:pPr algn="r"/>
            <a:r>
              <a:rPr lang="ko-KR" altLang="en-US" sz="800" dirty="0">
                <a:solidFill>
                  <a:srgbClr val="197EC6"/>
                </a:solidFill>
                <a:latin typeface="+mn-ea"/>
              </a:rPr>
              <a:t>계약관리와 연계하여</a:t>
            </a:r>
            <a:endParaRPr lang="en-US" altLang="ko-KR" sz="800" dirty="0">
              <a:solidFill>
                <a:srgbClr val="197EC6"/>
              </a:solidFill>
              <a:latin typeface="+mn-ea"/>
            </a:endParaRPr>
          </a:p>
          <a:p>
            <a:pPr algn="r"/>
            <a:r>
              <a:rPr lang="ko-KR" altLang="en-US" sz="800" dirty="0">
                <a:solidFill>
                  <a:srgbClr val="197EC6"/>
                </a:solidFill>
                <a:latin typeface="+mn-ea"/>
              </a:rPr>
              <a:t>관련 계약정보를 </a:t>
            </a:r>
            <a:endParaRPr lang="en-US" altLang="ko-KR" sz="800" dirty="0">
              <a:solidFill>
                <a:srgbClr val="197EC6"/>
              </a:solidFill>
              <a:latin typeface="+mn-ea"/>
            </a:endParaRPr>
          </a:p>
          <a:p>
            <a:pPr algn="r"/>
            <a:r>
              <a:rPr lang="ko-KR" altLang="en-US" sz="800" dirty="0">
                <a:solidFill>
                  <a:srgbClr val="197EC6"/>
                </a:solidFill>
                <a:latin typeface="+mn-ea"/>
              </a:rPr>
              <a:t>필수로 입력함</a:t>
            </a:r>
          </a:p>
        </p:txBody>
      </p:sp>
      <p:sp>
        <p:nvSpPr>
          <p:cNvPr id="41" name="Freeform 176">
            <a:extLst>
              <a:ext uri="{FF2B5EF4-FFF2-40B4-BE49-F238E27FC236}">
                <a16:creationId xmlns="" xmlns:a16="http://schemas.microsoft.com/office/drawing/2014/main" id="{3A49A729-7860-4CD1-9D7F-89F07C33572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59868" y="3514924"/>
            <a:ext cx="72000" cy="422781"/>
          </a:xfrm>
          <a:custGeom>
            <a:avLst/>
            <a:gdLst>
              <a:gd name="T0" fmla="*/ 2147483647 w 56"/>
              <a:gd name="T1" fmla="*/ 0 h 210"/>
              <a:gd name="T2" fmla="*/ 0 w 56"/>
              <a:gd name="T3" fmla="*/ 0 h 210"/>
              <a:gd name="T4" fmla="*/ 0 w 56"/>
              <a:gd name="T5" fmla="*/ 2147483647 h 210"/>
              <a:gd name="T6" fmla="*/ 2147483647 w 56"/>
              <a:gd name="T7" fmla="*/ 2147483647 h 210"/>
              <a:gd name="T8" fmla="*/ 0 60000 65536"/>
              <a:gd name="T9" fmla="*/ 0 60000 65536"/>
              <a:gd name="T10" fmla="*/ 0 60000 65536"/>
              <a:gd name="T11" fmla="*/ 0 60000 65536"/>
              <a:gd name="T12" fmla="*/ 0 w 56"/>
              <a:gd name="T13" fmla="*/ 0 h 210"/>
              <a:gd name="T14" fmla="*/ 56 w 56"/>
              <a:gd name="T15" fmla="*/ 210 h 2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" h="210">
                <a:moveTo>
                  <a:pt x="56" y="0"/>
                </a:moveTo>
                <a:lnTo>
                  <a:pt x="0" y="0"/>
                </a:lnTo>
                <a:lnTo>
                  <a:pt x="0" y="210"/>
                </a:lnTo>
                <a:lnTo>
                  <a:pt x="56" y="210"/>
                </a:lnTo>
              </a:path>
            </a:pathLst>
          </a:custGeom>
          <a:noFill/>
          <a:ln w="144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i="0" u="sng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="" xmlns:a16="http://schemas.microsoft.com/office/drawing/2014/main" id="{CEE555FA-92C9-4241-9E30-AC21C3C2409D}"/>
              </a:ext>
            </a:extLst>
          </p:cNvPr>
          <p:cNvCxnSpPr>
            <a:cxnSpLocks/>
          </p:cNvCxnSpPr>
          <p:nvPr/>
        </p:nvCxnSpPr>
        <p:spPr>
          <a:xfrm>
            <a:off x="5331868" y="3726314"/>
            <a:ext cx="155065" cy="50981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순서도: 종속 처리 64">
            <a:extLst>
              <a:ext uri="{FF2B5EF4-FFF2-40B4-BE49-F238E27FC236}">
                <a16:creationId xmlns="" xmlns:a16="http://schemas.microsoft.com/office/drawing/2014/main" id="{C6EAC3EE-434D-4136-9ECD-757FE5EA5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112" y="4725144"/>
            <a:ext cx="792000" cy="288000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인적자원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관리</a:t>
            </a:r>
            <a:endParaRPr lang="ko-KR" altLang="en-US" sz="900" kern="0" spc="-190" dirty="0">
              <a:solidFill>
                <a:prstClr val="black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="" xmlns:a16="http://schemas.microsoft.com/office/drawing/2014/main" id="{3C81A233-1A9D-432A-AD71-42A7F6DA1DCE}"/>
              </a:ext>
            </a:extLst>
          </p:cNvPr>
          <p:cNvSpPr txBox="1"/>
          <p:nvPr/>
        </p:nvSpPr>
        <p:spPr>
          <a:xfrm>
            <a:off x="7076233" y="4635133"/>
            <a:ext cx="16931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+mn-ea"/>
              </a:rPr>
              <a:t>3.4.2.2 </a:t>
            </a:r>
            <a:r>
              <a:rPr lang="ko-KR" altLang="en-US" sz="800" dirty="0">
                <a:latin typeface="+mn-ea"/>
              </a:rPr>
              <a:t>자체교육 일괄신청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3.4.2.3 </a:t>
            </a:r>
            <a:r>
              <a:rPr lang="ko-KR" altLang="en-US" sz="800" dirty="0">
                <a:latin typeface="+mn-ea"/>
              </a:rPr>
              <a:t>자체교육 개별신청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3.4.2.4 </a:t>
            </a:r>
            <a:r>
              <a:rPr lang="ko-KR" altLang="en-US" sz="800" dirty="0">
                <a:latin typeface="+mn-ea"/>
              </a:rPr>
              <a:t>위탁교육 신청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3.4.2.7 </a:t>
            </a:r>
            <a:r>
              <a:rPr lang="ko-KR" altLang="en-US" sz="800" dirty="0">
                <a:latin typeface="+mn-ea"/>
              </a:rPr>
              <a:t>교육 취소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3.5.1.4 (</a:t>
            </a:r>
            <a:r>
              <a:rPr lang="ko-KR" altLang="en-US" sz="800" dirty="0">
                <a:latin typeface="+mn-ea"/>
              </a:rPr>
              <a:t>급여</a:t>
            </a:r>
            <a:r>
              <a:rPr lang="en-US" altLang="ko-KR" sz="800" dirty="0">
                <a:latin typeface="+mn-ea"/>
              </a:rPr>
              <a:t>)</a:t>
            </a:r>
            <a:r>
              <a:rPr lang="ko-KR" altLang="en-US" sz="800" dirty="0">
                <a:latin typeface="+mn-ea"/>
              </a:rPr>
              <a:t>전표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이체처리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3.5.5.2 </a:t>
            </a:r>
            <a:r>
              <a:rPr lang="ko-KR" altLang="en-US" sz="800" dirty="0">
                <a:latin typeface="+mn-ea"/>
              </a:rPr>
              <a:t>퇴직연금처리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3.6.2.1 </a:t>
            </a:r>
            <a:r>
              <a:rPr lang="ko-KR" altLang="en-US" sz="800" dirty="0">
                <a:latin typeface="+mn-ea"/>
              </a:rPr>
              <a:t>경조사 관리</a:t>
            </a:r>
            <a:r>
              <a:rPr lang="en-US" altLang="ko-KR" sz="800" dirty="0">
                <a:latin typeface="+mn-ea"/>
              </a:rPr>
              <a:t> </a:t>
            </a:r>
            <a:endParaRPr lang="ko-KR" altLang="en-US" sz="800" dirty="0">
              <a:latin typeface="+mn-ea"/>
            </a:endParaRPr>
          </a:p>
        </p:txBody>
      </p:sp>
      <p:sp>
        <p:nvSpPr>
          <p:cNvPr id="47" name="Freeform 176">
            <a:extLst>
              <a:ext uri="{FF2B5EF4-FFF2-40B4-BE49-F238E27FC236}">
                <a16:creationId xmlns="" xmlns:a16="http://schemas.microsoft.com/office/drawing/2014/main" id="{0EF2AB4A-799E-4E7D-86E6-92F05A207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1232" y="4680326"/>
            <a:ext cx="72000" cy="756000"/>
          </a:xfrm>
          <a:custGeom>
            <a:avLst/>
            <a:gdLst>
              <a:gd name="T0" fmla="*/ 2147483647 w 56"/>
              <a:gd name="T1" fmla="*/ 0 h 210"/>
              <a:gd name="T2" fmla="*/ 0 w 56"/>
              <a:gd name="T3" fmla="*/ 0 h 210"/>
              <a:gd name="T4" fmla="*/ 0 w 56"/>
              <a:gd name="T5" fmla="*/ 2147483647 h 210"/>
              <a:gd name="T6" fmla="*/ 2147483647 w 56"/>
              <a:gd name="T7" fmla="*/ 2147483647 h 210"/>
              <a:gd name="T8" fmla="*/ 0 60000 65536"/>
              <a:gd name="T9" fmla="*/ 0 60000 65536"/>
              <a:gd name="T10" fmla="*/ 0 60000 65536"/>
              <a:gd name="T11" fmla="*/ 0 60000 65536"/>
              <a:gd name="T12" fmla="*/ 0 w 56"/>
              <a:gd name="T13" fmla="*/ 0 h 210"/>
              <a:gd name="T14" fmla="*/ 56 w 56"/>
              <a:gd name="T15" fmla="*/ 210 h 2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" h="210">
                <a:moveTo>
                  <a:pt x="56" y="0"/>
                </a:moveTo>
                <a:lnTo>
                  <a:pt x="0" y="0"/>
                </a:lnTo>
                <a:lnTo>
                  <a:pt x="0" y="210"/>
                </a:lnTo>
                <a:lnTo>
                  <a:pt x="56" y="210"/>
                </a:lnTo>
              </a:path>
            </a:pathLst>
          </a:custGeom>
          <a:noFill/>
          <a:ln w="144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i="0" u="sng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="" xmlns:a16="http://schemas.microsoft.com/office/drawing/2014/main" id="{CE20E2C8-FDF9-4F81-858C-6D237C52F611}"/>
              </a:ext>
            </a:extLst>
          </p:cNvPr>
          <p:cNvCxnSpPr>
            <a:cxnSpLocks/>
            <a:stCxn id="44" idx="3"/>
          </p:cNvCxnSpPr>
          <p:nvPr/>
        </p:nvCxnSpPr>
        <p:spPr>
          <a:xfrm>
            <a:off x="6753112" y="4869144"/>
            <a:ext cx="288120" cy="225136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>
            <a:extLst>
              <a:ext uri="{FF2B5EF4-FFF2-40B4-BE49-F238E27FC236}">
                <a16:creationId xmlns="" xmlns:a16="http://schemas.microsoft.com/office/drawing/2014/main" id="{82B66FDC-1A21-4AB5-A89E-F6E862D19CE1}"/>
              </a:ext>
            </a:extLst>
          </p:cNvPr>
          <p:cNvCxnSpPr>
            <a:cxnSpLocks/>
            <a:stCxn id="44" idx="1"/>
            <a:endCxn id="79" idx="2"/>
          </p:cNvCxnSpPr>
          <p:nvPr/>
        </p:nvCxnSpPr>
        <p:spPr>
          <a:xfrm flipH="1" flipV="1">
            <a:off x="5547237" y="4560433"/>
            <a:ext cx="413875" cy="30871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순서도: 종속 처리 64">
            <a:extLst>
              <a:ext uri="{FF2B5EF4-FFF2-40B4-BE49-F238E27FC236}">
                <a16:creationId xmlns="" xmlns:a16="http://schemas.microsoft.com/office/drawing/2014/main" id="{83F365EB-C28B-4D33-AD1D-A8228F52C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112" y="5301208"/>
            <a:ext cx="792000" cy="288000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기금지원</a:t>
            </a:r>
            <a:endParaRPr lang="ko-KR" altLang="en-US" sz="900" kern="0" spc="-190" dirty="0">
              <a:solidFill>
                <a:prstClr val="black"/>
              </a:solidFill>
            </a:endParaRPr>
          </a:p>
        </p:txBody>
      </p:sp>
      <p:cxnSp>
        <p:nvCxnSpPr>
          <p:cNvPr id="54" name="직선 화살표 연결선 53">
            <a:extLst>
              <a:ext uri="{FF2B5EF4-FFF2-40B4-BE49-F238E27FC236}">
                <a16:creationId xmlns="" xmlns:a16="http://schemas.microsoft.com/office/drawing/2014/main" id="{CC499FBF-7913-49D3-9D6F-2235F8F2428F}"/>
              </a:ext>
            </a:extLst>
          </p:cNvPr>
          <p:cNvCxnSpPr>
            <a:cxnSpLocks/>
            <a:stCxn id="53" idx="1"/>
            <a:endCxn id="79" idx="2"/>
          </p:cNvCxnSpPr>
          <p:nvPr/>
        </p:nvCxnSpPr>
        <p:spPr>
          <a:xfrm flipH="1" flipV="1">
            <a:off x="5547237" y="4560433"/>
            <a:ext cx="413875" cy="88477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106294B9-5560-4329-B869-14960152794F}"/>
              </a:ext>
            </a:extLst>
          </p:cNvPr>
          <p:cNvSpPr txBox="1"/>
          <p:nvPr/>
        </p:nvSpPr>
        <p:spPr>
          <a:xfrm>
            <a:off x="7076233" y="5538872"/>
            <a:ext cx="16931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+mn-ea"/>
              </a:rPr>
              <a:t>4.1.2.2 </a:t>
            </a:r>
            <a:r>
              <a:rPr lang="ko-KR" altLang="en-US" sz="800" dirty="0">
                <a:latin typeface="+mn-ea"/>
              </a:rPr>
              <a:t>지원금 지급처리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4.3.1.2 </a:t>
            </a:r>
            <a:r>
              <a:rPr lang="ko-KR" altLang="en-US" sz="800" dirty="0">
                <a:latin typeface="+mn-ea"/>
              </a:rPr>
              <a:t>강제징수</a:t>
            </a:r>
            <a:endParaRPr lang="en-US" altLang="ko-KR" sz="800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4.4.1.3 </a:t>
            </a:r>
            <a:r>
              <a:rPr lang="ko-KR" altLang="en-US" sz="800" dirty="0">
                <a:latin typeface="+mn-ea"/>
              </a:rPr>
              <a:t>지원금 지급</a:t>
            </a:r>
          </a:p>
        </p:txBody>
      </p:sp>
      <p:sp>
        <p:nvSpPr>
          <p:cNvPr id="59" name="Freeform 176">
            <a:extLst>
              <a:ext uri="{FF2B5EF4-FFF2-40B4-BE49-F238E27FC236}">
                <a16:creationId xmlns="" xmlns:a16="http://schemas.microsoft.com/office/drawing/2014/main" id="{DBD87FE4-50FB-4A3A-96F7-4E0B769CD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1232" y="5535704"/>
            <a:ext cx="72000" cy="468000"/>
          </a:xfrm>
          <a:custGeom>
            <a:avLst/>
            <a:gdLst>
              <a:gd name="T0" fmla="*/ 2147483647 w 56"/>
              <a:gd name="T1" fmla="*/ 0 h 210"/>
              <a:gd name="T2" fmla="*/ 0 w 56"/>
              <a:gd name="T3" fmla="*/ 0 h 210"/>
              <a:gd name="T4" fmla="*/ 0 w 56"/>
              <a:gd name="T5" fmla="*/ 2147483647 h 210"/>
              <a:gd name="T6" fmla="*/ 2147483647 w 56"/>
              <a:gd name="T7" fmla="*/ 2147483647 h 210"/>
              <a:gd name="T8" fmla="*/ 0 60000 65536"/>
              <a:gd name="T9" fmla="*/ 0 60000 65536"/>
              <a:gd name="T10" fmla="*/ 0 60000 65536"/>
              <a:gd name="T11" fmla="*/ 0 60000 65536"/>
              <a:gd name="T12" fmla="*/ 0 w 56"/>
              <a:gd name="T13" fmla="*/ 0 h 210"/>
              <a:gd name="T14" fmla="*/ 56 w 56"/>
              <a:gd name="T15" fmla="*/ 210 h 2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" h="210">
                <a:moveTo>
                  <a:pt x="56" y="0"/>
                </a:moveTo>
                <a:lnTo>
                  <a:pt x="0" y="0"/>
                </a:lnTo>
                <a:lnTo>
                  <a:pt x="0" y="210"/>
                </a:lnTo>
                <a:lnTo>
                  <a:pt x="56" y="210"/>
                </a:lnTo>
              </a:path>
            </a:pathLst>
          </a:custGeom>
          <a:noFill/>
          <a:ln w="144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i="0" u="sng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cxnSp>
        <p:nvCxnSpPr>
          <p:cNvPr id="61" name="직선 연결선 60">
            <a:extLst>
              <a:ext uri="{FF2B5EF4-FFF2-40B4-BE49-F238E27FC236}">
                <a16:creationId xmlns="" xmlns:a16="http://schemas.microsoft.com/office/drawing/2014/main" id="{C9890A49-C003-4E3D-B9C2-7ADFD245A6F8}"/>
              </a:ext>
            </a:extLst>
          </p:cNvPr>
          <p:cNvCxnSpPr>
            <a:cxnSpLocks/>
            <a:stCxn id="53" idx="3"/>
          </p:cNvCxnSpPr>
          <p:nvPr/>
        </p:nvCxnSpPr>
        <p:spPr>
          <a:xfrm>
            <a:off x="6753112" y="5445208"/>
            <a:ext cx="288120" cy="288048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순서도: 종속 처리 64">
            <a:extLst>
              <a:ext uri="{FF2B5EF4-FFF2-40B4-BE49-F238E27FC236}">
                <a16:creationId xmlns="" xmlns:a16="http://schemas.microsoft.com/office/drawing/2014/main" id="{AB0BF61C-3FD7-4A57-A0D9-898301913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112" y="5877272"/>
            <a:ext cx="792000" cy="288000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1.8.1.3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</a:rPr>
              <a:t>융자금지급</a:t>
            </a:r>
          </a:p>
        </p:txBody>
      </p:sp>
      <p:cxnSp>
        <p:nvCxnSpPr>
          <p:cNvPr id="66" name="직선 화살표 연결선 65">
            <a:extLst>
              <a:ext uri="{FF2B5EF4-FFF2-40B4-BE49-F238E27FC236}">
                <a16:creationId xmlns="" xmlns:a16="http://schemas.microsoft.com/office/drawing/2014/main" id="{9E421FBB-18BC-4537-92EE-4F2A1FD3FEF9}"/>
              </a:ext>
            </a:extLst>
          </p:cNvPr>
          <p:cNvCxnSpPr>
            <a:cxnSpLocks/>
            <a:stCxn id="63" idx="1"/>
            <a:endCxn id="79" idx="2"/>
          </p:cNvCxnSpPr>
          <p:nvPr/>
        </p:nvCxnSpPr>
        <p:spPr>
          <a:xfrm flipH="1" flipV="1">
            <a:off x="5547237" y="4560433"/>
            <a:ext cx="413875" cy="146083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2811410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지출관리 </a:t>
            </a:r>
            <a:r>
              <a:rPr lang="ko-KR" altLang="en-US" sz="1600" dirty="0">
                <a:latin typeface="+mn-ea"/>
                <a:ea typeface="+mn-ea"/>
              </a:rPr>
              <a:t>업무 중 지출원인행위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전표 생성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전표 승인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원인행위 담당 승인 등</a:t>
            </a:r>
            <a:r>
              <a:rPr lang="en-US" altLang="ko-KR" sz="1600" dirty="0">
                <a:latin typeface="+mn-ea"/>
                <a:ea typeface="+mn-ea"/>
              </a:rPr>
              <a:t>), </a:t>
            </a:r>
            <a:r>
              <a:rPr lang="ko-KR" altLang="en-US" sz="1600" dirty="0">
                <a:latin typeface="+mn-ea"/>
                <a:ea typeface="+mn-ea"/>
              </a:rPr>
              <a:t>지출처리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지출전표 생성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지출전표 승인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지출담당 승인 등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 업무는 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지출관리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7586549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38437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8605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지출원인행위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지출처리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07376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지출담당관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원인행위담당관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12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회계부서회계팀장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548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회계담당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6" name="직사각형 95"/>
          <p:cNvSpPr/>
          <p:nvPr/>
        </p:nvSpPr>
        <p:spPr bwMode="auto">
          <a:xfrm>
            <a:off x="4727923" y="573681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20.</a:t>
            </a:r>
            <a:r>
              <a:rPr lang="ko-KR" altLang="en-US" sz="900" kern="0" dirty="0">
                <a:solidFill>
                  <a:prstClr val="black"/>
                </a:solidFill>
              </a:rPr>
              <a:t>지출처리 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7" name="직사각형 96"/>
          <p:cNvSpPr/>
          <p:nvPr/>
        </p:nvSpPr>
        <p:spPr bwMode="auto">
          <a:xfrm>
            <a:off x="6636210" y="57320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21.</a:t>
            </a:r>
            <a:r>
              <a:rPr lang="ko-KR" altLang="en-US" sz="900" kern="0" dirty="0">
                <a:solidFill>
                  <a:prstClr val="black"/>
                </a:solidFill>
              </a:rPr>
              <a:t>지출전표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6636210" y="42930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23.</a:t>
            </a:r>
            <a:r>
              <a:rPr lang="ko-KR" altLang="en-US" sz="900" kern="0" dirty="0">
                <a:solidFill>
                  <a:prstClr val="black"/>
                </a:solidFill>
              </a:rPr>
              <a:t>지출전표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9" name="직사각형 98"/>
          <p:cNvSpPr/>
          <p:nvPr/>
        </p:nvSpPr>
        <p:spPr bwMode="auto">
          <a:xfrm>
            <a:off x="7688916" y="508518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24.</a:t>
            </a:r>
            <a:r>
              <a:rPr lang="ko-KR" altLang="en-US" sz="900" kern="0" dirty="0">
                <a:solidFill>
                  <a:prstClr val="black"/>
                </a:solidFill>
              </a:rPr>
              <a:t>대상송장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12" name="Shape 266"/>
          <p:cNvCxnSpPr>
            <a:cxnSpLocks noChangeShapeType="1"/>
            <a:stCxn id="130" idx="3"/>
            <a:endCxn id="96" idx="1"/>
          </p:cNvCxnSpPr>
          <p:nvPr/>
        </p:nvCxnSpPr>
        <p:spPr bwMode="auto">
          <a:xfrm>
            <a:off x="4501939" y="3805410"/>
            <a:ext cx="225984" cy="209178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직사각형 120"/>
          <p:cNvSpPr/>
          <p:nvPr/>
        </p:nvSpPr>
        <p:spPr bwMode="auto">
          <a:xfrm>
            <a:off x="1784024" y="573201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14.</a:t>
            </a:r>
            <a:r>
              <a:rPr lang="ko-KR" altLang="en-US" sz="900" kern="0" dirty="0">
                <a:solidFill>
                  <a:prstClr val="black"/>
                </a:solidFill>
              </a:rPr>
              <a:t>원인행위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2" name="직사각형 121"/>
          <p:cNvSpPr/>
          <p:nvPr/>
        </p:nvSpPr>
        <p:spPr bwMode="auto">
          <a:xfrm>
            <a:off x="3745514" y="573375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15.(</a:t>
            </a:r>
            <a:r>
              <a:rPr lang="ko-KR" altLang="en-US" sz="900" kern="0" dirty="0">
                <a:solidFill>
                  <a:prstClr val="black"/>
                </a:solidFill>
              </a:rPr>
              <a:t>미지급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전표 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3" name="직사각형 122"/>
          <p:cNvSpPr/>
          <p:nvPr/>
        </p:nvSpPr>
        <p:spPr bwMode="auto">
          <a:xfrm>
            <a:off x="3745514" y="42930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17.(</a:t>
            </a:r>
            <a:r>
              <a:rPr lang="ko-KR" altLang="en-US" sz="900" kern="0" dirty="0">
                <a:solidFill>
                  <a:prstClr val="black"/>
                </a:solidFill>
              </a:rPr>
              <a:t>미지급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전표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24" name="Shape 266"/>
          <p:cNvCxnSpPr>
            <a:cxnSpLocks noChangeShapeType="1"/>
            <a:stCxn id="60" idx="6"/>
            <a:endCxn id="121" idx="1"/>
          </p:cNvCxnSpPr>
          <p:nvPr/>
        </p:nvCxnSpPr>
        <p:spPr bwMode="auto">
          <a:xfrm>
            <a:off x="1626922" y="5892404"/>
            <a:ext cx="15710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6" name="직사각형 125"/>
          <p:cNvSpPr/>
          <p:nvPr/>
        </p:nvSpPr>
        <p:spPr bwMode="auto">
          <a:xfrm>
            <a:off x="2766591" y="42930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18.</a:t>
            </a:r>
            <a:r>
              <a:rPr lang="ko-KR" altLang="en-US" sz="900" kern="0" dirty="0">
                <a:solidFill>
                  <a:prstClr val="black"/>
                </a:solidFill>
              </a:rPr>
              <a:t>팀장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30" name="직사각형 129"/>
          <p:cNvSpPr/>
          <p:nvPr/>
        </p:nvSpPr>
        <p:spPr bwMode="auto">
          <a:xfrm>
            <a:off x="3745514" y="364502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19.</a:t>
            </a:r>
            <a:r>
              <a:rPr lang="ko-KR" altLang="en-US" sz="900" kern="0" dirty="0">
                <a:solidFill>
                  <a:prstClr val="black"/>
                </a:solidFill>
              </a:rPr>
              <a:t>원인행위</a:t>
            </a:r>
            <a:r>
              <a:rPr lang="en-US" altLang="ko-KR" sz="900" kern="0" dirty="0">
                <a:solidFill>
                  <a:prstClr val="black"/>
                </a:solidFill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</a:rPr>
            </a:br>
            <a:r>
              <a:rPr lang="ko-KR" altLang="en-US" sz="900" kern="0" dirty="0">
                <a:solidFill>
                  <a:prstClr val="black"/>
                </a:solidFill>
              </a:rPr>
              <a:t>담당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44" name="Shape 266"/>
          <p:cNvCxnSpPr>
            <a:cxnSpLocks noChangeShapeType="1"/>
            <a:stCxn id="121" idx="3"/>
            <a:endCxn id="67" idx="1"/>
          </p:cNvCxnSpPr>
          <p:nvPr/>
        </p:nvCxnSpPr>
        <p:spPr bwMode="auto">
          <a:xfrm>
            <a:off x="2540449" y="5892404"/>
            <a:ext cx="143259" cy="113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5" name="직사각형 144"/>
          <p:cNvSpPr/>
          <p:nvPr/>
        </p:nvSpPr>
        <p:spPr bwMode="auto">
          <a:xfrm>
            <a:off x="5681926" y="25947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25.</a:t>
            </a:r>
            <a:r>
              <a:rPr lang="ko-KR" altLang="en-US" sz="900" kern="0" dirty="0">
                <a:solidFill>
                  <a:prstClr val="black"/>
                </a:solidFill>
              </a:rPr>
              <a:t>지출담당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0" name="타원 59"/>
          <p:cNvSpPr/>
          <p:nvPr/>
        </p:nvSpPr>
        <p:spPr>
          <a:xfrm>
            <a:off x="1424608" y="579952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grpSp>
        <p:nvGrpSpPr>
          <p:cNvPr id="5" name="그룹 62"/>
          <p:cNvGrpSpPr/>
          <p:nvPr/>
        </p:nvGrpSpPr>
        <p:grpSpPr>
          <a:xfrm>
            <a:off x="2683708" y="5481228"/>
            <a:ext cx="1066337" cy="684076"/>
            <a:chOff x="6370939" y="3355832"/>
            <a:chExt cx="1066337" cy="684076"/>
          </a:xfrm>
        </p:grpSpPr>
        <p:sp>
          <p:nvSpPr>
            <p:cNvPr id="65" name="TextBox 64"/>
            <p:cNvSpPr txBox="1"/>
            <p:nvPr/>
          </p:nvSpPr>
          <p:spPr>
            <a:xfrm>
              <a:off x="7047426" y="3824464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요구</a:t>
              </a: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6393160" y="3355832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불요구</a:t>
              </a:r>
            </a:p>
          </p:txBody>
        </p:sp>
        <p:sp>
          <p:nvSpPr>
            <p:cNvPr id="67" name="순서도: 판단 58"/>
            <p:cNvSpPr>
              <a:spLocks noChangeAspect="1" noChangeArrowheads="1"/>
            </p:cNvSpPr>
            <p:nvPr/>
          </p:nvSpPr>
          <p:spPr bwMode="auto">
            <a:xfrm>
              <a:off x="6370939" y="3548517"/>
              <a:ext cx="915275" cy="439243"/>
            </a:xfrm>
            <a:prstGeom prst="flowChartDecision">
              <a:avLst/>
            </a:prstGeom>
            <a:noFill/>
            <a:ln w="9525" algn="ctr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36000" rIns="0" bIns="36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전표분개</a:t>
              </a:r>
            </a:p>
          </p:txBody>
        </p:sp>
      </p:grpSp>
      <p:cxnSp>
        <p:nvCxnSpPr>
          <p:cNvPr id="72" name="Shape 266"/>
          <p:cNvCxnSpPr>
            <a:cxnSpLocks noChangeShapeType="1"/>
            <a:stCxn id="67" idx="3"/>
            <a:endCxn id="122" idx="1"/>
          </p:cNvCxnSpPr>
          <p:nvPr/>
        </p:nvCxnSpPr>
        <p:spPr bwMode="auto">
          <a:xfrm>
            <a:off x="3598983" y="5893535"/>
            <a:ext cx="146531" cy="6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67" idx="0"/>
            <a:endCxn id="126" idx="2"/>
          </p:cNvCxnSpPr>
          <p:nvPr/>
        </p:nvCxnSpPr>
        <p:spPr bwMode="auto">
          <a:xfrm flipV="1">
            <a:off x="3141346" y="4613867"/>
            <a:ext cx="3458" cy="106004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" name="직사각형 77"/>
          <p:cNvSpPr/>
          <p:nvPr/>
        </p:nvSpPr>
        <p:spPr bwMode="auto">
          <a:xfrm>
            <a:off x="3743936" y="50884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16.(</a:t>
            </a:r>
            <a:r>
              <a:rPr lang="ko-KR" altLang="en-US" sz="900" kern="0" dirty="0">
                <a:solidFill>
                  <a:prstClr val="black"/>
                </a:solidFill>
              </a:rPr>
              <a:t>미지급</a:t>
            </a:r>
            <a:r>
              <a:rPr lang="en-US" altLang="ko-KR" sz="900" kern="0" dirty="0">
                <a:solidFill>
                  <a:prstClr val="black"/>
                </a:solidFill>
              </a:rPr>
              <a:t>)</a:t>
            </a:r>
            <a:br>
              <a:rPr lang="en-US" altLang="ko-KR" sz="900" kern="0" dirty="0">
                <a:solidFill>
                  <a:prstClr val="black"/>
                </a:solidFill>
              </a:rPr>
            </a:br>
            <a:r>
              <a:rPr lang="ko-KR" altLang="en-US" sz="900" kern="0" dirty="0">
                <a:solidFill>
                  <a:prstClr val="black"/>
                </a:solidFill>
              </a:rPr>
              <a:t>전표 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6" name="Shape 266"/>
          <p:cNvCxnSpPr>
            <a:cxnSpLocks noChangeShapeType="1"/>
            <a:stCxn id="78" idx="0"/>
            <a:endCxn id="123" idx="2"/>
          </p:cNvCxnSpPr>
          <p:nvPr/>
        </p:nvCxnSpPr>
        <p:spPr bwMode="auto">
          <a:xfrm flipV="1">
            <a:off x="4122149" y="4613867"/>
            <a:ext cx="1578" cy="474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122" idx="0"/>
            <a:endCxn id="78" idx="2"/>
          </p:cNvCxnSpPr>
          <p:nvPr/>
        </p:nvCxnSpPr>
        <p:spPr bwMode="auto">
          <a:xfrm flipH="1" flipV="1">
            <a:off x="4122149" y="5409220"/>
            <a:ext cx="1578" cy="3245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123" idx="0"/>
            <a:endCxn id="130" idx="2"/>
          </p:cNvCxnSpPr>
          <p:nvPr/>
        </p:nvCxnSpPr>
        <p:spPr bwMode="auto">
          <a:xfrm flipV="1">
            <a:off x="4123727" y="3965795"/>
            <a:ext cx="0" cy="3273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4" name="직사각형 113"/>
          <p:cNvSpPr/>
          <p:nvPr/>
        </p:nvSpPr>
        <p:spPr bwMode="auto">
          <a:xfrm>
            <a:off x="6636210" y="50884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22.</a:t>
            </a:r>
            <a:r>
              <a:rPr lang="ko-KR" altLang="en-US" sz="900" kern="0" dirty="0">
                <a:solidFill>
                  <a:prstClr val="black"/>
                </a:solidFill>
              </a:rPr>
              <a:t>지출전표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1" name="Shape 266"/>
          <p:cNvCxnSpPr>
            <a:cxnSpLocks noChangeShapeType="1"/>
            <a:stCxn id="114" idx="0"/>
            <a:endCxn id="98" idx="2"/>
          </p:cNvCxnSpPr>
          <p:nvPr/>
        </p:nvCxnSpPr>
        <p:spPr bwMode="auto">
          <a:xfrm flipV="1">
            <a:off x="7014423" y="4613867"/>
            <a:ext cx="0" cy="474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꺾인 연결선 54"/>
          <p:cNvCxnSpPr>
            <a:stCxn id="99" idx="0"/>
            <a:endCxn id="145" idx="2"/>
          </p:cNvCxnSpPr>
          <p:nvPr/>
        </p:nvCxnSpPr>
        <p:spPr>
          <a:xfrm rot="16200000" flipV="1">
            <a:off x="5978816" y="2996871"/>
            <a:ext cx="2169637" cy="2006990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화살표 연결선 60"/>
          <p:cNvCxnSpPr>
            <a:stCxn id="145" idx="3"/>
            <a:endCxn id="70" idx="3"/>
          </p:cNvCxnSpPr>
          <p:nvPr/>
        </p:nvCxnSpPr>
        <p:spPr>
          <a:xfrm>
            <a:off x="6438351" y="2755162"/>
            <a:ext cx="1304788" cy="57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hape 266"/>
          <p:cNvCxnSpPr>
            <a:cxnSpLocks noChangeShapeType="1"/>
            <a:stCxn id="97" idx="0"/>
            <a:endCxn id="114" idx="2"/>
          </p:cNvCxnSpPr>
          <p:nvPr/>
        </p:nvCxnSpPr>
        <p:spPr bwMode="auto">
          <a:xfrm flipV="1">
            <a:off x="7014423" y="5409220"/>
            <a:ext cx="0" cy="3227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6" name="Line 175"/>
          <p:cNvSpPr>
            <a:spLocks noChangeShapeType="1"/>
          </p:cNvSpPr>
          <p:nvPr/>
        </p:nvSpPr>
        <p:spPr bwMode="auto">
          <a:xfrm flipH="1" flipV="1">
            <a:off x="8094227" y="4211851"/>
            <a:ext cx="179927" cy="115617"/>
          </a:xfrm>
          <a:prstGeom prst="line">
            <a:avLst/>
          </a:prstGeom>
          <a:noFill/>
          <a:ln w="144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68" name="Freeform 176"/>
          <p:cNvSpPr>
            <a:spLocks noChangeArrowheads="1"/>
          </p:cNvSpPr>
          <p:nvPr/>
        </p:nvSpPr>
        <p:spPr bwMode="auto">
          <a:xfrm>
            <a:off x="8274155" y="4211852"/>
            <a:ext cx="90052" cy="232735"/>
          </a:xfrm>
          <a:custGeom>
            <a:avLst/>
            <a:gdLst>
              <a:gd name="T0" fmla="*/ 2147483647 w 56"/>
              <a:gd name="T1" fmla="*/ 0 h 210"/>
              <a:gd name="T2" fmla="*/ 0 w 56"/>
              <a:gd name="T3" fmla="*/ 0 h 210"/>
              <a:gd name="T4" fmla="*/ 0 w 56"/>
              <a:gd name="T5" fmla="*/ 2147483647 h 210"/>
              <a:gd name="T6" fmla="*/ 2147483647 w 56"/>
              <a:gd name="T7" fmla="*/ 2147483647 h 210"/>
              <a:gd name="T8" fmla="*/ 0 60000 65536"/>
              <a:gd name="T9" fmla="*/ 0 60000 65536"/>
              <a:gd name="T10" fmla="*/ 0 60000 65536"/>
              <a:gd name="T11" fmla="*/ 0 60000 65536"/>
              <a:gd name="T12" fmla="*/ 0 w 56"/>
              <a:gd name="T13" fmla="*/ 0 h 210"/>
              <a:gd name="T14" fmla="*/ 56 w 56"/>
              <a:gd name="T15" fmla="*/ 210 h 2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" h="210">
                <a:moveTo>
                  <a:pt x="56" y="0"/>
                </a:moveTo>
                <a:lnTo>
                  <a:pt x="0" y="0"/>
                </a:lnTo>
                <a:lnTo>
                  <a:pt x="0" y="210"/>
                </a:lnTo>
                <a:lnTo>
                  <a:pt x="56" y="210"/>
                </a:lnTo>
              </a:path>
            </a:pathLst>
          </a:custGeom>
          <a:noFill/>
          <a:ln w="144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sng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69" name="Rectangle 179"/>
          <p:cNvSpPr>
            <a:spLocks noChangeArrowheads="1"/>
          </p:cNvSpPr>
          <p:nvPr/>
        </p:nvSpPr>
        <p:spPr bwMode="auto">
          <a:xfrm flipH="1">
            <a:off x="8391306" y="4258220"/>
            <a:ext cx="46166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900" b="1" kern="0" dirty="0">
                <a:solidFill>
                  <a:prstClr val="black"/>
                </a:solidFill>
              </a:rPr>
              <a:t>지출</a:t>
            </a: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승인</a:t>
            </a:r>
            <a:endParaRPr kumimoji="1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183" name="직선 화살표 연결선 182"/>
          <p:cNvCxnSpPr>
            <a:stCxn id="145" idx="1"/>
            <a:endCxn id="64" idx="3"/>
          </p:cNvCxnSpPr>
          <p:nvPr/>
        </p:nvCxnSpPr>
        <p:spPr>
          <a:xfrm flipH="1">
            <a:off x="5467074" y="2755162"/>
            <a:ext cx="214852" cy="963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/>
          <p:cNvSpPr/>
          <p:nvPr/>
        </p:nvSpPr>
        <p:spPr bwMode="auto">
          <a:xfrm>
            <a:off x="4710649" y="260440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ITMS</a:t>
            </a:r>
          </a:p>
        </p:txBody>
      </p:sp>
      <p:grpSp>
        <p:nvGrpSpPr>
          <p:cNvPr id="6" name="그룹 67"/>
          <p:cNvGrpSpPr/>
          <p:nvPr/>
        </p:nvGrpSpPr>
        <p:grpSpPr>
          <a:xfrm>
            <a:off x="7743139" y="2550587"/>
            <a:ext cx="756425" cy="410305"/>
            <a:chOff x="8553059" y="5827007"/>
            <a:chExt cx="756425" cy="410305"/>
          </a:xfrm>
        </p:grpSpPr>
        <p:sp>
          <p:nvSpPr>
            <p:cNvPr id="69" name="직사각형 68"/>
            <p:cNvSpPr/>
            <p:nvPr/>
          </p:nvSpPr>
          <p:spPr>
            <a:xfrm>
              <a:off x="8681541" y="583800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0" name="육각형 69"/>
            <p:cNvSpPr/>
            <p:nvPr/>
          </p:nvSpPr>
          <p:spPr bwMode="auto">
            <a:xfrm>
              <a:off x="8553059" y="582700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지출처리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68" name="순서도: 판단 58">
            <a:extLst>
              <a:ext uri="{FF2B5EF4-FFF2-40B4-BE49-F238E27FC236}">
                <a16:creationId xmlns="" xmlns:a16="http://schemas.microsoft.com/office/drawing/2014/main" id="{7F2B0FA4-C5B7-4898-BCF8-C892D6F6F66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609491" y="5661248"/>
            <a:ext cx="915275" cy="439243"/>
          </a:xfrm>
          <a:prstGeom prst="flowChartDecision">
            <a:avLst/>
          </a:prstGeom>
          <a:noFill/>
          <a:ln w="9525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보조금여부</a:t>
            </a:r>
          </a:p>
        </p:txBody>
      </p:sp>
      <p:cxnSp>
        <p:nvCxnSpPr>
          <p:cNvPr id="71" name="Shape 266">
            <a:extLst>
              <a:ext uri="{FF2B5EF4-FFF2-40B4-BE49-F238E27FC236}">
                <a16:creationId xmlns="" xmlns:a16="http://schemas.microsoft.com/office/drawing/2014/main" id="{8C003A4A-D193-4EDA-A9BF-B9263E9BD5B0}"/>
              </a:ext>
            </a:extLst>
          </p:cNvPr>
          <p:cNvCxnSpPr>
            <a:cxnSpLocks noChangeShapeType="1"/>
            <a:stCxn id="68" idx="0"/>
            <a:endCxn id="99" idx="2"/>
          </p:cNvCxnSpPr>
          <p:nvPr/>
        </p:nvCxnSpPr>
        <p:spPr bwMode="auto">
          <a:xfrm flipV="1">
            <a:off x="8067129" y="5405955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" name="TextBox 72">
            <a:extLst>
              <a:ext uri="{FF2B5EF4-FFF2-40B4-BE49-F238E27FC236}">
                <a16:creationId xmlns="" xmlns:a16="http://schemas.microsoft.com/office/drawing/2014/main" id="{6B44DD43-8A30-4690-B405-1AEA16EB6D71}"/>
              </a:ext>
            </a:extLst>
          </p:cNvPr>
          <p:cNvSpPr txBox="1"/>
          <p:nvPr/>
        </p:nvSpPr>
        <p:spPr>
          <a:xfrm>
            <a:off x="8017868" y="5459078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0EF10E63-02E5-44F3-8D2A-1CEE4F5D4E8D}"/>
              </a:ext>
            </a:extLst>
          </p:cNvPr>
          <p:cNvSpPr/>
          <p:nvPr/>
        </p:nvSpPr>
        <p:spPr bwMode="auto">
          <a:xfrm>
            <a:off x="8679613" y="5720484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e</a:t>
            </a:r>
            <a:r>
              <a:rPr lang="ko-KR" altLang="en-US" sz="900" kern="0" dirty="0">
                <a:solidFill>
                  <a:prstClr val="black"/>
                </a:solidFill>
              </a:rPr>
              <a:t>나라도움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/>
            <a:r>
              <a:rPr lang="ko-KR" altLang="en-US" sz="900" kern="0" dirty="0">
                <a:solidFill>
                  <a:prstClr val="black"/>
                </a:solidFill>
              </a:rPr>
              <a:t>보조금시스템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6" name="Shape 266">
            <a:extLst>
              <a:ext uri="{FF2B5EF4-FFF2-40B4-BE49-F238E27FC236}">
                <a16:creationId xmlns="" xmlns:a16="http://schemas.microsoft.com/office/drawing/2014/main" id="{AB9A8156-AD06-4403-99B9-E14D52F5C288}"/>
              </a:ext>
            </a:extLst>
          </p:cNvPr>
          <p:cNvCxnSpPr>
            <a:cxnSpLocks noChangeShapeType="1"/>
            <a:stCxn id="68" idx="3"/>
            <a:endCxn id="74" idx="1"/>
          </p:cNvCxnSpPr>
          <p:nvPr/>
        </p:nvCxnSpPr>
        <p:spPr bwMode="auto">
          <a:xfrm>
            <a:off x="8524766" y="5880870"/>
            <a:ext cx="15484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" name="TextBox 79">
            <a:extLst>
              <a:ext uri="{FF2B5EF4-FFF2-40B4-BE49-F238E27FC236}">
                <a16:creationId xmlns="" xmlns:a16="http://schemas.microsoft.com/office/drawing/2014/main" id="{228605FA-438C-4AB6-849D-5FDC7EE581F0}"/>
              </a:ext>
            </a:extLst>
          </p:cNvPr>
          <p:cNvSpPr txBox="1"/>
          <p:nvPr/>
        </p:nvSpPr>
        <p:spPr>
          <a:xfrm>
            <a:off x="8454233" y="5884199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Y</a:t>
            </a:r>
            <a:endParaRPr lang="ko-KR" altLang="en-US" sz="800" dirty="0"/>
          </a:p>
        </p:txBody>
      </p:sp>
      <p:cxnSp>
        <p:nvCxnSpPr>
          <p:cNvPr id="87" name="Shape 266">
            <a:extLst>
              <a:ext uri="{FF2B5EF4-FFF2-40B4-BE49-F238E27FC236}">
                <a16:creationId xmlns="" xmlns:a16="http://schemas.microsoft.com/office/drawing/2014/main" id="{D8D826A0-3367-4AAB-BB29-A15E9D1294CE}"/>
              </a:ext>
            </a:extLst>
          </p:cNvPr>
          <p:cNvCxnSpPr>
            <a:cxnSpLocks noChangeShapeType="1"/>
            <a:stCxn id="98" idx="3"/>
            <a:endCxn id="68" idx="1"/>
          </p:cNvCxnSpPr>
          <p:nvPr/>
        </p:nvCxnSpPr>
        <p:spPr bwMode="auto">
          <a:xfrm>
            <a:off x="7392635" y="4453482"/>
            <a:ext cx="216856" cy="14273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4" name="꺾인 연결선 53"/>
          <p:cNvCxnSpPr>
            <a:stCxn id="126" idx="0"/>
            <a:endCxn id="130" idx="1"/>
          </p:cNvCxnSpPr>
          <p:nvPr/>
        </p:nvCxnSpPr>
        <p:spPr>
          <a:xfrm rot="5400000" flipH="1" flipV="1">
            <a:off x="3201316" y="3748898"/>
            <a:ext cx="487686" cy="600710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hape 266"/>
          <p:cNvCxnSpPr>
            <a:cxnSpLocks noChangeShapeType="1"/>
            <a:stCxn id="96" idx="3"/>
            <a:endCxn id="77" idx="1"/>
          </p:cNvCxnSpPr>
          <p:nvPr/>
        </p:nvCxnSpPr>
        <p:spPr bwMode="auto">
          <a:xfrm flipV="1">
            <a:off x="5484348" y="5893535"/>
            <a:ext cx="125020" cy="366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9" name="그룹 62"/>
          <p:cNvGrpSpPr/>
          <p:nvPr/>
        </p:nvGrpSpPr>
        <p:grpSpPr>
          <a:xfrm>
            <a:off x="5609368" y="5481228"/>
            <a:ext cx="1066337" cy="684076"/>
            <a:chOff x="6370939" y="3355832"/>
            <a:chExt cx="1066337" cy="684076"/>
          </a:xfrm>
        </p:grpSpPr>
        <p:sp>
          <p:nvSpPr>
            <p:cNvPr id="62" name="TextBox 61"/>
            <p:cNvSpPr txBox="1"/>
            <p:nvPr/>
          </p:nvSpPr>
          <p:spPr>
            <a:xfrm>
              <a:off x="7047426" y="3824464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요구</a:t>
              </a: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6393160" y="3355832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800" dirty="0"/>
                <a:t>불요구</a:t>
              </a:r>
            </a:p>
          </p:txBody>
        </p:sp>
        <p:sp>
          <p:nvSpPr>
            <p:cNvPr id="77" name="순서도: 판단 58"/>
            <p:cNvSpPr>
              <a:spLocks noChangeAspect="1" noChangeArrowheads="1"/>
            </p:cNvSpPr>
            <p:nvPr/>
          </p:nvSpPr>
          <p:spPr bwMode="auto">
            <a:xfrm>
              <a:off x="6370939" y="3548517"/>
              <a:ext cx="915275" cy="439243"/>
            </a:xfrm>
            <a:prstGeom prst="flowChartDecision">
              <a:avLst/>
            </a:prstGeom>
            <a:noFill/>
            <a:ln w="9525" algn="ctr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36000" rIns="0" bIns="36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전표분개</a:t>
              </a:r>
            </a:p>
          </p:txBody>
        </p:sp>
      </p:grpSp>
      <p:cxnSp>
        <p:nvCxnSpPr>
          <p:cNvPr id="79" name="Shape 266"/>
          <p:cNvCxnSpPr>
            <a:cxnSpLocks noChangeShapeType="1"/>
            <a:stCxn id="77" idx="3"/>
            <a:endCxn id="97" idx="1"/>
          </p:cNvCxnSpPr>
          <p:nvPr/>
        </p:nvCxnSpPr>
        <p:spPr bwMode="auto">
          <a:xfrm flipV="1">
            <a:off x="6524643" y="5892403"/>
            <a:ext cx="111567" cy="11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77" idx="0"/>
            <a:endCxn id="145" idx="2"/>
          </p:cNvCxnSpPr>
          <p:nvPr/>
        </p:nvCxnSpPr>
        <p:spPr bwMode="auto">
          <a:xfrm flipH="1" flipV="1">
            <a:off x="6060139" y="2915547"/>
            <a:ext cx="6867" cy="27583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Line 175"/>
          <p:cNvSpPr>
            <a:spLocks noChangeShapeType="1"/>
          </p:cNvSpPr>
          <p:nvPr/>
        </p:nvSpPr>
        <p:spPr bwMode="auto">
          <a:xfrm flipV="1">
            <a:off x="5919792" y="4364252"/>
            <a:ext cx="140345" cy="89230"/>
          </a:xfrm>
          <a:prstGeom prst="line">
            <a:avLst/>
          </a:prstGeom>
          <a:noFill/>
          <a:ln w="144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3" name="Freeform 176"/>
          <p:cNvSpPr>
            <a:spLocks noChangeArrowheads="1"/>
          </p:cNvSpPr>
          <p:nvPr/>
        </p:nvSpPr>
        <p:spPr bwMode="auto">
          <a:xfrm rot="10800000">
            <a:off x="5829740" y="4364252"/>
            <a:ext cx="90052" cy="232735"/>
          </a:xfrm>
          <a:custGeom>
            <a:avLst/>
            <a:gdLst>
              <a:gd name="T0" fmla="*/ 2147483647 w 56"/>
              <a:gd name="T1" fmla="*/ 0 h 210"/>
              <a:gd name="T2" fmla="*/ 0 w 56"/>
              <a:gd name="T3" fmla="*/ 0 h 210"/>
              <a:gd name="T4" fmla="*/ 0 w 56"/>
              <a:gd name="T5" fmla="*/ 2147483647 h 210"/>
              <a:gd name="T6" fmla="*/ 2147483647 w 56"/>
              <a:gd name="T7" fmla="*/ 2147483647 h 210"/>
              <a:gd name="T8" fmla="*/ 0 60000 65536"/>
              <a:gd name="T9" fmla="*/ 0 60000 65536"/>
              <a:gd name="T10" fmla="*/ 0 60000 65536"/>
              <a:gd name="T11" fmla="*/ 0 60000 65536"/>
              <a:gd name="T12" fmla="*/ 0 w 56"/>
              <a:gd name="T13" fmla="*/ 0 h 210"/>
              <a:gd name="T14" fmla="*/ 56 w 56"/>
              <a:gd name="T15" fmla="*/ 210 h 2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" h="210">
                <a:moveTo>
                  <a:pt x="56" y="0"/>
                </a:moveTo>
                <a:lnTo>
                  <a:pt x="0" y="0"/>
                </a:lnTo>
                <a:lnTo>
                  <a:pt x="0" y="210"/>
                </a:lnTo>
                <a:lnTo>
                  <a:pt x="56" y="210"/>
                </a:lnTo>
              </a:path>
            </a:pathLst>
          </a:custGeom>
          <a:noFill/>
          <a:ln w="144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sng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84" name="Rectangle 179"/>
          <p:cNvSpPr>
            <a:spLocks noChangeArrowheads="1"/>
          </p:cNvSpPr>
          <p:nvPr/>
        </p:nvSpPr>
        <p:spPr bwMode="auto">
          <a:xfrm flipH="1">
            <a:off x="5412207" y="4410620"/>
            <a:ext cx="46166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결의승인</a:t>
            </a:r>
            <a:endParaRPr kumimoji="1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80264901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지출요구 등록은 계약관련 지출요구 시 계약관리와 연계하여 관련 계약정보를 필수로 입력할 수 있도록 업무프로세스를 개선하고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나머지는 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지출관리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(4/6)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5465497"/>
              </p:ext>
            </p:extLst>
          </p:nvPr>
        </p:nvGraphicFramePr>
        <p:xfrm>
          <a:off x="344489" y="1584356"/>
          <a:ext cx="9181019" cy="4534182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지출품의 내역작성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간이결재 대상이 아닌 일반비용 지출의 품의는 그룹웨어에서 비용지출을 처리해야 하는 담당자가 품의내용을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작성된 품의서는 상위자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팀장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에게 그룹웨어에서 승인요청으로 전달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상위자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;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팀장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은 품의내용에 대해 검토하고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승인처리를 하면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지출결의서 작성 시 그 내용을 불러와서 첨부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지출품의 승인내역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간이결재 내역작성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회의비 및 업무추진비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급량비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給糧費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는 간이결재 대상으로 통합재무정보시스템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재무회계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간이결재 메뉴로 들어가 다음의 내용을 작성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회의비 가정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회의비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발의부서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집행일자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세부사업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목코드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소요예산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목적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장소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주재자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참석자 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통합재무정보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간이결재 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작성한 간이결재 내용을 업무부서 상위자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예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팀장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에게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간이결재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회의비 및 업무추진비승인 또는 급량비승인 메뉴에서 상위자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팀장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가 간이결재 내용 검토후 승인 처리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간이결재승인내역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법인카드 금액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ITMS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법인카드 결재 내역을 확인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카드 결재 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ITMS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관련부서 분리금액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법인카드 결재 내역이 여러 부서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공통비일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경우 부서별 분리금액을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법인카드분할등록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카드 내역에 대한 사업별 분할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법인카드 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지출요구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요구 등록은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계약관련 지출요구 일 경우 계약관리시스템을 연계하여 관련 계약정보를 필수로 입력할 수 있도록 처리하고 나머지는 현행과 동일하게 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9022039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지출관리 </a:t>
            </a:r>
            <a:r>
              <a:rPr lang="ko-KR" altLang="en-US" dirty="0">
                <a:latin typeface="+mn-ea"/>
              </a:rPr>
              <a:t>업무 중 지출원인행위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전표 생성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전표 승인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원인행위 담당 승인 등</a:t>
            </a:r>
            <a:r>
              <a:rPr lang="en-US" altLang="ko-KR" dirty="0">
                <a:latin typeface="+mn-ea"/>
              </a:rPr>
              <a:t>), </a:t>
            </a:r>
            <a:r>
              <a:rPr lang="ko-KR" altLang="en-US" dirty="0">
                <a:latin typeface="+mn-ea"/>
              </a:rPr>
              <a:t>지출처리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지출전표 생성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지출전표 승인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지출담당 승인 등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업무는 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지출관리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(5/6)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3385532"/>
              </p:ext>
            </p:extLst>
          </p:nvPr>
        </p:nvGraphicFramePr>
        <p:xfrm>
          <a:off x="344489" y="1584356"/>
          <a:ext cx="9181019" cy="4796972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511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09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3780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지출요구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요구에 대한 승인을 요청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지출요구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요구에 대해 담당부서의 장은 검토하여</a:t>
                      </a:r>
                      <a:r>
                        <a:rPr lang="ko-KR" altLang="en-US" sz="1000" b="0" kern="1200" baseline="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승인 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예산부서승인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요구에 대한 예산 통제 부서의 장은 허용된 예산범위 내에서 지출요구 되었고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관련 내용이 인정되면 승인 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원인행위승인요청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지출원인행위 승인권자에게 지출원인행위 담당자는 지출 요구 시 등록된 지출원인행위에 대한 승인을 요청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전표분개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불요구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사례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① 카드수수료</a:t>
                      </a: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체육관 입장료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결제 시</a:t>
                      </a:r>
                    </a:p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입장료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카드수수료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카드사입금액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97 </a:t>
                      </a:r>
                    </a:p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수입결의서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수입결의서 전표</a:t>
                      </a:r>
                    </a:p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카드미수금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  /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입장료수입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       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97  /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카드미수금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카드수수료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&lt;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전표 필요 없음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②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자금팀의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공적자금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이용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통화금융기관예치금으로 예치 시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지출전표 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-&gt;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자금부서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자금운용팀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-&gt;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회계부서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재무관리팀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4985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미지급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 전표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지출원인행위 담당자의 원인행위 승인 요청에 의한 전표는 자동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미지급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 전표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지출원인행위 승인권자에게 발생된 미지급 전표에 대한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795622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지출관리 </a:t>
            </a:r>
            <a:r>
              <a:rPr lang="ko-KR" altLang="en-US" dirty="0">
                <a:latin typeface="+mn-ea"/>
              </a:rPr>
              <a:t>업무 중 지출원인행위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전표 생성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전표 승인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원인행위 담당 승인 등</a:t>
            </a:r>
            <a:r>
              <a:rPr lang="en-US" altLang="ko-KR" dirty="0">
                <a:latin typeface="+mn-ea"/>
              </a:rPr>
              <a:t>), </a:t>
            </a:r>
            <a:r>
              <a:rPr lang="ko-KR" altLang="en-US" dirty="0">
                <a:latin typeface="+mn-ea"/>
              </a:rPr>
              <a:t>지출처리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지출전표 생성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지출전표 승인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지출담당 승인 등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업무는 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지출관리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(6/6)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9979894"/>
              </p:ext>
            </p:extLst>
          </p:nvPr>
        </p:nvGraphicFramePr>
        <p:xfrm>
          <a:off x="344489" y="1584356"/>
          <a:ext cx="9181019" cy="3772182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624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497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미지급</a:t>
                      </a:r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 전표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지출원인행위 승인권자에게 요청된 미지급 전표의 승인 요청에 대해 검토하여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팀장승인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분개 불요구 건에 검토하여 팀장이 승인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원인행위담당승인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요청된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지출원인행위에 대한 원인행위 승인권자는 검토하여 승인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원인행위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지출처리승인요청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원인행위승인권자가 승인한 지출 원인 행위에 대해 지출 처리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지출전표생성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결의에 의하여 생성된 미지급 전표에 대한 지출전표를 지출 처리 승인 요청 시 자동으로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지출전표승인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지출처리 담당자는 생성된 지출전표에 대해 지출처리승인권자에게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지출전표승인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지출처리승인권자는 생성된 지출전표에 대해 검토하여 승인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대상송장승인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분개 요구 시 요청된 지출 처리 승인요청에 대한 대상송장 승인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지출담당승인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처리 승인 요청에 대한 최종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484731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법인회계의 월 결산 </a:t>
            </a:r>
            <a:r>
              <a:rPr lang="ko-KR" altLang="en-US" sz="1600" dirty="0">
                <a:latin typeface="+mn-ea"/>
                <a:ea typeface="+mn-ea"/>
              </a:rPr>
              <a:t>업무는 일반전표처리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일반전표 등록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일반전표 승인 등</a:t>
            </a:r>
            <a:r>
              <a:rPr lang="en-US" altLang="ko-KR" sz="1600" dirty="0">
                <a:latin typeface="+mn-ea"/>
                <a:ea typeface="+mn-ea"/>
              </a:rPr>
              <a:t>), </a:t>
            </a:r>
            <a:r>
              <a:rPr lang="ko-KR" altLang="en-US" sz="1600" dirty="0">
                <a:latin typeface="+mn-ea"/>
                <a:ea typeface="+mn-ea"/>
              </a:rPr>
              <a:t>마감처리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결의서 </a:t>
            </a:r>
            <a:r>
              <a:rPr lang="ko-KR" altLang="en-US" dirty="0">
                <a:latin typeface="+mn-ea"/>
                <a:ea typeface="+mn-ea"/>
              </a:rPr>
              <a:t>마감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전표 마감</a:t>
            </a:r>
            <a:r>
              <a:rPr lang="en-US" altLang="ko-KR" dirty="0">
                <a:latin typeface="+mn-ea"/>
                <a:ea typeface="+mn-ea"/>
              </a:rPr>
              <a:t> </a:t>
            </a:r>
            <a:r>
              <a:rPr lang="ko-KR" altLang="en-US" dirty="0">
                <a:latin typeface="+mn-ea"/>
                <a:ea typeface="+mn-ea"/>
              </a:rPr>
              <a:t>등</a:t>
            </a:r>
            <a:r>
              <a:rPr lang="en-US" altLang="ko-KR" dirty="0">
                <a:latin typeface="+mn-ea"/>
                <a:ea typeface="+mn-ea"/>
              </a:rPr>
              <a:t>)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결산서조회 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3.2.2.9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월결산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법인회계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월결산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법인회계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284476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2763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8427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48427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일반전표처리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결산서조회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5950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결산담당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48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2" name="직사각형 81"/>
          <p:cNvSpPr/>
          <p:nvPr/>
        </p:nvSpPr>
        <p:spPr bwMode="auto">
          <a:xfrm>
            <a:off x="1766814" y="56645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3512499" y="48691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8" name="Shape 266"/>
          <p:cNvCxnSpPr>
            <a:cxnSpLocks noChangeShapeType="1"/>
            <a:stCxn id="58" idx="2"/>
            <a:endCxn id="114" idx="0"/>
          </p:cNvCxnSpPr>
          <p:nvPr/>
        </p:nvCxnSpPr>
        <p:spPr bwMode="auto">
          <a:xfrm flipH="1">
            <a:off x="2145027" y="3050649"/>
            <a:ext cx="169" cy="9889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82" idx="3"/>
            <a:endCxn id="91" idx="1"/>
          </p:cNvCxnSpPr>
          <p:nvPr/>
        </p:nvCxnSpPr>
        <p:spPr bwMode="auto">
          <a:xfrm>
            <a:off x="2523239" y="5824898"/>
            <a:ext cx="98925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84" idx="0"/>
            <a:endCxn id="63" idx="1"/>
          </p:cNvCxnSpPr>
          <p:nvPr/>
        </p:nvCxnSpPr>
        <p:spPr bwMode="auto">
          <a:xfrm rot="5400000" flipH="1" flipV="1">
            <a:off x="3637953" y="3050057"/>
            <a:ext cx="2071862" cy="156634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3" name="직사각형 62"/>
          <p:cNvSpPr/>
          <p:nvPr/>
        </p:nvSpPr>
        <p:spPr bwMode="auto">
          <a:xfrm>
            <a:off x="5457056" y="26369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결의서 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5457056" y="31649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전표 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5457056" y="369303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부가세마감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7" name="직사각형 66"/>
          <p:cNvSpPr/>
          <p:nvPr/>
        </p:nvSpPr>
        <p:spPr bwMode="auto">
          <a:xfrm>
            <a:off x="7869324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결산서조회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70"/>
          <p:cNvGrpSpPr/>
          <p:nvPr/>
        </p:nvGrpSpPr>
        <p:grpSpPr>
          <a:xfrm flipH="1">
            <a:off x="8092325" y="4425610"/>
            <a:ext cx="307440" cy="356556"/>
            <a:chOff x="3031001" y="4475605"/>
            <a:chExt cx="322637" cy="356556"/>
          </a:xfrm>
        </p:grpSpPr>
        <p:sp>
          <p:nvSpPr>
            <p:cNvPr id="72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3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4" name="Rectangle 179"/>
          <p:cNvSpPr>
            <a:spLocks noChangeArrowheads="1"/>
          </p:cNvSpPr>
          <p:nvPr/>
        </p:nvSpPr>
        <p:spPr bwMode="auto">
          <a:xfrm flipH="1">
            <a:off x="8471766" y="4437112"/>
            <a:ext cx="116175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총계정 원장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합계잔액시산표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손익계산서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재무상태표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" name="그룹 11"/>
          <p:cNvGrpSpPr/>
          <p:nvPr/>
        </p:nvGrpSpPr>
        <p:grpSpPr>
          <a:xfrm>
            <a:off x="1766813" y="2645902"/>
            <a:ext cx="756425" cy="410305"/>
            <a:chOff x="2180010" y="2776562"/>
            <a:chExt cx="756425" cy="410305"/>
          </a:xfrm>
        </p:grpSpPr>
        <p:sp>
          <p:nvSpPr>
            <p:cNvPr id="58" name="직사각형 57"/>
            <p:cNvSpPr/>
            <p:nvPr/>
          </p:nvSpPr>
          <p:spPr>
            <a:xfrm>
              <a:off x="2308492" y="278755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9" name="육각형 58"/>
            <p:cNvSpPr/>
            <p:nvPr/>
          </p:nvSpPr>
          <p:spPr bwMode="auto">
            <a:xfrm>
              <a:off x="2180010" y="277656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월결산 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91" name="직사각형 90"/>
          <p:cNvSpPr/>
          <p:nvPr/>
        </p:nvSpPr>
        <p:spPr bwMode="auto">
          <a:xfrm>
            <a:off x="3512498" y="56645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91" idx="0"/>
            <a:endCxn id="84" idx="2"/>
          </p:cNvCxnSpPr>
          <p:nvPr/>
        </p:nvCxnSpPr>
        <p:spPr bwMode="auto">
          <a:xfrm flipV="1">
            <a:off x="3890711" y="5189931"/>
            <a:ext cx="1" cy="474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63" idx="2"/>
            <a:endCxn id="65" idx="0"/>
          </p:cNvCxnSpPr>
          <p:nvPr/>
        </p:nvCxnSpPr>
        <p:spPr bwMode="auto">
          <a:xfrm>
            <a:off x="5835269" y="2957683"/>
            <a:ext cx="0" cy="2072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/>
          <p:cNvCxnSpPr>
            <a:cxnSpLocks noChangeShapeType="1"/>
            <a:stCxn id="65" idx="2"/>
            <a:endCxn id="66" idx="0"/>
          </p:cNvCxnSpPr>
          <p:nvPr/>
        </p:nvCxnSpPr>
        <p:spPr bwMode="auto">
          <a:xfrm>
            <a:off x="5835269" y="3485742"/>
            <a:ext cx="0" cy="2072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" name="Shape 266"/>
          <p:cNvCxnSpPr>
            <a:cxnSpLocks noChangeShapeType="1"/>
            <a:stCxn id="34" idx="3"/>
            <a:endCxn id="67" idx="1"/>
          </p:cNvCxnSpPr>
          <p:nvPr/>
        </p:nvCxnSpPr>
        <p:spPr bwMode="auto">
          <a:xfrm flipV="1">
            <a:off x="6213481" y="4253257"/>
            <a:ext cx="1655843" cy="12821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/>
          <p:cNvCxnSpPr>
            <a:cxnSpLocks noChangeShapeType="1"/>
            <a:stCxn id="67" idx="0"/>
            <a:endCxn id="69" idx="2"/>
          </p:cNvCxnSpPr>
          <p:nvPr/>
        </p:nvCxnSpPr>
        <p:spPr bwMode="auto">
          <a:xfrm flipV="1">
            <a:off x="8247537" y="3052956"/>
            <a:ext cx="170" cy="10399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36"/>
          <p:cNvGrpSpPr/>
          <p:nvPr/>
        </p:nvGrpSpPr>
        <p:grpSpPr>
          <a:xfrm>
            <a:off x="7869324" y="2648209"/>
            <a:ext cx="756425" cy="410305"/>
            <a:chOff x="7869324" y="3016584"/>
            <a:chExt cx="756425" cy="410305"/>
          </a:xfrm>
        </p:grpSpPr>
        <p:sp>
          <p:nvSpPr>
            <p:cNvPr id="69" name="직사각형 68"/>
            <p:cNvSpPr/>
            <p:nvPr/>
          </p:nvSpPr>
          <p:spPr>
            <a:xfrm>
              <a:off x="7997806" y="3027579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0" name="육각형 69"/>
            <p:cNvSpPr/>
            <p:nvPr/>
          </p:nvSpPr>
          <p:spPr bwMode="auto">
            <a:xfrm>
              <a:off x="7869324" y="3016584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월결산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14" name="직사각형 113"/>
          <p:cNvSpPr/>
          <p:nvPr/>
        </p:nvSpPr>
        <p:spPr bwMode="auto">
          <a:xfrm>
            <a:off x="1766814" y="40395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결산공지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19" name="Shape 266"/>
          <p:cNvCxnSpPr>
            <a:cxnSpLocks noChangeShapeType="1"/>
            <a:stCxn id="114" idx="2"/>
            <a:endCxn id="82" idx="0"/>
          </p:cNvCxnSpPr>
          <p:nvPr/>
        </p:nvCxnSpPr>
        <p:spPr bwMode="auto">
          <a:xfrm>
            <a:off x="2145027" y="4360359"/>
            <a:ext cx="0" cy="13041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" name="직사각형 33">
            <a:extLst>
              <a:ext uri="{FF2B5EF4-FFF2-40B4-BE49-F238E27FC236}">
                <a16:creationId xmlns="" xmlns:a16="http://schemas.microsoft.com/office/drawing/2014/main" id="{7BE9214A-929A-48A0-A580-A38C5931CFBF}"/>
              </a:ext>
            </a:extLst>
          </p:cNvPr>
          <p:cNvSpPr/>
          <p:nvPr/>
        </p:nvSpPr>
        <p:spPr bwMode="auto">
          <a:xfrm>
            <a:off x="5457056" y="42210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조정분개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6" name="Shape 266">
            <a:extLst>
              <a:ext uri="{FF2B5EF4-FFF2-40B4-BE49-F238E27FC236}">
                <a16:creationId xmlns="" xmlns:a16="http://schemas.microsoft.com/office/drawing/2014/main" id="{C48DBFE4-5311-4CC3-8CE3-5D8C7AC685CD}"/>
              </a:ext>
            </a:extLst>
          </p:cNvPr>
          <p:cNvCxnSpPr>
            <a:cxnSpLocks noChangeShapeType="1"/>
            <a:endCxn id="34" idx="0"/>
          </p:cNvCxnSpPr>
          <p:nvPr/>
        </p:nvCxnSpPr>
        <p:spPr bwMode="auto">
          <a:xfrm>
            <a:off x="5835269" y="4039588"/>
            <a:ext cx="0" cy="1815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" name="그룹 70">
            <a:extLst>
              <a:ext uri="{FF2B5EF4-FFF2-40B4-BE49-F238E27FC236}">
                <a16:creationId xmlns="" xmlns:a16="http://schemas.microsoft.com/office/drawing/2014/main" id="{E6082496-B5EB-4ACD-BA0C-3EA87FE03547}"/>
              </a:ext>
            </a:extLst>
          </p:cNvPr>
          <p:cNvGrpSpPr/>
          <p:nvPr/>
        </p:nvGrpSpPr>
        <p:grpSpPr>
          <a:xfrm flipH="1">
            <a:off x="6281404" y="3078797"/>
            <a:ext cx="354166" cy="282225"/>
            <a:chOff x="3031001" y="4549936"/>
            <a:chExt cx="371673" cy="282225"/>
          </a:xfrm>
        </p:grpSpPr>
        <p:sp>
          <p:nvSpPr>
            <p:cNvPr id="42" name="Line 175">
              <a:extLst>
                <a:ext uri="{FF2B5EF4-FFF2-40B4-BE49-F238E27FC236}">
                  <a16:creationId xmlns="" xmlns:a16="http://schemas.microsoft.com/office/drawing/2014/main" id="{B7F7EFE4-E451-4D2F-B0B9-FBA9F3AC35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7" y="4644664"/>
              <a:ext cx="281617" cy="128217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Freeform 176">
              <a:extLst>
                <a:ext uri="{FF2B5EF4-FFF2-40B4-BE49-F238E27FC236}">
                  <a16:creationId xmlns="" xmlns:a16="http://schemas.microsoft.com/office/drawing/2014/main" id="{7E9D6882-B479-4772-9E77-BB5E44CC906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5" name="Rectangle 179">
            <a:extLst>
              <a:ext uri="{FF2B5EF4-FFF2-40B4-BE49-F238E27FC236}">
                <a16:creationId xmlns="" xmlns:a16="http://schemas.microsoft.com/office/drawing/2014/main" id="{90574B23-A504-4135-BF13-BA311FC1F1B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07569" y="3015968"/>
            <a:ext cx="76638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미지급금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예수금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미수금 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6" name="Rectangle 179">
            <a:extLst>
              <a:ext uri="{FF2B5EF4-FFF2-40B4-BE49-F238E27FC236}">
                <a16:creationId xmlns="" xmlns:a16="http://schemas.microsoft.com/office/drawing/2014/main" id="{5D8824BB-2F4F-48BA-8182-292D7879E98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93719" y="4643103"/>
            <a:ext cx="116175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퇴직급여충당금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감가상각비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내부거래</a:t>
            </a: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전출입등</a:t>
            </a: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</a:t>
            </a:r>
          </a:p>
        </p:txBody>
      </p:sp>
      <p:grpSp>
        <p:nvGrpSpPr>
          <p:cNvPr id="9" name="그룹 70">
            <a:extLst>
              <a:ext uri="{FF2B5EF4-FFF2-40B4-BE49-F238E27FC236}">
                <a16:creationId xmlns="" xmlns:a16="http://schemas.microsoft.com/office/drawing/2014/main" id="{62407870-7CFC-4D38-9196-2497D8D7FAEE}"/>
              </a:ext>
            </a:extLst>
          </p:cNvPr>
          <p:cNvGrpSpPr/>
          <p:nvPr/>
        </p:nvGrpSpPr>
        <p:grpSpPr>
          <a:xfrm flipH="1">
            <a:off x="5719804" y="4591574"/>
            <a:ext cx="307440" cy="343787"/>
            <a:chOff x="3031001" y="4488374"/>
            <a:chExt cx="322637" cy="343787"/>
          </a:xfrm>
        </p:grpSpPr>
        <p:sp>
          <p:nvSpPr>
            <p:cNvPr id="48" name="Line 175">
              <a:extLst>
                <a:ext uri="{FF2B5EF4-FFF2-40B4-BE49-F238E27FC236}">
                  <a16:creationId xmlns="" xmlns:a16="http://schemas.microsoft.com/office/drawing/2014/main" id="{AB7D1231-97AA-401E-85E4-27F81B678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8374"/>
              <a:ext cx="232581" cy="15628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Freeform 176">
              <a:extLst>
                <a:ext uri="{FF2B5EF4-FFF2-40B4-BE49-F238E27FC236}">
                  <a16:creationId xmlns="" xmlns:a16="http://schemas.microsoft.com/office/drawing/2014/main" id="{F012762E-36F6-4C31-AF04-4A5E63F16EA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2257666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법인회계의 월 결산 </a:t>
            </a:r>
            <a:r>
              <a:rPr lang="ko-KR" altLang="en-US" dirty="0">
                <a:latin typeface="+mn-ea"/>
              </a:rPr>
              <a:t>업무는 일반전표처리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일반전표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일반전표 승인 등</a:t>
            </a:r>
            <a:r>
              <a:rPr lang="en-US" altLang="ko-KR" dirty="0">
                <a:latin typeface="+mn-ea"/>
              </a:rPr>
              <a:t>), </a:t>
            </a:r>
            <a:r>
              <a:rPr lang="ko-KR" altLang="en-US" dirty="0">
                <a:latin typeface="+mn-ea"/>
              </a:rPr>
              <a:t>마감처리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결의서 마감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전표 마감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등</a:t>
            </a:r>
            <a:r>
              <a:rPr lang="en-US" altLang="ko-KR" dirty="0">
                <a:latin typeface="+mn-ea"/>
              </a:rPr>
              <a:t>), </a:t>
            </a:r>
            <a:r>
              <a:rPr lang="ko-KR" altLang="en-US" dirty="0">
                <a:latin typeface="+mn-ea"/>
              </a:rPr>
              <a:t>결산서조회 업무로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3.2.2.9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월결산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법인회계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940877"/>
              </p:ext>
            </p:extLst>
          </p:nvPr>
        </p:nvGraphicFramePr>
        <p:xfrm>
          <a:off x="344489" y="1584356"/>
          <a:ext cx="9181019" cy="4664032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511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09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657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총괄 책임자는 월 결산에 대한 지침을 관련 담당부서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담당자에게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541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회계담당자는 계정마감을 위한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일반전표를 처리하여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각 부서의 회계담당자는 계정마감을 위한 </a:t>
                      </a:r>
                      <a:r>
                        <a:rPr lang="ko-KR" altLang="en-US" sz="10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일반전표를 처리하여 등록한 후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승인 요청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07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회계업무 승인권자는 등록 처리한 일반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전표를 검토하여 승인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결의서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indent="0" latinLnBrk="0">
                        <a:buFontTx/>
                        <a:buNone/>
                      </a:pP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결산기일까지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결의서를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마감 처리하여 추가적인 결의서의 진행은 익월에 처리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latinLnBrk="0">
                        <a:buFontTx/>
                        <a:buChar char="-"/>
                      </a:pP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결산기일까지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처리되어야 할 수입결의 및 징수 확인 및 마감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latinLnBrk="0">
                        <a:buFontTx/>
                        <a:buChar char="-"/>
                      </a:pP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결산기일까지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처리되어야 할 지출결의 및 처리 확인 및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전표마감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결의에 따른 전표 확인 및 마감 처리하여 추가적인 전표의 진행은 익월에 처리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latinLnBrk="0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 확인 및 마감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매출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매입 세금계산서와 계산서를 마감 처리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171450" indent="-171450" latinLnBrk="0">
                        <a:buFontTx/>
                        <a:buChar char="-"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부가가치세 조정 및 마감처리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조정분개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결산에 필요한 퇴직급여충당부채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감가상각비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내부거래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전출입등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등 조정분개를 전표처리하여 결산에 반영</a:t>
                      </a:r>
                      <a:endParaRPr lang="en-US" altLang="ko-KR" sz="1000" b="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재고자산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매점상품등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월별 원가 처리</a:t>
                      </a:r>
                      <a:endParaRPr lang="en-US" altLang="ko-KR" sz="1000" b="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선급비용 처리 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보험료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광고비 선급분등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FA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계정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건설중인자산 처리</a:t>
                      </a:r>
                      <a:endParaRPr lang="en-US" altLang="ko-KR" sz="1000" b="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차입금 이자 월별 처리</a:t>
                      </a:r>
                      <a:endParaRPr lang="en-US" altLang="ko-KR" sz="1000" b="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감가상각비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대손상각비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퇴직급여충당금 월별 처리</a:t>
                      </a:r>
                      <a:endParaRPr lang="en-US" altLang="ko-KR" sz="1000" b="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상기 이외의 결산 조정 사항 처리 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내부거래 등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조정분개정보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결산서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계정의 마감이 완료되면 총계정원장이 마감되며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이후 합계잔액시산표를 조회하여 결산일까지의 수익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부채의 변동내용을 확인하고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손익계산서와 재무상태표를 조회하여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5794524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333142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기금회계의 월 결산 </a:t>
            </a:r>
            <a:r>
              <a:rPr lang="ko-KR" altLang="en-US" dirty="0">
                <a:latin typeface="+mn-ea"/>
                <a:ea typeface="+mn-ea"/>
              </a:rPr>
              <a:t>업무는 일반전표처리</a:t>
            </a:r>
            <a:r>
              <a:rPr lang="en-US" altLang="ko-KR" dirty="0">
                <a:latin typeface="+mn-ea"/>
                <a:ea typeface="+mn-ea"/>
              </a:rPr>
              <a:t>(</a:t>
            </a:r>
            <a:r>
              <a:rPr lang="ko-KR" altLang="en-US" dirty="0">
                <a:latin typeface="+mn-ea"/>
                <a:ea typeface="+mn-ea"/>
              </a:rPr>
              <a:t>일반전표 등록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일반전표 승인 등</a:t>
            </a:r>
            <a:r>
              <a:rPr lang="en-US" altLang="ko-KR" dirty="0">
                <a:latin typeface="+mn-ea"/>
                <a:ea typeface="+mn-ea"/>
              </a:rPr>
              <a:t>), </a:t>
            </a:r>
            <a:r>
              <a:rPr lang="ko-KR" altLang="en-US" dirty="0">
                <a:latin typeface="+mn-ea"/>
                <a:ea typeface="+mn-ea"/>
              </a:rPr>
              <a:t>마감처리</a:t>
            </a:r>
            <a:r>
              <a:rPr lang="en-US" altLang="ko-KR" dirty="0">
                <a:latin typeface="+mn-ea"/>
                <a:ea typeface="+mn-ea"/>
              </a:rPr>
              <a:t>(</a:t>
            </a:r>
            <a:r>
              <a:rPr lang="ko-KR" altLang="en-US" dirty="0">
                <a:latin typeface="+mn-ea"/>
                <a:ea typeface="+mn-ea"/>
              </a:rPr>
              <a:t>결의서 마감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전표 마감 등</a:t>
            </a:r>
            <a:r>
              <a:rPr lang="en-US" altLang="ko-KR" dirty="0">
                <a:latin typeface="+mn-ea"/>
                <a:ea typeface="+mn-ea"/>
              </a:rPr>
              <a:t>), </a:t>
            </a:r>
            <a:r>
              <a:rPr lang="ko-KR" altLang="en-US" dirty="0">
                <a:latin typeface="+mn-ea"/>
                <a:ea typeface="+mn-ea"/>
              </a:rPr>
              <a:t>결산서조회 업무로 구성하여 신설함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3.2.2.10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월결산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</a:rPr>
              <a:t>기금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601859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월결산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기금회계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4" name="표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420492"/>
              </p:ext>
            </p:extLst>
          </p:nvPr>
        </p:nvGraphicFramePr>
        <p:xfrm>
          <a:off x="344488" y="1916832"/>
          <a:ext cx="9181020" cy="4284476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2763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8427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48427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일반전표처리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1.4.2.2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1.4.2.3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결산서조회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5950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결산담당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48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2" name="직사각형 81"/>
          <p:cNvSpPr/>
          <p:nvPr/>
        </p:nvSpPr>
        <p:spPr bwMode="auto">
          <a:xfrm>
            <a:off x="1766814" y="56645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</a:rPr>
              <a:t>일반전표 등록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3512499" y="48691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4. </a:t>
            </a:r>
            <a:r>
              <a:rPr lang="ko-KR" altLang="en-US" sz="900" kern="0" dirty="0">
                <a:solidFill>
                  <a:srgbClr val="197EC6"/>
                </a:solidFill>
              </a:rPr>
              <a:t>일반전표 승인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88" name="Shape 266"/>
          <p:cNvCxnSpPr>
            <a:cxnSpLocks noChangeShapeType="1"/>
            <a:stCxn id="58" idx="2"/>
            <a:endCxn id="114" idx="0"/>
          </p:cNvCxnSpPr>
          <p:nvPr/>
        </p:nvCxnSpPr>
        <p:spPr bwMode="auto">
          <a:xfrm flipH="1">
            <a:off x="2145027" y="3050649"/>
            <a:ext cx="169" cy="9889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82" idx="3"/>
            <a:endCxn id="91" idx="1"/>
          </p:cNvCxnSpPr>
          <p:nvPr/>
        </p:nvCxnSpPr>
        <p:spPr bwMode="auto">
          <a:xfrm>
            <a:off x="2523239" y="5824898"/>
            <a:ext cx="98925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84" idx="0"/>
          </p:cNvCxnSpPr>
          <p:nvPr/>
        </p:nvCxnSpPr>
        <p:spPr bwMode="auto">
          <a:xfrm rot="5400000" flipH="1" flipV="1">
            <a:off x="3637953" y="3050057"/>
            <a:ext cx="2071862" cy="156634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7869324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9. </a:t>
            </a:r>
            <a:r>
              <a:rPr lang="ko-KR" altLang="en-US" sz="900" kern="0" dirty="0">
                <a:solidFill>
                  <a:srgbClr val="197EC6"/>
                </a:solidFill>
              </a:rPr>
              <a:t>결산서조회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72" name="Line 175"/>
          <p:cNvSpPr>
            <a:spLocks noChangeShapeType="1"/>
          </p:cNvSpPr>
          <p:nvPr/>
        </p:nvSpPr>
        <p:spPr bwMode="auto">
          <a:xfrm>
            <a:off x="8247537" y="4437112"/>
            <a:ext cx="66413" cy="157558"/>
          </a:xfrm>
          <a:prstGeom prst="line">
            <a:avLst/>
          </a:prstGeom>
          <a:noFill/>
          <a:ln w="144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3" name="Freeform 176"/>
          <p:cNvSpPr>
            <a:spLocks noChangeArrowheads="1"/>
          </p:cNvSpPr>
          <p:nvPr/>
        </p:nvSpPr>
        <p:spPr bwMode="auto">
          <a:xfrm>
            <a:off x="8337376" y="4485333"/>
            <a:ext cx="85809" cy="396000"/>
          </a:xfrm>
          <a:custGeom>
            <a:avLst/>
            <a:gdLst>
              <a:gd name="T0" fmla="*/ 2147483647 w 56"/>
              <a:gd name="T1" fmla="*/ 0 h 210"/>
              <a:gd name="T2" fmla="*/ 0 w 56"/>
              <a:gd name="T3" fmla="*/ 0 h 210"/>
              <a:gd name="T4" fmla="*/ 0 w 56"/>
              <a:gd name="T5" fmla="*/ 2147483647 h 210"/>
              <a:gd name="T6" fmla="*/ 2147483647 w 56"/>
              <a:gd name="T7" fmla="*/ 2147483647 h 210"/>
              <a:gd name="T8" fmla="*/ 0 60000 65536"/>
              <a:gd name="T9" fmla="*/ 0 60000 65536"/>
              <a:gd name="T10" fmla="*/ 0 60000 65536"/>
              <a:gd name="T11" fmla="*/ 0 60000 65536"/>
              <a:gd name="T12" fmla="*/ 0 w 56"/>
              <a:gd name="T13" fmla="*/ 0 h 210"/>
              <a:gd name="T14" fmla="*/ 56 w 56"/>
              <a:gd name="T15" fmla="*/ 210 h 2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" h="210">
                <a:moveTo>
                  <a:pt x="56" y="0"/>
                </a:moveTo>
                <a:lnTo>
                  <a:pt x="0" y="0"/>
                </a:lnTo>
                <a:lnTo>
                  <a:pt x="0" y="210"/>
                </a:lnTo>
                <a:lnTo>
                  <a:pt x="56" y="210"/>
                </a:lnTo>
              </a:path>
            </a:pathLst>
          </a:custGeom>
          <a:noFill/>
          <a:ln w="144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sng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74" name="Rectangle 179"/>
          <p:cNvSpPr>
            <a:spLocks noChangeArrowheads="1"/>
          </p:cNvSpPr>
          <p:nvPr/>
        </p:nvSpPr>
        <p:spPr bwMode="auto">
          <a:xfrm flipH="1">
            <a:off x="8543774" y="4437112"/>
            <a:ext cx="116175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총계정 원장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rgbClr val="197EC6"/>
                </a:solidFill>
                <a:effectLst/>
                <a:uLnTx/>
                <a:uFillTx/>
                <a:latin typeface="+mn-ea"/>
              </a:rPr>
              <a:t>합계잔액시산표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197EC6"/>
              </a:solidFill>
              <a:effectLst/>
              <a:uLnTx/>
              <a:uFillTx/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재정운영표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rgbClr val="197EC6"/>
                </a:solidFill>
                <a:effectLst/>
                <a:uLnTx/>
                <a:uFillTx/>
                <a:latin typeface="+mn-ea"/>
              </a:rPr>
              <a:t>재정상태표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197EC6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5" name="그룹 11"/>
          <p:cNvGrpSpPr/>
          <p:nvPr/>
        </p:nvGrpSpPr>
        <p:grpSpPr>
          <a:xfrm>
            <a:off x="1766813" y="2645902"/>
            <a:ext cx="756425" cy="410305"/>
            <a:chOff x="2180010" y="2776562"/>
            <a:chExt cx="756425" cy="410305"/>
          </a:xfrm>
        </p:grpSpPr>
        <p:sp>
          <p:nvSpPr>
            <p:cNvPr id="58" name="직사각형 57"/>
            <p:cNvSpPr/>
            <p:nvPr/>
          </p:nvSpPr>
          <p:spPr>
            <a:xfrm>
              <a:off x="2308492" y="278755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9" name="육각형 58"/>
            <p:cNvSpPr/>
            <p:nvPr/>
          </p:nvSpPr>
          <p:spPr bwMode="auto">
            <a:xfrm>
              <a:off x="2180010" y="277656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월결산 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91" name="직사각형 90"/>
          <p:cNvSpPr/>
          <p:nvPr/>
        </p:nvSpPr>
        <p:spPr bwMode="auto">
          <a:xfrm>
            <a:off x="3512498" y="56645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3. </a:t>
            </a:r>
            <a:r>
              <a:rPr lang="ko-KR" altLang="en-US" sz="900" kern="0" dirty="0">
                <a:solidFill>
                  <a:srgbClr val="197EC6"/>
                </a:solidFill>
              </a:rPr>
              <a:t>일반전표 승인 요청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91" idx="0"/>
            <a:endCxn id="84" idx="2"/>
          </p:cNvCxnSpPr>
          <p:nvPr/>
        </p:nvCxnSpPr>
        <p:spPr bwMode="auto">
          <a:xfrm flipV="1">
            <a:off x="3890711" y="5189931"/>
            <a:ext cx="1" cy="474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" name="Shape 266"/>
          <p:cNvCxnSpPr>
            <a:cxnSpLocks noChangeShapeType="1"/>
            <a:endCxn id="67" idx="1"/>
          </p:cNvCxnSpPr>
          <p:nvPr/>
        </p:nvCxnSpPr>
        <p:spPr bwMode="auto">
          <a:xfrm>
            <a:off x="6213481" y="4253257"/>
            <a:ext cx="165584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/>
          <p:cNvCxnSpPr>
            <a:cxnSpLocks noChangeShapeType="1"/>
            <a:stCxn id="67" idx="0"/>
            <a:endCxn id="69" idx="2"/>
          </p:cNvCxnSpPr>
          <p:nvPr/>
        </p:nvCxnSpPr>
        <p:spPr bwMode="auto">
          <a:xfrm flipV="1">
            <a:off x="8247537" y="3052956"/>
            <a:ext cx="170" cy="10399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36"/>
          <p:cNvGrpSpPr/>
          <p:nvPr/>
        </p:nvGrpSpPr>
        <p:grpSpPr>
          <a:xfrm>
            <a:off x="7869324" y="2648209"/>
            <a:ext cx="756425" cy="410305"/>
            <a:chOff x="7869324" y="3016584"/>
            <a:chExt cx="756425" cy="410305"/>
          </a:xfrm>
        </p:grpSpPr>
        <p:sp>
          <p:nvSpPr>
            <p:cNvPr id="69" name="직사각형 68"/>
            <p:cNvSpPr/>
            <p:nvPr/>
          </p:nvSpPr>
          <p:spPr>
            <a:xfrm>
              <a:off x="7997806" y="3027579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0" name="육각형 69"/>
            <p:cNvSpPr/>
            <p:nvPr/>
          </p:nvSpPr>
          <p:spPr bwMode="auto">
            <a:xfrm>
              <a:off x="7869324" y="3016584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월결산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14" name="직사각형 113"/>
          <p:cNvSpPr/>
          <p:nvPr/>
        </p:nvSpPr>
        <p:spPr bwMode="auto">
          <a:xfrm>
            <a:off x="1766814" y="40395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1. </a:t>
            </a:r>
            <a:r>
              <a:rPr lang="ko-KR" altLang="en-US" sz="900" kern="0" dirty="0">
                <a:solidFill>
                  <a:srgbClr val="197EC6"/>
                </a:solidFill>
              </a:rPr>
              <a:t>결산공지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119" name="Shape 266"/>
          <p:cNvCxnSpPr>
            <a:cxnSpLocks noChangeShapeType="1"/>
            <a:stCxn id="114" idx="2"/>
            <a:endCxn id="82" idx="0"/>
          </p:cNvCxnSpPr>
          <p:nvPr/>
        </p:nvCxnSpPr>
        <p:spPr bwMode="auto">
          <a:xfrm>
            <a:off x="2145027" y="4360359"/>
            <a:ext cx="0" cy="13041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" name="직사각형 33">
            <a:extLst>
              <a:ext uri="{FF2B5EF4-FFF2-40B4-BE49-F238E27FC236}">
                <a16:creationId xmlns="" xmlns:a16="http://schemas.microsoft.com/office/drawing/2014/main" id="{EC1592F0-92A2-4284-B403-C88AD4E66255}"/>
              </a:ext>
            </a:extLst>
          </p:cNvPr>
          <p:cNvSpPr/>
          <p:nvPr/>
        </p:nvSpPr>
        <p:spPr bwMode="auto">
          <a:xfrm>
            <a:off x="5457056" y="26369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5. </a:t>
            </a:r>
            <a:r>
              <a:rPr lang="ko-KR" altLang="en-US" sz="900" kern="0" dirty="0">
                <a:solidFill>
                  <a:srgbClr val="197EC6"/>
                </a:solidFill>
              </a:rPr>
              <a:t>결의서 마감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="" xmlns:a16="http://schemas.microsoft.com/office/drawing/2014/main" id="{08D6E9E6-C5F9-4220-876E-4CBD26F7D57A}"/>
              </a:ext>
            </a:extLst>
          </p:cNvPr>
          <p:cNvSpPr/>
          <p:nvPr/>
        </p:nvSpPr>
        <p:spPr bwMode="auto">
          <a:xfrm>
            <a:off x="5457056" y="31649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6. </a:t>
            </a:r>
            <a:r>
              <a:rPr lang="ko-KR" altLang="en-US" sz="900" kern="0" dirty="0">
                <a:solidFill>
                  <a:srgbClr val="197EC6"/>
                </a:solidFill>
              </a:rPr>
              <a:t>전표 마감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="" xmlns:a16="http://schemas.microsoft.com/office/drawing/2014/main" id="{A809334B-837A-4ED7-9FEF-A83D14A7D3A0}"/>
              </a:ext>
            </a:extLst>
          </p:cNvPr>
          <p:cNvSpPr/>
          <p:nvPr/>
        </p:nvSpPr>
        <p:spPr bwMode="auto">
          <a:xfrm>
            <a:off x="5457056" y="369303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7. </a:t>
            </a:r>
            <a:r>
              <a:rPr lang="ko-KR" altLang="en-US" sz="900" kern="0" dirty="0">
                <a:solidFill>
                  <a:srgbClr val="197EC6"/>
                </a:solidFill>
              </a:rPr>
              <a:t>부가세마감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37" name="Shape 266">
            <a:extLst>
              <a:ext uri="{FF2B5EF4-FFF2-40B4-BE49-F238E27FC236}">
                <a16:creationId xmlns="" xmlns:a16="http://schemas.microsoft.com/office/drawing/2014/main" id="{B67D7AA8-6975-4A86-A8C8-1BDDC72B1DB9}"/>
              </a:ext>
            </a:extLst>
          </p:cNvPr>
          <p:cNvCxnSpPr>
            <a:cxnSpLocks noChangeShapeType="1"/>
            <a:stCxn id="34" idx="2"/>
            <a:endCxn id="35" idx="0"/>
          </p:cNvCxnSpPr>
          <p:nvPr/>
        </p:nvCxnSpPr>
        <p:spPr bwMode="auto">
          <a:xfrm>
            <a:off x="5835269" y="2957683"/>
            <a:ext cx="0" cy="2072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>
            <a:extLst>
              <a:ext uri="{FF2B5EF4-FFF2-40B4-BE49-F238E27FC236}">
                <a16:creationId xmlns="" xmlns:a16="http://schemas.microsoft.com/office/drawing/2014/main" id="{3694071B-117F-4B07-B2EB-87ADD0F1DDD8}"/>
              </a:ext>
            </a:extLst>
          </p:cNvPr>
          <p:cNvCxnSpPr>
            <a:cxnSpLocks noChangeShapeType="1"/>
            <a:stCxn id="35" idx="2"/>
            <a:endCxn id="36" idx="0"/>
          </p:cNvCxnSpPr>
          <p:nvPr/>
        </p:nvCxnSpPr>
        <p:spPr bwMode="auto">
          <a:xfrm>
            <a:off x="5835269" y="3485742"/>
            <a:ext cx="0" cy="2072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>
            <a:extLst>
              <a:ext uri="{FF2B5EF4-FFF2-40B4-BE49-F238E27FC236}">
                <a16:creationId xmlns="" xmlns:a16="http://schemas.microsoft.com/office/drawing/2014/main" id="{62D81298-7200-4478-9751-3026EABCC175}"/>
              </a:ext>
            </a:extLst>
          </p:cNvPr>
          <p:cNvSpPr/>
          <p:nvPr/>
        </p:nvSpPr>
        <p:spPr bwMode="auto">
          <a:xfrm>
            <a:off x="5457056" y="42210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8. </a:t>
            </a:r>
            <a:r>
              <a:rPr lang="ko-KR" altLang="en-US" sz="900" kern="0" dirty="0">
                <a:solidFill>
                  <a:srgbClr val="197EC6"/>
                </a:solidFill>
              </a:rPr>
              <a:t>조정분개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40" name="Shape 266">
            <a:extLst>
              <a:ext uri="{FF2B5EF4-FFF2-40B4-BE49-F238E27FC236}">
                <a16:creationId xmlns="" xmlns:a16="http://schemas.microsoft.com/office/drawing/2014/main" id="{B68E51BE-495A-4DA9-8DAC-C78AA05182ED}"/>
              </a:ext>
            </a:extLst>
          </p:cNvPr>
          <p:cNvCxnSpPr>
            <a:cxnSpLocks noChangeShapeType="1"/>
            <a:endCxn id="39" idx="0"/>
          </p:cNvCxnSpPr>
          <p:nvPr/>
        </p:nvCxnSpPr>
        <p:spPr bwMode="auto">
          <a:xfrm>
            <a:off x="5835269" y="4039588"/>
            <a:ext cx="0" cy="1815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70">
            <a:extLst>
              <a:ext uri="{FF2B5EF4-FFF2-40B4-BE49-F238E27FC236}">
                <a16:creationId xmlns="" xmlns:a16="http://schemas.microsoft.com/office/drawing/2014/main" id="{319C5A3B-1456-4FBA-9AB0-5599123524BD}"/>
              </a:ext>
            </a:extLst>
          </p:cNvPr>
          <p:cNvGrpSpPr/>
          <p:nvPr/>
        </p:nvGrpSpPr>
        <p:grpSpPr>
          <a:xfrm flipH="1">
            <a:off x="6281404" y="3078797"/>
            <a:ext cx="354166" cy="282225"/>
            <a:chOff x="3031001" y="4549936"/>
            <a:chExt cx="371673" cy="282225"/>
          </a:xfrm>
        </p:grpSpPr>
        <p:sp>
          <p:nvSpPr>
            <p:cNvPr id="42" name="Line 175">
              <a:extLst>
                <a:ext uri="{FF2B5EF4-FFF2-40B4-BE49-F238E27FC236}">
                  <a16:creationId xmlns="" xmlns:a16="http://schemas.microsoft.com/office/drawing/2014/main" id="{5E982D18-5EB9-42CB-B9E3-593069864F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7" y="4644664"/>
              <a:ext cx="281617" cy="128217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Freeform 176">
              <a:extLst>
                <a:ext uri="{FF2B5EF4-FFF2-40B4-BE49-F238E27FC236}">
                  <a16:creationId xmlns="" xmlns:a16="http://schemas.microsoft.com/office/drawing/2014/main" id="{1C2EFDE5-707B-4274-9680-6EA8916242F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5" name="Rectangle 179">
            <a:extLst>
              <a:ext uri="{FF2B5EF4-FFF2-40B4-BE49-F238E27FC236}">
                <a16:creationId xmlns="" xmlns:a16="http://schemas.microsoft.com/office/drawing/2014/main" id="{451E4DA6-A71C-4D72-A408-BBA75AA17C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93719" y="4643103"/>
            <a:ext cx="116175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퇴직급여충당금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감가상각비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융자보조원가충당금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법정기금전입금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rgbClr val="197EC6"/>
                </a:solidFill>
                <a:effectLst/>
                <a:uLnTx/>
                <a:uFillTx/>
                <a:latin typeface="+mn-ea"/>
              </a:rPr>
              <a:t>내부거래</a:t>
            </a: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rgbClr val="197EC6"/>
                </a:solidFill>
                <a:effectLst/>
                <a:uLnTx/>
                <a:uFillTx/>
                <a:latin typeface="+mn-ea"/>
              </a:rPr>
              <a:t>(</a:t>
            </a: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rgbClr val="197EC6"/>
                </a:solidFill>
                <a:effectLst/>
                <a:uLnTx/>
                <a:uFillTx/>
                <a:latin typeface="+mn-ea"/>
              </a:rPr>
              <a:t>전출입등</a:t>
            </a: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rgbClr val="197EC6"/>
                </a:solidFill>
                <a:effectLst/>
                <a:uLnTx/>
                <a:uFillTx/>
                <a:latin typeface="+mn-ea"/>
              </a:rPr>
              <a:t>)</a:t>
            </a:r>
          </a:p>
        </p:txBody>
      </p:sp>
      <p:sp>
        <p:nvSpPr>
          <p:cNvPr id="47" name="Line 175">
            <a:extLst>
              <a:ext uri="{FF2B5EF4-FFF2-40B4-BE49-F238E27FC236}">
                <a16:creationId xmlns="" xmlns:a16="http://schemas.microsoft.com/office/drawing/2014/main" id="{E05B06A9-33DF-4075-80A0-A70D1CB709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7426" y="4541859"/>
            <a:ext cx="144004" cy="206005"/>
          </a:xfrm>
          <a:prstGeom prst="line">
            <a:avLst/>
          </a:prstGeom>
          <a:noFill/>
          <a:ln w="144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8" name="Freeform 176">
            <a:extLst>
              <a:ext uri="{FF2B5EF4-FFF2-40B4-BE49-F238E27FC236}">
                <a16:creationId xmlns="" xmlns:a16="http://schemas.microsoft.com/office/drawing/2014/main" id="{2D157C07-33C8-4009-8C50-883F3A8B7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1435" y="4653135"/>
            <a:ext cx="85809" cy="576000"/>
          </a:xfrm>
          <a:custGeom>
            <a:avLst/>
            <a:gdLst>
              <a:gd name="T0" fmla="*/ 2147483647 w 56"/>
              <a:gd name="T1" fmla="*/ 0 h 210"/>
              <a:gd name="T2" fmla="*/ 0 w 56"/>
              <a:gd name="T3" fmla="*/ 0 h 210"/>
              <a:gd name="T4" fmla="*/ 0 w 56"/>
              <a:gd name="T5" fmla="*/ 2147483647 h 210"/>
              <a:gd name="T6" fmla="*/ 2147483647 w 56"/>
              <a:gd name="T7" fmla="*/ 2147483647 h 210"/>
              <a:gd name="T8" fmla="*/ 0 60000 65536"/>
              <a:gd name="T9" fmla="*/ 0 60000 65536"/>
              <a:gd name="T10" fmla="*/ 0 60000 65536"/>
              <a:gd name="T11" fmla="*/ 0 60000 65536"/>
              <a:gd name="T12" fmla="*/ 0 w 56"/>
              <a:gd name="T13" fmla="*/ 0 h 210"/>
              <a:gd name="T14" fmla="*/ 56 w 56"/>
              <a:gd name="T15" fmla="*/ 210 h 2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" h="210">
                <a:moveTo>
                  <a:pt x="56" y="0"/>
                </a:moveTo>
                <a:lnTo>
                  <a:pt x="0" y="0"/>
                </a:lnTo>
                <a:lnTo>
                  <a:pt x="0" y="210"/>
                </a:lnTo>
                <a:lnTo>
                  <a:pt x="56" y="210"/>
                </a:lnTo>
              </a:path>
            </a:pathLst>
          </a:custGeom>
          <a:noFill/>
          <a:ln w="144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1" i="0" u="sng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9" name="Rectangle 179">
            <a:extLst>
              <a:ext uri="{FF2B5EF4-FFF2-40B4-BE49-F238E27FC236}">
                <a16:creationId xmlns="" xmlns:a16="http://schemas.microsoft.com/office/drawing/2014/main" id="{0D930DF1-C54B-40F4-9D7F-F88537C8C55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07569" y="3015968"/>
            <a:ext cx="76638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미지급금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예수금</a:t>
            </a:r>
            <a:endParaRPr kumimoji="1" lang="en-US" altLang="ko-KR" sz="800" kern="0" dirty="0">
              <a:solidFill>
                <a:srgbClr val="197EC6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197EC6"/>
                </a:solidFill>
                <a:latin typeface="+mn-ea"/>
              </a:rPr>
              <a:t>미수금 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197EC6"/>
              </a:solidFill>
              <a:effectLst/>
              <a:uLnTx/>
              <a:uFillTx/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885185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기금회계의 월 결산 </a:t>
            </a:r>
            <a:r>
              <a:rPr lang="ko-KR" altLang="en-US" dirty="0">
                <a:latin typeface="+mn-ea"/>
              </a:rPr>
              <a:t>업무는 일반전표처리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일반전표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일반전표 승인 등</a:t>
            </a:r>
            <a:r>
              <a:rPr lang="en-US" altLang="ko-KR" dirty="0">
                <a:latin typeface="+mn-ea"/>
              </a:rPr>
              <a:t>), </a:t>
            </a:r>
            <a:r>
              <a:rPr lang="ko-KR" altLang="en-US" dirty="0">
                <a:latin typeface="+mn-ea"/>
              </a:rPr>
              <a:t>마감처리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결의서 마감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전표 마감 등</a:t>
            </a:r>
            <a:r>
              <a:rPr lang="en-US" altLang="ko-KR" dirty="0">
                <a:latin typeface="+mn-ea"/>
              </a:rPr>
              <a:t>), </a:t>
            </a:r>
            <a:r>
              <a:rPr lang="ko-KR" altLang="en-US" dirty="0">
                <a:latin typeface="+mn-ea"/>
              </a:rPr>
              <a:t>결산서조회 업무로 구성하여 신설함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3.2.2.10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월결산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</a:rPr>
              <a:t>기금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432792"/>
              </p:ext>
            </p:extLst>
          </p:nvPr>
        </p:nvGraphicFramePr>
        <p:xfrm>
          <a:off x="344489" y="1584356"/>
          <a:ext cx="9181019" cy="3857664"/>
        </p:xfrm>
        <a:graphic>
          <a:graphicData uri="http://schemas.openxmlformats.org/drawingml/2006/table">
            <a:tbl>
              <a:tblPr firstRow="1" bandRow="1"/>
              <a:tblGrid>
                <a:gridCol w="3834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511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09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총괄 책임자는 월 결산에 대한 지침을 관련 담당부서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담당자에게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회계담당자는 계정마감을 위한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일반전표를 처리하여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각 부서의 회계담당자는 계정마감을 위한 </a:t>
                      </a:r>
                      <a:r>
                        <a:rPr lang="ko-KR" altLang="en-US" sz="10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일반전표를 처리하여 등록한 후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승인 요청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회계업무 승인권자는 등록 처리한 일반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전표를 검토하여 승인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결의서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결의서를 마감 처리하여 추가적인 결의서의 진행은 익월에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전표마감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결의에 따른 전표를 마감 처리하여 추가적인 전표의 진행은 익월에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매출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매입 세금계산서와 계산서를 마감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조정분개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결산에 필요한 퇴직급여충당부채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감가상각비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내부거래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전출입등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등 조정분개를 전표처리하여 결산에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조정분개정보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결산서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계정의 마감이 완료되면 총계정원장이 마감되며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이후 합계잔액시산표를 조회하여 결산일까지의 수익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부채의 변동내용을 확인하고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재정운영표와 재정상태표를 조회하여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8992197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1320483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법인회계의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sz="1600" dirty="0">
                <a:latin typeface="+mn-ea"/>
                <a:ea typeface="+mn-ea"/>
              </a:rPr>
              <a:t>업무는 일반전표처리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마감처리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결산처리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결산보고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잔액이월 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법인회계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3177054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연결산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법인회계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3748751"/>
              </p:ext>
            </p:extLst>
          </p:nvPr>
        </p:nvGraphicFramePr>
        <p:xfrm>
          <a:off x="344488" y="1916832"/>
          <a:ext cx="9181020" cy="4284476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44016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442849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1.4.3.1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일반전표처리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1.4.3.2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1.4.3.3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결산처리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5950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결산담당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48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3" name="직사각형 32"/>
          <p:cNvSpPr/>
          <p:nvPr/>
        </p:nvSpPr>
        <p:spPr bwMode="auto">
          <a:xfrm>
            <a:off x="1568625" y="56645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684749" y="48691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5" name="Shape 266"/>
          <p:cNvCxnSpPr>
            <a:cxnSpLocks noChangeShapeType="1"/>
            <a:stCxn id="49" idx="2"/>
            <a:endCxn id="62" idx="0"/>
          </p:cNvCxnSpPr>
          <p:nvPr/>
        </p:nvCxnSpPr>
        <p:spPr bwMode="auto">
          <a:xfrm flipH="1">
            <a:off x="1946838" y="3050649"/>
            <a:ext cx="169" cy="9889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hape 266"/>
          <p:cNvCxnSpPr>
            <a:cxnSpLocks noChangeShapeType="1"/>
            <a:stCxn id="33" idx="3"/>
            <a:endCxn id="51" idx="1"/>
          </p:cNvCxnSpPr>
          <p:nvPr/>
        </p:nvCxnSpPr>
        <p:spPr bwMode="auto">
          <a:xfrm>
            <a:off x="2325050" y="5824898"/>
            <a:ext cx="359698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/>
          <p:cNvCxnSpPr>
            <a:cxnSpLocks noChangeShapeType="1"/>
            <a:stCxn id="34" idx="0"/>
            <a:endCxn id="39" idx="1"/>
          </p:cNvCxnSpPr>
          <p:nvPr/>
        </p:nvCxnSpPr>
        <p:spPr bwMode="auto">
          <a:xfrm rot="5400000" flipH="1" flipV="1">
            <a:off x="2522000" y="3338260"/>
            <a:ext cx="2071862" cy="98993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4052900" y="26369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결의서 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0" name="직사각형 39"/>
          <p:cNvSpPr/>
          <p:nvPr/>
        </p:nvSpPr>
        <p:spPr bwMode="auto">
          <a:xfrm>
            <a:off x="4052900" y="33569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전표 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4052900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부가세마감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6681192" y="4005064"/>
            <a:ext cx="864000" cy="50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손익계산서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재무상태표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5" name="그룹 42"/>
          <p:cNvGrpSpPr/>
          <p:nvPr/>
        </p:nvGrpSpPr>
        <p:grpSpPr>
          <a:xfrm flipH="1">
            <a:off x="6131849" y="2797226"/>
            <a:ext cx="307440" cy="471200"/>
            <a:chOff x="3031001" y="4475605"/>
            <a:chExt cx="322637" cy="471200"/>
          </a:xfrm>
        </p:grpSpPr>
        <p:sp>
          <p:nvSpPr>
            <p:cNvPr id="45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396869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7" name="Rectangle 179"/>
          <p:cNvSpPr>
            <a:spLocks noChangeArrowheads="1"/>
          </p:cNvSpPr>
          <p:nvPr/>
        </p:nvSpPr>
        <p:spPr bwMode="auto">
          <a:xfrm flipH="1">
            <a:off x="6484190" y="2797498"/>
            <a:ext cx="116175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퇴직급여충당금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감가상각비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내부거래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법인세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외부감사 수정 사항 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" name="그룹 47"/>
          <p:cNvGrpSpPr/>
          <p:nvPr/>
        </p:nvGrpSpPr>
        <p:grpSpPr>
          <a:xfrm>
            <a:off x="1568624" y="2645902"/>
            <a:ext cx="756425" cy="410305"/>
            <a:chOff x="2180010" y="2776562"/>
            <a:chExt cx="756425" cy="410305"/>
          </a:xfrm>
        </p:grpSpPr>
        <p:sp>
          <p:nvSpPr>
            <p:cNvPr id="49" name="직사각형 48"/>
            <p:cNvSpPr/>
            <p:nvPr/>
          </p:nvSpPr>
          <p:spPr>
            <a:xfrm>
              <a:off x="2308492" y="278755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0" name="육각형 49"/>
            <p:cNvSpPr/>
            <p:nvPr/>
          </p:nvSpPr>
          <p:spPr bwMode="auto">
            <a:xfrm>
              <a:off x="2180010" y="277656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연결산 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1" name="직사각형 50"/>
          <p:cNvSpPr/>
          <p:nvPr/>
        </p:nvSpPr>
        <p:spPr bwMode="auto">
          <a:xfrm>
            <a:off x="2684748" y="56645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2" name="Shape 266"/>
          <p:cNvCxnSpPr>
            <a:cxnSpLocks noChangeShapeType="1"/>
            <a:stCxn id="51" idx="0"/>
            <a:endCxn id="34" idx="2"/>
          </p:cNvCxnSpPr>
          <p:nvPr/>
        </p:nvCxnSpPr>
        <p:spPr bwMode="auto">
          <a:xfrm flipV="1">
            <a:off x="3062961" y="5189931"/>
            <a:ext cx="1" cy="474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" name="Shape 266"/>
          <p:cNvCxnSpPr>
            <a:cxnSpLocks noChangeShapeType="1"/>
            <a:stCxn id="39" idx="2"/>
            <a:endCxn id="40" idx="0"/>
          </p:cNvCxnSpPr>
          <p:nvPr/>
        </p:nvCxnSpPr>
        <p:spPr bwMode="auto">
          <a:xfrm>
            <a:off x="4431113" y="2957683"/>
            <a:ext cx="0" cy="3993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4" name="Shape 266"/>
          <p:cNvCxnSpPr>
            <a:cxnSpLocks noChangeShapeType="1"/>
            <a:stCxn id="40" idx="2"/>
            <a:endCxn id="41" idx="0"/>
          </p:cNvCxnSpPr>
          <p:nvPr/>
        </p:nvCxnSpPr>
        <p:spPr bwMode="auto">
          <a:xfrm>
            <a:off x="4431113" y="3677763"/>
            <a:ext cx="0" cy="4151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Shape 266"/>
          <p:cNvCxnSpPr>
            <a:cxnSpLocks noChangeShapeType="1"/>
            <a:stCxn id="41" idx="3"/>
            <a:endCxn id="44" idx="1"/>
          </p:cNvCxnSpPr>
          <p:nvPr/>
        </p:nvCxnSpPr>
        <p:spPr bwMode="auto">
          <a:xfrm flipV="1">
            <a:off x="4809325" y="2793590"/>
            <a:ext cx="591337" cy="145966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직사각형 61"/>
          <p:cNvSpPr/>
          <p:nvPr/>
        </p:nvSpPr>
        <p:spPr bwMode="auto">
          <a:xfrm>
            <a:off x="1568625" y="40395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결산공지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4" name="Shape 266"/>
          <p:cNvCxnSpPr>
            <a:cxnSpLocks noChangeShapeType="1"/>
            <a:stCxn id="62" idx="2"/>
            <a:endCxn id="33" idx="0"/>
          </p:cNvCxnSpPr>
          <p:nvPr/>
        </p:nvCxnSpPr>
        <p:spPr bwMode="auto">
          <a:xfrm>
            <a:off x="1946838" y="4360359"/>
            <a:ext cx="0" cy="13041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4" name="직사각형 43"/>
          <p:cNvSpPr/>
          <p:nvPr/>
        </p:nvSpPr>
        <p:spPr bwMode="auto">
          <a:xfrm>
            <a:off x="5400662" y="263320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조정분개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5400662" y="33569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손익대체 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5400662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합계잔액 시산표 조회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7" name="그룹 62"/>
          <p:cNvGrpSpPr/>
          <p:nvPr/>
        </p:nvGrpSpPr>
        <p:grpSpPr>
          <a:xfrm flipH="1">
            <a:off x="5727364" y="4413642"/>
            <a:ext cx="307440" cy="371542"/>
            <a:chOff x="3031001" y="4475605"/>
            <a:chExt cx="322637" cy="371542"/>
          </a:xfrm>
        </p:grpSpPr>
        <p:sp>
          <p:nvSpPr>
            <p:cNvPr id="65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176"/>
            <p:cNvSpPr>
              <a:spLocks noChangeArrowheads="1"/>
            </p:cNvSpPr>
            <p:nvPr/>
          </p:nvSpPr>
          <p:spPr bwMode="auto">
            <a:xfrm flipH="1">
              <a:off x="3031001" y="4549937"/>
              <a:ext cx="90051" cy="29721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7" name="Rectangle 179"/>
          <p:cNvSpPr>
            <a:spLocks noChangeArrowheads="1"/>
          </p:cNvSpPr>
          <p:nvPr/>
        </p:nvSpPr>
        <p:spPr bwMode="auto">
          <a:xfrm flipH="1">
            <a:off x="6015053" y="4515510"/>
            <a:ext cx="11617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차대검증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추가 수정사항 확인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8013340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</a:rPr>
              <a:t>부속 명세서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9093460" y="415913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70" name="Shape 266"/>
          <p:cNvCxnSpPr>
            <a:cxnSpLocks noChangeShapeType="1"/>
            <a:stCxn id="44" idx="2"/>
            <a:endCxn id="58" idx="0"/>
          </p:cNvCxnSpPr>
          <p:nvPr/>
        </p:nvCxnSpPr>
        <p:spPr bwMode="auto">
          <a:xfrm>
            <a:off x="5778875" y="2953975"/>
            <a:ext cx="0" cy="40301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" name="Shape 266"/>
          <p:cNvCxnSpPr>
            <a:cxnSpLocks noChangeShapeType="1"/>
            <a:stCxn id="58" idx="2"/>
            <a:endCxn id="59" idx="0"/>
          </p:cNvCxnSpPr>
          <p:nvPr/>
        </p:nvCxnSpPr>
        <p:spPr bwMode="auto">
          <a:xfrm>
            <a:off x="5778875" y="3677762"/>
            <a:ext cx="0" cy="4151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" name="Shape 266"/>
          <p:cNvCxnSpPr>
            <a:cxnSpLocks noChangeShapeType="1"/>
            <a:stCxn id="59" idx="3"/>
            <a:endCxn id="42" idx="1"/>
          </p:cNvCxnSpPr>
          <p:nvPr/>
        </p:nvCxnSpPr>
        <p:spPr bwMode="auto">
          <a:xfrm>
            <a:off x="6157087" y="4253257"/>
            <a:ext cx="524105" cy="380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42" idx="3"/>
            <a:endCxn id="68" idx="1"/>
          </p:cNvCxnSpPr>
          <p:nvPr/>
        </p:nvCxnSpPr>
        <p:spPr bwMode="auto">
          <a:xfrm flipV="1">
            <a:off x="7545192" y="4253257"/>
            <a:ext cx="468148" cy="380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/>
          <p:cNvCxnSpPr>
            <a:cxnSpLocks noChangeShapeType="1"/>
            <a:stCxn id="68" idx="3"/>
            <a:endCxn id="69" idx="2"/>
          </p:cNvCxnSpPr>
          <p:nvPr/>
        </p:nvCxnSpPr>
        <p:spPr bwMode="auto">
          <a:xfrm flipV="1">
            <a:off x="8769765" y="4252012"/>
            <a:ext cx="323695" cy="12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78529853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법인회계의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dirty="0">
                <a:latin typeface="+mn-ea"/>
                <a:ea typeface="+mn-ea"/>
              </a:rPr>
              <a:t>업무는 일반전표처리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마감처리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결산보고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잔액이월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법인회계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9622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연결산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법인회계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8319955"/>
              </p:ext>
            </p:extLst>
          </p:nvPr>
        </p:nvGraphicFramePr>
        <p:xfrm>
          <a:off x="344488" y="1916832"/>
          <a:ext cx="9181020" cy="4284477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8164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42849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1.4.3.4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결산보고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1.4.3.5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잔액이월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302559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문화체육관광부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02559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부서장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3025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결산담당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3" name="직사각형 32"/>
          <p:cNvSpPr/>
          <p:nvPr/>
        </p:nvSpPr>
        <p:spPr bwMode="auto">
          <a:xfrm>
            <a:off x="1568625" y="54092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</a:rPr>
              <a:t>결산 보고서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813375" y="411634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15.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보고서 승인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35" name="Shape 266"/>
          <p:cNvCxnSpPr>
            <a:cxnSpLocks noChangeShapeType="1"/>
            <a:stCxn id="69" idx="4"/>
            <a:endCxn id="33" idx="0"/>
          </p:cNvCxnSpPr>
          <p:nvPr/>
        </p:nvCxnSpPr>
        <p:spPr bwMode="auto">
          <a:xfrm>
            <a:off x="1946837" y="4462486"/>
            <a:ext cx="1" cy="94673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hape 266"/>
          <p:cNvCxnSpPr>
            <a:cxnSpLocks noChangeShapeType="1"/>
            <a:stCxn id="33" idx="3"/>
            <a:endCxn id="51" idx="1"/>
          </p:cNvCxnSpPr>
          <p:nvPr/>
        </p:nvCxnSpPr>
        <p:spPr bwMode="auto">
          <a:xfrm>
            <a:off x="2325050" y="5569607"/>
            <a:ext cx="488324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/>
          <p:cNvCxnSpPr>
            <a:cxnSpLocks noChangeShapeType="1"/>
            <a:stCxn id="34" idx="3"/>
            <a:endCxn id="74" idx="1"/>
          </p:cNvCxnSpPr>
          <p:nvPr/>
        </p:nvCxnSpPr>
        <p:spPr bwMode="auto">
          <a:xfrm>
            <a:off x="3569800" y="4276727"/>
            <a:ext cx="483099" cy="129287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4052900" y="26369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</a:rPr>
              <a:t>결산보고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2813374" y="5409222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prstClr val="black"/>
                </a:solidFill>
                <a:latin typeface="+mn-ea"/>
              </a:rPr>
              <a:t>14. </a:t>
            </a:r>
            <a:r>
              <a:rPr kumimoji="1" lang="ko-KR" altLang="en-US" sz="900" kern="0" dirty="0">
                <a:solidFill>
                  <a:prstClr val="black"/>
                </a:solidFill>
                <a:latin typeface="+mn-ea"/>
              </a:rPr>
              <a:t>보고서 승인 요청</a:t>
            </a:r>
            <a:endParaRPr kumimoji="1"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52" name="Shape 266"/>
          <p:cNvCxnSpPr>
            <a:cxnSpLocks noChangeShapeType="1"/>
            <a:stCxn id="51" idx="0"/>
            <a:endCxn id="34" idx="2"/>
          </p:cNvCxnSpPr>
          <p:nvPr/>
        </p:nvCxnSpPr>
        <p:spPr bwMode="auto">
          <a:xfrm flipV="1">
            <a:off x="3191587" y="4437112"/>
            <a:ext cx="1" cy="9721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hape 266"/>
          <p:cNvCxnSpPr>
            <a:cxnSpLocks noChangeShapeType="1"/>
            <a:stCxn id="78" idx="3"/>
            <a:endCxn id="61" idx="3"/>
          </p:cNvCxnSpPr>
          <p:nvPr/>
        </p:nvCxnSpPr>
        <p:spPr bwMode="auto">
          <a:xfrm flipV="1">
            <a:off x="8265709" y="5569605"/>
            <a:ext cx="287691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56"/>
          <p:cNvGrpSpPr/>
          <p:nvPr/>
        </p:nvGrpSpPr>
        <p:grpSpPr>
          <a:xfrm>
            <a:off x="8553400" y="5364452"/>
            <a:ext cx="756425" cy="410305"/>
            <a:chOff x="7869324" y="3016584"/>
            <a:chExt cx="756425" cy="410305"/>
          </a:xfrm>
        </p:grpSpPr>
        <p:sp>
          <p:nvSpPr>
            <p:cNvPr id="60" name="직사각형 59"/>
            <p:cNvSpPr/>
            <p:nvPr/>
          </p:nvSpPr>
          <p:spPr>
            <a:xfrm>
              <a:off x="7997806" y="3027579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1" name="육각형 60"/>
            <p:cNvSpPr/>
            <p:nvPr/>
          </p:nvSpPr>
          <p:spPr bwMode="auto">
            <a:xfrm>
              <a:off x="7869324" y="3016584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연결산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69" name="타원 68"/>
          <p:cNvSpPr/>
          <p:nvPr/>
        </p:nvSpPr>
        <p:spPr>
          <a:xfrm>
            <a:off x="1845680" y="427672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4052899" y="54092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</a:rPr>
              <a:t>결산보고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5" name="Shape 266"/>
          <p:cNvCxnSpPr>
            <a:cxnSpLocks noChangeShapeType="1"/>
            <a:stCxn id="74" idx="0"/>
            <a:endCxn id="39" idx="2"/>
          </p:cNvCxnSpPr>
          <p:nvPr/>
        </p:nvCxnSpPr>
        <p:spPr bwMode="auto">
          <a:xfrm flipV="1">
            <a:off x="4431112" y="2957683"/>
            <a:ext cx="1" cy="24515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직사각형 75"/>
          <p:cNvSpPr/>
          <p:nvPr/>
        </p:nvSpPr>
        <p:spPr bwMode="auto">
          <a:xfrm>
            <a:off x="5391422" y="54092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</a:rPr>
              <a:t>잔액이월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6466685" y="54092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</a:rPr>
              <a:t>이월 합계시산표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7509284" y="54092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</a:rPr>
              <a:t>이월 보조잔액명세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9" name="Shape 266"/>
          <p:cNvCxnSpPr>
            <a:cxnSpLocks noChangeShapeType="1"/>
            <a:stCxn id="76" idx="3"/>
            <a:endCxn id="77" idx="1"/>
          </p:cNvCxnSpPr>
          <p:nvPr/>
        </p:nvCxnSpPr>
        <p:spPr bwMode="auto">
          <a:xfrm>
            <a:off x="6147847" y="5569606"/>
            <a:ext cx="31883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" name="Shape 266"/>
          <p:cNvCxnSpPr>
            <a:cxnSpLocks noChangeShapeType="1"/>
            <a:stCxn id="77" idx="3"/>
            <a:endCxn id="78" idx="1"/>
          </p:cNvCxnSpPr>
          <p:nvPr/>
        </p:nvCxnSpPr>
        <p:spPr bwMode="auto">
          <a:xfrm>
            <a:off x="7223110" y="5569606"/>
            <a:ext cx="28617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39" idx="3"/>
            <a:endCxn id="76" idx="1"/>
          </p:cNvCxnSpPr>
          <p:nvPr/>
        </p:nvCxnSpPr>
        <p:spPr bwMode="auto">
          <a:xfrm>
            <a:off x="4809325" y="2797298"/>
            <a:ext cx="582097" cy="277230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83482489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법인회계의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dirty="0">
                <a:latin typeface="+mn-ea"/>
                <a:ea typeface="+mn-ea"/>
              </a:rPr>
              <a:t>업무는 일반전표처리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마감처리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결산보고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잔액이월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법인회계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3475055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7460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339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09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총괄 책임자는 연 결산에 대한 지침을 관련 담당부서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담당자에게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회계담당자는 계정마감을 위한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일반전표를 처리하여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각 부서의 회계담당자는 계정마감을 위한 </a:t>
                      </a:r>
                      <a:r>
                        <a:rPr lang="ko-KR" altLang="en-US" sz="10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일반전표를 처리하여 등록한 후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승인 요청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회계업무 승인권자는 등록 처리한 일반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전표를 검토하여 승인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결의서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결의서를 마감 처리하여 추가적인 결의서의 진행을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전표마감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결의에 따른 전표를 마감 처리하여 추가적인 전표의 진행을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매출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매입 세금계산서와 계산서를 마감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조정분개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결산에 필요한 퇴직급여충당부채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법인세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외부감사 수정 사항 등 조정분개를 전표처리하여 결산에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조정분개정보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손익대체처리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집계된 수익과 비용을 손익대체 처리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손익대체정보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합계잔액시산표 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계정의 마감이 완료되면 총계정원장이 마감되며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이후 합계잔액시산표를 조회하여 결산일까지의 수익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부채의 변동내용을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합계잔액시산표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166005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법인회계의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dirty="0">
                <a:latin typeface="+mn-ea"/>
                <a:ea typeface="+mn-ea"/>
              </a:rPr>
              <a:t>업무는 일반전표처리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마감처리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결산보고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잔액이월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법인회계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3626870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7460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339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09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손익계산서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재무상태표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재무제표인 손익계산서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재무상태표를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조회하여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손익계산서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재무상태표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부속명세서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재무제표에 첨부된 각 계정별 명세서를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결산보고서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재무제표와 부속 명세서를 취합하여 결산보고서를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결산보고서에 대한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회계단위별 총괄 책임자는 요청된 결산보고서에 대해 검토하여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문화체육관광부에 결산보고서를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결산보고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문화체육관광부장은 보고된 결산보고서를 검토하여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잔액이월처리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당행연도 결산이 완료된 후 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자본의 제계정의 잔액을 차년도 기초금액으로 이월처리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이월잔액정보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이월 합계시산표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합계시산표를 조회하여 생성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이월잔액정보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이월 보조잔액명세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이월된 잔액명세의 계정별원장을 조회하여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이월잔액정보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635193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기금회계의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sz="1600" dirty="0">
                <a:latin typeface="+mn-ea"/>
                <a:ea typeface="+mn-ea"/>
              </a:rPr>
              <a:t>업무는 일반전표처리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마감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결산처리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결산보고</a:t>
            </a:r>
            <a:r>
              <a:rPr lang="en-US" altLang="ko-KR" sz="1600" dirty="0">
                <a:latin typeface="+mn-ea"/>
                <a:ea typeface="+mn-ea"/>
              </a:rPr>
              <a:t>, dBrain </a:t>
            </a:r>
            <a:r>
              <a:rPr lang="ko-KR" altLang="en-US" sz="1600" dirty="0">
                <a:latin typeface="+mn-ea"/>
                <a:ea typeface="+mn-ea"/>
              </a:rPr>
              <a:t>전송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잔액이월 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223839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연결산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기금회계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5889493"/>
              </p:ext>
            </p:extLst>
          </p:nvPr>
        </p:nvGraphicFramePr>
        <p:xfrm>
          <a:off x="344488" y="1916832"/>
          <a:ext cx="9181020" cy="4284476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44016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442849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1.4.4.1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일반전표처리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1.4.4.2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1.4.4.3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결산처리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5950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결산담당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48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3" name="직사각형 32"/>
          <p:cNvSpPr/>
          <p:nvPr/>
        </p:nvSpPr>
        <p:spPr bwMode="auto">
          <a:xfrm>
            <a:off x="1568625" y="56645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684749" y="48691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5" name="Shape 266"/>
          <p:cNvCxnSpPr>
            <a:cxnSpLocks noChangeShapeType="1"/>
            <a:stCxn id="49" idx="2"/>
            <a:endCxn id="62" idx="0"/>
          </p:cNvCxnSpPr>
          <p:nvPr/>
        </p:nvCxnSpPr>
        <p:spPr bwMode="auto">
          <a:xfrm flipH="1">
            <a:off x="1946838" y="3050649"/>
            <a:ext cx="169" cy="9889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hape 266"/>
          <p:cNvCxnSpPr>
            <a:cxnSpLocks noChangeShapeType="1"/>
            <a:stCxn id="33" idx="3"/>
            <a:endCxn id="51" idx="1"/>
          </p:cNvCxnSpPr>
          <p:nvPr/>
        </p:nvCxnSpPr>
        <p:spPr bwMode="auto">
          <a:xfrm>
            <a:off x="2325050" y="5824898"/>
            <a:ext cx="359698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/>
          <p:cNvCxnSpPr>
            <a:cxnSpLocks noChangeShapeType="1"/>
            <a:stCxn id="34" idx="0"/>
            <a:endCxn id="39" idx="1"/>
          </p:cNvCxnSpPr>
          <p:nvPr/>
        </p:nvCxnSpPr>
        <p:spPr bwMode="auto">
          <a:xfrm rot="5400000" flipH="1" flipV="1">
            <a:off x="2522000" y="3338260"/>
            <a:ext cx="2071862" cy="98993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4052900" y="26369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결의서 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0" name="직사각형 39"/>
          <p:cNvSpPr/>
          <p:nvPr/>
        </p:nvSpPr>
        <p:spPr bwMode="auto">
          <a:xfrm>
            <a:off x="4052900" y="33569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전표 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4052900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부가세마감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6709761" y="4005064"/>
            <a:ext cx="864000" cy="50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</a:rPr>
              <a:t>재정운영표</a:t>
            </a:r>
            <a:r>
              <a:rPr lang="en-US" altLang="ko-KR" sz="900" kern="0" dirty="0">
                <a:solidFill>
                  <a:prstClr val="black"/>
                </a:solidFill>
              </a:rPr>
              <a:t>, </a:t>
            </a:r>
            <a:r>
              <a:rPr lang="ko-KR" altLang="en-US" sz="900" kern="0" dirty="0">
                <a:solidFill>
                  <a:prstClr val="black"/>
                </a:solidFill>
              </a:rPr>
              <a:t>재정상태표</a:t>
            </a:r>
            <a:r>
              <a:rPr lang="en-US" altLang="ko-KR" sz="900" kern="0" dirty="0">
                <a:solidFill>
                  <a:prstClr val="black"/>
                </a:solidFill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</a:rPr>
              <a:t>조회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42"/>
          <p:cNvGrpSpPr/>
          <p:nvPr/>
        </p:nvGrpSpPr>
        <p:grpSpPr>
          <a:xfrm flipH="1">
            <a:off x="6131849" y="2797226"/>
            <a:ext cx="307440" cy="594311"/>
            <a:chOff x="3031001" y="4475605"/>
            <a:chExt cx="322637" cy="594311"/>
          </a:xfrm>
        </p:grpSpPr>
        <p:sp>
          <p:nvSpPr>
            <p:cNvPr id="45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51998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7" name="Rectangle 179"/>
          <p:cNvSpPr>
            <a:spLocks noChangeArrowheads="1"/>
          </p:cNvSpPr>
          <p:nvPr/>
        </p:nvSpPr>
        <p:spPr bwMode="auto">
          <a:xfrm flipH="1">
            <a:off x="6525083" y="2465020"/>
            <a:ext cx="2350226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자산재평가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대손처리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회계 간 미수금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/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미지급금 거래 제거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퇴직급여충당금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감가상각비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(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유형자산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,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무형자산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,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골프장 포함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)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융자보조원가충당금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법정기금전입금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회계기준 차이 조정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(K-IFRS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에서 국가회계로 전환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)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외부감사 수정 사항 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" name="그룹 47"/>
          <p:cNvGrpSpPr/>
          <p:nvPr/>
        </p:nvGrpSpPr>
        <p:grpSpPr>
          <a:xfrm>
            <a:off x="1568624" y="2645902"/>
            <a:ext cx="756425" cy="410305"/>
            <a:chOff x="2180010" y="2776562"/>
            <a:chExt cx="756425" cy="410305"/>
          </a:xfrm>
        </p:grpSpPr>
        <p:sp>
          <p:nvSpPr>
            <p:cNvPr id="49" name="직사각형 48"/>
            <p:cNvSpPr/>
            <p:nvPr/>
          </p:nvSpPr>
          <p:spPr>
            <a:xfrm>
              <a:off x="2308492" y="278755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0" name="육각형 49"/>
            <p:cNvSpPr/>
            <p:nvPr/>
          </p:nvSpPr>
          <p:spPr bwMode="auto">
            <a:xfrm>
              <a:off x="2180010" y="277656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연결산 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1" name="직사각형 50"/>
          <p:cNvSpPr/>
          <p:nvPr/>
        </p:nvSpPr>
        <p:spPr bwMode="auto">
          <a:xfrm>
            <a:off x="2684748" y="56645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일반전표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2" name="Shape 266"/>
          <p:cNvCxnSpPr>
            <a:cxnSpLocks noChangeShapeType="1"/>
            <a:stCxn id="51" idx="0"/>
            <a:endCxn id="34" idx="2"/>
          </p:cNvCxnSpPr>
          <p:nvPr/>
        </p:nvCxnSpPr>
        <p:spPr bwMode="auto">
          <a:xfrm flipV="1">
            <a:off x="3062961" y="5189931"/>
            <a:ext cx="1" cy="474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" name="Shape 266"/>
          <p:cNvCxnSpPr>
            <a:cxnSpLocks noChangeShapeType="1"/>
            <a:stCxn id="39" idx="2"/>
            <a:endCxn id="40" idx="0"/>
          </p:cNvCxnSpPr>
          <p:nvPr/>
        </p:nvCxnSpPr>
        <p:spPr bwMode="auto">
          <a:xfrm>
            <a:off x="4431113" y="2957683"/>
            <a:ext cx="0" cy="3993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4" name="Shape 266"/>
          <p:cNvCxnSpPr>
            <a:cxnSpLocks noChangeShapeType="1"/>
            <a:stCxn id="40" idx="2"/>
            <a:endCxn id="41" idx="0"/>
          </p:cNvCxnSpPr>
          <p:nvPr/>
        </p:nvCxnSpPr>
        <p:spPr bwMode="auto">
          <a:xfrm>
            <a:off x="4431113" y="3677763"/>
            <a:ext cx="0" cy="4151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Shape 266"/>
          <p:cNvCxnSpPr>
            <a:cxnSpLocks noChangeShapeType="1"/>
            <a:stCxn id="41" idx="3"/>
            <a:endCxn id="44" idx="1"/>
          </p:cNvCxnSpPr>
          <p:nvPr/>
        </p:nvCxnSpPr>
        <p:spPr bwMode="auto">
          <a:xfrm flipV="1">
            <a:off x="4809325" y="2793590"/>
            <a:ext cx="591337" cy="145966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직사각형 61"/>
          <p:cNvSpPr/>
          <p:nvPr/>
        </p:nvSpPr>
        <p:spPr bwMode="auto">
          <a:xfrm>
            <a:off x="1568625" y="40395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결산공지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4" name="Shape 266"/>
          <p:cNvCxnSpPr>
            <a:cxnSpLocks noChangeShapeType="1"/>
            <a:stCxn id="62" idx="2"/>
            <a:endCxn id="33" idx="0"/>
          </p:cNvCxnSpPr>
          <p:nvPr/>
        </p:nvCxnSpPr>
        <p:spPr bwMode="auto">
          <a:xfrm>
            <a:off x="1946838" y="4360359"/>
            <a:ext cx="0" cy="13041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4" name="직사각형 43"/>
          <p:cNvSpPr/>
          <p:nvPr/>
        </p:nvSpPr>
        <p:spPr bwMode="auto">
          <a:xfrm>
            <a:off x="5400662" y="263320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조정분개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5400662" y="33569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손익대체 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5400662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합계잔액 시산표 조회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7" name="그룹 62"/>
          <p:cNvGrpSpPr/>
          <p:nvPr/>
        </p:nvGrpSpPr>
        <p:grpSpPr>
          <a:xfrm flipH="1">
            <a:off x="5727364" y="4413642"/>
            <a:ext cx="307440" cy="371542"/>
            <a:chOff x="3031001" y="4475605"/>
            <a:chExt cx="322637" cy="371542"/>
          </a:xfrm>
        </p:grpSpPr>
        <p:sp>
          <p:nvSpPr>
            <p:cNvPr id="65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176"/>
            <p:cNvSpPr>
              <a:spLocks noChangeArrowheads="1"/>
            </p:cNvSpPr>
            <p:nvPr/>
          </p:nvSpPr>
          <p:spPr bwMode="auto">
            <a:xfrm flipH="1">
              <a:off x="3031001" y="4549937"/>
              <a:ext cx="90051" cy="29721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7" name="Rectangle 179"/>
          <p:cNvSpPr>
            <a:spLocks noChangeArrowheads="1"/>
          </p:cNvSpPr>
          <p:nvPr/>
        </p:nvSpPr>
        <p:spPr bwMode="auto">
          <a:xfrm flipH="1">
            <a:off x="6015053" y="4515510"/>
            <a:ext cx="11617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차대검증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추가 수정사항 확인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8013340" y="40928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</a:rPr>
              <a:t>부속 명세서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9093460" y="415913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70" name="Shape 266"/>
          <p:cNvCxnSpPr>
            <a:cxnSpLocks noChangeShapeType="1"/>
            <a:stCxn id="44" idx="2"/>
            <a:endCxn id="58" idx="0"/>
          </p:cNvCxnSpPr>
          <p:nvPr/>
        </p:nvCxnSpPr>
        <p:spPr bwMode="auto">
          <a:xfrm>
            <a:off x="5778875" y="2953975"/>
            <a:ext cx="0" cy="40301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" name="Shape 266"/>
          <p:cNvCxnSpPr>
            <a:cxnSpLocks noChangeShapeType="1"/>
            <a:stCxn id="58" idx="2"/>
            <a:endCxn id="59" idx="0"/>
          </p:cNvCxnSpPr>
          <p:nvPr/>
        </p:nvCxnSpPr>
        <p:spPr bwMode="auto">
          <a:xfrm>
            <a:off x="5778875" y="3677762"/>
            <a:ext cx="0" cy="4151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" name="Shape 266"/>
          <p:cNvCxnSpPr>
            <a:cxnSpLocks noChangeShapeType="1"/>
            <a:stCxn id="59" idx="3"/>
            <a:endCxn id="42" idx="1"/>
          </p:cNvCxnSpPr>
          <p:nvPr/>
        </p:nvCxnSpPr>
        <p:spPr bwMode="auto">
          <a:xfrm>
            <a:off x="6157087" y="4253257"/>
            <a:ext cx="552674" cy="380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42" idx="3"/>
            <a:endCxn id="68" idx="1"/>
          </p:cNvCxnSpPr>
          <p:nvPr/>
        </p:nvCxnSpPr>
        <p:spPr bwMode="auto">
          <a:xfrm flipV="1">
            <a:off x="7573761" y="4253257"/>
            <a:ext cx="439579" cy="380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/>
          <p:cNvCxnSpPr>
            <a:cxnSpLocks noChangeShapeType="1"/>
            <a:stCxn id="68" idx="3"/>
            <a:endCxn id="69" idx="2"/>
          </p:cNvCxnSpPr>
          <p:nvPr/>
        </p:nvCxnSpPr>
        <p:spPr bwMode="auto">
          <a:xfrm flipV="1">
            <a:off x="8769765" y="4252012"/>
            <a:ext cx="323695" cy="12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09175863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기금회계의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dirty="0">
                <a:latin typeface="+mn-ea"/>
                <a:ea typeface="+mn-ea"/>
              </a:rPr>
              <a:t>업무는 일반전표처리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마감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결산보고</a:t>
            </a:r>
            <a:r>
              <a:rPr lang="en-US" altLang="ko-KR" dirty="0">
                <a:latin typeface="+mn-ea"/>
                <a:ea typeface="+mn-ea"/>
              </a:rPr>
              <a:t>, dBrain </a:t>
            </a:r>
            <a:r>
              <a:rPr lang="ko-KR" altLang="en-US" dirty="0">
                <a:latin typeface="+mn-ea"/>
                <a:ea typeface="+mn-ea"/>
              </a:rPr>
              <a:t>전송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잔액이월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2044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1.4.4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연결산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기금회계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8979935"/>
              </p:ext>
            </p:extLst>
          </p:nvPr>
        </p:nvGraphicFramePr>
        <p:xfrm>
          <a:off x="344488" y="1916832"/>
          <a:ext cx="9181020" cy="428447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97033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85420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2038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1.4.4.4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결산보고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1.4.4.5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dBrain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전송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1.4.4.6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잔액이월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51280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기획재정부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5128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문화체육관광부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302559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부서장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3025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 결산담당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3" name="직사각형 32"/>
          <p:cNvSpPr/>
          <p:nvPr/>
        </p:nvSpPr>
        <p:spPr bwMode="auto">
          <a:xfrm>
            <a:off x="1568625" y="54092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</a:rPr>
              <a:t>결산 보고서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813375" y="41163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</a:rPr>
              <a:t>보고서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5" name="Shape 266"/>
          <p:cNvCxnSpPr>
            <a:cxnSpLocks noChangeShapeType="1"/>
            <a:stCxn id="69" idx="4"/>
            <a:endCxn id="33" idx="0"/>
          </p:cNvCxnSpPr>
          <p:nvPr/>
        </p:nvCxnSpPr>
        <p:spPr bwMode="auto">
          <a:xfrm>
            <a:off x="1946837" y="4462486"/>
            <a:ext cx="1" cy="94673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hape 266"/>
          <p:cNvCxnSpPr>
            <a:cxnSpLocks noChangeShapeType="1"/>
            <a:stCxn id="33" idx="3"/>
            <a:endCxn id="51" idx="1"/>
          </p:cNvCxnSpPr>
          <p:nvPr/>
        </p:nvCxnSpPr>
        <p:spPr bwMode="auto">
          <a:xfrm>
            <a:off x="2325050" y="5569607"/>
            <a:ext cx="488324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Shape 266"/>
          <p:cNvCxnSpPr>
            <a:cxnSpLocks noChangeShapeType="1"/>
            <a:stCxn id="34" idx="3"/>
            <a:endCxn id="74" idx="1"/>
          </p:cNvCxnSpPr>
          <p:nvPr/>
        </p:nvCxnSpPr>
        <p:spPr bwMode="auto">
          <a:xfrm>
            <a:off x="3569800" y="4276727"/>
            <a:ext cx="1214727" cy="161365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직사각형 50"/>
          <p:cNvSpPr/>
          <p:nvPr/>
        </p:nvSpPr>
        <p:spPr bwMode="auto">
          <a:xfrm>
            <a:off x="2813374" y="540922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</a:rPr>
              <a:t>보고서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2" name="Shape 266"/>
          <p:cNvCxnSpPr>
            <a:cxnSpLocks noChangeShapeType="1"/>
            <a:stCxn id="51" idx="0"/>
            <a:endCxn id="34" idx="2"/>
          </p:cNvCxnSpPr>
          <p:nvPr/>
        </p:nvCxnSpPr>
        <p:spPr bwMode="auto">
          <a:xfrm flipV="1">
            <a:off x="3191587" y="4437112"/>
            <a:ext cx="1" cy="9721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hape 266"/>
          <p:cNvCxnSpPr>
            <a:cxnSpLocks noChangeShapeType="1"/>
            <a:stCxn id="78" idx="0"/>
            <a:endCxn id="60" idx="2"/>
          </p:cNvCxnSpPr>
          <p:nvPr/>
        </p:nvCxnSpPr>
        <p:spPr bwMode="auto">
          <a:xfrm flipV="1">
            <a:off x="8967617" y="5446734"/>
            <a:ext cx="170" cy="28978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9" name="타원 68"/>
          <p:cNvSpPr/>
          <p:nvPr/>
        </p:nvSpPr>
        <p:spPr>
          <a:xfrm>
            <a:off x="1845680" y="427672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4784527" y="57299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16. dBrain </a:t>
            </a:r>
            <a:r>
              <a:rPr lang="ko-KR" altLang="en-US" sz="900" kern="0" dirty="0">
                <a:solidFill>
                  <a:prstClr val="black"/>
                </a:solidFill>
              </a:rPr>
              <a:t>전송 준비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5" name="Shape 266"/>
          <p:cNvCxnSpPr>
            <a:cxnSpLocks noChangeShapeType="1"/>
            <a:stCxn id="74" idx="0"/>
            <a:endCxn id="58" idx="2"/>
          </p:cNvCxnSpPr>
          <p:nvPr/>
        </p:nvCxnSpPr>
        <p:spPr bwMode="auto">
          <a:xfrm flipV="1">
            <a:off x="5162740" y="5408091"/>
            <a:ext cx="0" cy="3219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직사각형 75"/>
          <p:cNvSpPr/>
          <p:nvPr/>
        </p:nvSpPr>
        <p:spPr bwMode="auto">
          <a:xfrm>
            <a:off x="6825208" y="50884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</a:rPr>
              <a:t>잔액이월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6825208" y="57365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</a:rPr>
              <a:t>이월 합계시산표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8589404" y="57365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</a:rPr>
              <a:t>이월 보조잔액명세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9" name="Shape 266"/>
          <p:cNvCxnSpPr>
            <a:cxnSpLocks noChangeShapeType="1"/>
            <a:stCxn id="76" idx="2"/>
            <a:endCxn id="77" idx="0"/>
          </p:cNvCxnSpPr>
          <p:nvPr/>
        </p:nvCxnSpPr>
        <p:spPr bwMode="auto">
          <a:xfrm>
            <a:off x="7203421" y="5409220"/>
            <a:ext cx="0" cy="3273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" name="Shape 266"/>
          <p:cNvCxnSpPr>
            <a:cxnSpLocks noChangeShapeType="1"/>
            <a:stCxn id="77" idx="3"/>
            <a:endCxn id="78" idx="1"/>
          </p:cNvCxnSpPr>
          <p:nvPr/>
        </p:nvCxnSpPr>
        <p:spPr bwMode="auto">
          <a:xfrm>
            <a:off x="7581633" y="5896907"/>
            <a:ext cx="100777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58" idx="3"/>
            <a:endCxn id="76" idx="1"/>
          </p:cNvCxnSpPr>
          <p:nvPr/>
        </p:nvCxnSpPr>
        <p:spPr bwMode="auto">
          <a:xfrm>
            <a:off x="5540952" y="5247706"/>
            <a:ext cx="1284256" cy="112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19"/>
          <p:cNvGrpSpPr/>
          <p:nvPr/>
        </p:nvGrpSpPr>
        <p:grpSpPr>
          <a:xfrm>
            <a:off x="8589404" y="5041987"/>
            <a:ext cx="756425" cy="410305"/>
            <a:chOff x="8589404" y="5041987"/>
            <a:chExt cx="756425" cy="410305"/>
          </a:xfrm>
        </p:grpSpPr>
        <p:sp>
          <p:nvSpPr>
            <p:cNvPr id="60" name="직사각형 59"/>
            <p:cNvSpPr/>
            <p:nvPr/>
          </p:nvSpPr>
          <p:spPr>
            <a:xfrm>
              <a:off x="8717886" y="505298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1" name="육각형 60"/>
            <p:cNvSpPr/>
            <p:nvPr/>
          </p:nvSpPr>
          <p:spPr bwMode="auto">
            <a:xfrm>
              <a:off x="8589404" y="504198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연결산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8" name="직사각형 57"/>
          <p:cNvSpPr/>
          <p:nvPr/>
        </p:nvSpPr>
        <p:spPr bwMode="auto">
          <a:xfrm>
            <a:off x="4784527" y="50873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17. dBrain </a:t>
            </a:r>
            <a:r>
              <a:rPr lang="ko-KR" altLang="en-US" sz="900" kern="0" dirty="0">
                <a:solidFill>
                  <a:prstClr val="black"/>
                </a:solidFill>
              </a:rPr>
              <a:t>전송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4784527" y="280965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18.</a:t>
            </a:r>
            <a:r>
              <a:rPr lang="ko-KR" altLang="en-US" sz="900" kern="0" dirty="0">
                <a:solidFill>
                  <a:prstClr val="black"/>
                </a:solidFill>
              </a:rPr>
              <a:t>결산보고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3" name="Shape 266"/>
          <p:cNvCxnSpPr>
            <a:cxnSpLocks noChangeShapeType="1"/>
            <a:stCxn id="58" idx="0"/>
            <a:endCxn id="59" idx="2"/>
          </p:cNvCxnSpPr>
          <p:nvPr/>
        </p:nvCxnSpPr>
        <p:spPr bwMode="auto">
          <a:xfrm flipV="1">
            <a:off x="5162740" y="3130429"/>
            <a:ext cx="0" cy="195689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11215212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기금회계의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dirty="0">
                <a:latin typeface="+mn-ea"/>
                <a:ea typeface="+mn-ea"/>
              </a:rPr>
              <a:t>업무는 일반전표처리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마감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결산보고</a:t>
            </a:r>
            <a:r>
              <a:rPr lang="en-US" altLang="ko-KR" dirty="0">
                <a:latin typeface="+mn-ea"/>
                <a:ea typeface="+mn-ea"/>
              </a:rPr>
              <a:t>, dBrain </a:t>
            </a:r>
            <a:r>
              <a:rPr lang="ko-KR" altLang="en-US" dirty="0">
                <a:latin typeface="+mn-ea"/>
                <a:ea typeface="+mn-ea"/>
              </a:rPr>
              <a:t>전송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잔액이월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295960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87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60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총괄 책임자는 연 결산에 대한 지침을 관련 담당부서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담당자에게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회계담당자는 계정마감을 위한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일반전표를 처리하여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각 부서의 회계담당자는 계정마감을 위한 </a:t>
                      </a:r>
                      <a:r>
                        <a:rPr lang="ko-KR" altLang="en-US" sz="10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일반전표를 처리하여 등록한 후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승인 요청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일반전표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회계업무 승인권자는 등록 처리한 일반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전표를 검토하여 승인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결의서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결의서를 마감 처리하여 추가적인 결의서의 진행을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전표마감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할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 결의에 따른 전표를 마감 처리하여 추가적인 전표의 진행을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결산기일까지 처리되어야 매출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매입 세금계산서와 계산서를 마감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마감여부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조정분개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결산에 필요한 퇴직급여충당부채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법인세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외부감사 수정 사항 등 조정분개를 전표처리하여 결산에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조정분개정보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손익대체처리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집계된 수익과 비용을 손익대체 처리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손익대체정보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합계잔액시산표 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계정의 마감이 완료되면 총계정원장이 마감되며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이후 합계잔액시산표를 조회하여 결산일까지의 수익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부채의 변동내용을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합계잔액시산표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927544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기금회계의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연결산 </a:t>
            </a:r>
            <a:r>
              <a:rPr lang="ko-KR" altLang="en-US" dirty="0">
                <a:latin typeface="+mn-ea"/>
                <a:ea typeface="+mn-ea"/>
              </a:rPr>
              <a:t>업무는 일반전표처리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마감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결산처리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결산보고</a:t>
            </a:r>
            <a:r>
              <a:rPr lang="en-US" altLang="ko-KR" dirty="0">
                <a:latin typeface="+mn-ea"/>
                <a:ea typeface="+mn-ea"/>
              </a:rPr>
              <a:t>, dBrain </a:t>
            </a:r>
            <a:r>
              <a:rPr lang="ko-KR" altLang="en-US" dirty="0">
                <a:latin typeface="+mn-ea"/>
                <a:ea typeface="+mn-ea"/>
              </a:rPr>
              <a:t>전송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잔액이월 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tabLst>
                <a:tab pos="5651500" algn="l"/>
              </a:tabLst>
            </a:pPr>
            <a:r>
              <a:rPr lang="en-US" altLang="ko-KR" dirty="0"/>
              <a:t>3.2.2.12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연결산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기금회계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 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9094008"/>
              </p:ext>
            </p:extLst>
          </p:nvPr>
        </p:nvGraphicFramePr>
        <p:xfrm>
          <a:off x="344489" y="1584356"/>
          <a:ext cx="9181019" cy="4515618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87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60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재정상태표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결산 재무제표인 재정운영표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재정상태표를 조회하여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재정운영표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재정상태표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부속명세서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재무제표에 첨부된 각 계정별 명세서를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부속명세서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결산보고서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재무제표와 부속 명세서를 취합하여 결산보고서를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결산보고서에 대한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회계단위별 총괄 책임자는 요청된 결산보고서에 대해 검토하여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dBrain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전송 준비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dBrain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전송 준비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dBrain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dBrain</a:t>
                      </a:r>
                      <a:r>
                        <a:rPr lang="en-US" altLang="ko-KR" sz="1000" b="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전송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정부회계정보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결산보고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문화체육관광부장과 기획재정부장은 보고된 결산보고서를 검토하여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잔액이월처리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당해년도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결산이 완료된 후 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자본의 제계정의 잔액을 차년도 기초금액으로 이월처리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이월잔액정보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이월 합계시산표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이월된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합계시산표를 조회하여 생성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이월잔액정보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이월 보조잔액명세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이월된 잔액명세의 계정별원장을 조회하여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이월잔액정보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775968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세무관리 </a:t>
            </a:r>
            <a:r>
              <a:rPr lang="ko-KR" altLang="en-US" sz="1600" dirty="0">
                <a:latin typeface="+mn-ea"/>
                <a:ea typeface="+mn-ea"/>
              </a:rPr>
              <a:t>업무는 세무신고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매출 계산 결의서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부가세 자료 조정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세금계산서 발행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 err="1">
                <a:latin typeface="+mn-ea"/>
                <a:ea typeface="+mn-ea"/>
              </a:rPr>
              <a:t>홈텍스</a:t>
            </a:r>
            <a:r>
              <a:rPr lang="ko-KR" altLang="en-US" sz="1600" dirty="0">
                <a:latin typeface="+mn-ea"/>
                <a:ea typeface="+mn-ea"/>
              </a:rPr>
              <a:t> 신고 등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 단일 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세무관리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세무관리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1.5.1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세무신고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19" cy="432048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세무신고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436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세무담당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5" name="직사각형 44"/>
          <p:cNvSpPr/>
          <p:nvPr/>
        </p:nvSpPr>
        <p:spPr bwMode="auto">
          <a:xfrm>
            <a:off x="2108684" y="371753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매출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세금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계산 결의서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8" name="직사각형 47"/>
          <p:cNvSpPr/>
          <p:nvPr/>
        </p:nvSpPr>
        <p:spPr bwMode="auto">
          <a:xfrm>
            <a:off x="3368483" y="37170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부가세 자료 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9" name="Shape 266"/>
          <p:cNvCxnSpPr>
            <a:cxnSpLocks noChangeShapeType="1"/>
            <a:stCxn id="50" idx="0"/>
            <a:endCxn id="45" idx="0"/>
          </p:cNvCxnSpPr>
          <p:nvPr/>
        </p:nvCxnSpPr>
        <p:spPr bwMode="auto">
          <a:xfrm>
            <a:off x="2181761" y="2789035"/>
            <a:ext cx="305136" cy="92850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" name="Shape 266"/>
          <p:cNvCxnSpPr>
            <a:cxnSpLocks noChangeShapeType="1"/>
            <a:stCxn id="45" idx="3"/>
            <a:endCxn id="48" idx="1"/>
          </p:cNvCxnSpPr>
          <p:nvPr/>
        </p:nvCxnSpPr>
        <p:spPr bwMode="auto">
          <a:xfrm flipV="1">
            <a:off x="2865109" y="3877418"/>
            <a:ext cx="503374" cy="50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2" name="직사각형 121"/>
          <p:cNvSpPr/>
          <p:nvPr/>
        </p:nvSpPr>
        <p:spPr bwMode="auto">
          <a:xfrm>
            <a:off x="5889104" y="370477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부가세 디스켓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3" name="직사각형 122"/>
          <p:cNvSpPr/>
          <p:nvPr/>
        </p:nvSpPr>
        <p:spPr bwMode="auto">
          <a:xfrm>
            <a:off x="4627493" y="48691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사업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기타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소득명세서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40" name="Shape 266"/>
          <p:cNvCxnSpPr>
            <a:cxnSpLocks noChangeShapeType="1"/>
            <a:stCxn id="122" idx="3"/>
            <a:endCxn id="63" idx="1"/>
          </p:cNvCxnSpPr>
          <p:nvPr/>
        </p:nvCxnSpPr>
        <p:spPr bwMode="auto">
          <a:xfrm>
            <a:off x="6645529" y="3865164"/>
            <a:ext cx="755743" cy="191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직사각형 63"/>
          <p:cNvSpPr/>
          <p:nvPr/>
        </p:nvSpPr>
        <p:spPr bwMode="auto">
          <a:xfrm>
            <a:off x="4627493" y="30689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세금계산서 발행 현황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4628623" y="35010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세금계산서 명세서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4628623" y="39330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세금계산서 집계표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4627493" y="440437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세금계산서 합계표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3" name="Shape 266"/>
          <p:cNvCxnSpPr>
            <a:cxnSpLocks noChangeShapeType="1"/>
            <a:stCxn id="48" idx="3"/>
            <a:endCxn id="64" idx="1"/>
          </p:cNvCxnSpPr>
          <p:nvPr/>
        </p:nvCxnSpPr>
        <p:spPr bwMode="auto">
          <a:xfrm flipV="1">
            <a:off x="4124908" y="3229346"/>
            <a:ext cx="502585" cy="64807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" name="Shape 266"/>
          <p:cNvCxnSpPr>
            <a:cxnSpLocks noChangeShapeType="1"/>
            <a:stCxn id="48" idx="3"/>
            <a:endCxn id="79" idx="1"/>
          </p:cNvCxnSpPr>
          <p:nvPr/>
        </p:nvCxnSpPr>
        <p:spPr bwMode="auto">
          <a:xfrm flipV="1">
            <a:off x="4124908" y="3661394"/>
            <a:ext cx="503715" cy="21602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" name="Shape 266"/>
          <p:cNvCxnSpPr>
            <a:cxnSpLocks noChangeShapeType="1"/>
            <a:stCxn id="48" idx="3"/>
            <a:endCxn id="80" idx="1"/>
          </p:cNvCxnSpPr>
          <p:nvPr/>
        </p:nvCxnSpPr>
        <p:spPr bwMode="auto">
          <a:xfrm>
            <a:off x="4124908" y="3877418"/>
            <a:ext cx="503715" cy="21602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" name="Shape 266"/>
          <p:cNvCxnSpPr>
            <a:cxnSpLocks noChangeShapeType="1"/>
            <a:stCxn id="48" idx="3"/>
            <a:endCxn id="81" idx="1"/>
          </p:cNvCxnSpPr>
          <p:nvPr/>
        </p:nvCxnSpPr>
        <p:spPr bwMode="auto">
          <a:xfrm>
            <a:off x="4124908" y="3877418"/>
            <a:ext cx="502585" cy="68734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81" idx="3"/>
            <a:endCxn id="122" idx="1"/>
          </p:cNvCxnSpPr>
          <p:nvPr/>
        </p:nvCxnSpPr>
        <p:spPr bwMode="auto">
          <a:xfrm flipV="1">
            <a:off x="5383918" y="3865164"/>
            <a:ext cx="505186" cy="69959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직사각형 93"/>
          <p:cNvSpPr/>
          <p:nvPr/>
        </p:nvSpPr>
        <p:spPr bwMode="auto">
          <a:xfrm>
            <a:off x="4627493" y="53012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사업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기타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소득영수증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9" name="직사각형 98"/>
          <p:cNvSpPr/>
          <p:nvPr/>
        </p:nvSpPr>
        <p:spPr bwMode="auto">
          <a:xfrm>
            <a:off x="5888763" y="529655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</a:rPr>
              <a:t>사업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기타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소득디스켓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00" name="직사각형 99"/>
          <p:cNvSpPr/>
          <p:nvPr/>
        </p:nvSpPr>
        <p:spPr bwMode="auto">
          <a:xfrm>
            <a:off x="3439361" y="52957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사업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기타</a:t>
            </a:r>
            <a:r>
              <a:rPr lang="en-US" altLang="ko-KR" sz="900" kern="0" dirty="0">
                <a:solidFill>
                  <a:prstClr val="black"/>
                </a:solidFill>
              </a:rPr>
              <a:t>) </a:t>
            </a:r>
            <a:r>
              <a:rPr lang="ko-KR" altLang="en-US" sz="900" kern="0" dirty="0">
                <a:solidFill>
                  <a:prstClr val="black"/>
                </a:solidFill>
              </a:rPr>
              <a:t>소득자료조정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05" name="직사각형 104"/>
          <p:cNvSpPr/>
          <p:nvPr/>
        </p:nvSpPr>
        <p:spPr bwMode="auto">
          <a:xfrm>
            <a:off x="5889104" y="262703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</a:rPr>
              <a:t>신용카드 매출디스켓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25" name="Shape 266"/>
          <p:cNvCxnSpPr>
            <a:cxnSpLocks noChangeShapeType="1"/>
            <a:stCxn id="100" idx="3"/>
            <a:endCxn id="123" idx="1"/>
          </p:cNvCxnSpPr>
          <p:nvPr/>
        </p:nvCxnSpPr>
        <p:spPr bwMode="auto">
          <a:xfrm flipV="1">
            <a:off x="4195786" y="5029546"/>
            <a:ext cx="431707" cy="42655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" name="Shape 266"/>
          <p:cNvCxnSpPr>
            <a:cxnSpLocks noChangeShapeType="1"/>
            <a:stCxn id="94" idx="3"/>
            <a:endCxn id="99" idx="1"/>
          </p:cNvCxnSpPr>
          <p:nvPr/>
        </p:nvCxnSpPr>
        <p:spPr bwMode="auto">
          <a:xfrm flipV="1">
            <a:off x="5383918" y="5456944"/>
            <a:ext cx="504845" cy="46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5" name="Shape 266"/>
          <p:cNvCxnSpPr>
            <a:cxnSpLocks noChangeShapeType="1"/>
            <a:stCxn id="96" idx="0"/>
            <a:endCxn id="100" idx="1"/>
          </p:cNvCxnSpPr>
          <p:nvPr/>
        </p:nvCxnSpPr>
        <p:spPr bwMode="auto">
          <a:xfrm>
            <a:off x="2181761" y="5456096"/>
            <a:ext cx="1257600" cy="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80" idx="3"/>
            <a:endCxn id="122" idx="1"/>
          </p:cNvCxnSpPr>
          <p:nvPr/>
        </p:nvCxnSpPr>
        <p:spPr bwMode="auto">
          <a:xfrm flipV="1">
            <a:off x="5385048" y="3865164"/>
            <a:ext cx="504056" cy="22827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79" idx="3"/>
            <a:endCxn id="122" idx="1"/>
          </p:cNvCxnSpPr>
          <p:nvPr/>
        </p:nvCxnSpPr>
        <p:spPr bwMode="auto">
          <a:xfrm>
            <a:off x="5385048" y="3661394"/>
            <a:ext cx="504056" cy="20377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/>
          <p:cNvCxnSpPr>
            <a:cxnSpLocks noChangeShapeType="1"/>
            <a:stCxn id="64" idx="3"/>
            <a:endCxn id="122" idx="1"/>
          </p:cNvCxnSpPr>
          <p:nvPr/>
        </p:nvCxnSpPr>
        <p:spPr bwMode="auto">
          <a:xfrm>
            <a:off x="5383918" y="3229346"/>
            <a:ext cx="505186" cy="63581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" name="Shape 266"/>
          <p:cNvCxnSpPr>
            <a:cxnSpLocks noChangeShapeType="1"/>
            <a:stCxn id="50" idx="0"/>
            <a:endCxn id="105" idx="1"/>
          </p:cNvCxnSpPr>
          <p:nvPr/>
        </p:nvCxnSpPr>
        <p:spPr bwMode="auto">
          <a:xfrm flipV="1">
            <a:off x="2181761" y="2787421"/>
            <a:ext cx="3707343" cy="161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8" name="Shape 266"/>
          <p:cNvCxnSpPr>
            <a:cxnSpLocks noChangeShapeType="1"/>
            <a:stCxn id="100" idx="3"/>
            <a:endCxn id="94" idx="1"/>
          </p:cNvCxnSpPr>
          <p:nvPr/>
        </p:nvCxnSpPr>
        <p:spPr bwMode="auto">
          <a:xfrm>
            <a:off x="4195786" y="5456098"/>
            <a:ext cx="431707" cy="549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23" idx="3"/>
            <a:endCxn id="99" idx="1"/>
          </p:cNvCxnSpPr>
          <p:nvPr/>
        </p:nvCxnSpPr>
        <p:spPr bwMode="auto">
          <a:xfrm>
            <a:off x="5383918" y="5029546"/>
            <a:ext cx="504845" cy="42739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3" name="Shape 266"/>
          <p:cNvCxnSpPr>
            <a:cxnSpLocks noChangeShapeType="1"/>
            <a:stCxn id="99" idx="3"/>
            <a:endCxn id="63" idx="1"/>
          </p:cNvCxnSpPr>
          <p:nvPr/>
        </p:nvCxnSpPr>
        <p:spPr bwMode="auto">
          <a:xfrm flipV="1">
            <a:off x="6645188" y="3867077"/>
            <a:ext cx="756084" cy="158986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6" name="Shape 266"/>
          <p:cNvCxnSpPr>
            <a:cxnSpLocks noChangeShapeType="1"/>
            <a:stCxn id="105" idx="3"/>
            <a:endCxn id="63" idx="1"/>
          </p:cNvCxnSpPr>
          <p:nvPr/>
        </p:nvCxnSpPr>
        <p:spPr bwMode="auto">
          <a:xfrm>
            <a:off x="6645529" y="2787421"/>
            <a:ext cx="755743" cy="107965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45"/>
          <p:cNvGrpSpPr/>
          <p:nvPr/>
        </p:nvGrpSpPr>
        <p:grpSpPr>
          <a:xfrm>
            <a:off x="1425336" y="2583882"/>
            <a:ext cx="756425" cy="410305"/>
            <a:chOff x="8589404" y="5041987"/>
            <a:chExt cx="756425" cy="410305"/>
          </a:xfrm>
        </p:grpSpPr>
        <p:sp>
          <p:nvSpPr>
            <p:cNvPr id="47" name="직사각형 46"/>
            <p:cNvSpPr/>
            <p:nvPr/>
          </p:nvSpPr>
          <p:spPr>
            <a:xfrm>
              <a:off x="8717886" y="505298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0" name="육각형 49"/>
            <p:cNvSpPr/>
            <p:nvPr/>
          </p:nvSpPr>
          <p:spPr bwMode="auto">
            <a:xfrm>
              <a:off x="8589404" y="504198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부가세 신고시작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56"/>
          <p:cNvGrpSpPr/>
          <p:nvPr/>
        </p:nvGrpSpPr>
        <p:grpSpPr>
          <a:xfrm>
            <a:off x="8540068" y="3661978"/>
            <a:ext cx="756425" cy="410305"/>
            <a:chOff x="8589404" y="5041987"/>
            <a:chExt cx="756425" cy="410305"/>
          </a:xfrm>
        </p:grpSpPr>
        <p:sp>
          <p:nvSpPr>
            <p:cNvPr id="58" name="직사각형 57"/>
            <p:cNvSpPr/>
            <p:nvPr/>
          </p:nvSpPr>
          <p:spPr>
            <a:xfrm>
              <a:off x="8717886" y="505298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9" name="육각형 58"/>
            <p:cNvSpPr/>
            <p:nvPr/>
          </p:nvSpPr>
          <p:spPr bwMode="auto">
            <a:xfrm>
              <a:off x="8589404" y="504198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세무신고종료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63" name="직사각형 62"/>
          <p:cNvSpPr/>
          <p:nvPr/>
        </p:nvSpPr>
        <p:spPr bwMode="auto">
          <a:xfrm>
            <a:off x="7401272" y="37066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 </a:t>
            </a:r>
            <a:r>
              <a:rPr lang="ko-KR" altLang="en-US" sz="900" kern="0" dirty="0" err="1">
                <a:solidFill>
                  <a:prstClr val="black"/>
                </a:solidFill>
              </a:rPr>
              <a:t>홈텍스</a:t>
            </a:r>
            <a:r>
              <a:rPr lang="ko-KR" altLang="en-US" sz="900" kern="0" dirty="0">
                <a:solidFill>
                  <a:prstClr val="black"/>
                </a:solidFill>
              </a:rPr>
              <a:t> 신고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5" name="Shape 266"/>
          <p:cNvCxnSpPr>
            <a:cxnSpLocks noChangeShapeType="1"/>
            <a:stCxn id="63" idx="3"/>
            <a:endCxn id="59" idx="3"/>
          </p:cNvCxnSpPr>
          <p:nvPr/>
        </p:nvCxnSpPr>
        <p:spPr bwMode="auto">
          <a:xfrm>
            <a:off x="8157697" y="3867077"/>
            <a:ext cx="382371" cy="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92"/>
          <p:cNvGrpSpPr/>
          <p:nvPr/>
        </p:nvGrpSpPr>
        <p:grpSpPr>
          <a:xfrm>
            <a:off x="1425336" y="5250943"/>
            <a:ext cx="756425" cy="410305"/>
            <a:chOff x="8589404" y="5041987"/>
            <a:chExt cx="756425" cy="410305"/>
          </a:xfrm>
        </p:grpSpPr>
        <p:sp>
          <p:nvSpPr>
            <p:cNvPr id="95" name="직사각형 94"/>
            <p:cNvSpPr/>
            <p:nvPr/>
          </p:nvSpPr>
          <p:spPr>
            <a:xfrm>
              <a:off x="8717886" y="5052982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96" name="육각형 95"/>
            <p:cNvSpPr/>
            <p:nvPr/>
          </p:nvSpPr>
          <p:spPr bwMode="auto">
            <a:xfrm>
              <a:off x="8589404" y="5041987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원천세 신고시작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1" name="직사각형 50"/>
          <p:cNvSpPr/>
          <p:nvPr/>
        </p:nvSpPr>
        <p:spPr bwMode="auto">
          <a:xfrm>
            <a:off x="4627493" y="57449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14. </a:t>
            </a:r>
            <a:r>
              <a:rPr lang="ko-KR" altLang="en-US" sz="900" kern="0" dirty="0">
                <a:solidFill>
                  <a:srgbClr val="197EC6"/>
                </a:solidFill>
              </a:rPr>
              <a:t>일용근로자 지급조서 작성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52" name="Shape 266"/>
          <p:cNvCxnSpPr>
            <a:cxnSpLocks noChangeShapeType="1"/>
            <a:stCxn id="100" idx="3"/>
            <a:endCxn id="51" idx="1"/>
          </p:cNvCxnSpPr>
          <p:nvPr/>
        </p:nvCxnSpPr>
        <p:spPr bwMode="auto">
          <a:xfrm>
            <a:off x="4195786" y="5456098"/>
            <a:ext cx="431707" cy="44926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Shape 266"/>
          <p:cNvCxnSpPr>
            <a:cxnSpLocks noChangeShapeType="1"/>
            <a:stCxn id="51" idx="3"/>
            <a:endCxn id="99" idx="1"/>
          </p:cNvCxnSpPr>
          <p:nvPr/>
        </p:nvCxnSpPr>
        <p:spPr bwMode="auto">
          <a:xfrm flipV="1">
            <a:off x="5383918" y="5456944"/>
            <a:ext cx="504845" cy="44841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83054709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세무관리 </a:t>
            </a:r>
            <a:r>
              <a:rPr lang="ko-KR" altLang="en-US" dirty="0">
                <a:latin typeface="+mn-ea"/>
              </a:rPr>
              <a:t>업무는 세무신고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매출 계산 결의서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부가세 자료 조정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세금계산서 발행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홈텍스</a:t>
            </a:r>
            <a:r>
              <a:rPr lang="ko-KR" altLang="en-US" dirty="0">
                <a:latin typeface="+mn-ea"/>
              </a:rPr>
              <a:t> 신고 등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단일 업무로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세무관리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7031459"/>
              </p:ext>
            </p:extLst>
          </p:nvPr>
        </p:nvGraphicFramePr>
        <p:xfrm>
          <a:off x="344489" y="1584356"/>
          <a:ext cx="9181019" cy="4194720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60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결의서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 결의서 조회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계산서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부가세자료조정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부가세자료를 생성하고 수정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부가세정보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세금계산서발행현황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매출세금계산서 발행 현황 조회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세금계산서 발행 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세금계산서명세서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매입 세금계산서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명세서를 조회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명세서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세금계산서집계표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사업자별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매출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매입 세금계산서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집계표를 조회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세금계산서합계표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수익센터별 매출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매입 세금계산서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합계표를 조회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부가세디스켓작성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부가세신고용 파일을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부가세 신고 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소득자료조정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소득자료를 생성하고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소득자료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소득명세서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소득명세서를 조회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소득자료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소득영수증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 영수증을 출력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소득자료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719068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세무관리 </a:t>
            </a:r>
            <a:r>
              <a:rPr lang="ko-KR" altLang="en-US" dirty="0">
                <a:latin typeface="+mn-ea"/>
              </a:rPr>
              <a:t>업무는 세무신고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매출 계산 결의서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부가세 자료 조정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세금계산서 발행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홈텍스</a:t>
            </a:r>
            <a:r>
              <a:rPr lang="ko-KR" altLang="en-US" dirty="0">
                <a:latin typeface="+mn-ea"/>
              </a:rPr>
              <a:t> 신고 등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단일 업무로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세무관리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3360234"/>
              </p:ext>
            </p:extLst>
          </p:nvPr>
        </p:nvGraphicFramePr>
        <p:xfrm>
          <a:off x="344489" y="1584356"/>
          <a:ext cx="9181019" cy="1933920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660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소득디스켓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홈텍스에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업로드하는 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 파일을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소득 신고 자료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신용카드매출디스켓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신용카드매출디스켓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신용카드 매출 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6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홈텍스신고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작성된 각종 신고 파일을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홈텍스에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신고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68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일용근로자 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지급조서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일용근로자의 지급조서 작성용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정보 취합 및 지급조서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정보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지급조서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7643303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표 19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40415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4827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6921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700301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작성요청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지출계획작성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1.6.1.3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수급계획작성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수급계획확정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자금수급계획</a:t>
            </a:r>
            <a:r>
              <a:rPr lang="en-US" altLang="ko-KR" dirty="0"/>
              <a:t>(</a:t>
            </a:r>
            <a:r>
              <a:rPr lang="ko-KR" altLang="en-US" dirty="0"/>
              <a:t>수급계획 작성 요청</a:t>
            </a:r>
            <a:r>
              <a:rPr lang="en-US" altLang="ko-KR" dirty="0"/>
              <a:t>, </a:t>
            </a:r>
            <a:r>
              <a:rPr lang="ko-KR" altLang="en-US" dirty="0"/>
              <a:t>지출계획 작성</a:t>
            </a:r>
            <a:r>
              <a:rPr lang="en-US" altLang="ko-KR" dirty="0"/>
              <a:t>, </a:t>
            </a:r>
            <a:r>
              <a:rPr lang="ko-KR" altLang="en-US" dirty="0"/>
              <a:t>지출계획 승인</a:t>
            </a:r>
            <a:r>
              <a:rPr lang="en-US" altLang="ko-KR" dirty="0"/>
              <a:t>, </a:t>
            </a:r>
            <a:r>
              <a:rPr lang="ko-KR" altLang="en-US" dirty="0"/>
              <a:t>지출계획 취합</a:t>
            </a:r>
            <a:r>
              <a:rPr lang="en-US" altLang="ko-KR" dirty="0"/>
              <a:t>, </a:t>
            </a:r>
            <a:r>
              <a:rPr lang="ko-KR" altLang="en-US" dirty="0"/>
              <a:t>수입계획 작성</a:t>
            </a:r>
            <a:r>
              <a:rPr lang="en-US" altLang="ko-KR" dirty="0"/>
              <a:t>, </a:t>
            </a:r>
            <a:r>
              <a:rPr lang="ko-KR" altLang="en-US" dirty="0"/>
              <a:t>수급계획 승인 등</a:t>
            </a:r>
            <a:r>
              <a:rPr lang="en-US" altLang="ko-KR" dirty="0"/>
              <a:t>)</a:t>
            </a:r>
            <a:r>
              <a:rPr lang="ko-KR" altLang="en-US" dirty="0"/>
              <a:t>은 수작업으로 처리되는 것을 전산화하도록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자금수급계획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1.6.1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자금수급계획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54" name="Shape 266"/>
          <p:cNvCxnSpPr>
            <a:cxnSpLocks noChangeShapeType="1"/>
            <a:stCxn id="23" idx="2"/>
            <a:endCxn id="25" idx="0"/>
          </p:cNvCxnSpPr>
          <p:nvPr/>
        </p:nvCxnSpPr>
        <p:spPr bwMode="auto">
          <a:xfrm flipH="1">
            <a:off x="1874828" y="2861639"/>
            <a:ext cx="171" cy="96814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25" idx="2"/>
            <a:endCxn id="26" idx="1"/>
          </p:cNvCxnSpPr>
          <p:nvPr/>
        </p:nvCxnSpPr>
        <p:spPr bwMode="auto">
          <a:xfrm rot="16200000" flipH="1">
            <a:off x="1402588" y="4622791"/>
            <a:ext cx="1898417" cy="95393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8" name="Shape 266"/>
          <p:cNvCxnSpPr>
            <a:cxnSpLocks noChangeShapeType="1"/>
            <a:stCxn id="28" idx="0"/>
            <a:endCxn id="34" idx="2"/>
          </p:cNvCxnSpPr>
          <p:nvPr/>
        </p:nvCxnSpPr>
        <p:spPr bwMode="auto">
          <a:xfrm flipV="1">
            <a:off x="8804210" y="2861639"/>
            <a:ext cx="2136" cy="2623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" name="직사각형 24"/>
          <p:cNvSpPr/>
          <p:nvPr/>
        </p:nvSpPr>
        <p:spPr bwMode="auto">
          <a:xfrm>
            <a:off x="1496615" y="382978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1. </a:t>
            </a:r>
            <a:r>
              <a:rPr lang="ko-KR" altLang="en-US" sz="900" kern="0" dirty="0">
                <a:solidFill>
                  <a:srgbClr val="197EC6"/>
                </a:solidFill>
              </a:rPr>
              <a:t>수급계획 작성 요청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2828764" y="588858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</a:rPr>
              <a:t>지출계획 작성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7145599" y="312635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8. </a:t>
            </a:r>
            <a:r>
              <a:rPr lang="ko-KR" altLang="en-US" sz="900" kern="0" dirty="0">
                <a:solidFill>
                  <a:srgbClr val="197EC6"/>
                </a:solidFill>
              </a:rPr>
              <a:t>수급계획</a:t>
            </a:r>
            <a:endParaRPr lang="en-US" altLang="ko-KR" sz="900" kern="0" dirty="0">
              <a:solidFill>
                <a:srgbClr val="197EC6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승인 요청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8425997" y="312401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9. </a:t>
            </a:r>
            <a:r>
              <a:rPr lang="ko-KR" altLang="en-US" sz="900" kern="0" dirty="0">
                <a:solidFill>
                  <a:srgbClr val="197EC6"/>
                </a:solidFill>
              </a:rPr>
              <a:t>수급계획</a:t>
            </a:r>
            <a:endParaRPr lang="en-US" altLang="ko-KR" sz="900" kern="0" dirty="0">
              <a:solidFill>
                <a:srgbClr val="197EC6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승인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4229177" y="443535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5. </a:t>
            </a:r>
            <a:r>
              <a:rPr lang="ko-KR" altLang="en-US" sz="900" kern="0" dirty="0">
                <a:solidFill>
                  <a:srgbClr val="197EC6"/>
                </a:solidFill>
              </a:rPr>
              <a:t>지출계획 제출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5567431" y="383299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6. </a:t>
            </a:r>
            <a:r>
              <a:rPr lang="ko-KR" altLang="en-US" sz="900" kern="0" dirty="0">
                <a:solidFill>
                  <a:srgbClr val="197EC6"/>
                </a:solidFill>
              </a:rPr>
              <a:t>지출계획 취합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31" name="직사각형 30"/>
          <p:cNvSpPr/>
          <p:nvPr/>
        </p:nvSpPr>
        <p:spPr bwMode="auto">
          <a:xfrm>
            <a:off x="5567431" y="312806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7. </a:t>
            </a:r>
            <a:r>
              <a:rPr lang="ko-KR" altLang="en-US" sz="900" kern="0" dirty="0">
                <a:solidFill>
                  <a:srgbClr val="197EC6"/>
                </a:solidFill>
              </a:rPr>
              <a:t>수급계획 작성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36" name="직사각형 35"/>
          <p:cNvSpPr/>
          <p:nvPr/>
        </p:nvSpPr>
        <p:spPr bwMode="auto">
          <a:xfrm>
            <a:off x="2828764" y="516329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3. </a:t>
            </a:r>
            <a:r>
              <a:rPr lang="ko-KR" altLang="en-US" sz="900" kern="0" dirty="0">
                <a:solidFill>
                  <a:srgbClr val="197EC6"/>
                </a:solidFill>
              </a:rPr>
              <a:t>지출계획</a:t>
            </a:r>
            <a:endParaRPr lang="en-US" altLang="ko-KR" sz="900" kern="0" dirty="0">
              <a:solidFill>
                <a:srgbClr val="197EC6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승인 요청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4229177" y="516329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4. </a:t>
            </a:r>
            <a:r>
              <a:rPr lang="ko-KR" altLang="en-US" sz="900" kern="0" dirty="0">
                <a:solidFill>
                  <a:srgbClr val="197EC6"/>
                </a:solidFill>
              </a:rPr>
              <a:t>지출계획</a:t>
            </a:r>
            <a:endParaRPr lang="en-US" altLang="ko-KR" sz="900" kern="0" dirty="0">
              <a:solidFill>
                <a:srgbClr val="197EC6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승인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grpSp>
        <p:nvGrpSpPr>
          <p:cNvPr id="5" name="그룹 6"/>
          <p:cNvGrpSpPr/>
          <p:nvPr/>
        </p:nvGrpSpPr>
        <p:grpSpPr>
          <a:xfrm>
            <a:off x="1496616" y="2456892"/>
            <a:ext cx="756425" cy="410305"/>
            <a:chOff x="1496616" y="2456892"/>
            <a:chExt cx="756425" cy="410305"/>
          </a:xfrm>
        </p:grpSpPr>
        <p:sp>
          <p:nvSpPr>
            <p:cNvPr id="23" name="직사각형 22"/>
            <p:cNvSpPr/>
            <p:nvPr/>
          </p:nvSpPr>
          <p:spPr>
            <a:xfrm>
              <a:off x="1625098" y="246788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4" name="육각형 23"/>
            <p:cNvSpPr/>
            <p:nvPr/>
          </p:nvSpPr>
          <p:spPr bwMode="auto">
            <a:xfrm>
              <a:off x="1496616" y="245689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매월 말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9"/>
          <p:cNvGrpSpPr/>
          <p:nvPr/>
        </p:nvGrpSpPr>
        <p:grpSpPr>
          <a:xfrm>
            <a:off x="8427963" y="2456892"/>
            <a:ext cx="756425" cy="410305"/>
            <a:chOff x="8427963" y="2456892"/>
            <a:chExt cx="756425" cy="410305"/>
          </a:xfrm>
        </p:grpSpPr>
        <p:sp>
          <p:nvSpPr>
            <p:cNvPr id="34" name="직사각형 33"/>
            <p:cNvSpPr/>
            <p:nvPr/>
          </p:nvSpPr>
          <p:spPr>
            <a:xfrm>
              <a:off x="8556445" y="246788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35" name="육각형 34"/>
            <p:cNvSpPr/>
            <p:nvPr/>
          </p:nvSpPr>
          <p:spPr bwMode="auto">
            <a:xfrm>
              <a:off x="8427963" y="245689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자금수급계획 확정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46" name="Shape 266"/>
          <p:cNvCxnSpPr>
            <a:cxnSpLocks noChangeShapeType="1"/>
            <a:stCxn id="26" idx="0"/>
            <a:endCxn id="36" idx="2"/>
          </p:cNvCxnSpPr>
          <p:nvPr/>
        </p:nvCxnSpPr>
        <p:spPr bwMode="auto">
          <a:xfrm flipV="1">
            <a:off x="3206977" y="5484065"/>
            <a:ext cx="0" cy="4045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" name="Shape 266"/>
          <p:cNvCxnSpPr>
            <a:cxnSpLocks noChangeShapeType="1"/>
            <a:stCxn id="29" idx="0"/>
            <a:endCxn id="30" idx="2"/>
          </p:cNvCxnSpPr>
          <p:nvPr/>
        </p:nvCxnSpPr>
        <p:spPr bwMode="auto">
          <a:xfrm rot="5400000" flipH="1" flipV="1">
            <a:off x="5135725" y="3625434"/>
            <a:ext cx="281584" cy="133825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" name="Shape 266"/>
          <p:cNvCxnSpPr>
            <a:cxnSpLocks noChangeShapeType="1"/>
            <a:stCxn id="36" idx="3"/>
            <a:endCxn id="37" idx="1"/>
          </p:cNvCxnSpPr>
          <p:nvPr/>
        </p:nvCxnSpPr>
        <p:spPr bwMode="auto">
          <a:xfrm flipV="1">
            <a:off x="3585189" y="5323679"/>
            <a:ext cx="643988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" name="Shape 266"/>
          <p:cNvCxnSpPr>
            <a:cxnSpLocks noChangeShapeType="1"/>
            <a:stCxn id="37" idx="0"/>
            <a:endCxn id="29" idx="2"/>
          </p:cNvCxnSpPr>
          <p:nvPr/>
        </p:nvCxnSpPr>
        <p:spPr bwMode="auto">
          <a:xfrm flipV="1">
            <a:off x="4607390" y="4756124"/>
            <a:ext cx="0" cy="4071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0" name="Shape 266"/>
          <p:cNvCxnSpPr>
            <a:cxnSpLocks noChangeShapeType="1"/>
            <a:stCxn id="30" idx="0"/>
            <a:endCxn id="31" idx="2"/>
          </p:cNvCxnSpPr>
          <p:nvPr/>
        </p:nvCxnSpPr>
        <p:spPr bwMode="auto">
          <a:xfrm flipV="1">
            <a:off x="5945644" y="3448838"/>
            <a:ext cx="0" cy="38416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" name="Shape 266"/>
          <p:cNvCxnSpPr>
            <a:cxnSpLocks noChangeShapeType="1"/>
            <a:stCxn id="31" idx="3"/>
            <a:endCxn id="27" idx="1"/>
          </p:cNvCxnSpPr>
          <p:nvPr/>
        </p:nvCxnSpPr>
        <p:spPr bwMode="auto">
          <a:xfrm flipV="1">
            <a:off x="6323856" y="3286738"/>
            <a:ext cx="821743" cy="17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27" idx="3"/>
            <a:endCxn id="28" idx="1"/>
          </p:cNvCxnSpPr>
          <p:nvPr/>
        </p:nvCxnSpPr>
        <p:spPr bwMode="auto">
          <a:xfrm flipV="1">
            <a:off x="7902024" y="3284400"/>
            <a:ext cx="523973" cy="23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32"/>
          <p:cNvGrpSpPr/>
          <p:nvPr/>
        </p:nvGrpSpPr>
        <p:grpSpPr>
          <a:xfrm flipH="1">
            <a:off x="3580666" y="5761127"/>
            <a:ext cx="272466" cy="321127"/>
            <a:chOff x="3031001" y="4484279"/>
            <a:chExt cx="285935" cy="321127"/>
          </a:xfrm>
        </p:grpSpPr>
        <p:sp>
          <p:nvSpPr>
            <p:cNvPr id="38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95878" cy="160742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9" name="Freeform 176"/>
            <p:cNvSpPr>
              <a:spLocks noChangeArrowheads="1"/>
            </p:cNvSpPr>
            <p:nvPr/>
          </p:nvSpPr>
          <p:spPr bwMode="auto">
            <a:xfrm flipH="1">
              <a:off x="3031001" y="4484279"/>
              <a:ext cx="90051" cy="249119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0" name="Rectangle 179"/>
          <p:cNvSpPr>
            <a:spLocks noChangeArrowheads="1"/>
          </p:cNvSpPr>
          <p:nvPr/>
        </p:nvSpPr>
        <p:spPr bwMode="auto">
          <a:xfrm flipH="1">
            <a:off x="3833372" y="5768868"/>
            <a:ext cx="133146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익월 지출계획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주</a:t>
            </a: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(Week)</a:t>
            </a: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단위 작성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8" name="그룹 41"/>
          <p:cNvGrpSpPr/>
          <p:nvPr/>
        </p:nvGrpSpPr>
        <p:grpSpPr>
          <a:xfrm flipH="1">
            <a:off x="5964774" y="2672916"/>
            <a:ext cx="272466" cy="435501"/>
            <a:chOff x="3031001" y="4369905"/>
            <a:chExt cx="285935" cy="435501"/>
          </a:xfrm>
        </p:grpSpPr>
        <p:sp>
          <p:nvSpPr>
            <p:cNvPr id="43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95878" cy="160742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Freeform 176"/>
            <p:cNvSpPr>
              <a:spLocks noChangeArrowheads="1"/>
            </p:cNvSpPr>
            <p:nvPr/>
          </p:nvSpPr>
          <p:spPr bwMode="auto">
            <a:xfrm flipH="1">
              <a:off x="3031001" y="4369905"/>
              <a:ext cx="90051" cy="363493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5" name="Rectangle 179"/>
          <p:cNvSpPr>
            <a:spLocks noChangeArrowheads="1"/>
          </p:cNvSpPr>
          <p:nvPr/>
        </p:nvSpPr>
        <p:spPr bwMode="auto">
          <a:xfrm flipH="1">
            <a:off x="6217480" y="2672916"/>
            <a:ext cx="133146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익월 수입예정금액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익월 </a:t>
            </a: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만기예정금액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주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(Week)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단위 작성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1" name="순서도: 종속 처리 64">
            <a:extLst>
              <a:ext uri="{FF2B5EF4-FFF2-40B4-BE49-F238E27FC236}">
                <a16:creationId xmlns="" xmlns:a16="http://schemas.microsoft.com/office/drawing/2014/main" id="{270467DA-5F50-4859-A327-DA135A18F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104" y="4545104"/>
            <a:ext cx="936000" cy="432000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4.1.1.2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</a:rPr>
              <a:t>보조금집행</a:t>
            </a:r>
            <a:endParaRPr lang="en-US" altLang="ko-KR" sz="900" kern="0" spc="-19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</a:rPr>
              <a:t>계획 작성</a:t>
            </a:r>
          </a:p>
        </p:txBody>
      </p:sp>
      <p:cxnSp>
        <p:nvCxnSpPr>
          <p:cNvPr id="50" name="Shape 266">
            <a:extLst>
              <a:ext uri="{FF2B5EF4-FFF2-40B4-BE49-F238E27FC236}">
                <a16:creationId xmlns="" xmlns:a16="http://schemas.microsoft.com/office/drawing/2014/main" id="{9FB6F803-F545-4C0B-AB09-1D886888CED2}"/>
              </a:ext>
            </a:extLst>
          </p:cNvPr>
          <p:cNvCxnSpPr>
            <a:cxnSpLocks noChangeShapeType="1"/>
            <a:stCxn id="41" idx="0"/>
            <a:endCxn id="30" idx="2"/>
          </p:cNvCxnSpPr>
          <p:nvPr/>
        </p:nvCxnSpPr>
        <p:spPr bwMode="auto">
          <a:xfrm rot="16200000" flipV="1">
            <a:off x="5955707" y="4143707"/>
            <a:ext cx="391335" cy="41146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41613716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자금수급계획</a:t>
            </a:r>
            <a:r>
              <a:rPr lang="en-US" altLang="ko-KR" dirty="0"/>
              <a:t>(</a:t>
            </a:r>
            <a:r>
              <a:rPr lang="ko-KR" altLang="en-US" dirty="0"/>
              <a:t>수급계획 작성 요청</a:t>
            </a:r>
            <a:r>
              <a:rPr lang="en-US" altLang="ko-KR" dirty="0"/>
              <a:t>, </a:t>
            </a:r>
            <a:r>
              <a:rPr lang="ko-KR" altLang="en-US" dirty="0"/>
              <a:t>지출계획 작성</a:t>
            </a:r>
            <a:r>
              <a:rPr lang="en-US" altLang="ko-KR" dirty="0"/>
              <a:t>, </a:t>
            </a:r>
            <a:r>
              <a:rPr lang="ko-KR" altLang="en-US" dirty="0"/>
              <a:t>지출계획 승인</a:t>
            </a:r>
            <a:r>
              <a:rPr lang="en-US" altLang="ko-KR" dirty="0"/>
              <a:t>, </a:t>
            </a:r>
            <a:r>
              <a:rPr lang="ko-KR" altLang="en-US" dirty="0"/>
              <a:t>지출계획 취합</a:t>
            </a:r>
            <a:r>
              <a:rPr lang="en-US" altLang="ko-KR" dirty="0"/>
              <a:t>, </a:t>
            </a:r>
            <a:r>
              <a:rPr lang="ko-KR" altLang="en-US" dirty="0"/>
              <a:t>수입계획 작성</a:t>
            </a:r>
            <a:r>
              <a:rPr lang="en-US" altLang="ko-KR" dirty="0"/>
              <a:t>, </a:t>
            </a:r>
            <a:r>
              <a:rPr lang="ko-KR" altLang="en-US" dirty="0"/>
              <a:t>수급계획 승인 등</a:t>
            </a:r>
            <a:r>
              <a:rPr lang="en-US" altLang="ko-KR" dirty="0"/>
              <a:t>)</a:t>
            </a:r>
            <a:r>
              <a:rPr lang="ko-KR" altLang="en-US" dirty="0"/>
              <a:t>은 수작업으로 처리되는 것을 전산화하도록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자금수급계획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8141207"/>
              </p:ext>
            </p:extLst>
          </p:nvPr>
        </p:nvGraphicFramePr>
        <p:xfrm>
          <a:off x="344489" y="1584356"/>
          <a:ext cx="9181019" cy="3772182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87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55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수급계획작성요청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자금운용팀은 각 부서에 다음 달 자금수급계획작성을 요청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 이상 지출 계획이 있는 부서를 대상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수급계획작성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부서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지출계획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부서는 다음달 사업별 지출계획을 주간 단위로 구분하여 지출계획을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지출계획 승인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작성된 지출계획을 부서의 장에게 승인 요청 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지출계획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부서의 장은 승인 요청된 지출계획에 대해 검토하여 승인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지출계획 제출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승인 완료된 지출계획을 자금부서로 제출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지출계획 취합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자금운용팀은 각 부서에서 제출된 지출계획을 취합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수급계획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자금운용팀은 취합된 지출계획에 따라 수입예정금액과 예금만기 금액을 고려하여 수급계획을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수급계획정보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수급계획 승인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 완료된 월간수급계획을 자금운용팀장에게 승인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수급계획정보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수급계획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 완료된 월간수급계획을 검토하여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수급계획정보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9836591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동일한 부서 내에서 배정요청과 배정승인이 이루어지는 과정을 업무프로세스를 전산화하여 배정요청과 배정승인을 분리하여 처리되게 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3.2.2.15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자금배정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1.6.2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자금배정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9762713"/>
              </p:ext>
            </p:extLst>
          </p:nvPr>
        </p:nvGraphicFramePr>
        <p:xfrm>
          <a:off x="344488" y="1916832"/>
          <a:ext cx="9181020" cy="42668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26825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55628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2038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1.6.2.1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지출예정금액확인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1.6.2.2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자금배정요청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1.6.2.3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자금배정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711432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자금운용팀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893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재무관리팀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0893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사업본부 회계부서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/>
          <p:cNvSpPr/>
          <p:nvPr/>
        </p:nvSpPr>
        <p:spPr bwMode="auto">
          <a:xfrm>
            <a:off x="3836535" y="43860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3" name="직사각형 52"/>
          <p:cNvSpPr/>
          <p:nvPr/>
        </p:nvSpPr>
        <p:spPr bwMode="auto">
          <a:xfrm>
            <a:off x="5096675" y="43860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 요청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4" name="Shape 266"/>
          <p:cNvCxnSpPr>
            <a:cxnSpLocks noChangeShapeType="1"/>
            <a:stCxn id="32" idx="0"/>
            <a:endCxn id="40" idx="1"/>
          </p:cNvCxnSpPr>
          <p:nvPr/>
        </p:nvCxnSpPr>
        <p:spPr bwMode="auto">
          <a:xfrm>
            <a:off x="2253041" y="4546471"/>
            <a:ext cx="34135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52" idx="3"/>
            <a:endCxn id="53" idx="1"/>
          </p:cNvCxnSpPr>
          <p:nvPr/>
        </p:nvCxnSpPr>
        <p:spPr bwMode="auto">
          <a:xfrm>
            <a:off x="4592960" y="4546471"/>
            <a:ext cx="50371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8" name="Shape 266"/>
          <p:cNvCxnSpPr>
            <a:cxnSpLocks noChangeShapeType="1"/>
            <a:stCxn id="53" idx="0"/>
            <a:endCxn id="47" idx="2"/>
          </p:cNvCxnSpPr>
          <p:nvPr/>
        </p:nvCxnSpPr>
        <p:spPr bwMode="auto">
          <a:xfrm flipV="1">
            <a:off x="5474888" y="3713767"/>
            <a:ext cx="0" cy="67231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7" name="직사각형 46"/>
          <p:cNvSpPr/>
          <p:nvPr/>
        </p:nvSpPr>
        <p:spPr bwMode="auto">
          <a:xfrm>
            <a:off x="5096675" y="33929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 요청 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8" name="직사각형 47"/>
          <p:cNvSpPr/>
          <p:nvPr/>
        </p:nvSpPr>
        <p:spPr bwMode="auto">
          <a:xfrm>
            <a:off x="5095162" y="26009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6356815" y="260090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4" name="직사각형 63"/>
          <p:cNvSpPr/>
          <p:nvPr/>
        </p:nvSpPr>
        <p:spPr bwMode="auto">
          <a:xfrm>
            <a:off x="7508943" y="26009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 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9" name="Shape 266"/>
          <p:cNvCxnSpPr>
            <a:cxnSpLocks noChangeShapeType="1"/>
            <a:stCxn id="47" idx="0"/>
            <a:endCxn id="48" idx="2"/>
          </p:cNvCxnSpPr>
          <p:nvPr/>
        </p:nvCxnSpPr>
        <p:spPr bwMode="auto">
          <a:xfrm flipH="1" flipV="1">
            <a:off x="5473375" y="2921679"/>
            <a:ext cx="1513" cy="4713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" name="Shape 266"/>
          <p:cNvCxnSpPr>
            <a:cxnSpLocks noChangeShapeType="1"/>
            <a:stCxn id="48" idx="3"/>
            <a:endCxn id="49" idx="1"/>
          </p:cNvCxnSpPr>
          <p:nvPr/>
        </p:nvCxnSpPr>
        <p:spPr bwMode="auto">
          <a:xfrm>
            <a:off x="5851587" y="2761294"/>
            <a:ext cx="50522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" name="Shape 266"/>
          <p:cNvCxnSpPr>
            <a:cxnSpLocks noChangeShapeType="1"/>
            <a:stCxn id="49" idx="3"/>
            <a:endCxn id="64" idx="1"/>
          </p:cNvCxnSpPr>
          <p:nvPr/>
        </p:nvCxnSpPr>
        <p:spPr bwMode="auto">
          <a:xfrm>
            <a:off x="7113240" y="2761294"/>
            <a:ext cx="39570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" name="직사각형 88"/>
          <p:cNvSpPr/>
          <p:nvPr/>
        </p:nvSpPr>
        <p:spPr bwMode="auto">
          <a:xfrm>
            <a:off x="7508943" y="4386085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 </a:t>
            </a:r>
            <a:r>
              <a:rPr lang="en-US" altLang="ko-KR" sz="900" kern="0" dirty="0">
                <a:solidFill>
                  <a:prstClr val="black"/>
                </a:solidFill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</a:rPr>
            </a:br>
            <a:r>
              <a:rPr lang="ko-KR" altLang="en-US" sz="900" kern="0" dirty="0">
                <a:solidFill>
                  <a:prstClr val="black"/>
                </a:solidFill>
              </a:rPr>
              <a:t>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0" name="Shape 266"/>
          <p:cNvCxnSpPr>
            <a:cxnSpLocks noChangeShapeType="1"/>
            <a:stCxn id="64" idx="2"/>
            <a:endCxn id="89" idx="0"/>
          </p:cNvCxnSpPr>
          <p:nvPr/>
        </p:nvCxnSpPr>
        <p:spPr bwMode="auto">
          <a:xfrm>
            <a:off x="7887156" y="2921679"/>
            <a:ext cx="0" cy="146440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89" idx="3"/>
            <a:endCxn id="36" idx="3"/>
          </p:cNvCxnSpPr>
          <p:nvPr/>
        </p:nvCxnSpPr>
        <p:spPr bwMode="auto">
          <a:xfrm>
            <a:off x="8265368" y="4546471"/>
            <a:ext cx="35969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29"/>
          <p:cNvGrpSpPr/>
          <p:nvPr/>
        </p:nvGrpSpPr>
        <p:grpSpPr>
          <a:xfrm>
            <a:off x="1496616" y="4341318"/>
            <a:ext cx="756425" cy="410305"/>
            <a:chOff x="1496616" y="2456892"/>
            <a:chExt cx="756425" cy="410305"/>
          </a:xfrm>
        </p:grpSpPr>
        <p:sp>
          <p:nvSpPr>
            <p:cNvPr id="31" name="직사각형 30"/>
            <p:cNvSpPr/>
            <p:nvPr/>
          </p:nvSpPr>
          <p:spPr>
            <a:xfrm>
              <a:off x="1625098" y="246788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32" name="육각형 31"/>
            <p:cNvSpPr/>
            <p:nvPr/>
          </p:nvSpPr>
          <p:spPr bwMode="auto">
            <a:xfrm>
              <a:off x="1496616" y="245689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수시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33"/>
          <p:cNvGrpSpPr/>
          <p:nvPr/>
        </p:nvGrpSpPr>
        <p:grpSpPr>
          <a:xfrm>
            <a:off x="8625067" y="4341318"/>
            <a:ext cx="756425" cy="410305"/>
            <a:chOff x="1496616" y="2456892"/>
            <a:chExt cx="756425" cy="410305"/>
          </a:xfrm>
        </p:grpSpPr>
        <p:sp>
          <p:nvSpPr>
            <p:cNvPr id="35" name="직사각형 34"/>
            <p:cNvSpPr/>
            <p:nvPr/>
          </p:nvSpPr>
          <p:spPr>
            <a:xfrm>
              <a:off x="1625098" y="2467887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36" name="육각형 35"/>
            <p:cNvSpPr/>
            <p:nvPr/>
          </p:nvSpPr>
          <p:spPr bwMode="auto">
            <a:xfrm>
              <a:off x="1496616" y="2456892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자금배정 완료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0" name="직사각형 39"/>
          <p:cNvSpPr/>
          <p:nvPr/>
        </p:nvSpPr>
        <p:spPr bwMode="auto">
          <a:xfrm>
            <a:off x="2594397" y="43860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지출예정 금액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2594397" y="54092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지출예정 금액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3836534" y="54092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</a:rPr>
              <a:t>자금배정 요청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6351663" y="5409219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8" name="Shape 266"/>
          <p:cNvCxnSpPr>
            <a:cxnSpLocks noChangeShapeType="1"/>
            <a:stCxn id="40" idx="3"/>
            <a:endCxn id="52" idx="1"/>
          </p:cNvCxnSpPr>
          <p:nvPr/>
        </p:nvCxnSpPr>
        <p:spPr bwMode="auto">
          <a:xfrm>
            <a:off x="3350822" y="4546471"/>
            <a:ext cx="48571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9" name="Shape 266"/>
          <p:cNvCxnSpPr>
            <a:cxnSpLocks noChangeShapeType="1"/>
            <a:stCxn id="41" idx="3"/>
            <a:endCxn id="42" idx="1"/>
          </p:cNvCxnSpPr>
          <p:nvPr/>
        </p:nvCxnSpPr>
        <p:spPr bwMode="auto">
          <a:xfrm>
            <a:off x="3350822" y="5569606"/>
            <a:ext cx="48571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직사각형 60"/>
          <p:cNvSpPr/>
          <p:nvPr/>
        </p:nvSpPr>
        <p:spPr bwMode="auto">
          <a:xfrm>
            <a:off x="7508943" y="540921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자금배정</a:t>
            </a:r>
            <a:r>
              <a:rPr lang="en-US" altLang="ko-KR" sz="900" kern="0" dirty="0">
                <a:solidFill>
                  <a:prstClr val="black"/>
                </a:solidFill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</a:rPr>
            </a:br>
            <a:r>
              <a:rPr lang="ko-KR" altLang="en-US" sz="900" kern="0" dirty="0">
                <a:solidFill>
                  <a:prstClr val="black"/>
                </a:solidFill>
              </a:rPr>
              <a:t>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5" name="Shape 266"/>
          <p:cNvCxnSpPr>
            <a:cxnSpLocks noChangeShapeType="1"/>
            <a:stCxn id="42" idx="3"/>
            <a:endCxn id="43" idx="1"/>
          </p:cNvCxnSpPr>
          <p:nvPr/>
        </p:nvCxnSpPr>
        <p:spPr bwMode="auto">
          <a:xfrm>
            <a:off x="4592959" y="5569606"/>
            <a:ext cx="503716" cy="326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51" idx="3"/>
            <a:endCxn id="61" idx="1"/>
          </p:cNvCxnSpPr>
          <p:nvPr/>
        </p:nvCxnSpPr>
        <p:spPr bwMode="auto">
          <a:xfrm flipV="1">
            <a:off x="7108088" y="5569604"/>
            <a:ext cx="400855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61" idx="3"/>
            <a:endCxn id="36" idx="3"/>
          </p:cNvCxnSpPr>
          <p:nvPr/>
        </p:nvCxnSpPr>
        <p:spPr bwMode="auto">
          <a:xfrm flipV="1">
            <a:off x="8265368" y="4546471"/>
            <a:ext cx="359699" cy="102313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32" idx="0"/>
            <a:endCxn id="41" idx="1"/>
          </p:cNvCxnSpPr>
          <p:nvPr/>
        </p:nvCxnSpPr>
        <p:spPr bwMode="auto">
          <a:xfrm>
            <a:off x="2253041" y="4546471"/>
            <a:ext cx="341356" cy="102313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5096675" y="54124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3. </a:t>
            </a:r>
            <a:r>
              <a:rPr lang="ko-KR" altLang="en-US" sz="900" kern="0" dirty="0">
                <a:solidFill>
                  <a:srgbClr val="197EC6"/>
                </a:solidFill>
              </a:rPr>
              <a:t>자금배정 요청 승인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44" name="Shape 266"/>
          <p:cNvCxnSpPr>
            <a:cxnSpLocks noChangeShapeType="1"/>
            <a:stCxn id="43" idx="3"/>
            <a:endCxn id="51" idx="1"/>
          </p:cNvCxnSpPr>
          <p:nvPr/>
        </p:nvCxnSpPr>
        <p:spPr bwMode="auto">
          <a:xfrm flipV="1">
            <a:off x="5853100" y="5569605"/>
            <a:ext cx="498563" cy="32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86662373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동일한 부서 내에서 배정요청과 배정승인 이루어지는 과정을 업무프로세스를 전산화하여 배정요청과  배정승인을 분리하여 처리되게 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3.2.2.15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자금배정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9407944"/>
              </p:ext>
            </p:extLst>
          </p:nvPr>
        </p:nvGraphicFramePr>
        <p:xfrm>
          <a:off x="344489" y="1584356"/>
          <a:ext cx="9181019" cy="3521946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3825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55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지출예정금액확인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회계부서는 익일 지출예정금액과 계좌 잔액을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자금배정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공단본부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재무관리팀은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통합재무정보시스템을 통하여 자금배정 요청서를 작성하고 승인을 요청하고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타 사업본부는 오프라인으로 자금배정을 요청하였으나 전산으로 처리하도록 개선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자금배정요청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자금배정 요청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공단본부 재무관리팀장은 요청된 자금 배정 요청 승인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재무관리팀장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타 사업본부는 회계팀장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경정사업본부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행정지원팀장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과학원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자금배정요청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 배정 요청 접수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공단본부 자금운용팀은 자금 배정 요청을 접수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자금배정요청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자금배정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공단본부 자금운용팀장은 자금 배정을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자금배정요청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자금배정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승인된 자금 배정요청에 대하여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ITMS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를 통한 이체를 실행하여 자금을 배정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자금배정요청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ITMS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자금배정 통보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이체완료 후 자금배정 요청자에게 자금 배정 완료 통보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자금배정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자금부서에서 배정된 자금을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자금배정요청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3647696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표 25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56484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48427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7606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1.6.3.1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금융상품선정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1.6.3.2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금융상품운용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47704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이사장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477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자금운용팀장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4842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자금운용팀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금융상품관리 </a:t>
            </a:r>
            <a:r>
              <a:rPr lang="ko-KR" altLang="en-US" sz="1600" dirty="0">
                <a:latin typeface="+mn-ea"/>
                <a:ea typeface="+mn-ea"/>
              </a:rPr>
              <a:t>업무는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금융상품선정</a:t>
            </a:r>
            <a:r>
              <a:rPr kumimoji="1" lang="en-US" altLang="ko-KR" sz="1600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금융상품운용 </a:t>
            </a:r>
            <a:r>
              <a:rPr lang="ko-KR" altLang="en-US" sz="1600" dirty="0">
                <a:latin typeface="+mn-ea"/>
                <a:ea typeface="+mn-ea"/>
              </a:rPr>
              <a:t>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이자수익 등의 전표처리와 금융상품의 운용결과를 처리하고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그 내용을 수입관리에서 </a:t>
            </a:r>
            <a:r>
              <a:rPr lang="ko-KR" altLang="en-US" dirty="0" err="1">
                <a:latin typeface="+mn-ea"/>
                <a:ea typeface="+mn-ea"/>
              </a:rPr>
              <a:t>전표처리하도록</a:t>
            </a:r>
            <a:r>
              <a:rPr lang="ko-KR" altLang="en-US" dirty="0">
                <a:latin typeface="+mn-ea"/>
                <a:ea typeface="+mn-ea"/>
              </a:rPr>
              <a:t> 개선함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3.2.2.16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금융상품관리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1.6.3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금융상품관리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0" name="직사각형 29"/>
          <p:cNvSpPr/>
          <p:nvPr/>
        </p:nvSpPr>
        <p:spPr bwMode="auto">
          <a:xfrm>
            <a:off x="1496231" y="479715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금융상품 검색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1" name="직사각형 30"/>
          <p:cNvSpPr/>
          <p:nvPr/>
        </p:nvSpPr>
        <p:spPr bwMode="auto">
          <a:xfrm>
            <a:off x="1495830" y="55172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금융상품 선정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2" name="직사각형 31"/>
          <p:cNvSpPr/>
          <p:nvPr/>
        </p:nvSpPr>
        <p:spPr bwMode="auto">
          <a:xfrm>
            <a:off x="2792760" y="4797152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자금운용계획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/>
            <a:r>
              <a:rPr lang="ko-KR" altLang="en-US" sz="900" kern="0" dirty="0">
                <a:solidFill>
                  <a:prstClr val="black"/>
                </a:solidFill>
              </a:rPr>
              <a:t>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2792760" y="55172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자금운용 계획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792760" y="3252245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자금운용 계획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5" name="직사각형 34"/>
          <p:cNvSpPr/>
          <p:nvPr/>
        </p:nvSpPr>
        <p:spPr bwMode="auto">
          <a:xfrm>
            <a:off x="2792760" y="2460157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자금운용 계획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6" name="직사각형 35"/>
          <p:cNvSpPr/>
          <p:nvPr/>
        </p:nvSpPr>
        <p:spPr bwMode="auto">
          <a:xfrm>
            <a:off x="5133021" y="39134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이자계산 </a:t>
            </a: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미수수익</a:t>
            </a:r>
            <a:r>
              <a:rPr lang="en-US" altLang="ko-KR" sz="900" kern="0" dirty="0">
                <a:solidFill>
                  <a:prstClr val="black"/>
                </a:solidFill>
              </a:rPr>
              <a:t>)</a:t>
            </a:r>
          </a:p>
        </p:txBody>
      </p:sp>
      <p:sp>
        <p:nvSpPr>
          <p:cNvPr id="37" name="직사각형 36"/>
          <p:cNvSpPr/>
          <p:nvPr/>
        </p:nvSpPr>
        <p:spPr bwMode="auto">
          <a:xfrm>
            <a:off x="6248803" y="49042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10. </a:t>
            </a:r>
            <a:r>
              <a:rPr lang="ko-KR" altLang="en-US" sz="900" kern="0" dirty="0">
                <a:solidFill>
                  <a:srgbClr val="197EC6"/>
                </a:solidFill>
              </a:rPr>
              <a:t>전표처리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5133020" y="45123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금융상품 평가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3984416" y="49042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금융상품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8625408" y="49042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</a:rPr>
              <a:t>금융상품 운용 완료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59"/>
          <p:cNvGrpSpPr/>
          <p:nvPr/>
        </p:nvGrpSpPr>
        <p:grpSpPr>
          <a:xfrm flipH="1">
            <a:off x="1971180" y="5838003"/>
            <a:ext cx="307440" cy="371542"/>
            <a:chOff x="3031001" y="4475605"/>
            <a:chExt cx="322637" cy="371542"/>
          </a:xfrm>
        </p:grpSpPr>
        <p:sp>
          <p:nvSpPr>
            <p:cNvPr id="61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Freeform 176"/>
            <p:cNvSpPr>
              <a:spLocks noChangeArrowheads="1"/>
            </p:cNvSpPr>
            <p:nvPr/>
          </p:nvSpPr>
          <p:spPr bwMode="auto">
            <a:xfrm flipH="1">
              <a:off x="3031001" y="4549937"/>
              <a:ext cx="90051" cy="29721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3" name="Rectangle 179"/>
          <p:cNvSpPr>
            <a:spLocks noChangeArrowheads="1"/>
          </p:cNvSpPr>
          <p:nvPr/>
        </p:nvSpPr>
        <p:spPr bwMode="auto">
          <a:xfrm flipH="1">
            <a:off x="2258866" y="5939871"/>
            <a:ext cx="193804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공단 자금운용지침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금융기관 및 위탁운영기관 선정기준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68" name="Shape 266"/>
          <p:cNvCxnSpPr>
            <a:cxnSpLocks noChangeShapeType="1"/>
            <a:stCxn id="28" idx="2"/>
            <a:endCxn id="30" idx="0"/>
          </p:cNvCxnSpPr>
          <p:nvPr/>
        </p:nvCxnSpPr>
        <p:spPr bwMode="auto">
          <a:xfrm flipH="1">
            <a:off x="1874444" y="4273401"/>
            <a:ext cx="555" cy="5237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6"/>
          <p:cNvGrpSpPr/>
          <p:nvPr/>
        </p:nvGrpSpPr>
        <p:grpSpPr>
          <a:xfrm>
            <a:off x="1496616" y="3868654"/>
            <a:ext cx="756425" cy="410305"/>
            <a:chOff x="1496616" y="3868654"/>
            <a:chExt cx="756425" cy="410305"/>
          </a:xfrm>
        </p:grpSpPr>
        <p:sp>
          <p:nvSpPr>
            <p:cNvPr id="28" name="직사각형 27"/>
            <p:cNvSpPr/>
            <p:nvPr/>
          </p:nvSpPr>
          <p:spPr>
            <a:xfrm>
              <a:off x="1625098" y="3879649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9" name="육각형 28"/>
            <p:cNvSpPr/>
            <p:nvPr/>
          </p:nvSpPr>
          <p:spPr bwMode="auto">
            <a:xfrm>
              <a:off x="1496616" y="3868654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매월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69" name="Shape 266"/>
          <p:cNvCxnSpPr>
            <a:cxnSpLocks noChangeShapeType="1"/>
            <a:stCxn id="30" idx="2"/>
            <a:endCxn id="31" idx="0"/>
          </p:cNvCxnSpPr>
          <p:nvPr/>
        </p:nvCxnSpPr>
        <p:spPr bwMode="auto">
          <a:xfrm flipH="1">
            <a:off x="1874043" y="5117923"/>
            <a:ext cx="401" cy="3993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31" idx="3"/>
            <a:endCxn id="33" idx="1"/>
          </p:cNvCxnSpPr>
          <p:nvPr/>
        </p:nvCxnSpPr>
        <p:spPr bwMode="auto">
          <a:xfrm>
            <a:off x="2252255" y="5677618"/>
            <a:ext cx="54050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" name="Shape 266"/>
          <p:cNvCxnSpPr>
            <a:cxnSpLocks noChangeShapeType="1"/>
            <a:stCxn id="33" idx="0"/>
            <a:endCxn id="32" idx="2"/>
          </p:cNvCxnSpPr>
          <p:nvPr/>
        </p:nvCxnSpPr>
        <p:spPr bwMode="auto">
          <a:xfrm flipV="1">
            <a:off x="3170973" y="5117923"/>
            <a:ext cx="0" cy="3993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" name="Shape 266"/>
          <p:cNvCxnSpPr>
            <a:cxnSpLocks noChangeShapeType="1"/>
            <a:stCxn id="32" idx="0"/>
            <a:endCxn id="34" idx="2"/>
          </p:cNvCxnSpPr>
          <p:nvPr/>
        </p:nvCxnSpPr>
        <p:spPr bwMode="auto">
          <a:xfrm flipV="1">
            <a:off x="3170973" y="3573016"/>
            <a:ext cx="0" cy="12241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34" idx="0"/>
            <a:endCxn id="35" idx="2"/>
          </p:cNvCxnSpPr>
          <p:nvPr/>
        </p:nvCxnSpPr>
        <p:spPr bwMode="auto">
          <a:xfrm flipV="1">
            <a:off x="3170973" y="2780928"/>
            <a:ext cx="0" cy="4713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35" idx="3"/>
            <a:endCxn id="64" idx="0"/>
          </p:cNvCxnSpPr>
          <p:nvPr/>
        </p:nvCxnSpPr>
        <p:spPr bwMode="auto">
          <a:xfrm>
            <a:off x="3549185" y="2620543"/>
            <a:ext cx="813444" cy="129559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39" idx="3"/>
            <a:endCxn id="36" idx="1"/>
          </p:cNvCxnSpPr>
          <p:nvPr/>
        </p:nvCxnSpPr>
        <p:spPr bwMode="auto">
          <a:xfrm flipV="1">
            <a:off x="4740841" y="4073806"/>
            <a:ext cx="392180" cy="99087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" name="Shape 266"/>
          <p:cNvCxnSpPr>
            <a:cxnSpLocks noChangeShapeType="1"/>
            <a:stCxn id="39" idx="3"/>
            <a:endCxn id="38" idx="1"/>
          </p:cNvCxnSpPr>
          <p:nvPr/>
        </p:nvCxnSpPr>
        <p:spPr bwMode="auto">
          <a:xfrm flipV="1">
            <a:off x="4740841" y="4672771"/>
            <a:ext cx="392179" cy="39191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" name="Shape 266"/>
          <p:cNvCxnSpPr>
            <a:cxnSpLocks noChangeShapeType="1"/>
            <a:stCxn id="36" idx="3"/>
            <a:endCxn id="37" idx="1"/>
          </p:cNvCxnSpPr>
          <p:nvPr/>
        </p:nvCxnSpPr>
        <p:spPr bwMode="auto">
          <a:xfrm>
            <a:off x="5889446" y="4073806"/>
            <a:ext cx="359357" cy="99087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38" idx="3"/>
            <a:endCxn id="37" idx="1"/>
          </p:cNvCxnSpPr>
          <p:nvPr/>
        </p:nvCxnSpPr>
        <p:spPr bwMode="auto">
          <a:xfrm>
            <a:off x="5889445" y="4672771"/>
            <a:ext cx="359358" cy="39191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37" idx="3"/>
            <a:endCxn id="86" idx="1"/>
          </p:cNvCxnSpPr>
          <p:nvPr/>
        </p:nvCxnSpPr>
        <p:spPr bwMode="auto">
          <a:xfrm flipV="1">
            <a:off x="7005228" y="5064682"/>
            <a:ext cx="384550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41" idx="0"/>
            <a:endCxn id="66" idx="2"/>
          </p:cNvCxnSpPr>
          <p:nvPr/>
        </p:nvCxnSpPr>
        <p:spPr bwMode="auto">
          <a:xfrm flipH="1" flipV="1">
            <a:off x="8996215" y="4589831"/>
            <a:ext cx="7406" cy="3144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8" name="Shape 266"/>
          <p:cNvCxnSpPr>
            <a:cxnSpLocks noChangeShapeType="1"/>
            <a:stCxn id="39" idx="3"/>
            <a:endCxn id="37" idx="1"/>
          </p:cNvCxnSpPr>
          <p:nvPr/>
        </p:nvCxnSpPr>
        <p:spPr bwMode="auto">
          <a:xfrm>
            <a:off x="4740841" y="5064683"/>
            <a:ext cx="150796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" name="순서도: 종속 처리 64"/>
          <p:cNvSpPr>
            <a:spLocks noChangeAspect="1" noChangeArrowheads="1"/>
          </p:cNvSpPr>
          <p:nvPr/>
        </p:nvSpPr>
        <p:spPr bwMode="auto">
          <a:xfrm>
            <a:off x="8625833" y="5924513"/>
            <a:ext cx="756000" cy="312047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1.2.1.2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징수요구</a:t>
            </a:r>
          </a:p>
        </p:txBody>
      </p:sp>
      <p:cxnSp>
        <p:nvCxnSpPr>
          <p:cNvPr id="103" name="Shape 266"/>
          <p:cNvCxnSpPr>
            <a:cxnSpLocks noChangeShapeType="1"/>
            <a:stCxn id="41" idx="2"/>
            <a:endCxn id="76" idx="0"/>
          </p:cNvCxnSpPr>
          <p:nvPr/>
        </p:nvCxnSpPr>
        <p:spPr bwMode="auto">
          <a:xfrm>
            <a:off x="9003621" y="5225068"/>
            <a:ext cx="0" cy="1893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순서도: 종속 처리 64">
            <a:extLst>
              <a:ext uri="{FF2B5EF4-FFF2-40B4-BE49-F238E27FC236}">
                <a16:creationId xmlns="" xmlns:a16="http://schemas.microsoft.com/office/drawing/2014/main" id="{17774811-C280-4D05-ABF8-8A3F5C78AEC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983717" y="5596187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1.3.1.2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지출요구</a:t>
            </a:r>
          </a:p>
        </p:txBody>
      </p:sp>
      <p:cxnSp>
        <p:nvCxnSpPr>
          <p:cNvPr id="54" name="Shape 266">
            <a:extLst>
              <a:ext uri="{FF2B5EF4-FFF2-40B4-BE49-F238E27FC236}">
                <a16:creationId xmlns="" xmlns:a16="http://schemas.microsoft.com/office/drawing/2014/main" id="{E7069F61-F383-4CE8-BAC2-3DAB298832FE}"/>
              </a:ext>
            </a:extLst>
          </p:cNvPr>
          <p:cNvCxnSpPr>
            <a:cxnSpLocks noChangeShapeType="1"/>
            <a:stCxn id="39" idx="2"/>
            <a:endCxn id="53" idx="0"/>
          </p:cNvCxnSpPr>
          <p:nvPr/>
        </p:nvCxnSpPr>
        <p:spPr bwMode="auto">
          <a:xfrm>
            <a:off x="4362629" y="5225068"/>
            <a:ext cx="0" cy="3711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직사각형 63"/>
          <p:cNvSpPr/>
          <p:nvPr/>
        </p:nvSpPr>
        <p:spPr bwMode="auto">
          <a:xfrm>
            <a:off x="3984416" y="3916139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금융상품 취득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4" name="Shape 266"/>
          <p:cNvCxnSpPr>
            <a:cxnSpLocks noChangeShapeType="1"/>
            <a:stCxn id="64" idx="2"/>
            <a:endCxn id="39" idx="0"/>
          </p:cNvCxnSpPr>
          <p:nvPr/>
        </p:nvCxnSpPr>
        <p:spPr bwMode="auto">
          <a:xfrm>
            <a:off x="4362629" y="4236910"/>
            <a:ext cx="0" cy="66738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15"/>
          <p:cNvGrpSpPr/>
          <p:nvPr/>
        </p:nvGrpSpPr>
        <p:grpSpPr>
          <a:xfrm>
            <a:off x="8617832" y="4185084"/>
            <a:ext cx="756425" cy="410305"/>
            <a:chOff x="7926821" y="3863096"/>
            <a:chExt cx="756425" cy="410305"/>
          </a:xfrm>
        </p:grpSpPr>
        <p:sp>
          <p:nvSpPr>
            <p:cNvPr id="66" name="직사각형 65"/>
            <p:cNvSpPr/>
            <p:nvPr/>
          </p:nvSpPr>
          <p:spPr>
            <a:xfrm>
              <a:off x="8055303" y="3874091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7" name="육각형 66"/>
            <p:cNvSpPr/>
            <p:nvPr/>
          </p:nvSpPr>
          <p:spPr bwMode="auto">
            <a:xfrm>
              <a:off x="7926821" y="3863096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8" name="그룹 77"/>
          <p:cNvGrpSpPr/>
          <p:nvPr/>
        </p:nvGrpSpPr>
        <p:grpSpPr>
          <a:xfrm flipH="1">
            <a:off x="4741796" y="5766112"/>
            <a:ext cx="307440" cy="471200"/>
            <a:chOff x="3031001" y="4475605"/>
            <a:chExt cx="322637" cy="471200"/>
          </a:xfrm>
        </p:grpSpPr>
        <p:sp>
          <p:nvSpPr>
            <p:cNvPr id="80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1" name="Freeform 176"/>
            <p:cNvSpPr>
              <a:spLocks noChangeArrowheads="1"/>
            </p:cNvSpPr>
            <p:nvPr/>
          </p:nvSpPr>
          <p:spPr bwMode="auto">
            <a:xfrm flipH="1">
              <a:off x="3031001" y="4549937"/>
              <a:ext cx="90051" cy="39686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2" name="Rectangle 179"/>
          <p:cNvSpPr>
            <a:spLocks noChangeArrowheads="1"/>
          </p:cNvSpPr>
          <p:nvPr/>
        </p:nvSpPr>
        <p:spPr bwMode="auto">
          <a:xfrm flipH="1">
            <a:off x="5029481" y="5867980"/>
            <a:ext cx="114138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수입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/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지출 차액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연 </a:t>
            </a: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</a:t>
            </a: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회 지출결의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기금회계 만 처리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6" name="순서도: 판단 58"/>
          <p:cNvSpPr>
            <a:spLocks noChangeAspect="1" noChangeArrowheads="1"/>
          </p:cNvSpPr>
          <p:nvPr/>
        </p:nvSpPr>
        <p:spPr bwMode="auto">
          <a:xfrm>
            <a:off x="7389778" y="4904296"/>
            <a:ext cx="756425" cy="320772"/>
          </a:xfrm>
          <a:prstGeom prst="flowChartDecision">
            <a:avLst/>
          </a:prstGeom>
          <a:noFill/>
          <a:ln w="1397" algn="ctr">
            <a:solidFill>
              <a:sysClr val="windowText" lastClr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만기 해지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937479" y="5124650"/>
            <a:ext cx="30008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예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740238" y="4703483"/>
            <a:ext cx="5309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아니오</a:t>
            </a:r>
          </a:p>
        </p:txBody>
      </p:sp>
      <p:cxnSp>
        <p:nvCxnSpPr>
          <p:cNvPr id="90" name="Shape 266"/>
          <p:cNvCxnSpPr>
            <a:cxnSpLocks noChangeShapeType="1"/>
            <a:stCxn id="86" idx="3"/>
            <a:endCxn id="41" idx="1"/>
          </p:cNvCxnSpPr>
          <p:nvPr/>
        </p:nvCxnSpPr>
        <p:spPr bwMode="auto">
          <a:xfrm>
            <a:off x="8146203" y="5064682"/>
            <a:ext cx="479205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" name="직사각형 98"/>
          <p:cNvSpPr/>
          <p:nvPr/>
        </p:nvSpPr>
        <p:spPr bwMode="auto">
          <a:xfrm>
            <a:off x="7389437" y="391341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</a:rPr>
              <a:t>중도해지 사유 보고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00" name="직사각형 99"/>
          <p:cNvSpPr/>
          <p:nvPr/>
        </p:nvSpPr>
        <p:spPr bwMode="auto">
          <a:xfrm>
            <a:off x="7389437" y="324188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</a:rPr>
              <a:t>중도해지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01" name="직사각형 100"/>
          <p:cNvSpPr/>
          <p:nvPr/>
        </p:nvSpPr>
        <p:spPr bwMode="auto">
          <a:xfrm>
            <a:off x="7389437" y="24679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</a:rPr>
              <a:t>중도해지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6" name="Shape 266"/>
          <p:cNvCxnSpPr>
            <a:cxnSpLocks noChangeShapeType="1"/>
            <a:stCxn id="86" idx="0"/>
            <a:endCxn id="99" idx="2"/>
          </p:cNvCxnSpPr>
          <p:nvPr/>
        </p:nvCxnSpPr>
        <p:spPr bwMode="auto">
          <a:xfrm flipH="1" flipV="1">
            <a:off x="7767650" y="4234190"/>
            <a:ext cx="341" cy="67010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/>
          <p:cNvCxnSpPr>
            <a:cxnSpLocks noChangeShapeType="1"/>
            <a:stCxn id="99" idx="0"/>
            <a:endCxn id="100" idx="2"/>
          </p:cNvCxnSpPr>
          <p:nvPr/>
        </p:nvCxnSpPr>
        <p:spPr bwMode="auto">
          <a:xfrm flipV="1">
            <a:off x="7767650" y="3562653"/>
            <a:ext cx="0" cy="3507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" name="Shape 266"/>
          <p:cNvCxnSpPr>
            <a:cxnSpLocks noChangeShapeType="1"/>
            <a:stCxn id="100" idx="0"/>
            <a:endCxn id="101" idx="2"/>
          </p:cNvCxnSpPr>
          <p:nvPr/>
        </p:nvCxnSpPr>
        <p:spPr bwMode="auto">
          <a:xfrm flipV="1">
            <a:off x="7767650" y="2788737"/>
            <a:ext cx="0" cy="4531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" name="Shape 266"/>
          <p:cNvCxnSpPr>
            <a:cxnSpLocks noChangeShapeType="1"/>
            <a:stCxn id="101" idx="3"/>
            <a:endCxn id="41" idx="1"/>
          </p:cNvCxnSpPr>
          <p:nvPr/>
        </p:nvCxnSpPr>
        <p:spPr bwMode="auto">
          <a:xfrm>
            <a:off x="8145862" y="2628352"/>
            <a:ext cx="479546" cy="243633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직사각형 75">
            <a:extLst>
              <a:ext uri="{FF2B5EF4-FFF2-40B4-BE49-F238E27FC236}">
                <a16:creationId xmlns="" xmlns:a16="http://schemas.microsoft.com/office/drawing/2014/main" id="{1B5260C9-FA00-4778-8383-64B1105FF33C}"/>
              </a:ext>
            </a:extLst>
          </p:cNvPr>
          <p:cNvSpPr/>
          <p:nvPr/>
        </p:nvSpPr>
        <p:spPr bwMode="auto">
          <a:xfrm>
            <a:off x="8625408" y="541440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14. </a:t>
            </a:r>
            <a:r>
              <a:rPr lang="ko-KR" altLang="en-US" sz="900" kern="0" dirty="0">
                <a:solidFill>
                  <a:srgbClr val="197EC6"/>
                </a:solidFill>
              </a:rPr>
              <a:t>운용결과</a:t>
            </a:r>
            <a:endParaRPr lang="en-US" altLang="ko-KR" sz="900" kern="0" dirty="0">
              <a:solidFill>
                <a:srgbClr val="197EC6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전표처리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77" name="Shape 266">
            <a:extLst>
              <a:ext uri="{FF2B5EF4-FFF2-40B4-BE49-F238E27FC236}">
                <a16:creationId xmlns="" xmlns:a16="http://schemas.microsoft.com/office/drawing/2014/main" id="{FF4B8BCE-6E7B-4442-AB34-FE63B35CA846}"/>
              </a:ext>
            </a:extLst>
          </p:cNvPr>
          <p:cNvCxnSpPr>
            <a:cxnSpLocks noChangeShapeType="1"/>
            <a:stCxn id="76" idx="2"/>
            <a:endCxn id="102" idx="0"/>
          </p:cNvCxnSpPr>
          <p:nvPr/>
        </p:nvCxnSpPr>
        <p:spPr bwMode="auto">
          <a:xfrm>
            <a:off x="9003621" y="5735176"/>
            <a:ext cx="212" cy="1893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>
            <a:extLst>
              <a:ext uri="{FF2B5EF4-FFF2-40B4-BE49-F238E27FC236}">
                <a16:creationId xmlns="" xmlns:a16="http://schemas.microsoft.com/office/drawing/2014/main" id="{0DDF27AF-89B7-46AA-84C5-26CA4CB64583}"/>
              </a:ext>
            </a:extLst>
          </p:cNvPr>
          <p:cNvCxnSpPr>
            <a:cxnSpLocks noChangeShapeType="1"/>
            <a:stCxn id="37" idx="2"/>
            <a:endCxn id="102" idx="1"/>
          </p:cNvCxnSpPr>
          <p:nvPr/>
        </p:nvCxnSpPr>
        <p:spPr bwMode="auto">
          <a:xfrm rot="16200000" flipH="1">
            <a:off x="7198690" y="4653393"/>
            <a:ext cx="855469" cy="199881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19245939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금융상품관리 </a:t>
            </a:r>
            <a:r>
              <a:rPr lang="ko-KR" altLang="en-US" dirty="0">
                <a:latin typeface="+mn-ea"/>
              </a:rPr>
              <a:t>업무는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금융상품선정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금융상품운용 </a:t>
            </a:r>
            <a:r>
              <a:rPr lang="ko-KR" altLang="en-US" dirty="0">
                <a:latin typeface="+mn-ea"/>
              </a:rPr>
              <a:t>업무로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이자수익 등의 전표처리와 금융상품의 운용결과를 처리하고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그 내용을 수입관리에서 전표처리 하도록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3.2.2.16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금융상품관리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6485010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7306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319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97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검색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 운용을 위한 금융상품을 검색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선정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공단 자산운용지침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금융기관 및 위탁운영기관선정 기준에 따라 자금 운용을    위한 금융상품 선정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 계획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선정된 금융상품에 대한 자금운용계획을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자금운용계획 승인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작성된 자금운용계획을 승인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자금운용계획정보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자금운용계획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자금운용계획 검토 및 승인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자금운용계획정보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그룹웨어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취득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자금운용계획에 의하여 승인된 금융상품을 취득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등록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계좌정보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만기일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이자율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금융상품정보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이자계산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미수금액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계좌정보에 따라 이자를 계산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이자금액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금융상품평가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평가 손익을 수기로 입력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평가손익정보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전표처리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이자 및 평가 내역의 전표를 생성하고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그 내용을 수입관리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수입결의와 수입처리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에서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이자 및 평가손익정보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5881881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금융상품관리 </a:t>
            </a:r>
            <a:r>
              <a:rPr lang="ko-KR" altLang="en-US" dirty="0">
                <a:latin typeface="+mn-ea"/>
                <a:ea typeface="+mn-ea"/>
              </a:rPr>
              <a:t>업무는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금융상품선정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금융상품운용 </a:t>
            </a:r>
            <a:r>
              <a:rPr lang="ko-KR" altLang="en-US" dirty="0">
                <a:latin typeface="+mn-ea"/>
                <a:ea typeface="+mn-ea"/>
              </a:rPr>
              <a:t>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이자수익 등의 전표처리와 금융상품의 운용결과를 처리하고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그 내용을 수입관리에서 전표처리 하도록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3.2.2.16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금융상품관리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3420682"/>
              </p:ext>
            </p:extLst>
          </p:nvPr>
        </p:nvGraphicFramePr>
        <p:xfrm>
          <a:off x="344489" y="1584356"/>
          <a:ext cx="9181019" cy="1999074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87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55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중도해지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사유 보고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운용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중인 금융상품에 대하여 중도 해지 사유가 발생 했을 경우 해당 사유를    자금운용팀장과 이사장에게 보고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중도해지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된 중도해지 사유에 따라 운용 중인 금융상품의 중도해지를 승인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 운용 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중도해지 또는 만기 해지에 따른 금융상품 운용 완료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금융상품 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운용결과 전표처리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만기해지 또는 중도해지 처리된 금융상품의 종류와 금액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증식된 이자 등 금액의 정보를 수입관리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수입결의와 수입처리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에서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금융상품 운용 결과 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만기해지금액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증식된 이자 등 금액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7885652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7296802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" name="표 49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42296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8813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05678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1.7.1.1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부가금신고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1.7.1.2 </a:t>
                      </a:r>
                      <a:r>
                        <a:rPr lang="ko-KR" alt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부가금납부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95508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자금팀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2018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골프장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부가금관리 </a:t>
            </a:r>
            <a:r>
              <a:rPr lang="ko-KR" altLang="en-US" sz="1600" dirty="0">
                <a:latin typeface="+mn-ea"/>
                <a:ea typeface="+mn-ea"/>
              </a:rPr>
              <a:t>업무는 회원제골프장에 입장하는 이용객이 부담하는 골프장부가금을 집계 관리하는 업무프로세스로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부가금신고</a:t>
            </a:r>
            <a:r>
              <a:rPr kumimoji="1" lang="en-US" altLang="ko-KR" sz="1600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부가금납부 </a:t>
            </a:r>
            <a:r>
              <a:rPr lang="ko-KR" altLang="en-US" sz="1600" dirty="0">
                <a:latin typeface="+mn-ea"/>
                <a:ea typeface="+mn-ea"/>
              </a:rPr>
              <a:t>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부가금관리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부가금관리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1.7.1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부가금관리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직사각형 6"/>
          <p:cNvSpPr/>
          <p:nvPr/>
        </p:nvSpPr>
        <p:spPr bwMode="auto">
          <a:xfrm>
            <a:off x="1533132" y="5078169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부가금 신고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" name="직사각형 11"/>
          <p:cNvSpPr/>
          <p:nvPr/>
        </p:nvSpPr>
        <p:spPr bwMode="auto">
          <a:xfrm>
            <a:off x="3311209" y="247933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부가금</a:t>
            </a:r>
            <a:r>
              <a:rPr lang="en-US" altLang="ko-KR" sz="900" kern="0" dirty="0">
                <a:solidFill>
                  <a:prstClr val="black"/>
                </a:solidFill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</a:rPr>
              <a:t>납부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4" name="순서도: 종속 처리 13"/>
          <p:cNvSpPr>
            <a:spLocks noChangeAspect="1" noChangeArrowheads="1"/>
          </p:cNvSpPr>
          <p:nvPr/>
        </p:nvSpPr>
        <p:spPr bwMode="auto">
          <a:xfrm>
            <a:off x="6517685" y="3654298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1.2.1.2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징수요구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2611887" y="50767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부가금 납부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7" name="순서도: 종속 처리 16"/>
          <p:cNvSpPr>
            <a:spLocks noChangeAspect="1" noChangeArrowheads="1"/>
          </p:cNvSpPr>
          <p:nvPr/>
        </p:nvSpPr>
        <p:spPr bwMode="auto">
          <a:xfrm>
            <a:off x="7653645" y="3654297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1.2.1.4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수납요구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23" name="Shape 266"/>
          <p:cNvCxnSpPr>
            <a:cxnSpLocks noChangeShapeType="1"/>
            <a:stCxn id="36" idx="0"/>
            <a:endCxn id="7" idx="2"/>
          </p:cNvCxnSpPr>
          <p:nvPr/>
        </p:nvCxnSpPr>
        <p:spPr bwMode="auto">
          <a:xfrm flipV="1">
            <a:off x="1911003" y="5398940"/>
            <a:ext cx="342" cy="2590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Shape 266"/>
          <p:cNvCxnSpPr>
            <a:cxnSpLocks noChangeShapeType="1"/>
            <a:stCxn id="7" idx="0"/>
            <a:endCxn id="12" idx="1"/>
          </p:cNvCxnSpPr>
          <p:nvPr/>
        </p:nvCxnSpPr>
        <p:spPr bwMode="auto">
          <a:xfrm rot="5400000" flipH="1" flipV="1">
            <a:off x="1392055" y="3159015"/>
            <a:ext cx="2438445" cy="139986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" name="Shape 266"/>
          <p:cNvCxnSpPr>
            <a:cxnSpLocks noChangeShapeType="1"/>
            <a:stCxn id="12" idx="2"/>
            <a:endCxn id="86" idx="0"/>
          </p:cNvCxnSpPr>
          <p:nvPr/>
        </p:nvCxnSpPr>
        <p:spPr bwMode="auto">
          <a:xfrm>
            <a:off x="3689422" y="2800109"/>
            <a:ext cx="1" cy="1968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7" name="Shape 266"/>
          <p:cNvCxnSpPr>
            <a:cxnSpLocks noChangeShapeType="1"/>
            <a:stCxn id="86" idx="2"/>
            <a:endCxn id="91" idx="1"/>
          </p:cNvCxnSpPr>
          <p:nvPr/>
        </p:nvCxnSpPr>
        <p:spPr bwMode="auto">
          <a:xfrm rot="16200000" flipH="1">
            <a:off x="3481836" y="3554318"/>
            <a:ext cx="1102687" cy="68751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" name="Shape 266"/>
          <p:cNvCxnSpPr>
            <a:cxnSpLocks noChangeShapeType="1"/>
            <a:stCxn id="14" idx="3"/>
            <a:endCxn id="17" idx="1"/>
          </p:cNvCxnSpPr>
          <p:nvPr/>
        </p:nvCxnSpPr>
        <p:spPr bwMode="auto">
          <a:xfrm flipV="1">
            <a:off x="7274110" y="3814683"/>
            <a:ext cx="379535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6" name="Shape 266"/>
          <p:cNvCxnSpPr>
            <a:cxnSpLocks noChangeShapeType="1"/>
            <a:stCxn id="17" idx="3"/>
            <a:endCxn id="44" idx="3"/>
          </p:cNvCxnSpPr>
          <p:nvPr/>
        </p:nvCxnSpPr>
        <p:spPr bwMode="auto">
          <a:xfrm flipV="1">
            <a:off x="8410070" y="3814173"/>
            <a:ext cx="268836" cy="5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" name="Shape 266"/>
          <p:cNvCxnSpPr>
            <a:cxnSpLocks noChangeShapeType="1"/>
            <a:stCxn id="7" idx="3"/>
            <a:endCxn id="15" idx="1"/>
          </p:cNvCxnSpPr>
          <p:nvPr/>
        </p:nvCxnSpPr>
        <p:spPr bwMode="auto">
          <a:xfrm flipV="1">
            <a:off x="2289557" y="5237103"/>
            <a:ext cx="322330" cy="14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5"/>
          <p:cNvGrpSpPr/>
          <p:nvPr/>
        </p:nvGrpSpPr>
        <p:grpSpPr>
          <a:xfrm>
            <a:off x="1532620" y="5646987"/>
            <a:ext cx="756425" cy="410305"/>
            <a:chOff x="1819799" y="5513251"/>
            <a:chExt cx="756425" cy="410305"/>
          </a:xfrm>
        </p:grpSpPr>
        <p:sp>
          <p:nvSpPr>
            <p:cNvPr id="36" name="직사각형 35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38" name="육각형 37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매월 말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그룹 40"/>
          <p:cNvGrpSpPr/>
          <p:nvPr/>
        </p:nvGrpSpPr>
        <p:grpSpPr>
          <a:xfrm>
            <a:off x="8678906" y="3609020"/>
            <a:ext cx="756425" cy="410305"/>
            <a:chOff x="1819799" y="5513251"/>
            <a:chExt cx="756425" cy="410305"/>
          </a:xfrm>
        </p:grpSpPr>
        <p:sp>
          <p:nvSpPr>
            <p:cNvPr id="42" name="직사각형 41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44" name="육각형 43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8" name="그룹 58"/>
          <p:cNvGrpSpPr/>
          <p:nvPr/>
        </p:nvGrpSpPr>
        <p:grpSpPr>
          <a:xfrm flipH="1">
            <a:off x="3319728" y="4753407"/>
            <a:ext cx="272466" cy="321127"/>
            <a:chOff x="3031001" y="4484279"/>
            <a:chExt cx="285935" cy="321127"/>
          </a:xfrm>
        </p:grpSpPr>
        <p:sp>
          <p:nvSpPr>
            <p:cNvPr id="60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95878" cy="160742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Freeform 176"/>
            <p:cNvSpPr>
              <a:spLocks noChangeArrowheads="1"/>
            </p:cNvSpPr>
            <p:nvPr/>
          </p:nvSpPr>
          <p:spPr bwMode="auto">
            <a:xfrm flipH="1">
              <a:off x="3031001" y="4484279"/>
              <a:ext cx="90051" cy="249119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2" name="Rectangle 179"/>
          <p:cNvSpPr>
            <a:spLocks noChangeArrowheads="1"/>
          </p:cNvSpPr>
          <p:nvPr/>
        </p:nvSpPr>
        <p:spPr bwMode="auto">
          <a:xfrm flipH="1">
            <a:off x="3572434" y="4761148"/>
            <a:ext cx="133146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익월 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10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일 한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부가금 수수료 제외 금액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97" name="Shape 266"/>
          <p:cNvCxnSpPr>
            <a:cxnSpLocks noChangeShapeType="1"/>
            <a:stCxn id="102" idx="2"/>
            <a:endCxn id="14" idx="0"/>
          </p:cNvCxnSpPr>
          <p:nvPr/>
        </p:nvCxnSpPr>
        <p:spPr bwMode="auto">
          <a:xfrm>
            <a:off x="6887431" y="3332228"/>
            <a:ext cx="8467" cy="3220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" name="직사각형 101"/>
          <p:cNvSpPr/>
          <p:nvPr/>
        </p:nvSpPr>
        <p:spPr bwMode="auto">
          <a:xfrm>
            <a:off x="6509218" y="301145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</a:t>
            </a:r>
            <a:r>
              <a:rPr lang="ko-KR" altLang="en-US" sz="900" kern="0" dirty="0">
                <a:solidFill>
                  <a:prstClr val="black"/>
                </a:solidFill>
              </a:rPr>
              <a:t>세금계산서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5437593" y="365808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</a:t>
            </a:r>
            <a:r>
              <a:rPr lang="ko-KR" altLang="en-US" sz="900" kern="0" dirty="0">
                <a:solidFill>
                  <a:prstClr val="black"/>
                </a:solidFill>
              </a:rPr>
              <a:t>수수료 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6" name="Shape 266"/>
          <p:cNvCxnSpPr>
            <a:cxnSpLocks noChangeShapeType="1"/>
            <a:stCxn id="85" idx="3"/>
            <a:endCxn id="107" idx="1"/>
          </p:cNvCxnSpPr>
          <p:nvPr/>
        </p:nvCxnSpPr>
        <p:spPr bwMode="auto">
          <a:xfrm flipV="1">
            <a:off x="5133362" y="3171842"/>
            <a:ext cx="27002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" name="직사각형 84"/>
          <p:cNvSpPr/>
          <p:nvPr/>
        </p:nvSpPr>
        <p:spPr bwMode="auto">
          <a:xfrm>
            <a:off x="4376937" y="301145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납부 시기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6" name="순서도: 판단 58"/>
          <p:cNvSpPr>
            <a:spLocks noChangeAspect="1" noChangeArrowheads="1"/>
          </p:cNvSpPr>
          <p:nvPr/>
        </p:nvSpPr>
        <p:spPr bwMode="auto">
          <a:xfrm>
            <a:off x="3277007" y="2996952"/>
            <a:ext cx="824831" cy="349780"/>
          </a:xfrm>
          <a:prstGeom prst="flowChartDecision">
            <a:avLst/>
          </a:prstGeom>
          <a:noFill/>
          <a:ln w="1397" algn="ctr">
            <a:solidFill>
              <a:sysClr val="windowText" lastClr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납부</a:t>
            </a:r>
            <a:endParaRPr kumimoji="1" lang="en-US" altLang="ko-KR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여부</a:t>
            </a:r>
          </a:p>
        </p:txBody>
      </p:sp>
      <p:sp>
        <p:nvSpPr>
          <p:cNvPr id="91" name="순서도: 종속 처리 90"/>
          <p:cNvSpPr>
            <a:spLocks noChangeAspect="1" noChangeArrowheads="1"/>
          </p:cNvSpPr>
          <p:nvPr/>
        </p:nvSpPr>
        <p:spPr bwMode="auto">
          <a:xfrm>
            <a:off x="4376936" y="4289033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1.2.1.2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징수요구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07" name="순서도: 판단 58"/>
          <p:cNvSpPr>
            <a:spLocks noChangeAspect="1" noChangeArrowheads="1"/>
          </p:cNvSpPr>
          <p:nvPr/>
        </p:nvSpPr>
        <p:spPr bwMode="auto">
          <a:xfrm>
            <a:off x="5403391" y="2996952"/>
            <a:ext cx="824831" cy="349780"/>
          </a:xfrm>
          <a:prstGeom prst="flowChartDecision">
            <a:avLst/>
          </a:prstGeom>
          <a:noFill/>
          <a:ln w="1397" algn="ctr">
            <a:solidFill>
              <a:sysClr val="windowText" lastClr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기한 내</a:t>
            </a:r>
            <a:endParaRPr kumimoji="1" lang="en-US" altLang="ko-KR" sz="900" kern="0" dirty="0">
              <a:solidFill>
                <a:prstClr val="black"/>
              </a:solidFill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납부</a:t>
            </a:r>
          </a:p>
        </p:txBody>
      </p:sp>
      <p:cxnSp>
        <p:nvCxnSpPr>
          <p:cNvPr id="136" name="Shape 266"/>
          <p:cNvCxnSpPr>
            <a:cxnSpLocks noChangeShapeType="1"/>
            <a:stCxn id="86" idx="3"/>
            <a:endCxn id="85" idx="1"/>
          </p:cNvCxnSpPr>
          <p:nvPr/>
        </p:nvCxnSpPr>
        <p:spPr bwMode="auto">
          <a:xfrm>
            <a:off x="4101838" y="3171842"/>
            <a:ext cx="27509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4" name="Shape 266"/>
          <p:cNvCxnSpPr>
            <a:cxnSpLocks noChangeShapeType="1"/>
            <a:stCxn id="15" idx="0"/>
            <a:endCxn id="12" idx="1"/>
          </p:cNvCxnSpPr>
          <p:nvPr/>
        </p:nvCxnSpPr>
        <p:spPr bwMode="auto">
          <a:xfrm rot="5400000" flipH="1" flipV="1">
            <a:off x="1932158" y="3697667"/>
            <a:ext cx="2436993" cy="32110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0" name="Shape 266"/>
          <p:cNvCxnSpPr>
            <a:cxnSpLocks noChangeShapeType="1"/>
            <a:stCxn id="107" idx="3"/>
            <a:endCxn id="102" idx="1"/>
          </p:cNvCxnSpPr>
          <p:nvPr/>
        </p:nvCxnSpPr>
        <p:spPr bwMode="auto">
          <a:xfrm>
            <a:off x="6228222" y="3171842"/>
            <a:ext cx="280996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" name="Shape 266"/>
          <p:cNvCxnSpPr>
            <a:cxnSpLocks noChangeShapeType="1"/>
            <a:stCxn id="56" idx="3"/>
            <a:endCxn id="102" idx="1"/>
          </p:cNvCxnSpPr>
          <p:nvPr/>
        </p:nvCxnSpPr>
        <p:spPr bwMode="auto">
          <a:xfrm flipV="1">
            <a:off x="6194018" y="3171843"/>
            <a:ext cx="315200" cy="64662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6" name="Shape 266"/>
          <p:cNvCxnSpPr>
            <a:cxnSpLocks noChangeShapeType="1"/>
            <a:stCxn id="107" idx="2"/>
            <a:endCxn id="56" idx="0"/>
          </p:cNvCxnSpPr>
          <p:nvPr/>
        </p:nvCxnSpPr>
        <p:spPr bwMode="auto">
          <a:xfrm flipH="1">
            <a:off x="5815806" y="3346732"/>
            <a:ext cx="1" cy="3113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4" name="직사각형 173"/>
          <p:cNvSpPr/>
          <p:nvPr/>
        </p:nvSpPr>
        <p:spPr bwMode="auto">
          <a:xfrm>
            <a:off x="5439494" y="429414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체납 관리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80" name="Shape 266"/>
          <p:cNvCxnSpPr>
            <a:cxnSpLocks noChangeShapeType="1"/>
            <a:stCxn id="91" idx="3"/>
            <a:endCxn id="174" idx="1"/>
          </p:cNvCxnSpPr>
          <p:nvPr/>
        </p:nvCxnSpPr>
        <p:spPr bwMode="auto">
          <a:xfrm>
            <a:off x="5133361" y="4449419"/>
            <a:ext cx="306133" cy="511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3" name="Shape 266"/>
          <p:cNvCxnSpPr>
            <a:cxnSpLocks noChangeShapeType="1"/>
            <a:stCxn id="174" idx="2"/>
            <a:endCxn id="15" idx="3"/>
          </p:cNvCxnSpPr>
          <p:nvPr/>
        </p:nvCxnSpPr>
        <p:spPr bwMode="auto">
          <a:xfrm rot="5400000">
            <a:off x="4281917" y="3701313"/>
            <a:ext cx="622186" cy="244939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8" name="TextBox 187"/>
          <p:cNvSpPr txBox="1"/>
          <p:nvPr/>
        </p:nvSpPr>
        <p:spPr>
          <a:xfrm>
            <a:off x="3994392" y="2991651"/>
            <a:ext cx="30008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예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3671798" y="3356399"/>
            <a:ext cx="5309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아니오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138399" y="2991651"/>
            <a:ext cx="30008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예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5781092" y="3356399"/>
            <a:ext cx="5309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아니오</a:t>
            </a:r>
          </a:p>
        </p:txBody>
      </p:sp>
    </p:spTree>
    <p:extLst>
      <p:ext uri="{BB962C8B-B14F-4D97-AF65-F5344CB8AC3E}">
        <p14:creationId xmlns:p14="http://schemas.microsoft.com/office/powerpoint/2010/main" val="349501208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부가금관리 </a:t>
            </a:r>
            <a:r>
              <a:rPr lang="ko-KR" altLang="en-US" dirty="0">
                <a:latin typeface="+mn-ea"/>
                <a:ea typeface="+mn-ea"/>
              </a:rPr>
              <a:t>업무는 회원제골프장에 입장하는 이용객이 부담하는 골프장부가금을 집계 관리하는 업무프로세스로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부가금신고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부가금납부 </a:t>
            </a:r>
            <a:r>
              <a:rPr lang="ko-KR" altLang="en-US" dirty="0">
                <a:latin typeface="+mn-ea"/>
                <a:ea typeface="+mn-ea"/>
              </a:rPr>
              <a:t>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3.2.2.17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부가금관리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9441361"/>
              </p:ext>
            </p:extLst>
          </p:nvPr>
        </p:nvGraphicFramePr>
        <p:xfrm>
          <a:off x="344489" y="1584356"/>
          <a:ext cx="9181019" cy="3028746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555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97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부가금 신고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회원제골프장에서 매월말 당월분 부가금 납부액을 신고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부가금 납부 예정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부가금시스템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부가금 납부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월말 이후 익월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일에 기 신고한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부가금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납부액을 공단에 납부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부가금 납부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납부된 부가금을 확인하여 납부한 경우 납부시기를 확인하고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미납된 경우 징수요구 처리만 진행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납부내역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ITMS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납부 시기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납부된 부가금에 대하여 납부시기를 확인하고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당월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 이전 납입인지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 이후 납입인지 파악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수수료 조정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납부된 부가금이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 이후 납입인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 이후 경과일 동안의 부과금 수수료를 자동으로 조정 또는 사용자 입력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납부내역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세금계산서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골프장에서 발행한 수수료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골프부가금을 집계하여 공단에 납부하는 것에 대한 업무처리수수료를 공단에 청구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세금계산서를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체납관리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미납된 부가금에 대한 체납관리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별도의 행위를 하지 않으며 수납요구를 진행하지 않고 징수요구 상태 유지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납부내역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7007072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" name="표 57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7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4923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7525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1.8.1.1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융자공모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1.8.1.2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융자심의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2745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융자담당자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960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융자심의회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960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은행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960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신청업체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융자관리는 체육사업자들에게 사업자금과 운전자금을 대출하는 업무로 융자공모</a:t>
            </a:r>
            <a:r>
              <a:rPr kumimoji="1" lang="en-US" altLang="ko-KR" sz="1600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융자심의</a:t>
            </a:r>
            <a:r>
              <a:rPr kumimoji="1" lang="en-US" altLang="ko-KR" sz="1600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융자금 지급</a:t>
            </a:r>
            <a:r>
              <a:rPr kumimoji="1" lang="en-US" altLang="ko-KR" sz="1600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융자금상환 </a:t>
            </a:r>
            <a:r>
              <a:rPr lang="ko-KR" altLang="en-US" sz="1600" dirty="0">
                <a:latin typeface="+mn-ea"/>
                <a:ea typeface="+mn-ea"/>
              </a:rPr>
              <a:t>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융자관리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융자관리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융자관리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직사각형 26"/>
          <p:cNvSpPr/>
          <p:nvPr/>
        </p:nvSpPr>
        <p:spPr bwMode="auto">
          <a:xfrm>
            <a:off x="2612740" y="26016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융자공모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7" name="직사각형 46"/>
          <p:cNvSpPr/>
          <p:nvPr/>
        </p:nvSpPr>
        <p:spPr bwMode="auto">
          <a:xfrm>
            <a:off x="3823284" y="26016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신청모집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8" name="직사각형 47"/>
          <p:cNvSpPr/>
          <p:nvPr/>
        </p:nvSpPr>
        <p:spPr bwMode="auto">
          <a:xfrm>
            <a:off x="3823283" y="35202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5133020" y="43987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심의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2" name="직사각형 51"/>
          <p:cNvSpPr/>
          <p:nvPr/>
        </p:nvSpPr>
        <p:spPr bwMode="auto">
          <a:xfrm>
            <a:off x="6717196" y="35221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확정 및 확정통보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" name="직선 화살표 연결선 8"/>
          <p:cNvCxnSpPr>
            <a:stCxn id="67" idx="0"/>
            <a:endCxn id="27" idx="1"/>
          </p:cNvCxnSpPr>
          <p:nvPr/>
        </p:nvCxnSpPr>
        <p:spPr>
          <a:xfrm flipV="1">
            <a:off x="2175650" y="2761987"/>
            <a:ext cx="437090" cy="807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화살표 연결선 10"/>
          <p:cNvCxnSpPr>
            <a:stCxn id="27" idx="3"/>
            <a:endCxn id="47" idx="1"/>
          </p:cNvCxnSpPr>
          <p:nvPr/>
        </p:nvCxnSpPr>
        <p:spPr>
          <a:xfrm flipV="1">
            <a:off x="3369165" y="2761986"/>
            <a:ext cx="454119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/>
          <p:cNvCxnSpPr>
            <a:stCxn id="47" idx="2"/>
            <a:endCxn id="48" idx="0"/>
          </p:cNvCxnSpPr>
          <p:nvPr/>
        </p:nvCxnSpPr>
        <p:spPr>
          <a:xfrm rot="5400000">
            <a:off x="3902574" y="3221294"/>
            <a:ext cx="597846" cy="1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화살표 연결선 14"/>
          <p:cNvCxnSpPr>
            <a:stCxn id="48" idx="2"/>
            <a:endCxn id="51" idx="1"/>
          </p:cNvCxnSpPr>
          <p:nvPr/>
        </p:nvCxnSpPr>
        <p:spPr>
          <a:xfrm rot="16200000" flipH="1">
            <a:off x="4308193" y="3734291"/>
            <a:ext cx="718130" cy="931524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/>
          <p:cNvCxnSpPr>
            <a:stCxn id="51" idx="3"/>
            <a:endCxn id="52" idx="1"/>
          </p:cNvCxnSpPr>
          <p:nvPr/>
        </p:nvCxnSpPr>
        <p:spPr>
          <a:xfrm flipV="1">
            <a:off x="5889445" y="3682562"/>
            <a:ext cx="827751" cy="876556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/>
          <p:cNvSpPr/>
          <p:nvPr/>
        </p:nvSpPr>
        <p:spPr bwMode="auto">
          <a:xfrm>
            <a:off x="7725308" y="510854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확정통보 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9129464" y="551149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7" name="꺾인 연결선 6"/>
          <p:cNvCxnSpPr>
            <a:stCxn id="52" idx="2"/>
            <a:endCxn id="63" idx="1"/>
          </p:cNvCxnSpPr>
          <p:nvPr/>
        </p:nvCxnSpPr>
        <p:spPr>
          <a:xfrm rot="16200000" flipH="1">
            <a:off x="6697367" y="4240988"/>
            <a:ext cx="1425982" cy="62989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/>
          <p:cNvSpPr/>
          <p:nvPr/>
        </p:nvSpPr>
        <p:spPr bwMode="auto">
          <a:xfrm>
            <a:off x="7725309" y="58382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확정통보 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4" name="꺾인 연결선 53"/>
          <p:cNvCxnSpPr>
            <a:stCxn id="52" idx="2"/>
            <a:endCxn id="53" idx="1"/>
          </p:cNvCxnSpPr>
          <p:nvPr/>
        </p:nvCxnSpPr>
        <p:spPr>
          <a:xfrm rot="16200000" flipH="1">
            <a:off x="6332496" y="4605860"/>
            <a:ext cx="2155727" cy="629900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>
            <a:stCxn id="53" idx="3"/>
            <a:endCxn id="69" idx="2"/>
          </p:cNvCxnSpPr>
          <p:nvPr/>
        </p:nvCxnSpPr>
        <p:spPr>
          <a:xfrm flipV="1">
            <a:off x="8481734" y="5604372"/>
            <a:ext cx="647730" cy="39430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화살표 연결선 59"/>
          <p:cNvCxnSpPr>
            <a:stCxn id="63" idx="3"/>
            <a:endCxn id="69" idx="2"/>
          </p:cNvCxnSpPr>
          <p:nvPr/>
        </p:nvCxnSpPr>
        <p:spPr>
          <a:xfrm>
            <a:off x="8481733" y="5268929"/>
            <a:ext cx="647731" cy="33544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/>
          <p:cNvSpPr/>
          <p:nvPr/>
        </p:nvSpPr>
        <p:spPr bwMode="auto">
          <a:xfrm>
            <a:off x="2900772" y="58382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융자신청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9" name="직선 화살표 연결선 78"/>
          <p:cNvCxnSpPr>
            <a:stCxn id="78" idx="0"/>
            <a:endCxn id="48" idx="1"/>
          </p:cNvCxnSpPr>
          <p:nvPr/>
        </p:nvCxnSpPr>
        <p:spPr>
          <a:xfrm rot="5400000" flipH="1" flipV="1">
            <a:off x="2472292" y="4487297"/>
            <a:ext cx="2157685" cy="54429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61"/>
          <p:cNvGrpSpPr/>
          <p:nvPr/>
        </p:nvGrpSpPr>
        <p:grpSpPr>
          <a:xfrm>
            <a:off x="1419225" y="2564904"/>
            <a:ext cx="756425" cy="410305"/>
            <a:chOff x="1819799" y="5513251"/>
            <a:chExt cx="756425" cy="410305"/>
          </a:xfrm>
        </p:grpSpPr>
        <p:sp>
          <p:nvSpPr>
            <p:cNvPr id="66" name="직사각형 65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7" name="육각형 66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융자시작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470673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" name="표 57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1.8.1.3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융자금지급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95308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융자담당관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2018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융자담당자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296144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은행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신청업체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융자관리는 체육사업자들에게 사업자금과 운전자금을 대출하는 업무로 융자공모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융자심의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 지급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융자금상환 </a:t>
            </a:r>
            <a:r>
              <a:rPr lang="ko-KR" altLang="en-US" dirty="0">
                <a:latin typeface="+mn-ea"/>
                <a:ea typeface="+mn-ea"/>
              </a:rPr>
              <a:t>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융자관리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융자관리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융자관리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" name="직사각형 27"/>
          <p:cNvSpPr/>
          <p:nvPr/>
        </p:nvSpPr>
        <p:spPr bwMode="auto">
          <a:xfrm>
            <a:off x="6467666" y="40803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</a:rPr>
              <a:t>융자금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6463332" y="24208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</a:rPr>
              <a:t>융자금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7641572" y="354027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</a:rPr>
              <a:t>상환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상각 스케줄 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6465168" y="35542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</a:rPr>
              <a:t>융자금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4" name="직선 화살표 연결선 63"/>
          <p:cNvCxnSpPr>
            <a:stCxn id="28" idx="0"/>
            <a:endCxn id="56" idx="2"/>
          </p:cNvCxnSpPr>
          <p:nvPr/>
        </p:nvCxnSpPr>
        <p:spPr>
          <a:xfrm flipH="1" flipV="1">
            <a:off x="6843381" y="3874992"/>
            <a:ext cx="2498" cy="20534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화살표 연결선 24"/>
          <p:cNvCxnSpPr>
            <a:stCxn id="56" idx="0"/>
            <a:endCxn id="29" idx="2"/>
          </p:cNvCxnSpPr>
          <p:nvPr/>
        </p:nvCxnSpPr>
        <p:spPr>
          <a:xfrm flipH="1" flipV="1">
            <a:off x="6841545" y="2741659"/>
            <a:ext cx="1836" cy="81256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꺾인 연결선 64"/>
          <p:cNvCxnSpPr>
            <a:stCxn id="29" idx="3"/>
            <a:endCxn id="41" idx="0"/>
          </p:cNvCxnSpPr>
          <p:nvPr/>
        </p:nvCxnSpPr>
        <p:spPr>
          <a:xfrm>
            <a:off x="7219757" y="2581274"/>
            <a:ext cx="800028" cy="95900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타원 68"/>
          <p:cNvSpPr/>
          <p:nvPr/>
        </p:nvSpPr>
        <p:spPr>
          <a:xfrm>
            <a:off x="9129464" y="414755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70" name="직선 화살표 연결선 69"/>
          <p:cNvCxnSpPr>
            <a:stCxn id="41" idx="3"/>
            <a:endCxn id="69" idx="2"/>
          </p:cNvCxnSpPr>
          <p:nvPr/>
        </p:nvCxnSpPr>
        <p:spPr>
          <a:xfrm>
            <a:off x="8397997" y="3700663"/>
            <a:ext cx="731467" cy="539771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순서도: 종속 처리 30"/>
          <p:cNvSpPr>
            <a:spLocks noChangeAspect="1" noChangeArrowheads="1"/>
          </p:cNvSpPr>
          <p:nvPr/>
        </p:nvSpPr>
        <p:spPr bwMode="auto">
          <a:xfrm>
            <a:off x="4628623" y="4080337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1.3.1.4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지출처리</a:t>
            </a:r>
          </a:p>
        </p:txBody>
      </p:sp>
      <p:sp>
        <p:nvSpPr>
          <p:cNvPr id="34" name="직사각형 33"/>
          <p:cNvSpPr/>
          <p:nvPr/>
        </p:nvSpPr>
        <p:spPr bwMode="auto">
          <a:xfrm>
            <a:off x="2000672" y="520399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은행심의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2" name="순서도: 판단 58"/>
          <p:cNvSpPr>
            <a:spLocks noChangeAspect="1" noChangeArrowheads="1"/>
          </p:cNvSpPr>
          <p:nvPr/>
        </p:nvSpPr>
        <p:spPr bwMode="auto">
          <a:xfrm>
            <a:off x="3332820" y="5203989"/>
            <a:ext cx="756425" cy="320772"/>
          </a:xfrm>
          <a:prstGeom prst="flowChartDecision">
            <a:avLst/>
          </a:prstGeom>
          <a:noFill/>
          <a:ln w="1397" algn="ctr">
            <a:solidFill>
              <a:sysClr val="windowText" lastClr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확정</a:t>
            </a:r>
          </a:p>
        </p:txBody>
      </p:sp>
      <p:cxnSp>
        <p:nvCxnSpPr>
          <p:cNvPr id="21" name="직선 화살표 연결선 20"/>
          <p:cNvCxnSpPr>
            <a:stCxn id="34" idx="3"/>
            <a:endCxn id="42" idx="1"/>
          </p:cNvCxnSpPr>
          <p:nvPr/>
        </p:nvCxnSpPr>
        <p:spPr>
          <a:xfrm flipV="1">
            <a:off x="2757097" y="5364375"/>
            <a:ext cx="575723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/>
          <p:cNvSpPr/>
          <p:nvPr/>
        </p:nvSpPr>
        <p:spPr bwMode="auto">
          <a:xfrm>
            <a:off x="3334635" y="45895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지출요청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9" name="꺾인 연결선 38"/>
          <p:cNvCxnSpPr>
            <a:stCxn id="49" idx="0"/>
            <a:endCxn id="83" idx="1"/>
          </p:cNvCxnSpPr>
          <p:nvPr/>
        </p:nvCxnSpPr>
        <p:spPr>
          <a:xfrm rot="5400000" flipH="1" flipV="1">
            <a:off x="3470337" y="3431275"/>
            <a:ext cx="1400797" cy="915775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화살표 연결선 58"/>
          <p:cNvCxnSpPr>
            <a:stCxn id="31" idx="3"/>
            <a:endCxn id="28" idx="1"/>
          </p:cNvCxnSpPr>
          <p:nvPr/>
        </p:nvCxnSpPr>
        <p:spPr>
          <a:xfrm>
            <a:off x="5385048" y="4240723"/>
            <a:ext cx="108261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/>
          <p:cNvSpPr/>
          <p:nvPr/>
        </p:nvSpPr>
        <p:spPr bwMode="auto">
          <a:xfrm>
            <a:off x="4601896" y="520399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취소통보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1" name="직선 화살표 연결선 60"/>
          <p:cNvCxnSpPr>
            <a:stCxn id="42" idx="3"/>
            <a:endCxn id="68" idx="1"/>
          </p:cNvCxnSpPr>
          <p:nvPr/>
        </p:nvCxnSpPr>
        <p:spPr>
          <a:xfrm>
            <a:off x="4089245" y="5364375"/>
            <a:ext cx="512651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꺾인 연결선 81"/>
          <p:cNvCxnSpPr>
            <a:stCxn id="42" idx="0"/>
            <a:endCxn id="49" idx="2"/>
          </p:cNvCxnSpPr>
          <p:nvPr/>
        </p:nvCxnSpPr>
        <p:spPr>
          <a:xfrm flipV="1">
            <a:off x="3711033" y="4910331"/>
            <a:ext cx="1815" cy="29365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08021" y="5013176"/>
            <a:ext cx="30008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예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4015419" y="5404393"/>
            <a:ext cx="5309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아니오</a:t>
            </a:r>
          </a:p>
        </p:txBody>
      </p:sp>
      <p:cxnSp>
        <p:nvCxnSpPr>
          <p:cNvPr id="60" name="직선 화살표 연결선 59"/>
          <p:cNvCxnSpPr>
            <a:stCxn id="62" idx="6"/>
            <a:endCxn id="34" idx="1"/>
          </p:cNvCxnSpPr>
          <p:nvPr/>
        </p:nvCxnSpPr>
        <p:spPr>
          <a:xfrm>
            <a:off x="1554914" y="5364375"/>
            <a:ext cx="445758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직사각형 92"/>
          <p:cNvSpPr/>
          <p:nvPr/>
        </p:nvSpPr>
        <p:spPr bwMode="auto">
          <a:xfrm>
            <a:off x="7641572" y="586458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</a:rPr>
              <a:t>융자금 수령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4" name="꺾인 연결선 93"/>
          <p:cNvCxnSpPr>
            <a:stCxn id="40" idx="2"/>
            <a:endCxn id="93" idx="1"/>
          </p:cNvCxnSpPr>
          <p:nvPr/>
        </p:nvCxnSpPr>
        <p:spPr>
          <a:xfrm rot="16200000" flipH="1">
            <a:off x="6699659" y="5083053"/>
            <a:ext cx="1083799" cy="80002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타원 61"/>
          <p:cNvSpPr/>
          <p:nvPr/>
        </p:nvSpPr>
        <p:spPr>
          <a:xfrm>
            <a:off x="1352600" y="527149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4601895" y="586907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</a:rPr>
              <a:t>취소통보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6" name="직선 화살표 연결선 75"/>
          <p:cNvCxnSpPr>
            <a:stCxn id="68" idx="2"/>
            <a:endCxn id="66" idx="0"/>
          </p:cNvCxnSpPr>
          <p:nvPr/>
        </p:nvCxnSpPr>
        <p:spPr>
          <a:xfrm flipH="1">
            <a:off x="4980108" y="5524761"/>
            <a:ext cx="1" cy="34431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순서도: 종속 처리 82"/>
          <p:cNvSpPr>
            <a:spLocks noChangeAspect="1" noChangeArrowheads="1"/>
          </p:cNvSpPr>
          <p:nvPr/>
        </p:nvSpPr>
        <p:spPr bwMode="auto">
          <a:xfrm>
            <a:off x="4628623" y="3028377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1.3.1.2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지출요구</a:t>
            </a:r>
          </a:p>
        </p:txBody>
      </p:sp>
      <p:sp>
        <p:nvSpPr>
          <p:cNvPr id="89" name="순서도: 종속 처리 88"/>
          <p:cNvSpPr>
            <a:spLocks noChangeAspect="1" noChangeArrowheads="1"/>
          </p:cNvSpPr>
          <p:nvPr/>
        </p:nvSpPr>
        <p:spPr bwMode="auto">
          <a:xfrm>
            <a:off x="4628623" y="3554222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1.3.1.3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지출원인행위</a:t>
            </a:r>
          </a:p>
        </p:txBody>
      </p:sp>
      <p:cxnSp>
        <p:nvCxnSpPr>
          <p:cNvPr id="91" name="직선 화살표 연결선 90"/>
          <p:cNvCxnSpPr>
            <a:stCxn id="83" idx="2"/>
            <a:endCxn id="89" idx="0"/>
          </p:cNvCxnSpPr>
          <p:nvPr/>
        </p:nvCxnSpPr>
        <p:spPr>
          <a:xfrm>
            <a:off x="5006836" y="3349148"/>
            <a:ext cx="0" cy="20507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/>
          <p:cNvCxnSpPr>
            <a:stCxn id="89" idx="2"/>
            <a:endCxn id="31" idx="0"/>
          </p:cNvCxnSpPr>
          <p:nvPr/>
        </p:nvCxnSpPr>
        <p:spPr>
          <a:xfrm>
            <a:off x="5006836" y="3874993"/>
            <a:ext cx="0" cy="20534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/>
          <p:cNvSpPr/>
          <p:nvPr/>
        </p:nvSpPr>
        <p:spPr bwMode="auto">
          <a:xfrm>
            <a:off x="6463332" y="46203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</a:rPr>
              <a:t>융자금 지급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3" name="꺾인 연결선 42"/>
          <p:cNvCxnSpPr>
            <a:stCxn id="31" idx="2"/>
            <a:endCxn id="40" idx="1"/>
          </p:cNvCxnSpPr>
          <p:nvPr/>
        </p:nvCxnSpPr>
        <p:spPr>
          <a:xfrm rot="16200000" flipH="1">
            <a:off x="5545247" y="3862697"/>
            <a:ext cx="379675" cy="1456496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 43"/>
          <p:cNvCxnSpPr>
            <a:stCxn id="93" idx="3"/>
            <a:endCxn id="69" idx="2"/>
          </p:cNvCxnSpPr>
          <p:nvPr/>
        </p:nvCxnSpPr>
        <p:spPr>
          <a:xfrm flipV="1">
            <a:off x="8397997" y="4240434"/>
            <a:ext cx="731467" cy="178453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50209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융자관리는 체육사업자들에게 사업자금과 운전자금을 대출하는 업무로 융자공모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융자심의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 지급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융자금상환 </a:t>
            </a:r>
            <a:r>
              <a:rPr lang="ko-KR" altLang="en-US" dirty="0">
                <a:latin typeface="+mn-ea"/>
                <a:ea typeface="+mn-ea"/>
              </a:rPr>
              <a:t>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융자관리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융자관리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융자관리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0" name="표 49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1.8.1.4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융자금상환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9577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융자담당자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53872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은행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4056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융자업체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2" name="직사각형 41"/>
          <p:cNvSpPr/>
          <p:nvPr/>
        </p:nvSpPr>
        <p:spPr bwMode="auto">
          <a:xfrm>
            <a:off x="6265165" y="361211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29. </a:t>
            </a:r>
            <a:r>
              <a:rPr lang="ko-KR" altLang="en-US" sz="900" kern="0" dirty="0">
                <a:solidFill>
                  <a:prstClr val="black"/>
                </a:solidFill>
              </a:rPr>
              <a:t>결의서 및  전표생성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4268924" y="245383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</a:rPr>
              <a:t>정기상환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4268924" y="29375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</a:rPr>
              <a:t>조기상환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4268924" y="34454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</a:rPr>
              <a:t>만기연장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4268924" y="390232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24. </a:t>
            </a:r>
            <a:r>
              <a:rPr lang="ko-KR" altLang="en-US" sz="900" kern="0" dirty="0">
                <a:solidFill>
                  <a:prstClr val="black"/>
                </a:solidFill>
              </a:rPr>
              <a:t>스케줄 변경 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4268924" y="438348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25. </a:t>
            </a:r>
            <a:r>
              <a:rPr lang="ko-KR" altLang="en-US" sz="900" kern="0" dirty="0">
                <a:solidFill>
                  <a:prstClr val="black"/>
                </a:solidFill>
              </a:rPr>
              <a:t>금리변경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0" name="타원 29"/>
          <p:cNvSpPr/>
          <p:nvPr/>
        </p:nvSpPr>
        <p:spPr>
          <a:xfrm>
            <a:off x="1604628" y="5993751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31" name="직사각형 30"/>
          <p:cNvSpPr/>
          <p:nvPr/>
        </p:nvSpPr>
        <p:spPr bwMode="auto">
          <a:xfrm>
            <a:off x="2108684" y="319208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</a:rPr>
              <a:t>상환 스케줄 조회 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108684" y="53626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</a:rPr>
              <a:t>상환정보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" name="직선 화살표 연결선 5"/>
          <p:cNvCxnSpPr>
            <a:stCxn id="30" idx="6"/>
            <a:endCxn id="54" idx="1"/>
          </p:cNvCxnSpPr>
          <p:nvPr/>
        </p:nvCxnSpPr>
        <p:spPr>
          <a:xfrm>
            <a:off x="1806942" y="6086631"/>
            <a:ext cx="301742" cy="9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꺾인 연결선 11"/>
          <p:cNvCxnSpPr>
            <a:stCxn id="34" idx="0"/>
            <a:endCxn id="31" idx="2"/>
          </p:cNvCxnSpPr>
          <p:nvPr/>
        </p:nvCxnSpPr>
        <p:spPr>
          <a:xfrm flipV="1">
            <a:off x="2486897" y="3512854"/>
            <a:ext cx="0" cy="1849759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꺾인 연결선 18"/>
          <p:cNvCxnSpPr>
            <a:stCxn id="31" idx="3"/>
            <a:endCxn id="57" idx="1"/>
          </p:cNvCxnSpPr>
          <p:nvPr/>
        </p:nvCxnSpPr>
        <p:spPr>
          <a:xfrm flipV="1">
            <a:off x="2865109" y="2614224"/>
            <a:ext cx="1403815" cy="738245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꺾인 연결선 20"/>
          <p:cNvCxnSpPr>
            <a:stCxn id="31" idx="3"/>
            <a:endCxn id="58" idx="1"/>
          </p:cNvCxnSpPr>
          <p:nvPr/>
        </p:nvCxnSpPr>
        <p:spPr>
          <a:xfrm flipV="1">
            <a:off x="2865109" y="3097942"/>
            <a:ext cx="1403815" cy="254527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꺾인 연결선 22"/>
          <p:cNvCxnSpPr>
            <a:stCxn id="31" idx="3"/>
            <a:endCxn id="59" idx="1"/>
          </p:cNvCxnSpPr>
          <p:nvPr/>
        </p:nvCxnSpPr>
        <p:spPr>
          <a:xfrm>
            <a:off x="2865109" y="3352469"/>
            <a:ext cx="1403815" cy="253409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꺾인 연결선 24"/>
          <p:cNvCxnSpPr>
            <a:stCxn id="31" idx="3"/>
            <a:endCxn id="60" idx="1"/>
          </p:cNvCxnSpPr>
          <p:nvPr/>
        </p:nvCxnSpPr>
        <p:spPr>
          <a:xfrm>
            <a:off x="2865109" y="3352469"/>
            <a:ext cx="1403815" cy="710240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꺾인 연결선 34"/>
          <p:cNvCxnSpPr>
            <a:stCxn id="31" idx="3"/>
            <a:endCxn id="61" idx="1"/>
          </p:cNvCxnSpPr>
          <p:nvPr/>
        </p:nvCxnSpPr>
        <p:spPr>
          <a:xfrm>
            <a:off x="2865109" y="3352469"/>
            <a:ext cx="1403815" cy="119139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/>
          <p:cNvSpPr/>
          <p:nvPr/>
        </p:nvSpPr>
        <p:spPr bwMode="auto">
          <a:xfrm>
            <a:off x="5817096" y="23877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27. </a:t>
            </a:r>
            <a:r>
              <a:rPr lang="ko-KR" altLang="en-US" sz="900" kern="0" dirty="0">
                <a:solidFill>
                  <a:prstClr val="black"/>
                </a:solidFill>
              </a:rPr>
              <a:t>변동금리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3" name="직사각형 62"/>
          <p:cNvSpPr/>
          <p:nvPr/>
        </p:nvSpPr>
        <p:spPr bwMode="auto">
          <a:xfrm>
            <a:off x="6680850" y="23877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28. </a:t>
            </a:r>
            <a:r>
              <a:rPr lang="ko-KR" altLang="en-US" sz="900" kern="0" dirty="0">
                <a:solidFill>
                  <a:prstClr val="black"/>
                </a:solidFill>
              </a:rPr>
              <a:t>변동금리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개별적용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4" name="순서도: 종속 처리 73"/>
          <p:cNvSpPr>
            <a:spLocks noChangeAspect="1" noChangeArrowheads="1"/>
          </p:cNvSpPr>
          <p:nvPr/>
        </p:nvSpPr>
        <p:spPr bwMode="auto">
          <a:xfrm>
            <a:off x="7273779" y="4075276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1.2.1.2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징수요구</a:t>
            </a:r>
          </a:p>
        </p:txBody>
      </p:sp>
      <p:sp>
        <p:nvSpPr>
          <p:cNvPr id="75" name="순서도: 종속 처리 74"/>
          <p:cNvSpPr>
            <a:spLocks noChangeAspect="1" noChangeArrowheads="1"/>
          </p:cNvSpPr>
          <p:nvPr/>
        </p:nvSpPr>
        <p:spPr bwMode="auto">
          <a:xfrm>
            <a:off x="7273277" y="4548389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전표</a:t>
            </a:r>
          </a:p>
        </p:txBody>
      </p:sp>
      <p:cxnSp>
        <p:nvCxnSpPr>
          <p:cNvPr id="79" name="꺾인 연결선 78"/>
          <p:cNvCxnSpPr>
            <a:stCxn id="42" idx="2"/>
            <a:endCxn id="75" idx="1"/>
          </p:cNvCxnSpPr>
          <p:nvPr/>
        </p:nvCxnSpPr>
        <p:spPr>
          <a:xfrm rot="16200000" flipH="1">
            <a:off x="6570383" y="4005880"/>
            <a:ext cx="775889" cy="62989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꺾인 연결선 85"/>
          <p:cNvCxnSpPr>
            <a:stCxn id="57" idx="3"/>
            <a:endCxn id="42" idx="1"/>
          </p:cNvCxnSpPr>
          <p:nvPr/>
        </p:nvCxnSpPr>
        <p:spPr>
          <a:xfrm>
            <a:off x="5025349" y="2614224"/>
            <a:ext cx="1239816" cy="115827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꺾인 연결선 87"/>
          <p:cNvCxnSpPr>
            <a:stCxn id="58" idx="3"/>
            <a:endCxn id="42" idx="1"/>
          </p:cNvCxnSpPr>
          <p:nvPr/>
        </p:nvCxnSpPr>
        <p:spPr>
          <a:xfrm>
            <a:off x="5025349" y="3097942"/>
            <a:ext cx="1239816" cy="674559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89"/>
          <p:cNvCxnSpPr>
            <a:stCxn id="59" idx="3"/>
            <a:endCxn id="42" idx="1"/>
          </p:cNvCxnSpPr>
          <p:nvPr/>
        </p:nvCxnSpPr>
        <p:spPr>
          <a:xfrm>
            <a:off x="5025349" y="3605878"/>
            <a:ext cx="1239816" cy="16662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꺾인 연결선 91"/>
          <p:cNvCxnSpPr>
            <a:stCxn id="60" idx="3"/>
            <a:endCxn id="42" idx="1"/>
          </p:cNvCxnSpPr>
          <p:nvPr/>
        </p:nvCxnSpPr>
        <p:spPr>
          <a:xfrm flipV="1">
            <a:off x="5025349" y="3772501"/>
            <a:ext cx="1239816" cy="290208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꺾인 연결선 93"/>
          <p:cNvCxnSpPr>
            <a:stCxn id="61" idx="3"/>
            <a:endCxn id="42" idx="1"/>
          </p:cNvCxnSpPr>
          <p:nvPr/>
        </p:nvCxnSpPr>
        <p:spPr>
          <a:xfrm flipV="1">
            <a:off x="5025349" y="3772501"/>
            <a:ext cx="1239816" cy="77136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꺾인 연결선 96"/>
          <p:cNvCxnSpPr>
            <a:stCxn id="42" idx="2"/>
            <a:endCxn id="74" idx="1"/>
          </p:cNvCxnSpPr>
          <p:nvPr/>
        </p:nvCxnSpPr>
        <p:spPr>
          <a:xfrm rot="16200000" flipH="1">
            <a:off x="6807190" y="3769073"/>
            <a:ext cx="302776" cy="630401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화살표 연결선 100"/>
          <p:cNvCxnSpPr>
            <a:stCxn id="42" idx="3"/>
            <a:endCxn id="51" idx="3"/>
          </p:cNvCxnSpPr>
          <p:nvPr/>
        </p:nvCxnSpPr>
        <p:spPr>
          <a:xfrm flipV="1">
            <a:off x="7021590" y="3769405"/>
            <a:ext cx="1469554" cy="309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꺾인 연결선 110"/>
          <p:cNvCxnSpPr>
            <a:stCxn id="62" idx="2"/>
            <a:endCxn id="42" idx="0"/>
          </p:cNvCxnSpPr>
          <p:nvPr/>
        </p:nvCxnSpPr>
        <p:spPr>
          <a:xfrm rot="16200000" flipH="1">
            <a:off x="5967564" y="2936300"/>
            <a:ext cx="903559" cy="448069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꺾인 연결선 12"/>
          <p:cNvCxnSpPr>
            <a:stCxn id="63" idx="2"/>
            <a:endCxn id="42" idx="0"/>
          </p:cNvCxnSpPr>
          <p:nvPr/>
        </p:nvCxnSpPr>
        <p:spPr>
          <a:xfrm rot="5400000">
            <a:off x="6399442" y="2952493"/>
            <a:ext cx="903559" cy="415685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7"/>
          <p:cNvGrpSpPr/>
          <p:nvPr/>
        </p:nvGrpSpPr>
        <p:grpSpPr>
          <a:xfrm>
            <a:off x="8491144" y="3564252"/>
            <a:ext cx="756425" cy="410305"/>
            <a:chOff x="1819799" y="5513251"/>
            <a:chExt cx="756425" cy="410305"/>
          </a:xfrm>
        </p:grpSpPr>
        <p:sp>
          <p:nvSpPr>
            <p:cNvPr id="49" name="직사각형 48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1" name="육각형 50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융자종료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4" name="직사각형 53"/>
          <p:cNvSpPr/>
          <p:nvPr/>
        </p:nvSpPr>
        <p:spPr bwMode="auto">
          <a:xfrm>
            <a:off x="2108684" y="592633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</a:rPr>
              <a:t>융자금 상환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5" name="직선 화살표 연결선 64"/>
          <p:cNvCxnSpPr>
            <a:stCxn id="54" idx="0"/>
            <a:endCxn id="34" idx="2"/>
          </p:cNvCxnSpPr>
          <p:nvPr/>
        </p:nvCxnSpPr>
        <p:spPr>
          <a:xfrm flipV="1">
            <a:off x="2486897" y="5683384"/>
            <a:ext cx="0" cy="24295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직사각형 54"/>
          <p:cNvSpPr/>
          <p:nvPr/>
        </p:nvSpPr>
        <p:spPr bwMode="auto">
          <a:xfrm>
            <a:off x="4268924" y="483649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</a:rPr>
              <a:t>금융기관 변경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6" name="꺾인 연결선 55"/>
          <p:cNvCxnSpPr>
            <a:stCxn id="31" idx="3"/>
            <a:endCxn id="55" idx="1"/>
          </p:cNvCxnSpPr>
          <p:nvPr/>
        </p:nvCxnSpPr>
        <p:spPr>
          <a:xfrm>
            <a:off x="2865109" y="3352469"/>
            <a:ext cx="1403815" cy="164441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꺾인 연결선 63"/>
          <p:cNvCxnSpPr>
            <a:stCxn id="55" idx="3"/>
            <a:endCxn id="42" idx="1"/>
          </p:cNvCxnSpPr>
          <p:nvPr/>
        </p:nvCxnSpPr>
        <p:spPr>
          <a:xfrm flipV="1">
            <a:off x="5025349" y="3772501"/>
            <a:ext cx="1239816" cy="1224380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8795598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융자관리는 체육사업자들에게 사업자금과 운전자금을 대출하는 업무로 융자공모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융자심의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 지급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융자금상환 </a:t>
            </a:r>
            <a:r>
              <a:rPr lang="ko-KR" altLang="en-US" dirty="0">
                <a:latin typeface="+mn-ea"/>
                <a:ea typeface="+mn-ea"/>
              </a:rPr>
              <a:t>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융자관리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(4/6)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4592706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87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55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융자공모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국민체육진흥기금 중 융자금에 대한 융자공모를 진행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신청모집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융자공모에 대한 융자신청 모집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융자신청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융자신청 업체는 필요서류를 작성하여 융자 신청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접수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업체에서 요청한 융자신청을 접수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심의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신청된 융자신청에 대하여 심의 진행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확정 및 확정통보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심의에서 통과된 업체에 대하여 심의 확정 및 은행과 해당업체에 심의 확정 통보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확정통보 접수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공단에서 통보된 융자심의 확정통보 접수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은행심의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확정된 융자업체에 대한 신용평가 등 진행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은행심의 통과 업체에 대한 지출요청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취소통보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은행심의 탈락 업체에 대하여 융자 취소 통보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0239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융자관리는 체육사업자들에게 사업자금과 운전자금을 대출하는 업무로 융자공모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융자심의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 지급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융자금상환 </a:t>
            </a:r>
            <a:r>
              <a:rPr lang="ko-KR" altLang="en-US" dirty="0">
                <a:latin typeface="+mn-ea"/>
                <a:ea typeface="+mn-ea"/>
              </a:rPr>
              <a:t>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융자관리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(5/6)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1822961"/>
              </p:ext>
            </p:extLst>
          </p:nvPr>
        </p:nvGraphicFramePr>
        <p:xfrm>
          <a:off x="344489" y="1584356"/>
          <a:ext cx="9181019" cy="4143900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87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655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취소통보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은행에서 통보된 융자 취소에 대한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융자금 지급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융자공모에 대한 융자금 지급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융자금 수령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융자공모에 대한 융자금 수령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융자금 등록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융자시스템에 융자관련 정보를 등록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융자금 승인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작성된 융자 정보에 대한 승인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융자금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요청된 융자 정보에 대한 융자담당관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상환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상각 스케줄 생성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등록된 융자 정보에 대한 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상각 스케줄 생성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상각스케줄정보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융자금 상환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사용한 융자금에 대한 상환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상환정보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융자에 대한 상환 정보를 공단으로 제공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상환스케줄 조회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은행에서 제공된 상환정보에 대하여 상환스케줄을 조회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982554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융자관리는 체육사업자들에게 사업자금과 운전자금을 대출하는 업무로 융자공모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융자심의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 지급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융자금상환 </a:t>
            </a:r>
            <a:r>
              <a:rPr lang="ko-KR" altLang="en-US" dirty="0">
                <a:latin typeface="+mn-ea"/>
                <a:ea typeface="+mn-ea"/>
              </a:rPr>
              <a:t>업무로 구성하며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3.2.2.18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융자관리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(6/6)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9200700"/>
              </p:ext>
            </p:extLst>
          </p:nvPr>
        </p:nvGraphicFramePr>
        <p:xfrm>
          <a:off x="344489" y="1584356"/>
          <a:ext cx="9181019" cy="3772182"/>
        </p:xfrm>
        <a:graphic>
          <a:graphicData uri="http://schemas.openxmlformats.org/drawingml/2006/table">
            <a:tbl>
              <a:tblPr firstRow="1" bandRow="1"/>
              <a:tblGrid>
                <a:gridCol w="37941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319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33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정기상환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만기상환 등 상환일자 상환에 대한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조기상환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상환일자 이전 상환 정보에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대한 처리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만기 연장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상환일자 연기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융자금정보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스케줄 변경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상각 스케줄에 대한 재생성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상각 스케줄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금리 변경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 조건 중 금리 구분을 변동금리에서 고정금리로 또는 고정금리에서 변동금리로 변경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금융기관 변경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 금융기관을 변경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금융기관정보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변동금리 등록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융자 조건 중 금리 구분이 변동금리이고 기준금리가 변경되었을 경우 금리를 변경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변동금리 개별 적용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변동 금리에 대하여 융자별로 개별 금리 적용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171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결의서 및 전표 생성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상환정보에 대한 결의처리 및 전표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8379148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825644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자산관리의 취득과 등록은 계약관리와 연계된 정보를 기준으로 처리될 수 있도록 프로세스를 개선 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나머지는 현행 유지함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3.2.2.19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자산관리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1.9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1.9.1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2536712"/>
              </p:ext>
            </p:extLst>
          </p:nvPr>
        </p:nvGraphicFramePr>
        <p:xfrm>
          <a:off x="344488" y="1916832"/>
          <a:ext cx="9181019" cy="432048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23224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81642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19624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1.9.1.1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자산취득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1.9.1.2</a:t>
                      </a:r>
                      <a:r>
                        <a:rPr lang="en-US" altLang="ko-KR" sz="11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자산정보관리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1.9.1.3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자산처분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81568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관재부서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31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31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0" name="직사각형 29"/>
          <p:cNvSpPr/>
          <p:nvPr/>
        </p:nvSpPr>
        <p:spPr bwMode="auto">
          <a:xfrm>
            <a:off x="3908543" y="364648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자산분리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1" name="Shape 266"/>
          <p:cNvCxnSpPr>
            <a:cxnSpLocks noChangeShapeType="1"/>
            <a:stCxn id="45" idx="0"/>
            <a:endCxn id="48" idx="2"/>
          </p:cNvCxnSpPr>
          <p:nvPr/>
        </p:nvCxnSpPr>
        <p:spPr bwMode="auto">
          <a:xfrm flipV="1">
            <a:off x="2810933" y="5301208"/>
            <a:ext cx="3087" cy="43884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hape 266"/>
          <p:cNvCxnSpPr>
            <a:cxnSpLocks noChangeShapeType="1"/>
            <a:stCxn id="58" idx="3"/>
            <a:endCxn id="30" idx="1"/>
          </p:cNvCxnSpPr>
          <p:nvPr/>
        </p:nvCxnSpPr>
        <p:spPr bwMode="auto">
          <a:xfrm>
            <a:off x="3197612" y="3805410"/>
            <a:ext cx="710931" cy="14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7615574" y="242749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대상등록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4" name="직사각형 43"/>
          <p:cNvSpPr/>
          <p:nvPr/>
        </p:nvSpPr>
        <p:spPr bwMode="auto">
          <a:xfrm>
            <a:off x="6320292" y="432299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자산 사용정보 변경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7" name="Shape 266"/>
          <p:cNvCxnSpPr>
            <a:cxnSpLocks noChangeShapeType="1"/>
            <a:stCxn id="43" idx="2"/>
            <a:endCxn id="177" idx="0"/>
          </p:cNvCxnSpPr>
          <p:nvPr/>
        </p:nvCxnSpPr>
        <p:spPr bwMode="auto">
          <a:xfrm flipH="1">
            <a:off x="7989037" y="2748266"/>
            <a:ext cx="4750" cy="2501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" name="직사각형 51"/>
          <p:cNvSpPr/>
          <p:nvPr/>
        </p:nvSpPr>
        <p:spPr bwMode="auto">
          <a:xfrm>
            <a:off x="7615574" y="364502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처분실행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5" name="Shape 266"/>
          <p:cNvCxnSpPr>
            <a:cxnSpLocks noChangeShapeType="1"/>
            <a:stCxn id="52" idx="3"/>
            <a:endCxn id="129" idx="3"/>
          </p:cNvCxnSpPr>
          <p:nvPr/>
        </p:nvCxnSpPr>
        <p:spPr bwMode="auto">
          <a:xfrm>
            <a:off x="8371999" y="3805410"/>
            <a:ext cx="289072" cy="29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36"/>
          <p:cNvGrpSpPr/>
          <p:nvPr/>
        </p:nvGrpSpPr>
        <p:grpSpPr>
          <a:xfrm>
            <a:off x="1352600" y="5695730"/>
            <a:ext cx="756425" cy="410305"/>
            <a:chOff x="1819799" y="5513251"/>
            <a:chExt cx="756425" cy="410305"/>
          </a:xfrm>
        </p:grpSpPr>
        <p:sp>
          <p:nvSpPr>
            <p:cNvPr id="49" name="직사각형 48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0" name="육각형 49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prstClr val="black"/>
                  </a:solidFill>
                </a:rPr>
                <a:t>(</a:t>
              </a:r>
              <a:r>
                <a:rPr lang="ko-KR" altLang="en-US" sz="900" kern="0" dirty="0">
                  <a:solidFill>
                    <a:prstClr val="black"/>
                  </a:solidFill>
                </a:rPr>
                <a:t>계약</a:t>
              </a:r>
              <a:r>
                <a:rPr lang="en-US" altLang="ko-KR" sz="900" kern="0" dirty="0">
                  <a:solidFill>
                    <a:prstClr val="black"/>
                  </a:solidFill>
                </a:rPr>
                <a:t>)</a:t>
              </a:r>
              <a:r>
                <a:rPr lang="ko-KR" altLang="en-US" sz="900" kern="0" dirty="0">
                  <a:solidFill>
                    <a:prstClr val="black"/>
                  </a:solidFill>
                </a:rPr>
                <a:t>잔금지급발생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8" name="직사각형 57"/>
          <p:cNvSpPr/>
          <p:nvPr/>
        </p:nvSpPr>
        <p:spPr bwMode="auto">
          <a:xfrm>
            <a:off x="2441187" y="364502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</a:rPr>
              <a:t>자산취득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6320292" y="292494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감가상각 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6326200" y="364502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유지보수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6" name="순서도: 종속 처리 95"/>
          <p:cNvSpPr>
            <a:spLocks noChangeAspect="1" noChangeArrowheads="1"/>
          </p:cNvSpPr>
          <p:nvPr/>
        </p:nvSpPr>
        <p:spPr bwMode="auto">
          <a:xfrm>
            <a:off x="7615574" y="4322994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1.2.1.2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징수요구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" name="그룹 126"/>
          <p:cNvGrpSpPr/>
          <p:nvPr/>
        </p:nvGrpSpPr>
        <p:grpSpPr>
          <a:xfrm>
            <a:off x="8661071" y="3600553"/>
            <a:ext cx="756425" cy="410305"/>
            <a:chOff x="1819799" y="5513251"/>
            <a:chExt cx="756425" cy="410305"/>
          </a:xfrm>
        </p:grpSpPr>
        <p:sp>
          <p:nvSpPr>
            <p:cNvPr id="128" name="직사각형 127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29" name="육각형 128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131" name="Shape 266"/>
          <p:cNvCxnSpPr>
            <a:cxnSpLocks noChangeShapeType="1"/>
            <a:stCxn id="52" idx="2"/>
            <a:endCxn id="96" idx="0"/>
          </p:cNvCxnSpPr>
          <p:nvPr/>
        </p:nvCxnSpPr>
        <p:spPr bwMode="auto">
          <a:xfrm>
            <a:off x="7993787" y="3965795"/>
            <a:ext cx="0" cy="35719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" name="Shape 266"/>
          <p:cNvCxnSpPr>
            <a:cxnSpLocks noChangeShapeType="1"/>
            <a:stCxn id="30" idx="3"/>
            <a:endCxn id="82" idx="1"/>
          </p:cNvCxnSpPr>
          <p:nvPr/>
        </p:nvCxnSpPr>
        <p:spPr bwMode="auto">
          <a:xfrm flipV="1">
            <a:off x="4664968" y="3085330"/>
            <a:ext cx="1655324" cy="72153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" name="Shape 266"/>
          <p:cNvCxnSpPr>
            <a:cxnSpLocks noChangeShapeType="1"/>
            <a:stCxn id="30" idx="3"/>
            <a:endCxn id="85" idx="1"/>
          </p:cNvCxnSpPr>
          <p:nvPr/>
        </p:nvCxnSpPr>
        <p:spPr bwMode="auto">
          <a:xfrm flipV="1">
            <a:off x="4664968" y="3805410"/>
            <a:ext cx="1661232" cy="145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0" name="Shape 266"/>
          <p:cNvCxnSpPr>
            <a:cxnSpLocks noChangeShapeType="1"/>
            <a:stCxn id="30" idx="3"/>
            <a:endCxn id="44" idx="1"/>
          </p:cNvCxnSpPr>
          <p:nvPr/>
        </p:nvCxnSpPr>
        <p:spPr bwMode="auto">
          <a:xfrm>
            <a:off x="4664968" y="3806868"/>
            <a:ext cx="1655324" cy="67651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" name="Shape 266"/>
          <p:cNvCxnSpPr>
            <a:cxnSpLocks noChangeShapeType="1"/>
            <a:stCxn id="82" idx="3"/>
            <a:endCxn id="43" idx="1"/>
          </p:cNvCxnSpPr>
          <p:nvPr/>
        </p:nvCxnSpPr>
        <p:spPr bwMode="auto">
          <a:xfrm flipV="1">
            <a:off x="7076717" y="2587881"/>
            <a:ext cx="538857" cy="49744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6" name="Shape 266"/>
          <p:cNvCxnSpPr>
            <a:cxnSpLocks noChangeShapeType="1"/>
            <a:stCxn id="85" idx="3"/>
            <a:endCxn id="43" idx="1"/>
          </p:cNvCxnSpPr>
          <p:nvPr/>
        </p:nvCxnSpPr>
        <p:spPr bwMode="auto">
          <a:xfrm flipV="1">
            <a:off x="7082625" y="2587881"/>
            <a:ext cx="532949" cy="121752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0" name="Shape 266"/>
          <p:cNvCxnSpPr>
            <a:cxnSpLocks noChangeShapeType="1"/>
            <a:stCxn id="44" idx="3"/>
            <a:endCxn id="43" idx="1"/>
          </p:cNvCxnSpPr>
          <p:nvPr/>
        </p:nvCxnSpPr>
        <p:spPr bwMode="auto">
          <a:xfrm flipV="1">
            <a:off x="7076717" y="2587881"/>
            <a:ext cx="538857" cy="189550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6" name="Shape 266"/>
          <p:cNvCxnSpPr>
            <a:cxnSpLocks noChangeShapeType="1"/>
            <a:stCxn id="48" idx="0"/>
            <a:endCxn id="58" idx="2"/>
          </p:cNvCxnSpPr>
          <p:nvPr/>
        </p:nvCxnSpPr>
        <p:spPr bwMode="auto">
          <a:xfrm flipV="1">
            <a:off x="2814020" y="3965795"/>
            <a:ext cx="5380" cy="10146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7" name="직사각형 176"/>
          <p:cNvSpPr/>
          <p:nvPr/>
        </p:nvSpPr>
        <p:spPr bwMode="auto">
          <a:xfrm>
            <a:off x="7610824" y="299841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자산처분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79" name="Shape 266"/>
          <p:cNvCxnSpPr>
            <a:cxnSpLocks noChangeShapeType="1"/>
            <a:stCxn id="177" idx="2"/>
            <a:endCxn id="52" idx="0"/>
          </p:cNvCxnSpPr>
          <p:nvPr/>
        </p:nvCxnSpPr>
        <p:spPr bwMode="auto">
          <a:xfrm>
            <a:off x="7989037" y="3319181"/>
            <a:ext cx="4750" cy="3258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순서도: 종속 처리 44"/>
          <p:cNvSpPr>
            <a:spLocks noChangeAspect="1" noChangeArrowheads="1"/>
          </p:cNvSpPr>
          <p:nvPr/>
        </p:nvSpPr>
        <p:spPr bwMode="auto">
          <a:xfrm>
            <a:off x="2432720" y="5740049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1.3.1.2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지출요구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41" name="Shape 266"/>
          <p:cNvCxnSpPr>
            <a:cxnSpLocks noChangeShapeType="1"/>
            <a:stCxn id="50" idx="0"/>
            <a:endCxn id="45" idx="1"/>
          </p:cNvCxnSpPr>
          <p:nvPr/>
        </p:nvCxnSpPr>
        <p:spPr bwMode="auto">
          <a:xfrm flipV="1">
            <a:off x="2109025" y="5900435"/>
            <a:ext cx="323695" cy="44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" name="직사각형 47"/>
          <p:cNvSpPr/>
          <p:nvPr/>
        </p:nvSpPr>
        <p:spPr bwMode="auto">
          <a:xfrm>
            <a:off x="2435807" y="49804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FA</a:t>
            </a:r>
            <a:r>
              <a:rPr lang="ko-KR" altLang="en-US" sz="900" kern="0" dirty="0">
                <a:solidFill>
                  <a:prstClr val="black"/>
                </a:solidFill>
              </a:rPr>
              <a:t>정산계정  분개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650161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자산관리의 취득과 등록은 계약관리와 연계된 정보를 기준으로 처리될 수 있도록 프로세스를 개선 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나머지는 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3.2.2.19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자산관리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5742553"/>
              </p:ext>
            </p:extLst>
          </p:nvPr>
        </p:nvGraphicFramePr>
        <p:xfrm>
          <a:off x="344489" y="1584356"/>
          <a:ext cx="9181019" cy="4198026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FA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정산계정분개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FontTx/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지출요구서가 계약에 대한 최종 대금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 요청인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정산계정으로 분개 처리하는 업무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marR="0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잔금 처리시 건설가계정을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정산계정으로 반제 처리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이전의 계약과 관련된 지출요구는 건설가계정으로 분개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자산취득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FontTx/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검수단계에서 임시로 등록된 자산에 대한 최종 취득 확인 업무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지급요청된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정산계정에 대한 반제처리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취득일자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취득금액 확정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자산분리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하나의 자산관리번호로 묶여있는 자산을 분리하여 신규 자산관리번호 생성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감가상각처리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취득자산에 대한 감가상각을 매월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감가상각정보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취득자산에 대한 유지보수 및 운영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 사용정보 변경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자산의 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수익센터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위치 등을 변경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대상등록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처분대상 자산에 대한 정보를 자산처분 대상으로 등록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자산처분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자산처분 대상에 대한 매각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폐기를 실행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처분실행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폐기된 자산처분대상에 대한 처분 완료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17439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재물조사 </a:t>
            </a:r>
            <a:r>
              <a:rPr lang="ko-KR" altLang="en-US" sz="1600" dirty="0">
                <a:latin typeface="+mn-ea"/>
                <a:ea typeface="+mn-ea"/>
              </a:rPr>
              <a:t>업무는 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재물조사</a:t>
            </a:r>
            <a:r>
              <a:rPr kumimoji="1" lang="en-US" altLang="ko-KR" sz="1600" dirty="0">
                <a:solidFill>
                  <a:prstClr val="black"/>
                </a:solidFill>
                <a:latin typeface="+mn-ea"/>
                <a:ea typeface="+mn-ea"/>
              </a:rPr>
              <a:t>(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재물조사 요청</a:t>
            </a:r>
            <a:r>
              <a:rPr kumimoji="1" lang="en-US" altLang="ko-KR" sz="1600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재물조사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재물조사 결과 등록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재물조사 결과 확인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  <a:ea typeface="+mn-ea"/>
              </a:rPr>
              <a:t>등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  <a:ea typeface="+mn-ea"/>
              </a:rPr>
              <a:t>)</a:t>
            </a:r>
            <a:r>
              <a:rPr kumimoji="1" lang="ko-KR" altLang="en-US" sz="1600" dirty="0">
                <a:solidFill>
                  <a:prstClr val="black"/>
                </a:solidFill>
                <a:latin typeface="+mn-ea"/>
                <a:ea typeface="+mn-ea"/>
              </a:rPr>
              <a:t> 단일 </a:t>
            </a:r>
            <a:r>
              <a:rPr lang="ko-KR" altLang="en-US" sz="1600" dirty="0">
                <a:latin typeface="+mn-ea"/>
                <a:ea typeface="+mn-ea"/>
              </a:rPr>
              <a:t>업무로 구성하며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3.2.2.20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재물조사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1.8.2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재물조사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9" name="표 28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0" cy="432048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1.8.2.1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재물조사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71472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관재부서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72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직사각형 29"/>
          <p:cNvSpPr/>
          <p:nvPr/>
        </p:nvSpPr>
        <p:spPr bwMode="auto">
          <a:xfrm>
            <a:off x="2633223" y="317147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재물조사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1" name="직사각형 30"/>
          <p:cNvSpPr/>
          <p:nvPr/>
        </p:nvSpPr>
        <p:spPr bwMode="auto">
          <a:xfrm>
            <a:off x="3814311" y="51571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재물조사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2" name="Shape 266"/>
          <p:cNvCxnSpPr>
            <a:cxnSpLocks noChangeShapeType="1"/>
            <a:stCxn id="26" idx="0"/>
            <a:endCxn id="30" idx="1"/>
          </p:cNvCxnSpPr>
          <p:nvPr/>
        </p:nvCxnSpPr>
        <p:spPr bwMode="auto">
          <a:xfrm flipV="1">
            <a:off x="2252700" y="3331860"/>
            <a:ext cx="380523" cy="146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7" name="Shape 266"/>
          <p:cNvCxnSpPr>
            <a:cxnSpLocks noChangeShapeType="1"/>
            <a:stCxn id="30" idx="3"/>
            <a:endCxn id="31" idx="1"/>
          </p:cNvCxnSpPr>
          <p:nvPr/>
        </p:nvCxnSpPr>
        <p:spPr bwMode="auto">
          <a:xfrm>
            <a:off x="3389648" y="3331860"/>
            <a:ext cx="424663" cy="198571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2" name="Shape 266"/>
          <p:cNvCxnSpPr>
            <a:cxnSpLocks noChangeShapeType="1"/>
            <a:stCxn id="46" idx="3"/>
            <a:endCxn id="43" idx="1"/>
          </p:cNvCxnSpPr>
          <p:nvPr/>
        </p:nvCxnSpPr>
        <p:spPr bwMode="auto">
          <a:xfrm flipV="1">
            <a:off x="5709425" y="3331860"/>
            <a:ext cx="427483" cy="198571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6136908" y="317147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재물조사 결과 취합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4" name="직사각형 43"/>
          <p:cNvSpPr/>
          <p:nvPr/>
        </p:nvSpPr>
        <p:spPr bwMode="auto">
          <a:xfrm>
            <a:off x="7365268" y="317293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재물조사 결과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8" name="Shape 266"/>
          <p:cNvCxnSpPr>
            <a:cxnSpLocks noChangeShapeType="1"/>
            <a:stCxn id="30" idx="3"/>
            <a:endCxn id="45" idx="1"/>
          </p:cNvCxnSpPr>
          <p:nvPr/>
        </p:nvCxnSpPr>
        <p:spPr bwMode="auto">
          <a:xfrm>
            <a:off x="3389648" y="3331860"/>
            <a:ext cx="424663" cy="23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Shape 266"/>
          <p:cNvCxnSpPr>
            <a:cxnSpLocks noChangeShapeType="1"/>
            <a:stCxn id="43" idx="3"/>
            <a:endCxn id="44" idx="1"/>
          </p:cNvCxnSpPr>
          <p:nvPr/>
        </p:nvCxnSpPr>
        <p:spPr bwMode="auto">
          <a:xfrm>
            <a:off x="6893333" y="3331860"/>
            <a:ext cx="471935" cy="146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23"/>
          <p:cNvGrpSpPr/>
          <p:nvPr/>
        </p:nvGrpSpPr>
        <p:grpSpPr>
          <a:xfrm>
            <a:off x="1496275" y="3128167"/>
            <a:ext cx="756425" cy="410305"/>
            <a:chOff x="1819799" y="5513251"/>
            <a:chExt cx="756425" cy="410305"/>
          </a:xfrm>
        </p:grpSpPr>
        <p:sp>
          <p:nvSpPr>
            <p:cNvPr id="25" name="직사각형 24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6" name="육각형 25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매년 </a:t>
              </a:r>
              <a:r>
                <a:rPr lang="en-US" altLang="ko-KR" sz="900" kern="0" dirty="0">
                  <a:solidFill>
                    <a:prstClr val="black"/>
                  </a:solidFill>
                </a:rPr>
                <a:t>6</a:t>
              </a:r>
              <a:r>
                <a:rPr lang="ko-KR" altLang="en-US" sz="900" kern="0" dirty="0">
                  <a:solidFill>
                    <a:prstClr val="black"/>
                  </a:solidFill>
                </a:rPr>
                <a:t>월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5" name="직사각형 44"/>
          <p:cNvSpPr/>
          <p:nvPr/>
        </p:nvSpPr>
        <p:spPr bwMode="auto">
          <a:xfrm>
            <a:off x="3814311" y="31738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결과등록 기능 해제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6" name="직사각형 45"/>
          <p:cNvSpPr/>
          <p:nvPr/>
        </p:nvSpPr>
        <p:spPr bwMode="auto">
          <a:xfrm>
            <a:off x="4953000" y="51571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재물조사 결과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7" name="순서도: 종속 처리 46"/>
          <p:cNvSpPr>
            <a:spLocks noChangeAspect="1" noChangeArrowheads="1"/>
          </p:cNvSpPr>
          <p:nvPr/>
        </p:nvSpPr>
        <p:spPr bwMode="auto">
          <a:xfrm>
            <a:off x="7365268" y="3814670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1.9.1.3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noProof="0" dirty="0">
                <a:solidFill>
                  <a:prstClr val="black"/>
                </a:solidFill>
              </a:rPr>
              <a:t>자산처분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" name="그룹 49"/>
          <p:cNvGrpSpPr/>
          <p:nvPr/>
        </p:nvGrpSpPr>
        <p:grpSpPr>
          <a:xfrm>
            <a:off x="8553400" y="3128167"/>
            <a:ext cx="756425" cy="410305"/>
            <a:chOff x="1819799" y="5513251"/>
            <a:chExt cx="756425" cy="410305"/>
          </a:xfrm>
        </p:grpSpPr>
        <p:sp>
          <p:nvSpPr>
            <p:cNvPr id="51" name="직사각형 50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2" name="육각형 51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재물조사 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66" name="Shape 266"/>
          <p:cNvCxnSpPr>
            <a:cxnSpLocks noChangeShapeType="1"/>
            <a:stCxn id="31" idx="3"/>
            <a:endCxn id="46" idx="1"/>
          </p:cNvCxnSpPr>
          <p:nvPr/>
        </p:nvCxnSpPr>
        <p:spPr bwMode="auto">
          <a:xfrm>
            <a:off x="4570736" y="5317578"/>
            <a:ext cx="38226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45" idx="3"/>
            <a:endCxn id="43" idx="1"/>
          </p:cNvCxnSpPr>
          <p:nvPr/>
        </p:nvCxnSpPr>
        <p:spPr bwMode="auto">
          <a:xfrm flipV="1">
            <a:off x="4570736" y="3331860"/>
            <a:ext cx="1566172" cy="23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" name="Shape 266"/>
          <p:cNvCxnSpPr>
            <a:cxnSpLocks noChangeShapeType="1"/>
            <a:stCxn id="44" idx="3"/>
            <a:endCxn id="52" idx="3"/>
          </p:cNvCxnSpPr>
          <p:nvPr/>
        </p:nvCxnSpPr>
        <p:spPr bwMode="auto">
          <a:xfrm>
            <a:off x="8121693" y="3333320"/>
            <a:ext cx="43170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44" idx="2"/>
            <a:endCxn id="47" idx="0"/>
          </p:cNvCxnSpPr>
          <p:nvPr/>
        </p:nvCxnSpPr>
        <p:spPr bwMode="auto">
          <a:xfrm>
            <a:off x="7743481" y="3493705"/>
            <a:ext cx="0" cy="32096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18069700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재물조사 </a:t>
            </a:r>
            <a:r>
              <a:rPr lang="ko-KR" altLang="en-US" dirty="0">
                <a:latin typeface="+mn-ea"/>
              </a:rPr>
              <a:t>업무는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재물조사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(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재물조사 요청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재물조사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재물조사 결과 등록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재물조사 결과 확인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등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)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 단일 </a:t>
            </a:r>
            <a:r>
              <a:rPr lang="ko-KR" altLang="en-US" dirty="0">
                <a:latin typeface="+mn-ea"/>
              </a:rPr>
              <a:t>업무로 구성하며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현행 유지함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3.2.2.20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재물조사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6915864"/>
              </p:ext>
            </p:extLst>
          </p:nvPr>
        </p:nvGraphicFramePr>
        <p:xfrm>
          <a:off x="344489" y="1584356"/>
          <a:ext cx="9181019" cy="2687508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재물조사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월경 각 업무부서로 재물조사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결과등록 기능해제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재물조사결과를 등록 가능하도록 설정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결과등록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 기능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재물조사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장부상의 수량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금액과 실물을 비교하여 재물조사 진행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재물조사결과 등록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완료된 재물조사 결과를 시스템에 등록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재물조사 결과 취합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등록된 재물조사 결과를 취합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17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재물조사 결과 확인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취합된 재물조사결과를 확인하여 차이가 있을 경우 자산에 대한 불용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처분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2089280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>
                <a:latin typeface="+mn-ea"/>
                <a:ea typeface="+mn-ea"/>
              </a:rPr>
              <a:t>내부관리손익의 경륜</a:t>
            </a:r>
            <a:r>
              <a:rPr lang="en-US" altLang="ko-KR" sz="1600" dirty="0">
                <a:latin typeface="+mn-ea"/>
                <a:ea typeface="+mn-ea"/>
              </a:rPr>
              <a:t>/</a:t>
            </a:r>
            <a:r>
              <a:rPr lang="ko-KR" altLang="en-US" sz="1600" dirty="0">
                <a:latin typeface="+mn-ea"/>
                <a:ea typeface="+mn-ea"/>
              </a:rPr>
              <a:t>경정 업무는 사업별 손익 산출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지점별 손익 산출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공동활용지점 정산 업무로 구성하여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3.2.2.21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경륜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경정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4331879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내부관리손익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경륜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경정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263017"/>
              </p:ext>
            </p:extLst>
          </p:nvPr>
        </p:nvGraphicFramePr>
        <p:xfrm>
          <a:off x="344488" y="1916832"/>
          <a:ext cx="9181019" cy="432048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1.10.1.1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사업별 손익 산출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1.10.1.2</a:t>
                      </a:r>
                      <a:r>
                        <a:rPr lang="en-US" altLang="ko-KR" sz="11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지점별 손익 산출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공동활용지점 정산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436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경륜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그룹 21">
            <a:extLst>
              <a:ext uri="{FF2B5EF4-FFF2-40B4-BE49-F238E27FC236}">
                <a16:creationId xmlns="" xmlns:a16="http://schemas.microsoft.com/office/drawing/2014/main" id="{CBD5ACDB-EE7A-4B9E-B8E4-AD6C85EB7A58}"/>
              </a:ext>
            </a:extLst>
          </p:cNvPr>
          <p:cNvGrpSpPr/>
          <p:nvPr/>
        </p:nvGrpSpPr>
        <p:grpSpPr>
          <a:xfrm>
            <a:off x="1741869" y="2442631"/>
            <a:ext cx="1540564" cy="3695289"/>
            <a:chOff x="1741869" y="2442631"/>
            <a:chExt cx="1540564" cy="3695289"/>
          </a:xfrm>
        </p:grpSpPr>
        <p:sp>
          <p:nvSpPr>
            <p:cNvPr id="62" name="직사각형 61">
              <a:extLst>
                <a:ext uri="{FF2B5EF4-FFF2-40B4-BE49-F238E27FC236}">
                  <a16:creationId xmlns="" xmlns:a16="http://schemas.microsoft.com/office/drawing/2014/main" id="{7965A59E-488F-479E-9F17-F2ABF840835E}"/>
                </a:ext>
              </a:extLst>
            </p:cNvPr>
            <p:cNvSpPr/>
            <p:nvPr/>
          </p:nvSpPr>
          <p:spPr bwMode="auto">
            <a:xfrm>
              <a:off x="2022433" y="306896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1.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사업별 손익계산서 집계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grpSp>
          <p:nvGrpSpPr>
            <p:cNvPr id="6" name="그룹 36">
              <a:extLst>
                <a:ext uri="{FF2B5EF4-FFF2-40B4-BE49-F238E27FC236}">
                  <a16:creationId xmlns="" xmlns:a16="http://schemas.microsoft.com/office/drawing/2014/main" id="{1F505B36-17E1-4550-B31E-770A7449EF7A}"/>
                </a:ext>
              </a:extLst>
            </p:cNvPr>
            <p:cNvGrpSpPr/>
            <p:nvPr/>
          </p:nvGrpSpPr>
          <p:grpSpPr>
            <a:xfrm>
              <a:off x="1741869" y="2442631"/>
              <a:ext cx="756425" cy="410305"/>
              <a:chOff x="1819799" y="5513251"/>
              <a:chExt cx="756425" cy="410305"/>
            </a:xfrm>
          </p:grpSpPr>
          <p:sp>
            <p:nvSpPr>
              <p:cNvPr id="64" name="직사각형 63">
                <a:extLst>
                  <a:ext uri="{FF2B5EF4-FFF2-40B4-BE49-F238E27FC236}">
                    <a16:creationId xmlns="" xmlns:a16="http://schemas.microsoft.com/office/drawing/2014/main" id="{EC4544BE-64A5-4CAA-A9B7-1B6DE9C18889}"/>
                  </a:ext>
                </a:extLst>
              </p:cNvPr>
              <p:cNvSpPr/>
              <p:nvPr/>
            </p:nvSpPr>
            <p:spPr>
              <a:xfrm>
                <a:off x="1948281" y="5524246"/>
                <a:ext cx="499802" cy="39375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육각형 64">
                <a:extLst>
                  <a:ext uri="{FF2B5EF4-FFF2-40B4-BE49-F238E27FC236}">
                    <a16:creationId xmlns="" xmlns:a16="http://schemas.microsoft.com/office/drawing/2014/main" id="{E14922F9-8074-4596-B2E8-F0D101F4547B}"/>
                  </a:ext>
                </a:extLst>
              </p:cNvPr>
              <p:cNvSpPr/>
              <p:nvPr/>
            </p:nvSpPr>
            <p:spPr bwMode="auto">
              <a:xfrm>
                <a:off x="1819799" y="5513251"/>
                <a:ext cx="756425" cy="410305"/>
              </a:xfrm>
              <a:prstGeom prst="hexagon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lIns="0" tIns="0" rIns="0" bIns="0" rtlCol="0" anchor="ctr">
                <a:noAutofit/>
              </a:bodyPr>
              <a:lstStyle/>
              <a:p>
                <a:pPr algn="ctr" latinLnBrk="0"/>
                <a:r>
                  <a:rPr lang="ko-KR" altLang="en-US" sz="900" kern="0" dirty="0" err="1">
                    <a:solidFill>
                      <a:prstClr val="black"/>
                    </a:solidFill>
                  </a:rPr>
                  <a:t>매월말</a:t>
                </a:r>
                <a:endParaRPr lang="en-US" altLang="ko-KR" sz="900" kern="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67" name="직사각형 66">
              <a:extLst>
                <a:ext uri="{FF2B5EF4-FFF2-40B4-BE49-F238E27FC236}">
                  <a16:creationId xmlns="" xmlns:a16="http://schemas.microsoft.com/office/drawing/2014/main" id="{BF3A9851-2524-4F69-A8CA-A59F79A0C054}"/>
                </a:ext>
              </a:extLst>
            </p:cNvPr>
            <p:cNvSpPr/>
            <p:nvPr/>
          </p:nvSpPr>
          <p:spPr bwMode="auto">
            <a:xfrm>
              <a:off x="2022433" y="372820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2.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경주</a:t>
              </a:r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,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비경주</a:t>
              </a:r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,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공통항목의 집계와 구분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="" xmlns:a16="http://schemas.microsoft.com/office/drawing/2014/main" id="{9D9EF074-274E-4710-B45D-C5B840BE9AE1}"/>
                </a:ext>
              </a:extLst>
            </p:cNvPr>
            <p:cNvSpPr/>
            <p:nvPr/>
          </p:nvSpPr>
          <p:spPr bwMode="auto">
            <a:xfrm>
              <a:off x="2022433" y="438744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3.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공통항목의 안분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="" xmlns:a16="http://schemas.microsoft.com/office/drawing/2014/main" id="{FCFBB12F-35A8-4360-BE05-60458534C2E8}"/>
                </a:ext>
              </a:extLst>
            </p:cNvPr>
            <p:cNvSpPr/>
            <p:nvPr/>
          </p:nvSpPr>
          <p:spPr bwMode="auto">
            <a:xfrm>
              <a:off x="2022433" y="504668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4.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법정준비금과 법정적립금의 계산과 처리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="" xmlns:a16="http://schemas.microsoft.com/office/drawing/2014/main" id="{0D3B2643-5C32-4E1D-BC63-F6DEB95CAB5A}"/>
                </a:ext>
              </a:extLst>
            </p:cNvPr>
            <p:cNvSpPr/>
            <p:nvPr/>
          </p:nvSpPr>
          <p:spPr bwMode="auto">
            <a:xfrm>
              <a:off x="2022433" y="570592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5.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경주사업과 비경주사업의 손익계산서 작성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cxnSp>
          <p:nvCxnSpPr>
            <p:cNvPr id="77" name="Shape 266">
              <a:extLst>
                <a:ext uri="{FF2B5EF4-FFF2-40B4-BE49-F238E27FC236}">
                  <a16:creationId xmlns="" xmlns:a16="http://schemas.microsoft.com/office/drawing/2014/main" id="{BCD985DB-4612-4AA4-ABC7-2A9B62451DE7}"/>
                </a:ext>
              </a:extLst>
            </p:cNvPr>
            <p:cNvCxnSpPr>
              <a:cxnSpLocks noChangeShapeType="1"/>
              <a:stCxn id="62" idx="2"/>
              <a:endCxn id="67" idx="0"/>
            </p:cNvCxnSpPr>
            <p:nvPr/>
          </p:nvCxnSpPr>
          <p:spPr bwMode="auto">
            <a:xfrm>
              <a:off x="2652433" y="350096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9" name="Shape 266">
              <a:extLst>
                <a:ext uri="{FF2B5EF4-FFF2-40B4-BE49-F238E27FC236}">
                  <a16:creationId xmlns="" xmlns:a16="http://schemas.microsoft.com/office/drawing/2014/main" id="{3B96B22B-14A8-49C0-A358-9C309D03855D}"/>
                </a:ext>
              </a:extLst>
            </p:cNvPr>
            <p:cNvCxnSpPr>
              <a:cxnSpLocks noChangeShapeType="1"/>
              <a:stCxn id="67" idx="2"/>
              <a:endCxn id="74" idx="0"/>
            </p:cNvCxnSpPr>
            <p:nvPr/>
          </p:nvCxnSpPr>
          <p:spPr bwMode="auto">
            <a:xfrm>
              <a:off x="2652433" y="416020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hape 266">
              <a:extLst>
                <a:ext uri="{FF2B5EF4-FFF2-40B4-BE49-F238E27FC236}">
                  <a16:creationId xmlns="" xmlns:a16="http://schemas.microsoft.com/office/drawing/2014/main" id="{1E4AA990-D231-4D47-A0EB-2061116E81C4}"/>
                </a:ext>
              </a:extLst>
            </p:cNvPr>
            <p:cNvCxnSpPr>
              <a:cxnSpLocks noChangeShapeType="1"/>
              <a:stCxn id="74" idx="2"/>
              <a:endCxn id="75" idx="0"/>
            </p:cNvCxnSpPr>
            <p:nvPr/>
          </p:nvCxnSpPr>
          <p:spPr bwMode="auto">
            <a:xfrm>
              <a:off x="2652433" y="481944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hape 266">
              <a:extLst>
                <a:ext uri="{FF2B5EF4-FFF2-40B4-BE49-F238E27FC236}">
                  <a16:creationId xmlns="" xmlns:a16="http://schemas.microsoft.com/office/drawing/2014/main" id="{2F32FB27-0D85-421E-9474-8894EC8BE69D}"/>
                </a:ext>
              </a:extLst>
            </p:cNvPr>
            <p:cNvCxnSpPr>
              <a:cxnSpLocks noChangeShapeType="1"/>
              <a:stCxn id="75" idx="2"/>
              <a:endCxn id="76" idx="0"/>
            </p:cNvCxnSpPr>
            <p:nvPr/>
          </p:nvCxnSpPr>
          <p:spPr bwMode="auto">
            <a:xfrm>
              <a:off x="2652433" y="547868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hape 266">
              <a:extLst>
                <a:ext uri="{FF2B5EF4-FFF2-40B4-BE49-F238E27FC236}">
                  <a16:creationId xmlns="" xmlns:a16="http://schemas.microsoft.com/office/drawing/2014/main" id="{DABC1860-0FF7-41F6-9AD2-9D1777555756}"/>
                </a:ext>
              </a:extLst>
            </p:cNvPr>
            <p:cNvCxnSpPr>
              <a:cxnSpLocks noChangeShapeType="1"/>
              <a:stCxn id="55" idx="2"/>
              <a:endCxn id="62" idx="0"/>
            </p:cNvCxnSpPr>
            <p:nvPr/>
          </p:nvCxnSpPr>
          <p:spPr bwMode="auto">
            <a:xfrm flipH="1">
              <a:off x="2652433" y="2808168"/>
              <a:ext cx="493592" cy="260792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hape 266">
              <a:extLst>
                <a:ext uri="{FF2B5EF4-FFF2-40B4-BE49-F238E27FC236}">
                  <a16:creationId xmlns="" xmlns:a16="http://schemas.microsoft.com/office/drawing/2014/main" id="{D70B4440-EE95-4B6A-B968-01C895CD8996}"/>
                </a:ext>
              </a:extLst>
            </p:cNvPr>
            <p:cNvCxnSpPr>
              <a:cxnSpLocks noChangeShapeType="1"/>
              <a:stCxn id="65" idx="0"/>
              <a:endCxn id="55" idx="1"/>
            </p:cNvCxnSpPr>
            <p:nvPr/>
          </p:nvCxnSpPr>
          <p:spPr bwMode="auto">
            <a:xfrm flipV="1">
              <a:off x="2498294" y="2647783"/>
              <a:ext cx="269518" cy="1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그룹 94">
            <a:extLst>
              <a:ext uri="{FF2B5EF4-FFF2-40B4-BE49-F238E27FC236}">
                <a16:creationId xmlns="" xmlns:a16="http://schemas.microsoft.com/office/drawing/2014/main" id="{B5AB84EB-9C24-4E3C-9A97-E44A1F73669D}"/>
              </a:ext>
            </a:extLst>
          </p:cNvPr>
          <p:cNvGrpSpPr/>
          <p:nvPr/>
        </p:nvGrpSpPr>
        <p:grpSpPr>
          <a:xfrm>
            <a:off x="4550181" y="2442631"/>
            <a:ext cx="1540564" cy="3036049"/>
            <a:chOff x="1741869" y="2442631"/>
            <a:chExt cx="1540564" cy="3036049"/>
          </a:xfrm>
        </p:grpSpPr>
        <p:sp>
          <p:nvSpPr>
            <p:cNvPr id="97" name="직사각형 96">
              <a:extLst>
                <a:ext uri="{FF2B5EF4-FFF2-40B4-BE49-F238E27FC236}">
                  <a16:creationId xmlns="" xmlns:a16="http://schemas.microsoft.com/office/drawing/2014/main" id="{2D0C3FEC-8A13-46DA-B792-9E5829352C9F}"/>
                </a:ext>
              </a:extLst>
            </p:cNvPr>
            <p:cNvSpPr/>
            <p:nvPr/>
          </p:nvSpPr>
          <p:spPr bwMode="auto">
            <a:xfrm>
              <a:off x="2022433" y="306896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6.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지점별 손익 기초자료 집계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grpSp>
          <p:nvGrpSpPr>
            <p:cNvPr id="8" name="그룹 36">
              <a:extLst>
                <a:ext uri="{FF2B5EF4-FFF2-40B4-BE49-F238E27FC236}">
                  <a16:creationId xmlns="" xmlns:a16="http://schemas.microsoft.com/office/drawing/2014/main" id="{582E3D2F-75A7-419E-9C5A-104F72AA996A}"/>
                </a:ext>
              </a:extLst>
            </p:cNvPr>
            <p:cNvGrpSpPr/>
            <p:nvPr/>
          </p:nvGrpSpPr>
          <p:grpSpPr>
            <a:xfrm>
              <a:off x="1741869" y="2442631"/>
              <a:ext cx="756425" cy="410305"/>
              <a:chOff x="1819799" y="5513251"/>
              <a:chExt cx="756425" cy="410305"/>
            </a:xfrm>
          </p:grpSpPr>
          <p:sp>
            <p:nvSpPr>
              <p:cNvPr id="112" name="직사각형 111">
                <a:extLst>
                  <a:ext uri="{FF2B5EF4-FFF2-40B4-BE49-F238E27FC236}">
                    <a16:creationId xmlns="" xmlns:a16="http://schemas.microsoft.com/office/drawing/2014/main" id="{523C8B0D-EB55-435A-9A10-D5788A7EB170}"/>
                  </a:ext>
                </a:extLst>
              </p:cNvPr>
              <p:cNvSpPr/>
              <p:nvPr/>
            </p:nvSpPr>
            <p:spPr>
              <a:xfrm>
                <a:off x="1948281" y="5524246"/>
                <a:ext cx="499802" cy="39375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13" name="육각형 112">
                <a:extLst>
                  <a:ext uri="{FF2B5EF4-FFF2-40B4-BE49-F238E27FC236}">
                    <a16:creationId xmlns="" xmlns:a16="http://schemas.microsoft.com/office/drawing/2014/main" id="{4E630C01-3A0D-4146-843A-3007234B56D3}"/>
                  </a:ext>
                </a:extLst>
              </p:cNvPr>
              <p:cNvSpPr/>
              <p:nvPr/>
            </p:nvSpPr>
            <p:spPr bwMode="auto">
              <a:xfrm>
                <a:off x="1819799" y="5513251"/>
                <a:ext cx="756425" cy="410305"/>
              </a:xfrm>
              <a:prstGeom prst="hexagon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lIns="0" tIns="0" rIns="0" bIns="0" rtlCol="0" anchor="ctr">
                <a:noAutofit/>
              </a:bodyPr>
              <a:lstStyle/>
              <a:p>
                <a:pPr algn="ctr" latinLnBrk="0"/>
                <a:r>
                  <a:rPr lang="ko-KR" altLang="en-US" sz="900" kern="0" dirty="0" err="1">
                    <a:solidFill>
                      <a:prstClr val="black"/>
                    </a:solidFill>
                  </a:rPr>
                  <a:t>매월말</a:t>
                </a:r>
                <a:endParaRPr lang="en-US" altLang="ko-KR" sz="900" kern="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0" name="직사각형 99">
              <a:extLst>
                <a:ext uri="{FF2B5EF4-FFF2-40B4-BE49-F238E27FC236}">
                  <a16:creationId xmlns="" xmlns:a16="http://schemas.microsoft.com/office/drawing/2014/main" id="{47BD7C2F-5FB3-4F9D-907A-F231A430339D}"/>
                </a:ext>
              </a:extLst>
            </p:cNvPr>
            <p:cNvSpPr/>
            <p:nvPr/>
          </p:nvSpPr>
          <p:spPr bwMode="auto">
            <a:xfrm>
              <a:off x="2022433" y="372820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7.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배부전 손익계산서 작성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="" xmlns:a16="http://schemas.microsoft.com/office/drawing/2014/main" id="{A52D5F63-A37D-4C90-B5DF-6EE8DE18BAC7}"/>
                </a:ext>
              </a:extLst>
            </p:cNvPr>
            <p:cNvSpPr/>
            <p:nvPr/>
          </p:nvSpPr>
          <p:spPr bwMode="auto">
            <a:xfrm>
              <a:off x="2022433" y="438744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8.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공통항목의 안분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sp>
          <p:nvSpPr>
            <p:cNvPr id="102" name="직사각형 101">
              <a:extLst>
                <a:ext uri="{FF2B5EF4-FFF2-40B4-BE49-F238E27FC236}">
                  <a16:creationId xmlns="" xmlns:a16="http://schemas.microsoft.com/office/drawing/2014/main" id="{B9443835-8B84-4EE9-8F3B-703A0757F368}"/>
                </a:ext>
              </a:extLst>
            </p:cNvPr>
            <p:cNvSpPr/>
            <p:nvPr/>
          </p:nvSpPr>
          <p:spPr bwMode="auto">
            <a:xfrm>
              <a:off x="2022433" y="504668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9.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배부후 지점별 손익계산서 작성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cxnSp>
          <p:nvCxnSpPr>
            <p:cNvPr id="105" name="Shape 266">
              <a:extLst>
                <a:ext uri="{FF2B5EF4-FFF2-40B4-BE49-F238E27FC236}">
                  <a16:creationId xmlns="" xmlns:a16="http://schemas.microsoft.com/office/drawing/2014/main" id="{28F4FD11-105F-438F-B759-910D1145A0DB}"/>
                </a:ext>
              </a:extLst>
            </p:cNvPr>
            <p:cNvCxnSpPr>
              <a:cxnSpLocks noChangeShapeType="1"/>
              <a:stCxn id="97" idx="2"/>
              <a:endCxn id="100" idx="0"/>
            </p:cNvCxnSpPr>
            <p:nvPr/>
          </p:nvCxnSpPr>
          <p:spPr bwMode="auto">
            <a:xfrm>
              <a:off x="2652433" y="350096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hape 266">
              <a:extLst>
                <a:ext uri="{FF2B5EF4-FFF2-40B4-BE49-F238E27FC236}">
                  <a16:creationId xmlns="" xmlns:a16="http://schemas.microsoft.com/office/drawing/2014/main" id="{88C25E28-4664-410C-850C-0938FA5D77AE}"/>
                </a:ext>
              </a:extLst>
            </p:cNvPr>
            <p:cNvCxnSpPr>
              <a:cxnSpLocks noChangeShapeType="1"/>
              <a:stCxn id="100" idx="2"/>
              <a:endCxn id="101" idx="0"/>
            </p:cNvCxnSpPr>
            <p:nvPr/>
          </p:nvCxnSpPr>
          <p:spPr bwMode="auto">
            <a:xfrm>
              <a:off x="2652433" y="416020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hape 266">
              <a:extLst>
                <a:ext uri="{FF2B5EF4-FFF2-40B4-BE49-F238E27FC236}">
                  <a16:creationId xmlns="" xmlns:a16="http://schemas.microsoft.com/office/drawing/2014/main" id="{8720AB9A-9757-4A0D-9791-7EEAB6EBB6B9}"/>
                </a:ext>
              </a:extLst>
            </p:cNvPr>
            <p:cNvCxnSpPr>
              <a:cxnSpLocks noChangeShapeType="1"/>
              <a:stCxn id="101" idx="2"/>
              <a:endCxn id="102" idx="0"/>
            </p:cNvCxnSpPr>
            <p:nvPr/>
          </p:nvCxnSpPr>
          <p:spPr bwMode="auto">
            <a:xfrm>
              <a:off x="2652433" y="481944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hape 266">
              <a:extLst>
                <a:ext uri="{FF2B5EF4-FFF2-40B4-BE49-F238E27FC236}">
                  <a16:creationId xmlns="" xmlns:a16="http://schemas.microsoft.com/office/drawing/2014/main" id="{5A09759D-5314-43EC-9A4C-238FAD52E382}"/>
                </a:ext>
              </a:extLst>
            </p:cNvPr>
            <p:cNvCxnSpPr>
              <a:cxnSpLocks noChangeShapeType="1"/>
              <a:stCxn id="60" idx="2"/>
              <a:endCxn id="97" idx="0"/>
            </p:cNvCxnSpPr>
            <p:nvPr/>
          </p:nvCxnSpPr>
          <p:spPr bwMode="auto">
            <a:xfrm flipH="1">
              <a:off x="2652433" y="2813667"/>
              <a:ext cx="495698" cy="255293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" name="Shape 266">
              <a:extLst>
                <a:ext uri="{FF2B5EF4-FFF2-40B4-BE49-F238E27FC236}">
                  <a16:creationId xmlns="" xmlns:a16="http://schemas.microsoft.com/office/drawing/2014/main" id="{1DE87093-8B97-4DBA-BF75-CBDB2F6F228D}"/>
                </a:ext>
              </a:extLst>
            </p:cNvPr>
            <p:cNvCxnSpPr>
              <a:cxnSpLocks noChangeShapeType="1"/>
              <a:stCxn id="113" idx="0"/>
              <a:endCxn id="60" idx="1"/>
            </p:cNvCxnSpPr>
            <p:nvPr/>
          </p:nvCxnSpPr>
          <p:spPr bwMode="auto">
            <a:xfrm>
              <a:off x="2498294" y="2647784"/>
              <a:ext cx="271624" cy="5498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9" name="그룹 113">
            <a:extLst>
              <a:ext uri="{FF2B5EF4-FFF2-40B4-BE49-F238E27FC236}">
                <a16:creationId xmlns="" xmlns:a16="http://schemas.microsoft.com/office/drawing/2014/main" id="{8126AE49-0E15-42EB-A59A-684BD9C69882}"/>
              </a:ext>
            </a:extLst>
          </p:cNvPr>
          <p:cNvGrpSpPr/>
          <p:nvPr/>
        </p:nvGrpSpPr>
        <p:grpSpPr>
          <a:xfrm>
            <a:off x="7286485" y="2442631"/>
            <a:ext cx="1540564" cy="3036049"/>
            <a:chOff x="1741869" y="2442631"/>
            <a:chExt cx="1540564" cy="3036049"/>
          </a:xfrm>
        </p:grpSpPr>
        <p:sp>
          <p:nvSpPr>
            <p:cNvPr id="115" name="직사각형 114">
              <a:extLst>
                <a:ext uri="{FF2B5EF4-FFF2-40B4-BE49-F238E27FC236}">
                  <a16:creationId xmlns="" xmlns:a16="http://schemas.microsoft.com/office/drawing/2014/main" id="{B824B128-6900-4EEF-B143-3586CCB6377B}"/>
                </a:ext>
              </a:extLst>
            </p:cNvPr>
            <p:cNvSpPr/>
            <p:nvPr/>
          </p:nvSpPr>
          <p:spPr bwMode="auto">
            <a:xfrm>
              <a:off x="2022433" y="306896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10.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공동활용지점별 정산대상 수익</a:t>
              </a:r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/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비용 집계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grpSp>
          <p:nvGrpSpPr>
            <p:cNvPr id="10" name="그룹 36">
              <a:extLst>
                <a:ext uri="{FF2B5EF4-FFF2-40B4-BE49-F238E27FC236}">
                  <a16:creationId xmlns="" xmlns:a16="http://schemas.microsoft.com/office/drawing/2014/main" id="{F7709731-8D8F-4247-A3F4-493BACCB0291}"/>
                </a:ext>
              </a:extLst>
            </p:cNvPr>
            <p:cNvGrpSpPr/>
            <p:nvPr/>
          </p:nvGrpSpPr>
          <p:grpSpPr>
            <a:xfrm>
              <a:off x="1741869" y="2442631"/>
              <a:ext cx="756425" cy="410305"/>
              <a:chOff x="1819799" y="5513251"/>
              <a:chExt cx="756425" cy="410305"/>
            </a:xfrm>
          </p:grpSpPr>
          <p:sp>
            <p:nvSpPr>
              <p:cNvPr id="132" name="직사각형 131">
                <a:extLst>
                  <a:ext uri="{FF2B5EF4-FFF2-40B4-BE49-F238E27FC236}">
                    <a16:creationId xmlns="" xmlns:a16="http://schemas.microsoft.com/office/drawing/2014/main" id="{94FE2CB0-9CA5-496E-9A9F-F6B5F95E002B}"/>
                  </a:ext>
                </a:extLst>
              </p:cNvPr>
              <p:cNvSpPr/>
              <p:nvPr/>
            </p:nvSpPr>
            <p:spPr>
              <a:xfrm>
                <a:off x="1948281" y="5524246"/>
                <a:ext cx="499802" cy="39375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33" name="육각형 132">
                <a:extLst>
                  <a:ext uri="{FF2B5EF4-FFF2-40B4-BE49-F238E27FC236}">
                    <a16:creationId xmlns="" xmlns:a16="http://schemas.microsoft.com/office/drawing/2014/main" id="{C3EB29EB-1362-4809-AA92-94F18790BB40}"/>
                  </a:ext>
                </a:extLst>
              </p:cNvPr>
              <p:cNvSpPr/>
              <p:nvPr/>
            </p:nvSpPr>
            <p:spPr bwMode="auto">
              <a:xfrm>
                <a:off x="1819799" y="5513251"/>
                <a:ext cx="756425" cy="410305"/>
              </a:xfrm>
              <a:prstGeom prst="hexagon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lIns="0" tIns="0" rIns="0" bIns="0" rtlCol="0" anchor="ctr">
                <a:noAutofit/>
              </a:bodyPr>
              <a:lstStyle/>
              <a:p>
                <a:pPr algn="ctr" latinLnBrk="0"/>
                <a:r>
                  <a:rPr lang="ko-KR" altLang="en-US" sz="900" kern="0" dirty="0">
                    <a:solidFill>
                      <a:prstClr val="black"/>
                    </a:solidFill>
                  </a:rPr>
                  <a:t>정산시점 도래</a:t>
                </a:r>
                <a:endParaRPr lang="en-US" altLang="ko-KR" sz="900" kern="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18" name="직사각형 117">
              <a:extLst>
                <a:ext uri="{FF2B5EF4-FFF2-40B4-BE49-F238E27FC236}">
                  <a16:creationId xmlns="" xmlns:a16="http://schemas.microsoft.com/office/drawing/2014/main" id="{E719BCC3-D293-4777-B925-A332565E7C5C}"/>
                </a:ext>
              </a:extLst>
            </p:cNvPr>
            <p:cNvSpPr/>
            <p:nvPr/>
          </p:nvSpPr>
          <p:spPr bwMode="auto">
            <a:xfrm>
              <a:off x="2022433" y="372820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11.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정산용 배부기준 집계 및 배부율 작성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sp>
          <p:nvSpPr>
            <p:cNvPr id="119" name="직사각형 118">
              <a:extLst>
                <a:ext uri="{FF2B5EF4-FFF2-40B4-BE49-F238E27FC236}">
                  <a16:creationId xmlns="" xmlns:a16="http://schemas.microsoft.com/office/drawing/2014/main" id="{281B6E61-8B4A-42C9-B009-FF6DE02548E6}"/>
                </a:ext>
              </a:extLst>
            </p:cNvPr>
            <p:cNvSpPr/>
            <p:nvPr/>
          </p:nvSpPr>
          <p:spPr bwMode="auto">
            <a:xfrm>
              <a:off x="2022433" y="438744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12.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공통항목의 안분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sp>
          <p:nvSpPr>
            <p:cNvPr id="120" name="직사각형 119">
              <a:extLst>
                <a:ext uri="{FF2B5EF4-FFF2-40B4-BE49-F238E27FC236}">
                  <a16:creationId xmlns="" xmlns:a16="http://schemas.microsoft.com/office/drawing/2014/main" id="{F1C73927-1C34-4738-9095-0434871346BB}"/>
                </a:ext>
              </a:extLst>
            </p:cNvPr>
            <p:cNvSpPr/>
            <p:nvPr/>
          </p:nvSpPr>
          <p:spPr bwMode="auto">
            <a:xfrm>
              <a:off x="2022433" y="5046680"/>
              <a:ext cx="1260000" cy="432000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197EC6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en-US" altLang="ko-KR" sz="900" kern="0" dirty="0">
                  <a:solidFill>
                    <a:srgbClr val="197EC6"/>
                  </a:solidFill>
                  <a:latin typeface="+mn-ea"/>
                </a:rPr>
                <a:t>13. </a:t>
              </a:r>
              <a:r>
                <a:rPr lang="ko-KR" altLang="en-US" sz="900" kern="0" dirty="0">
                  <a:solidFill>
                    <a:srgbClr val="197EC6"/>
                  </a:solidFill>
                  <a:latin typeface="+mn-ea"/>
                </a:rPr>
                <a:t>정산비용의 확정</a:t>
              </a:r>
              <a:endParaRPr lang="en-US" altLang="ko-KR" sz="900" kern="0" dirty="0">
                <a:solidFill>
                  <a:srgbClr val="197EC6"/>
                </a:solidFill>
                <a:latin typeface="+mn-ea"/>
              </a:endParaRPr>
            </a:p>
          </p:txBody>
        </p:sp>
        <p:cxnSp>
          <p:nvCxnSpPr>
            <p:cNvPr id="123" name="Shape 266">
              <a:extLst>
                <a:ext uri="{FF2B5EF4-FFF2-40B4-BE49-F238E27FC236}">
                  <a16:creationId xmlns="" xmlns:a16="http://schemas.microsoft.com/office/drawing/2014/main" id="{C7A9E420-3C52-4571-A00F-5D40C97B78E7}"/>
                </a:ext>
              </a:extLst>
            </p:cNvPr>
            <p:cNvCxnSpPr>
              <a:cxnSpLocks noChangeShapeType="1"/>
              <a:stCxn id="115" idx="2"/>
              <a:endCxn id="118" idx="0"/>
            </p:cNvCxnSpPr>
            <p:nvPr/>
          </p:nvCxnSpPr>
          <p:spPr bwMode="auto">
            <a:xfrm>
              <a:off x="2652433" y="350096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4" name="Shape 266">
              <a:extLst>
                <a:ext uri="{FF2B5EF4-FFF2-40B4-BE49-F238E27FC236}">
                  <a16:creationId xmlns="" xmlns:a16="http://schemas.microsoft.com/office/drawing/2014/main" id="{DCF73CB4-9A32-49BF-8AA7-AA2B96BF9759}"/>
                </a:ext>
              </a:extLst>
            </p:cNvPr>
            <p:cNvCxnSpPr>
              <a:cxnSpLocks noChangeShapeType="1"/>
              <a:stCxn id="118" idx="2"/>
              <a:endCxn id="119" idx="0"/>
            </p:cNvCxnSpPr>
            <p:nvPr/>
          </p:nvCxnSpPr>
          <p:spPr bwMode="auto">
            <a:xfrm>
              <a:off x="2652433" y="416020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5" name="Shape 266">
              <a:extLst>
                <a:ext uri="{FF2B5EF4-FFF2-40B4-BE49-F238E27FC236}">
                  <a16:creationId xmlns="" xmlns:a16="http://schemas.microsoft.com/office/drawing/2014/main" id="{60E1CEDE-D081-4E34-B0A5-E1B4C136C84B}"/>
                </a:ext>
              </a:extLst>
            </p:cNvPr>
            <p:cNvCxnSpPr>
              <a:cxnSpLocks noChangeShapeType="1"/>
              <a:stCxn id="119" idx="2"/>
              <a:endCxn id="120" idx="0"/>
            </p:cNvCxnSpPr>
            <p:nvPr/>
          </p:nvCxnSpPr>
          <p:spPr bwMode="auto">
            <a:xfrm>
              <a:off x="2652433" y="4819440"/>
              <a:ext cx="0" cy="227240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7" name="Shape 266">
              <a:extLst>
                <a:ext uri="{FF2B5EF4-FFF2-40B4-BE49-F238E27FC236}">
                  <a16:creationId xmlns="" xmlns:a16="http://schemas.microsoft.com/office/drawing/2014/main" id="{7FF54C83-CEB0-4B17-8217-516D2CCC86C9}"/>
                </a:ext>
              </a:extLst>
            </p:cNvPr>
            <p:cNvCxnSpPr>
              <a:cxnSpLocks noChangeShapeType="1"/>
              <a:stCxn id="68" idx="2"/>
              <a:endCxn id="115" idx="0"/>
            </p:cNvCxnSpPr>
            <p:nvPr/>
          </p:nvCxnSpPr>
          <p:spPr bwMode="auto">
            <a:xfrm flipH="1">
              <a:off x="2652433" y="2813667"/>
              <a:ext cx="495698" cy="255293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hape 266">
              <a:extLst>
                <a:ext uri="{FF2B5EF4-FFF2-40B4-BE49-F238E27FC236}">
                  <a16:creationId xmlns="" xmlns:a16="http://schemas.microsoft.com/office/drawing/2014/main" id="{1B70443D-D8E3-4E13-81B1-2EE9A52F87E7}"/>
                </a:ext>
              </a:extLst>
            </p:cNvPr>
            <p:cNvCxnSpPr>
              <a:cxnSpLocks noChangeShapeType="1"/>
              <a:stCxn id="133" idx="0"/>
              <a:endCxn id="68" idx="1"/>
            </p:cNvCxnSpPr>
            <p:nvPr/>
          </p:nvCxnSpPr>
          <p:spPr bwMode="auto">
            <a:xfrm>
              <a:off x="2498294" y="2647784"/>
              <a:ext cx="271624" cy="5498"/>
            </a:xfrm>
            <a:prstGeom prst="straightConnector1">
              <a:avLst/>
            </a:prstGeom>
            <a:noFill/>
            <a:ln w="6350" algn="ctr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55" name="순서도: 종속 처리 54"/>
          <p:cNvSpPr>
            <a:spLocks noChangeAspect="1" noChangeArrowheads="1"/>
          </p:cNvSpPr>
          <p:nvPr/>
        </p:nvSpPr>
        <p:spPr bwMode="auto">
          <a:xfrm>
            <a:off x="2767812" y="2487397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1.4.1.3</a:t>
            </a:r>
          </a:p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결산서조회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60" name="순서도: 종속 처리 59"/>
          <p:cNvSpPr>
            <a:spLocks noChangeAspect="1" noChangeArrowheads="1"/>
          </p:cNvSpPr>
          <p:nvPr/>
        </p:nvSpPr>
        <p:spPr bwMode="auto">
          <a:xfrm>
            <a:off x="5578230" y="2492896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1.4.1.3</a:t>
            </a:r>
          </a:p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결산서조회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68" name="순서도: 종속 처리 67"/>
          <p:cNvSpPr>
            <a:spLocks noChangeAspect="1" noChangeArrowheads="1"/>
          </p:cNvSpPr>
          <p:nvPr/>
        </p:nvSpPr>
        <p:spPr bwMode="auto">
          <a:xfrm>
            <a:off x="8314534" y="2492896"/>
            <a:ext cx="756425" cy="320771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1.4.1.3</a:t>
            </a:r>
          </a:p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결산서조회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50128147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내부관리손익의 경륜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경정 업무는 사업별 손익 산출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지점별 손익 산출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공동활용지점 정산 업무로 구성하여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경륜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경정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487765"/>
              </p:ext>
            </p:extLst>
          </p:nvPr>
        </p:nvGraphicFramePr>
        <p:xfrm>
          <a:off x="344489" y="1584356"/>
          <a:ext cx="9181019" cy="3438495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962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사업별 손익계산서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경주사업과 비경주사업으로 경륜 및 경정사업의 손익을 구분하기 위해 결산이  완료되어 각 사업으로 집계된 손익계산서를 조회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사업별 손익계산서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962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경주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비경주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공통항목의 집계와 구분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또는 경정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사업의 손익계산서 수익과 비용 항목을 경주사업용 수익과 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비경주사업용 수익과 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공통항목의 수익과 비용으로 구분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현재까지 공통항목의 수익은 발생되지 않음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수익과 비용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962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공통항목의 안분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공통항목은 경주사업과 비경주사업의 매출액 비율로 경주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비경주로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안분 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안분기준과 안분금액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962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법정준비금과 법정적립금의 계산과 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기금회계 전입금과 법정준비금을 계산하여 회계처리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분개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법정준비금과 법정적립금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962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경주사업과 비경주사업의 손익계산서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또는 경정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 경주사업과 비경주사업의 사업별 손익계산서를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사업별 손익계산서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15752088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내부관리손익의 경륜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경정 업무는 사업별 손익 산출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지점별 손익 산출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공동활용지점 정산 업무로 구성하여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경륜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경정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7491135"/>
              </p:ext>
            </p:extLst>
          </p:nvPr>
        </p:nvGraphicFramePr>
        <p:xfrm>
          <a:off x="344489" y="1584356"/>
          <a:ext cx="9181019" cy="3798636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8353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지점별 손익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기초자료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지점별 손익계산서 작성에 필요한 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경정 사업본부 내 각 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별로 집계된 수익과 비용자료를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수익과 비용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353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배부전 손익계산서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지점별로 해당 수익과 비용을 집계하여 배부 전 손익계산서를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손익계산서 및 수익과 비용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353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공통항목의 안분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공통부서에서 발생된 제 비용을 각 지점에 안분하는 과정으로 경주매출액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(70)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 입장인원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(30)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을 가중평균한 비율을 안분기준으로 사용하고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안분방법은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(1)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법정배분금을 제외한 일반비용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(70%),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입장인원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(30%)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가중평균하여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배분하고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(2)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법정배분금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공통비 배분 전 지점별 당기순이익을 기준으로 배분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적자 지점은 법정배분금 배분 제외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안분기준과 안분대상 공통항목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안분 후 공통항목별 금액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8353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배부후 지점별 손익계산서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</a:rPr>
                        <a:t>배부前 손익계산서의 수익과 비용 항목에 공통항목 안분액을 합하여 지점별 손익계산서 작성하고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</a:rPr>
                        <a:t>지점별 손익계산서는 당월과 누적월로 비교 표시하여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지점별 손익계산서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261788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내부관리손익의 경륜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경정 업무는 사업별 손익 산출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지점별 손익 산출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공동활용지점 정산 업무로 구성하여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경륜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/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경정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8866888"/>
              </p:ext>
            </p:extLst>
          </p:nvPr>
        </p:nvGraphicFramePr>
        <p:xfrm>
          <a:off x="344489" y="1584356"/>
          <a:ext cx="9181019" cy="3947720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8726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공동활용지점별 정산대상 수익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비용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경정에 공동으로 활용되고 있는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 지점에서 발생된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제비용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중 현재는  경륜에서 일괄 처리한 것을 일정한 정산비율로 경륜과 경정으로 구분하여 정산하기 위해 필요한 수익과 비용을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당해년도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12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단위로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상품판매수입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인건비등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감가상각비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일반경비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(20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726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정산용 배부기준 집계 및 배부율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배부기준은 매출액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(60%)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경주개최수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(40%)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가중평균하여 배부율을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 매출액과 경주 개최 일수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726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공통항목의 안분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 구분이 불가한 공통항목을 대상으로 배부율에 의해 공통항목을 안분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1) 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지점의 경륜분담액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= 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지점의 정산비용 대상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경륜 정산비율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2) 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지점의 경정분담액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= 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지점의 정산비용 대상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경정 정산비율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경륜정산비율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’17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67.54%,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경정정산비율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’17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32.46%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안분 후 공통항목 금액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8726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정산비용의 확정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최종 정산비용을 확정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경륜사업 분담액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지점별 경륜분담액 합계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경정사업 분담액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지점별 경정분담액 합계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경륜사업 분담액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경정사업 분담액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929691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내부관리손익의 골프장 업무는 손익자료 집계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배부기준 관리 및 배부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손익계산서 산출 업무로 구성 하여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3.2.2.22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골프장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47279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내부관리손익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골프장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991454"/>
              </p:ext>
            </p:extLst>
          </p:nvPr>
        </p:nvGraphicFramePr>
        <p:xfrm>
          <a:off x="344488" y="1916832"/>
          <a:ext cx="9181019" cy="432048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1.10.2.1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손익자료 집계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1.10.2.2</a:t>
                      </a:r>
                      <a:r>
                        <a:rPr lang="en-US" altLang="ko-KR" sz="11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배부기준 관리 및 배부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1.10.2.3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손익계산서 산출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436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9" name="직사각형 28"/>
          <p:cNvSpPr/>
          <p:nvPr/>
        </p:nvSpPr>
        <p:spPr bwMode="auto">
          <a:xfrm>
            <a:off x="1915478" y="4335607"/>
            <a:ext cx="900000" cy="432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골프장사업실 인건비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/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경비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4792847" y="3395149"/>
            <a:ext cx="900000" cy="432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5.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배부기준별 배부율표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31" name="Shape 266"/>
          <p:cNvCxnSpPr>
            <a:cxnSpLocks noChangeShapeType="1"/>
            <a:stCxn id="29" idx="2"/>
            <a:endCxn id="58" idx="0"/>
          </p:cNvCxnSpPr>
          <p:nvPr/>
        </p:nvCxnSpPr>
        <p:spPr bwMode="auto">
          <a:xfrm>
            <a:off x="2365478" y="4767607"/>
            <a:ext cx="0" cy="3175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" name="Shape 266"/>
          <p:cNvCxnSpPr>
            <a:cxnSpLocks noChangeShapeType="1"/>
            <a:stCxn id="29" idx="3"/>
            <a:endCxn id="42" idx="1"/>
          </p:cNvCxnSpPr>
          <p:nvPr/>
        </p:nvCxnSpPr>
        <p:spPr bwMode="auto">
          <a:xfrm flipV="1">
            <a:off x="2815478" y="4319204"/>
            <a:ext cx="1977369" cy="23240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2" name="직사각형 41"/>
          <p:cNvSpPr/>
          <p:nvPr/>
        </p:nvSpPr>
        <p:spPr bwMode="auto">
          <a:xfrm>
            <a:off x="4792847" y="4103204"/>
            <a:ext cx="900000" cy="432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6.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7646467" y="5104817"/>
            <a:ext cx="900000" cy="432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7.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배부전 손익계산서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grpSp>
        <p:nvGrpSpPr>
          <p:cNvPr id="5" name="그룹 36"/>
          <p:cNvGrpSpPr/>
          <p:nvPr/>
        </p:nvGrpSpPr>
        <p:grpSpPr>
          <a:xfrm>
            <a:off x="1987266" y="2746825"/>
            <a:ext cx="756425" cy="410305"/>
            <a:chOff x="1819799" y="5513251"/>
            <a:chExt cx="756425" cy="410305"/>
          </a:xfrm>
        </p:grpSpPr>
        <p:sp>
          <p:nvSpPr>
            <p:cNvPr id="49" name="직사각형 48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0" name="육각형 49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매월말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3" name="직사각형 52"/>
          <p:cNvSpPr/>
          <p:nvPr/>
        </p:nvSpPr>
        <p:spPr bwMode="auto">
          <a:xfrm>
            <a:off x="1987266" y="358598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월 결산 종료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1915478" y="5085184"/>
            <a:ext cx="900000" cy="432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3.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운영수익과 운영비용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4792847" y="2784858"/>
            <a:ext cx="900000" cy="33423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4.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배부기준용 기초자료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grpSp>
        <p:nvGrpSpPr>
          <p:cNvPr id="6" name="그룹 126"/>
          <p:cNvGrpSpPr/>
          <p:nvPr/>
        </p:nvGrpSpPr>
        <p:grpSpPr>
          <a:xfrm>
            <a:off x="7718255" y="2746825"/>
            <a:ext cx="756425" cy="410305"/>
            <a:chOff x="1819799" y="5513251"/>
            <a:chExt cx="756425" cy="410305"/>
          </a:xfrm>
        </p:grpSpPr>
        <p:sp>
          <p:nvSpPr>
            <p:cNvPr id="128" name="직사각형 127"/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29" name="육각형 128"/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156" name="Shape 266"/>
          <p:cNvCxnSpPr>
            <a:cxnSpLocks noChangeShapeType="1"/>
          </p:cNvCxnSpPr>
          <p:nvPr/>
        </p:nvCxnSpPr>
        <p:spPr bwMode="auto">
          <a:xfrm>
            <a:off x="2360712" y="3151572"/>
            <a:ext cx="0" cy="43441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0" name="Shape 266"/>
          <p:cNvCxnSpPr>
            <a:cxnSpLocks noChangeShapeType="1"/>
            <a:stCxn id="53" idx="2"/>
            <a:endCxn id="29" idx="0"/>
          </p:cNvCxnSpPr>
          <p:nvPr/>
        </p:nvCxnSpPr>
        <p:spPr bwMode="auto">
          <a:xfrm flipH="1">
            <a:off x="2365478" y="3906754"/>
            <a:ext cx="1" cy="4288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>
            <a:extLst>
              <a:ext uri="{FF2B5EF4-FFF2-40B4-BE49-F238E27FC236}">
                <a16:creationId xmlns="" xmlns:a16="http://schemas.microsoft.com/office/drawing/2014/main" id="{06866819-D55B-4AD9-B077-5D994C0D4D02}"/>
              </a:ext>
            </a:extLst>
          </p:cNvPr>
          <p:cNvCxnSpPr>
            <a:cxnSpLocks noChangeShapeType="1"/>
            <a:stCxn id="78" idx="2"/>
            <a:endCxn id="30" idx="0"/>
          </p:cNvCxnSpPr>
          <p:nvPr/>
        </p:nvCxnSpPr>
        <p:spPr bwMode="auto">
          <a:xfrm>
            <a:off x="5242847" y="3119095"/>
            <a:ext cx="0" cy="2760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>
            <a:extLst>
              <a:ext uri="{FF2B5EF4-FFF2-40B4-BE49-F238E27FC236}">
                <a16:creationId xmlns="" xmlns:a16="http://schemas.microsoft.com/office/drawing/2014/main" id="{40529E81-1276-4074-84D3-0421234ACE14}"/>
              </a:ext>
            </a:extLst>
          </p:cNvPr>
          <p:cNvCxnSpPr>
            <a:cxnSpLocks noChangeShapeType="1"/>
            <a:stCxn id="30" idx="2"/>
            <a:endCxn id="42" idx="0"/>
          </p:cNvCxnSpPr>
          <p:nvPr/>
        </p:nvCxnSpPr>
        <p:spPr bwMode="auto">
          <a:xfrm>
            <a:off x="5242847" y="3827149"/>
            <a:ext cx="0" cy="2760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1" name="직사각형 100">
            <a:extLst>
              <a:ext uri="{FF2B5EF4-FFF2-40B4-BE49-F238E27FC236}">
                <a16:creationId xmlns="" xmlns:a16="http://schemas.microsoft.com/office/drawing/2014/main" id="{B8D822A9-631D-46C7-A765-ABBC0F5A29A0}"/>
              </a:ext>
            </a:extLst>
          </p:cNvPr>
          <p:cNvSpPr/>
          <p:nvPr/>
        </p:nvSpPr>
        <p:spPr bwMode="auto">
          <a:xfrm>
            <a:off x="7646467" y="3914973"/>
            <a:ext cx="900000" cy="432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8.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내부관리 손익계산서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102" name="Shape 266">
            <a:extLst>
              <a:ext uri="{FF2B5EF4-FFF2-40B4-BE49-F238E27FC236}">
                <a16:creationId xmlns="" xmlns:a16="http://schemas.microsoft.com/office/drawing/2014/main" id="{102E1FFC-CBF0-423C-B87C-551B51A41E53}"/>
              </a:ext>
            </a:extLst>
          </p:cNvPr>
          <p:cNvCxnSpPr>
            <a:cxnSpLocks noChangeShapeType="1"/>
            <a:stCxn id="58" idx="3"/>
            <a:endCxn id="43" idx="1"/>
          </p:cNvCxnSpPr>
          <p:nvPr/>
        </p:nvCxnSpPr>
        <p:spPr bwMode="auto">
          <a:xfrm>
            <a:off x="2815478" y="5301184"/>
            <a:ext cx="4830989" cy="1963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" name="Shape 266">
            <a:extLst>
              <a:ext uri="{FF2B5EF4-FFF2-40B4-BE49-F238E27FC236}">
                <a16:creationId xmlns="" xmlns:a16="http://schemas.microsoft.com/office/drawing/2014/main" id="{2C1B6C03-FAC2-4CCF-9A2F-6BDE787C56FA}"/>
              </a:ext>
            </a:extLst>
          </p:cNvPr>
          <p:cNvCxnSpPr>
            <a:cxnSpLocks noChangeShapeType="1"/>
            <a:stCxn id="42" idx="3"/>
            <a:endCxn id="101" idx="1"/>
          </p:cNvCxnSpPr>
          <p:nvPr/>
        </p:nvCxnSpPr>
        <p:spPr bwMode="auto">
          <a:xfrm flipV="1">
            <a:off x="5692847" y="4130973"/>
            <a:ext cx="1953620" cy="18823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>
            <a:extLst>
              <a:ext uri="{FF2B5EF4-FFF2-40B4-BE49-F238E27FC236}">
                <a16:creationId xmlns="" xmlns:a16="http://schemas.microsoft.com/office/drawing/2014/main" id="{660E914C-0960-4B1F-B392-0AE44453DE1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096467" y="3140968"/>
            <a:ext cx="0" cy="7560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0" name="Shape 266">
            <a:extLst>
              <a:ext uri="{FF2B5EF4-FFF2-40B4-BE49-F238E27FC236}">
                <a16:creationId xmlns="" xmlns:a16="http://schemas.microsoft.com/office/drawing/2014/main" id="{50A0B085-91AE-40BB-A1C9-6C7254B2DD0D}"/>
              </a:ext>
            </a:extLst>
          </p:cNvPr>
          <p:cNvCxnSpPr>
            <a:cxnSpLocks noChangeShapeType="1"/>
            <a:stCxn id="43" idx="0"/>
            <a:endCxn id="101" idx="2"/>
          </p:cNvCxnSpPr>
          <p:nvPr/>
        </p:nvCxnSpPr>
        <p:spPr bwMode="auto">
          <a:xfrm flipV="1">
            <a:off x="8096467" y="4346973"/>
            <a:ext cx="0" cy="7578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70">
            <a:extLst>
              <a:ext uri="{FF2B5EF4-FFF2-40B4-BE49-F238E27FC236}">
                <a16:creationId xmlns="" xmlns:a16="http://schemas.microsoft.com/office/drawing/2014/main" id="{01B32D82-94E2-46B8-8366-33D12968451B}"/>
              </a:ext>
            </a:extLst>
          </p:cNvPr>
          <p:cNvGrpSpPr/>
          <p:nvPr/>
        </p:nvGrpSpPr>
        <p:grpSpPr>
          <a:xfrm flipH="1">
            <a:off x="2288704" y="5589240"/>
            <a:ext cx="307440" cy="356556"/>
            <a:chOff x="3031001" y="4475605"/>
            <a:chExt cx="322637" cy="356556"/>
          </a:xfrm>
        </p:grpSpPr>
        <p:sp>
          <p:nvSpPr>
            <p:cNvPr id="115" name="Line 175">
              <a:extLst>
                <a:ext uri="{FF2B5EF4-FFF2-40B4-BE49-F238E27FC236}">
                  <a16:creationId xmlns="" xmlns:a16="http://schemas.microsoft.com/office/drawing/2014/main" id="{7AAC5292-5459-4C6A-9C30-F6B10BDB6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16" name="Freeform 176">
              <a:extLst>
                <a:ext uri="{FF2B5EF4-FFF2-40B4-BE49-F238E27FC236}">
                  <a16:creationId xmlns="" xmlns:a16="http://schemas.microsoft.com/office/drawing/2014/main" id="{A613627A-0815-49A1-9A85-BC91CC8617A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7" name="Rectangle 179">
            <a:extLst>
              <a:ext uri="{FF2B5EF4-FFF2-40B4-BE49-F238E27FC236}">
                <a16:creationId xmlns="" xmlns:a16="http://schemas.microsoft.com/office/drawing/2014/main" id="{AE21F778-B2E3-417E-9022-727BB827DDB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11126" y="5549751"/>
            <a:ext cx="116175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광산 골프장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정선 골프장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제천 골프장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영광 골프장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거창 골프장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96117415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내부관리손익의 골프장 업무는 손익자료 집계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배부기준 관리 및 배부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손익계산서 산출 업무로 구성 하여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골프장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2823038"/>
              </p:ext>
            </p:extLst>
          </p:nvPr>
        </p:nvGraphicFramePr>
        <p:xfrm>
          <a:off x="344489" y="1584356"/>
          <a:ext cx="9181019" cy="4402800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 결산 종료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매월 말 이후 공단 내 월 결산이 최종 마무리되어 각 계정별 금액과 귀속부서 등이 완료된 상태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골프장사업실 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인건비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경비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월 동안 발생되어 골프장사업실로 귀속된 인건비와 경비금액을 계정과목별로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골프장사업실의 인건비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경비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운영수익과 운영비용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월에 발생되어 각 골프장에 귀속된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 지출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을 계정과목별로 집계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운영비용에는 골프장의 감가상각비도 포함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골프장별 운영수익과 운영비용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배부기준용 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기초자료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골프장사업실의 인건비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경비를 각 골프장에 배부할 때 사용할 배부기준용 기초자료를 집계하는 것으로 기초자료는 각 골프장별 예산지출규모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월까지의 누적 매출액과 입장인원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골프장의 공단인원수와 인건비 자료 존재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배부기준용 기초자료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예산규지출규모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매출액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입장인원등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배부기준별 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</a:rPr>
                        <a:t>배부기준에 해당되는 수치자료를 집계하여 전체 합으로 각 배부기준을 나누어 계산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</a:rPr>
                        <a:t>(%)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</a:rPr>
                        <a:t>하여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</a:rPr>
                        <a:t>배부율표를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</a:rPr>
                        <a:t> 작성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골프장사업실의 인건비와 경비 중 직접적으로 특정 골프장에 귀속되지 않는 제 비용을 배부율표의 비율로 계산하여 각 골프장 배부금액을 계산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배부대상 금액과 배부후 금액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배부전 손익계산서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배부전 손익계산서는 각 골프장별로 발생된 직접적인 운영수익과 운영비용에 특정 골프장에 귀속되는 골프장사업실의 특정비용을 집계하여 산출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배부전 손익계산서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956034099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내부관리 손익계산서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배부전 손익계산서에 골프장사업실의 인건비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경비 배부액을 추가하여 내부관리 손익계산서를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배부후 손익계산서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635091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158689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  <a:ea typeface="+mn-ea"/>
              </a:rPr>
              <a:t>기금회계의 기초자료 집계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구분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공통 항목의 분리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배부</a:t>
            </a:r>
            <a:r>
              <a:rPr lang="en-US" altLang="ko-KR" dirty="0">
                <a:latin typeface="+mn-ea"/>
                <a:ea typeface="+mn-ea"/>
              </a:rPr>
              <a:t> </a:t>
            </a:r>
            <a:r>
              <a:rPr lang="ko-KR" altLang="en-US" dirty="0">
                <a:latin typeface="+mn-ea"/>
                <a:ea typeface="+mn-ea"/>
              </a:rPr>
              <a:t>기준관리 및 배부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구분회계별 항목 집계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</a:rPr>
              <a:t>사업단위별 구분회계 재무제표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재정운영표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재정상태표</a:t>
            </a:r>
            <a:r>
              <a:rPr lang="en-US" altLang="ko-KR" dirty="0">
                <a:latin typeface="+mn-ea"/>
              </a:rPr>
              <a:t>) </a:t>
            </a:r>
            <a:r>
              <a:rPr lang="ko-KR" altLang="en-US" dirty="0">
                <a:latin typeface="+mn-ea"/>
              </a:rPr>
              <a:t>작성을 전산화함</a:t>
            </a:r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3.2.2.23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 구분회계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918141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내부관리손익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 구분회계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1171750"/>
              </p:ext>
            </p:extLst>
          </p:nvPr>
        </p:nvGraphicFramePr>
        <p:xfrm>
          <a:off x="344488" y="1916832"/>
          <a:ext cx="9181020" cy="432048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800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9523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34923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1.10.3.1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기초자료 집계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1.10.3.2</a:t>
                      </a:r>
                      <a:r>
                        <a:rPr lang="en-US" altLang="ko-KR" sz="11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구분항목과 공통항목의 분리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1.10.3.3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배부기준관리 및 배부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436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9" name="직사각형 28"/>
          <p:cNvSpPr/>
          <p:nvPr/>
        </p:nvSpPr>
        <p:spPr bwMode="auto">
          <a:xfrm>
            <a:off x="1568624" y="3615617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기금회계 사업단위별 총수익과 총비용의 계정별 자료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31" name="Shape 266"/>
          <p:cNvCxnSpPr>
            <a:cxnSpLocks noChangeShapeType="1"/>
            <a:stCxn id="29" idx="2"/>
            <a:endCxn id="36" idx="0"/>
          </p:cNvCxnSpPr>
          <p:nvPr/>
        </p:nvCxnSpPr>
        <p:spPr bwMode="auto">
          <a:xfrm>
            <a:off x="2198624" y="4155617"/>
            <a:ext cx="0" cy="3590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0" name="Shape 266"/>
          <p:cNvCxnSpPr>
            <a:cxnSpLocks noChangeShapeType="1"/>
            <a:endCxn id="29" idx="0"/>
          </p:cNvCxnSpPr>
          <p:nvPr/>
        </p:nvCxnSpPr>
        <p:spPr bwMode="auto">
          <a:xfrm>
            <a:off x="2198624" y="3256540"/>
            <a:ext cx="0" cy="3590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16">
            <a:extLst>
              <a:ext uri="{FF2B5EF4-FFF2-40B4-BE49-F238E27FC236}">
                <a16:creationId xmlns="" xmlns:a16="http://schemas.microsoft.com/office/drawing/2014/main" id="{465AF761-A6C6-4286-A747-49EF78951A1F}"/>
              </a:ext>
            </a:extLst>
          </p:cNvPr>
          <p:cNvGrpSpPr/>
          <p:nvPr/>
        </p:nvGrpSpPr>
        <p:grpSpPr>
          <a:xfrm>
            <a:off x="1669712" y="5189664"/>
            <a:ext cx="1057825" cy="615600"/>
            <a:chOff x="4219119" y="5629953"/>
            <a:chExt cx="1057825" cy="615600"/>
          </a:xfrm>
        </p:grpSpPr>
        <p:sp>
          <p:nvSpPr>
            <p:cNvPr id="116" name="Freeform 176">
              <a:extLst>
                <a:ext uri="{FF2B5EF4-FFF2-40B4-BE49-F238E27FC236}">
                  <a16:creationId xmlns="" xmlns:a16="http://schemas.microsoft.com/office/drawing/2014/main" id="{A613627A-0815-49A1-9A85-BC91CC861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119" y="5667753"/>
              <a:ext cx="85809" cy="54000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7" name="Rectangle 179">
              <a:extLst>
                <a:ext uri="{FF2B5EF4-FFF2-40B4-BE49-F238E27FC236}">
                  <a16:creationId xmlns="" xmlns:a16="http://schemas.microsoft.com/office/drawing/2014/main" id="{AE21F778-B2E3-417E-9022-727BB827DDB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4448944" y="5629977"/>
              <a:ext cx="8280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marL="108000" marR="0" lvl="0" indent="-1080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+mj-ea"/>
                <a:buAutoNum type="circleNumDbPlain"/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800" kern="0" dirty="0">
                  <a:solidFill>
                    <a:prstClr val="black"/>
                  </a:solidFill>
                </a:rPr>
                <a:t>생활체육육성</a:t>
              </a:r>
              <a:endParaRPr kumimoji="1" lang="en-US" altLang="ko-KR" sz="800" kern="0" dirty="0">
                <a:solidFill>
                  <a:prstClr val="black"/>
                </a:solidFill>
              </a:endParaRPr>
            </a:p>
            <a:p>
              <a:pPr marL="108000" marR="0" lvl="0" indent="-1080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+mj-ea"/>
                <a:buAutoNum type="circleNumDbPlain"/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전문체육육성</a:t>
              </a:r>
              <a:endPara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108000" marR="0" lvl="0" indent="-1080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+mj-ea"/>
                <a:buAutoNum type="circleNumDbPlain"/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800" kern="0" dirty="0">
                  <a:solidFill>
                    <a:prstClr val="black"/>
                  </a:solidFill>
                </a:rPr>
                <a:t>스포츠산업육성</a:t>
              </a:r>
              <a:endParaRPr kumimoji="1" lang="en-US" altLang="ko-KR" sz="800" kern="0" dirty="0">
                <a:solidFill>
                  <a:prstClr val="black"/>
                </a:solidFill>
              </a:endParaRPr>
            </a:p>
            <a:p>
              <a:pPr marL="108000" marR="0" lvl="0" indent="-1080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+mj-ea"/>
                <a:buAutoNum type="circleNumDbPlain"/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장애인체육육성</a:t>
              </a:r>
              <a:endPara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108000" marR="0" lvl="0" indent="-1080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+mj-ea"/>
                <a:buAutoNum type="circleNumDbPlain"/>
                <a:tabLst>
                  <a:tab pos="0" algn="l"/>
                  <a:tab pos="447675" algn="l"/>
                  <a:tab pos="896938" algn="l"/>
                  <a:tab pos="1346200" algn="l"/>
                  <a:tab pos="1795463" algn="l"/>
                  <a:tab pos="2244725" algn="l"/>
                  <a:tab pos="2693988" algn="l"/>
                  <a:tab pos="3143250" algn="l"/>
                  <a:tab pos="3592513" algn="l"/>
                  <a:tab pos="4041775" algn="l"/>
                  <a:tab pos="4491038" algn="l"/>
                  <a:tab pos="4940300" algn="l"/>
                  <a:tab pos="5389563" algn="l"/>
                  <a:tab pos="5838825" algn="l"/>
                  <a:tab pos="6288088" algn="l"/>
                  <a:tab pos="6737350" algn="l"/>
                  <a:tab pos="7186613" algn="l"/>
                  <a:tab pos="7635875" algn="l"/>
                  <a:tab pos="8085138" algn="l"/>
                  <a:tab pos="8534400" algn="l"/>
                  <a:tab pos="8983663" algn="l"/>
                </a:tabLst>
                <a:defRPr/>
              </a:pPr>
              <a:r>
                <a:rPr kumimoji="1" lang="ko-KR" altLang="en-US" sz="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체육인프라운영</a:t>
              </a:r>
              <a:endPara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="" xmlns:a16="http://schemas.microsoft.com/office/drawing/2014/main" id="{9F28D609-D18D-42F9-A2CD-F5C75AA86CC4}"/>
                </a:ext>
              </a:extLst>
            </p:cNvPr>
            <p:cNvSpPr/>
            <p:nvPr/>
          </p:nvSpPr>
          <p:spPr>
            <a:xfrm>
              <a:off x="4225536" y="5629953"/>
              <a:ext cx="252000" cy="6156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사</a:t>
              </a:r>
            </a:p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업</a:t>
              </a:r>
            </a:p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단</a:t>
              </a:r>
            </a:p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위</a:t>
              </a: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="" xmlns:a16="http://schemas.microsoft.com/office/drawing/2014/main" id="{A44BB0BA-E514-4430-8548-A9C8D38FDF75}"/>
              </a:ext>
            </a:extLst>
          </p:cNvPr>
          <p:cNvSpPr/>
          <p:nvPr/>
        </p:nvSpPr>
        <p:spPr bwMode="auto">
          <a:xfrm>
            <a:off x="1568624" y="4514694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기금회계 사업단위별 자산과 부채의 계정별 자료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="" xmlns:a16="http://schemas.microsoft.com/office/drawing/2014/main" id="{228FBB41-274F-4DA7-B124-35090CCC0368}"/>
              </a:ext>
            </a:extLst>
          </p:cNvPr>
          <p:cNvSpPr/>
          <p:nvPr/>
        </p:nvSpPr>
        <p:spPr bwMode="auto">
          <a:xfrm>
            <a:off x="3368824" y="2716540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3.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총수익 계정별 직접귀속과 공통항목 구분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="" xmlns:a16="http://schemas.microsoft.com/office/drawing/2014/main" id="{FCC20E71-0774-4747-9847-7CCE377BA3F7}"/>
              </a:ext>
            </a:extLst>
          </p:cNvPr>
          <p:cNvSpPr/>
          <p:nvPr/>
        </p:nvSpPr>
        <p:spPr bwMode="auto">
          <a:xfrm>
            <a:off x="3368824" y="3590117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4.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총비용 계정별 직접귀속과 공통항목 구분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="" xmlns:a16="http://schemas.microsoft.com/office/drawing/2014/main" id="{8488DE67-A557-4A3F-A600-552151F36A24}"/>
              </a:ext>
            </a:extLst>
          </p:cNvPr>
          <p:cNvSpPr/>
          <p:nvPr/>
        </p:nvSpPr>
        <p:spPr bwMode="auto">
          <a:xfrm>
            <a:off x="3368824" y="4463694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5.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자산 계정별 직접귀속과 공통항목 구분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="" xmlns:a16="http://schemas.microsoft.com/office/drawing/2014/main" id="{DA5E6EAD-1B53-4395-9060-4B6C63F34624}"/>
              </a:ext>
            </a:extLst>
          </p:cNvPr>
          <p:cNvSpPr/>
          <p:nvPr/>
        </p:nvSpPr>
        <p:spPr bwMode="auto">
          <a:xfrm>
            <a:off x="3368824" y="5337272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6.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부채 계정별 직접귀속과 공통항목 구분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="" xmlns:a16="http://schemas.microsoft.com/office/drawing/2014/main" id="{1255DD3F-2FA9-456E-B430-51B3F3667274}"/>
              </a:ext>
            </a:extLst>
          </p:cNvPr>
          <p:cNvSpPr/>
          <p:nvPr/>
        </p:nvSpPr>
        <p:spPr bwMode="auto">
          <a:xfrm>
            <a:off x="6245142" y="2716540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7.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총수익 공통항목의 배부기준 자료 집계 및 배부율표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6328D902-45B7-47ED-BD58-E1DA965AD883}"/>
              </a:ext>
            </a:extLst>
          </p:cNvPr>
          <p:cNvSpPr/>
          <p:nvPr/>
        </p:nvSpPr>
        <p:spPr bwMode="auto">
          <a:xfrm>
            <a:off x="6245142" y="3590117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9.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총비용 공통항목의 배부기준 자료 집계 및 배부율표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="" xmlns:a16="http://schemas.microsoft.com/office/drawing/2014/main" id="{503F2CE8-F61F-4805-B4E8-781756BFE50D}"/>
              </a:ext>
            </a:extLst>
          </p:cNvPr>
          <p:cNvSpPr/>
          <p:nvPr/>
        </p:nvSpPr>
        <p:spPr bwMode="auto">
          <a:xfrm>
            <a:off x="6245142" y="4463694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11.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자산 공통항목의 배부기준 자료 집계 및 배부율표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="" xmlns:a16="http://schemas.microsoft.com/office/drawing/2014/main" id="{5C702E20-FBB7-42C6-8196-D5DC8729B721}"/>
              </a:ext>
            </a:extLst>
          </p:cNvPr>
          <p:cNvSpPr/>
          <p:nvPr/>
        </p:nvSpPr>
        <p:spPr bwMode="auto">
          <a:xfrm>
            <a:off x="6245142" y="5337272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13.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부채 공통항목의 배부기준 자료 집계 및 배부율표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59" name="Shape 266">
            <a:extLst>
              <a:ext uri="{FF2B5EF4-FFF2-40B4-BE49-F238E27FC236}">
                <a16:creationId xmlns="" xmlns:a16="http://schemas.microsoft.com/office/drawing/2014/main" id="{6D7C2742-D154-479C-91AC-3EFD51123675}"/>
              </a:ext>
            </a:extLst>
          </p:cNvPr>
          <p:cNvCxnSpPr>
            <a:cxnSpLocks noChangeShapeType="1"/>
            <a:stCxn id="29" idx="3"/>
            <a:endCxn id="46" idx="1"/>
          </p:cNvCxnSpPr>
          <p:nvPr/>
        </p:nvCxnSpPr>
        <p:spPr bwMode="auto">
          <a:xfrm flipV="1">
            <a:off x="2828624" y="2986540"/>
            <a:ext cx="540200" cy="89907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0" name="Shape 266">
            <a:extLst>
              <a:ext uri="{FF2B5EF4-FFF2-40B4-BE49-F238E27FC236}">
                <a16:creationId xmlns="" xmlns:a16="http://schemas.microsoft.com/office/drawing/2014/main" id="{79364780-A4BA-4682-8AF5-F4B172D162F5}"/>
              </a:ext>
            </a:extLst>
          </p:cNvPr>
          <p:cNvCxnSpPr>
            <a:cxnSpLocks noChangeShapeType="1"/>
            <a:stCxn id="29" idx="3"/>
            <a:endCxn id="48" idx="1"/>
          </p:cNvCxnSpPr>
          <p:nvPr/>
        </p:nvCxnSpPr>
        <p:spPr bwMode="auto">
          <a:xfrm flipV="1">
            <a:off x="2828624" y="3860117"/>
            <a:ext cx="540200" cy="2550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1" name="Shape 266">
            <a:extLst>
              <a:ext uri="{FF2B5EF4-FFF2-40B4-BE49-F238E27FC236}">
                <a16:creationId xmlns="" xmlns:a16="http://schemas.microsoft.com/office/drawing/2014/main" id="{F716449F-BAAB-4504-978F-22F6744D158B}"/>
              </a:ext>
            </a:extLst>
          </p:cNvPr>
          <p:cNvCxnSpPr>
            <a:cxnSpLocks noChangeShapeType="1"/>
            <a:stCxn id="36" idx="3"/>
            <a:endCxn id="51" idx="1"/>
          </p:cNvCxnSpPr>
          <p:nvPr/>
        </p:nvCxnSpPr>
        <p:spPr bwMode="auto">
          <a:xfrm flipV="1">
            <a:off x="2828624" y="4733694"/>
            <a:ext cx="540200" cy="5100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4" name="Shape 266">
            <a:extLst>
              <a:ext uri="{FF2B5EF4-FFF2-40B4-BE49-F238E27FC236}">
                <a16:creationId xmlns="" xmlns:a16="http://schemas.microsoft.com/office/drawing/2014/main" id="{D0B04B4D-3932-4DE5-9B5E-AACA6E1E8B6F}"/>
              </a:ext>
            </a:extLst>
          </p:cNvPr>
          <p:cNvCxnSpPr>
            <a:cxnSpLocks noChangeShapeType="1"/>
            <a:stCxn id="36" idx="3"/>
            <a:endCxn id="52" idx="1"/>
          </p:cNvCxnSpPr>
          <p:nvPr/>
        </p:nvCxnSpPr>
        <p:spPr bwMode="auto">
          <a:xfrm>
            <a:off x="2828624" y="4784694"/>
            <a:ext cx="540200" cy="82257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8" name="Shape 266">
            <a:extLst>
              <a:ext uri="{FF2B5EF4-FFF2-40B4-BE49-F238E27FC236}">
                <a16:creationId xmlns="" xmlns:a16="http://schemas.microsoft.com/office/drawing/2014/main" id="{E8E45CA8-BA16-4274-9ABB-A9FC9A9306CF}"/>
              </a:ext>
            </a:extLst>
          </p:cNvPr>
          <p:cNvCxnSpPr>
            <a:cxnSpLocks noChangeShapeType="1"/>
            <a:stCxn id="46" idx="3"/>
            <a:endCxn id="93" idx="1"/>
          </p:cNvCxnSpPr>
          <p:nvPr/>
        </p:nvCxnSpPr>
        <p:spPr bwMode="auto">
          <a:xfrm>
            <a:off x="4628824" y="2986540"/>
            <a:ext cx="339972" cy="43678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" name="Shape 266">
            <a:extLst>
              <a:ext uri="{FF2B5EF4-FFF2-40B4-BE49-F238E27FC236}">
                <a16:creationId xmlns="" xmlns:a16="http://schemas.microsoft.com/office/drawing/2014/main" id="{927BB73B-8733-40DD-9CDD-74C8220574EB}"/>
              </a:ext>
            </a:extLst>
          </p:cNvPr>
          <p:cNvCxnSpPr>
            <a:cxnSpLocks noChangeShapeType="1"/>
            <a:stCxn id="48" idx="3"/>
            <a:endCxn id="93" idx="1"/>
          </p:cNvCxnSpPr>
          <p:nvPr/>
        </p:nvCxnSpPr>
        <p:spPr bwMode="auto">
          <a:xfrm flipV="1">
            <a:off x="4628824" y="3423329"/>
            <a:ext cx="339972" cy="4367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>
            <a:extLst>
              <a:ext uri="{FF2B5EF4-FFF2-40B4-BE49-F238E27FC236}">
                <a16:creationId xmlns="" xmlns:a16="http://schemas.microsoft.com/office/drawing/2014/main" id="{719DF217-B5EA-4652-A413-116034D69BAC}"/>
              </a:ext>
            </a:extLst>
          </p:cNvPr>
          <p:cNvCxnSpPr>
            <a:cxnSpLocks noChangeShapeType="1"/>
            <a:stCxn id="51" idx="3"/>
            <a:endCxn id="94" idx="1"/>
          </p:cNvCxnSpPr>
          <p:nvPr/>
        </p:nvCxnSpPr>
        <p:spPr bwMode="auto">
          <a:xfrm>
            <a:off x="4628824" y="4733694"/>
            <a:ext cx="339972" cy="43679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" name="Shape 266">
            <a:extLst>
              <a:ext uri="{FF2B5EF4-FFF2-40B4-BE49-F238E27FC236}">
                <a16:creationId xmlns="" xmlns:a16="http://schemas.microsoft.com/office/drawing/2014/main" id="{0CD78C4A-D735-47BF-95CA-AABB62E53548}"/>
              </a:ext>
            </a:extLst>
          </p:cNvPr>
          <p:cNvCxnSpPr>
            <a:cxnSpLocks noChangeShapeType="1"/>
            <a:stCxn id="52" idx="3"/>
            <a:endCxn id="94" idx="1"/>
          </p:cNvCxnSpPr>
          <p:nvPr/>
        </p:nvCxnSpPr>
        <p:spPr bwMode="auto">
          <a:xfrm flipV="1">
            <a:off x="4628824" y="5170484"/>
            <a:ext cx="339972" cy="4367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3" name="순서도: 판단 58">
            <a:extLst>
              <a:ext uri="{FF2B5EF4-FFF2-40B4-BE49-F238E27FC236}">
                <a16:creationId xmlns="" xmlns:a16="http://schemas.microsoft.com/office/drawing/2014/main" id="{AFE32C6C-E777-4FDE-929E-C5217D97B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68796" y="3203707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배부대상</a:t>
            </a:r>
          </a:p>
        </p:txBody>
      </p:sp>
      <p:sp>
        <p:nvSpPr>
          <p:cNvPr id="94" name="순서도: 판단 58">
            <a:extLst>
              <a:ext uri="{FF2B5EF4-FFF2-40B4-BE49-F238E27FC236}">
                <a16:creationId xmlns="" xmlns:a16="http://schemas.microsoft.com/office/drawing/2014/main" id="{459D6742-CB48-4036-800A-3CD6282543B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68796" y="4950862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배부대상</a:t>
            </a:r>
          </a:p>
        </p:txBody>
      </p:sp>
      <p:cxnSp>
        <p:nvCxnSpPr>
          <p:cNvPr id="99" name="Shape 266">
            <a:extLst>
              <a:ext uri="{FF2B5EF4-FFF2-40B4-BE49-F238E27FC236}">
                <a16:creationId xmlns="" xmlns:a16="http://schemas.microsoft.com/office/drawing/2014/main" id="{4A360E1C-FFE9-44A6-B019-5ABEE58840B5}"/>
              </a:ext>
            </a:extLst>
          </p:cNvPr>
          <p:cNvCxnSpPr>
            <a:cxnSpLocks noChangeShapeType="1"/>
            <a:stCxn id="93" idx="3"/>
            <a:endCxn id="54" idx="1"/>
          </p:cNvCxnSpPr>
          <p:nvPr/>
        </p:nvCxnSpPr>
        <p:spPr bwMode="auto">
          <a:xfrm flipV="1">
            <a:off x="5884071" y="2986540"/>
            <a:ext cx="361071" cy="43678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" name="Shape 266">
            <a:extLst>
              <a:ext uri="{FF2B5EF4-FFF2-40B4-BE49-F238E27FC236}">
                <a16:creationId xmlns="" xmlns:a16="http://schemas.microsoft.com/office/drawing/2014/main" id="{5446F716-FB95-40BD-B6A3-55BD52A73858}"/>
              </a:ext>
            </a:extLst>
          </p:cNvPr>
          <p:cNvCxnSpPr>
            <a:cxnSpLocks noChangeShapeType="1"/>
            <a:stCxn id="93" idx="3"/>
            <a:endCxn id="55" idx="1"/>
          </p:cNvCxnSpPr>
          <p:nvPr/>
        </p:nvCxnSpPr>
        <p:spPr bwMode="auto">
          <a:xfrm>
            <a:off x="5884071" y="3423329"/>
            <a:ext cx="361071" cy="4367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>
            <a:extLst>
              <a:ext uri="{FF2B5EF4-FFF2-40B4-BE49-F238E27FC236}">
                <a16:creationId xmlns="" xmlns:a16="http://schemas.microsoft.com/office/drawing/2014/main" id="{B4203351-24A0-4669-9E8D-589AADB2B539}"/>
              </a:ext>
            </a:extLst>
          </p:cNvPr>
          <p:cNvCxnSpPr>
            <a:cxnSpLocks noChangeShapeType="1"/>
            <a:stCxn id="94" idx="3"/>
            <a:endCxn id="56" idx="1"/>
          </p:cNvCxnSpPr>
          <p:nvPr/>
        </p:nvCxnSpPr>
        <p:spPr bwMode="auto">
          <a:xfrm flipV="1">
            <a:off x="5884071" y="4733694"/>
            <a:ext cx="361071" cy="43679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" name="Shape 266">
            <a:extLst>
              <a:ext uri="{FF2B5EF4-FFF2-40B4-BE49-F238E27FC236}">
                <a16:creationId xmlns="" xmlns:a16="http://schemas.microsoft.com/office/drawing/2014/main" id="{31524A77-7F19-4E1F-B7C2-0F6CF43A8598}"/>
              </a:ext>
            </a:extLst>
          </p:cNvPr>
          <p:cNvCxnSpPr>
            <a:cxnSpLocks noChangeShapeType="1"/>
            <a:stCxn id="94" idx="3"/>
            <a:endCxn id="57" idx="1"/>
          </p:cNvCxnSpPr>
          <p:nvPr/>
        </p:nvCxnSpPr>
        <p:spPr bwMode="auto">
          <a:xfrm>
            <a:off x="5884071" y="5170484"/>
            <a:ext cx="361071" cy="4367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2" name="타원 111">
            <a:extLst>
              <a:ext uri="{FF2B5EF4-FFF2-40B4-BE49-F238E27FC236}">
                <a16:creationId xmlns="" xmlns:a16="http://schemas.microsoft.com/office/drawing/2014/main" id="{AAF60F42-FA7F-41AB-991F-134D66BEB2CC}"/>
              </a:ext>
            </a:extLst>
          </p:cNvPr>
          <p:cNvSpPr/>
          <p:nvPr/>
        </p:nvSpPr>
        <p:spPr>
          <a:xfrm>
            <a:off x="5325276" y="396290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="" xmlns:a16="http://schemas.microsoft.com/office/drawing/2014/main" id="{B87B20C4-1D4B-4969-B048-46E61C11CDD7}"/>
              </a:ext>
            </a:extLst>
          </p:cNvPr>
          <p:cNvSpPr/>
          <p:nvPr/>
        </p:nvSpPr>
        <p:spPr>
          <a:xfrm>
            <a:off x="5325276" y="568734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14" name="Shape 266">
            <a:extLst>
              <a:ext uri="{FF2B5EF4-FFF2-40B4-BE49-F238E27FC236}">
                <a16:creationId xmlns="" xmlns:a16="http://schemas.microsoft.com/office/drawing/2014/main" id="{7F11396E-3549-48BD-84B9-169E69C7F1E1}"/>
              </a:ext>
            </a:extLst>
          </p:cNvPr>
          <p:cNvCxnSpPr>
            <a:cxnSpLocks noChangeShapeType="1"/>
            <a:stCxn id="93" idx="2"/>
            <a:endCxn id="112" idx="0"/>
          </p:cNvCxnSpPr>
          <p:nvPr/>
        </p:nvCxnSpPr>
        <p:spPr bwMode="auto">
          <a:xfrm rot="5400000">
            <a:off x="5266458" y="3802926"/>
            <a:ext cx="319952" cy="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" name="Shape 266">
            <a:extLst>
              <a:ext uri="{FF2B5EF4-FFF2-40B4-BE49-F238E27FC236}">
                <a16:creationId xmlns="" xmlns:a16="http://schemas.microsoft.com/office/drawing/2014/main" id="{304E4E03-9200-453C-939B-BE5943FDBBE2}"/>
              </a:ext>
            </a:extLst>
          </p:cNvPr>
          <p:cNvCxnSpPr>
            <a:cxnSpLocks noChangeShapeType="1"/>
            <a:stCxn id="94" idx="2"/>
            <a:endCxn id="113" idx="0"/>
          </p:cNvCxnSpPr>
          <p:nvPr/>
        </p:nvCxnSpPr>
        <p:spPr bwMode="auto">
          <a:xfrm rot="5400000">
            <a:off x="5277814" y="5538725"/>
            <a:ext cx="297240" cy="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" name="TextBox 118">
            <a:extLst>
              <a:ext uri="{FF2B5EF4-FFF2-40B4-BE49-F238E27FC236}">
                <a16:creationId xmlns="" xmlns:a16="http://schemas.microsoft.com/office/drawing/2014/main" id="{AD988FEC-878D-43FC-ABA9-6D50CBB39EA9}"/>
              </a:ext>
            </a:extLst>
          </p:cNvPr>
          <p:cNvSpPr txBox="1"/>
          <p:nvPr/>
        </p:nvSpPr>
        <p:spPr>
          <a:xfrm>
            <a:off x="5228328" y="3695204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120" name="TextBox 119">
            <a:extLst>
              <a:ext uri="{FF2B5EF4-FFF2-40B4-BE49-F238E27FC236}">
                <a16:creationId xmlns="" xmlns:a16="http://schemas.microsoft.com/office/drawing/2014/main" id="{1C047426-FDF8-418E-9A05-F542E24485DF}"/>
              </a:ext>
            </a:extLst>
          </p:cNvPr>
          <p:cNvSpPr txBox="1"/>
          <p:nvPr/>
        </p:nvSpPr>
        <p:spPr>
          <a:xfrm>
            <a:off x="5228328" y="5431003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N</a:t>
            </a:r>
            <a:endParaRPr lang="ko-KR" altLang="en-US" sz="800" dirty="0"/>
          </a:p>
        </p:txBody>
      </p:sp>
      <p:sp>
        <p:nvSpPr>
          <p:cNvPr id="121" name="TextBox 120">
            <a:extLst>
              <a:ext uri="{FF2B5EF4-FFF2-40B4-BE49-F238E27FC236}">
                <a16:creationId xmlns="" xmlns:a16="http://schemas.microsoft.com/office/drawing/2014/main" id="{B7ACEBBD-C06B-4198-90C9-755F12F20694}"/>
              </a:ext>
            </a:extLst>
          </p:cNvPr>
          <p:cNvSpPr txBox="1"/>
          <p:nvPr/>
        </p:nvSpPr>
        <p:spPr>
          <a:xfrm>
            <a:off x="5822338" y="3213556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22" name="TextBox 121">
            <a:extLst>
              <a:ext uri="{FF2B5EF4-FFF2-40B4-BE49-F238E27FC236}">
                <a16:creationId xmlns="" xmlns:a16="http://schemas.microsoft.com/office/drawing/2014/main" id="{26557FA0-A004-452C-8FCC-1EF18E26AA6B}"/>
              </a:ext>
            </a:extLst>
          </p:cNvPr>
          <p:cNvSpPr txBox="1"/>
          <p:nvPr/>
        </p:nvSpPr>
        <p:spPr>
          <a:xfrm>
            <a:off x="5822338" y="4953472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23" name="직사각형 122">
            <a:extLst>
              <a:ext uri="{FF2B5EF4-FFF2-40B4-BE49-F238E27FC236}">
                <a16:creationId xmlns="" xmlns:a16="http://schemas.microsoft.com/office/drawing/2014/main" id="{EE85AC8C-290C-499C-9052-5FBD37BF074E}"/>
              </a:ext>
            </a:extLst>
          </p:cNvPr>
          <p:cNvSpPr/>
          <p:nvPr/>
        </p:nvSpPr>
        <p:spPr bwMode="auto">
          <a:xfrm>
            <a:off x="7741783" y="2716540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8.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총수익 공통항목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="" xmlns:a16="http://schemas.microsoft.com/office/drawing/2014/main" id="{A537DB9A-B24C-4FFC-ABF7-9A2727328019}"/>
              </a:ext>
            </a:extLst>
          </p:cNvPr>
          <p:cNvSpPr/>
          <p:nvPr/>
        </p:nvSpPr>
        <p:spPr bwMode="auto">
          <a:xfrm>
            <a:off x="7741783" y="3590117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10.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총비용 공통항목 배부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="" xmlns:a16="http://schemas.microsoft.com/office/drawing/2014/main" id="{365CFACF-591B-43DA-8583-B5625C26A660}"/>
              </a:ext>
            </a:extLst>
          </p:cNvPr>
          <p:cNvSpPr/>
          <p:nvPr/>
        </p:nvSpPr>
        <p:spPr bwMode="auto">
          <a:xfrm>
            <a:off x="7741783" y="4463694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12.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자산 공통항목 배부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="" xmlns:a16="http://schemas.microsoft.com/office/drawing/2014/main" id="{0DB7E14D-C3B4-46F2-8944-7F1FD1A3305E}"/>
              </a:ext>
            </a:extLst>
          </p:cNvPr>
          <p:cNvSpPr/>
          <p:nvPr/>
        </p:nvSpPr>
        <p:spPr bwMode="auto">
          <a:xfrm>
            <a:off x="7741783" y="5337272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14.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부채 공통항목 배부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127" name="Shape 266">
            <a:extLst>
              <a:ext uri="{FF2B5EF4-FFF2-40B4-BE49-F238E27FC236}">
                <a16:creationId xmlns="" xmlns:a16="http://schemas.microsoft.com/office/drawing/2014/main" id="{46A91E00-250D-42F5-824A-250BC82F3779}"/>
              </a:ext>
            </a:extLst>
          </p:cNvPr>
          <p:cNvCxnSpPr>
            <a:cxnSpLocks noChangeShapeType="1"/>
            <a:stCxn id="54" idx="3"/>
            <a:endCxn id="123" idx="1"/>
          </p:cNvCxnSpPr>
          <p:nvPr/>
        </p:nvCxnSpPr>
        <p:spPr bwMode="auto">
          <a:xfrm>
            <a:off x="7505142" y="2986540"/>
            <a:ext cx="23664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0" name="Shape 266">
            <a:extLst>
              <a:ext uri="{FF2B5EF4-FFF2-40B4-BE49-F238E27FC236}">
                <a16:creationId xmlns="" xmlns:a16="http://schemas.microsoft.com/office/drawing/2014/main" id="{293FBC31-1EFC-46A1-8846-572FE8FEDDBB}"/>
              </a:ext>
            </a:extLst>
          </p:cNvPr>
          <p:cNvCxnSpPr>
            <a:cxnSpLocks noChangeShapeType="1"/>
            <a:stCxn id="55" idx="3"/>
            <a:endCxn id="124" idx="1"/>
          </p:cNvCxnSpPr>
          <p:nvPr/>
        </p:nvCxnSpPr>
        <p:spPr bwMode="auto">
          <a:xfrm>
            <a:off x="7505142" y="3860117"/>
            <a:ext cx="23664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" name="Shape 266">
            <a:extLst>
              <a:ext uri="{FF2B5EF4-FFF2-40B4-BE49-F238E27FC236}">
                <a16:creationId xmlns="" xmlns:a16="http://schemas.microsoft.com/office/drawing/2014/main" id="{15A3F87B-B0E0-44B3-8673-416D668FE909}"/>
              </a:ext>
            </a:extLst>
          </p:cNvPr>
          <p:cNvCxnSpPr>
            <a:cxnSpLocks noChangeShapeType="1"/>
            <a:stCxn id="56" idx="3"/>
            <a:endCxn id="125" idx="1"/>
          </p:cNvCxnSpPr>
          <p:nvPr/>
        </p:nvCxnSpPr>
        <p:spPr bwMode="auto">
          <a:xfrm>
            <a:off x="7505142" y="4733694"/>
            <a:ext cx="23664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" name="Shape 266">
            <a:extLst>
              <a:ext uri="{FF2B5EF4-FFF2-40B4-BE49-F238E27FC236}">
                <a16:creationId xmlns="" xmlns:a16="http://schemas.microsoft.com/office/drawing/2014/main" id="{A559F7C4-B771-482B-B8FF-C390C82541A1}"/>
              </a:ext>
            </a:extLst>
          </p:cNvPr>
          <p:cNvCxnSpPr>
            <a:cxnSpLocks noChangeShapeType="1"/>
            <a:stCxn id="57" idx="3"/>
            <a:endCxn id="126" idx="1"/>
          </p:cNvCxnSpPr>
          <p:nvPr/>
        </p:nvCxnSpPr>
        <p:spPr bwMode="auto">
          <a:xfrm>
            <a:off x="7505142" y="5607272"/>
            <a:ext cx="23664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9" name="타원 138">
            <a:extLst>
              <a:ext uri="{FF2B5EF4-FFF2-40B4-BE49-F238E27FC236}">
                <a16:creationId xmlns="" xmlns:a16="http://schemas.microsoft.com/office/drawing/2014/main" id="{1581C6F0-E103-4641-BA94-181BCE3DB231}"/>
              </a:ext>
            </a:extLst>
          </p:cNvPr>
          <p:cNvSpPr/>
          <p:nvPr/>
        </p:nvSpPr>
        <p:spPr>
          <a:xfrm>
            <a:off x="9238424" y="333044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="" xmlns:a16="http://schemas.microsoft.com/office/drawing/2014/main" id="{CEB923CB-BFB5-4E17-B0BB-9DBB8BDD15D7}"/>
              </a:ext>
            </a:extLst>
          </p:cNvPr>
          <p:cNvSpPr/>
          <p:nvPr/>
        </p:nvSpPr>
        <p:spPr>
          <a:xfrm>
            <a:off x="9238424" y="507760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41" name="Shape 266">
            <a:extLst>
              <a:ext uri="{FF2B5EF4-FFF2-40B4-BE49-F238E27FC236}">
                <a16:creationId xmlns="" xmlns:a16="http://schemas.microsoft.com/office/drawing/2014/main" id="{5A9A530D-93AB-4733-AAF8-3801D5E8FAA0}"/>
              </a:ext>
            </a:extLst>
          </p:cNvPr>
          <p:cNvCxnSpPr>
            <a:cxnSpLocks noChangeShapeType="1"/>
            <a:stCxn id="123" idx="3"/>
            <a:endCxn id="139" idx="2"/>
          </p:cNvCxnSpPr>
          <p:nvPr/>
        </p:nvCxnSpPr>
        <p:spPr bwMode="auto">
          <a:xfrm>
            <a:off x="9001783" y="2986540"/>
            <a:ext cx="236641" cy="43678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4" name="Shape 266">
            <a:extLst>
              <a:ext uri="{FF2B5EF4-FFF2-40B4-BE49-F238E27FC236}">
                <a16:creationId xmlns="" xmlns:a16="http://schemas.microsoft.com/office/drawing/2014/main" id="{A92D420A-BC97-49B6-9146-14E6C518808A}"/>
              </a:ext>
            </a:extLst>
          </p:cNvPr>
          <p:cNvCxnSpPr>
            <a:cxnSpLocks noChangeShapeType="1"/>
            <a:stCxn id="124" idx="3"/>
            <a:endCxn id="139" idx="2"/>
          </p:cNvCxnSpPr>
          <p:nvPr/>
        </p:nvCxnSpPr>
        <p:spPr bwMode="auto">
          <a:xfrm flipV="1">
            <a:off x="9001783" y="3423329"/>
            <a:ext cx="236641" cy="4367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>
            <a:extLst>
              <a:ext uri="{FF2B5EF4-FFF2-40B4-BE49-F238E27FC236}">
                <a16:creationId xmlns="" xmlns:a16="http://schemas.microsoft.com/office/drawing/2014/main" id="{FC6AF961-C20D-4AFD-9D8F-DD557AD36A79}"/>
              </a:ext>
            </a:extLst>
          </p:cNvPr>
          <p:cNvCxnSpPr>
            <a:cxnSpLocks noChangeShapeType="1"/>
            <a:stCxn id="125" idx="3"/>
            <a:endCxn id="140" idx="2"/>
          </p:cNvCxnSpPr>
          <p:nvPr/>
        </p:nvCxnSpPr>
        <p:spPr bwMode="auto">
          <a:xfrm>
            <a:off x="9001783" y="4733694"/>
            <a:ext cx="236641" cy="43678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2" name="Shape 266">
            <a:extLst>
              <a:ext uri="{FF2B5EF4-FFF2-40B4-BE49-F238E27FC236}">
                <a16:creationId xmlns="" xmlns:a16="http://schemas.microsoft.com/office/drawing/2014/main" id="{D54B5578-EE1D-4CDE-87B2-80896C6B19BC}"/>
              </a:ext>
            </a:extLst>
          </p:cNvPr>
          <p:cNvCxnSpPr>
            <a:cxnSpLocks noChangeShapeType="1"/>
            <a:stCxn id="126" idx="3"/>
            <a:endCxn id="140" idx="2"/>
          </p:cNvCxnSpPr>
          <p:nvPr/>
        </p:nvCxnSpPr>
        <p:spPr bwMode="auto">
          <a:xfrm flipV="1">
            <a:off x="9001783" y="5170483"/>
            <a:ext cx="236641" cy="43678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육각형 49"/>
          <p:cNvSpPr/>
          <p:nvPr/>
        </p:nvSpPr>
        <p:spPr bwMode="auto">
          <a:xfrm>
            <a:off x="1568624" y="2716540"/>
            <a:ext cx="1260000" cy="540000"/>
          </a:xfrm>
          <a:prstGeom prst="hexag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매년</a:t>
            </a:r>
            <a:r>
              <a:rPr lang="en-US" altLang="ko-KR" sz="900" kern="0" dirty="0">
                <a:solidFill>
                  <a:prstClr val="black"/>
                </a:solidFill>
              </a:rPr>
              <a:t>4</a:t>
            </a:r>
            <a:r>
              <a:rPr lang="ko-KR" altLang="en-US" sz="900" kern="0" dirty="0">
                <a:solidFill>
                  <a:prstClr val="black"/>
                </a:solidFill>
              </a:rPr>
              <a:t>월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기금회계 연결산 종료</a:t>
            </a:r>
            <a:r>
              <a:rPr lang="en-US" altLang="ko-KR" sz="900" kern="0" dirty="0">
                <a:solidFill>
                  <a:prstClr val="black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95515582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기금회계의 기초자료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공통 항목의 분리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배부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기준관리 및 배부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구분회계별 항목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사업단위별 구분회계 재무제표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재정운영표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재정상태표</a:t>
            </a:r>
            <a:r>
              <a:rPr lang="en-US" altLang="ko-KR" dirty="0">
                <a:latin typeface="+mn-ea"/>
              </a:rPr>
              <a:t>) </a:t>
            </a:r>
            <a:r>
              <a:rPr lang="ko-KR" altLang="en-US" dirty="0">
                <a:latin typeface="+mn-ea"/>
              </a:rPr>
              <a:t>작성을 전산화함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3.2.2.23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 구분회계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내부관리손익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1.10.3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 구분회계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6875750"/>
              </p:ext>
            </p:extLst>
          </p:nvPr>
        </p:nvGraphicFramePr>
        <p:xfrm>
          <a:off x="344488" y="1916832"/>
          <a:ext cx="9181020" cy="4320480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5446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0030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1.10.3.4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구분회계별 항목 집계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1.10.3.5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재정운영표</a:t>
                      </a: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재정상태표 작성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436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그룹 126">
            <a:extLst>
              <a:ext uri="{FF2B5EF4-FFF2-40B4-BE49-F238E27FC236}">
                <a16:creationId xmlns="" xmlns:a16="http://schemas.microsoft.com/office/drawing/2014/main" id="{927E4248-4063-4CB9-9766-040047D243D5}"/>
              </a:ext>
            </a:extLst>
          </p:cNvPr>
          <p:cNvGrpSpPr/>
          <p:nvPr/>
        </p:nvGrpSpPr>
        <p:grpSpPr>
          <a:xfrm>
            <a:off x="7221012" y="5465768"/>
            <a:ext cx="756425" cy="410305"/>
            <a:chOff x="1819799" y="5513251"/>
            <a:chExt cx="756425" cy="410305"/>
          </a:xfrm>
        </p:grpSpPr>
        <p:sp>
          <p:nvSpPr>
            <p:cNvPr id="8" name="직사각형 7">
              <a:extLst>
                <a:ext uri="{FF2B5EF4-FFF2-40B4-BE49-F238E27FC236}">
                  <a16:creationId xmlns="" xmlns:a16="http://schemas.microsoft.com/office/drawing/2014/main" id="{35D4D462-76AC-4FC0-8283-C56D0C17538C}"/>
                </a:ext>
              </a:extLst>
            </p:cNvPr>
            <p:cNvSpPr/>
            <p:nvPr/>
          </p:nvSpPr>
          <p:spPr>
            <a:xfrm>
              <a:off x="1948281" y="55242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9" name="육각형 8">
              <a:extLst>
                <a:ext uri="{FF2B5EF4-FFF2-40B4-BE49-F238E27FC236}">
                  <a16:creationId xmlns="" xmlns:a16="http://schemas.microsoft.com/office/drawing/2014/main" id="{CC92A8C2-F073-4344-BA83-1B092CE90AEB}"/>
                </a:ext>
              </a:extLst>
            </p:cNvPr>
            <p:cNvSpPr/>
            <p:nvPr/>
          </p:nvSpPr>
          <p:spPr bwMode="auto">
            <a:xfrm>
              <a:off x="1819799" y="55132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0" name="타원 9">
            <a:extLst>
              <a:ext uri="{FF2B5EF4-FFF2-40B4-BE49-F238E27FC236}">
                <a16:creationId xmlns="" xmlns:a16="http://schemas.microsoft.com/office/drawing/2014/main" id="{30AF8E0A-86DB-4ABD-90AE-05534936696D}"/>
              </a:ext>
            </a:extLst>
          </p:cNvPr>
          <p:cNvSpPr/>
          <p:nvPr/>
        </p:nvSpPr>
        <p:spPr>
          <a:xfrm>
            <a:off x="1496616" y="28936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="" xmlns:a16="http://schemas.microsoft.com/office/drawing/2014/main" id="{90A89ADA-1932-4A92-AF94-FAC73D65AFDE}"/>
              </a:ext>
            </a:extLst>
          </p:cNvPr>
          <p:cNvSpPr/>
          <p:nvPr/>
        </p:nvSpPr>
        <p:spPr>
          <a:xfrm>
            <a:off x="1496616" y="3767237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="" xmlns:a16="http://schemas.microsoft.com/office/drawing/2014/main" id="{9094A570-932E-4E4C-B61C-1D73A9529A95}"/>
              </a:ext>
            </a:extLst>
          </p:cNvPr>
          <p:cNvSpPr/>
          <p:nvPr/>
        </p:nvSpPr>
        <p:spPr>
          <a:xfrm>
            <a:off x="1496616" y="464081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="" xmlns:a16="http://schemas.microsoft.com/office/drawing/2014/main" id="{AADA0B26-7071-4485-ADA1-B21D5C9D6171}"/>
              </a:ext>
            </a:extLst>
          </p:cNvPr>
          <p:cNvSpPr/>
          <p:nvPr/>
        </p:nvSpPr>
        <p:spPr>
          <a:xfrm>
            <a:off x="1496616" y="551439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="" xmlns:a16="http://schemas.microsoft.com/office/drawing/2014/main" id="{6E132A6F-1430-4922-B2C3-118B7E4F3EB3}"/>
              </a:ext>
            </a:extLst>
          </p:cNvPr>
          <p:cNvSpPr/>
          <p:nvPr/>
        </p:nvSpPr>
        <p:spPr bwMode="auto">
          <a:xfrm>
            <a:off x="1951098" y="2716540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15.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총수익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,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총비용 직접귀속 계정항목을 재정운영표에 집계 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="" xmlns:a16="http://schemas.microsoft.com/office/drawing/2014/main" id="{0FBF570C-EB2A-4EB1-8138-C84188F77BCA}"/>
              </a:ext>
            </a:extLst>
          </p:cNvPr>
          <p:cNvSpPr/>
          <p:nvPr/>
        </p:nvSpPr>
        <p:spPr bwMode="auto">
          <a:xfrm>
            <a:off x="1951098" y="3590117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16.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총수익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,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총비용 배부항목을 재정운영표에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="" xmlns:a16="http://schemas.microsoft.com/office/drawing/2014/main" id="{EB900442-3BC4-4234-85D5-C2E0157FAC15}"/>
              </a:ext>
            </a:extLst>
          </p:cNvPr>
          <p:cNvSpPr/>
          <p:nvPr/>
        </p:nvSpPr>
        <p:spPr bwMode="auto">
          <a:xfrm>
            <a:off x="1951098" y="4463694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17.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자산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,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부채 직접귀속 계정항목을 재정상태표에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="" xmlns:a16="http://schemas.microsoft.com/office/drawing/2014/main" id="{629D66EA-31A3-4D48-8E36-93282B182C1F}"/>
              </a:ext>
            </a:extLst>
          </p:cNvPr>
          <p:cNvSpPr/>
          <p:nvPr/>
        </p:nvSpPr>
        <p:spPr bwMode="auto">
          <a:xfrm>
            <a:off x="1951098" y="5337272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18.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자산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,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부채 배부항목을 재정상태표에 집계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19" name="Shape 266">
            <a:extLst>
              <a:ext uri="{FF2B5EF4-FFF2-40B4-BE49-F238E27FC236}">
                <a16:creationId xmlns="" xmlns:a16="http://schemas.microsoft.com/office/drawing/2014/main" id="{92E2E13D-6D40-4B06-A71A-0502EB4E3F74}"/>
              </a:ext>
            </a:extLst>
          </p:cNvPr>
          <p:cNvCxnSpPr>
            <a:cxnSpLocks noChangeShapeType="1"/>
            <a:stCxn id="10" idx="6"/>
            <a:endCxn id="15" idx="1"/>
          </p:cNvCxnSpPr>
          <p:nvPr/>
        </p:nvCxnSpPr>
        <p:spPr bwMode="auto">
          <a:xfrm>
            <a:off x="1698930" y="2986540"/>
            <a:ext cx="25216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4" name="Shape 266">
            <a:extLst>
              <a:ext uri="{FF2B5EF4-FFF2-40B4-BE49-F238E27FC236}">
                <a16:creationId xmlns="" xmlns:a16="http://schemas.microsoft.com/office/drawing/2014/main" id="{44A5C407-ED09-41ED-AD0F-BD05781AE5F5}"/>
              </a:ext>
            </a:extLst>
          </p:cNvPr>
          <p:cNvCxnSpPr>
            <a:cxnSpLocks noChangeShapeType="1"/>
            <a:stCxn id="11" idx="6"/>
            <a:endCxn id="16" idx="1"/>
          </p:cNvCxnSpPr>
          <p:nvPr/>
        </p:nvCxnSpPr>
        <p:spPr bwMode="auto">
          <a:xfrm>
            <a:off x="1698930" y="3860117"/>
            <a:ext cx="25216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Shape 266">
            <a:extLst>
              <a:ext uri="{FF2B5EF4-FFF2-40B4-BE49-F238E27FC236}">
                <a16:creationId xmlns="" xmlns:a16="http://schemas.microsoft.com/office/drawing/2014/main" id="{154E0B16-5C4F-4109-AC0D-28478CD57AAD}"/>
              </a:ext>
            </a:extLst>
          </p:cNvPr>
          <p:cNvCxnSpPr>
            <a:cxnSpLocks noChangeShapeType="1"/>
            <a:stCxn id="12" idx="6"/>
            <a:endCxn id="17" idx="1"/>
          </p:cNvCxnSpPr>
          <p:nvPr/>
        </p:nvCxnSpPr>
        <p:spPr bwMode="auto">
          <a:xfrm>
            <a:off x="1698930" y="4733694"/>
            <a:ext cx="25216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" name="Shape 266">
            <a:extLst>
              <a:ext uri="{FF2B5EF4-FFF2-40B4-BE49-F238E27FC236}">
                <a16:creationId xmlns="" xmlns:a16="http://schemas.microsoft.com/office/drawing/2014/main" id="{B5F4681B-BD18-4F7F-853D-56F1EDB0F432}"/>
              </a:ext>
            </a:extLst>
          </p:cNvPr>
          <p:cNvCxnSpPr>
            <a:cxnSpLocks noChangeShapeType="1"/>
            <a:stCxn id="13" idx="6"/>
            <a:endCxn id="18" idx="1"/>
          </p:cNvCxnSpPr>
          <p:nvPr/>
        </p:nvCxnSpPr>
        <p:spPr bwMode="auto">
          <a:xfrm>
            <a:off x="1698930" y="5607272"/>
            <a:ext cx="25216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직사각형 36">
            <a:extLst>
              <a:ext uri="{FF2B5EF4-FFF2-40B4-BE49-F238E27FC236}">
                <a16:creationId xmlns="" xmlns:a16="http://schemas.microsoft.com/office/drawing/2014/main" id="{7B9EC78B-ADDE-4481-A727-E82804DE06EA}"/>
              </a:ext>
            </a:extLst>
          </p:cNvPr>
          <p:cNvSpPr/>
          <p:nvPr/>
        </p:nvSpPr>
        <p:spPr bwMode="auto">
          <a:xfrm>
            <a:off x="6969224" y="2716540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25.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사업단위별 재정운영표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(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최종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)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="" xmlns:a16="http://schemas.microsoft.com/office/drawing/2014/main" id="{5F0D0A67-C9B3-4FC9-9D52-A4CC6FE31E2C}"/>
              </a:ext>
            </a:extLst>
          </p:cNvPr>
          <p:cNvSpPr/>
          <p:nvPr/>
        </p:nvSpPr>
        <p:spPr bwMode="auto">
          <a:xfrm>
            <a:off x="6969224" y="4091154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26.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사업단위별 재정상태표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(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최종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)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="" xmlns:a16="http://schemas.microsoft.com/office/drawing/2014/main" id="{7DE65312-E6A1-44D5-AA2A-5D566419867F}"/>
              </a:ext>
            </a:extLst>
          </p:cNvPr>
          <p:cNvSpPr/>
          <p:nvPr/>
        </p:nvSpPr>
        <p:spPr bwMode="auto">
          <a:xfrm>
            <a:off x="3627589" y="2716540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19.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배부후 사업단위별 재정운영표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(1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차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)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="" xmlns:a16="http://schemas.microsoft.com/office/drawing/2014/main" id="{4E5DCCBB-6583-4F0C-86E3-D688D43B3DCA}"/>
              </a:ext>
            </a:extLst>
          </p:cNvPr>
          <p:cNvSpPr/>
          <p:nvPr/>
        </p:nvSpPr>
        <p:spPr bwMode="auto">
          <a:xfrm>
            <a:off x="3627589" y="3590117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20.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특정항목용 배부율표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="" xmlns:a16="http://schemas.microsoft.com/office/drawing/2014/main" id="{6276D3BB-D1D7-4A1C-98CA-7EC50D3DADC9}"/>
              </a:ext>
            </a:extLst>
          </p:cNvPr>
          <p:cNvSpPr/>
          <p:nvPr/>
        </p:nvSpPr>
        <p:spPr bwMode="auto">
          <a:xfrm>
            <a:off x="3627589" y="4463694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22.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배부후 사업단위별 재정상태표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(1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차</a:t>
            </a:r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)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="" xmlns:a16="http://schemas.microsoft.com/office/drawing/2014/main" id="{A4800BB5-F96A-495F-992F-44276A309DC8}"/>
              </a:ext>
            </a:extLst>
          </p:cNvPr>
          <p:cNvSpPr/>
          <p:nvPr/>
        </p:nvSpPr>
        <p:spPr bwMode="auto">
          <a:xfrm>
            <a:off x="3627589" y="5337272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23.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특정항목용 배부율표 작성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43" name="Shape 266">
            <a:extLst>
              <a:ext uri="{FF2B5EF4-FFF2-40B4-BE49-F238E27FC236}">
                <a16:creationId xmlns="" xmlns:a16="http://schemas.microsoft.com/office/drawing/2014/main" id="{E2D9EF10-782F-434A-9603-4874CC2BBD61}"/>
              </a:ext>
            </a:extLst>
          </p:cNvPr>
          <p:cNvCxnSpPr>
            <a:cxnSpLocks noChangeShapeType="1"/>
            <a:stCxn id="15" idx="3"/>
            <a:endCxn id="39" idx="1"/>
          </p:cNvCxnSpPr>
          <p:nvPr/>
        </p:nvCxnSpPr>
        <p:spPr bwMode="auto">
          <a:xfrm>
            <a:off x="3211098" y="2986540"/>
            <a:ext cx="41649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6" name="Shape 266">
            <a:extLst>
              <a:ext uri="{FF2B5EF4-FFF2-40B4-BE49-F238E27FC236}">
                <a16:creationId xmlns="" xmlns:a16="http://schemas.microsoft.com/office/drawing/2014/main" id="{8DFE1029-E2DF-4F50-800D-ED40AB975D09}"/>
              </a:ext>
            </a:extLst>
          </p:cNvPr>
          <p:cNvCxnSpPr>
            <a:cxnSpLocks noChangeShapeType="1"/>
            <a:stCxn id="17" idx="3"/>
            <a:endCxn id="41" idx="1"/>
          </p:cNvCxnSpPr>
          <p:nvPr/>
        </p:nvCxnSpPr>
        <p:spPr bwMode="auto">
          <a:xfrm>
            <a:off x="3211098" y="4733694"/>
            <a:ext cx="41649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Shape 266">
            <a:extLst>
              <a:ext uri="{FF2B5EF4-FFF2-40B4-BE49-F238E27FC236}">
                <a16:creationId xmlns="" xmlns:a16="http://schemas.microsoft.com/office/drawing/2014/main" id="{D4025324-8C2F-40D7-870A-C4BAAD73584F}"/>
              </a:ext>
            </a:extLst>
          </p:cNvPr>
          <p:cNvCxnSpPr>
            <a:cxnSpLocks noChangeShapeType="1"/>
            <a:stCxn id="18" idx="3"/>
            <a:endCxn id="41" idx="1"/>
          </p:cNvCxnSpPr>
          <p:nvPr/>
        </p:nvCxnSpPr>
        <p:spPr bwMode="auto">
          <a:xfrm flipV="1">
            <a:off x="3211098" y="4733694"/>
            <a:ext cx="416491" cy="87357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" name="Shape 266">
            <a:extLst>
              <a:ext uri="{FF2B5EF4-FFF2-40B4-BE49-F238E27FC236}">
                <a16:creationId xmlns="" xmlns:a16="http://schemas.microsoft.com/office/drawing/2014/main" id="{50EB8D8E-BB01-442E-9E22-AAE0CD8CC6A2}"/>
              </a:ext>
            </a:extLst>
          </p:cNvPr>
          <p:cNvCxnSpPr>
            <a:cxnSpLocks noChangeShapeType="1"/>
            <a:stCxn id="16" idx="3"/>
            <a:endCxn id="39" idx="1"/>
          </p:cNvCxnSpPr>
          <p:nvPr/>
        </p:nvCxnSpPr>
        <p:spPr bwMode="auto">
          <a:xfrm flipV="1">
            <a:off x="3211098" y="2986540"/>
            <a:ext cx="416491" cy="87357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Shape 266">
            <a:extLst>
              <a:ext uri="{FF2B5EF4-FFF2-40B4-BE49-F238E27FC236}">
                <a16:creationId xmlns="" xmlns:a16="http://schemas.microsoft.com/office/drawing/2014/main" id="{3A6A5E61-BAAF-4F31-A254-0809526F08C9}"/>
              </a:ext>
            </a:extLst>
          </p:cNvPr>
          <p:cNvCxnSpPr>
            <a:cxnSpLocks noChangeShapeType="1"/>
            <a:stCxn id="39" idx="2"/>
            <a:endCxn id="40" idx="0"/>
          </p:cNvCxnSpPr>
          <p:nvPr/>
        </p:nvCxnSpPr>
        <p:spPr bwMode="auto">
          <a:xfrm>
            <a:off x="4257589" y="3256540"/>
            <a:ext cx="0" cy="3335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" name="Shape 266">
            <a:extLst>
              <a:ext uri="{FF2B5EF4-FFF2-40B4-BE49-F238E27FC236}">
                <a16:creationId xmlns="" xmlns:a16="http://schemas.microsoft.com/office/drawing/2014/main" id="{FFCBAD20-1921-48DB-92E1-F9E2E0EE43EE}"/>
              </a:ext>
            </a:extLst>
          </p:cNvPr>
          <p:cNvCxnSpPr>
            <a:cxnSpLocks noChangeShapeType="1"/>
            <a:stCxn id="41" idx="2"/>
            <a:endCxn id="42" idx="0"/>
          </p:cNvCxnSpPr>
          <p:nvPr/>
        </p:nvCxnSpPr>
        <p:spPr bwMode="auto">
          <a:xfrm>
            <a:off x="4257589" y="5003694"/>
            <a:ext cx="0" cy="3335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직사각형 60">
            <a:extLst>
              <a:ext uri="{FF2B5EF4-FFF2-40B4-BE49-F238E27FC236}">
                <a16:creationId xmlns="" xmlns:a16="http://schemas.microsoft.com/office/drawing/2014/main" id="{70BF7F18-9FD4-40C7-85C1-A65041347DF0}"/>
              </a:ext>
            </a:extLst>
          </p:cNvPr>
          <p:cNvSpPr/>
          <p:nvPr/>
        </p:nvSpPr>
        <p:spPr bwMode="auto">
          <a:xfrm>
            <a:off x="5304081" y="3590117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21.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특정항목 배부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="" xmlns:a16="http://schemas.microsoft.com/office/drawing/2014/main" id="{68DCE126-C933-4726-BD59-5FB30773901A}"/>
              </a:ext>
            </a:extLst>
          </p:cNvPr>
          <p:cNvSpPr/>
          <p:nvPr/>
        </p:nvSpPr>
        <p:spPr bwMode="auto">
          <a:xfrm>
            <a:off x="5304081" y="5336073"/>
            <a:ext cx="1260000" cy="540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  <a:latin typeface="+mn-ea"/>
              </a:rPr>
              <a:t>24. </a:t>
            </a:r>
            <a:r>
              <a:rPr lang="ko-KR" altLang="en-US" sz="900" kern="0" dirty="0">
                <a:solidFill>
                  <a:srgbClr val="197EC6"/>
                </a:solidFill>
                <a:latin typeface="+mn-ea"/>
              </a:rPr>
              <a:t>특정항목 배부</a:t>
            </a:r>
            <a:endParaRPr lang="en-US" altLang="ko-KR" sz="900" kern="0" dirty="0">
              <a:solidFill>
                <a:srgbClr val="197EC6"/>
              </a:solidFill>
              <a:latin typeface="+mn-ea"/>
            </a:endParaRPr>
          </a:p>
        </p:txBody>
      </p:sp>
      <p:cxnSp>
        <p:nvCxnSpPr>
          <p:cNvPr id="63" name="Shape 266">
            <a:extLst>
              <a:ext uri="{FF2B5EF4-FFF2-40B4-BE49-F238E27FC236}">
                <a16:creationId xmlns="" xmlns:a16="http://schemas.microsoft.com/office/drawing/2014/main" id="{EF0EB5DF-6EEA-4A27-BB0B-0033350E3F6E}"/>
              </a:ext>
            </a:extLst>
          </p:cNvPr>
          <p:cNvCxnSpPr>
            <a:cxnSpLocks noChangeShapeType="1"/>
            <a:stCxn id="40" idx="3"/>
            <a:endCxn id="61" idx="1"/>
          </p:cNvCxnSpPr>
          <p:nvPr/>
        </p:nvCxnSpPr>
        <p:spPr bwMode="auto">
          <a:xfrm>
            <a:off x="4887589" y="3860117"/>
            <a:ext cx="41649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>
            <a:extLst>
              <a:ext uri="{FF2B5EF4-FFF2-40B4-BE49-F238E27FC236}">
                <a16:creationId xmlns="" xmlns:a16="http://schemas.microsoft.com/office/drawing/2014/main" id="{F94AB73D-FD98-4F72-9213-15723526D06C}"/>
              </a:ext>
            </a:extLst>
          </p:cNvPr>
          <p:cNvCxnSpPr>
            <a:cxnSpLocks noChangeShapeType="1"/>
            <a:stCxn id="42" idx="3"/>
            <a:endCxn id="62" idx="1"/>
          </p:cNvCxnSpPr>
          <p:nvPr/>
        </p:nvCxnSpPr>
        <p:spPr bwMode="auto">
          <a:xfrm flipV="1">
            <a:off x="4887589" y="5606073"/>
            <a:ext cx="416492" cy="119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0" name="원통 68">
            <a:extLst>
              <a:ext uri="{FF2B5EF4-FFF2-40B4-BE49-F238E27FC236}">
                <a16:creationId xmlns="" xmlns:a16="http://schemas.microsoft.com/office/drawing/2014/main" id="{A45C7471-8ADA-476B-9BEC-312FCF13176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8550451" y="5450259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/>
              <a:t>통합재무</a:t>
            </a:r>
            <a:endParaRPr kumimoji="1" lang="ko-KR" altLang="en-US" sz="600" kern="0" spc="-190" dirty="0"/>
          </a:p>
        </p:txBody>
      </p:sp>
      <p:sp>
        <p:nvSpPr>
          <p:cNvPr id="71" name="순서도: 문서 78">
            <a:extLst>
              <a:ext uri="{FF2B5EF4-FFF2-40B4-BE49-F238E27FC236}">
                <a16:creationId xmlns="" xmlns:a16="http://schemas.microsoft.com/office/drawing/2014/main" id="{B0CF27EB-8596-40E1-B0FA-14844E3D8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1392" y="2770540"/>
            <a:ext cx="900000" cy="432000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기금 구분회계 재정운영표</a:t>
            </a:r>
          </a:p>
        </p:txBody>
      </p:sp>
      <p:cxnSp>
        <p:nvCxnSpPr>
          <p:cNvPr id="73" name="Shape 266">
            <a:extLst>
              <a:ext uri="{FF2B5EF4-FFF2-40B4-BE49-F238E27FC236}">
                <a16:creationId xmlns="" xmlns:a16="http://schemas.microsoft.com/office/drawing/2014/main" id="{BB388E07-A3E7-4894-9E23-9AA4BA683D32}"/>
              </a:ext>
            </a:extLst>
          </p:cNvPr>
          <p:cNvCxnSpPr>
            <a:cxnSpLocks noChangeShapeType="1"/>
            <a:stCxn id="39" idx="3"/>
            <a:endCxn id="37" idx="1"/>
          </p:cNvCxnSpPr>
          <p:nvPr/>
        </p:nvCxnSpPr>
        <p:spPr bwMode="auto">
          <a:xfrm>
            <a:off x="4887589" y="2986540"/>
            <a:ext cx="208163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" name="Shape 266">
            <a:extLst>
              <a:ext uri="{FF2B5EF4-FFF2-40B4-BE49-F238E27FC236}">
                <a16:creationId xmlns="" xmlns:a16="http://schemas.microsoft.com/office/drawing/2014/main" id="{62FCD794-E7FC-4E80-9D2C-4A8D28E9B9A0}"/>
              </a:ext>
            </a:extLst>
          </p:cNvPr>
          <p:cNvCxnSpPr>
            <a:cxnSpLocks noChangeShapeType="1"/>
            <a:stCxn id="41" idx="3"/>
            <a:endCxn id="38" idx="1"/>
          </p:cNvCxnSpPr>
          <p:nvPr/>
        </p:nvCxnSpPr>
        <p:spPr bwMode="auto">
          <a:xfrm flipV="1">
            <a:off x="4887589" y="4361154"/>
            <a:ext cx="2081635" cy="3725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>
            <a:extLst>
              <a:ext uri="{FF2B5EF4-FFF2-40B4-BE49-F238E27FC236}">
                <a16:creationId xmlns="" xmlns:a16="http://schemas.microsoft.com/office/drawing/2014/main" id="{7CF6A6BE-D11D-4A9B-9090-2A4037DCD4BB}"/>
              </a:ext>
            </a:extLst>
          </p:cNvPr>
          <p:cNvCxnSpPr>
            <a:cxnSpLocks noChangeShapeType="1"/>
            <a:stCxn id="61" idx="3"/>
            <a:endCxn id="37" idx="1"/>
          </p:cNvCxnSpPr>
          <p:nvPr/>
        </p:nvCxnSpPr>
        <p:spPr bwMode="auto">
          <a:xfrm flipV="1">
            <a:off x="6564081" y="2986540"/>
            <a:ext cx="405143" cy="87357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" name="Shape 266">
            <a:extLst>
              <a:ext uri="{FF2B5EF4-FFF2-40B4-BE49-F238E27FC236}">
                <a16:creationId xmlns="" xmlns:a16="http://schemas.microsoft.com/office/drawing/2014/main" id="{C838E6DC-B14E-438F-A62C-85F2EECC8BBB}"/>
              </a:ext>
            </a:extLst>
          </p:cNvPr>
          <p:cNvCxnSpPr>
            <a:cxnSpLocks noChangeShapeType="1"/>
            <a:stCxn id="62" idx="3"/>
            <a:endCxn id="38" idx="1"/>
          </p:cNvCxnSpPr>
          <p:nvPr/>
        </p:nvCxnSpPr>
        <p:spPr bwMode="auto">
          <a:xfrm flipV="1">
            <a:off x="6564081" y="4361154"/>
            <a:ext cx="405143" cy="124491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" name="Shape 266">
            <a:extLst>
              <a:ext uri="{FF2B5EF4-FFF2-40B4-BE49-F238E27FC236}">
                <a16:creationId xmlns="" xmlns:a16="http://schemas.microsoft.com/office/drawing/2014/main" id="{8EF7E480-812C-4E56-9DF4-72E822862D6A}"/>
              </a:ext>
            </a:extLst>
          </p:cNvPr>
          <p:cNvCxnSpPr>
            <a:cxnSpLocks noChangeShapeType="1"/>
            <a:stCxn id="37" idx="3"/>
            <a:endCxn id="71" idx="1"/>
          </p:cNvCxnSpPr>
          <p:nvPr/>
        </p:nvCxnSpPr>
        <p:spPr bwMode="auto">
          <a:xfrm>
            <a:off x="8229224" y="2986540"/>
            <a:ext cx="25216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8" name="Shape 266">
            <a:extLst>
              <a:ext uri="{FF2B5EF4-FFF2-40B4-BE49-F238E27FC236}">
                <a16:creationId xmlns="" xmlns:a16="http://schemas.microsoft.com/office/drawing/2014/main" id="{C18B7746-4AC8-4A1E-9B2C-0EB304B67809}"/>
              </a:ext>
            </a:extLst>
          </p:cNvPr>
          <p:cNvCxnSpPr>
            <a:cxnSpLocks noChangeShapeType="1"/>
            <a:stCxn id="38" idx="3"/>
            <a:endCxn id="72" idx="1"/>
          </p:cNvCxnSpPr>
          <p:nvPr/>
        </p:nvCxnSpPr>
        <p:spPr bwMode="auto">
          <a:xfrm>
            <a:off x="8229224" y="4361154"/>
            <a:ext cx="25216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>
            <a:extLst>
              <a:ext uri="{FF2B5EF4-FFF2-40B4-BE49-F238E27FC236}">
                <a16:creationId xmlns="" xmlns:a16="http://schemas.microsoft.com/office/drawing/2014/main" id="{E9336B1A-8FAB-4FFD-ACE3-B369986293E0}"/>
              </a:ext>
            </a:extLst>
          </p:cNvPr>
          <p:cNvCxnSpPr>
            <a:cxnSpLocks noChangeShapeType="1"/>
            <a:stCxn id="37" idx="2"/>
            <a:endCxn id="38" idx="0"/>
          </p:cNvCxnSpPr>
          <p:nvPr/>
        </p:nvCxnSpPr>
        <p:spPr bwMode="auto">
          <a:xfrm>
            <a:off x="7599224" y="3256540"/>
            <a:ext cx="0" cy="83461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>
            <a:extLst>
              <a:ext uri="{FF2B5EF4-FFF2-40B4-BE49-F238E27FC236}">
                <a16:creationId xmlns="" xmlns:a16="http://schemas.microsoft.com/office/drawing/2014/main" id="{704DB3C0-B5DB-4C71-B059-BA18FE50A13A}"/>
              </a:ext>
            </a:extLst>
          </p:cNvPr>
          <p:cNvCxnSpPr>
            <a:cxnSpLocks noChangeShapeType="1"/>
            <a:stCxn id="38" idx="2"/>
          </p:cNvCxnSpPr>
          <p:nvPr/>
        </p:nvCxnSpPr>
        <p:spPr bwMode="auto">
          <a:xfrm>
            <a:off x="7599224" y="4631154"/>
            <a:ext cx="0" cy="83461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7" name="Shape 266">
            <a:extLst>
              <a:ext uri="{FF2B5EF4-FFF2-40B4-BE49-F238E27FC236}">
                <a16:creationId xmlns="" xmlns:a16="http://schemas.microsoft.com/office/drawing/2014/main" id="{99408A60-93C9-4606-BB02-F7CB141BDC1D}"/>
              </a:ext>
            </a:extLst>
          </p:cNvPr>
          <p:cNvCxnSpPr>
            <a:cxnSpLocks noChangeShapeType="1"/>
            <a:stCxn id="71" idx="2"/>
            <a:endCxn id="70" idx="1"/>
          </p:cNvCxnSpPr>
          <p:nvPr/>
        </p:nvCxnSpPr>
        <p:spPr bwMode="auto">
          <a:xfrm>
            <a:off x="8931392" y="3173980"/>
            <a:ext cx="0" cy="22762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순서도: 문서 78">
            <a:extLst>
              <a:ext uri="{FF2B5EF4-FFF2-40B4-BE49-F238E27FC236}">
                <a16:creationId xmlns="" xmlns:a16="http://schemas.microsoft.com/office/drawing/2014/main" id="{CE5617CC-6B1C-4B33-9E39-5667B4ABE1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1392" y="4145154"/>
            <a:ext cx="900000" cy="432000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기금 구분회계 재정상태표</a:t>
            </a:r>
          </a:p>
        </p:txBody>
      </p:sp>
    </p:spTree>
    <p:extLst>
      <p:ext uri="{BB962C8B-B14F-4D97-AF65-F5344CB8AC3E}">
        <p14:creationId xmlns:p14="http://schemas.microsoft.com/office/powerpoint/2010/main" val="385486002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기금회계의 기초자료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공통 항목의 분리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배부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기준관리 및 배부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구분회계별 항목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사업단위별 구분회계 재무제표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재정운영표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재정상태표</a:t>
            </a:r>
            <a:r>
              <a:rPr lang="en-US" altLang="ko-KR" dirty="0">
                <a:latin typeface="+mn-ea"/>
              </a:rPr>
              <a:t>) </a:t>
            </a:r>
            <a:r>
              <a:rPr lang="ko-KR" altLang="en-US" dirty="0">
                <a:latin typeface="+mn-ea"/>
              </a:rPr>
              <a:t>작성을 전산화함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 구분회계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0355356"/>
              </p:ext>
            </p:extLst>
          </p:nvPr>
        </p:nvGraphicFramePr>
        <p:xfrm>
          <a:off x="344489" y="1584356"/>
          <a:ext cx="9181019" cy="4777200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2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사업단위별 총수익과 총비용의 계정별 자료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계정별 원장자료를 집계하여 재정운영표의 표시 계정과목으로 분류하여 자료를 구분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정액급여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임시보수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퇴직급여 등은 기금회계 계정과목으로 재정운영표의 표시 계정과목인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인건비＇로 구분하여 집계하고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수익계정도 동일한 절차에 따름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기금회계 결산 완료된 수익과 비용의 계정정보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2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사업단위별 자산과 부채의 계정별 자료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계정별 원장자료를 집계하여 재정상태표의 표시 계정과목으로 분류하여 자료를 구분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기금회계 결산 완료된 자산과 부채의 계정정보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22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총수익 계정별 직접귀속과 공통항목 구분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총수익은 재정운영표의 프로그램원가수익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비배분수익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비교환수익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합계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프로그램원가수익은 스포츠산업육성 단위 및 기금정산에 따른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잡이익에서만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발생하며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비배분수익 및 비교환수익은 전 구분회계단위에서 발생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프로그램원가수익은 전액 직접귀속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비배분수익과 비교환수익은 직접수익은 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직접귀속하고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잔여 공통수익은 사업비 지급기준으로 배부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 본연의 성격상 기금의 수익은 기금이 수행하는 전체 사업을 위한 것으로 그 금액이 특정되어 있지 않아 대부분이 공통수익으로 배부의 대상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직접귀속 가능한 수익계정과 직접귀속이 불가한 수익계정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656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총비용 계정별 직접귀속과 공통항목 구분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총비용은 재정운영표의 프로그램총원가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관리운영비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비배분비용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합계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생활체육육성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스포츠산업육성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장애인체육육성 경우 국가회계   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기준에 의한 프로그램과 구분회계단위가 일치하므로 각각의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프로그램총원가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자치단체보조비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공공기관보조비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를 각 구분회계단위로 직접 귀속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기금이라는 본연의 성격상 기금이 지출하는 비용은 각 사업에 특정되므로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프로그램총원가는 직접귀속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관리운영비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비배분비용은 직접비용은 각각의 단위에 직접귀속하고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공통비용은 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사업지지급기준과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직접비인건비기준으로 배부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(*1)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인쇄비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지급수수료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세금과공과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업무추진비 등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(*2)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직접인건비기준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급여 및 복리후생비 등 인건비성 비용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직접귀속 가능한 비용계정과 직접귀속이 불가한 비용계정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275953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기금회계의 기초자료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공통 항목의 분리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배부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기준관리 및 배부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구분회계별 항목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사업단위별 구분회계 재무제표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재정운영표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재정상태표</a:t>
            </a:r>
            <a:r>
              <a:rPr lang="en-US" altLang="ko-KR" dirty="0">
                <a:latin typeface="+mn-ea"/>
              </a:rPr>
              <a:t>) </a:t>
            </a:r>
            <a:r>
              <a:rPr lang="ko-KR" altLang="en-US" dirty="0">
                <a:latin typeface="+mn-ea"/>
              </a:rPr>
              <a:t>작성을 전산화함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 구분회계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(4/7)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6334885"/>
              </p:ext>
            </p:extLst>
          </p:nvPr>
        </p:nvGraphicFramePr>
        <p:xfrm>
          <a:off x="344489" y="1584356"/>
          <a:ext cx="9181019" cy="4617164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81949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 계정별 직접귀속과 공통항목 구분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세부 프로그램 각각의 자산은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직접배부되는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기금정산의 미수채권과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간접배부되는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금융자산의 미수채권으로 구성 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체육관련 시설에 대한 투자 및 운영을 주된 업무로 하는 체육인프라운영은 보유자산의 대부분이 유형자산으로 직접 귀속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공통자산의 주요 배부기준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미수채권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    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기타자산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미수이자수익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선급법인세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(*4)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생활체육육성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체육인프라육성은 대차평균원리에 따라 산출된 간접귀속대여금이 존재함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직접귀속 가능한 자산계정과 직접귀속이 불가한 자산계정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116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 계정별 직접귀속과 공통항목 구분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대부분 미지급금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예수금 등 유동부채와 장기예수보증금이며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공통부채는 배부기준으로 배부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미지급금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직접인건비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퇴직급여충당부채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스포츠산업육성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장애인체육육성은 대차평균원리에 따라 산출된 간접귀속차입금이 존재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직접귀속 가능한 부채계정과 직접귀속이 불가한 부채계정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61219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총수익 공통항목의 배부기준 자료 집계 및 배부율표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총수익 공통항목의 배부기준은 사업단위별 사업비지급기준으로 사업단위별로 책정된 연 예산규모로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배부율표는 각 사업단위별 예산규모의 합에 대한 각 사업단위 예산규모 비율로 계산하여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공통수익 배부기준용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사업비지급기준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’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956034099"/>
                  </a:ext>
                </a:extLst>
              </a:tr>
              <a:tr h="61228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총수익 공통항목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비배분수익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재화및용역제공수익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이자수익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자산처분이익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비교환수익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기타재원조달및이전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부담금수익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 직접귀속 된 것을 제외한 공통수익을 사업비지급기준으로 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 전 공통수익과 배부 후 공통수익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635091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2276912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기금회계의 기초자료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공통 항목의 분리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배부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기준관리 및 배부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구분회계별 항목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사업단위별 구분회계 재무제표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재정운영표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재정상태표</a:t>
            </a:r>
            <a:r>
              <a:rPr lang="en-US" altLang="ko-KR" dirty="0">
                <a:latin typeface="+mn-ea"/>
              </a:rPr>
              <a:t>) </a:t>
            </a:r>
            <a:r>
              <a:rPr lang="ko-KR" altLang="en-US" dirty="0">
                <a:latin typeface="+mn-ea"/>
              </a:rPr>
              <a:t>작성을 전산화함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 구분회계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(5/7)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252587"/>
              </p:ext>
            </p:extLst>
          </p:nvPr>
        </p:nvGraphicFramePr>
        <p:xfrm>
          <a:off x="344489" y="1584356"/>
          <a:ext cx="9181019" cy="4635600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총비용 공통항목의 배부기준 자료 집계 및 배부율표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총비용 공통항목의 배부기준은 사업단위별 사업비지급기준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사업단위별로 책정된 연 예산규모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직접인건비기준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 계정과목은 정액급여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임시직보수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퇴직급여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으로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배부율표는 각 사업단위별 값의 합에 대한 각 사업단위 값 비율로 계산하여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공통비용 배부기준용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사업비지급기준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직접인건비기준＇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총비용 공통항목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공통비용을 사업비지급기준과 직접비인건비기준으로 배부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(*1)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인쇄비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지급수수료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세금과공과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업무추진비 등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(*2)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직접인건비기준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급여 및 복리후생비 등 인건비성 비용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배부전 공통비용과 배부후 공통비용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 공통항목의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배부기준 자료 집계 및 배부율표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 공통항목의 배부기준은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사업단위별로 책정된 연 예산규모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장기금융상품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당기 손익계정의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사업단위별로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이자수익 비율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공통자산 배부기준용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사업비지급기준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금융상품잔액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’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 공통항목 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미수채권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    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기타자산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미수이자수익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선급법인세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(*4)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생활체육육성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체육인프라육성은 대차평균원리에 따라 산출된 간접귀속대여금이 존재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배부전 공통자산과 배부후 공통자산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 공통항목의 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배부기준 자료 집계 및 배부율표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 공통항목의 배부기준은 사업단위별 사업비지급기준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사업단위별로 책정된 연 예산규모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직접인건비기준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 계정과목은 정액급여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임시직보수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퇴직급여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으로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배부율표는 각 사업단위별 값의 합에 대한 각 사업단위 값 비율로 계산하여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공통부채 배부기준용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사업비지급기준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직접인건비기준＇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 공통항목 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미지급금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직접인건비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퇴직급여충당부채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스포츠산업육성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장애인체육육성은 대차평균원리에 따라 산출된 간접귀속차입금이 존재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배부전 공통부채와 배부후 공통부채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91515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기금회계의 기초자료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공통 항목의 분리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배부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기준관리 및 배부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구분회계별 항목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사업단위별 구분회계 재무제표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재정운영표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재정상태표</a:t>
            </a:r>
            <a:r>
              <a:rPr lang="en-US" altLang="ko-KR" dirty="0">
                <a:latin typeface="+mn-ea"/>
              </a:rPr>
              <a:t>) </a:t>
            </a:r>
            <a:r>
              <a:rPr lang="ko-KR" altLang="en-US" dirty="0">
                <a:latin typeface="+mn-ea"/>
              </a:rPr>
              <a:t>작성을 전산화함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 구분회계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(6/7)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849106"/>
              </p:ext>
            </p:extLst>
          </p:nvPr>
        </p:nvGraphicFramePr>
        <p:xfrm>
          <a:off x="344489" y="1584356"/>
          <a:ext cx="9181019" cy="4062000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총수익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총비용 직접귀속 계정항목을 재정운영표에 집계 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재정운영표에 직접 귀속하는 수익과 비용을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직접귀속 수익계정과 비용계정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956034099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총수익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총비용 배부항목을 재정운영표에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재정운영표에 배부된 공통수익과 공통비용을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배부된 공통수익과 공통비용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63509118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 직접귀속 계정항목을 재정상태표에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재정상태표에 직접 귀속하는 자산과 부채를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직접귀속 자산계정과 부채계정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857664564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 배부항목을 재정상태표에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재정상태표에 배부된 공통자산과 공통부채를 집계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배부된 공통자산과 공통부채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459910818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배부후 사업단위별 재정운영표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직접귀속 및 배부된 수익과 비용으로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산출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배부후 사업단위별 수익계정과 비용계정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822062497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특정항목용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선급법인세 배부기준은 손익 배부후 이자수익금액 비율이기 때문에 직접귀속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공통배부후 재정운영표 각 계정별로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작성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배부율표는 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비용 항목별로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사업단위 금액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사업단위별 금액 합계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비율로 산출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특정항목 제외한 각 사업단위별 손익비율표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470579262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특정항목 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상기 배부기준을 사용하여 예외적인 항목을 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후 특정수익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2599757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1110552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>
                <a:latin typeface="+mn-ea"/>
              </a:rPr>
              <a:t>기금회계의 기초자료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공통 항목의 분리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배부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기준관리 및 배부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구분회계별 항목 집계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사업단위별 구분회계 재무제표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재정운영표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재정상태표</a:t>
            </a:r>
            <a:r>
              <a:rPr lang="en-US" altLang="ko-KR" dirty="0">
                <a:latin typeface="+mn-ea"/>
              </a:rPr>
              <a:t>) </a:t>
            </a:r>
            <a:r>
              <a:rPr lang="ko-KR" altLang="en-US" dirty="0">
                <a:latin typeface="+mn-ea"/>
              </a:rPr>
              <a:t>작성을 전산화함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3.2.2.23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기금 구분회계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(7/7)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Ⅳ. </a:t>
            </a:r>
            <a:r>
              <a:rPr lang="ko-KR" altLang="en-US" sz="1200" dirty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목표 업무프로세스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통합재무 업무프로세스 개선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7111680"/>
              </p:ext>
            </p:extLst>
          </p:nvPr>
        </p:nvGraphicFramePr>
        <p:xfrm>
          <a:off x="344489" y="1584356"/>
          <a:ext cx="9181019" cy="4447200"/>
        </p:xfrm>
        <a:graphic>
          <a:graphicData uri="http://schemas.openxmlformats.org/drawingml/2006/table">
            <a:tbl>
              <a:tblPr firstRow="1" bandRow="1"/>
              <a:tblGrid>
                <a:gridCol w="369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096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513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배부후 사업단위별 재정상태표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직접귀속 및 배부된 자산과 부채로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산출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배부후 사업단위별 자산계정과 부채계정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특정항목용 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직접귀속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공통배부후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항목으로 재정운영표 각 계정별로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작성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배부율표는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 항목별로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사업단위 금액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사업단위별 금액 합계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비율로 산출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특정항목 제외한 각 사업단위별 순자산비율표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956034099"/>
                  </a:ext>
                </a:extLst>
              </a:tr>
              <a:tr h="4932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특정항목 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상기 배부기준을 사용하여 예외적인 항목을 배부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배부전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후 특정자산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63509118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사업단위별 재정운영표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결산 재정운영표를 사업단위별로 구분하여 작성 완료된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산출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총괄 재정운영표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생활체육육성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②전문체육육성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③스포츠산업육성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④장애인체육육성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⑤체육인프라운영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사업단위 재정운영표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34667963"/>
                  </a:ext>
                </a:extLst>
              </a:tr>
              <a:tr h="4932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사업단위별 재정상태표 작성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결산 재정상태표를 사업단위별로 구분하여 작성 완료된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산출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 총괄 재정상태표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생활체육육성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②전문체육육성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③스포츠산업육성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④장애인체육육성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⑤체육인프라운영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 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연결조정계정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l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(*)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연결조정계정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총자산과 총부채를 각 사업단위로 구분한 후 산출된 대차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貸借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차이를 대차평균원리에 따라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간접 귀속 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’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구분된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‘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간접 귀속 차입금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’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구분된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&lt;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총괄 재정상태표와 일치시키기 위한 조정 계정이며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재정운영표는 연결조정계정이 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(0)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사업단위 재정상태표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41382270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59115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기존 수작업으로 진행되던 발주요청 업무를 시스템화하고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 결과를 시스템에 등록할 수 있도록 업무처리를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3.2.2.24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(1/5)</a:t>
            </a:r>
            <a:endParaRPr lang="ko-KR" altLang="en-US" dirty="0"/>
          </a:p>
        </p:txBody>
      </p:sp>
      <p:sp>
        <p:nvSpPr>
          <p:cNvPr id="47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 lvl="0"/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419768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1.11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6977543"/>
              </p:ext>
            </p:extLst>
          </p:nvPr>
        </p:nvGraphicFramePr>
        <p:xfrm>
          <a:off x="344488" y="1916832"/>
          <a:ext cx="9181019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87220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637270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1.11.1.1 </a:t>
                      </a:r>
                      <a:r>
                        <a:rPr lang="ko-KR" altLang="en-US" sz="11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계약요청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1.11.1.2 </a:t>
                      </a:r>
                      <a:r>
                        <a:rPr lang="ko-KR" alt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계약관리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79384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조달청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84176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계약부서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1521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2" name="직사각형 51"/>
          <p:cNvSpPr/>
          <p:nvPr/>
        </p:nvSpPr>
        <p:spPr bwMode="auto">
          <a:xfrm>
            <a:off x="1352847" y="590368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1. </a:t>
            </a:r>
            <a:r>
              <a:rPr lang="ko-KR" altLang="en-US" sz="900" kern="0" dirty="0">
                <a:solidFill>
                  <a:srgbClr val="197EC6"/>
                </a:solidFill>
              </a:rPr>
              <a:t> 계약</a:t>
            </a:r>
            <a:r>
              <a:rPr lang="en-US" altLang="ko-KR" sz="900" kern="0" dirty="0">
                <a:solidFill>
                  <a:srgbClr val="197EC6"/>
                </a:solidFill>
              </a:rPr>
              <a:t>(</a:t>
            </a:r>
            <a:r>
              <a:rPr lang="ko-KR" altLang="en-US" sz="900" kern="0" dirty="0">
                <a:solidFill>
                  <a:srgbClr val="197EC6"/>
                </a:solidFill>
              </a:rPr>
              <a:t>변경</a:t>
            </a:r>
            <a:r>
              <a:rPr lang="en-US" altLang="ko-KR" sz="900" kern="0" dirty="0">
                <a:solidFill>
                  <a:srgbClr val="197EC6"/>
                </a:solidFill>
              </a:rPr>
              <a:t>) </a:t>
            </a:r>
            <a:r>
              <a:rPr lang="ko-KR" altLang="en-US" sz="900" kern="0" dirty="0">
                <a:solidFill>
                  <a:srgbClr val="197EC6"/>
                </a:solidFill>
              </a:rPr>
              <a:t>요청서 작성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54" name="Shape 266"/>
          <p:cNvCxnSpPr>
            <a:cxnSpLocks noChangeShapeType="1"/>
            <a:stCxn id="41" idx="2"/>
            <a:endCxn id="52" idx="0"/>
          </p:cNvCxnSpPr>
          <p:nvPr/>
        </p:nvCxnSpPr>
        <p:spPr bwMode="auto">
          <a:xfrm>
            <a:off x="1730983" y="5621093"/>
            <a:ext cx="77" cy="2825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92" idx="0"/>
            <a:endCxn id="94" idx="2"/>
          </p:cNvCxnSpPr>
          <p:nvPr/>
        </p:nvCxnSpPr>
        <p:spPr bwMode="auto">
          <a:xfrm flipV="1">
            <a:off x="2694795" y="5072330"/>
            <a:ext cx="0" cy="831356"/>
          </a:xfrm>
          <a:prstGeom prst="straightConnector1">
            <a:avLst/>
          </a:prstGeom>
          <a:noFill/>
          <a:ln w="6350" algn="ctr">
            <a:solidFill>
              <a:srgbClr val="197EC6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" name="직사각형 91"/>
          <p:cNvSpPr/>
          <p:nvPr/>
        </p:nvSpPr>
        <p:spPr bwMode="auto">
          <a:xfrm>
            <a:off x="2316582" y="590368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2. </a:t>
            </a:r>
            <a:r>
              <a:rPr lang="ko-KR" altLang="en-US" sz="900" kern="0" dirty="0">
                <a:solidFill>
                  <a:srgbClr val="197EC6"/>
                </a:solidFill>
              </a:rPr>
              <a:t>계약</a:t>
            </a:r>
            <a:r>
              <a:rPr lang="en-US" altLang="ko-KR" sz="900" kern="0" dirty="0">
                <a:solidFill>
                  <a:srgbClr val="197EC6"/>
                </a:solidFill>
              </a:rPr>
              <a:t>(</a:t>
            </a:r>
            <a:r>
              <a:rPr lang="ko-KR" altLang="en-US" sz="900" kern="0" dirty="0">
                <a:solidFill>
                  <a:srgbClr val="197EC6"/>
                </a:solidFill>
              </a:rPr>
              <a:t>변경</a:t>
            </a:r>
            <a:r>
              <a:rPr lang="en-US" altLang="ko-KR" sz="900" kern="0" dirty="0">
                <a:solidFill>
                  <a:srgbClr val="197EC6"/>
                </a:solidFill>
              </a:rPr>
              <a:t>)</a:t>
            </a: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요청서 승인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52" idx="3"/>
            <a:endCxn id="92" idx="1"/>
          </p:cNvCxnSpPr>
          <p:nvPr/>
        </p:nvCxnSpPr>
        <p:spPr bwMode="auto">
          <a:xfrm flipV="1">
            <a:off x="2109272" y="6064072"/>
            <a:ext cx="207310" cy="1"/>
          </a:xfrm>
          <a:prstGeom prst="straightConnector1">
            <a:avLst/>
          </a:prstGeom>
          <a:noFill/>
          <a:ln w="6350" algn="ctr">
            <a:solidFill>
              <a:srgbClr val="197EC6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직사각형 93"/>
          <p:cNvSpPr/>
          <p:nvPr/>
        </p:nvSpPr>
        <p:spPr bwMode="auto">
          <a:xfrm>
            <a:off x="2316582" y="475155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3. </a:t>
            </a:r>
            <a:r>
              <a:rPr lang="ko-KR" altLang="en-US" sz="900" kern="0" dirty="0">
                <a:solidFill>
                  <a:srgbClr val="197EC6"/>
                </a:solidFill>
              </a:rPr>
              <a:t>계약</a:t>
            </a:r>
            <a:r>
              <a:rPr lang="en-US" altLang="ko-KR" sz="900" kern="0" dirty="0">
                <a:solidFill>
                  <a:srgbClr val="197EC6"/>
                </a:solidFill>
              </a:rPr>
              <a:t>(</a:t>
            </a:r>
            <a:r>
              <a:rPr lang="ko-KR" altLang="en-US" sz="900" kern="0" dirty="0">
                <a:solidFill>
                  <a:srgbClr val="197EC6"/>
                </a:solidFill>
              </a:rPr>
              <a:t>변경</a:t>
            </a:r>
            <a:r>
              <a:rPr lang="en-US" altLang="ko-KR" sz="900" kern="0" dirty="0">
                <a:solidFill>
                  <a:srgbClr val="197EC6"/>
                </a:solidFill>
              </a:rPr>
              <a:t>)</a:t>
            </a:r>
          </a:p>
          <a:p>
            <a:pPr algn="ctr" latinLnBrk="0"/>
            <a:r>
              <a:rPr lang="ko-KR" altLang="en-US" sz="900" kern="0" dirty="0">
                <a:solidFill>
                  <a:srgbClr val="197EC6"/>
                </a:solidFill>
              </a:rPr>
              <a:t>요청서 접수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102" name="Shape 266"/>
          <p:cNvCxnSpPr>
            <a:cxnSpLocks noChangeShapeType="1"/>
            <a:stCxn id="94" idx="3"/>
            <a:endCxn id="150" idx="1"/>
          </p:cNvCxnSpPr>
          <p:nvPr/>
        </p:nvCxnSpPr>
        <p:spPr bwMode="auto">
          <a:xfrm flipV="1">
            <a:off x="3073007" y="4906626"/>
            <a:ext cx="151801" cy="53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" name="Shape 266"/>
          <p:cNvCxnSpPr>
            <a:cxnSpLocks noChangeShapeType="1"/>
            <a:stCxn id="51" idx="3"/>
            <a:endCxn id="115" idx="1"/>
          </p:cNvCxnSpPr>
          <p:nvPr/>
        </p:nvCxnSpPr>
        <p:spPr bwMode="auto">
          <a:xfrm flipH="1">
            <a:off x="5364219" y="3785443"/>
            <a:ext cx="1080120" cy="1122634"/>
          </a:xfrm>
          <a:prstGeom prst="bentConnector5">
            <a:avLst>
              <a:gd name="adj1" fmla="val -21164"/>
              <a:gd name="adj2" fmla="val 73755"/>
              <a:gd name="adj3" fmla="val 11019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124"/>
          <p:cNvGrpSpPr/>
          <p:nvPr/>
        </p:nvGrpSpPr>
        <p:grpSpPr>
          <a:xfrm>
            <a:off x="1352600" y="5216346"/>
            <a:ext cx="756425" cy="410305"/>
            <a:chOff x="1496616" y="4044311"/>
            <a:chExt cx="756425" cy="410305"/>
          </a:xfrm>
        </p:grpSpPr>
        <p:sp>
          <p:nvSpPr>
            <p:cNvPr id="41" name="직사각형 40"/>
            <p:cNvSpPr/>
            <p:nvPr/>
          </p:nvSpPr>
          <p:spPr>
            <a:xfrm>
              <a:off x="1625098" y="405530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42" name="육각형 41"/>
            <p:cNvSpPr/>
            <p:nvPr/>
          </p:nvSpPr>
          <p:spPr bwMode="auto">
            <a:xfrm>
              <a:off x="1496616" y="404431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계약요청발생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5" name="직사각형 54"/>
          <p:cNvSpPr/>
          <p:nvPr/>
        </p:nvSpPr>
        <p:spPr bwMode="auto">
          <a:xfrm>
            <a:off x="7577853" y="475155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15. </a:t>
            </a:r>
            <a:r>
              <a:rPr lang="ko-KR" altLang="en-US" sz="900" kern="0" dirty="0">
                <a:solidFill>
                  <a:srgbClr val="197EC6"/>
                </a:solidFill>
              </a:rPr>
              <a:t>계약정보 보완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58" name="Shape 266"/>
          <p:cNvCxnSpPr>
            <a:cxnSpLocks noChangeShapeType="1"/>
            <a:stCxn id="97" idx="2"/>
            <a:endCxn id="55" idx="0"/>
          </p:cNvCxnSpPr>
          <p:nvPr/>
        </p:nvCxnSpPr>
        <p:spPr bwMode="auto">
          <a:xfrm rot="5400000">
            <a:off x="7302722" y="3591060"/>
            <a:ext cx="1813843" cy="50715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직사각형 52"/>
          <p:cNvSpPr/>
          <p:nvPr/>
        </p:nvSpPr>
        <p:spPr bwMode="auto">
          <a:xfrm>
            <a:off x="6076822" y="3180237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경쟁입찰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7076895" y="2616945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수의계약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7076467" y="3176877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거래처 선정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9" name="Shape 266"/>
          <p:cNvCxnSpPr>
            <a:cxnSpLocks noChangeShapeType="1"/>
            <a:stCxn id="82" idx="3"/>
            <a:endCxn id="56" idx="1"/>
          </p:cNvCxnSpPr>
          <p:nvPr/>
        </p:nvCxnSpPr>
        <p:spPr bwMode="auto">
          <a:xfrm>
            <a:off x="6911622" y="2777331"/>
            <a:ext cx="16527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8618749" y="475155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</a:rPr>
              <a:t>계약처리 완료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5" name="Shape 266"/>
          <p:cNvCxnSpPr>
            <a:cxnSpLocks noChangeShapeType="1"/>
            <a:stCxn id="82" idx="2"/>
            <a:endCxn id="53" idx="0"/>
          </p:cNvCxnSpPr>
          <p:nvPr/>
        </p:nvCxnSpPr>
        <p:spPr bwMode="auto">
          <a:xfrm>
            <a:off x="6453985" y="2996952"/>
            <a:ext cx="1050" cy="1832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/>
          <p:cNvCxnSpPr>
            <a:cxnSpLocks noChangeShapeType="1"/>
            <a:stCxn id="53" idx="3"/>
            <a:endCxn id="57" idx="1"/>
          </p:cNvCxnSpPr>
          <p:nvPr/>
        </p:nvCxnSpPr>
        <p:spPr bwMode="auto">
          <a:xfrm flipV="1">
            <a:off x="6833247" y="3337263"/>
            <a:ext cx="243220" cy="336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" name="Shape 266"/>
          <p:cNvCxnSpPr>
            <a:cxnSpLocks noChangeShapeType="1"/>
            <a:stCxn id="56" idx="3"/>
            <a:endCxn id="97" idx="1"/>
          </p:cNvCxnSpPr>
          <p:nvPr/>
        </p:nvCxnSpPr>
        <p:spPr bwMode="auto">
          <a:xfrm>
            <a:off x="7833320" y="2777331"/>
            <a:ext cx="25168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" name="Shape 266"/>
          <p:cNvCxnSpPr>
            <a:cxnSpLocks noChangeShapeType="1"/>
            <a:stCxn id="57" idx="3"/>
            <a:endCxn id="97" idx="1"/>
          </p:cNvCxnSpPr>
          <p:nvPr/>
        </p:nvCxnSpPr>
        <p:spPr bwMode="auto">
          <a:xfrm flipV="1">
            <a:off x="7832892" y="2777331"/>
            <a:ext cx="252115" cy="55993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/>
          <p:cNvCxnSpPr>
            <a:cxnSpLocks noChangeShapeType="1"/>
            <a:stCxn id="55" idx="3"/>
            <a:endCxn id="72" idx="1"/>
          </p:cNvCxnSpPr>
          <p:nvPr/>
        </p:nvCxnSpPr>
        <p:spPr bwMode="auto">
          <a:xfrm>
            <a:off x="8334278" y="4911945"/>
            <a:ext cx="28447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0" name="타원 109"/>
          <p:cNvSpPr/>
          <p:nvPr/>
        </p:nvSpPr>
        <p:spPr>
          <a:xfrm>
            <a:off x="9201131" y="528033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14" name="Shape 266"/>
          <p:cNvCxnSpPr>
            <a:cxnSpLocks noChangeShapeType="1"/>
            <a:stCxn id="72" idx="2"/>
            <a:endCxn id="110" idx="2"/>
          </p:cNvCxnSpPr>
          <p:nvPr/>
        </p:nvCxnSpPr>
        <p:spPr bwMode="auto">
          <a:xfrm rot="16200000" flipH="1">
            <a:off x="8948603" y="5120688"/>
            <a:ext cx="300886" cy="20416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" name="직사각형 114"/>
          <p:cNvSpPr/>
          <p:nvPr/>
        </p:nvSpPr>
        <p:spPr bwMode="auto">
          <a:xfrm>
            <a:off x="5364219" y="47476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</a:rPr>
              <a:t>계약서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19" name="Shape 266"/>
          <p:cNvCxnSpPr>
            <a:cxnSpLocks noChangeShapeType="1"/>
            <a:stCxn id="45" idx="3"/>
            <a:endCxn id="55" idx="1"/>
          </p:cNvCxnSpPr>
          <p:nvPr/>
        </p:nvCxnSpPr>
        <p:spPr bwMode="auto">
          <a:xfrm>
            <a:off x="7221593" y="4908077"/>
            <a:ext cx="356260" cy="386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Rectangle 179"/>
          <p:cNvSpPr>
            <a:spLocks noChangeArrowheads="1"/>
          </p:cNvSpPr>
          <p:nvPr/>
        </p:nvSpPr>
        <p:spPr bwMode="auto">
          <a:xfrm flipH="1">
            <a:off x="6336040" y="3845426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Y</a:t>
            </a:r>
          </a:p>
        </p:txBody>
      </p:sp>
      <p:sp>
        <p:nvSpPr>
          <p:cNvPr id="45" name="직사각형 44"/>
          <p:cNvSpPr/>
          <p:nvPr/>
        </p:nvSpPr>
        <p:spPr bwMode="auto">
          <a:xfrm>
            <a:off x="6465168" y="47476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</a:rPr>
              <a:t>계약처리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6" name="Shape 266"/>
          <p:cNvCxnSpPr>
            <a:cxnSpLocks noChangeShapeType="1"/>
            <a:stCxn id="115" idx="3"/>
            <a:endCxn id="45" idx="1"/>
          </p:cNvCxnSpPr>
          <p:nvPr/>
        </p:nvCxnSpPr>
        <p:spPr bwMode="auto">
          <a:xfrm>
            <a:off x="6120644" y="4908077"/>
            <a:ext cx="34452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" name="직사각형 47"/>
          <p:cNvSpPr/>
          <p:nvPr/>
        </p:nvSpPr>
        <p:spPr bwMode="auto">
          <a:xfrm>
            <a:off x="3304232" y="41883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5. </a:t>
            </a:r>
            <a:r>
              <a:rPr lang="ko-KR" altLang="en-US" sz="900" kern="0" dirty="0">
                <a:solidFill>
                  <a:srgbClr val="197EC6"/>
                </a:solidFill>
              </a:rPr>
              <a:t>계약정보 등록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49" name="Shape 266"/>
          <p:cNvCxnSpPr>
            <a:cxnSpLocks noChangeShapeType="1"/>
            <a:stCxn id="190" idx="3"/>
            <a:endCxn id="51" idx="1"/>
          </p:cNvCxnSpPr>
          <p:nvPr/>
        </p:nvCxnSpPr>
        <p:spPr bwMode="auto">
          <a:xfrm>
            <a:off x="5241032" y="3785443"/>
            <a:ext cx="28803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순서도: 판단 58">
            <a:extLst>
              <a:ext uri="{FF2B5EF4-FFF2-40B4-BE49-F238E27FC236}">
                <a16:creationId xmlns="" xmlns:a16="http://schemas.microsoft.com/office/drawing/2014/main" id="{AFE32C6C-E777-4FDE-929E-C5217D97B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529064" y="3565821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수기계약</a:t>
            </a:r>
          </a:p>
        </p:txBody>
      </p:sp>
      <p:sp>
        <p:nvSpPr>
          <p:cNvPr id="63" name="Rectangle 179"/>
          <p:cNvSpPr>
            <a:spLocks noChangeArrowheads="1"/>
          </p:cNvSpPr>
          <p:nvPr/>
        </p:nvSpPr>
        <p:spPr bwMode="auto">
          <a:xfrm flipH="1">
            <a:off x="5933984" y="3492541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</a:t>
            </a:r>
          </a:p>
        </p:txBody>
      </p:sp>
      <p:sp>
        <p:nvSpPr>
          <p:cNvPr id="82" name="순서도: 판단 58">
            <a:extLst>
              <a:ext uri="{FF2B5EF4-FFF2-40B4-BE49-F238E27FC236}">
                <a16:creationId xmlns="" xmlns:a16="http://schemas.microsoft.com/office/drawing/2014/main" id="{AFE32C6C-E777-4FDE-929E-C5217D97B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96347" y="2557709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경쟁입찰</a:t>
            </a:r>
          </a:p>
        </p:txBody>
      </p:sp>
      <p:sp>
        <p:nvSpPr>
          <p:cNvPr id="86" name="직사각형 85"/>
          <p:cNvSpPr/>
          <p:nvPr/>
        </p:nvSpPr>
        <p:spPr bwMode="auto">
          <a:xfrm>
            <a:off x="5089447" y="2616945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계약의뢰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6" name="Shape 266"/>
          <p:cNvCxnSpPr>
            <a:cxnSpLocks noChangeShapeType="1"/>
            <a:stCxn id="76" idx="3"/>
            <a:endCxn id="86" idx="1"/>
          </p:cNvCxnSpPr>
          <p:nvPr/>
        </p:nvCxnSpPr>
        <p:spPr bwMode="auto">
          <a:xfrm>
            <a:off x="4933538" y="2777331"/>
            <a:ext cx="15590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8" name="Shape 266"/>
          <p:cNvCxnSpPr>
            <a:cxnSpLocks noChangeShapeType="1"/>
            <a:stCxn id="86" idx="3"/>
            <a:endCxn id="82" idx="1"/>
          </p:cNvCxnSpPr>
          <p:nvPr/>
        </p:nvCxnSpPr>
        <p:spPr bwMode="auto">
          <a:xfrm>
            <a:off x="5845872" y="2777331"/>
            <a:ext cx="15047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6" name="Shape 266"/>
          <p:cNvCxnSpPr>
            <a:cxnSpLocks noChangeShapeType="1"/>
            <a:stCxn id="51" idx="0"/>
            <a:endCxn id="76" idx="2"/>
          </p:cNvCxnSpPr>
          <p:nvPr/>
        </p:nvCxnSpPr>
        <p:spPr bwMode="auto">
          <a:xfrm rot="16200000" flipV="1">
            <a:off x="4946868" y="2525986"/>
            <a:ext cx="568869" cy="151080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0" name="Rectangle 179"/>
          <p:cNvSpPr>
            <a:spLocks noChangeArrowheads="1"/>
          </p:cNvSpPr>
          <p:nvPr/>
        </p:nvSpPr>
        <p:spPr bwMode="auto">
          <a:xfrm flipH="1">
            <a:off x="6234393" y="3017857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Y</a:t>
            </a:r>
          </a:p>
        </p:txBody>
      </p:sp>
      <p:sp>
        <p:nvSpPr>
          <p:cNvPr id="121" name="Rectangle 179"/>
          <p:cNvSpPr>
            <a:spLocks noChangeArrowheads="1"/>
          </p:cNvSpPr>
          <p:nvPr/>
        </p:nvSpPr>
        <p:spPr bwMode="auto">
          <a:xfrm flipH="1">
            <a:off x="6770746" y="2810739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</a:t>
            </a:r>
          </a:p>
        </p:txBody>
      </p:sp>
      <p:sp>
        <p:nvSpPr>
          <p:cNvPr id="97" name="직사각형 96"/>
          <p:cNvSpPr/>
          <p:nvPr/>
        </p:nvSpPr>
        <p:spPr bwMode="auto">
          <a:xfrm>
            <a:off x="8085007" y="2616945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</a:rPr>
              <a:t>계약체결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6" name="순서도: 판단 58">
            <a:extLst>
              <a:ext uri="{FF2B5EF4-FFF2-40B4-BE49-F238E27FC236}">
                <a16:creationId xmlns="" xmlns:a16="http://schemas.microsoft.com/office/drawing/2014/main" id="{AFE32C6C-E777-4FDE-929E-C5217D97B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018263" y="2557709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종합 쇼핑몰</a:t>
            </a:r>
          </a:p>
        </p:txBody>
      </p:sp>
      <p:cxnSp>
        <p:nvCxnSpPr>
          <p:cNvPr id="122" name="Shape 266"/>
          <p:cNvCxnSpPr>
            <a:cxnSpLocks noChangeShapeType="1"/>
            <a:stCxn id="76" idx="0"/>
            <a:endCxn id="97" idx="0"/>
          </p:cNvCxnSpPr>
          <p:nvPr/>
        </p:nvCxnSpPr>
        <p:spPr bwMode="auto">
          <a:xfrm rot="16200000" flipH="1">
            <a:off x="6439942" y="593668"/>
            <a:ext cx="59236" cy="3987319"/>
          </a:xfrm>
          <a:prstGeom prst="bentConnector3">
            <a:avLst>
              <a:gd name="adj1" fmla="val -128635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0" name="순서도: 판단 58">
            <a:extLst>
              <a:ext uri="{FF2B5EF4-FFF2-40B4-BE49-F238E27FC236}">
                <a16:creationId xmlns="" xmlns:a16="http://schemas.microsoft.com/office/drawing/2014/main" id="{AFE32C6C-E777-4FDE-929E-C5217D97B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224808" y="4687004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변경계약</a:t>
            </a:r>
          </a:p>
        </p:txBody>
      </p:sp>
      <p:sp>
        <p:nvSpPr>
          <p:cNvPr id="155" name="직사각형 154"/>
          <p:cNvSpPr/>
          <p:nvPr/>
        </p:nvSpPr>
        <p:spPr bwMode="auto">
          <a:xfrm>
            <a:off x="8604579" y="3171770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</a:rPr>
              <a:t>변경계약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6" name="Shape 266"/>
          <p:cNvCxnSpPr>
            <a:cxnSpLocks noChangeShapeType="1"/>
            <a:stCxn id="155" idx="2"/>
            <a:endCxn id="55" idx="0"/>
          </p:cNvCxnSpPr>
          <p:nvPr/>
        </p:nvCxnSpPr>
        <p:spPr bwMode="auto">
          <a:xfrm rot="5400000">
            <a:off x="7839920" y="3608687"/>
            <a:ext cx="1259018" cy="102672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6" name="직사각형 165"/>
          <p:cNvSpPr/>
          <p:nvPr/>
        </p:nvSpPr>
        <p:spPr bwMode="auto">
          <a:xfrm>
            <a:off x="4404814" y="474207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4. </a:t>
            </a:r>
            <a:r>
              <a:rPr lang="ko-KR" altLang="en-US" sz="900" kern="0" dirty="0">
                <a:solidFill>
                  <a:srgbClr val="197EC6"/>
                </a:solidFill>
              </a:rPr>
              <a:t>차수증가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177" name="Shape 266"/>
          <p:cNvCxnSpPr>
            <a:cxnSpLocks noChangeShapeType="1"/>
            <a:stCxn id="150" idx="3"/>
            <a:endCxn id="166" idx="1"/>
          </p:cNvCxnSpPr>
          <p:nvPr/>
        </p:nvCxnSpPr>
        <p:spPr bwMode="auto">
          <a:xfrm flipV="1">
            <a:off x="4140083" y="4902464"/>
            <a:ext cx="264731" cy="416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0" name="Shape 266"/>
          <p:cNvCxnSpPr>
            <a:cxnSpLocks noChangeShapeType="1"/>
            <a:stCxn id="150" idx="0"/>
            <a:endCxn id="48" idx="2"/>
          </p:cNvCxnSpPr>
          <p:nvPr/>
        </p:nvCxnSpPr>
        <p:spPr bwMode="auto">
          <a:xfrm rot="16200000" flipV="1">
            <a:off x="3593504" y="4598061"/>
            <a:ext cx="177884" cy="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3" name="Shape 266"/>
          <p:cNvCxnSpPr>
            <a:cxnSpLocks noChangeShapeType="1"/>
            <a:stCxn id="166" idx="0"/>
            <a:endCxn id="48" idx="2"/>
          </p:cNvCxnSpPr>
          <p:nvPr/>
        </p:nvCxnSpPr>
        <p:spPr bwMode="auto">
          <a:xfrm rot="16200000" flipV="1">
            <a:off x="4116257" y="4075308"/>
            <a:ext cx="232958" cy="110058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0" name="순서도: 판단 58">
            <a:extLst>
              <a:ext uri="{FF2B5EF4-FFF2-40B4-BE49-F238E27FC236}">
                <a16:creationId xmlns="" xmlns:a16="http://schemas.microsoft.com/office/drawing/2014/main" id="{AFE32C6C-E777-4FDE-929E-C5217D97B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325757" y="3565821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변경계약</a:t>
            </a:r>
          </a:p>
        </p:txBody>
      </p:sp>
      <p:cxnSp>
        <p:nvCxnSpPr>
          <p:cNvPr id="209" name="Shape 266"/>
          <p:cNvCxnSpPr>
            <a:cxnSpLocks noChangeShapeType="1"/>
            <a:stCxn id="48" idx="3"/>
            <a:endCxn id="73" idx="1"/>
          </p:cNvCxnSpPr>
          <p:nvPr/>
        </p:nvCxnSpPr>
        <p:spPr bwMode="auto">
          <a:xfrm flipV="1">
            <a:off x="4060657" y="4348733"/>
            <a:ext cx="265100" cy="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" name="Shape 266"/>
          <p:cNvCxnSpPr>
            <a:cxnSpLocks noChangeShapeType="1"/>
            <a:stCxn id="190" idx="1"/>
            <a:endCxn id="155" idx="0"/>
          </p:cNvCxnSpPr>
          <p:nvPr/>
        </p:nvCxnSpPr>
        <p:spPr bwMode="auto">
          <a:xfrm rot="10800000" flipH="1">
            <a:off x="4325756" y="3171771"/>
            <a:ext cx="4657035" cy="613673"/>
          </a:xfrm>
          <a:prstGeom prst="bentConnector4">
            <a:avLst>
              <a:gd name="adj1" fmla="val -9090"/>
              <a:gd name="adj2" fmla="val 231069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7" name="Rectangle 179"/>
          <p:cNvSpPr>
            <a:spLocks noChangeArrowheads="1"/>
          </p:cNvSpPr>
          <p:nvPr/>
        </p:nvSpPr>
        <p:spPr bwMode="auto">
          <a:xfrm flipH="1">
            <a:off x="4022595" y="4937693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Y</a:t>
            </a:r>
          </a:p>
        </p:txBody>
      </p:sp>
      <p:sp>
        <p:nvSpPr>
          <p:cNvPr id="218" name="Rectangle 179"/>
          <p:cNvSpPr>
            <a:spLocks noChangeArrowheads="1"/>
          </p:cNvSpPr>
          <p:nvPr/>
        </p:nvSpPr>
        <p:spPr bwMode="auto">
          <a:xfrm flipH="1">
            <a:off x="3451321" y="4584808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</a:t>
            </a:r>
          </a:p>
        </p:txBody>
      </p:sp>
      <p:sp>
        <p:nvSpPr>
          <p:cNvPr id="219" name="Rectangle 179"/>
          <p:cNvSpPr>
            <a:spLocks noChangeArrowheads="1"/>
          </p:cNvSpPr>
          <p:nvPr/>
        </p:nvSpPr>
        <p:spPr bwMode="auto">
          <a:xfrm flipH="1">
            <a:off x="4079532" y="3629749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Y</a:t>
            </a:r>
          </a:p>
        </p:txBody>
      </p:sp>
      <p:sp>
        <p:nvSpPr>
          <p:cNvPr id="220" name="Rectangle 179"/>
          <p:cNvSpPr>
            <a:spLocks noChangeArrowheads="1"/>
          </p:cNvSpPr>
          <p:nvPr/>
        </p:nvSpPr>
        <p:spPr bwMode="auto">
          <a:xfrm flipH="1">
            <a:off x="5159652" y="3629750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</a:t>
            </a:r>
          </a:p>
        </p:txBody>
      </p:sp>
      <p:sp>
        <p:nvSpPr>
          <p:cNvPr id="68" name="직사각형 67"/>
          <p:cNvSpPr/>
          <p:nvPr/>
        </p:nvSpPr>
        <p:spPr bwMode="auto">
          <a:xfrm>
            <a:off x="5420711" y="41883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6. e</a:t>
            </a:r>
            <a:r>
              <a:rPr lang="ko-KR" altLang="en-US" sz="900" kern="0" dirty="0">
                <a:solidFill>
                  <a:srgbClr val="197EC6"/>
                </a:solidFill>
              </a:rPr>
              <a:t>나라도움 연계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73" name="순서도: 판단 58">
            <a:extLst>
              <a:ext uri="{FF2B5EF4-FFF2-40B4-BE49-F238E27FC236}">
                <a16:creationId xmlns="" xmlns:a16="http://schemas.microsoft.com/office/drawing/2014/main" id="{AFE32C6C-E777-4FDE-929E-C5217D97B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325757" y="4129111"/>
            <a:ext cx="915275" cy="43924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보조금 계약</a:t>
            </a:r>
          </a:p>
        </p:txBody>
      </p:sp>
      <p:cxnSp>
        <p:nvCxnSpPr>
          <p:cNvPr id="77" name="Shape 266"/>
          <p:cNvCxnSpPr>
            <a:cxnSpLocks noChangeShapeType="1"/>
            <a:stCxn id="73" idx="3"/>
            <a:endCxn id="68" idx="1"/>
          </p:cNvCxnSpPr>
          <p:nvPr/>
        </p:nvCxnSpPr>
        <p:spPr bwMode="auto">
          <a:xfrm>
            <a:off x="5241032" y="4348733"/>
            <a:ext cx="179679" cy="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73" idx="0"/>
            <a:endCxn id="190" idx="2"/>
          </p:cNvCxnSpPr>
          <p:nvPr/>
        </p:nvCxnSpPr>
        <p:spPr bwMode="auto">
          <a:xfrm flipV="1">
            <a:off x="4783395" y="4005064"/>
            <a:ext cx="0" cy="12404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68" idx="0"/>
            <a:endCxn id="190" idx="2"/>
          </p:cNvCxnSpPr>
          <p:nvPr/>
        </p:nvCxnSpPr>
        <p:spPr bwMode="auto">
          <a:xfrm rot="16200000" flipV="1">
            <a:off x="5199518" y="3588942"/>
            <a:ext cx="183285" cy="101552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5" name="Rectangle 179"/>
          <p:cNvSpPr>
            <a:spLocks noChangeArrowheads="1"/>
          </p:cNvSpPr>
          <p:nvPr/>
        </p:nvSpPr>
        <p:spPr bwMode="auto">
          <a:xfrm flipH="1">
            <a:off x="5139819" y="4223179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Y</a:t>
            </a:r>
          </a:p>
        </p:txBody>
      </p:sp>
      <p:sp>
        <p:nvSpPr>
          <p:cNvPr id="99" name="Rectangle 179"/>
          <p:cNvSpPr>
            <a:spLocks noChangeArrowheads="1"/>
          </p:cNvSpPr>
          <p:nvPr/>
        </p:nvSpPr>
        <p:spPr bwMode="auto">
          <a:xfrm flipH="1">
            <a:off x="4520952" y="4025969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</a:t>
            </a:r>
          </a:p>
        </p:txBody>
      </p:sp>
      <p:sp>
        <p:nvSpPr>
          <p:cNvPr id="74" name="Rectangle 179"/>
          <p:cNvSpPr>
            <a:spLocks noChangeArrowheads="1"/>
          </p:cNvSpPr>
          <p:nvPr/>
        </p:nvSpPr>
        <p:spPr bwMode="auto">
          <a:xfrm flipH="1">
            <a:off x="4140083" y="2434598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Y</a:t>
            </a:r>
          </a:p>
        </p:txBody>
      </p:sp>
      <p:sp>
        <p:nvSpPr>
          <p:cNvPr id="80" name="Rectangle 179"/>
          <p:cNvSpPr>
            <a:spLocks noChangeArrowheads="1"/>
          </p:cNvSpPr>
          <p:nvPr/>
        </p:nvSpPr>
        <p:spPr bwMode="auto">
          <a:xfrm flipH="1">
            <a:off x="4808665" y="2843883"/>
            <a:ext cx="2974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267721877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기존 수작업으로 진행되던 발주요청 업무를 시스템화하고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 결과를 시스템에 등록할 수 있도록 업무처리를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altLang="ko-KR" dirty="0"/>
              <a:t>3.2.2.24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(2/5)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6675789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1.11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8140213"/>
              </p:ext>
            </p:extLst>
          </p:nvPr>
        </p:nvGraphicFramePr>
        <p:xfrm>
          <a:off x="344488" y="1916832"/>
          <a:ext cx="9181019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03244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21246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1.11.1.3 </a:t>
                      </a:r>
                      <a:r>
                        <a:rPr lang="ko-KR" altLang="en-US" sz="11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검사검수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1.11.1.4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대금지급</a:t>
                      </a:r>
                      <a:endParaRPr lang="ko-KR" altLang="en-US" sz="1100" b="1" i="0" u="none" strike="noStrike" kern="1200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567416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거래처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680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관재부서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4761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8" name="직사각형 97"/>
          <p:cNvSpPr/>
          <p:nvPr/>
        </p:nvSpPr>
        <p:spPr bwMode="auto">
          <a:xfrm>
            <a:off x="3566825" y="34682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</a:rPr>
              <a:t>준공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납품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9" name="직사각형 98"/>
          <p:cNvSpPr/>
          <p:nvPr/>
        </p:nvSpPr>
        <p:spPr bwMode="auto">
          <a:xfrm>
            <a:off x="1433325" y="59165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23. </a:t>
            </a:r>
            <a:r>
              <a:rPr lang="ko-KR" altLang="en-US" sz="900" kern="0" dirty="0">
                <a:solidFill>
                  <a:srgbClr val="197EC6"/>
                </a:solidFill>
              </a:rPr>
              <a:t>검수조서 작성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100" name="직사각형 99"/>
          <p:cNvSpPr/>
          <p:nvPr/>
        </p:nvSpPr>
        <p:spPr bwMode="auto">
          <a:xfrm>
            <a:off x="7438476" y="392755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28. </a:t>
            </a:r>
            <a:r>
              <a:rPr lang="ko-KR" altLang="en-US" sz="900" kern="0" dirty="0">
                <a:solidFill>
                  <a:srgbClr val="197EC6"/>
                </a:solidFill>
              </a:rPr>
              <a:t>선급금 지급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101" name="직사각형 100"/>
          <p:cNvSpPr/>
          <p:nvPr/>
        </p:nvSpPr>
        <p:spPr bwMode="auto">
          <a:xfrm>
            <a:off x="7438476" y="59165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30. </a:t>
            </a:r>
            <a:r>
              <a:rPr lang="ko-KR" altLang="en-US" sz="900" kern="0" dirty="0">
                <a:solidFill>
                  <a:srgbClr val="197EC6"/>
                </a:solidFill>
              </a:rPr>
              <a:t>잔금 지급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105" name="Shape 266"/>
          <p:cNvCxnSpPr>
            <a:cxnSpLocks noChangeShapeType="1"/>
            <a:stCxn id="60" idx="1"/>
            <a:endCxn id="70" idx="3"/>
          </p:cNvCxnSpPr>
          <p:nvPr/>
        </p:nvCxnSpPr>
        <p:spPr bwMode="auto">
          <a:xfrm flipH="1">
            <a:off x="4385016" y="3001829"/>
            <a:ext cx="95676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/>
          <p:cNvCxnSpPr>
            <a:cxnSpLocks noChangeShapeType="1"/>
            <a:stCxn id="60" idx="2"/>
            <a:endCxn id="35" idx="0"/>
          </p:cNvCxnSpPr>
          <p:nvPr/>
        </p:nvCxnSpPr>
        <p:spPr bwMode="auto">
          <a:xfrm>
            <a:off x="5781755" y="3212976"/>
            <a:ext cx="459" cy="2489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" name="Shape 266"/>
          <p:cNvCxnSpPr>
            <a:cxnSpLocks noChangeShapeType="1"/>
            <a:stCxn id="99" idx="3"/>
            <a:endCxn id="72" idx="1"/>
          </p:cNvCxnSpPr>
          <p:nvPr/>
        </p:nvCxnSpPr>
        <p:spPr bwMode="auto">
          <a:xfrm>
            <a:off x="2189750" y="6076926"/>
            <a:ext cx="54038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" name="Shape 266"/>
          <p:cNvCxnSpPr>
            <a:cxnSpLocks noChangeShapeType="1"/>
            <a:stCxn id="133" idx="0"/>
            <a:endCxn id="57" idx="2"/>
          </p:cNvCxnSpPr>
          <p:nvPr/>
        </p:nvCxnSpPr>
        <p:spPr bwMode="auto">
          <a:xfrm flipV="1">
            <a:off x="8808302" y="4304472"/>
            <a:ext cx="170" cy="57758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98" idx="1"/>
            <a:endCxn id="125" idx="0"/>
          </p:cNvCxnSpPr>
          <p:nvPr/>
        </p:nvCxnSpPr>
        <p:spPr bwMode="auto">
          <a:xfrm rot="10800000" flipV="1">
            <a:off x="2433927" y="3628654"/>
            <a:ext cx="1132899" cy="75769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순서도: 종속 처리 64"/>
          <p:cNvSpPr>
            <a:spLocks noChangeAspect="1" noChangeArrowheads="1"/>
          </p:cNvSpPr>
          <p:nvPr/>
        </p:nvSpPr>
        <p:spPr bwMode="auto">
          <a:xfrm>
            <a:off x="8429390" y="5553677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1.3.1.2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지출요구</a:t>
            </a:r>
          </a:p>
        </p:txBody>
      </p:sp>
      <p:cxnSp>
        <p:nvCxnSpPr>
          <p:cNvPr id="79" name="Shape 266"/>
          <p:cNvCxnSpPr>
            <a:cxnSpLocks noChangeShapeType="1"/>
            <a:stCxn id="101" idx="3"/>
            <a:endCxn id="64" idx="1"/>
          </p:cNvCxnSpPr>
          <p:nvPr/>
        </p:nvCxnSpPr>
        <p:spPr bwMode="auto">
          <a:xfrm flipV="1">
            <a:off x="8194901" y="5710077"/>
            <a:ext cx="234489" cy="3668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" name="Shape 266"/>
          <p:cNvCxnSpPr>
            <a:cxnSpLocks noChangeShapeType="1"/>
            <a:stCxn id="100" idx="3"/>
            <a:endCxn id="64" idx="1"/>
          </p:cNvCxnSpPr>
          <p:nvPr/>
        </p:nvCxnSpPr>
        <p:spPr bwMode="auto">
          <a:xfrm>
            <a:off x="8194901" y="4087945"/>
            <a:ext cx="234489" cy="162213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0" name="타원 39"/>
          <p:cNvSpPr/>
          <p:nvPr/>
        </p:nvSpPr>
        <p:spPr>
          <a:xfrm>
            <a:off x="5676416" y="240183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grpSp>
        <p:nvGrpSpPr>
          <p:cNvPr id="5" name="그룹 52"/>
          <p:cNvGrpSpPr/>
          <p:nvPr/>
        </p:nvGrpSpPr>
        <p:grpSpPr>
          <a:xfrm>
            <a:off x="8430089" y="3899725"/>
            <a:ext cx="756425" cy="410305"/>
            <a:chOff x="6429164" y="2244229"/>
            <a:chExt cx="756425" cy="410305"/>
          </a:xfrm>
        </p:grpSpPr>
        <p:sp>
          <p:nvSpPr>
            <p:cNvPr id="57" name="직사각형 56"/>
            <p:cNvSpPr/>
            <p:nvPr/>
          </p:nvSpPr>
          <p:spPr>
            <a:xfrm>
              <a:off x="6557646" y="2255224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9" name="육각형 58"/>
            <p:cNvSpPr/>
            <p:nvPr/>
          </p:nvSpPr>
          <p:spPr bwMode="auto">
            <a:xfrm>
              <a:off x="6429164" y="2244229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종료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09" name="직사각형 108"/>
          <p:cNvSpPr/>
          <p:nvPr/>
        </p:nvSpPr>
        <p:spPr bwMode="auto">
          <a:xfrm>
            <a:off x="7438476" y="55565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29. </a:t>
            </a:r>
            <a:r>
              <a:rPr lang="ko-KR" altLang="en-US" sz="900" kern="0" dirty="0">
                <a:solidFill>
                  <a:srgbClr val="197EC6"/>
                </a:solidFill>
              </a:rPr>
              <a:t>기성금 지급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110" name="Shape 266"/>
          <p:cNvCxnSpPr>
            <a:cxnSpLocks noChangeShapeType="1"/>
            <a:stCxn id="109" idx="3"/>
            <a:endCxn id="64" idx="1"/>
          </p:cNvCxnSpPr>
          <p:nvPr/>
        </p:nvCxnSpPr>
        <p:spPr bwMode="auto">
          <a:xfrm flipV="1">
            <a:off x="8194901" y="5710077"/>
            <a:ext cx="234489" cy="68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" name="직사각형 34"/>
          <p:cNvSpPr/>
          <p:nvPr/>
        </p:nvSpPr>
        <p:spPr bwMode="auto">
          <a:xfrm>
            <a:off x="5404001" y="34618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25. </a:t>
            </a:r>
            <a:r>
              <a:rPr lang="ko-KR" altLang="en-US" sz="900" kern="0" dirty="0">
                <a:solidFill>
                  <a:prstClr val="black"/>
                </a:solidFill>
              </a:rPr>
              <a:t>선급금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 기성금</a:t>
            </a:r>
            <a:r>
              <a:rPr lang="en-US" altLang="ko-KR" sz="900" kern="0" dirty="0">
                <a:solidFill>
                  <a:prstClr val="black"/>
                </a:solidFill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</a:rPr>
              <a:t>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6" name="직사각형 35"/>
          <p:cNvSpPr/>
          <p:nvPr/>
        </p:nvSpPr>
        <p:spPr bwMode="auto">
          <a:xfrm>
            <a:off x="5404001" y="491992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</a:rPr>
              <a:t>요청 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7438477" y="491992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27. </a:t>
            </a:r>
            <a:r>
              <a:rPr lang="ko-KR" altLang="en-US" sz="900" kern="0" dirty="0">
                <a:solidFill>
                  <a:prstClr val="black"/>
                </a:solidFill>
              </a:rPr>
              <a:t>선급금 지급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4" name="Shape 266"/>
          <p:cNvCxnSpPr>
            <a:cxnSpLocks noChangeShapeType="1"/>
            <a:stCxn id="35" idx="2"/>
            <a:endCxn id="36" idx="0"/>
          </p:cNvCxnSpPr>
          <p:nvPr/>
        </p:nvCxnSpPr>
        <p:spPr bwMode="auto">
          <a:xfrm>
            <a:off x="5782214" y="3782667"/>
            <a:ext cx="0" cy="11372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" name="Shape 266"/>
          <p:cNvCxnSpPr>
            <a:cxnSpLocks noChangeShapeType="1"/>
            <a:stCxn id="36" idx="3"/>
            <a:endCxn id="81" idx="1"/>
          </p:cNvCxnSpPr>
          <p:nvPr/>
        </p:nvCxnSpPr>
        <p:spPr bwMode="auto">
          <a:xfrm flipV="1">
            <a:off x="6160426" y="5080307"/>
            <a:ext cx="193482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순서도: 판단 58"/>
          <p:cNvSpPr>
            <a:spLocks noChangeAspect="1" noChangeArrowheads="1"/>
          </p:cNvSpPr>
          <p:nvPr/>
        </p:nvSpPr>
        <p:spPr bwMode="auto">
          <a:xfrm>
            <a:off x="6353908" y="4869160"/>
            <a:ext cx="879955" cy="422294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선급금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요청</a:t>
            </a:r>
          </a:p>
        </p:txBody>
      </p:sp>
      <p:cxnSp>
        <p:nvCxnSpPr>
          <p:cNvPr id="102" name="Shape 266"/>
          <p:cNvCxnSpPr>
            <a:cxnSpLocks noChangeShapeType="1"/>
            <a:stCxn id="81" idx="2"/>
            <a:endCxn id="109" idx="1"/>
          </p:cNvCxnSpPr>
          <p:nvPr/>
        </p:nvCxnSpPr>
        <p:spPr bwMode="auto">
          <a:xfrm rot="16200000" flipH="1">
            <a:off x="6903465" y="5181875"/>
            <a:ext cx="425433" cy="64459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" name="Shape 266"/>
          <p:cNvCxnSpPr>
            <a:cxnSpLocks noChangeShapeType="1"/>
            <a:stCxn id="81" idx="3"/>
            <a:endCxn id="37" idx="1"/>
          </p:cNvCxnSpPr>
          <p:nvPr/>
        </p:nvCxnSpPr>
        <p:spPr bwMode="auto">
          <a:xfrm>
            <a:off x="7233863" y="5080307"/>
            <a:ext cx="204614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" name="Shape 266"/>
          <p:cNvCxnSpPr>
            <a:cxnSpLocks noChangeShapeType="1"/>
            <a:stCxn id="37" idx="0"/>
            <a:endCxn id="100" idx="2"/>
          </p:cNvCxnSpPr>
          <p:nvPr/>
        </p:nvCxnSpPr>
        <p:spPr bwMode="auto">
          <a:xfrm flipH="1" flipV="1">
            <a:off x="7816689" y="4248330"/>
            <a:ext cx="1" cy="67159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" name="Rectangle 179"/>
          <p:cNvSpPr>
            <a:spLocks noChangeArrowheads="1"/>
          </p:cNvSpPr>
          <p:nvPr/>
        </p:nvSpPr>
        <p:spPr bwMode="auto">
          <a:xfrm flipH="1">
            <a:off x="7235345" y="4949635"/>
            <a:ext cx="2031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Y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0" name="Rectangle 179"/>
          <p:cNvSpPr>
            <a:spLocks noChangeArrowheads="1"/>
          </p:cNvSpPr>
          <p:nvPr/>
        </p:nvSpPr>
        <p:spPr bwMode="auto">
          <a:xfrm flipH="1">
            <a:off x="6842757" y="5322113"/>
            <a:ext cx="3453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N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4482261" y="44371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19. </a:t>
            </a:r>
            <a:r>
              <a:rPr lang="ko-KR" altLang="en-US" sz="900" kern="0" dirty="0">
                <a:solidFill>
                  <a:srgbClr val="197EC6"/>
                </a:solidFill>
              </a:rPr>
              <a:t>임시자산 등록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47" name="직사각형 46"/>
          <p:cNvSpPr/>
          <p:nvPr/>
        </p:nvSpPr>
        <p:spPr bwMode="auto">
          <a:xfrm>
            <a:off x="1433325" y="284144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</a:rPr>
              <a:t>검사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검수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0" name="순서도: 판단 58"/>
          <p:cNvSpPr>
            <a:spLocks noChangeAspect="1" noChangeArrowheads="1"/>
          </p:cNvSpPr>
          <p:nvPr/>
        </p:nvSpPr>
        <p:spPr bwMode="auto">
          <a:xfrm>
            <a:off x="5341777" y="2790682"/>
            <a:ext cx="879955" cy="422294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선급금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여부</a:t>
            </a:r>
          </a:p>
        </p:txBody>
      </p:sp>
      <p:cxnSp>
        <p:nvCxnSpPr>
          <p:cNvPr id="65" name="Shape 266"/>
          <p:cNvCxnSpPr>
            <a:cxnSpLocks noChangeShapeType="1"/>
            <a:stCxn id="47" idx="2"/>
            <a:endCxn id="99" idx="0"/>
          </p:cNvCxnSpPr>
          <p:nvPr/>
        </p:nvCxnSpPr>
        <p:spPr bwMode="auto">
          <a:xfrm>
            <a:off x="1811538" y="3162214"/>
            <a:ext cx="0" cy="275432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0" name="순서도: 판단 58"/>
          <p:cNvSpPr>
            <a:spLocks noChangeAspect="1" noChangeArrowheads="1"/>
          </p:cNvSpPr>
          <p:nvPr/>
        </p:nvSpPr>
        <p:spPr bwMode="auto">
          <a:xfrm>
            <a:off x="3505061" y="2790682"/>
            <a:ext cx="879955" cy="422294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용역계약여부</a:t>
            </a:r>
          </a:p>
        </p:txBody>
      </p:sp>
      <p:sp>
        <p:nvSpPr>
          <p:cNvPr id="73" name="직사각형 72"/>
          <p:cNvSpPr/>
          <p:nvPr/>
        </p:nvSpPr>
        <p:spPr bwMode="auto">
          <a:xfrm>
            <a:off x="4484607" y="503164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20. </a:t>
            </a:r>
            <a:r>
              <a:rPr lang="ko-KR" altLang="en-US" sz="900" kern="0" dirty="0">
                <a:solidFill>
                  <a:srgbClr val="197EC6"/>
                </a:solidFill>
              </a:rPr>
              <a:t>바코드 인쇄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4484607" y="553583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21. </a:t>
            </a:r>
            <a:r>
              <a:rPr lang="ko-KR" altLang="en-US" sz="900" kern="0" dirty="0">
                <a:solidFill>
                  <a:srgbClr val="197EC6"/>
                </a:solidFill>
              </a:rPr>
              <a:t>바코드 부착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83" name="Shape 266"/>
          <p:cNvCxnSpPr>
            <a:cxnSpLocks noChangeShapeType="1"/>
            <a:stCxn id="70" idx="1"/>
            <a:endCxn id="47" idx="3"/>
          </p:cNvCxnSpPr>
          <p:nvPr/>
        </p:nvCxnSpPr>
        <p:spPr bwMode="auto">
          <a:xfrm flipH="1">
            <a:off x="2189750" y="3001829"/>
            <a:ext cx="131531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40" idx="4"/>
            <a:endCxn id="60" idx="0"/>
          </p:cNvCxnSpPr>
          <p:nvPr/>
        </p:nvCxnSpPr>
        <p:spPr bwMode="auto">
          <a:xfrm>
            <a:off x="5777573" y="2587594"/>
            <a:ext cx="4182" cy="2030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70" idx="2"/>
            <a:endCxn id="98" idx="0"/>
          </p:cNvCxnSpPr>
          <p:nvPr/>
        </p:nvCxnSpPr>
        <p:spPr bwMode="auto">
          <a:xfrm flipH="1">
            <a:off x="3945038" y="3212976"/>
            <a:ext cx="1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" name="Shape 266"/>
          <p:cNvCxnSpPr>
            <a:cxnSpLocks noChangeShapeType="1"/>
            <a:stCxn id="42" idx="2"/>
            <a:endCxn id="73" idx="0"/>
          </p:cNvCxnSpPr>
          <p:nvPr/>
        </p:nvCxnSpPr>
        <p:spPr bwMode="auto">
          <a:xfrm>
            <a:off x="4860474" y="4757883"/>
            <a:ext cx="2346" cy="2737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" name="Shape 266"/>
          <p:cNvCxnSpPr>
            <a:cxnSpLocks noChangeShapeType="1"/>
            <a:stCxn id="73" idx="2"/>
            <a:endCxn id="74" idx="0"/>
          </p:cNvCxnSpPr>
          <p:nvPr/>
        </p:nvCxnSpPr>
        <p:spPr bwMode="auto">
          <a:xfrm>
            <a:off x="4862820" y="5352418"/>
            <a:ext cx="0" cy="1834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" name="Shape 266"/>
          <p:cNvCxnSpPr>
            <a:cxnSpLocks noChangeShapeType="1"/>
            <a:stCxn id="74" idx="1"/>
            <a:endCxn id="99" idx="0"/>
          </p:cNvCxnSpPr>
          <p:nvPr/>
        </p:nvCxnSpPr>
        <p:spPr bwMode="auto">
          <a:xfrm rot="10800000" flipV="1">
            <a:off x="1811539" y="5696218"/>
            <a:ext cx="2673069" cy="22032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Rectangle 179"/>
          <p:cNvSpPr>
            <a:spLocks noChangeArrowheads="1"/>
          </p:cNvSpPr>
          <p:nvPr/>
        </p:nvSpPr>
        <p:spPr bwMode="auto">
          <a:xfrm flipH="1">
            <a:off x="5798841" y="3231612"/>
            <a:ext cx="2031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Y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2" name="Rectangle 179"/>
          <p:cNvSpPr>
            <a:spLocks noChangeArrowheads="1"/>
          </p:cNvSpPr>
          <p:nvPr/>
        </p:nvSpPr>
        <p:spPr bwMode="auto">
          <a:xfrm flipH="1">
            <a:off x="5238686" y="2859749"/>
            <a:ext cx="3453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N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3" name="Rectangle 179"/>
          <p:cNvSpPr>
            <a:spLocks noChangeArrowheads="1"/>
          </p:cNvSpPr>
          <p:nvPr/>
        </p:nvSpPr>
        <p:spPr bwMode="auto">
          <a:xfrm flipH="1">
            <a:off x="3430447" y="2878086"/>
            <a:ext cx="2031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Y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4" name="Rectangle 179"/>
          <p:cNvSpPr>
            <a:spLocks noChangeArrowheads="1"/>
          </p:cNvSpPr>
          <p:nvPr/>
        </p:nvSpPr>
        <p:spPr bwMode="auto">
          <a:xfrm flipH="1">
            <a:off x="3977169" y="3231251"/>
            <a:ext cx="3453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N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5" name="순서도: 판단 58"/>
          <p:cNvSpPr>
            <a:spLocks noChangeAspect="1" noChangeArrowheads="1"/>
          </p:cNvSpPr>
          <p:nvPr/>
        </p:nvSpPr>
        <p:spPr bwMode="auto">
          <a:xfrm>
            <a:off x="1993948" y="4386350"/>
            <a:ext cx="879955" cy="422294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wrap="squar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비품 소모품 여부</a:t>
            </a:r>
          </a:p>
        </p:txBody>
      </p:sp>
      <p:cxnSp>
        <p:nvCxnSpPr>
          <p:cNvPr id="126" name="Shape 266"/>
          <p:cNvCxnSpPr>
            <a:cxnSpLocks noChangeShapeType="1"/>
            <a:stCxn id="125" idx="1"/>
            <a:endCxn id="99" idx="0"/>
          </p:cNvCxnSpPr>
          <p:nvPr/>
        </p:nvCxnSpPr>
        <p:spPr bwMode="auto">
          <a:xfrm rot="10800000" flipV="1">
            <a:off x="1811538" y="4597496"/>
            <a:ext cx="182410" cy="131904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" name="Shape 266"/>
          <p:cNvCxnSpPr>
            <a:cxnSpLocks noChangeShapeType="1"/>
            <a:stCxn id="125" idx="2"/>
            <a:endCxn id="66" idx="0"/>
          </p:cNvCxnSpPr>
          <p:nvPr/>
        </p:nvCxnSpPr>
        <p:spPr bwMode="auto">
          <a:xfrm flipH="1">
            <a:off x="2429514" y="4808644"/>
            <a:ext cx="4412" cy="2257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" name="Rectangle 179"/>
          <p:cNvSpPr>
            <a:spLocks noChangeArrowheads="1"/>
          </p:cNvSpPr>
          <p:nvPr/>
        </p:nvSpPr>
        <p:spPr bwMode="auto">
          <a:xfrm flipH="1">
            <a:off x="1949736" y="4477821"/>
            <a:ext cx="2031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Y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9" name="Rectangle 179"/>
          <p:cNvSpPr>
            <a:spLocks noChangeArrowheads="1"/>
          </p:cNvSpPr>
          <p:nvPr/>
        </p:nvSpPr>
        <p:spPr bwMode="auto">
          <a:xfrm flipH="1">
            <a:off x="2481538" y="4826524"/>
            <a:ext cx="3453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N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33" name="순서도: 판단 58"/>
          <p:cNvSpPr>
            <a:spLocks noChangeAspect="1" noChangeArrowheads="1"/>
          </p:cNvSpPr>
          <p:nvPr/>
        </p:nvSpPr>
        <p:spPr bwMode="auto">
          <a:xfrm>
            <a:off x="8368324" y="4882056"/>
            <a:ext cx="879955" cy="422294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잔금지급여부</a:t>
            </a:r>
          </a:p>
        </p:txBody>
      </p:sp>
      <p:cxnSp>
        <p:nvCxnSpPr>
          <p:cNvPr id="142" name="Shape 266"/>
          <p:cNvCxnSpPr>
            <a:cxnSpLocks noChangeShapeType="1"/>
            <a:stCxn id="64" idx="0"/>
            <a:endCxn id="133" idx="2"/>
          </p:cNvCxnSpPr>
          <p:nvPr/>
        </p:nvCxnSpPr>
        <p:spPr bwMode="auto">
          <a:xfrm flipV="1">
            <a:off x="8808302" y="5304350"/>
            <a:ext cx="0" cy="24932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" name="Shape 266"/>
          <p:cNvCxnSpPr>
            <a:cxnSpLocks noChangeShapeType="1"/>
            <a:stCxn id="133" idx="3"/>
            <a:endCxn id="35" idx="3"/>
          </p:cNvCxnSpPr>
          <p:nvPr/>
        </p:nvCxnSpPr>
        <p:spPr bwMode="auto">
          <a:xfrm flipH="1" flipV="1">
            <a:off x="6160426" y="3622282"/>
            <a:ext cx="3087853" cy="1470921"/>
          </a:xfrm>
          <a:prstGeom prst="bentConnector3">
            <a:avLst>
              <a:gd name="adj1" fmla="val -7403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7" name="Rectangle 179"/>
          <p:cNvSpPr>
            <a:spLocks noChangeArrowheads="1"/>
          </p:cNvSpPr>
          <p:nvPr/>
        </p:nvSpPr>
        <p:spPr bwMode="auto">
          <a:xfrm flipH="1">
            <a:off x="8887586" y="4763011"/>
            <a:ext cx="2031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Y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78" name="Rectangle 179"/>
          <p:cNvSpPr>
            <a:spLocks noChangeArrowheads="1"/>
          </p:cNvSpPr>
          <p:nvPr/>
        </p:nvSpPr>
        <p:spPr bwMode="auto">
          <a:xfrm flipH="1">
            <a:off x="9288145" y="4970092"/>
            <a:ext cx="3453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N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2051301" y="50344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</a:rPr>
              <a:t>검사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검수 수행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1" name="순서도: 판단 58"/>
          <p:cNvSpPr>
            <a:spLocks noChangeAspect="1" noChangeArrowheads="1"/>
          </p:cNvSpPr>
          <p:nvPr/>
        </p:nvSpPr>
        <p:spPr bwMode="auto">
          <a:xfrm>
            <a:off x="3051860" y="4987750"/>
            <a:ext cx="879955" cy="422294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  <a:extLst/>
        </p:spPr>
        <p:txBody>
          <a:bodyPr wrap="squar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합격 여부</a:t>
            </a:r>
          </a:p>
        </p:txBody>
      </p:sp>
      <p:cxnSp>
        <p:nvCxnSpPr>
          <p:cNvPr id="75" name="Shape 266"/>
          <p:cNvCxnSpPr>
            <a:cxnSpLocks noChangeShapeType="1"/>
            <a:stCxn id="66" idx="3"/>
            <a:endCxn id="71" idx="1"/>
          </p:cNvCxnSpPr>
          <p:nvPr/>
        </p:nvCxnSpPr>
        <p:spPr bwMode="auto">
          <a:xfrm>
            <a:off x="2807726" y="5194807"/>
            <a:ext cx="244134" cy="409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/>
          <p:cNvCxnSpPr>
            <a:cxnSpLocks noChangeShapeType="1"/>
            <a:stCxn id="71" idx="0"/>
            <a:endCxn id="98" idx="2"/>
          </p:cNvCxnSpPr>
          <p:nvPr/>
        </p:nvCxnSpPr>
        <p:spPr bwMode="auto">
          <a:xfrm rot="5400000" flipH="1" flipV="1">
            <a:off x="3119083" y="4161795"/>
            <a:ext cx="1198710" cy="45320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" name="Shape 266"/>
          <p:cNvCxnSpPr>
            <a:cxnSpLocks noChangeShapeType="1"/>
            <a:stCxn id="71" idx="3"/>
            <a:endCxn id="42" idx="1"/>
          </p:cNvCxnSpPr>
          <p:nvPr/>
        </p:nvCxnSpPr>
        <p:spPr bwMode="auto">
          <a:xfrm flipV="1">
            <a:off x="3931815" y="4597498"/>
            <a:ext cx="550446" cy="60139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" name="Rectangle 179"/>
          <p:cNvSpPr>
            <a:spLocks noChangeArrowheads="1"/>
          </p:cNvSpPr>
          <p:nvPr/>
        </p:nvSpPr>
        <p:spPr bwMode="auto">
          <a:xfrm flipH="1">
            <a:off x="3538030" y="4842637"/>
            <a:ext cx="3453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N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6" name="Rectangle 179"/>
          <p:cNvSpPr>
            <a:spLocks noChangeArrowheads="1"/>
          </p:cNvSpPr>
          <p:nvPr/>
        </p:nvSpPr>
        <p:spPr bwMode="auto">
          <a:xfrm flipH="1">
            <a:off x="3957781" y="5242794"/>
            <a:ext cx="2031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Y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2" name="직사각형 71"/>
          <p:cNvSpPr/>
          <p:nvPr/>
        </p:nvSpPr>
        <p:spPr bwMode="auto">
          <a:xfrm>
            <a:off x="2730137" y="59165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197EC6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197EC6"/>
                </a:solidFill>
              </a:rPr>
              <a:t>24. </a:t>
            </a:r>
            <a:r>
              <a:rPr lang="ko-KR" altLang="en-US" sz="900" kern="0" dirty="0">
                <a:solidFill>
                  <a:srgbClr val="197EC6"/>
                </a:solidFill>
              </a:rPr>
              <a:t>검수조서 승인</a:t>
            </a:r>
            <a:endParaRPr lang="en-US" altLang="ko-KR" sz="900" kern="0" dirty="0">
              <a:solidFill>
                <a:srgbClr val="197EC6"/>
              </a:solidFill>
            </a:endParaRPr>
          </a:p>
        </p:txBody>
      </p:sp>
      <p:cxnSp>
        <p:nvCxnSpPr>
          <p:cNvPr id="76" name="Shape 266"/>
          <p:cNvCxnSpPr>
            <a:cxnSpLocks noChangeShapeType="1"/>
            <a:stCxn id="72" idx="3"/>
            <a:endCxn id="101" idx="1"/>
          </p:cNvCxnSpPr>
          <p:nvPr/>
        </p:nvCxnSpPr>
        <p:spPr bwMode="auto">
          <a:xfrm>
            <a:off x="3486562" y="6076926"/>
            <a:ext cx="3951914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789825203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기존 수작업으로 진행되던 발주요청 업무를 시스템화하고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 결과를 시스템에 등록할 수 있도록 업무처리를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(3/5)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4652227"/>
              </p:ext>
            </p:extLst>
          </p:nvPr>
        </p:nvGraphicFramePr>
        <p:xfrm>
          <a:off x="344488" y="1582240"/>
          <a:ext cx="9181019" cy="4579424"/>
        </p:xfrm>
        <a:graphic>
          <a:graphicData uri="http://schemas.openxmlformats.org/drawingml/2006/table">
            <a:tbl>
              <a:tblPr firstRow="1" bandRow="1"/>
              <a:tblGrid>
                <a:gridCol w="36003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052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변경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요청서 작성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요청서 작성 및 승인 요청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계약요청정보 등록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자산목록을 이용한 계약요청내역정보 등록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변경계약일 경우 기존 계약을 선택하여 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계약요청내역정보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32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변경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요청서 승인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요청서 승인 및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계약부서로 협조 요청 발송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계약요청내역정보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32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변경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요청서 접수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요청서를 접수하여 계약요청정보 및 계약요청내역정보 확인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계약요청내역정보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7600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차수증가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계약변경요청인 경우 변경되는 계약의 변경 차수를 증가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계약변경차수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228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계약정보등록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접수된 계약요청서를 이용하여 계약정보를 등록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계약정보 등록 및 확인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계약내역정보 등록 및 확인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소액구매계약의 경우 사업부서에서 직접 등록 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입력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계약요청내역정보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출력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계약내역정보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228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나라도움 연계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계약관리에 등록된 계약정보를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나라도움과 연계하여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나라도움으로 전송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계약의뢰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나라장터에 계약의뢰를 진행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계약의뢰정보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나라장터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경쟁입찰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나라장터에서 경쟁입찰을 진행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입찰정보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나라장터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거래처선정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나라장터에서 경쟁입찰을 진행하여 거래처를 선정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거래처정보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나라장터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수의계약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결정된 거래처에 대하여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나라장터에서 수의계약을 진행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나라장터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193284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기존 수작업으로 진행되던 발주요청 업무를 시스템화하고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 결과를 시스템에 등록할 수 있도록 업무처리를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(4/5)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80794"/>
              </p:ext>
            </p:extLst>
          </p:nvPr>
        </p:nvGraphicFramePr>
        <p:xfrm>
          <a:off x="344488" y="1582240"/>
          <a:ext cx="9181019" cy="4730408"/>
        </p:xfrm>
        <a:graphic>
          <a:graphicData uri="http://schemas.openxmlformats.org/drawingml/2006/table">
            <a:tbl>
              <a:tblPr firstRow="1" bandRow="1"/>
              <a:tblGrid>
                <a:gridCol w="36003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052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094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계약체결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나라장터를 이용한 선정 거래처 계약체결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거래처정보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나라장터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094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변경계약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변경계약요청에 대하여 나라장터에서 변경계약을 체결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계약서 작성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수기계약을 위한 계약서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계약처리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계약서를 이용한 수기계약 계약 체결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228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계약정보보완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나라장터 및 수기계약으로 체결된 계약에 대한 계약 정보를 기준으로 계약요청에서 작성된 계약정보를 수정하여 등록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계약내역에 대한 인증정보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친환경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기술개발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중증장애인 등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수기계약에 대한 계약서 첨부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계약내역정보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636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계약처리 완료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계약시스템에서 계약체결을 진행하여 계약처리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636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납품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공사계약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구매계약에 대한 제품의 준공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납품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50041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검사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검수 수행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납품된 자산에 대한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검수를 수행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임시자산등록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납품된 자산을 임시자산으로 등록하고 자산관리번호를 부여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바코드 인쇄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임시자산으로 등록된 자산에 부여된 자산관리번호를 바코드로 인쇄하고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검수 담당부서로 배부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자산관리번호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바코드 부착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배부된 바코드를 각 자산에 부착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462615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기존 수작업으로 진행되던 발주요청 업무를 시스템화하고 검사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검수 결과를 시스템에 등록할 수 있도록 업무처리를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3.2.2.24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(5/5)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/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통합재무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0981666"/>
              </p:ext>
            </p:extLst>
          </p:nvPr>
        </p:nvGraphicFramePr>
        <p:xfrm>
          <a:off x="344489" y="1584356"/>
          <a:ext cx="9181019" cy="3595854"/>
        </p:xfrm>
        <a:graphic>
          <a:graphicData uri="http://schemas.openxmlformats.org/drawingml/2006/table">
            <a:tbl>
              <a:tblPr firstRow="1" bandRow="1"/>
              <a:tblGrid>
                <a:gridCol w="36003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052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407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굴림" pitchFamily="50" charset="-127"/>
                        </a:rPr>
                        <a:t>구분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5040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검사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검수 요청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용역계약은 별도의 납품절차가 없으므로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검수 요청을 진행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23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검수조서 작성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자산을 불출하고 시스템에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검수 완료 처리 후 검수조서 작성 및 승인요청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24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검수조서 승인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승인요청 된 검수조서를 승인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자산정보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통합재무정보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선급금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기성금 요청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거래처는 계약에 대한 선급금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기성금 지급을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26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요청접수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선급금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기성금 지급요청에 대한 요청 접수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090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27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선급금 지급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거래처에서 요청된 선급금지급요청을 계약부서로 요청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+mn-ea"/>
                          <a:ea typeface="돋움"/>
                          <a:cs typeface="+mn-cs"/>
                        </a:rPr>
                        <a:t>–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+mn-ea"/>
                        <a:ea typeface="돋움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090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28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선급금 지급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계약에 따른 선급금 지급 처리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보조금계약의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나라도움에서 지출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통합재무정보시스템에서는 결의만 처리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4090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29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기성금 지급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계약에 따른 기성금 지급 처리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).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보조금계약의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나라도움에서 지출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통합재무정보시스템에서는 결의만 처리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40903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잔금 지금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계약에 따른 잔금 지급 처리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).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보조금계약의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나라도움에서 지출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통합재무정보시스템에서는 결의만 처리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계약정보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4061792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4"/>
          <p:cNvSpPr>
            <a:spLocks noChangeArrowheads="1"/>
          </p:cNvSpPr>
          <p:nvPr/>
        </p:nvSpPr>
        <p:spPr bwMode="auto">
          <a:xfrm>
            <a:off x="354519" y="1736812"/>
            <a:ext cx="9170481" cy="4644516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인적자원관리 업무는 인사관리</a:t>
            </a:r>
            <a:r>
              <a:rPr lang="en-US" altLang="ko-KR" sz="1600" dirty="0"/>
              <a:t>, CDP</a:t>
            </a:r>
            <a:r>
              <a:rPr lang="ko-KR" altLang="en-US" sz="1600" dirty="0"/>
              <a:t>관리</a:t>
            </a:r>
            <a:r>
              <a:rPr lang="en-US" altLang="ko-KR" sz="1600" dirty="0"/>
              <a:t>, </a:t>
            </a:r>
            <a:r>
              <a:rPr lang="ko-KR" altLang="en-US" sz="1600" dirty="0"/>
              <a:t>평가관리</a:t>
            </a:r>
            <a:r>
              <a:rPr lang="en-US" altLang="ko-KR" sz="1600" dirty="0"/>
              <a:t>, </a:t>
            </a:r>
            <a:r>
              <a:rPr lang="ko-KR" altLang="en-US" sz="1600" dirty="0"/>
              <a:t>교육관리</a:t>
            </a:r>
            <a:r>
              <a:rPr lang="en-US" altLang="ko-KR" sz="1600" dirty="0"/>
              <a:t>, </a:t>
            </a:r>
            <a:r>
              <a:rPr lang="ko-KR" altLang="en-US" sz="1600" dirty="0"/>
              <a:t>보상관리</a:t>
            </a:r>
            <a:r>
              <a:rPr lang="en-US" altLang="ko-KR" sz="1600" dirty="0"/>
              <a:t>, </a:t>
            </a:r>
            <a:r>
              <a:rPr lang="ko-KR" altLang="en-US" sz="1600" dirty="0"/>
              <a:t>복리후생 등 총 </a:t>
            </a:r>
            <a:r>
              <a:rPr lang="en-US" altLang="ko-KR" sz="1600" dirty="0"/>
              <a:t>7</a:t>
            </a:r>
            <a:r>
              <a:rPr lang="ko-KR" altLang="en-US" sz="1600" dirty="0"/>
              <a:t>개 </a:t>
            </a:r>
            <a:r>
              <a:rPr lang="en-US" altLang="ko-KR" sz="1600" dirty="0"/>
              <a:t>Major Process</a:t>
            </a:r>
            <a:r>
              <a:rPr lang="ko-KR" altLang="en-US" sz="1600" dirty="0"/>
              <a:t>로 구성되며</a:t>
            </a:r>
            <a:r>
              <a:rPr lang="en-US" altLang="ko-KR" sz="1600" dirty="0"/>
              <a:t>, </a:t>
            </a:r>
            <a:r>
              <a:rPr lang="ko-KR" altLang="en-US" sz="1600" dirty="0"/>
              <a:t>인사관리는</a:t>
            </a:r>
            <a:r>
              <a:rPr lang="en-US" altLang="ko-KR" sz="1600" dirty="0"/>
              <a:t> </a:t>
            </a:r>
            <a:r>
              <a:rPr lang="ko-KR" altLang="en-US" sz="1600" dirty="0"/>
              <a:t>총 </a:t>
            </a:r>
            <a:r>
              <a:rPr lang="en-US" altLang="ko-KR" sz="1600" dirty="0"/>
              <a:t>8</a:t>
            </a:r>
            <a:r>
              <a:rPr lang="ko-KR" altLang="en-US" sz="1600" dirty="0"/>
              <a:t>개 </a:t>
            </a:r>
            <a:r>
              <a:rPr lang="en-US" altLang="ko-KR" sz="1600" dirty="0"/>
              <a:t>Sub Process</a:t>
            </a:r>
            <a:r>
              <a:rPr lang="ko-KR" altLang="en-US" sz="1600" dirty="0"/>
              <a:t>로 구성됨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인적자원관리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lIns="0" rIns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354519" y="1412776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/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Rectangle 43"/>
          <p:cNvSpPr>
            <a:spLocks noChangeArrowheads="1"/>
          </p:cNvSpPr>
          <p:nvPr/>
        </p:nvSpPr>
        <p:spPr bwMode="auto">
          <a:xfrm>
            <a:off x="1249881" y="1842137"/>
            <a:ext cx="7994445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3.1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인사관리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82181" y="1842137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Level2</a:t>
            </a:r>
          </a:p>
        </p:txBody>
      </p:sp>
      <p:sp>
        <p:nvSpPr>
          <p:cNvPr id="53" name="Rectangle 43"/>
          <p:cNvSpPr>
            <a:spLocks noChangeArrowheads="1"/>
          </p:cNvSpPr>
          <p:nvPr/>
        </p:nvSpPr>
        <p:spPr bwMode="auto">
          <a:xfrm>
            <a:off x="482181" y="2337750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Level3</a:t>
            </a:r>
          </a:p>
        </p:txBody>
      </p:sp>
      <p:sp>
        <p:nvSpPr>
          <p:cNvPr id="54" name="Rectangle 43"/>
          <p:cNvSpPr>
            <a:spLocks noChangeArrowheads="1"/>
          </p:cNvSpPr>
          <p:nvPr/>
        </p:nvSpPr>
        <p:spPr bwMode="auto">
          <a:xfrm>
            <a:off x="482181" y="3114271"/>
            <a:ext cx="566033" cy="3183279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Level4</a:t>
            </a:r>
          </a:p>
        </p:txBody>
      </p:sp>
      <p:cxnSp>
        <p:nvCxnSpPr>
          <p:cNvPr id="61" name="꺾인 연결선 60"/>
          <p:cNvCxnSpPr>
            <a:stCxn id="56" idx="2"/>
            <a:endCxn id="57" idx="0"/>
          </p:cNvCxnSpPr>
          <p:nvPr/>
        </p:nvCxnSpPr>
        <p:spPr bwMode="auto">
          <a:xfrm rot="5400000">
            <a:off x="3424519" y="688430"/>
            <a:ext cx="270790" cy="337438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2" name="꺾인 연결선 61"/>
          <p:cNvCxnSpPr>
            <a:stCxn id="56" idx="2"/>
            <a:endCxn id="59" idx="0"/>
          </p:cNvCxnSpPr>
          <p:nvPr/>
        </p:nvCxnSpPr>
        <p:spPr bwMode="auto">
          <a:xfrm rot="5400000">
            <a:off x="4103445" y="1367356"/>
            <a:ext cx="270790" cy="2016528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3" name="꺾인 연결선 62"/>
          <p:cNvCxnSpPr>
            <a:stCxn id="56" idx="2"/>
            <a:endCxn id="60" idx="0"/>
          </p:cNvCxnSpPr>
          <p:nvPr/>
        </p:nvCxnSpPr>
        <p:spPr bwMode="auto">
          <a:xfrm rot="5400000">
            <a:off x="4774271" y="2038182"/>
            <a:ext cx="270790" cy="67487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1" name="꺾인 연결선 100"/>
          <p:cNvCxnSpPr>
            <a:stCxn id="56" idx="2"/>
            <a:endCxn id="94" idx="0"/>
          </p:cNvCxnSpPr>
          <p:nvPr/>
        </p:nvCxnSpPr>
        <p:spPr bwMode="auto">
          <a:xfrm rot="16200000" flipH="1">
            <a:off x="5449146" y="2038182"/>
            <a:ext cx="270790" cy="67487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4" name="꺾인 연결선 103"/>
          <p:cNvCxnSpPr>
            <a:stCxn id="56" idx="2"/>
            <a:endCxn id="95" idx="0"/>
          </p:cNvCxnSpPr>
          <p:nvPr/>
        </p:nvCxnSpPr>
        <p:spPr bwMode="auto">
          <a:xfrm rot="16200000" flipH="1">
            <a:off x="6127488" y="1359840"/>
            <a:ext cx="270790" cy="203155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7" name="꺾인 연결선 106"/>
          <p:cNvCxnSpPr>
            <a:stCxn id="56" idx="2"/>
            <a:endCxn id="96" idx="0"/>
          </p:cNvCxnSpPr>
          <p:nvPr/>
        </p:nvCxnSpPr>
        <p:spPr bwMode="auto">
          <a:xfrm rot="16200000" flipH="1">
            <a:off x="6798899" y="688430"/>
            <a:ext cx="270790" cy="337438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0" name="꺾인 연결선 91"/>
          <p:cNvCxnSpPr>
            <a:stCxn id="58" idx="2"/>
            <a:endCxn id="83" idx="0"/>
          </p:cNvCxnSpPr>
          <p:nvPr/>
        </p:nvCxnSpPr>
        <p:spPr bwMode="auto">
          <a:xfrm>
            <a:off x="3230576" y="3610895"/>
            <a:ext cx="0" cy="23896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7" name="Rectangle 43"/>
          <p:cNvSpPr>
            <a:spLocks noChangeArrowheads="1"/>
          </p:cNvSpPr>
          <p:nvPr/>
        </p:nvSpPr>
        <p:spPr bwMode="auto">
          <a:xfrm>
            <a:off x="1249881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조직</a:t>
            </a: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정원관리</a:t>
            </a:r>
          </a:p>
        </p:txBody>
      </p:sp>
      <p:sp>
        <p:nvSpPr>
          <p:cNvPr id="59" name="Rectangle 43"/>
          <p:cNvSpPr>
            <a:spLocks noChangeArrowheads="1"/>
          </p:cNvSpPr>
          <p:nvPr/>
        </p:nvSpPr>
        <p:spPr bwMode="auto">
          <a:xfrm>
            <a:off x="2607734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채용관리</a:t>
            </a:r>
          </a:p>
        </p:txBody>
      </p:sp>
      <p:sp>
        <p:nvSpPr>
          <p:cNvPr id="60" name="Rectangle 43"/>
          <p:cNvSpPr>
            <a:spLocks noChangeArrowheads="1"/>
          </p:cNvSpPr>
          <p:nvPr/>
        </p:nvSpPr>
        <p:spPr bwMode="auto">
          <a:xfrm>
            <a:off x="3949385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3.1.3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인적정보관리</a:t>
            </a:r>
          </a:p>
        </p:txBody>
      </p:sp>
      <p:sp>
        <p:nvSpPr>
          <p:cNvPr id="20" name="Rectangle 43"/>
          <p:cNvSpPr>
            <a:spLocks noChangeArrowheads="1"/>
          </p:cNvSpPr>
          <p:nvPr/>
        </p:nvSpPr>
        <p:spPr bwMode="auto">
          <a:xfrm>
            <a:off x="1261589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조직관리</a:t>
            </a:r>
          </a:p>
        </p:txBody>
      </p:sp>
      <p:sp>
        <p:nvSpPr>
          <p:cNvPr id="64" name="Rectangle 43"/>
          <p:cNvSpPr>
            <a:spLocks noChangeArrowheads="1"/>
          </p:cNvSpPr>
          <p:nvPr/>
        </p:nvSpPr>
        <p:spPr bwMode="auto">
          <a:xfrm>
            <a:off x="1261589" y="3814958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정원관리</a:t>
            </a:r>
          </a:p>
        </p:txBody>
      </p:sp>
      <p:sp>
        <p:nvSpPr>
          <p:cNvPr id="67" name="Rectangle 43"/>
          <p:cNvSpPr>
            <a:spLocks noChangeArrowheads="1"/>
          </p:cNvSpPr>
          <p:nvPr/>
        </p:nvSpPr>
        <p:spPr bwMode="auto">
          <a:xfrm>
            <a:off x="3961093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3.1.3.1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인적정보관리</a:t>
            </a:r>
          </a:p>
        </p:txBody>
      </p:sp>
      <p:cxnSp>
        <p:nvCxnSpPr>
          <p:cNvPr id="72" name="꺾인 연결선 91"/>
          <p:cNvCxnSpPr/>
          <p:nvPr/>
        </p:nvCxnSpPr>
        <p:spPr bwMode="auto">
          <a:xfrm>
            <a:off x="1872723" y="2910389"/>
            <a:ext cx="0" cy="34050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꺾인 연결선 91"/>
          <p:cNvCxnSpPr>
            <a:stCxn id="59" idx="2"/>
            <a:endCxn id="58" idx="0"/>
          </p:cNvCxnSpPr>
          <p:nvPr/>
        </p:nvCxnSpPr>
        <p:spPr bwMode="auto">
          <a:xfrm>
            <a:off x="3230576" y="2910389"/>
            <a:ext cx="0" cy="34050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꺾인 연결선 91"/>
          <p:cNvCxnSpPr>
            <a:stCxn id="60" idx="2"/>
            <a:endCxn id="67" idx="0"/>
          </p:cNvCxnSpPr>
          <p:nvPr/>
        </p:nvCxnSpPr>
        <p:spPr bwMode="auto">
          <a:xfrm>
            <a:off x="4572227" y="2910389"/>
            <a:ext cx="0" cy="34050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9" name="꺾인 연결선 91"/>
          <p:cNvCxnSpPr/>
          <p:nvPr/>
        </p:nvCxnSpPr>
        <p:spPr bwMode="auto">
          <a:xfrm>
            <a:off x="1872723" y="3673636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4" name="Rectangle 43"/>
          <p:cNvSpPr>
            <a:spLocks noChangeArrowheads="1"/>
          </p:cNvSpPr>
          <p:nvPr/>
        </p:nvSpPr>
        <p:spPr bwMode="auto">
          <a:xfrm>
            <a:off x="5299137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3.1.4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직위공모관리</a:t>
            </a:r>
          </a:p>
        </p:txBody>
      </p:sp>
      <p:sp>
        <p:nvSpPr>
          <p:cNvPr id="95" name="Rectangle 43"/>
          <p:cNvSpPr>
            <a:spLocks noChangeArrowheads="1"/>
          </p:cNvSpPr>
          <p:nvPr/>
        </p:nvSpPr>
        <p:spPr bwMode="auto">
          <a:xfrm>
            <a:off x="6655821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3.1.5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발령관리</a:t>
            </a:r>
          </a:p>
        </p:txBody>
      </p:sp>
      <p:sp>
        <p:nvSpPr>
          <p:cNvPr id="96" name="Rectangle 43"/>
          <p:cNvSpPr>
            <a:spLocks noChangeArrowheads="1"/>
          </p:cNvSpPr>
          <p:nvPr/>
        </p:nvSpPr>
        <p:spPr bwMode="auto">
          <a:xfrm>
            <a:off x="7998642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3.1.6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상벌관리</a:t>
            </a:r>
          </a:p>
        </p:txBody>
      </p:sp>
      <p:sp>
        <p:nvSpPr>
          <p:cNvPr id="97" name="Rectangle 43"/>
          <p:cNvSpPr>
            <a:spLocks noChangeArrowheads="1"/>
          </p:cNvSpPr>
          <p:nvPr/>
        </p:nvSpPr>
        <p:spPr bwMode="auto">
          <a:xfrm>
            <a:off x="8010350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3.1.6.1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포상관리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Rectangle 43"/>
          <p:cNvSpPr>
            <a:spLocks noChangeArrowheads="1"/>
          </p:cNvSpPr>
          <p:nvPr/>
        </p:nvSpPr>
        <p:spPr bwMode="auto">
          <a:xfrm>
            <a:off x="8010350" y="3814958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3.1.6.2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징계관리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0" name="꺾인 연결선 91"/>
          <p:cNvCxnSpPr/>
          <p:nvPr/>
        </p:nvCxnSpPr>
        <p:spPr bwMode="auto">
          <a:xfrm>
            <a:off x="8621484" y="2910389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꺾인 연결선 91"/>
          <p:cNvCxnSpPr/>
          <p:nvPr/>
        </p:nvCxnSpPr>
        <p:spPr bwMode="auto">
          <a:xfrm>
            <a:off x="8621484" y="3673636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2" name="Rectangle 43"/>
          <p:cNvSpPr>
            <a:spLocks noChangeArrowheads="1"/>
          </p:cNvSpPr>
          <p:nvPr/>
        </p:nvSpPr>
        <p:spPr bwMode="auto">
          <a:xfrm>
            <a:off x="6667529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3.1.5.1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수시발령</a:t>
            </a:r>
          </a:p>
        </p:txBody>
      </p:sp>
      <p:sp>
        <p:nvSpPr>
          <p:cNvPr id="123" name="Rectangle 43"/>
          <p:cNvSpPr>
            <a:spLocks noChangeArrowheads="1"/>
          </p:cNvSpPr>
          <p:nvPr/>
        </p:nvSpPr>
        <p:spPr bwMode="auto">
          <a:xfrm>
            <a:off x="6667529" y="3814958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3.1.5.2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승진발령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6" name="꺾인 연결선 91"/>
          <p:cNvCxnSpPr/>
          <p:nvPr/>
        </p:nvCxnSpPr>
        <p:spPr bwMode="auto">
          <a:xfrm>
            <a:off x="7278663" y="2911707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꺾인 연결선 91"/>
          <p:cNvCxnSpPr/>
          <p:nvPr/>
        </p:nvCxnSpPr>
        <p:spPr bwMode="auto">
          <a:xfrm>
            <a:off x="7278663" y="3673636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0" name="Rectangle 43"/>
          <p:cNvSpPr>
            <a:spLocks noChangeArrowheads="1"/>
          </p:cNvSpPr>
          <p:nvPr/>
        </p:nvSpPr>
        <p:spPr bwMode="auto">
          <a:xfrm>
            <a:off x="5310845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3.1.4.1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직위공모 게시</a:t>
            </a:r>
          </a:p>
        </p:txBody>
      </p:sp>
      <p:sp>
        <p:nvSpPr>
          <p:cNvPr id="131" name="Rectangle 43"/>
          <p:cNvSpPr>
            <a:spLocks noChangeArrowheads="1"/>
          </p:cNvSpPr>
          <p:nvPr/>
        </p:nvSpPr>
        <p:spPr bwMode="auto">
          <a:xfrm>
            <a:off x="5310845" y="3814958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1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3.1.4.2</a:t>
            </a:r>
          </a:p>
          <a:p>
            <a:pPr algn="ctr" eaLnBrk="0" fontAlgn="base" latinLnBrk="0" hangingPunct="0">
              <a:lnSpc>
                <a:spcPts val="11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직위공모신청관리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4" name="꺾인 연결선 91"/>
          <p:cNvCxnSpPr/>
          <p:nvPr/>
        </p:nvCxnSpPr>
        <p:spPr bwMode="auto">
          <a:xfrm>
            <a:off x="5921979" y="2910389"/>
            <a:ext cx="0" cy="34050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5" name="꺾인 연결선 91"/>
          <p:cNvCxnSpPr/>
          <p:nvPr/>
        </p:nvCxnSpPr>
        <p:spPr bwMode="auto">
          <a:xfrm>
            <a:off x="5921979" y="3673636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8" name="Rectangle 43"/>
          <p:cNvSpPr>
            <a:spLocks noChangeArrowheads="1"/>
          </p:cNvSpPr>
          <p:nvPr/>
        </p:nvSpPr>
        <p:spPr bwMode="auto">
          <a:xfrm>
            <a:off x="2618576" y="325089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채용계획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Rectangle 43"/>
          <p:cNvSpPr>
            <a:spLocks noChangeArrowheads="1"/>
          </p:cNvSpPr>
          <p:nvPr/>
        </p:nvSpPr>
        <p:spPr bwMode="auto">
          <a:xfrm>
            <a:off x="2618576" y="3650041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채용공고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Rectangle 43"/>
          <p:cNvSpPr>
            <a:spLocks noChangeArrowheads="1"/>
          </p:cNvSpPr>
          <p:nvPr/>
        </p:nvSpPr>
        <p:spPr bwMode="auto">
          <a:xfrm>
            <a:off x="2618576" y="404179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채용지원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Rectangle 43"/>
          <p:cNvSpPr>
            <a:spLocks noChangeArrowheads="1"/>
          </p:cNvSpPr>
          <p:nvPr/>
        </p:nvSpPr>
        <p:spPr bwMode="auto">
          <a:xfrm>
            <a:off x="2618576" y="4433549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서류전형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Rectangle 43"/>
          <p:cNvSpPr>
            <a:spLocks noChangeArrowheads="1"/>
          </p:cNvSpPr>
          <p:nvPr/>
        </p:nvSpPr>
        <p:spPr bwMode="auto">
          <a:xfrm>
            <a:off x="2618576" y="4825303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필기전형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Rectangle 43"/>
          <p:cNvSpPr>
            <a:spLocks noChangeArrowheads="1"/>
          </p:cNvSpPr>
          <p:nvPr/>
        </p:nvSpPr>
        <p:spPr bwMode="auto">
          <a:xfrm>
            <a:off x="2618576" y="5217057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3.1.2.6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면접전형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1" name="Rectangle 43"/>
          <p:cNvSpPr>
            <a:spLocks noChangeArrowheads="1"/>
          </p:cNvSpPr>
          <p:nvPr/>
        </p:nvSpPr>
        <p:spPr bwMode="auto">
          <a:xfrm>
            <a:off x="2618576" y="5608811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3.1.2.7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실기전형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3" name="Rectangle 43"/>
          <p:cNvSpPr>
            <a:spLocks noChangeArrowheads="1"/>
          </p:cNvSpPr>
          <p:nvPr/>
        </p:nvSpPr>
        <p:spPr bwMode="auto">
          <a:xfrm>
            <a:off x="2618576" y="6000564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1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3.1.2.8</a:t>
            </a:r>
          </a:p>
          <a:p>
            <a:pPr algn="ctr" eaLnBrk="0" fontAlgn="base" latinLnBrk="0" hangingPunct="0">
              <a:lnSpc>
                <a:spcPts val="11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최종합격자 선정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265548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en-US" altLang="ko-KR" sz="1600" dirty="0"/>
              <a:t>CDP</a:t>
            </a:r>
            <a:r>
              <a:rPr lang="ko-KR" altLang="en-US" sz="1600" dirty="0"/>
              <a:t>관리는 직무관리</a:t>
            </a:r>
            <a:r>
              <a:rPr lang="en-US" altLang="ko-KR" sz="1600" dirty="0"/>
              <a:t>, </a:t>
            </a:r>
            <a:r>
              <a:rPr lang="ko-KR" altLang="en-US" sz="1600" dirty="0"/>
              <a:t>역량관리</a:t>
            </a:r>
            <a:r>
              <a:rPr lang="en-US" altLang="ko-KR" sz="1600" dirty="0"/>
              <a:t>, </a:t>
            </a:r>
            <a:r>
              <a:rPr lang="ko-KR" altLang="en-US" sz="1600" dirty="0"/>
              <a:t>경력관리 총 </a:t>
            </a:r>
            <a:r>
              <a:rPr lang="en-US" altLang="ko-KR" sz="1600" dirty="0"/>
              <a:t>3</a:t>
            </a:r>
            <a:r>
              <a:rPr lang="ko-KR" altLang="en-US" sz="1600" dirty="0"/>
              <a:t>개 </a:t>
            </a:r>
            <a:r>
              <a:rPr lang="en-US" altLang="ko-KR" sz="1600" dirty="0"/>
              <a:t>Sub Process(</a:t>
            </a:r>
            <a:r>
              <a:rPr lang="ko-KR" altLang="en-US" sz="1600" dirty="0"/>
              <a:t>인사관리</a:t>
            </a:r>
            <a:r>
              <a:rPr lang="en-US" altLang="ko-KR" sz="1600" dirty="0"/>
              <a:t>, CDP</a:t>
            </a:r>
            <a:r>
              <a:rPr lang="ko-KR" altLang="en-US" sz="1600" dirty="0"/>
              <a:t>관리</a:t>
            </a:r>
            <a:r>
              <a:rPr lang="en-US" altLang="ko-KR" sz="1600" dirty="0"/>
              <a:t>, </a:t>
            </a:r>
            <a:r>
              <a:rPr lang="ko-KR" altLang="en-US" sz="1600" dirty="0"/>
              <a:t>평가관리</a:t>
            </a:r>
            <a:r>
              <a:rPr lang="en-US" altLang="ko-KR" sz="1600" dirty="0"/>
              <a:t>)</a:t>
            </a:r>
            <a:r>
              <a:rPr lang="ko-KR" altLang="en-US" sz="1600" dirty="0"/>
              <a:t>로 구성됨 </a:t>
            </a:r>
          </a:p>
          <a:p>
            <a:pPr algn="just" latinLnBrk="0"/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(2/16)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354519" y="1412776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/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5" name="Rectangle 4"/>
          <p:cNvSpPr>
            <a:spLocks noChangeArrowheads="1"/>
          </p:cNvSpPr>
          <p:nvPr/>
        </p:nvSpPr>
        <p:spPr bwMode="auto">
          <a:xfrm>
            <a:off x="354519" y="1736812"/>
            <a:ext cx="9170481" cy="4644516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Rectangle 43"/>
          <p:cNvSpPr>
            <a:spLocks noChangeArrowheads="1"/>
          </p:cNvSpPr>
          <p:nvPr/>
        </p:nvSpPr>
        <p:spPr bwMode="auto">
          <a:xfrm>
            <a:off x="1249882" y="1842137"/>
            <a:ext cx="2567427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3.1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인사관리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82181" y="1842137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Level2</a:t>
            </a:r>
          </a:p>
        </p:txBody>
      </p:sp>
      <p:sp>
        <p:nvSpPr>
          <p:cNvPr id="53" name="Rectangle 43"/>
          <p:cNvSpPr>
            <a:spLocks noChangeArrowheads="1"/>
          </p:cNvSpPr>
          <p:nvPr/>
        </p:nvSpPr>
        <p:spPr bwMode="auto">
          <a:xfrm>
            <a:off x="482181" y="2337750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Level3</a:t>
            </a:r>
          </a:p>
        </p:txBody>
      </p:sp>
      <p:sp>
        <p:nvSpPr>
          <p:cNvPr id="54" name="Rectangle 43"/>
          <p:cNvSpPr>
            <a:spLocks noChangeArrowheads="1"/>
          </p:cNvSpPr>
          <p:nvPr/>
        </p:nvSpPr>
        <p:spPr bwMode="auto">
          <a:xfrm>
            <a:off x="482181" y="3114271"/>
            <a:ext cx="566033" cy="3183279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Level4</a:t>
            </a:r>
          </a:p>
        </p:txBody>
      </p:sp>
      <p:sp>
        <p:nvSpPr>
          <p:cNvPr id="57" name="Rectangle 43"/>
          <p:cNvSpPr>
            <a:spLocks noChangeArrowheads="1"/>
          </p:cNvSpPr>
          <p:nvPr/>
        </p:nvSpPr>
        <p:spPr bwMode="auto">
          <a:xfrm>
            <a:off x="1259044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3.1.7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근태관리</a:t>
            </a:r>
          </a:p>
        </p:txBody>
      </p:sp>
      <p:sp>
        <p:nvSpPr>
          <p:cNvPr id="59" name="Rectangle 43"/>
          <p:cNvSpPr>
            <a:spLocks noChangeArrowheads="1"/>
          </p:cNvSpPr>
          <p:nvPr/>
        </p:nvSpPr>
        <p:spPr bwMode="auto">
          <a:xfrm>
            <a:off x="2571625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3.1.8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제증명 관리</a:t>
            </a:r>
          </a:p>
        </p:txBody>
      </p:sp>
      <p:cxnSp>
        <p:nvCxnSpPr>
          <p:cNvPr id="61" name="꺾인 연결선 60"/>
          <p:cNvCxnSpPr>
            <a:stCxn id="56" idx="2"/>
            <a:endCxn id="57" idx="0"/>
          </p:cNvCxnSpPr>
          <p:nvPr/>
        </p:nvCxnSpPr>
        <p:spPr bwMode="auto">
          <a:xfrm rot="5400000">
            <a:off x="2072346" y="2049765"/>
            <a:ext cx="270790" cy="65171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2" name="꺾인 연결선 61"/>
          <p:cNvCxnSpPr>
            <a:stCxn id="56" idx="2"/>
            <a:endCxn id="59" idx="0"/>
          </p:cNvCxnSpPr>
          <p:nvPr/>
        </p:nvCxnSpPr>
        <p:spPr bwMode="auto">
          <a:xfrm rot="16200000" flipH="1">
            <a:off x="2728636" y="2045184"/>
            <a:ext cx="270790" cy="66087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65" name="Rectangle 43"/>
          <p:cNvSpPr>
            <a:spLocks noChangeArrowheads="1"/>
          </p:cNvSpPr>
          <p:nvPr/>
        </p:nvSpPr>
        <p:spPr bwMode="auto">
          <a:xfrm>
            <a:off x="2583333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3.1.8.1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제증명신청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발급</a:t>
            </a:r>
          </a:p>
        </p:txBody>
      </p: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3944888" y="1837305"/>
            <a:ext cx="387756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3.2 CDP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꺾인 연결선 91"/>
          <p:cNvCxnSpPr>
            <a:stCxn id="59" idx="2"/>
            <a:endCxn id="65" idx="0"/>
          </p:cNvCxnSpPr>
          <p:nvPr/>
        </p:nvCxnSpPr>
        <p:spPr bwMode="auto">
          <a:xfrm>
            <a:off x="3194467" y="2910389"/>
            <a:ext cx="0" cy="34050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9" name="꺾인 연결선 91"/>
          <p:cNvCxnSpPr/>
          <p:nvPr/>
        </p:nvCxnSpPr>
        <p:spPr bwMode="auto">
          <a:xfrm flipH="1">
            <a:off x="1876465" y="2910389"/>
            <a:ext cx="10842" cy="3492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4" name="Rectangle 43"/>
          <p:cNvSpPr>
            <a:spLocks noChangeArrowheads="1"/>
          </p:cNvSpPr>
          <p:nvPr/>
        </p:nvSpPr>
        <p:spPr bwMode="auto">
          <a:xfrm>
            <a:off x="3953175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직무</a:t>
            </a: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Rectangle 43"/>
          <p:cNvSpPr>
            <a:spLocks noChangeArrowheads="1"/>
          </p:cNvSpPr>
          <p:nvPr/>
        </p:nvSpPr>
        <p:spPr bwMode="auto">
          <a:xfrm>
            <a:off x="5265756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역량관리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6" name="Rectangle 43"/>
          <p:cNvSpPr>
            <a:spLocks noChangeArrowheads="1"/>
          </p:cNvSpPr>
          <p:nvPr/>
        </p:nvSpPr>
        <p:spPr bwMode="auto">
          <a:xfrm>
            <a:off x="6575895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3.2.3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경력관리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" name="Rectangle 43"/>
          <p:cNvSpPr>
            <a:spLocks noChangeArrowheads="1"/>
          </p:cNvSpPr>
          <p:nvPr/>
        </p:nvSpPr>
        <p:spPr bwMode="auto">
          <a:xfrm>
            <a:off x="6587603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3.2.3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환경설정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1" name="꺾인 연결선 100"/>
          <p:cNvCxnSpPr>
            <a:stCxn id="71" idx="2"/>
            <a:endCxn id="94" idx="0"/>
          </p:cNvCxnSpPr>
          <p:nvPr/>
        </p:nvCxnSpPr>
        <p:spPr bwMode="auto">
          <a:xfrm rot="5400000">
            <a:off x="5092033" y="1719377"/>
            <a:ext cx="275622" cy="130765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4" name="꺾인 연결선 103"/>
          <p:cNvCxnSpPr>
            <a:stCxn id="71" idx="2"/>
            <a:endCxn id="95" idx="0"/>
          </p:cNvCxnSpPr>
          <p:nvPr/>
        </p:nvCxnSpPr>
        <p:spPr bwMode="auto">
          <a:xfrm rot="16200000" flipH="1">
            <a:off x="5748323" y="2370740"/>
            <a:ext cx="275622" cy="492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7" name="꺾인 연결선 106"/>
          <p:cNvCxnSpPr>
            <a:stCxn id="71" idx="2"/>
            <a:endCxn id="96" idx="0"/>
          </p:cNvCxnSpPr>
          <p:nvPr/>
        </p:nvCxnSpPr>
        <p:spPr bwMode="auto">
          <a:xfrm rot="16200000" flipH="1">
            <a:off x="6403393" y="1715671"/>
            <a:ext cx="275622" cy="131506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10" name="꺾인 연결선 91"/>
          <p:cNvCxnSpPr/>
          <p:nvPr/>
        </p:nvCxnSpPr>
        <p:spPr bwMode="auto">
          <a:xfrm>
            <a:off x="7198737" y="2910389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꺾인 연결선 91"/>
          <p:cNvCxnSpPr>
            <a:stCxn id="97" idx="2"/>
            <a:endCxn id="64" idx="0"/>
          </p:cNvCxnSpPr>
          <p:nvPr/>
        </p:nvCxnSpPr>
        <p:spPr bwMode="auto">
          <a:xfrm>
            <a:off x="7198737" y="3673636"/>
            <a:ext cx="5732" cy="70034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2" name="Rectangle 43"/>
          <p:cNvSpPr>
            <a:spLocks noChangeArrowheads="1"/>
          </p:cNvSpPr>
          <p:nvPr/>
        </p:nvSpPr>
        <p:spPr bwMode="auto">
          <a:xfrm>
            <a:off x="5265756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3.2.2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역량목록관리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3" name="Rectangle 43"/>
          <p:cNvSpPr>
            <a:spLocks noChangeArrowheads="1"/>
          </p:cNvSpPr>
          <p:nvPr/>
        </p:nvSpPr>
        <p:spPr bwMode="auto">
          <a:xfrm>
            <a:off x="5265756" y="3823667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3.2.2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역량모델관리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6" name="꺾인 연결선 91"/>
          <p:cNvCxnSpPr/>
          <p:nvPr/>
        </p:nvCxnSpPr>
        <p:spPr bwMode="auto">
          <a:xfrm>
            <a:off x="5876890" y="2911707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꺾인 연결선 91"/>
          <p:cNvCxnSpPr/>
          <p:nvPr/>
        </p:nvCxnSpPr>
        <p:spPr bwMode="auto">
          <a:xfrm>
            <a:off x="5876890" y="3682345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0" name="Rectangle 43"/>
          <p:cNvSpPr>
            <a:spLocks noChangeArrowheads="1"/>
          </p:cNvSpPr>
          <p:nvPr/>
        </p:nvSpPr>
        <p:spPr bwMode="auto">
          <a:xfrm>
            <a:off x="3952722" y="325089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3.2.1.1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직무체계관리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1" name="Rectangle 43"/>
          <p:cNvSpPr>
            <a:spLocks noChangeArrowheads="1"/>
          </p:cNvSpPr>
          <p:nvPr/>
        </p:nvSpPr>
        <p:spPr bwMode="auto">
          <a:xfrm>
            <a:off x="3952722" y="3814958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3.2.1.1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직무매핑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4" name="꺾인 연결선 91"/>
          <p:cNvCxnSpPr/>
          <p:nvPr/>
        </p:nvCxnSpPr>
        <p:spPr bwMode="auto">
          <a:xfrm>
            <a:off x="4563856" y="2902998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5" name="꺾인 연결선 91"/>
          <p:cNvCxnSpPr/>
          <p:nvPr/>
        </p:nvCxnSpPr>
        <p:spPr bwMode="auto">
          <a:xfrm>
            <a:off x="4563856" y="3673636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1" name="꺾인 연결선 91"/>
          <p:cNvCxnSpPr/>
          <p:nvPr/>
        </p:nvCxnSpPr>
        <p:spPr bwMode="auto">
          <a:xfrm>
            <a:off x="1881886" y="3565427"/>
            <a:ext cx="0" cy="244658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8" name="Rectangle 43"/>
          <p:cNvSpPr>
            <a:spLocks noChangeArrowheads="1"/>
          </p:cNvSpPr>
          <p:nvPr/>
        </p:nvSpPr>
        <p:spPr bwMode="auto">
          <a:xfrm>
            <a:off x="1269886" y="325089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3.1.7.1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근태기준관리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Rectangle 43"/>
          <p:cNvSpPr>
            <a:spLocks noChangeArrowheads="1"/>
          </p:cNvSpPr>
          <p:nvPr/>
        </p:nvSpPr>
        <p:spPr bwMode="auto">
          <a:xfrm>
            <a:off x="1269886" y="364370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3.1.7.2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30" dirty="0">
                <a:latin typeface="맑은 고딕" pitchFamily="50" charset="-127"/>
                <a:ea typeface="맑은 고딕" pitchFamily="50" charset="-127"/>
              </a:rPr>
              <a:t>휴가관리</a:t>
            </a:r>
          </a:p>
        </p:txBody>
      </p:sp>
      <p:sp>
        <p:nvSpPr>
          <p:cNvPr id="74" name="Rectangle 43"/>
          <p:cNvSpPr>
            <a:spLocks noChangeArrowheads="1"/>
          </p:cNvSpPr>
          <p:nvPr/>
        </p:nvSpPr>
        <p:spPr bwMode="auto">
          <a:xfrm>
            <a:off x="1269886" y="403651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3.1.7.3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30" dirty="0">
                <a:latin typeface="맑은 고딕" pitchFamily="50" charset="-127"/>
                <a:ea typeface="맑은 고딕" pitchFamily="50" charset="-127"/>
              </a:rPr>
              <a:t>일근태관리</a:t>
            </a:r>
          </a:p>
        </p:txBody>
      </p:sp>
      <p:sp>
        <p:nvSpPr>
          <p:cNvPr id="75" name="Rectangle 43"/>
          <p:cNvSpPr>
            <a:spLocks noChangeArrowheads="1"/>
          </p:cNvSpPr>
          <p:nvPr/>
        </p:nvSpPr>
        <p:spPr bwMode="auto">
          <a:xfrm>
            <a:off x="1269886" y="442932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3.1.7.4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단시간근무관리</a:t>
            </a:r>
          </a:p>
        </p:txBody>
      </p:sp>
      <p:sp>
        <p:nvSpPr>
          <p:cNvPr id="77" name="Rectangle 43"/>
          <p:cNvSpPr>
            <a:spLocks noChangeArrowheads="1"/>
          </p:cNvSpPr>
          <p:nvPr/>
        </p:nvSpPr>
        <p:spPr bwMode="auto">
          <a:xfrm>
            <a:off x="1269886" y="482213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3.1.7.5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스마트근무관리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Rectangle 43"/>
          <p:cNvSpPr>
            <a:spLocks noChangeArrowheads="1"/>
          </p:cNvSpPr>
          <p:nvPr/>
        </p:nvSpPr>
        <p:spPr bwMode="auto">
          <a:xfrm>
            <a:off x="1269886" y="521494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3.1.7.6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출장관리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Rectangle 43"/>
          <p:cNvSpPr>
            <a:spLocks noChangeArrowheads="1"/>
          </p:cNvSpPr>
          <p:nvPr/>
        </p:nvSpPr>
        <p:spPr bwMode="auto">
          <a:xfrm>
            <a:off x="1269886" y="5607755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3.1.7.7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근무스케줄관리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1" name="Rectangle 43"/>
          <p:cNvSpPr>
            <a:spLocks noChangeArrowheads="1"/>
          </p:cNvSpPr>
          <p:nvPr/>
        </p:nvSpPr>
        <p:spPr bwMode="auto">
          <a:xfrm>
            <a:off x="1269886" y="6000564"/>
            <a:ext cx="1224000" cy="360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3.1.7.8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겸직관리</a:t>
            </a:r>
          </a:p>
        </p:txBody>
      </p:sp>
      <p:sp>
        <p:nvSpPr>
          <p:cNvPr id="64" name="Rectangle 43"/>
          <p:cNvSpPr>
            <a:spLocks noChangeArrowheads="1"/>
          </p:cNvSpPr>
          <p:nvPr/>
        </p:nvSpPr>
        <p:spPr bwMode="auto">
          <a:xfrm>
            <a:off x="6593335" y="4373982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3.2.3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경력개발관리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Rectangle 43"/>
          <p:cNvSpPr>
            <a:spLocks noChangeArrowheads="1"/>
          </p:cNvSpPr>
          <p:nvPr/>
        </p:nvSpPr>
        <p:spPr bwMode="auto">
          <a:xfrm>
            <a:off x="6587603" y="3822349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3.2.3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자기수준진단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Rectangle 43"/>
          <p:cNvSpPr>
            <a:spLocks noChangeArrowheads="1"/>
          </p:cNvSpPr>
          <p:nvPr/>
        </p:nvSpPr>
        <p:spPr bwMode="auto">
          <a:xfrm>
            <a:off x="7955788" y="1842137"/>
            <a:ext cx="1245684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3.3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평가관리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Rectangle 43"/>
          <p:cNvSpPr>
            <a:spLocks noChangeArrowheads="1"/>
          </p:cNvSpPr>
          <p:nvPr/>
        </p:nvSpPr>
        <p:spPr bwMode="auto">
          <a:xfrm>
            <a:off x="7955788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3.3.1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역량평가관리</a:t>
            </a:r>
          </a:p>
        </p:txBody>
      </p:sp>
      <p:cxnSp>
        <p:nvCxnSpPr>
          <p:cNvPr id="84" name="꺾인 연결선 83"/>
          <p:cNvCxnSpPr>
            <a:stCxn id="72" idx="2"/>
            <a:endCxn id="82" idx="0"/>
          </p:cNvCxnSpPr>
          <p:nvPr/>
        </p:nvCxnSpPr>
        <p:spPr bwMode="auto">
          <a:xfrm>
            <a:off x="8578630" y="2240225"/>
            <a:ext cx="0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91" name="꺾인 연결선 91"/>
          <p:cNvCxnSpPr>
            <a:stCxn id="82" idx="2"/>
            <a:endCxn id="102" idx="0"/>
          </p:cNvCxnSpPr>
          <p:nvPr/>
        </p:nvCxnSpPr>
        <p:spPr bwMode="auto">
          <a:xfrm flipH="1">
            <a:off x="8566922" y="2910389"/>
            <a:ext cx="11708" cy="204008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43"/>
          <p:cNvSpPr>
            <a:spLocks noChangeArrowheads="1"/>
          </p:cNvSpPr>
          <p:nvPr/>
        </p:nvSpPr>
        <p:spPr bwMode="auto">
          <a:xfrm>
            <a:off x="7955788" y="3258287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3.3.1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평가기준관리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9" name="Rectangle 43"/>
          <p:cNvSpPr>
            <a:spLocks noChangeArrowheads="1"/>
          </p:cNvSpPr>
          <p:nvPr/>
        </p:nvSpPr>
        <p:spPr bwMode="auto">
          <a:xfrm>
            <a:off x="7955788" y="3822349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3.3.1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평가사전준비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Rectangle 43"/>
          <p:cNvSpPr>
            <a:spLocks noChangeArrowheads="1"/>
          </p:cNvSpPr>
          <p:nvPr/>
        </p:nvSpPr>
        <p:spPr bwMode="auto">
          <a:xfrm>
            <a:off x="7955788" y="4386412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3.3.1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평가시행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" name="Rectangle 43"/>
          <p:cNvSpPr>
            <a:spLocks noChangeArrowheads="1"/>
          </p:cNvSpPr>
          <p:nvPr/>
        </p:nvSpPr>
        <p:spPr bwMode="auto">
          <a:xfrm>
            <a:off x="7955788" y="495047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3.3.1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평가결과관리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9943524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평가관리는 역량평가</a:t>
            </a:r>
            <a:r>
              <a:rPr lang="en-US" altLang="ko-KR" sz="1600" dirty="0"/>
              <a:t>, </a:t>
            </a:r>
            <a:r>
              <a:rPr lang="ko-KR" altLang="en-US" sz="1600" dirty="0"/>
              <a:t>성과급관리 총 </a:t>
            </a:r>
            <a:r>
              <a:rPr lang="en-US" altLang="ko-KR" sz="1600" dirty="0"/>
              <a:t>2</a:t>
            </a:r>
            <a:r>
              <a:rPr lang="ko-KR" altLang="en-US" sz="1600" dirty="0"/>
              <a:t>개</a:t>
            </a:r>
            <a:r>
              <a:rPr lang="en-US" altLang="ko-KR" sz="1600" dirty="0"/>
              <a:t>, </a:t>
            </a:r>
            <a:r>
              <a:rPr lang="ko-KR" altLang="en-US" sz="1600" dirty="0"/>
              <a:t>교육관리는 교육과정관리</a:t>
            </a:r>
            <a:r>
              <a:rPr lang="en-US" altLang="ko-KR" sz="1600" dirty="0"/>
              <a:t>, </a:t>
            </a:r>
            <a:r>
              <a:rPr lang="ko-KR" altLang="en-US" sz="1600" dirty="0"/>
              <a:t>교육신청결과관리 총 </a:t>
            </a:r>
            <a:r>
              <a:rPr lang="en-US" altLang="ko-KR" sz="1600" dirty="0"/>
              <a:t>2</a:t>
            </a:r>
            <a:r>
              <a:rPr lang="ko-KR" altLang="en-US" sz="1600" dirty="0"/>
              <a:t>개의 </a:t>
            </a:r>
            <a:r>
              <a:rPr lang="en-US" altLang="ko-KR" sz="1600" dirty="0"/>
              <a:t>Sub Process</a:t>
            </a:r>
            <a:r>
              <a:rPr lang="ko-KR" altLang="en-US" sz="1600" dirty="0"/>
              <a:t>로 구성됨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(3/16)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354519" y="1412776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5" name="Rectangle 4"/>
          <p:cNvSpPr>
            <a:spLocks noChangeArrowheads="1"/>
          </p:cNvSpPr>
          <p:nvPr/>
        </p:nvSpPr>
        <p:spPr bwMode="auto">
          <a:xfrm>
            <a:off x="354519" y="1736812"/>
            <a:ext cx="9170481" cy="4644516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82181" y="1842137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Level2</a:t>
            </a:r>
          </a:p>
        </p:txBody>
      </p:sp>
      <p:sp>
        <p:nvSpPr>
          <p:cNvPr id="53" name="Rectangle 43"/>
          <p:cNvSpPr>
            <a:spLocks noChangeArrowheads="1"/>
          </p:cNvSpPr>
          <p:nvPr/>
        </p:nvSpPr>
        <p:spPr bwMode="auto">
          <a:xfrm>
            <a:off x="482181" y="2337750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Level3</a:t>
            </a:r>
          </a:p>
        </p:txBody>
      </p:sp>
      <p:sp>
        <p:nvSpPr>
          <p:cNvPr id="54" name="Rectangle 43"/>
          <p:cNvSpPr>
            <a:spLocks noChangeArrowheads="1"/>
          </p:cNvSpPr>
          <p:nvPr/>
        </p:nvSpPr>
        <p:spPr bwMode="auto">
          <a:xfrm>
            <a:off x="482181" y="3114271"/>
            <a:ext cx="566033" cy="3183279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Level4</a:t>
            </a:r>
          </a:p>
        </p:txBody>
      </p:sp>
      <p:sp>
        <p:nvSpPr>
          <p:cNvPr id="95" name="Rectangle 43"/>
          <p:cNvSpPr>
            <a:spLocks noChangeArrowheads="1"/>
          </p:cNvSpPr>
          <p:nvPr/>
        </p:nvSpPr>
        <p:spPr bwMode="auto">
          <a:xfrm>
            <a:off x="2639824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3.4.1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교육과정관리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6" name="Rectangle 43"/>
          <p:cNvSpPr>
            <a:spLocks noChangeArrowheads="1"/>
          </p:cNvSpPr>
          <p:nvPr/>
        </p:nvSpPr>
        <p:spPr bwMode="auto">
          <a:xfrm>
            <a:off x="3946923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3.4.2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교육신청결과관리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4" name="꺾인 연결선 103"/>
          <p:cNvCxnSpPr>
            <a:stCxn id="86" idx="2"/>
            <a:endCxn id="95" idx="0"/>
          </p:cNvCxnSpPr>
          <p:nvPr/>
        </p:nvCxnSpPr>
        <p:spPr bwMode="auto">
          <a:xfrm rot="5400000">
            <a:off x="3451548" y="2046512"/>
            <a:ext cx="275622" cy="65338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07" name="꺾인 연결선 106"/>
          <p:cNvCxnSpPr>
            <a:stCxn id="86" idx="2"/>
            <a:endCxn id="96" idx="0"/>
          </p:cNvCxnSpPr>
          <p:nvPr/>
        </p:nvCxnSpPr>
        <p:spPr bwMode="auto">
          <a:xfrm rot="16200000" flipH="1">
            <a:off x="4105097" y="2046347"/>
            <a:ext cx="275622" cy="65371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22" name="Rectangle 43"/>
          <p:cNvSpPr>
            <a:spLocks noChangeArrowheads="1"/>
          </p:cNvSpPr>
          <p:nvPr/>
        </p:nvSpPr>
        <p:spPr bwMode="auto">
          <a:xfrm>
            <a:off x="2639824" y="3259604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3.4.1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20" dirty="0">
                <a:latin typeface="맑은 고딕" pitchFamily="50" charset="-127"/>
                <a:ea typeface="맑은 고딕" pitchFamily="50" charset="-127"/>
              </a:rPr>
              <a:t>교육훈련과정개발</a:t>
            </a:r>
            <a:endParaRPr lang="en-US" altLang="ko-KR" sz="1100" b="1" kern="0" spc="-12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3" name="Rectangle 43"/>
          <p:cNvSpPr>
            <a:spLocks noChangeArrowheads="1"/>
          </p:cNvSpPr>
          <p:nvPr/>
        </p:nvSpPr>
        <p:spPr bwMode="auto">
          <a:xfrm>
            <a:off x="2639824" y="3823667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3.4.1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교육계획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6" name="꺾인 연결선 91"/>
          <p:cNvCxnSpPr/>
          <p:nvPr/>
        </p:nvCxnSpPr>
        <p:spPr bwMode="auto">
          <a:xfrm>
            <a:off x="3250958" y="2911707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꺾인 연결선 91"/>
          <p:cNvCxnSpPr/>
          <p:nvPr/>
        </p:nvCxnSpPr>
        <p:spPr bwMode="auto">
          <a:xfrm>
            <a:off x="3250958" y="3682345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6" name="Rectangle 43"/>
          <p:cNvSpPr>
            <a:spLocks noChangeArrowheads="1"/>
          </p:cNvSpPr>
          <p:nvPr/>
        </p:nvSpPr>
        <p:spPr bwMode="auto">
          <a:xfrm>
            <a:off x="2637702" y="1837305"/>
            <a:ext cx="2556698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3.4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교육관리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Rectangle 43"/>
          <p:cNvSpPr>
            <a:spLocks noChangeArrowheads="1"/>
          </p:cNvSpPr>
          <p:nvPr/>
        </p:nvSpPr>
        <p:spPr bwMode="auto">
          <a:xfrm>
            <a:off x="1251424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3.3.2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성과급관리</a:t>
            </a:r>
          </a:p>
        </p:txBody>
      </p:sp>
      <p:cxnSp>
        <p:nvCxnSpPr>
          <p:cNvPr id="62" name="꺾인 연결선 61"/>
          <p:cNvCxnSpPr>
            <a:stCxn id="67" idx="2"/>
            <a:endCxn id="59" idx="0"/>
          </p:cNvCxnSpPr>
          <p:nvPr/>
        </p:nvCxnSpPr>
        <p:spPr bwMode="auto">
          <a:xfrm>
            <a:off x="1874266" y="2240225"/>
            <a:ext cx="0" cy="2707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65" name="Rectangle 43"/>
          <p:cNvSpPr>
            <a:spLocks noChangeArrowheads="1"/>
          </p:cNvSpPr>
          <p:nvPr/>
        </p:nvSpPr>
        <p:spPr bwMode="auto">
          <a:xfrm>
            <a:off x="1251424" y="3258286"/>
            <a:ext cx="1245600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3.3.2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성과급관리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꺾인 연결선 91"/>
          <p:cNvCxnSpPr>
            <a:stCxn id="59" idx="2"/>
            <a:endCxn id="65" idx="0"/>
          </p:cNvCxnSpPr>
          <p:nvPr/>
        </p:nvCxnSpPr>
        <p:spPr bwMode="auto">
          <a:xfrm flipH="1">
            <a:off x="1874224" y="2910389"/>
            <a:ext cx="42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/>
          <p:cNvSpPr>
            <a:spLocks noChangeArrowheads="1"/>
          </p:cNvSpPr>
          <p:nvPr/>
        </p:nvSpPr>
        <p:spPr bwMode="auto">
          <a:xfrm>
            <a:off x="5349328" y="1837305"/>
            <a:ext cx="4032164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3.5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보상관리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Rectangle 43"/>
          <p:cNvSpPr>
            <a:spLocks noChangeArrowheads="1"/>
          </p:cNvSpPr>
          <p:nvPr/>
        </p:nvSpPr>
        <p:spPr bwMode="auto">
          <a:xfrm>
            <a:off x="5362359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급여관리</a:t>
            </a:r>
          </a:p>
        </p:txBody>
      </p:sp>
      <p:sp>
        <p:nvSpPr>
          <p:cNvPr id="78" name="Rectangle 43"/>
          <p:cNvSpPr>
            <a:spLocks noChangeArrowheads="1"/>
          </p:cNvSpPr>
          <p:nvPr/>
        </p:nvSpPr>
        <p:spPr bwMode="auto">
          <a:xfrm>
            <a:off x="6737960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현물관리</a:t>
            </a:r>
          </a:p>
        </p:txBody>
      </p:sp>
      <p:cxnSp>
        <p:nvCxnSpPr>
          <p:cNvPr id="80" name="꺾인 연결선 79"/>
          <p:cNvCxnSpPr>
            <a:stCxn id="66" idx="2"/>
            <a:endCxn id="75" idx="0"/>
          </p:cNvCxnSpPr>
          <p:nvPr/>
        </p:nvCxnSpPr>
        <p:spPr bwMode="auto">
          <a:xfrm rot="5400000">
            <a:off x="6537495" y="1683100"/>
            <a:ext cx="275622" cy="138020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81" name="꺾인 연결선 80"/>
          <p:cNvCxnSpPr>
            <a:stCxn id="66" idx="2"/>
            <a:endCxn id="78" idx="0"/>
          </p:cNvCxnSpPr>
          <p:nvPr/>
        </p:nvCxnSpPr>
        <p:spPr bwMode="auto">
          <a:xfrm flipH="1">
            <a:off x="7360802" y="2235393"/>
            <a:ext cx="4608" cy="2756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82" name="Rectangle 43"/>
          <p:cNvSpPr>
            <a:spLocks noChangeArrowheads="1"/>
          </p:cNvSpPr>
          <p:nvPr/>
        </p:nvSpPr>
        <p:spPr bwMode="auto">
          <a:xfrm>
            <a:off x="5374067" y="3258287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급여기초관리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3" name="Rectangle 43"/>
          <p:cNvSpPr>
            <a:spLocks noChangeArrowheads="1"/>
          </p:cNvSpPr>
          <p:nvPr/>
        </p:nvSpPr>
        <p:spPr bwMode="auto">
          <a:xfrm>
            <a:off x="5374067" y="3782084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10" dirty="0">
                <a:latin typeface="맑은 고딕" pitchFamily="50" charset="-127"/>
                <a:ea typeface="맑은 고딕" pitchFamily="50" charset="-127"/>
              </a:rPr>
              <a:t>지급공제기준관리</a:t>
            </a:r>
            <a:endParaRPr lang="en-US" altLang="ko-KR" sz="1100" b="1" kern="0" spc="-11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Rectangle 43"/>
          <p:cNvSpPr>
            <a:spLocks noChangeArrowheads="1"/>
          </p:cNvSpPr>
          <p:nvPr/>
        </p:nvSpPr>
        <p:spPr bwMode="auto">
          <a:xfrm>
            <a:off x="6749668" y="3258286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3.5.2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현물지급관리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1" name="꺾인 연결선 91"/>
          <p:cNvCxnSpPr>
            <a:stCxn id="75" idx="2"/>
            <a:endCxn id="82" idx="0"/>
          </p:cNvCxnSpPr>
          <p:nvPr/>
        </p:nvCxnSpPr>
        <p:spPr bwMode="auto">
          <a:xfrm>
            <a:off x="5985201" y="2910389"/>
            <a:ext cx="0" cy="34789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꺾인 연결선 91"/>
          <p:cNvCxnSpPr>
            <a:stCxn id="78" idx="2"/>
            <a:endCxn id="84" idx="0"/>
          </p:cNvCxnSpPr>
          <p:nvPr/>
        </p:nvCxnSpPr>
        <p:spPr bwMode="auto">
          <a:xfrm>
            <a:off x="7360802" y="2910389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꺾인 연결선 91"/>
          <p:cNvCxnSpPr/>
          <p:nvPr/>
        </p:nvCxnSpPr>
        <p:spPr bwMode="auto">
          <a:xfrm>
            <a:off x="5985201" y="3681028"/>
            <a:ext cx="0" cy="10105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Rectangle 43"/>
          <p:cNvSpPr>
            <a:spLocks noChangeArrowheads="1"/>
          </p:cNvSpPr>
          <p:nvPr/>
        </p:nvSpPr>
        <p:spPr bwMode="auto">
          <a:xfrm>
            <a:off x="5374067" y="4305881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급여지급관리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5" name="꺾인 연결선 91"/>
          <p:cNvCxnSpPr/>
          <p:nvPr/>
        </p:nvCxnSpPr>
        <p:spPr bwMode="auto">
          <a:xfrm>
            <a:off x="5985201" y="4204825"/>
            <a:ext cx="0" cy="10105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꺾인 연결선 91"/>
          <p:cNvCxnSpPr/>
          <p:nvPr/>
        </p:nvCxnSpPr>
        <p:spPr bwMode="auto">
          <a:xfrm>
            <a:off x="5985201" y="4728622"/>
            <a:ext cx="0" cy="10105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7" name="Rectangle 43"/>
          <p:cNvSpPr>
            <a:spLocks noChangeArrowheads="1"/>
          </p:cNvSpPr>
          <p:nvPr/>
        </p:nvSpPr>
        <p:spPr bwMode="auto">
          <a:xfrm>
            <a:off x="5374067" y="4862204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전표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이체관리</a:t>
            </a:r>
          </a:p>
        </p:txBody>
      </p:sp>
      <p:sp>
        <p:nvSpPr>
          <p:cNvPr id="118" name="Rectangle 43"/>
          <p:cNvSpPr>
            <a:spLocks noChangeArrowheads="1"/>
          </p:cNvSpPr>
          <p:nvPr/>
        </p:nvSpPr>
        <p:spPr bwMode="auto">
          <a:xfrm>
            <a:off x="5374067" y="5386001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현황출력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9" name="꺾인 연결선 91"/>
          <p:cNvCxnSpPr/>
          <p:nvPr/>
        </p:nvCxnSpPr>
        <p:spPr bwMode="auto">
          <a:xfrm>
            <a:off x="5985201" y="4761148"/>
            <a:ext cx="0" cy="10105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0" name="꺾인 연결선 91"/>
          <p:cNvCxnSpPr/>
          <p:nvPr/>
        </p:nvCxnSpPr>
        <p:spPr bwMode="auto">
          <a:xfrm>
            <a:off x="5985201" y="5284945"/>
            <a:ext cx="0" cy="10105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1" name="꺾인 연결선 91"/>
          <p:cNvCxnSpPr>
            <a:endCxn id="136" idx="0"/>
          </p:cNvCxnSpPr>
          <p:nvPr/>
        </p:nvCxnSpPr>
        <p:spPr bwMode="auto">
          <a:xfrm>
            <a:off x="4569765" y="3619604"/>
            <a:ext cx="0" cy="196834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4" name="Rectangle 43"/>
          <p:cNvSpPr>
            <a:spLocks noChangeArrowheads="1"/>
          </p:cNvSpPr>
          <p:nvPr/>
        </p:nvSpPr>
        <p:spPr bwMode="auto">
          <a:xfrm>
            <a:off x="3957765" y="3259604"/>
            <a:ext cx="1224000" cy="324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3.4.2.1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교육기초정보관리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>
            <a:off x="3957765" y="3647662"/>
            <a:ext cx="1224000" cy="324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3.4.2.2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30" dirty="0">
                <a:latin typeface="맑은 고딕" pitchFamily="50" charset="-127"/>
                <a:ea typeface="맑은 고딕" pitchFamily="50" charset="-127"/>
              </a:rPr>
              <a:t>자체교육 일괄신청</a:t>
            </a:r>
          </a:p>
        </p:txBody>
      </p:sp>
      <p:sp>
        <p:nvSpPr>
          <p:cNvPr id="129" name="Rectangle 43"/>
          <p:cNvSpPr>
            <a:spLocks noChangeArrowheads="1"/>
          </p:cNvSpPr>
          <p:nvPr/>
        </p:nvSpPr>
        <p:spPr bwMode="auto">
          <a:xfrm>
            <a:off x="3957765" y="4035720"/>
            <a:ext cx="1224000" cy="324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3.4.2.3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30" dirty="0">
                <a:latin typeface="맑은 고딕" pitchFamily="50" charset="-127"/>
                <a:ea typeface="맑은 고딕" pitchFamily="50" charset="-127"/>
              </a:rPr>
              <a:t>자체교육 개별신청</a:t>
            </a:r>
          </a:p>
        </p:txBody>
      </p:sp>
      <p:sp>
        <p:nvSpPr>
          <p:cNvPr id="130" name="Rectangle 43"/>
          <p:cNvSpPr>
            <a:spLocks noChangeArrowheads="1"/>
          </p:cNvSpPr>
          <p:nvPr/>
        </p:nvSpPr>
        <p:spPr bwMode="auto">
          <a:xfrm>
            <a:off x="3957765" y="4423778"/>
            <a:ext cx="1224000" cy="324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3.4.2.4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위탁교육 신청</a:t>
            </a:r>
          </a:p>
        </p:txBody>
      </p:sp>
      <p:sp>
        <p:nvSpPr>
          <p:cNvPr id="131" name="Rectangle 43"/>
          <p:cNvSpPr>
            <a:spLocks noChangeArrowheads="1"/>
          </p:cNvSpPr>
          <p:nvPr/>
        </p:nvSpPr>
        <p:spPr bwMode="auto">
          <a:xfrm>
            <a:off x="3957765" y="4811836"/>
            <a:ext cx="1224000" cy="324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3.4.2.5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교육진행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4" name="꺾인 연결선 91"/>
          <p:cNvCxnSpPr>
            <a:stCxn id="96" idx="2"/>
            <a:endCxn id="124" idx="0"/>
          </p:cNvCxnSpPr>
          <p:nvPr/>
        </p:nvCxnSpPr>
        <p:spPr bwMode="auto">
          <a:xfrm>
            <a:off x="4569765" y="2910389"/>
            <a:ext cx="0" cy="3492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5" name="Rectangle 43"/>
          <p:cNvSpPr>
            <a:spLocks noChangeArrowheads="1"/>
          </p:cNvSpPr>
          <p:nvPr/>
        </p:nvSpPr>
        <p:spPr bwMode="auto">
          <a:xfrm>
            <a:off x="3957765" y="5199894"/>
            <a:ext cx="1224000" cy="324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3.4.2.6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교육결과보고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Rectangle 43"/>
          <p:cNvSpPr>
            <a:spLocks noChangeArrowheads="1"/>
          </p:cNvSpPr>
          <p:nvPr/>
        </p:nvSpPr>
        <p:spPr bwMode="auto">
          <a:xfrm>
            <a:off x="3957765" y="5587952"/>
            <a:ext cx="1224000" cy="324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3.4.2.7</a:t>
            </a:r>
          </a:p>
          <a:p>
            <a:pPr algn="ctr" eaLnBrk="0" fontAlgn="base" latinLnBrk="0" hangingPunct="0">
              <a:lnSpc>
                <a:spcPts val="1200"/>
              </a:lnSpc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교육 취소</a:t>
            </a:r>
          </a:p>
        </p:txBody>
      </p:sp>
      <p:sp>
        <p:nvSpPr>
          <p:cNvPr id="67" name="Rectangle 43"/>
          <p:cNvSpPr>
            <a:spLocks noChangeArrowheads="1"/>
          </p:cNvSpPr>
          <p:nvPr/>
        </p:nvSpPr>
        <p:spPr bwMode="auto">
          <a:xfrm>
            <a:off x="1251424" y="1842137"/>
            <a:ext cx="1245684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3.3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평가관리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9" name="꺾인 연결선 68"/>
          <p:cNvCxnSpPr>
            <a:stCxn id="66" idx="2"/>
            <a:endCxn id="70" idx="0"/>
          </p:cNvCxnSpPr>
          <p:nvPr/>
        </p:nvCxnSpPr>
        <p:spPr bwMode="auto">
          <a:xfrm rot="16200000" flipH="1">
            <a:off x="7916991" y="1683812"/>
            <a:ext cx="275622" cy="137878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70" name="Rectangle 43"/>
          <p:cNvSpPr>
            <a:spLocks noChangeArrowheads="1"/>
          </p:cNvSpPr>
          <p:nvPr/>
        </p:nvSpPr>
        <p:spPr bwMode="auto">
          <a:xfrm>
            <a:off x="8121352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소급관리</a:t>
            </a:r>
          </a:p>
        </p:txBody>
      </p:sp>
      <p:sp>
        <p:nvSpPr>
          <p:cNvPr id="76" name="Rectangle 43"/>
          <p:cNvSpPr>
            <a:spLocks noChangeArrowheads="1"/>
          </p:cNvSpPr>
          <p:nvPr/>
        </p:nvSpPr>
        <p:spPr bwMode="auto">
          <a:xfrm>
            <a:off x="8133060" y="3258286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3.5.3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소급기준관리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Rectangle 43"/>
          <p:cNvSpPr>
            <a:spLocks noChangeArrowheads="1"/>
          </p:cNvSpPr>
          <p:nvPr/>
        </p:nvSpPr>
        <p:spPr bwMode="auto">
          <a:xfrm>
            <a:off x="8133060" y="3822349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3.5.3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소급처리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7" name="꺾인 연결선 91"/>
          <p:cNvCxnSpPr>
            <a:stCxn id="70" idx="2"/>
            <a:endCxn id="76" idx="0"/>
          </p:cNvCxnSpPr>
          <p:nvPr/>
        </p:nvCxnSpPr>
        <p:spPr bwMode="auto">
          <a:xfrm>
            <a:off x="8744194" y="2910389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8" name="꺾인 연결선 91"/>
          <p:cNvCxnSpPr>
            <a:stCxn id="76" idx="2"/>
            <a:endCxn id="85" idx="0"/>
          </p:cNvCxnSpPr>
          <p:nvPr/>
        </p:nvCxnSpPr>
        <p:spPr bwMode="auto">
          <a:xfrm>
            <a:off x="8744194" y="3681027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434271162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4"/>
          <p:cNvSpPr>
            <a:spLocks noChangeArrowheads="1"/>
          </p:cNvSpPr>
          <p:nvPr/>
        </p:nvSpPr>
        <p:spPr bwMode="auto">
          <a:xfrm>
            <a:off x="354519" y="1736812"/>
            <a:ext cx="9170481" cy="4644516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보상관리는 급여관리</a:t>
            </a:r>
            <a:r>
              <a:rPr lang="en-US" altLang="ko-KR" sz="1600" dirty="0"/>
              <a:t>, </a:t>
            </a:r>
            <a:r>
              <a:rPr lang="ko-KR" altLang="en-US" sz="1600" dirty="0"/>
              <a:t>현물관리</a:t>
            </a:r>
            <a:r>
              <a:rPr lang="en-US" altLang="ko-KR" sz="1600" dirty="0"/>
              <a:t>, </a:t>
            </a:r>
            <a:r>
              <a:rPr lang="ko-KR" altLang="en-US" sz="1600" dirty="0"/>
              <a:t>소급관리</a:t>
            </a:r>
            <a:r>
              <a:rPr lang="en-US" altLang="ko-KR" sz="1600" dirty="0"/>
              <a:t>, </a:t>
            </a:r>
            <a:r>
              <a:rPr lang="ko-KR" altLang="en-US" sz="1600" dirty="0"/>
              <a:t>인상시뮬레이션관리</a:t>
            </a:r>
            <a:r>
              <a:rPr lang="en-US" altLang="ko-KR" sz="1600" dirty="0"/>
              <a:t>, </a:t>
            </a:r>
            <a:r>
              <a:rPr lang="ko-KR" altLang="en-US" sz="1600" dirty="0"/>
              <a:t>퇴직금관리</a:t>
            </a:r>
            <a:r>
              <a:rPr lang="en-US" altLang="ko-KR" sz="1600" dirty="0"/>
              <a:t>, </a:t>
            </a:r>
            <a:r>
              <a:rPr lang="ko-KR" altLang="en-US" sz="1600" dirty="0"/>
              <a:t>퇴직연금관리</a:t>
            </a:r>
            <a:r>
              <a:rPr lang="en-US" altLang="ko-KR" sz="1600" dirty="0"/>
              <a:t>, </a:t>
            </a:r>
            <a:r>
              <a:rPr lang="ko-KR" altLang="en-US" sz="1600" dirty="0"/>
              <a:t>연말정산 총 </a:t>
            </a:r>
            <a:r>
              <a:rPr lang="en-US" altLang="ko-KR" sz="1600" dirty="0"/>
              <a:t>7</a:t>
            </a:r>
            <a:r>
              <a:rPr lang="ko-KR" altLang="en-US" sz="1600" dirty="0"/>
              <a:t>개 </a:t>
            </a:r>
            <a:r>
              <a:rPr lang="en-US" altLang="ko-KR" sz="1600" dirty="0"/>
              <a:t>Sub Process</a:t>
            </a:r>
            <a:r>
              <a:rPr lang="ko-KR" altLang="en-US" sz="1600" dirty="0"/>
              <a:t>로 구성됨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(4/16)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354519" y="1412776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/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Rectangle 43"/>
          <p:cNvSpPr>
            <a:spLocks noChangeArrowheads="1"/>
          </p:cNvSpPr>
          <p:nvPr/>
        </p:nvSpPr>
        <p:spPr bwMode="auto">
          <a:xfrm>
            <a:off x="1249882" y="1842137"/>
            <a:ext cx="5287294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3.5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보상관리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82181" y="1842137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Level2</a:t>
            </a:r>
          </a:p>
        </p:txBody>
      </p:sp>
      <p:sp>
        <p:nvSpPr>
          <p:cNvPr id="53" name="Rectangle 43"/>
          <p:cNvSpPr>
            <a:spLocks noChangeArrowheads="1"/>
          </p:cNvSpPr>
          <p:nvPr/>
        </p:nvSpPr>
        <p:spPr bwMode="auto">
          <a:xfrm>
            <a:off x="482181" y="2337750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Level3</a:t>
            </a:r>
          </a:p>
        </p:txBody>
      </p:sp>
      <p:sp>
        <p:nvSpPr>
          <p:cNvPr id="54" name="Rectangle 43"/>
          <p:cNvSpPr>
            <a:spLocks noChangeArrowheads="1"/>
          </p:cNvSpPr>
          <p:nvPr/>
        </p:nvSpPr>
        <p:spPr bwMode="auto">
          <a:xfrm>
            <a:off x="482181" y="3116734"/>
            <a:ext cx="566033" cy="3183279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Level4</a:t>
            </a:r>
          </a:p>
        </p:txBody>
      </p:sp>
      <p:cxnSp>
        <p:nvCxnSpPr>
          <p:cNvPr id="104" name="꺾인 연결선 103"/>
          <p:cNvCxnSpPr>
            <a:stCxn id="56" idx="2"/>
            <a:endCxn id="95" idx="0"/>
          </p:cNvCxnSpPr>
          <p:nvPr/>
        </p:nvCxnSpPr>
        <p:spPr bwMode="auto">
          <a:xfrm rot="5400000">
            <a:off x="2754173" y="1371659"/>
            <a:ext cx="270790" cy="200792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89" name="꺾인 연결선 88"/>
          <p:cNvCxnSpPr>
            <a:stCxn id="56" idx="2"/>
            <a:endCxn id="87" idx="0"/>
          </p:cNvCxnSpPr>
          <p:nvPr/>
        </p:nvCxnSpPr>
        <p:spPr bwMode="auto">
          <a:xfrm rot="16200000" flipH="1">
            <a:off x="4768536" y="1365217"/>
            <a:ext cx="270790" cy="202080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17" name="꺾인 연결선 116"/>
          <p:cNvCxnSpPr>
            <a:stCxn id="56" idx="2"/>
            <a:endCxn id="113" idx="0"/>
          </p:cNvCxnSpPr>
          <p:nvPr/>
        </p:nvCxnSpPr>
        <p:spPr bwMode="auto">
          <a:xfrm rot="5400000">
            <a:off x="3428045" y="2045531"/>
            <a:ext cx="270790" cy="66017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87" name="Rectangle 43"/>
          <p:cNvSpPr>
            <a:spLocks noChangeArrowheads="1"/>
          </p:cNvSpPr>
          <p:nvPr/>
        </p:nvSpPr>
        <p:spPr bwMode="auto">
          <a:xfrm>
            <a:off x="5291492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3.5.7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인상시뮬레이션관리</a:t>
            </a:r>
          </a:p>
        </p:txBody>
      </p:sp>
      <p:sp>
        <p:nvSpPr>
          <p:cNvPr id="90" name="Rectangle 43"/>
          <p:cNvSpPr>
            <a:spLocks noChangeArrowheads="1"/>
          </p:cNvSpPr>
          <p:nvPr/>
        </p:nvSpPr>
        <p:spPr bwMode="auto">
          <a:xfrm>
            <a:off x="5303200" y="3258286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3.5.7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70" dirty="0">
                <a:latin typeface="맑은 고딕" pitchFamily="50" charset="-127"/>
                <a:ea typeface="맑은 고딕" pitchFamily="50" charset="-127"/>
              </a:rPr>
              <a:t>시뮬레이션기준관리</a:t>
            </a:r>
            <a:endParaRPr lang="en-US" altLang="ko-KR" sz="1100" b="1" kern="0" spc="-17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2" name="Rectangle 43"/>
          <p:cNvSpPr>
            <a:spLocks noChangeArrowheads="1"/>
          </p:cNvSpPr>
          <p:nvPr/>
        </p:nvSpPr>
        <p:spPr bwMode="auto">
          <a:xfrm>
            <a:off x="5303200" y="3822349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3.5.7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시뮬레이션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2" name="꺾인 연결선 91"/>
          <p:cNvCxnSpPr>
            <a:stCxn id="87" idx="2"/>
            <a:endCxn id="90" idx="0"/>
          </p:cNvCxnSpPr>
          <p:nvPr/>
        </p:nvCxnSpPr>
        <p:spPr bwMode="auto">
          <a:xfrm>
            <a:off x="5914334" y="2910389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꺾인 연결선 91"/>
          <p:cNvCxnSpPr>
            <a:stCxn id="90" idx="2"/>
            <a:endCxn id="92" idx="0"/>
          </p:cNvCxnSpPr>
          <p:nvPr/>
        </p:nvCxnSpPr>
        <p:spPr bwMode="auto">
          <a:xfrm>
            <a:off x="5914334" y="3681027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9" name="꺾인 연결선 68"/>
          <p:cNvCxnSpPr>
            <a:stCxn id="56" idx="2"/>
            <a:endCxn id="66" idx="0"/>
          </p:cNvCxnSpPr>
          <p:nvPr/>
        </p:nvCxnSpPr>
        <p:spPr bwMode="auto">
          <a:xfrm rot="16200000" flipH="1">
            <a:off x="4106371" y="2027382"/>
            <a:ext cx="270790" cy="69647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95" name="Rectangle 43"/>
          <p:cNvSpPr>
            <a:spLocks noChangeArrowheads="1"/>
          </p:cNvSpPr>
          <p:nvPr/>
        </p:nvSpPr>
        <p:spPr bwMode="auto">
          <a:xfrm>
            <a:off x="1262764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3.5.4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퇴직금관리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2" name="Rectangle 43"/>
          <p:cNvSpPr>
            <a:spLocks noChangeArrowheads="1"/>
          </p:cNvSpPr>
          <p:nvPr/>
        </p:nvSpPr>
        <p:spPr bwMode="auto">
          <a:xfrm>
            <a:off x="1274472" y="3259604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3.5.4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퇴직금기준관리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3" name="Rectangle 43"/>
          <p:cNvSpPr>
            <a:spLocks noChangeArrowheads="1"/>
          </p:cNvSpPr>
          <p:nvPr/>
        </p:nvSpPr>
        <p:spPr bwMode="auto">
          <a:xfrm>
            <a:off x="1274472" y="3823667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3.5.4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퇴직정산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6" name="꺾인 연결선 91"/>
          <p:cNvCxnSpPr>
            <a:stCxn id="95" idx="2"/>
            <a:endCxn id="122" idx="0"/>
          </p:cNvCxnSpPr>
          <p:nvPr/>
        </p:nvCxnSpPr>
        <p:spPr bwMode="auto">
          <a:xfrm>
            <a:off x="1885606" y="2910389"/>
            <a:ext cx="0" cy="34921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꺾인 연결선 91"/>
          <p:cNvCxnSpPr/>
          <p:nvPr/>
        </p:nvCxnSpPr>
        <p:spPr bwMode="auto">
          <a:xfrm>
            <a:off x="1885232" y="3682345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Rectangle 43"/>
          <p:cNvSpPr>
            <a:spLocks noChangeArrowheads="1"/>
          </p:cNvSpPr>
          <p:nvPr/>
        </p:nvSpPr>
        <p:spPr bwMode="auto">
          <a:xfrm>
            <a:off x="2610508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3.5.5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퇴직연금관리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4" name="Rectangle 43"/>
          <p:cNvSpPr>
            <a:spLocks noChangeArrowheads="1"/>
          </p:cNvSpPr>
          <p:nvPr/>
        </p:nvSpPr>
        <p:spPr bwMode="auto">
          <a:xfrm>
            <a:off x="2622216" y="3258286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3.5.5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퇴직연금변경신청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Rectangle 43"/>
          <p:cNvSpPr>
            <a:spLocks noChangeArrowheads="1"/>
          </p:cNvSpPr>
          <p:nvPr/>
        </p:nvSpPr>
        <p:spPr bwMode="auto">
          <a:xfrm>
            <a:off x="2622216" y="3822349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3.5.5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퇴직연금처리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8" name="꺾인 연결선 91"/>
          <p:cNvCxnSpPr/>
          <p:nvPr/>
        </p:nvCxnSpPr>
        <p:spPr bwMode="auto">
          <a:xfrm>
            <a:off x="3233350" y="2910389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꺾인 연결선 91"/>
          <p:cNvCxnSpPr/>
          <p:nvPr/>
        </p:nvCxnSpPr>
        <p:spPr bwMode="auto">
          <a:xfrm>
            <a:off x="3233350" y="3681027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/>
          <p:cNvSpPr>
            <a:spLocks noChangeArrowheads="1"/>
          </p:cNvSpPr>
          <p:nvPr/>
        </p:nvSpPr>
        <p:spPr bwMode="auto">
          <a:xfrm>
            <a:off x="3967162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3.5.6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연말정산관리</a:t>
            </a:r>
          </a:p>
        </p:txBody>
      </p:sp>
      <p:sp>
        <p:nvSpPr>
          <p:cNvPr id="70" name="Rectangle 43"/>
          <p:cNvSpPr>
            <a:spLocks noChangeArrowheads="1"/>
          </p:cNvSpPr>
          <p:nvPr/>
        </p:nvSpPr>
        <p:spPr bwMode="auto">
          <a:xfrm>
            <a:off x="3978870" y="3258286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0" tIns="36000" rIns="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3.5.6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40" dirty="0">
                <a:latin typeface="맑은 고딕" pitchFamily="50" charset="-127"/>
                <a:ea typeface="맑은 고딕" pitchFamily="50" charset="-127"/>
              </a:rPr>
              <a:t>연말정산소득공제신청</a:t>
            </a:r>
            <a:endParaRPr lang="en-US" altLang="ko-KR" sz="1100" b="1" kern="0" spc="-14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3978870" y="3822349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3.5.6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10" dirty="0">
                <a:latin typeface="맑은 고딕" pitchFamily="50" charset="-127"/>
                <a:ea typeface="맑은 고딕" pitchFamily="50" charset="-127"/>
              </a:rPr>
              <a:t>연말정산처리</a:t>
            </a:r>
            <a:endParaRPr lang="en-US" altLang="ko-KR" sz="1100" b="1" kern="0" spc="-11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0" name="꺾인 연결선 91"/>
          <p:cNvCxnSpPr/>
          <p:nvPr/>
        </p:nvCxnSpPr>
        <p:spPr bwMode="auto">
          <a:xfrm>
            <a:off x="4590004" y="2910389"/>
            <a:ext cx="0" cy="34789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꺾인 연결선 91"/>
          <p:cNvCxnSpPr>
            <a:endCxn id="71" idx="0"/>
          </p:cNvCxnSpPr>
          <p:nvPr/>
        </p:nvCxnSpPr>
        <p:spPr bwMode="auto">
          <a:xfrm>
            <a:off x="4590004" y="3681028"/>
            <a:ext cx="0" cy="141321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7" name="Rectangle 43"/>
          <p:cNvSpPr>
            <a:spLocks noChangeArrowheads="1"/>
          </p:cNvSpPr>
          <p:nvPr/>
        </p:nvSpPr>
        <p:spPr bwMode="auto">
          <a:xfrm>
            <a:off x="6695648" y="1837305"/>
            <a:ext cx="261383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3.6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복리후생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8" name="Rectangle 43"/>
          <p:cNvSpPr>
            <a:spLocks noChangeArrowheads="1"/>
          </p:cNvSpPr>
          <p:nvPr/>
        </p:nvSpPr>
        <p:spPr bwMode="auto">
          <a:xfrm>
            <a:off x="6695648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사회보험관리</a:t>
            </a:r>
            <a:endParaRPr lang="en-US" altLang="ko-KR" sz="1100" b="1" kern="0" spc="-15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9" name="Rectangle 43"/>
          <p:cNvSpPr>
            <a:spLocks noChangeArrowheads="1"/>
          </p:cNvSpPr>
          <p:nvPr/>
        </p:nvSpPr>
        <p:spPr bwMode="auto">
          <a:xfrm>
            <a:off x="6707356" y="3258286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취득신고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0" name="Rectangle 43"/>
          <p:cNvSpPr>
            <a:spLocks noChangeArrowheads="1"/>
          </p:cNvSpPr>
          <p:nvPr/>
        </p:nvSpPr>
        <p:spPr bwMode="auto">
          <a:xfrm>
            <a:off x="6707356" y="3822349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변동신고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1" name="Rectangle 43"/>
          <p:cNvSpPr>
            <a:spLocks noChangeArrowheads="1"/>
          </p:cNvSpPr>
          <p:nvPr/>
        </p:nvSpPr>
        <p:spPr bwMode="auto">
          <a:xfrm>
            <a:off x="6707356" y="4386412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보수총액신고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6" name="꺾인 연결선 91"/>
          <p:cNvCxnSpPr>
            <a:stCxn id="107" idx="2"/>
            <a:endCxn id="108" idx="0"/>
          </p:cNvCxnSpPr>
          <p:nvPr/>
        </p:nvCxnSpPr>
        <p:spPr bwMode="auto">
          <a:xfrm rot="5400000">
            <a:off x="7522717" y="2031166"/>
            <a:ext cx="275622" cy="68407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0" name="꺾인 연결선 91"/>
          <p:cNvCxnSpPr>
            <a:stCxn id="110" idx="0"/>
            <a:endCxn id="109" idx="2"/>
          </p:cNvCxnSpPr>
          <p:nvPr/>
        </p:nvCxnSpPr>
        <p:spPr bwMode="auto">
          <a:xfrm flipV="1">
            <a:off x="7318490" y="3681027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1" name="꺾인 연결선 91"/>
          <p:cNvCxnSpPr>
            <a:stCxn id="110" idx="2"/>
            <a:endCxn id="111" idx="0"/>
          </p:cNvCxnSpPr>
          <p:nvPr/>
        </p:nvCxnSpPr>
        <p:spPr bwMode="auto">
          <a:xfrm>
            <a:off x="7318490" y="4245090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5" name="꺾인 연결선 91"/>
          <p:cNvCxnSpPr>
            <a:stCxn id="108" idx="2"/>
            <a:endCxn id="109" idx="0"/>
          </p:cNvCxnSpPr>
          <p:nvPr/>
        </p:nvCxnSpPr>
        <p:spPr bwMode="auto">
          <a:xfrm>
            <a:off x="7318490" y="2910389"/>
            <a:ext cx="0" cy="347897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0" name="Rectangle 43"/>
          <p:cNvSpPr>
            <a:spLocks noChangeArrowheads="1"/>
          </p:cNvSpPr>
          <p:nvPr/>
        </p:nvSpPr>
        <p:spPr bwMode="auto">
          <a:xfrm>
            <a:off x="6707356" y="4968422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상실신고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8" name="꺾인 연결선 91"/>
          <p:cNvCxnSpPr>
            <a:stCxn id="50" idx="0"/>
            <a:endCxn id="111" idx="2"/>
          </p:cNvCxnSpPr>
          <p:nvPr/>
        </p:nvCxnSpPr>
        <p:spPr bwMode="auto">
          <a:xfrm flipV="1">
            <a:off x="7318490" y="4809153"/>
            <a:ext cx="0" cy="1592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7" name="꺾인 연결선 56"/>
          <p:cNvCxnSpPr>
            <a:stCxn id="107" idx="2"/>
            <a:endCxn id="59" idx="0"/>
          </p:cNvCxnSpPr>
          <p:nvPr/>
        </p:nvCxnSpPr>
        <p:spPr bwMode="auto">
          <a:xfrm rot="16200000" flipH="1">
            <a:off x="8206793" y="2031166"/>
            <a:ext cx="275622" cy="68407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59" name="Rectangle 43"/>
          <p:cNvSpPr>
            <a:spLocks noChangeArrowheads="1"/>
          </p:cNvSpPr>
          <p:nvPr/>
        </p:nvSpPr>
        <p:spPr bwMode="auto">
          <a:xfrm>
            <a:off x="8063800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경조사관리</a:t>
            </a:r>
            <a:endParaRPr lang="en-US" altLang="ko-KR" sz="1100" b="1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1" name="Rectangle 43"/>
          <p:cNvSpPr>
            <a:spLocks noChangeArrowheads="1"/>
          </p:cNvSpPr>
          <p:nvPr/>
        </p:nvSpPr>
        <p:spPr bwMode="auto">
          <a:xfrm>
            <a:off x="8075508" y="3258287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3.6.2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경조사관리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2" name="꺾인 연결선 91"/>
          <p:cNvCxnSpPr/>
          <p:nvPr/>
        </p:nvCxnSpPr>
        <p:spPr bwMode="auto">
          <a:xfrm>
            <a:off x="8686642" y="2910389"/>
            <a:ext cx="0" cy="34789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120473090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복리후생관리는 사회보험관리</a:t>
            </a:r>
            <a:r>
              <a:rPr lang="en-US" altLang="ko-KR" sz="1600" dirty="0"/>
              <a:t>, </a:t>
            </a:r>
            <a:r>
              <a:rPr lang="ko-KR" altLang="en-US" sz="1600" dirty="0"/>
              <a:t>경조사관리</a:t>
            </a:r>
            <a:r>
              <a:rPr lang="en-US" altLang="ko-KR" sz="1600" dirty="0"/>
              <a:t>, </a:t>
            </a:r>
            <a:r>
              <a:rPr lang="ko-KR" altLang="en-US" sz="1600" dirty="0"/>
              <a:t>중고생자녀학자금관리</a:t>
            </a:r>
            <a:r>
              <a:rPr lang="en-US" altLang="ko-KR" sz="1600" dirty="0"/>
              <a:t>, </a:t>
            </a:r>
            <a:r>
              <a:rPr lang="ko-KR" altLang="en-US" sz="1600" dirty="0"/>
              <a:t>대출금관리</a:t>
            </a:r>
            <a:r>
              <a:rPr lang="en-US" altLang="ko-KR" sz="1600" dirty="0"/>
              <a:t>, </a:t>
            </a:r>
            <a:r>
              <a:rPr lang="ko-KR" altLang="en-US" sz="1600" dirty="0"/>
              <a:t>공제회관리 총 </a:t>
            </a:r>
            <a:r>
              <a:rPr lang="en-US" altLang="ko-KR" sz="1600" dirty="0"/>
              <a:t>5</a:t>
            </a:r>
            <a:r>
              <a:rPr lang="ko-KR" altLang="en-US" sz="1600" dirty="0"/>
              <a:t>개</a:t>
            </a:r>
            <a:r>
              <a:rPr lang="en-US" altLang="ko-KR" sz="1600" dirty="0"/>
              <a:t>, </a:t>
            </a:r>
            <a:r>
              <a:rPr lang="ko-KR" altLang="en-US" sz="1600" dirty="0"/>
              <a:t>시스템관리는 결재관리 총 </a:t>
            </a:r>
            <a:r>
              <a:rPr lang="en-US" altLang="ko-KR" sz="1600" dirty="0"/>
              <a:t>1</a:t>
            </a:r>
            <a:r>
              <a:rPr lang="ko-KR" altLang="en-US" sz="1600" dirty="0"/>
              <a:t>개 </a:t>
            </a:r>
            <a:r>
              <a:rPr lang="en-US" altLang="ko-KR" sz="1600" dirty="0"/>
              <a:t>Sub Process</a:t>
            </a:r>
            <a:r>
              <a:rPr lang="ko-KR" altLang="en-US" sz="1600" dirty="0"/>
              <a:t>로 구성됨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(5/16)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55" name="Rectangle 4"/>
          <p:cNvSpPr>
            <a:spLocks noChangeArrowheads="1"/>
          </p:cNvSpPr>
          <p:nvPr/>
        </p:nvSpPr>
        <p:spPr bwMode="auto">
          <a:xfrm>
            <a:off x="365707" y="1655497"/>
            <a:ext cx="9170481" cy="4644516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82181" y="1842137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Level2</a:t>
            </a:r>
          </a:p>
        </p:txBody>
      </p:sp>
      <p:sp>
        <p:nvSpPr>
          <p:cNvPr id="53" name="Rectangle 43"/>
          <p:cNvSpPr>
            <a:spLocks noChangeArrowheads="1"/>
          </p:cNvSpPr>
          <p:nvPr/>
        </p:nvSpPr>
        <p:spPr bwMode="auto">
          <a:xfrm>
            <a:off x="482181" y="2337750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Level3</a:t>
            </a:r>
          </a:p>
        </p:txBody>
      </p:sp>
      <p:sp>
        <p:nvSpPr>
          <p:cNvPr id="54" name="Rectangle 43"/>
          <p:cNvSpPr>
            <a:spLocks noChangeArrowheads="1"/>
          </p:cNvSpPr>
          <p:nvPr/>
        </p:nvSpPr>
        <p:spPr bwMode="auto">
          <a:xfrm>
            <a:off x="482181" y="3116734"/>
            <a:ext cx="566033" cy="3183279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Level4</a:t>
            </a:r>
          </a:p>
        </p:txBody>
      </p:sp>
      <p:sp>
        <p:nvSpPr>
          <p:cNvPr id="121" name="Rectangle 43"/>
          <p:cNvSpPr>
            <a:spLocks noChangeArrowheads="1"/>
          </p:cNvSpPr>
          <p:nvPr/>
        </p:nvSpPr>
        <p:spPr bwMode="auto">
          <a:xfrm>
            <a:off x="1249882" y="1837305"/>
            <a:ext cx="4181010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3.6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복리후생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6" name="꺾인 연결선 145"/>
          <p:cNvCxnSpPr>
            <a:stCxn id="121" idx="2"/>
            <a:endCxn id="71" idx="0"/>
          </p:cNvCxnSpPr>
          <p:nvPr/>
        </p:nvCxnSpPr>
        <p:spPr bwMode="auto">
          <a:xfrm rot="16200000" flipH="1">
            <a:off x="3204179" y="2371600"/>
            <a:ext cx="275622" cy="320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47" name="꺾인 연결선 146"/>
          <p:cNvCxnSpPr>
            <a:stCxn id="121" idx="2"/>
            <a:endCxn id="69" idx="0"/>
          </p:cNvCxnSpPr>
          <p:nvPr/>
        </p:nvCxnSpPr>
        <p:spPr bwMode="auto">
          <a:xfrm rot="5400000">
            <a:off x="2466098" y="1636726"/>
            <a:ext cx="275622" cy="147295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69" name="Rectangle 43"/>
          <p:cNvSpPr>
            <a:spLocks noChangeArrowheads="1"/>
          </p:cNvSpPr>
          <p:nvPr/>
        </p:nvSpPr>
        <p:spPr bwMode="auto">
          <a:xfrm>
            <a:off x="1244588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0" tIns="36000" rIns="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3.6.3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3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고교생자녀학자금관리</a:t>
            </a:r>
          </a:p>
        </p:txBody>
      </p: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2720752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대출금관리</a:t>
            </a:r>
          </a:p>
        </p:txBody>
      </p:sp>
      <p:sp>
        <p:nvSpPr>
          <p:cNvPr id="99" name="Rectangle 43"/>
          <p:cNvSpPr>
            <a:spLocks noChangeArrowheads="1"/>
          </p:cNvSpPr>
          <p:nvPr/>
        </p:nvSpPr>
        <p:spPr bwMode="auto">
          <a:xfrm>
            <a:off x="1256296" y="3258285"/>
            <a:ext cx="1222268" cy="55658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3.6.3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고교생자녀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학자금관리</a:t>
            </a:r>
          </a:p>
        </p:txBody>
      </p:sp>
      <p:cxnSp>
        <p:nvCxnSpPr>
          <p:cNvPr id="112" name="꺾인 연결선 91"/>
          <p:cNvCxnSpPr/>
          <p:nvPr/>
        </p:nvCxnSpPr>
        <p:spPr bwMode="auto">
          <a:xfrm>
            <a:off x="1867430" y="2910389"/>
            <a:ext cx="0" cy="34789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6" name="Rectangle 43"/>
          <p:cNvSpPr>
            <a:spLocks noChangeArrowheads="1"/>
          </p:cNvSpPr>
          <p:nvPr/>
        </p:nvSpPr>
        <p:spPr bwMode="auto">
          <a:xfrm>
            <a:off x="2732460" y="3250812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3.6.4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대출금관리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3" name="꺾인 연결선 91"/>
          <p:cNvCxnSpPr/>
          <p:nvPr/>
        </p:nvCxnSpPr>
        <p:spPr bwMode="auto">
          <a:xfrm>
            <a:off x="3351214" y="2902914"/>
            <a:ext cx="0" cy="34789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꺾인 연결선 125"/>
          <p:cNvCxnSpPr>
            <a:stCxn id="121" idx="2"/>
            <a:endCxn id="148" idx="0"/>
          </p:cNvCxnSpPr>
          <p:nvPr/>
        </p:nvCxnSpPr>
        <p:spPr bwMode="auto">
          <a:xfrm rot="16200000" flipH="1">
            <a:off x="3942261" y="1633518"/>
            <a:ext cx="275622" cy="147937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48" name="Rectangle 43"/>
          <p:cNvSpPr>
            <a:spLocks noChangeArrowheads="1"/>
          </p:cNvSpPr>
          <p:nvPr/>
        </p:nvSpPr>
        <p:spPr bwMode="auto">
          <a:xfrm>
            <a:off x="4196916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공제회관리</a:t>
            </a:r>
          </a:p>
        </p:txBody>
      </p:sp>
      <p:sp>
        <p:nvSpPr>
          <p:cNvPr id="149" name="Rectangle 43"/>
          <p:cNvSpPr>
            <a:spLocks noChangeArrowheads="1"/>
          </p:cNvSpPr>
          <p:nvPr/>
        </p:nvSpPr>
        <p:spPr bwMode="auto">
          <a:xfrm>
            <a:off x="4208624" y="3250814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3.6.5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공제회관리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56" name="꺾인 연결선 91"/>
          <p:cNvCxnSpPr/>
          <p:nvPr/>
        </p:nvCxnSpPr>
        <p:spPr bwMode="auto">
          <a:xfrm>
            <a:off x="4819758" y="2886474"/>
            <a:ext cx="0" cy="34789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3" name="Rectangle 43"/>
          <p:cNvSpPr>
            <a:spLocks noChangeArrowheads="1"/>
          </p:cNvSpPr>
          <p:nvPr/>
        </p:nvSpPr>
        <p:spPr bwMode="auto">
          <a:xfrm>
            <a:off x="5529064" y="1844824"/>
            <a:ext cx="1656184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3.7 </a:t>
            </a:r>
            <a:r>
              <a:rPr lang="ko-KR" altLang="en-US" sz="13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시스템</a:t>
            </a:r>
            <a:endParaRPr lang="en-US" altLang="ko-KR" sz="13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6" name="꺾인 연결선 91"/>
          <p:cNvCxnSpPr>
            <a:stCxn id="23" idx="2"/>
            <a:endCxn id="25" idx="0"/>
          </p:cNvCxnSpPr>
          <p:nvPr/>
        </p:nvCxnSpPr>
        <p:spPr bwMode="auto">
          <a:xfrm>
            <a:off x="6357156" y="2242912"/>
            <a:ext cx="7638" cy="101537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" name="Rectangle 43"/>
          <p:cNvSpPr>
            <a:spLocks noChangeArrowheads="1"/>
          </p:cNvSpPr>
          <p:nvPr/>
        </p:nvSpPr>
        <p:spPr bwMode="auto">
          <a:xfrm>
            <a:off x="5759544" y="2511015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3.7.1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결재관리</a:t>
            </a:r>
          </a:p>
        </p:txBody>
      </p:sp>
      <p:sp>
        <p:nvSpPr>
          <p:cNvPr id="25" name="Rectangle 43"/>
          <p:cNvSpPr>
            <a:spLocks noChangeArrowheads="1"/>
          </p:cNvSpPr>
          <p:nvPr/>
        </p:nvSpPr>
        <p:spPr bwMode="auto">
          <a:xfrm>
            <a:off x="5753660" y="3258287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3.7.1</a:t>
            </a:r>
            <a:r>
              <a:rPr lang="en-US" altLang="ko-KR" sz="1100" b="1" kern="0" dirty="0">
                <a:latin typeface="맑은 고딕" pitchFamily="50" charset="-127"/>
                <a:ea typeface="맑은 고딕" pitchFamily="50" charset="-127"/>
              </a:rPr>
              <a:t>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맑은 고딕" pitchFamily="50" charset="-127"/>
                <a:ea typeface="맑은 고딕" pitchFamily="50" charset="-127"/>
              </a:rPr>
              <a:t>결재관리</a:t>
            </a:r>
            <a:endParaRPr lang="en-US" altLang="ko-KR" sz="11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354519" y="1412776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/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8955944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인적자원관리의 조직</a:t>
            </a:r>
            <a:r>
              <a:rPr lang="en-US" altLang="ko-KR" sz="1600" dirty="0"/>
              <a:t>/</a:t>
            </a:r>
            <a:r>
              <a:rPr lang="ko-KR" altLang="en-US" sz="1600" dirty="0"/>
              <a:t>정원에 대한 이력관리를 통해 변경이력 확인과 채용전형 및 결과에 대한 정보를 시스템에서 관리하고 인사정보와 연동되도록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(6/16)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128881"/>
              </p:ext>
            </p:extLst>
          </p:nvPr>
        </p:nvGraphicFramePr>
        <p:xfrm>
          <a:off x="354520" y="1723944"/>
          <a:ext cx="9170482" cy="4463898"/>
        </p:xfrm>
        <a:graphic>
          <a:graphicData uri="http://schemas.openxmlformats.org/drawingml/2006/table">
            <a:tbl>
              <a:tblPr firstRow="1" bandRow="1"/>
              <a:tblGrid>
                <a:gridCol w="39224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91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634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240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010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0010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00202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7476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4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52394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</a:t>
                      </a:r>
                      <a:endParaRPr lang="en-US" altLang="ko-KR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b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정원관리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본부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사업본부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과학원 등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조직관리와 부서 간 정원 조정 등 정원관리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 간 업무분장 및 위임전결   조정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전략기획팀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정보기획팀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조직변경이력을 관리하여 조직의 변동사항을 확인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523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조직 개편 및 임시기구 설치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위임전결 관리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부서별 업무분장 관리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위임전결 모니터링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523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정원관리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직무분석 계획수립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시행 및 결과보고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부서별 정원 관리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관련 부서 의견 수렴 등 업무</a:t>
                      </a:r>
                      <a:endParaRPr lang="ko-KR" altLang="en-US" sz="1000" b="0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52394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임직원의 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각 부서의 인력요청 등에 따라 채용계획을 수립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공고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접수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 등을 수행하고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채용요구사항 및 지원자 자격사항을 검토하여 최적의 인재를 선발 및 확보하는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스포츠레저사업본부 사업기획팀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경륜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경정사업본부</a:t>
                      </a:r>
                      <a:r>
                        <a:rPr lang="en-US" altLang="ko-KR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사업지원팀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en-US" altLang="ko-KR" sz="1000" b="0" kern="1200" spc="-1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지원자정보 및 전형별 합격자 정보를 관리하고 인사정보와 연동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6523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채용계획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본부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사업본부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과학원 등 임직원 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각 부서 인력 요청에 따라 채용 인원수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 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 방법 결정 등 채용계획 수립 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일용계약직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6523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채용공고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채용절차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응시방법 등을 일간신문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방송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인터넷 등의 방법으로 공고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7556055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최종합격자 정보를 발령과 연동하여 처리하고 개인정보 변경 방식을 다양화하여 본인의 정보를 직접 수정할 수 있도록 개선</a:t>
            </a:r>
            <a:r>
              <a:rPr altLang="en-US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(7/16)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5438578"/>
              </p:ext>
            </p:extLst>
          </p:nvPr>
        </p:nvGraphicFramePr>
        <p:xfrm>
          <a:off x="354520" y="1723944"/>
          <a:ext cx="9170482" cy="4541767"/>
        </p:xfrm>
        <a:graphic>
          <a:graphicData uri="http://schemas.openxmlformats.org/drawingml/2006/table">
            <a:tbl>
              <a:tblPr firstRow="1" bandRow="1"/>
              <a:tblGrid>
                <a:gridCol w="39224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91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634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240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010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0010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00202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3857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76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36223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채용지원자의 입사지원서류 및 증빙서류 온라인 접수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스포츠레저사업본부 사업기획팀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경륜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경정사업본부</a:t>
                      </a:r>
                      <a:r>
                        <a:rPr lang="en-US" altLang="ko-KR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사업지원팀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en-US" altLang="ko-KR" sz="1000" b="0" kern="1200" spc="-1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지원자정보 및 전형별 합격자 정보를 관리하고 인사정보와 연동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362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서류전형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해당 직무수행 관련 자격 및 그 밖의 특수경력을 서류에 따라 심사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36223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필기전형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해당 직무수행에 필요한 지식 및 응용능력 검정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36223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해당 직무수행에 필요한 능력 및 적격성 검정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36223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pc="-120" baseline="0" dirty="0">
                          <a:latin typeface="맑은 고딕" pitchFamily="50" charset="-127"/>
                          <a:ea typeface="맑은 고딕" pitchFamily="50" charset="-127"/>
                        </a:rPr>
                        <a:t>해당 직무수행 필요 지식 및 기술 실습 또는 실기에 따라 검정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17497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최종합격자 </a:t>
                      </a:r>
                      <a:endParaRPr lang="en-US" altLang="ko-KR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선정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성적 순 선발예정인원 및 충원 사정 등 고려 인사관리위원회의   심의를 거쳐 최종합격자 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24306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 인사기록 유지관리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스포츠레저사업본부 사업기획팀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경륜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경정사업본부</a:t>
                      </a:r>
                      <a:r>
                        <a:rPr lang="en-US" altLang="ko-KR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사업지원팀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en-US" altLang="ko-KR" sz="1000" b="0" kern="1200" spc="-1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개인정보 변경에 작업방법의 개선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직접변경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487333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직원의 인사사항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주소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 등 개인정보를 관리하고 인사기록카드를 조회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출력하는 업무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7068967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직위공모관리를 온라인을 통해 공지 및 신청</a:t>
            </a:r>
            <a:r>
              <a:rPr lang="en-US" altLang="ko-KR" sz="1600" dirty="0"/>
              <a:t>,</a:t>
            </a:r>
            <a:r>
              <a:rPr lang="ko-KR" altLang="en-US" sz="1600" dirty="0"/>
              <a:t> 결과 확인이 가능하게 하고</a:t>
            </a:r>
            <a:r>
              <a:rPr lang="en-US" altLang="ko-KR" sz="1600" dirty="0"/>
              <a:t>,</a:t>
            </a:r>
            <a:r>
              <a:rPr lang="ko-KR" altLang="en-US" sz="1600" dirty="0"/>
              <a:t> 발령품의 업로드 등 사용에 있어서 편의성을 개선하고 성과</a:t>
            </a:r>
            <a:r>
              <a:rPr lang="en-US" altLang="ko-KR" sz="1600" dirty="0"/>
              <a:t>, </a:t>
            </a:r>
            <a:r>
              <a:rPr lang="ko-KR" altLang="en-US" sz="1600" dirty="0"/>
              <a:t>역량평가</a:t>
            </a:r>
            <a:r>
              <a:rPr lang="en-US" altLang="ko-KR" sz="1600" dirty="0"/>
              <a:t>, </a:t>
            </a:r>
            <a:r>
              <a:rPr lang="ko-KR" altLang="en-US" sz="1600" dirty="0"/>
              <a:t>교육 등과 연동하여 승진후보자를 생성할 수 있게 개선</a:t>
            </a:r>
            <a:r>
              <a:rPr altLang="en-US" sz="1600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(8/16)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2820068"/>
              </p:ext>
            </p:extLst>
          </p:nvPr>
        </p:nvGraphicFramePr>
        <p:xfrm>
          <a:off x="354520" y="1723944"/>
          <a:ext cx="9170482" cy="4463898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4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78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5935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59715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30072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007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2627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직위공모관리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조직의 경쟁력 강화 및 전문성 향상을 위하여 필요한 보직 및 직위에 대하여 공모 실시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공단 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전부서</a:t>
                      </a:r>
                      <a:endParaRPr lang="en-US" altLang="ko-KR" sz="1000" b="0" kern="1200" spc="-1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직위공모를 온라인을 통해 공지 및 신청하고 결과를 확인할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262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직위공모 게시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전문성 요구나 효율적 업무수행을 위한 공단 내외부 적격자를 임용할 필요가 있는 경우 직위 공모 게시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262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직위공모신청관리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 공모 지원자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지원서류 접수 및 자격기준에 따라 심사 및 합격자 선정 및 공고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2627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발령관리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신규채용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직위해제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복직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파견 등의 직원의 발령 업무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스포츠레저사업본부 사업기획팀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경륜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경정사업본부</a:t>
                      </a:r>
                      <a:r>
                        <a:rPr lang="en-US" altLang="ko-KR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사업지원팀</a:t>
                      </a:r>
                      <a:r>
                        <a:rPr lang="en-US" altLang="ko-KR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spc="-1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 업로드 개선 등 기능사용 편의성을 높이고 성과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역량평가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 등과의 연계하여 승진 후보자 명부를 생성할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7330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수시발령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신규채용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직위해제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복직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파견 등 직원의 발령 품의 작성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 승인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 확정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 동시 공단의 모든 부서 및 감독기관 통지</a:t>
                      </a:r>
                      <a:endParaRPr lang="ko-KR" altLang="en-US" sz="1000" b="0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024347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승진발령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명부작성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 심사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 확정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승진임용 및 등록 관리에 관한 처리업무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47957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연간포상계획에 대한 공지 및 신청 기능 및 출장신청과 출장관리를 인적자원관리시스템에서 수행할 수 있도록 개선</a:t>
            </a:r>
            <a:r>
              <a:rPr altLang="en-US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(9/16)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cxnSp>
        <p:nvCxnSpPr>
          <p:cNvPr id="48" name="직선 연결선 12"/>
          <p:cNvCxnSpPr>
            <a:cxnSpLocks noChangeShapeType="1"/>
          </p:cNvCxnSpPr>
          <p:nvPr/>
        </p:nvCxnSpPr>
        <p:spPr bwMode="auto">
          <a:xfrm>
            <a:off x="3748677" y="2312903"/>
            <a:ext cx="2411036" cy="0"/>
          </a:xfrm>
          <a:prstGeom prst="line">
            <a:avLst/>
          </a:prstGeom>
          <a:noFill/>
          <a:ln w="12700" algn="ctr">
            <a:solidFill>
              <a:sysClr val="windowText" lastClr="000000"/>
            </a:solidFill>
            <a:round/>
            <a:headEnd/>
            <a:tailEnd/>
          </a:ln>
        </p:spPr>
      </p:cxn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3504983"/>
              </p:ext>
            </p:extLst>
          </p:nvPr>
        </p:nvGraphicFramePr>
        <p:xfrm>
          <a:off x="354520" y="1723944"/>
          <a:ext cx="9170482" cy="4503201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2062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8872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84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8638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0629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1135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45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21987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상벌관리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 기본계획 수립 및 대상자 선정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심사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 업무와 징계 사유 발생 시 징계 의결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심사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집행 등 징계 업무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공단본부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 포상계획에 대한 직원의 조회 및 신청이 가능하도록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219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포상관리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포상대상자 추천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정부기관 포상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자체표창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위원회 심의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표창장 수여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포상대장 기록 및 인사자료 정리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219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징계관리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징계사유 발생시 위원회 의결 요구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 심사 및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징계의결 보고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징계집행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 기록 등에 관한 업무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56206">
                <a:tc rowSpan="9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근태관리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복무관리계획 수립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시행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결과 처리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공단본부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  <a:endParaRPr lang="ko-KR" altLang="en-US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 신청을 인적자원  관리시스템에서 관리할 수 있도록 하고 근태내역과 급여와의 연동을 좀 더 원활하게 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0339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근태기준관리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달력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OT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기준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근태유형별 신청기준 등 기준 등록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5620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30" dirty="0">
                          <a:latin typeface="맑은 고딕" pitchFamily="50" charset="-127"/>
                          <a:ea typeface="맑은 고딕" pitchFamily="50" charset="-127"/>
                        </a:rPr>
                        <a:t>휴가관리</a:t>
                      </a:r>
                      <a:endParaRPr lang="ko-KR" altLang="en-US" sz="1000" b="1" kern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연차 생성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신청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신청 승인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등 휴가 관리</a:t>
                      </a:r>
                      <a:endParaRPr lang="ko-KR" altLang="en-US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5620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pc="-130" dirty="0">
                          <a:latin typeface="맑은 고딕" pitchFamily="50" charset="-127"/>
                          <a:ea typeface="맑은 고딕" pitchFamily="50" charset="-127"/>
                        </a:rPr>
                        <a:t>일근태관리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출퇴근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연장근무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휴일근무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대휴적치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및 사용 등 근태사항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21987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단시간근무관리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단시간근무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 관리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5620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스마트근무관리</a:t>
                      </a:r>
                      <a:endParaRPr lang="ko-KR" altLang="en-US" sz="1000" b="1" spc="-10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스마트 근무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 관리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5620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출장관리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 신청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결과보고서 제출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5620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근무스케줄관리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본부별</a:t>
                      </a:r>
                      <a:r>
                        <a:rPr lang="en-US" altLang="ko-KR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팀별 근무 스케줄 등록</a:t>
                      </a:r>
                      <a:r>
                        <a:rPr lang="en-US" altLang="ko-KR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근무스케줄 변경 신청</a:t>
                      </a:r>
                      <a:r>
                        <a:rPr lang="en-US" altLang="ko-KR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</a:t>
                      </a:r>
                      <a:r>
                        <a:rPr lang="en-US" altLang="ko-KR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5620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겸직관리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겸직 신청</a:t>
                      </a:r>
                      <a:r>
                        <a:rPr lang="en-US" altLang="ko-KR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</a:t>
                      </a:r>
                      <a:r>
                        <a:rPr lang="en-US" altLang="ko-KR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확정</a:t>
                      </a:r>
                      <a:r>
                        <a:rPr lang="en-US" altLang="ko-KR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사후관리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72286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제증명관리</a:t>
            </a:r>
            <a:r>
              <a:rPr lang="en-US" altLang="ko-KR" sz="1600" dirty="0"/>
              <a:t>, </a:t>
            </a:r>
            <a:r>
              <a:rPr lang="ko-KR" altLang="en-US" sz="1600" dirty="0"/>
              <a:t>직무관리</a:t>
            </a:r>
            <a:r>
              <a:rPr lang="en-US" altLang="ko-KR" sz="1600" dirty="0"/>
              <a:t>, </a:t>
            </a:r>
            <a:r>
              <a:rPr lang="ko-KR" altLang="en-US" sz="1600" dirty="0"/>
              <a:t>역량관리는 현행 시스템과 동일한 기능 및 프로세스로 유지하여 진행하기로 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(10/16)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172534"/>
              </p:ext>
            </p:extLst>
          </p:nvPr>
        </p:nvGraphicFramePr>
        <p:xfrm>
          <a:off x="354520" y="1723944"/>
          <a:ext cx="9170482" cy="4176462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4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0700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5935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59715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92598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925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9376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제증명</a:t>
                      </a:r>
                      <a:endParaRPr lang="en-US" altLang="ko-KR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인사관련 제증명을 발급하는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공단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전부서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13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제증명신청</a:t>
                      </a:r>
                      <a:r>
                        <a:rPr lang="en-US" altLang="ko-KR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발급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재직 직원이 재직증명서 발급을 청구할 경우 인사기록카드에 따라 재직증명서 발급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재직 또는 퇴직 직원이 경력증명서 발급을 청구할 경우 경력증명서를 발급하는 업무</a:t>
                      </a:r>
                      <a:endParaRPr lang="ko-KR" altLang="en-US" sz="1000" b="0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93760"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직무</a:t>
                      </a:r>
                      <a:r>
                        <a:rPr lang="ko-KR" altLang="en-US" sz="1000" b="1" kern="0" spc="-150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</a:t>
                      </a:r>
                      <a:endParaRPr lang="en-US" altLang="ko-KR" sz="1000" b="1" kern="0" spc="-15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직무 체계를 관리하는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전략기획팀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12047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직무체계관리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 간 업무분장 및 위임전결 조정에 따라 직무 기술서 등록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10885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직무매핑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조직별 직무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직무 등록에 따른 승인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3839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공단의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조직 및 직원 개인의 역량을 체계적으로 관리하기 위한 역량 사전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, KSA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역량 모델 등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관리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전략기획팀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183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역량목록관리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공단의 역량 관리를 위한 용어 사전 관리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KSA(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지식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기술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태도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기반 역량 목록 관리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1088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역량모델관리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공단의 역량 모델</a:t>
                      </a:r>
                      <a:r>
                        <a:rPr lang="en-US" altLang="ko-KR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공통 및 리더십</a:t>
                      </a:r>
                      <a:r>
                        <a:rPr lang="en-US" altLang="ko-KR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직무역량</a:t>
                      </a:r>
                      <a:r>
                        <a:rPr lang="en-US" altLang="ko-KR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리더십역량</a:t>
                      </a:r>
                      <a:r>
                        <a:rPr lang="en-US" altLang="ko-KR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  <a:r>
                        <a:rPr lang="en-US" altLang="ko-KR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spc="-8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758926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경력관리는 현행 시스템과 동일한 기능 및 프로세스로 유지하여 진행하고 역량평가 </a:t>
            </a:r>
            <a:r>
              <a:rPr lang="ko-KR" altLang="en-US" sz="1600" dirty="0"/>
              <a:t>시행 후 집계점수에 대해 조정 및 수정할 수 </a:t>
            </a:r>
            <a:r>
              <a:rPr lang="ko-KR" altLang="en-US" dirty="0"/>
              <a:t>있도록 기능을 개선</a:t>
            </a:r>
            <a:r>
              <a:rPr altLang="en-US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(11/16)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cxnSp>
        <p:nvCxnSpPr>
          <p:cNvPr id="48" name="직선 연결선 12"/>
          <p:cNvCxnSpPr>
            <a:cxnSpLocks noChangeShapeType="1"/>
          </p:cNvCxnSpPr>
          <p:nvPr/>
        </p:nvCxnSpPr>
        <p:spPr bwMode="auto">
          <a:xfrm>
            <a:off x="3748677" y="2312903"/>
            <a:ext cx="2411036" cy="0"/>
          </a:xfrm>
          <a:prstGeom prst="line">
            <a:avLst/>
          </a:prstGeom>
          <a:noFill/>
          <a:ln w="12700" algn="ctr">
            <a:solidFill>
              <a:sysClr val="windowText" lastClr="000000"/>
            </a:solidFill>
            <a:round/>
            <a:headEnd/>
            <a:tailEnd/>
          </a:ln>
        </p:spPr>
      </p:cxn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6792046"/>
              </p:ext>
            </p:extLst>
          </p:nvPr>
        </p:nvGraphicFramePr>
        <p:xfrm>
          <a:off x="354520" y="1723944"/>
          <a:ext cx="9170482" cy="4492791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2062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78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5935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59715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30187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018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9416">
                <a:tc row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00"/>
                        </a:lnSpc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CDP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과정 개발 및 운영하는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전략기획팀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3560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환경설정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경력개발관리를 위한 경력대상자 관리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 분야 관리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 단계 설정하는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83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자기수준진단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자기수준을 가상으로 진단 후 본인의 실제 수준을 진단하여 승인을 요청 및 결재하는 업무 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88232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경력개발관리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임직원 개인별 경력개발계획을 수립하고 관리하는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57780">
                <a:tc rowSpan="5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12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역량평가관리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직원의 역량평가 계획 수립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및 시행하는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역량평가결과에 대한 평가점수 조정 기능을 추가하고 승진 등과 연동하도록 개선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53961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평가기준관리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 역량 평가를 위한 평가그룹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평가직군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평가척도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평가지표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직급별 기대수준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지표별 가중치 관리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 등급관리 등 기준을 관리하는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88232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평가사전준비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 평가 대상자 선정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 제외자 확정 등 사전준비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88232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평가시행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역량평가 기준으로 직원 역량평가 수행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79250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평가결과관리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역량평가 결과 조정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596938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성과평가결과와 연동하여 성과급 계산을 자동 산정하고 온라인을 통한 교육수요조사 및 교육대상자 일괄 생성 및 위탁교육 신청이 가능하도록 개선</a:t>
            </a:r>
            <a:r>
              <a:rPr altLang="en-US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(12/16)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542171"/>
              </p:ext>
            </p:extLst>
          </p:nvPr>
        </p:nvGraphicFramePr>
        <p:xfrm>
          <a:off x="354520" y="1723944"/>
          <a:ext cx="9170482" cy="4500497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4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78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84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59715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9785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978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7697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13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</a:t>
                      </a:r>
                      <a:endParaRPr lang="en-US" altLang="ko-KR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직원의 업무성과에 대한 평가 등급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기준관리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사업성과 달성에 기여한 정도에 따라 인센티브를 개인별로 차등 지급 보상업무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성과평가와의 연계를 통한 성과급 산정 및 급여와의 연동이 가능하도록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3712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업무성과평가 등급별 기준관리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평가등급별 대상자 선정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확정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성과급 산정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업무</a:t>
                      </a:r>
                      <a:endParaRPr lang="ko-KR" altLang="en-US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42820"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교육과정관리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임직원 맞춤형 교육훈련과정 개발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  <a:endParaRPr lang="ko-KR" altLang="en-US" sz="1000" b="0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 수요조사를 온라인에서 시행하고 연간교육계획 관리를 통해 대 직원 서비스 강화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7124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pc="-120" dirty="0">
                          <a:latin typeface="맑은 고딕" pitchFamily="50" charset="-127"/>
                          <a:ea typeface="맑은 고딕" pitchFamily="50" charset="-127"/>
                        </a:rPr>
                        <a:t>교육훈련과정</a:t>
                      </a:r>
                      <a:endParaRPr lang="en-US" altLang="ko-KR" sz="1000" b="1" kern="0" spc="-12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b="1" kern="0" spc="-120" dirty="0">
                          <a:latin typeface="맑은 고딕" pitchFamily="50" charset="-127"/>
                          <a:ea typeface="맑은 고딕" pitchFamily="50" charset="-127"/>
                        </a:rPr>
                        <a:t>개발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 수요 조사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 개발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 등록 등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8657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교육계획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임직원 교육훈련 연간 계획 및 세부 계획 수립업무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42820">
                <a:tc rowSpan="5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교육신청결과관리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임직원 교육 훈련과정 준비 및 운영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  <a:endParaRPr lang="ko-KR" altLang="en-US" sz="1000" b="0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기준관리에 의한 교육대상자 일괄생성 기능 추가와 온라인을 통한 교육 개설신청 및 관리가 가능하도록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37124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교육기초정보관리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교육신청 일정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교육과정별 설문지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직급별 이수학점 등록 등 교육과정 준비 기초 정보 등록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37124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50" baseline="0" dirty="0">
                          <a:latin typeface="맑은 고딕" pitchFamily="50" charset="-127"/>
                          <a:ea typeface="맑은 고딕" pitchFamily="50" charset="-127"/>
                        </a:rPr>
                        <a:t>자체교육</a:t>
                      </a:r>
                      <a:endParaRPr lang="en-US" altLang="ko-KR" sz="1000" b="1" kern="0" spc="-15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50" baseline="0" dirty="0">
                          <a:latin typeface="맑은 고딕" pitchFamily="50" charset="-127"/>
                          <a:ea typeface="맑은 고딕" pitchFamily="50" charset="-127"/>
                        </a:rPr>
                        <a:t>일괄신청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자체교육 일괄 대상자 선정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 공지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 접수 업무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37124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50" baseline="0" dirty="0">
                          <a:latin typeface="맑은 고딕" pitchFamily="50" charset="-127"/>
                          <a:ea typeface="맑은 고딕" pitchFamily="50" charset="-127"/>
                        </a:rPr>
                        <a:t>자체교육 </a:t>
                      </a:r>
                      <a:endParaRPr lang="en-US" altLang="ko-KR" sz="1000" b="1" kern="0" spc="-15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50" baseline="0" dirty="0">
                          <a:latin typeface="맑은 고딕" pitchFamily="50" charset="-127"/>
                          <a:ea typeface="맑은 고딕" pitchFamily="50" charset="-127"/>
                        </a:rPr>
                        <a:t>개별신청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자체교육 개별 신청 접수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65397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위탁교육 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 대상자 선정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 접수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 의뢰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105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3184919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온라인을 통한 교육수강에 대한 설문 조사 및 결과를 관리할 수 있도록 하고 각종 기준 및 수식 관리에 의한 변화에 유연하게 대처할 수 있게 개선</a:t>
            </a:r>
            <a:r>
              <a:rPr altLang="en-US" sz="1600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(13/16)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2719502"/>
              </p:ext>
            </p:extLst>
          </p:nvPr>
        </p:nvGraphicFramePr>
        <p:xfrm>
          <a:off x="354520" y="1723944"/>
          <a:ext cx="9170482" cy="4536505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2062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78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5935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59715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6727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672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83982"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교육신청결과관리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교육진행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 과정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진행 상황 모니터링 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  <a:endParaRPr lang="ko-KR" altLang="en-US" sz="1000" b="0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온라인을 통한 설문조사 및 관리가 가능하도록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3982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교육결과보고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 결과 보고서 작성 및 보고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82804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교육 취소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 신청 취소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및 승인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51030">
                <a:tc rowSpan="6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및 각 사업본부 인력에 대한 보수 계산 및 운영하는 업무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경정 사업본부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사업지원팀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기준 및 룰 관리를 통해 규정변경에 신속하게 대응할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6773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급여기초관리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법정세율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세액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회계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예산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소득공제기준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통상임금금액 등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급여 기초정보 등록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6773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10" dirty="0">
                          <a:latin typeface="맑은 고딕" pitchFamily="50" charset="-127"/>
                          <a:ea typeface="맑은 고딕" pitchFamily="50" charset="-127"/>
                        </a:rPr>
                        <a:t>지급공제기준관리</a:t>
                      </a:r>
                      <a:endParaRPr lang="ko-KR" altLang="en-US" sz="1000" b="1" kern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상여지급기준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고정지급공제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당월예외자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당월 일괄지급공제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임금피크제 대상자 등 지급공제 기준정보 등록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6773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급여지급관리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성과금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현물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소급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의료비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대출금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학자금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 등의 정보 기반 직원 급여 계산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6773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전표</a:t>
                      </a:r>
                      <a:r>
                        <a:rPr lang="en-US" altLang="ko-KR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이체</a:t>
                      </a:r>
                      <a:endParaRPr lang="en-US" altLang="ko-KR" sz="1000" b="1" kern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관련 전표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이체 관리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83982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현황출력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0"/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급여지급대장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은행별지급명세서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급여명세서 등 출력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914057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경조금</a:t>
            </a:r>
            <a:r>
              <a:rPr lang="en-US" altLang="ko-KR" sz="1600" dirty="0"/>
              <a:t>, </a:t>
            </a:r>
            <a:r>
              <a:rPr lang="ko-KR" altLang="en-US" sz="1600" dirty="0"/>
              <a:t>포상금 등의 현물 연동 및 미연동 현물 정보를 관리하고 급여내역을 기준으로 자동으로 소급이 산정될 수 있도록 개선</a:t>
            </a:r>
            <a:r>
              <a:rPr altLang="en-US" sz="1600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(14/16)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985369"/>
              </p:ext>
            </p:extLst>
          </p:nvPr>
        </p:nvGraphicFramePr>
        <p:xfrm>
          <a:off x="354520" y="1723944"/>
          <a:ext cx="9170482" cy="4627930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2062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78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5935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0629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705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70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51083">
                <a:tc rowSpan="2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17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ko-KR" altLang="en-US" sz="1000" b="1" kern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현물관리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현물 관리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경정 사업본부 </a:t>
                      </a:r>
                      <a:r>
                        <a:rPr lang="ko-KR" altLang="en-US" sz="1000" b="0" spc="-50" dirty="0" err="1">
                          <a:latin typeface="맑은 고딕" pitchFamily="50" charset="-127"/>
                          <a:ea typeface="맑은 고딕" pitchFamily="50" charset="-127"/>
                        </a:rPr>
                        <a:t>사업지원팀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kern="1200" spc="-5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5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spc="-5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포상금 등 연동 가능한 현물내역을 자동으로 생성할 수 있도록 개선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1483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현물지급관리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선택적 복지카드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포상금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특별건강검진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경조금 등의 현물에 대한 기준정보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현물 지급내역 생성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등록 관리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1083">
                <a:tc rowSpan="3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소급관리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00"/>
                        </a:lnSpc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소급 기준 등록 및 처리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경정 사업본부 </a:t>
                      </a:r>
                      <a:r>
                        <a:rPr lang="ko-KR" altLang="en-US" sz="1000" b="0" spc="-50" dirty="0" err="1">
                          <a:latin typeface="맑은 고딕" pitchFamily="50" charset="-127"/>
                          <a:ea typeface="맑은 고딕" pitchFamily="50" charset="-127"/>
                        </a:rPr>
                        <a:t>사업지원팀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kern="1200" spc="-5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5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spc="-5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온라인에서 소급처리 및 급여연동이 가능하도록 개선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5108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소급기준관리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소급처리기준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소급예외항목 기준 관리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51083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소급처리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소급기준에 따른 소급내역 생성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기획안 작성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승인 등 소급처리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79396">
                <a:tc rowSpan="3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19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퇴직금</a:t>
                      </a:r>
                      <a:endParaRPr lang="en-US" altLang="ko-KR" sz="1000" b="1" kern="0" spc="-15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퇴직자 또는 중간정산자에 대한 퇴직금 정산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경정 사업본부 </a:t>
                      </a:r>
                      <a:r>
                        <a:rPr lang="ko-KR" altLang="en-US" sz="1000" b="0" spc="-50" dirty="0" err="1">
                          <a:latin typeface="맑은 고딕" pitchFamily="50" charset="-127"/>
                          <a:ea typeface="맑은 고딕" pitchFamily="50" charset="-127"/>
                        </a:rPr>
                        <a:t>사업지원팀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kern="1200" spc="-5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5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spc="-5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>
                        <a:lnSpc>
                          <a:spcPts val="1200"/>
                        </a:lnSpc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25887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퇴직금기준관리</a:t>
                      </a:r>
                      <a:endParaRPr lang="en-US" altLang="ko-KR" sz="1000" b="1" kern="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퇴직소득공제기준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지급율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퇴직성과급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차등공제율 등 퇴직금 기준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등록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관리 업무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99264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퇴직정산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퇴직금 계산 및 정산내역 승인 및 확정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36235">
                <a:tc rowSpan="3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ts val="1200"/>
                        </a:lnSpc>
                      </a:pPr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퇴직연금관리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00"/>
                        </a:lnSpc>
                      </a:pP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신규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유형 변경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DC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적립금생성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전표발행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금융기관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퇴직연금보험회사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이채 등 퇴직연금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경정 사업본부 </a:t>
                      </a:r>
                      <a:r>
                        <a:rPr lang="ko-KR" altLang="en-US" sz="1000" b="0" spc="-50" dirty="0" err="1">
                          <a:latin typeface="맑은 고딕" pitchFamily="50" charset="-127"/>
                          <a:ea typeface="맑은 고딕" pitchFamily="50" charset="-127"/>
                        </a:rPr>
                        <a:t>사업지원팀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kern="1200" spc="-5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5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spc="-5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변경을 신청할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9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퇴직연금변경신청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20" baseline="0" dirty="0">
                          <a:latin typeface="맑은 고딕" pitchFamily="50" charset="-127"/>
                          <a:ea typeface="맑은 고딕" pitchFamily="50" charset="-127"/>
                        </a:rPr>
                        <a:t>퇴직연금 신규 등록 및 퇴직급여 유형 변경 신청에 대한 승인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436235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퇴직연금은 확정급여형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(DB)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으로 기본 등록하고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확정기여형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(DC)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으로 변경신청 접수 시  승인 및 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DC 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적립금 생성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전표 발행 업무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>
                        <a:lnSpc>
                          <a:spcPts val="1200"/>
                        </a:lnSpc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1107843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소송전후 정산내역을 하나의 화면에서 확인할 수 있도록 기능을 개선하고</a:t>
            </a:r>
            <a:r>
              <a:rPr lang="en-US" altLang="ko-KR" sz="1600" dirty="0"/>
              <a:t>, </a:t>
            </a:r>
            <a:r>
              <a:rPr lang="ko-KR" altLang="en-US" sz="1600" dirty="0" err="1"/>
              <a:t>총액인건비</a:t>
            </a:r>
            <a:r>
              <a:rPr lang="ko-KR" altLang="en-US" sz="1600" dirty="0"/>
              <a:t> 대비 급여인상 시뮬레이션을 통해 인상률을 추정할 수 있도록 하여 고지내역과 급여공제를 비교할 수 있도록 개선</a:t>
            </a:r>
            <a:r>
              <a:rPr altLang="en-US" sz="1600" dirty="0"/>
              <a:t>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(15/16)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2417793"/>
              </p:ext>
            </p:extLst>
          </p:nvPr>
        </p:nvGraphicFramePr>
        <p:xfrm>
          <a:off x="354520" y="1723944"/>
          <a:ext cx="9170482" cy="4621317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4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0700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5935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59715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3371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37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8999"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21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연말정산신고자료입력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근로소득 연말정산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지급조서 전산매체 신고 등을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소송 전후 정산정보를  하나의 메뉴에서 참조할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8999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연말정산소득공제신청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법정세율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세액기준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정산항목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정산대상자 생성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소득공제 신청 공지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소득공제 신청 접수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08999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소득공제 신청에 따른 연말정산계산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전산매체 국세청 신고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등 연말정산처리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0367"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22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인상</a:t>
                      </a:r>
                      <a:endParaRPr lang="en-US" altLang="ko-KR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시뮬레이션</a:t>
                      </a:r>
                      <a:endParaRPr lang="en-US" altLang="ko-KR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급여인상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시간외 근무 등에 의한 급여 인상요인에 대한 시뮬레이션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경정 사업본부 </a:t>
                      </a:r>
                      <a:r>
                        <a:rPr lang="ko-KR" altLang="en-US" sz="1000" b="0" spc="-50" dirty="0" err="1">
                          <a:latin typeface="맑은 고딕" pitchFamily="50" charset="-127"/>
                          <a:ea typeface="맑은 고딕" pitchFamily="50" charset="-127"/>
                        </a:rPr>
                        <a:t>사업지원팀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kern="1200" spc="-5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5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총액인건비 대비 급여 인상률을 시뮬레이션 할 수 있도록 개선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51045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시뮬레이션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기준관리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급여인상기준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승진예상인원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채용예상인원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시간외근무예상시간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직원 근무연차 등 시뮬레이션 기준 정보 등록 관리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0367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시뮬레이션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인건비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승진예상 인원별 인건비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채용예상 인원별 인건비 등 인상요인에 따른 시뮬레이션</a:t>
                      </a: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08999">
                <a:tc rowSpan="5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23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사회보험관리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사회보장보험제도의 일환으로 실시되고 있는 주요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 사회보험제도의 관리와 운용하는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재무팀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경정 사업본부 </a:t>
                      </a:r>
                      <a:r>
                        <a:rPr lang="ko-KR" altLang="en-US" sz="1000" b="0" spc="-50" dirty="0" err="1">
                          <a:latin typeface="맑은 고딕" pitchFamily="50" charset="-127"/>
                          <a:ea typeface="맑은 고딕" pitchFamily="50" charset="-127"/>
                        </a:rPr>
                        <a:t>사업지원팀</a:t>
                      </a:r>
                      <a:r>
                        <a:rPr lang="en-US" altLang="ko-KR" sz="1000" b="0" spc="-5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kern="1200" spc="-5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한국스포츠정책과학원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5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행정지원팀</a:t>
                      </a:r>
                      <a:endParaRPr lang="ko-KR" altLang="en-US" sz="1000" b="0" spc="-11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취득 및 상실 대상자를 생성하고 고지내역을 업로드하여 공제내역과 비교할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48321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취득신고</a:t>
                      </a:r>
                      <a:endParaRPr lang="en-US" altLang="ko-KR" sz="1000" b="1" kern="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대보험 신규 취득에 따른 신고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83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변동신고</a:t>
                      </a:r>
                      <a:endParaRPr lang="en-US" altLang="ko-KR" sz="1000" b="1" kern="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대보험 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복직 등에 따른 변동 신고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8321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보수총액신고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 보험 보수 총액 신고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48321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상실신고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 보험 상실 신고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524985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대출금 상환 시 대출이자에 대해 경과일자별로 일할 계산을 할 수 있도록 하고 결재위임자를 지정하여 결재자의 부재 시 대비할 수 있도록 개선</a:t>
            </a:r>
            <a:r>
              <a:rPr altLang="en-US" sz="1600" dirty="0"/>
              <a:t>함</a:t>
            </a:r>
            <a:r>
              <a:rPr lang="ko-KR" altLang="en-US" sz="1600" dirty="0"/>
              <a:t>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3.3.1 </a:t>
            </a:r>
            <a:r>
              <a:rPr lang="ko-KR" altLang="en-US" dirty="0"/>
              <a:t>인적자원관리 업무기능 정의 </a:t>
            </a:r>
            <a:r>
              <a:rPr lang="en-US" altLang="ko-KR" dirty="0"/>
              <a:t>(16/16)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3860603"/>
              </p:ext>
            </p:extLst>
          </p:nvPr>
        </p:nvGraphicFramePr>
        <p:xfrm>
          <a:off x="354520" y="1723944"/>
          <a:ext cx="9170482" cy="4473560"/>
        </p:xfrm>
        <a:graphic>
          <a:graphicData uri="http://schemas.openxmlformats.org/drawingml/2006/table">
            <a:tbl>
              <a:tblPr firstRow="1" bandRow="1"/>
              <a:tblGrid>
                <a:gridCol w="395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2062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8872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84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55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0467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59715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678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유관조직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678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000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24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경조사</a:t>
                      </a:r>
                      <a:endParaRPr lang="en-US" altLang="ko-KR" sz="1000" b="1" kern="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0" spc="-15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 관리 및 운영 업무 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경조사관리</a:t>
                      </a:r>
                      <a:endParaRPr lang="en-US" altLang="ko-KR" sz="1000" b="1" kern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 및 경조금 집계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000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25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1200" spc="-14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고교생자녀</a:t>
                      </a:r>
                      <a:endParaRPr lang="en-US" altLang="ko-KR" sz="1000" b="1" kern="1200" spc="-14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학자금</a:t>
                      </a:r>
                      <a:endParaRPr lang="en-US" altLang="ko-KR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고교생 학자금 관리 및 운영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3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고교생자녀</a:t>
                      </a:r>
                      <a:endParaRPr lang="en-US" altLang="ko-KR" sz="1000" b="1" kern="0" spc="-13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pc="-13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학자금관리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고교생 자녀학자금 기준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학자금 집계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000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26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대출금</a:t>
                      </a:r>
                      <a:endParaRPr lang="en-US" altLang="ko-KR" sz="1000" b="1" kern="0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1000" b="1" kern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대출금 관리 및 운영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상생노사팀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상환이자 계산 시 일할 계산이 가능하도록 개선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latin typeface="맑은 고딕" pitchFamily="50" charset="-127"/>
                          <a:ea typeface="맑은 고딕" pitchFamily="50" charset="-127"/>
                        </a:rPr>
                        <a:t>대출금관리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대출금 기준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대출금 상환내역 등 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000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27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spc="-100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공제회관리</a:t>
                      </a:r>
                      <a:endParaRPr lang="ko-KR" altLang="en-US" sz="100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 회원 관리 및 운영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사우회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인사팀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–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공제회관리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 회원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 경조금 확정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지급등록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000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kern="1200" spc="-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28</a:t>
                      </a:r>
                      <a:endParaRPr lang="ko-KR" altLang="en-US" sz="10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kern="0" spc="-100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결재관리</a:t>
                      </a:r>
                      <a:endParaRPr lang="ko-KR" altLang="en-US" sz="100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신청서 및 결재관리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정보기획팀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전부서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결재위임자를 미리 지정할 수 있도록 개선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2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결재관리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신청서 관리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위임자 관리 업무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557610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2850300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86865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37626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407928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조직변동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정원관리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749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문화체육</a:t>
                      </a:r>
                      <a:endParaRPr lang="en-US" altLang="ko-KR" sz="9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50" b="0" i="0" u="none" strike="noStrike" kern="1200" spc="-160" baseline="0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관광부</a:t>
                      </a:r>
                      <a:r>
                        <a:rPr lang="en-US" altLang="ko-KR" sz="950" b="0" i="0" u="none" strike="noStrike" kern="1200" spc="-160" baseline="0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50" b="0" i="0" u="none" strike="noStrike" spc="-160" baseline="0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기획재정부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spc="-16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14722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0539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기획담당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0783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pc="-160" baseline="0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정보기획팀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80" name="원통 68"/>
          <p:cNvSpPr>
            <a:spLocks noChangeAspect="1" noChangeArrowheads="1"/>
          </p:cNvSpPr>
          <p:nvPr/>
        </p:nvSpPr>
        <p:spPr bwMode="auto">
          <a:xfrm>
            <a:off x="6279350" y="4410633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2360712" y="327460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조직개편 계획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6231388" y="532352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조직정보등록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142" idx="0"/>
            <a:endCxn id="84" idx="1"/>
          </p:cNvCxnSpPr>
          <p:nvPr/>
        </p:nvCxnSpPr>
        <p:spPr bwMode="auto">
          <a:xfrm flipV="1">
            <a:off x="2213753" y="3434989"/>
            <a:ext cx="146959" cy="219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2" name="직사각형 111"/>
          <p:cNvSpPr/>
          <p:nvPr/>
        </p:nvSpPr>
        <p:spPr bwMode="auto">
          <a:xfrm>
            <a:off x="2360712" y="379834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spc="-11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문화체육관광부</a:t>
            </a:r>
            <a:endParaRPr lang="en-US" altLang="ko-KR" sz="900" kern="0" spc="-11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직제규정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9" name="직사각형 128"/>
          <p:cNvSpPr/>
          <p:nvPr/>
        </p:nvSpPr>
        <p:spPr bwMode="auto">
          <a:xfrm>
            <a:off x="2360712" y="484582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이사장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2" name="Shape 266"/>
          <p:cNvCxnSpPr>
            <a:cxnSpLocks noChangeShapeType="1"/>
            <a:stCxn id="62" idx="3"/>
            <a:endCxn id="171" idx="0"/>
          </p:cNvCxnSpPr>
          <p:nvPr/>
        </p:nvCxnSpPr>
        <p:spPr bwMode="auto">
          <a:xfrm>
            <a:off x="5123495" y="2559939"/>
            <a:ext cx="156961" cy="1421911"/>
          </a:xfrm>
          <a:prstGeom prst="bentConnector2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" name="Shape 266"/>
          <p:cNvCxnSpPr>
            <a:cxnSpLocks noChangeShapeType="1"/>
            <a:stCxn id="129" idx="3"/>
            <a:endCxn id="137" idx="2"/>
          </p:cNvCxnSpPr>
          <p:nvPr/>
        </p:nvCxnSpPr>
        <p:spPr bwMode="auto">
          <a:xfrm flipV="1">
            <a:off x="3217968" y="3129902"/>
            <a:ext cx="183440" cy="187631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직사각형 136"/>
          <p:cNvSpPr/>
          <p:nvPr/>
        </p:nvSpPr>
        <p:spPr bwMode="auto">
          <a:xfrm>
            <a:off x="2972780" y="280913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이사장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3" name="Shape 266"/>
          <p:cNvCxnSpPr>
            <a:cxnSpLocks noChangeShapeType="1"/>
            <a:stCxn id="112" idx="2"/>
            <a:endCxn id="162" idx="0"/>
          </p:cNvCxnSpPr>
          <p:nvPr/>
        </p:nvCxnSpPr>
        <p:spPr bwMode="auto">
          <a:xfrm>
            <a:off x="2789340" y="4119116"/>
            <a:ext cx="0" cy="2029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6" name="Shape 266"/>
          <p:cNvCxnSpPr>
            <a:cxnSpLocks noChangeShapeType="1"/>
            <a:stCxn id="137" idx="3"/>
            <a:endCxn id="106" idx="0"/>
          </p:cNvCxnSpPr>
          <p:nvPr/>
        </p:nvCxnSpPr>
        <p:spPr bwMode="auto">
          <a:xfrm>
            <a:off x="3830036" y="2969517"/>
            <a:ext cx="123126" cy="670839"/>
          </a:xfrm>
          <a:prstGeom prst="bentConnector2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7" name="Shape 266"/>
          <p:cNvCxnSpPr>
            <a:cxnSpLocks noChangeShapeType="1"/>
            <a:stCxn id="169" idx="0"/>
            <a:endCxn id="62" idx="2"/>
          </p:cNvCxnSpPr>
          <p:nvPr/>
        </p:nvCxnSpPr>
        <p:spPr bwMode="auto">
          <a:xfrm flipH="1" flipV="1">
            <a:off x="4551568" y="2708921"/>
            <a:ext cx="1968" cy="5135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2" name="직사각형 161"/>
          <p:cNvSpPr/>
          <p:nvPr/>
        </p:nvSpPr>
        <p:spPr bwMode="auto">
          <a:xfrm>
            <a:off x="2360712" y="432208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조직개편안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63" name="Shape 266"/>
          <p:cNvCxnSpPr>
            <a:cxnSpLocks noChangeShapeType="1"/>
            <a:stCxn id="84" idx="2"/>
            <a:endCxn id="112" idx="0"/>
          </p:cNvCxnSpPr>
          <p:nvPr/>
        </p:nvCxnSpPr>
        <p:spPr bwMode="auto">
          <a:xfrm>
            <a:off x="2789340" y="3595374"/>
            <a:ext cx="0" cy="2029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5" name="Shape 266"/>
          <p:cNvCxnSpPr>
            <a:cxnSpLocks noChangeShapeType="1"/>
            <a:stCxn id="162" idx="2"/>
            <a:endCxn id="129" idx="0"/>
          </p:cNvCxnSpPr>
          <p:nvPr/>
        </p:nvCxnSpPr>
        <p:spPr bwMode="auto">
          <a:xfrm>
            <a:off x="2789340" y="4642858"/>
            <a:ext cx="0" cy="2029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9" name="직사각형 168"/>
          <p:cNvSpPr/>
          <p:nvPr/>
        </p:nvSpPr>
        <p:spPr bwMode="auto">
          <a:xfrm>
            <a:off x="4124908" y="3222501"/>
            <a:ext cx="857256" cy="43189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조직신설안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문화체육관광부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1" name="직사각형 170"/>
          <p:cNvSpPr/>
          <p:nvPr/>
        </p:nvSpPr>
        <p:spPr bwMode="auto">
          <a:xfrm>
            <a:off x="4851828" y="398185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조직개편안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4" name="직사각형 183"/>
          <p:cNvSpPr/>
          <p:nvPr/>
        </p:nvSpPr>
        <p:spPr bwMode="auto">
          <a:xfrm>
            <a:off x="4851828" y="45906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조직개편안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통보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97" name="Shape 266"/>
          <p:cNvCxnSpPr>
            <a:cxnSpLocks noChangeShapeType="1"/>
            <a:stCxn id="171" idx="2"/>
            <a:endCxn id="184" idx="0"/>
          </p:cNvCxnSpPr>
          <p:nvPr/>
        </p:nvCxnSpPr>
        <p:spPr bwMode="auto">
          <a:xfrm>
            <a:off x="5280456" y="4302621"/>
            <a:ext cx="0" cy="2880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" name="Shape 266"/>
          <p:cNvCxnSpPr>
            <a:cxnSpLocks noChangeShapeType="1"/>
            <a:stCxn id="184" idx="2"/>
            <a:endCxn id="93" idx="0"/>
          </p:cNvCxnSpPr>
          <p:nvPr/>
        </p:nvCxnSpPr>
        <p:spPr bwMode="auto">
          <a:xfrm>
            <a:off x="5280456" y="4911424"/>
            <a:ext cx="0" cy="1014642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" name="Shape 266"/>
          <p:cNvCxnSpPr>
            <a:cxnSpLocks noChangeShapeType="1"/>
            <a:stCxn id="171" idx="3"/>
            <a:endCxn id="88" idx="1"/>
          </p:cNvCxnSpPr>
          <p:nvPr/>
        </p:nvCxnSpPr>
        <p:spPr bwMode="auto">
          <a:xfrm flipV="1">
            <a:off x="5709084" y="3526903"/>
            <a:ext cx="1476164" cy="61533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4" name="직사각형 203"/>
          <p:cNvSpPr/>
          <p:nvPr/>
        </p:nvSpPr>
        <p:spPr bwMode="auto">
          <a:xfrm>
            <a:off x="8265368" y="484268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조직정원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" name="그룹 69"/>
          <p:cNvGrpSpPr/>
          <p:nvPr/>
        </p:nvGrpSpPr>
        <p:grpSpPr>
          <a:xfrm>
            <a:off x="8312258" y="5733256"/>
            <a:ext cx="756425" cy="417772"/>
            <a:chOff x="1357741" y="2874679"/>
            <a:chExt cx="756425" cy="417772"/>
          </a:xfrm>
        </p:grpSpPr>
        <p:sp>
          <p:nvSpPr>
            <p:cNvPr id="71" name="육각형 70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조직변경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76" name="Shape 266"/>
          <p:cNvCxnSpPr>
            <a:cxnSpLocks noChangeShapeType="1"/>
            <a:stCxn id="78" idx="2"/>
            <a:endCxn id="204" idx="0"/>
          </p:cNvCxnSpPr>
          <p:nvPr/>
        </p:nvCxnSpPr>
        <p:spPr bwMode="auto">
          <a:xfrm flipH="1">
            <a:off x="8693996" y="4329326"/>
            <a:ext cx="5049" cy="5133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8" name="직사각형 87"/>
          <p:cNvSpPr/>
          <p:nvPr/>
        </p:nvSpPr>
        <p:spPr bwMode="auto">
          <a:xfrm>
            <a:off x="7185248" y="33665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중장기인력운영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시뮬레이션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0" name="Shape 266"/>
          <p:cNvCxnSpPr>
            <a:cxnSpLocks noChangeShapeType="1"/>
            <a:stCxn id="204" idx="1"/>
            <a:endCxn id="92" idx="3"/>
          </p:cNvCxnSpPr>
          <p:nvPr/>
        </p:nvCxnSpPr>
        <p:spPr bwMode="auto">
          <a:xfrm rot="10800000">
            <a:off x="7623914" y="4836447"/>
            <a:ext cx="641454" cy="16662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" name="원통 68"/>
          <p:cNvSpPr>
            <a:spLocks noChangeAspect="1" noChangeArrowheads="1"/>
          </p:cNvSpPr>
          <p:nvPr/>
        </p:nvSpPr>
        <p:spPr bwMode="auto">
          <a:xfrm>
            <a:off x="7242973" y="4410633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정원정보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9" name="Shape 266"/>
          <p:cNvCxnSpPr>
            <a:cxnSpLocks noChangeShapeType="1"/>
            <a:stCxn id="85" idx="3"/>
            <a:endCxn id="71" idx="3"/>
          </p:cNvCxnSpPr>
          <p:nvPr/>
        </p:nvCxnSpPr>
        <p:spPr bwMode="auto">
          <a:xfrm>
            <a:off x="7088644" y="5483909"/>
            <a:ext cx="1223614" cy="45450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" name="Shape 266"/>
          <p:cNvCxnSpPr>
            <a:cxnSpLocks noChangeShapeType="1"/>
            <a:stCxn id="204" idx="2"/>
            <a:endCxn id="73" idx="0"/>
          </p:cNvCxnSpPr>
          <p:nvPr/>
        </p:nvCxnSpPr>
        <p:spPr bwMode="auto">
          <a:xfrm flipH="1">
            <a:off x="8690611" y="5163452"/>
            <a:ext cx="3385" cy="58322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40"/>
          <p:cNvGrpSpPr/>
          <p:nvPr/>
        </p:nvGrpSpPr>
        <p:grpSpPr>
          <a:xfrm>
            <a:off x="1457328" y="3232026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조직개편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06" name="순서도: 판단 161"/>
          <p:cNvSpPr>
            <a:spLocks noChangeArrowheads="1"/>
          </p:cNvSpPr>
          <p:nvPr/>
        </p:nvSpPr>
        <p:spPr bwMode="auto">
          <a:xfrm>
            <a:off x="3573245" y="3640356"/>
            <a:ext cx="759834" cy="374233"/>
          </a:xfrm>
          <a:prstGeom prst="flowChartDecision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 신설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953162" y="3942581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4325753" y="3639741"/>
            <a:ext cx="272832" cy="2308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0" name="Shape 266"/>
          <p:cNvCxnSpPr>
            <a:cxnSpLocks noChangeShapeType="1"/>
            <a:stCxn id="106" idx="3"/>
            <a:endCxn id="169" idx="2"/>
          </p:cNvCxnSpPr>
          <p:nvPr/>
        </p:nvCxnSpPr>
        <p:spPr bwMode="auto">
          <a:xfrm flipV="1">
            <a:off x="4333079" y="3654391"/>
            <a:ext cx="220457" cy="173082"/>
          </a:xfrm>
          <a:prstGeom prst="bentConnector2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106" idx="2"/>
            <a:endCxn id="171" idx="1"/>
          </p:cNvCxnSpPr>
          <p:nvPr/>
        </p:nvCxnSpPr>
        <p:spPr bwMode="auto">
          <a:xfrm rot="16200000" flipH="1">
            <a:off x="4338672" y="3629079"/>
            <a:ext cx="127647" cy="898666"/>
          </a:xfrm>
          <a:prstGeom prst="bentConnector2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조직의 개편에 의한 조직 및 이력에 대한 정보를 관리하여 이력 및 권한을 연동하고 이에 따른 정원정보를 등록할 수 있도록 업무프로세스를 변경함</a:t>
            </a:r>
          </a:p>
        </p:txBody>
      </p:sp>
      <p:sp>
        <p:nvSpPr>
          <p:cNvPr id="68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 </a:t>
            </a:r>
            <a:r>
              <a:rPr lang="ko-KR" altLang="en-US" dirty="0"/>
              <a:t>인적자원관리 업무프로세스 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3.3.2.1 </a:t>
            </a:r>
            <a:r>
              <a:rPr lang="ko-KR" altLang="en-US" dirty="0"/>
              <a:t>조직</a:t>
            </a:r>
            <a:r>
              <a:rPr lang="en-US" altLang="ko-KR" dirty="0"/>
              <a:t>/</a:t>
            </a:r>
            <a:r>
              <a:rPr lang="ko-KR" altLang="en-US" dirty="0"/>
              <a:t>정원관리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7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7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5140864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조직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정원관리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2" name="직사각형 61"/>
          <p:cNvSpPr/>
          <p:nvPr/>
        </p:nvSpPr>
        <p:spPr bwMode="auto">
          <a:xfrm>
            <a:off x="3979641" y="2410957"/>
            <a:ext cx="1143854" cy="297964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조직신설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문화체육관광부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8219839" y="2410956"/>
            <a:ext cx="955756" cy="32271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정원증원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기획재정부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9" name="직사각형 68"/>
          <p:cNvSpPr/>
          <p:nvPr/>
        </p:nvSpPr>
        <p:spPr bwMode="auto">
          <a:xfrm>
            <a:off x="7185248" y="397963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조직정원 산정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순서도: 판단 161"/>
          <p:cNvSpPr>
            <a:spLocks noChangeArrowheads="1"/>
          </p:cNvSpPr>
          <p:nvPr/>
        </p:nvSpPr>
        <p:spPr bwMode="auto">
          <a:xfrm>
            <a:off x="8319128" y="3955093"/>
            <a:ext cx="759834" cy="374233"/>
          </a:xfrm>
          <a:prstGeom prst="flowChartDecision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증원</a:t>
            </a:r>
          </a:p>
        </p:txBody>
      </p:sp>
      <p:cxnSp>
        <p:nvCxnSpPr>
          <p:cNvPr id="80" name="Shape 266"/>
          <p:cNvCxnSpPr>
            <a:cxnSpLocks noChangeShapeType="1"/>
            <a:stCxn id="69" idx="3"/>
            <a:endCxn id="78" idx="1"/>
          </p:cNvCxnSpPr>
          <p:nvPr/>
        </p:nvCxnSpPr>
        <p:spPr bwMode="auto">
          <a:xfrm>
            <a:off x="8042504" y="4140017"/>
            <a:ext cx="276624" cy="219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109" idx="0"/>
            <a:endCxn id="66" idx="2"/>
          </p:cNvCxnSpPr>
          <p:nvPr/>
        </p:nvCxnSpPr>
        <p:spPr bwMode="auto">
          <a:xfrm flipH="1" flipV="1">
            <a:off x="8697717" y="2733675"/>
            <a:ext cx="2627" cy="5608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" name="Shape 266"/>
          <p:cNvCxnSpPr>
            <a:cxnSpLocks noChangeShapeType="1"/>
            <a:stCxn id="66" idx="3"/>
            <a:endCxn id="204" idx="3"/>
          </p:cNvCxnSpPr>
          <p:nvPr/>
        </p:nvCxnSpPr>
        <p:spPr bwMode="auto">
          <a:xfrm flipH="1">
            <a:off x="9122624" y="2572316"/>
            <a:ext cx="52971" cy="2430751"/>
          </a:xfrm>
          <a:prstGeom prst="bentConnector3">
            <a:avLst>
              <a:gd name="adj1" fmla="val -431557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TextBox 85"/>
          <p:cNvSpPr txBox="1"/>
          <p:nvPr/>
        </p:nvSpPr>
        <p:spPr>
          <a:xfrm>
            <a:off x="8661412" y="3783757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8661412" y="4323817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직사각형 92"/>
          <p:cNvSpPr/>
          <p:nvPr/>
        </p:nvSpPr>
        <p:spPr bwMode="auto">
          <a:xfrm>
            <a:off x="4851828" y="592606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조직개편안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시뮬레이션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8" name="Shape 266"/>
          <p:cNvCxnSpPr>
            <a:cxnSpLocks noChangeShapeType="1"/>
            <a:stCxn id="93" idx="3"/>
            <a:endCxn id="65" idx="1"/>
          </p:cNvCxnSpPr>
          <p:nvPr/>
        </p:nvCxnSpPr>
        <p:spPr bwMode="auto">
          <a:xfrm>
            <a:off x="5709084" y="6086452"/>
            <a:ext cx="52310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" name="Shape 266"/>
          <p:cNvCxnSpPr>
            <a:cxnSpLocks noChangeShapeType="1"/>
            <a:stCxn id="85" idx="0"/>
            <a:endCxn id="180" idx="3"/>
          </p:cNvCxnSpPr>
          <p:nvPr/>
        </p:nvCxnSpPr>
        <p:spPr bwMode="auto">
          <a:xfrm flipV="1">
            <a:off x="6660016" y="4836447"/>
            <a:ext cx="275" cy="48707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" name="Shape 266"/>
          <p:cNvCxnSpPr>
            <a:cxnSpLocks noChangeShapeType="1"/>
            <a:stCxn id="88" idx="2"/>
            <a:endCxn id="69" idx="0"/>
          </p:cNvCxnSpPr>
          <p:nvPr/>
        </p:nvCxnSpPr>
        <p:spPr bwMode="auto">
          <a:xfrm>
            <a:off x="7613876" y="3687288"/>
            <a:ext cx="0" cy="2923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9" name="직사각형 108"/>
          <p:cNvSpPr/>
          <p:nvPr/>
        </p:nvSpPr>
        <p:spPr bwMode="auto">
          <a:xfrm>
            <a:off x="8271716" y="3294509"/>
            <a:ext cx="857256" cy="440294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정원증원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기획재정부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1" name="Shape 266"/>
          <p:cNvCxnSpPr>
            <a:cxnSpLocks noChangeShapeType="1"/>
            <a:stCxn id="78" idx="0"/>
            <a:endCxn id="109" idx="2"/>
          </p:cNvCxnSpPr>
          <p:nvPr/>
        </p:nvCxnSpPr>
        <p:spPr bwMode="auto">
          <a:xfrm flipV="1">
            <a:off x="8699045" y="3734803"/>
            <a:ext cx="1299" cy="22029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" name="직사각형 64"/>
          <p:cNvSpPr/>
          <p:nvPr/>
        </p:nvSpPr>
        <p:spPr bwMode="auto">
          <a:xfrm>
            <a:off x="6232190" y="592606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조직변동 이력등록</a:t>
            </a:r>
            <a:endParaRPr lang="en-US" altLang="ko-KR" sz="900" kern="0" spc="-12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4" name="Shape 266"/>
          <p:cNvCxnSpPr>
            <a:cxnSpLocks noChangeShapeType="1"/>
            <a:stCxn id="65" idx="0"/>
            <a:endCxn id="85" idx="2"/>
          </p:cNvCxnSpPr>
          <p:nvPr/>
        </p:nvCxnSpPr>
        <p:spPr bwMode="auto">
          <a:xfrm flipH="1" flipV="1">
            <a:off x="6660016" y="5644294"/>
            <a:ext cx="802" cy="2817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10065051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조직의 개편에 의한 조직 및 이력에 대한 정보를 관리하여 이력 및 권한을 연동하고 이에 따른 정원정보를 등록할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 </a:t>
            </a:r>
            <a:r>
              <a:rPr lang="ko-KR" altLang="en-US" dirty="0"/>
              <a:t>조직</a:t>
            </a:r>
            <a:r>
              <a:rPr lang="en-US" altLang="ko-KR" dirty="0"/>
              <a:t>/</a:t>
            </a:r>
            <a:r>
              <a:rPr lang="ko-KR" altLang="en-US" dirty="0"/>
              <a:t>정원관리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989684"/>
              </p:ext>
            </p:extLst>
          </p:nvPr>
        </p:nvGraphicFramePr>
        <p:xfrm>
          <a:off x="344488" y="1604186"/>
          <a:ext cx="9180513" cy="45110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조직개편 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정기 또는 수시로 조직의 신설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변경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개편에 대한 계획안을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직제규정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조직의 신설일 경우 문화체육관광부의 직제규정을 열람하여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위배여부를 확인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 직제규정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조직개편안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조직 개편안이 문화체육관광부 직제규정에 위배되지 않을 경우 계획안에 따른 조직개편 직제구성을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 기획안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이사장 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작성된 조직개편안을 기안하여 이사장에게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이사장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승인 요청한 조직개편안을 이사장이 확인하고 요청 건에 대해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조직신설안 문화체육관광부 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조직개편안이 조직의 신설이 포함될 경우 신설 조직에 대해 문화체육관광부의 승인을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조직신설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문화체육관광부가 신설 조직에 대한 조직개편안에 대해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조직개편안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문화체육관광부의 조직개편안 승인 건에 대해 직제구성을 완료하고 조직개편안을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조직개편안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확정된 조직개편안을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정리하여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정보기획팀에 해당 내용을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조직개편안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시뮬레이션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정보기획팀이 기획담당자가 통보한 조직개편안에 대해 조직 시뮬레이션을 시행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8870772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조직의 개편에 의한 조직 및 이력에 대한 정보를 관리하여 이력 및 권한을 연동하고 이에 따른 정원정보를 등록할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 </a:t>
            </a:r>
            <a:r>
              <a:rPr lang="ko-KR" altLang="en-US" dirty="0"/>
              <a:t>조직</a:t>
            </a:r>
            <a:r>
              <a:rPr lang="en-US" altLang="ko-KR" dirty="0"/>
              <a:t>/</a:t>
            </a:r>
            <a:r>
              <a:rPr lang="ko-KR" altLang="en-US" dirty="0"/>
              <a:t>정원관리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3820109"/>
              </p:ext>
            </p:extLst>
          </p:nvPr>
        </p:nvGraphicFramePr>
        <p:xfrm>
          <a:off x="344488" y="1604186"/>
          <a:ext cx="9180513" cy="33223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조직변동 이력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정보기획팀 담당자가 조직개편안을 기준으로 조직의 통합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분리 등 조직의 구성에 대한 이력을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조직정보등록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정보기획팀 담당자가 조직개편안에 의한 시뮬레이션 후 완성된 직제구성에 대해 조직정보를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중장기인력운영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시뮬레이션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조직개편안을 참조하여 중장기 인력운영에 대한 시뮬레이션을 돌려 계획을 세움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조직개편정보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조직정원 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중장기 인력 시뮬레이션 결과를 토대로 향후 부서별 정원을 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조직정원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정원증원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기획재정부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산정한 정원이 현재보다 증원될 경우 기획재정부에 증원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조직정원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정원증원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기획재정부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기획재정부가 기획담당자의 정원 증원 계획에 대해 검토를 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조직정원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조직정원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기획담당자가 기획재정부의 증원 요청이 승인되면 부서별 정원을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조직정원정보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215665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50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(1/11)</a:t>
            </a:r>
            <a:endParaRPr lang="ko-KR" altLang="en-US" dirty="0"/>
          </a:p>
        </p:txBody>
      </p:sp>
      <p:sp>
        <p:nvSpPr>
          <p:cNvPr id="51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953961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3762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9523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91632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채용계획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채용공고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채용지원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060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채용공고담당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63024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채용대행사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11253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채용지원자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4" name="직사각형 83"/>
          <p:cNvSpPr/>
          <p:nvPr/>
        </p:nvSpPr>
        <p:spPr bwMode="auto">
          <a:xfrm>
            <a:off x="1505408" y="348526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144" idx="2"/>
            <a:endCxn id="84" idx="0"/>
          </p:cNvCxnSpPr>
          <p:nvPr/>
        </p:nvCxnSpPr>
        <p:spPr bwMode="auto">
          <a:xfrm>
            <a:off x="1932666" y="3308345"/>
            <a:ext cx="1370" cy="1769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" name="Shape 266"/>
          <p:cNvCxnSpPr>
            <a:cxnSpLocks noChangeShapeType="1"/>
            <a:stCxn id="161" idx="3"/>
            <a:endCxn id="137" idx="1"/>
          </p:cNvCxnSpPr>
          <p:nvPr/>
        </p:nvCxnSpPr>
        <p:spPr bwMode="auto">
          <a:xfrm flipV="1">
            <a:off x="2362664" y="2540068"/>
            <a:ext cx="292920" cy="157916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직사각형 136"/>
          <p:cNvSpPr/>
          <p:nvPr/>
        </p:nvSpPr>
        <p:spPr bwMode="auto">
          <a:xfrm>
            <a:off x="2655584" y="237968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채용기획안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1" name="직사각형 160"/>
          <p:cNvSpPr/>
          <p:nvPr/>
        </p:nvSpPr>
        <p:spPr bwMode="auto">
          <a:xfrm>
            <a:off x="1505408" y="395884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채용기획안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63" name="Shape 266"/>
          <p:cNvCxnSpPr>
            <a:cxnSpLocks noChangeShapeType="1"/>
            <a:stCxn id="84" idx="2"/>
            <a:endCxn id="161" idx="0"/>
          </p:cNvCxnSpPr>
          <p:nvPr/>
        </p:nvCxnSpPr>
        <p:spPr bwMode="auto">
          <a:xfrm>
            <a:off x="1934036" y="3806038"/>
            <a:ext cx="0" cy="1528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40"/>
          <p:cNvGrpSpPr/>
          <p:nvPr/>
        </p:nvGrpSpPr>
        <p:grpSpPr>
          <a:xfrm>
            <a:off x="1554313" y="2890573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채용요인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94" name="직사각형 93"/>
          <p:cNvSpPr/>
          <p:nvPr/>
        </p:nvSpPr>
        <p:spPr bwMode="auto">
          <a:xfrm>
            <a:off x="2655584" y="294194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채용기획안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6" name="Shape 266"/>
          <p:cNvCxnSpPr>
            <a:cxnSpLocks noChangeShapeType="1"/>
            <a:stCxn id="137" idx="2"/>
            <a:endCxn id="94" idx="0"/>
          </p:cNvCxnSpPr>
          <p:nvPr/>
        </p:nvCxnSpPr>
        <p:spPr bwMode="auto">
          <a:xfrm>
            <a:off x="3084212" y="2700453"/>
            <a:ext cx="0" cy="2414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7" name="직사각형 96"/>
          <p:cNvSpPr/>
          <p:nvPr/>
        </p:nvSpPr>
        <p:spPr bwMode="auto">
          <a:xfrm>
            <a:off x="3856201" y="339626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채용공고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0" name="Shape 266"/>
          <p:cNvCxnSpPr>
            <a:cxnSpLocks noChangeShapeType="1"/>
            <a:stCxn id="94" idx="2"/>
            <a:endCxn id="97" idx="1"/>
          </p:cNvCxnSpPr>
          <p:nvPr/>
        </p:nvCxnSpPr>
        <p:spPr bwMode="auto">
          <a:xfrm rot="16200000" flipH="1">
            <a:off x="3323239" y="3023685"/>
            <a:ext cx="293934" cy="77198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" name="직사각형 102"/>
          <p:cNvSpPr/>
          <p:nvPr/>
        </p:nvSpPr>
        <p:spPr bwMode="auto">
          <a:xfrm>
            <a:off x="3856201" y="465313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채용공고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요청 접수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5" name="Shape 266"/>
          <p:cNvCxnSpPr>
            <a:cxnSpLocks noChangeShapeType="1"/>
            <a:stCxn id="97" idx="2"/>
            <a:endCxn id="103" idx="0"/>
          </p:cNvCxnSpPr>
          <p:nvPr/>
        </p:nvCxnSpPr>
        <p:spPr bwMode="auto">
          <a:xfrm>
            <a:off x="4284829" y="3717032"/>
            <a:ext cx="0" cy="93610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8" name="Shape 266"/>
          <p:cNvCxnSpPr>
            <a:cxnSpLocks noChangeShapeType="1"/>
            <a:stCxn id="103" idx="3"/>
            <a:endCxn id="48" idx="1"/>
          </p:cNvCxnSpPr>
          <p:nvPr/>
        </p:nvCxnSpPr>
        <p:spPr bwMode="auto">
          <a:xfrm flipV="1">
            <a:off x="4713457" y="4813336"/>
            <a:ext cx="153413" cy="1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48" idx="2"/>
            <a:endCxn id="61" idx="0"/>
          </p:cNvCxnSpPr>
          <p:nvPr/>
        </p:nvCxnSpPr>
        <p:spPr bwMode="auto">
          <a:xfrm>
            <a:off x="5295270" y="4973536"/>
            <a:ext cx="0" cy="85836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" name="Shape 266"/>
          <p:cNvCxnSpPr>
            <a:cxnSpLocks noChangeShapeType="1"/>
            <a:stCxn id="61" idx="3"/>
            <a:endCxn id="62" idx="1"/>
          </p:cNvCxnSpPr>
          <p:nvPr/>
        </p:nvCxnSpPr>
        <p:spPr bwMode="auto">
          <a:xfrm>
            <a:off x="5723670" y="5992098"/>
            <a:ext cx="1115218" cy="1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직사각형 120"/>
          <p:cNvSpPr/>
          <p:nvPr/>
        </p:nvSpPr>
        <p:spPr bwMode="auto">
          <a:xfrm>
            <a:off x="6838888" y="52684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지원자 접수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2" name="Shape 266"/>
          <p:cNvCxnSpPr>
            <a:cxnSpLocks noChangeShapeType="1"/>
            <a:stCxn id="94" idx="3"/>
            <a:endCxn id="125" idx="1"/>
          </p:cNvCxnSpPr>
          <p:nvPr/>
        </p:nvCxnSpPr>
        <p:spPr bwMode="auto">
          <a:xfrm flipV="1">
            <a:off x="3512840" y="3102264"/>
            <a:ext cx="1302984" cy="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직사각형 124"/>
          <p:cNvSpPr/>
          <p:nvPr/>
        </p:nvSpPr>
        <p:spPr bwMode="auto">
          <a:xfrm>
            <a:off x="4815824" y="294187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입사지원접수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대행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7" name="직사각형 126"/>
          <p:cNvSpPr/>
          <p:nvPr/>
        </p:nvSpPr>
        <p:spPr bwMode="auto">
          <a:xfrm>
            <a:off x="5614752" y="52684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입사지원접수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0" name="Shape 266"/>
          <p:cNvCxnSpPr>
            <a:cxnSpLocks noChangeShapeType="1"/>
            <a:stCxn id="125" idx="3"/>
            <a:endCxn id="127" idx="0"/>
          </p:cNvCxnSpPr>
          <p:nvPr/>
        </p:nvCxnSpPr>
        <p:spPr bwMode="auto">
          <a:xfrm>
            <a:off x="5673080" y="3102264"/>
            <a:ext cx="370300" cy="21662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" name="Shape 266"/>
          <p:cNvCxnSpPr>
            <a:cxnSpLocks noChangeShapeType="1"/>
            <a:stCxn id="127" idx="3"/>
            <a:endCxn id="121" idx="1"/>
          </p:cNvCxnSpPr>
          <p:nvPr/>
        </p:nvCxnSpPr>
        <p:spPr bwMode="auto">
          <a:xfrm>
            <a:off x="6472008" y="5428855"/>
            <a:ext cx="36688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" name="Shape 266"/>
          <p:cNvCxnSpPr>
            <a:cxnSpLocks noChangeShapeType="1"/>
            <a:stCxn id="62" idx="0"/>
            <a:endCxn id="121" idx="2"/>
          </p:cNvCxnSpPr>
          <p:nvPr/>
        </p:nvCxnSpPr>
        <p:spPr bwMode="auto">
          <a:xfrm flipV="1">
            <a:off x="7267516" y="5589240"/>
            <a:ext cx="0" cy="2426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8" name="직사각형 137"/>
          <p:cNvSpPr/>
          <p:nvPr/>
        </p:nvSpPr>
        <p:spPr bwMode="auto">
          <a:xfrm>
            <a:off x="7977858" y="52684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지원자명부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송부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9" name="Shape 266"/>
          <p:cNvCxnSpPr>
            <a:cxnSpLocks noChangeShapeType="1"/>
            <a:stCxn id="121" idx="3"/>
            <a:endCxn id="138" idx="1"/>
          </p:cNvCxnSpPr>
          <p:nvPr/>
        </p:nvCxnSpPr>
        <p:spPr bwMode="auto">
          <a:xfrm>
            <a:off x="7696144" y="5428855"/>
            <a:ext cx="28171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8" name="직사각형 147"/>
          <p:cNvSpPr/>
          <p:nvPr/>
        </p:nvSpPr>
        <p:spPr bwMode="auto">
          <a:xfrm>
            <a:off x="7977336" y="31479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지원자명부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9" name="Shape 266"/>
          <p:cNvCxnSpPr>
            <a:cxnSpLocks noChangeShapeType="1"/>
            <a:stCxn id="138" idx="0"/>
            <a:endCxn id="148" idx="2"/>
          </p:cNvCxnSpPr>
          <p:nvPr/>
        </p:nvCxnSpPr>
        <p:spPr bwMode="auto">
          <a:xfrm flipH="1" flipV="1">
            <a:off x="8405964" y="3468730"/>
            <a:ext cx="522" cy="17997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0" name="타원 149"/>
          <p:cNvSpPr/>
          <p:nvPr/>
        </p:nvSpPr>
        <p:spPr>
          <a:xfrm>
            <a:off x="9071166" y="321439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51" name="Shape 266"/>
          <p:cNvCxnSpPr>
            <a:cxnSpLocks noChangeShapeType="1"/>
            <a:stCxn id="148" idx="3"/>
            <a:endCxn id="150" idx="2"/>
          </p:cNvCxnSpPr>
          <p:nvPr/>
        </p:nvCxnSpPr>
        <p:spPr bwMode="auto">
          <a:xfrm flipV="1">
            <a:off x="8834592" y="3307279"/>
            <a:ext cx="236574" cy="10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51970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8" name="직사각형 47"/>
          <p:cNvSpPr/>
          <p:nvPr/>
        </p:nvSpPr>
        <p:spPr bwMode="auto">
          <a:xfrm>
            <a:off x="4866870" y="4653136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채용공고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4866870" y="5831898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채용공고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6838888" y="583189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채용 지원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022446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56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(2/11)</a:t>
            </a:r>
            <a:endParaRPr lang="ko-KR" altLang="en-US" dirty="0"/>
          </a:p>
        </p:txBody>
      </p:sp>
      <p:sp>
        <p:nvSpPr>
          <p:cNvPr id="57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984602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13234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11256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서류전형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필기전형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060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채용공고담당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63024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채용대행사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11253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채용지원자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4" name="직사각형 83"/>
          <p:cNvSpPr/>
          <p:nvPr/>
        </p:nvSpPr>
        <p:spPr bwMode="auto">
          <a:xfrm>
            <a:off x="1844913" y="4653980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서류전형 합격자 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64" idx="6"/>
            <a:endCxn id="65" idx="1"/>
          </p:cNvCxnSpPr>
          <p:nvPr/>
        </p:nvCxnSpPr>
        <p:spPr bwMode="auto">
          <a:xfrm>
            <a:off x="1626922" y="2983956"/>
            <a:ext cx="217991" cy="51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직사각형 93"/>
          <p:cNvSpPr/>
          <p:nvPr/>
        </p:nvSpPr>
        <p:spPr bwMode="auto">
          <a:xfrm>
            <a:off x="4628964" y="282768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직사각형 102"/>
          <p:cNvSpPr/>
          <p:nvPr/>
        </p:nvSpPr>
        <p:spPr bwMode="auto">
          <a:xfrm>
            <a:off x="5935202" y="4653136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시행공고 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5" name="Shape 266"/>
          <p:cNvCxnSpPr>
            <a:cxnSpLocks noChangeShapeType="1"/>
            <a:stCxn id="94" idx="2"/>
            <a:endCxn id="99" idx="0"/>
          </p:cNvCxnSpPr>
          <p:nvPr/>
        </p:nvCxnSpPr>
        <p:spPr bwMode="auto">
          <a:xfrm>
            <a:off x="5057592" y="3148458"/>
            <a:ext cx="1627" cy="2466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103" idx="2"/>
            <a:endCxn id="61" idx="0"/>
          </p:cNvCxnSpPr>
          <p:nvPr/>
        </p:nvCxnSpPr>
        <p:spPr bwMode="auto">
          <a:xfrm flipH="1">
            <a:off x="6363602" y="4973907"/>
            <a:ext cx="228" cy="8483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" name="Shape 266"/>
          <p:cNvCxnSpPr>
            <a:cxnSpLocks noChangeShapeType="1"/>
            <a:stCxn id="61" idx="3"/>
            <a:endCxn id="6" idx="2"/>
          </p:cNvCxnSpPr>
          <p:nvPr/>
        </p:nvCxnSpPr>
        <p:spPr bwMode="auto">
          <a:xfrm flipV="1">
            <a:off x="6792002" y="3094155"/>
            <a:ext cx="399891" cy="288833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" name="직사각형 126"/>
          <p:cNvSpPr/>
          <p:nvPr/>
        </p:nvSpPr>
        <p:spPr bwMode="auto">
          <a:xfrm>
            <a:off x="7191893" y="283600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시행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1424608" y="289107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844913" y="282875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서류전형 시행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/>
          <p:cNvSpPr/>
          <p:nvPr/>
        </p:nvSpPr>
        <p:spPr bwMode="auto">
          <a:xfrm>
            <a:off x="1848189" y="326805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서류전형 결과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직사각형 70"/>
          <p:cNvSpPr/>
          <p:nvPr/>
        </p:nvSpPr>
        <p:spPr bwMode="auto">
          <a:xfrm>
            <a:off x="1848189" y="411521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서류전형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합격자 공고 요청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2" name="Shape 266"/>
          <p:cNvCxnSpPr>
            <a:cxnSpLocks noChangeShapeType="1"/>
            <a:stCxn id="65" idx="2"/>
            <a:endCxn id="70" idx="0"/>
          </p:cNvCxnSpPr>
          <p:nvPr/>
        </p:nvCxnSpPr>
        <p:spPr bwMode="auto">
          <a:xfrm>
            <a:off x="2273541" y="3149529"/>
            <a:ext cx="3276" cy="11852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70" idx="2"/>
            <a:endCxn id="126" idx="0"/>
          </p:cNvCxnSpPr>
          <p:nvPr/>
        </p:nvCxnSpPr>
        <p:spPr bwMode="auto">
          <a:xfrm>
            <a:off x="2276817" y="3588821"/>
            <a:ext cx="0" cy="943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/>
          <p:cNvCxnSpPr>
            <a:cxnSpLocks noChangeShapeType="1"/>
            <a:stCxn id="71" idx="2"/>
            <a:endCxn id="84" idx="0"/>
          </p:cNvCxnSpPr>
          <p:nvPr/>
        </p:nvCxnSpPr>
        <p:spPr bwMode="auto">
          <a:xfrm flipH="1">
            <a:off x="2273541" y="4435983"/>
            <a:ext cx="3276" cy="2179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" name="Shape 266"/>
          <p:cNvCxnSpPr>
            <a:cxnSpLocks noChangeShapeType="1"/>
            <a:stCxn id="86" idx="3"/>
            <a:endCxn id="3" idx="2"/>
          </p:cNvCxnSpPr>
          <p:nvPr/>
        </p:nvCxnSpPr>
        <p:spPr bwMode="auto">
          <a:xfrm flipV="1">
            <a:off x="3953355" y="3094155"/>
            <a:ext cx="675609" cy="118257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직사각형 85"/>
          <p:cNvSpPr/>
          <p:nvPr/>
        </p:nvSpPr>
        <p:spPr bwMode="auto">
          <a:xfrm>
            <a:off x="3096099" y="41163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증빙서류 접수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8" name="Shape 266"/>
          <p:cNvCxnSpPr>
            <a:cxnSpLocks noChangeShapeType="1"/>
            <a:stCxn id="84" idx="2"/>
            <a:endCxn id="53" idx="0"/>
          </p:cNvCxnSpPr>
          <p:nvPr/>
        </p:nvCxnSpPr>
        <p:spPr bwMode="auto">
          <a:xfrm flipH="1">
            <a:off x="2273313" y="4974751"/>
            <a:ext cx="228" cy="8475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58" idx="0"/>
            <a:endCxn id="86" idx="2"/>
          </p:cNvCxnSpPr>
          <p:nvPr/>
        </p:nvCxnSpPr>
        <p:spPr bwMode="auto">
          <a:xfrm flipV="1">
            <a:off x="3524727" y="4437112"/>
            <a:ext cx="0" cy="13851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8" name="Shape 266"/>
          <p:cNvCxnSpPr>
            <a:cxnSpLocks noChangeShapeType="1"/>
            <a:stCxn id="53" idx="3"/>
            <a:endCxn id="58" idx="1"/>
          </p:cNvCxnSpPr>
          <p:nvPr/>
        </p:nvCxnSpPr>
        <p:spPr bwMode="auto">
          <a:xfrm>
            <a:off x="2701713" y="5982489"/>
            <a:ext cx="394386" cy="1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" name="직사각형 98"/>
          <p:cNvSpPr/>
          <p:nvPr/>
        </p:nvSpPr>
        <p:spPr bwMode="auto">
          <a:xfrm>
            <a:off x="4630591" y="339513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기획안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직사각형 100"/>
          <p:cNvSpPr/>
          <p:nvPr/>
        </p:nvSpPr>
        <p:spPr bwMode="auto">
          <a:xfrm>
            <a:off x="5935202" y="237968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6" name="Shape 266"/>
          <p:cNvCxnSpPr>
            <a:cxnSpLocks noChangeShapeType="1"/>
            <a:stCxn id="99" idx="3"/>
            <a:endCxn id="101" idx="1"/>
          </p:cNvCxnSpPr>
          <p:nvPr/>
        </p:nvCxnSpPr>
        <p:spPr bwMode="auto">
          <a:xfrm flipV="1">
            <a:off x="5487847" y="2540068"/>
            <a:ext cx="447355" cy="10154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7" name="직사각형 106"/>
          <p:cNvSpPr/>
          <p:nvPr/>
        </p:nvSpPr>
        <p:spPr bwMode="auto">
          <a:xfrm>
            <a:off x="5935202" y="283293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시행공고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9" name="Shape 266"/>
          <p:cNvCxnSpPr>
            <a:cxnSpLocks noChangeShapeType="1"/>
            <a:stCxn id="101" idx="2"/>
            <a:endCxn id="107" idx="0"/>
          </p:cNvCxnSpPr>
          <p:nvPr/>
        </p:nvCxnSpPr>
        <p:spPr bwMode="auto">
          <a:xfrm>
            <a:off x="6363830" y="2700453"/>
            <a:ext cx="0" cy="13248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" name="Shape 266"/>
          <p:cNvCxnSpPr>
            <a:cxnSpLocks noChangeShapeType="1"/>
            <a:stCxn id="107" idx="2"/>
            <a:endCxn id="103" idx="0"/>
          </p:cNvCxnSpPr>
          <p:nvPr/>
        </p:nvCxnSpPr>
        <p:spPr bwMode="auto">
          <a:xfrm>
            <a:off x="6363830" y="3153707"/>
            <a:ext cx="0" cy="149942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0" name="직사각형 119"/>
          <p:cNvSpPr/>
          <p:nvPr/>
        </p:nvSpPr>
        <p:spPr bwMode="auto">
          <a:xfrm>
            <a:off x="7191893" y="326805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결과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3" name="Shape 266"/>
          <p:cNvCxnSpPr>
            <a:cxnSpLocks noChangeShapeType="1"/>
            <a:stCxn id="126" idx="3"/>
            <a:endCxn id="94" idx="1"/>
          </p:cNvCxnSpPr>
          <p:nvPr/>
        </p:nvCxnSpPr>
        <p:spPr bwMode="auto">
          <a:xfrm flipV="1">
            <a:off x="2705445" y="2988073"/>
            <a:ext cx="1923519" cy="85547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6" name="직사각형 125"/>
          <p:cNvSpPr/>
          <p:nvPr/>
        </p:nvSpPr>
        <p:spPr bwMode="auto">
          <a:xfrm>
            <a:off x="1848189" y="36831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서류전형 결과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8" name="Shape 266"/>
          <p:cNvCxnSpPr>
            <a:cxnSpLocks noChangeShapeType="1"/>
            <a:stCxn id="126" idx="2"/>
            <a:endCxn id="71" idx="0"/>
          </p:cNvCxnSpPr>
          <p:nvPr/>
        </p:nvCxnSpPr>
        <p:spPr bwMode="auto">
          <a:xfrm>
            <a:off x="2276817" y="4003935"/>
            <a:ext cx="0" cy="1112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" name="Shape 266"/>
          <p:cNvCxnSpPr>
            <a:cxnSpLocks noChangeShapeType="1"/>
            <a:stCxn id="107" idx="3"/>
            <a:endCxn id="127" idx="1"/>
          </p:cNvCxnSpPr>
          <p:nvPr/>
        </p:nvCxnSpPr>
        <p:spPr bwMode="auto">
          <a:xfrm>
            <a:off x="6792458" y="2993322"/>
            <a:ext cx="399435" cy="30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5" name="직사각형 134"/>
          <p:cNvSpPr/>
          <p:nvPr/>
        </p:nvSpPr>
        <p:spPr bwMode="auto">
          <a:xfrm>
            <a:off x="7191893" y="4653980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합격자 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0" name="직사각형 139"/>
          <p:cNvSpPr/>
          <p:nvPr/>
        </p:nvSpPr>
        <p:spPr bwMode="auto">
          <a:xfrm>
            <a:off x="7191893" y="411521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합격자 공고 요청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3" name="Shape 266"/>
          <p:cNvCxnSpPr>
            <a:cxnSpLocks noChangeShapeType="1"/>
            <a:stCxn id="120" idx="2"/>
            <a:endCxn id="147" idx="0"/>
          </p:cNvCxnSpPr>
          <p:nvPr/>
        </p:nvCxnSpPr>
        <p:spPr bwMode="auto">
          <a:xfrm>
            <a:off x="7620521" y="3588821"/>
            <a:ext cx="0" cy="943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6" name="Shape 266"/>
          <p:cNvCxnSpPr>
            <a:cxnSpLocks noChangeShapeType="1"/>
            <a:stCxn id="140" idx="2"/>
            <a:endCxn id="135" idx="0"/>
          </p:cNvCxnSpPr>
          <p:nvPr/>
        </p:nvCxnSpPr>
        <p:spPr bwMode="auto">
          <a:xfrm>
            <a:off x="7620521" y="4435983"/>
            <a:ext cx="0" cy="2179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7" name="직사각형 146"/>
          <p:cNvSpPr/>
          <p:nvPr/>
        </p:nvSpPr>
        <p:spPr bwMode="auto">
          <a:xfrm>
            <a:off x="7191893" y="36831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필기전형 결과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52" name="Shape 266"/>
          <p:cNvCxnSpPr>
            <a:cxnSpLocks noChangeShapeType="1"/>
            <a:stCxn id="147" idx="2"/>
            <a:endCxn id="140" idx="0"/>
          </p:cNvCxnSpPr>
          <p:nvPr/>
        </p:nvCxnSpPr>
        <p:spPr bwMode="auto">
          <a:xfrm>
            <a:off x="7620521" y="4003935"/>
            <a:ext cx="0" cy="1112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4" name="Shape 266"/>
          <p:cNvCxnSpPr>
            <a:cxnSpLocks noChangeShapeType="1"/>
            <a:stCxn id="135" idx="2"/>
            <a:endCxn id="62" idx="0"/>
          </p:cNvCxnSpPr>
          <p:nvPr/>
        </p:nvCxnSpPr>
        <p:spPr bwMode="auto">
          <a:xfrm flipH="1">
            <a:off x="7620293" y="4974751"/>
            <a:ext cx="228" cy="8475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6" name="타원 155"/>
          <p:cNvSpPr/>
          <p:nvPr/>
        </p:nvSpPr>
        <p:spPr>
          <a:xfrm>
            <a:off x="8774256" y="375120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57" name="Shape 266"/>
          <p:cNvCxnSpPr>
            <a:cxnSpLocks noChangeShapeType="1"/>
            <a:stCxn id="147" idx="3"/>
            <a:endCxn id="156" idx="2"/>
          </p:cNvCxnSpPr>
          <p:nvPr/>
        </p:nvCxnSpPr>
        <p:spPr bwMode="auto">
          <a:xfrm>
            <a:off x="8049149" y="3843550"/>
            <a:ext cx="725107" cy="5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8" name="Shape 266"/>
          <p:cNvCxnSpPr>
            <a:cxnSpLocks noChangeShapeType="1"/>
            <a:stCxn id="59" idx="0"/>
            <a:endCxn id="156" idx="4"/>
          </p:cNvCxnSpPr>
          <p:nvPr/>
        </p:nvCxnSpPr>
        <p:spPr bwMode="auto">
          <a:xfrm flipV="1">
            <a:off x="8874016" y="3936960"/>
            <a:ext cx="1397" cy="16562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" name="Shape 266"/>
          <p:cNvCxnSpPr>
            <a:cxnSpLocks noChangeShapeType="1"/>
            <a:stCxn id="127" idx="2"/>
            <a:endCxn id="120" idx="0"/>
          </p:cNvCxnSpPr>
          <p:nvPr/>
        </p:nvCxnSpPr>
        <p:spPr bwMode="auto">
          <a:xfrm>
            <a:off x="7620521" y="3156773"/>
            <a:ext cx="0" cy="1112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5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911883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3" name="직사각형 52"/>
          <p:cNvSpPr/>
          <p:nvPr/>
        </p:nvSpPr>
        <p:spPr bwMode="auto">
          <a:xfrm>
            <a:off x="1844913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서류전형 합격자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3096099" y="582228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증빙서류제출</a:t>
            </a:r>
            <a:endParaRPr lang="en-US" altLang="ko-KR" sz="900" kern="0" spc="-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8445388" y="410258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36.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증빙서류 접수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8445388" y="582228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35.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증빙서류제출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5935202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시행공고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7191893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필기전형 합격자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8" name="Shape 266"/>
          <p:cNvCxnSpPr>
            <a:cxnSpLocks noChangeShapeType="1"/>
            <a:stCxn id="62" idx="3"/>
            <a:endCxn id="60" idx="1"/>
          </p:cNvCxnSpPr>
          <p:nvPr/>
        </p:nvCxnSpPr>
        <p:spPr bwMode="auto">
          <a:xfrm>
            <a:off x="8048693" y="5982489"/>
            <a:ext cx="396695" cy="1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60" idx="0"/>
            <a:endCxn id="59" idx="2"/>
          </p:cNvCxnSpPr>
          <p:nvPr/>
        </p:nvCxnSpPr>
        <p:spPr bwMode="auto">
          <a:xfrm flipV="1">
            <a:off x="8874016" y="4423352"/>
            <a:ext cx="0" cy="13989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타원 2"/>
          <p:cNvSpPr/>
          <p:nvPr/>
        </p:nvSpPr>
        <p:spPr>
          <a:xfrm>
            <a:off x="4628964" y="3011337"/>
            <a:ext cx="180020" cy="16563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타원 5"/>
          <p:cNvSpPr/>
          <p:nvPr/>
        </p:nvSpPr>
        <p:spPr>
          <a:xfrm>
            <a:off x="7191893" y="3011337"/>
            <a:ext cx="173375" cy="16563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34279229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62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(3/11)</a:t>
            </a:r>
            <a:endParaRPr lang="ko-KR" altLang="en-US" dirty="0"/>
          </a:p>
        </p:txBody>
      </p:sp>
      <p:sp>
        <p:nvSpPr>
          <p:cNvPr id="63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041320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10445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14046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3.1.2.6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면접전형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3.1.2.7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실기전형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060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채용공고담당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63024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채용대행사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11253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채용지원자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89" name="Shape 266"/>
          <p:cNvCxnSpPr>
            <a:cxnSpLocks noChangeShapeType="1"/>
            <a:stCxn id="64" idx="6"/>
            <a:endCxn id="94" idx="1"/>
          </p:cNvCxnSpPr>
          <p:nvPr/>
        </p:nvCxnSpPr>
        <p:spPr bwMode="auto">
          <a:xfrm>
            <a:off x="1518910" y="2983956"/>
            <a:ext cx="206215" cy="41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직사각형 93"/>
          <p:cNvSpPr/>
          <p:nvPr/>
        </p:nvSpPr>
        <p:spPr bwMode="auto">
          <a:xfrm>
            <a:off x="1725125" y="282768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직사각형 102"/>
          <p:cNvSpPr/>
          <p:nvPr/>
        </p:nvSpPr>
        <p:spPr bwMode="auto">
          <a:xfrm>
            <a:off x="2936776" y="4653136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시행공고 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5" name="Shape 266"/>
          <p:cNvCxnSpPr>
            <a:cxnSpLocks noChangeShapeType="1"/>
            <a:stCxn id="94" idx="2"/>
            <a:endCxn id="99" idx="0"/>
          </p:cNvCxnSpPr>
          <p:nvPr/>
        </p:nvCxnSpPr>
        <p:spPr bwMode="auto">
          <a:xfrm>
            <a:off x="2153753" y="3148458"/>
            <a:ext cx="1627" cy="2466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103" idx="2"/>
            <a:endCxn id="61" idx="0"/>
          </p:cNvCxnSpPr>
          <p:nvPr/>
        </p:nvCxnSpPr>
        <p:spPr bwMode="auto">
          <a:xfrm flipH="1">
            <a:off x="3365176" y="4973907"/>
            <a:ext cx="228" cy="8483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" name="Shape 266"/>
          <p:cNvCxnSpPr>
            <a:cxnSpLocks noChangeShapeType="1"/>
            <a:stCxn id="61" idx="3"/>
            <a:endCxn id="4" idx="2"/>
          </p:cNvCxnSpPr>
          <p:nvPr/>
        </p:nvCxnSpPr>
        <p:spPr bwMode="auto">
          <a:xfrm flipV="1">
            <a:off x="3793576" y="3129952"/>
            <a:ext cx="602490" cy="285253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" name="직사각형 126"/>
          <p:cNvSpPr/>
          <p:nvPr/>
        </p:nvSpPr>
        <p:spPr bwMode="auto">
          <a:xfrm>
            <a:off x="4399130" y="2826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시행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1316596" y="289107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99" name="직사각형 98"/>
          <p:cNvSpPr/>
          <p:nvPr/>
        </p:nvSpPr>
        <p:spPr bwMode="auto">
          <a:xfrm>
            <a:off x="1726752" y="339513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기획안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직사각형 100"/>
          <p:cNvSpPr/>
          <p:nvPr/>
        </p:nvSpPr>
        <p:spPr bwMode="auto">
          <a:xfrm>
            <a:off x="2936776" y="237968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6" name="Shape 266"/>
          <p:cNvCxnSpPr>
            <a:cxnSpLocks noChangeShapeType="1"/>
            <a:stCxn id="99" idx="3"/>
            <a:endCxn id="101" idx="1"/>
          </p:cNvCxnSpPr>
          <p:nvPr/>
        </p:nvCxnSpPr>
        <p:spPr bwMode="auto">
          <a:xfrm flipV="1">
            <a:off x="2584008" y="2540068"/>
            <a:ext cx="352768" cy="10154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7" name="직사각형 106"/>
          <p:cNvSpPr/>
          <p:nvPr/>
        </p:nvSpPr>
        <p:spPr bwMode="auto">
          <a:xfrm>
            <a:off x="2936776" y="2826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시행공고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9" name="Shape 266"/>
          <p:cNvCxnSpPr>
            <a:cxnSpLocks noChangeShapeType="1"/>
            <a:stCxn id="101" idx="2"/>
            <a:endCxn id="107" idx="0"/>
          </p:cNvCxnSpPr>
          <p:nvPr/>
        </p:nvCxnSpPr>
        <p:spPr bwMode="auto">
          <a:xfrm>
            <a:off x="3365404" y="2700453"/>
            <a:ext cx="0" cy="1265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1" name="Shape 266"/>
          <p:cNvCxnSpPr>
            <a:cxnSpLocks noChangeShapeType="1"/>
            <a:stCxn id="107" idx="2"/>
            <a:endCxn id="103" idx="0"/>
          </p:cNvCxnSpPr>
          <p:nvPr/>
        </p:nvCxnSpPr>
        <p:spPr bwMode="auto">
          <a:xfrm>
            <a:off x="3365404" y="3147724"/>
            <a:ext cx="0" cy="150541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0" name="직사각형 119"/>
          <p:cNvSpPr/>
          <p:nvPr/>
        </p:nvSpPr>
        <p:spPr bwMode="auto">
          <a:xfrm>
            <a:off x="4396066" y="326805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결과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2" name="Shape 266"/>
          <p:cNvCxnSpPr>
            <a:cxnSpLocks noChangeShapeType="1"/>
            <a:stCxn id="107" idx="3"/>
            <a:endCxn id="127" idx="1"/>
          </p:cNvCxnSpPr>
          <p:nvPr/>
        </p:nvCxnSpPr>
        <p:spPr bwMode="auto">
          <a:xfrm>
            <a:off x="3794032" y="2987339"/>
            <a:ext cx="60509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5" name="직사각형 134"/>
          <p:cNvSpPr/>
          <p:nvPr/>
        </p:nvSpPr>
        <p:spPr bwMode="auto">
          <a:xfrm>
            <a:off x="4398723" y="4653980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합격자 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0" name="직사각형 139"/>
          <p:cNvSpPr/>
          <p:nvPr/>
        </p:nvSpPr>
        <p:spPr bwMode="auto">
          <a:xfrm>
            <a:off x="4401999" y="411521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</a:t>
            </a:r>
            <a:r>
              <a:rPr lang="ko-KR" altLang="en-US" sz="900" kern="0" spc="-11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합격자 공고 요청</a:t>
            </a:r>
            <a:endParaRPr lang="en-US" altLang="ko-KR" sz="900" kern="0" spc="-11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3" name="Shape 266"/>
          <p:cNvCxnSpPr>
            <a:cxnSpLocks noChangeShapeType="1"/>
            <a:stCxn id="120" idx="2"/>
            <a:endCxn id="147" idx="0"/>
          </p:cNvCxnSpPr>
          <p:nvPr/>
        </p:nvCxnSpPr>
        <p:spPr bwMode="auto">
          <a:xfrm>
            <a:off x="4824694" y="3588821"/>
            <a:ext cx="2967" cy="943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6" name="Shape 266"/>
          <p:cNvCxnSpPr>
            <a:cxnSpLocks noChangeShapeType="1"/>
            <a:stCxn id="140" idx="2"/>
            <a:endCxn id="135" idx="0"/>
          </p:cNvCxnSpPr>
          <p:nvPr/>
        </p:nvCxnSpPr>
        <p:spPr bwMode="auto">
          <a:xfrm flipH="1">
            <a:off x="4827351" y="4435983"/>
            <a:ext cx="3276" cy="2179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7" name="직사각형 146"/>
          <p:cNvSpPr/>
          <p:nvPr/>
        </p:nvSpPr>
        <p:spPr bwMode="auto">
          <a:xfrm>
            <a:off x="4401999" y="3683164"/>
            <a:ext cx="851323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면접전형 결과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52" name="Shape 266"/>
          <p:cNvCxnSpPr>
            <a:cxnSpLocks noChangeShapeType="1"/>
            <a:stCxn id="147" idx="2"/>
            <a:endCxn id="140" idx="0"/>
          </p:cNvCxnSpPr>
          <p:nvPr/>
        </p:nvCxnSpPr>
        <p:spPr bwMode="auto">
          <a:xfrm>
            <a:off x="4827661" y="4003935"/>
            <a:ext cx="2966" cy="1112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4" name="Shape 266"/>
          <p:cNvCxnSpPr>
            <a:cxnSpLocks noChangeShapeType="1"/>
            <a:stCxn id="135" idx="2"/>
            <a:endCxn id="65" idx="0"/>
          </p:cNvCxnSpPr>
          <p:nvPr/>
        </p:nvCxnSpPr>
        <p:spPr bwMode="auto">
          <a:xfrm flipH="1">
            <a:off x="4827123" y="4974751"/>
            <a:ext cx="228" cy="8475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147" idx="3"/>
            <a:endCxn id="74" idx="1"/>
          </p:cNvCxnSpPr>
          <p:nvPr/>
        </p:nvCxnSpPr>
        <p:spPr bwMode="auto">
          <a:xfrm flipV="1">
            <a:off x="5253322" y="2987339"/>
            <a:ext cx="468247" cy="85621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4" name="직사각형 73"/>
          <p:cNvSpPr/>
          <p:nvPr/>
        </p:nvSpPr>
        <p:spPr bwMode="auto">
          <a:xfrm>
            <a:off x="5721569" y="2826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직사각형 75"/>
          <p:cNvSpPr/>
          <p:nvPr/>
        </p:nvSpPr>
        <p:spPr bwMode="auto">
          <a:xfrm>
            <a:off x="7027807" y="4652402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시행공고 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7" name="Shape 266"/>
          <p:cNvCxnSpPr>
            <a:cxnSpLocks noChangeShapeType="1"/>
            <a:stCxn id="74" idx="2"/>
            <a:endCxn id="85" idx="0"/>
          </p:cNvCxnSpPr>
          <p:nvPr/>
        </p:nvCxnSpPr>
        <p:spPr bwMode="auto">
          <a:xfrm>
            <a:off x="6150197" y="3147724"/>
            <a:ext cx="1627" cy="2466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76" idx="2"/>
            <a:endCxn id="68" idx="0"/>
          </p:cNvCxnSpPr>
          <p:nvPr/>
        </p:nvCxnSpPr>
        <p:spPr bwMode="auto">
          <a:xfrm flipH="1">
            <a:off x="7456207" y="4973173"/>
            <a:ext cx="228" cy="84911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68" idx="3"/>
            <a:endCxn id="12" idx="2"/>
          </p:cNvCxnSpPr>
          <p:nvPr/>
        </p:nvCxnSpPr>
        <p:spPr bwMode="auto">
          <a:xfrm flipV="1">
            <a:off x="7884607" y="3074314"/>
            <a:ext cx="399891" cy="290817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8284498" y="2826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시행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5723196" y="339439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기획안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7027807" y="237894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stCxn id="85" idx="3"/>
            <a:endCxn id="90" idx="1"/>
          </p:cNvCxnSpPr>
          <p:nvPr/>
        </p:nvCxnSpPr>
        <p:spPr bwMode="auto">
          <a:xfrm flipV="1">
            <a:off x="6580452" y="2539334"/>
            <a:ext cx="447355" cy="10154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5" name="직사각형 94"/>
          <p:cNvSpPr/>
          <p:nvPr/>
        </p:nvSpPr>
        <p:spPr bwMode="auto">
          <a:xfrm>
            <a:off x="7027807" y="2826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시행공고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6" name="Shape 266"/>
          <p:cNvCxnSpPr>
            <a:cxnSpLocks noChangeShapeType="1"/>
            <a:stCxn id="90" idx="2"/>
            <a:endCxn id="95" idx="0"/>
          </p:cNvCxnSpPr>
          <p:nvPr/>
        </p:nvCxnSpPr>
        <p:spPr bwMode="auto">
          <a:xfrm>
            <a:off x="7456435" y="2699719"/>
            <a:ext cx="0" cy="1272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95" idx="2"/>
            <a:endCxn id="76" idx="0"/>
          </p:cNvCxnSpPr>
          <p:nvPr/>
        </p:nvCxnSpPr>
        <p:spPr bwMode="auto">
          <a:xfrm>
            <a:off x="7456435" y="3147724"/>
            <a:ext cx="0" cy="15046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" name="직사각형 99"/>
          <p:cNvSpPr/>
          <p:nvPr/>
        </p:nvSpPr>
        <p:spPr bwMode="auto">
          <a:xfrm>
            <a:off x="8284498" y="32673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결과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2" name="Shape 266"/>
          <p:cNvCxnSpPr>
            <a:cxnSpLocks noChangeShapeType="1"/>
            <a:stCxn id="95" idx="3"/>
            <a:endCxn id="82" idx="1"/>
          </p:cNvCxnSpPr>
          <p:nvPr/>
        </p:nvCxnSpPr>
        <p:spPr bwMode="auto">
          <a:xfrm>
            <a:off x="7885063" y="2987339"/>
            <a:ext cx="39943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4" name="직사각형 103"/>
          <p:cNvSpPr/>
          <p:nvPr/>
        </p:nvSpPr>
        <p:spPr bwMode="auto">
          <a:xfrm>
            <a:off x="8284498" y="4653246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합격자 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8" name="직사각형 107"/>
          <p:cNvSpPr/>
          <p:nvPr/>
        </p:nvSpPr>
        <p:spPr bwMode="auto">
          <a:xfrm>
            <a:off x="8284498" y="411447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</a:t>
            </a:r>
            <a:r>
              <a:rPr lang="ko-KR" altLang="en-US" sz="900" kern="0" spc="-11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합격자 공고 요청</a:t>
            </a:r>
            <a:endParaRPr lang="en-US" altLang="ko-KR" sz="900" kern="0" spc="-11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0" name="Shape 266"/>
          <p:cNvCxnSpPr>
            <a:cxnSpLocks noChangeShapeType="1"/>
            <a:stCxn id="100" idx="2"/>
            <a:endCxn id="114" idx="0"/>
          </p:cNvCxnSpPr>
          <p:nvPr/>
        </p:nvCxnSpPr>
        <p:spPr bwMode="auto">
          <a:xfrm>
            <a:off x="8713126" y="3588087"/>
            <a:ext cx="0" cy="10322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" name="Shape 266"/>
          <p:cNvCxnSpPr>
            <a:cxnSpLocks noChangeShapeType="1"/>
            <a:stCxn id="108" idx="2"/>
            <a:endCxn id="104" idx="0"/>
          </p:cNvCxnSpPr>
          <p:nvPr/>
        </p:nvCxnSpPr>
        <p:spPr bwMode="auto">
          <a:xfrm>
            <a:off x="8713126" y="4435249"/>
            <a:ext cx="0" cy="2179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4" name="직사각형 113"/>
          <p:cNvSpPr/>
          <p:nvPr/>
        </p:nvSpPr>
        <p:spPr bwMode="auto">
          <a:xfrm>
            <a:off x="8284498" y="369130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실기전형 결과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6" name="Shape 266"/>
          <p:cNvCxnSpPr>
            <a:cxnSpLocks noChangeShapeType="1"/>
            <a:stCxn id="114" idx="2"/>
            <a:endCxn id="108" idx="0"/>
          </p:cNvCxnSpPr>
          <p:nvPr/>
        </p:nvCxnSpPr>
        <p:spPr bwMode="auto">
          <a:xfrm>
            <a:off x="8713126" y="4012079"/>
            <a:ext cx="0" cy="10239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" name="Shape 266"/>
          <p:cNvCxnSpPr>
            <a:cxnSpLocks noChangeShapeType="1"/>
            <a:stCxn id="104" idx="2"/>
            <a:endCxn id="69" idx="0"/>
          </p:cNvCxnSpPr>
          <p:nvPr/>
        </p:nvCxnSpPr>
        <p:spPr bwMode="auto">
          <a:xfrm flipH="1">
            <a:off x="8712898" y="4974017"/>
            <a:ext cx="228" cy="8482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1" name="Shape 266"/>
          <p:cNvCxnSpPr>
            <a:cxnSpLocks noChangeShapeType="1"/>
            <a:stCxn id="65" idx="3"/>
            <a:endCxn id="74" idx="1"/>
          </p:cNvCxnSpPr>
          <p:nvPr/>
        </p:nvCxnSpPr>
        <p:spPr bwMode="auto">
          <a:xfrm flipV="1">
            <a:off x="5255523" y="2987339"/>
            <a:ext cx="466046" cy="299515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" name="타원 77"/>
          <p:cNvSpPr/>
          <p:nvPr/>
        </p:nvSpPr>
        <p:spPr>
          <a:xfrm>
            <a:off x="9273480" y="332256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83" name="Shape 266"/>
          <p:cNvCxnSpPr>
            <a:cxnSpLocks noChangeShapeType="1"/>
            <a:stCxn id="69" idx="3"/>
            <a:endCxn id="78" idx="4"/>
          </p:cNvCxnSpPr>
          <p:nvPr/>
        </p:nvCxnSpPr>
        <p:spPr bwMode="auto">
          <a:xfrm flipV="1">
            <a:off x="9141298" y="3508324"/>
            <a:ext cx="233339" cy="247416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" name="Shape 266"/>
          <p:cNvCxnSpPr>
            <a:cxnSpLocks noChangeShapeType="1"/>
            <a:stCxn id="114" idx="3"/>
            <a:endCxn id="78" idx="4"/>
          </p:cNvCxnSpPr>
          <p:nvPr/>
        </p:nvCxnSpPr>
        <p:spPr bwMode="auto">
          <a:xfrm flipV="1">
            <a:off x="9141754" y="3508324"/>
            <a:ext cx="232883" cy="34337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0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284736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1" name="직사각형 60"/>
          <p:cNvSpPr/>
          <p:nvPr/>
        </p:nvSpPr>
        <p:spPr bwMode="auto">
          <a:xfrm>
            <a:off x="2936776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시행공고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4398723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면접전형 합격자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7027807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시행공고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9" name="직사각형 68"/>
          <p:cNvSpPr/>
          <p:nvPr/>
        </p:nvSpPr>
        <p:spPr bwMode="auto">
          <a:xfrm>
            <a:off x="8284498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실기전형 합격자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5" name="Shape 266"/>
          <p:cNvCxnSpPr>
            <a:cxnSpLocks noChangeShapeType="1"/>
            <a:stCxn id="82" idx="2"/>
            <a:endCxn id="100" idx="0"/>
          </p:cNvCxnSpPr>
          <p:nvPr/>
        </p:nvCxnSpPr>
        <p:spPr bwMode="auto">
          <a:xfrm>
            <a:off x="8713126" y="3147724"/>
            <a:ext cx="0" cy="11959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" name="타원 3"/>
          <p:cNvSpPr/>
          <p:nvPr/>
        </p:nvSpPr>
        <p:spPr>
          <a:xfrm>
            <a:off x="4396066" y="2992588"/>
            <a:ext cx="232898" cy="27472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타원 7"/>
          <p:cNvSpPr/>
          <p:nvPr/>
        </p:nvSpPr>
        <p:spPr>
          <a:xfrm>
            <a:off x="5721569" y="2992588"/>
            <a:ext cx="167535" cy="163451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타원 11"/>
          <p:cNvSpPr/>
          <p:nvPr/>
        </p:nvSpPr>
        <p:spPr>
          <a:xfrm>
            <a:off x="8284498" y="2992588"/>
            <a:ext cx="124886" cy="163451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Shape 266"/>
          <p:cNvCxnSpPr>
            <a:cxnSpLocks noChangeShapeType="1"/>
            <a:stCxn id="127" idx="2"/>
            <a:endCxn id="120" idx="0"/>
          </p:cNvCxnSpPr>
          <p:nvPr/>
        </p:nvCxnSpPr>
        <p:spPr bwMode="auto">
          <a:xfrm flipH="1">
            <a:off x="4824694" y="3147724"/>
            <a:ext cx="3064" cy="12032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76223214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4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(4/11)</a:t>
            </a:r>
            <a:endParaRPr lang="ko-KR" altLang="en-US" dirty="0"/>
          </a:p>
        </p:txBody>
      </p:sp>
      <p:sp>
        <p:nvSpPr>
          <p:cNvPr id="4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2350256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3.1.2.8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최종합격자선정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060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채용공고담당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63024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외부검사기관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11253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채용지원자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89" name="Shape 266"/>
          <p:cNvCxnSpPr>
            <a:cxnSpLocks noChangeShapeType="1"/>
            <a:stCxn id="64" idx="6"/>
            <a:endCxn id="94" idx="1"/>
          </p:cNvCxnSpPr>
          <p:nvPr/>
        </p:nvCxnSpPr>
        <p:spPr bwMode="auto">
          <a:xfrm flipV="1">
            <a:off x="1626922" y="3047502"/>
            <a:ext cx="385894" cy="5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직사각형 93"/>
          <p:cNvSpPr/>
          <p:nvPr/>
        </p:nvSpPr>
        <p:spPr bwMode="auto">
          <a:xfrm>
            <a:off x="2012816" y="2827687"/>
            <a:ext cx="857256" cy="43962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신체검사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인적성검사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신원조회 의뢰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직사각형 102"/>
          <p:cNvSpPr/>
          <p:nvPr/>
        </p:nvSpPr>
        <p:spPr bwMode="auto">
          <a:xfrm>
            <a:off x="4084114" y="4653136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최종합격자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게시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3" name="Shape 266"/>
          <p:cNvCxnSpPr>
            <a:cxnSpLocks noChangeShapeType="1"/>
            <a:stCxn id="103" idx="2"/>
            <a:endCxn id="45" idx="0"/>
          </p:cNvCxnSpPr>
          <p:nvPr/>
        </p:nvCxnSpPr>
        <p:spPr bwMode="auto">
          <a:xfrm flipH="1">
            <a:off x="4512514" y="4973907"/>
            <a:ext cx="228" cy="8483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타원 63"/>
          <p:cNvSpPr/>
          <p:nvPr/>
        </p:nvSpPr>
        <p:spPr>
          <a:xfrm>
            <a:off x="1424608" y="295520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01" name="직사각형 100"/>
          <p:cNvSpPr/>
          <p:nvPr/>
        </p:nvSpPr>
        <p:spPr bwMode="auto">
          <a:xfrm>
            <a:off x="4084114" y="237968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최종합격자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6" name="Shape 266"/>
          <p:cNvCxnSpPr>
            <a:cxnSpLocks noChangeShapeType="1"/>
            <a:stCxn id="126" idx="0"/>
            <a:endCxn id="101" idx="1"/>
          </p:cNvCxnSpPr>
          <p:nvPr/>
        </p:nvCxnSpPr>
        <p:spPr bwMode="auto">
          <a:xfrm rot="5400000" flipH="1" flipV="1">
            <a:off x="3594623" y="2418520"/>
            <a:ext cx="367942" cy="61103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8" name="Shape 266"/>
          <p:cNvCxnSpPr>
            <a:cxnSpLocks noChangeShapeType="1"/>
            <a:stCxn id="94" idx="2"/>
            <a:endCxn id="91" idx="0"/>
          </p:cNvCxnSpPr>
          <p:nvPr/>
        </p:nvCxnSpPr>
        <p:spPr bwMode="auto">
          <a:xfrm>
            <a:off x="2441444" y="3267316"/>
            <a:ext cx="4958" cy="19373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2017774" y="5204685"/>
            <a:ext cx="857256" cy="43962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신체검사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인적성검사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신원조회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직사각형 92"/>
          <p:cNvSpPr/>
          <p:nvPr/>
        </p:nvSpPr>
        <p:spPr bwMode="auto">
          <a:xfrm>
            <a:off x="3041807" y="526411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결과 통보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2" name="직사각형 121"/>
          <p:cNvSpPr/>
          <p:nvPr/>
        </p:nvSpPr>
        <p:spPr bwMode="auto">
          <a:xfrm>
            <a:off x="3037862" y="3848309"/>
            <a:ext cx="857256" cy="576414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신체검사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인적성검사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신원조회 결과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3" name="Shape 266"/>
          <p:cNvCxnSpPr>
            <a:cxnSpLocks noChangeShapeType="1"/>
            <a:stCxn id="91" idx="3"/>
            <a:endCxn id="93" idx="1"/>
          </p:cNvCxnSpPr>
          <p:nvPr/>
        </p:nvCxnSpPr>
        <p:spPr bwMode="auto">
          <a:xfrm flipV="1">
            <a:off x="2875030" y="5424499"/>
            <a:ext cx="166777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4" name="Shape 266"/>
          <p:cNvCxnSpPr>
            <a:cxnSpLocks noChangeShapeType="1"/>
            <a:stCxn id="93" idx="0"/>
            <a:endCxn id="122" idx="2"/>
          </p:cNvCxnSpPr>
          <p:nvPr/>
        </p:nvCxnSpPr>
        <p:spPr bwMode="auto">
          <a:xfrm flipH="1" flipV="1">
            <a:off x="3466490" y="4424723"/>
            <a:ext cx="3945" cy="83939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직사각형 124"/>
          <p:cNvSpPr/>
          <p:nvPr/>
        </p:nvSpPr>
        <p:spPr bwMode="auto">
          <a:xfrm>
            <a:off x="3040627" y="337513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65.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최종합격자 선정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6" name="직사각형 125"/>
          <p:cNvSpPr/>
          <p:nvPr/>
        </p:nvSpPr>
        <p:spPr bwMode="auto">
          <a:xfrm>
            <a:off x="3044447" y="290801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최종합격자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8" name="Shape 266"/>
          <p:cNvCxnSpPr>
            <a:cxnSpLocks noChangeShapeType="1"/>
            <a:stCxn id="122" idx="0"/>
            <a:endCxn id="125" idx="2"/>
          </p:cNvCxnSpPr>
          <p:nvPr/>
        </p:nvCxnSpPr>
        <p:spPr bwMode="auto">
          <a:xfrm flipV="1">
            <a:off x="3466490" y="3695903"/>
            <a:ext cx="2765" cy="15240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9" name="Shape 266"/>
          <p:cNvCxnSpPr>
            <a:cxnSpLocks noChangeShapeType="1"/>
            <a:stCxn id="125" idx="0"/>
            <a:endCxn id="126" idx="2"/>
          </p:cNvCxnSpPr>
          <p:nvPr/>
        </p:nvCxnSpPr>
        <p:spPr bwMode="auto">
          <a:xfrm flipV="1">
            <a:off x="3469255" y="3228781"/>
            <a:ext cx="3820" cy="1463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0" name="직사각형 129"/>
          <p:cNvSpPr/>
          <p:nvPr/>
        </p:nvSpPr>
        <p:spPr bwMode="auto">
          <a:xfrm>
            <a:off x="4084114" y="290801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최종합격자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게시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1" name="Shape 266"/>
          <p:cNvCxnSpPr>
            <a:cxnSpLocks noChangeShapeType="1"/>
            <a:stCxn id="101" idx="2"/>
            <a:endCxn id="130" idx="0"/>
          </p:cNvCxnSpPr>
          <p:nvPr/>
        </p:nvCxnSpPr>
        <p:spPr bwMode="auto">
          <a:xfrm>
            <a:off x="4512742" y="2700453"/>
            <a:ext cx="0" cy="20755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" name="Shape 266"/>
          <p:cNvCxnSpPr>
            <a:cxnSpLocks noChangeShapeType="1"/>
            <a:stCxn id="130" idx="2"/>
            <a:endCxn id="103" idx="0"/>
          </p:cNvCxnSpPr>
          <p:nvPr/>
        </p:nvCxnSpPr>
        <p:spPr bwMode="auto">
          <a:xfrm>
            <a:off x="4512742" y="3228781"/>
            <a:ext cx="0" cy="14243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" name="Shape 266"/>
          <p:cNvCxnSpPr>
            <a:cxnSpLocks noChangeShapeType="1"/>
            <a:stCxn id="45" idx="3"/>
            <a:endCxn id="39" idx="2"/>
          </p:cNvCxnSpPr>
          <p:nvPr/>
        </p:nvCxnSpPr>
        <p:spPr bwMode="auto">
          <a:xfrm flipV="1">
            <a:off x="4940914" y="4123383"/>
            <a:ext cx="816133" cy="185910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4" name="순서도: 종속 처리 64"/>
          <p:cNvSpPr>
            <a:spLocks noChangeAspect="1" noChangeArrowheads="1"/>
          </p:cNvSpPr>
          <p:nvPr/>
        </p:nvSpPr>
        <p:spPr bwMode="auto">
          <a:xfrm>
            <a:off x="6573636" y="4620254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3.1.3.1 </a:t>
            </a:r>
          </a:p>
          <a:p>
            <a:pPr algn="ctr" latinLnBrk="0"/>
            <a:r>
              <a:rPr lang="ko-KR" altLang="en-US" sz="900" kern="0" spc="-11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인적정보관리</a:t>
            </a:r>
          </a:p>
        </p:txBody>
      </p:sp>
      <p:grpSp>
        <p:nvGrpSpPr>
          <p:cNvPr id="3" name="그룹 144"/>
          <p:cNvGrpSpPr/>
          <p:nvPr/>
        </p:nvGrpSpPr>
        <p:grpSpPr>
          <a:xfrm>
            <a:off x="7904987" y="3263256"/>
            <a:ext cx="756425" cy="417772"/>
            <a:chOff x="1357741" y="2874679"/>
            <a:chExt cx="756425" cy="417772"/>
          </a:xfrm>
        </p:grpSpPr>
        <p:sp>
          <p:nvSpPr>
            <p:cNvPr id="148" name="육각형 147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채용완료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9" name="직사각형 148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0" name="직사각형 149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51" name="Shape 266"/>
          <p:cNvCxnSpPr>
            <a:cxnSpLocks noChangeShapeType="1"/>
            <a:stCxn id="63" idx="2"/>
            <a:endCxn id="144" idx="0"/>
          </p:cNvCxnSpPr>
          <p:nvPr/>
        </p:nvCxnSpPr>
        <p:spPr bwMode="auto">
          <a:xfrm>
            <a:off x="7001808" y="3629716"/>
            <a:ext cx="228" cy="9905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5" name="Shape 266"/>
          <p:cNvCxnSpPr>
            <a:cxnSpLocks noChangeShapeType="1"/>
            <a:stCxn id="63" idx="3"/>
            <a:endCxn id="148" idx="3"/>
          </p:cNvCxnSpPr>
          <p:nvPr/>
        </p:nvCxnSpPr>
        <p:spPr bwMode="auto">
          <a:xfrm flipV="1">
            <a:off x="7430436" y="3468409"/>
            <a:ext cx="474551" cy="9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3" name="직사각형 62"/>
          <p:cNvSpPr/>
          <p:nvPr/>
        </p:nvSpPr>
        <p:spPr bwMode="auto">
          <a:xfrm>
            <a:off x="6573180" y="330894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일괄발령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846011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직사각형 44"/>
          <p:cNvSpPr/>
          <p:nvPr/>
        </p:nvSpPr>
        <p:spPr bwMode="auto">
          <a:xfrm>
            <a:off x="4084114" y="5822289"/>
            <a:ext cx="856800" cy="320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최종합격자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5328419" y="3802612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발령품의 승인 요청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/>
          <p:cNvSpPr/>
          <p:nvPr/>
        </p:nvSpPr>
        <p:spPr bwMode="auto">
          <a:xfrm>
            <a:off x="6573180" y="2379576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발령품의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7" name="Shape 266"/>
          <p:cNvCxnSpPr>
            <a:cxnSpLocks noChangeShapeType="1"/>
            <a:stCxn id="39" idx="0"/>
            <a:endCxn id="46" idx="1"/>
          </p:cNvCxnSpPr>
          <p:nvPr/>
        </p:nvCxnSpPr>
        <p:spPr bwMode="auto">
          <a:xfrm rot="5400000" flipH="1" flipV="1">
            <a:off x="5533788" y="2763221"/>
            <a:ext cx="1262650" cy="81613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8" name="Shape 266"/>
          <p:cNvCxnSpPr>
            <a:cxnSpLocks noChangeShapeType="1"/>
            <a:stCxn id="46" idx="2"/>
            <a:endCxn id="63" idx="0"/>
          </p:cNvCxnSpPr>
          <p:nvPr/>
        </p:nvCxnSpPr>
        <p:spPr bwMode="auto">
          <a:xfrm>
            <a:off x="7001808" y="2700347"/>
            <a:ext cx="0" cy="6085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77155195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(5/11)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1856633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채용기획안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채용해야 할 인원 및 유형에 대해 채용계획 기획안을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채용기획안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작성한 채용계획 기획안에 대해 전결권자의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채용기획안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채용담당자가 요청한 채용기획안에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 기획안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채용기획안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전결권자가 승인한 채용기획안을 확정하고 그에 따른 세부 계획을 수립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채용공고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채용정보에 대한 홈페이지 공고를 홈페이지 담당자에게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채용공고 요청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홈페이지담당자가 채용담당자가 요청한 채용공고에 대해 내용을 확인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채용공고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채용담당자가 요청한 채용공고를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채용공고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입사지원을 위해 홈페이지에 게시된 채용공고를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입사지원접수 대행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지원자의 입사지원서 접수를 외부대행사에 요청하여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입사지원접수 대행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 대행사에서 채용담당자의 입사지원서 접수대행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요청을 승인함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461068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(6/11)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799495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채용 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채용지원자가 채용공고를 확인하고 입사지원서를 채용대행사에 접수함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지원자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채용대행사가 채용담당자를 대신하여 지원자의 입사지원서를 접수 받음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지원자명부</a:t>
                      </a:r>
                    </a:p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송부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 대행사에서 지원자의 입사지원서와 정보를 취합하여 채용담당자에게 전달함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지원자명부</a:t>
                      </a:r>
                    </a:p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채용 대행사에서 취합하여 송부한 입사지원서를 접수함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지원자명부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서류전형 시행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서류전형 합격자를 선정하기 위해 입사지원자의 지원서를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지원자명부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서류전형 결과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입사지원자의 지원서를 확인하고 서류전형 합격자를 선정하고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지원자명부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서류전형 결과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선정된 서류전형 합격자에 대한 정보를 확인하고 결과를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서류전형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서류전형 합격자 공고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서류전형 합격자에 대한 정보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게시를 홈페이지 담당자에게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서류전형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서류전형 합격자 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채용담당자가 요청한 서류전형 합격자 정보를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서류전형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서류전형 합격자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홈페이지를 확인하여 서류전형 합격 여부를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서류전형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6755141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(7/11)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3244782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증빙서류제출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채용담당자에게 입사지원에 관련된 증빙서류를 제출함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증빙서류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증빙서류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서류전형 합격자가 제출한 입사지원 관련 서류를 접수함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증빙서류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기획안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서류전형 합격자에 대한 필기전형 시행을 위해 기획안을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기획안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기획안 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필기전형 시행을 위한 기획안에 대해 전결권자에게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채용담당자의 필기전형 시행 기획안을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시행공고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필기전형 시행 정보에 대한 홈페이지 공고를 홈페이지 담당자에게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시행공고 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채용담당자의 필기전형 시행정보를 확인하고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시행공고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서류전형 합격자가 공단의 홈페이지에 게시된 필기전형 시행공고를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시행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필기전형 합격자를 선정하기 위해 서류전형 합격자의 필기전형을 시행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결과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서류전형 합격자의 필기전형을 시행하여 필기전형 합격자를 선정하고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6755141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(8/11)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144311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결과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선정된 필기전형 합격자에 대한 정보를 확인하고 결과를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합격자 공고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필기전형 합격자에 대한 정보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게시를 홈페이지 담당자에게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합격자 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채용담당자가 요청한 필기전형 합격자 정보를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합격자명부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필기전형 합격자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홈페이지를 확인하여 필기전형 합격 여부를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증빙서류제출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채용담당자에게 입사지원에 관련된 증빙서류를 제출함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증빙서류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증빙서류 접수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서류전형 합격자가 제출한 입사지원 관련 서류를 접수함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증빙서류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기획안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필기전형 합격자에 대한 면접전형 시행을 위해 기획안을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기획안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면접전형 시행을 위한 기획안에 대해 전결권자에게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채용담당자의 면접전형 시행 기획안을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시행공고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면접전형 시행 정보에 대한 홈페이지 공고를 홈페이지 담당자에게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675514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(9/11)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8817155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시행공고 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채용담당자의 면접전형 시행정보를 확인하고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시행공고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필기전형 합격자가 공단의 홈페이지에 게시된 면접전형 시행공고를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시행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면접전형 합격자를 선정하기 위해 필기전형 합격자의 면접전형을 시행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결과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필기전형 합격자의 면접전형을 시행하여 면접전형 합격자를 선정하고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결과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선정된 면접전형 합격자에 대한 정보를 확인하고 결과를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합격자 공고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면접전형 합격자에 대한 정보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게시를 홈페이지 담당자에게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합격자 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채용담당자가 요청한 면접전형 합격자 정보를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면접전형 합격자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홈페이지를 확인하여 면접전형 합격 여부를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필요에 따라 면접전형 합격자에 대한 실기전형 시행을 위해 기획안을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기획안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실기전형 시행을 위한 기획안에 대해 전결권자에게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채용담당자의 실기전형 시행 기획안을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675514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(10/11)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826661"/>
              </p:ext>
            </p:extLst>
          </p:nvPr>
        </p:nvGraphicFramePr>
        <p:xfrm>
          <a:off x="344488" y="1604186"/>
          <a:ext cx="9180513" cy="47603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174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시행공고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실기전형 시행 정보에 대한 홈페이지 공고를 홈페이지 담당자에게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시행공고 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채용담당자의 실기전형 시행정보를 확인하고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공고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시행공고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면접전형 합격자가 공단의 홈페이지에 게시된 실기전형 시행공고를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시행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실기전형 합격자를 선정하기 위해 면접전형 합격자의 실기전형을 시행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결과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면접전형 합격자의 실기전형을 시행하여 실기전형 합격자를 선정하고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결과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선정된 실기전형 합격자에 대한 정보를 확인하고 결과를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합격자 공고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실기전형 합격자에 대한 정보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게시를 홈페이지 담당자에게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합격자 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채용담당자가 요청한 실기전형 합격자 정보를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실기전형 합격자 조회</a:t>
                      </a:r>
                      <a:endParaRPr lang="ko-KR" altLang="en-US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홈페이지를 확인하여 실기전형 합격 여부를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실기전형 합격자명부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876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신체검사</a:t>
                      </a:r>
                      <a:r>
                        <a:rPr lang="en-US" altLang="ko-KR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인적성검사</a:t>
                      </a:r>
                      <a:r>
                        <a:rPr lang="en-US" altLang="ko-KR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신원조회 의뢰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 합격자에 대한 신체검사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인적성검사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신원조회를 외부기관에 의뢰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4727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신체검사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인적성검사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신원조회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외부기관에서 입사지원 합격자에 대한 신체검사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인적성검사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신원조회정보를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6725354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 </a:t>
            </a:r>
            <a:r>
              <a:rPr lang="ko-KR" altLang="en-US" dirty="0"/>
              <a:t>채용관리 </a:t>
            </a:r>
            <a:r>
              <a:rPr lang="en-US" altLang="ko-KR" dirty="0"/>
              <a:t>(11/11)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100010"/>
              </p:ext>
            </p:extLst>
          </p:nvPr>
        </p:nvGraphicFramePr>
        <p:xfrm>
          <a:off x="344488" y="1604186"/>
          <a:ext cx="9180513" cy="4754285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20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결과 통보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외부기관에서 입사지원 합격자에 대한 신체검사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인적성검사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신원조회 결과를 채용담당자에게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신체검사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인적성검사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신원조회 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5040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신체검사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인적성검사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신원조회 결과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입사지원 합격자에 대한 신체검사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인적성검사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신원조회 결과를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신체검사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인적성검사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신원조회 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최종합격자 선정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신체검사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인적성검사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신원조회 결과를 종합하여 최종합격자를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최종합격자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5040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최종합격자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전결권자에게 최종으로 합격된 지원자에 대한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최종합격자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최종합격자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채용담당자가 요청한 최종합격자 승인 건에 대해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최종합격자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최종합격자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게시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최종 합격자에 대한 정보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게시를 홈페이지 담당자에게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최종합격자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최종합격자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게시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홈페이지 담당자가 채용담당자가 요청한 최종합격자 정보를 홈페이지에 게시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최종합격자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최종합격자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입사지원자가 홈페이지를 확인하여 최종 합격 여부를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최종합격자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 승인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채용 최종합격자에 대한 발령품의를 작성하여 전결권자에게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전결자가 채용담당자가 요청한 채용 최종합격자 발령품의 요청 건에 대해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99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일괄발령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채용담당자가 최종합격자에 대한 발령품의 내용을 등록하고 발령담당자에게 통보함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발령품의내역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지원자 인사정보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90971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인적정보의 신규 또는 변경에 따라 승인 필요 시 신청 후 결재를 받고 승인 미 </a:t>
            </a:r>
            <a:r>
              <a:rPr lang="ko-KR" altLang="en-US" dirty="0"/>
              <a:t>필요</a:t>
            </a:r>
            <a:r>
              <a:rPr lang="ko-KR" altLang="en-US" sz="1600" dirty="0"/>
              <a:t> 시 직원이 직접 수정할 수 있게 하고 </a:t>
            </a:r>
            <a:r>
              <a:rPr lang="ko-KR" altLang="en-US" sz="1600" dirty="0" err="1"/>
              <a:t>인적정보가</a:t>
            </a:r>
            <a:r>
              <a:rPr lang="ko-KR" altLang="en-US" sz="1600" dirty="0"/>
              <a:t> 등록되면 근로계약서를 작성 및 승인하도록 업무프로세스를 변경함</a:t>
            </a:r>
          </a:p>
        </p:txBody>
      </p:sp>
      <p:sp>
        <p:nvSpPr>
          <p:cNvPr id="49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3.3.2.3 </a:t>
            </a:r>
            <a:r>
              <a:rPr lang="ko-KR" altLang="en-US" dirty="0"/>
              <a:t>인적정보관리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53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5853432"/>
              </p:ext>
            </p:extLst>
          </p:nvPr>
        </p:nvGraphicFramePr>
        <p:xfrm>
          <a:off x="344488" y="1916832"/>
          <a:ext cx="9181020" cy="4428492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3.1.3.1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인적정보관리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1965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인사담당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28192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89" name="Shape 266"/>
          <p:cNvCxnSpPr>
            <a:cxnSpLocks noChangeShapeType="1"/>
            <a:stCxn id="142" idx="0"/>
            <a:endCxn id="68" idx="1"/>
          </p:cNvCxnSpPr>
          <p:nvPr/>
        </p:nvCxnSpPr>
        <p:spPr bwMode="auto">
          <a:xfrm flipV="1">
            <a:off x="2137068" y="2721015"/>
            <a:ext cx="223644" cy="30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40"/>
          <p:cNvGrpSpPr/>
          <p:nvPr/>
        </p:nvGrpSpPr>
        <p:grpSpPr>
          <a:xfrm>
            <a:off x="1380643" y="2518862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직원채용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3" name="직사각형 62"/>
          <p:cNvSpPr/>
          <p:nvPr/>
        </p:nvSpPr>
        <p:spPr bwMode="auto">
          <a:xfrm>
            <a:off x="5270196" y="4283077"/>
            <a:ext cx="1008112" cy="1225688"/>
          </a:xfrm>
          <a:prstGeom prst="rect">
            <a:avLst/>
          </a:prstGeom>
          <a:noFill/>
          <a:ln w="9525" cap="flat" cmpd="sng" algn="ctr">
            <a:noFill/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가족사항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학력사항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자격사항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주소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기타사항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사원기본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급여계좌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사진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신분증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2360712" y="256062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직사각형 71"/>
          <p:cNvSpPr/>
          <p:nvPr/>
        </p:nvSpPr>
        <p:spPr bwMode="auto">
          <a:xfrm>
            <a:off x="2360712" y="360902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확인 공고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68" idx="2"/>
            <a:endCxn id="72" idx="0"/>
          </p:cNvCxnSpPr>
          <p:nvPr/>
        </p:nvCxnSpPr>
        <p:spPr bwMode="auto">
          <a:xfrm>
            <a:off x="2789340" y="2881400"/>
            <a:ext cx="0" cy="7276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직사각형 75"/>
          <p:cNvSpPr/>
          <p:nvPr/>
        </p:nvSpPr>
        <p:spPr bwMode="auto">
          <a:xfrm>
            <a:off x="2360712" y="48004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7" name="Shape 266"/>
          <p:cNvCxnSpPr>
            <a:cxnSpLocks noChangeShapeType="1"/>
            <a:stCxn id="72" idx="2"/>
            <a:endCxn id="76" idx="0"/>
          </p:cNvCxnSpPr>
          <p:nvPr/>
        </p:nvCxnSpPr>
        <p:spPr bwMode="auto">
          <a:xfrm>
            <a:off x="2789340" y="3929791"/>
            <a:ext cx="0" cy="87062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" name="직사각형 79"/>
          <p:cNvSpPr/>
          <p:nvPr/>
        </p:nvSpPr>
        <p:spPr bwMode="auto">
          <a:xfrm>
            <a:off x="4699941" y="534047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 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변경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1" name="Shape 266"/>
          <p:cNvCxnSpPr>
            <a:cxnSpLocks noChangeShapeType="1"/>
            <a:stCxn id="44" idx="2"/>
            <a:endCxn id="80" idx="1"/>
          </p:cNvCxnSpPr>
          <p:nvPr/>
        </p:nvCxnSpPr>
        <p:spPr bwMode="auto">
          <a:xfrm rot="16200000" flipH="1">
            <a:off x="4144258" y="4945180"/>
            <a:ext cx="355524" cy="75584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" name="직사각형 84"/>
          <p:cNvSpPr/>
          <p:nvPr/>
        </p:nvSpPr>
        <p:spPr bwMode="auto">
          <a:xfrm>
            <a:off x="5850964" y="360902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 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stCxn id="80" idx="3"/>
            <a:endCxn id="85" idx="2"/>
          </p:cNvCxnSpPr>
          <p:nvPr/>
        </p:nvCxnSpPr>
        <p:spPr bwMode="auto">
          <a:xfrm flipV="1">
            <a:off x="5557197" y="3929791"/>
            <a:ext cx="722395" cy="157107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5" name="직사각형 94"/>
          <p:cNvSpPr/>
          <p:nvPr/>
        </p:nvSpPr>
        <p:spPr bwMode="auto">
          <a:xfrm>
            <a:off x="6393160" y="476441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원통 68"/>
          <p:cNvSpPr>
            <a:spLocks noChangeAspect="1" noChangeArrowheads="1"/>
          </p:cNvSpPr>
          <p:nvPr/>
        </p:nvSpPr>
        <p:spPr bwMode="auto">
          <a:xfrm>
            <a:off x="4226080" y="2508230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9" name="Shape 266"/>
          <p:cNvCxnSpPr>
            <a:cxnSpLocks noChangeShapeType="1"/>
            <a:stCxn id="140" idx="3"/>
            <a:endCxn id="95" idx="0"/>
          </p:cNvCxnSpPr>
          <p:nvPr/>
        </p:nvCxnSpPr>
        <p:spPr bwMode="auto">
          <a:xfrm>
            <a:off x="6708220" y="3020862"/>
            <a:ext cx="113568" cy="174355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" name="Shape 266"/>
          <p:cNvCxnSpPr>
            <a:cxnSpLocks noChangeShapeType="1"/>
            <a:stCxn id="68" idx="3"/>
            <a:endCxn id="98" idx="2"/>
          </p:cNvCxnSpPr>
          <p:nvPr/>
        </p:nvCxnSpPr>
        <p:spPr bwMode="auto">
          <a:xfrm>
            <a:off x="3217968" y="2721015"/>
            <a:ext cx="1008112" cy="1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106"/>
          <p:cNvGrpSpPr/>
          <p:nvPr/>
        </p:nvGrpSpPr>
        <p:grpSpPr>
          <a:xfrm>
            <a:off x="8611923" y="2456892"/>
            <a:ext cx="756425" cy="417772"/>
            <a:chOff x="1357741" y="2874679"/>
            <a:chExt cx="756425" cy="417772"/>
          </a:xfrm>
        </p:grpSpPr>
        <p:sp>
          <p:nvSpPr>
            <p:cNvPr id="109" name="육각형 10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인적정보 신청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변경 완료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" name="직사각형 10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1" name="직사각형 110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5" name="그룹 111"/>
          <p:cNvGrpSpPr/>
          <p:nvPr/>
        </p:nvGrpSpPr>
        <p:grpSpPr>
          <a:xfrm>
            <a:off x="2425539" y="5639520"/>
            <a:ext cx="756425" cy="417772"/>
            <a:chOff x="1357741" y="2874679"/>
            <a:chExt cx="756425" cy="417772"/>
          </a:xfrm>
        </p:grpSpPr>
        <p:sp>
          <p:nvSpPr>
            <p:cNvPr id="114" name="육각형 113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인적정보 변동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발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6" name="직사각형 115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20" name="Shape 266"/>
          <p:cNvCxnSpPr>
            <a:cxnSpLocks noChangeShapeType="1"/>
            <a:stCxn id="114" idx="0"/>
            <a:endCxn id="80" idx="2"/>
          </p:cNvCxnSpPr>
          <p:nvPr/>
        </p:nvCxnSpPr>
        <p:spPr bwMode="auto">
          <a:xfrm flipV="1">
            <a:off x="3181964" y="5661248"/>
            <a:ext cx="1946605" cy="18342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" name="직사각형 127"/>
          <p:cNvSpPr/>
          <p:nvPr/>
        </p:nvSpPr>
        <p:spPr bwMode="auto">
          <a:xfrm>
            <a:off x="4699941" y="48004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인적정보 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수정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5" name="Shape 266"/>
          <p:cNvCxnSpPr>
            <a:cxnSpLocks noChangeShapeType="1"/>
            <a:stCxn id="44" idx="3"/>
            <a:endCxn id="128" idx="1"/>
          </p:cNvCxnSpPr>
          <p:nvPr/>
        </p:nvCxnSpPr>
        <p:spPr bwMode="auto">
          <a:xfrm>
            <a:off x="4480839" y="4958223"/>
            <a:ext cx="219102" cy="25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0" name="직사각형 139"/>
          <p:cNvSpPr/>
          <p:nvPr/>
        </p:nvSpPr>
        <p:spPr bwMode="auto">
          <a:xfrm>
            <a:off x="5850964" y="286047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변경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6" name="Shape 266"/>
          <p:cNvCxnSpPr>
            <a:cxnSpLocks noChangeShapeType="1"/>
            <a:stCxn id="140" idx="0"/>
            <a:endCxn id="98" idx="4"/>
          </p:cNvCxnSpPr>
          <p:nvPr/>
        </p:nvCxnSpPr>
        <p:spPr bwMode="auto">
          <a:xfrm rot="16200000" flipV="1">
            <a:off x="5564108" y="2144992"/>
            <a:ext cx="139339" cy="129163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5" name="Shape 266"/>
          <p:cNvCxnSpPr>
            <a:cxnSpLocks noChangeShapeType="1"/>
            <a:stCxn id="128" idx="0"/>
            <a:endCxn id="140" idx="1"/>
          </p:cNvCxnSpPr>
          <p:nvPr/>
        </p:nvCxnSpPr>
        <p:spPr bwMode="auto">
          <a:xfrm rot="5400000" flipH="1" flipV="1">
            <a:off x="4599989" y="3549443"/>
            <a:ext cx="1779555" cy="72239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0" name="Shape 266"/>
          <p:cNvCxnSpPr>
            <a:cxnSpLocks noChangeShapeType="1"/>
            <a:stCxn id="85" idx="0"/>
            <a:endCxn id="140" idx="2"/>
          </p:cNvCxnSpPr>
          <p:nvPr/>
        </p:nvCxnSpPr>
        <p:spPr bwMode="auto">
          <a:xfrm flipV="1">
            <a:off x="6279592" y="3181247"/>
            <a:ext cx="0" cy="4277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4" name="순서도: 판단 161"/>
          <p:cNvSpPr>
            <a:spLocks noChangeArrowheads="1"/>
          </p:cNvSpPr>
          <p:nvPr/>
        </p:nvSpPr>
        <p:spPr bwMode="auto">
          <a:xfrm>
            <a:off x="3407358" y="4771106"/>
            <a:ext cx="1073481" cy="374233"/>
          </a:xfrm>
          <a:prstGeom prst="flowChartDecision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신청승인 대상 여부</a:t>
            </a:r>
          </a:p>
        </p:txBody>
      </p:sp>
      <p:cxnSp>
        <p:nvCxnSpPr>
          <p:cNvPr id="45" name="Shape 266"/>
          <p:cNvCxnSpPr>
            <a:cxnSpLocks noChangeShapeType="1"/>
            <a:stCxn id="76" idx="3"/>
            <a:endCxn id="44" idx="1"/>
          </p:cNvCxnSpPr>
          <p:nvPr/>
        </p:nvCxnSpPr>
        <p:spPr bwMode="auto">
          <a:xfrm flipV="1">
            <a:off x="3217968" y="4958223"/>
            <a:ext cx="189390" cy="25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TextBox 49"/>
          <p:cNvSpPr txBox="1"/>
          <p:nvPr/>
        </p:nvSpPr>
        <p:spPr>
          <a:xfrm>
            <a:off x="4429969" y="4685001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3686088" y="5145339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5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72627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7" name="순서도: 종속 처리 64"/>
          <p:cNvSpPr>
            <a:spLocks noChangeAspect="1" noChangeArrowheads="1"/>
          </p:cNvSpPr>
          <p:nvPr/>
        </p:nvSpPr>
        <p:spPr bwMode="auto">
          <a:xfrm>
            <a:off x="1327273" y="3120204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3.1.2.8 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최종합격자선정</a:t>
            </a:r>
          </a:p>
        </p:txBody>
      </p:sp>
      <p:cxnSp>
        <p:nvCxnSpPr>
          <p:cNvPr id="48" name="Shape 266"/>
          <p:cNvCxnSpPr>
            <a:cxnSpLocks noChangeShapeType="1"/>
            <a:stCxn id="47" idx="0"/>
            <a:endCxn id="144" idx="2"/>
          </p:cNvCxnSpPr>
          <p:nvPr/>
        </p:nvCxnSpPr>
        <p:spPr bwMode="auto">
          <a:xfrm flipV="1">
            <a:off x="1755673" y="2936634"/>
            <a:ext cx="3323" cy="1835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5" name="직사각형 54"/>
          <p:cNvSpPr/>
          <p:nvPr/>
        </p:nvSpPr>
        <p:spPr bwMode="auto">
          <a:xfrm>
            <a:off x="7522964" y="360902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근로계약서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7526659" y="476441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근로계약서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7526659" y="4186716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근로계약서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승인 요청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8" name="Shape 266"/>
          <p:cNvCxnSpPr>
            <a:cxnSpLocks noChangeShapeType="1"/>
            <a:stCxn id="95" idx="3"/>
            <a:endCxn id="55" idx="1"/>
          </p:cNvCxnSpPr>
          <p:nvPr/>
        </p:nvCxnSpPr>
        <p:spPr bwMode="auto">
          <a:xfrm flipV="1">
            <a:off x="7250416" y="3769406"/>
            <a:ext cx="272548" cy="115539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9" name="Shape 266"/>
          <p:cNvCxnSpPr>
            <a:cxnSpLocks noChangeShapeType="1"/>
            <a:stCxn id="55" idx="2"/>
            <a:endCxn id="57" idx="0"/>
          </p:cNvCxnSpPr>
          <p:nvPr/>
        </p:nvCxnSpPr>
        <p:spPr bwMode="auto">
          <a:xfrm>
            <a:off x="7951592" y="3929791"/>
            <a:ext cx="3695" cy="256925"/>
          </a:xfrm>
          <a:prstGeom prst="straightConnector1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57" idx="2"/>
            <a:endCxn id="56" idx="0"/>
          </p:cNvCxnSpPr>
          <p:nvPr/>
        </p:nvCxnSpPr>
        <p:spPr bwMode="auto">
          <a:xfrm>
            <a:off x="7955287" y="4507487"/>
            <a:ext cx="0" cy="256926"/>
          </a:xfrm>
          <a:prstGeom prst="straightConnector1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56" idx="2"/>
            <a:endCxn id="78" idx="2"/>
          </p:cNvCxnSpPr>
          <p:nvPr/>
        </p:nvCxnSpPr>
        <p:spPr bwMode="auto">
          <a:xfrm rot="5400000" flipH="1" flipV="1">
            <a:off x="7894380" y="3990697"/>
            <a:ext cx="1155393" cy="1033581"/>
          </a:xfrm>
          <a:prstGeom prst="bentConnector3">
            <a:avLst>
              <a:gd name="adj1" fmla="val -19785"/>
            </a:avLst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" name="직사각형 77"/>
          <p:cNvSpPr/>
          <p:nvPr/>
        </p:nvSpPr>
        <p:spPr bwMode="auto">
          <a:xfrm>
            <a:off x="8560240" y="360902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근로계약서 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3" name="Shape 266"/>
          <p:cNvCxnSpPr>
            <a:cxnSpLocks noChangeShapeType="1"/>
            <a:stCxn id="78" idx="0"/>
            <a:endCxn id="110" idx="2"/>
          </p:cNvCxnSpPr>
          <p:nvPr/>
        </p:nvCxnSpPr>
        <p:spPr bwMode="auto">
          <a:xfrm flipV="1">
            <a:off x="8988868" y="2874664"/>
            <a:ext cx="1408" cy="73435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9" name="순서도: 종속 처리 64"/>
          <p:cNvSpPr>
            <a:spLocks noChangeAspect="1" noChangeArrowheads="1"/>
          </p:cNvSpPr>
          <p:nvPr/>
        </p:nvSpPr>
        <p:spPr bwMode="auto">
          <a:xfrm>
            <a:off x="7250416" y="2437154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3.5.1.1 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급여기초관리</a:t>
            </a:r>
          </a:p>
        </p:txBody>
      </p:sp>
      <p:cxnSp>
        <p:nvCxnSpPr>
          <p:cNvPr id="71" name="Shape 266"/>
          <p:cNvCxnSpPr>
            <a:cxnSpLocks noChangeShapeType="1"/>
            <a:endCxn id="69" idx="1"/>
          </p:cNvCxnSpPr>
          <p:nvPr/>
        </p:nvCxnSpPr>
        <p:spPr bwMode="auto">
          <a:xfrm flipV="1">
            <a:off x="6708222" y="2613981"/>
            <a:ext cx="542194" cy="28665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68549681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 err="1"/>
              <a:t>인적정보의</a:t>
            </a:r>
            <a:r>
              <a:rPr lang="ko-KR" altLang="en-US" dirty="0"/>
              <a:t> 신규 또는 변경에 따라 승인 필요 시 신청 후 결재를 받고 승인 미 필요 시 직원이 직접 수정할 수 있게 하고 </a:t>
            </a:r>
            <a:r>
              <a:rPr lang="ko-KR" altLang="en-US" dirty="0" err="1"/>
              <a:t>인적정보가</a:t>
            </a:r>
            <a:r>
              <a:rPr lang="ko-KR" altLang="en-US" dirty="0"/>
              <a:t> 등록되면 근로계약서를 작성 및 승인하도록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3.3.2.3 </a:t>
            </a:r>
            <a:r>
              <a:rPr lang="ko-KR" altLang="en-US" dirty="0"/>
              <a:t>인적정보관리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193785"/>
              </p:ext>
            </p:extLst>
          </p:nvPr>
        </p:nvGraphicFramePr>
        <p:xfrm>
          <a:off x="344488" y="1604186"/>
          <a:ext cx="9180513" cy="4856046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9277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59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인적정보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인사정보담당자가 직원의 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 등의 인사정보를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인적정보 확인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인사정보담당자가 추가적인 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 등의 인사정보 등록을 직원에게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520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자신의 직원의 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 등의 인사정보를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8572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 변경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자신의 인사정보 누락을 발견하거나 또는 변경이 있을 경우 변경을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온라인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사원기본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 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신분증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628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 수정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자신의 인사정보 누락을 발견하거나 또는 변경이 있을 경우 직접 변경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온라인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주소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기타사항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254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 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인사정보 변경 신청에 대해 인사정보 담당자가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사원 기본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  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신분증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254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 변경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인사정보담당자가 직원 인사정보를 직접 등록하거나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변경신청에 대해 승인 후 자동으로 등록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사원기본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 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신분증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주소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기타사항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254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인적정보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인사정보담당자가 승인한 인사정보 신청 건에 대한 인사정보 변경을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가족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자격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사원기본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 계좌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신분증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주소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기타사항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781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근로계약서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채용발령에 의해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인적정보가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등록되면 인사담당자가 신규 채용된 직원의 근로계약을 위해 근로계약서를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근로계약서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254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근로계약서 승인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근로계약 대상자에게 메시지를 전송하여 본인의 근로계약서를 승인하도록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근로계약서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5063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근로계약서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근로계약 대상자가 근로계약서 내용을 확인하고 요청된 근로계약서에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근로계약서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5202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근로계약서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근로계약 대상자가 승인한 계약서를 업무담당자가 확인하고 확정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근로계약서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0190685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조직 내에 부족한 팀원 혹은 조직장이 있을 경우 직위공모 모집과 신청 및 결과관리를 연동할 수 있도록 업무프로세스를 변경함</a:t>
            </a:r>
          </a:p>
        </p:txBody>
      </p:sp>
      <p:sp>
        <p:nvSpPr>
          <p:cNvPr id="56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3.3.2.4 </a:t>
            </a:r>
            <a:r>
              <a:rPr lang="ko-KR" altLang="en-US" dirty="0"/>
              <a:t>직위공모관리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57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8584517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2839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71652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3.1.4.1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직위공모게시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3.1.4.2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직위공모신청관리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2746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52028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직위공모담당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64096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89" name="Shape 266"/>
          <p:cNvCxnSpPr>
            <a:cxnSpLocks noChangeShapeType="1"/>
            <a:stCxn id="144" idx="2"/>
            <a:endCxn id="68" idx="1"/>
          </p:cNvCxnSpPr>
          <p:nvPr/>
        </p:nvCxnSpPr>
        <p:spPr bwMode="auto">
          <a:xfrm rot="16200000" flipH="1">
            <a:off x="1922798" y="3194899"/>
            <a:ext cx="180900" cy="56459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40"/>
          <p:cNvGrpSpPr/>
          <p:nvPr/>
        </p:nvGrpSpPr>
        <p:grpSpPr>
          <a:xfrm>
            <a:off x="1352600" y="2968973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직위공모건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8" name="직사각형 67"/>
          <p:cNvSpPr/>
          <p:nvPr/>
        </p:nvSpPr>
        <p:spPr bwMode="auto">
          <a:xfrm>
            <a:off x="2295544" y="34072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직위공모 기획안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직사각형 71"/>
          <p:cNvSpPr/>
          <p:nvPr/>
        </p:nvSpPr>
        <p:spPr bwMode="auto">
          <a:xfrm>
            <a:off x="2295544" y="44450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직위공모 기획안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68" idx="2"/>
            <a:endCxn id="72" idx="0"/>
          </p:cNvCxnSpPr>
          <p:nvPr/>
        </p:nvCxnSpPr>
        <p:spPr bwMode="auto">
          <a:xfrm>
            <a:off x="2724172" y="3728030"/>
            <a:ext cx="0" cy="71703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직사각형 75"/>
          <p:cNvSpPr/>
          <p:nvPr/>
        </p:nvSpPr>
        <p:spPr bwMode="auto">
          <a:xfrm>
            <a:off x="3662380" y="57005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1" name="Shape 266"/>
          <p:cNvCxnSpPr>
            <a:cxnSpLocks noChangeShapeType="1"/>
            <a:stCxn id="72" idx="3"/>
            <a:endCxn id="70" idx="1"/>
          </p:cNvCxnSpPr>
          <p:nvPr/>
        </p:nvCxnSpPr>
        <p:spPr bwMode="auto">
          <a:xfrm flipV="1">
            <a:off x="3152800" y="2627881"/>
            <a:ext cx="509580" cy="197757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0" name="직사각형 69"/>
          <p:cNvSpPr/>
          <p:nvPr/>
        </p:nvSpPr>
        <p:spPr bwMode="auto">
          <a:xfrm>
            <a:off x="3662380" y="246749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직위공모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직사각형 74"/>
          <p:cNvSpPr/>
          <p:nvPr/>
        </p:nvSpPr>
        <p:spPr bwMode="auto">
          <a:xfrm>
            <a:off x="3662380" y="34072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내용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70" idx="2"/>
            <a:endCxn id="75" idx="0"/>
          </p:cNvCxnSpPr>
          <p:nvPr/>
        </p:nvCxnSpPr>
        <p:spPr bwMode="auto">
          <a:xfrm>
            <a:off x="4091008" y="2788266"/>
            <a:ext cx="0" cy="6189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75" idx="2"/>
            <a:endCxn id="69" idx="0"/>
          </p:cNvCxnSpPr>
          <p:nvPr/>
        </p:nvCxnSpPr>
        <p:spPr bwMode="auto">
          <a:xfrm>
            <a:off x="4091008" y="3728030"/>
            <a:ext cx="0" cy="71703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직사각형 85"/>
          <p:cNvSpPr/>
          <p:nvPr/>
        </p:nvSpPr>
        <p:spPr bwMode="auto">
          <a:xfrm>
            <a:off x="5030221" y="57005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신청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7" name="직사각형 86"/>
          <p:cNvSpPr/>
          <p:nvPr/>
        </p:nvSpPr>
        <p:spPr bwMode="auto">
          <a:xfrm>
            <a:off x="5023381" y="343130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접수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6175509" y="343018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 지원자 심사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1" name="직사각형 90"/>
          <p:cNvSpPr/>
          <p:nvPr/>
        </p:nvSpPr>
        <p:spPr bwMode="auto">
          <a:xfrm>
            <a:off x="6175509" y="392272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 합격자 선정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직사각형 92"/>
          <p:cNvSpPr/>
          <p:nvPr/>
        </p:nvSpPr>
        <p:spPr bwMode="auto">
          <a:xfrm>
            <a:off x="6175509" y="44450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직위공모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합격자 기획안 작성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4" name="직사각형 93"/>
          <p:cNvSpPr/>
          <p:nvPr/>
        </p:nvSpPr>
        <p:spPr bwMode="auto">
          <a:xfrm>
            <a:off x="6175509" y="498043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직위공모 합격자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기획안 승인요청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6" name="Shape 266"/>
          <p:cNvCxnSpPr>
            <a:cxnSpLocks noChangeShapeType="1"/>
            <a:stCxn id="90" idx="2"/>
            <a:endCxn id="91" idx="0"/>
          </p:cNvCxnSpPr>
          <p:nvPr/>
        </p:nvCxnSpPr>
        <p:spPr bwMode="auto">
          <a:xfrm>
            <a:off x="6604137" y="3750953"/>
            <a:ext cx="0" cy="1717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91" idx="2"/>
            <a:endCxn id="93" idx="0"/>
          </p:cNvCxnSpPr>
          <p:nvPr/>
        </p:nvCxnSpPr>
        <p:spPr bwMode="auto">
          <a:xfrm>
            <a:off x="6604137" y="4243499"/>
            <a:ext cx="0" cy="2015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" name="Shape 266"/>
          <p:cNvCxnSpPr>
            <a:cxnSpLocks noChangeShapeType="1"/>
            <a:stCxn id="93" idx="2"/>
            <a:endCxn id="94" idx="0"/>
          </p:cNvCxnSpPr>
          <p:nvPr/>
        </p:nvCxnSpPr>
        <p:spPr bwMode="auto">
          <a:xfrm>
            <a:off x="6604137" y="4765836"/>
            <a:ext cx="0" cy="2146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" name="Shape 266"/>
          <p:cNvCxnSpPr>
            <a:cxnSpLocks noChangeShapeType="1"/>
            <a:stCxn id="87" idx="3"/>
            <a:endCxn id="90" idx="1"/>
          </p:cNvCxnSpPr>
          <p:nvPr/>
        </p:nvCxnSpPr>
        <p:spPr bwMode="auto">
          <a:xfrm flipV="1">
            <a:off x="5880637" y="3590568"/>
            <a:ext cx="294872" cy="112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" name="Shape 266"/>
          <p:cNvCxnSpPr>
            <a:cxnSpLocks noChangeShapeType="1"/>
            <a:stCxn id="86" idx="0"/>
            <a:endCxn id="87" idx="2"/>
          </p:cNvCxnSpPr>
          <p:nvPr/>
        </p:nvCxnSpPr>
        <p:spPr bwMode="auto">
          <a:xfrm flipH="1" flipV="1">
            <a:off x="5452009" y="3752080"/>
            <a:ext cx="6840" cy="19484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8" name="Shape 266"/>
          <p:cNvCxnSpPr>
            <a:cxnSpLocks noChangeShapeType="1"/>
            <a:stCxn id="76" idx="3"/>
            <a:endCxn id="86" idx="1"/>
          </p:cNvCxnSpPr>
          <p:nvPr/>
        </p:nvCxnSpPr>
        <p:spPr bwMode="auto">
          <a:xfrm>
            <a:off x="4519636" y="5860903"/>
            <a:ext cx="51058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직사각형 112"/>
          <p:cNvSpPr/>
          <p:nvPr/>
        </p:nvSpPr>
        <p:spPr bwMode="auto">
          <a:xfrm>
            <a:off x="7334477" y="244322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직위공모 합격자 기획안 승인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5" name="Shape 266"/>
          <p:cNvCxnSpPr>
            <a:cxnSpLocks noChangeShapeType="1"/>
            <a:stCxn id="94" idx="3"/>
            <a:endCxn id="113" idx="1"/>
          </p:cNvCxnSpPr>
          <p:nvPr/>
        </p:nvCxnSpPr>
        <p:spPr bwMode="auto">
          <a:xfrm flipV="1">
            <a:off x="7032765" y="2603609"/>
            <a:ext cx="301712" cy="253721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7" name="직사각형 116"/>
          <p:cNvSpPr/>
          <p:nvPr/>
        </p:nvSpPr>
        <p:spPr bwMode="auto">
          <a:xfrm>
            <a:off x="7336104" y="340725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 합격자 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" name="직사각형 117"/>
          <p:cNvSpPr/>
          <p:nvPr/>
        </p:nvSpPr>
        <p:spPr bwMode="auto">
          <a:xfrm>
            <a:off x="7336104" y="4445065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 합격자 전송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1" name="직사각형 120"/>
          <p:cNvSpPr/>
          <p:nvPr/>
        </p:nvSpPr>
        <p:spPr bwMode="auto">
          <a:xfrm>
            <a:off x="7334477" y="570248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 합격자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2" name="Shape 266"/>
          <p:cNvCxnSpPr>
            <a:cxnSpLocks noChangeShapeType="1"/>
            <a:stCxn id="113" idx="2"/>
            <a:endCxn id="117" idx="0"/>
          </p:cNvCxnSpPr>
          <p:nvPr/>
        </p:nvCxnSpPr>
        <p:spPr bwMode="auto">
          <a:xfrm>
            <a:off x="7763105" y="2763994"/>
            <a:ext cx="1627" cy="6432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5" name="Shape 266"/>
          <p:cNvCxnSpPr>
            <a:cxnSpLocks noChangeShapeType="1"/>
            <a:stCxn id="117" idx="3"/>
            <a:endCxn id="136" idx="1"/>
          </p:cNvCxnSpPr>
          <p:nvPr/>
        </p:nvCxnSpPr>
        <p:spPr bwMode="auto">
          <a:xfrm>
            <a:off x="8193360" y="3567644"/>
            <a:ext cx="401364" cy="26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" name="Shape 266"/>
          <p:cNvCxnSpPr>
            <a:cxnSpLocks noChangeShapeType="1"/>
            <a:stCxn id="117" idx="2"/>
            <a:endCxn id="118" idx="0"/>
          </p:cNvCxnSpPr>
          <p:nvPr/>
        </p:nvCxnSpPr>
        <p:spPr bwMode="auto">
          <a:xfrm>
            <a:off x="7764732" y="3728029"/>
            <a:ext cx="0" cy="7170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0" name="Shape 266"/>
          <p:cNvCxnSpPr>
            <a:cxnSpLocks noChangeShapeType="1"/>
            <a:stCxn id="118" idx="2"/>
            <a:endCxn id="121" idx="0"/>
          </p:cNvCxnSpPr>
          <p:nvPr/>
        </p:nvCxnSpPr>
        <p:spPr bwMode="auto">
          <a:xfrm flipH="1">
            <a:off x="7763105" y="4765836"/>
            <a:ext cx="1627" cy="9366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" name="순서도: 종속 처리 64"/>
          <p:cNvSpPr>
            <a:spLocks noChangeAspect="1" noChangeArrowheads="1"/>
          </p:cNvSpPr>
          <p:nvPr/>
        </p:nvSpPr>
        <p:spPr bwMode="auto">
          <a:xfrm>
            <a:off x="8594724" y="3413880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3.1.5.1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수시발령</a:t>
            </a:r>
          </a:p>
        </p:txBody>
      </p:sp>
      <p:grpSp>
        <p:nvGrpSpPr>
          <p:cNvPr id="4" name="그룹 142"/>
          <p:cNvGrpSpPr/>
          <p:nvPr/>
        </p:nvGrpSpPr>
        <p:grpSpPr>
          <a:xfrm>
            <a:off x="8627537" y="5658590"/>
            <a:ext cx="756425" cy="417772"/>
            <a:chOff x="1357741" y="2874679"/>
            <a:chExt cx="756425" cy="417772"/>
          </a:xfrm>
        </p:grpSpPr>
        <p:sp>
          <p:nvSpPr>
            <p:cNvPr id="147" name="육각형 14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직위공모 완료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8" name="직사각형 14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9" name="직사각형 14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50" name="Shape 266"/>
          <p:cNvCxnSpPr>
            <a:cxnSpLocks noChangeShapeType="1"/>
            <a:stCxn id="121" idx="3"/>
            <a:endCxn id="147" idx="3"/>
          </p:cNvCxnSpPr>
          <p:nvPr/>
        </p:nvCxnSpPr>
        <p:spPr bwMode="auto">
          <a:xfrm>
            <a:off x="8191733" y="5862872"/>
            <a:ext cx="435804" cy="8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80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3334852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9" name="직사각형 68"/>
          <p:cNvSpPr/>
          <p:nvPr/>
        </p:nvSpPr>
        <p:spPr bwMode="auto">
          <a:xfrm>
            <a:off x="3662380" y="4445065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직위공모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모집 전송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7" name="Shape 266"/>
          <p:cNvCxnSpPr>
            <a:cxnSpLocks noChangeShapeType="1"/>
            <a:stCxn id="69" idx="2"/>
            <a:endCxn id="76" idx="0"/>
          </p:cNvCxnSpPr>
          <p:nvPr/>
        </p:nvCxnSpPr>
        <p:spPr bwMode="auto">
          <a:xfrm>
            <a:off x="4091008" y="4765836"/>
            <a:ext cx="0" cy="93468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497273057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조직 내에 부족한 팀원 혹은 조직장이 있을 경우 직위공모 모집과 신청 및 결과관리를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3.3.2.4 </a:t>
            </a:r>
            <a:r>
              <a:rPr lang="ko-KR" altLang="en-US" dirty="0"/>
              <a:t>직위공모관리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363497"/>
              </p:ext>
            </p:extLst>
          </p:nvPr>
        </p:nvGraphicFramePr>
        <p:xfrm>
          <a:off x="344488" y="1604186"/>
          <a:ext cx="9180513" cy="4633128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9366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6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기획안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부서별 결원 또는 필요인원을 보충하기 위해 공모 기획안을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4623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기획안 승인요청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공모 기획안을 작성하여 전결권자에게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76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기획안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직위공모담당자가 요청한 직위공모 기획안을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기획안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52892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내용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직무조건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모집대상 등의 직위공모 지원정보를 직원에게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76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모집 전송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직위공모 모집을 위해 직원에게 모집내용을 메시지로 전송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2892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직위공모담당자가 보낸 직위공모 모집 메시지를 확인하고 직위공모 정보를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6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모집공고를 확인하고 공고된 직위공모에 대해 신청이 가능할 경우  공모를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신청서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6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접수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직원이 신청한 직위공모 신청 건을 접수하고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신청서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6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지원자 심사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접수된 직위공모 신청 건을 확인하고 신청 내용에 대해 심사를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신청서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6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합격자 선정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접수된 직위공모 신청 건을 심사하여 합격자를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합격자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945947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조직 내에 부족한 팀원 혹은 조직장이 있을 경우 직위공모 모집과 신청 및 결과관리를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3.3.2.4 </a:t>
            </a:r>
            <a:r>
              <a:rPr lang="ko-KR" altLang="en-US" dirty="0"/>
              <a:t>직위공모관리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5584533"/>
              </p:ext>
            </p:extLst>
          </p:nvPr>
        </p:nvGraphicFramePr>
        <p:xfrm>
          <a:off x="344488" y="1604186"/>
          <a:ext cx="9180513" cy="2499876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9277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254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합격자 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직위공모를 신청하여 선정된 합격자의 승인을 위해 기획안을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합격자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572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합격자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기획안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전결권자에게 직위공모 합격자에 대한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합격자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254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합격자 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직위공모담당자가 요청한 직위공모 합격자 승인 건을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합격자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8572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합격자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직위공모 합격자 승인이 나면 직위공모 합격자를 최종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합격자 명부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254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합격자 전송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직위공모담당자가 직위공모에 선정된 합격자 정보를 직원에게 메시지를 전송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합격자 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2542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직위공모 합격자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 합격 메시지를 받은 직위공모지원자가 합격 내용을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직위공모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합격자 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945947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발령품의 등록에 의해 발령품의서를 조회하여 승인 시 사용하고 승진대상자를 선정 시 평가</a:t>
            </a:r>
            <a:r>
              <a:rPr lang="en-US" altLang="ko-KR" sz="1600" dirty="0"/>
              <a:t>, </a:t>
            </a:r>
            <a:r>
              <a:rPr lang="ko-KR" altLang="en-US" sz="1600" dirty="0"/>
              <a:t>징계 등의 타 업무정보를 직접 연동하여 선정할 수 있도록 업무프로세스를 변경함  </a:t>
            </a:r>
          </a:p>
        </p:txBody>
      </p:sp>
      <p:sp>
        <p:nvSpPr>
          <p:cNvPr id="3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3.3.2.5 </a:t>
            </a:r>
            <a:r>
              <a:rPr lang="ko-KR" altLang="en-US" dirty="0"/>
              <a:t>발령관리 </a:t>
            </a:r>
            <a:r>
              <a:rPr lang="en-US" altLang="ko-KR" dirty="0"/>
              <a:t>(1/4)</a:t>
            </a:r>
            <a:endParaRPr lang="ko-KR" altLang="en-US" dirty="0"/>
          </a:p>
        </p:txBody>
      </p:sp>
      <p:sp>
        <p:nvSpPr>
          <p:cNvPr id="3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0555568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3.1.5.1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수시발령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2746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363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발령담당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92" name="Shape 266"/>
          <p:cNvCxnSpPr>
            <a:cxnSpLocks noChangeShapeType="1"/>
            <a:stCxn id="39" idx="0"/>
            <a:endCxn id="43" idx="1"/>
          </p:cNvCxnSpPr>
          <p:nvPr/>
        </p:nvCxnSpPr>
        <p:spPr bwMode="auto">
          <a:xfrm flipV="1">
            <a:off x="2217037" y="4080707"/>
            <a:ext cx="323695" cy="23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9" name="직사각형 48"/>
          <p:cNvSpPr/>
          <p:nvPr/>
        </p:nvSpPr>
        <p:spPr bwMode="auto">
          <a:xfrm>
            <a:off x="3689514" y="392422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발령품의서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0" name="직사각형 49"/>
          <p:cNvSpPr/>
          <p:nvPr/>
        </p:nvSpPr>
        <p:spPr bwMode="auto">
          <a:xfrm>
            <a:off x="4815824" y="3924227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발령품의서 승인 요청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6112913" y="2420888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발령품의서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2" name="Shape 266"/>
          <p:cNvCxnSpPr>
            <a:cxnSpLocks noChangeShapeType="1"/>
            <a:stCxn id="50" idx="3"/>
            <a:endCxn id="51" idx="1"/>
          </p:cNvCxnSpPr>
          <p:nvPr/>
        </p:nvCxnSpPr>
        <p:spPr bwMode="auto">
          <a:xfrm flipV="1">
            <a:off x="5673080" y="2581274"/>
            <a:ext cx="439833" cy="150333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4" name="Shape 266"/>
          <p:cNvCxnSpPr>
            <a:cxnSpLocks noChangeShapeType="1"/>
            <a:stCxn id="49" idx="3"/>
            <a:endCxn id="50" idx="1"/>
          </p:cNvCxnSpPr>
          <p:nvPr/>
        </p:nvCxnSpPr>
        <p:spPr bwMode="auto">
          <a:xfrm flipV="1">
            <a:off x="4546770" y="4084613"/>
            <a:ext cx="269054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6112913" y="339299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발령품의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8" name="Shape 266"/>
          <p:cNvCxnSpPr>
            <a:cxnSpLocks noChangeShapeType="1"/>
            <a:stCxn id="51" idx="2"/>
            <a:endCxn id="67" idx="0"/>
          </p:cNvCxnSpPr>
          <p:nvPr/>
        </p:nvCxnSpPr>
        <p:spPr bwMode="auto">
          <a:xfrm>
            <a:off x="6541541" y="2741659"/>
            <a:ext cx="0" cy="6513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/>
          <p:cNvSpPr/>
          <p:nvPr/>
        </p:nvSpPr>
        <p:spPr bwMode="auto">
          <a:xfrm>
            <a:off x="6112913" y="430661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발령이력 자동등록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2" name="Shape 266"/>
          <p:cNvCxnSpPr>
            <a:cxnSpLocks noChangeShapeType="1"/>
            <a:stCxn id="67" idx="2"/>
            <a:endCxn id="71" idx="0"/>
          </p:cNvCxnSpPr>
          <p:nvPr/>
        </p:nvCxnSpPr>
        <p:spPr bwMode="auto">
          <a:xfrm>
            <a:off x="6541541" y="3713767"/>
            <a:ext cx="0" cy="5928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원통 68"/>
          <p:cNvSpPr>
            <a:spLocks noChangeAspect="1" noChangeArrowheads="1"/>
          </p:cNvSpPr>
          <p:nvPr/>
        </p:nvSpPr>
        <p:spPr bwMode="auto">
          <a:xfrm>
            <a:off x="7811737" y="3697889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6112913" y="577252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발령이력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71" idx="3"/>
            <a:endCxn id="76" idx="3"/>
          </p:cNvCxnSpPr>
          <p:nvPr/>
        </p:nvCxnSpPr>
        <p:spPr bwMode="auto">
          <a:xfrm flipV="1">
            <a:off x="6970169" y="4123703"/>
            <a:ext cx="1222509" cy="34329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85"/>
          <p:cNvGrpSpPr/>
          <p:nvPr/>
        </p:nvGrpSpPr>
        <p:grpSpPr>
          <a:xfrm>
            <a:off x="8517055" y="4919440"/>
            <a:ext cx="756425" cy="417772"/>
            <a:chOff x="1357741" y="2874679"/>
            <a:chExt cx="756425" cy="417772"/>
          </a:xfrm>
        </p:grpSpPr>
        <p:sp>
          <p:nvSpPr>
            <p:cNvPr id="87" name="육각형 8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발령처리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90" name="Shape 266"/>
          <p:cNvCxnSpPr>
            <a:cxnSpLocks noChangeShapeType="1"/>
            <a:stCxn id="71" idx="2"/>
            <a:endCxn id="87" idx="3"/>
          </p:cNvCxnSpPr>
          <p:nvPr/>
        </p:nvCxnSpPr>
        <p:spPr bwMode="auto">
          <a:xfrm rot="16200000" flipH="1">
            <a:off x="7280692" y="3888230"/>
            <a:ext cx="497212" cy="197551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71" idx="2"/>
            <a:endCxn id="77" idx="0"/>
          </p:cNvCxnSpPr>
          <p:nvPr/>
        </p:nvCxnSpPr>
        <p:spPr bwMode="auto">
          <a:xfrm>
            <a:off x="6541541" y="4627381"/>
            <a:ext cx="0" cy="11451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3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2526728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29" name="Shape 266"/>
          <p:cNvCxnSpPr>
            <a:cxnSpLocks noChangeShapeType="1"/>
            <a:stCxn id="30" idx="2"/>
            <a:endCxn id="43" idx="0"/>
          </p:cNvCxnSpPr>
          <p:nvPr/>
        </p:nvCxnSpPr>
        <p:spPr bwMode="auto">
          <a:xfrm rot="5400000">
            <a:off x="2650182" y="3146802"/>
            <a:ext cx="1092697" cy="4543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" name="순서도: 종속 처리 64"/>
          <p:cNvSpPr>
            <a:spLocks noChangeAspect="1" noChangeArrowheads="1"/>
          </p:cNvSpPr>
          <p:nvPr/>
        </p:nvSpPr>
        <p:spPr bwMode="auto">
          <a:xfrm>
            <a:off x="3044788" y="2420888"/>
            <a:ext cx="757823" cy="406736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3.1.4.2 </a:t>
            </a:r>
            <a:r>
              <a:rPr lang="ko-KR" altLang="en-US" sz="900" kern="0" spc="-17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직위공모신청관리</a:t>
            </a:r>
          </a:p>
        </p:txBody>
      </p:sp>
      <p:sp>
        <p:nvSpPr>
          <p:cNvPr id="36" name="순서도: 종속 처리 64"/>
          <p:cNvSpPr>
            <a:spLocks noChangeAspect="1" noChangeArrowheads="1"/>
          </p:cNvSpPr>
          <p:nvPr/>
        </p:nvSpPr>
        <p:spPr bwMode="auto">
          <a:xfrm>
            <a:off x="2180692" y="2401590"/>
            <a:ext cx="757823" cy="426034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3.1.6.2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징계관리</a:t>
            </a:r>
          </a:p>
        </p:txBody>
      </p:sp>
      <p:cxnSp>
        <p:nvCxnSpPr>
          <p:cNvPr id="37" name="Shape 266"/>
          <p:cNvCxnSpPr>
            <a:cxnSpLocks noChangeShapeType="1"/>
            <a:stCxn id="36" idx="2"/>
            <a:endCxn id="43" idx="0"/>
          </p:cNvCxnSpPr>
          <p:nvPr/>
        </p:nvCxnSpPr>
        <p:spPr bwMode="auto">
          <a:xfrm rot="16200000" flipH="1">
            <a:off x="2218134" y="3169094"/>
            <a:ext cx="1092697" cy="40975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타원 44"/>
          <p:cNvSpPr/>
          <p:nvPr/>
        </p:nvSpPr>
        <p:spPr>
          <a:xfrm>
            <a:off x="1737667" y="476510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46" name="Shape 266"/>
          <p:cNvCxnSpPr>
            <a:cxnSpLocks noChangeShapeType="1"/>
            <a:endCxn id="45" idx="0"/>
          </p:cNvCxnSpPr>
          <p:nvPr/>
        </p:nvCxnSpPr>
        <p:spPr bwMode="auto">
          <a:xfrm>
            <a:off x="1838824" y="4277724"/>
            <a:ext cx="0" cy="48738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37"/>
          <p:cNvGrpSpPr/>
          <p:nvPr/>
        </p:nvGrpSpPr>
        <p:grpSpPr>
          <a:xfrm>
            <a:off x="1460612" y="3877952"/>
            <a:ext cx="756425" cy="417772"/>
            <a:chOff x="1357741" y="2874679"/>
            <a:chExt cx="756425" cy="417772"/>
          </a:xfrm>
        </p:grpSpPr>
        <p:sp>
          <p:nvSpPr>
            <p:cNvPr id="39" name="육각형 3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발령처리 건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43" name="직사각형 42"/>
          <p:cNvSpPr/>
          <p:nvPr/>
        </p:nvSpPr>
        <p:spPr bwMode="auto">
          <a:xfrm>
            <a:off x="2540732" y="392032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발령품의내역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7" name="Shape 266"/>
          <p:cNvCxnSpPr>
            <a:cxnSpLocks noChangeShapeType="1"/>
            <a:stCxn id="43" idx="3"/>
            <a:endCxn id="49" idx="1"/>
          </p:cNvCxnSpPr>
          <p:nvPr/>
        </p:nvCxnSpPr>
        <p:spPr bwMode="auto">
          <a:xfrm>
            <a:off x="3397988" y="4080707"/>
            <a:ext cx="291526" cy="390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222474042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발령품의 등록에 의해 발령품의서를 조회하여 승인 시 사용하고 승진대상자를 선정 시 평가</a:t>
            </a:r>
            <a:r>
              <a:rPr lang="en-US" altLang="ko-KR" sz="1600" dirty="0"/>
              <a:t>, </a:t>
            </a:r>
            <a:r>
              <a:rPr lang="ko-KR" altLang="en-US" sz="1600" dirty="0"/>
              <a:t>징계 등의 타 업무정보를 직접 연동하여 선정할 수 있도록 업무프로세스를 변경함</a:t>
            </a:r>
          </a:p>
        </p:txBody>
      </p:sp>
      <p:sp>
        <p:nvSpPr>
          <p:cNvPr id="5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3.3.2.5 </a:t>
            </a:r>
            <a:r>
              <a:rPr lang="ko-KR" altLang="en-US" dirty="0"/>
              <a:t>발령관리 </a:t>
            </a:r>
            <a:r>
              <a:rPr lang="en-US" altLang="ko-KR" dirty="0"/>
              <a:t>(2/4)</a:t>
            </a:r>
            <a:endParaRPr lang="ko-KR" altLang="en-US" dirty="0"/>
          </a:p>
        </p:txBody>
      </p:sp>
      <p:sp>
        <p:nvSpPr>
          <p:cNvPr id="5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5278438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3.1.5.2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승진발령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533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위원회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4269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승진담당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0" name="직사각형 79"/>
          <p:cNvSpPr/>
          <p:nvPr/>
        </p:nvSpPr>
        <p:spPr bwMode="auto">
          <a:xfrm>
            <a:off x="2835604" y="3293451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성과평과 결과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stCxn id="95" idx="6"/>
            <a:endCxn id="80" idx="1"/>
          </p:cNvCxnSpPr>
          <p:nvPr/>
        </p:nvCxnSpPr>
        <p:spPr bwMode="auto">
          <a:xfrm>
            <a:off x="1770938" y="3449872"/>
            <a:ext cx="1064666" cy="396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5" name="타원 94"/>
          <p:cNvSpPr/>
          <p:nvPr/>
        </p:nvSpPr>
        <p:spPr>
          <a:xfrm>
            <a:off x="1568624" y="335699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>
            <a:off x="2835604" y="42721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spc="-10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승진후보대상자 선정</a:t>
            </a:r>
            <a:endParaRPr lang="en-US" altLang="ko-KR" sz="900" kern="0" spc="-1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2835604" y="476148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승진후보자 명부 작성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0" name="직사각형 49"/>
          <p:cNvSpPr/>
          <p:nvPr/>
        </p:nvSpPr>
        <p:spPr bwMode="auto">
          <a:xfrm>
            <a:off x="2835604" y="525083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승진후보자 심사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7588132" y="237428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승진대상자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2" name="Shape 266"/>
          <p:cNvCxnSpPr>
            <a:cxnSpLocks noChangeShapeType="1"/>
            <a:stCxn id="79" idx="3"/>
            <a:endCxn id="51" idx="1"/>
          </p:cNvCxnSpPr>
          <p:nvPr/>
        </p:nvCxnSpPr>
        <p:spPr bwMode="auto">
          <a:xfrm flipV="1">
            <a:off x="7157202" y="2534667"/>
            <a:ext cx="430930" cy="47865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Shape 266"/>
          <p:cNvCxnSpPr>
            <a:cxnSpLocks noChangeShapeType="1"/>
            <a:stCxn id="80" idx="2"/>
            <a:endCxn id="45" idx="0"/>
          </p:cNvCxnSpPr>
          <p:nvPr/>
        </p:nvCxnSpPr>
        <p:spPr bwMode="auto">
          <a:xfrm>
            <a:off x="3264232" y="3614222"/>
            <a:ext cx="0" cy="1685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4" name="Shape 266"/>
          <p:cNvCxnSpPr>
            <a:cxnSpLocks noChangeShapeType="1"/>
            <a:stCxn id="49" idx="2"/>
            <a:endCxn id="50" idx="0"/>
          </p:cNvCxnSpPr>
          <p:nvPr/>
        </p:nvCxnSpPr>
        <p:spPr bwMode="auto">
          <a:xfrm>
            <a:off x="3264232" y="5082257"/>
            <a:ext cx="0" cy="1685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7588132" y="39003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승진대상자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8" name="Shape 266"/>
          <p:cNvCxnSpPr>
            <a:cxnSpLocks noChangeShapeType="1"/>
            <a:stCxn id="51" idx="2"/>
            <a:endCxn id="83" idx="0"/>
          </p:cNvCxnSpPr>
          <p:nvPr/>
        </p:nvCxnSpPr>
        <p:spPr bwMode="auto">
          <a:xfrm>
            <a:off x="8016760" y="2695052"/>
            <a:ext cx="0" cy="7012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/>
          <p:cNvSpPr/>
          <p:nvPr/>
        </p:nvSpPr>
        <p:spPr bwMode="auto">
          <a:xfrm>
            <a:off x="7588132" y="44043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발령이력 자동등록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2" name="Shape 266"/>
          <p:cNvCxnSpPr>
            <a:cxnSpLocks noChangeShapeType="1"/>
            <a:stCxn id="67" idx="2"/>
            <a:endCxn id="71" idx="0"/>
          </p:cNvCxnSpPr>
          <p:nvPr/>
        </p:nvCxnSpPr>
        <p:spPr bwMode="auto">
          <a:xfrm>
            <a:off x="8016760" y="4221088"/>
            <a:ext cx="0" cy="1832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원통 68"/>
          <p:cNvSpPr>
            <a:spLocks noChangeAspect="1" noChangeArrowheads="1"/>
          </p:cNvSpPr>
          <p:nvPr/>
        </p:nvSpPr>
        <p:spPr bwMode="auto">
          <a:xfrm>
            <a:off x="8583265" y="3507620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7588132" y="577252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발령이력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71" idx="3"/>
            <a:endCxn id="76" idx="3"/>
          </p:cNvCxnSpPr>
          <p:nvPr/>
        </p:nvCxnSpPr>
        <p:spPr bwMode="auto">
          <a:xfrm flipV="1">
            <a:off x="8445388" y="3933434"/>
            <a:ext cx="518818" cy="63132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85"/>
          <p:cNvGrpSpPr/>
          <p:nvPr/>
        </p:nvGrpSpPr>
        <p:grpSpPr>
          <a:xfrm>
            <a:off x="8697075" y="4883436"/>
            <a:ext cx="756425" cy="417772"/>
            <a:chOff x="1357741" y="2874679"/>
            <a:chExt cx="756425" cy="417772"/>
          </a:xfrm>
        </p:grpSpPr>
        <p:sp>
          <p:nvSpPr>
            <p:cNvPr id="87" name="육각형 8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발령처리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90" name="Shape 266"/>
          <p:cNvCxnSpPr>
            <a:cxnSpLocks noChangeShapeType="1"/>
            <a:stCxn id="71" idx="2"/>
            <a:endCxn id="87" idx="3"/>
          </p:cNvCxnSpPr>
          <p:nvPr/>
        </p:nvCxnSpPr>
        <p:spPr bwMode="auto">
          <a:xfrm rot="16200000" flipH="1">
            <a:off x="8175195" y="4566708"/>
            <a:ext cx="363445" cy="68031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71" idx="2"/>
            <a:endCxn id="77" idx="0"/>
          </p:cNvCxnSpPr>
          <p:nvPr/>
        </p:nvCxnSpPr>
        <p:spPr bwMode="auto">
          <a:xfrm>
            <a:off x="8016760" y="4725144"/>
            <a:ext cx="0" cy="104738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순서도: 종속 처리 64"/>
          <p:cNvSpPr>
            <a:spLocks noChangeAspect="1" noChangeArrowheads="1"/>
          </p:cNvSpPr>
          <p:nvPr/>
        </p:nvSpPr>
        <p:spPr bwMode="auto">
          <a:xfrm>
            <a:off x="1440343" y="3770933"/>
            <a:ext cx="828000" cy="34176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wrap="squar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3.1.3.1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 정보관리</a:t>
            </a:r>
          </a:p>
        </p:txBody>
      </p:sp>
      <p:sp>
        <p:nvSpPr>
          <p:cNvPr id="57" name="순서도: 종속 처리 64"/>
          <p:cNvSpPr>
            <a:spLocks noChangeAspect="1" noChangeArrowheads="1"/>
          </p:cNvSpPr>
          <p:nvPr/>
        </p:nvSpPr>
        <p:spPr bwMode="auto">
          <a:xfrm>
            <a:off x="1440343" y="4242145"/>
            <a:ext cx="828000" cy="34176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wrap="squar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3.4.2.6 </a:t>
            </a:r>
            <a:r>
              <a:rPr lang="ko-KR" altLang="en-US" sz="900" kern="0" spc="-14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  결과보고</a:t>
            </a:r>
          </a:p>
        </p:txBody>
      </p:sp>
      <p:sp>
        <p:nvSpPr>
          <p:cNvPr id="59" name="순서도: 종속 처리 64"/>
          <p:cNvSpPr>
            <a:spLocks noChangeAspect="1" noChangeArrowheads="1"/>
          </p:cNvSpPr>
          <p:nvPr/>
        </p:nvSpPr>
        <p:spPr bwMode="auto">
          <a:xfrm>
            <a:off x="1440343" y="4746201"/>
            <a:ext cx="828000" cy="34176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wrap="squar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3.3.1.4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평가결과관리</a:t>
            </a:r>
          </a:p>
        </p:txBody>
      </p:sp>
      <p:cxnSp>
        <p:nvCxnSpPr>
          <p:cNvPr id="60" name="Shape 266"/>
          <p:cNvCxnSpPr>
            <a:cxnSpLocks noChangeShapeType="1"/>
            <a:stCxn id="56" idx="3"/>
            <a:endCxn id="45" idx="1"/>
          </p:cNvCxnSpPr>
          <p:nvPr/>
        </p:nvCxnSpPr>
        <p:spPr bwMode="auto">
          <a:xfrm>
            <a:off x="2268343" y="3941816"/>
            <a:ext cx="567261" cy="136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2" name="Shape 266"/>
          <p:cNvCxnSpPr>
            <a:cxnSpLocks noChangeShapeType="1"/>
            <a:stCxn id="57" idx="3"/>
            <a:endCxn id="45" idx="1"/>
          </p:cNvCxnSpPr>
          <p:nvPr/>
        </p:nvCxnSpPr>
        <p:spPr bwMode="auto">
          <a:xfrm flipV="1">
            <a:off x="2268343" y="3943182"/>
            <a:ext cx="567261" cy="46984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59" idx="3"/>
            <a:endCxn id="45" idx="1"/>
          </p:cNvCxnSpPr>
          <p:nvPr/>
        </p:nvCxnSpPr>
        <p:spPr bwMode="auto">
          <a:xfrm flipV="1">
            <a:off x="2268343" y="3943182"/>
            <a:ext cx="567261" cy="97390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9" name="직사각형 68"/>
          <p:cNvSpPr/>
          <p:nvPr/>
        </p:nvSpPr>
        <p:spPr bwMode="auto">
          <a:xfrm>
            <a:off x="4232920" y="284745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승진후보자 심사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/>
          <p:cNvSpPr/>
          <p:nvPr/>
        </p:nvSpPr>
        <p:spPr bwMode="auto">
          <a:xfrm>
            <a:off x="5276695" y="284786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승진후보자 심사결과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50" idx="3"/>
            <a:endCxn id="69" idx="1"/>
          </p:cNvCxnSpPr>
          <p:nvPr/>
        </p:nvCxnSpPr>
        <p:spPr bwMode="auto">
          <a:xfrm flipV="1">
            <a:off x="3692860" y="3007838"/>
            <a:ext cx="540060" cy="240337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/>
          <p:cNvCxnSpPr>
            <a:cxnSpLocks noChangeShapeType="1"/>
            <a:stCxn id="69" idx="3"/>
            <a:endCxn id="70" idx="1"/>
          </p:cNvCxnSpPr>
          <p:nvPr/>
        </p:nvCxnSpPr>
        <p:spPr bwMode="auto">
          <a:xfrm>
            <a:off x="5090176" y="3007838"/>
            <a:ext cx="186519" cy="41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직사각형 78"/>
          <p:cNvSpPr/>
          <p:nvPr/>
        </p:nvSpPr>
        <p:spPr bwMode="auto">
          <a:xfrm>
            <a:off x="6299946" y="285293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승진대상자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1" name="Shape 266"/>
          <p:cNvCxnSpPr>
            <a:cxnSpLocks noChangeShapeType="1"/>
            <a:stCxn id="70" idx="3"/>
            <a:endCxn id="79" idx="1"/>
          </p:cNvCxnSpPr>
          <p:nvPr/>
        </p:nvCxnSpPr>
        <p:spPr bwMode="auto">
          <a:xfrm>
            <a:off x="6133951" y="3008249"/>
            <a:ext cx="165995" cy="50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7588132" y="339626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승진대상자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발령품의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3" name="Shape 266"/>
          <p:cNvCxnSpPr>
            <a:cxnSpLocks noChangeShapeType="1"/>
            <a:stCxn id="83" idx="2"/>
            <a:endCxn id="67" idx="0"/>
          </p:cNvCxnSpPr>
          <p:nvPr/>
        </p:nvCxnSpPr>
        <p:spPr bwMode="auto">
          <a:xfrm>
            <a:off x="8016760" y="3717032"/>
            <a:ext cx="0" cy="1832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75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042438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63" name="Shape 266"/>
          <p:cNvCxnSpPr>
            <a:cxnSpLocks noChangeShapeType="1"/>
            <a:stCxn id="47" idx="2"/>
            <a:endCxn id="49" idx="0"/>
          </p:cNvCxnSpPr>
          <p:nvPr/>
        </p:nvCxnSpPr>
        <p:spPr bwMode="auto">
          <a:xfrm>
            <a:off x="3264232" y="4592912"/>
            <a:ext cx="0" cy="1685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직사각형 44"/>
          <p:cNvSpPr/>
          <p:nvPr/>
        </p:nvSpPr>
        <p:spPr bwMode="auto">
          <a:xfrm>
            <a:off x="2835604" y="378279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spc="-10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승진후보대상자 명부 생성</a:t>
            </a:r>
            <a:endParaRPr lang="en-US" altLang="ko-KR" sz="900" kern="0" spc="-1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8" name="Shape 266"/>
          <p:cNvCxnSpPr>
            <a:cxnSpLocks noChangeShapeType="1"/>
            <a:stCxn id="45" idx="2"/>
            <a:endCxn id="47" idx="0"/>
          </p:cNvCxnSpPr>
          <p:nvPr/>
        </p:nvCxnSpPr>
        <p:spPr bwMode="auto">
          <a:xfrm>
            <a:off x="3264232" y="4103567"/>
            <a:ext cx="0" cy="1685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순서도: 종속 처리 64"/>
          <p:cNvSpPr>
            <a:spLocks noChangeAspect="1" noChangeArrowheads="1"/>
          </p:cNvSpPr>
          <p:nvPr/>
        </p:nvSpPr>
        <p:spPr bwMode="auto">
          <a:xfrm>
            <a:off x="1440343" y="5228778"/>
            <a:ext cx="828000" cy="34176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wrap="squar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3.1.6.2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61" name="Shape 266"/>
          <p:cNvCxnSpPr>
            <a:cxnSpLocks noChangeShapeType="1"/>
            <a:stCxn id="58" idx="3"/>
            <a:endCxn id="45" idx="1"/>
          </p:cNvCxnSpPr>
          <p:nvPr/>
        </p:nvCxnSpPr>
        <p:spPr bwMode="auto">
          <a:xfrm flipV="1">
            <a:off x="2268343" y="3943182"/>
            <a:ext cx="567261" cy="145647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902225965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발령품의 등록에 의해 발령품의서를 조회하여 승인 시 사용하고 승진대상자를 선정 시 평가</a:t>
            </a:r>
            <a:r>
              <a:rPr lang="en-US" altLang="ko-KR" sz="1600" dirty="0"/>
              <a:t>, </a:t>
            </a:r>
            <a:r>
              <a:rPr lang="ko-KR" altLang="en-US" sz="1600" dirty="0"/>
              <a:t>징계 등의 타 업무정보를 직접 연동하여 선정할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3.3.2.5 </a:t>
            </a:r>
            <a:r>
              <a:rPr lang="ko-KR" altLang="en-US" dirty="0"/>
              <a:t>발령관리 </a:t>
            </a:r>
            <a:r>
              <a:rPr lang="en-US" altLang="ko-KR" dirty="0"/>
              <a:t>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0432514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발령품의내역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발령품의서를 작성하기 위한 발령대상자에 대한 발령품의내역을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발령품의서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등록된 발령품의 내역을 이용하여 발령품의서 내용을 조회하고 문서를 작성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발령품의서 승인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전결권자에게 그룹웨어를 통해 발령품의서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발령품의서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발령담당자가 그룹웨어를 통해 요청한 발령품의서에 대한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발령품의서가 승인이 완료되면 발령품의 내역을 확정하여 발령이력으로 변경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발령이력 자동등록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발령품의 내역을 확정하면 발령품의 내역이 발령이력으로 자동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발령에 따른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보직자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권한 자동 부여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발령이력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발령품의가 확정되면 직원이 인사정보를 조회하여 자신의 발령이력을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성과평가 결과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승진후보대상자의 명부 생성을 위해 성과평가시스템의 평가 결과를 연계하여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성과평가시스템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승진후보대상자 명부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교육이수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역량평가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성과평가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 등의 정보를 조합하여 승진후보 대상자 명부를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승진후보대상자 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승진후보대상자 선정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작성된 승진후보대상자 명부를 심사하여 승진후보자를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승진후보대상자 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명부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승진후보자를 선정하고 승진후보자에 대한 명부를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353703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발령품의 등록에 의해 발령품의서를 조회하여 승인 시 사용하고 승진대상자를 선정 시 평가</a:t>
            </a:r>
            <a:r>
              <a:rPr lang="en-US" altLang="ko-KR" sz="1600" dirty="0"/>
              <a:t>, </a:t>
            </a:r>
            <a:r>
              <a:rPr lang="ko-KR" altLang="en-US" sz="1600" dirty="0"/>
              <a:t>징계 등의 타 업무정보를 직접 연동하여 선정할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3.3.2.5 </a:t>
            </a:r>
            <a:r>
              <a:rPr lang="ko-KR" altLang="en-US" dirty="0"/>
              <a:t>채용관리 </a:t>
            </a:r>
            <a:r>
              <a:rPr lang="en-US" altLang="ko-KR" dirty="0"/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2626620"/>
              </p:ext>
            </p:extLst>
          </p:nvPr>
        </p:nvGraphicFramePr>
        <p:xfrm>
          <a:off x="344488" y="1604186"/>
          <a:ext cx="9180513" cy="399288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심사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선정된 승진후보자 명부에 대해 인사위원회에 승진 심사를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심사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발령담당자가 요청한 승진 심사 건에 대해 심사를 진행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승진후보자 심사결과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발령담당자가 요청한 승진 심사 건에 대해 승진대상자를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승진대상자 명부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승진대상자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발령담당자가 요청한 승진 심사 건에 대해 승진대상자 승인을 이사장에게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승진대상자 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승진대상자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이사장이 인사위원회가 요청한 승진대상자 승인 건에 대해 확인하고 승인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승진대상자 명부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승진대상자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발령품의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이사장이 최종으로 승인한 승진대상자의 정보를 발령품의내역에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승진대상자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발령품의가 등록된 승진대상자에 대해 승진 발령품의내역을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발령이력 자동등록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발령담당자가 발령품의 내역을 확정하면 발령품의 내역이 발령이력으로 자동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발령이력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발령품의가 확정되면 직원이 인사정보를 조회하여 자신의 발령이력을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492087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포상 공고를 시스템에서 직접 공고 및 조회하고 연동하여 신청할 수 있도록 업무프로세스를 변경함 </a:t>
            </a:r>
          </a:p>
        </p:txBody>
      </p:sp>
      <p:sp>
        <p:nvSpPr>
          <p:cNvPr id="48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3.3.2.6 </a:t>
            </a:r>
            <a:r>
              <a:rPr lang="ko-KR" altLang="en-US" dirty="0"/>
              <a:t>상벌관리 </a:t>
            </a:r>
            <a:r>
              <a:rPr lang="en-US" altLang="ko-KR" dirty="0"/>
              <a:t>(1/5)</a:t>
            </a:r>
            <a:endParaRPr lang="ko-KR" altLang="en-US" dirty="0"/>
          </a:p>
        </p:txBody>
      </p:sp>
      <p:sp>
        <p:nvSpPr>
          <p:cNvPr id="49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522624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3.1.6.1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포상관리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533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위원회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1389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포상담당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320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0" name="직사각형 79"/>
          <p:cNvSpPr/>
          <p:nvPr/>
        </p:nvSpPr>
        <p:spPr bwMode="auto">
          <a:xfrm>
            <a:off x="2347973" y="329345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연간포상계획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endCxn id="80" idx="1"/>
          </p:cNvCxnSpPr>
          <p:nvPr/>
        </p:nvCxnSpPr>
        <p:spPr bwMode="auto">
          <a:xfrm flipV="1">
            <a:off x="2130978" y="3453837"/>
            <a:ext cx="216995" cy="44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7" name="직사각형 46"/>
          <p:cNvSpPr/>
          <p:nvPr/>
        </p:nvSpPr>
        <p:spPr bwMode="auto">
          <a:xfrm>
            <a:off x="2347973" y="43323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연간포상계획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5" name="Shape 266"/>
          <p:cNvCxnSpPr>
            <a:cxnSpLocks noChangeShapeType="1"/>
            <a:stCxn id="80" idx="2"/>
            <a:endCxn id="47" idx="0"/>
          </p:cNvCxnSpPr>
          <p:nvPr/>
        </p:nvCxnSpPr>
        <p:spPr bwMode="auto">
          <a:xfrm>
            <a:off x="2776601" y="3614222"/>
            <a:ext cx="0" cy="7181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원통 68"/>
          <p:cNvSpPr>
            <a:spLocks noChangeAspect="1" noChangeArrowheads="1"/>
          </p:cNvSpPr>
          <p:nvPr/>
        </p:nvSpPr>
        <p:spPr bwMode="auto">
          <a:xfrm>
            <a:off x="8619610" y="3723266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상벌정보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3" idx="6"/>
            <a:endCxn id="76" idx="2"/>
          </p:cNvCxnSpPr>
          <p:nvPr/>
        </p:nvCxnSpPr>
        <p:spPr bwMode="auto">
          <a:xfrm flipV="1">
            <a:off x="8258187" y="3936173"/>
            <a:ext cx="361423" cy="58105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85"/>
          <p:cNvGrpSpPr/>
          <p:nvPr/>
        </p:nvGrpSpPr>
        <p:grpSpPr>
          <a:xfrm>
            <a:off x="8589404" y="4883436"/>
            <a:ext cx="756425" cy="417772"/>
            <a:chOff x="1357741" y="2874679"/>
            <a:chExt cx="756425" cy="417772"/>
          </a:xfrm>
        </p:grpSpPr>
        <p:sp>
          <p:nvSpPr>
            <p:cNvPr id="87" name="육각형 8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상벌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9" name="직사각형 68"/>
          <p:cNvSpPr/>
          <p:nvPr/>
        </p:nvSpPr>
        <p:spPr bwMode="auto">
          <a:xfrm>
            <a:off x="6291988" y="284745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 심사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/>
          <p:cNvSpPr/>
          <p:nvPr/>
        </p:nvSpPr>
        <p:spPr bwMode="auto">
          <a:xfrm>
            <a:off x="7400931" y="284745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 선정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47" idx="3"/>
            <a:endCxn id="75" idx="1"/>
          </p:cNvCxnSpPr>
          <p:nvPr/>
        </p:nvCxnSpPr>
        <p:spPr bwMode="auto">
          <a:xfrm flipV="1">
            <a:off x="3205229" y="2526681"/>
            <a:ext cx="386459" cy="196607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7400931" y="443703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포상자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3" name="Shape 266"/>
          <p:cNvCxnSpPr>
            <a:cxnSpLocks noChangeShapeType="1"/>
            <a:stCxn id="83" idx="2"/>
            <a:endCxn id="107" idx="0"/>
          </p:cNvCxnSpPr>
          <p:nvPr/>
        </p:nvCxnSpPr>
        <p:spPr bwMode="auto">
          <a:xfrm>
            <a:off x="7829559" y="4757802"/>
            <a:ext cx="0" cy="1733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직사각형 74"/>
          <p:cNvSpPr/>
          <p:nvPr/>
        </p:nvSpPr>
        <p:spPr bwMode="auto">
          <a:xfrm>
            <a:off x="3591688" y="236629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연간포상계획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3591688" y="43323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포상일정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3591688" y="36842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포상계획 공고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3591688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공적조서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6" name="Shape 266"/>
          <p:cNvCxnSpPr>
            <a:cxnSpLocks noChangeShapeType="1"/>
            <a:stCxn id="84" idx="2"/>
            <a:endCxn id="82" idx="0"/>
          </p:cNvCxnSpPr>
          <p:nvPr/>
        </p:nvCxnSpPr>
        <p:spPr bwMode="auto">
          <a:xfrm>
            <a:off x="4020316" y="4005064"/>
            <a:ext cx="0" cy="3273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82" idx="2"/>
            <a:endCxn id="85" idx="0"/>
          </p:cNvCxnSpPr>
          <p:nvPr/>
        </p:nvCxnSpPr>
        <p:spPr bwMode="auto">
          <a:xfrm>
            <a:off x="4020316" y="4653136"/>
            <a:ext cx="0" cy="122953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8" name="Shape 266"/>
          <p:cNvCxnSpPr>
            <a:cxnSpLocks noChangeShapeType="1"/>
            <a:stCxn id="75" idx="2"/>
            <a:endCxn id="84" idx="0"/>
          </p:cNvCxnSpPr>
          <p:nvPr/>
        </p:nvCxnSpPr>
        <p:spPr bwMode="auto">
          <a:xfrm>
            <a:off x="4020316" y="2687066"/>
            <a:ext cx="0" cy="99722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9" name="Shape 266"/>
          <p:cNvCxnSpPr>
            <a:cxnSpLocks noChangeShapeType="1"/>
            <a:stCxn id="85" idx="3"/>
            <a:endCxn id="81" idx="2"/>
          </p:cNvCxnSpPr>
          <p:nvPr/>
        </p:nvCxnSpPr>
        <p:spPr bwMode="auto">
          <a:xfrm flipV="1">
            <a:off x="4448944" y="5749061"/>
            <a:ext cx="471472" cy="29399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" name="직사각형 99"/>
          <p:cNvSpPr/>
          <p:nvPr/>
        </p:nvSpPr>
        <p:spPr bwMode="auto">
          <a:xfrm>
            <a:off x="5355884" y="40443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 명부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직사각형 100"/>
          <p:cNvSpPr/>
          <p:nvPr/>
        </p:nvSpPr>
        <p:spPr bwMode="auto">
          <a:xfrm>
            <a:off x="5355884" y="462039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 심사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3" name="Shape 266"/>
          <p:cNvCxnSpPr>
            <a:cxnSpLocks noChangeShapeType="1"/>
            <a:stCxn id="101" idx="3"/>
            <a:endCxn id="69" idx="2"/>
          </p:cNvCxnSpPr>
          <p:nvPr/>
        </p:nvCxnSpPr>
        <p:spPr bwMode="auto">
          <a:xfrm flipV="1">
            <a:off x="6213140" y="3168223"/>
            <a:ext cx="507476" cy="161256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" name="Shape 266"/>
          <p:cNvCxnSpPr>
            <a:cxnSpLocks noChangeShapeType="1"/>
            <a:stCxn id="100" idx="2"/>
            <a:endCxn id="101" idx="0"/>
          </p:cNvCxnSpPr>
          <p:nvPr/>
        </p:nvCxnSpPr>
        <p:spPr bwMode="auto">
          <a:xfrm>
            <a:off x="5784512" y="4365104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5" name="직사각형 104"/>
          <p:cNvSpPr/>
          <p:nvPr/>
        </p:nvSpPr>
        <p:spPr bwMode="auto">
          <a:xfrm>
            <a:off x="7400931" y="354027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6" name="Shape 266"/>
          <p:cNvCxnSpPr>
            <a:cxnSpLocks noChangeShapeType="1"/>
            <a:stCxn id="70" idx="2"/>
            <a:endCxn id="105" idx="0"/>
          </p:cNvCxnSpPr>
          <p:nvPr/>
        </p:nvCxnSpPr>
        <p:spPr bwMode="auto">
          <a:xfrm>
            <a:off x="7829559" y="3168223"/>
            <a:ext cx="0" cy="3720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7" name="직사각형 106"/>
          <p:cNvSpPr/>
          <p:nvPr/>
        </p:nvSpPr>
        <p:spPr bwMode="auto">
          <a:xfrm>
            <a:off x="7400931" y="49311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 실시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8" name="Shape 266"/>
          <p:cNvCxnSpPr>
            <a:cxnSpLocks noChangeShapeType="1"/>
            <a:stCxn id="105" idx="2"/>
            <a:endCxn id="83" idx="0"/>
          </p:cNvCxnSpPr>
          <p:nvPr/>
        </p:nvCxnSpPr>
        <p:spPr bwMode="auto">
          <a:xfrm>
            <a:off x="7829559" y="3861048"/>
            <a:ext cx="0" cy="57598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0" name="Shape 266"/>
          <p:cNvCxnSpPr>
            <a:cxnSpLocks noChangeShapeType="1"/>
            <a:stCxn id="107" idx="3"/>
            <a:endCxn id="87" idx="3"/>
          </p:cNvCxnSpPr>
          <p:nvPr/>
        </p:nvCxnSpPr>
        <p:spPr bwMode="auto">
          <a:xfrm flipV="1">
            <a:off x="8258187" y="5088589"/>
            <a:ext cx="331217" cy="29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직사각형 80"/>
          <p:cNvSpPr/>
          <p:nvPr/>
        </p:nvSpPr>
        <p:spPr bwMode="auto">
          <a:xfrm>
            <a:off x="4491788" y="542829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공적조서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0" name="Shape 266"/>
          <p:cNvCxnSpPr>
            <a:cxnSpLocks noChangeShapeType="1"/>
            <a:stCxn id="81" idx="0"/>
            <a:endCxn id="91" idx="1"/>
          </p:cNvCxnSpPr>
          <p:nvPr/>
        </p:nvCxnSpPr>
        <p:spPr bwMode="auto">
          <a:xfrm rot="5400000" flipH="1" flipV="1">
            <a:off x="4226063" y="4298469"/>
            <a:ext cx="1824174" cy="43546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5355885" y="344373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포상대상자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공적조서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9" name="Shape 266"/>
          <p:cNvCxnSpPr>
            <a:cxnSpLocks noChangeShapeType="1"/>
            <a:stCxn id="91" idx="2"/>
            <a:endCxn id="100" idx="0"/>
          </p:cNvCxnSpPr>
          <p:nvPr/>
        </p:nvCxnSpPr>
        <p:spPr bwMode="auto">
          <a:xfrm flipH="1">
            <a:off x="5784512" y="3764501"/>
            <a:ext cx="1" cy="2798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45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0704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상벌관리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50" name="Shape 266"/>
          <p:cNvCxnSpPr>
            <a:cxnSpLocks noChangeShapeType="1"/>
            <a:stCxn id="69" idx="3"/>
            <a:endCxn id="70" idx="1"/>
          </p:cNvCxnSpPr>
          <p:nvPr/>
        </p:nvCxnSpPr>
        <p:spPr bwMode="auto">
          <a:xfrm>
            <a:off x="7149244" y="3007838"/>
            <a:ext cx="25168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순서도: 종속 처리 64"/>
          <p:cNvSpPr>
            <a:spLocks noChangeAspect="1" noChangeArrowheads="1"/>
          </p:cNvSpPr>
          <p:nvPr/>
        </p:nvSpPr>
        <p:spPr bwMode="auto">
          <a:xfrm>
            <a:off x="8619610" y="4437112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3.5.2.1 </a:t>
            </a:r>
            <a:r>
              <a:rPr lang="ko-KR" altLang="en-US" sz="900" kern="0" spc="-16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현물지급관리</a:t>
            </a:r>
          </a:p>
        </p:txBody>
      </p:sp>
      <p:cxnSp>
        <p:nvCxnSpPr>
          <p:cNvPr id="54" name="Shape 266"/>
          <p:cNvCxnSpPr>
            <a:cxnSpLocks noChangeShapeType="1"/>
            <a:stCxn id="83" idx="3"/>
            <a:endCxn id="53" idx="1"/>
          </p:cNvCxnSpPr>
          <p:nvPr/>
        </p:nvCxnSpPr>
        <p:spPr bwMode="auto">
          <a:xfrm flipV="1">
            <a:off x="8258187" y="4593512"/>
            <a:ext cx="361423" cy="390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타원 2"/>
          <p:cNvSpPr/>
          <p:nvPr/>
        </p:nvSpPr>
        <p:spPr>
          <a:xfrm>
            <a:off x="8049344" y="4437031"/>
            <a:ext cx="208843" cy="16038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" name="그룹 50"/>
          <p:cNvGrpSpPr/>
          <p:nvPr/>
        </p:nvGrpSpPr>
        <p:grpSpPr>
          <a:xfrm>
            <a:off x="1339861" y="3256627"/>
            <a:ext cx="756425" cy="417772"/>
            <a:chOff x="1357741" y="2874679"/>
            <a:chExt cx="756425" cy="417772"/>
          </a:xfrm>
        </p:grpSpPr>
        <p:sp>
          <p:nvSpPr>
            <p:cNvPr id="52" name="육각형 5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상벌처리 건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6" name="직사각형 55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8" name="Shape 266"/>
          <p:cNvCxnSpPr>
            <a:cxnSpLocks noChangeShapeType="1"/>
            <a:stCxn id="4" idx="4"/>
            <a:endCxn id="59" idx="2"/>
          </p:cNvCxnSpPr>
          <p:nvPr/>
        </p:nvCxnSpPr>
        <p:spPr bwMode="auto">
          <a:xfrm rot="16200000" flipH="1">
            <a:off x="1851646" y="3530749"/>
            <a:ext cx="299897" cy="5984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9" name="타원 58"/>
          <p:cNvSpPr/>
          <p:nvPr/>
        </p:nvSpPr>
        <p:spPr>
          <a:xfrm>
            <a:off x="2300838" y="388706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4" name="타원 3"/>
          <p:cNvSpPr/>
          <p:nvPr/>
        </p:nvSpPr>
        <p:spPr>
          <a:xfrm>
            <a:off x="1554126" y="3400509"/>
            <a:ext cx="296448" cy="27953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순서도: 종속 처리 64"/>
          <p:cNvSpPr>
            <a:spLocks noChangeAspect="1" noChangeArrowheads="1"/>
          </p:cNvSpPr>
          <p:nvPr/>
        </p:nvSpPr>
        <p:spPr bwMode="auto">
          <a:xfrm>
            <a:off x="6517012" y="4935158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3.1.7.2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휴가관</a:t>
            </a:r>
            <a:r>
              <a:rPr lang="ko-KR" altLang="en-US" sz="900" kern="0" spc="-16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리</a:t>
            </a:r>
          </a:p>
        </p:txBody>
      </p:sp>
      <p:cxnSp>
        <p:nvCxnSpPr>
          <p:cNvPr id="61" name="Shape 266"/>
          <p:cNvCxnSpPr>
            <a:cxnSpLocks noChangeShapeType="1"/>
            <a:stCxn id="83" idx="1"/>
            <a:endCxn id="60" idx="0"/>
          </p:cNvCxnSpPr>
          <p:nvPr/>
        </p:nvCxnSpPr>
        <p:spPr bwMode="auto">
          <a:xfrm rot="10800000" flipV="1">
            <a:off x="6895925" y="4597416"/>
            <a:ext cx="505007" cy="33774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직사각형 61"/>
          <p:cNvSpPr/>
          <p:nvPr/>
        </p:nvSpPr>
        <p:spPr bwMode="auto">
          <a:xfrm>
            <a:off x="7400931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포상이력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3" name="Shape 266"/>
          <p:cNvCxnSpPr>
            <a:cxnSpLocks noChangeShapeType="1"/>
            <a:stCxn id="107" idx="2"/>
            <a:endCxn id="62" idx="0"/>
          </p:cNvCxnSpPr>
          <p:nvPr/>
        </p:nvCxnSpPr>
        <p:spPr bwMode="auto">
          <a:xfrm>
            <a:off x="7829559" y="5251943"/>
            <a:ext cx="0" cy="6307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48968455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포상 공고를 시스템에서 직접 공고 및 조회하고 연동하여 신청할 수 있도록 업무프로세스를 변경함 </a:t>
            </a:r>
          </a:p>
        </p:txBody>
      </p:sp>
      <p:sp>
        <p:nvSpPr>
          <p:cNvPr id="48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3.3.2.6 </a:t>
            </a:r>
            <a:r>
              <a:rPr lang="ko-KR" altLang="en-US" dirty="0"/>
              <a:t>상벌관리 </a:t>
            </a:r>
            <a:r>
              <a:rPr lang="en-US" altLang="ko-KR" dirty="0"/>
              <a:t>(2/5)</a:t>
            </a:r>
            <a:endParaRPr lang="ko-KR" altLang="en-US" dirty="0"/>
          </a:p>
        </p:txBody>
      </p:sp>
      <p:sp>
        <p:nvSpPr>
          <p:cNvPr id="49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863048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3.1.6.2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징계관리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801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위원회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008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징계담당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징계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요구자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792088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징계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0" name="직사각형 79"/>
          <p:cNvSpPr/>
          <p:nvPr/>
        </p:nvSpPr>
        <p:spPr bwMode="auto">
          <a:xfrm>
            <a:off x="3656856" y="292152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징계대상자 심사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stCxn id="95" idx="6"/>
          </p:cNvCxnSpPr>
          <p:nvPr/>
        </p:nvCxnSpPr>
        <p:spPr bwMode="auto">
          <a:xfrm flipV="1">
            <a:off x="1626922" y="5195451"/>
            <a:ext cx="216995" cy="44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5" name="타원 94"/>
          <p:cNvSpPr/>
          <p:nvPr/>
        </p:nvSpPr>
        <p:spPr>
          <a:xfrm>
            <a:off x="1424608" y="5103017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55" name="Shape 266"/>
          <p:cNvCxnSpPr>
            <a:cxnSpLocks noChangeShapeType="1"/>
            <a:stCxn id="80" idx="2"/>
            <a:endCxn id="123" idx="0"/>
          </p:cNvCxnSpPr>
          <p:nvPr/>
        </p:nvCxnSpPr>
        <p:spPr bwMode="auto">
          <a:xfrm>
            <a:off x="4085484" y="3242298"/>
            <a:ext cx="0" cy="1158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원통 68"/>
          <p:cNvSpPr>
            <a:spLocks noChangeAspect="1" noChangeArrowheads="1"/>
          </p:cNvSpPr>
          <p:nvPr/>
        </p:nvSpPr>
        <p:spPr bwMode="auto">
          <a:xfrm>
            <a:off x="7304944" y="4449973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상벌정보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146" idx="0"/>
            <a:endCxn id="75" idx="1"/>
          </p:cNvCxnSpPr>
          <p:nvPr/>
        </p:nvCxnSpPr>
        <p:spPr bwMode="auto">
          <a:xfrm rot="5400000" flipH="1" flipV="1">
            <a:off x="6633118" y="2283304"/>
            <a:ext cx="380761" cy="86751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85"/>
          <p:cNvGrpSpPr/>
          <p:nvPr/>
        </p:nvGrpSpPr>
        <p:grpSpPr>
          <a:xfrm>
            <a:off x="8409384" y="4968709"/>
            <a:ext cx="756425" cy="417772"/>
            <a:chOff x="1357741" y="2874679"/>
            <a:chExt cx="756425" cy="417772"/>
          </a:xfrm>
        </p:grpSpPr>
        <p:sp>
          <p:nvSpPr>
            <p:cNvPr id="87" name="육각형 8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상벌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5" name="직사각형 74"/>
          <p:cNvSpPr/>
          <p:nvPr/>
        </p:nvSpPr>
        <p:spPr bwMode="auto">
          <a:xfrm>
            <a:off x="7257257" y="236629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징계보고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7257257" y="389370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3" name="직사각형 112"/>
          <p:cNvSpPr/>
          <p:nvPr/>
        </p:nvSpPr>
        <p:spPr bwMode="auto">
          <a:xfrm>
            <a:off x="1847133" y="503551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징계의결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요구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4" name="직사각형 113"/>
          <p:cNvSpPr/>
          <p:nvPr/>
        </p:nvSpPr>
        <p:spPr bwMode="auto">
          <a:xfrm>
            <a:off x="1847133" y="44183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징계의결 요구서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5" name="Shape 266"/>
          <p:cNvCxnSpPr>
            <a:cxnSpLocks noChangeShapeType="1"/>
            <a:stCxn id="113" idx="0"/>
            <a:endCxn id="114" idx="2"/>
          </p:cNvCxnSpPr>
          <p:nvPr/>
        </p:nvCxnSpPr>
        <p:spPr bwMode="auto">
          <a:xfrm flipV="1">
            <a:off x="2275761" y="4739163"/>
            <a:ext cx="0" cy="29634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8" name="직사각형 117"/>
          <p:cNvSpPr/>
          <p:nvPr/>
        </p:nvSpPr>
        <p:spPr bwMode="auto">
          <a:xfrm>
            <a:off x="1847133" y="390761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징계의결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9" name="Shape 266"/>
          <p:cNvCxnSpPr>
            <a:cxnSpLocks noChangeShapeType="1"/>
            <a:stCxn id="114" idx="0"/>
            <a:endCxn id="118" idx="2"/>
          </p:cNvCxnSpPr>
          <p:nvPr/>
        </p:nvCxnSpPr>
        <p:spPr bwMode="auto">
          <a:xfrm flipV="1">
            <a:off x="2275761" y="4228382"/>
            <a:ext cx="0" cy="1900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" name="직사각형 122"/>
          <p:cNvSpPr/>
          <p:nvPr/>
        </p:nvSpPr>
        <p:spPr bwMode="auto">
          <a:xfrm>
            <a:off x="3656856" y="3358134"/>
            <a:ext cx="857256" cy="45630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징계대상자 위원회 참석 통보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5" name="Shape 266"/>
          <p:cNvCxnSpPr>
            <a:cxnSpLocks noChangeShapeType="1"/>
            <a:stCxn id="118" idx="0"/>
            <a:endCxn id="22" idx="2"/>
          </p:cNvCxnSpPr>
          <p:nvPr/>
        </p:nvCxnSpPr>
        <p:spPr bwMode="auto">
          <a:xfrm rot="5400000" flipH="1" flipV="1">
            <a:off x="2519051" y="2769807"/>
            <a:ext cx="894514" cy="138109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" name="직사각형 127"/>
          <p:cNvSpPr/>
          <p:nvPr/>
        </p:nvSpPr>
        <p:spPr bwMode="auto">
          <a:xfrm>
            <a:off x="3656856" y="5589240"/>
            <a:ext cx="857256" cy="44183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징계대상자 위원회 참석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소명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9" name="직사각형 128"/>
          <p:cNvSpPr/>
          <p:nvPr/>
        </p:nvSpPr>
        <p:spPr bwMode="auto">
          <a:xfrm>
            <a:off x="4808984" y="289164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징계대상자 재심사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0" name="Shape 266"/>
          <p:cNvCxnSpPr>
            <a:cxnSpLocks noChangeShapeType="1"/>
            <a:stCxn id="123" idx="2"/>
            <a:endCxn id="128" idx="0"/>
          </p:cNvCxnSpPr>
          <p:nvPr/>
        </p:nvCxnSpPr>
        <p:spPr bwMode="auto">
          <a:xfrm>
            <a:off x="4085484" y="3814441"/>
            <a:ext cx="0" cy="177479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9" name="직사각형 138"/>
          <p:cNvSpPr/>
          <p:nvPr/>
        </p:nvSpPr>
        <p:spPr bwMode="auto">
          <a:xfrm>
            <a:off x="4808984" y="335813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 결정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0" name="Shape 266"/>
          <p:cNvCxnSpPr>
            <a:cxnSpLocks noChangeShapeType="1"/>
            <a:stCxn id="129" idx="2"/>
            <a:endCxn id="139" idx="0"/>
          </p:cNvCxnSpPr>
          <p:nvPr/>
        </p:nvCxnSpPr>
        <p:spPr bwMode="auto">
          <a:xfrm>
            <a:off x="5237612" y="3212420"/>
            <a:ext cx="0" cy="1457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6" name="직사각형 145"/>
          <p:cNvSpPr/>
          <p:nvPr/>
        </p:nvSpPr>
        <p:spPr bwMode="auto">
          <a:xfrm>
            <a:off x="5961112" y="290744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징계결과 보고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통보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7" name="Shape 266"/>
          <p:cNvCxnSpPr>
            <a:cxnSpLocks noChangeShapeType="1"/>
            <a:stCxn id="128" idx="3"/>
            <a:endCxn id="129" idx="1"/>
          </p:cNvCxnSpPr>
          <p:nvPr/>
        </p:nvCxnSpPr>
        <p:spPr bwMode="auto">
          <a:xfrm flipV="1">
            <a:off x="4514112" y="3052035"/>
            <a:ext cx="294872" cy="275812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0" name="Shape 266"/>
          <p:cNvCxnSpPr>
            <a:cxnSpLocks noChangeShapeType="1"/>
            <a:stCxn id="139" idx="3"/>
            <a:endCxn id="146" idx="1"/>
          </p:cNvCxnSpPr>
          <p:nvPr/>
        </p:nvCxnSpPr>
        <p:spPr bwMode="auto">
          <a:xfrm flipV="1">
            <a:off x="5666240" y="3067828"/>
            <a:ext cx="294872" cy="45069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3" name="직사각형 152"/>
          <p:cNvSpPr/>
          <p:nvPr/>
        </p:nvSpPr>
        <p:spPr bwMode="auto">
          <a:xfrm>
            <a:off x="5961112" y="58445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징계통보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54" name="Shape 266"/>
          <p:cNvCxnSpPr>
            <a:cxnSpLocks noChangeShapeType="1"/>
            <a:stCxn id="146" idx="2"/>
            <a:endCxn id="153" idx="0"/>
          </p:cNvCxnSpPr>
          <p:nvPr/>
        </p:nvCxnSpPr>
        <p:spPr bwMode="auto">
          <a:xfrm>
            <a:off x="6389740" y="3228213"/>
            <a:ext cx="0" cy="26163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8" name="순서도: 판단 161"/>
          <p:cNvSpPr>
            <a:spLocks noChangeArrowheads="1"/>
          </p:cNvSpPr>
          <p:nvPr/>
        </p:nvSpPr>
        <p:spPr bwMode="auto">
          <a:xfrm>
            <a:off x="7257257" y="5661248"/>
            <a:ext cx="1008112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징계결과 승복</a:t>
            </a:r>
          </a:p>
        </p:txBody>
      </p:sp>
      <p:cxnSp>
        <p:nvCxnSpPr>
          <p:cNvPr id="159" name="Shape 266"/>
          <p:cNvCxnSpPr>
            <a:cxnSpLocks noChangeShapeType="1"/>
            <a:stCxn id="153" idx="3"/>
            <a:endCxn id="158" idx="1"/>
          </p:cNvCxnSpPr>
          <p:nvPr/>
        </p:nvCxnSpPr>
        <p:spPr bwMode="auto">
          <a:xfrm flipV="1">
            <a:off x="6818368" y="5848365"/>
            <a:ext cx="438889" cy="15655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2" name="Shape 266"/>
          <p:cNvCxnSpPr>
            <a:cxnSpLocks noChangeShapeType="1"/>
            <a:stCxn id="158" idx="0"/>
            <a:endCxn id="87" idx="3"/>
          </p:cNvCxnSpPr>
          <p:nvPr/>
        </p:nvCxnSpPr>
        <p:spPr bwMode="auto">
          <a:xfrm rot="5400000" flipH="1" flipV="1">
            <a:off x="7841655" y="5093520"/>
            <a:ext cx="487386" cy="64807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8" name="Shape 266"/>
          <p:cNvCxnSpPr>
            <a:cxnSpLocks noChangeShapeType="1"/>
            <a:stCxn id="146" idx="3"/>
            <a:endCxn id="82" idx="0"/>
          </p:cNvCxnSpPr>
          <p:nvPr/>
        </p:nvCxnSpPr>
        <p:spPr bwMode="auto">
          <a:xfrm>
            <a:off x="6818368" y="3067828"/>
            <a:ext cx="867517" cy="82587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0" name="Shape 266"/>
          <p:cNvCxnSpPr>
            <a:cxnSpLocks noChangeShapeType="1"/>
            <a:stCxn id="82" idx="1"/>
            <a:endCxn id="158" idx="1"/>
          </p:cNvCxnSpPr>
          <p:nvPr/>
        </p:nvCxnSpPr>
        <p:spPr bwMode="auto">
          <a:xfrm rot="10800000" flipV="1">
            <a:off x="7257257" y="4054091"/>
            <a:ext cx="12700" cy="1794273"/>
          </a:xfrm>
          <a:prstGeom prst="bentConnector3">
            <a:avLst>
              <a:gd name="adj1" fmla="val 180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9" name="TextBox 148"/>
          <p:cNvSpPr txBox="1"/>
          <p:nvPr/>
        </p:nvSpPr>
        <p:spPr>
          <a:xfrm>
            <a:off x="7763940" y="5173861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81" name="Shape 266"/>
          <p:cNvCxnSpPr>
            <a:cxnSpLocks noChangeShapeType="1"/>
            <a:stCxn id="158" idx="2"/>
            <a:endCxn id="18" idx="2"/>
          </p:cNvCxnSpPr>
          <p:nvPr/>
        </p:nvCxnSpPr>
        <p:spPr bwMode="auto">
          <a:xfrm rot="5400000" flipH="1">
            <a:off x="4268966" y="2543135"/>
            <a:ext cx="2867013" cy="4117680"/>
          </a:xfrm>
          <a:prstGeom prst="bentConnector4">
            <a:avLst>
              <a:gd name="adj1" fmla="val -7973"/>
              <a:gd name="adj2" fmla="val 105552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8" name="TextBox 187"/>
          <p:cNvSpPr txBox="1"/>
          <p:nvPr/>
        </p:nvSpPr>
        <p:spPr>
          <a:xfrm>
            <a:off x="7787566" y="5995557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97" name="Shape 266"/>
          <p:cNvCxnSpPr>
            <a:cxnSpLocks noChangeShapeType="1"/>
            <a:stCxn id="82" idx="2"/>
            <a:endCxn id="76" idx="0"/>
          </p:cNvCxnSpPr>
          <p:nvPr/>
        </p:nvCxnSpPr>
        <p:spPr bwMode="auto">
          <a:xfrm>
            <a:off x="7685885" y="4214477"/>
            <a:ext cx="0" cy="3419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" name="Shape 266"/>
          <p:cNvCxnSpPr>
            <a:cxnSpLocks noChangeShapeType="1"/>
            <a:stCxn id="75" idx="3"/>
            <a:endCxn id="87" idx="0"/>
          </p:cNvCxnSpPr>
          <p:nvPr/>
        </p:nvCxnSpPr>
        <p:spPr bwMode="auto">
          <a:xfrm>
            <a:off x="8114513" y="2526681"/>
            <a:ext cx="1051296" cy="2647181"/>
          </a:xfrm>
          <a:prstGeom prst="bentConnector3">
            <a:avLst>
              <a:gd name="adj1" fmla="val 121745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46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784000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상벌관리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7" name="순서도: 종속 처리 64"/>
          <p:cNvSpPr>
            <a:spLocks noChangeAspect="1" noChangeArrowheads="1"/>
          </p:cNvSpPr>
          <p:nvPr/>
        </p:nvSpPr>
        <p:spPr bwMode="auto">
          <a:xfrm>
            <a:off x="8366458" y="3896661"/>
            <a:ext cx="973506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3.1.5.1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수시발령</a:t>
            </a:r>
          </a:p>
        </p:txBody>
      </p:sp>
      <p:cxnSp>
        <p:nvCxnSpPr>
          <p:cNvPr id="50" name="Shape 266"/>
          <p:cNvCxnSpPr>
            <a:cxnSpLocks noChangeShapeType="1"/>
            <a:stCxn id="82" idx="3"/>
            <a:endCxn id="47" idx="1"/>
          </p:cNvCxnSpPr>
          <p:nvPr/>
        </p:nvCxnSpPr>
        <p:spPr bwMode="auto">
          <a:xfrm flipV="1">
            <a:off x="8114513" y="4053061"/>
            <a:ext cx="251945" cy="103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" name="타원 3"/>
          <p:cNvSpPr/>
          <p:nvPr/>
        </p:nvSpPr>
        <p:spPr>
          <a:xfrm>
            <a:off x="6501172" y="2850075"/>
            <a:ext cx="317196" cy="290893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타원 17"/>
          <p:cNvSpPr/>
          <p:nvPr/>
        </p:nvSpPr>
        <p:spPr>
          <a:xfrm>
            <a:off x="3643633" y="3067827"/>
            <a:ext cx="294415" cy="201281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타원 21"/>
          <p:cNvSpPr/>
          <p:nvPr/>
        </p:nvSpPr>
        <p:spPr>
          <a:xfrm>
            <a:off x="3656856" y="2907442"/>
            <a:ext cx="245189" cy="211310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" name="순서도: 종속 처리 64"/>
          <p:cNvSpPr>
            <a:spLocks noChangeAspect="1" noChangeArrowheads="1"/>
          </p:cNvSpPr>
          <p:nvPr/>
        </p:nvSpPr>
        <p:spPr bwMode="auto">
          <a:xfrm>
            <a:off x="8366458" y="3460354"/>
            <a:ext cx="973506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3.1.5.2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승진발령</a:t>
            </a:r>
          </a:p>
        </p:txBody>
      </p:sp>
      <p:sp>
        <p:nvSpPr>
          <p:cNvPr id="52" name="순서도: 종속 처리 64"/>
          <p:cNvSpPr>
            <a:spLocks noChangeAspect="1" noChangeArrowheads="1"/>
          </p:cNvSpPr>
          <p:nvPr/>
        </p:nvSpPr>
        <p:spPr bwMode="auto">
          <a:xfrm>
            <a:off x="8366458" y="3052034"/>
            <a:ext cx="973506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54" name="Shape 266"/>
          <p:cNvCxnSpPr>
            <a:cxnSpLocks noChangeShapeType="1"/>
            <a:stCxn id="82" idx="3"/>
            <a:endCxn id="51" idx="1"/>
          </p:cNvCxnSpPr>
          <p:nvPr/>
        </p:nvCxnSpPr>
        <p:spPr bwMode="auto">
          <a:xfrm flipV="1">
            <a:off x="8114513" y="3616754"/>
            <a:ext cx="251945" cy="43733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" name="Shape 266"/>
          <p:cNvCxnSpPr>
            <a:cxnSpLocks noChangeShapeType="1"/>
            <a:stCxn id="82" idx="3"/>
            <a:endCxn id="52" idx="1"/>
          </p:cNvCxnSpPr>
          <p:nvPr/>
        </p:nvCxnSpPr>
        <p:spPr bwMode="auto">
          <a:xfrm flipV="1">
            <a:off x="8114513" y="3208434"/>
            <a:ext cx="251945" cy="84565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2278410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포상 공고를 시스템에서 직접 공고 및 조회하고 연동하여 신청할 수 있도록 업무프로세스를 변경함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3.3.2.6 </a:t>
            </a:r>
            <a:r>
              <a:rPr lang="ko-KR" altLang="en-US" dirty="0"/>
              <a:t>상벌관리 </a:t>
            </a:r>
            <a:r>
              <a:rPr lang="en-US" altLang="ko-KR" dirty="0"/>
              <a:t>(3/5)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0506687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연간포상계획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포상 실시를 위해 정기적으로 실시하는 연간 포상계획을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연간포상계획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연간포상계획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작성된 연간 포상계획에 대해 전결권자에게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연간포상계획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연간포상계획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포상담당자가 요청한 연간 포상계획에 대해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연간포상계획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포상계획 공고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연간 포상계획이 승인이 완료되면 승인된 연간포상계획을 직원에게 메시지로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포상계획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포상일정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각 부서의 포상담당자가 공적조서 신청을 할 수 있도록  연간포상계획을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공적조서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부서담당자가 연간포상계획에 따른 포상추천자의 공적조서를 작성하고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공적조서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공적조서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부서담당자가 작성한 포상추천자의 공적조서를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공적조서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공적조서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부서담당자가 요청한 승인된 공적조서 내용을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공적조서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 명부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부서담당자가 요청한 공적조서 내용을 기준으로 포상대상자 명부를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 심사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인사위원회를 소집 후 작성된 포상대상자 명부를 인사위원회에 보내어 심사를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포상 공고를 시스템에서 직접 공고 및 조회하고 연동하여 신청할 수 있도록 업무프로세스를 변경함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3.3.2.6 </a:t>
            </a:r>
            <a:r>
              <a:rPr lang="ko-KR" altLang="en-US" dirty="0"/>
              <a:t>상벌관리 </a:t>
            </a:r>
            <a:r>
              <a:rPr lang="en-US" altLang="ko-KR" dirty="0"/>
              <a:t>(4/5)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3461532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 심사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인사위원회에서 위원을 소집하여 포상담당자가 작성한 포상대상자 명부를 확인하고 포상대상자를 심사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 선정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인사위원회에서 포상대상자 명부를 확인하고 포상대상자를 심사하여 포상자를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포상대상자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인사위원회에서 심사하여 선정한 포상대상자의 포상 내용을 확인하고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포상대상자 명부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포상자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포상담당자가 인사위원회의 심사에서 확정된 포상대상자를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 실시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공단에서 연간 포상계획에 맞춰 포상일자를 정하고 포상자에 대한 포상을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포상이력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포상 실시 이후 인사정보를 통해 본인의 포상이력을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포상이력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징계의결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징계요구자가 징계대상자에 대해 징계담당자에게 징계 의결을 실시할 것을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징계의결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징계의결 요구서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징계담당자가 징계요구자가 요청한 징계대상자에 대한 징계의결 요구서를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징계의결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징계의결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징계담당자가 징계대상자에 대해 징계의결 요구서를 인사위원회에 제출하고 징계를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징계의결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징계대상자 심사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징계담당자가 제출한 징계의결 요구서에 근거하여 징계가 요청된 대상자에 대해 심사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징계의결 요구서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징계대상자 위원회 참석 통보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징계가 요청된 징계대상자에게 본인의 징계에 대한 소명을 위해 인사위원회 참석을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포상 공고를 시스템에서 직접 공고 및 조회하고 연동하여 신청할 수 있도록 업무프로세스를 변경함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3.3.2.6 </a:t>
            </a:r>
            <a:r>
              <a:rPr lang="ko-KR" altLang="en-US" dirty="0"/>
              <a:t>상벌관리 </a:t>
            </a:r>
            <a:r>
              <a:rPr lang="en-US" altLang="ko-KR" dirty="0"/>
              <a:t>(5/5)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3122175"/>
              </p:ext>
            </p:extLst>
          </p:nvPr>
        </p:nvGraphicFramePr>
        <p:xfrm>
          <a:off x="344488" y="1604186"/>
          <a:ext cx="9180513" cy="320040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징계대상자 위원회 참석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소명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징계대상자가 인사위원회에 참석하여 본인의 징계사항에 대한 의견을 전달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징계대상자 재심사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참석한 징계대상자의 소명을 참조하여 징계 의결에 대해 재심사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 결정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징계대상자에 대해 심사를 완료하고 최종 징계수위를 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징계결과 보고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통보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인사위원회가 결정된 징계사항을 이사장에게 보고 후 직원에게 결과를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징계통보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결정된 징계사항을 통보받고 확인 후 결과에 승복하지 않을 경우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번의 재심사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징계담당자가 징계대상자에 대한 징계사항이 최종 결정되면 징계사항을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징계보고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이사장이 인사위원회에서 보고한 징계대상자의 징계사항 보고 내용을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징계결과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1667974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근태기준관리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741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482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근태종류에 따라 결재라인을 변경하고 개인의 근태현황에 따라 근무스케줄을 자동으로 생성하여  </a:t>
            </a:r>
            <a:r>
              <a:rPr lang="ko-KR" altLang="en-US" dirty="0"/>
              <a:t>근태</a:t>
            </a:r>
            <a:r>
              <a:rPr lang="ko-KR" altLang="en-US" sz="1600" dirty="0"/>
              <a:t>신청 및 승인을 시스템에서 직접 할 수 있도록 업무프로세스를 변경함</a:t>
            </a:r>
          </a:p>
        </p:txBody>
      </p:sp>
      <p:sp>
        <p:nvSpPr>
          <p:cNvPr id="46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(1/18)</a:t>
            </a:r>
            <a:endParaRPr lang="ko-KR" altLang="en-US" dirty="0"/>
          </a:p>
        </p:txBody>
      </p:sp>
      <p:sp>
        <p:nvSpPr>
          <p:cNvPr id="47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cxnSp>
        <p:nvCxnSpPr>
          <p:cNvPr id="130" name="Shape 266"/>
          <p:cNvCxnSpPr>
            <a:cxnSpLocks noChangeShapeType="1"/>
            <a:stCxn id="51" idx="0"/>
            <a:endCxn id="81" idx="1"/>
          </p:cNvCxnSpPr>
          <p:nvPr/>
        </p:nvCxnSpPr>
        <p:spPr bwMode="auto">
          <a:xfrm flipV="1">
            <a:off x="2986831" y="4493880"/>
            <a:ext cx="1027320" cy="775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타원 63"/>
          <p:cNvSpPr/>
          <p:nvPr/>
        </p:nvSpPr>
        <p:spPr>
          <a:xfrm>
            <a:off x="7703014" y="350100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79" idx="6"/>
            <a:endCxn id="64" idx="2"/>
          </p:cNvCxnSpPr>
          <p:nvPr/>
        </p:nvCxnSpPr>
        <p:spPr bwMode="auto">
          <a:xfrm>
            <a:off x="5106629" y="3593888"/>
            <a:ext cx="259638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49"/>
          <p:cNvGrpSpPr/>
          <p:nvPr/>
        </p:nvGrpSpPr>
        <p:grpSpPr>
          <a:xfrm>
            <a:off x="2014382" y="4296486"/>
            <a:ext cx="972449" cy="417772"/>
            <a:chOff x="1357741" y="2874679"/>
            <a:chExt cx="756425" cy="417772"/>
          </a:xfrm>
        </p:grpSpPr>
        <p:sp>
          <p:nvSpPr>
            <p:cNvPr id="51" name="육각형 50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근태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2" name="직사각형 71"/>
          <p:cNvSpPr/>
          <p:nvPr/>
        </p:nvSpPr>
        <p:spPr bwMode="auto">
          <a:xfrm>
            <a:off x="4137929" y="40041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달력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4137929" y="432264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개인별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OT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1" name="직사각형 80"/>
          <p:cNvSpPr/>
          <p:nvPr/>
        </p:nvSpPr>
        <p:spPr>
          <a:xfrm>
            <a:off x="4014151" y="3351600"/>
            <a:ext cx="1096575" cy="228456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근태기준등록</a:t>
            </a:r>
          </a:p>
        </p:txBody>
      </p:sp>
      <p:sp>
        <p:nvSpPr>
          <p:cNvPr id="103" name="타원 102"/>
          <p:cNvSpPr/>
          <p:nvPr/>
        </p:nvSpPr>
        <p:spPr>
          <a:xfrm>
            <a:off x="7703014" y="38589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04" name="Shape 266"/>
          <p:cNvCxnSpPr>
            <a:cxnSpLocks noChangeShapeType="1"/>
            <a:stCxn id="80" idx="6"/>
            <a:endCxn id="103" idx="2"/>
          </p:cNvCxnSpPr>
          <p:nvPr/>
        </p:nvCxnSpPr>
        <p:spPr bwMode="auto">
          <a:xfrm>
            <a:off x="5106629" y="3951840"/>
            <a:ext cx="259638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6" name="타원 105"/>
          <p:cNvSpPr/>
          <p:nvPr/>
        </p:nvSpPr>
        <p:spPr>
          <a:xfrm>
            <a:off x="7703014" y="42087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07" name="타원 106"/>
          <p:cNvSpPr/>
          <p:nvPr/>
        </p:nvSpPr>
        <p:spPr>
          <a:xfrm>
            <a:off x="7703014" y="45585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7703014" y="49083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10" name="타원 109"/>
          <p:cNvSpPr/>
          <p:nvPr/>
        </p:nvSpPr>
        <p:spPr>
          <a:xfrm>
            <a:off x="7703014" y="526485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8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11" name="Shape 266"/>
          <p:cNvCxnSpPr>
            <a:cxnSpLocks noChangeShapeType="1"/>
            <a:stCxn id="87" idx="6"/>
            <a:endCxn id="110" idx="2"/>
          </p:cNvCxnSpPr>
          <p:nvPr/>
        </p:nvCxnSpPr>
        <p:spPr bwMode="auto">
          <a:xfrm>
            <a:off x="5106629" y="5351040"/>
            <a:ext cx="2596385" cy="669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7" name="Shape 266"/>
          <p:cNvCxnSpPr>
            <a:cxnSpLocks noChangeShapeType="1"/>
            <a:stCxn id="82" idx="6"/>
            <a:endCxn id="106" idx="2"/>
          </p:cNvCxnSpPr>
          <p:nvPr/>
        </p:nvCxnSpPr>
        <p:spPr bwMode="auto">
          <a:xfrm>
            <a:off x="5106629" y="4301640"/>
            <a:ext cx="259638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8" name="Shape 266"/>
          <p:cNvCxnSpPr>
            <a:cxnSpLocks noChangeShapeType="1"/>
            <a:stCxn id="83" idx="6"/>
            <a:endCxn id="107" idx="2"/>
          </p:cNvCxnSpPr>
          <p:nvPr/>
        </p:nvCxnSpPr>
        <p:spPr bwMode="auto">
          <a:xfrm>
            <a:off x="5106629" y="4651440"/>
            <a:ext cx="259638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" name="Shape 266"/>
          <p:cNvCxnSpPr>
            <a:cxnSpLocks noChangeShapeType="1"/>
            <a:stCxn id="84" idx="6"/>
            <a:endCxn id="108" idx="2"/>
          </p:cNvCxnSpPr>
          <p:nvPr/>
        </p:nvCxnSpPr>
        <p:spPr bwMode="auto">
          <a:xfrm>
            <a:off x="5106629" y="5001240"/>
            <a:ext cx="259638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288057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9" name="타원 78"/>
          <p:cNvSpPr/>
          <p:nvPr/>
        </p:nvSpPr>
        <p:spPr>
          <a:xfrm>
            <a:off x="4904315" y="3501008"/>
            <a:ext cx="202314" cy="185760"/>
          </a:xfrm>
          <a:prstGeom prst="ellipse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0" name="타원 79"/>
          <p:cNvSpPr/>
          <p:nvPr/>
        </p:nvSpPr>
        <p:spPr>
          <a:xfrm>
            <a:off x="4904315" y="3858960"/>
            <a:ext cx="202314" cy="185760"/>
          </a:xfrm>
          <a:prstGeom prst="ellipse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2" name="타원 81"/>
          <p:cNvSpPr/>
          <p:nvPr/>
        </p:nvSpPr>
        <p:spPr>
          <a:xfrm>
            <a:off x="4904315" y="4208760"/>
            <a:ext cx="202314" cy="185760"/>
          </a:xfrm>
          <a:prstGeom prst="ellipse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3" name="타원 82"/>
          <p:cNvSpPr/>
          <p:nvPr/>
        </p:nvSpPr>
        <p:spPr>
          <a:xfrm>
            <a:off x="4904315" y="4558560"/>
            <a:ext cx="202314" cy="185760"/>
          </a:xfrm>
          <a:prstGeom prst="ellipse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4" name="타원 83"/>
          <p:cNvSpPr/>
          <p:nvPr/>
        </p:nvSpPr>
        <p:spPr>
          <a:xfrm>
            <a:off x="4904315" y="4908360"/>
            <a:ext cx="202314" cy="185760"/>
          </a:xfrm>
          <a:prstGeom prst="ellipse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904315" y="5258160"/>
            <a:ext cx="202314" cy="185760"/>
          </a:xfrm>
          <a:prstGeom prst="ellipse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9" name="타원 88"/>
          <p:cNvSpPr/>
          <p:nvPr/>
        </p:nvSpPr>
        <p:spPr>
          <a:xfrm>
            <a:off x="4904315" y="5607960"/>
            <a:ext cx="202314" cy="185760"/>
          </a:xfrm>
          <a:prstGeom prst="ellipse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36" name="직사각형 35"/>
          <p:cNvSpPr/>
          <p:nvPr/>
        </p:nvSpPr>
        <p:spPr bwMode="auto">
          <a:xfrm>
            <a:off x="4134433" y="463735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근태유형별 신청기준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69820637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2106479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휴가관리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26424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771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12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42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(2/18)</a:t>
            </a:r>
            <a:endParaRPr lang="ko-KR" altLang="en-US" dirty="0"/>
          </a:p>
        </p:txBody>
      </p:sp>
      <p:sp>
        <p:nvSpPr>
          <p:cNvPr id="43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77" name="직사각형 76"/>
          <p:cNvSpPr/>
          <p:nvPr/>
        </p:nvSpPr>
        <p:spPr bwMode="auto">
          <a:xfrm>
            <a:off x="2623000" y="260090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연차예외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1510326" y="266639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64" idx="6"/>
            <a:endCxn id="77" idx="1"/>
          </p:cNvCxnSpPr>
          <p:nvPr/>
        </p:nvCxnSpPr>
        <p:spPr bwMode="auto">
          <a:xfrm>
            <a:off x="1712640" y="2759275"/>
            <a:ext cx="910360" cy="20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0" name="직사각형 69"/>
          <p:cNvSpPr/>
          <p:nvPr/>
        </p:nvSpPr>
        <p:spPr bwMode="auto">
          <a:xfrm>
            <a:off x="2623000" y="31442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연차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5" name="Shape 266"/>
          <p:cNvCxnSpPr>
            <a:cxnSpLocks noChangeShapeType="1"/>
            <a:stCxn id="77" idx="2"/>
            <a:endCxn id="70" idx="0"/>
          </p:cNvCxnSpPr>
          <p:nvPr/>
        </p:nvCxnSpPr>
        <p:spPr bwMode="auto">
          <a:xfrm>
            <a:off x="3051628" y="2921679"/>
            <a:ext cx="0" cy="2225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직사각형 78"/>
          <p:cNvSpPr/>
          <p:nvPr/>
        </p:nvSpPr>
        <p:spPr bwMode="auto">
          <a:xfrm>
            <a:off x="2623000" y="370336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연차 등록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변경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0" name="Shape 266"/>
          <p:cNvCxnSpPr>
            <a:cxnSpLocks noChangeShapeType="1"/>
            <a:stCxn id="70" idx="2"/>
            <a:endCxn id="79" idx="0"/>
          </p:cNvCxnSpPr>
          <p:nvPr/>
        </p:nvCxnSpPr>
        <p:spPr bwMode="auto">
          <a:xfrm>
            <a:off x="3051628" y="3465004"/>
            <a:ext cx="0" cy="23835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2623000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3" name="Shape 266"/>
          <p:cNvCxnSpPr>
            <a:cxnSpLocks noChangeShapeType="1"/>
            <a:stCxn id="79" idx="2"/>
            <a:endCxn id="82" idx="0"/>
          </p:cNvCxnSpPr>
          <p:nvPr/>
        </p:nvCxnSpPr>
        <p:spPr bwMode="auto">
          <a:xfrm>
            <a:off x="3051628" y="4024134"/>
            <a:ext cx="0" cy="18585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82" idx="3"/>
            <a:endCxn id="91" idx="2"/>
          </p:cNvCxnSpPr>
          <p:nvPr/>
        </p:nvCxnSpPr>
        <p:spPr bwMode="auto">
          <a:xfrm flipV="1">
            <a:off x="3480256" y="5553236"/>
            <a:ext cx="425208" cy="48982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3476836" y="52324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 부서장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4" name="직사각형 113"/>
          <p:cNvSpPr/>
          <p:nvPr/>
        </p:nvSpPr>
        <p:spPr bwMode="auto">
          <a:xfrm>
            <a:off x="6039960" y="367488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2" name="Shape 266"/>
          <p:cNvCxnSpPr>
            <a:cxnSpLocks noChangeShapeType="1"/>
            <a:stCxn id="32" idx="3"/>
            <a:endCxn id="114" idx="0"/>
          </p:cNvCxnSpPr>
          <p:nvPr/>
        </p:nvCxnSpPr>
        <p:spPr bwMode="auto">
          <a:xfrm>
            <a:off x="5674790" y="2608890"/>
            <a:ext cx="793798" cy="106599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4" name="직사각형 123"/>
          <p:cNvSpPr/>
          <p:nvPr/>
        </p:nvSpPr>
        <p:spPr bwMode="auto">
          <a:xfrm>
            <a:off x="6039960" y="588573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 신청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5" name="Shape 266"/>
          <p:cNvCxnSpPr>
            <a:cxnSpLocks noChangeShapeType="1"/>
            <a:stCxn id="114" idx="2"/>
            <a:endCxn id="124" idx="0"/>
          </p:cNvCxnSpPr>
          <p:nvPr/>
        </p:nvCxnSpPr>
        <p:spPr bwMode="auto">
          <a:xfrm>
            <a:off x="6468588" y="3995652"/>
            <a:ext cx="0" cy="189008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127"/>
          <p:cNvGrpSpPr/>
          <p:nvPr/>
        </p:nvGrpSpPr>
        <p:grpSpPr>
          <a:xfrm>
            <a:off x="7833320" y="3457032"/>
            <a:ext cx="972449" cy="417772"/>
            <a:chOff x="1357741" y="2874679"/>
            <a:chExt cx="756425" cy="417772"/>
          </a:xfrm>
        </p:grpSpPr>
        <p:sp>
          <p:nvSpPr>
            <p:cNvPr id="129" name="육각형 12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근태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33" name="Shape 266"/>
          <p:cNvCxnSpPr>
            <a:cxnSpLocks noChangeShapeType="1"/>
            <a:stCxn id="3" idx="6"/>
            <a:endCxn id="129" idx="3"/>
          </p:cNvCxnSpPr>
          <p:nvPr/>
        </p:nvCxnSpPr>
        <p:spPr bwMode="auto">
          <a:xfrm flipV="1">
            <a:off x="6897216" y="3662185"/>
            <a:ext cx="936104" cy="227016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순서도: 종속 처리 64"/>
          <p:cNvSpPr>
            <a:spLocks noChangeAspect="1" noChangeArrowheads="1"/>
          </p:cNvSpPr>
          <p:nvPr/>
        </p:nvSpPr>
        <p:spPr bwMode="auto">
          <a:xfrm>
            <a:off x="7939593" y="5891140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spc="-16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138" name="Shape 266"/>
          <p:cNvCxnSpPr>
            <a:cxnSpLocks noChangeShapeType="1"/>
            <a:stCxn id="124" idx="3"/>
            <a:endCxn id="137" idx="1"/>
          </p:cNvCxnSpPr>
          <p:nvPr/>
        </p:nvCxnSpPr>
        <p:spPr bwMode="auto">
          <a:xfrm>
            <a:off x="6897216" y="6046125"/>
            <a:ext cx="1042377" cy="14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5596185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4" name="순서도: 종속 처리 64"/>
          <p:cNvSpPr>
            <a:spLocks noChangeAspect="1" noChangeArrowheads="1"/>
          </p:cNvSpPr>
          <p:nvPr/>
        </p:nvSpPr>
        <p:spPr bwMode="auto">
          <a:xfrm>
            <a:off x="1491789" y="5890293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3.6.2.1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경조사관리</a:t>
            </a:r>
          </a:p>
        </p:txBody>
      </p:sp>
      <p:cxnSp>
        <p:nvCxnSpPr>
          <p:cNvPr id="45" name="Shape 266"/>
          <p:cNvCxnSpPr>
            <a:cxnSpLocks noChangeShapeType="1"/>
            <a:stCxn id="44" idx="3"/>
            <a:endCxn id="82" idx="1"/>
          </p:cNvCxnSpPr>
          <p:nvPr/>
        </p:nvCxnSpPr>
        <p:spPr bwMode="auto">
          <a:xfrm flipV="1">
            <a:off x="2249612" y="6043059"/>
            <a:ext cx="373388" cy="36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타원 2"/>
          <p:cNvSpPr/>
          <p:nvPr/>
        </p:nvSpPr>
        <p:spPr>
          <a:xfrm>
            <a:off x="6681192" y="5817216"/>
            <a:ext cx="216024" cy="23025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순서도: 판단 161"/>
          <p:cNvSpPr>
            <a:spLocks noChangeArrowheads="1"/>
          </p:cNvSpPr>
          <p:nvPr/>
        </p:nvSpPr>
        <p:spPr bwMode="auto">
          <a:xfrm>
            <a:off x="4666678" y="2421773"/>
            <a:ext cx="1008112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근태담당 승인 여부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184867" y="2794242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5657258" y="2384884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7" name="Shape 266"/>
          <p:cNvCxnSpPr>
            <a:cxnSpLocks noChangeShapeType="1"/>
            <a:stCxn id="91" idx="3"/>
            <a:endCxn id="32" idx="1"/>
          </p:cNvCxnSpPr>
          <p:nvPr/>
        </p:nvCxnSpPr>
        <p:spPr bwMode="auto">
          <a:xfrm flipV="1">
            <a:off x="4334092" y="2608890"/>
            <a:ext cx="332586" cy="278396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" name="Shape 266"/>
          <p:cNvCxnSpPr>
            <a:cxnSpLocks noChangeShapeType="1"/>
            <a:stCxn id="46" idx="2"/>
            <a:endCxn id="114" idx="1"/>
          </p:cNvCxnSpPr>
          <p:nvPr/>
        </p:nvCxnSpPr>
        <p:spPr bwMode="auto">
          <a:xfrm rot="16200000" flipH="1">
            <a:off x="5419042" y="3214348"/>
            <a:ext cx="372611" cy="86922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6" name="직사각형 45"/>
          <p:cNvSpPr/>
          <p:nvPr/>
        </p:nvSpPr>
        <p:spPr bwMode="auto">
          <a:xfrm>
            <a:off x="4742106" y="314188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휴가 근태담당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7" name="Shape 266"/>
          <p:cNvCxnSpPr>
            <a:cxnSpLocks noChangeShapeType="1"/>
            <a:stCxn id="32" idx="2"/>
            <a:endCxn id="46" idx="0"/>
          </p:cNvCxnSpPr>
          <p:nvPr/>
        </p:nvCxnSpPr>
        <p:spPr bwMode="auto">
          <a:xfrm>
            <a:off x="5170734" y="2796006"/>
            <a:ext cx="0" cy="3458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" name="순서도: 종속 처리 64"/>
          <p:cNvSpPr>
            <a:spLocks noChangeAspect="1" noChangeArrowheads="1"/>
          </p:cNvSpPr>
          <p:nvPr/>
        </p:nvSpPr>
        <p:spPr bwMode="auto">
          <a:xfrm>
            <a:off x="1491788" y="4509120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3.1.6.1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포상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41" name="Shape 266"/>
          <p:cNvCxnSpPr>
            <a:cxnSpLocks noChangeShapeType="1"/>
            <a:stCxn id="48" idx="3"/>
            <a:endCxn id="82" idx="1"/>
          </p:cNvCxnSpPr>
          <p:nvPr/>
        </p:nvCxnSpPr>
        <p:spPr bwMode="auto">
          <a:xfrm>
            <a:off x="2249611" y="4665520"/>
            <a:ext cx="373389" cy="137753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759501386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3993518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일근태관리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9377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449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08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47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(3/18)</a:t>
            </a:r>
            <a:endParaRPr lang="ko-KR" altLang="en-US" dirty="0"/>
          </a:p>
        </p:txBody>
      </p:sp>
      <p:sp>
        <p:nvSpPr>
          <p:cNvPr id="48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77" name="직사각형 76"/>
          <p:cNvSpPr/>
          <p:nvPr/>
        </p:nvSpPr>
        <p:spPr bwMode="auto">
          <a:xfrm>
            <a:off x="2000672" y="29570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근무스케줄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1510326" y="302255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64" idx="6"/>
            <a:endCxn id="77" idx="1"/>
          </p:cNvCxnSpPr>
          <p:nvPr/>
        </p:nvCxnSpPr>
        <p:spPr bwMode="auto">
          <a:xfrm>
            <a:off x="1712640" y="3115436"/>
            <a:ext cx="288032" cy="20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72" idx="4"/>
            <a:endCxn id="82" idx="0"/>
          </p:cNvCxnSpPr>
          <p:nvPr/>
        </p:nvCxnSpPr>
        <p:spPr bwMode="auto">
          <a:xfrm flipH="1">
            <a:off x="2429300" y="4437112"/>
            <a:ext cx="3994" cy="144556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2000672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출근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3"/>
            <a:endCxn id="91" idx="2"/>
          </p:cNvCxnSpPr>
          <p:nvPr/>
        </p:nvCxnSpPr>
        <p:spPr bwMode="auto">
          <a:xfrm flipV="1">
            <a:off x="2857928" y="5638913"/>
            <a:ext cx="526526" cy="40414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2955826" y="531814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부서담당 일근태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2957453" y="29570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근태담당 일근태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91" idx="0"/>
            <a:endCxn id="60" idx="2"/>
          </p:cNvCxnSpPr>
          <p:nvPr/>
        </p:nvCxnSpPr>
        <p:spPr bwMode="auto">
          <a:xfrm flipV="1">
            <a:off x="3384454" y="3277840"/>
            <a:ext cx="1627" cy="20403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직사각형 75"/>
          <p:cNvSpPr/>
          <p:nvPr/>
        </p:nvSpPr>
        <p:spPr bwMode="auto">
          <a:xfrm>
            <a:off x="3541415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퇴근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60" idx="3"/>
            <a:endCxn id="76" idx="0"/>
          </p:cNvCxnSpPr>
          <p:nvPr/>
        </p:nvCxnSpPr>
        <p:spPr bwMode="auto">
          <a:xfrm>
            <a:off x="3814709" y="3117455"/>
            <a:ext cx="155334" cy="276521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  <a:stCxn id="77" idx="0"/>
            <a:endCxn id="50" idx="1"/>
          </p:cNvCxnSpPr>
          <p:nvPr/>
        </p:nvCxnSpPr>
        <p:spPr bwMode="auto">
          <a:xfrm rot="5400000" flipH="1" flipV="1">
            <a:off x="2513606" y="2513223"/>
            <a:ext cx="359540" cy="52815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" name="타원 83"/>
          <p:cNvSpPr/>
          <p:nvPr/>
        </p:nvSpPr>
        <p:spPr>
          <a:xfrm>
            <a:off x="6501172" y="250363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7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92" name="직사각형 91"/>
          <p:cNvSpPr/>
          <p:nvPr/>
        </p:nvSpPr>
        <p:spPr bwMode="auto">
          <a:xfrm>
            <a:off x="4162539" y="53181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부서담당 일근태 마감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직사각형 92"/>
          <p:cNvSpPr/>
          <p:nvPr/>
        </p:nvSpPr>
        <p:spPr bwMode="auto">
          <a:xfrm>
            <a:off x="4160912" y="29570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근태담당 일근태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5" name="Shape 266"/>
          <p:cNvCxnSpPr>
            <a:cxnSpLocks noChangeShapeType="1"/>
            <a:stCxn id="76" idx="3"/>
            <a:endCxn id="92" idx="2"/>
          </p:cNvCxnSpPr>
          <p:nvPr/>
        </p:nvCxnSpPr>
        <p:spPr bwMode="auto">
          <a:xfrm flipV="1">
            <a:off x="4398671" y="5638912"/>
            <a:ext cx="192496" cy="40414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92" idx="0"/>
            <a:endCxn id="93" idx="2"/>
          </p:cNvCxnSpPr>
          <p:nvPr/>
        </p:nvCxnSpPr>
        <p:spPr bwMode="auto">
          <a:xfrm flipH="1" flipV="1">
            <a:off x="4589540" y="3277840"/>
            <a:ext cx="1627" cy="20403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" name="직사각형 98"/>
          <p:cNvSpPr/>
          <p:nvPr/>
        </p:nvSpPr>
        <p:spPr bwMode="auto">
          <a:xfrm>
            <a:off x="4953000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일근태 정정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0" name="Shape 266"/>
          <p:cNvCxnSpPr>
            <a:cxnSpLocks noChangeShapeType="1"/>
            <a:stCxn id="93" idx="3"/>
            <a:endCxn id="103" idx="0"/>
          </p:cNvCxnSpPr>
          <p:nvPr/>
        </p:nvCxnSpPr>
        <p:spPr bwMode="auto">
          <a:xfrm>
            <a:off x="5018168" y="3117455"/>
            <a:ext cx="363460" cy="59005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" name="직사각형 102"/>
          <p:cNvSpPr/>
          <p:nvPr/>
        </p:nvSpPr>
        <p:spPr bwMode="auto">
          <a:xfrm>
            <a:off x="4953000" y="370750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일근태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6" name="Shape 266"/>
          <p:cNvCxnSpPr>
            <a:cxnSpLocks noChangeShapeType="1"/>
            <a:stCxn id="103" idx="2"/>
            <a:endCxn id="99" idx="0"/>
          </p:cNvCxnSpPr>
          <p:nvPr/>
        </p:nvCxnSpPr>
        <p:spPr bwMode="auto">
          <a:xfrm>
            <a:off x="5381628" y="4028278"/>
            <a:ext cx="0" cy="185439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8" name="직사각형 107"/>
          <p:cNvSpPr/>
          <p:nvPr/>
        </p:nvSpPr>
        <p:spPr bwMode="auto">
          <a:xfrm>
            <a:off x="6832048" y="479715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부서장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일근태 정정 승인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9" name="Shape 266"/>
          <p:cNvCxnSpPr>
            <a:cxnSpLocks noChangeShapeType="1"/>
            <a:stCxn id="99" idx="3"/>
            <a:endCxn id="108" idx="2"/>
          </p:cNvCxnSpPr>
          <p:nvPr/>
        </p:nvCxnSpPr>
        <p:spPr bwMode="auto">
          <a:xfrm flipV="1">
            <a:off x="5810256" y="5117923"/>
            <a:ext cx="1450420" cy="92513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직사각형 112"/>
          <p:cNvSpPr/>
          <p:nvPr/>
        </p:nvSpPr>
        <p:spPr bwMode="auto">
          <a:xfrm>
            <a:off x="7473280" y="29930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근태담당 일근태 정정 확정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6" name="Shape 266"/>
          <p:cNvCxnSpPr>
            <a:cxnSpLocks noChangeShapeType="1"/>
            <a:stCxn id="108" idx="0"/>
            <a:endCxn id="113" idx="1"/>
          </p:cNvCxnSpPr>
          <p:nvPr/>
        </p:nvCxnSpPr>
        <p:spPr bwMode="auto">
          <a:xfrm rot="5400000" flipH="1" flipV="1">
            <a:off x="6545132" y="3869004"/>
            <a:ext cx="1643693" cy="21260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8" name="직사각형 117"/>
          <p:cNvSpPr/>
          <p:nvPr/>
        </p:nvSpPr>
        <p:spPr bwMode="auto">
          <a:xfrm>
            <a:off x="7473280" y="360840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일근태 정정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9" name="직사각형 118"/>
          <p:cNvSpPr/>
          <p:nvPr/>
        </p:nvSpPr>
        <p:spPr bwMode="auto">
          <a:xfrm>
            <a:off x="7474907" y="58445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일근태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0" name="Shape 266"/>
          <p:cNvCxnSpPr>
            <a:cxnSpLocks noChangeShapeType="1"/>
            <a:stCxn id="118" idx="2"/>
            <a:endCxn id="119" idx="0"/>
          </p:cNvCxnSpPr>
          <p:nvPr/>
        </p:nvCxnSpPr>
        <p:spPr bwMode="auto">
          <a:xfrm>
            <a:off x="7901908" y="3929177"/>
            <a:ext cx="1627" cy="191535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" name="Shape 266"/>
          <p:cNvCxnSpPr>
            <a:cxnSpLocks noChangeShapeType="1"/>
            <a:stCxn id="113" idx="2"/>
            <a:endCxn id="118" idx="0"/>
          </p:cNvCxnSpPr>
          <p:nvPr/>
        </p:nvCxnSpPr>
        <p:spPr bwMode="auto">
          <a:xfrm>
            <a:off x="7901908" y="3313844"/>
            <a:ext cx="0" cy="29456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25"/>
          <p:cNvGrpSpPr/>
          <p:nvPr/>
        </p:nvGrpSpPr>
        <p:grpSpPr>
          <a:xfrm>
            <a:off x="8481392" y="4185084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근태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35" name="Shape 266"/>
          <p:cNvCxnSpPr>
            <a:cxnSpLocks noChangeShapeType="1"/>
            <a:stCxn id="119" idx="3"/>
            <a:endCxn id="130" idx="2"/>
          </p:cNvCxnSpPr>
          <p:nvPr/>
        </p:nvCxnSpPr>
        <p:spPr bwMode="auto">
          <a:xfrm flipV="1">
            <a:off x="8332163" y="4602856"/>
            <a:ext cx="635634" cy="140206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613272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직사각형 44"/>
          <p:cNvSpPr/>
          <p:nvPr/>
        </p:nvSpPr>
        <p:spPr bwMode="auto">
          <a:xfrm>
            <a:off x="8542484" y="29930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월근태 집계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6" name="Shape 266"/>
          <p:cNvCxnSpPr>
            <a:cxnSpLocks noChangeShapeType="1"/>
            <a:stCxn id="113" idx="3"/>
            <a:endCxn id="45" idx="1"/>
          </p:cNvCxnSpPr>
          <p:nvPr/>
        </p:nvCxnSpPr>
        <p:spPr bwMode="auto">
          <a:xfrm>
            <a:off x="8330536" y="3153459"/>
            <a:ext cx="21194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Shape 266"/>
          <p:cNvCxnSpPr>
            <a:cxnSpLocks noChangeShapeType="1"/>
            <a:stCxn id="45" idx="2"/>
            <a:endCxn id="53" idx="0"/>
          </p:cNvCxnSpPr>
          <p:nvPr/>
        </p:nvCxnSpPr>
        <p:spPr bwMode="auto">
          <a:xfrm>
            <a:off x="8971112" y="3313844"/>
            <a:ext cx="0" cy="29456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직사각형 52"/>
          <p:cNvSpPr/>
          <p:nvPr/>
        </p:nvSpPr>
        <p:spPr bwMode="auto">
          <a:xfrm>
            <a:off x="8542484" y="360840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월근태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5" name="Shape 266"/>
          <p:cNvCxnSpPr>
            <a:cxnSpLocks noChangeShapeType="1"/>
            <a:stCxn id="53" idx="2"/>
            <a:endCxn id="134" idx="0"/>
          </p:cNvCxnSpPr>
          <p:nvPr/>
        </p:nvCxnSpPr>
        <p:spPr bwMode="auto">
          <a:xfrm flipH="1">
            <a:off x="8967797" y="3929177"/>
            <a:ext cx="3315" cy="2693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직사각형 49"/>
          <p:cNvSpPr/>
          <p:nvPr/>
        </p:nvSpPr>
        <p:spPr bwMode="auto">
          <a:xfrm>
            <a:off x="2957453" y="243714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연장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휴일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한도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4664968" y="2437143"/>
            <a:ext cx="1332148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26.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개인별 연장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휴일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한도 생성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2" name="Shape 266"/>
          <p:cNvCxnSpPr>
            <a:cxnSpLocks noChangeShapeType="1"/>
            <a:stCxn id="50" idx="3"/>
            <a:endCxn id="51" idx="1"/>
          </p:cNvCxnSpPr>
          <p:nvPr/>
        </p:nvCxnSpPr>
        <p:spPr bwMode="auto">
          <a:xfrm>
            <a:off x="3814709" y="2597529"/>
            <a:ext cx="85025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4" name="Shape 266"/>
          <p:cNvCxnSpPr>
            <a:cxnSpLocks noChangeShapeType="1"/>
            <a:stCxn id="51" idx="3"/>
            <a:endCxn id="84" idx="2"/>
          </p:cNvCxnSpPr>
          <p:nvPr/>
        </p:nvCxnSpPr>
        <p:spPr bwMode="auto">
          <a:xfrm flipV="1">
            <a:off x="5997116" y="2596514"/>
            <a:ext cx="504056" cy="10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순서도: 종속 처리 64"/>
          <p:cNvSpPr>
            <a:spLocks noChangeAspect="1" noChangeArrowheads="1"/>
          </p:cNvSpPr>
          <p:nvPr/>
        </p:nvSpPr>
        <p:spPr bwMode="auto">
          <a:xfrm>
            <a:off x="6355417" y="2799978"/>
            <a:ext cx="757823" cy="4258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dirty="0"/>
              <a:t>3.4.2.2 </a:t>
            </a:r>
            <a:r>
              <a:rPr lang="ko-KR" altLang="ko-KR" sz="900" dirty="0"/>
              <a:t>자체교육일괄신청</a:t>
            </a:r>
            <a:endParaRPr lang="ko-KR" altLang="en-US" sz="900" kern="0" spc="-13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순서도: 종속 처리 64"/>
          <p:cNvSpPr>
            <a:spLocks noChangeAspect="1" noChangeArrowheads="1"/>
          </p:cNvSpPr>
          <p:nvPr/>
        </p:nvSpPr>
        <p:spPr bwMode="auto">
          <a:xfrm>
            <a:off x="6355417" y="3228244"/>
            <a:ext cx="757823" cy="4258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dirty="0"/>
              <a:t>3.4.2.3 </a:t>
            </a:r>
            <a:r>
              <a:rPr lang="ko-KR" altLang="ko-KR" sz="900" dirty="0"/>
              <a:t>자체교육</a:t>
            </a:r>
            <a:r>
              <a:rPr lang="ko-KR" altLang="en-US" sz="900" dirty="0"/>
              <a:t>개별</a:t>
            </a:r>
            <a:r>
              <a:rPr lang="ko-KR" altLang="ko-KR" sz="900" dirty="0"/>
              <a:t>신청</a:t>
            </a:r>
            <a:endParaRPr lang="ko-KR" altLang="en-US" sz="900" kern="0" spc="-13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순서도: 종속 처리 64"/>
          <p:cNvSpPr>
            <a:spLocks noChangeAspect="1" noChangeArrowheads="1"/>
          </p:cNvSpPr>
          <p:nvPr/>
        </p:nvSpPr>
        <p:spPr bwMode="auto">
          <a:xfrm>
            <a:off x="6355417" y="3656510"/>
            <a:ext cx="757823" cy="4258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dirty="0"/>
              <a:t>3.4.2.4 </a:t>
            </a:r>
            <a:r>
              <a:rPr lang="ko-KR" altLang="en-US" sz="900" dirty="0"/>
              <a:t>위탁</a:t>
            </a:r>
            <a:r>
              <a:rPr lang="ko-KR" altLang="ko-KR" sz="900" dirty="0"/>
              <a:t>교육신청</a:t>
            </a:r>
            <a:endParaRPr lang="ko-KR" altLang="en-US" sz="900" kern="0" spc="-13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순서도: 종속 처리 64"/>
          <p:cNvSpPr>
            <a:spLocks noChangeAspect="1" noChangeArrowheads="1"/>
          </p:cNvSpPr>
          <p:nvPr/>
        </p:nvSpPr>
        <p:spPr bwMode="auto">
          <a:xfrm>
            <a:off x="6355417" y="4084776"/>
            <a:ext cx="757823" cy="2734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dirty="0"/>
              <a:t>3.4.2.7 </a:t>
            </a:r>
            <a:r>
              <a:rPr lang="ko-KR" altLang="ko-KR" sz="900" dirty="0"/>
              <a:t>교육</a:t>
            </a:r>
            <a:r>
              <a:rPr lang="ko-KR" altLang="en-US" sz="900" dirty="0"/>
              <a:t>취소</a:t>
            </a:r>
            <a:endParaRPr lang="ko-KR" altLang="en-US" sz="900" kern="0" spc="-13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순서도: 종속 처리 64"/>
          <p:cNvSpPr>
            <a:spLocks noChangeAspect="1" noChangeArrowheads="1"/>
          </p:cNvSpPr>
          <p:nvPr/>
        </p:nvSpPr>
        <p:spPr bwMode="auto">
          <a:xfrm>
            <a:off x="6355417" y="4360641"/>
            <a:ext cx="757823" cy="2734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dirty="0"/>
              <a:t>3.1.7.6 </a:t>
            </a:r>
            <a:r>
              <a:rPr lang="ko-KR" altLang="en-US" sz="900" dirty="0"/>
              <a:t>출장관리</a:t>
            </a:r>
            <a:endParaRPr lang="ko-KR" altLang="en-US" sz="900" kern="0" spc="-13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3" name="Shape 266"/>
          <p:cNvCxnSpPr>
            <a:cxnSpLocks noChangeShapeType="1"/>
            <a:stCxn id="56" idx="1"/>
            <a:endCxn id="103" idx="3"/>
          </p:cNvCxnSpPr>
          <p:nvPr/>
        </p:nvCxnSpPr>
        <p:spPr bwMode="auto">
          <a:xfrm rot="10800000" flipV="1">
            <a:off x="5810257" y="3012901"/>
            <a:ext cx="545161" cy="85499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57" idx="1"/>
            <a:endCxn id="103" idx="3"/>
          </p:cNvCxnSpPr>
          <p:nvPr/>
        </p:nvCxnSpPr>
        <p:spPr bwMode="auto">
          <a:xfrm rot="10800000" flipV="1">
            <a:off x="5810257" y="3441167"/>
            <a:ext cx="545161" cy="42672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58" idx="1"/>
            <a:endCxn id="103" idx="3"/>
          </p:cNvCxnSpPr>
          <p:nvPr/>
        </p:nvCxnSpPr>
        <p:spPr bwMode="auto">
          <a:xfrm rot="10800000">
            <a:off x="5810257" y="3867893"/>
            <a:ext cx="545161" cy="15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59" idx="1"/>
            <a:endCxn id="103" idx="3"/>
          </p:cNvCxnSpPr>
          <p:nvPr/>
        </p:nvCxnSpPr>
        <p:spPr bwMode="auto">
          <a:xfrm rot="10800000">
            <a:off x="5810257" y="3867893"/>
            <a:ext cx="545161" cy="35360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62" idx="1"/>
            <a:endCxn id="103" idx="3"/>
          </p:cNvCxnSpPr>
          <p:nvPr/>
        </p:nvCxnSpPr>
        <p:spPr bwMode="auto">
          <a:xfrm rot="10800000">
            <a:off x="5810257" y="3867894"/>
            <a:ext cx="545161" cy="62947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" name="Shape 266"/>
          <p:cNvCxnSpPr>
            <a:cxnSpLocks noChangeShapeType="1"/>
            <a:stCxn id="84" idx="6"/>
            <a:endCxn id="45" idx="0"/>
          </p:cNvCxnSpPr>
          <p:nvPr/>
        </p:nvCxnSpPr>
        <p:spPr bwMode="auto">
          <a:xfrm>
            <a:off x="6703486" y="2596514"/>
            <a:ext cx="2267626" cy="39655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타원 71"/>
          <p:cNvSpPr/>
          <p:nvPr/>
        </p:nvSpPr>
        <p:spPr>
          <a:xfrm>
            <a:off x="2332137" y="425135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6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73" name="Shape 266"/>
          <p:cNvCxnSpPr>
            <a:cxnSpLocks noChangeShapeType="1"/>
            <a:stCxn id="77" idx="2"/>
            <a:endCxn id="72" idx="0"/>
          </p:cNvCxnSpPr>
          <p:nvPr/>
        </p:nvCxnSpPr>
        <p:spPr bwMode="auto">
          <a:xfrm>
            <a:off x="2429300" y="3277840"/>
            <a:ext cx="3994" cy="97351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8194565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1596480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3.1.7.3 </a:t>
                      </a:r>
                      <a:r>
                        <a:rPr lang="ko-KR" altLang="en-US" sz="11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일근태관리</a:t>
                      </a: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연장근로신청</a:t>
                      </a: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560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08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753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1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(4/18)</a:t>
            </a:r>
            <a:endParaRPr lang="ko-KR" altLang="en-US" dirty="0"/>
          </a:p>
        </p:txBody>
      </p:sp>
      <p:sp>
        <p:nvSpPr>
          <p:cNvPr id="32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64" name="타원 63"/>
          <p:cNvSpPr/>
          <p:nvPr/>
        </p:nvSpPr>
        <p:spPr>
          <a:xfrm>
            <a:off x="1668091" y="342247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7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2010375" y="552263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연장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휴일 근무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7" name="Shape 266"/>
          <p:cNvCxnSpPr>
            <a:cxnSpLocks noChangeShapeType="1"/>
            <a:stCxn id="64" idx="6"/>
            <a:endCxn id="65" idx="0"/>
          </p:cNvCxnSpPr>
          <p:nvPr/>
        </p:nvCxnSpPr>
        <p:spPr bwMode="auto">
          <a:xfrm>
            <a:off x="1870405" y="3515359"/>
            <a:ext cx="568598" cy="200727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직사각형 67"/>
          <p:cNvSpPr/>
          <p:nvPr/>
        </p:nvSpPr>
        <p:spPr bwMode="auto">
          <a:xfrm>
            <a:off x="3303656" y="238274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연장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휴일 근무 신청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9" name="Shape 266"/>
          <p:cNvCxnSpPr>
            <a:cxnSpLocks noChangeShapeType="1"/>
            <a:stCxn id="65" idx="3"/>
            <a:endCxn id="68" idx="1"/>
          </p:cNvCxnSpPr>
          <p:nvPr/>
        </p:nvCxnSpPr>
        <p:spPr bwMode="auto">
          <a:xfrm flipV="1">
            <a:off x="2867631" y="2543134"/>
            <a:ext cx="436025" cy="313988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5" name="직사각형 54"/>
          <p:cNvSpPr/>
          <p:nvPr/>
        </p:nvSpPr>
        <p:spPr bwMode="auto">
          <a:xfrm>
            <a:off x="4383776" y="335497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연장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휴일 근무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4374648" y="552263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연장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휴일 근무 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7" name="Shape 266"/>
          <p:cNvCxnSpPr>
            <a:cxnSpLocks noChangeShapeType="1"/>
            <a:stCxn id="68" idx="2"/>
            <a:endCxn id="56" idx="1"/>
          </p:cNvCxnSpPr>
          <p:nvPr/>
        </p:nvCxnSpPr>
        <p:spPr bwMode="auto">
          <a:xfrm rot="16200000" flipH="1">
            <a:off x="2563717" y="3872086"/>
            <a:ext cx="2979499" cy="64236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" name="Shape 266"/>
          <p:cNvCxnSpPr>
            <a:cxnSpLocks noChangeShapeType="1"/>
            <a:stCxn id="68" idx="3"/>
            <a:endCxn id="55" idx="0"/>
          </p:cNvCxnSpPr>
          <p:nvPr/>
        </p:nvCxnSpPr>
        <p:spPr bwMode="auto">
          <a:xfrm>
            <a:off x="4160912" y="2543134"/>
            <a:ext cx="651492" cy="81184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0" name="직사각형 69"/>
          <p:cNvSpPr/>
          <p:nvPr/>
        </p:nvSpPr>
        <p:spPr bwMode="auto">
          <a:xfrm>
            <a:off x="5673080" y="335497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대휴확인 예외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1" name="Shape 266"/>
          <p:cNvCxnSpPr>
            <a:cxnSpLocks noChangeShapeType="1"/>
            <a:stCxn id="55" idx="3"/>
            <a:endCxn id="70" idx="1"/>
          </p:cNvCxnSpPr>
          <p:nvPr/>
        </p:nvCxnSpPr>
        <p:spPr bwMode="auto">
          <a:xfrm>
            <a:off x="5241032" y="3515360"/>
            <a:ext cx="43204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5673080" y="551723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70" idx="2"/>
            <a:endCxn id="83" idx="0"/>
          </p:cNvCxnSpPr>
          <p:nvPr/>
        </p:nvCxnSpPr>
        <p:spPr bwMode="auto">
          <a:xfrm>
            <a:off x="6101708" y="3675745"/>
            <a:ext cx="0" cy="58461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직사각형 78"/>
          <p:cNvSpPr/>
          <p:nvPr/>
        </p:nvSpPr>
        <p:spPr bwMode="auto">
          <a:xfrm>
            <a:off x="7840160" y="335497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대휴적치 사용내역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0" name="Shape 266"/>
          <p:cNvCxnSpPr>
            <a:cxnSpLocks noChangeShapeType="1"/>
            <a:stCxn id="72" idx="3"/>
            <a:endCxn id="79" idx="1"/>
          </p:cNvCxnSpPr>
          <p:nvPr/>
        </p:nvCxnSpPr>
        <p:spPr bwMode="auto">
          <a:xfrm flipV="1">
            <a:off x="6530336" y="3515360"/>
            <a:ext cx="1309824" cy="216225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5673080" y="426035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연장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휴일 적치 자동등록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5" name="Shape 266"/>
          <p:cNvCxnSpPr>
            <a:cxnSpLocks noChangeShapeType="1"/>
            <a:stCxn id="83" idx="2"/>
            <a:endCxn id="72" idx="0"/>
          </p:cNvCxnSpPr>
          <p:nvPr/>
        </p:nvCxnSpPr>
        <p:spPr bwMode="auto">
          <a:xfrm>
            <a:off x="6101708" y="4581128"/>
            <a:ext cx="0" cy="93610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0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40273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33" name="Shape 266"/>
          <p:cNvCxnSpPr>
            <a:cxnSpLocks noChangeShapeType="1"/>
            <a:stCxn id="56" idx="3"/>
            <a:endCxn id="70" idx="1"/>
          </p:cNvCxnSpPr>
          <p:nvPr/>
        </p:nvCxnSpPr>
        <p:spPr bwMode="auto">
          <a:xfrm flipV="1">
            <a:off x="5231904" y="3515360"/>
            <a:ext cx="441176" cy="216765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" name="타원 7"/>
          <p:cNvSpPr/>
          <p:nvPr/>
        </p:nvSpPr>
        <p:spPr>
          <a:xfrm>
            <a:off x="3036650" y="2590023"/>
            <a:ext cx="298458" cy="163212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순서도: 종속 처리 64"/>
          <p:cNvSpPr>
            <a:spLocks noChangeAspect="1" noChangeArrowheads="1"/>
          </p:cNvSpPr>
          <p:nvPr/>
        </p:nvSpPr>
        <p:spPr bwMode="auto">
          <a:xfrm>
            <a:off x="7097788" y="2913385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spc="-17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35" name="Shape 266"/>
          <p:cNvCxnSpPr>
            <a:cxnSpLocks noChangeShapeType="1"/>
            <a:stCxn id="83" idx="3"/>
            <a:endCxn id="34" idx="1"/>
          </p:cNvCxnSpPr>
          <p:nvPr/>
        </p:nvCxnSpPr>
        <p:spPr bwMode="auto">
          <a:xfrm flipV="1">
            <a:off x="6530336" y="3069785"/>
            <a:ext cx="567452" cy="135095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" name="Shape 266"/>
          <p:cNvCxnSpPr>
            <a:cxnSpLocks noChangeShapeType="1"/>
            <a:stCxn id="79" idx="2"/>
            <a:endCxn id="64" idx="4"/>
          </p:cNvCxnSpPr>
          <p:nvPr/>
        </p:nvCxnSpPr>
        <p:spPr bwMode="auto">
          <a:xfrm rot="5400000" flipH="1">
            <a:off x="4985265" y="392222"/>
            <a:ext cx="67506" cy="6499540"/>
          </a:xfrm>
          <a:prstGeom prst="bentConnector3">
            <a:avLst>
              <a:gd name="adj1" fmla="val -3612123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811153588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425748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단시간근무관리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4553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08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(5/18)</a:t>
            </a:r>
            <a:endParaRPr lang="ko-KR" altLang="en-US" dirty="0"/>
          </a:p>
        </p:txBody>
      </p:sp>
      <p:sp>
        <p:nvSpPr>
          <p:cNvPr id="3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64" name="타원 63"/>
          <p:cNvSpPr/>
          <p:nvPr/>
        </p:nvSpPr>
        <p:spPr>
          <a:xfrm>
            <a:off x="1510326" y="342247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64" idx="4"/>
            <a:endCxn id="82" idx="1"/>
          </p:cNvCxnSpPr>
          <p:nvPr/>
        </p:nvCxnSpPr>
        <p:spPr bwMode="auto">
          <a:xfrm rot="16200000" flipH="1">
            <a:off x="588667" y="4631054"/>
            <a:ext cx="2434820" cy="38918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2000672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단시간근무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3"/>
            <a:endCxn id="91" idx="2"/>
          </p:cNvCxnSpPr>
          <p:nvPr/>
        </p:nvCxnSpPr>
        <p:spPr bwMode="auto">
          <a:xfrm flipV="1">
            <a:off x="2857928" y="5686277"/>
            <a:ext cx="836725" cy="35678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3266025" y="5270779"/>
            <a:ext cx="857256" cy="415498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sp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37.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부서장 단시간근무  신청 승인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91" idx="0"/>
            <a:endCxn id="57" idx="2"/>
          </p:cNvCxnSpPr>
          <p:nvPr/>
        </p:nvCxnSpPr>
        <p:spPr bwMode="auto">
          <a:xfrm flipV="1">
            <a:off x="3694653" y="3547779"/>
            <a:ext cx="1627" cy="17230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125"/>
          <p:cNvGrpSpPr/>
          <p:nvPr/>
        </p:nvGrpSpPr>
        <p:grpSpPr>
          <a:xfrm>
            <a:off x="8373039" y="3961131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근태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35" name="Shape 266"/>
          <p:cNvCxnSpPr>
            <a:cxnSpLocks noChangeShapeType="1"/>
            <a:stCxn id="83" idx="2"/>
            <a:endCxn id="127" idx="3"/>
          </p:cNvCxnSpPr>
          <p:nvPr/>
        </p:nvCxnSpPr>
        <p:spPr bwMode="auto">
          <a:xfrm rot="16200000" flipH="1">
            <a:off x="7165397" y="2958641"/>
            <a:ext cx="618505" cy="179678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직사각형 78"/>
          <p:cNvSpPr/>
          <p:nvPr/>
        </p:nvSpPr>
        <p:spPr bwMode="auto">
          <a:xfrm>
            <a:off x="6147972" y="586472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단시간근무 신청승인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0" name="Shape 266"/>
          <p:cNvCxnSpPr>
            <a:cxnSpLocks noChangeShapeType="1"/>
            <a:stCxn id="83" idx="2"/>
            <a:endCxn id="79" idx="0"/>
          </p:cNvCxnSpPr>
          <p:nvPr/>
        </p:nvCxnSpPr>
        <p:spPr bwMode="auto">
          <a:xfrm>
            <a:off x="6576259" y="3547779"/>
            <a:ext cx="341" cy="231694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6147631" y="322700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단시간근무 내역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순서도: 종속 처리 64"/>
          <p:cNvSpPr>
            <a:spLocks noChangeAspect="1" noChangeArrowheads="1"/>
          </p:cNvSpPr>
          <p:nvPr/>
        </p:nvSpPr>
        <p:spPr bwMode="auto">
          <a:xfrm>
            <a:off x="7580951" y="3227008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spc="-17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87" name="Shape 266"/>
          <p:cNvCxnSpPr>
            <a:cxnSpLocks noChangeShapeType="1"/>
            <a:stCxn id="57" idx="3"/>
            <a:endCxn id="83" idx="1"/>
          </p:cNvCxnSpPr>
          <p:nvPr/>
        </p:nvCxnSpPr>
        <p:spPr bwMode="auto">
          <a:xfrm>
            <a:off x="4124908" y="3387394"/>
            <a:ext cx="202272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83" idx="3"/>
            <a:endCxn id="85" idx="1"/>
          </p:cNvCxnSpPr>
          <p:nvPr/>
        </p:nvCxnSpPr>
        <p:spPr bwMode="auto">
          <a:xfrm flipV="1">
            <a:off x="7004887" y="3383408"/>
            <a:ext cx="576064" cy="39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1" name="Shape 266"/>
          <p:cNvCxnSpPr>
            <a:cxnSpLocks noChangeShapeType="1"/>
            <a:stCxn id="79" idx="3"/>
            <a:endCxn id="130" idx="2"/>
          </p:cNvCxnSpPr>
          <p:nvPr/>
        </p:nvCxnSpPr>
        <p:spPr bwMode="auto">
          <a:xfrm flipV="1">
            <a:off x="7005228" y="4378903"/>
            <a:ext cx="1854216" cy="164621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2126425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" name="직사각형 56"/>
          <p:cNvSpPr/>
          <p:nvPr/>
        </p:nvSpPr>
        <p:spPr bwMode="auto">
          <a:xfrm>
            <a:off x="3267652" y="322700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단시간근무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" name="타원 2"/>
          <p:cNvSpPr/>
          <p:nvPr/>
        </p:nvSpPr>
        <p:spPr>
          <a:xfrm>
            <a:off x="6147631" y="3378935"/>
            <a:ext cx="209525" cy="185759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86525627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066054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스마트근무관리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91552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12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12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0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(6/18)</a:t>
            </a:r>
            <a:endParaRPr lang="ko-KR" altLang="en-US" dirty="0"/>
          </a:p>
        </p:txBody>
      </p:sp>
      <p:sp>
        <p:nvSpPr>
          <p:cNvPr id="31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64" name="타원 63"/>
          <p:cNvSpPr/>
          <p:nvPr/>
        </p:nvSpPr>
        <p:spPr>
          <a:xfrm>
            <a:off x="1510326" y="342247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64" idx="4"/>
            <a:endCxn id="82" idx="1"/>
          </p:cNvCxnSpPr>
          <p:nvPr/>
        </p:nvCxnSpPr>
        <p:spPr bwMode="auto">
          <a:xfrm rot="16200000" flipH="1">
            <a:off x="609370" y="4610351"/>
            <a:ext cx="2393415" cy="38918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2000672" y="584126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스마트 근무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3"/>
            <a:endCxn id="91" idx="2"/>
          </p:cNvCxnSpPr>
          <p:nvPr/>
        </p:nvCxnSpPr>
        <p:spPr bwMode="auto">
          <a:xfrm flipV="1">
            <a:off x="2857928" y="5602909"/>
            <a:ext cx="586324" cy="39874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3015624" y="5193196"/>
            <a:ext cx="857256" cy="409713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부서장 스마트 근무 신청승인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" name="그룹 125"/>
          <p:cNvGrpSpPr/>
          <p:nvPr/>
        </p:nvGrpSpPr>
        <p:grpSpPr>
          <a:xfrm>
            <a:off x="8121352" y="3961131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근태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35" name="Shape 266"/>
          <p:cNvCxnSpPr>
            <a:cxnSpLocks noChangeShapeType="1"/>
            <a:stCxn id="83" idx="2"/>
            <a:endCxn id="127" idx="3"/>
          </p:cNvCxnSpPr>
          <p:nvPr/>
        </p:nvCxnSpPr>
        <p:spPr bwMode="auto">
          <a:xfrm rot="16200000" flipH="1">
            <a:off x="6913929" y="2958861"/>
            <a:ext cx="618066" cy="179678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4671808" y="322744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근무일정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91" idx="0"/>
            <a:endCxn id="72" idx="1"/>
          </p:cNvCxnSpPr>
          <p:nvPr/>
        </p:nvCxnSpPr>
        <p:spPr bwMode="auto">
          <a:xfrm rot="5400000" flipH="1" flipV="1">
            <a:off x="3155349" y="3676737"/>
            <a:ext cx="1805363" cy="122755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직사각형 78"/>
          <p:cNvSpPr/>
          <p:nvPr/>
        </p:nvSpPr>
        <p:spPr bwMode="auto">
          <a:xfrm>
            <a:off x="4671808" y="584126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스마트 근무 신청승인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0" name="Shape 266"/>
          <p:cNvCxnSpPr>
            <a:cxnSpLocks noChangeShapeType="1"/>
            <a:stCxn id="72" idx="2"/>
            <a:endCxn id="79" idx="0"/>
          </p:cNvCxnSpPr>
          <p:nvPr/>
        </p:nvCxnSpPr>
        <p:spPr bwMode="auto">
          <a:xfrm>
            <a:off x="5100436" y="3548218"/>
            <a:ext cx="0" cy="22930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5895944" y="322744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스마트 근무 신청내역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7" name="Shape 266"/>
          <p:cNvCxnSpPr>
            <a:cxnSpLocks noChangeShapeType="1"/>
            <a:stCxn id="72" idx="3"/>
            <a:endCxn id="83" idx="1"/>
          </p:cNvCxnSpPr>
          <p:nvPr/>
        </p:nvCxnSpPr>
        <p:spPr bwMode="auto">
          <a:xfrm>
            <a:off x="5529064" y="3387833"/>
            <a:ext cx="36688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" name="Shape 266"/>
          <p:cNvCxnSpPr>
            <a:cxnSpLocks noChangeShapeType="1"/>
            <a:stCxn id="79" idx="3"/>
            <a:endCxn id="130" idx="2"/>
          </p:cNvCxnSpPr>
          <p:nvPr/>
        </p:nvCxnSpPr>
        <p:spPr bwMode="auto">
          <a:xfrm flipV="1">
            <a:off x="5529064" y="4378903"/>
            <a:ext cx="3078693" cy="162275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49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018752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8878316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7930972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3.1.7.6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출장관리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03520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08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0113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(7/18)</a:t>
            </a:r>
            <a:endParaRPr lang="ko-KR" altLang="en-US" dirty="0"/>
          </a:p>
        </p:txBody>
      </p:sp>
      <p:sp>
        <p:nvSpPr>
          <p:cNvPr id="3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64" name="타원 63"/>
          <p:cNvSpPr/>
          <p:nvPr/>
        </p:nvSpPr>
        <p:spPr>
          <a:xfrm>
            <a:off x="1510326" y="306243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64" idx="4"/>
            <a:endCxn id="82" idx="1"/>
          </p:cNvCxnSpPr>
          <p:nvPr/>
        </p:nvCxnSpPr>
        <p:spPr bwMode="auto">
          <a:xfrm rot="16200000" flipH="1">
            <a:off x="465354" y="4394327"/>
            <a:ext cx="2681447" cy="38918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2000672" y="5769260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출장 신청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3"/>
            <a:endCxn id="91" idx="2"/>
          </p:cNvCxnSpPr>
          <p:nvPr/>
        </p:nvCxnSpPr>
        <p:spPr bwMode="auto">
          <a:xfrm flipV="1">
            <a:off x="2857928" y="5210952"/>
            <a:ext cx="296665" cy="71869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2725965" y="4886916"/>
            <a:ext cx="857256" cy="324036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46.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출장 신청 부서장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2727592" y="2814890"/>
            <a:ext cx="857256" cy="340429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근태담당 출장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91" idx="0"/>
            <a:endCxn id="60" idx="2"/>
          </p:cNvCxnSpPr>
          <p:nvPr/>
        </p:nvCxnSpPr>
        <p:spPr bwMode="auto">
          <a:xfrm flipV="1">
            <a:off x="3154593" y="3155319"/>
            <a:ext cx="1627" cy="17315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25"/>
          <p:cNvGrpSpPr/>
          <p:nvPr/>
        </p:nvGrpSpPr>
        <p:grpSpPr>
          <a:xfrm>
            <a:off x="8481392" y="3104964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근태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2" name="직사각형 71"/>
          <p:cNvSpPr/>
          <p:nvPr/>
        </p:nvSpPr>
        <p:spPr bwMode="auto">
          <a:xfrm>
            <a:off x="7020841" y="2856201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출장보고서 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60" idx="3"/>
            <a:endCxn id="47" idx="0"/>
          </p:cNvCxnSpPr>
          <p:nvPr/>
        </p:nvCxnSpPr>
        <p:spPr bwMode="auto">
          <a:xfrm>
            <a:off x="3584848" y="2985105"/>
            <a:ext cx="1335463" cy="49951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직사각형 78"/>
          <p:cNvSpPr/>
          <p:nvPr/>
        </p:nvSpPr>
        <p:spPr bwMode="auto">
          <a:xfrm>
            <a:off x="5150671" y="576926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출장 진행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7" name="Shape 266"/>
          <p:cNvCxnSpPr>
            <a:cxnSpLocks noChangeShapeType="1"/>
            <a:stCxn id="72" idx="2"/>
            <a:endCxn id="59" idx="0"/>
          </p:cNvCxnSpPr>
          <p:nvPr/>
        </p:nvCxnSpPr>
        <p:spPr bwMode="auto">
          <a:xfrm rot="16200000" flipH="1">
            <a:off x="6559564" y="4066876"/>
            <a:ext cx="2160240" cy="38043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직사각형 55"/>
          <p:cNvSpPr/>
          <p:nvPr/>
        </p:nvSpPr>
        <p:spPr bwMode="auto">
          <a:xfrm>
            <a:off x="6345643" y="5331599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출장보고서 제출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8" name="Shape 266"/>
          <p:cNvCxnSpPr>
            <a:cxnSpLocks noChangeShapeType="1"/>
            <a:stCxn id="79" idx="3"/>
            <a:endCxn id="35" idx="1"/>
          </p:cNvCxnSpPr>
          <p:nvPr/>
        </p:nvCxnSpPr>
        <p:spPr bwMode="auto">
          <a:xfrm>
            <a:off x="6007927" y="5929646"/>
            <a:ext cx="256830" cy="9342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2" name="Shape 266"/>
          <p:cNvCxnSpPr>
            <a:cxnSpLocks noChangeShapeType="1"/>
            <a:stCxn id="56" idx="0"/>
            <a:endCxn id="72" idx="1"/>
          </p:cNvCxnSpPr>
          <p:nvPr/>
        </p:nvCxnSpPr>
        <p:spPr bwMode="auto">
          <a:xfrm rot="5400000" flipH="1" flipV="1">
            <a:off x="5740050" y="4050808"/>
            <a:ext cx="2315012" cy="24657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4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9941045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5" name="순서도: 판단 161"/>
          <p:cNvSpPr>
            <a:spLocks noChangeArrowheads="1"/>
          </p:cNvSpPr>
          <p:nvPr/>
        </p:nvSpPr>
        <p:spPr bwMode="auto">
          <a:xfrm>
            <a:off x="6264757" y="5835953"/>
            <a:ext cx="1008112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국외출장 여부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770451" y="5682444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9" name="Shape 266"/>
          <p:cNvCxnSpPr>
            <a:cxnSpLocks noChangeShapeType="1"/>
            <a:stCxn id="35" idx="0"/>
            <a:endCxn id="56" idx="2"/>
          </p:cNvCxnSpPr>
          <p:nvPr/>
        </p:nvCxnSpPr>
        <p:spPr bwMode="auto">
          <a:xfrm flipV="1">
            <a:off x="6768813" y="5652370"/>
            <a:ext cx="5458" cy="18358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TextBox 42"/>
          <p:cNvSpPr txBox="1"/>
          <p:nvPr/>
        </p:nvSpPr>
        <p:spPr>
          <a:xfrm>
            <a:off x="7245632" y="5794280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5" name="Shape 266"/>
          <p:cNvCxnSpPr>
            <a:cxnSpLocks noChangeShapeType="1"/>
            <a:stCxn id="35" idx="3"/>
            <a:endCxn id="130" idx="2"/>
          </p:cNvCxnSpPr>
          <p:nvPr/>
        </p:nvCxnSpPr>
        <p:spPr bwMode="auto">
          <a:xfrm flipV="1">
            <a:off x="7272869" y="3522736"/>
            <a:ext cx="1694928" cy="250033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9" name="직사각형 58"/>
          <p:cNvSpPr/>
          <p:nvPr/>
        </p:nvSpPr>
        <p:spPr bwMode="auto">
          <a:xfrm>
            <a:off x="7401272" y="5337212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출장보고서 열람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5" name="Shape 266"/>
          <p:cNvCxnSpPr>
            <a:cxnSpLocks noChangeShapeType="1"/>
            <a:stCxn id="59" idx="3"/>
            <a:endCxn id="127" idx="3"/>
          </p:cNvCxnSpPr>
          <p:nvPr/>
        </p:nvCxnSpPr>
        <p:spPr bwMode="auto">
          <a:xfrm flipV="1">
            <a:off x="8258528" y="3310117"/>
            <a:ext cx="222864" cy="218748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직사각형 67"/>
          <p:cNvSpPr/>
          <p:nvPr/>
        </p:nvSpPr>
        <p:spPr bwMode="auto">
          <a:xfrm>
            <a:off x="3476836" y="5769260"/>
            <a:ext cx="857256" cy="324036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출장비 회계전송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0" name="Shape 266"/>
          <p:cNvCxnSpPr>
            <a:cxnSpLocks noChangeShapeType="1"/>
            <a:stCxn id="60" idx="3"/>
            <a:endCxn id="68" idx="0"/>
          </p:cNvCxnSpPr>
          <p:nvPr/>
        </p:nvCxnSpPr>
        <p:spPr bwMode="auto">
          <a:xfrm>
            <a:off x="3584848" y="2985105"/>
            <a:ext cx="320616" cy="278415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/>
          <p:cNvCxnSpPr>
            <a:cxnSpLocks noChangeShapeType="1"/>
            <a:stCxn id="68" idx="3"/>
            <a:endCxn id="79" idx="1"/>
          </p:cNvCxnSpPr>
          <p:nvPr/>
        </p:nvCxnSpPr>
        <p:spPr bwMode="auto">
          <a:xfrm flipV="1">
            <a:off x="4334092" y="5929646"/>
            <a:ext cx="816579" cy="16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7" name="직사각형 46"/>
          <p:cNvSpPr/>
          <p:nvPr/>
        </p:nvSpPr>
        <p:spPr bwMode="auto">
          <a:xfrm>
            <a:off x="4491683" y="3484615"/>
            <a:ext cx="857256" cy="34042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근태담당 출장내역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8" name="직사각형 47"/>
          <p:cNvSpPr/>
          <p:nvPr/>
        </p:nvSpPr>
        <p:spPr bwMode="auto">
          <a:xfrm>
            <a:off x="4487120" y="5356823"/>
            <a:ext cx="857256" cy="34042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 출장내역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3" name="Shape 266"/>
          <p:cNvCxnSpPr>
            <a:cxnSpLocks noChangeShapeType="1"/>
            <a:stCxn id="47" idx="2"/>
            <a:endCxn id="48" idx="0"/>
          </p:cNvCxnSpPr>
          <p:nvPr/>
        </p:nvCxnSpPr>
        <p:spPr bwMode="auto">
          <a:xfrm flipH="1">
            <a:off x="4915748" y="3825044"/>
            <a:ext cx="4563" cy="15317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47" idx="3"/>
            <a:endCxn id="79" idx="0"/>
          </p:cNvCxnSpPr>
          <p:nvPr/>
        </p:nvCxnSpPr>
        <p:spPr bwMode="auto">
          <a:xfrm>
            <a:off x="5348939" y="3654830"/>
            <a:ext cx="230360" cy="211443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48" idx="2"/>
            <a:endCxn id="79" idx="1"/>
          </p:cNvCxnSpPr>
          <p:nvPr/>
        </p:nvCxnSpPr>
        <p:spPr bwMode="auto">
          <a:xfrm rot="16200000" flipH="1">
            <a:off x="4917012" y="5695987"/>
            <a:ext cx="232394" cy="23492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0" name="순서도: 종속 처리 64"/>
          <p:cNvSpPr>
            <a:spLocks noChangeAspect="1" noChangeArrowheads="1"/>
          </p:cNvSpPr>
          <p:nvPr/>
        </p:nvSpPr>
        <p:spPr bwMode="auto">
          <a:xfrm>
            <a:off x="4275386" y="2502091"/>
            <a:ext cx="87528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3.1.7.3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일근태</a:t>
            </a:r>
            <a:r>
              <a:rPr lang="ko-KR" altLang="en-US" sz="900" kern="0" spc="-17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41" name="Shape 266"/>
          <p:cNvCxnSpPr>
            <a:cxnSpLocks noChangeShapeType="1"/>
            <a:stCxn id="60" idx="0"/>
            <a:endCxn id="40" idx="1"/>
          </p:cNvCxnSpPr>
          <p:nvPr/>
        </p:nvCxnSpPr>
        <p:spPr bwMode="auto">
          <a:xfrm rot="5400000" flipH="1" flipV="1">
            <a:off x="3637604" y="2177108"/>
            <a:ext cx="156399" cy="1119166"/>
          </a:xfrm>
          <a:prstGeom prst="bentConnector2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211162400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1619848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3.1.7.7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근무스케줄관리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9530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304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08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15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40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(8/18)</a:t>
            </a:r>
            <a:endParaRPr lang="ko-KR" altLang="en-US" dirty="0"/>
          </a:p>
        </p:txBody>
      </p:sp>
      <p:sp>
        <p:nvSpPr>
          <p:cNvPr id="41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64" name="타원 63"/>
          <p:cNvSpPr/>
          <p:nvPr/>
        </p:nvSpPr>
        <p:spPr>
          <a:xfrm>
            <a:off x="1834362" y="342247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6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4056320" y="33569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본부별 근무코드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57" idx="3"/>
            <a:endCxn id="91" idx="2"/>
          </p:cNvCxnSpPr>
          <p:nvPr/>
        </p:nvCxnSpPr>
        <p:spPr bwMode="auto">
          <a:xfrm flipV="1">
            <a:off x="4913576" y="5638913"/>
            <a:ext cx="586324" cy="29399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5071272" y="5229200"/>
            <a:ext cx="857256" cy="409713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 스케줄 변경신청 부서장 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39" idx="0"/>
            <a:endCxn id="69" idx="1"/>
          </p:cNvCxnSpPr>
          <p:nvPr/>
        </p:nvCxnSpPr>
        <p:spPr bwMode="auto">
          <a:xfrm rot="5400000" flipH="1" flipV="1">
            <a:off x="5445056" y="2634331"/>
            <a:ext cx="606905" cy="50405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9" name="직사각형 68"/>
          <p:cNvSpPr/>
          <p:nvPr/>
        </p:nvSpPr>
        <p:spPr bwMode="auto">
          <a:xfrm>
            <a:off x="6000536" y="2348880"/>
            <a:ext cx="857256" cy="46805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 스케줄 변경 신청 인사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부서장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직사각형 71"/>
          <p:cNvSpPr/>
          <p:nvPr/>
        </p:nvSpPr>
        <p:spPr bwMode="auto">
          <a:xfrm>
            <a:off x="6864632" y="321297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근무스케줄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8088768" y="577252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개인별 근무 스케줄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3" name="직사각형 82"/>
          <p:cNvSpPr/>
          <p:nvPr/>
        </p:nvSpPr>
        <p:spPr bwMode="auto">
          <a:xfrm>
            <a:off x="8128192" y="384065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 스케줄 근태이상자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7" name="Shape 266"/>
          <p:cNvCxnSpPr>
            <a:cxnSpLocks noChangeShapeType="1"/>
            <a:stCxn id="66" idx="3"/>
            <a:endCxn id="83" idx="1"/>
          </p:cNvCxnSpPr>
          <p:nvPr/>
        </p:nvCxnSpPr>
        <p:spPr bwMode="auto">
          <a:xfrm flipV="1">
            <a:off x="7721888" y="4001036"/>
            <a:ext cx="406304" cy="195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Shape 266"/>
          <p:cNvCxnSpPr>
            <a:cxnSpLocks noChangeShapeType="1"/>
            <a:stCxn id="69" idx="3"/>
            <a:endCxn id="72" idx="0"/>
          </p:cNvCxnSpPr>
          <p:nvPr/>
        </p:nvCxnSpPr>
        <p:spPr bwMode="auto">
          <a:xfrm>
            <a:off x="6857792" y="2582906"/>
            <a:ext cx="435468" cy="63007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" name="순서도: 종속 처리 64"/>
          <p:cNvSpPr>
            <a:spLocks noChangeAspect="1" noChangeArrowheads="1"/>
          </p:cNvSpPr>
          <p:nvPr/>
        </p:nvSpPr>
        <p:spPr bwMode="auto">
          <a:xfrm>
            <a:off x="8196780" y="4549110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spc="-17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53" name="Shape 266"/>
          <p:cNvCxnSpPr>
            <a:cxnSpLocks noChangeShapeType="1"/>
            <a:stCxn id="65" idx="3"/>
            <a:endCxn id="52" idx="1"/>
          </p:cNvCxnSpPr>
          <p:nvPr/>
        </p:nvCxnSpPr>
        <p:spPr bwMode="auto">
          <a:xfrm>
            <a:off x="7721888" y="4705510"/>
            <a:ext cx="47489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" name="Shape 266"/>
          <p:cNvCxnSpPr>
            <a:cxnSpLocks noChangeShapeType="1"/>
            <a:stCxn id="64" idx="6"/>
            <a:endCxn id="82" idx="1"/>
          </p:cNvCxnSpPr>
          <p:nvPr/>
        </p:nvCxnSpPr>
        <p:spPr bwMode="auto">
          <a:xfrm>
            <a:off x="2036676" y="3515359"/>
            <a:ext cx="2019644" cy="20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4" name="직사각형 53"/>
          <p:cNvSpPr/>
          <p:nvPr/>
        </p:nvSpPr>
        <p:spPr bwMode="auto">
          <a:xfrm>
            <a:off x="4056320" y="40050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56.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팀별 기본근무 스케줄 등록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5" name="Shape 266"/>
          <p:cNvCxnSpPr>
            <a:cxnSpLocks noChangeShapeType="1"/>
            <a:stCxn id="82" idx="2"/>
            <a:endCxn id="54" idx="0"/>
          </p:cNvCxnSpPr>
          <p:nvPr/>
        </p:nvCxnSpPr>
        <p:spPr bwMode="auto">
          <a:xfrm>
            <a:off x="4484948" y="3677763"/>
            <a:ext cx="0" cy="3273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" name="직사각형 56"/>
          <p:cNvSpPr/>
          <p:nvPr/>
        </p:nvSpPr>
        <p:spPr bwMode="auto">
          <a:xfrm>
            <a:off x="4056320" y="577252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 스케줄 변경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8" name="Shape 266"/>
          <p:cNvCxnSpPr>
            <a:cxnSpLocks noChangeShapeType="1"/>
            <a:stCxn id="62" idx="2"/>
            <a:endCxn id="57" idx="0"/>
          </p:cNvCxnSpPr>
          <p:nvPr/>
        </p:nvCxnSpPr>
        <p:spPr bwMode="auto">
          <a:xfrm>
            <a:off x="4484948" y="4977172"/>
            <a:ext cx="0" cy="7953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79" idx="2"/>
            <a:endCxn id="64" idx="4"/>
          </p:cNvCxnSpPr>
          <p:nvPr/>
        </p:nvCxnSpPr>
        <p:spPr bwMode="auto">
          <a:xfrm rot="5400000" flipH="1">
            <a:off x="3983929" y="1559830"/>
            <a:ext cx="2485057" cy="6581877"/>
          </a:xfrm>
          <a:prstGeom prst="bentConnector3">
            <a:avLst>
              <a:gd name="adj1" fmla="val -4599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72" idx="2"/>
            <a:endCxn id="66" idx="0"/>
          </p:cNvCxnSpPr>
          <p:nvPr/>
        </p:nvCxnSpPr>
        <p:spPr bwMode="auto">
          <a:xfrm>
            <a:off x="7293260" y="3533747"/>
            <a:ext cx="0" cy="2192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" name="Shape 266"/>
          <p:cNvCxnSpPr>
            <a:cxnSpLocks noChangeShapeType="1"/>
            <a:endCxn id="65" idx="0"/>
          </p:cNvCxnSpPr>
          <p:nvPr/>
        </p:nvCxnSpPr>
        <p:spPr bwMode="auto">
          <a:xfrm>
            <a:off x="7293260" y="4109139"/>
            <a:ext cx="0" cy="4359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" name="Shape 266"/>
          <p:cNvCxnSpPr>
            <a:cxnSpLocks noChangeShapeType="1"/>
            <a:stCxn id="83" idx="3"/>
            <a:endCxn id="79" idx="3"/>
          </p:cNvCxnSpPr>
          <p:nvPr/>
        </p:nvCxnSpPr>
        <p:spPr bwMode="auto">
          <a:xfrm flipH="1">
            <a:off x="8946024" y="4001036"/>
            <a:ext cx="39424" cy="1931875"/>
          </a:xfrm>
          <a:prstGeom prst="bentConnector3">
            <a:avLst>
              <a:gd name="adj1" fmla="val -57985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9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813142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9" name="순서도: 판단 161"/>
          <p:cNvSpPr>
            <a:spLocks noChangeArrowheads="1"/>
          </p:cNvSpPr>
          <p:nvPr/>
        </p:nvSpPr>
        <p:spPr bwMode="auto">
          <a:xfrm>
            <a:off x="4992424" y="3189811"/>
            <a:ext cx="1008112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야간근로 여부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460476" y="2892286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5979732" y="3165510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5" name="Shape 266"/>
          <p:cNvCxnSpPr>
            <a:cxnSpLocks noChangeShapeType="1"/>
            <a:stCxn id="39" idx="3"/>
            <a:endCxn id="72" idx="1"/>
          </p:cNvCxnSpPr>
          <p:nvPr/>
        </p:nvCxnSpPr>
        <p:spPr bwMode="auto">
          <a:xfrm flipV="1">
            <a:off x="6000536" y="3373362"/>
            <a:ext cx="864096" cy="35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hape 266"/>
          <p:cNvCxnSpPr>
            <a:cxnSpLocks noChangeShapeType="1"/>
            <a:stCxn id="91" idx="0"/>
            <a:endCxn id="39" idx="2"/>
          </p:cNvCxnSpPr>
          <p:nvPr/>
        </p:nvCxnSpPr>
        <p:spPr bwMode="auto">
          <a:xfrm flipH="1" flipV="1">
            <a:off x="5496480" y="3564044"/>
            <a:ext cx="3420" cy="166515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직사각형 61"/>
          <p:cNvSpPr/>
          <p:nvPr/>
        </p:nvSpPr>
        <p:spPr bwMode="auto">
          <a:xfrm>
            <a:off x="4056320" y="465640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 스케줄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3" name="Shape 266"/>
          <p:cNvCxnSpPr>
            <a:cxnSpLocks noChangeShapeType="1"/>
            <a:stCxn id="54" idx="2"/>
            <a:endCxn id="62" idx="0"/>
          </p:cNvCxnSpPr>
          <p:nvPr/>
        </p:nvCxnSpPr>
        <p:spPr bwMode="auto">
          <a:xfrm>
            <a:off x="4484948" y="4325835"/>
            <a:ext cx="0" cy="3305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" name="직사각형 64"/>
          <p:cNvSpPr/>
          <p:nvPr/>
        </p:nvSpPr>
        <p:spPr bwMode="auto">
          <a:xfrm>
            <a:off x="6864632" y="454512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월별 근무스케줄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6864632" y="3753036"/>
            <a:ext cx="857256" cy="49991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 스케줄 근태확인 제외자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순서도: 종속 처리 64"/>
          <p:cNvSpPr>
            <a:spLocks noChangeAspect="1" noChangeArrowheads="1"/>
          </p:cNvSpPr>
          <p:nvPr/>
        </p:nvSpPr>
        <p:spPr bwMode="auto">
          <a:xfrm>
            <a:off x="2557864" y="4325835"/>
            <a:ext cx="954976" cy="43531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3.1.7.4 </a:t>
            </a: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단시간 근무</a:t>
            </a:r>
            <a:r>
              <a:rPr lang="ko-KR" altLang="en-US" sz="900" kern="0" spc="-17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46" name="순서도: 종속 처리 64"/>
          <p:cNvSpPr>
            <a:spLocks noChangeAspect="1" noChangeArrowheads="1"/>
          </p:cNvSpPr>
          <p:nvPr/>
        </p:nvSpPr>
        <p:spPr bwMode="auto">
          <a:xfrm>
            <a:off x="2557863" y="4844393"/>
            <a:ext cx="954977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3.1.7.6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출장</a:t>
            </a:r>
            <a:r>
              <a:rPr lang="ko-KR" altLang="en-US" sz="900" kern="0" spc="-17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47" name="Shape 266"/>
          <p:cNvCxnSpPr>
            <a:cxnSpLocks noChangeShapeType="1"/>
            <a:stCxn id="44" idx="3"/>
            <a:endCxn id="62" idx="1"/>
          </p:cNvCxnSpPr>
          <p:nvPr/>
        </p:nvCxnSpPr>
        <p:spPr bwMode="auto">
          <a:xfrm>
            <a:off x="3512840" y="4543492"/>
            <a:ext cx="543480" cy="27329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" name="Shape 266"/>
          <p:cNvCxnSpPr>
            <a:cxnSpLocks noChangeShapeType="1"/>
            <a:stCxn id="46" idx="3"/>
            <a:endCxn id="62" idx="1"/>
          </p:cNvCxnSpPr>
          <p:nvPr/>
        </p:nvCxnSpPr>
        <p:spPr bwMode="auto">
          <a:xfrm flipV="1">
            <a:off x="3512840" y="4816787"/>
            <a:ext cx="543480" cy="18400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타원 59"/>
          <p:cNvSpPr/>
          <p:nvPr/>
        </p:nvSpPr>
        <p:spPr>
          <a:xfrm>
            <a:off x="5105581" y="439536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9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1" name="Shape 266"/>
          <p:cNvCxnSpPr>
            <a:cxnSpLocks noChangeShapeType="1"/>
            <a:stCxn id="54" idx="3"/>
            <a:endCxn id="60" idx="0"/>
          </p:cNvCxnSpPr>
          <p:nvPr/>
        </p:nvCxnSpPr>
        <p:spPr bwMode="auto">
          <a:xfrm>
            <a:off x="4913576" y="4165450"/>
            <a:ext cx="293162" cy="22991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8" name="Shape 266"/>
          <p:cNvCxnSpPr>
            <a:cxnSpLocks noChangeShapeType="1"/>
            <a:stCxn id="60" idx="4"/>
            <a:endCxn id="62" idx="3"/>
          </p:cNvCxnSpPr>
          <p:nvPr/>
        </p:nvCxnSpPr>
        <p:spPr bwMode="auto">
          <a:xfrm rot="5400000">
            <a:off x="4942328" y="4552376"/>
            <a:ext cx="235659" cy="29316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513605188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0443265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3.1.7.8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겸직관리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4553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08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0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(9/18)</a:t>
            </a:r>
            <a:endParaRPr lang="ko-KR" altLang="en-US" dirty="0"/>
          </a:p>
        </p:txBody>
      </p:sp>
      <p:sp>
        <p:nvSpPr>
          <p:cNvPr id="31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64" name="타원 63"/>
          <p:cNvSpPr/>
          <p:nvPr/>
        </p:nvSpPr>
        <p:spPr>
          <a:xfrm>
            <a:off x="1510326" y="342247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8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64" idx="4"/>
            <a:endCxn id="82" idx="1"/>
          </p:cNvCxnSpPr>
          <p:nvPr/>
        </p:nvCxnSpPr>
        <p:spPr bwMode="auto">
          <a:xfrm rot="16200000" flipH="1">
            <a:off x="858697" y="4361024"/>
            <a:ext cx="2434820" cy="92924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2540732" y="5882673"/>
            <a:ext cx="857256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겸직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0"/>
            <a:endCxn id="91" idx="2"/>
          </p:cNvCxnSpPr>
          <p:nvPr/>
        </p:nvCxnSpPr>
        <p:spPr bwMode="auto">
          <a:xfrm flipH="1" flipV="1">
            <a:off x="2966014" y="5638913"/>
            <a:ext cx="3346" cy="24376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2537386" y="5318142"/>
            <a:ext cx="857256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부서장 겸직 신청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" name="그룹 125"/>
          <p:cNvGrpSpPr/>
          <p:nvPr/>
        </p:nvGrpSpPr>
        <p:grpSpPr>
          <a:xfrm>
            <a:off x="8121352" y="3176972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근태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35" name="Shape 266"/>
          <p:cNvCxnSpPr>
            <a:cxnSpLocks noChangeShapeType="1"/>
            <a:stCxn id="83" idx="3"/>
            <a:endCxn id="127" idx="3"/>
          </p:cNvCxnSpPr>
          <p:nvPr/>
        </p:nvCxnSpPr>
        <p:spPr bwMode="auto">
          <a:xfrm flipV="1">
            <a:off x="7293260" y="3382125"/>
            <a:ext cx="828092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5211868" y="3225473"/>
            <a:ext cx="857256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겸직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5211868" y="5864727"/>
            <a:ext cx="857256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겸직 사후관리 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0" name="Shape 266"/>
          <p:cNvCxnSpPr>
            <a:cxnSpLocks noChangeShapeType="1"/>
            <a:stCxn id="72" idx="2"/>
            <a:endCxn id="79" idx="0"/>
          </p:cNvCxnSpPr>
          <p:nvPr/>
        </p:nvCxnSpPr>
        <p:spPr bwMode="auto">
          <a:xfrm>
            <a:off x="5640496" y="3546244"/>
            <a:ext cx="0" cy="231848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6436004" y="3225473"/>
            <a:ext cx="857256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겸직 사후 관리 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7" name="Shape 266"/>
          <p:cNvCxnSpPr>
            <a:cxnSpLocks noChangeShapeType="1"/>
            <a:stCxn id="72" idx="3"/>
            <a:endCxn id="83" idx="1"/>
          </p:cNvCxnSpPr>
          <p:nvPr/>
        </p:nvCxnSpPr>
        <p:spPr bwMode="auto">
          <a:xfrm>
            <a:off x="6069124" y="3385859"/>
            <a:ext cx="36688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" name="Shape 266"/>
          <p:cNvCxnSpPr>
            <a:cxnSpLocks noChangeShapeType="1"/>
            <a:stCxn id="79" idx="3"/>
            <a:endCxn id="83" idx="2"/>
          </p:cNvCxnSpPr>
          <p:nvPr/>
        </p:nvCxnSpPr>
        <p:spPr bwMode="auto">
          <a:xfrm flipV="1">
            <a:off x="6069124" y="3546244"/>
            <a:ext cx="795508" cy="247886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49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82719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5" name="직사각형 34"/>
          <p:cNvSpPr/>
          <p:nvPr/>
        </p:nvSpPr>
        <p:spPr bwMode="auto">
          <a:xfrm>
            <a:off x="3836876" y="2352145"/>
            <a:ext cx="857256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이사장 겸직 신청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6" name="Shape 266"/>
          <p:cNvCxnSpPr>
            <a:cxnSpLocks noChangeShapeType="1"/>
            <a:stCxn id="91" idx="0"/>
            <a:endCxn id="35" idx="1"/>
          </p:cNvCxnSpPr>
          <p:nvPr/>
        </p:nvCxnSpPr>
        <p:spPr bwMode="auto">
          <a:xfrm rot="5400000" flipH="1" flipV="1">
            <a:off x="1998640" y="3479906"/>
            <a:ext cx="2805611" cy="87086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" name="Shape 266"/>
          <p:cNvCxnSpPr>
            <a:cxnSpLocks noChangeShapeType="1"/>
            <a:stCxn id="35" idx="3"/>
            <a:endCxn id="72" idx="0"/>
          </p:cNvCxnSpPr>
          <p:nvPr/>
        </p:nvCxnSpPr>
        <p:spPr bwMode="auto">
          <a:xfrm>
            <a:off x="4694132" y="2512531"/>
            <a:ext cx="946364" cy="71294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57582283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548163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3.1.7.7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근무스케줄관리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9530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304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근태담당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08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15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40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(10/18)</a:t>
            </a:r>
            <a:endParaRPr lang="ko-KR" altLang="en-US" dirty="0"/>
          </a:p>
        </p:txBody>
      </p:sp>
      <p:sp>
        <p:nvSpPr>
          <p:cNvPr id="41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64" name="타원 63"/>
          <p:cNvSpPr/>
          <p:nvPr/>
        </p:nvSpPr>
        <p:spPr>
          <a:xfrm>
            <a:off x="1510326" y="342247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9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2727251" y="33569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개인별 근무형태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54" idx="3"/>
            <a:endCxn id="91" idx="2"/>
          </p:cNvCxnSpPr>
          <p:nvPr/>
        </p:nvCxnSpPr>
        <p:spPr bwMode="auto">
          <a:xfrm flipV="1">
            <a:off x="3584507" y="5648549"/>
            <a:ext cx="723841" cy="35637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3879720" y="5238836"/>
            <a:ext cx="857256" cy="409713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근무형태 변경신청 부서장 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0" name="Shape 266"/>
          <p:cNvCxnSpPr>
            <a:cxnSpLocks noChangeShapeType="1"/>
            <a:stCxn id="64" idx="6"/>
            <a:endCxn id="82" idx="1"/>
          </p:cNvCxnSpPr>
          <p:nvPr/>
        </p:nvCxnSpPr>
        <p:spPr bwMode="auto">
          <a:xfrm>
            <a:off x="1712640" y="3515359"/>
            <a:ext cx="1014611" cy="20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4" name="직사각형 53"/>
          <p:cNvSpPr/>
          <p:nvPr/>
        </p:nvSpPr>
        <p:spPr bwMode="auto">
          <a:xfrm>
            <a:off x="2727251" y="58445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73.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근무형태 변경 신청 </a:t>
            </a:r>
            <a:endParaRPr lang="en-US" altLang="ko-KR" sz="900" kern="0" spc="-12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5" name="Shape 266"/>
          <p:cNvCxnSpPr>
            <a:cxnSpLocks noChangeShapeType="1"/>
            <a:stCxn id="82" idx="2"/>
            <a:endCxn id="54" idx="0"/>
          </p:cNvCxnSpPr>
          <p:nvPr/>
        </p:nvCxnSpPr>
        <p:spPr bwMode="auto">
          <a:xfrm>
            <a:off x="3155879" y="3677763"/>
            <a:ext cx="0" cy="21667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9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030679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56" name="Shape 266"/>
          <p:cNvCxnSpPr>
            <a:cxnSpLocks noChangeShapeType="1"/>
            <a:stCxn id="91" idx="0"/>
            <a:endCxn id="60" idx="2"/>
          </p:cNvCxnSpPr>
          <p:nvPr/>
        </p:nvCxnSpPr>
        <p:spPr bwMode="auto">
          <a:xfrm flipV="1">
            <a:off x="4308348" y="3677763"/>
            <a:ext cx="0" cy="15610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직사각형 59"/>
          <p:cNvSpPr/>
          <p:nvPr/>
        </p:nvSpPr>
        <p:spPr bwMode="auto">
          <a:xfrm>
            <a:off x="3879720" y="33569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근무형태 상세내역 변경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60" idx="0"/>
            <a:endCxn id="64" idx="0"/>
          </p:cNvCxnSpPr>
          <p:nvPr/>
        </p:nvCxnSpPr>
        <p:spPr bwMode="auto">
          <a:xfrm rot="16200000" flipH="1" flipV="1">
            <a:off x="2927172" y="2041302"/>
            <a:ext cx="65487" cy="2696865"/>
          </a:xfrm>
          <a:prstGeom prst="bentConnector3">
            <a:avLst>
              <a:gd name="adj1" fmla="val -349077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914886717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(11/18)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4334104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근태기준등록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달력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OT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근태유형별 신청기준 등 기준정보를 등록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달력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OT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근태유형별 신청기준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연차예외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근속년수에 의해 정상적으로 연차가 생성되지 않는 예외자 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연차예외자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연차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근속년수에 따라 발생하는 직원별 연차 개수를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연차발생내역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연차 등록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변경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연차생성이 누락되거나 생성된 연차 개수가 다를 경우 연차내역을 등록 또는 변경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연차발생내역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신청 가능한 휴가와 일수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한도 내에서 휴가를 신청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부서장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신청한 휴가 건에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근태담당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 신청된 휴가가 근태담당자 승인이 필요한 휴가일 경우 근태담당자가 휴가를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직원이 신청한 휴가 건에 대해 최종적으로 휴가내역을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신청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부서장 또는 근태담당자에게 신청한 휴가에 대한 승인내역을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근무스케줄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직원의 근태스케줄 기준에 따라 월별 개인 근무스케줄을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출근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출근 시 일근태화면을 열어 출근 버튼을 클릭하여 출근정보를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(12/18)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2344702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부서담당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부서담당자가 부서원의 출퇴근 등록정보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 등 일근태 정보를 조회하여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근태담당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직원의 출퇴근 등록정보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 등 일근태 정보를 조회하여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퇴근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출근 시 일근태화면을 열어 퇴근 버튼을 클릭하여 퇴근정보를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부서담당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마감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부서담당자가 부서원의 출퇴근 등록정보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 등 일근태 정보를 조회하고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근태담당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부서담당이 마감한 일근태 정보를 확인하고 일근태 내역을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등록된 직원의 일근태 정보의 조회 및 변경정보를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정정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일근태 정보가 실제 근무내용과 맞지 않을 경우 수정을 위해 정정을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일근태정정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정정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요청한 일근태 정정 신청내역 건을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일근태정정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근태담당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정정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직원이 요청한 일근태 정정 신청내역 건을 확인하고 정정을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일근태정정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정정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직원이 요청한 일근태 정정 신청이 적용된 일근태 정보를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일근태정정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일근태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본인의 최종적인 일근태 정보를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(13/18)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8233488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월근태 집계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일근태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정보를 집계하여 급여계산을 위한 기초자료를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월근태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일근태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정보를 집계하여 만든 월근태 집계내역을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월근태집계내역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 한도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직원의 월 또는 분기별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한도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정보를 등록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한도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연장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 한도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직원의 월 또는 분기별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한도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를 개인별로 생성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한도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개인별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한도 내에서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근무를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한도 초과 시 신청 불가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신청한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근무 요청 건을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부서장이 승인을 완료한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휴일근무내역을 확인하고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승인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최종적으로 승인이 확정된 본인의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근무내역 정보를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대휴확인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예외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휴일근무자에 대해 근태확인이 생략되는 예외자 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대휴확인예외정보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휴일 적치 자동등록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근무가 확정 시 대휴 및 연장수당 내역이 자동으로 적치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적치내역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휴가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연장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휴일 근무를 합산한 대휴적치 내역을 휴가로 전환하여 사용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(5.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 신청과 동일한 업무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휴가신청내역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(14/18)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2077587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대휴적치 사용내역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직원이 신청하여 사용한 대휴적치 사용내역을 조회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대휴적치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사용은 휴가 신청에서 수행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대휴적치내역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단시간근무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필요에 따라 근무시간을 단축하는 단시간근무를 신청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근무유형과 급여계산적용여부에 따라 급여 반영여부 확인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단시간근무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부서장 단시간 근무 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신청한 단시간근무 요청에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단시간근무 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단시간근무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부서장이 승인한 단시간근무 신청내역을 확인하고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단시간근무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단시간근무 내역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직원이 신청한 단시간근무내역을 확인하고 내역을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단시간근무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단시간근무 신청승인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단시간근무 신청 후 승인내용을 확인하고 단시간근무 내역을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단시간근무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스마트 근무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상황에 따라 원격지 근무가 필요할 경우 스마트근무를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스마트근무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부서장 스마트 근무 신청승인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신청한 스마트근무신청에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스마트근무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근무일정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부서장이 승인한 직원의 스마트근무 신청내역을 확인하고 근무일정을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스마트근무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스마트 근무 신청내역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직원이 신청한 스마트근무내역을 확인하고 내역을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스마트근무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(15/18)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4990793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스마트근무 신청승인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스마트근무 신청 후 승인내용을 확인하고 스마트근무 내역을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스마트근무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45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국내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외 출장을 가야 할 경우 출장내역을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46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 신청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신청한 출장내역에 대해 출장내용을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47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근태담당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신청된 출장 건에 대해 부서장 승인이 완료된  출장 신청내역을 승인하고 확정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확정 시 근태와 연동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 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출장비 회계전송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출장을 신청한 직원이 출장 승인 완료 후 출장비 지출을 회계시스템에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출장비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근태담당 출장내역 조회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 신청 건에 대해 승인이 완료되면 근태담당자가 승인된 출장 건을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50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 출장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내역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출장 신청 후 승인내용을 확인하고 출장 내역을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 진행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출장을 갔다 와서 복귀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출장보고서 제출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출장이 국외 출장일 경우 공유를 위해 직원이 출장보고서를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53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출장보고서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국외 출장을 갔다 온 직원이 제출한 출장보고서를 확인하고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출장보고서 열람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국외 출장을 갔다 온 직원이 제출한 출장보고서가 확정되면 전 직원이 필요 시 출장보고서를 열람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출장보고서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(16/18)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8937175"/>
              </p:ext>
            </p:extLst>
          </p:nvPr>
        </p:nvGraphicFramePr>
        <p:xfrm>
          <a:off x="344488" y="1604186"/>
          <a:ext cx="9180513" cy="37795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본부별 근무코드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본부별로 근무형태를 등록하여 월별 스케줄 생성 시 근무형태에 따라 스케줄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본부별 근무코드정보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팀별 기본근무 스케줄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팀별 기본근무 스케줄을 등록하여 월별 스케줄 생성 시 팀별 스케줄에 따라 스케줄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팀별 기본근무스케줄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스케줄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본부별 근무코드 및 팀별 기본근무 스케줄에 따른 개인별 근무스케줄을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스케줄 변경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생성된 본인의 기본 근무스케줄의 변경이 있을 경우 변경을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 변경신청내역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스케줄 변경신청 부서장 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요청한 근무스케줄 변경신청에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 변경신청내역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스케줄 변경 신청 인사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야간근로일 경우 부서장이 변경신청을 승인 후에 인사담당 부서장이 변경신청을 확인하고 추가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 변경신청내역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근무스케줄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월별 기본 스케줄과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변경 신청된 근무스케줄을 확인하고 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스케줄 근태확인 제외자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근무스케줄의 변경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시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근태확인이 제외되는 직원의 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 근무확인 제외자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(17/18)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1681064"/>
              </p:ext>
            </p:extLst>
          </p:nvPr>
        </p:nvGraphicFramePr>
        <p:xfrm>
          <a:off x="344488" y="1604186"/>
          <a:ext cx="9180513" cy="399288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월별 근무스케줄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월별 기본 스케줄과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변경 신청된 근무스케줄을 확인하고 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스케줄 근태이상자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직원의 근무스케줄을 확인하여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스케줄이 정상적이지 않은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 이상자를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근무 스케줄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생성된 본인의 스케줄과 변경 신청된 본인의 근무스케줄 내역을 조회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근무스케줄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겸직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외부파견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강사로 출강 등 외부에서 장기간 근무가 필요한 경우 겸직을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겸직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부서장 겸직 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요청한 겸직신청에 대해 내용을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겸직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이사장 겸직 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이사장이 직원이 신청하고 부서장이 승인한 겸직신청에 대해 내용을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겸직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겸직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이사장의 겸직신청에 대한 승인이 완료되면 내용을 확인하고 최종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겸직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겸직 사후관리 신고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겸직 근무 이후 겸직이 진행되는 현황과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변동내용이 있을 경우 그 내용을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겸직 사후관리내역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겸직 사후 관리 내역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근태담당자가 직원이 신고한 겸직이 진행되는 사항과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변동내용을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겸직 사후관리내역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근태종류에 따라 결재라인을 변경하고 개인의 근태현황에 따라 근무스케줄을 자동으로 생성하여  근태신청 및 승인을 시스템에서 직접 할 수 있도록 업무프로세스를 변경함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3.3.2.7 </a:t>
            </a:r>
            <a:r>
              <a:rPr lang="ko-KR" altLang="en-US" dirty="0"/>
              <a:t>근태관리 </a:t>
            </a:r>
            <a:r>
              <a:rPr lang="en-US" altLang="ko-KR" dirty="0"/>
              <a:t>(18/18)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9485956"/>
              </p:ext>
            </p:extLst>
          </p:nvPr>
        </p:nvGraphicFramePr>
        <p:xfrm>
          <a:off x="344488" y="1604186"/>
          <a:ext cx="9180513" cy="201168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근무형태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경정 일용직 직원의 기본 근무형태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근무부서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보직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근무시간을 등록하고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주별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상세 근무형태를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근무형태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근무형태상세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근무형태 변경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경정 일용직 직원 중 근무형태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변경이 필요할 경우 본인의 근무형태 변경을 신청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근무형태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근무형태 변경신청 부서장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근무형태 변경 신청 건에 대해 해당 부서의 부서장이 신청내역을 승인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근무형태 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근무형태 상세내역 변경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기본 근무형태가 변경된 직원에 대해 </a:t>
                      </a:r>
                      <a:r>
                        <a:rPr lang="ko-KR" altLang="en-US" sz="1000" b="0" dirty="0" err="1">
                          <a:latin typeface="맑은 고딕" pitchFamily="50" charset="-127"/>
                          <a:ea typeface="맑은 고딕" pitchFamily="50" charset="-127"/>
                        </a:rPr>
                        <a:t>주별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 상세 근무형태를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근무형태상세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0944542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직원이 제증명을 신청하고 승인 후 직접 제증명을 발급받아 출력할 수 있는 현행 프로세스와 동일하게 구성함</a:t>
            </a:r>
          </a:p>
        </p:txBody>
      </p:sp>
      <p:sp>
        <p:nvSpPr>
          <p:cNvPr id="26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3.3.2.8 </a:t>
            </a:r>
            <a:r>
              <a:rPr lang="ko-KR" altLang="en-US" dirty="0"/>
              <a:t>제증명관리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27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174397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3.1.8.1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제증명신청</a:t>
                      </a: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발급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147749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제증명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64096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" name="그룹 140"/>
          <p:cNvGrpSpPr/>
          <p:nvPr/>
        </p:nvGrpSpPr>
        <p:grpSpPr>
          <a:xfrm>
            <a:off x="1704256" y="5603516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제증명 발급사유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0" name="직사각형 79"/>
          <p:cNvSpPr/>
          <p:nvPr/>
        </p:nvSpPr>
        <p:spPr bwMode="auto">
          <a:xfrm>
            <a:off x="4527792" y="277715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제증명 신청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4527792" y="56645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제증명 발급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5" name="Shape 266"/>
          <p:cNvCxnSpPr>
            <a:cxnSpLocks noChangeShapeType="1"/>
            <a:stCxn id="46" idx="3"/>
            <a:endCxn id="80" idx="1"/>
          </p:cNvCxnSpPr>
          <p:nvPr/>
        </p:nvCxnSpPr>
        <p:spPr bwMode="auto">
          <a:xfrm flipV="1">
            <a:off x="3728864" y="2937538"/>
            <a:ext cx="798928" cy="286716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6" name="직사각형 45"/>
          <p:cNvSpPr/>
          <p:nvPr/>
        </p:nvSpPr>
        <p:spPr bwMode="auto">
          <a:xfrm>
            <a:off x="2871608" y="564431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제증명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8" name="Shape 266"/>
          <p:cNvCxnSpPr>
            <a:cxnSpLocks noChangeShapeType="1"/>
            <a:stCxn id="142" idx="0"/>
            <a:endCxn id="46" idx="1"/>
          </p:cNvCxnSpPr>
          <p:nvPr/>
        </p:nvCxnSpPr>
        <p:spPr bwMode="auto">
          <a:xfrm flipV="1">
            <a:off x="2460681" y="5804700"/>
            <a:ext cx="410927" cy="39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" name="Shape 266"/>
          <p:cNvCxnSpPr>
            <a:cxnSpLocks noChangeShapeType="1"/>
            <a:stCxn id="80" idx="2"/>
            <a:endCxn id="82" idx="0"/>
          </p:cNvCxnSpPr>
          <p:nvPr/>
        </p:nvCxnSpPr>
        <p:spPr bwMode="auto">
          <a:xfrm>
            <a:off x="4956420" y="3097923"/>
            <a:ext cx="0" cy="25665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54"/>
          <p:cNvGrpSpPr/>
          <p:nvPr/>
        </p:nvGrpSpPr>
        <p:grpSpPr>
          <a:xfrm>
            <a:off x="6177136" y="5621214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제증명 발급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9" name="Shape 266"/>
          <p:cNvCxnSpPr>
            <a:cxnSpLocks noChangeShapeType="1"/>
            <a:stCxn id="82" idx="3"/>
            <a:endCxn id="56" idx="3"/>
          </p:cNvCxnSpPr>
          <p:nvPr/>
        </p:nvCxnSpPr>
        <p:spPr bwMode="auto">
          <a:xfrm>
            <a:off x="5385048" y="5824903"/>
            <a:ext cx="792088" cy="14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원통 68"/>
          <p:cNvSpPr>
            <a:spLocks noChangeAspect="1" noChangeArrowheads="1"/>
          </p:cNvSpPr>
          <p:nvPr/>
        </p:nvSpPr>
        <p:spPr bwMode="auto">
          <a:xfrm>
            <a:off x="2919295" y="3598434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제증명</a:t>
            </a:r>
            <a:endParaRPr kumimoji="1" lang="en-US" altLang="ko-KR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신청정보</a:t>
            </a:r>
          </a:p>
        </p:txBody>
      </p:sp>
      <p:cxnSp>
        <p:nvCxnSpPr>
          <p:cNvPr id="63" name="Shape 266"/>
          <p:cNvCxnSpPr>
            <a:cxnSpLocks noChangeShapeType="1"/>
            <a:stCxn id="46" idx="0"/>
            <a:endCxn id="62" idx="3"/>
          </p:cNvCxnSpPr>
          <p:nvPr/>
        </p:nvCxnSpPr>
        <p:spPr bwMode="auto">
          <a:xfrm flipV="1">
            <a:off x="3300236" y="4024248"/>
            <a:ext cx="0" cy="16200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24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773515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3.1.8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제증명관리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9017952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채용 전형별 지원자에 대한 정보 및 결과를 관리하고 최종지원자의 정보를 인사정보에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3.3.2.8 </a:t>
            </a:r>
            <a:r>
              <a:rPr lang="ko-KR" altLang="en-US" dirty="0"/>
              <a:t>제증명관리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490349"/>
              </p:ext>
            </p:extLst>
          </p:nvPr>
        </p:nvGraphicFramePr>
        <p:xfrm>
          <a:off x="344488" y="1604186"/>
          <a:ext cx="9180513" cy="16154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제증명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l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직원이 필요한 제증명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재직증명서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경력증명서 등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내역을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제증명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제증명 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l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제증명담당자가 직원의 제증명신청 내역을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제증명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제증명 발급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l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제증명담당자의 승인이 완료되면 직원이 직접 승인된 제증명 내역을 출력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재직증명서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경력증명서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직무구분 및 직무기술서를 등록하고 조직별 직무에 대한 승인을 시스템에서 할 수 있도록 업무프로세스를 변경함</a:t>
            </a:r>
          </a:p>
        </p:txBody>
      </p:sp>
      <p:sp>
        <p:nvSpPr>
          <p:cNvPr id="40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3.3.2.9 </a:t>
            </a:r>
            <a:r>
              <a:rPr lang="ko-KR" altLang="en-US" dirty="0"/>
              <a:t>직무관리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2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4270335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922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6526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직무체계관리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직무매핑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58992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22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직무담당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943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팀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36104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" name="그룹 140"/>
          <p:cNvGrpSpPr/>
          <p:nvPr/>
        </p:nvGrpSpPr>
        <p:grpSpPr>
          <a:xfrm>
            <a:off x="1424608" y="3276843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업무분장 건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2" name="직사각형 81"/>
          <p:cNvSpPr/>
          <p:nvPr/>
        </p:nvSpPr>
        <p:spPr bwMode="auto">
          <a:xfrm>
            <a:off x="7192088" y="556649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개인별 직무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/>
          <p:cNvSpPr/>
          <p:nvPr/>
        </p:nvSpPr>
        <p:spPr bwMode="auto">
          <a:xfrm>
            <a:off x="2439560" y="33176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레벨별 직무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8" name="Shape 266"/>
          <p:cNvCxnSpPr>
            <a:cxnSpLocks noChangeShapeType="1"/>
            <a:stCxn id="142" idx="0"/>
            <a:endCxn id="46" idx="1"/>
          </p:cNvCxnSpPr>
          <p:nvPr/>
        </p:nvCxnSpPr>
        <p:spPr bwMode="auto">
          <a:xfrm flipV="1">
            <a:off x="2181033" y="3478027"/>
            <a:ext cx="258527" cy="39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54"/>
          <p:cNvGrpSpPr/>
          <p:nvPr/>
        </p:nvGrpSpPr>
        <p:grpSpPr>
          <a:xfrm>
            <a:off x="8301031" y="5517232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업무분장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9" name="Shape 266"/>
          <p:cNvCxnSpPr>
            <a:cxnSpLocks noChangeShapeType="1"/>
            <a:stCxn id="82" idx="3"/>
            <a:endCxn id="56" idx="3"/>
          </p:cNvCxnSpPr>
          <p:nvPr/>
        </p:nvCxnSpPr>
        <p:spPr bwMode="auto">
          <a:xfrm flipV="1">
            <a:off x="8049344" y="5722385"/>
            <a:ext cx="251687" cy="44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2437933" y="382169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직무기술서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7" name="Shape 266"/>
          <p:cNvCxnSpPr>
            <a:cxnSpLocks noChangeShapeType="1"/>
            <a:stCxn id="46" idx="2"/>
            <a:endCxn id="43" idx="0"/>
          </p:cNvCxnSpPr>
          <p:nvPr/>
        </p:nvCxnSpPr>
        <p:spPr bwMode="auto">
          <a:xfrm flipH="1">
            <a:off x="2866561" y="3638412"/>
            <a:ext cx="1627" cy="1832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직사각형 80"/>
          <p:cNvSpPr/>
          <p:nvPr/>
        </p:nvSpPr>
        <p:spPr bwMode="auto">
          <a:xfrm>
            <a:off x="4088904" y="33176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조직별 직무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9" name="Shape 266"/>
          <p:cNvCxnSpPr>
            <a:cxnSpLocks noChangeShapeType="1"/>
            <a:stCxn id="43" idx="3"/>
            <a:endCxn id="81" idx="1"/>
          </p:cNvCxnSpPr>
          <p:nvPr/>
        </p:nvCxnSpPr>
        <p:spPr bwMode="auto">
          <a:xfrm flipV="1">
            <a:off x="3295189" y="3478027"/>
            <a:ext cx="793715" cy="50405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직사각형 67"/>
          <p:cNvSpPr/>
          <p:nvPr/>
        </p:nvSpPr>
        <p:spPr bwMode="auto">
          <a:xfrm>
            <a:off x="5241032" y="39003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조직별 직무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9" name="Shape 266"/>
          <p:cNvCxnSpPr>
            <a:cxnSpLocks noChangeShapeType="1"/>
            <a:stCxn id="81" idx="2"/>
            <a:endCxn id="78" idx="0"/>
          </p:cNvCxnSpPr>
          <p:nvPr/>
        </p:nvCxnSpPr>
        <p:spPr bwMode="auto">
          <a:xfrm>
            <a:off x="4517532" y="3638412"/>
            <a:ext cx="0" cy="26190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5241032" y="47702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개인별 직무 부여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68" idx="2"/>
            <a:endCxn id="72" idx="0"/>
          </p:cNvCxnSpPr>
          <p:nvPr/>
        </p:nvCxnSpPr>
        <p:spPr bwMode="auto">
          <a:xfrm>
            <a:off x="5669660" y="4221088"/>
            <a:ext cx="0" cy="54920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6" name="직사각형 75"/>
          <p:cNvSpPr/>
          <p:nvPr/>
        </p:nvSpPr>
        <p:spPr bwMode="auto">
          <a:xfrm>
            <a:off x="5241032" y="251634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조직별 직무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4088904" y="39003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조직별 직무 승인 요청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8" name="Shape 266"/>
          <p:cNvCxnSpPr>
            <a:cxnSpLocks noChangeShapeType="1"/>
            <a:stCxn id="78" idx="3"/>
            <a:endCxn id="76" idx="1"/>
          </p:cNvCxnSpPr>
          <p:nvPr/>
        </p:nvCxnSpPr>
        <p:spPr bwMode="auto">
          <a:xfrm flipV="1">
            <a:off x="4946160" y="2676734"/>
            <a:ext cx="294872" cy="138396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76" idx="2"/>
            <a:endCxn id="68" idx="0"/>
          </p:cNvCxnSpPr>
          <p:nvPr/>
        </p:nvCxnSpPr>
        <p:spPr bwMode="auto">
          <a:xfrm>
            <a:off x="5669660" y="2837119"/>
            <a:ext cx="0" cy="10631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6472008" y="477232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개인별 대표직무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3" name="Shape 266"/>
          <p:cNvCxnSpPr>
            <a:cxnSpLocks noChangeShapeType="1"/>
            <a:stCxn id="72" idx="3"/>
            <a:endCxn id="91" idx="1"/>
          </p:cNvCxnSpPr>
          <p:nvPr/>
        </p:nvCxnSpPr>
        <p:spPr bwMode="auto">
          <a:xfrm>
            <a:off x="6098288" y="4930678"/>
            <a:ext cx="373720" cy="203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91" idx="3"/>
            <a:endCxn id="82" idx="0"/>
          </p:cNvCxnSpPr>
          <p:nvPr/>
        </p:nvCxnSpPr>
        <p:spPr bwMode="auto">
          <a:xfrm>
            <a:off x="7329264" y="4932709"/>
            <a:ext cx="291452" cy="6337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5" name="원통 68"/>
          <p:cNvSpPr>
            <a:spLocks noChangeAspect="1" noChangeArrowheads="1"/>
          </p:cNvSpPr>
          <p:nvPr/>
        </p:nvSpPr>
        <p:spPr bwMode="auto">
          <a:xfrm>
            <a:off x="6393160" y="3284984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조직별 직무</a:t>
            </a:r>
          </a:p>
        </p:txBody>
      </p:sp>
      <p:sp>
        <p:nvSpPr>
          <p:cNvPr id="96" name="원통 68"/>
          <p:cNvSpPr>
            <a:spLocks noChangeAspect="1" noChangeArrowheads="1"/>
          </p:cNvSpPr>
          <p:nvPr/>
        </p:nvSpPr>
        <p:spPr bwMode="auto">
          <a:xfrm>
            <a:off x="7617296" y="3851433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개인별 과업</a:t>
            </a:r>
          </a:p>
        </p:txBody>
      </p:sp>
      <p:cxnSp>
        <p:nvCxnSpPr>
          <p:cNvPr id="97" name="Shape 266"/>
          <p:cNvCxnSpPr>
            <a:cxnSpLocks noChangeShapeType="1"/>
            <a:stCxn id="68" idx="3"/>
            <a:endCxn id="95" idx="3"/>
          </p:cNvCxnSpPr>
          <p:nvPr/>
        </p:nvCxnSpPr>
        <p:spPr bwMode="auto">
          <a:xfrm flipV="1">
            <a:off x="6098288" y="3710798"/>
            <a:ext cx="675813" cy="3499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" name="Shape 266"/>
          <p:cNvCxnSpPr>
            <a:cxnSpLocks noChangeShapeType="1"/>
            <a:stCxn id="91" idx="0"/>
            <a:endCxn id="96" idx="2"/>
          </p:cNvCxnSpPr>
          <p:nvPr/>
        </p:nvCxnSpPr>
        <p:spPr bwMode="auto">
          <a:xfrm rot="5400000" flipH="1" flipV="1">
            <a:off x="6904975" y="4060002"/>
            <a:ext cx="707983" cy="71666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3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6431548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3.2 CDP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직무관리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5557708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직무구분 및 직무기술서를 등록하고 조직별 직무에 대한 승인을 시스템에서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3.3.2.9 </a:t>
            </a:r>
            <a:r>
              <a:rPr lang="ko-KR" altLang="en-US" dirty="0"/>
              <a:t>직무관리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713141"/>
              </p:ext>
            </p:extLst>
          </p:nvPr>
        </p:nvGraphicFramePr>
        <p:xfrm>
          <a:off x="344488" y="1604186"/>
          <a:ext cx="9180513" cy="399288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레벨별 직무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직무담당자가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직무 등 레벨별 직무정보를 등록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레벨별 직무정보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직무기술서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직무담당자가 각 직무별로 직무정의 및 직무기술서 내용을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직무기술서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조직별 직무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직무담당자가 조직별로 필요로 하는 직무를 확인하여 직무를 연계하여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조직별 직무연계정보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조직별 직무 승인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직무담당자가 조직별로 필요한 직무내역의 연계 내역에 대해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조직별 직무연계정보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조직별 직무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직무담당자가 요청한 조직별 직무내역을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조직별 직무연계정보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조직별 직무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조직별 직무내역의 승인을 완료 시 직무담당자가 승인된 조직별 직무내역을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조직별 직무연계정보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직무 부여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부서의 인원 및 업무의 내용에 따라 부서원의 직무를 부여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복수 부여 가능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직무이력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대표직무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부서원에게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 또는 복수로 부여된 직무 중 대표직무를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직무이력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직무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부서장이 자신에게 부여한 직무를 조회하고 교육신청 시 참조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개인별 직무이력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역량사전 및 역량모델목록을 등록하고 그에 따른 직원의 역량 모델을 등록하는 현행 프로세스와 동일하게 구성함</a:t>
            </a:r>
          </a:p>
        </p:txBody>
      </p:sp>
      <p:sp>
        <p:nvSpPr>
          <p:cNvPr id="3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3.3.2.10 </a:t>
            </a:r>
            <a:r>
              <a:rPr lang="ko-KR" altLang="en-US" dirty="0"/>
              <a:t>역량관리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3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7018159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922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6526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역량목록관리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3.2.2.2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역량모델관리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951858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역량관리담당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599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" name="그룹 140"/>
          <p:cNvGrpSpPr/>
          <p:nvPr/>
        </p:nvGrpSpPr>
        <p:grpSpPr>
          <a:xfrm>
            <a:off x="1424608" y="3276843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역량모델 변경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46" name="직사각형 45"/>
          <p:cNvSpPr/>
          <p:nvPr/>
        </p:nvSpPr>
        <p:spPr bwMode="auto">
          <a:xfrm>
            <a:off x="2439560" y="33176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KSA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8" name="Shape 266"/>
          <p:cNvCxnSpPr>
            <a:cxnSpLocks noChangeShapeType="1"/>
            <a:stCxn id="142" idx="0"/>
            <a:endCxn id="46" idx="1"/>
          </p:cNvCxnSpPr>
          <p:nvPr/>
        </p:nvCxnSpPr>
        <p:spPr bwMode="auto">
          <a:xfrm flipV="1">
            <a:off x="2181033" y="3478027"/>
            <a:ext cx="258527" cy="39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54"/>
          <p:cNvGrpSpPr/>
          <p:nvPr/>
        </p:nvGrpSpPr>
        <p:grpSpPr>
          <a:xfrm>
            <a:off x="8301031" y="5568034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역량모델 변경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9" name="Shape 266"/>
          <p:cNvCxnSpPr>
            <a:cxnSpLocks noChangeShapeType="1"/>
            <a:stCxn id="91" idx="3"/>
            <a:endCxn id="56" idx="3"/>
          </p:cNvCxnSpPr>
          <p:nvPr/>
        </p:nvCxnSpPr>
        <p:spPr bwMode="auto">
          <a:xfrm flipV="1">
            <a:off x="4946160" y="5773187"/>
            <a:ext cx="3354871" cy="14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2437933" y="382169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역량사전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7" name="Shape 266"/>
          <p:cNvCxnSpPr>
            <a:cxnSpLocks noChangeShapeType="1"/>
            <a:stCxn id="46" idx="2"/>
            <a:endCxn id="43" idx="0"/>
          </p:cNvCxnSpPr>
          <p:nvPr/>
        </p:nvCxnSpPr>
        <p:spPr bwMode="auto">
          <a:xfrm flipH="1">
            <a:off x="2866561" y="3638412"/>
            <a:ext cx="1627" cy="1832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직사각형 80"/>
          <p:cNvSpPr/>
          <p:nvPr/>
        </p:nvSpPr>
        <p:spPr bwMode="auto">
          <a:xfrm>
            <a:off x="4088904" y="33176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역량모델목록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9" name="Shape 266"/>
          <p:cNvCxnSpPr>
            <a:cxnSpLocks noChangeShapeType="1"/>
            <a:stCxn id="43" idx="3"/>
            <a:endCxn id="81" idx="1"/>
          </p:cNvCxnSpPr>
          <p:nvPr/>
        </p:nvCxnSpPr>
        <p:spPr bwMode="auto">
          <a:xfrm flipV="1">
            <a:off x="3295189" y="3478027"/>
            <a:ext cx="793715" cy="50405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81" idx="2"/>
            <a:endCxn id="78" idx="0"/>
          </p:cNvCxnSpPr>
          <p:nvPr/>
        </p:nvCxnSpPr>
        <p:spPr bwMode="auto">
          <a:xfrm>
            <a:off x="4517532" y="3638412"/>
            <a:ext cx="0" cy="26190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" name="직사각형 77"/>
          <p:cNvSpPr/>
          <p:nvPr/>
        </p:nvSpPr>
        <p:spPr bwMode="auto">
          <a:xfrm>
            <a:off x="4088904" y="39003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공통 및 리더십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역량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1" name="직사각형 90"/>
          <p:cNvSpPr/>
          <p:nvPr/>
        </p:nvSpPr>
        <p:spPr bwMode="auto">
          <a:xfrm>
            <a:off x="4088904" y="56142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역량모델 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원통 68"/>
          <p:cNvSpPr>
            <a:spLocks noChangeAspect="1" noChangeArrowheads="1"/>
          </p:cNvSpPr>
          <p:nvPr/>
        </p:nvSpPr>
        <p:spPr bwMode="auto">
          <a:xfrm>
            <a:off x="6393160" y="3284984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역량모델관리</a:t>
            </a:r>
          </a:p>
        </p:txBody>
      </p:sp>
      <p:cxnSp>
        <p:nvCxnSpPr>
          <p:cNvPr id="97" name="Shape 266"/>
          <p:cNvCxnSpPr>
            <a:cxnSpLocks noChangeShapeType="1"/>
            <a:stCxn id="63" idx="3"/>
            <a:endCxn id="95" idx="3"/>
          </p:cNvCxnSpPr>
          <p:nvPr/>
        </p:nvCxnSpPr>
        <p:spPr bwMode="auto">
          <a:xfrm flipV="1">
            <a:off x="4946160" y="3710798"/>
            <a:ext cx="1827941" cy="100566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3" name="직사각형 62"/>
          <p:cNvSpPr/>
          <p:nvPr/>
        </p:nvSpPr>
        <p:spPr bwMode="auto">
          <a:xfrm>
            <a:off x="4088904" y="455607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직무역량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모델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4" name="Shape 266"/>
          <p:cNvCxnSpPr>
            <a:cxnSpLocks noChangeShapeType="1"/>
            <a:stCxn id="78" idx="2"/>
            <a:endCxn id="63" idx="0"/>
          </p:cNvCxnSpPr>
          <p:nvPr/>
        </p:nvCxnSpPr>
        <p:spPr bwMode="auto">
          <a:xfrm>
            <a:off x="4517532" y="4221088"/>
            <a:ext cx="0" cy="3349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78" idx="3"/>
            <a:endCxn id="95" idx="3"/>
          </p:cNvCxnSpPr>
          <p:nvPr/>
        </p:nvCxnSpPr>
        <p:spPr bwMode="auto">
          <a:xfrm flipV="1">
            <a:off x="4946160" y="3710798"/>
            <a:ext cx="1827941" cy="3499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/>
          <p:cNvCxnSpPr>
            <a:cxnSpLocks noChangeShapeType="1"/>
            <a:stCxn id="63" idx="2"/>
            <a:endCxn id="91" idx="0"/>
          </p:cNvCxnSpPr>
          <p:nvPr/>
        </p:nvCxnSpPr>
        <p:spPr bwMode="auto">
          <a:xfrm>
            <a:off x="4517532" y="4876848"/>
            <a:ext cx="0" cy="7373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3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820215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3.2 CDP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3.2.2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214371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역량사전 및 역량모델목록을 등록하고 그에 따른 직원의 역량 모델을 등록하는 현행 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3.3.2.10 </a:t>
            </a:r>
            <a:r>
              <a:rPr lang="ko-KR" altLang="en-US" dirty="0"/>
              <a:t>역량관리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4247996"/>
              </p:ext>
            </p:extLst>
          </p:nvPr>
        </p:nvGraphicFramePr>
        <p:xfrm>
          <a:off x="344488" y="1604186"/>
          <a:ext cx="9180513" cy="28041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KSA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역량관리담당자가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KSA(</a:t>
                      </a:r>
                      <a:r>
                        <a:rPr lang="en-US" altLang="ko-KR" sz="1000" b="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Knowledge, Skill, Attitude)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지표를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KSA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역량사전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역량관리담당자가 역량의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정의를 위해 역량사전을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역량사전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역량모델목록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역량관리담당자가 직원의 위치에 따라 필요한 역량모델목록을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역량모델목록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공통 및 리더십 역량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역량관리담당자가 직원의 공통적인 필요역량과  각 부서의 조직장이 필요로 하는 리더십 역량을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공통 및 리더십 역량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직무역량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모델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역량관리담당자가 직무에 따른 필요역량의 정의를 위해 직무역량모델을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직무역량모델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역량모델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역량관리담당자가 등록한 역량모델 정보를 조회하고 본인의 역량에 참조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직무역량모델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326633"/>
              </p:ext>
            </p:extLst>
          </p:nvPr>
        </p:nvGraphicFramePr>
        <p:xfrm>
          <a:off x="344488" y="1916832"/>
          <a:ext cx="9181022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30425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52028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2038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3.2.3.1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환경설정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3.2.3.2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자기수준진단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3.2.3.3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경력개발관리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631058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경력관리담당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686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승인자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5121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경력개발 대상자를 선정하여 대상자별 경력단계를 관리하고 자기진단에 따른 경력개발계획서를 작성하여 승인 후 경력개발카드를 관리하는 현행프로세스와 동일하게 구성함</a:t>
            </a:r>
          </a:p>
        </p:txBody>
      </p:sp>
      <p:sp>
        <p:nvSpPr>
          <p:cNvPr id="6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3.3.2.11 </a:t>
            </a:r>
            <a:r>
              <a:rPr lang="ko-KR" altLang="en-US" dirty="0"/>
              <a:t>경력관리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6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pSp>
        <p:nvGrpSpPr>
          <p:cNvPr id="3" name="그룹 140"/>
          <p:cNvGrpSpPr/>
          <p:nvPr/>
        </p:nvGrpSpPr>
        <p:grpSpPr>
          <a:xfrm>
            <a:off x="1424608" y="2420888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경력관리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46" name="직사각형 45"/>
          <p:cNvSpPr/>
          <p:nvPr/>
        </p:nvSpPr>
        <p:spPr bwMode="auto">
          <a:xfrm>
            <a:off x="2576736" y="246168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경력개발대상자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8" name="Shape 266"/>
          <p:cNvCxnSpPr>
            <a:cxnSpLocks noChangeShapeType="1"/>
            <a:stCxn id="142" idx="0"/>
            <a:endCxn id="46" idx="1"/>
          </p:cNvCxnSpPr>
          <p:nvPr/>
        </p:nvCxnSpPr>
        <p:spPr bwMode="auto">
          <a:xfrm flipV="1">
            <a:off x="2181033" y="2622072"/>
            <a:ext cx="395703" cy="39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54"/>
          <p:cNvGrpSpPr/>
          <p:nvPr/>
        </p:nvGrpSpPr>
        <p:grpSpPr>
          <a:xfrm>
            <a:off x="8574651" y="4115676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경력관리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9" name="Shape 266"/>
          <p:cNvCxnSpPr>
            <a:cxnSpLocks noChangeShapeType="1"/>
            <a:stCxn id="110" idx="2"/>
            <a:endCxn id="135" idx="0"/>
          </p:cNvCxnSpPr>
          <p:nvPr/>
        </p:nvCxnSpPr>
        <p:spPr bwMode="auto">
          <a:xfrm>
            <a:off x="8952864" y="3101733"/>
            <a:ext cx="0" cy="2277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2576736" y="296574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Career Field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7" name="Shape 266"/>
          <p:cNvCxnSpPr>
            <a:cxnSpLocks noChangeShapeType="1"/>
            <a:stCxn id="46" idx="2"/>
            <a:endCxn id="43" idx="0"/>
          </p:cNvCxnSpPr>
          <p:nvPr/>
        </p:nvCxnSpPr>
        <p:spPr bwMode="auto">
          <a:xfrm>
            <a:off x="3005364" y="2782457"/>
            <a:ext cx="0" cy="1832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" name="직사각형 51"/>
          <p:cNvSpPr/>
          <p:nvPr/>
        </p:nvSpPr>
        <p:spPr bwMode="auto">
          <a:xfrm>
            <a:off x="2576736" y="350914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경력단계설정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3" name="Shape 266"/>
          <p:cNvCxnSpPr>
            <a:cxnSpLocks noChangeShapeType="1"/>
            <a:stCxn id="43" idx="2"/>
            <a:endCxn id="52" idx="0"/>
          </p:cNvCxnSpPr>
          <p:nvPr/>
        </p:nvCxnSpPr>
        <p:spPr bwMode="auto">
          <a:xfrm>
            <a:off x="3005364" y="3286513"/>
            <a:ext cx="0" cy="2226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직사각형 59"/>
          <p:cNvSpPr/>
          <p:nvPr/>
        </p:nvSpPr>
        <p:spPr bwMode="auto">
          <a:xfrm>
            <a:off x="2576736" y="491689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표준경력 경로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52" idx="2"/>
            <a:endCxn id="60" idx="0"/>
          </p:cNvCxnSpPr>
          <p:nvPr/>
        </p:nvCxnSpPr>
        <p:spPr bwMode="auto">
          <a:xfrm>
            <a:off x="3005364" y="3829920"/>
            <a:ext cx="0" cy="108697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3" name="직사각형 92"/>
          <p:cNvSpPr/>
          <p:nvPr/>
        </p:nvSpPr>
        <p:spPr bwMode="auto">
          <a:xfrm>
            <a:off x="6321152" y="491689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경력개발계획서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6321152" y="544848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</a:t>
            </a:r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경력개발계획서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전송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9" name="Shape 266"/>
          <p:cNvCxnSpPr>
            <a:cxnSpLocks noChangeShapeType="1"/>
            <a:stCxn id="93" idx="2"/>
            <a:endCxn id="98" idx="0"/>
          </p:cNvCxnSpPr>
          <p:nvPr/>
        </p:nvCxnSpPr>
        <p:spPr bwMode="auto">
          <a:xfrm>
            <a:off x="6749780" y="5237667"/>
            <a:ext cx="0" cy="2108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1" name="직사각형 100"/>
          <p:cNvSpPr/>
          <p:nvPr/>
        </p:nvSpPr>
        <p:spPr bwMode="auto">
          <a:xfrm>
            <a:off x="7480120" y="426035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경력개발계획서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2" name="Shape 266"/>
          <p:cNvCxnSpPr>
            <a:cxnSpLocks noChangeShapeType="1"/>
            <a:stCxn id="98" idx="3"/>
            <a:endCxn id="101" idx="1"/>
          </p:cNvCxnSpPr>
          <p:nvPr/>
        </p:nvCxnSpPr>
        <p:spPr bwMode="auto">
          <a:xfrm flipV="1">
            <a:off x="7178408" y="4420743"/>
            <a:ext cx="301712" cy="118813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5" name="직사각형 104"/>
          <p:cNvSpPr/>
          <p:nvPr/>
        </p:nvSpPr>
        <p:spPr bwMode="auto">
          <a:xfrm>
            <a:off x="7480120" y="278092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경력개발계획서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0" name="직사각형 109"/>
          <p:cNvSpPr/>
          <p:nvPr/>
        </p:nvSpPr>
        <p:spPr bwMode="auto">
          <a:xfrm>
            <a:off x="8524236" y="278096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경력개발 관리카드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1" name="Shape 266"/>
          <p:cNvCxnSpPr>
            <a:cxnSpLocks noChangeShapeType="1"/>
            <a:stCxn id="101" idx="0"/>
            <a:endCxn id="105" idx="2"/>
          </p:cNvCxnSpPr>
          <p:nvPr/>
        </p:nvCxnSpPr>
        <p:spPr bwMode="auto">
          <a:xfrm flipV="1">
            <a:off x="7908748" y="3101699"/>
            <a:ext cx="0" cy="11586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7" name="Shape 266"/>
          <p:cNvCxnSpPr>
            <a:cxnSpLocks noChangeShapeType="1"/>
            <a:stCxn id="105" idx="3"/>
            <a:endCxn id="110" idx="1"/>
          </p:cNvCxnSpPr>
          <p:nvPr/>
        </p:nvCxnSpPr>
        <p:spPr bwMode="auto">
          <a:xfrm>
            <a:off x="8337376" y="2941314"/>
            <a:ext cx="186860" cy="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5" name="직사각형 134"/>
          <p:cNvSpPr/>
          <p:nvPr/>
        </p:nvSpPr>
        <p:spPr bwMode="auto">
          <a:xfrm>
            <a:off x="8524236" y="332952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직무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역량별 인재검색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0" name="Shape 266"/>
          <p:cNvCxnSpPr>
            <a:cxnSpLocks noChangeShapeType="1"/>
            <a:stCxn id="135" idx="2"/>
            <a:endCxn id="58" idx="0"/>
          </p:cNvCxnSpPr>
          <p:nvPr/>
        </p:nvCxnSpPr>
        <p:spPr bwMode="auto">
          <a:xfrm>
            <a:off x="8952864" y="3650292"/>
            <a:ext cx="140" cy="4788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3" name="원통 68"/>
          <p:cNvSpPr>
            <a:spLocks noChangeAspect="1" noChangeArrowheads="1"/>
          </p:cNvSpPr>
          <p:nvPr/>
        </p:nvSpPr>
        <p:spPr bwMode="auto">
          <a:xfrm>
            <a:off x="6567382" y="3329521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경력관리</a:t>
            </a:r>
          </a:p>
        </p:txBody>
      </p:sp>
      <p:cxnSp>
        <p:nvCxnSpPr>
          <p:cNvPr id="146" name="Shape 266"/>
          <p:cNvCxnSpPr>
            <a:cxnSpLocks noChangeShapeType="1"/>
            <a:endCxn id="143" idx="3"/>
          </p:cNvCxnSpPr>
          <p:nvPr/>
        </p:nvCxnSpPr>
        <p:spPr bwMode="auto">
          <a:xfrm rot="10800000">
            <a:off x="6948324" y="3755335"/>
            <a:ext cx="848153" cy="50502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4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427636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3.2 CDP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3.2.3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65" name="Shape 266"/>
          <p:cNvCxnSpPr>
            <a:cxnSpLocks noChangeShapeType="1"/>
            <a:stCxn id="60" idx="3"/>
            <a:endCxn id="39" idx="1"/>
          </p:cNvCxnSpPr>
          <p:nvPr/>
        </p:nvCxnSpPr>
        <p:spPr bwMode="auto">
          <a:xfrm>
            <a:off x="3433992" y="5077282"/>
            <a:ext cx="36688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3800872" y="491689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자기수준 가상 진단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직사각형 39"/>
          <p:cNvSpPr/>
          <p:nvPr/>
        </p:nvSpPr>
        <p:spPr bwMode="auto">
          <a:xfrm>
            <a:off x="3800872" y="536474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자기수준 진단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2" name="Shape 266"/>
          <p:cNvCxnSpPr>
            <a:cxnSpLocks noChangeShapeType="1"/>
            <a:stCxn id="39" idx="2"/>
            <a:endCxn id="40" idx="0"/>
          </p:cNvCxnSpPr>
          <p:nvPr/>
        </p:nvCxnSpPr>
        <p:spPr bwMode="auto">
          <a:xfrm>
            <a:off x="4229500" y="5237667"/>
            <a:ext cx="0" cy="1270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4" name="직사각형 43"/>
          <p:cNvSpPr/>
          <p:nvPr/>
        </p:nvSpPr>
        <p:spPr bwMode="auto">
          <a:xfrm>
            <a:off x="3800872" y="582759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자기수준 진단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5" name="Shape 266"/>
          <p:cNvCxnSpPr>
            <a:cxnSpLocks noChangeShapeType="1"/>
            <a:stCxn id="40" idx="2"/>
            <a:endCxn id="44" idx="0"/>
          </p:cNvCxnSpPr>
          <p:nvPr/>
        </p:nvCxnSpPr>
        <p:spPr bwMode="auto">
          <a:xfrm>
            <a:off x="4229500" y="5685520"/>
            <a:ext cx="0" cy="1420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9" name="직사각형 48"/>
          <p:cNvSpPr/>
          <p:nvPr/>
        </p:nvSpPr>
        <p:spPr bwMode="auto">
          <a:xfrm>
            <a:off x="5025008" y="423815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자기수준 진단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0" name="Shape 266"/>
          <p:cNvCxnSpPr>
            <a:cxnSpLocks noChangeShapeType="1"/>
            <a:stCxn id="44" idx="3"/>
            <a:endCxn id="49" idx="2"/>
          </p:cNvCxnSpPr>
          <p:nvPr/>
        </p:nvCxnSpPr>
        <p:spPr bwMode="auto">
          <a:xfrm flipV="1">
            <a:off x="4658128" y="4558927"/>
            <a:ext cx="795508" cy="142905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직사각형 50"/>
          <p:cNvSpPr/>
          <p:nvPr/>
        </p:nvSpPr>
        <p:spPr bwMode="auto">
          <a:xfrm>
            <a:off x="3800872" y="423815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자기진단 위임자 설정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2" name="Shape 266"/>
          <p:cNvCxnSpPr>
            <a:cxnSpLocks noChangeShapeType="1"/>
            <a:stCxn id="51" idx="3"/>
            <a:endCxn id="49" idx="1"/>
          </p:cNvCxnSpPr>
          <p:nvPr/>
        </p:nvCxnSpPr>
        <p:spPr bwMode="auto">
          <a:xfrm>
            <a:off x="4658128" y="4398542"/>
            <a:ext cx="36688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6" name="직사각형 65"/>
          <p:cNvSpPr/>
          <p:nvPr/>
        </p:nvSpPr>
        <p:spPr bwMode="auto">
          <a:xfrm>
            <a:off x="5025008" y="242088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자기수준 진단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7" name="Shape 266"/>
          <p:cNvCxnSpPr>
            <a:cxnSpLocks noChangeShapeType="1"/>
            <a:stCxn id="49" idx="0"/>
            <a:endCxn id="66" idx="2"/>
          </p:cNvCxnSpPr>
          <p:nvPr/>
        </p:nvCxnSpPr>
        <p:spPr bwMode="auto">
          <a:xfrm flipV="1">
            <a:off x="5453636" y="2741659"/>
            <a:ext cx="0" cy="14964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8" name="Shape 266"/>
          <p:cNvCxnSpPr>
            <a:cxnSpLocks noChangeShapeType="1"/>
            <a:stCxn id="49" idx="3"/>
            <a:endCxn id="93" idx="0"/>
          </p:cNvCxnSpPr>
          <p:nvPr/>
        </p:nvCxnSpPr>
        <p:spPr bwMode="auto">
          <a:xfrm>
            <a:off x="5882264" y="4398542"/>
            <a:ext cx="867516" cy="51835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52" idx="2"/>
            <a:endCxn id="51" idx="1"/>
          </p:cNvCxnSpPr>
          <p:nvPr/>
        </p:nvCxnSpPr>
        <p:spPr bwMode="auto">
          <a:xfrm rot="16200000" flipH="1">
            <a:off x="3118807" y="3716477"/>
            <a:ext cx="568622" cy="79550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66" idx="3"/>
            <a:endCxn id="110" idx="0"/>
          </p:cNvCxnSpPr>
          <p:nvPr/>
        </p:nvCxnSpPr>
        <p:spPr bwMode="auto">
          <a:xfrm>
            <a:off x="5882264" y="2581274"/>
            <a:ext cx="3070600" cy="1996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39731482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경력개발 대상자를 선정하여 대상자별 경력단계를 관리하고 자기진단에 따른 경력개발계획서를 작성하여 승인 후 경력개발카드를 관리하는 현행프로세스와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3.3.2.11 </a:t>
            </a:r>
            <a:r>
              <a:rPr lang="ko-KR" altLang="en-US" dirty="0"/>
              <a:t>경력관리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0693781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경력개발대상자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경력관리담당자가 경력관리 개발이 필요한 대상자를 등록하고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경력개발 대상자명부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Career Field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경력관리담당자가 경력관리 대상자의 직무 및 경력에 따른 경력경로를 등록하고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경력경로정보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경력단계설정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경력관리담당자가 경력경로별 경력단계를 설정하여 경력관리 대상자가 참조할 수 있도록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경력경로정보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표준경력 경로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자신의 경력경로를 결정하기 위해 등록된 표준경력경로를 조회하여 참조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경력경로정보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자기진단 위임자 설정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승인자가 자기진단 승인이 어려울 경우 자기진단 승인 위임자를 지정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자기진단 위임자정보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자기수준 가상진단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자기의 경력 및 직무 수준을 가상으로 등록하여 개발경로를 시뮬레이션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자기수준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진단내역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7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자기수준 진단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자기수준 가상진단 결과에 따라 자신의 경력 및 직무 수준을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자기수준 진단내역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8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자기수준 진단 승인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승인자에게 등록된 자신의 경력 및 직무 수준의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자기수준 진단내역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자기수준 진단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승인자가 직원이 신청한 자기수준 진단내용을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자기수준 진단내역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자기수준 진단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경력관리담당자가 승인된 직원의 자기수준 진단내용을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자기수준 진단내역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경력개발 대상자를 선정하여 대상자별 경력단계를 관리하고 자기진단에 따른 경력개발계획서를 작성하여 승인 후 경력개발카드를 관리하는 현행프로세스와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3.3.2.11 </a:t>
            </a:r>
            <a:r>
              <a:rPr lang="ko-KR" altLang="en-US" dirty="0"/>
              <a:t>경력관리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4829440"/>
              </p:ext>
            </p:extLst>
          </p:nvPr>
        </p:nvGraphicFramePr>
        <p:xfrm>
          <a:off x="344488" y="1604186"/>
          <a:ext cx="9180513" cy="28041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경력개발계획서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승인된 자기수준 진단내용을 기반으로 자신의 경력개발 계획서를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경력개발계획서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12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경력개발계획서 전송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승인자에게 자신의 경력개발 계획서의 승인을 받기 위해 경력개발 계획서를 전송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경력개발계획서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13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경력개발계획서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승인자가 직원이 요청한 경력개발 계획서의 내용을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경력개발계획서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경력개발계획서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경력관리담당자가 직원의 승인된 경력개발 계획서를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경력개발계획서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경력개발 관리카드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경력관리담당자가 직원의 경력개발 계획서에 따른 경력개발 관리카드를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경력개발 관리카드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직무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역량별 인재검색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경력관리담당자가 직원의 경력개발 및 직무이력을 기반으로 필요한 인재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POOL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을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필요인재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POOL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5966956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4563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78853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3.3.1.1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평가기준관리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3.3.1.2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평가사전준비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8991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06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역량평가담당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361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7" name="직사각형 36"/>
          <p:cNvSpPr/>
          <p:nvPr/>
        </p:nvSpPr>
        <p:spPr>
          <a:xfrm>
            <a:off x="2475564" y="2852936"/>
            <a:ext cx="1865368" cy="1908212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36000" rIns="0" bIns="0" rtlCol="0" anchor="t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평가기준정보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endParaRPr lang="ko-KR" altLang="en-US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평가제외자 등록과 확인 및 평가결과의 조정 및 확정을 시스템을 통해서 수행할 수 있도록 업무프로세스를 변경함 </a:t>
            </a:r>
          </a:p>
        </p:txBody>
      </p:sp>
      <p:sp>
        <p:nvSpPr>
          <p:cNvPr id="60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3.3.2.12 </a:t>
            </a:r>
            <a:r>
              <a:rPr lang="ko-KR" altLang="en-US" dirty="0"/>
              <a:t>역량평가관리 </a:t>
            </a:r>
            <a:r>
              <a:rPr lang="en-US" altLang="ko-KR" dirty="0"/>
              <a:t>(1/5)</a:t>
            </a:r>
            <a:endParaRPr lang="ko-KR" altLang="en-US" dirty="0"/>
          </a:p>
        </p:txBody>
      </p:sp>
      <p:sp>
        <p:nvSpPr>
          <p:cNvPr id="61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pSp>
        <p:nvGrpSpPr>
          <p:cNvPr id="3" name="그룹 140"/>
          <p:cNvGrpSpPr/>
          <p:nvPr/>
        </p:nvGrpSpPr>
        <p:grpSpPr>
          <a:xfrm>
            <a:off x="1370356" y="2802700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역량평가 실시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46" name="직사각형 45"/>
          <p:cNvSpPr/>
          <p:nvPr/>
        </p:nvSpPr>
        <p:spPr bwMode="auto">
          <a:xfrm>
            <a:off x="1323777" y="364390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평가일정관리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8" name="Shape 266"/>
          <p:cNvCxnSpPr>
            <a:cxnSpLocks noChangeShapeType="1"/>
            <a:stCxn id="144" idx="2"/>
            <a:endCxn id="46" idx="0"/>
          </p:cNvCxnSpPr>
          <p:nvPr/>
        </p:nvCxnSpPr>
        <p:spPr bwMode="auto">
          <a:xfrm>
            <a:off x="1748709" y="3220472"/>
            <a:ext cx="3696" cy="42342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2547572" y="30945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평가그룹관리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7" name="Shape 266"/>
          <p:cNvCxnSpPr>
            <a:cxnSpLocks noChangeShapeType="1"/>
            <a:stCxn id="46" idx="3"/>
            <a:endCxn id="37" idx="1"/>
          </p:cNvCxnSpPr>
          <p:nvPr/>
        </p:nvCxnSpPr>
        <p:spPr bwMode="auto">
          <a:xfrm>
            <a:off x="2181033" y="3804287"/>
            <a:ext cx="294531" cy="27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" name="직사각형 51"/>
          <p:cNvSpPr/>
          <p:nvPr/>
        </p:nvSpPr>
        <p:spPr bwMode="auto">
          <a:xfrm>
            <a:off x="2547572" y="3419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평가직군관리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2547572" y="373952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평가직군매핑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직사각형 74"/>
          <p:cNvSpPr/>
          <p:nvPr/>
        </p:nvSpPr>
        <p:spPr bwMode="auto">
          <a:xfrm>
            <a:off x="2547572" y="40602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평가척도관리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2547572" y="437912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평가지표관리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3404828" y="30945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직급별기대수준관리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3404828" y="3419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평가구조관리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3404828" y="373952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지표별가중치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3404828" y="40602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평가결과 등급관리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3404828" y="437912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종합평가 차수관리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7" name="직사각형 106"/>
          <p:cNvSpPr/>
          <p:nvPr/>
        </p:nvSpPr>
        <p:spPr bwMode="auto">
          <a:xfrm>
            <a:off x="7293260" y="285293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평가대상자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8" name="직사각형 107"/>
          <p:cNvSpPr/>
          <p:nvPr/>
        </p:nvSpPr>
        <p:spPr bwMode="auto">
          <a:xfrm>
            <a:off x="7293260" y="337225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평가대상자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9" name="직사각형 108"/>
          <p:cNvSpPr/>
          <p:nvPr/>
        </p:nvSpPr>
        <p:spPr bwMode="auto">
          <a:xfrm>
            <a:off x="7293260" y="388831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평가자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" name="직사각형 111"/>
          <p:cNvSpPr/>
          <p:nvPr/>
        </p:nvSpPr>
        <p:spPr bwMode="auto">
          <a:xfrm>
            <a:off x="8445388" y="339299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평가그룹 조정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5" name="Shape 266"/>
          <p:cNvCxnSpPr>
            <a:cxnSpLocks noChangeShapeType="1"/>
            <a:stCxn id="107" idx="2"/>
            <a:endCxn id="108" idx="0"/>
          </p:cNvCxnSpPr>
          <p:nvPr/>
        </p:nvCxnSpPr>
        <p:spPr bwMode="auto">
          <a:xfrm>
            <a:off x="7721888" y="3173707"/>
            <a:ext cx="0" cy="1985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" name="Shape 266"/>
          <p:cNvCxnSpPr>
            <a:cxnSpLocks noChangeShapeType="1"/>
            <a:stCxn id="108" idx="2"/>
            <a:endCxn id="109" idx="0"/>
          </p:cNvCxnSpPr>
          <p:nvPr/>
        </p:nvCxnSpPr>
        <p:spPr bwMode="auto">
          <a:xfrm>
            <a:off x="7721888" y="3693029"/>
            <a:ext cx="0" cy="1952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0" name="Shape 266"/>
          <p:cNvCxnSpPr>
            <a:cxnSpLocks noChangeShapeType="1"/>
            <a:stCxn id="109" idx="3"/>
            <a:endCxn id="112" idx="1"/>
          </p:cNvCxnSpPr>
          <p:nvPr/>
        </p:nvCxnSpPr>
        <p:spPr bwMode="auto">
          <a:xfrm flipV="1">
            <a:off x="8150516" y="3553381"/>
            <a:ext cx="294872" cy="49532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1" name="Shape 266"/>
          <p:cNvCxnSpPr>
            <a:cxnSpLocks noChangeShapeType="1"/>
            <a:stCxn id="37" idx="3"/>
            <a:endCxn id="71" idx="1"/>
          </p:cNvCxnSpPr>
          <p:nvPr/>
        </p:nvCxnSpPr>
        <p:spPr bwMode="auto">
          <a:xfrm flipV="1">
            <a:off x="4340932" y="3013322"/>
            <a:ext cx="612068" cy="79372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" name="Shape 266"/>
          <p:cNvCxnSpPr>
            <a:cxnSpLocks noChangeShapeType="1"/>
            <a:stCxn id="112" idx="2"/>
            <a:endCxn id="53" idx="0"/>
          </p:cNvCxnSpPr>
          <p:nvPr/>
        </p:nvCxnSpPr>
        <p:spPr bwMode="auto">
          <a:xfrm>
            <a:off x="8874016" y="3713766"/>
            <a:ext cx="0" cy="15990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" name="타원 88"/>
          <p:cNvSpPr/>
          <p:nvPr/>
        </p:nvSpPr>
        <p:spPr>
          <a:xfrm>
            <a:off x="8775514" y="447311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8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78062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역량평가관리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1" name="직사각형 70"/>
          <p:cNvSpPr/>
          <p:nvPr/>
        </p:nvSpPr>
        <p:spPr bwMode="auto">
          <a:xfrm>
            <a:off x="4953000" y="285293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평가제외자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4953000" y="34322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평가계획안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7" name="직사각형 86"/>
          <p:cNvSpPr/>
          <p:nvPr/>
        </p:nvSpPr>
        <p:spPr bwMode="auto">
          <a:xfrm>
            <a:off x="4953000" y="399008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평가계획안 승인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8" name="직사각형 87"/>
          <p:cNvSpPr/>
          <p:nvPr/>
        </p:nvSpPr>
        <p:spPr bwMode="auto">
          <a:xfrm>
            <a:off x="6213140" y="23703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평가계획안 이사장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stCxn id="88" idx="2"/>
            <a:endCxn id="99" idx="0"/>
          </p:cNvCxnSpPr>
          <p:nvPr/>
        </p:nvCxnSpPr>
        <p:spPr bwMode="auto">
          <a:xfrm>
            <a:off x="6641768" y="2691164"/>
            <a:ext cx="0" cy="1617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87" idx="3"/>
            <a:endCxn id="88" idx="1"/>
          </p:cNvCxnSpPr>
          <p:nvPr/>
        </p:nvCxnSpPr>
        <p:spPr bwMode="auto">
          <a:xfrm flipV="1">
            <a:off x="5810256" y="2530779"/>
            <a:ext cx="402884" cy="161968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71" idx="2"/>
            <a:endCxn id="77" idx="0"/>
          </p:cNvCxnSpPr>
          <p:nvPr/>
        </p:nvCxnSpPr>
        <p:spPr bwMode="auto">
          <a:xfrm>
            <a:off x="5381628" y="3173707"/>
            <a:ext cx="0" cy="2585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77" idx="2"/>
            <a:endCxn id="87" idx="0"/>
          </p:cNvCxnSpPr>
          <p:nvPr/>
        </p:nvCxnSpPr>
        <p:spPr bwMode="auto">
          <a:xfrm>
            <a:off x="5381628" y="3753036"/>
            <a:ext cx="0" cy="2370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7" name="직사각형 96"/>
          <p:cNvSpPr/>
          <p:nvPr/>
        </p:nvSpPr>
        <p:spPr bwMode="auto">
          <a:xfrm>
            <a:off x="6213140" y="3392996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kumimoji="1"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평가제외자 공지</a:t>
            </a:r>
            <a:endParaRPr kumimoji="1"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6213140" y="5661248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kumimoji="1"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평가제외자 확인</a:t>
            </a:r>
            <a:endParaRPr kumimoji="1"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직사각형 98"/>
          <p:cNvSpPr/>
          <p:nvPr/>
        </p:nvSpPr>
        <p:spPr bwMode="auto">
          <a:xfrm>
            <a:off x="6213140" y="285293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평가계획안 승인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1" name="Shape 266"/>
          <p:cNvCxnSpPr>
            <a:cxnSpLocks noChangeShapeType="1"/>
            <a:stCxn id="99" idx="2"/>
            <a:endCxn id="97" idx="0"/>
          </p:cNvCxnSpPr>
          <p:nvPr/>
        </p:nvCxnSpPr>
        <p:spPr bwMode="auto">
          <a:xfrm>
            <a:off x="6641768" y="3173707"/>
            <a:ext cx="0" cy="2192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" name="Shape 266"/>
          <p:cNvCxnSpPr>
            <a:cxnSpLocks noChangeShapeType="1"/>
            <a:stCxn id="97" idx="2"/>
            <a:endCxn id="98" idx="0"/>
          </p:cNvCxnSpPr>
          <p:nvPr/>
        </p:nvCxnSpPr>
        <p:spPr bwMode="auto">
          <a:xfrm>
            <a:off x="6641768" y="3713767"/>
            <a:ext cx="0" cy="194748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0" name="Shape 266"/>
          <p:cNvCxnSpPr>
            <a:cxnSpLocks noChangeShapeType="1"/>
            <a:stCxn id="99" idx="3"/>
            <a:endCxn id="107" idx="1"/>
          </p:cNvCxnSpPr>
          <p:nvPr/>
        </p:nvCxnSpPr>
        <p:spPr bwMode="auto">
          <a:xfrm>
            <a:off x="7070396" y="3013322"/>
            <a:ext cx="22286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98" idx="3"/>
            <a:endCxn id="89" idx="4"/>
          </p:cNvCxnSpPr>
          <p:nvPr/>
        </p:nvCxnSpPr>
        <p:spPr bwMode="auto">
          <a:xfrm flipV="1">
            <a:off x="7070396" y="4658876"/>
            <a:ext cx="1806275" cy="116275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원통 68"/>
          <p:cNvSpPr>
            <a:spLocks noChangeAspect="1" noChangeArrowheads="1"/>
          </p:cNvSpPr>
          <p:nvPr/>
        </p:nvSpPr>
        <p:spPr bwMode="auto">
          <a:xfrm>
            <a:off x="3023887" y="5235434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평가기준정보</a:t>
            </a:r>
          </a:p>
        </p:txBody>
      </p:sp>
      <p:cxnSp>
        <p:nvCxnSpPr>
          <p:cNvPr id="51" name="Shape 266"/>
          <p:cNvCxnSpPr>
            <a:cxnSpLocks noChangeShapeType="1"/>
            <a:stCxn id="37" idx="2"/>
            <a:endCxn id="50" idx="0"/>
          </p:cNvCxnSpPr>
          <p:nvPr/>
        </p:nvCxnSpPr>
        <p:spPr bwMode="auto">
          <a:xfrm flipH="1">
            <a:off x="3404828" y="4761148"/>
            <a:ext cx="3420" cy="58074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직사각형 52"/>
          <p:cNvSpPr/>
          <p:nvPr/>
        </p:nvSpPr>
        <p:spPr bwMode="auto">
          <a:xfrm>
            <a:off x="8445388" y="3873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평가자 확인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2" name="Shape 266"/>
          <p:cNvCxnSpPr>
            <a:cxnSpLocks noChangeShapeType="1"/>
            <a:stCxn id="53" idx="2"/>
            <a:endCxn id="89" idx="0"/>
          </p:cNvCxnSpPr>
          <p:nvPr/>
        </p:nvCxnSpPr>
        <p:spPr bwMode="auto">
          <a:xfrm>
            <a:off x="8874016" y="4194444"/>
            <a:ext cx="2655" cy="2786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794393273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평가제외자 등록과 확인 및 평가결과의 조정 및 확정을 시스템을 통해서 수행할 수 있도록 업무프로세스를 변경함</a:t>
            </a:r>
          </a:p>
        </p:txBody>
      </p:sp>
      <p:sp>
        <p:nvSpPr>
          <p:cNvPr id="31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3.3.2.12 </a:t>
            </a:r>
            <a:r>
              <a:rPr lang="ko-KR" altLang="en-US" dirty="0"/>
              <a:t>역량평가관리 </a:t>
            </a:r>
            <a:r>
              <a:rPr lang="en-US" altLang="ko-KR" dirty="0"/>
              <a:t>(2/5)</a:t>
            </a:r>
            <a:endParaRPr lang="ko-KR" altLang="en-US" dirty="0"/>
          </a:p>
        </p:txBody>
      </p:sp>
      <p:sp>
        <p:nvSpPr>
          <p:cNvPr id="32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7253681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8437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66054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3.3.1.3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평가시행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3.3.1.4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평가결과관리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99677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역량평가담당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361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" name="그룹 54"/>
          <p:cNvGrpSpPr/>
          <p:nvPr/>
        </p:nvGrpSpPr>
        <p:grpSpPr>
          <a:xfrm>
            <a:off x="8265027" y="4307372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역량평가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36" name="직사각형 135"/>
          <p:cNvSpPr/>
          <p:nvPr/>
        </p:nvSpPr>
        <p:spPr bwMode="auto">
          <a:xfrm>
            <a:off x="5057375" y="302987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평가결과 집계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8" name="Shape 266"/>
          <p:cNvCxnSpPr>
            <a:cxnSpLocks noChangeShapeType="1"/>
            <a:stCxn id="39" idx="3"/>
            <a:endCxn id="136" idx="1"/>
          </p:cNvCxnSpPr>
          <p:nvPr/>
        </p:nvCxnSpPr>
        <p:spPr bwMode="auto">
          <a:xfrm>
            <a:off x="4588496" y="3190262"/>
            <a:ext cx="46887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36" idx="2"/>
            <a:endCxn id="197" idx="0"/>
          </p:cNvCxnSpPr>
          <p:nvPr/>
        </p:nvCxnSpPr>
        <p:spPr bwMode="auto">
          <a:xfrm flipH="1">
            <a:off x="5484351" y="3350647"/>
            <a:ext cx="1652" cy="2568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8" name="타원 187"/>
          <p:cNvSpPr/>
          <p:nvPr/>
        </p:nvSpPr>
        <p:spPr>
          <a:xfrm>
            <a:off x="1784648" y="2552381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97" name="직사각형 196"/>
          <p:cNvSpPr/>
          <p:nvPr/>
        </p:nvSpPr>
        <p:spPr bwMode="auto">
          <a:xfrm>
            <a:off x="5055723" y="360751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평가결과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3" name="직사각형 202"/>
          <p:cNvSpPr/>
          <p:nvPr/>
        </p:nvSpPr>
        <p:spPr bwMode="auto">
          <a:xfrm>
            <a:off x="6441114" y="302668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평가결과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조정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4" name="직사각형 203"/>
          <p:cNvSpPr/>
          <p:nvPr/>
        </p:nvSpPr>
        <p:spPr bwMode="auto">
          <a:xfrm>
            <a:off x="6441114" y="360751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평가결과 수정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5" name="Shape 266"/>
          <p:cNvCxnSpPr>
            <a:cxnSpLocks noChangeShapeType="1"/>
            <a:stCxn id="197" idx="3"/>
            <a:endCxn id="203" idx="1"/>
          </p:cNvCxnSpPr>
          <p:nvPr/>
        </p:nvCxnSpPr>
        <p:spPr bwMode="auto">
          <a:xfrm flipV="1">
            <a:off x="5912979" y="3187074"/>
            <a:ext cx="528135" cy="58083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6" name="직사각형 205"/>
          <p:cNvSpPr/>
          <p:nvPr/>
        </p:nvSpPr>
        <p:spPr bwMode="auto">
          <a:xfrm>
            <a:off x="6441114" y="569321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개인별 평가결과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7" name="Shape 266"/>
          <p:cNvCxnSpPr>
            <a:cxnSpLocks noChangeShapeType="1"/>
            <a:stCxn id="203" idx="2"/>
            <a:endCxn id="204" idx="0"/>
          </p:cNvCxnSpPr>
          <p:nvPr/>
        </p:nvCxnSpPr>
        <p:spPr bwMode="auto">
          <a:xfrm>
            <a:off x="6869742" y="3347459"/>
            <a:ext cx="0" cy="26005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8" name="Shape 266"/>
          <p:cNvCxnSpPr>
            <a:cxnSpLocks noChangeShapeType="1"/>
            <a:stCxn id="204" idx="2"/>
            <a:endCxn id="54" idx="0"/>
          </p:cNvCxnSpPr>
          <p:nvPr/>
        </p:nvCxnSpPr>
        <p:spPr bwMode="auto">
          <a:xfrm>
            <a:off x="6869742" y="3928289"/>
            <a:ext cx="0" cy="26006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0" name="원통 68"/>
          <p:cNvSpPr>
            <a:spLocks noChangeAspect="1" noChangeArrowheads="1"/>
          </p:cNvSpPr>
          <p:nvPr/>
        </p:nvSpPr>
        <p:spPr bwMode="auto">
          <a:xfrm>
            <a:off x="8193360" y="2542604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역량평가결과정보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12" name="Shape 266"/>
          <p:cNvCxnSpPr>
            <a:cxnSpLocks noChangeShapeType="1"/>
            <a:stCxn id="204" idx="3"/>
            <a:endCxn id="210" idx="2"/>
          </p:cNvCxnSpPr>
          <p:nvPr/>
        </p:nvCxnSpPr>
        <p:spPr bwMode="auto">
          <a:xfrm flipV="1">
            <a:off x="7298370" y="2755511"/>
            <a:ext cx="894990" cy="101239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5" name="Shape 266"/>
          <p:cNvCxnSpPr>
            <a:cxnSpLocks noChangeShapeType="1"/>
            <a:stCxn id="206" idx="3"/>
            <a:endCxn id="57" idx="2"/>
          </p:cNvCxnSpPr>
          <p:nvPr/>
        </p:nvCxnSpPr>
        <p:spPr bwMode="auto">
          <a:xfrm flipV="1">
            <a:off x="7298370" y="4725144"/>
            <a:ext cx="1345010" cy="112845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0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084105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역량평가관리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9" name="직사각형 28"/>
          <p:cNvSpPr/>
          <p:nvPr/>
        </p:nvSpPr>
        <p:spPr bwMode="auto">
          <a:xfrm>
            <a:off x="1449557" y="544848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평가대상자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2500181" y="591654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2500181" y="544848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 전송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4" name="Shape 266"/>
          <p:cNvCxnSpPr>
            <a:cxnSpLocks noChangeShapeType="1"/>
            <a:stCxn id="29" idx="2"/>
            <a:endCxn id="30" idx="1"/>
          </p:cNvCxnSpPr>
          <p:nvPr/>
        </p:nvCxnSpPr>
        <p:spPr bwMode="auto">
          <a:xfrm rot="16200000" flipH="1">
            <a:off x="2035347" y="5612093"/>
            <a:ext cx="307672" cy="62199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" name="Shape 266"/>
          <p:cNvCxnSpPr>
            <a:cxnSpLocks noChangeShapeType="1"/>
            <a:stCxn id="30" idx="0"/>
            <a:endCxn id="33" idx="2"/>
          </p:cNvCxnSpPr>
          <p:nvPr/>
        </p:nvCxnSpPr>
        <p:spPr bwMode="auto">
          <a:xfrm flipV="1">
            <a:off x="2928809" y="5769255"/>
            <a:ext cx="0" cy="1472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6" name="직사각형 35"/>
          <p:cNvSpPr/>
          <p:nvPr/>
        </p:nvSpPr>
        <p:spPr bwMode="auto">
          <a:xfrm>
            <a:off x="3677793" y="243474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평가진행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3677876" y="371703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메일 발송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유선 연락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8" name="Shape 266"/>
          <p:cNvCxnSpPr>
            <a:cxnSpLocks noChangeShapeType="1"/>
            <a:stCxn id="33" idx="3"/>
            <a:endCxn id="36" idx="1"/>
          </p:cNvCxnSpPr>
          <p:nvPr/>
        </p:nvCxnSpPr>
        <p:spPr bwMode="auto">
          <a:xfrm flipV="1">
            <a:off x="3357437" y="2595126"/>
            <a:ext cx="320356" cy="301374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순서도: 판단 161"/>
          <p:cNvSpPr>
            <a:spLocks noChangeArrowheads="1"/>
          </p:cNvSpPr>
          <p:nvPr/>
        </p:nvSpPr>
        <p:spPr bwMode="auto">
          <a:xfrm>
            <a:off x="3628313" y="3003145"/>
            <a:ext cx="960183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평가자별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평가완료</a:t>
            </a:r>
          </a:p>
        </p:txBody>
      </p:sp>
      <p:cxnSp>
        <p:nvCxnSpPr>
          <p:cNvPr id="40" name="Shape 266"/>
          <p:cNvCxnSpPr>
            <a:cxnSpLocks noChangeShapeType="1"/>
            <a:stCxn id="36" idx="2"/>
            <a:endCxn id="39" idx="0"/>
          </p:cNvCxnSpPr>
          <p:nvPr/>
        </p:nvCxnSpPr>
        <p:spPr bwMode="auto">
          <a:xfrm>
            <a:off x="4106421" y="2755511"/>
            <a:ext cx="1984" cy="2476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2" name="Shape 266"/>
          <p:cNvCxnSpPr>
            <a:cxnSpLocks noChangeShapeType="1"/>
            <a:stCxn id="39" idx="2"/>
            <a:endCxn id="37" idx="0"/>
          </p:cNvCxnSpPr>
          <p:nvPr/>
        </p:nvCxnSpPr>
        <p:spPr bwMode="auto">
          <a:xfrm flipH="1">
            <a:off x="4106504" y="3377378"/>
            <a:ext cx="1901" cy="3396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" name="Shape 266"/>
          <p:cNvCxnSpPr>
            <a:cxnSpLocks noChangeShapeType="1"/>
            <a:stCxn id="37" idx="2"/>
            <a:endCxn id="30" idx="3"/>
          </p:cNvCxnSpPr>
          <p:nvPr/>
        </p:nvCxnSpPr>
        <p:spPr bwMode="auto">
          <a:xfrm rot="5400000">
            <a:off x="2712409" y="4682832"/>
            <a:ext cx="2039124" cy="74906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TextBox 44"/>
          <p:cNvSpPr txBox="1"/>
          <p:nvPr/>
        </p:nvSpPr>
        <p:spPr>
          <a:xfrm>
            <a:off x="4088904" y="3327104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4486586" y="2981872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8" name="Shape 266"/>
          <p:cNvCxnSpPr>
            <a:cxnSpLocks noChangeShapeType="1"/>
            <a:stCxn id="188" idx="4"/>
            <a:endCxn id="29" idx="0"/>
          </p:cNvCxnSpPr>
          <p:nvPr/>
        </p:nvCxnSpPr>
        <p:spPr bwMode="auto">
          <a:xfrm flipH="1">
            <a:off x="1878185" y="2738141"/>
            <a:ext cx="7620" cy="27103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순서도: 종속 처리 64"/>
          <p:cNvSpPr>
            <a:spLocks noChangeAspect="1" noChangeArrowheads="1"/>
          </p:cNvSpPr>
          <p:nvPr/>
        </p:nvSpPr>
        <p:spPr bwMode="auto">
          <a:xfrm>
            <a:off x="8202338" y="3805551"/>
            <a:ext cx="872178" cy="37953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>
              <a:lnSpc>
                <a:spcPts val="1000"/>
              </a:lnSpc>
            </a:pP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  <a:endParaRPr lang="ko-KR" altLang="en-US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2" name="Shape 266"/>
          <p:cNvCxnSpPr>
            <a:cxnSpLocks noChangeShapeType="1"/>
            <a:stCxn id="54" idx="3"/>
            <a:endCxn id="51" idx="1"/>
          </p:cNvCxnSpPr>
          <p:nvPr/>
        </p:nvCxnSpPr>
        <p:spPr bwMode="auto">
          <a:xfrm flipV="1">
            <a:off x="7298370" y="3995318"/>
            <a:ext cx="903968" cy="35341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" name="타원 4"/>
          <p:cNvSpPr/>
          <p:nvPr/>
        </p:nvSpPr>
        <p:spPr>
          <a:xfrm>
            <a:off x="7149244" y="3607518"/>
            <a:ext cx="149126" cy="16038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9" name="원통 68"/>
          <p:cNvSpPr>
            <a:spLocks noChangeAspect="1" noChangeArrowheads="1"/>
          </p:cNvSpPr>
          <p:nvPr/>
        </p:nvSpPr>
        <p:spPr bwMode="auto">
          <a:xfrm>
            <a:off x="2142504" y="4384936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1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평가대상자정보</a:t>
            </a:r>
            <a:endParaRPr kumimoji="1" lang="ko-KR" altLang="en-US" sz="1000" b="1" i="0" u="none" strike="noStrike" kern="0" cap="none" spc="-10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3" name="Shape 266"/>
          <p:cNvCxnSpPr>
            <a:cxnSpLocks noChangeShapeType="1"/>
            <a:stCxn id="49" idx="3"/>
          </p:cNvCxnSpPr>
          <p:nvPr/>
        </p:nvCxnSpPr>
        <p:spPr bwMode="auto">
          <a:xfrm rot="5400000">
            <a:off x="2037447" y="4962486"/>
            <a:ext cx="637734" cy="33426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4" name="직사각형 53"/>
          <p:cNvSpPr/>
          <p:nvPr/>
        </p:nvSpPr>
        <p:spPr bwMode="auto">
          <a:xfrm>
            <a:off x="6441114" y="418834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평가결과 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Shape 266"/>
          <p:cNvCxnSpPr>
            <a:cxnSpLocks noChangeShapeType="1"/>
            <a:stCxn id="54" idx="2"/>
            <a:endCxn id="206" idx="0"/>
          </p:cNvCxnSpPr>
          <p:nvPr/>
        </p:nvCxnSpPr>
        <p:spPr bwMode="auto">
          <a:xfrm>
            <a:off x="6869742" y="4509120"/>
            <a:ext cx="0" cy="118409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71159604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평가제외자 등록과 확인 및 평가결과의 조정 및 확정을 시스템을 통해서 수행할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3.3.2.12 </a:t>
            </a:r>
            <a:r>
              <a:rPr lang="ko-KR" altLang="en-US" dirty="0"/>
              <a:t>역량평가관리 </a:t>
            </a:r>
            <a:r>
              <a:rPr lang="en-US" altLang="ko-KR" dirty="0"/>
              <a:t>(3/5)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411229"/>
              </p:ext>
            </p:extLst>
          </p:nvPr>
        </p:nvGraphicFramePr>
        <p:xfrm>
          <a:off x="344488" y="1604186"/>
          <a:ext cx="9180513" cy="396240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평가일정관리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역량평가 실시를 위한 일정을 등록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일정 이후 평가 불가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평가기준정보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평가그룹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평가직군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평가지표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지표별 가중치 등 평가실시 및 조정을 위한 기준정보를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평가그룹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평가직군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평가척도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평가지표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직급별 기대수준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평가구조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지표별 가중치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평가결과등급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평가제외자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직원의 상황에 따라 평가를 받기 어려운 직원을 평가 제외자로 선정하여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평가제외자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평가계획안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 시행을 위한 평가 시행 계획안을 작성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 제외자 포함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평가계획안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평가계획안 승인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 시행 계획안을 작성하여 이사장에게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평가계획안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평가계획안 이사장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이사장이 평가담당자가 요청한 평가시행 계획안을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평가계획안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평가계획안 승인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이사장이 승인한 평가 시행 계획안을 확인하고 일정을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평가계획안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평가제외자 공지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평가제외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대상자 명단을 오픈하고 직원에게 메시지로 전송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평가제외자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평가제외자 등록과 확인 및 평가결과의 조정 및 확정을 시스템을 통해서 수행할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3.3.2.12 </a:t>
            </a:r>
            <a:r>
              <a:rPr lang="ko-KR" altLang="en-US" dirty="0"/>
              <a:t>역량평가관리 </a:t>
            </a:r>
            <a:r>
              <a:rPr lang="en-US" altLang="ko-KR" dirty="0"/>
              <a:t>(4/5)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5647324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평가제외자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평가담당자가 공지한 내용을 확인하여 본인의 평가제외 여부를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평가제외자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평가대상자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 제외자를 제외한 평가대상자의 리스트를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평가대상자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생성된 평가대상자 리스트를 확인하고 변경이 필요한 부분은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평가자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평가대상자 리스트가 완성되면 그에 따른 평가자 리스트를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평가그룹 조정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생성된 평가자에 대해 평가그룹 조정이 필요할 경우 평가그룹을 변경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평가자 확인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생성된 평가자 리스트를 확인하고 변경이 필요한 부분은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평가자 명부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평가대상자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평가자가 본인이 평가해야 할 평가대상자 정보를 확인하고 평가를 준비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평가자가 본인이 평가해야 할 평가대상자에 대한 평가점수 결과를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 전송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평가자가 본인이 평가해야 할 평가대상자에 대해 평가가 완료되면 평가결과를 전송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평가진행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평가자의 평가진행을 모니터링하고 평가 미진행자에 대해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평가제외자 등록과 확인 및 평가결과의 조정 및 확정을 시스템을 통해서 수행할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3.3.2.12 </a:t>
            </a:r>
            <a:r>
              <a:rPr lang="ko-KR" altLang="en-US" dirty="0"/>
              <a:t>역량평가관리 </a:t>
            </a:r>
            <a:r>
              <a:rPr lang="en-US" altLang="ko-KR" dirty="0"/>
              <a:t>(5/5)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418460"/>
              </p:ext>
            </p:extLst>
          </p:nvPr>
        </p:nvGraphicFramePr>
        <p:xfrm>
          <a:off x="344488" y="1604186"/>
          <a:ext cx="9180513" cy="320040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메일 발송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유선 연락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 미진행자가 있을 경우 평가자에게 평가 완료를 위한 재촉 메일 또는 유선 연락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평가결과 집계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평가가 완료된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평가결과를 집계하여 평가결과 집계정보를 생성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평가결과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 집계결과를 조회하고 평가 조정을 위한 정보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평가결과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그룹에 따른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평가결과를 재산정하여 평가결과를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평가결과 수정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평가결과 조정이 끝나면 조정결과를 확인하고 평가결과를 다시 수정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평가결과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평가담당자가 평가결과 조정이 끝난 평가결과를 등록 후 최종적으로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평가결과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본인의 최종 평가결과를 조회하여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성과급 지급 기준</a:t>
            </a:r>
            <a:r>
              <a:rPr lang="en-US" altLang="ko-KR" sz="1600" dirty="0"/>
              <a:t>,</a:t>
            </a:r>
            <a:r>
              <a:rPr lang="ko-KR" altLang="en-US" sz="1600" dirty="0"/>
              <a:t> 성과급 대상자 선정 및 성과평가 결과에 의한 성과급 산정을 시스템을 통해서 할 수 있도록 업무프로세스를 변경함</a:t>
            </a:r>
          </a:p>
        </p:txBody>
      </p:sp>
      <p:sp>
        <p:nvSpPr>
          <p:cNvPr id="3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3.3.2.13 </a:t>
            </a:r>
            <a:r>
              <a:rPr lang="ko-KR" altLang="en-US" dirty="0"/>
              <a:t>성과급관리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36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3575858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3.3.2.1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성과급관리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99677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역량평가담당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361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" name="그룹 54"/>
          <p:cNvGrpSpPr/>
          <p:nvPr/>
        </p:nvGrpSpPr>
        <p:grpSpPr>
          <a:xfrm>
            <a:off x="5348703" y="4154400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성과급 산정</a:t>
              </a:r>
              <a:r>
                <a:rPr kumimoji="0" lang="ko-KR" altLang="en-US" sz="9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36" name="직사각형 135"/>
          <p:cNvSpPr/>
          <p:nvPr/>
        </p:nvSpPr>
        <p:spPr bwMode="auto">
          <a:xfrm>
            <a:off x="2504728" y="300284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평가등급별 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8" name="Shape 266"/>
          <p:cNvCxnSpPr>
            <a:cxnSpLocks noChangeShapeType="1"/>
            <a:stCxn id="49" idx="0"/>
            <a:endCxn id="136" idx="1"/>
          </p:cNvCxnSpPr>
          <p:nvPr/>
        </p:nvCxnSpPr>
        <p:spPr bwMode="auto">
          <a:xfrm>
            <a:off x="2091634" y="3159498"/>
            <a:ext cx="413094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36" idx="2"/>
            <a:endCxn id="197" idx="0"/>
          </p:cNvCxnSpPr>
          <p:nvPr/>
        </p:nvCxnSpPr>
        <p:spPr bwMode="auto">
          <a:xfrm>
            <a:off x="2933356" y="3323617"/>
            <a:ext cx="0" cy="28866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" name="직사각형 196"/>
          <p:cNvSpPr/>
          <p:nvPr/>
        </p:nvSpPr>
        <p:spPr bwMode="auto">
          <a:xfrm>
            <a:off x="2504728" y="361228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성과급 대상자 선정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" name="직사각형 200"/>
          <p:cNvSpPr/>
          <p:nvPr/>
        </p:nvSpPr>
        <p:spPr bwMode="auto">
          <a:xfrm>
            <a:off x="3879720" y="362809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성과급 계산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2" name="Shape 266"/>
          <p:cNvCxnSpPr>
            <a:cxnSpLocks noChangeShapeType="1"/>
            <a:stCxn id="60" idx="3"/>
            <a:endCxn id="43" idx="1"/>
          </p:cNvCxnSpPr>
          <p:nvPr/>
        </p:nvCxnSpPr>
        <p:spPr bwMode="auto">
          <a:xfrm flipV="1">
            <a:off x="3361984" y="3160603"/>
            <a:ext cx="517736" cy="190821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6" name="직사각형 205"/>
          <p:cNvSpPr/>
          <p:nvPr/>
        </p:nvSpPr>
        <p:spPr bwMode="auto">
          <a:xfrm>
            <a:off x="3879720" y="569321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개인별 성과급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15" name="Shape 266"/>
          <p:cNvCxnSpPr>
            <a:cxnSpLocks noChangeShapeType="1"/>
            <a:stCxn id="206" idx="3"/>
            <a:endCxn id="57" idx="2"/>
          </p:cNvCxnSpPr>
          <p:nvPr/>
        </p:nvCxnSpPr>
        <p:spPr bwMode="auto">
          <a:xfrm flipV="1">
            <a:off x="4736976" y="4572172"/>
            <a:ext cx="990080" cy="128142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47"/>
          <p:cNvGrpSpPr/>
          <p:nvPr/>
        </p:nvGrpSpPr>
        <p:grpSpPr>
          <a:xfrm>
            <a:off x="1335209" y="2954345"/>
            <a:ext cx="756425" cy="417772"/>
            <a:chOff x="1357741" y="2874679"/>
            <a:chExt cx="756425" cy="417772"/>
          </a:xfrm>
        </p:grpSpPr>
        <p:sp>
          <p:nvSpPr>
            <p:cNvPr id="49" name="육각형 4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성과급 산정 시작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4" name="직사각형 53"/>
          <p:cNvSpPr/>
          <p:nvPr/>
        </p:nvSpPr>
        <p:spPr bwMode="auto">
          <a:xfrm>
            <a:off x="2504728" y="4221088"/>
            <a:ext cx="857256" cy="320771"/>
          </a:xfrm>
          <a:prstGeom prst="rect">
            <a:avLst/>
          </a:prstGeom>
          <a:noFill/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성과급 대상자 확인 요청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  <a:stCxn id="197" idx="2"/>
            <a:endCxn id="54" idx="0"/>
          </p:cNvCxnSpPr>
          <p:nvPr/>
        </p:nvCxnSpPr>
        <p:spPr bwMode="auto">
          <a:xfrm>
            <a:off x="2933356" y="3933056"/>
            <a:ext cx="0" cy="2880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직사각형 59"/>
          <p:cNvSpPr/>
          <p:nvPr/>
        </p:nvSpPr>
        <p:spPr bwMode="auto">
          <a:xfrm>
            <a:off x="2504728" y="490842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성과급 대상자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54" idx="2"/>
            <a:endCxn id="60" idx="0"/>
          </p:cNvCxnSpPr>
          <p:nvPr/>
        </p:nvCxnSpPr>
        <p:spPr bwMode="auto">
          <a:xfrm>
            <a:off x="2933356" y="4541859"/>
            <a:ext cx="0" cy="3665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201" idx="2"/>
            <a:endCxn id="53" idx="0"/>
          </p:cNvCxnSpPr>
          <p:nvPr/>
        </p:nvCxnSpPr>
        <p:spPr bwMode="auto">
          <a:xfrm>
            <a:off x="4308348" y="3948861"/>
            <a:ext cx="0" cy="2479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순서도: 종속 처리 64"/>
          <p:cNvSpPr>
            <a:spLocks noChangeAspect="1" noChangeArrowheads="1"/>
          </p:cNvSpPr>
          <p:nvPr/>
        </p:nvSpPr>
        <p:spPr bwMode="auto">
          <a:xfrm>
            <a:off x="5383309" y="3034660"/>
            <a:ext cx="7578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spc="-16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76" name="Shape 266"/>
          <p:cNvCxnSpPr>
            <a:cxnSpLocks noChangeShapeType="1"/>
            <a:stCxn id="3" idx="6"/>
            <a:endCxn id="75" idx="1"/>
          </p:cNvCxnSpPr>
          <p:nvPr/>
        </p:nvCxnSpPr>
        <p:spPr bwMode="auto">
          <a:xfrm flipV="1">
            <a:off x="4736976" y="3191060"/>
            <a:ext cx="646333" cy="108594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직사각형 52"/>
          <p:cNvSpPr/>
          <p:nvPr/>
        </p:nvSpPr>
        <p:spPr bwMode="auto">
          <a:xfrm>
            <a:off x="3879720" y="41968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성과급 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2" name="Shape 266"/>
          <p:cNvCxnSpPr>
            <a:cxnSpLocks noChangeShapeType="1"/>
            <a:stCxn id="53" idx="2"/>
            <a:endCxn id="206" idx="0"/>
          </p:cNvCxnSpPr>
          <p:nvPr/>
        </p:nvCxnSpPr>
        <p:spPr bwMode="auto">
          <a:xfrm>
            <a:off x="4308348" y="4517587"/>
            <a:ext cx="0" cy="117562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" name="Shape 266"/>
          <p:cNvCxnSpPr>
            <a:cxnSpLocks noChangeShapeType="1"/>
            <a:stCxn id="53" idx="3"/>
            <a:endCxn id="56" idx="3"/>
          </p:cNvCxnSpPr>
          <p:nvPr/>
        </p:nvCxnSpPr>
        <p:spPr bwMode="auto">
          <a:xfrm>
            <a:off x="4736976" y="4357202"/>
            <a:ext cx="611727" cy="23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4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953028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3.3.2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타원 2"/>
          <p:cNvSpPr/>
          <p:nvPr/>
        </p:nvSpPr>
        <p:spPr>
          <a:xfrm>
            <a:off x="4520952" y="4196816"/>
            <a:ext cx="216024" cy="16038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3879720" y="3000217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성과평가 결과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5" name="Shape 266"/>
          <p:cNvCxnSpPr>
            <a:cxnSpLocks noChangeShapeType="1"/>
            <a:stCxn id="43" idx="2"/>
            <a:endCxn id="201" idx="0"/>
          </p:cNvCxnSpPr>
          <p:nvPr/>
        </p:nvCxnSpPr>
        <p:spPr bwMode="auto">
          <a:xfrm>
            <a:off x="4308348" y="3320988"/>
            <a:ext cx="0" cy="3071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181615884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성과급 지급 기준</a:t>
            </a:r>
            <a:r>
              <a:rPr lang="en-US" altLang="ko-KR" sz="1600" dirty="0"/>
              <a:t>,</a:t>
            </a:r>
            <a:r>
              <a:rPr lang="ko-KR" altLang="en-US" sz="1600" dirty="0"/>
              <a:t> 성과급 대상자 선정 및 성과평가 결과에 의한 성과급 산정을 시스템을 통해서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3.3.2.13 </a:t>
            </a:r>
            <a:r>
              <a:rPr lang="ko-KR" altLang="en-US" dirty="0"/>
              <a:t>성과급관리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6172894"/>
              </p:ext>
            </p:extLst>
          </p:nvPr>
        </p:nvGraphicFramePr>
        <p:xfrm>
          <a:off x="344488" y="1604186"/>
          <a:ext cx="9180513" cy="35966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평가등급별 기준관리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성과급담당자가 평가등급별 지급률 등 성과급 계산을 위한 기준정보를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평가등급별 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 대상자 선정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성과급담당자가 성과급을 지급해야 할 대상자를 선정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퇴직자 포함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 대상자 확인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성과급담당자가 선정된 성과급 지급대상자에 대해 부서장에게 대상여부 확인을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성과급대상자 명부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 대상자 확인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성과급담당자가 요청한 성과급 지급대상자에 대한 확인을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성과급대상자 명부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성과평가결과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 계산을 위해 성과평가 시스템의 평가 결과를 연계하여 계산 시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 계산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성과급담당자가 개인별 직무와 평가등급에 따른 성과급 지급액을 계산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퇴직자 포함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성과급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성과급담당자가 개인별 성과급 산정내역을 최종적으로 확정하여 개인에게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개인별 성과급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성과급담당자가 공지한 자신의 성과급 지급내역을 조회하여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성과급계산내역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교육과정을 개발하기 위한 수요조사와 그에 따른 연간교육계획을 시스템을 통하여 할 수 있도록 업무프로세스를 변경함 </a:t>
            </a:r>
          </a:p>
        </p:txBody>
      </p:sp>
      <p:sp>
        <p:nvSpPr>
          <p:cNvPr id="6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3.3.2.14 </a:t>
            </a:r>
            <a:r>
              <a:rPr lang="ko-KR" altLang="en-US" dirty="0"/>
              <a:t>교육과정관리 </a:t>
            </a:r>
            <a:r>
              <a:rPr lang="en-US" altLang="ko-KR" dirty="0"/>
              <a:t>(1/5)</a:t>
            </a:r>
            <a:endParaRPr lang="ko-KR" altLang="en-US" dirty="0"/>
          </a:p>
        </p:txBody>
      </p:sp>
      <p:sp>
        <p:nvSpPr>
          <p:cNvPr id="70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5612099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교육훈련과정개발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0882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3" name="그룹 65"/>
          <p:cNvGrpSpPr/>
          <p:nvPr/>
        </p:nvGrpSpPr>
        <p:grpSpPr>
          <a:xfrm>
            <a:off x="1567088" y="3512084"/>
            <a:ext cx="972449" cy="417772"/>
            <a:chOff x="1357741" y="2874679"/>
            <a:chExt cx="756425" cy="417772"/>
          </a:xfrm>
        </p:grpSpPr>
        <p:sp>
          <p:nvSpPr>
            <p:cNvPr id="67" name="육각형 6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교육과정 개발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계획 시작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직사각형 6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1" name="직사각형 80"/>
          <p:cNvSpPr/>
          <p:nvPr/>
        </p:nvSpPr>
        <p:spPr bwMode="auto">
          <a:xfrm>
            <a:off x="1628834" y="4203344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교육과정 수요 조사 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9" name="Shape 266"/>
          <p:cNvCxnSpPr>
            <a:cxnSpLocks noChangeShapeType="1"/>
            <a:stCxn id="68" idx="2"/>
            <a:endCxn id="81" idx="0"/>
          </p:cNvCxnSpPr>
          <p:nvPr/>
        </p:nvCxnSpPr>
        <p:spPr bwMode="auto">
          <a:xfrm>
            <a:off x="2053493" y="3929856"/>
            <a:ext cx="3969" cy="2734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0" name="Shape 266"/>
          <p:cNvCxnSpPr>
            <a:cxnSpLocks noChangeShapeType="1"/>
            <a:stCxn id="81" idx="2"/>
            <a:endCxn id="132" idx="0"/>
          </p:cNvCxnSpPr>
          <p:nvPr/>
        </p:nvCxnSpPr>
        <p:spPr bwMode="auto">
          <a:xfrm>
            <a:off x="2057462" y="4630869"/>
            <a:ext cx="0" cy="24281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" name="Shape 266"/>
          <p:cNvCxnSpPr>
            <a:cxnSpLocks noChangeShapeType="1"/>
            <a:stCxn id="132" idx="3"/>
            <a:endCxn id="135" idx="1"/>
          </p:cNvCxnSpPr>
          <p:nvPr/>
        </p:nvCxnSpPr>
        <p:spPr bwMode="auto">
          <a:xfrm flipV="1">
            <a:off x="2486090" y="3023331"/>
            <a:ext cx="486690" cy="206411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5" name="Shape 266"/>
          <p:cNvCxnSpPr>
            <a:cxnSpLocks noChangeShapeType="1"/>
            <a:stCxn id="135" idx="2"/>
            <a:endCxn id="91" idx="0"/>
          </p:cNvCxnSpPr>
          <p:nvPr/>
        </p:nvCxnSpPr>
        <p:spPr bwMode="auto">
          <a:xfrm>
            <a:off x="3401408" y="3237093"/>
            <a:ext cx="0" cy="9662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" name="직사각형 131"/>
          <p:cNvSpPr/>
          <p:nvPr/>
        </p:nvSpPr>
        <p:spPr bwMode="auto">
          <a:xfrm>
            <a:off x="1628834" y="4873683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교육과정 수요 조사 기획안 승인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직사각형 134"/>
          <p:cNvSpPr/>
          <p:nvPr/>
        </p:nvSpPr>
        <p:spPr bwMode="auto">
          <a:xfrm>
            <a:off x="2972780" y="2809568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교육과정 수요 조사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3" name="직사각형 142"/>
          <p:cNvSpPr/>
          <p:nvPr/>
        </p:nvSpPr>
        <p:spPr bwMode="auto">
          <a:xfrm>
            <a:off x="5665554" y="3405139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교육과정 개발 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5" name="직사각형 144"/>
          <p:cNvSpPr/>
          <p:nvPr/>
        </p:nvSpPr>
        <p:spPr bwMode="auto">
          <a:xfrm>
            <a:off x="5665554" y="4729667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교육과정 개발 기획안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6" name="직사각형 145"/>
          <p:cNvSpPr/>
          <p:nvPr/>
        </p:nvSpPr>
        <p:spPr bwMode="auto">
          <a:xfrm>
            <a:off x="7048072" y="2823524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교육과정 개발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8" name="Shape 266"/>
          <p:cNvCxnSpPr>
            <a:cxnSpLocks noChangeShapeType="1"/>
            <a:stCxn id="145" idx="3"/>
            <a:endCxn id="146" idx="1"/>
          </p:cNvCxnSpPr>
          <p:nvPr/>
        </p:nvCxnSpPr>
        <p:spPr bwMode="auto">
          <a:xfrm flipV="1">
            <a:off x="6522810" y="3037287"/>
            <a:ext cx="525262" cy="190614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43" idx="2"/>
            <a:endCxn id="145" idx="0"/>
          </p:cNvCxnSpPr>
          <p:nvPr/>
        </p:nvCxnSpPr>
        <p:spPr bwMode="auto">
          <a:xfrm>
            <a:off x="6094182" y="3832664"/>
            <a:ext cx="0" cy="89700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/>
          <p:cNvSpPr/>
          <p:nvPr/>
        </p:nvSpPr>
        <p:spPr bwMode="auto">
          <a:xfrm>
            <a:off x="7048072" y="349710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표준교육 과정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2" name="Shape 266"/>
          <p:cNvCxnSpPr>
            <a:cxnSpLocks noChangeShapeType="1"/>
            <a:stCxn id="146" idx="2"/>
            <a:endCxn id="71" idx="0"/>
          </p:cNvCxnSpPr>
          <p:nvPr/>
        </p:nvCxnSpPr>
        <p:spPr bwMode="auto">
          <a:xfrm>
            <a:off x="7476700" y="3251049"/>
            <a:ext cx="0" cy="2460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" name="직사각형 79"/>
          <p:cNvSpPr/>
          <p:nvPr/>
        </p:nvSpPr>
        <p:spPr bwMode="auto">
          <a:xfrm>
            <a:off x="2972780" y="543650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교육과정 수요 조사 결과 제출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4293384" y="3405139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교육과정 수요조사 결과 접수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3" name="Shape 266"/>
          <p:cNvCxnSpPr>
            <a:cxnSpLocks noChangeShapeType="1"/>
            <a:stCxn id="80" idx="3"/>
            <a:endCxn id="82" idx="1"/>
          </p:cNvCxnSpPr>
          <p:nvPr/>
        </p:nvCxnSpPr>
        <p:spPr bwMode="auto">
          <a:xfrm flipV="1">
            <a:off x="3830036" y="3618902"/>
            <a:ext cx="463348" cy="197799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" name="Shape 266"/>
          <p:cNvCxnSpPr>
            <a:cxnSpLocks noChangeShapeType="1"/>
            <a:stCxn id="82" idx="2"/>
            <a:endCxn id="126" idx="0"/>
          </p:cNvCxnSpPr>
          <p:nvPr/>
        </p:nvCxnSpPr>
        <p:spPr bwMode="auto">
          <a:xfrm>
            <a:off x="4722012" y="3832664"/>
            <a:ext cx="0" cy="4694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 bwMode="auto">
          <a:xfrm>
            <a:off x="2972780" y="4203344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교육과정 수요 조사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3" name="Shape 266"/>
          <p:cNvCxnSpPr>
            <a:cxnSpLocks noChangeShapeType="1"/>
            <a:stCxn id="91" idx="2"/>
            <a:endCxn id="80" idx="0"/>
          </p:cNvCxnSpPr>
          <p:nvPr/>
        </p:nvCxnSpPr>
        <p:spPr bwMode="auto">
          <a:xfrm>
            <a:off x="3401408" y="4630869"/>
            <a:ext cx="0" cy="8056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64" idx="3"/>
            <a:endCxn id="143" idx="1"/>
          </p:cNvCxnSpPr>
          <p:nvPr/>
        </p:nvCxnSpPr>
        <p:spPr bwMode="auto">
          <a:xfrm flipV="1">
            <a:off x="5150640" y="3618902"/>
            <a:ext cx="514914" cy="248188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6" name="직사각형 125"/>
          <p:cNvSpPr/>
          <p:nvPr/>
        </p:nvSpPr>
        <p:spPr bwMode="auto">
          <a:xfrm>
            <a:off x="4293384" y="4302142"/>
            <a:ext cx="857256" cy="4275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위탁교육과정 정보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7" name="Shape 266"/>
          <p:cNvCxnSpPr>
            <a:cxnSpLocks noChangeShapeType="1"/>
            <a:stCxn id="126" idx="2"/>
            <a:endCxn id="64" idx="0"/>
          </p:cNvCxnSpPr>
          <p:nvPr/>
        </p:nvCxnSpPr>
        <p:spPr bwMode="auto">
          <a:xfrm>
            <a:off x="4722012" y="4729667"/>
            <a:ext cx="0" cy="121073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3" name="Shape 266"/>
          <p:cNvCxnSpPr>
            <a:cxnSpLocks noChangeShapeType="1"/>
            <a:stCxn id="82" idx="3"/>
            <a:endCxn id="143" idx="1"/>
          </p:cNvCxnSpPr>
          <p:nvPr/>
        </p:nvCxnSpPr>
        <p:spPr bwMode="auto">
          <a:xfrm>
            <a:off x="5150640" y="3618902"/>
            <a:ext cx="51491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직사각형 153"/>
          <p:cNvSpPr/>
          <p:nvPr/>
        </p:nvSpPr>
        <p:spPr bwMode="auto">
          <a:xfrm>
            <a:off x="7048072" y="463342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교육기관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5" name="직사각형 154"/>
          <p:cNvSpPr/>
          <p:nvPr/>
        </p:nvSpPr>
        <p:spPr bwMode="auto">
          <a:xfrm>
            <a:off x="7048072" y="40573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교육강사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56" name="Shape 266"/>
          <p:cNvCxnSpPr>
            <a:cxnSpLocks noChangeShapeType="1"/>
            <a:stCxn id="71" idx="2"/>
            <a:endCxn id="155" idx="0"/>
          </p:cNvCxnSpPr>
          <p:nvPr/>
        </p:nvCxnSpPr>
        <p:spPr bwMode="auto">
          <a:xfrm>
            <a:off x="7476700" y="3817871"/>
            <a:ext cx="0" cy="2394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9" name="Shape 266"/>
          <p:cNvCxnSpPr>
            <a:cxnSpLocks noChangeShapeType="1"/>
            <a:stCxn id="155" idx="2"/>
            <a:endCxn id="154" idx="0"/>
          </p:cNvCxnSpPr>
          <p:nvPr/>
        </p:nvCxnSpPr>
        <p:spPr bwMode="auto">
          <a:xfrm>
            <a:off x="7476700" y="4378130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3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2408599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4" name="직사각형 63"/>
          <p:cNvSpPr/>
          <p:nvPr/>
        </p:nvSpPr>
        <p:spPr bwMode="auto">
          <a:xfrm>
            <a:off x="4293384" y="594040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위탁교육 교육정보 제출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3" name="타원 72"/>
          <p:cNvSpPr/>
          <p:nvPr/>
        </p:nvSpPr>
        <p:spPr>
          <a:xfrm>
            <a:off x="8775514" y="469866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75" name="Shape 266"/>
          <p:cNvCxnSpPr>
            <a:cxnSpLocks noChangeShapeType="1"/>
            <a:stCxn id="154" idx="3"/>
            <a:endCxn id="73" idx="2"/>
          </p:cNvCxnSpPr>
          <p:nvPr/>
        </p:nvCxnSpPr>
        <p:spPr bwMode="auto">
          <a:xfrm flipV="1">
            <a:off x="7905328" y="4791545"/>
            <a:ext cx="870186" cy="22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452934583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교육과정을 개발하기 위한 수요조사와 그에 따른 연간교육계획을 시스템을 통하여 할 수 있도록 업무프로세스를 변경함 </a:t>
            </a:r>
          </a:p>
        </p:txBody>
      </p:sp>
      <p:sp>
        <p:nvSpPr>
          <p:cNvPr id="6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3.3.2.14 </a:t>
            </a:r>
            <a:r>
              <a:rPr lang="ko-KR" altLang="en-US" dirty="0"/>
              <a:t>교육과정관리 </a:t>
            </a:r>
            <a:r>
              <a:rPr lang="en-US" altLang="ko-KR" dirty="0"/>
              <a:t>(2/5)</a:t>
            </a:r>
            <a:endParaRPr lang="ko-KR" altLang="en-US" dirty="0"/>
          </a:p>
        </p:txBody>
      </p:sp>
      <p:sp>
        <p:nvSpPr>
          <p:cNvPr id="70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1477875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교육계획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0882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99" name="Shape 266"/>
          <p:cNvCxnSpPr>
            <a:cxnSpLocks noChangeShapeType="1"/>
            <a:stCxn id="73" idx="6"/>
            <a:endCxn id="74" idx="1"/>
          </p:cNvCxnSpPr>
          <p:nvPr/>
        </p:nvCxnSpPr>
        <p:spPr bwMode="auto">
          <a:xfrm>
            <a:off x="1662926" y="3656880"/>
            <a:ext cx="630069" cy="60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3" name="Shape 266"/>
          <p:cNvCxnSpPr>
            <a:cxnSpLocks noChangeShapeType="1"/>
            <a:stCxn id="74" idx="2"/>
            <a:endCxn id="76" idx="0"/>
          </p:cNvCxnSpPr>
          <p:nvPr/>
        </p:nvCxnSpPr>
        <p:spPr bwMode="auto">
          <a:xfrm>
            <a:off x="2721623" y="3817871"/>
            <a:ext cx="0" cy="2394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/>
          <p:cNvCxnSpPr>
            <a:cxnSpLocks noChangeShapeType="1"/>
            <a:stCxn id="76" idx="2"/>
            <a:endCxn id="77" idx="0"/>
          </p:cNvCxnSpPr>
          <p:nvPr/>
        </p:nvCxnSpPr>
        <p:spPr bwMode="auto">
          <a:xfrm>
            <a:off x="2721623" y="4378130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0" name="Shape 266"/>
          <p:cNvCxnSpPr>
            <a:cxnSpLocks noChangeShapeType="1"/>
            <a:stCxn id="77" idx="3"/>
            <a:endCxn id="78" idx="1"/>
          </p:cNvCxnSpPr>
          <p:nvPr/>
        </p:nvCxnSpPr>
        <p:spPr bwMode="auto">
          <a:xfrm flipV="1">
            <a:off x="3150251" y="2531601"/>
            <a:ext cx="447355" cy="226220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" name="Shape 266"/>
          <p:cNvCxnSpPr>
            <a:cxnSpLocks noChangeShapeType="1"/>
            <a:stCxn id="78" idx="2"/>
            <a:endCxn id="89" idx="0"/>
          </p:cNvCxnSpPr>
          <p:nvPr/>
        </p:nvCxnSpPr>
        <p:spPr bwMode="auto">
          <a:xfrm>
            <a:off x="4026234" y="2691986"/>
            <a:ext cx="0" cy="80511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4" name="직사각형 73"/>
          <p:cNvSpPr/>
          <p:nvPr/>
        </p:nvSpPr>
        <p:spPr bwMode="auto">
          <a:xfrm>
            <a:off x="2292995" y="349710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연간교육 계획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직사각형 75"/>
          <p:cNvSpPr/>
          <p:nvPr/>
        </p:nvSpPr>
        <p:spPr bwMode="auto">
          <a:xfrm>
            <a:off x="2292995" y="40573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연간교육계획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2292995" y="463342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연간교육계획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기획안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3597606" y="237121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연간교육계획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9" name="직사각형 88"/>
          <p:cNvSpPr/>
          <p:nvPr/>
        </p:nvSpPr>
        <p:spPr bwMode="auto">
          <a:xfrm>
            <a:off x="3597606" y="3497100"/>
            <a:ext cx="857256" cy="49235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연간교육 세부계획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3597606" y="4217180"/>
            <a:ext cx="857256" cy="49235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연간교육 세부계획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기획안 승인요청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2" name="직사각형 91"/>
          <p:cNvSpPr/>
          <p:nvPr/>
        </p:nvSpPr>
        <p:spPr bwMode="auto">
          <a:xfrm>
            <a:off x="4995431" y="2818399"/>
            <a:ext cx="857256" cy="437025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연간교육 세부계획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4" name="Shape 266"/>
          <p:cNvCxnSpPr>
            <a:cxnSpLocks noChangeShapeType="1"/>
            <a:stCxn id="89" idx="2"/>
            <a:endCxn id="90" idx="0"/>
          </p:cNvCxnSpPr>
          <p:nvPr/>
        </p:nvCxnSpPr>
        <p:spPr bwMode="auto">
          <a:xfrm>
            <a:off x="4026234" y="3989450"/>
            <a:ext cx="0" cy="2277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90" idx="3"/>
            <a:endCxn id="92" idx="1"/>
          </p:cNvCxnSpPr>
          <p:nvPr/>
        </p:nvCxnSpPr>
        <p:spPr bwMode="auto">
          <a:xfrm flipV="1">
            <a:off x="4454862" y="3036912"/>
            <a:ext cx="540569" cy="142644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8" name="직사각형 107"/>
          <p:cNvSpPr/>
          <p:nvPr/>
        </p:nvSpPr>
        <p:spPr bwMode="auto">
          <a:xfrm>
            <a:off x="4995431" y="36411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연간교육계획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1" name="Shape 266"/>
          <p:cNvCxnSpPr>
            <a:cxnSpLocks noChangeShapeType="1"/>
            <a:stCxn id="92" idx="2"/>
            <a:endCxn id="108" idx="0"/>
          </p:cNvCxnSpPr>
          <p:nvPr/>
        </p:nvCxnSpPr>
        <p:spPr bwMode="auto">
          <a:xfrm>
            <a:off x="5424059" y="3255424"/>
            <a:ext cx="0" cy="38569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/>
          <p:cNvCxnSpPr>
            <a:cxnSpLocks noChangeShapeType="1"/>
            <a:stCxn id="108" idx="2"/>
            <a:endCxn id="75" idx="0"/>
          </p:cNvCxnSpPr>
          <p:nvPr/>
        </p:nvCxnSpPr>
        <p:spPr bwMode="auto">
          <a:xfrm>
            <a:off x="5424059" y="3961887"/>
            <a:ext cx="3098" cy="151308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11"/>
          <p:cNvGrpSpPr/>
          <p:nvPr/>
        </p:nvGrpSpPr>
        <p:grpSpPr>
          <a:xfrm>
            <a:off x="6999807" y="4437112"/>
            <a:ext cx="833513" cy="417772"/>
            <a:chOff x="1357741" y="2874679"/>
            <a:chExt cx="756425" cy="417772"/>
          </a:xfrm>
        </p:grpSpPr>
        <p:sp>
          <p:nvSpPr>
            <p:cNvPr id="113" name="육각형 112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교육과정 개발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계획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4" name="직사각형 11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5" name="직사각형 11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63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3662975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3" name="타원 72"/>
          <p:cNvSpPr/>
          <p:nvPr/>
        </p:nvSpPr>
        <p:spPr>
          <a:xfrm>
            <a:off x="1460612" y="356400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75" name="직사각형 74"/>
          <p:cNvSpPr/>
          <p:nvPr/>
        </p:nvSpPr>
        <p:spPr bwMode="auto">
          <a:xfrm>
            <a:off x="4998529" y="547496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연간교육계획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9" name="Shape 266"/>
          <p:cNvCxnSpPr>
            <a:cxnSpLocks noChangeShapeType="1"/>
            <a:stCxn id="75" idx="3"/>
            <a:endCxn id="114" idx="2"/>
          </p:cNvCxnSpPr>
          <p:nvPr/>
        </p:nvCxnSpPr>
        <p:spPr bwMode="auto">
          <a:xfrm flipV="1">
            <a:off x="5855785" y="4854884"/>
            <a:ext cx="1560933" cy="78047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897867339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교육과정을 개발하기 위한 수요조사와 그에 따른 연간교육계획을 시스템을 통하여 할 수 있도록 업무프로세스를 변경함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3.3.2.14 </a:t>
            </a:r>
            <a:r>
              <a:rPr lang="ko-KR" altLang="en-US" dirty="0"/>
              <a:t>교육과정관리 </a:t>
            </a:r>
            <a:r>
              <a:rPr lang="en-US" altLang="ko-KR" dirty="0"/>
              <a:t>(3/5)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856842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수요 조사 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신규 또는 변경이 필요한 교육과정 수요조사를 위한 기획안을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수요조사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수요 조사 기획안 승인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전결권자에게 교육과정 수요조사 기획안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수요조사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수요 조사 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교육담당자가 요청한 교육과정 수요조사 기획안을 확인하고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완료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수요조사 기획안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수요 조사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교육과정 수요조사 기획안에 따른 수요조사 진행을 위해 수요조사 일정 및 내용을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수요조사 기획안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수요 조사 결과 제출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온라인으로 교육과정 수요조사 결과를 작성하여 교육담당자에게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수요조사 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수요조사 결과 접수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직원이 작성하여 제출한 교육과정 수요조사 결과를 접수하여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확인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수요조사 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위탁교육과정 정보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교육과정 수요조사에 외부 위탁교육이 존재할 경우 외부 위탁교육 진행업체에 관련 자료를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위탁교육 교육정보 제출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외부 위탁교육 업체가 교육담당자가 요청한 외부위탁교육에 대한 자료를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개발 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수요조사 결과와 외부 위탁교육 자료를 조합하여 교육과정 개발 기획안을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 개발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개발 기획안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전결권자에게 교육과정 개발 기획안에 대한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 개발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교육과정을 개발하기 위한 수요조사와 그에 따른 연간교육계획을 시스템을 통하여 할 수 있도록 업무프로세스를 변경함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3.3.2.14 </a:t>
            </a:r>
            <a:r>
              <a:rPr lang="ko-KR" altLang="en-US" dirty="0"/>
              <a:t>교육과정관리 </a:t>
            </a:r>
            <a:r>
              <a:rPr lang="en-US" altLang="ko-KR" dirty="0"/>
              <a:t>(4/5)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8730805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교육과정 개발 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교육담당자가 요청한 교육과정 개발 기획안을 확인하고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완료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교육과정 개발기획안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표준교육 과정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승인된 교육과정 개발 기획안을 기반으로 신규 및 변경 교육과정을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표준교육과정정보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교육강사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내부교육 시행 시 강의를 할 강사에 대한 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교육강사정보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교육기관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외부 위탁교육 실시를 할 경우 해당 교육을 시행할 교육기관 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교육기관정보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 계획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교육과정 개설에 따른 연간 교육실시 계획을 수립하고 정보를 등록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연간교육계획 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수립된 연간 교육계획에 대해 승인을 위한 기획안을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연간교육계획 기획안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전결권자에게 연간 교육계획 기획안에 대한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연간교육계획 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교육담당자가 요청한 교육과정 개발 기획안을 확인하고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완료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 세부계획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승인된 연간교육계획 기획안을 기반으로 세부 상세 교육계획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기획안을 작성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 세부계획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기획안 승인요청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연간 교육 세부계획 기획안에 대한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교육과정을 개발하기 위한 수요조사와 그에 따른 연간교육계획을 시스템을 통하여 할 수 있도록 업무프로세스를 변경함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3.3.2.14 </a:t>
            </a:r>
            <a:r>
              <a:rPr lang="ko-KR" altLang="en-US" dirty="0"/>
              <a:t>교육과정관리 </a:t>
            </a:r>
            <a:r>
              <a:rPr lang="en-US" altLang="ko-KR" dirty="0"/>
              <a:t>(5/5)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966632"/>
              </p:ext>
            </p:extLst>
          </p:nvPr>
        </p:nvGraphicFramePr>
        <p:xfrm>
          <a:off x="344488" y="1604186"/>
          <a:ext cx="9180513" cy="16154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 세부계획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전결권자가 교육담당자가 요청한 연간 교육 세부계획 기획안을 확인하고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승인을 완료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연간교육계획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전결권자의 승인이 완료된 연간 교육계획에 대해 최종적으로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연간교육계획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확정한 연간 교육계획을 직원이 조회하고 교육을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연간교육계획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5666136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교육기초정보관리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929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99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3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(1/10)</a:t>
            </a:r>
            <a:endParaRPr lang="ko-KR" altLang="en-US" dirty="0"/>
          </a:p>
        </p:txBody>
      </p:sp>
      <p:sp>
        <p:nvSpPr>
          <p:cNvPr id="3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pSp>
        <p:nvGrpSpPr>
          <p:cNvPr id="4" name="그룹 65"/>
          <p:cNvGrpSpPr/>
          <p:nvPr/>
        </p:nvGrpSpPr>
        <p:grpSpPr>
          <a:xfrm>
            <a:off x="1532279" y="2852936"/>
            <a:ext cx="972449" cy="417772"/>
            <a:chOff x="1357741" y="2874679"/>
            <a:chExt cx="756425" cy="417772"/>
          </a:xfrm>
        </p:grpSpPr>
        <p:sp>
          <p:nvSpPr>
            <p:cNvPr id="67" name="육각형 6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교육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시행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직사각형 6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5" name="직사각형 84"/>
          <p:cNvSpPr/>
          <p:nvPr/>
        </p:nvSpPr>
        <p:spPr bwMode="auto">
          <a:xfrm>
            <a:off x="1587353" y="345506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설문지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6" name="직사각형 85"/>
          <p:cNvSpPr/>
          <p:nvPr/>
        </p:nvSpPr>
        <p:spPr bwMode="auto">
          <a:xfrm>
            <a:off x="1588980" y="396018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직급별 이수학점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5" name="Shape 266"/>
          <p:cNvCxnSpPr>
            <a:cxnSpLocks noChangeShapeType="1"/>
            <a:stCxn id="68" idx="2"/>
            <a:endCxn id="85" idx="0"/>
          </p:cNvCxnSpPr>
          <p:nvPr/>
        </p:nvCxnSpPr>
        <p:spPr bwMode="auto">
          <a:xfrm flipH="1">
            <a:off x="2015981" y="3270708"/>
            <a:ext cx="2703" cy="1843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8" name="Shape 266"/>
          <p:cNvCxnSpPr>
            <a:cxnSpLocks noChangeShapeType="1"/>
            <a:stCxn id="85" idx="2"/>
            <a:endCxn id="86" idx="0"/>
          </p:cNvCxnSpPr>
          <p:nvPr/>
        </p:nvCxnSpPr>
        <p:spPr bwMode="auto">
          <a:xfrm>
            <a:off x="2015981" y="3775831"/>
            <a:ext cx="1627" cy="1843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" name="직사각형 101"/>
          <p:cNvSpPr/>
          <p:nvPr/>
        </p:nvSpPr>
        <p:spPr bwMode="auto">
          <a:xfrm>
            <a:off x="1585558" y="446530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교육신청일정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4" name="Shape 266"/>
          <p:cNvCxnSpPr>
            <a:cxnSpLocks noChangeShapeType="1"/>
            <a:stCxn id="86" idx="2"/>
            <a:endCxn id="102" idx="0"/>
          </p:cNvCxnSpPr>
          <p:nvPr/>
        </p:nvCxnSpPr>
        <p:spPr bwMode="auto">
          <a:xfrm flipH="1">
            <a:off x="2014186" y="4280954"/>
            <a:ext cx="3422" cy="1843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6" name="직사각형 115"/>
          <p:cNvSpPr/>
          <p:nvPr/>
        </p:nvSpPr>
        <p:spPr bwMode="auto">
          <a:xfrm>
            <a:off x="4682098" y="291393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7" name="Shape 266"/>
          <p:cNvCxnSpPr>
            <a:cxnSpLocks noChangeShapeType="1"/>
            <a:stCxn id="29" idx="0"/>
            <a:endCxn id="116" idx="1"/>
          </p:cNvCxnSpPr>
          <p:nvPr/>
        </p:nvCxnSpPr>
        <p:spPr bwMode="auto">
          <a:xfrm rot="5400000" flipH="1" flipV="1">
            <a:off x="3788110" y="2687621"/>
            <a:ext cx="507286" cy="128069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8" name="타원 117"/>
          <p:cNvSpPr/>
          <p:nvPr/>
        </p:nvSpPr>
        <p:spPr>
          <a:xfrm>
            <a:off x="7836966" y="298060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28" name="타원 127"/>
          <p:cNvSpPr/>
          <p:nvPr/>
        </p:nvSpPr>
        <p:spPr>
          <a:xfrm>
            <a:off x="7836966" y="374199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30" name="Shape 266"/>
          <p:cNvCxnSpPr>
            <a:cxnSpLocks noChangeShapeType="1"/>
            <a:stCxn id="116" idx="3"/>
            <a:endCxn id="118" idx="2"/>
          </p:cNvCxnSpPr>
          <p:nvPr/>
        </p:nvCxnSpPr>
        <p:spPr bwMode="auto">
          <a:xfrm flipV="1">
            <a:off x="5539354" y="3073489"/>
            <a:ext cx="2297612" cy="8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1" name="Shape 266"/>
          <p:cNvCxnSpPr>
            <a:cxnSpLocks noChangeShapeType="1"/>
            <a:stCxn id="3" idx="4"/>
            <a:endCxn id="128" idx="2"/>
          </p:cNvCxnSpPr>
          <p:nvPr/>
        </p:nvCxnSpPr>
        <p:spPr bwMode="auto">
          <a:xfrm rot="16200000" flipH="1">
            <a:off x="6301548" y="2299457"/>
            <a:ext cx="598096" cy="247273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" name="Shape 266"/>
          <p:cNvCxnSpPr>
            <a:cxnSpLocks noChangeShapeType="1"/>
            <a:stCxn id="116" idx="2"/>
            <a:endCxn id="138" idx="2"/>
          </p:cNvCxnSpPr>
          <p:nvPr/>
        </p:nvCxnSpPr>
        <p:spPr bwMode="auto">
          <a:xfrm rot="16200000" flipH="1">
            <a:off x="5798102" y="2547332"/>
            <a:ext cx="1361552" cy="273630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8" name="타원 137"/>
          <p:cNvSpPr/>
          <p:nvPr/>
        </p:nvSpPr>
        <p:spPr>
          <a:xfrm>
            <a:off x="7847030" y="450338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32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811866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교육신청결과관리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타원 2"/>
          <p:cNvSpPr/>
          <p:nvPr/>
        </p:nvSpPr>
        <p:spPr>
          <a:xfrm>
            <a:off x="5287074" y="3065651"/>
            <a:ext cx="154306" cy="17112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2972780" y="446530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개설과정별 설문지 생성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8" name="Shape 266"/>
          <p:cNvCxnSpPr>
            <a:cxnSpLocks noChangeShapeType="1"/>
            <a:stCxn id="102" idx="3"/>
            <a:endCxn id="26" idx="1"/>
          </p:cNvCxnSpPr>
          <p:nvPr/>
        </p:nvCxnSpPr>
        <p:spPr bwMode="auto">
          <a:xfrm>
            <a:off x="2442814" y="4625691"/>
            <a:ext cx="52996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" name="직사각형 28"/>
          <p:cNvSpPr/>
          <p:nvPr/>
        </p:nvSpPr>
        <p:spPr bwMode="auto">
          <a:xfrm>
            <a:off x="2972780" y="358160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교육 대상자 기준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0" name="Shape 266"/>
          <p:cNvCxnSpPr>
            <a:cxnSpLocks noChangeShapeType="1"/>
            <a:stCxn id="26" idx="0"/>
            <a:endCxn id="29" idx="2"/>
          </p:cNvCxnSpPr>
          <p:nvPr/>
        </p:nvCxnSpPr>
        <p:spPr bwMode="auto">
          <a:xfrm flipV="1">
            <a:off x="3401408" y="3902380"/>
            <a:ext cx="0" cy="56292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982992399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2590066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3.4.2.2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자체교육 일괄신청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840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82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28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(2/10)</a:t>
            </a:r>
            <a:endParaRPr lang="ko-KR" altLang="en-US" dirty="0"/>
          </a:p>
        </p:txBody>
      </p:sp>
      <p:sp>
        <p:nvSpPr>
          <p:cNvPr id="29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116" name="직사각형 115"/>
          <p:cNvSpPr/>
          <p:nvPr/>
        </p:nvSpPr>
        <p:spPr bwMode="auto">
          <a:xfrm>
            <a:off x="3230021" y="289547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일괄교육 대상자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" name="타원 117"/>
          <p:cNvSpPr/>
          <p:nvPr/>
        </p:nvSpPr>
        <p:spPr>
          <a:xfrm>
            <a:off x="1496616" y="2958891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29" name="Shape 266"/>
          <p:cNvCxnSpPr>
            <a:cxnSpLocks noChangeShapeType="1"/>
            <a:stCxn id="118" idx="6"/>
            <a:endCxn id="116" idx="1"/>
          </p:cNvCxnSpPr>
          <p:nvPr/>
        </p:nvCxnSpPr>
        <p:spPr bwMode="auto">
          <a:xfrm>
            <a:off x="1698930" y="3051771"/>
            <a:ext cx="1531091" cy="40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" name="Shape 266"/>
          <p:cNvCxnSpPr>
            <a:cxnSpLocks noChangeShapeType="1"/>
            <a:stCxn id="71" idx="0"/>
            <a:endCxn id="73" idx="2"/>
          </p:cNvCxnSpPr>
          <p:nvPr/>
        </p:nvCxnSpPr>
        <p:spPr bwMode="auto">
          <a:xfrm rot="5400000" flipH="1" flipV="1">
            <a:off x="6492337" y="3486532"/>
            <a:ext cx="2357931" cy="154817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직사각형 55"/>
          <p:cNvSpPr/>
          <p:nvPr/>
        </p:nvSpPr>
        <p:spPr bwMode="auto">
          <a:xfrm>
            <a:off x="3230021" y="341043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일괄교육 대상자 선정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3230021" y="444037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일괄교육 공지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3230021" y="5467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일괄교육 공지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  <a:stCxn id="116" idx="2"/>
            <a:endCxn id="56" idx="0"/>
          </p:cNvCxnSpPr>
          <p:nvPr/>
        </p:nvCxnSpPr>
        <p:spPr bwMode="auto">
          <a:xfrm>
            <a:off x="3658649" y="3216241"/>
            <a:ext cx="0" cy="1941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2" name="Shape 266"/>
          <p:cNvCxnSpPr>
            <a:cxnSpLocks noChangeShapeType="1"/>
            <a:stCxn id="56" idx="2"/>
            <a:endCxn id="100" idx="0"/>
          </p:cNvCxnSpPr>
          <p:nvPr/>
        </p:nvCxnSpPr>
        <p:spPr bwMode="auto">
          <a:xfrm>
            <a:off x="3658649" y="3731210"/>
            <a:ext cx="1627" cy="1941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57" idx="2"/>
            <a:endCxn id="58" idx="0"/>
          </p:cNvCxnSpPr>
          <p:nvPr/>
        </p:nvCxnSpPr>
        <p:spPr bwMode="auto">
          <a:xfrm>
            <a:off x="3658649" y="4761148"/>
            <a:ext cx="0" cy="70641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순서도: 판단 161"/>
          <p:cNvSpPr>
            <a:spLocks noChangeArrowheads="1"/>
          </p:cNvSpPr>
          <p:nvPr/>
        </p:nvSpPr>
        <p:spPr bwMode="auto">
          <a:xfrm>
            <a:off x="6321152" y="5439583"/>
            <a:ext cx="1152128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교육참가 가능</a:t>
            </a:r>
          </a:p>
        </p:txBody>
      </p:sp>
      <p:cxnSp>
        <p:nvCxnSpPr>
          <p:cNvPr id="72" name="Shape 266"/>
          <p:cNvCxnSpPr>
            <a:cxnSpLocks noChangeShapeType="1"/>
            <a:stCxn id="58" idx="3"/>
            <a:endCxn id="71" idx="1"/>
          </p:cNvCxnSpPr>
          <p:nvPr/>
        </p:nvCxnSpPr>
        <p:spPr bwMode="auto">
          <a:xfrm flipV="1">
            <a:off x="4087277" y="5626700"/>
            <a:ext cx="2233875" cy="12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" name="타원 72"/>
          <p:cNvSpPr/>
          <p:nvPr/>
        </p:nvSpPr>
        <p:spPr>
          <a:xfrm>
            <a:off x="8445388" y="298877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646826" y="5070376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71" idx="3"/>
            <a:endCxn id="99" idx="2"/>
          </p:cNvCxnSpPr>
          <p:nvPr/>
        </p:nvCxnSpPr>
        <p:spPr bwMode="auto">
          <a:xfrm>
            <a:off x="7473280" y="5626700"/>
            <a:ext cx="972108" cy="52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TextBox 80"/>
          <p:cNvSpPr txBox="1"/>
          <p:nvPr/>
        </p:nvSpPr>
        <p:spPr>
          <a:xfrm>
            <a:off x="7545288" y="5373216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8445388" y="553902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00" name="직사각형 99"/>
          <p:cNvSpPr/>
          <p:nvPr/>
        </p:nvSpPr>
        <p:spPr bwMode="auto">
          <a:xfrm>
            <a:off x="3231648" y="392540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일괄교육 대상자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3" name="Shape 266"/>
          <p:cNvCxnSpPr>
            <a:cxnSpLocks noChangeShapeType="1"/>
            <a:stCxn id="100" idx="2"/>
            <a:endCxn id="57" idx="0"/>
          </p:cNvCxnSpPr>
          <p:nvPr/>
        </p:nvCxnSpPr>
        <p:spPr bwMode="auto">
          <a:xfrm flipH="1">
            <a:off x="3658649" y="4246179"/>
            <a:ext cx="1627" cy="1941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26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243380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교육신청결과관리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순서도: 종속 처리 64"/>
          <p:cNvSpPr>
            <a:spLocks noChangeAspect="1" noChangeArrowheads="1"/>
          </p:cNvSpPr>
          <p:nvPr/>
        </p:nvSpPr>
        <p:spPr bwMode="auto">
          <a:xfrm>
            <a:off x="4844988" y="3934552"/>
            <a:ext cx="94981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1.3.1.2.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지출요구</a:t>
            </a:r>
          </a:p>
        </p:txBody>
      </p:sp>
      <p:cxnSp>
        <p:nvCxnSpPr>
          <p:cNvPr id="31" name="Shape 266"/>
          <p:cNvCxnSpPr>
            <a:cxnSpLocks noChangeShapeType="1"/>
            <a:stCxn id="100" idx="3"/>
            <a:endCxn id="27" idx="1"/>
          </p:cNvCxnSpPr>
          <p:nvPr/>
        </p:nvCxnSpPr>
        <p:spPr bwMode="auto">
          <a:xfrm>
            <a:off x="4088904" y="4085794"/>
            <a:ext cx="756084" cy="5158"/>
          </a:xfrm>
          <a:prstGeom prst="straightConnector1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2" name="순서도: 종속 처리 64"/>
          <p:cNvSpPr>
            <a:spLocks noChangeAspect="1" noChangeArrowheads="1"/>
          </p:cNvSpPr>
          <p:nvPr/>
        </p:nvSpPr>
        <p:spPr bwMode="auto">
          <a:xfrm>
            <a:off x="1784648" y="3934552"/>
            <a:ext cx="87528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3.1.7.3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일근태</a:t>
            </a:r>
            <a:r>
              <a:rPr lang="ko-KR" altLang="en-US" sz="900" kern="0" spc="-17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33" name="Shape 266"/>
          <p:cNvCxnSpPr>
            <a:cxnSpLocks noChangeShapeType="1"/>
            <a:stCxn id="100" idx="1"/>
            <a:endCxn id="32" idx="3"/>
          </p:cNvCxnSpPr>
          <p:nvPr/>
        </p:nvCxnSpPr>
        <p:spPr bwMode="auto">
          <a:xfrm flipH="1">
            <a:off x="2659933" y="4085794"/>
            <a:ext cx="571715" cy="5158"/>
          </a:xfrm>
          <a:prstGeom prst="straightConnector1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930622050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298902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3.4.2.3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자체교육 개별신청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751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171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28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(3/10)</a:t>
            </a:r>
            <a:endParaRPr lang="ko-KR" altLang="en-US" dirty="0"/>
          </a:p>
        </p:txBody>
      </p:sp>
      <p:sp>
        <p:nvSpPr>
          <p:cNvPr id="29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118" name="타원 117"/>
          <p:cNvSpPr/>
          <p:nvPr/>
        </p:nvSpPr>
        <p:spPr>
          <a:xfrm>
            <a:off x="1798358" y="350088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29" name="Shape 266"/>
          <p:cNvCxnSpPr>
            <a:cxnSpLocks noChangeShapeType="1"/>
            <a:stCxn id="58" idx="3"/>
            <a:endCxn id="47" idx="1"/>
          </p:cNvCxnSpPr>
          <p:nvPr/>
        </p:nvCxnSpPr>
        <p:spPr bwMode="auto">
          <a:xfrm>
            <a:off x="2336938" y="5627945"/>
            <a:ext cx="42112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" name="Shape 266"/>
          <p:cNvCxnSpPr>
            <a:cxnSpLocks noChangeShapeType="1"/>
            <a:stCxn id="71" idx="0"/>
            <a:endCxn id="73" idx="2"/>
          </p:cNvCxnSpPr>
          <p:nvPr/>
        </p:nvCxnSpPr>
        <p:spPr bwMode="auto">
          <a:xfrm rot="5400000" flipH="1" flipV="1">
            <a:off x="6150474" y="4003523"/>
            <a:ext cx="1865607" cy="102344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1479682" y="5467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 가능교육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5" name="Shape 266"/>
          <p:cNvCxnSpPr>
            <a:cxnSpLocks noChangeShapeType="1"/>
            <a:stCxn id="118" idx="4"/>
            <a:endCxn id="58" idx="0"/>
          </p:cNvCxnSpPr>
          <p:nvPr/>
        </p:nvCxnSpPr>
        <p:spPr bwMode="auto">
          <a:xfrm>
            <a:off x="1899515" y="3686648"/>
            <a:ext cx="8795" cy="178091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순서도: 판단 161"/>
          <p:cNvSpPr>
            <a:spLocks noChangeArrowheads="1"/>
          </p:cNvSpPr>
          <p:nvPr/>
        </p:nvSpPr>
        <p:spPr bwMode="auto">
          <a:xfrm>
            <a:off x="5995489" y="5448050"/>
            <a:ext cx="1152128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교육참가 가능</a:t>
            </a:r>
          </a:p>
        </p:txBody>
      </p:sp>
      <p:sp>
        <p:nvSpPr>
          <p:cNvPr id="73" name="타원 72"/>
          <p:cNvSpPr/>
          <p:nvPr/>
        </p:nvSpPr>
        <p:spPr>
          <a:xfrm>
            <a:off x="7595002" y="348956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321163" y="5157192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71" idx="3"/>
            <a:endCxn id="99" idx="2"/>
          </p:cNvCxnSpPr>
          <p:nvPr/>
        </p:nvCxnSpPr>
        <p:spPr bwMode="auto">
          <a:xfrm flipV="1">
            <a:off x="7147617" y="5631909"/>
            <a:ext cx="447385" cy="32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TextBox 80"/>
          <p:cNvSpPr txBox="1"/>
          <p:nvPr/>
        </p:nvSpPr>
        <p:spPr>
          <a:xfrm>
            <a:off x="7111613" y="5394412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7595002" y="553902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>
            <a:off x="2758067" y="5467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개별교육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0" name="직사각형 49"/>
          <p:cNvSpPr/>
          <p:nvPr/>
        </p:nvSpPr>
        <p:spPr bwMode="auto">
          <a:xfrm>
            <a:off x="2758067" y="494116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개별교육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1" name="Shape 266"/>
          <p:cNvCxnSpPr>
            <a:cxnSpLocks noChangeShapeType="1"/>
            <a:stCxn id="47" idx="0"/>
            <a:endCxn id="50" idx="2"/>
          </p:cNvCxnSpPr>
          <p:nvPr/>
        </p:nvCxnSpPr>
        <p:spPr bwMode="auto">
          <a:xfrm flipV="1">
            <a:off x="3186695" y="5261939"/>
            <a:ext cx="0" cy="2056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4" name="직사각형 53"/>
          <p:cNvSpPr/>
          <p:nvPr/>
        </p:nvSpPr>
        <p:spPr bwMode="auto">
          <a:xfrm>
            <a:off x="3951728" y="35730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개별교육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 담당자 승인</a:t>
            </a:r>
            <a:endParaRPr lang="en-US" altLang="ko-KR" sz="900" kern="0" spc="-13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5" name="Shape 266"/>
          <p:cNvCxnSpPr>
            <a:cxnSpLocks noChangeShapeType="1"/>
            <a:stCxn id="50" idx="3"/>
            <a:endCxn id="54" idx="1"/>
          </p:cNvCxnSpPr>
          <p:nvPr/>
        </p:nvCxnSpPr>
        <p:spPr bwMode="auto">
          <a:xfrm flipV="1">
            <a:off x="3615323" y="3733402"/>
            <a:ext cx="336405" cy="136815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3" name="직사각형 62"/>
          <p:cNvSpPr/>
          <p:nvPr/>
        </p:nvSpPr>
        <p:spPr bwMode="auto">
          <a:xfrm>
            <a:off x="3951728" y="547602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개별교육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 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4" name="Shape 266"/>
          <p:cNvCxnSpPr>
            <a:cxnSpLocks noChangeShapeType="1"/>
            <a:stCxn id="54" idx="2"/>
            <a:endCxn id="63" idx="0"/>
          </p:cNvCxnSpPr>
          <p:nvPr/>
        </p:nvCxnSpPr>
        <p:spPr bwMode="auto">
          <a:xfrm>
            <a:off x="4380356" y="3893787"/>
            <a:ext cx="0" cy="15822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63" idx="3"/>
            <a:endCxn id="71" idx="1"/>
          </p:cNvCxnSpPr>
          <p:nvPr/>
        </p:nvCxnSpPr>
        <p:spPr bwMode="auto">
          <a:xfrm flipV="1">
            <a:off x="4808984" y="5635167"/>
            <a:ext cx="1186505" cy="12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26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715205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교육신청결과관리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순서도: 종속 처리 64"/>
          <p:cNvSpPr>
            <a:spLocks noChangeAspect="1" noChangeArrowheads="1"/>
          </p:cNvSpPr>
          <p:nvPr/>
        </p:nvSpPr>
        <p:spPr bwMode="auto">
          <a:xfrm>
            <a:off x="5191317" y="4977172"/>
            <a:ext cx="94981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1.3.1.2.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지출요구</a:t>
            </a:r>
          </a:p>
        </p:txBody>
      </p:sp>
      <p:cxnSp>
        <p:nvCxnSpPr>
          <p:cNvPr id="30" name="Shape 266"/>
          <p:cNvCxnSpPr>
            <a:cxnSpLocks noChangeShapeType="1"/>
            <a:stCxn id="63" idx="3"/>
            <a:endCxn id="27" idx="1"/>
          </p:cNvCxnSpPr>
          <p:nvPr/>
        </p:nvCxnSpPr>
        <p:spPr bwMode="auto">
          <a:xfrm flipV="1">
            <a:off x="4808984" y="5133572"/>
            <a:ext cx="382333" cy="5028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" name="순서도: 종속 처리 64"/>
          <p:cNvSpPr>
            <a:spLocks noChangeAspect="1" noChangeArrowheads="1"/>
          </p:cNvSpPr>
          <p:nvPr/>
        </p:nvSpPr>
        <p:spPr bwMode="auto">
          <a:xfrm>
            <a:off x="5191317" y="4182603"/>
            <a:ext cx="87528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3.1.7.3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일근태</a:t>
            </a:r>
            <a:r>
              <a:rPr lang="ko-KR" altLang="en-US" sz="900" kern="0" spc="-17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32" name="Shape 266"/>
          <p:cNvCxnSpPr>
            <a:cxnSpLocks noChangeShapeType="1"/>
            <a:stCxn id="54" idx="3"/>
            <a:endCxn id="31" idx="0"/>
          </p:cNvCxnSpPr>
          <p:nvPr/>
        </p:nvCxnSpPr>
        <p:spPr bwMode="auto">
          <a:xfrm>
            <a:off x="4808984" y="3733402"/>
            <a:ext cx="819976" cy="449201"/>
          </a:xfrm>
          <a:prstGeom prst="bentConnector2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433324685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421578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3.4.2.4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위탁교육 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72358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232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12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361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68052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51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(4/10)</a:t>
            </a:r>
            <a:endParaRPr lang="ko-KR" altLang="en-US" dirty="0"/>
          </a:p>
        </p:txBody>
      </p:sp>
      <p:sp>
        <p:nvSpPr>
          <p:cNvPr id="56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118" name="타원 117"/>
          <p:cNvSpPr/>
          <p:nvPr/>
        </p:nvSpPr>
        <p:spPr>
          <a:xfrm>
            <a:off x="1424608" y="551723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5" name="Shape 266"/>
          <p:cNvCxnSpPr>
            <a:cxnSpLocks noChangeShapeType="1"/>
            <a:stCxn id="118" idx="6"/>
            <a:endCxn id="60" idx="1"/>
          </p:cNvCxnSpPr>
          <p:nvPr/>
        </p:nvCxnSpPr>
        <p:spPr bwMode="auto">
          <a:xfrm>
            <a:off x="1626922" y="5610112"/>
            <a:ext cx="236574" cy="437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" name="타원 72"/>
          <p:cNvSpPr/>
          <p:nvPr/>
        </p:nvSpPr>
        <p:spPr>
          <a:xfrm>
            <a:off x="8783134" y="348956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8783134" y="458112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03" name="직사각형 102"/>
          <p:cNvSpPr/>
          <p:nvPr/>
        </p:nvSpPr>
        <p:spPr bwMode="auto">
          <a:xfrm>
            <a:off x="5205028" y="375630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25.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위탁교육 신청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담당자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8" name="Shape 266"/>
          <p:cNvCxnSpPr>
            <a:cxnSpLocks noChangeShapeType="1"/>
            <a:stCxn id="119" idx="0"/>
            <a:endCxn id="73" idx="2"/>
          </p:cNvCxnSpPr>
          <p:nvPr/>
        </p:nvCxnSpPr>
        <p:spPr bwMode="auto">
          <a:xfrm rot="5400000" flipH="1" flipV="1">
            <a:off x="7566575" y="4222939"/>
            <a:ext cx="1857055" cy="57606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1" name="직사각형 110"/>
          <p:cNvSpPr/>
          <p:nvPr/>
        </p:nvSpPr>
        <p:spPr bwMode="auto">
          <a:xfrm>
            <a:off x="5205028" y="5467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26.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위탁교육 신청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2" name="Shape 266"/>
          <p:cNvCxnSpPr>
            <a:cxnSpLocks noChangeShapeType="1"/>
            <a:stCxn id="86" idx="2"/>
            <a:endCxn id="103" idx="0"/>
          </p:cNvCxnSpPr>
          <p:nvPr/>
        </p:nvCxnSpPr>
        <p:spPr bwMode="auto">
          <a:xfrm>
            <a:off x="5633656" y="3248980"/>
            <a:ext cx="0" cy="50732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" name="Shape 266"/>
          <p:cNvCxnSpPr>
            <a:cxnSpLocks noChangeShapeType="1"/>
            <a:stCxn id="119" idx="3"/>
            <a:endCxn id="99" idx="4"/>
          </p:cNvCxnSpPr>
          <p:nvPr/>
        </p:nvCxnSpPr>
        <p:spPr bwMode="auto">
          <a:xfrm flipV="1">
            <a:off x="8783134" y="4766888"/>
            <a:ext cx="101157" cy="85972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" name="순서도: 판단 161"/>
          <p:cNvSpPr>
            <a:spLocks noChangeArrowheads="1"/>
          </p:cNvSpPr>
          <p:nvPr/>
        </p:nvSpPr>
        <p:spPr bwMode="auto">
          <a:xfrm>
            <a:off x="7631006" y="5439498"/>
            <a:ext cx="1152128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교육참가 가능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991046" y="5113784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8654318" y="5358408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8" name="Shape 266"/>
          <p:cNvCxnSpPr>
            <a:cxnSpLocks noChangeShapeType="1"/>
            <a:stCxn id="111" idx="3"/>
            <a:endCxn id="119" idx="1"/>
          </p:cNvCxnSpPr>
          <p:nvPr/>
        </p:nvCxnSpPr>
        <p:spPr bwMode="auto">
          <a:xfrm flipV="1">
            <a:off x="6062284" y="5626615"/>
            <a:ext cx="1568722" cy="13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49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2041265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교육신청결과관리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8" name="직사각형 57"/>
          <p:cNvSpPr/>
          <p:nvPr/>
        </p:nvSpPr>
        <p:spPr bwMode="auto">
          <a:xfrm>
            <a:off x="2806440" y="545410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 교육과정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개설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1863496" y="545410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 교육과정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개설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1863496" y="440110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 교육과정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개설 부서장승인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2806440" y="292820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 교육과정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개설 담당자승인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9" name="Shape 266"/>
          <p:cNvCxnSpPr>
            <a:cxnSpLocks noChangeShapeType="1"/>
            <a:stCxn id="60" idx="0"/>
            <a:endCxn id="71" idx="2"/>
          </p:cNvCxnSpPr>
          <p:nvPr/>
        </p:nvCxnSpPr>
        <p:spPr bwMode="auto">
          <a:xfrm flipV="1">
            <a:off x="2292124" y="5297943"/>
            <a:ext cx="0" cy="15615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61" idx="0"/>
            <a:endCxn id="68" idx="1"/>
          </p:cNvCxnSpPr>
          <p:nvPr/>
        </p:nvCxnSpPr>
        <p:spPr bwMode="auto">
          <a:xfrm rot="5400000" flipH="1" flipV="1">
            <a:off x="1893026" y="3487694"/>
            <a:ext cx="1312513" cy="51431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/>
          <p:cNvSpPr/>
          <p:nvPr/>
        </p:nvSpPr>
        <p:spPr bwMode="auto">
          <a:xfrm>
            <a:off x="1863496" y="49771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 교육과정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개설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4" name="Shape 266"/>
          <p:cNvCxnSpPr>
            <a:cxnSpLocks noChangeShapeType="1"/>
            <a:stCxn id="71" idx="0"/>
            <a:endCxn id="61" idx="2"/>
          </p:cNvCxnSpPr>
          <p:nvPr/>
        </p:nvCxnSpPr>
        <p:spPr bwMode="auto">
          <a:xfrm flipV="1">
            <a:off x="2292124" y="4721879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68" idx="2"/>
            <a:endCxn id="58" idx="0"/>
          </p:cNvCxnSpPr>
          <p:nvPr/>
        </p:nvCxnSpPr>
        <p:spPr bwMode="auto">
          <a:xfrm>
            <a:off x="3235068" y="3248980"/>
            <a:ext cx="0" cy="22051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직사각형 78"/>
          <p:cNvSpPr/>
          <p:nvPr/>
        </p:nvSpPr>
        <p:spPr bwMode="auto">
          <a:xfrm>
            <a:off x="3879720" y="545410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위탁교육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0" name="Shape 266"/>
          <p:cNvCxnSpPr>
            <a:cxnSpLocks noChangeShapeType="1"/>
            <a:stCxn id="58" idx="3"/>
            <a:endCxn id="79" idx="1"/>
          </p:cNvCxnSpPr>
          <p:nvPr/>
        </p:nvCxnSpPr>
        <p:spPr bwMode="auto">
          <a:xfrm>
            <a:off x="3663696" y="5614488"/>
            <a:ext cx="21602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3879720" y="443711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위탁교육 신청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부서장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5" name="Shape 266"/>
          <p:cNvCxnSpPr>
            <a:cxnSpLocks noChangeShapeType="1"/>
            <a:stCxn id="79" idx="0"/>
            <a:endCxn id="83" idx="2"/>
          </p:cNvCxnSpPr>
          <p:nvPr/>
        </p:nvCxnSpPr>
        <p:spPr bwMode="auto">
          <a:xfrm flipV="1">
            <a:off x="4308348" y="4757883"/>
            <a:ext cx="0" cy="6962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직사각형 85"/>
          <p:cNvSpPr/>
          <p:nvPr/>
        </p:nvSpPr>
        <p:spPr bwMode="auto">
          <a:xfrm>
            <a:off x="5205028" y="292820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24.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위탁교육 신청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담당자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3" idx="0"/>
            <a:endCxn id="86" idx="1"/>
          </p:cNvCxnSpPr>
          <p:nvPr/>
        </p:nvCxnSpPr>
        <p:spPr bwMode="auto">
          <a:xfrm rot="5400000" flipH="1" flipV="1">
            <a:off x="4082430" y="3314514"/>
            <a:ext cx="1348517" cy="89668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103" idx="2"/>
            <a:endCxn id="111" idx="0"/>
          </p:cNvCxnSpPr>
          <p:nvPr/>
        </p:nvCxnSpPr>
        <p:spPr bwMode="auto">
          <a:xfrm>
            <a:off x="5633656" y="4077072"/>
            <a:ext cx="0" cy="139048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순서도: 종속 처리 64"/>
          <p:cNvSpPr>
            <a:spLocks noChangeAspect="1" noChangeArrowheads="1"/>
          </p:cNvSpPr>
          <p:nvPr/>
        </p:nvSpPr>
        <p:spPr bwMode="auto">
          <a:xfrm>
            <a:off x="6465168" y="5038012"/>
            <a:ext cx="94981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1.3.1.2.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지출요구</a:t>
            </a:r>
          </a:p>
        </p:txBody>
      </p:sp>
      <p:cxnSp>
        <p:nvCxnSpPr>
          <p:cNvPr id="38" name="Shape 266"/>
          <p:cNvCxnSpPr>
            <a:cxnSpLocks noChangeShapeType="1"/>
            <a:stCxn id="111" idx="3"/>
            <a:endCxn id="37" idx="1"/>
          </p:cNvCxnSpPr>
          <p:nvPr/>
        </p:nvCxnSpPr>
        <p:spPr bwMode="auto">
          <a:xfrm flipV="1">
            <a:off x="6062284" y="5194412"/>
            <a:ext cx="402884" cy="43353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0" name="순서도: 종속 처리 64"/>
          <p:cNvSpPr>
            <a:spLocks noChangeAspect="1" noChangeArrowheads="1"/>
          </p:cNvSpPr>
          <p:nvPr/>
        </p:nvSpPr>
        <p:spPr bwMode="auto">
          <a:xfrm>
            <a:off x="6561991" y="3765445"/>
            <a:ext cx="87528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3.1.7.3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일근태</a:t>
            </a:r>
            <a:r>
              <a:rPr lang="ko-KR" altLang="en-US" sz="900" kern="0" spc="-17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41" name="Shape 266"/>
          <p:cNvCxnSpPr>
            <a:cxnSpLocks noChangeShapeType="1"/>
            <a:stCxn id="103" idx="3"/>
            <a:endCxn id="40" idx="1"/>
          </p:cNvCxnSpPr>
          <p:nvPr/>
        </p:nvCxnSpPr>
        <p:spPr bwMode="auto">
          <a:xfrm>
            <a:off x="6062284" y="3916687"/>
            <a:ext cx="499707" cy="5158"/>
          </a:xfrm>
          <a:prstGeom prst="straightConnector1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415347729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7" name="표 1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0435422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80127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644364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3.4.2.5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 진행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3.4.2.6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교육결과보고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0882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62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(5/10)</a:t>
            </a:r>
            <a:endParaRPr lang="ko-KR" altLang="en-US" dirty="0"/>
          </a:p>
        </p:txBody>
      </p:sp>
      <p:sp>
        <p:nvSpPr>
          <p:cNvPr id="63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118" name="타원 117"/>
          <p:cNvSpPr/>
          <p:nvPr/>
        </p:nvSpPr>
        <p:spPr>
          <a:xfrm>
            <a:off x="1496616" y="355337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5" name="Shape 266"/>
          <p:cNvCxnSpPr>
            <a:cxnSpLocks noChangeShapeType="1"/>
            <a:stCxn id="118" idx="6"/>
            <a:endCxn id="58" idx="0"/>
          </p:cNvCxnSpPr>
          <p:nvPr/>
        </p:nvCxnSpPr>
        <p:spPr bwMode="auto">
          <a:xfrm>
            <a:off x="1698930" y="3646252"/>
            <a:ext cx="282838" cy="38805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TextBox 50"/>
          <p:cNvSpPr txBox="1"/>
          <p:nvPr/>
        </p:nvSpPr>
        <p:spPr>
          <a:xfrm>
            <a:off x="1712640" y="4437112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2572079" y="3899281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순서도: 판단 161"/>
          <p:cNvSpPr>
            <a:spLocks noChangeArrowheads="1"/>
          </p:cNvSpPr>
          <p:nvPr/>
        </p:nvSpPr>
        <p:spPr bwMode="auto">
          <a:xfrm>
            <a:off x="1467275" y="4034311"/>
            <a:ext cx="1028986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외부교육 여부</a:t>
            </a:r>
          </a:p>
        </p:txBody>
      </p:sp>
      <p:cxnSp>
        <p:nvCxnSpPr>
          <p:cNvPr id="61" name="Shape 266"/>
          <p:cNvCxnSpPr>
            <a:cxnSpLocks noChangeShapeType="1"/>
            <a:stCxn id="58" idx="2"/>
            <a:endCxn id="64" idx="0"/>
          </p:cNvCxnSpPr>
          <p:nvPr/>
        </p:nvCxnSpPr>
        <p:spPr bwMode="auto">
          <a:xfrm>
            <a:off x="1981768" y="4408544"/>
            <a:ext cx="4568" cy="15156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직사각형 67"/>
          <p:cNvSpPr/>
          <p:nvPr/>
        </p:nvSpPr>
        <p:spPr bwMode="auto">
          <a:xfrm>
            <a:off x="2144688" y="348719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자체교육 진행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9" name="Shape 266"/>
          <p:cNvCxnSpPr>
            <a:cxnSpLocks noChangeShapeType="1"/>
            <a:stCxn id="58" idx="3"/>
            <a:endCxn id="68" idx="2"/>
          </p:cNvCxnSpPr>
          <p:nvPr/>
        </p:nvCxnSpPr>
        <p:spPr bwMode="auto">
          <a:xfrm flipV="1">
            <a:off x="2496261" y="3807967"/>
            <a:ext cx="77055" cy="41346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0" name="순서도: 판단 161"/>
          <p:cNvSpPr>
            <a:spLocks noChangeArrowheads="1"/>
          </p:cNvSpPr>
          <p:nvPr/>
        </p:nvSpPr>
        <p:spPr bwMode="auto">
          <a:xfrm>
            <a:off x="3214465" y="4062879"/>
            <a:ext cx="1001272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일괄교육 여부</a:t>
            </a:r>
          </a:p>
        </p:txBody>
      </p:sp>
      <p:sp>
        <p:nvSpPr>
          <p:cNvPr id="71" name="직사각형 70"/>
          <p:cNvSpPr/>
          <p:nvPr/>
        </p:nvSpPr>
        <p:spPr bwMode="auto">
          <a:xfrm>
            <a:off x="6472008" y="546215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외부교육 결과 보고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3287291" y="546215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개별교육 결과 보고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5" name="Shape 266"/>
          <p:cNvCxnSpPr>
            <a:cxnSpLocks noChangeShapeType="1"/>
            <a:stCxn id="70" idx="2"/>
            <a:endCxn id="74" idx="0"/>
          </p:cNvCxnSpPr>
          <p:nvPr/>
        </p:nvCxnSpPr>
        <p:spPr bwMode="auto">
          <a:xfrm>
            <a:off x="3715101" y="4437112"/>
            <a:ext cx="818" cy="102504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68" idx="3"/>
            <a:endCxn id="70" idx="0"/>
          </p:cNvCxnSpPr>
          <p:nvPr/>
        </p:nvCxnSpPr>
        <p:spPr bwMode="auto">
          <a:xfrm>
            <a:off x="3001944" y="3647582"/>
            <a:ext cx="713157" cy="41529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" name="TextBox 79"/>
          <p:cNvSpPr txBox="1"/>
          <p:nvPr/>
        </p:nvSpPr>
        <p:spPr>
          <a:xfrm>
            <a:off x="3454931" y="4439523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4090542" y="3807967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4707812" y="544848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일괄교육 설문조사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6" name="Shape 266"/>
          <p:cNvCxnSpPr>
            <a:cxnSpLocks noChangeShapeType="1"/>
            <a:stCxn id="74" idx="2"/>
            <a:endCxn id="89" idx="1"/>
          </p:cNvCxnSpPr>
          <p:nvPr/>
        </p:nvCxnSpPr>
        <p:spPr bwMode="auto">
          <a:xfrm rot="5400000" flipH="1" flipV="1">
            <a:off x="4700902" y="4011823"/>
            <a:ext cx="786122" cy="2756089"/>
          </a:xfrm>
          <a:prstGeom prst="bentConnector4">
            <a:avLst>
              <a:gd name="adj1" fmla="val -12116"/>
              <a:gd name="adj2" fmla="val 83005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" name="직사각형 88"/>
          <p:cNvSpPr/>
          <p:nvPr/>
        </p:nvSpPr>
        <p:spPr bwMode="auto">
          <a:xfrm>
            <a:off x="6472008" y="483642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 결과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stCxn id="70" idx="3"/>
            <a:endCxn id="85" idx="1"/>
          </p:cNvCxnSpPr>
          <p:nvPr/>
        </p:nvCxnSpPr>
        <p:spPr bwMode="auto">
          <a:xfrm>
            <a:off x="4215737" y="4249996"/>
            <a:ext cx="492075" cy="135887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85" idx="0"/>
            <a:endCxn id="66" idx="1"/>
          </p:cNvCxnSpPr>
          <p:nvPr/>
        </p:nvCxnSpPr>
        <p:spPr bwMode="auto">
          <a:xfrm rot="5400000" flipH="1" flipV="1">
            <a:off x="4786295" y="4662876"/>
            <a:ext cx="1135758" cy="43546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7" name="Shape 266"/>
          <p:cNvCxnSpPr>
            <a:cxnSpLocks noChangeShapeType="1"/>
            <a:stCxn id="71" idx="0"/>
            <a:endCxn id="89" idx="2"/>
          </p:cNvCxnSpPr>
          <p:nvPr/>
        </p:nvCxnSpPr>
        <p:spPr bwMode="auto">
          <a:xfrm flipV="1">
            <a:off x="6900636" y="5157192"/>
            <a:ext cx="0" cy="3049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" name="Shape 266"/>
          <p:cNvCxnSpPr>
            <a:cxnSpLocks noChangeShapeType="1"/>
            <a:stCxn id="89" idx="0"/>
            <a:endCxn id="113" idx="1"/>
          </p:cNvCxnSpPr>
          <p:nvPr/>
        </p:nvCxnSpPr>
        <p:spPr bwMode="auto">
          <a:xfrm rot="5400000" flipH="1" flipV="1">
            <a:off x="6533303" y="4076464"/>
            <a:ext cx="1127291" cy="39262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직사각형 112"/>
          <p:cNvSpPr/>
          <p:nvPr/>
        </p:nvSpPr>
        <p:spPr bwMode="auto">
          <a:xfrm>
            <a:off x="7293260" y="354874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교육학점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9" name="Shape 266"/>
          <p:cNvCxnSpPr>
            <a:cxnSpLocks noChangeShapeType="1"/>
            <a:stCxn id="72" idx="3"/>
            <a:endCxn id="71" idx="2"/>
          </p:cNvCxnSpPr>
          <p:nvPr/>
        </p:nvCxnSpPr>
        <p:spPr bwMode="auto">
          <a:xfrm flipV="1">
            <a:off x="4370096" y="5782929"/>
            <a:ext cx="2530540" cy="31278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76"/>
          <p:cNvGrpSpPr/>
          <p:nvPr/>
        </p:nvGrpSpPr>
        <p:grpSpPr>
          <a:xfrm>
            <a:off x="8409384" y="3501008"/>
            <a:ext cx="972449" cy="417772"/>
            <a:chOff x="1357741" y="2874679"/>
            <a:chExt cx="756425" cy="417772"/>
          </a:xfrm>
        </p:grpSpPr>
        <p:sp>
          <p:nvSpPr>
            <p:cNvPr id="178" name="육각형 177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교육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9" name="직사각형 178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0" name="직사각형 179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213" name="Shape 266"/>
          <p:cNvCxnSpPr>
            <a:cxnSpLocks noChangeShapeType="1"/>
            <a:stCxn id="113" idx="3"/>
            <a:endCxn id="178" idx="3"/>
          </p:cNvCxnSpPr>
          <p:nvPr/>
        </p:nvCxnSpPr>
        <p:spPr bwMode="auto">
          <a:xfrm flipV="1">
            <a:off x="8150516" y="3706161"/>
            <a:ext cx="258868" cy="29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9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3566804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교육신청결과관리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4" name="직사각형 63"/>
          <p:cNvSpPr/>
          <p:nvPr/>
        </p:nvSpPr>
        <p:spPr bwMode="auto">
          <a:xfrm>
            <a:off x="1557708" y="592416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외부교육 진행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5571908" y="415234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일괄교육 결과 보고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7" name="Shape 266"/>
          <p:cNvCxnSpPr>
            <a:cxnSpLocks noChangeShapeType="1"/>
            <a:stCxn id="66" idx="2"/>
            <a:endCxn id="89" idx="1"/>
          </p:cNvCxnSpPr>
          <p:nvPr/>
        </p:nvCxnSpPr>
        <p:spPr bwMode="auto">
          <a:xfrm rot="16200000" flipH="1">
            <a:off x="5974427" y="4499225"/>
            <a:ext cx="523691" cy="47147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3512840" y="593532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외부교육 결과 취합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3" name="Shape 266"/>
          <p:cNvCxnSpPr>
            <a:cxnSpLocks noChangeShapeType="1"/>
            <a:stCxn id="64" idx="3"/>
            <a:endCxn id="72" idx="1"/>
          </p:cNvCxnSpPr>
          <p:nvPr/>
        </p:nvCxnSpPr>
        <p:spPr bwMode="auto">
          <a:xfrm>
            <a:off x="2414964" y="6084547"/>
            <a:ext cx="1097876" cy="1116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443578297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5480554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3.4.2.7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 취소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0882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외부교육업체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31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(6/10)</a:t>
            </a:r>
            <a:endParaRPr lang="ko-KR" altLang="en-US" dirty="0"/>
          </a:p>
        </p:txBody>
      </p:sp>
      <p:sp>
        <p:nvSpPr>
          <p:cNvPr id="32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cxnSp>
        <p:nvCxnSpPr>
          <p:cNvPr id="130" name="Shape 266"/>
          <p:cNvCxnSpPr>
            <a:cxnSpLocks noChangeShapeType="1"/>
            <a:stCxn id="82" idx="3"/>
            <a:endCxn id="89" idx="1"/>
          </p:cNvCxnSpPr>
          <p:nvPr/>
        </p:nvCxnSpPr>
        <p:spPr bwMode="auto">
          <a:xfrm>
            <a:off x="4161944" y="3949334"/>
            <a:ext cx="508237" cy="9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" name="타원 72"/>
          <p:cNvSpPr/>
          <p:nvPr/>
        </p:nvSpPr>
        <p:spPr>
          <a:xfrm>
            <a:off x="1640632" y="381930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2151528" y="5467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교육취소신청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순서도: 판단 161"/>
          <p:cNvSpPr>
            <a:spLocks noChangeArrowheads="1"/>
          </p:cNvSpPr>
          <p:nvPr/>
        </p:nvSpPr>
        <p:spPr bwMode="auto">
          <a:xfrm>
            <a:off x="3009816" y="3762217"/>
            <a:ext cx="1152128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교육취소 승인</a:t>
            </a:r>
          </a:p>
        </p:txBody>
      </p:sp>
      <p:cxnSp>
        <p:nvCxnSpPr>
          <p:cNvPr id="83" name="Shape 266"/>
          <p:cNvCxnSpPr>
            <a:cxnSpLocks noChangeShapeType="1"/>
            <a:stCxn id="73" idx="4"/>
            <a:endCxn id="77" idx="1"/>
          </p:cNvCxnSpPr>
          <p:nvPr/>
        </p:nvCxnSpPr>
        <p:spPr bwMode="auto">
          <a:xfrm rot="16200000" flipH="1">
            <a:off x="1135218" y="4611634"/>
            <a:ext cx="1622881" cy="40973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" name="TextBox 86"/>
          <p:cNvSpPr txBox="1"/>
          <p:nvPr/>
        </p:nvSpPr>
        <p:spPr>
          <a:xfrm>
            <a:off x="3584848" y="4257092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9" name="직사각형 88"/>
          <p:cNvSpPr/>
          <p:nvPr/>
        </p:nvSpPr>
        <p:spPr bwMode="auto">
          <a:xfrm>
            <a:off x="4670181" y="378904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347 </a:t>
            </a:r>
            <a:r>
              <a:rPr lang="ko-KR" altLang="en-US" sz="900" kern="0" spc="-12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교육취소 신청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담당자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4124908" y="3738228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4" name="직사각형 93"/>
          <p:cNvSpPr/>
          <p:nvPr/>
        </p:nvSpPr>
        <p:spPr bwMode="auto">
          <a:xfrm>
            <a:off x="4671808" y="54675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교육취소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6" name="Shape 266"/>
          <p:cNvCxnSpPr>
            <a:cxnSpLocks noChangeShapeType="1"/>
            <a:stCxn id="89" idx="2"/>
            <a:endCxn id="94" idx="0"/>
          </p:cNvCxnSpPr>
          <p:nvPr/>
        </p:nvCxnSpPr>
        <p:spPr bwMode="auto">
          <a:xfrm>
            <a:off x="5098809" y="4109811"/>
            <a:ext cx="1627" cy="135774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0" name="Shape 266"/>
          <p:cNvCxnSpPr>
            <a:cxnSpLocks noChangeShapeType="1"/>
            <a:stCxn id="77" idx="0"/>
            <a:endCxn id="82" idx="1"/>
          </p:cNvCxnSpPr>
          <p:nvPr/>
        </p:nvCxnSpPr>
        <p:spPr bwMode="auto">
          <a:xfrm rot="5400000" flipH="1" flipV="1">
            <a:off x="2035874" y="4493617"/>
            <a:ext cx="1518225" cy="42966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타원 63"/>
          <p:cNvSpPr/>
          <p:nvPr/>
        </p:nvSpPr>
        <p:spPr>
          <a:xfrm>
            <a:off x="3487439" y="479141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66" name="Shape 266"/>
          <p:cNvCxnSpPr>
            <a:cxnSpLocks noChangeShapeType="1"/>
            <a:stCxn id="82" idx="2"/>
            <a:endCxn id="64" idx="0"/>
          </p:cNvCxnSpPr>
          <p:nvPr/>
        </p:nvCxnSpPr>
        <p:spPr bwMode="auto">
          <a:xfrm>
            <a:off x="3585880" y="4136450"/>
            <a:ext cx="2716" cy="65496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직사각형 67"/>
          <p:cNvSpPr/>
          <p:nvPr/>
        </p:nvSpPr>
        <p:spPr bwMode="auto">
          <a:xfrm>
            <a:off x="6249144" y="378339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교육취소 내역 자동 삭제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4" name="Shape 266"/>
          <p:cNvCxnSpPr>
            <a:cxnSpLocks noChangeShapeType="1"/>
            <a:stCxn id="68" idx="3"/>
            <a:endCxn id="79" idx="3"/>
          </p:cNvCxnSpPr>
          <p:nvPr/>
        </p:nvCxnSpPr>
        <p:spPr bwMode="auto">
          <a:xfrm>
            <a:off x="7106400" y="3943784"/>
            <a:ext cx="726920" cy="11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74"/>
          <p:cNvGrpSpPr/>
          <p:nvPr/>
        </p:nvGrpSpPr>
        <p:grpSpPr>
          <a:xfrm>
            <a:off x="7833320" y="3739775"/>
            <a:ext cx="972449" cy="417772"/>
            <a:chOff x="1357741" y="2874679"/>
            <a:chExt cx="756425" cy="417772"/>
          </a:xfrm>
        </p:grpSpPr>
        <p:sp>
          <p:nvSpPr>
            <p:cNvPr id="79" name="육각형 7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교육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50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1803834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교육신청결과관리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30" name="Shape 266"/>
          <p:cNvCxnSpPr>
            <a:cxnSpLocks noChangeShapeType="1"/>
            <a:stCxn id="89" idx="3"/>
            <a:endCxn id="68" idx="1"/>
          </p:cNvCxnSpPr>
          <p:nvPr/>
        </p:nvCxnSpPr>
        <p:spPr bwMode="auto">
          <a:xfrm flipV="1">
            <a:off x="5527437" y="3943784"/>
            <a:ext cx="721707" cy="56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" name="순서도: 종속 처리 64"/>
          <p:cNvSpPr>
            <a:spLocks noChangeAspect="1" noChangeArrowheads="1"/>
          </p:cNvSpPr>
          <p:nvPr/>
        </p:nvSpPr>
        <p:spPr bwMode="auto">
          <a:xfrm>
            <a:off x="6249144" y="5476437"/>
            <a:ext cx="1220716" cy="312799"/>
          </a:xfrm>
          <a:prstGeom prst="flowChartPredefinedProcess">
            <a:avLst/>
          </a:prstGeom>
          <a:solidFill>
            <a:schemeClr val="bg1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1.3.1.2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지출요구</a:t>
            </a:r>
          </a:p>
        </p:txBody>
      </p:sp>
      <p:cxnSp>
        <p:nvCxnSpPr>
          <p:cNvPr id="36" name="Shape 266"/>
          <p:cNvCxnSpPr>
            <a:cxnSpLocks noChangeShapeType="1"/>
            <a:stCxn id="94" idx="3"/>
            <a:endCxn id="35" idx="1"/>
          </p:cNvCxnSpPr>
          <p:nvPr/>
        </p:nvCxnSpPr>
        <p:spPr bwMode="auto">
          <a:xfrm>
            <a:off x="5529064" y="5627945"/>
            <a:ext cx="720080" cy="489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" name="순서도: 종속 처리 64"/>
          <p:cNvSpPr>
            <a:spLocks noChangeAspect="1" noChangeArrowheads="1"/>
          </p:cNvSpPr>
          <p:nvPr/>
        </p:nvSpPr>
        <p:spPr bwMode="auto">
          <a:xfrm>
            <a:off x="6237955" y="3332225"/>
            <a:ext cx="87528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3.1.7.3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일근태</a:t>
            </a:r>
            <a:r>
              <a:rPr lang="ko-KR" altLang="en-US" sz="900" kern="0" spc="-17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cxnSp>
        <p:nvCxnSpPr>
          <p:cNvPr id="33" name="Shape 266"/>
          <p:cNvCxnSpPr>
            <a:cxnSpLocks noChangeShapeType="1"/>
            <a:stCxn id="89" idx="0"/>
            <a:endCxn id="29" idx="1"/>
          </p:cNvCxnSpPr>
          <p:nvPr/>
        </p:nvCxnSpPr>
        <p:spPr bwMode="auto">
          <a:xfrm rot="5400000" flipH="1" flipV="1">
            <a:off x="5518175" y="3069260"/>
            <a:ext cx="300415" cy="1139146"/>
          </a:xfrm>
          <a:prstGeom prst="bentConnector2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409233557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(7/10)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9687699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설문지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교육 완료 후 사용할 설문지 정보를 유형별로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설문지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직급별 이수학점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직원이 직급별로 필수적으로 이수해야 할 학점 기준을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직급별 이수학점정보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교육신청일정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교육과정별로 개설된 교육과목에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대해 신청할 수 있는 기간을 설정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교육신청일정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개설과정별 설문지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개설된 교육과정별로 설문지 유형을 선택하여 교육 후 실시할 설문지 정보를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설문지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교육대상자 기준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일괄교육 대상자 생성 시 대상자로 선정할 생성 기준을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교육대상자 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일괄교육을 신청하거나 직원이 개별교육과 위탁교육을 신청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일괄교육대상자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일괄교육 대상자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일괄 실시교육에 대해 교육대상자 기준에 의해 대상자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리스트를 생성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일괄교육대상자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일괄교육 대상자 선정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일괄 실시교육에 대해 생성된 대상자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리스트를 확인하고 교육대상자를 선정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일괄교육대상자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일괄교육 대상자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일괄 실시교육에 대해 선정된 교육대상자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리스트를 확정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일괄교육대상자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일괄교육 공지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일괄 실시교육에 대해 교육대상자에게 교육실시 계획을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일괄교육대상자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일괄교육 공지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 실시교육의 교육대상자로 선정된 직원이 자신의 교육계획을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일괄교육대상자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(8/10)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60892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 가능교육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개인의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CDP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와 직무에 따라 신청 가능한 교육정보를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교육과목개설내역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개별교육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개인의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CDP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와 직무에 따라 신청 가능한 교육정보를 조회하고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개별교육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직원의 교육 참가 신청 건에 대해 부서장이 직원의 교육 신청내역을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개별교육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 담당자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부서장이 승인한 교육 신청 건에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개별교육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 승인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본인이 신청한 교육의 승인내역을 조회하고 교육 참가여부를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 교육과정 개설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교육을 받고 싶은 신규 위탁교육과정에 대해 교육과정 개설정보를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 교육과정 개설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부서장에게 교육을 받고 싶은 신규 위탁교육과정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의 개설 승인을 요청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 교육과정 개설 부서장승인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직원의 신규 위탁과정 개설요청에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 교육과정 개설 담당자승인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부서장이 승인한 신규 위탁과정 개설요청에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 교육과정 개설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자신이 요청한 신규 위탁과정 개설요청의 승인내역을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위탁교육과정정보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위탁교육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직원이 요청하여 개설된 위탁교육과정에 대해 수강을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(9/10)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2453074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위탁교육 신청 부서장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요청한 위탁교육 신청 건에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위탁교육 신청 담당자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부서장이 승인한 위탁교육 신청 건에 대해 내용을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위탁교육 신청 담당자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부서장이 승인한 위탁교육 신청 건에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위탁교육 신청 승인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신청하여 승인된 위탁교육의 승인내역을 조회하고 교육 참가여부를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위탁교육신청내역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자체교육 진행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공단 내부에서 자체적으로 개설된 교육을 진행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일괄교육 설문조사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자체 시행된 일괄교육일 경우 교육진행에 대한 설문조사를 실시하여 교육대상자가 설문을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설문지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일괄교육 결과 보고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자체 일괄교육 시행 후 교육결과와 설문조사내용에 대해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일괄교육 교육결과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개별교육 결과 보고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자체 시행된 개별 신청교육을 받은 후 교육결과에 대해 교육담당자에게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개별교육 교육결과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 결과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 또는 교육대상자가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실시된 교육이 종료된 후  수강교육에 대한 교육결과를 등록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외부교육 진행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외부 교육업체가 자체 교육장소에서 외부위탁교육을 시행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외부교육 결과 취합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외부 교육업체가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교육담당자에게 제출하기 위해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시행한 교육에 대한 결과정보를 취합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외부교육결과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교육개설과정별 대상자를 기준에 의해 자동으로 생성하고 설문의 생성 및 설문조사를 시스템을 통하여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3.3.2.15 </a:t>
            </a:r>
            <a:r>
              <a:rPr lang="ko-KR" altLang="en-US" dirty="0"/>
              <a:t>교육신청결과관리 </a:t>
            </a:r>
            <a:r>
              <a:rPr lang="en-US" altLang="ko-KR" dirty="0"/>
              <a:t>(10/10)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4047593"/>
              </p:ext>
            </p:extLst>
          </p:nvPr>
        </p:nvGraphicFramePr>
        <p:xfrm>
          <a:off x="344488" y="1604186"/>
          <a:ext cx="9180513" cy="28041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외부교육 결과 보고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외부 교육업체가 시행한 교육에 대해 취합한 결과보고서를 교육담당자에게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외부교육결과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교육학점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교육대상자의 교육결과에 따른 직원의 교육학점을 등록하고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교육학점내역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교육취소신청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교육 참가가 불가능할 경우 교육담당자에게 참가 취소를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교육취소신청내역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교육취소 신청 담당자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직원이 신청한 교육취소 건에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교육취소신청내역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교육취소 내역 자동 삭제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교육담당자가 직원이 신청한 교육취소 건에 대해 승인을 완료하면 자동으로 신청 건을 삭제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교육신청내역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교육취소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교육취소 건에 대해 최종 승인이 되면 교육취소내역을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교육취소신청내역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급여기준 및 수식에 의해 규정 변동 시 업무담당자가 직접 규칙을 변경할 수 있고 급여 결과에 대해 기안문을 생성할 수 있도록 업무프로세스를 변경함</a:t>
            </a:r>
          </a:p>
        </p:txBody>
      </p:sp>
      <p:sp>
        <p:nvSpPr>
          <p:cNvPr id="6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3.3.2.16 </a:t>
            </a:r>
            <a:r>
              <a:rPr lang="ko-KR" altLang="en-US" dirty="0"/>
              <a:t>급여관리 </a:t>
            </a:r>
            <a:r>
              <a:rPr lang="en-US" altLang="ko-KR" dirty="0"/>
              <a:t>(1/5)</a:t>
            </a:r>
            <a:endParaRPr lang="ko-KR" altLang="en-US" dirty="0"/>
          </a:p>
        </p:txBody>
      </p:sp>
      <p:sp>
        <p:nvSpPr>
          <p:cNvPr id="66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4804121"/>
              </p:ext>
            </p:extLst>
          </p:nvPr>
        </p:nvGraphicFramePr>
        <p:xfrm>
          <a:off x="344488" y="1916832"/>
          <a:ext cx="9181022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7444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34026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16024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급여기초관리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지급공제기준관리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급여지급관리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291765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0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240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" name="그룹 140"/>
          <p:cNvGrpSpPr/>
          <p:nvPr/>
        </p:nvGrpSpPr>
        <p:grpSpPr>
          <a:xfrm>
            <a:off x="1514563" y="2543176"/>
            <a:ext cx="756425" cy="417772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급여 지급 시작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48" name="Shape 266"/>
          <p:cNvCxnSpPr>
            <a:cxnSpLocks noChangeShapeType="1"/>
            <a:stCxn id="67" idx="2"/>
            <a:endCxn id="80" idx="3"/>
          </p:cNvCxnSpPr>
          <p:nvPr/>
        </p:nvCxnSpPr>
        <p:spPr bwMode="auto">
          <a:xfrm rot="5400000">
            <a:off x="2312195" y="2966621"/>
            <a:ext cx="475750" cy="464404"/>
          </a:xfrm>
          <a:prstGeom prst="bentConnector2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직사각형 42"/>
          <p:cNvSpPr/>
          <p:nvPr/>
        </p:nvSpPr>
        <p:spPr bwMode="auto">
          <a:xfrm>
            <a:off x="3021160" y="336499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법정세율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세액기준관리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3021160" y="368838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회계예산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3874996" y="336499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소득공제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1460612" y="327631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연봉자관리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직사각형 36"/>
          <p:cNvSpPr/>
          <p:nvPr/>
        </p:nvSpPr>
        <p:spPr>
          <a:xfrm>
            <a:off x="2976212" y="3104964"/>
            <a:ext cx="1796768" cy="1621812"/>
          </a:xfrm>
          <a:prstGeom prst="rect">
            <a:avLst/>
          </a:prstGeom>
          <a:noFill/>
          <a:ln w="6350">
            <a:solidFill>
              <a:srgbClr val="027BF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급여기초정보등록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ko-KR" altLang="en-US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3021160" y="401242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직무급 생성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6" name="직사각형 85"/>
          <p:cNvSpPr/>
          <p:nvPr/>
        </p:nvSpPr>
        <p:spPr bwMode="auto">
          <a:xfrm>
            <a:off x="3874996" y="368838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통상임금금액 생성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7" name="직사각형 86"/>
          <p:cNvSpPr/>
          <p:nvPr/>
        </p:nvSpPr>
        <p:spPr bwMode="auto">
          <a:xfrm>
            <a:off x="3874996" y="401242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팀원직무급 생성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직사각형 94"/>
          <p:cNvSpPr/>
          <p:nvPr/>
        </p:nvSpPr>
        <p:spPr bwMode="auto">
          <a:xfrm>
            <a:off x="5754180" y="375896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급여예외자 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5754180" y="429636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임금피크제 대상자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3" name="Shape 266"/>
          <p:cNvCxnSpPr>
            <a:cxnSpLocks noChangeShapeType="1"/>
            <a:stCxn id="78" idx="3"/>
            <a:endCxn id="91" idx="1"/>
          </p:cNvCxnSpPr>
          <p:nvPr/>
        </p:nvCxnSpPr>
        <p:spPr bwMode="auto">
          <a:xfrm flipV="1">
            <a:off x="4301520" y="3016472"/>
            <a:ext cx="993008" cy="216242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/>
          <p:cNvCxnSpPr>
            <a:cxnSpLocks noChangeShapeType="1"/>
            <a:stCxn id="91" idx="2"/>
            <a:endCxn id="95" idx="0"/>
          </p:cNvCxnSpPr>
          <p:nvPr/>
        </p:nvCxnSpPr>
        <p:spPr bwMode="auto">
          <a:xfrm flipH="1">
            <a:off x="6182808" y="3471023"/>
            <a:ext cx="3074" cy="287939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85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4372155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7" name="순서도: 종속 처리 64"/>
          <p:cNvSpPr>
            <a:spLocks noChangeAspect="1" noChangeArrowheads="1"/>
          </p:cNvSpPr>
          <p:nvPr/>
        </p:nvSpPr>
        <p:spPr bwMode="auto">
          <a:xfrm>
            <a:off x="2353872" y="2607295"/>
            <a:ext cx="856800" cy="35365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3.1.3.1 </a:t>
            </a:r>
          </a:p>
          <a:p>
            <a:pPr algn="ctr" latinLnBrk="0"/>
            <a:r>
              <a:rPr lang="ko-KR" altLang="en-US" sz="900" kern="0" spc="-19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인적정보관리</a:t>
            </a:r>
          </a:p>
        </p:txBody>
      </p:sp>
      <p:cxnSp>
        <p:nvCxnSpPr>
          <p:cNvPr id="69" name="Shape 266"/>
          <p:cNvCxnSpPr>
            <a:cxnSpLocks noChangeShapeType="1"/>
            <a:stCxn id="144" idx="2"/>
            <a:endCxn id="80" idx="0"/>
          </p:cNvCxnSpPr>
          <p:nvPr/>
        </p:nvCxnSpPr>
        <p:spPr bwMode="auto">
          <a:xfrm flipH="1">
            <a:off x="1889240" y="2960948"/>
            <a:ext cx="3676" cy="3153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" name="직사각형 72"/>
          <p:cNvSpPr/>
          <p:nvPr/>
        </p:nvSpPr>
        <p:spPr bwMode="auto">
          <a:xfrm>
            <a:off x="1460612" y="451238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latin typeface="맑은 고딕" pitchFamily="50" charset="-127"/>
                <a:ea typeface="맑은 고딕" pitchFamily="50" charset="-127"/>
              </a:rPr>
              <a:t>급여항목관리</a:t>
            </a:r>
            <a:endParaRPr lang="en-US" altLang="ko-KR" sz="9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3444264" y="501851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급여수식관리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3" name="Shape 266"/>
          <p:cNvCxnSpPr>
            <a:cxnSpLocks noChangeShapeType="1"/>
            <a:stCxn id="80" idx="2"/>
            <a:endCxn id="52" idx="0"/>
          </p:cNvCxnSpPr>
          <p:nvPr/>
        </p:nvCxnSpPr>
        <p:spPr bwMode="auto">
          <a:xfrm>
            <a:off x="1889240" y="3597083"/>
            <a:ext cx="0" cy="297266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" name="Shape 266"/>
          <p:cNvCxnSpPr>
            <a:cxnSpLocks noChangeShapeType="1"/>
            <a:stCxn id="73" idx="3"/>
            <a:endCxn id="37" idx="1"/>
          </p:cNvCxnSpPr>
          <p:nvPr/>
        </p:nvCxnSpPr>
        <p:spPr bwMode="auto">
          <a:xfrm flipV="1">
            <a:off x="2317868" y="3915870"/>
            <a:ext cx="658344" cy="75690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직사각형 90"/>
          <p:cNvSpPr/>
          <p:nvPr/>
        </p:nvSpPr>
        <p:spPr>
          <a:xfrm>
            <a:off x="5294528" y="2561921"/>
            <a:ext cx="1782708" cy="909102"/>
          </a:xfrm>
          <a:prstGeom prst="rect">
            <a:avLst/>
          </a:prstGeom>
          <a:noFill/>
          <a:ln w="6350">
            <a:solidFill>
              <a:srgbClr val="027BF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지급공제기준등록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6" name="직사각형 95"/>
          <p:cNvSpPr/>
          <p:nvPr/>
        </p:nvSpPr>
        <p:spPr bwMode="auto">
          <a:xfrm>
            <a:off x="5333960" y="2801692"/>
            <a:ext cx="857256" cy="31705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직급별 지급공제 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직사각형 100"/>
          <p:cNvSpPr/>
          <p:nvPr/>
        </p:nvSpPr>
        <p:spPr bwMode="auto">
          <a:xfrm>
            <a:off x="5333960" y="3118109"/>
            <a:ext cx="857256" cy="31705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직무별 지급공제 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6" name="Shape 266"/>
          <p:cNvCxnSpPr>
            <a:cxnSpLocks noChangeShapeType="1"/>
            <a:stCxn id="95" idx="2"/>
            <a:endCxn id="98" idx="0"/>
          </p:cNvCxnSpPr>
          <p:nvPr/>
        </p:nvCxnSpPr>
        <p:spPr bwMode="auto">
          <a:xfrm>
            <a:off x="6182808" y="4079733"/>
            <a:ext cx="0" cy="21662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" name="직사각형 101"/>
          <p:cNvSpPr/>
          <p:nvPr/>
        </p:nvSpPr>
        <p:spPr bwMode="auto">
          <a:xfrm>
            <a:off x="6187008" y="311810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직원별 지급공제 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직사각형 99"/>
          <p:cNvSpPr/>
          <p:nvPr/>
        </p:nvSpPr>
        <p:spPr bwMode="auto">
          <a:xfrm>
            <a:off x="6187008" y="2801692"/>
            <a:ext cx="857256" cy="31705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직위별 지급공제 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8" name="Shape 266"/>
          <p:cNvCxnSpPr>
            <a:cxnSpLocks noChangeShapeType="1"/>
            <a:stCxn id="149" idx="3"/>
            <a:endCxn id="146" idx="1"/>
          </p:cNvCxnSpPr>
          <p:nvPr/>
        </p:nvCxnSpPr>
        <p:spPr bwMode="auto">
          <a:xfrm flipV="1">
            <a:off x="6611436" y="2728555"/>
            <a:ext cx="1041864" cy="226825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타원 120"/>
          <p:cNvSpPr/>
          <p:nvPr/>
        </p:nvSpPr>
        <p:spPr>
          <a:xfrm>
            <a:off x="8927150" y="529546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kern="0" noProof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cxnSp>
        <p:nvCxnSpPr>
          <p:cNvPr id="122" name="Shape 266"/>
          <p:cNvCxnSpPr>
            <a:cxnSpLocks noChangeShapeType="1"/>
            <a:stCxn id="37" idx="2"/>
            <a:endCxn id="78" idx="0"/>
          </p:cNvCxnSpPr>
          <p:nvPr/>
        </p:nvCxnSpPr>
        <p:spPr bwMode="auto">
          <a:xfrm flipH="1">
            <a:off x="3872892" y="4726776"/>
            <a:ext cx="1704" cy="291735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직사각형 124"/>
          <p:cNvSpPr/>
          <p:nvPr/>
        </p:nvSpPr>
        <p:spPr bwMode="auto">
          <a:xfrm>
            <a:off x="7653300" y="31442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급여대상자 생성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6" name="직사각형 125"/>
          <p:cNvSpPr/>
          <p:nvPr/>
        </p:nvSpPr>
        <p:spPr bwMode="auto">
          <a:xfrm>
            <a:off x="7653300" y="372029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인사변동자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직사각형 135"/>
          <p:cNvSpPr/>
          <p:nvPr/>
        </p:nvSpPr>
        <p:spPr bwMode="auto">
          <a:xfrm>
            <a:off x="7653300" y="426035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 기초원장 생성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8" name="Shape 266"/>
          <p:cNvCxnSpPr>
            <a:cxnSpLocks noChangeShapeType="1"/>
            <a:stCxn id="125" idx="2"/>
            <a:endCxn id="126" idx="0"/>
          </p:cNvCxnSpPr>
          <p:nvPr/>
        </p:nvCxnSpPr>
        <p:spPr bwMode="auto">
          <a:xfrm>
            <a:off x="8081928" y="3465004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9" name="Shape 266"/>
          <p:cNvCxnSpPr>
            <a:cxnSpLocks noChangeShapeType="1"/>
            <a:stCxn id="126" idx="2"/>
            <a:endCxn id="136" idx="0"/>
          </p:cNvCxnSpPr>
          <p:nvPr/>
        </p:nvCxnSpPr>
        <p:spPr bwMode="auto">
          <a:xfrm>
            <a:off x="8081928" y="4041068"/>
            <a:ext cx="0" cy="2192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0" name="Shape 266"/>
          <p:cNvCxnSpPr>
            <a:cxnSpLocks noChangeShapeType="1"/>
            <a:stCxn id="136" idx="2"/>
            <a:endCxn id="154" idx="0"/>
          </p:cNvCxnSpPr>
          <p:nvPr/>
        </p:nvCxnSpPr>
        <p:spPr bwMode="auto">
          <a:xfrm>
            <a:off x="8081928" y="4581128"/>
            <a:ext cx="0" cy="219289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" name="Shape 266"/>
          <p:cNvCxnSpPr>
            <a:cxnSpLocks noChangeShapeType="1"/>
            <a:stCxn id="154" idx="3"/>
            <a:endCxn id="121" idx="0"/>
          </p:cNvCxnSpPr>
          <p:nvPr/>
        </p:nvCxnSpPr>
        <p:spPr bwMode="auto">
          <a:xfrm>
            <a:off x="8510556" y="4960803"/>
            <a:ext cx="517751" cy="33466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6" name="직사각형 145"/>
          <p:cNvSpPr/>
          <p:nvPr/>
        </p:nvSpPr>
        <p:spPr bwMode="auto">
          <a:xfrm>
            <a:off x="7653300" y="25681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급여유형별 급여일자 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9" name="직사각형 148"/>
          <p:cNvSpPr/>
          <p:nvPr/>
        </p:nvSpPr>
        <p:spPr bwMode="auto">
          <a:xfrm>
            <a:off x="5754180" y="483642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압류관리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51" name="Shape 266"/>
          <p:cNvCxnSpPr>
            <a:cxnSpLocks noChangeShapeType="1"/>
            <a:stCxn id="98" idx="2"/>
            <a:endCxn id="149" idx="0"/>
          </p:cNvCxnSpPr>
          <p:nvPr/>
        </p:nvCxnSpPr>
        <p:spPr bwMode="auto">
          <a:xfrm>
            <a:off x="6182808" y="4617132"/>
            <a:ext cx="0" cy="2192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직사각형 153"/>
          <p:cNvSpPr/>
          <p:nvPr/>
        </p:nvSpPr>
        <p:spPr bwMode="auto">
          <a:xfrm>
            <a:off x="7653300" y="48004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 기초원장 확인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57" name="Shape 266"/>
          <p:cNvCxnSpPr>
            <a:cxnSpLocks noChangeShapeType="1"/>
            <a:stCxn id="146" idx="2"/>
            <a:endCxn id="125" idx="0"/>
          </p:cNvCxnSpPr>
          <p:nvPr/>
        </p:nvCxnSpPr>
        <p:spPr bwMode="auto">
          <a:xfrm>
            <a:off x="8081928" y="2888940"/>
            <a:ext cx="0" cy="255293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" name="직사각형 51"/>
          <p:cNvSpPr/>
          <p:nvPr/>
        </p:nvSpPr>
        <p:spPr bwMode="auto">
          <a:xfrm>
            <a:off x="1460612" y="389434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일급표관리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52" idx="2"/>
            <a:endCxn id="73" idx="0"/>
          </p:cNvCxnSpPr>
          <p:nvPr/>
        </p:nvCxnSpPr>
        <p:spPr bwMode="auto">
          <a:xfrm>
            <a:off x="1889240" y="4215120"/>
            <a:ext cx="0" cy="297265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직사각형 55"/>
          <p:cNvSpPr/>
          <p:nvPr/>
        </p:nvSpPr>
        <p:spPr bwMode="auto">
          <a:xfrm>
            <a:off x="3017928" y="43317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일할계산 기준관리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3882024" y="43376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2994921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급여기준 및 수식에 의해 규정 변동 시 업무담당자가 직접 규칙을 변경할 수 있고 급여 결과에 대해 기안문을 생성할 수 있도록 업무프로세스를 변경함</a:t>
            </a:r>
          </a:p>
        </p:txBody>
      </p:sp>
      <p:sp>
        <p:nvSpPr>
          <p:cNvPr id="3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3.3.2.16 </a:t>
            </a:r>
            <a:r>
              <a:rPr lang="ko-KR" altLang="en-US" dirty="0"/>
              <a:t>급여관리 </a:t>
            </a:r>
            <a:r>
              <a:rPr lang="en-US" altLang="ko-KR" dirty="0"/>
              <a:t>(2/5)</a:t>
            </a:r>
            <a:endParaRPr lang="ko-KR" altLang="en-US" dirty="0"/>
          </a:p>
        </p:txBody>
      </p:sp>
      <p:sp>
        <p:nvSpPr>
          <p:cNvPr id="36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9074444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35648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0286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385569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급여지급관리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전표</a:t>
                      </a: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이체관리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3.5.1.5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현황출력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1837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320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0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" name="그룹 140"/>
          <p:cNvGrpSpPr/>
          <p:nvPr/>
        </p:nvGrpSpPr>
        <p:grpSpPr>
          <a:xfrm>
            <a:off x="8265027" y="5943980"/>
            <a:ext cx="756425" cy="352196"/>
            <a:chOff x="1357741" y="2874679"/>
            <a:chExt cx="756425" cy="417772"/>
          </a:xfrm>
        </p:grpSpPr>
        <p:sp>
          <p:nvSpPr>
            <p:cNvPr id="142" name="육각형 141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급여 지급 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55" name="타원 154"/>
          <p:cNvSpPr/>
          <p:nvPr/>
        </p:nvSpPr>
        <p:spPr>
          <a:xfrm>
            <a:off x="1438318" y="238488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85" name="직사각형 84"/>
          <p:cNvSpPr/>
          <p:nvPr/>
        </p:nvSpPr>
        <p:spPr bwMode="auto">
          <a:xfrm>
            <a:off x="6219980" y="281091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전표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8" name="직사각형 87"/>
          <p:cNvSpPr/>
          <p:nvPr/>
        </p:nvSpPr>
        <p:spPr bwMode="auto">
          <a:xfrm>
            <a:off x="6219980" y="32809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계정별 현황 조회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</a:p>
        </p:txBody>
      </p:sp>
      <p:sp>
        <p:nvSpPr>
          <p:cNvPr id="89" name="직사각형 88"/>
          <p:cNvSpPr/>
          <p:nvPr/>
        </p:nvSpPr>
        <p:spPr bwMode="auto">
          <a:xfrm>
            <a:off x="6219980" y="379230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전표 전송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6219980" y="505244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이체내역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1" name="Shape 266"/>
          <p:cNvCxnSpPr>
            <a:cxnSpLocks noChangeShapeType="1"/>
            <a:stCxn id="85" idx="2"/>
            <a:endCxn id="88" idx="0"/>
          </p:cNvCxnSpPr>
          <p:nvPr/>
        </p:nvCxnSpPr>
        <p:spPr bwMode="auto">
          <a:xfrm>
            <a:off x="6648608" y="3131685"/>
            <a:ext cx="0" cy="14928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88" idx="2"/>
            <a:endCxn id="89" idx="0"/>
          </p:cNvCxnSpPr>
          <p:nvPr/>
        </p:nvCxnSpPr>
        <p:spPr bwMode="auto">
          <a:xfrm>
            <a:off x="6648608" y="3601743"/>
            <a:ext cx="0" cy="19056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" name="Shape 266"/>
          <p:cNvCxnSpPr>
            <a:cxnSpLocks noChangeShapeType="1"/>
            <a:stCxn id="89" idx="1"/>
            <a:endCxn id="146" idx="0"/>
          </p:cNvCxnSpPr>
          <p:nvPr/>
        </p:nvCxnSpPr>
        <p:spPr bwMode="auto">
          <a:xfrm rot="10800000" flipV="1">
            <a:off x="6134278" y="3952691"/>
            <a:ext cx="85703" cy="44787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6" name="직사각형 115"/>
          <p:cNvSpPr/>
          <p:nvPr/>
        </p:nvSpPr>
        <p:spPr bwMode="auto">
          <a:xfrm>
            <a:off x="6219980" y="595949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 내역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8" name="Shape 266"/>
          <p:cNvCxnSpPr>
            <a:cxnSpLocks noChangeShapeType="1"/>
            <a:stCxn id="90" idx="2"/>
            <a:endCxn id="116" idx="0"/>
          </p:cNvCxnSpPr>
          <p:nvPr/>
        </p:nvCxnSpPr>
        <p:spPr bwMode="auto">
          <a:xfrm>
            <a:off x="6648608" y="5373216"/>
            <a:ext cx="0" cy="5862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직사각형 120"/>
          <p:cNvSpPr/>
          <p:nvPr/>
        </p:nvSpPr>
        <p:spPr bwMode="auto">
          <a:xfrm>
            <a:off x="7164390" y="24508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급여현황 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3" name="순서도: 문서 78"/>
          <p:cNvSpPr>
            <a:spLocks noChangeAspect="1" noChangeArrowheads="1"/>
          </p:cNvSpPr>
          <p:nvPr/>
        </p:nvSpPr>
        <p:spPr bwMode="auto">
          <a:xfrm>
            <a:off x="8049344" y="2338221"/>
            <a:ext cx="1440160" cy="3156151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급상여지급대장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급상여총계표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예산과목별출력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예산과목장소별출력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부서별집계표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은행별지급명세서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급여명세서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사원명부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장기근속수당대상자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퇴직금기준일및지급율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연간급여액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건강보험공제명세서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국민연금공제명세서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공제명세서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연간 고용보험월별공제내역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OT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및초과시간내역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대출금상환내역서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평균보수표</a:t>
            </a:r>
          </a:p>
        </p:txBody>
      </p:sp>
      <p:cxnSp>
        <p:nvCxnSpPr>
          <p:cNvPr id="140" name="Shape 266"/>
          <p:cNvCxnSpPr>
            <a:cxnSpLocks noChangeShapeType="1"/>
            <a:stCxn id="121" idx="2"/>
            <a:endCxn id="123" idx="1"/>
          </p:cNvCxnSpPr>
          <p:nvPr/>
        </p:nvCxnSpPr>
        <p:spPr bwMode="auto">
          <a:xfrm rot="16200000" flipH="1">
            <a:off x="7248855" y="3115807"/>
            <a:ext cx="1144653" cy="45632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" name="Shape 266"/>
          <p:cNvCxnSpPr>
            <a:cxnSpLocks noChangeShapeType="1"/>
            <a:stCxn id="121" idx="2"/>
            <a:endCxn id="142" idx="3"/>
          </p:cNvCxnSpPr>
          <p:nvPr/>
        </p:nvCxnSpPr>
        <p:spPr bwMode="auto">
          <a:xfrm rot="16200000" flipH="1">
            <a:off x="6256379" y="4108282"/>
            <a:ext cx="3345287" cy="67200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6" name="순서도: 종속 처리 64"/>
          <p:cNvSpPr>
            <a:spLocks noChangeAspect="1" noChangeArrowheads="1"/>
          </p:cNvSpPr>
          <p:nvPr/>
        </p:nvSpPr>
        <p:spPr bwMode="auto">
          <a:xfrm>
            <a:off x="5659369" y="4400563"/>
            <a:ext cx="949815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latin typeface="맑은 고딕" pitchFamily="50" charset="-127"/>
                <a:ea typeface="맑은 고딕" pitchFamily="50" charset="-127"/>
              </a:rPr>
              <a:t>1.3.1.2. </a:t>
            </a:r>
            <a:r>
              <a:rPr lang="ko-KR" altLang="en-US" sz="900" kern="0" dirty="0">
                <a:latin typeface="맑은 고딕" pitchFamily="50" charset="-127"/>
                <a:ea typeface="맑은 고딕" pitchFamily="50" charset="-127"/>
              </a:rPr>
              <a:t>지출요구</a:t>
            </a:r>
          </a:p>
        </p:txBody>
      </p:sp>
      <p:cxnSp>
        <p:nvCxnSpPr>
          <p:cNvPr id="147" name="Shape 266"/>
          <p:cNvCxnSpPr>
            <a:cxnSpLocks noChangeShapeType="1"/>
            <a:stCxn id="89" idx="2"/>
            <a:endCxn id="90" idx="0"/>
          </p:cNvCxnSpPr>
          <p:nvPr/>
        </p:nvCxnSpPr>
        <p:spPr bwMode="auto">
          <a:xfrm>
            <a:off x="6648608" y="4113076"/>
            <a:ext cx="0" cy="9393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9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3413304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4" name="직사각형 43"/>
          <p:cNvSpPr/>
          <p:nvPr/>
        </p:nvSpPr>
        <p:spPr bwMode="auto">
          <a:xfrm>
            <a:off x="3656856" y="26729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급여계산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4" name="Shape 266"/>
          <p:cNvCxnSpPr>
            <a:cxnSpLocks noChangeShapeType="1"/>
            <a:stCxn id="53" idx="3"/>
            <a:endCxn id="44" idx="1"/>
          </p:cNvCxnSpPr>
          <p:nvPr/>
        </p:nvCxnSpPr>
        <p:spPr bwMode="auto">
          <a:xfrm flipV="1">
            <a:off x="3463709" y="2833302"/>
            <a:ext cx="193147" cy="110176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5" name="직사각형 54"/>
          <p:cNvSpPr/>
          <p:nvPr/>
        </p:nvSpPr>
        <p:spPr bwMode="auto">
          <a:xfrm>
            <a:off x="3656856" y="3789040"/>
            <a:ext cx="857256" cy="46478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급여결과 승인 기획안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6" name="Shape 266"/>
          <p:cNvCxnSpPr>
            <a:cxnSpLocks noChangeShapeType="1"/>
            <a:stCxn id="44" idx="2"/>
            <a:endCxn id="60" idx="0"/>
          </p:cNvCxnSpPr>
          <p:nvPr/>
        </p:nvCxnSpPr>
        <p:spPr bwMode="auto">
          <a:xfrm>
            <a:off x="4085484" y="2993687"/>
            <a:ext cx="0" cy="2561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" name="직사각형 56"/>
          <p:cNvSpPr/>
          <p:nvPr/>
        </p:nvSpPr>
        <p:spPr bwMode="auto">
          <a:xfrm>
            <a:off x="3656856" y="5524852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급여결과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8" name="Shape 266"/>
          <p:cNvCxnSpPr>
            <a:cxnSpLocks noChangeShapeType="1"/>
            <a:stCxn id="55" idx="2"/>
            <a:endCxn id="61" idx="0"/>
          </p:cNvCxnSpPr>
          <p:nvPr/>
        </p:nvCxnSpPr>
        <p:spPr bwMode="auto">
          <a:xfrm>
            <a:off x="4085484" y="4253827"/>
            <a:ext cx="0" cy="2192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직사각형 59"/>
          <p:cNvSpPr/>
          <p:nvPr/>
        </p:nvSpPr>
        <p:spPr bwMode="auto">
          <a:xfrm>
            <a:off x="3656856" y="324979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급여결과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3656856" y="4473116"/>
            <a:ext cx="857256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급여결과 승인 요청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2" name="Shape 266"/>
          <p:cNvCxnSpPr>
            <a:cxnSpLocks noChangeShapeType="1"/>
            <a:stCxn id="61" idx="2"/>
            <a:endCxn id="57" idx="0"/>
          </p:cNvCxnSpPr>
          <p:nvPr/>
        </p:nvCxnSpPr>
        <p:spPr bwMode="auto">
          <a:xfrm>
            <a:off x="4085484" y="4793887"/>
            <a:ext cx="0" cy="73096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155" idx="6"/>
            <a:endCxn id="44" idx="0"/>
          </p:cNvCxnSpPr>
          <p:nvPr/>
        </p:nvCxnSpPr>
        <p:spPr bwMode="auto">
          <a:xfrm>
            <a:off x="1640632" y="2477764"/>
            <a:ext cx="2444852" cy="19515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순서도: 종속 처리 64"/>
          <p:cNvSpPr>
            <a:spLocks noChangeAspect="1" noChangeArrowheads="1"/>
          </p:cNvSpPr>
          <p:nvPr/>
        </p:nvSpPr>
        <p:spPr bwMode="auto">
          <a:xfrm>
            <a:off x="2419124" y="2697464"/>
            <a:ext cx="1008000" cy="3079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3.1.7.2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휴가관리</a:t>
            </a:r>
          </a:p>
        </p:txBody>
      </p:sp>
      <p:sp>
        <p:nvSpPr>
          <p:cNvPr id="47" name="순서도: 종속 처리 64"/>
          <p:cNvSpPr>
            <a:spLocks noChangeAspect="1" noChangeArrowheads="1"/>
          </p:cNvSpPr>
          <p:nvPr/>
        </p:nvSpPr>
        <p:spPr bwMode="auto">
          <a:xfrm>
            <a:off x="1352600" y="3617961"/>
            <a:ext cx="1008000" cy="3079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3.3.2.1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성과급관리</a:t>
            </a:r>
          </a:p>
        </p:txBody>
      </p:sp>
      <p:sp>
        <p:nvSpPr>
          <p:cNvPr id="48" name="순서도: 종속 처리 64"/>
          <p:cNvSpPr>
            <a:spLocks noChangeAspect="1" noChangeArrowheads="1"/>
          </p:cNvSpPr>
          <p:nvPr/>
        </p:nvSpPr>
        <p:spPr bwMode="auto">
          <a:xfrm>
            <a:off x="2419124" y="3609380"/>
            <a:ext cx="1008000" cy="3079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3.5.2.1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현물지급관리</a:t>
            </a:r>
          </a:p>
        </p:txBody>
      </p:sp>
      <p:sp>
        <p:nvSpPr>
          <p:cNvPr id="49" name="순서도: 종속 처리 64"/>
          <p:cNvSpPr>
            <a:spLocks noChangeAspect="1" noChangeArrowheads="1"/>
          </p:cNvSpPr>
          <p:nvPr/>
        </p:nvSpPr>
        <p:spPr bwMode="auto">
          <a:xfrm>
            <a:off x="1352600" y="4237458"/>
            <a:ext cx="1008000" cy="3079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3.6.1.1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취득신고</a:t>
            </a:r>
          </a:p>
        </p:txBody>
      </p:sp>
      <p:sp>
        <p:nvSpPr>
          <p:cNvPr id="50" name="순서도: 종속 처리 64"/>
          <p:cNvSpPr>
            <a:spLocks noChangeAspect="1" noChangeArrowheads="1"/>
          </p:cNvSpPr>
          <p:nvPr/>
        </p:nvSpPr>
        <p:spPr bwMode="auto">
          <a:xfrm>
            <a:off x="2419124" y="4530823"/>
            <a:ext cx="1008112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3.6.4.1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대출금관리</a:t>
            </a:r>
          </a:p>
        </p:txBody>
      </p:sp>
      <p:sp>
        <p:nvSpPr>
          <p:cNvPr id="51" name="순서도: 종속 처리 64"/>
          <p:cNvSpPr>
            <a:spLocks noChangeAspect="1" noChangeArrowheads="1"/>
          </p:cNvSpPr>
          <p:nvPr/>
        </p:nvSpPr>
        <p:spPr bwMode="auto">
          <a:xfrm>
            <a:off x="1352599" y="4540349"/>
            <a:ext cx="1008000" cy="475297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3.6.3.1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고교생자녀 학자금관리</a:t>
            </a:r>
          </a:p>
        </p:txBody>
      </p:sp>
      <p:sp>
        <p:nvSpPr>
          <p:cNvPr id="52" name="순서도: 종속 처리 64"/>
          <p:cNvSpPr>
            <a:spLocks noChangeAspect="1" noChangeArrowheads="1"/>
          </p:cNvSpPr>
          <p:nvPr/>
        </p:nvSpPr>
        <p:spPr bwMode="auto">
          <a:xfrm>
            <a:off x="2419997" y="4844393"/>
            <a:ext cx="1008112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3.6.5.1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공제회관리</a:t>
            </a:r>
          </a:p>
        </p:txBody>
      </p:sp>
      <p:sp>
        <p:nvSpPr>
          <p:cNvPr id="53" name="직사각형 52"/>
          <p:cNvSpPr/>
          <p:nvPr/>
        </p:nvSpPr>
        <p:spPr>
          <a:xfrm>
            <a:off x="1316596" y="2657296"/>
            <a:ext cx="2147113" cy="25555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4" name="Shape 266"/>
          <p:cNvCxnSpPr>
            <a:cxnSpLocks noChangeShapeType="1"/>
            <a:stCxn id="57" idx="3"/>
            <a:endCxn id="106" idx="1"/>
          </p:cNvCxnSpPr>
          <p:nvPr/>
        </p:nvCxnSpPr>
        <p:spPr bwMode="auto">
          <a:xfrm flipV="1">
            <a:off x="4514112" y="4029054"/>
            <a:ext cx="229704" cy="165618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" name="순서도: 종속 처리 64"/>
          <p:cNvSpPr>
            <a:spLocks noChangeAspect="1" noChangeArrowheads="1"/>
          </p:cNvSpPr>
          <p:nvPr/>
        </p:nvSpPr>
        <p:spPr bwMode="auto">
          <a:xfrm>
            <a:off x="2419124" y="3913352"/>
            <a:ext cx="1008000" cy="312764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3.5.6.2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연말정산처리</a:t>
            </a:r>
          </a:p>
        </p:txBody>
      </p:sp>
      <p:sp>
        <p:nvSpPr>
          <p:cNvPr id="66" name="순서도: 종속 처리 64"/>
          <p:cNvSpPr>
            <a:spLocks noChangeAspect="1" noChangeArrowheads="1"/>
          </p:cNvSpPr>
          <p:nvPr/>
        </p:nvSpPr>
        <p:spPr bwMode="auto">
          <a:xfrm>
            <a:off x="1352600" y="3930376"/>
            <a:ext cx="1008000" cy="3079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3.5.3.2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소급처리</a:t>
            </a:r>
          </a:p>
        </p:txBody>
      </p:sp>
      <p:sp>
        <p:nvSpPr>
          <p:cNvPr id="67" name="순서도: 종속 처리 64"/>
          <p:cNvSpPr>
            <a:spLocks noChangeAspect="1" noChangeArrowheads="1"/>
          </p:cNvSpPr>
          <p:nvPr/>
        </p:nvSpPr>
        <p:spPr bwMode="auto">
          <a:xfrm>
            <a:off x="2419124" y="2998079"/>
            <a:ext cx="1008112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3.1.7.4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단시간 근무관리</a:t>
            </a:r>
          </a:p>
        </p:txBody>
      </p:sp>
      <p:sp>
        <p:nvSpPr>
          <p:cNvPr id="68" name="순서도: 종속 처리 64"/>
          <p:cNvSpPr>
            <a:spLocks noChangeAspect="1" noChangeArrowheads="1"/>
          </p:cNvSpPr>
          <p:nvPr/>
        </p:nvSpPr>
        <p:spPr bwMode="auto">
          <a:xfrm>
            <a:off x="1352600" y="3310879"/>
            <a:ext cx="1008000" cy="3079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3.1.7.7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 스케줄 관리</a:t>
            </a:r>
          </a:p>
        </p:txBody>
      </p:sp>
      <p:sp>
        <p:nvSpPr>
          <p:cNvPr id="69" name="순서도: 종속 처리 64"/>
          <p:cNvSpPr>
            <a:spLocks noChangeAspect="1" noChangeArrowheads="1"/>
          </p:cNvSpPr>
          <p:nvPr/>
        </p:nvSpPr>
        <p:spPr bwMode="auto">
          <a:xfrm>
            <a:off x="2419124" y="4226849"/>
            <a:ext cx="1008112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3.6.1.2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변동신고</a:t>
            </a:r>
          </a:p>
        </p:txBody>
      </p:sp>
      <p:sp>
        <p:nvSpPr>
          <p:cNvPr id="70" name="순서도: 종속 처리 64"/>
          <p:cNvSpPr>
            <a:spLocks noChangeAspect="1" noChangeArrowheads="1"/>
          </p:cNvSpPr>
          <p:nvPr/>
        </p:nvSpPr>
        <p:spPr bwMode="auto">
          <a:xfrm>
            <a:off x="2419124" y="3305408"/>
            <a:ext cx="1008000" cy="308481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3.3.1.4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평가결과관리</a:t>
            </a:r>
          </a:p>
        </p:txBody>
      </p:sp>
      <p:sp>
        <p:nvSpPr>
          <p:cNvPr id="71" name="순서도: 종속 처리 64"/>
          <p:cNvSpPr>
            <a:spLocks noChangeAspect="1" noChangeArrowheads="1"/>
          </p:cNvSpPr>
          <p:nvPr/>
        </p:nvSpPr>
        <p:spPr bwMode="auto">
          <a:xfrm>
            <a:off x="1352600" y="2998079"/>
            <a:ext cx="1008000" cy="310864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3.1.7.3 </a:t>
            </a:r>
            <a:r>
              <a:rPr lang="ko-KR" altLang="en-US" sz="900" kern="0" dirty="0" err="1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일근태관리</a:t>
            </a:r>
            <a:endParaRPr lang="ko-KR" altLang="en-US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순서도: 종속 처리 64"/>
          <p:cNvSpPr>
            <a:spLocks noChangeAspect="1" noChangeArrowheads="1"/>
          </p:cNvSpPr>
          <p:nvPr/>
        </p:nvSpPr>
        <p:spPr bwMode="auto">
          <a:xfrm>
            <a:off x="1352600" y="2697464"/>
            <a:ext cx="1008000" cy="307945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3.1.6.2</a:t>
            </a: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징계관리</a:t>
            </a:r>
          </a:p>
        </p:txBody>
      </p:sp>
      <p:cxnSp>
        <p:nvCxnSpPr>
          <p:cNvPr id="102" name="Shape 266"/>
          <p:cNvCxnSpPr>
            <a:cxnSpLocks noChangeShapeType="1"/>
            <a:stCxn id="60" idx="2"/>
            <a:endCxn id="55" idx="0"/>
          </p:cNvCxnSpPr>
          <p:nvPr/>
        </p:nvCxnSpPr>
        <p:spPr bwMode="auto">
          <a:xfrm>
            <a:off x="4085484" y="3570567"/>
            <a:ext cx="0" cy="2184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6" name="직사각형 105"/>
          <p:cNvSpPr/>
          <p:nvPr/>
        </p:nvSpPr>
        <p:spPr bwMode="auto">
          <a:xfrm>
            <a:off x="4743816" y="386866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급여마감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4" name="Shape 266"/>
          <p:cNvCxnSpPr>
            <a:cxnSpLocks noChangeShapeType="1"/>
            <a:stCxn id="106" idx="0"/>
            <a:endCxn id="85" idx="1"/>
          </p:cNvCxnSpPr>
          <p:nvPr/>
        </p:nvCxnSpPr>
        <p:spPr bwMode="auto">
          <a:xfrm rot="5400000" flipH="1" flipV="1">
            <a:off x="5247528" y="2896216"/>
            <a:ext cx="897368" cy="104753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4" name="Shape 266"/>
          <p:cNvCxnSpPr>
            <a:cxnSpLocks noChangeShapeType="1"/>
            <a:stCxn id="106" idx="0"/>
            <a:endCxn id="121" idx="1"/>
          </p:cNvCxnSpPr>
          <p:nvPr/>
        </p:nvCxnSpPr>
        <p:spPr bwMode="auto">
          <a:xfrm rot="5400000" flipH="1" flipV="1">
            <a:off x="5539713" y="2243991"/>
            <a:ext cx="1257409" cy="199194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" name="Shape 266"/>
          <p:cNvCxnSpPr>
            <a:cxnSpLocks noChangeShapeType="1"/>
            <a:stCxn id="116" idx="3"/>
            <a:endCxn id="142" idx="3"/>
          </p:cNvCxnSpPr>
          <p:nvPr/>
        </p:nvCxnSpPr>
        <p:spPr bwMode="auto">
          <a:xfrm flipV="1">
            <a:off x="7077236" y="6116931"/>
            <a:ext cx="1187791" cy="29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73051505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급여기준 및 수식에 의해 규정 변동 시 업무담당자가 직접 규칙을 변경할 수 있고 급여 결과에 대해 기안문을 생성할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3.3.2.16 </a:t>
            </a:r>
            <a:r>
              <a:rPr lang="ko-KR" altLang="en-US" dirty="0"/>
              <a:t>급여관리 </a:t>
            </a:r>
            <a:r>
              <a:rPr lang="en-US" altLang="ko-KR" dirty="0"/>
              <a:t>(3/5)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7830486"/>
              </p:ext>
            </p:extLst>
          </p:nvPr>
        </p:nvGraphicFramePr>
        <p:xfrm>
          <a:off x="344488" y="1604186"/>
          <a:ext cx="9180513" cy="48158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연봉자관리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일반직의 급여계산을 위해 개인별 연봉내역을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개인 연봉내역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일급표관리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일용직의 급여 계산을 위해 직무에 따라 달라지는 일급표를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직무별 일급표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급여항목관리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급여항목과 급여항목에 따른 구분정보와 기준정보를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급여항목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급여기초정보등록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세율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공제기준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회계예산기준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통상임금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직무급 등 기초정보를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법정세율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세액기준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소득공제기준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회계예산기준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직무급내역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통상임금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급여수식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급여계산을 위한 급여항목별 계산식과 급여 계산식 이력정보를 등록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급여수식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지급공제기준등록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원장 생성을 위한 직급별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직위별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직무별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직원별 지급공제 기준정보를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직급별지급공제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직위별지급공제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직무별지급공제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직원별지급공제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급여예외자관리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급여계산 시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원래 금액과 다른 금액을 지급하는 직원의 급여예외 정보를 등록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급여예외자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임금피크제 대상자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급여계산을 위해 임금피크 대상자의 급여정보를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임금피크 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압류관리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급여계산을 위해 직원의 압류내역을 등록하고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압류정보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급여유형별 급여일자 관리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급여유형별로 지급일자를 등록하고 급여 계산 및 마감에 사용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급여유형별 급여일자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급여기준 및 수식에 의해 규정 변동 시 업무담당자가 직접 규칙을 변경할 수 있고 급여 결과에 대해 기안문을 생성할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3.3.2.16 </a:t>
            </a:r>
            <a:r>
              <a:rPr lang="ko-KR" altLang="en-US" dirty="0"/>
              <a:t>급여관리 </a:t>
            </a:r>
            <a:r>
              <a:rPr lang="en-US" altLang="ko-KR" dirty="0"/>
              <a:t>(4/5)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458869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급여대상자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급여유형별 일자별로 급여지급 대상자의 정보를 생성하고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급여대상자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인사변동자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휴직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전보 등 급여에 영향이 있는 인사변동자에 대한 정보를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 기초원장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 대상자에 대한 기초원장정보를 생성하고 급여 계산에 사용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급여기준정보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압류정보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,OT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 기초원장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 대상자에 대해 생성된 기초원장정보를 확인하고 변경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인사정보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급여기준정보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압류정보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,OT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급여계산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 대상자별로 급여수식과 기초원장에 의해 급여내역을 계산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급여결과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 대상자별로 계산된 급여내역을 조회하고 금액을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급여결과 승인 기획안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계산된 급여내역을 확인하고 급여내역 승인을 위한 기획안을 조회하고 파일을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급여계산내역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급여결과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급여결과 승인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산정된 급여내역에 대해 전결권자에게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급여결과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급여결과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전결권자가 급여담당자가 요청한 급여내역에 대해 확인하고 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급여결과 기획안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급여마감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급여계산이 완료된 급여내역에 대해 수정이 불가하도록 급여내역을 마감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전표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마감된 급여내역에 대해 재무회계에 지출을 요청할 내역을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7591431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급여기준 및 수식에 의해 규정 변동 시 업무담당자가 직접 규칙을 변경할 수 있고 급여 결과에 대해 기안문을 생성할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3.3.2.16 </a:t>
            </a:r>
            <a:r>
              <a:rPr lang="ko-KR" altLang="en-US" dirty="0"/>
              <a:t>급여관리 </a:t>
            </a:r>
            <a:r>
              <a:rPr lang="en-US" altLang="ko-KR" dirty="0"/>
              <a:t>(5/5)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5995042"/>
              </p:ext>
            </p:extLst>
          </p:nvPr>
        </p:nvGraphicFramePr>
        <p:xfrm>
          <a:off x="344488" y="1604186"/>
          <a:ext cx="9180513" cy="460248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계정별 현황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마감된 급여내역에 대해 재무회계에 지출을 요청할 내역을 계정별로 금액을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전표내역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전표 전송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확인된 급여전표 내역을 재무회계 시스템으로 전송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이체내역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급여 대상자별 급여 이체내역을 생성하고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급여이체내역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급여내역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개인별로 본인의 월별 급여유형별 급여 지급내역을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급여현황 출력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각종 급여관련 현황정보를 조회하고 출력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급상여지급대장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은행별지급명세서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급여명세서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사원명부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장기근속수당대상자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퇴직금기준일및지급율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연간급여액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건강보험공제명세서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국민연금공제명세서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공제명세서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연간 고용보험월별공제내역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OT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및초과시간내역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대출금상환내역서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평균보수표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미연동 현물 내역과 연동 현물 내역을 조합하여 현물지급내역을 자동으로 생성할 수 있도록 업무프로세스를 변경함 </a:t>
            </a:r>
          </a:p>
        </p:txBody>
      </p:sp>
      <p:sp>
        <p:nvSpPr>
          <p:cNvPr id="44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3.3.2.17 </a:t>
            </a:r>
            <a:r>
              <a:rPr lang="ko-KR" altLang="en-US" dirty="0"/>
              <a:t>현물관리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5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8411618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3.5.2.1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현물지급관리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383553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현물지급담당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6282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관련업무담당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" name="그룹 54"/>
          <p:cNvGrpSpPr/>
          <p:nvPr/>
        </p:nvGrpSpPr>
        <p:grpSpPr>
          <a:xfrm>
            <a:off x="8553400" y="2924944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현물지급 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36" name="직사각형 135"/>
          <p:cNvSpPr/>
          <p:nvPr/>
        </p:nvSpPr>
        <p:spPr bwMode="auto">
          <a:xfrm>
            <a:off x="2396716" y="297344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현물기준등록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8" name="Shape 266"/>
          <p:cNvCxnSpPr>
            <a:cxnSpLocks noChangeShapeType="1"/>
            <a:stCxn id="49" idx="0"/>
            <a:endCxn id="136" idx="1"/>
          </p:cNvCxnSpPr>
          <p:nvPr/>
        </p:nvCxnSpPr>
        <p:spPr bwMode="auto">
          <a:xfrm>
            <a:off x="2181033" y="3130097"/>
            <a:ext cx="215683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36" idx="3"/>
            <a:endCxn id="42" idx="1"/>
          </p:cNvCxnSpPr>
          <p:nvPr/>
        </p:nvCxnSpPr>
        <p:spPr bwMode="auto">
          <a:xfrm>
            <a:off x="3253972" y="3133831"/>
            <a:ext cx="1453840" cy="95078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" name="직사각형 196"/>
          <p:cNvSpPr/>
          <p:nvPr/>
        </p:nvSpPr>
        <p:spPr bwMode="auto">
          <a:xfrm>
            <a:off x="7196768" y="297344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현물지급내역 생성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2" name="Shape 266"/>
          <p:cNvCxnSpPr>
            <a:cxnSpLocks noChangeShapeType="1"/>
            <a:stCxn id="197" idx="3"/>
          </p:cNvCxnSpPr>
          <p:nvPr/>
        </p:nvCxnSpPr>
        <p:spPr bwMode="auto">
          <a:xfrm flipV="1">
            <a:off x="8054024" y="3131963"/>
            <a:ext cx="499376" cy="186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7"/>
          <p:cNvGrpSpPr/>
          <p:nvPr/>
        </p:nvGrpSpPr>
        <p:grpSpPr>
          <a:xfrm>
            <a:off x="1424608" y="2924944"/>
            <a:ext cx="756425" cy="417772"/>
            <a:chOff x="1357741" y="2874679"/>
            <a:chExt cx="756425" cy="417772"/>
          </a:xfrm>
        </p:grpSpPr>
        <p:sp>
          <p:nvSpPr>
            <p:cNvPr id="49" name="육각형 4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현물 지급 시작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2" name="순서도: 종속 처리 64"/>
          <p:cNvSpPr>
            <a:spLocks noChangeAspect="1" noChangeArrowheads="1"/>
          </p:cNvSpPr>
          <p:nvPr/>
        </p:nvSpPr>
        <p:spPr bwMode="auto">
          <a:xfrm>
            <a:off x="7120300" y="2396121"/>
            <a:ext cx="1010192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63" name="Shape 266"/>
          <p:cNvCxnSpPr>
            <a:cxnSpLocks noChangeShapeType="1"/>
            <a:stCxn id="197" idx="0"/>
            <a:endCxn id="62" idx="2"/>
          </p:cNvCxnSpPr>
          <p:nvPr/>
        </p:nvCxnSpPr>
        <p:spPr bwMode="auto">
          <a:xfrm flipV="1">
            <a:off x="7625396" y="2708920"/>
            <a:ext cx="0" cy="26452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52" idx="3"/>
            <a:endCxn id="197" idx="2"/>
          </p:cNvCxnSpPr>
          <p:nvPr/>
        </p:nvCxnSpPr>
        <p:spPr bwMode="auto">
          <a:xfrm flipV="1">
            <a:off x="6886014" y="3294216"/>
            <a:ext cx="739382" cy="1243732"/>
          </a:xfrm>
          <a:prstGeom prst="bentConnector2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4" name="Shape 266"/>
          <p:cNvCxnSpPr>
            <a:cxnSpLocks noChangeShapeType="1"/>
            <a:stCxn id="53" idx="3"/>
            <a:endCxn id="197" idx="2"/>
          </p:cNvCxnSpPr>
          <p:nvPr/>
        </p:nvCxnSpPr>
        <p:spPr bwMode="auto">
          <a:xfrm flipV="1">
            <a:off x="6886014" y="3294216"/>
            <a:ext cx="739382" cy="1658458"/>
          </a:xfrm>
          <a:prstGeom prst="bentConnector2">
            <a:avLst/>
          </a:prstGeom>
          <a:noFill/>
          <a:ln w="6350" algn="ctr">
            <a:solidFill>
              <a:srgbClr val="027BF4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64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현물관리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2" name="직사각형 41"/>
          <p:cNvSpPr/>
          <p:nvPr/>
        </p:nvSpPr>
        <p:spPr bwMode="auto">
          <a:xfrm>
            <a:off x="4707812" y="392422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미연동 현물 내역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0" name="Shape 266"/>
          <p:cNvCxnSpPr>
            <a:cxnSpLocks noChangeShapeType="1"/>
            <a:stCxn id="42" idx="3"/>
            <a:endCxn id="197" idx="1"/>
          </p:cNvCxnSpPr>
          <p:nvPr/>
        </p:nvCxnSpPr>
        <p:spPr bwMode="auto">
          <a:xfrm flipV="1">
            <a:off x="5565068" y="3133831"/>
            <a:ext cx="1631700" cy="95078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1" name="타원 100"/>
          <p:cNvSpPr/>
          <p:nvPr/>
        </p:nvSpPr>
        <p:spPr>
          <a:xfrm>
            <a:off x="3073252" y="3130096"/>
            <a:ext cx="158948" cy="16411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" name="타원 105"/>
          <p:cNvSpPr/>
          <p:nvPr/>
        </p:nvSpPr>
        <p:spPr>
          <a:xfrm>
            <a:off x="7158956" y="3175370"/>
            <a:ext cx="214314" cy="120460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타원 114"/>
          <p:cNvSpPr/>
          <p:nvPr/>
        </p:nvSpPr>
        <p:spPr>
          <a:xfrm>
            <a:off x="7395042" y="3086552"/>
            <a:ext cx="137804" cy="205153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2" name="순서도: 종속 처리 64"/>
          <p:cNvSpPr>
            <a:spLocks noChangeAspect="1" noChangeArrowheads="1"/>
          </p:cNvSpPr>
          <p:nvPr/>
        </p:nvSpPr>
        <p:spPr bwMode="auto">
          <a:xfrm>
            <a:off x="5875822" y="4381548"/>
            <a:ext cx="1010192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3.1.6.1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포상관리</a:t>
            </a:r>
          </a:p>
        </p:txBody>
      </p:sp>
      <p:sp>
        <p:nvSpPr>
          <p:cNvPr id="53" name="순서도: 종속 처리 64"/>
          <p:cNvSpPr>
            <a:spLocks noChangeAspect="1" noChangeArrowheads="1"/>
          </p:cNvSpPr>
          <p:nvPr/>
        </p:nvSpPr>
        <p:spPr bwMode="auto">
          <a:xfrm>
            <a:off x="5875822" y="4796274"/>
            <a:ext cx="1010192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3.6.2.1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경조사관리</a:t>
            </a:r>
          </a:p>
        </p:txBody>
      </p:sp>
    </p:spTree>
    <p:extLst>
      <p:ext uri="{BB962C8B-B14F-4D97-AF65-F5344CB8AC3E}">
        <p14:creationId xmlns:p14="http://schemas.microsoft.com/office/powerpoint/2010/main" val="2655920887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미연동 현물 내역과 연동 현물 내역을 조합하여 현물지급내역을 자동으로 생성할 수 있도록 업무프로세스를 변경함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3.3.2.17 </a:t>
            </a:r>
            <a:r>
              <a:rPr lang="ko-KR" altLang="en-US" dirty="0"/>
              <a:t>현물관리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7447843"/>
              </p:ext>
            </p:extLst>
          </p:nvPr>
        </p:nvGraphicFramePr>
        <p:xfrm>
          <a:off x="344488" y="1604186"/>
          <a:ext cx="9180513" cy="16154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현물기준등록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현물처리에 대한 기준정보를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현물기준정보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미연동 현물 내역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현물내역이 발생하는 업무담당자가 급여에서 세금을 계산해야 할 현물 내역을 시스템에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현물지급내역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</a:t>
                      </a:r>
                      <a:endParaRPr lang="ko-KR" altLang="en-US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현물지급내역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포상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일용직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 등 연동이 가능한 현물지급정보와 등록된 현물내역을 조합하여 현물지급내역을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현물지급내역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보상관리 업무 중 소급관리</a:t>
            </a:r>
            <a:r>
              <a:rPr lang="ko-KR" altLang="en-US" sz="1600" dirty="0"/>
              <a:t>에서 오프라인으로 하는 소급작업을 시스템을 통하여 할 수 있도록 업무프로세스를 변경함</a:t>
            </a:r>
          </a:p>
        </p:txBody>
      </p:sp>
      <p:sp>
        <p:nvSpPr>
          <p:cNvPr id="42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3.3.2.18 </a:t>
            </a:r>
            <a:r>
              <a:rPr lang="ko-KR" altLang="en-US" dirty="0"/>
              <a:t>소급관리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3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80831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43660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3.5.3.1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소급기준관리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3.5.3.2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소급처리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05951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523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" name="그룹 54"/>
          <p:cNvGrpSpPr/>
          <p:nvPr/>
        </p:nvGrpSpPr>
        <p:grpSpPr>
          <a:xfrm>
            <a:off x="8569822" y="5351488"/>
            <a:ext cx="756425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소급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49" name="Shape 266"/>
          <p:cNvCxnSpPr>
            <a:cxnSpLocks noChangeShapeType="1"/>
            <a:stCxn id="36" idx="2"/>
            <a:endCxn id="197" idx="0"/>
          </p:cNvCxnSpPr>
          <p:nvPr/>
        </p:nvCxnSpPr>
        <p:spPr bwMode="auto">
          <a:xfrm>
            <a:off x="2921794" y="4008508"/>
            <a:ext cx="0" cy="24858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" name="직사각형 196"/>
          <p:cNvSpPr/>
          <p:nvPr/>
        </p:nvSpPr>
        <p:spPr bwMode="auto">
          <a:xfrm>
            <a:off x="2493166" y="42570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소급항목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2" name="Shape 266"/>
          <p:cNvCxnSpPr>
            <a:cxnSpLocks noChangeShapeType="1"/>
            <a:stCxn id="77" idx="3"/>
            <a:endCxn id="56" idx="3"/>
          </p:cNvCxnSpPr>
          <p:nvPr/>
        </p:nvCxnSpPr>
        <p:spPr bwMode="auto">
          <a:xfrm flipV="1">
            <a:off x="8186520" y="5556641"/>
            <a:ext cx="383302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7"/>
          <p:cNvGrpSpPr/>
          <p:nvPr/>
        </p:nvGrpSpPr>
        <p:grpSpPr>
          <a:xfrm>
            <a:off x="1460612" y="3645024"/>
            <a:ext cx="756425" cy="417772"/>
            <a:chOff x="1357741" y="2874679"/>
            <a:chExt cx="756425" cy="417772"/>
          </a:xfrm>
        </p:grpSpPr>
        <p:sp>
          <p:nvSpPr>
            <p:cNvPr id="49" name="육각형 4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소급 시작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4" name="직사각형 53"/>
          <p:cNvSpPr/>
          <p:nvPr/>
        </p:nvSpPr>
        <p:spPr bwMode="auto">
          <a:xfrm>
            <a:off x="4304928" y="368773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소급내역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산정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</p:cNvCxnSpPr>
          <p:nvPr/>
        </p:nvCxnSpPr>
        <p:spPr bwMode="auto">
          <a:xfrm flipV="1">
            <a:off x="3260812" y="-18497436"/>
            <a:ext cx="954506" cy="58148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순서도: 종속 처리 64"/>
          <p:cNvSpPr>
            <a:spLocks noChangeAspect="1" noChangeArrowheads="1"/>
          </p:cNvSpPr>
          <p:nvPr/>
        </p:nvSpPr>
        <p:spPr bwMode="auto">
          <a:xfrm>
            <a:off x="8481392" y="3687737"/>
            <a:ext cx="960634" cy="320400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sp>
        <p:nvSpPr>
          <p:cNvPr id="61" name="직사각형 60"/>
          <p:cNvSpPr/>
          <p:nvPr/>
        </p:nvSpPr>
        <p:spPr bwMode="auto">
          <a:xfrm>
            <a:off x="4304928" y="42570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소급내역 기획안 작성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직사각형 63"/>
          <p:cNvSpPr/>
          <p:nvPr/>
        </p:nvSpPr>
        <p:spPr bwMode="auto">
          <a:xfrm>
            <a:off x="4304928" y="48004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spc="-13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소급내역 기획안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승인 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6163059" y="264017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소급내역 기획안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Shape 266"/>
          <p:cNvCxnSpPr>
            <a:cxnSpLocks noChangeShapeType="1"/>
            <a:stCxn id="54" idx="2"/>
            <a:endCxn id="61" idx="0"/>
          </p:cNvCxnSpPr>
          <p:nvPr/>
        </p:nvCxnSpPr>
        <p:spPr bwMode="auto">
          <a:xfrm>
            <a:off x="4733556" y="4008508"/>
            <a:ext cx="0" cy="24858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8" name="Shape 266"/>
          <p:cNvCxnSpPr>
            <a:cxnSpLocks noChangeShapeType="1"/>
            <a:stCxn id="61" idx="2"/>
            <a:endCxn id="64" idx="0"/>
          </p:cNvCxnSpPr>
          <p:nvPr/>
        </p:nvCxnSpPr>
        <p:spPr bwMode="auto">
          <a:xfrm>
            <a:off x="4733556" y="4577863"/>
            <a:ext cx="0" cy="2225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64" idx="3"/>
            <a:endCxn id="65" idx="1"/>
          </p:cNvCxnSpPr>
          <p:nvPr/>
        </p:nvCxnSpPr>
        <p:spPr bwMode="auto">
          <a:xfrm flipV="1">
            <a:off x="5162184" y="2800563"/>
            <a:ext cx="1000875" cy="21602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" name="직사각형 72"/>
          <p:cNvSpPr/>
          <p:nvPr/>
        </p:nvSpPr>
        <p:spPr bwMode="auto">
          <a:xfrm>
            <a:off x="6163059" y="368773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소급내역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 확정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7329264" y="539998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소급내역 집계표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1" name="Shape 266"/>
          <p:cNvCxnSpPr>
            <a:cxnSpLocks noChangeShapeType="1"/>
            <a:stCxn id="73" idx="3"/>
            <a:endCxn id="62" idx="1"/>
          </p:cNvCxnSpPr>
          <p:nvPr/>
        </p:nvCxnSpPr>
        <p:spPr bwMode="auto">
          <a:xfrm flipV="1">
            <a:off x="7020315" y="3847937"/>
            <a:ext cx="1461077" cy="1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8" name="Shape 266"/>
          <p:cNvCxnSpPr>
            <a:cxnSpLocks noChangeShapeType="1"/>
            <a:stCxn id="65" idx="2"/>
            <a:endCxn id="73" idx="0"/>
          </p:cNvCxnSpPr>
          <p:nvPr/>
        </p:nvCxnSpPr>
        <p:spPr bwMode="auto">
          <a:xfrm>
            <a:off x="6591687" y="2960948"/>
            <a:ext cx="0" cy="7267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72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6" name="직사각형 35"/>
          <p:cNvSpPr/>
          <p:nvPr/>
        </p:nvSpPr>
        <p:spPr bwMode="auto">
          <a:xfrm>
            <a:off x="2493166" y="368773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소급대상 기간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8" name="Shape 266"/>
          <p:cNvCxnSpPr>
            <a:cxnSpLocks noChangeShapeType="1"/>
            <a:stCxn id="49" idx="0"/>
            <a:endCxn id="36" idx="1"/>
          </p:cNvCxnSpPr>
          <p:nvPr/>
        </p:nvCxnSpPr>
        <p:spPr bwMode="auto">
          <a:xfrm flipV="1">
            <a:off x="2217037" y="3848123"/>
            <a:ext cx="276129" cy="20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직사각형 36"/>
          <p:cNvSpPr/>
          <p:nvPr/>
        </p:nvSpPr>
        <p:spPr bwMode="auto">
          <a:xfrm>
            <a:off x="2493166" y="480041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소급대상 생성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9" name="Shape 266"/>
          <p:cNvCxnSpPr>
            <a:cxnSpLocks noChangeShapeType="1"/>
            <a:stCxn id="197" idx="2"/>
            <a:endCxn id="37" idx="0"/>
          </p:cNvCxnSpPr>
          <p:nvPr/>
        </p:nvCxnSpPr>
        <p:spPr bwMode="auto">
          <a:xfrm>
            <a:off x="2921794" y="4577863"/>
            <a:ext cx="0" cy="2225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37" idx="3"/>
            <a:endCxn id="54" idx="1"/>
          </p:cNvCxnSpPr>
          <p:nvPr/>
        </p:nvCxnSpPr>
        <p:spPr bwMode="auto">
          <a:xfrm flipV="1">
            <a:off x="3350422" y="3848123"/>
            <a:ext cx="954506" cy="111268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73" idx="2"/>
            <a:endCxn id="77" idx="1"/>
          </p:cNvCxnSpPr>
          <p:nvPr/>
        </p:nvCxnSpPr>
        <p:spPr bwMode="auto">
          <a:xfrm rot="16200000" flipH="1">
            <a:off x="6184542" y="4415652"/>
            <a:ext cx="1551867" cy="73757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719331228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보상관리 업무 중 소급관리에서 오프라인으로 하는 소급작업을 시스템을 통하여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3.3.2.18 </a:t>
            </a:r>
            <a:r>
              <a:rPr lang="ko-KR" altLang="en-US" dirty="0"/>
              <a:t>소급관리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33382"/>
              </p:ext>
            </p:extLst>
          </p:nvPr>
        </p:nvGraphicFramePr>
        <p:xfrm>
          <a:off x="344488" y="1604186"/>
          <a:ext cx="9180513" cy="399288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소급대상 기간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임단협 등의 소급요인에 의해 소급을 받아야 할 급여기간을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소급기간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소급항목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소급금액을 산정 시 계산해야 하는 급여항목을 선정하여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소급대상 급여항목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소급대상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임단협 등의 소급요인에 의해 소급을 받아야 할 대상자를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소급내역 산정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임단협 등의 소급요인에 의해 소급을 받아야 할 소급기간별 소급내역을 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소급내역 기획안 작성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전결권자에게 산정된 소급내역에 대해 승인을 위한 기획안을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소급내역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소급내역 기획안 승인 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전결권자에게 산정된 소급내역에 대한 기획안을 작성하여 승인을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소급내역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소급내역 기획안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전결권자가 급여담당자가 요청한 소급내역 기획안에 대해 확인하고 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소급내역 기획안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소급내역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전결권자의 승인이 완료되면 산정된 소급내역을 최종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소급내역 집계표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급여담당자가 산정된 소급내역에 대한 집계표를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소급내역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" name="표 40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2839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71652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3.5.4.1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퇴직금기준관리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3.5.4.2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퇴직정산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163525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퇴직금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483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5" name="직사각형 74"/>
          <p:cNvSpPr/>
          <p:nvPr/>
        </p:nvSpPr>
        <p:spPr>
          <a:xfrm>
            <a:off x="2469064" y="3486458"/>
            <a:ext cx="1043775" cy="156272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기준정보등록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퇴직금관리 업무에서 </a:t>
            </a:r>
            <a:r>
              <a:rPr lang="ko-KR" altLang="en-US" sz="1600" dirty="0"/>
              <a:t>퇴직전환금 관리 및 중간정산 신청을 시스템을 통하여 할 수 있도록 업무프로세스를 변경함</a:t>
            </a:r>
          </a:p>
        </p:txBody>
      </p:sp>
      <p:sp>
        <p:nvSpPr>
          <p:cNvPr id="5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3.3.2.19 </a:t>
            </a:r>
            <a:r>
              <a:rPr lang="ko-KR" altLang="en-US" dirty="0"/>
              <a:t>퇴직금관리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56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cxnSp>
        <p:nvCxnSpPr>
          <p:cNvPr id="138" name="Shape 266"/>
          <p:cNvCxnSpPr>
            <a:cxnSpLocks noChangeShapeType="1"/>
            <a:stCxn id="49" idx="0"/>
            <a:endCxn id="75" idx="0"/>
          </p:cNvCxnSpPr>
          <p:nvPr/>
        </p:nvCxnSpPr>
        <p:spPr bwMode="auto">
          <a:xfrm>
            <a:off x="2422458" y="3166101"/>
            <a:ext cx="568494" cy="32035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" name="직사각형 196"/>
          <p:cNvSpPr/>
          <p:nvPr/>
        </p:nvSpPr>
        <p:spPr bwMode="auto">
          <a:xfrm>
            <a:off x="2565016" y="375254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퇴직소득공제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2" name="Shape 266"/>
          <p:cNvCxnSpPr>
            <a:cxnSpLocks noChangeShapeType="1"/>
            <a:stCxn id="82" idx="3"/>
            <a:endCxn id="86" idx="1"/>
          </p:cNvCxnSpPr>
          <p:nvPr/>
        </p:nvCxnSpPr>
        <p:spPr bwMode="auto">
          <a:xfrm>
            <a:off x="6897216" y="4270459"/>
            <a:ext cx="32403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47"/>
          <p:cNvGrpSpPr/>
          <p:nvPr/>
        </p:nvGrpSpPr>
        <p:grpSpPr>
          <a:xfrm>
            <a:off x="1450009" y="2960948"/>
            <a:ext cx="972449" cy="417772"/>
            <a:chOff x="1357741" y="2874679"/>
            <a:chExt cx="756425" cy="417772"/>
          </a:xfrm>
        </p:grpSpPr>
        <p:sp>
          <p:nvSpPr>
            <p:cNvPr id="49" name="육각형 4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퇴직자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중간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정산자 발생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4" name="직사각형 53"/>
          <p:cNvSpPr/>
          <p:nvPr/>
        </p:nvSpPr>
        <p:spPr bwMode="auto">
          <a:xfrm>
            <a:off x="6039960" y="355456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퇴직대상자 생성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  <a:stCxn id="75" idx="3"/>
            <a:endCxn id="67" idx="1"/>
          </p:cNvCxnSpPr>
          <p:nvPr/>
        </p:nvCxnSpPr>
        <p:spPr bwMode="auto">
          <a:xfrm>
            <a:off x="3512839" y="4267819"/>
            <a:ext cx="294873" cy="264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54" idx="2"/>
            <a:endCxn id="82" idx="0"/>
          </p:cNvCxnSpPr>
          <p:nvPr/>
        </p:nvCxnSpPr>
        <p:spPr bwMode="auto">
          <a:xfrm>
            <a:off x="6468588" y="3875340"/>
            <a:ext cx="0" cy="23473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" name="직사각형 77"/>
          <p:cNvSpPr/>
          <p:nvPr/>
        </p:nvSpPr>
        <p:spPr bwMode="auto">
          <a:xfrm>
            <a:off x="1504091" y="41100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중간정산 신청일정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2565016" y="408141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퇴직성과급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2565016" y="439484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차등공제율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6039960" y="41100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퇴직금 계산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4925972" y="569559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중간정산 신청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7" name="직사각형 66"/>
          <p:cNvSpPr/>
          <p:nvPr/>
        </p:nvSpPr>
        <p:spPr bwMode="auto">
          <a:xfrm>
            <a:off x="3807712" y="41100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퇴직전환금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4925972" y="486200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중간정산 신청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9" name="Shape 266"/>
          <p:cNvCxnSpPr>
            <a:cxnSpLocks noChangeShapeType="1"/>
            <a:stCxn id="65" idx="0"/>
            <a:endCxn id="68" idx="2"/>
          </p:cNvCxnSpPr>
          <p:nvPr/>
        </p:nvCxnSpPr>
        <p:spPr bwMode="auto">
          <a:xfrm flipV="1">
            <a:off x="5354600" y="5182773"/>
            <a:ext cx="0" cy="512819"/>
          </a:xfrm>
          <a:prstGeom prst="straightConnector1">
            <a:avLst/>
          </a:prstGeom>
          <a:noFill/>
          <a:ln w="6350" algn="ctr">
            <a:solidFill>
              <a:srgbClr val="027BF4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68" idx="0"/>
            <a:endCxn id="6" idx="2"/>
          </p:cNvCxnSpPr>
          <p:nvPr/>
        </p:nvCxnSpPr>
        <p:spPr bwMode="auto">
          <a:xfrm rot="5400000" flipH="1" flipV="1">
            <a:off x="5163853" y="3985895"/>
            <a:ext cx="1066854" cy="68536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" name="Shape 266"/>
          <p:cNvCxnSpPr>
            <a:cxnSpLocks noChangeShapeType="1"/>
            <a:stCxn id="67" idx="0"/>
            <a:endCxn id="54" idx="1"/>
          </p:cNvCxnSpPr>
          <p:nvPr/>
        </p:nvCxnSpPr>
        <p:spPr bwMode="auto">
          <a:xfrm rot="5400000" flipH="1" flipV="1">
            <a:off x="4940591" y="3010704"/>
            <a:ext cx="395118" cy="180362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7" name="순서도: 종속 처리 64"/>
          <p:cNvSpPr>
            <a:spLocks noChangeAspect="1" noChangeArrowheads="1"/>
          </p:cNvSpPr>
          <p:nvPr/>
        </p:nvSpPr>
        <p:spPr bwMode="auto">
          <a:xfrm>
            <a:off x="5999160" y="2890384"/>
            <a:ext cx="938856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3.5.5.2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퇴직연금처리</a:t>
            </a:r>
          </a:p>
        </p:txBody>
      </p:sp>
      <p:cxnSp>
        <p:nvCxnSpPr>
          <p:cNvPr id="85" name="Shape 266"/>
          <p:cNvCxnSpPr>
            <a:cxnSpLocks noChangeShapeType="1"/>
            <a:stCxn id="77" idx="2"/>
            <a:endCxn id="54" idx="0"/>
          </p:cNvCxnSpPr>
          <p:nvPr/>
        </p:nvCxnSpPr>
        <p:spPr bwMode="auto">
          <a:xfrm>
            <a:off x="6468588" y="3203183"/>
            <a:ext cx="0" cy="3513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직사각형 85"/>
          <p:cNvSpPr/>
          <p:nvPr/>
        </p:nvSpPr>
        <p:spPr bwMode="auto">
          <a:xfrm>
            <a:off x="7221252" y="41100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퇴직금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2" name="Shape 266"/>
          <p:cNvCxnSpPr>
            <a:cxnSpLocks noChangeShapeType="1"/>
            <a:stCxn id="86" idx="3"/>
            <a:endCxn id="64" idx="3"/>
          </p:cNvCxnSpPr>
          <p:nvPr/>
        </p:nvCxnSpPr>
        <p:spPr bwMode="auto">
          <a:xfrm>
            <a:off x="8078508" y="4270459"/>
            <a:ext cx="319651" cy="172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62"/>
          <p:cNvGrpSpPr/>
          <p:nvPr/>
        </p:nvGrpSpPr>
        <p:grpSpPr>
          <a:xfrm>
            <a:off x="8398159" y="4067034"/>
            <a:ext cx="972449" cy="417772"/>
            <a:chOff x="1357741" y="2874679"/>
            <a:chExt cx="756425" cy="417772"/>
          </a:xfrm>
        </p:grpSpPr>
        <p:sp>
          <p:nvSpPr>
            <p:cNvPr id="64" name="육각형 63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퇴직금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81" name="Shape 266"/>
          <p:cNvCxnSpPr>
            <a:cxnSpLocks noChangeShapeType="1"/>
            <a:stCxn id="78" idx="2"/>
            <a:endCxn id="65" idx="1"/>
          </p:cNvCxnSpPr>
          <p:nvPr/>
        </p:nvCxnSpPr>
        <p:spPr bwMode="auto">
          <a:xfrm rot="16200000" flipH="1">
            <a:off x="2716778" y="3646784"/>
            <a:ext cx="1425134" cy="299325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8" name="Shape 266"/>
          <p:cNvCxnSpPr>
            <a:cxnSpLocks noChangeShapeType="1"/>
            <a:stCxn id="50" idx="2"/>
            <a:endCxn id="78" idx="0"/>
          </p:cNvCxnSpPr>
          <p:nvPr/>
        </p:nvCxnSpPr>
        <p:spPr bwMode="auto">
          <a:xfrm flipH="1">
            <a:off x="1932719" y="3378720"/>
            <a:ext cx="3695" cy="7313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95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퇴직금관리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" name="타원 5"/>
          <p:cNvSpPr/>
          <p:nvPr/>
        </p:nvSpPr>
        <p:spPr>
          <a:xfrm>
            <a:off x="6039960" y="3714955"/>
            <a:ext cx="209184" cy="16038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47138710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퇴직금관리 업무에서 퇴직전환금 관리 및 중간정산 신청을 시스템을 통하여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3.3.2.19 </a:t>
            </a:r>
            <a:r>
              <a:rPr lang="ko-KR" altLang="en-US" dirty="0"/>
              <a:t>퇴직금관리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227630"/>
              </p:ext>
            </p:extLst>
          </p:nvPr>
        </p:nvGraphicFramePr>
        <p:xfrm>
          <a:off x="344488" y="1604186"/>
          <a:ext cx="9180513" cy="35966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기준정보등록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소득공제기준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퇴직성과급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공제율 등 퇴직관련 기준정보를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퇴직소득공제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퇴직성과급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퇴직전환금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퇴직전환금 적용자에 대한 내용을 확인하고 퇴직전환금을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퇴직전환금내역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중간정산 신청일정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직원이 중간정산을 신청할 수 있는 일정을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중간정산일정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중간정산 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중간정산 신청요건에 해당할 경우 중간정산을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중간정산신청내역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중간정산 신청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직원이 신청한 중간정산 신청내역에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중간정산신청내역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퇴직대상자 생성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발령정보에 의해 퇴직금 지급대상자를 생성하거나 대상자를 직접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퇴직대상자정보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퇴직금 계산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퇴직금 지급대상자에 대해 퇴직금 지급내역 및 세금을 산정하고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퇴직금계산내역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퇴직금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산정된 퇴직금 지급내역을 확인하고 확정하여 퇴직금 지급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퇴직금계산내역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퇴직연금관리 업무에서 퇴직연금의 변경 신청 및 승인을 시스템을 통하여 할 수 있도록 업무프로세스를 변경함</a:t>
            </a:r>
          </a:p>
        </p:txBody>
      </p:sp>
      <p:sp>
        <p:nvSpPr>
          <p:cNvPr id="47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3.3.2.20 </a:t>
            </a:r>
            <a:r>
              <a:rPr lang="ko-KR" altLang="en-US" dirty="0"/>
              <a:t>퇴직연금관리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52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096999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0243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22058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3.5.5.1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퇴직연금변경신청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3.5.5.2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퇴직연금처리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15701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퇴직금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8072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퇴직연금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보험회사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" name="그룹 54"/>
          <p:cNvGrpSpPr/>
          <p:nvPr/>
        </p:nvGrpSpPr>
        <p:grpSpPr>
          <a:xfrm>
            <a:off x="8302231" y="3930376"/>
            <a:ext cx="899240" cy="417772"/>
            <a:chOff x="1357741" y="2874679"/>
            <a:chExt cx="756425" cy="417772"/>
          </a:xfrm>
        </p:grpSpPr>
        <p:sp>
          <p:nvSpPr>
            <p:cNvPr id="56" name="육각형 55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퇴직연금 발생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종료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202" name="Shape 266"/>
          <p:cNvCxnSpPr>
            <a:cxnSpLocks noChangeShapeType="1"/>
            <a:stCxn id="67" idx="3"/>
            <a:endCxn id="58" idx="0"/>
          </p:cNvCxnSpPr>
          <p:nvPr/>
        </p:nvCxnSpPr>
        <p:spPr bwMode="auto">
          <a:xfrm>
            <a:off x="7962657" y="3194571"/>
            <a:ext cx="789361" cy="74923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7"/>
          <p:cNvGrpSpPr/>
          <p:nvPr/>
        </p:nvGrpSpPr>
        <p:grpSpPr>
          <a:xfrm>
            <a:off x="1388263" y="2363156"/>
            <a:ext cx="972449" cy="417772"/>
            <a:chOff x="1357741" y="2874679"/>
            <a:chExt cx="756425" cy="417772"/>
          </a:xfrm>
        </p:grpSpPr>
        <p:sp>
          <p:nvSpPr>
            <p:cNvPr id="49" name="육각형 4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퇴직연금 신규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변경 발생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4" name="직사각형 53"/>
          <p:cNvSpPr/>
          <p:nvPr/>
        </p:nvSpPr>
        <p:spPr bwMode="auto">
          <a:xfrm>
            <a:off x="4499639" y="343519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유형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  <a:stCxn id="87" idx="3"/>
            <a:endCxn id="64" idx="1"/>
          </p:cNvCxnSpPr>
          <p:nvPr/>
        </p:nvCxnSpPr>
        <p:spPr bwMode="auto">
          <a:xfrm flipV="1">
            <a:off x="4219721" y="2912561"/>
            <a:ext cx="1461826" cy="27997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직사각형 59"/>
          <p:cNvSpPr/>
          <p:nvPr/>
        </p:nvSpPr>
        <p:spPr bwMode="auto">
          <a:xfrm>
            <a:off x="1450177" y="516565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퇴직연금 변경신청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50" idx="2"/>
            <a:endCxn id="60" idx="0"/>
          </p:cNvCxnSpPr>
          <p:nvPr/>
        </p:nvCxnSpPr>
        <p:spPr bwMode="auto">
          <a:xfrm>
            <a:off x="1874668" y="2780928"/>
            <a:ext cx="4137" cy="238473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직사각형 61"/>
          <p:cNvSpPr/>
          <p:nvPr/>
        </p:nvSpPr>
        <p:spPr bwMode="auto">
          <a:xfrm>
            <a:off x="2156929" y="303622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퇴직연금 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신청 승인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3" name="Shape 266"/>
          <p:cNvCxnSpPr>
            <a:cxnSpLocks noChangeShapeType="1"/>
            <a:stCxn id="60" idx="3"/>
            <a:endCxn id="62" idx="2"/>
          </p:cNvCxnSpPr>
          <p:nvPr/>
        </p:nvCxnSpPr>
        <p:spPr bwMode="auto">
          <a:xfrm flipV="1">
            <a:off x="2307433" y="3356992"/>
            <a:ext cx="278124" cy="196905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순서도: 종속 처리 64"/>
          <p:cNvSpPr>
            <a:spLocks noChangeAspect="1" noChangeArrowheads="1"/>
          </p:cNvSpPr>
          <p:nvPr/>
        </p:nvSpPr>
        <p:spPr bwMode="auto">
          <a:xfrm>
            <a:off x="5681547" y="2756161"/>
            <a:ext cx="938856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3.5.4.2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퇴직정산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7" name="순서도: 판단 161"/>
          <p:cNvSpPr>
            <a:spLocks noChangeArrowheads="1"/>
          </p:cNvSpPr>
          <p:nvPr/>
        </p:nvSpPr>
        <p:spPr bwMode="auto">
          <a:xfrm>
            <a:off x="3190442" y="3005419"/>
            <a:ext cx="1029279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퇴직연금유형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=DB</a:t>
            </a:r>
            <a:endParaRPr lang="ko-KR" altLang="en-US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직사각형 94"/>
          <p:cNvSpPr/>
          <p:nvPr/>
        </p:nvSpPr>
        <p:spPr bwMode="auto">
          <a:xfrm>
            <a:off x="4497864" y="401126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 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산정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요청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3421666" y="3429000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5720373" y="343519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 산정내역 접수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9" name="Shape 266"/>
          <p:cNvCxnSpPr>
            <a:cxnSpLocks noChangeShapeType="1"/>
            <a:stCxn id="45" idx="3"/>
            <a:endCxn id="98" idx="1"/>
          </p:cNvCxnSpPr>
          <p:nvPr/>
        </p:nvCxnSpPr>
        <p:spPr bwMode="auto">
          <a:xfrm flipV="1">
            <a:off x="5355120" y="3595584"/>
            <a:ext cx="365253" cy="237333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" name="TextBox 101"/>
          <p:cNvSpPr txBox="1"/>
          <p:nvPr/>
        </p:nvSpPr>
        <p:spPr>
          <a:xfrm>
            <a:off x="4198554" y="2982144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3" name="Shape 266"/>
          <p:cNvCxnSpPr>
            <a:cxnSpLocks noChangeShapeType="1"/>
            <a:stCxn id="53" idx="3"/>
            <a:endCxn id="181" idx="1"/>
          </p:cNvCxnSpPr>
          <p:nvPr/>
        </p:nvCxnSpPr>
        <p:spPr bwMode="auto">
          <a:xfrm flipV="1">
            <a:off x="6582550" y="3589386"/>
            <a:ext cx="512068" cy="112558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" name="Shape 266"/>
          <p:cNvCxnSpPr>
            <a:cxnSpLocks noChangeShapeType="1"/>
            <a:stCxn id="62" idx="3"/>
            <a:endCxn id="87" idx="1"/>
          </p:cNvCxnSpPr>
          <p:nvPr/>
        </p:nvCxnSpPr>
        <p:spPr bwMode="auto">
          <a:xfrm flipV="1">
            <a:off x="3014185" y="3192536"/>
            <a:ext cx="176257" cy="40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9" name="Shape 266"/>
          <p:cNvCxnSpPr>
            <a:cxnSpLocks noChangeShapeType="1"/>
            <a:stCxn id="87" idx="2"/>
            <a:endCxn id="54" idx="1"/>
          </p:cNvCxnSpPr>
          <p:nvPr/>
        </p:nvCxnSpPr>
        <p:spPr bwMode="auto">
          <a:xfrm rot="16200000" flipH="1">
            <a:off x="3994394" y="3090339"/>
            <a:ext cx="215932" cy="79455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" name="Shape 266"/>
          <p:cNvCxnSpPr>
            <a:cxnSpLocks noChangeShapeType="1"/>
            <a:stCxn id="95" idx="2"/>
            <a:endCxn id="45" idx="0"/>
          </p:cNvCxnSpPr>
          <p:nvPr/>
        </p:nvCxnSpPr>
        <p:spPr bwMode="auto">
          <a:xfrm>
            <a:off x="4926492" y="4332033"/>
            <a:ext cx="0" cy="147649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9" name="직사각형 168"/>
          <p:cNvSpPr/>
          <p:nvPr/>
        </p:nvSpPr>
        <p:spPr bwMode="auto">
          <a:xfrm>
            <a:off x="5722347" y="401126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 산정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78" name="Shape 266"/>
          <p:cNvCxnSpPr>
            <a:cxnSpLocks noChangeShapeType="1"/>
            <a:stCxn id="54" idx="2"/>
            <a:endCxn id="95" idx="0"/>
          </p:cNvCxnSpPr>
          <p:nvPr/>
        </p:nvCxnSpPr>
        <p:spPr bwMode="auto">
          <a:xfrm flipH="1">
            <a:off x="4926492" y="3755969"/>
            <a:ext cx="1775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0" name="Shape 266"/>
          <p:cNvCxnSpPr>
            <a:cxnSpLocks noChangeShapeType="1"/>
            <a:stCxn id="98" idx="2"/>
            <a:endCxn id="169" idx="0"/>
          </p:cNvCxnSpPr>
          <p:nvPr/>
        </p:nvCxnSpPr>
        <p:spPr bwMode="auto">
          <a:xfrm>
            <a:off x="6149001" y="3755969"/>
            <a:ext cx="1974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1" name="직사각형 180"/>
          <p:cNvSpPr/>
          <p:nvPr/>
        </p:nvSpPr>
        <p:spPr bwMode="auto">
          <a:xfrm>
            <a:off x="7094618" y="342900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 전표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2" name="순서도: 종속 처리 64"/>
          <p:cNvSpPr>
            <a:spLocks noChangeAspect="1" noChangeArrowheads="1"/>
          </p:cNvSpPr>
          <p:nvPr/>
        </p:nvSpPr>
        <p:spPr bwMode="auto">
          <a:xfrm>
            <a:off x="6939738" y="4562558"/>
            <a:ext cx="1188581" cy="396000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latin typeface="맑은 고딕" pitchFamily="50" charset="-127"/>
                <a:ea typeface="맑은 고딕" pitchFamily="50" charset="-127"/>
              </a:rPr>
              <a:t>1.3.1.2 </a:t>
            </a:r>
            <a:r>
              <a:rPr lang="ko-KR" altLang="en-US" sz="900" kern="0" dirty="0">
                <a:latin typeface="맑은 고딕" pitchFamily="50" charset="-127"/>
                <a:ea typeface="맑은 고딕" pitchFamily="50" charset="-127"/>
              </a:rPr>
              <a:t>지출요구</a:t>
            </a:r>
            <a:endParaRPr lang="en-US" altLang="ko-KR" sz="900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83" name="Shape 266"/>
          <p:cNvCxnSpPr>
            <a:cxnSpLocks noChangeShapeType="1"/>
            <a:stCxn id="181" idx="2"/>
            <a:endCxn id="188" idx="0"/>
          </p:cNvCxnSpPr>
          <p:nvPr/>
        </p:nvCxnSpPr>
        <p:spPr bwMode="auto">
          <a:xfrm>
            <a:off x="7523246" y="3749771"/>
            <a:ext cx="2326" cy="2287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8" name="직사각형 187"/>
          <p:cNvSpPr/>
          <p:nvPr/>
        </p:nvSpPr>
        <p:spPr bwMode="auto">
          <a:xfrm>
            <a:off x="7096944" y="397852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 전표 전송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1" name="Shape 266"/>
          <p:cNvCxnSpPr>
            <a:cxnSpLocks noChangeShapeType="1"/>
            <a:stCxn id="188" idx="2"/>
            <a:endCxn id="182" idx="0"/>
          </p:cNvCxnSpPr>
          <p:nvPr/>
        </p:nvCxnSpPr>
        <p:spPr bwMode="auto">
          <a:xfrm>
            <a:off x="7525572" y="4299294"/>
            <a:ext cx="8457" cy="26326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" name="Shape 266"/>
          <p:cNvCxnSpPr>
            <a:cxnSpLocks noChangeShapeType="1"/>
            <a:stCxn id="188" idx="3"/>
            <a:endCxn id="56" idx="3"/>
          </p:cNvCxnSpPr>
          <p:nvPr/>
        </p:nvCxnSpPr>
        <p:spPr bwMode="auto">
          <a:xfrm flipV="1">
            <a:off x="7954200" y="4135529"/>
            <a:ext cx="348031" cy="33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49" idx="0"/>
            <a:endCxn id="64" idx="0"/>
          </p:cNvCxnSpPr>
          <p:nvPr/>
        </p:nvCxnSpPr>
        <p:spPr bwMode="auto">
          <a:xfrm>
            <a:off x="2360712" y="2568309"/>
            <a:ext cx="3790263" cy="18785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직사각형 67"/>
          <p:cNvSpPr/>
          <p:nvPr/>
        </p:nvSpPr>
        <p:spPr bwMode="auto">
          <a:xfrm>
            <a:off x="2942028" y="238085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 신규 자동등록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1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56793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5" name="직사각형 44"/>
          <p:cNvSpPr/>
          <p:nvPr/>
        </p:nvSpPr>
        <p:spPr bwMode="auto">
          <a:xfrm>
            <a:off x="4497864" y="580852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산정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직사각형 52"/>
          <p:cNvSpPr/>
          <p:nvPr/>
        </p:nvSpPr>
        <p:spPr bwMode="auto">
          <a:xfrm>
            <a:off x="5725294" y="455458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퇴직연금 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금액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Shape 266"/>
          <p:cNvCxnSpPr>
            <a:cxnSpLocks noChangeShapeType="1"/>
            <a:stCxn id="169" idx="2"/>
            <a:endCxn id="53" idx="0"/>
          </p:cNvCxnSpPr>
          <p:nvPr/>
        </p:nvCxnSpPr>
        <p:spPr bwMode="auto">
          <a:xfrm>
            <a:off x="6150975" y="4332033"/>
            <a:ext cx="2947" cy="2225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7105401" y="303418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퇴직연금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일자 마감</a:t>
            </a:r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(DC)</a:t>
            </a:r>
          </a:p>
        </p:txBody>
      </p:sp>
      <p:cxnSp>
        <p:nvCxnSpPr>
          <p:cNvPr id="69" name="Shape 266"/>
          <p:cNvCxnSpPr>
            <a:cxnSpLocks noChangeShapeType="1"/>
            <a:stCxn id="87" idx="3"/>
            <a:endCxn id="67" idx="1"/>
          </p:cNvCxnSpPr>
          <p:nvPr/>
        </p:nvCxnSpPr>
        <p:spPr bwMode="auto">
          <a:xfrm>
            <a:off x="4219721" y="3192536"/>
            <a:ext cx="2885680" cy="203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014764198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퇴직연금관리 업무에서 퇴직연금의 변경 신청 및 승인을 시스템을 통하여 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3.3.2.20 </a:t>
            </a:r>
            <a:r>
              <a:rPr lang="ko-KR" altLang="en-US" dirty="0"/>
              <a:t>퇴직연금관리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8927752"/>
              </p:ext>
            </p:extLst>
          </p:nvPr>
        </p:nvGraphicFramePr>
        <p:xfrm>
          <a:off x="344488" y="1604187"/>
          <a:ext cx="9180513" cy="4615332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9752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90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신규 자동등록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채용될 경우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형에 대한 신청이 없으면 자동으로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형으로 분류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채용정보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490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변경신청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퇴직연금 유형에 대해 변경을 신청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(DB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형과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상호 변경이 가능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변경신청내역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90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 승인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퇴직연금 변경 신청에 대한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변경신청내역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490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퇴직연금유형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형에서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형으로 변경한 경우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신규정보를 등록하고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형에서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형으로 변경한 경우 마감일자를 변경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변경신청내역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490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산정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대상자에 대해 퇴직연금 산정을 보험회사에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대상자정보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4905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산정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보험회사가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대상자에 대한 퇴직연금을 산정하고 퇴직금담당자에게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산정내역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4905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산정내역 접수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보험회사에서 제출한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대상자에 대한 퇴직연금 산정내역을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퇴직연금산정내역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4905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산정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최종적으로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대상자에 대한 퇴직연금 산정을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퇴직연금산정내역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4905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금액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대상자에 대한 퇴직연금 금액을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퇴직연금산정내역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4905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전표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대상자에 대해 매월 지급되는 퇴직연금 금액에 대한 전표를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전표내역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4905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전표 전송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퇴직금담당자가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형 대상자에 대해 매월 지급되는 퇴직연금 금액에 대한 전표를 전송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전표내역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4905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퇴직연금 일자 마감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(DC)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퇴직담당자가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 DC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에서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로 퇴직연금 변경 신청을 승인할 경우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DC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신청내역을 종료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퇴직연금 변경신청내역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연말정산관리 업무는 </a:t>
            </a:r>
            <a:r>
              <a:rPr lang="ko-KR" altLang="en-US" sz="1600" dirty="0"/>
              <a:t>소득공제 신청 후 연말정산 내역을 계산하고 급여에서 지급하는 현행 프로세스와 동일하게 구성함</a:t>
            </a:r>
          </a:p>
        </p:txBody>
      </p:sp>
      <p:sp>
        <p:nvSpPr>
          <p:cNvPr id="5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3.3.2.21 </a:t>
            </a:r>
            <a:r>
              <a:rPr lang="ko-KR" altLang="en-US" dirty="0"/>
              <a:t>연말정산관리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5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5005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74441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3.5.6.1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연말정산소득공제신청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3.5.6.2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연말정산처리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71685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연말정산담당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2008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2008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국세청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" name="그룹 65"/>
          <p:cNvGrpSpPr/>
          <p:nvPr/>
        </p:nvGrpSpPr>
        <p:grpSpPr>
          <a:xfrm>
            <a:off x="1388263" y="2668122"/>
            <a:ext cx="972449" cy="417772"/>
            <a:chOff x="1357741" y="2874679"/>
            <a:chExt cx="756425" cy="417772"/>
          </a:xfrm>
        </p:grpSpPr>
        <p:sp>
          <p:nvSpPr>
            <p:cNvPr id="67" name="육각형 6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연말정산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중도정산 발생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직사각형 6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98" name="직사각형 97"/>
          <p:cNvSpPr/>
          <p:nvPr/>
        </p:nvSpPr>
        <p:spPr bwMode="auto">
          <a:xfrm>
            <a:off x="1445449" y="369417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법정세율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세액기준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99" name="Shape 266"/>
          <p:cNvCxnSpPr>
            <a:cxnSpLocks noChangeShapeType="1"/>
            <a:stCxn id="68" idx="2"/>
            <a:endCxn id="101" idx="0"/>
          </p:cNvCxnSpPr>
          <p:nvPr/>
        </p:nvCxnSpPr>
        <p:spPr bwMode="auto">
          <a:xfrm>
            <a:off x="1874668" y="3085894"/>
            <a:ext cx="3030" cy="2215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" name="직사각형 99"/>
          <p:cNvSpPr/>
          <p:nvPr/>
        </p:nvSpPr>
        <p:spPr bwMode="auto">
          <a:xfrm>
            <a:off x="1445404" y="400832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정산항목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직사각형 100"/>
          <p:cNvSpPr/>
          <p:nvPr/>
        </p:nvSpPr>
        <p:spPr>
          <a:xfrm>
            <a:off x="1415730" y="3307463"/>
            <a:ext cx="923936" cy="1050849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연말정산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기준등록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endParaRPr lang="ko-KR" altLang="en-US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" name="직사각형 101"/>
          <p:cNvSpPr/>
          <p:nvPr/>
        </p:nvSpPr>
        <p:spPr bwMode="auto">
          <a:xfrm>
            <a:off x="2943616" y="270892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정산대상자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3" name="Shape 266"/>
          <p:cNvCxnSpPr>
            <a:cxnSpLocks noChangeShapeType="1"/>
            <a:stCxn id="101" idx="3"/>
            <a:endCxn id="102" idx="1"/>
          </p:cNvCxnSpPr>
          <p:nvPr/>
        </p:nvCxnSpPr>
        <p:spPr bwMode="auto">
          <a:xfrm flipV="1">
            <a:off x="2339666" y="2869306"/>
            <a:ext cx="603950" cy="96358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4" name="직사각형 103"/>
          <p:cNvSpPr/>
          <p:nvPr/>
        </p:nvSpPr>
        <p:spPr bwMode="auto">
          <a:xfrm>
            <a:off x="4707812" y="501317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소득공제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5" name="직사각형 104"/>
          <p:cNvSpPr/>
          <p:nvPr/>
        </p:nvSpPr>
        <p:spPr bwMode="auto">
          <a:xfrm>
            <a:off x="2943616" y="320563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정산대상소득 생성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6" name="Shape 266"/>
          <p:cNvCxnSpPr>
            <a:cxnSpLocks noChangeShapeType="1"/>
            <a:stCxn id="102" idx="2"/>
            <a:endCxn id="105" idx="0"/>
          </p:cNvCxnSpPr>
          <p:nvPr/>
        </p:nvCxnSpPr>
        <p:spPr bwMode="auto">
          <a:xfrm>
            <a:off x="3372244" y="3029691"/>
            <a:ext cx="0" cy="17594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0" name="Shape 266"/>
          <p:cNvCxnSpPr>
            <a:cxnSpLocks noChangeShapeType="1"/>
            <a:stCxn id="72" idx="3"/>
            <a:endCxn id="104" idx="2"/>
          </p:cNvCxnSpPr>
          <p:nvPr/>
        </p:nvCxnSpPr>
        <p:spPr bwMode="auto">
          <a:xfrm flipV="1">
            <a:off x="3800872" y="5333947"/>
            <a:ext cx="1335568" cy="62473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" name="Shape 266"/>
          <p:cNvCxnSpPr>
            <a:cxnSpLocks noChangeShapeType="1"/>
            <a:stCxn id="115" idx="2"/>
            <a:endCxn id="158" idx="0"/>
          </p:cNvCxnSpPr>
          <p:nvPr/>
        </p:nvCxnSpPr>
        <p:spPr bwMode="auto">
          <a:xfrm>
            <a:off x="3372244" y="4046270"/>
            <a:ext cx="0" cy="9661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" name="직사각형 114"/>
          <p:cNvSpPr/>
          <p:nvPr/>
        </p:nvSpPr>
        <p:spPr bwMode="auto">
          <a:xfrm>
            <a:off x="2943616" y="372549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소득공제신청 공지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2" name="직사각형 121"/>
          <p:cNvSpPr/>
          <p:nvPr/>
        </p:nvSpPr>
        <p:spPr bwMode="auto">
          <a:xfrm>
            <a:off x="4707812" y="370381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소득공제 신청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6" name="직사각형 125"/>
          <p:cNvSpPr/>
          <p:nvPr/>
        </p:nvSpPr>
        <p:spPr bwMode="auto">
          <a:xfrm>
            <a:off x="5812054" y="259343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연말정산 계산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7" name="직사각형 126"/>
          <p:cNvSpPr/>
          <p:nvPr/>
        </p:nvSpPr>
        <p:spPr bwMode="auto">
          <a:xfrm>
            <a:off x="5812054" y="321297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연말정산 계산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8" name="Shape 266"/>
          <p:cNvCxnSpPr>
            <a:cxnSpLocks noChangeShapeType="1"/>
            <a:stCxn id="122" idx="3"/>
            <a:endCxn id="126" idx="1"/>
          </p:cNvCxnSpPr>
          <p:nvPr/>
        </p:nvCxnSpPr>
        <p:spPr bwMode="auto">
          <a:xfrm flipV="1">
            <a:off x="5565068" y="2753825"/>
            <a:ext cx="246986" cy="111037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" name="직사각형 135"/>
          <p:cNvSpPr/>
          <p:nvPr/>
        </p:nvSpPr>
        <p:spPr bwMode="auto">
          <a:xfrm>
            <a:off x="7210366" y="505019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연말정산 계산 결과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9" name="직사각형 138"/>
          <p:cNvSpPr/>
          <p:nvPr/>
        </p:nvSpPr>
        <p:spPr bwMode="auto">
          <a:xfrm>
            <a:off x="5812550" y="374757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지급조서 전산매체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2" name="Shape 266"/>
          <p:cNvCxnSpPr>
            <a:cxnSpLocks noChangeShapeType="1"/>
            <a:stCxn id="126" idx="2"/>
            <a:endCxn id="127" idx="0"/>
          </p:cNvCxnSpPr>
          <p:nvPr/>
        </p:nvCxnSpPr>
        <p:spPr bwMode="auto">
          <a:xfrm>
            <a:off x="6240682" y="2914210"/>
            <a:ext cx="0" cy="2987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4" name="Shape 266"/>
          <p:cNvCxnSpPr>
            <a:cxnSpLocks noChangeShapeType="1"/>
            <a:stCxn id="127" idx="2"/>
            <a:endCxn id="139" idx="0"/>
          </p:cNvCxnSpPr>
          <p:nvPr/>
        </p:nvCxnSpPr>
        <p:spPr bwMode="auto">
          <a:xfrm>
            <a:off x="6240682" y="3533747"/>
            <a:ext cx="496" cy="21382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7" name="Shape 266"/>
          <p:cNvCxnSpPr>
            <a:cxnSpLocks noChangeShapeType="1"/>
            <a:stCxn id="139" idx="2"/>
            <a:endCxn id="74" idx="0"/>
          </p:cNvCxnSpPr>
          <p:nvPr/>
        </p:nvCxnSpPr>
        <p:spPr bwMode="auto">
          <a:xfrm>
            <a:off x="6241178" y="4068342"/>
            <a:ext cx="0" cy="173084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8" name="직사각형 157"/>
          <p:cNvSpPr/>
          <p:nvPr/>
        </p:nvSpPr>
        <p:spPr bwMode="auto">
          <a:xfrm>
            <a:off x="2943616" y="501241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종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근무지 자료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63" name="Shape 266"/>
          <p:cNvCxnSpPr>
            <a:cxnSpLocks noChangeShapeType="1"/>
            <a:stCxn id="105" idx="2"/>
            <a:endCxn id="115" idx="0"/>
          </p:cNvCxnSpPr>
          <p:nvPr/>
        </p:nvCxnSpPr>
        <p:spPr bwMode="auto">
          <a:xfrm>
            <a:off x="3372244" y="3526409"/>
            <a:ext cx="0" cy="19909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1" name="Shape 266"/>
          <p:cNvCxnSpPr>
            <a:cxnSpLocks noChangeShapeType="1"/>
            <a:stCxn id="16" idx="6"/>
            <a:endCxn id="14" idx="2"/>
          </p:cNvCxnSpPr>
          <p:nvPr/>
        </p:nvCxnSpPr>
        <p:spPr bwMode="auto">
          <a:xfrm flipV="1">
            <a:off x="3800376" y="2673632"/>
            <a:ext cx="2008257" cy="2417738"/>
          </a:xfrm>
          <a:prstGeom prst="bentConnector3">
            <a:avLst>
              <a:gd name="adj1" fmla="val 24524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8" name="Shape 266"/>
          <p:cNvCxnSpPr>
            <a:cxnSpLocks noChangeShapeType="1"/>
            <a:stCxn id="158" idx="3"/>
            <a:endCxn id="104" idx="1"/>
          </p:cNvCxnSpPr>
          <p:nvPr/>
        </p:nvCxnSpPr>
        <p:spPr bwMode="auto">
          <a:xfrm>
            <a:off x="3800872" y="5172799"/>
            <a:ext cx="906940" cy="76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0" name="Shape 266"/>
          <p:cNvCxnSpPr>
            <a:cxnSpLocks noChangeShapeType="1"/>
            <a:stCxn id="104" idx="0"/>
            <a:endCxn id="122" idx="2"/>
          </p:cNvCxnSpPr>
          <p:nvPr/>
        </p:nvCxnSpPr>
        <p:spPr bwMode="auto">
          <a:xfrm flipV="1">
            <a:off x="5136440" y="4024589"/>
            <a:ext cx="0" cy="98858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8" name="Shape 266"/>
          <p:cNvCxnSpPr>
            <a:cxnSpLocks noChangeShapeType="1"/>
            <a:stCxn id="55" idx="6"/>
            <a:endCxn id="136" idx="0"/>
          </p:cNvCxnSpPr>
          <p:nvPr/>
        </p:nvCxnSpPr>
        <p:spPr bwMode="auto">
          <a:xfrm>
            <a:off x="6669310" y="3446216"/>
            <a:ext cx="969684" cy="160397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" name="순서도: 문서 78"/>
          <p:cNvSpPr>
            <a:spLocks noChangeAspect="1" noChangeArrowheads="1"/>
          </p:cNvSpPr>
          <p:nvPr/>
        </p:nvSpPr>
        <p:spPr bwMode="auto">
          <a:xfrm>
            <a:off x="8112375" y="2763994"/>
            <a:ext cx="1161105" cy="1225918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원천징수영수증 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원천징수부 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연말정산집계표 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의료비명세서 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기부금명세서 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신용카드명세서 출력</a:t>
            </a:r>
          </a:p>
        </p:txBody>
      </p:sp>
      <p:cxnSp>
        <p:nvCxnSpPr>
          <p:cNvPr id="203" name="Shape 266"/>
          <p:cNvCxnSpPr>
            <a:cxnSpLocks noChangeShapeType="1"/>
            <a:stCxn id="127" idx="3"/>
            <a:endCxn id="201" idx="1"/>
          </p:cNvCxnSpPr>
          <p:nvPr/>
        </p:nvCxnSpPr>
        <p:spPr bwMode="auto">
          <a:xfrm>
            <a:off x="6669310" y="3373362"/>
            <a:ext cx="1443065" cy="359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205"/>
          <p:cNvGrpSpPr/>
          <p:nvPr/>
        </p:nvGrpSpPr>
        <p:grpSpPr>
          <a:xfrm>
            <a:off x="8121352" y="4271368"/>
            <a:ext cx="972449" cy="417772"/>
            <a:chOff x="1357741" y="2874679"/>
            <a:chExt cx="756425" cy="417772"/>
          </a:xfrm>
        </p:grpSpPr>
        <p:sp>
          <p:nvSpPr>
            <p:cNvPr id="207" name="육각형 20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연말정산</a:t>
              </a:r>
              <a:r>
                <a:rPr lang="en-US" altLang="ko-KR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중도정산 완료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8" name="직사각형 20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9" name="직사각형 20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210" name="Shape 266"/>
          <p:cNvCxnSpPr>
            <a:cxnSpLocks noChangeShapeType="1"/>
            <a:stCxn id="136" idx="3"/>
            <a:endCxn id="9" idx="4"/>
          </p:cNvCxnSpPr>
          <p:nvPr/>
        </p:nvCxnSpPr>
        <p:spPr bwMode="auto">
          <a:xfrm flipV="1">
            <a:off x="8067622" y="4667996"/>
            <a:ext cx="497637" cy="54258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9" name="순서도: 문서 78"/>
          <p:cNvSpPr>
            <a:spLocks noChangeAspect="1" noChangeArrowheads="1"/>
          </p:cNvSpPr>
          <p:nvPr/>
        </p:nvSpPr>
        <p:spPr bwMode="auto">
          <a:xfrm>
            <a:off x="7055464" y="5620746"/>
            <a:ext cx="1161105" cy="565973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원천징수영수증 출력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원천징수부 출력</a:t>
            </a:r>
          </a:p>
        </p:txBody>
      </p:sp>
      <p:cxnSp>
        <p:nvCxnSpPr>
          <p:cNvPr id="80" name="Shape 266"/>
          <p:cNvCxnSpPr>
            <a:cxnSpLocks noChangeShapeType="1"/>
            <a:stCxn id="136" idx="2"/>
            <a:endCxn id="79" idx="0"/>
          </p:cNvCxnSpPr>
          <p:nvPr/>
        </p:nvCxnSpPr>
        <p:spPr bwMode="auto">
          <a:xfrm flipH="1">
            <a:off x="7636017" y="5370962"/>
            <a:ext cx="2977" cy="24978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83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2" name="직사각형 71"/>
          <p:cNvSpPr/>
          <p:nvPr/>
        </p:nvSpPr>
        <p:spPr bwMode="auto">
          <a:xfrm>
            <a:off x="2943616" y="579829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연말정산 간소화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5812550" y="579919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EDI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순서도: 종속 처리 64"/>
          <p:cNvSpPr>
            <a:spLocks noChangeAspect="1" noChangeArrowheads="1"/>
          </p:cNvSpPr>
          <p:nvPr/>
        </p:nvSpPr>
        <p:spPr bwMode="auto">
          <a:xfrm>
            <a:off x="8121352" y="2368748"/>
            <a:ext cx="938856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1" name="Shape 266"/>
          <p:cNvCxnSpPr>
            <a:cxnSpLocks noChangeShapeType="1"/>
            <a:stCxn id="3" idx="6"/>
            <a:endCxn id="78" idx="1"/>
          </p:cNvCxnSpPr>
          <p:nvPr/>
        </p:nvCxnSpPr>
        <p:spPr bwMode="auto">
          <a:xfrm flipV="1">
            <a:off x="6669310" y="2525148"/>
            <a:ext cx="1452042" cy="76802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타원 2"/>
          <p:cNvSpPr/>
          <p:nvPr/>
        </p:nvSpPr>
        <p:spPr>
          <a:xfrm>
            <a:off x="6568138" y="3212976"/>
            <a:ext cx="101172" cy="16038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5" name="타원 54"/>
          <p:cNvSpPr/>
          <p:nvPr/>
        </p:nvSpPr>
        <p:spPr>
          <a:xfrm>
            <a:off x="6568138" y="3366023"/>
            <a:ext cx="101172" cy="16038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타원 8"/>
          <p:cNvSpPr/>
          <p:nvPr/>
        </p:nvSpPr>
        <p:spPr>
          <a:xfrm>
            <a:off x="8441240" y="4447908"/>
            <a:ext cx="248037" cy="22008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타원 13"/>
          <p:cNvSpPr/>
          <p:nvPr/>
        </p:nvSpPr>
        <p:spPr>
          <a:xfrm>
            <a:off x="5808633" y="2593439"/>
            <a:ext cx="188861" cy="16038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타원 15"/>
          <p:cNvSpPr/>
          <p:nvPr/>
        </p:nvSpPr>
        <p:spPr>
          <a:xfrm>
            <a:off x="3650511" y="4992119"/>
            <a:ext cx="149865" cy="198501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0" name="Shape 266"/>
          <p:cNvCxnSpPr>
            <a:cxnSpLocks noChangeShapeType="1"/>
            <a:stCxn id="158" idx="2"/>
            <a:endCxn id="72" idx="0"/>
          </p:cNvCxnSpPr>
          <p:nvPr/>
        </p:nvCxnSpPr>
        <p:spPr bwMode="auto">
          <a:xfrm>
            <a:off x="3372244" y="5333184"/>
            <a:ext cx="0" cy="4651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74" idx="3"/>
            <a:endCxn id="136" idx="1"/>
          </p:cNvCxnSpPr>
          <p:nvPr/>
        </p:nvCxnSpPr>
        <p:spPr bwMode="auto">
          <a:xfrm flipV="1">
            <a:off x="6669806" y="5210577"/>
            <a:ext cx="540560" cy="74900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472817279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연말정산관리 업무는 소득공제 신청 후 연말정산 내역을 계산하고 급여에서 지급하는 현행 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3.3.2.21 </a:t>
            </a:r>
            <a:r>
              <a:rPr lang="ko-KR" altLang="en-US" dirty="0"/>
              <a:t>연말정산관리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7443524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기준등록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세율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세액공제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정산항목 등에 대한 기준정보를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세율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세액기준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정산항목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정산대상자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당해년도 연말정산 대상자를 생성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급여가 존재하는 모든 대상자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연말정산 대상자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정산대상소득 생성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당해년도 연말정산 대상자에 대한 소득정보를 생성하고 추가 등록 및 변경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연말정산 대상소득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소득공제신청 공지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당해년도 연말정산 대상자에게 소득공제 신청에 대한 안내를 공지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소득공제 신청 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종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근무지 자료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종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근무지 정보가 있을 경우 종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근무지의 원천징수영수증 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종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전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근무지내역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 간소화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국세청 홈페이지에서 연말정산 소득공제 신청을 위해 정보를 조회하고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PDF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파일을 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간소화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PDF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소득공제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국세청에서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PDF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파일을 이용하여 등록하거나 직접 등록하여 소득공제 내역을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소득공제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소득공제 신청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직원이 신청한 소득공제 내역을 증빙서류와 비교하여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소득공제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 계산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소득공제 신청 및 확인이 완료되면 연말정산담당자가 연말정산내역을 계산하고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연말정산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 계산 확정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계산내역 및 지급조서 정보를 확인하고 연말정산내역을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연말정산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계산내역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연말정산관리 업무는 소득공제 신청 후 연말정산 내역을 계산하고 급여에서 지급하는 현행 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3.3.2.21 </a:t>
            </a:r>
            <a:r>
              <a:rPr lang="ko-KR" altLang="en-US" dirty="0"/>
              <a:t>연말정산관리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2547003"/>
              </p:ext>
            </p:extLst>
          </p:nvPr>
        </p:nvGraphicFramePr>
        <p:xfrm>
          <a:off x="344488" y="1604186"/>
          <a:ext cx="9180513" cy="16154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지급조서 전산매체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계산된 연말정산내역에 대해 국세청에 신고할 지급조서 파일을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지급조서 파일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EDI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신고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연말정산담당자가 생성된 지급조서파일을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EDI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를 통해 국세청에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지급조서 파일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연말정산 계산 결과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최종 확정된 연말정산 계산결과를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연말정산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계산내역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연봉 인상률 및 채용</a:t>
            </a:r>
            <a:r>
              <a:rPr lang="en-US" altLang="ko-KR" sz="1600" dirty="0"/>
              <a:t>, </a:t>
            </a:r>
            <a:r>
              <a:rPr lang="ko-KR" altLang="en-US" sz="1600" dirty="0"/>
              <a:t>승진에 따른 인원변동에 의한 예상인건비와 기재부 총액인건비를 비교하여 최적의 인상조건을 찾을 수 있도록 업무프로세스를 변경함</a:t>
            </a:r>
          </a:p>
        </p:txBody>
      </p:sp>
      <p:sp>
        <p:nvSpPr>
          <p:cNvPr id="39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3.3.2.22 </a:t>
            </a:r>
            <a:r>
              <a:rPr lang="ko-KR" altLang="en-US" dirty="0"/>
              <a:t>인상시뮬레이션관리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0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143274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09634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14857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8064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3.5.7.1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시뮬레이션기준관리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3.5.7.2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시뮬레이션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01184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시뮬레이션 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6" name="직사각형 135"/>
          <p:cNvSpPr/>
          <p:nvPr/>
        </p:nvSpPr>
        <p:spPr bwMode="auto">
          <a:xfrm>
            <a:off x="2799600" y="299742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총액인건비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8" name="Shape 266"/>
          <p:cNvCxnSpPr>
            <a:cxnSpLocks noChangeShapeType="1"/>
            <a:stCxn id="49" idx="0"/>
            <a:endCxn id="136" idx="1"/>
          </p:cNvCxnSpPr>
          <p:nvPr/>
        </p:nvCxnSpPr>
        <p:spPr bwMode="auto">
          <a:xfrm>
            <a:off x="2546449" y="3154078"/>
            <a:ext cx="253151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36" idx="2"/>
            <a:endCxn id="37" idx="0"/>
          </p:cNvCxnSpPr>
          <p:nvPr/>
        </p:nvCxnSpPr>
        <p:spPr bwMode="auto">
          <a:xfrm>
            <a:off x="3228228" y="3318197"/>
            <a:ext cx="0" cy="3189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47"/>
          <p:cNvGrpSpPr/>
          <p:nvPr/>
        </p:nvGrpSpPr>
        <p:grpSpPr>
          <a:xfrm>
            <a:off x="1574000" y="2948925"/>
            <a:ext cx="972449" cy="417772"/>
            <a:chOff x="1357741" y="2874679"/>
            <a:chExt cx="756425" cy="417772"/>
          </a:xfrm>
        </p:grpSpPr>
        <p:sp>
          <p:nvSpPr>
            <p:cNvPr id="49" name="육각형 48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인상 시뮬레이션 시작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4" name="직사각형 53"/>
          <p:cNvSpPr/>
          <p:nvPr/>
        </p:nvSpPr>
        <p:spPr bwMode="auto">
          <a:xfrm>
            <a:off x="5194031" y="49167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계산결과 확인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  <a:stCxn id="34" idx="3"/>
            <a:endCxn id="60" idx="1"/>
          </p:cNvCxnSpPr>
          <p:nvPr/>
        </p:nvCxnSpPr>
        <p:spPr bwMode="auto">
          <a:xfrm flipV="1">
            <a:off x="3650016" y="4437350"/>
            <a:ext cx="1544015" cy="127953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54" idx="2"/>
            <a:endCxn id="82" idx="0"/>
          </p:cNvCxnSpPr>
          <p:nvPr/>
        </p:nvCxnSpPr>
        <p:spPr bwMode="auto">
          <a:xfrm>
            <a:off x="5622659" y="5237504"/>
            <a:ext cx="0" cy="3189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5194031" y="555650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총액인건비 비교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4" name="Shape 266"/>
          <p:cNvCxnSpPr>
            <a:cxnSpLocks noChangeShapeType="1"/>
            <a:stCxn id="42" idx="3"/>
            <a:endCxn id="67" idx="3"/>
          </p:cNvCxnSpPr>
          <p:nvPr/>
        </p:nvCxnSpPr>
        <p:spPr bwMode="auto">
          <a:xfrm flipV="1">
            <a:off x="7622381" y="5716784"/>
            <a:ext cx="426622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직사각형 59"/>
          <p:cNvSpPr/>
          <p:nvPr/>
        </p:nvSpPr>
        <p:spPr bwMode="auto">
          <a:xfrm>
            <a:off x="5194031" y="42769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6.  </a:t>
            </a:r>
            <a:r>
              <a:rPr lang="ko-KR" altLang="en-US" sz="900" kern="0" spc="-12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인상시뮬레이션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계산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60" idx="2"/>
            <a:endCxn id="54" idx="0"/>
          </p:cNvCxnSpPr>
          <p:nvPr/>
        </p:nvCxnSpPr>
        <p:spPr bwMode="auto">
          <a:xfrm>
            <a:off x="5622659" y="4597735"/>
            <a:ext cx="0" cy="3189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64"/>
          <p:cNvGrpSpPr/>
          <p:nvPr/>
        </p:nvGrpSpPr>
        <p:grpSpPr>
          <a:xfrm>
            <a:off x="8049003" y="5511631"/>
            <a:ext cx="972449" cy="417772"/>
            <a:chOff x="1357741" y="2874679"/>
            <a:chExt cx="756425" cy="417772"/>
          </a:xfrm>
        </p:grpSpPr>
        <p:sp>
          <p:nvSpPr>
            <p:cNvPr id="67" name="육각형 6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인상 시뮬레이션 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직사각형 68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70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보상관리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3.5.7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인상시뮬레이션관리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7" name="직사각형 36"/>
          <p:cNvSpPr/>
          <p:nvPr/>
        </p:nvSpPr>
        <p:spPr bwMode="auto">
          <a:xfrm>
            <a:off x="2799600" y="363719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시뮬레이션 차수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순서도: 판단 161"/>
          <p:cNvSpPr>
            <a:spLocks noChangeArrowheads="1"/>
          </p:cNvSpPr>
          <p:nvPr/>
        </p:nvSpPr>
        <p:spPr bwMode="auto">
          <a:xfrm>
            <a:off x="6593102" y="5533401"/>
            <a:ext cx="1029279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목표도달 여부</a:t>
            </a:r>
          </a:p>
        </p:txBody>
      </p:sp>
      <p:cxnSp>
        <p:nvCxnSpPr>
          <p:cNvPr id="43" name="Shape 266"/>
          <p:cNvCxnSpPr>
            <a:cxnSpLocks noChangeShapeType="1"/>
            <a:stCxn id="82" idx="3"/>
            <a:endCxn id="42" idx="1"/>
          </p:cNvCxnSpPr>
          <p:nvPr/>
        </p:nvCxnSpPr>
        <p:spPr bwMode="auto">
          <a:xfrm>
            <a:off x="6051287" y="5716887"/>
            <a:ext cx="541815" cy="363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6" name="Shape 266"/>
          <p:cNvCxnSpPr>
            <a:cxnSpLocks noChangeShapeType="1"/>
            <a:stCxn id="42" idx="0"/>
            <a:endCxn id="37" idx="3"/>
          </p:cNvCxnSpPr>
          <p:nvPr/>
        </p:nvCxnSpPr>
        <p:spPr bwMode="auto">
          <a:xfrm rot="16200000" flipV="1">
            <a:off x="4514389" y="2940048"/>
            <a:ext cx="1735820" cy="345088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5" name="TextBox 54"/>
          <p:cNvSpPr txBox="1"/>
          <p:nvPr/>
        </p:nvSpPr>
        <p:spPr>
          <a:xfrm>
            <a:off x="7551007" y="5471522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113754" y="5291683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2799600" y="42769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인상율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8" name="Shape 266"/>
          <p:cNvCxnSpPr>
            <a:cxnSpLocks noChangeShapeType="1"/>
            <a:stCxn id="37" idx="2"/>
            <a:endCxn id="57" idx="0"/>
          </p:cNvCxnSpPr>
          <p:nvPr/>
        </p:nvCxnSpPr>
        <p:spPr bwMode="auto">
          <a:xfrm>
            <a:off x="3228228" y="3957966"/>
            <a:ext cx="0" cy="3189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3" name="직사각형 32"/>
          <p:cNvSpPr/>
          <p:nvPr/>
        </p:nvSpPr>
        <p:spPr bwMode="auto">
          <a:xfrm>
            <a:off x="2792760" y="49167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채용 예상인원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792760" y="555650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승진 예상인원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5" name="Shape 266"/>
          <p:cNvCxnSpPr>
            <a:cxnSpLocks noChangeShapeType="1"/>
            <a:stCxn id="57" idx="2"/>
            <a:endCxn id="33" idx="0"/>
          </p:cNvCxnSpPr>
          <p:nvPr/>
        </p:nvCxnSpPr>
        <p:spPr bwMode="auto">
          <a:xfrm flipH="1">
            <a:off x="3221388" y="4597735"/>
            <a:ext cx="6840" cy="3189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hape 266"/>
          <p:cNvCxnSpPr>
            <a:cxnSpLocks noChangeShapeType="1"/>
            <a:stCxn id="33" idx="2"/>
            <a:endCxn id="34" idx="0"/>
          </p:cNvCxnSpPr>
          <p:nvPr/>
        </p:nvCxnSpPr>
        <p:spPr bwMode="auto">
          <a:xfrm>
            <a:off x="3221388" y="5237504"/>
            <a:ext cx="0" cy="3189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930345725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연봉 인상률 및 채용</a:t>
            </a:r>
            <a:r>
              <a:rPr lang="en-US" altLang="ko-KR" sz="1600" dirty="0"/>
              <a:t>, </a:t>
            </a:r>
            <a:r>
              <a:rPr lang="ko-KR" altLang="en-US" sz="1600" dirty="0"/>
              <a:t>승진에 따른 인원변동에 의한 예상인건비와 기재부 총액인건비를 비교하여 최적의 인상조건을 찾을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3.3.2.22 </a:t>
            </a:r>
            <a:r>
              <a:rPr lang="ko-KR" altLang="en-US" dirty="0"/>
              <a:t>인상시뮬레이션관리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2124170"/>
              </p:ext>
            </p:extLst>
          </p:nvPr>
        </p:nvGraphicFramePr>
        <p:xfrm>
          <a:off x="344488" y="1604186"/>
          <a:ext cx="9180513" cy="35966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총액인건비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기획재정부의 지침에 따른 총액인건비 금액을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총액인건비정보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시뮬레이션 차수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시뮬레이션을 여러 차례 시뮬레이션을 할 경우 시행할 때마다 차수를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연봉내역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인상율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시뮬레이션 차수별로 연봉인상 조건인 직급별 인상률과 인상액을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직급별 인상률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인상액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채용 예상인원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시뮬레이션 차수별로 연봉인상 조건인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채용 예상인원을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채용 예상인원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승진 예상인원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시뮬레이션 차수별로 연봉인상 조건인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승진 예상인원을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승진 예상인원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인상시뮬레이션 계산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시뮬레이션 차수별로 연봉인상 조건에 따라 연봉 예상금액을 계산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시뮬레이션결과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계산결과 확인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시뮬레이션 차수별로 조건에 따라 계산된 금액을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시뮬레이션결과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총액인건비 비교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시뮬레이션담당자가 계산결과와 총액인건비를 비교하여 결과를 확정하고 확정되지 않을 경우 조건을 수정하여 재계산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총액인건비정보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시뮬레이션결과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2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96855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27636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취득신고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변동신고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56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사회보험료의 급여공제내역을 확인하고 사회보험공단에서 고지한 고지내역을 등록하여 비교할 수 있도록 업무프로세스를 변경함</a:t>
            </a:r>
          </a:p>
        </p:txBody>
      </p:sp>
      <p:sp>
        <p:nvSpPr>
          <p:cNvPr id="48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3.3.2.23 </a:t>
            </a:r>
            <a:r>
              <a:rPr lang="ko-KR" altLang="en-US" dirty="0"/>
              <a:t>사회보험관리 </a:t>
            </a:r>
            <a:r>
              <a:rPr lang="en-US" altLang="ko-KR" dirty="0"/>
              <a:t>(1/6)</a:t>
            </a:r>
            <a:endParaRPr lang="ko-KR" altLang="en-US" dirty="0"/>
          </a:p>
        </p:txBody>
      </p:sp>
      <p:sp>
        <p:nvSpPr>
          <p:cNvPr id="49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cxnSp>
        <p:nvCxnSpPr>
          <p:cNvPr id="55" name="Shape 266"/>
          <p:cNvCxnSpPr>
            <a:cxnSpLocks noChangeShapeType="1"/>
            <a:stCxn id="43" idx="0"/>
            <a:endCxn id="58" idx="1"/>
          </p:cNvCxnSpPr>
          <p:nvPr/>
        </p:nvCxnSpPr>
        <p:spPr bwMode="auto">
          <a:xfrm flipV="1">
            <a:off x="2391458" y="3063050"/>
            <a:ext cx="1074520" cy="25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3465978" y="29026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입사자 인사변동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3465978" y="443711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취득내역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3" name="Shape 266"/>
          <p:cNvCxnSpPr>
            <a:cxnSpLocks noChangeShapeType="1"/>
            <a:stCxn id="58" idx="2"/>
            <a:endCxn id="81" idx="0"/>
          </p:cNvCxnSpPr>
          <p:nvPr/>
        </p:nvCxnSpPr>
        <p:spPr bwMode="auto">
          <a:xfrm>
            <a:off x="3894606" y="3223435"/>
            <a:ext cx="0" cy="4454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3465978" y="519646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취득 내역 다운로드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6" name="Shape 266"/>
          <p:cNvCxnSpPr>
            <a:cxnSpLocks noChangeShapeType="1"/>
            <a:stCxn id="62" idx="2"/>
            <a:endCxn id="67" idx="0"/>
          </p:cNvCxnSpPr>
          <p:nvPr/>
        </p:nvCxnSpPr>
        <p:spPr bwMode="auto">
          <a:xfrm>
            <a:off x="3894606" y="4757883"/>
            <a:ext cx="0" cy="4385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직사각형 80"/>
          <p:cNvSpPr/>
          <p:nvPr/>
        </p:nvSpPr>
        <p:spPr bwMode="auto">
          <a:xfrm>
            <a:off x="3465978" y="366890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월보수액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6" name="Shape 266"/>
          <p:cNvCxnSpPr>
            <a:cxnSpLocks noChangeShapeType="1"/>
            <a:stCxn id="81" idx="2"/>
            <a:endCxn id="62" idx="0"/>
          </p:cNvCxnSpPr>
          <p:nvPr/>
        </p:nvCxnSpPr>
        <p:spPr bwMode="auto">
          <a:xfrm>
            <a:off x="3894606" y="3989677"/>
            <a:ext cx="0" cy="44743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67" idx="2"/>
          </p:cNvCxnSpPr>
          <p:nvPr/>
        </p:nvCxnSpPr>
        <p:spPr bwMode="auto">
          <a:xfrm flipH="1">
            <a:off x="3893920" y="5517232"/>
            <a:ext cx="686" cy="3219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8" name="직사각형 97"/>
          <p:cNvSpPr/>
          <p:nvPr/>
        </p:nvSpPr>
        <p:spPr bwMode="auto">
          <a:xfrm>
            <a:off x="6551616" y="359690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사회보험 변동자 조회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직사각형 103"/>
          <p:cNvSpPr/>
          <p:nvPr/>
        </p:nvSpPr>
        <p:spPr bwMode="auto">
          <a:xfrm>
            <a:off x="6551616" y="427672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변동내역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7" name="Shape 266"/>
          <p:cNvCxnSpPr>
            <a:cxnSpLocks noChangeShapeType="1"/>
            <a:stCxn id="98" idx="2"/>
            <a:endCxn id="104" idx="0"/>
          </p:cNvCxnSpPr>
          <p:nvPr/>
        </p:nvCxnSpPr>
        <p:spPr bwMode="auto">
          <a:xfrm>
            <a:off x="6980244" y="3917674"/>
            <a:ext cx="0" cy="3590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13"/>
          <p:cNvGrpSpPr/>
          <p:nvPr/>
        </p:nvGrpSpPr>
        <p:grpSpPr>
          <a:xfrm>
            <a:off x="8373380" y="4976648"/>
            <a:ext cx="972449" cy="417772"/>
            <a:chOff x="1357741" y="2874679"/>
            <a:chExt cx="756425" cy="417772"/>
          </a:xfrm>
        </p:grpSpPr>
        <p:sp>
          <p:nvSpPr>
            <p:cNvPr id="115" name="육각형 114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사회보험 변동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6" name="직사각형 115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18" name="Shape 266"/>
          <p:cNvCxnSpPr>
            <a:cxnSpLocks noChangeShapeType="1"/>
            <a:stCxn id="60" idx="3"/>
            <a:endCxn id="115" idx="3"/>
          </p:cNvCxnSpPr>
          <p:nvPr/>
        </p:nvCxnSpPr>
        <p:spPr bwMode="auto">
          <a:xfrm flipV="1">
            <a:off x="7408872" y="5181801"/>
            <a:ext cx="964508" cy="80614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" name="순서도: 종속 처리 64"/>
          <p:cNvSpPr>
            <a:spLocks noChangeAspect="1" noChangeArrowheads="1"/>
          </p:cNvSpPr>
          <p:nvPr/>
        </p:nvSpPr>
        <p:spPr bwMode="auto">
          <a:xfrm>
            <a:off x="1965947" y="4872735"/>
            <a:ext cx="1080120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9" name="Shape 266"/>
          <p:cNvCxnSpPr>
            <a:cxnSpLocks noChangeShapeType="1"/>
            <a:stCxn id="62" idx="1"/>
            <a:endCxn id="128" idx="0"/>
          </p:cNvCxnSpPr>
          <p:nvPr/>
        </p:nvCxnSpPr>
        <p:spPr bwMode="auto">
          <a:xfrm rot="10800000" flipV="1">
            <a:off x="2506008" y="4597497"/>
            <a:ext cx="959971" cy="27523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3" name="직사각형 132"/>
          <p:cNvSpPr/>
          <p:nvPr/>
        </p:nvSpPr>
        <p:spPr bwMode="auto">
          <a:xfrm>
            <a:off x="4785553" y="443711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사회보험 공제내역 비교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4" name="Shape 266"/>
          <p:cNvCxnSpPr>
            <a:cxnSpLocks noChangeShapeType="1"/>
            <a:stCxn id="133" idx="3"/>
            <a:endCxn id="98" idx="1"/>
          </p:cNvCxnSpPr>
          <p:nvPr/>
        </p:nvCxnSpPr>
        <p:spPr bwMode="auto">
          <a:xfrm flipV="1">
            <a:off x="5642809" y="3757289"/>
            <a:ext cx="908807" cy="84020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7" name="순서도: 종속 처리 64"/>
          <p:cNvSpPr>
            <a:spLocks noChangeAspect="1" noChangeArrowheads="1"/>
          </p:cNvSpPr>
          <p:nvPr/>
        </p:nvSpPr>
        <p:spPr bwMode="auto">
          <a:xfrm>
            <a:off x="8373380" y="4276726"/>
            <a:ext cx="1080120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9" name="Shape 266"/>
          <p:cNvCxnSpPr>
            <a:cxnSpLocks noChangeShapeType="1"/>
            <a:stCxn id="104" idx="3"/>
            <a:endCxn id="147" idx="1"/>
          </p:cNvCxnSpPr>
          <p:nvPr/>
        </p:nvCxnSpPr>
        <p:spPr bwMode="auto">
          <a:xfrm flipV="1">
            <a:off x="7408872" y="4433126"/>
            <a:ext cx="964508" cy="39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2" name="Shape 266"/>
          <p:cNvCxnSpPr>
            <a:cxnSpLocks noChangeShapeType="1"/>
            <a:stCxn id="46" idx="3"/>
            <a:endCxn id="47" idx="1"/>
          </p:cNvCxnSpPr>
          <p:nvPr/>
        </p:nvCxnSpPr>
        <p:spPr bwMode="auto">
          <a:xfrm>
            <a:off x="4312130" y="6001654"/>
            <a:ext cx="47342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156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복리후생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3.6.1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6" name="직사각형 45"/>
          <p:cNvSpPr/>
          <p:nvPr/>
        </p:nvSpPr>
        <p:spPr bwMode="auto">
          <a:xfrm>
            <a:off x="3454874" y="584126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취득 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EDI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직사각형 46"/>
          <p:cNvSpPr/>
          <p:nvPr/>
        </p:nvSpPr>
        <p:spPr bwMode="auto">
          <a:xfrm>
            <a:off x="4785552" y="5841268"/>
            <a:ext cx="857257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</a:t>
            </a:r>
            <a:r>
              <a:rPr lang="en-US" altLang="ko-KR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고지내역 다운로드</a:t>
            </a:r>
            <a:endParaRPr lang="en-US" altLang="ko-KR" sz="900" kern="0" spc="-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  <a:stCxn id="62" idx="3"/>
            <a:endCxn id="68" idx="1"/>
          </p:cNvCxnSpPr>
          <p:nvPr/>
        </p:nvCxnSpPr>
        <p:spPr bwMode="auto">
          <a:xfrm flipV="1">
            <a:off x="4323234" y="3382686"/>
            <a:ext cx="462319" cy="121481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직사각형 59"/>
          <p:cNvSpPr/>
          <p:nvPr/>
        </p:nvSpPr>
        <p:spPr bwMode="auto">
          <a:xfrm>
            <a:off x="6551616" y="582755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취득 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EDI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직사각형 63"/>
          <p:cNvSpPr/>
          <p:nvPr/>
        </p:nvSpPr>
        <p:spPr bwMode="auto">
          <a:xfrm>
            <a:off x="6551616" y="51244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변동내역 다운로드</a:t>
            </a:r>
            <a:endParaRPr lang="en-US" altLang="ko-KR" sz="900" kern="0" spc="-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5" name="Shape 266"/>
          <p:cNvCxnSpPr>
            <a:cxnSpLocks noChangeShapeType="1"/>
            <a:stCxn id="64" idx="2"/>
            <a:endCxn id="60" idx="0"/>
          </p:cNvCxnSpPr>
          <p:nvPr/>
        </p:nvCxnSpPr>
        <p:spPr bwMode="auto">
          <a:xfrm>
            <a:off x="6980244" y="5445224"/>
            <a:ext cx="0" cy="3823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8" name="직사각형 67"/>
          <p:cNvSpPr/>
          <p:nvPr/>
        </p:nvSpPr>
        <p:spPr bwMode="auto">
          <a:xfrm>
            <a:off x="4785553" y="322230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급여공제내역 확인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1" name="Shape 266"/>
          <p:cNvCxnSpPr>
            <a:cxnSpLocks noChangeShapeType="1"/>
            <a:stCxn id="68" idx="2"/>
            <a:endCxn id="133" idx="0"/>
          </p:cNvCxnSpPr>
          <p:nvPr/>
        </p:nvCxnSpPr>
        <p:spPr bwMode="auto">
          <a:xfrm>
            <a:off x="5214181" y="3543071"/>
            <a:ext cx="0" cy="89404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47" idx="0"/>
            <a:endCxn id="56" idx="2"/>
          </p:cNvCxnSpPr>
          <p:nvPr/>
        </p:nvCxnSpPr>
        <p:spPr bwMode="auto">
          <a:xfrm flipV="1">
            <a:off x="5214181" y="5517232"/>
            <a:ext cx="0" cy="3240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" name="Shape 266"/>
          <p:cNvCxnSpPr>
            <a:cxnSpLocks noChangeShapeType="1"/>
            <a:stCxn id="104" idx="2"/>
            <a:endCxn id="64" idx="0"/>
          </p:cNvCxnSpPr>
          <p:nvPr/>
        </p:nvCxnSpPr>
        <p:spPr bwMode="auto">
          <a:xfrm>
            <a:off x="6980244" y="4597497"/>
            <a:ext cx="0" cy="52695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1"/>
          <p:cNvGrpSpPr/>
          <p:nvPr/>
        </p:nvGrpSpPr>
        <p:grpSpPr>
          <a:xfrm>
            <a:off x="1419009" y="2860476"/>
            <a:ext cx="972449" cy="417772"/>
            <a:chOff x="1357741" y="2874679"/>
            <a:chExt cx="756425" cy="417772"/>
          </a:xfrm>
        </p:grpSpPr>
        <p:sp>
          <p:nvSpPr>
            <p:cNvPr id="43" name="육각형 42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사회보험 변동 발생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" name="직사각형 44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0" name="타원 49"/>
          <p:cNvSpPr/>
          <p:nvPr/>
        </p:nvSpPr>
        <p:spPr>
          <a:xfrm>
            <a:off x="2965914" y="383305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0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" name="타원 50"/>
          <p:cNvSpPr/>
          <p:nvPr/>
        </p:nvSpPr>
        <p:spPr>
          <a:xfrm>
            <a:off x="2965914" y="348575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2" name="Shape 266"/>
          <p:cNvCxnSpPr>
            <a:cxnSpLocks noChangeShapeType="1"/>
            <a:stCxn id="57" idx="4"/>
            <a:endCxn id="51" idx="2"/>
          </p:cNvCxnSpPr>
          <p:nvPr/>
        </p:nvCxnSpPr>
        <p:spPr bwMode="auto">
          <a:xfrm rot="16200000" flipH="1">
            <a:off x="2413985" y="3026704"/>
            <a:ext cx="300387" cy="80347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" name="Shape 266"/>
          <p:cNvCxnSpPr>
            <a:cxnSpLocks noChangeShapeType="1"/>
            <a:stCxn id="8" idx="4"/>
            <a:endCxn id="50" idx="2"/>
          </p:cNvCxnSpPr>
          <p:nvPr/>
        </p:nvCxnSpPr>
        <p:spPr bwMode="auto">
          <a:xfrm rot="16200000" flipH="1">
            <a:off x="2006433" y="2966453"/>
            <a:ext cx="647687" cy="127127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" name="타원 7"/>
          <p:cNvSpPr/>
          <p:nvPr/>
        </p:nvSpPr>
        <p:spPr>
          <a:xfrm>
            <a:off x="1532620" y="3063050"/>
            <a:ext cx="324036" cy="21519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타원 56"/>
          <p:cNvSpPr/>
          <p:nvPr/>
        </p:nvSpPr>
        <p:spPr>
          <a:xfrm>
            <a:off x="2000424" y="3063049"/>
            <a:ext cx="324036" cy="21519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4785553" y="519646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사회보험 고지내역 등록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1" name="Shape 266"/>
          <p:cNvCxnSpPr>
            <a:cxnSpLocks noChangeShapeType="1"/>
            <a:stCxn id="56" idx="0"/>
            <a:endCxn id="133" idx="2"/>
          </p:cNvCxnSpPr>
          <p:nvPr/>
        </p:nvCxnSpPr>
        <p:spPr bwMode="auto">
          <a:xfrm flipV="1">
            <a:off x="5214181" y="4757883"/>
            <a:ext cx="0" cy="4385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501430777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6240702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보수총액신고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56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사회보험료의 급여공제내역을 확인하고 사회보험공단에서 고지한 고지내역을 등록하여 비교할 수 있도록 업무프로세스를 변경함</a:t>
            </a:r>
          </a:p>
        </p:txBody>
      </p:sp>
      <p:sp>
        <p:nvSpPr>
          <p:cNvPr id="34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3.3.2.23 </a:t>
            </a:r>
            <a:r>
              <a:rPr lang="ko-KR" altLang="en-US" dirty="0"/>
              <a:t>사회보험관리 </a:t>
            </a:r>
            <a:r>
              <a:rPr lang="en-US" altLang="ko-KR" dirty="0"/>
              <a:t>(2/6)</a:t>
            </a:r>
            <a:endParaRPr lang="ko-KR" altLang="en-US" dirty="0"/>
          </a:p>
        </p:txBody>
      </p:sp>
      <p:sp>
        <p:nvSpPr>
          <p:cNvPr id="35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cxnSp>
        <p:nvCxnSpPr>
          <p:cNvPr id="55" name="Shape 266"/>
          <p:cNvCxnSpPr>
            <a:cxnSpLocks noChangeShapeType="1"/>
            <a:stCxn id="51" idx="6"/>
            <a:endCxn id="58" idx="1"/>
          </p:cNvCxnSpPr>
          <p:nvPr/>
        </p:nvCxnSpPr>
        <p:spPr bwMode="auto">
          <a:xfrm>
            <a:off x="1914954" y="3063050"/>
            <a:ext cx="148813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3403089" y="29026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보수총액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3403089" y="408556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보수총액 다운로드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3" name="Shape 266"/>
          <p:cNvCxnSpPr>
            <a:cxnSpLocks noChangeShapeType="1"/>
            <a:stCxn id="58" idx="2"/>
            <a:endCxn id="81" idx="0"/>
          </p:cNvCxnSpPr>
          <p:nvPr/>
        </p:nvCxnSpPr>
        <p:spPr bwMode="auto">
          <a:xfrm>
            <a:off x="3831717" y="3223435"/>
            <a:ext cx="0" cy="2706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62" idx="2"/>
            <a:endCxn id="40" idx="0"/>
          </p:cNvCxnSpPr>
          <p:nvPr/>
        </p:nvCxnSpPr>
        <p:spPr bwMode="auto">
          <a:xfrm>
            <a:off x="3831717" y="4406337"/>
            <a:ext cx="0" cy="5559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직사각형 80"/>
          <p:cNvSpPr/>
          <p:nvPr/>
        </p:nvSpPr>
        <p:spPr bwMode="auto">
          <a:xfrm>
            <a:off x="3403089" y="349411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보수총액 확인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6" name="Shape 266"/>
          <p:cNvCxnSpPr>
            <a:cxnSpLocks noChangeShapeType="1"/>
            <a:stCxn id="81" idx="2"/>
            <a:endCxn id="62" idx="0"/>
          </p:cNvCxnSpPr>
          <p:nvPr/>
        </p:nvCxnSpPr>
        <p:spPr bwMode="auto">
          <a:xfrm>
            <a:off x="3831717" y="3814886"/>
            <a:ext cx="0" cy="2706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타원 50"/>
          <p:cNvSpPr/>
          <p:nvPr/>
        </p:nvSpPr>
        <p:spPr>
          <a:xfrm>
            <a:off x="1712640" y="297017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" name="직사각형 53"/>
          <p:cNvSpPr/>
          <p:nvPr/>
        </p:nvSpPr>
        <p:spPr bwMode="auto">
          <a:xfrm>
            <a:off x="4790423" y="40770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공제내역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9" name="Shape 266"/>
          <p:cNvCxnSpPr>
            <a:cxnSpLocks noChangeShapeType="1"/>
            <a:stCxn id="32" idx="3"/>
            <a:endCxn id="37" idx="1"/>
          </p:cNvCxnSpPr>
          <p:nvPr/>
        </p:nvCxnSpPr>
        <p:spPr bwMode="auto">
          <a:xfrm>
            <a:off x="4260345" y="5999330"/>
            <a:ext cx="56173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0" name="Shape 266"/>
          <p:cNvCxnSpPr>
            <a:cxnSpLocks noChangeShapeType="1"/>
            <a:endCxn id="54" idx="2"/>
          </p:cNvCxnSpPr>
          <p:nvPr/>
        </p:nvCxnSpPr>
        <p:spPr bwMode="auto">
          <a:xfrm flipH="1" flipV="1">
            <a:off x="5219051" y="4397843"/>
            <a:ext cx="941" cy="14412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60"/>
          <p:cNvGrpSpPr/>
          <p:nvPr/>
        </p:nvGrpSpPr>
        <p:grpSpPr>
          <a:xfrm>
            <a:off x="7076895" y="3318979"/>
            <a:ext cx="972449" cy="417772"/>
            <a:chOff x="1357741" y="2874679"/>
            <a:chExt cx="756425" cy="417772"/>
          </a:xfrm>
        </p:grpSpPr>
        <p:sp>
          <p:nvSpPr>
            <p:cNvPr id="64" name="육각형 63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사회보험 변동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6" name="직사각형 65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69" name="Shape 266"/>
          <p:cNvCxnSpPr>
            <a:cxnSpLocks noChangeShapeType="1"/>
            <a:stCxn id="54" idx="0"/>
            <a:endCxn id="64" idx="3"/>
          </p:cNvCxnSpPr>
          <p:nvPr/>
        </p:nvCxnSpPr>
        <p:spPr bwMode="auto">
          <a:xfrm rot="5400000" flipH="1" flipV="1">
            <a:off x="5871503" y="2871680"/>
            <a:ext cx="552940" cy="185784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" name="Shape 266"/>
          <p:cNvCxnSpPr>
            <a:cxnSpLocks noChangeShapeType="1"/>
            <a:stCxn id="37" idx="3"/>
            <a:endCxn id="36" idx="1"/>
          </p:cNvCxnSpPr>
          <p:nvPr/>
        </p:nvCxnSpPr>
        <p:spPr bwMode="auto">
          <a:xfrm>
            <a:off x="5679335" y="5999330"/>
            <a:ext cx="38371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endCxn id="77" idx="2"/>
          </p:cNvCxnSpPr>
          <p:nvPr/>
        </p:nvCxnSpPr>
        <p:spPr bwMode="auto">
          <a:xfrm flipH="1" flipV="1">
            <a:off x="6515195" y="4397843"/>
            <a:ext cx="941" cy="144128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7" name="직사각형 76"/>
          <p:cNvSpPr/>
          <p:nvPr/>
        </p:nvSpPr>
        <p:spPr bwMode="auto">
          <a:xfrm>
            <a:off x="6086567" y="40770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정산내역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77" idx="0"/>
            <a:endCxn id="64" idx="3"/>
          </p:cNvCxnSpPr>
          <p:nvPr/>
        </p:nvCxnSpPr>
        <p:spPr bwMode="auto">
          <a:xfrm rot="5400000" flipH="1" flipV="1">
            <a:off x="6519575" y="3519752"/>
            <a:ext cx="552940" cy="56170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79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복리후생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3.6.1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2" name="직사각형 31"/>
          <p:cNvSpPr/>
          <p:nvPr/>
        </p:nvSpPr>
        <p:spPr bwMode="auto">
          <a:xfrm>
            <a:off x="3403089" y="583894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보수총액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EDI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직사각형 35"/>
          <p:cNvSpPr/>
          <p:nvPr/>
        </p:nvSpPr>
        <p:spPr bwMode="auto">
          <a:xfrm>
            <a:off x="6063048" y="583894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정산내역 통보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4822079" y="583894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공제내역 통보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직사각형 39"/>
          <p:cNvSpPr/>
          <p:nvPr/>
        </p:nvSpPr>
        <p:spPr bwMode="auto">
          <a:xfrm>
            <a:off x="3403089" y="496225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보수총액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2" name="Shape 266"/>
          <p:cNvCxnSpPr>
            <a:cxnSpLocks noChangeShapeType="1"/>
            <a:stCxn id="40" idx="2"/>
            <a:endCxn id="32" idx="0"/>
          </p:cNvCxnSpPr>
          <p:nvPr/>
        </p:nvCxnSpPr>
        <p:spPr bwMode="auto">
          <a:xfrm>
            <a:off x="3831717" y="5283025"/>
            <a:ext cx="0" cy="5559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216628509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/>
          </p:nvPr>
        </p:nvGraphicFramePr>
        <p:xfrm>
          <a:off x="344488" y="1916832"/>
          <a:ext cx="9181022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상실신고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56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사회보험료의 급여공제내역을 확인하고 사회보험공단에서 고지한 고지내역을 등록하여 비교할 수 있도록 업무프로세스를 변경함</a:t>
            </a:r>
          </a:p>
        </p:txBody>
      </p:sp>
      <p:sp>
        <p:nvSpPr>
          <p:cNvPr id="38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3.3.2.23 </a:t>
            </a:r>
            <a:r>
              <a:rPr lang="ko-KR" altLang="en-US" dirty="0"/>
              <a:t>사회보험관리 </a:t>
            </a:r>
            <a:r>
              <a:rPr lang="en-US" altLang="ko-KR" dirty="0"/>
              <a:t>(3/6)</a:t>
            </a:r>
            <a:endParaRPr lang="ko-KR" altLang="en-US" dirty="0"/>
          </a:p>
        </p:txBody>
      </p:sp>
      <p:sp>
        <p:nvSpPr>
          <p:cNvPr id="39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cxnSp>
        <p:nvCxnSpPr>
          <p:cNvPr id="55" name="Shape 266"/>
          <p:cNvCxnSpPr>
            <a:cxnSpLocks noChangeShapeType="1"/>
            <a:stCxn id="122" idx="6"/>
            <a:endCxn id="58" idx="1"/>
          </p:cNvCxnSpPr>
          <p:nvPr/>
        </p:nvCxnSpPr>
        <p:spPr bwMode="auto">
          <a:xfrm>
            <a:off x="1904676" y="3061822"/>
            <a:ext cx="2297000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4201676" y="290143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퇴직자 인사변동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4201676" y="4076663"/>
            <a:ext cx="857256" cy="3204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25.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퇴직자 보수총액 다운로드</a:t>
            </a:r>
            <a:endParaRPr lang="en-US" altLang="ko-KR" sz="900" kern="0" spc="-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3" name="Shape 266"/>
          <p:cNvCxnSpPr>
            <a:cxnSpLocks noChangeShapeType="1"/>
            <a:stCxn id="58" idx="2"/>
            <a:endCxn id="81" idx="0"/>
          </p:cNvCxnSpPr>
          <p:nvPr/>
        </p:nvCxnSpPr>
        <p:spPr bwMode="auto">
          <a:xfrm>
            <a:off x="4630304" y="3222208"/>
            <a:ext cx="0" cy="2668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4201676" y="5251518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상실 내역 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6" name="Shape 266"/>
          <p:cNvCxnSpPr>
            <a:cxnSpLocks noChangeShapeType="1"/>
            <a:stCxn id="62" idx="2"/>
            <a:endCxn id="73" idx="0"/>
          </p:cNvCxnSpPr>
          <p:nvPr/>
        </p:nvCxnSpPr>
        <p:spPr bwMode="auto">
          <a:xfrm>
            <a:off x="4630304" y="4397063"/>
            <a:ext cx="2080" cy="2668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직사각형 80"/>
          <p:cNvSpPr/>
          <p:nvPr/>
        </p:nvSpPr>
        <p:spPr bwMode="auto">
          <a:xfrm>
            <a:off x="4201676" y="348905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퇴직자 보수총액 생성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6" name="Shape 266"/>
          <p:cNvCxnSpPr>
            <a:cxnSpLocks noChangeShapeType="1"/>
            <a:stCxn id="81" idx="2"/>
            <a:endCxn id="62" idx="0"/>
          </p:cNvCxnSpPr>
          <p:nvPr/>
        </p:nvCxnSpPr>
        <p:spPr bwMode="auto">
          <a:xfrm>
            <a:off x="4630304" y="3809821"/>
            <a:ext cx="0" cy="2668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67" idx="2"/>
            <a:endCxn id="41" idx="0"/>
          </p:cNvCxnSpPr>
          <p:nvPr/>
        </p:nvCxnSpPr>
        <p:spPr bwMode="auto">
          <a:xfrm>
            <a:off x="4630304" y="5572289"/>
            <a:ext cx="0" cy="2668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42" idx="0"/>
            <a:endCxn id="132" idx="2"/>
          </p:cNvCxnSpPr>
          <p:nvPr/>
        </p:nvCxnSpPr>
        <p:spPr bwMode="auto">
          <a:xfrm flipV="1">
            <a:off x="6396580" y="3222208"/>
            <a:ext cx="0" cy="261692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13"/>
          <p:cNvGrpSpPr/>
          <p:nvPr/>
        </p:nvGrpSpPr>
        <p:grpSpPr>
          <a:xfrm>
            <a:off x="7545288" y="2852936"/>
            <a:ext cx="972449" cy="417772"/>
            <a:chOff x="1357741" y="2874679"/>
            <a:chExt cx="756425" cy="417772"/>
          </a:xfrm>
        </p:grpSpPr>
        <p:sp>
          <p:nvSpPr>
            <p:cNvPr id="115" name="육각형 114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사회보험 변동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6" name="직사각형 115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18" name="Shape 266"/>
          <p:cNvCxnSpPr>
            <a:cxnSpLocks noChangeShapeType="1"/>
            <a:stCxn id="132" idx="3"/>
            <a:endCxn id="115" idx="3"/>
          </p:cNvCxnSpPr>
          <p:nvPr/>
        </p:nvCxnSpPr>
        <p:spPr bwMode="auto">
          <a:xfrm flipV="1">
            <a:off x="6825208" y="3058089"/>
            <a:ext cx="720080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2" name="타원 121"/>
          <p:cNvSpPr/>
          <p:nvPr/>
        </p:nvSpPr>
        <p:spPr>
          <a:xfrm>
            <a:off x="1702362" y="296894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000" b="1" kern="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2" name="직사각형 131"/>
          <p:cNvSpPr/>
          <p:nvPr/>
        </p:nvSpPr>
        <p:spPr bwMode="auto">
          <a:xfrm>
            <a:off x="5967952" y="290143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정산내역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3" name="직사각형 72"/>
          <p:cNvSpPr/>
          <p:nvPr/>
        </p:nvSpPr>
        <p:spPr bwMode="auto">
          <a:xfrm>
            <a:off x="4203756" y="466390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 상실 내역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5" name="Shape 266"/>
          <p:cNvCxnSpPr>
            <a:cxnSpLocks noChangeShapeType="1"/>
            <a:stCxn id="73" idx="2"/>
            <a:endCxn id="67" idx="0"/>
          </p:cNvCxnSpPr>
          <p:nvPr/>
        </p:nvCxnSpPr>
        <p:spPr bwMode="auto">
          <a:xfrm flipH="1">
            <a:off x="4630304" y="4984676"/>
            <a:ext cx="2080" cy="2668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" name="Shape 266"/>
          <p:cNvCxnSpPr>
            <a:cxnSpLocks noChangeShapeType="1"/>
            <a:stCxn id="41" idx="3"/>
            <a:endCxn id="42" idx="1"/>
          </p:cNvCxnSpPr>
          <p:nvPr/>
        </p:nvCxnSpPr>
        <p:spPr bwMode="auto">
          <a:xfrm>
            <a:off x="5058932" y="5999519"/>
            <a:ext cx="90902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62" idx="1"/>
            <a:endCxn id="40" idx="0"/>
          </p:cNvCxnSpPr>
          <p:nvPr/>
        </p:nvCxnSpPr>
        <p:spPr bwMode="auto">
          <a:xfrm rot="10800000" flipV="1">
            <a:off x="2897368" y="4236863"/>
            <a:ext cx="1304309" cy="160227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40" idx="3"/>
            <a:endCxn id="41" idx="1"/>
          </p:cNvCxnSpPr>
          <p:nvPr/>
        </p:nvCxnSpPr>
        <p:spPr bwMode="auto">
          <a:xfrm>
            <a:off x="3325995" y="5999519"/>
            <a:ext cx="87568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103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복리후생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3.6.1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0" name="직사각형 39"/>
          <p:cNvSpPr/>
          <p:nvPr/>
        </p:nvSpPr>
        <p:spPr bwMode="auto">
          <a:xfrm>
            <a:off x="2468739" y="58391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28.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퇴직 보수총액 </a:t>
            </a:r>
            <a:r>
              <a:rPr lang="en-US" altLang="ko-KR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EDI </a:t>
            </a:r>
            <a:r>
              <a:rPr lang="ko-KR" altLang="en-US" sz="900" kern="0" spc="-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신고</a:t>
            </a:r>
            <a:endParaRPr lang="en-US" altLang="ko-KR" sz="900" kern="0" spc="-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4201676" y="58391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29.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상실 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EDI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신고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5967952" y="583913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30.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사회보험</a:t>
            </a:r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정산내역 통보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1191080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사회보험료의 급여공제내역을 확인하고 사회보험공단에서 고지한 고지내역을 등록하여 비교할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3.3.2.23 </a:t>
            </a:r>
            <a:r>
              <a:rPr lang="ko-KR" altLang="en-US" dirty="0"/>
              <a:t>사회보험관리 </a:t>
            </a:r>
            <a:r>
              <a:rPr lang="en-US" altLang="ko-KR" dirty="0"/>
              <a:t>(4/6)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937987"/>
              </p:ext>
            </p:extLst>
          </p:nvPr>
        </p:nvGraphicFramePr>
        <p:xfrm>
          <a:off x="344488" y="1604186"/>
          <a:ext cx="9180513" cy="4785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입사자 인사변동 조회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입사자 정보를 조회하여 취득신고 대상자를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월보수액 조회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취득신고 대상자의 월보수금액을 조회하고 보험료를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연봉내역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취득내역 등록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취득신고 대상자의 정보를 확인하여 취득내역을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취득정보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취득 내역 다운로드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사회보험 공단에 신고하기 위해 취득신고 대상자의 취득내역을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취득정보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</a:t>
                      </a:r>
                      <a:r>
                        <a:rPr lang="en-US" altLang="ko-KR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취득 </a:t>
                      </a:r>
                      <a:r>
                        <a:rPr lang="en-US" altLang="ko-KR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EDI </a:t>
                      </a:r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신고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취득 대상자의 취득내역을 사회보험 공단 홈페이지에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EDI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로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취득정보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</a:t>
                      </a:r>
                      <a:r>
                        <a:rPr lang="en-US" altLang="ko-KR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고지내역 다운로드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보험대상자의 고지내역을 사회보험 공단 홈페이지에서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고지내역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급여공제내역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사회보험 공제내역을 급여 공제내역을 통해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급여공제내역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고지내역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사회보험 공단에서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한 고지내역을 업로드하여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고지내역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공제내역 비교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급여공제내역과 사회보험 고지내역을 비교하여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고지내역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급여공제내역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변동자 조회</a:t>
                      </a:r>
                      <a:endParaRPr lang="en-US" altLang="ko-KR" sz="1000" b="1" kern="1200" noProof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산전후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휴직 등 사회보험 변동자에 대한 정보를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변동내역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산전후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휴직 등 사회보험 변동자의 신고 변동내역을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변동정보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사회보험료의 급여공제내역을 확인하고 사회보험공단에서 고지한 고지내역을 등록하여 비교할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3.3.2.23 </a:t>
            </a:r>
            <a:r>
              <a:rPr lang="ko-KR" altLang="en-US" dirty="0"/>
              <a:t>사회보험관리 </a:t>
            </a:r>
            <a:r>
              <a:rPr lang="en-US" altLang="ko-KR" dirty="0"/>
              <a:t>(5/6)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613883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pc="-100" baseline="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변동내역 다운로드</a:t>
                      </a:r>
                      <a:endParaRPr lang="en-US" altLang="ko-KR" sz="1000" b="1" kern="1200" spc="-100" baseline="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사회보험 공단에 신고하기 위해 변동신고 대상자의 변동내역을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변동정보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취득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EDI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변동 대상자의 변동내역을 사회보험 공단 홈페이지에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EDI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로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사회보험 변동정보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보수총액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사회보험 보험금 산정을 위해 전년도 급여를 기준으로  보수총액을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보수총액내역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보수총액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직원별로 생성된 보수총액 금액을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보수총액내역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보수총액 다운로드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사회보험 공단에 신고하기 위해 보수총액 신고 대상자의 보수총액을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보수총액내역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보수총액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보수총액 신고 대상자의 보수총액을 사회보험 공단에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보수총액내역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보수총액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EDI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보수총액 신고 대상자의 보수총액을 사회보험 공단 홈페이지에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EDI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로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보수총액내역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공제내역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 공단에서 신고된 보수총액에 의한 개인별 보험료를 사회보험담당자에게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공제내역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공제내역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공단에서 통보한 보험료 내역에 따라 보험료를 등록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공제내역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정산내역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 공단에서 신고된 보수총액에 의한 개인별 보험료 정산내역을 사회보험담당자에게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정산내역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사회보험료의 급여공제내역을 확인하고 사회보험공단에서 고지한 고지내역을 등록하여 비교할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3.3.2.23 </a:t>
            </a:r>
            <a:r>
              <a:rPr lang="ko-KR" altLang="en-US" dirty="0"/>
              <a:t>사회보험관리 </a:t>
            </a:r>
            <a:r>
              <a:rPr lang="en-US" altLang="ko-KR" dirty="0"/>
              <a:t>(6/6)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7591872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정산내역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공단에서 통보한 정산 내역을 확인하여 정산내역을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정산내역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퇴직자 인사변동 조회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퇴사자 정보를 조회하여 상실신고 대상자를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발령이력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퇴직자 보수총액 생성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상실신고 대상자의 보험료 정산을 위한 보수총액을 생성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퇴직자보수총액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퇴직자 보수총액 다운로드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상실신고 대상자의 보험료 정산을 위한 보수총액 정보를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퇴직자보수총액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상실 내역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상실신고 대상자의 정보를 확인하여 상실내역을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상실내역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상실 내역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사회보험 공단에 신고하기 위해 상실신고 대상자의 상실내역을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Download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상실내역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퇴직 보수총액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EDI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퇴직 보수총액 신고 대상자의 보수총액내역을 사회보험 공단 홈페이지에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EDI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로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퇴직자보수총액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29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상실 </a:t>
                      </a:r>
                      <a:r>
                        <a:rPr lang="en-US" altLang="ko-KR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EDI </a:t>
                      </a: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상실 대상자의 상실내역을 사회보험 공단 홈페이지에 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EDI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로 신고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상실내역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정산내역 통보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 공단에서 상실 대상자의 보수총액에 의한 개인별 보험료 정산내역을 사회보험담당자에게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정산내역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사회보험 정산내역 등록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사회보험담당자가 공단에서 통보한 정산 내역에 따라 정산내역을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사회보험 정산내역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309745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경조사관리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56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경조사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복리후생 업무 중 경조사관리에서 일용직 경조사 신청내역을 재무회계와 연동할 수 있도록 업무프로세스를 변경함</a:t>
            </a:r>
          </a:p>
        </p:txBody>
      </p:sp>
      <p:sp>
        <p:nvSpPr>
          <p:cNvPr id="3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3.3.2.24 </a:t>
            </a:r>
            <a:r>
              <a:rPr lang="ko-KR" altLang="en-US" dirty="0"/>
              <a:t>경조사관리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36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82" name="직사각형 81"/>
          <p:cNvSpPr/>
          <p:nvPr/>
        </p:nvSpPr>
        <p:spPr bwMode="auto">
          <a:xfrm>
            <a:off x="3015624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경조사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3"/>
            <a:endCxn id="28" idx="2"/>
          </p:cNvCxnSpPr>
          <p:nvPr/>
        </p:nvCxnSpPr>
        <p:spPr bwMode="auto">
          <a:xfrm flipV="1">
            <a:off x="3872880" y="2708920"/>
            <a:ext cx="777506" cy="333413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25"/>
          <p:cNvGrpSpPr/>
          <p:nvPr/>
        </p:nvGrpSpPr>
        <p:grpSpPr>
          <a:xfrm>
            <a:off x="7329264" y="5099460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경조사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1" name="Shape 266"/>
          <p:cNvCxnSpPr>
            <a:cxnSpLocks noChangeShapeType="1"/>
            <a:stCxn id="70" idx="3"/>
            <a:endCxn id="130" idx="2"/>
          </p:cNvCxnSpPr>
          <p:nvPr/>
        </p:nvCxnSpPr>
        <p:spPr bwMode="auto">
          <a:xfrm flipV="1">
            <a:off x="6285148" y="5517232"/>
            <a:ext cx="1530521" cy="52042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8"/>
          <p:cNvGrpSpPr/>
          <p:nvPr/>
        </p:nvGrpSpPr>
        <p:grpSpPr>
          <a:xfrm>
            <a:off x="1388263" y="3455659"/>
            <a:ext cx="972449" cy="417772"/>
            <a:chOff x="1357741" y="2874679"/>
            <a:chExt cx="756425" cy="417772"/>
          </a:xfrm>
        </p:grpSpPr>
        <p:sp>
          <p:nvSpPr>
            <p:cNvPr id="50" name="육각형 49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경조사 발생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5" name="직사각형 54"/>
          <p:cNvSpPr/>
          <p:nvPr/>
        </p:nvSpPr>
        <p:spPr bwMode="auto">
          <a:xfrm>
            <a:off x="3015624" y="350416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경조지급기준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6" name="Shape 266"/>
          <p:cNvCxnSpPr>
            <a:cxnSpLocks noChangeShapeType="1"/>
            <a:stCxn id="50" idx="0"/>
            <a:endCxn id="55" idx="1"/>
          </p:cNvCxnSpPr>
          <p:nvPr/>
        </p:nvCxnSpPr>
        <p:spPr bwMode="auto">
          <a:xfrm>
            <a:off x="2360712" y="3660812"/>
            <a:ext cx="654912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9" name="Shape 266"/>
          <p:cNvCxnSpPr>
            <a:cxnSpLocks noChangeShapeType="1"/>
            <a:stCxn id="55" idx="2"/>
            <a:endCxn id="82" idx="0"/>
          </p:cNvCxnSpPr>
          <p:nvPr/>
        </p:nvCxnSpPr>
        <p:spPr bwMode="auto">
          <a:xfrm>
            <a:off x="3444252" y="3824931"/>
            <a:ext cx="0" cy="20577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" name="직사각형 64"/>
          <p:cNvSpPr/>
          <p:nvPr/>
        </p:nvSpPr>
        <p:spPr bwMode="auto">
          <a:xfrm>
            <a:off x="5427892" y="350416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경조사 신청 담당자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/>
          <p:cNvSpPr/>
          <p:nvPr/>
        </p:nvSpPr>
        <p:spPr bwMode="auto">
          <a:xfrm>
            <a:off x="5427892" y="58772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경조사 신청 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1" name="Shape 266"/>
          <p:cNvCxnSpPr>
            <a:cxnSpLocks noChangeShapeType="1"/>
            <a:stCxn id="65" idx="2"/>
            <a:endCxn id="70" idx="0"/>
          </p:cNvCxnSpPr>
          <p:nvPr/>
        </p:nvCxnSpPr>
        <p:spPr bwMode="auto">
          <a:xfrm>
            <a:off x="5856520" y="3824931"/>
            <a:ext cx="0" cy="205234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92" name="Group 149"/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복리후생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3.6.2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경조사관리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7" name="순서도: 종속 처리 64"/>
          <p:cNvSpPr>
            <a:spLocks noChangeAspect="1" noChangeArrowheads="1"/>
          </p:cNvSpPr>
          <p:nvPr/>
        </p:nvSpPr>
        <p:spPr bwMode="auto">
          <a:xfrm>
            <a:off x="7329264" y="3508146"/>
            <a:ext cx="1080120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3.1.7.2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휴가관리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8" name="Shape 266"/>
          <p:cNvCxnSpPr>
            <a:cxnSpLocks noChangeShapeType="1"/>
            <a:stCxn id="65" idx="3"/>
            <a:endCxn id="37" idx="1"/>
          </p:cNvCxnSpPr>
          <p:nvPr/>
        </p:nvCxnSpPr>
        <p:spPr bwMode="auto">
          <a:xfrm>
            <a:off x="6285148" y="3664546"/>
            <a:ext cx="104411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순서도: 종속 처리 64"/>
          <p:cNvSpPr>
            <a:spLocks noChangeAspect="1" noChangeArrowheads="1"/>
          </p:cNvSpPr>
          <p:nvPr/>
        </p:nvSpPr>
        <p:spPr bwMode="auto">
          <a:xfrm>
            <a:off x="7329264" y="2816932"/>
            <a:ext cx="1080120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3.6.7.1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0" name="Shape 266"/>
          <p:cNvCxnSpPr>
            <a:cxnSpLocks noChangeShapeType="1"/>
            <a:stCxn id="65" idx="3"/>
            <a:endCxn id="39" idx="1"/>
          </p:cNvCxnSpPr>
          <p:nvPr/>
        </p:nvCxnSpPr>
        <p:spPr bwMode="auto">
          <a:xfrm flipV="1">
            <a:off x="6285148" y="2973332"/>
            <a:ext cx="1044116" cy="69121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8" name="직사각형 27"/>
          <p:cNvSpPr/>
          <p:nvPr/>
        </p:nvSpPr>
        <p:spPr bwMode="auto">
          <a:xfrm>
            <a:off x="4221758" y="2388149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부서장 승인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1" name="Shape 266"/>
          <p:cNvCxnSpPr>
            <a:cxnSpLocks noChangeShapeType="1"/>
            <a:stCxn id="28" idx="3"/>
            <a:endCxn id="65" idx="1"/>
          </p:cNvCxnSpPr>
          <p:nvPr/>
        </p:nvCxnSpPr>
        <p:spPr bwMode="auto">
          <a:xfrm>
            <a:off x="5079014" y="2548535"/>
            <a:ext cx="348878" cy="111601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2" name="순서도: 종속 처리 64"/>
          <p:cNvSpPr>
            <a:spLocks noChangeAspect="1" noChangeArrowheads="1"/>
          </p:cNvSpPr>
          <p:nvPr/>
        </p:nvSpPr>
        <p:spPr bwMode="auto">
          <a:xfrm>
            <a:off x="7329264" y="4160317"/>
            <a:ext cx="1080120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027BF4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1.3.1.2 </a:t>
            </a:r>
            <a:r>
              <a:rPr lang="ko-KR" altLang="en-US" sz="900" kern="0" dirty="0">
                <a:solidFill>
                  <a:srgbClr val="027BF4"/>
                </a:solidFill>
                <a:latin typeface="맑은 고딕" pitchFamily="50" charset="-127"/>
                <a:ea typeface="맑은 고딕" pitchFamily="50" charset="-127"/>
              </a:rPr>
              <a:t>지출요구</a:t>
            </a:r>
            <a:endParaRPr lang="en-US" altLang="ko-KR" sz="900" kern="0" dirty="0">
              <a:solidFill>
                <a:srgbClr val="027BF4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3" name="Shape 266"/>
          <p:cNvCxnSpPr>
            <a:cxnSpLocks noChangeShapeType="1"/>
            <a:stCxn id="65" idx="3"/>
            <a:endCxn id="32" idx="1"/>
          </p:cNvCxnSpPr>
          <p:nvPr/>
        </p:nvCxnSpPr>
        <p:spPr bwMode="auto">
          <a:xfrm>
            <a:off x="6285148" y="3664546"/>
            <a:ext cx="1044116" cy="65217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0901272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복리후생 업무 중 경조사관리에서 일용직 경조사 신청내역을 재무회계와 연동할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3.3.2.24 </a:t>
            </a:r>
            <a:r>
              <a:rPr lang="ko-KR" altLang="en-US" dirty="0"/>
              <a:t>경조사관리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2340157"/>
              </p:ext>
            </p:extLst>
          </p:nvPr>
        </p:nvGraphicFramePr>
        <p:xfrm>
          <a:off x="344488" y="1604186"/>
          <a:ext cx="9180513" cy="24079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pc="-100" baseline="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경조지급기준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경조사담당자가 경조구분에 따른 지급금액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등의 기준정보를 등록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경조사별지급기준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경조사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본인의 경조사를 신청하고 휴가와 관련이 있는 경조사일 경우 휴가정보를 같이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부서장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부서장이 직원이 신청한 경조사 신청 건에 대해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경조사 신청 담당자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경조사담당자가 부서장이 승인한 직원 신청 내역을 확인하고 승인을 완료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일용직은 회계 지출요청과 연계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 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경조사 신청 승인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경조사의 승인내역을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경조사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455719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3.6.3.1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고교생자녀학자금관리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56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학자금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복리후생 업무 중 고교생자녀학자금관리는 학자금 신청</a:t>
            </a:r>
            <a:r>
              <a:rPr lang="en-US" altLang="ko-KR" sz="1600" dirty="0"/>
              <a:t>, </a:t>
            </a:r>
            <a:r>
              <a:rPr lang="ko-KR" altLang="en-US" sz="1600" dirty="0"/>
              <a:t>승인 후 급여에서 상환하는 현행 프로세스와 동일하게 구성함</a:t>
            </a:r>
          </a:p>
        </p:txBody>
      </p:sp>
      <p:sp>
        <p:nvSpPr>
          <p:cNvPr id="35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3.3.2.25 </a:t>
            </a:r>
            <a:r>
              <a:rPr lang="ko-KR" altLang="en-US" dirty="0"/>
              <a:t>고교생자녀학자금관리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36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82" name="직사각형 81"/>
          <p:cNvSpPr/>
          <p:nvPr/>
        </p:nvSpPr>
        <p:spPr bwMode="auto">
          <a:xfrm>
            <a:off x="2769540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학자금 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3"/>
            <a:endCxn id="65" idx="1"/>
          </p:cNvCxnSpPr>
          <p:nvPr/>
        </p:nvCxnSpPr>
        <p:spPr bwMode="auto">
          <a:xfrm flipV="1">
            <a:off x="3626796" y="4444251"/>
            <a:ext cx="1253855" cy="159880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25"/>
          <p:cNvGrpSpPr/>
          <p:nvPr/>
        </p:nvGrpSpPr>
        <p:grpSpPr>
          <a:xfrm>
            <a:off x="8121011" y="4235364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학자금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35" name="Shape 266"/>
          <p:cNvCxnSpPr>
            <a:cxnSpLocks noChangeShapeType="1"/>
            <a:stCxn id="75" idx="3"/>
            <a:endCxn id="127" idx="3"/>
          </p:cNvCxnSpPr>
          <p:nvPr/>
        </p:nvCxnSpPr>
        <p:spPr bwMode="auto">
          <a:xfrm flipV="1">
            <a:off x="7538107" y="4440517"/>
            <a:ext cx="582904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" name="Shape 266"/>
          <p:cNvCxnSpPr>
            <a:cxnSpLocks noChangeShapeType="1"/>
            <a:stCxn id="70" idx="3"/>
            <a:endCxn id="130" idx="2"/>
          </p:cNvCxnSpPr>
          <p:nvPr/>
        </p:nvCxnSpPr>
        <p:spPr bwMode="auto">
          <a:xfrm flipV="1">
            <a:off x="5737907" y="4653136"/>
            <a:ext cx="2869509" cy="138452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8"/>
          <p:cNvGrpSpPr/>
          <p:nvPr/>
        </p:nvGrpSpPr>
        <p:grpSpPr>
          <a:xfrm>
            <a:off x="1388263" y="2957404"/>
            <a:ext cx="972449" cy="417772"/>
            <a:chOff x="1357741" y="2874679"/>
            <a:chExt cx="756425" cy="417772"/>
          </a:xfrm>
        </p:grpSpPr>
        <p:sp>
          <p:nvSpPr>
            <p:cNvPr id="50" name="육각형 49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학자금 지급 건 발생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5" name="직사각형 54"/>
          <p:cNvSpPr/>
          <p:nvPr/>
        </p:nvSpPr>
        <p:spPr bwMode="auto">
          <a:xfrm>
            <a:off x="2769540" y="300590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학자금 지급기준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6" name="Shape 266"/>
          <p:cNvCxnSpPr>
            <a:cxnSpLocks noChangeShapeType="1"/>
            <a:stCxn id="50" idx="0"/>
            <a:endCxn id="55" idx="1"/>
          </p:cNvCxnSpPr>
          <p:nvPr/>
        </p:nvCxnSpPr>
        <p:spPr bwMode="auto">
          <a:xfrm>
            <a:off x="2360712" y="3162557"/>
            <a:ext cx="408828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9" name="Shape 266"/>
          <p:cNvCxnSpPr>
            <a:cxnSpLocks noChangeShapeType="1"/>
            <a:stCxn id="55" idx="2"/>
            <a:endCxn id="82" idx="0"/>
          </p:cNvCxnSpPr>
          <p:nvPr/>
        </p:nvCxnSpPr>
        <p:spPr bwMode="auto">
          <a:xfrm>
            <a:off x="3198168" y="3326676"/>
            <a:ext cx="0" cy="25559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" name="직사각형 64"/>
          <p:cNvSpPr/>
          <p:nvPr/>
        </p:nvSpPr>
        <p:spPr bwMode="auto">
          <a:xfrm>
            <a:off x="4880651" y="42838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학자금 신청 담당자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/>
          <p:cNvSpPr/>
          <p:nvPr/>
        </p:nvSpPr>
        <p:spPr bwMode="auto">
          <a:xfrm>
            <a:off x="4880651" y="58772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학자금 신청 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1" name="Shape 266"/>
          <p:cNvCxnSpPr>
            <a:cxnSpLocks noChangeShapeType="1"/>
            <a:stCxn id="65" idx="2"/>
            <a:endCxn id="70" idx="0"/>
          </p:cNvCxnSpPr>
          <p:nvPr/>
        </p:nvCxnSpPr>
        <p:spPr bwMode="auto">
          <a:xfrm>
            <a:off x="5309279" y="4604636"/>
            <a:ext cx="0" cy="12726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직사각형 74"/>
          <p:cNvSpPr/>
          <p:nvPr/>
        </p:nvSpPr>
        <p:spPr bwMode="auto">
          <a:xfrm>
            <a:off x="6680851" y="428386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학자금 집계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6" name="Shape 266"/>
          <p:cNvCxnSpPr>
            <a:cxnSpLocks noChangeShapeType="1"/>
            <a:stCxn id="65" idx="3"/>
            <a:endCxn id="75" idx="1"/>
          </p:cNvCxnSpPr>
          <p:nvPr/>
        </p:nvCxnSpPr>
        <p:spPr bwMode="auto">
          <a:xfrm>
            <a:off x="5737907" y="4444251"/>
            <a:ext cx="94294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4" name="순서도: 종속 처리 64"/>
          <p:cNvSpPr>
            <a:spLocks noChangeAspect="1" noChangeArrowheads="1"/>
          </p:cNvSpPr>
          <p:nvPr/>
        </p:nvSpPr>
        <p:spPr bwMode="auto">
          <a:xfrm>
            <a:off x="6623425" y="3009891"/>
            <a:ext cx="972108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cxnSp>
        <p:nvCxnSpPr>
          <p:cNvPr id="57" name="Shape 266"/>
          <p:cNvCxnSpPr>
            <a:cxnSpLocks noChangeShapeType="1"/>
            <a:stCxn id="65" idx="0"/>
            <a:endCxn id="54" idx="1"/>
          </p:cNvCxnSpPr>
          <p:nvPr/>
        </p:nvCxnSpPr>
        <p:spPr bwMode="auto">
          <a:xfrm rot="5400000" flipH="1" flipV="1">
            <a:off x="5407565" y="3068005"/>
            <a:ext cx="1117574" cy="131414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5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7365452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복리후생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3.6.3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고교생자녀학자금관리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6803737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복리후생 업무 중 고교생자녀학자금관리는 학자금 신청</a:t>
            </a:r>
            <a:r>
              <a:rPr lang="en-US" altLang="ko-KR" dirty="0"/>
              <a:t>, </a:t>
            </a:r>
            <a:r>
              <a:rPr lang="ko-KR" altLang="en-US" dirty="0"/>
              <a:t>승인 후 급여에서 상환하는 현행 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3.3.2.25 </a:t>
            </a:r>
            <a:r>
              <a:rPr lang="ko-KR" altLang="en-US" dirty="0"/>
              <a:t>고교생자녀학자금관리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223792"/>
              </p:ext>
            </p:extLst>
          </p:nvPr>
        </p:nvGraphicFramePr>
        <p:xfrm>
          <a:off x="344488" y="1604186"/>
          <a:ext cx="9180513" cy="24079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pc="-100" baseline="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학자금 지급기준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학자금담당자가 학력 따른 지급금액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등의 기준정보를 등록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현재 고교생만 가능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학자금지급기준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학자금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고등학생 자녀의 학자금을 신청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(1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년 이내에 아무 때나 신청 가능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학자금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학자금 신청 담당자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학자금담당자가 직원이 신청한 학자금 신청 건을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학자금 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학자금 신청 승인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학자금의 승인내역 이력을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학자금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학자금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학자금담당자가 직원이 신청한 학자금에 대해 집계내역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현황을 조회하고 확인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학자금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6986801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3.6.4.1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345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전결권자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956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복리후생 업무 중 대출금관리는 대출금 신청</a:t>
            </a:r>
            <a:r>
              <a:rPr lang="en-US" altLang="ko-KR" sz="1600" dirty="0"/>
              <a:t>, </a:t>
            </a:r>
            <a:r>
              <a:rPr lang="ko-KR" altLang="en-US" sz="1600" dirty="0"/>
              <a:t>승인 후 급여에서 원리금 상환하는 현행 프로세스와 동일하게 구성함</a:t>
            </a:r>
          </a:p>
        </p:txBody>
      </p:sp>
      <p:sp>
        <p:nvSpPr>
          <p:cNvPr id="41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3.3.2.26 </a:t>
            </a:r>
            <a:r>
              <a:rPr lang="ko-KR" altLang="en-US" dirty="0"/>
              <a:t>대출금관리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2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sp>
        <p:nvSpPr>
          <p:cNvPr id="82" name="직사각형 81"/>
          <p:cNvSpPr/>
          <p:nvPr/>
        </p:nvSpPr>
        <p:spPr bwMode="auto">
          <a:xfrm>
            <a:off x="2845742" y="588267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대출금신청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9" name="Shape 266"/>
          <p:cNvCxnSpPr>
            <a:cxnSpLocks noChangeShapeType="1"/>
            <a:stCxn id="82" idx="3"/>
            <a:endCxn id="65" idx="1"/>
          </p:cNvCxnSpPr>
          <p:nvPr/>
        </p:nvCxnSpPr>
        <p:spPr bwMode="auto">
          <a:xfrm flipV="1">
            <a:off x="3702998" y="3229346"/>
            <a:ext cx="530540" cy="281371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" name="그룹 125"/>
          <p:cNvGrpSpPr/>
          <p:nvPr/>
        </p:nvGrpSpPr>
        <p:grpSpPr>
          <a:xfrm>
            <a:off x="8233217" y="4307372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대출금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1" name="Shape 266"/>
          <p:cNvCxnSpPr>
            <a:cxnSpLocks noChangeShapeType="1"/>
            <a:stCxn id="70" idx="3"/>
            <a:endCxn id="130" idx="2"/>
          </p:cNvCxnSpPr>
          <p:nvPr/>
        </p:nvCxnSpPr>
        <p:spPr bwMode="auto">
          <a:xfrm flipV="1">
            <a:off x="5090794" y="4725144"/>
            <a:ext cx="3628828" cy="131251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8"/>
          <p:cNvGrpSpPr/>
          <p:nvPr/>
        </p:nvGrpSpPr>
        <p:grpSpPr>
          <a:xfrm>
            <a:off x="1464465" y="3011228"/>
            <a:ext cx="972449" cy="417772"/>
            <a:chOff x="1357741" y="2874679"/>
            <a:chExt cx="756425" cy="417772"/>
          </a:xfrm>
        </p:grpSpPr>
        <p:sp>
          <p:nvSpPr>
            <p:cNvPr id="50" name="육각형 49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대출금 필요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5" name="직사각형 54"/>
          <p:cNvSpPr/>
          <p:nvPr/>
        </p:nvSpPr>
        <p:spPr bwMode="auto">
          <a:xfrm>
            <a:off x="2841934" y="305599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대출기준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6" name="Shape 266"/>
          <p:cNvCxnSpPr>
            <a:cxnSpLocks noChangeShapeType="1"/>
            <a:stCxn id="50" idx="0"/>
            <a:endCxn id="55" idx="1"/>
          </p:cNvCxnSpPr>
          <p:nvPr/>
        </p:nvCxnSpPr>
        <p:spPr bwMode="auto">
          <a:xfrm flipV="1">
            <a:off x="2436914" y="3216380"/>
            <a:ext cx="405020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9" name="Shape 266"/>
          <p:cNvCxnSpPr>
            <a:cxnSpLocks noChangeShapeType="1"/>
            <a:stCxn id="55" idx="2"/>
            <a:endCxn id="58" idx="0"/>
          </p:cNvCxnSpPr>
          <p:nvPr/>
        </p:nvCxnSpPr>
        <p:spPr bwMode="auto">
          <a:xfrm>
            <a:off x="3270562" y="3376765"/>
            <a:ext cx="0" cy="30752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" name="직사각형 64"/>
          <p:cNvSpPr/>
          <p:nvPr/>
        </p:nvSpPr>
        <p:spPr bwMode="auto">
          <a:xfrm>
            <a:off x="4233538" y="306896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 신청 담당자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/>
          <p:cNvSpPr/>
          <p:nvPr/>
        </p:nvSpPr>
        <p:spPr bwMode="auto">
          <a:xfrm>
            <a:off x="4233538" y="58772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 신청 승인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직사각형 74"/>
          <p:cNvSpPr/>
          <p:nvPr/>
        </p:nvSpPr>
        <p:spPr bwMode="auto">
          <a:xfrm>
            <a:off x="5625142" y="434926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 상환내역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" name="순서도: 종속 처리 64"/>
          <p:cNvSpPr>
            <a:spLocks noChangeAspect="1" noChangeArrowheads="1"/>
          </p:cNvSpPr>
          <p:nvPr/>
        </p:nvSpPr>
        <p:spPr bwMode="auto">
          <a:xfrm>
            <a:off x="8236879" y="3068960"/>
            <a:ext cx="1004791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7" name="Shape 266"/>
          <p:cNvCxnSpPr>
            <a:cxnSpLocks noChangeShapeType="1"/>
            <a:stCxn id="61" idx="3"/>
            <a:endCxn id="54" idx="1"/>
          </p:cNvCxnSpPr>
          <p:nvPr/>
        </p:nvCxnSpPr>
        <p:spPr bwMode="auto">
          <a:xfrm flipV="1">
            <a:off x="6482398" y="3225360"/>
            <a:ext cx="1754481" cy="39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2841934" y="36842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대출신청일정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0" name="Shape 266"/>
          <p:cNvCxnSpPr>
            <a:cxnSpLocks noChangeShapeType="1"/>
            <a:stCxn id="58" idx="2"/>
            <a:endCxn id="82" idx="0"/>
          </p:cNvCxnSpPr>
          <p:nvPr/>
        </p:nvCxnSpPr>
        <p:spPr bwMode="auto">
          <a:xfrm>
            <a:off x="3270562" y="4005064"/>
            <a:ext cx="3808" cy="18776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직사각형 60"/>
          <p:cNvSpPr/>
          <p:nvPr/>
        </p:nvSpPr>
        <p:spPr bwMode="auto">
          <a:xfrm>
            <a:off x="5625142" y="306896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 내역 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Shape 266"/>
          <p:cNvCxnSpPr>
            <a:cxnSpLocks noChangeShapeType="1"/>
            <a:stCxn id="65" idx="2"/>
            <a:endCxn id="70" idx="0"/>
          </p:cNvCxnSpPr>
          <p:nvPr/>
        </p:nvCxnSpPr>
        <p:spPr bwMode="auto">
          <a:xfrm>
            <a:off x="4662166" y="3389731"/>
            <a:ext cx="0" cy="248754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65" idx="3"/>
            <a:endCxn id="61" idx="1"/>
          </p:cNvCxnSpPr>
          <p:nvPr/>
        </p:nvCxnSpPr>
        <p:spPr bwMode="auto">
          <a:xfrm>
            <a:off x="5090794" y="3229346"/>
            <a:ext cx="53434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" name="Shape 266"/>
          <p:cNvCxnSpPr>
            <a:cxnSpLocks noChangeShapeType="1"/>
            <a:stCxn id="61" idx="2"/>
            <a:endCxn id="75" idx="0"/>
          </p:cNvCxnSpPr>
          <p:nvPr/>
        </p:nvCxnSpPr>
        <p:spPr bwMode="auto">
          <a:xfrm>
            <a:off x="6053770" y="3389731"/>
            <a:ext cx="0" cy="9595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7" name="직사각형 76"/>
          <p:cNvSpPr/>
          <p:nvPr/>
        </p:nvSpPr>
        <p:spPr bwMode="auto">
          <a:xfrm>
            <a:off x="7016747" y="4349267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대출금 집계내역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8" name="Shape 266"/>
          <p:cNvCxnSpPr>
            <a:cxnSpLocks noChangeShapeType="1"/>
            <a:stCxn id="75" idx="3"/>
            <a:endCxn id="77" idx="1"/>
          </p:cNvCxnSpPr>
          <p:nvPr/>
        </p:nvCxnSpPr>
        <p:spPr bwMode="auto">
          <a:xfrm>
            <a:off x="6482398" y="4509653"/>
            <a:ext cx="53434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77" idx="3"/>
            <a:endCxn id="127" idx="3"/>
          </p:cNvCxnSpPr>
          <p:nvPr/>
        </p:nvCxnSpPr>
        <p:spPr bwMode="auto">
          <a:xfrm>
            <a:off x="7874003" y="4509653"/>
            <a:ext cx="359214" cy="28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83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183795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복리후생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3.6.4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1353458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복리후생 업무 중 대출금관리는 대출금 신청</a:t>
            </a:r>
            <a:r>
              <a:rPr lang="en-US" altLang="ko-KR" dirty="0"/>
              <a:t>, </a:t>
            </a:r>
            <a:r>
              <a:rPr lang="ko-KR" altLang="en-US" dirty="0"/>
              <a:t>승인 후 급여에서 원리금 상환하는 현행 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3.3.2.26 </a:t>
            </a:r>
            <a:r>
              <a:rPr lang="ko-KR" altLang="en-US" dirty="0"/>
              <a:t>대출금관리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0028000"/>
              </p:ext>
            </p:extLst>
          </p:nvPr>
        </p:nvGraphicFramePr>
        <p:xfrm>
          <a:off x="344488" y="1604186"/>
          <a:ext cx="9180513" cy="365760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대출기준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대출금담당자가 대출종류에 따른 지급금액</a:t>
                      </a:r>
                      <a:r>
                        <a:rPr lang="en-US" altLang="ko-KR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등의 기준정보를 등록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대출기준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대출신청일정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대출금담당자가 직원이 신청할 수 있는 대출 신청 가능 기간을 설정하여 해당 기간에만 신청이 가능하게 설정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대출신청일정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대출 신청 가능 기간에 맞춰서 대출금을 신청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대학생 학자금은 대출로 처리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 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 신청 담당자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대출금담당자가 직원이 신청한 대출금 신청 건을 확인하고 승인을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 신청내역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 신청 승인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대출금의 승인내역 이력을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 신청내역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spc="-1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 내역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대출금담당자가 직원이 신청 후 승인된 대출금 내역을 확인하고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 신청내역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 상환내역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대출금담당자가 대출금 중도상환 및 원리금 상환내역에 대해 등록하고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 상환내역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대출금 집계내역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대출금담당자가 직원이 신청한 대출금에 대해 집계내역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현황을 조회하고 확인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 신청내역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대출금상환내역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586932"/>
              </p:ext>
            </p:extLst>
          </p:nvPr>
        </p:nvGraphicFramePr>
        <p:xfrm>
          <a:off x="344488" y="1916832"/>
          <a:ext cx="9181021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3.6.5.1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공제회관리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3962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공제회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복리후생 업무 중 공제회관리는 경조사 신청 후 공제회에서 조회 후 확정</a:t>
            </a:r>
            <a:r>
              <a:rPr lang="en-US" altLang="ko-KR" sz="1600" dirty="0"/>
              <a:t>, </a:t>
            </a:r>
            <a:r>
              <a:rPr lang="ko-KR" altLang="en-US" sz="1600" dirty="0"/>
              <a:t>지급하는 현행 프로세스와 동일하게 구성함</a:t>
            </a:r>
          </a:p>
        </p:txBody>
      </p:sp>
      <p:sp>
        <p:nvSpPr>
          <p:cNvPr id="39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3.3.2.27 </a:t>
            </a:r>
            <a:r>
              <a:rPr lang="ko-KR" altLang="en-US" dirty="0"/>
              <a:t>공제회관리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0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pSp>
        <p:nvGrpSpPr>
          <p:cNvPr id="3" name="그룹 125"/>
          <p:cNvGrpSpPr/>
          <p:nvPr/>
        </p:nvGrpSpPr>
        <p:grpSpPr>
          <a:xfrm>
            <a:off x="8445047" y="5027452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공제회 종료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35" name="Shape 266"/>
          <p:cNvCxnSpPr>
            <a:cxnSpLocks noChangeShapeType="1"/>
            <a:stCxn id="73" idx="2"/>
            <a:endCxn id="8" idx="0"/>
          </p:cNvCxnSpPr>
          <p:nvPr/>
        </p:nvCxnSpPr>
        <p:spPr bwMode="auto">
          <a:xfrm>
            <a:off x="8931271" y="4641121"/>
            <a:ext cx="0" cy="39975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" name="그룹 48"/>
          <p:cNvGrpSpPr/>
          <p:nvPr/>
        </p:nvGrpSpPr>
        <p:grpSpPr>
          <a:xfrm>
            <a:off x="1388263" y="3587292"/>
            <a:ext cx="972449" cy="417772"/>
            <a:chOff x="1357741" y="2874679"/>
            <a:chExt cx="756425" cy="417772"/>
          </a:xfrm>
        </p:grpSpPr>
        <p:sp>
          <p:nvSpPr>
            <p:cNvPr id="50" name="육각형 49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공제회 지급 건 발생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5" name="직사각형 54"/>
          <p:cNvSpPr/>
          <p:nvPr/>
        </p:nvSpPr>
        <p:spPr bwMode="auto">
          <a:xfrm>
            <a:off x="3269722" y="36357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공제회원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6" name="Shape 266"/>
          <p:cNvCxnSpPr>
            <a:cxnSpLocks noChangeShapeType="1"/>
            <a:stCxn id="50" idx="0"/>
            <a:endCxn id="55" idx="1"/>
          </p:cNvCxnSpPr>
          <p:nvPr/>
        </p:nvCxnSpPr>
        <p:spPr bwMode="auto">
          <a:xfrm>
            <a:off x="2360712" y="3792445"/>
            <a:ext cx="909010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9" name="Shape 266"/>
          <p:cNvCxnSpPr>
            <a:cxnSpLocks noChangeShapeType="1"/>
            <a:stCxn id="62" idx="2"/>
            <a:endCxn id="58" idx="0"/>
          </p:cNvCxnSpPr>
          <p:nvPr/>
        </p:nvCxnSpPr>
        <p:spPr bwMode="auto">
          <a:xfrm>
            <a:off x="3698350" y="4676643"/>
            <a:ext cx="0" cy="3993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직사각형 74"/>
          <p:cNvSpPr/>
          <p:nvPr/>
        </p:nvSpPr>
        <p:spPr bwMode="auto">
          <a:xfrm>
            <a:off x="8502643" y="363579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경조회비 조회 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6" name="Shape 266"/>
          <p:cNvCxnSpPr>
            <a:cxnSpLocks noChangeShapeType="1"/>
            <a:stCxn id="60" idx="3"/>
            <a:endCxn id="127" idx="3"/>
          </p:cNvCxnSpPr>
          <p:nvPr/>
        </p:nvCxnSpPr>
        <p:spPr bwMode="auto">
          <a:xfrm flipV="1">
            <a:off x="7204439" y="5232605"/>
            <a:ext cx="1240608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4" name="순서도: 종속 처리 64"/>
          <p:cNvSpPr>
            <a:spLocks noChangeAspect="1" noChangeArrowheads="1"/>
          </p:cNvSpPr>
          <p:nvPr/>
        </p:nvSpPr>
        <p:spPr bwMode="auto">
          <a:xfrm>
            <a:off x="3231139" y="2576141"/>
            <a:ext cx="9344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3.5.1.3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급여지급관리</a:t>
            </a:r>
          </a:p>
        </p:txBody>
      </p:sp>
      <p:sp>
        <p:nvSpPr>
          <p:cNvPr id="58" name="직사각형 57"/>
          <p:cNvSpPr/>
          <p:nvPr/>
        </p:nvSpPr>
        <p:spPr bwMode="auto">
          <a:xfrm>
            <a:off x="3269722" y="5075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 경조금 확정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6347183" y="5075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 경조금 집계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Shape 266"/>
          <p:cNvCxnSpPr>
            <a:cxnSpLocks noChangeShapeType="1"/>
            <a:stCxn id="58" idx="2"/>
            <a:endCxn id="61" idx="0"/>
          </p:cNvCxnSpPr>
          <p:nvPr/>
        </p:nvCxnSpPr>
        <p:spPr bwMode="auto">
          <a:xfrm>
            <a:off x="3698350" y="5396724"/>
            <a:ext cx="0" cy="4721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61" idx="3"/>
            <a:endCxn id="130" idx="2"/>
          </p:cNvCxnSpPr>
          <p:nvPr/>
        </p:nvCxnSpPr>
        <p:spPr bwMode="auto">
          <a:xfrm flipV="1">
            <a:off x="4126978" y="5445224"/>
            <a:ext cx="4804474" cy="58403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직사각형 60"/>
          <p:cNvSpPr/>
          <p:nvPr/>
        </p:nvSpPr>
        <p:spPr bwMode="auto">
          <a:xfrm>
            <a:off x="3269722" y="5868875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 경조금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3269722" y="435587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 경조금 조회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4" name="Shape 266"/>
          <p:cNvCxnSpPr>
            <a:cxnSpLocks noChangeShapeType="1"/>
            <a:stCxn id="55" idx="2"/>
            <a:endCxn id="62" idx="0"/>
          </p:cNvCxnSpPr>
          <p:nvPr/>
        </p:nvCxnSpPr>
        <p:spPr bwMode="auto">
          <a:xfrm>
            <a:off x="3698350" y="3956564"/>
            <a:ext cx="0" cy="3993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55" idx="0"/>
            <a:endCxn id="54" idx="2"/>
          </p:cNvCxnSpPr>
          <p:nvPr/>
        </p:nvCxnSpPr>
        <p:spPr bwMode="auto">
          <a:xfrm flipV="1">
            <a:off x="3698350" y="2888940"/>
            <a:ext cx="1" cy="7468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58" idx="3"/>
            <a:endCxn id="77" idx="1"/>
          </p:cNvCxnSpPr>
          <p:nvPr/>
        </p:nvCxnSpPr>
        <p:spPr bwMode="auto">
          <a:xfrm>
            <a:off x="4126978" y="5236339"/>
            <a:ext cx="92200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0" name="Shape 266"/>
          <p:cNvCxnSpPr>
            <a:cxnSpLocks noChangeShapeType="1"/>
            <a:stCxn id="55" idx="3"/>
            <a:endCxn id="75" idx="1"/>
          </p:cNvCxnSpPr>
          <p:nvPr/>
        </p:nvCxnSpPr>
        <p:spPr bwMode="auto">
          <a:xfrm>
            <a:off x="4126978" y="3796179"/>
            <a:ext cx="437566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" name="직사각형 72"/>
          <p:cNvSpPr/>
          <p:nvPr/>
        </p:nvSpPr>
        <p:spPr bwMode="auto">
          <a:xfrm>
            <a:off x="8502643" y="432035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경조회비 집계 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5048980" y="5075953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공제회 경조금 지급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4" name="Shape 266"/>
          <p:cNvCxnSpPr>
            <a:cxnSpLocks noChangeShapeType="1"/>
            <a:stCxn id="77" idx="3"/>
            <a:endCxn id="60" idx="1"/>
          </p:cNvCxnSpPr>
          <p:nvPr/>
        </p:nvCxnSpPr>
        <p:spPr bwMode="auto">
          <a:xfrm>
            <a:off x="5906236" y="5236339"/>
            <a:ext cx="44094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75" idx="2"/>
            <a:endCxn id="73" idx="0"/>
          </p:cNvCxnSpPr>
          <p:nvPr/>
        </p:nvCxnSpPr>
        <p:spPr bwMode="auto">
          <a:xfrm>
            <a:off x="8931271" y="3956564"/>
            <a:ext cx="0" cy="3637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94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217945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복리후생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3.6.5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공제회관리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7" name="순서도: 종속 처리 64"/>
          <p:cNvSpPr>
            <a:spLocks noChangeAspect="1" noChangeArrowheads="1"/>
          </p:cNvSpPr>
          <p:nvPr/>
        </p:nvSpPr>
        <p:spPr bwMode="auto">
          <a:xfrm>
            <a:off x="4934744" y="4124313"/>
            <a:ext cx="1088587" cy="312799"/>
          </a:xfrm>
          <a:prstGeom prst="flowChartPredefinedProcess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3.6.2.1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경조사관리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2" name="Shape 266"/>
          <p:cNvCxnSpPr>
            <a:cxnSpLocks noChangeShapeType="1"/>
            <a:stCxn id="37" idx="2"/>
            <a:endCxn id="77" idx="0"/>
          </p:cNvCxnSpPr>
          <p:nvPr/>
        </p:nvCxnSpPr>
        <p:spPr bwMode="auto">
          <a:xfrm rot="5400000">
            <a:off x="5158903" y="4755817"/>
            <a:ext cx="638841" cy="143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" name="타원 4"/>
          <p:cNvSpPr/>
          <p:nvPr/>
        </p:nvSpPr>
        <p:spPr>
          <a:xfrm>
            <a:off x="8805428" y="4379380"/>
            <a:ext cx="252028" cy="20313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타원 7"/>
          <p:cNvSpPr/>
          <p:nvPr/>
        </p:nvSpPr>
        <p:spPr>
          <a:xfrm>
            <a:off x="8796170" y="5040877"/>
            <a:ext cx="270201" cy="29629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순서도: 종속 처리 64"/>
          <p:cNvSpPr>
            <a:spLocks noChangeAspect="1" noChangeArrowheads="1"/>
          </p:cNvSpPr>
          <p:nvPr/>
        </p:nvSpPr>
        <p:spPr bwMode="auto">
          <a:xfrm>
            <a:off x="1393305" y="5868875"/>
            <a:ext cx="934423" cy="312799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3.6.2.1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경조사관리</a:t>
            </a:r>
          </a:p>
        </p:txBody>
      </p:sp>
      <p:cxnSp>
        <p:nvCxnSpPr>
          <p:cNvPr id="46" name="Shape 266"/>
          <p:cNvCxnSpPr>
            <a:cxnSpLocks noChangeShapeType="1"/>
            <a:stCxn id="45" idx="0"/>
            <a:endCxn id="62" idx="1"/>
          </p:cNvCxnSpPr>
          <p:nvPr/>
        </p:nvCxnSpPr>
        <p:spPr bwMode="auto">
          <a:xfrm rot="5400000" flipH="1" flipV="1">
            <a:off x="1888811" y="4487965"/>
            <a:ext cx="1352617" cy="14092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736003080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복리후생 업무 중 공제회관리는 경조사 신청 후 공제회에서 조회 후 확정</a:t>
            </a:r>
            <a:r>
              <a:rPr lang="en-US" altLang="ko-KR" dirty="0"/>
              <a:t>, </a:t>
            </a:r>
            <a:r>
              <a:rPr lang="ko-KR" altLang="en-US" dirty="0"/>
              <a:t>지급하는 현행 프로세스와 동일하게 구성함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3.3.2.27 </a:t>
            </a:r>
            <a:r>
              <a:rPr lang="ko-KR" altLang="en-US" dirty="0"/>
              <a:t>공제회관리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618472"/>
              </p:ext>
            </p:extLst>
          </p:nvPr>
        </p:nvGraphicFramePr>
        <p:xfrm>
          <a:off x="344488" y="1604186"/>
          <a:ext cx="9180513" cy="35966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공제회원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공제회담당자가 일반직 공제회원 신청자를 대상으로 회원으로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공제회 경조금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공제회담당자가 경조사 신청 후 승인된 경조금 신청 건에 대해 조회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경조사 신청 시 부서장 승인 후 조회 가능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공제회원정보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공제회 경조금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공제회담당자가 경조사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신청에 의해 승인된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승인내역을 확인하고 지급을 확정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신청내역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공제회 경조금 조회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신청한 경조사에 따른 경조금 승인내역 이력을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공제회 경조금 지급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공제회담당자가 경조사에서 신청된 경조금을 확인하고 경조금 지급내역을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지급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공제회 경조금 집계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공제회담당자가 직원이 신청한 경조사에 따른 경조금 집계내역</a:t>
                      </a:r>
                      <a:r>
                        <a:rPr lang="ko-KR" altLang="en-US" sz="1000" baseline="0" dirty="0">
                          <a:latin typeface="맑은 고딕" pitchFamily="50" charset="-127"/>
                          <a:ea typeface="맑은 고딕" pitchFamily="50" charset="-127"/>
                        </a:rPr>
                        <a:t> 현황을 조회하고 확인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경조금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지급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경조회비 조회 </a:t>
                      </a:r>
                      <a:endParaRPr lang="en-US" altLang="ko-KR" sz="10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공제회담당자가 급여에서 공제된 직원별 경조회비 정보를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경조회비 공제내역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경조회비 집계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공제회담당자가 급여에서 공제된 경조회비 집계현황을 조회하고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경조회비 공제내역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3739795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8032761"/>
              </p:ext>
            </p:extLst>
          </p:nvPr>
        </p:nvGraphicFramePr>
        <p:xfrm>
          <a:off x="344488" y="1916832"/>
          <a:ext cx="9181021" cy="4356484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0040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3.7.1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결재관리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891452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12168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결재자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7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임직원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인적자원관리의 결재관리 업무는 결재라인의 구성 및 결재위임자에 대한 정보를 관리할 수 있도록 업무프로세스를 변경함</a:t>
            </a:r>
          </a:p>
        </p:txBody>
      </p:sp>
      <p:sp>
        <p:nvSpPr>
          <p:cNvPr id="39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3.3.2.28 </a:t>
            </a:r>
            <a:r>
              <a:rPr lang="ko-KR" altLang="en-US" dirty="0"/>
              <a:t>결재관리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0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/>
          </a:p>
        </p:txBody>
      </p:sp>
      <p:grpSp>
        <p:nvGrpSpPr>
          <p:cNvPr id="3" name="그룹 125"/>
          <p:cNvGrpSpPr/>
          <p:nvPr/>
        </p:nvGrpSpPr>
        <p:grpSpPr>
          <a:xfrm>
            <a:off x="8445047" y="5027452"/>
            <a:ext cx="972449" cy="417772"/>
            <a:chOff x="1357741" y="2874679"/>
            <a:chExt cx="756425" cy="417772"/>
          </a:xfrm>
        </p:grpSpPr>
        <p:sp>
          <p:nvSpPr>
            <p:cNvPr id="127" name="육각형 126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결재요청 완료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4" name="그룹 48"/>
          <p:cNvGrpSpPr/>
          <p:nvPr/>
        </p:nvGrpSpPr>
        <p:grpSpPr>
          <a:xfrm>
            <a:off x="1388263" y="2708920"/>
            <a:ext cx="972449" cy="417772"/>
            <a:chOff x="1357741" y="2874679"/>
            <a:chExt cx="756425" cy="417772"/>
          </a:xfrm>
        </p:grpSpPr>
        <p:sp>
          <p:nvSpPr>
            <p:cNvPr id="50" name="육각형 49"/>
            <p:cNvSpPr/>
            <p:nvPr/>
          </p:nvSpPr>
          <p:spPr bwMode="auto">
            <a:xfrm>
              <a:off x="1357741" y="287467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결재요청 발생</a:t>
              </a:r>
              <a:endPara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1466094" y="3256451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1466094" y="2888104"/>
              <a:ext cx="540000" cy="360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5" name="직사각형 54"/>
          <p:cNvSpPr/>
          <p:nvPr/>
        </p:nvSpPr>
        <p:spPr bwMode="auto">
          <a:xfrm>
            <a:off x="3116796" y="2757421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신청서유형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6" name="Shape 266"/>
          <p:cNvCxnSpPr>
            <a:cxnSpLocks noChangeShapeType="1"/>
            <a:stCxn id="50" idx="0"/>
            <a:endCxn id="55" idx="1"/>
          </p:cNvCxnSpPr>
          <p:nvPr/>
        </p:nvCxnSpPr>
        <p:spPr bwMode="auto">
          <a:xfrm>
            <a:off x="2360712" y="2914073"/>
            <a:ext cx="756084" cy="37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9" name="Shape 266"/>
          <p:cNvCxnSpPr>
            <a:cxnSpLocks noChangeShapeType="1"/>
            <a:stCxn id="55" idx="2"/>
            <a:endCxn id="58" idx="0"/>
          </p:cNvCxnSpPr>
          <p:nvPr/>
        </p:nvCxnSpPr>
        <p:spPr bwMode="auto">
          <a:xfrm>
            <a:off x="3545424" y="3078192"/>
            <a:ext cx="0" cy="143092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3116796" y="4509120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결재위임자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Shape 266"/>
          <p:cNvCxnSpPr>
            <a:cxnSpLocks noChangeShapeType="1"/>
            <a:stCxn id="58" idx="2"/>
            <a:endCxn id="61" idx="0"/>
          </p:cNvCxnSpPr>
          <p:nvPr/>
        </p:nvCxnSpPr>
        <p:spPr bwMode="auto">
          <a:xfrm>
            <a:off x="3545424" y="4829891"/>
            <a:ext cx="0" cy="9753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/>
          <p:cNvCxnSpPr>
            <a:cxnSpLocks noChangeShapeType="1"/>
            <a:stCxn id="43" idx="3"/>
            <a:endCxn id="72" idx="0"/>
          </p:cNvCxnSpPr>
          <p:nvPr/>
        </p:nvCxnSpPr>
        <p:spPr bwMode="auto">
          <a:xfrm>
            <a:off x="6095450" y="5299448"/>
            <a:ext cx="625166" cy="50697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직사각형 60"/>
          <p:cNvSpPr/>
          <p:nvPr/>
        </p:nvSpPr>
        <p:spPr bwMode="auto">
          <a:xfrm>
            <a:off x="3116796" y="58052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결재라인 등록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94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689941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인적자원관리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&gt; 3.7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&gt; 3.7.1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결재관리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타원 7"/>
          <p:cNvSpPr/>
          <p:nvPr/>
        </p:nvSpPr>
        <p:spPr>
          <a:xfrm>
            <a:off x="8796170" y="5040877"/>
            <a:ext cx="270201" cy="29629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순서도: 판단 161"/>
          <p:cNvSpPr>
            <a:spLocks noChangeArrowheads="1"/>
          </p:cNvSpPr>
          <p:nvPr/>
        </p:nvSpPr>
        <p:spPr bwMode="auto">
          <a:xfrm>
            <a:off x="4278068" y="5049180"/>
            <a:ext cx="1817382" cy="500535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신청 결재자의 위임자 등록 여부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105128" y="5070376"/>
            <a:ext cx="25039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Y</a:t>
            </a: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5277036" y="4833156"/>
            <a:ext cx="2728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N</a:t>
            </a: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4752960" y="4473116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결재완료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3" name="직사각형 62"/>
          <p:cNvSpPr/>
          <p:nvPr/>
        </p:nvSpPr>
        <p:spPr bwMode="auto">
          <a:xfrm>
            <a:off x="4752960" y="5805264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결재요청 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8" name="Shape 266"/>
          <p:cNvCxnSpPr>
            <a:cxnSpLocks noChangeShapeType="1"/>
            <a:stCxn id="61" idx="3"/>
            <a:endCxn id="63" idx="1"/>
          </p:cNvCxnSpPr>
          <p:nvPr/>
        </p:nvCxnSpPr>
        <p:spPr bwMode="auto">
          <a:xfrm>
            <a:off x="3974052" y="5965650"/>
            <a:ext cx="77890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9" name="Shape 266"/>
          <p:cNvCxnSpPr>
            <a:cxnSpLocks noChangeShapeType="1"/>
            <a:stCxn id="63" idx="0"/>
            <a:endCxn id="43" idx="2"/>
          </p:cNvCxnSpPr>
          <p:nvPr/>
        </p:nvCxnSpPr>
        <p:spPr bwMode="auto">
          <a:xfrm flipV="1">
            <a:off x="5181588" y="5549715"/>
            <a:ext cx="5171" cy="25554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1" name="Shape 266"/>
          <p:cNvCxnSpPr>
            <a:cxnSpLocks noChangeShapeType="1"/>
            <a:stCxn id="43" idx="0"/>
            <a:endCxn id="57" idx="2"/>
          </p:cNvCxnSpPr>
          <p:nvPr/>
        </p:nvCxnSpPr>
        <p:spPr bwMode="auto">
          <a:xfrm flipH="1" flipV="1">
            <a:off x="5181588" y="4793887"/>
            <a:ext cx="5171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직사각형 71"/>
          <p:cNvSpPr/>
          <p:nvPr/>
        </p:nvSpPr>
        <p:spPr bwMode="auto">
          <a:xfrm>
            <a:off x="6291988" y="5806422"/>
            <a:ext cx="857256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결재라인 조정</a:t>
            </a:r>
            <a:endParaRPr lang="en-US" altLang="ko-KR" sz="900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4" name="Shape 266"/>
          <p:cNvCxnSpPr>
            <a:cxnSpLocks noChangeShapeType="1"/>
            <a:stCxn id="72" idx="1"/>
            <a:endCxn id="63" idx="3"/>
          </p:cNvCxnSpPr>
          <p:nvPr/>
        </p:nvCxnSpPr>
        <p:spPr bwMode="auto">
          <a:xfrm flipH="1" flipV="1">
            <a:off x="5610216" y="5965650"/>
            <a:ext cx="681772" cy="11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" name="Shape 266"/>
          <p:cNvCxnSpPr>
            <a:cxnSpLocks noChangeShapeType="1"/>
            <a:stCxn id="57" idx="3"/>
            <a:endCxn id="8" idx="0"/>
          </p:cNvCxnSpPr>
          <p:nvPr/>
        </p:nvCxnSpPr>
        <p:spPr bwMode="auto">
          <a:xfrm>
            <a:off x="5610216" y="4633502"/>
            <a:ext cx="3321055" cy="40737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29142416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인적자원관리의 결재관리 업무는 결재라인의 구성 및 결재위임자에 대한 정보를 관리할 수 있도록 업무프로세스를 변경함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3.3.2.28 </a:t>
            </a:r>
            <a:r>
              <a:rPr lang="ko-KR" altLang="en-US" dirty="0"/>
              <a:t>결재관리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3.3 </a:t>
            </a:r>
            <a:r>
              <a:rPr lang="ko-KR" altLang="en-US" dirty="0">
                <a:solidFill>
                  <a:prstClr val="black"/>
                </a:solidFill>
              </a:rPr>
              <a:t>인적자원관리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="" xmlns:a16="http://schemas.microsoft.com/office/drawing/2014/main" id="{998C5467-6F2A-414B-BFF3-231F7939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235841"/>
              </p:ext>
            </p:extLst>
          </p:nvPr>
        </p:nvGraphicFramePr>
        <p:xfrm>
          <a:off x="344488" y="1604186"/>
          <a:ext cx="9180513" cy="2865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신청서유형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시스템 담당자가 신청서별로 신청 및 결재에 대한 기준정보를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신청결재기준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결재위임자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결재자가 본인의 부재 시 대리결재할 직원을 신청서별로 기간을 정하여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결재위임자정보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결재라인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업무별로 결재가 필요한 내역에 대해 신청 시 결재할 상위자를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결재라인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결재요청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업무별로 결재가 필요한 내역에 대해 결재할 상위자를 등록하고 결재를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결재완료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결재자가 업무별로 결재가 필요한 내역에 대해 결재내용을 확인하고 결재를 완료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신청서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결재라인 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직원이 업무별로 결재가 필요한 내역에 대해 결재자를 등록할 때 결재자의 부재에 의한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맑은 고딕" pitchFamily="50" charset="-127"/>
                        </a:rPr>
                        <a:t>위임자 선정 등으로 인해 결재가 힘들 경우 결재자를 조정하여 재등록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결재라인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5948931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기금지원 업무는 지급관리</a:t>
            </a:r>
            <a:r>
              <a:rPr lang="en-US" altLang="ko-KR" sz="1600" dirty="0"/>
              <a:t>, </a:t>
            </a:r>
            <a:r>
              <a:rPr lang="ko-KR" altLang="en-US" sz="1600" dirty="0"/>
              <a:t>집행관리</a:t>
            </a:r>
            <a:r>
              <a:rPr lang="en-US" altLang="ko-KR" sz="1600" dirty="0"/>
              <a:t>, </a:t>
            </a:r>
            <a:r>
              <a:rPr lang="ko-KR" altLang="en-US" sz="1600" dirty="0"/>
              <a:t>사후관리</a:t>
            </a:r>
            <a:r>
              <a:rPr lang="en-US" altLang="ko-KR" sz="1600" dirty="0"/>
              <a:t>, </a:t>
            </a:r>
            <a:r>
              <a:rPr lang="ko-KR" altLang="en-US" sz="1600" dirty="0"/>
              <a:t>직접지원관리의 총 </a:t>
            </a:r>
            <a:r>
              <a:rPr lang="en-US" altLang="ko-KR" sz="1600" dirty="0"/>
              <a:t>4</a:t>
            </a:r>
            <a:r>
              <a:rPr lang="ko-KR" altLang="en-US" sz="1600" dirty="0"/>
              <a:t>개 </a:t>
            </a:r>
            <a:r>
              <a:rPr lang="en-US" altLang="ko-KR" sz="1600" dirty="0"/>
              <a:t>Major Process</a:t>
            </a:r>
            <a:r>
              <a:rPr lang="ko-KR" altLang="en-US" sz="1600" dirty="0"/>
              <a:t>로 구성되며</a:t>
            </a:r>
            <a:r>
              <a:rPr lang="en-US" altLang="ko-KR" sz="1600" dirty="0"/>
              <a:t>, </a:t>
            </a:r>
            <a:r>
              <a:rPr lang="ko-KR" altLang="en-US" sz="1600" dirty="0"/>
              <a:t>지급관리는 총 </a:t>
            </a:r>
            <a:r>
              <a:rPr lang="en-US" altLang="ko-KR" sz="1600" dirty="0"/>
              <a:t>2</a:t>
            </a:r>
            <a:r>
              <a:rPr lang="ko-KR" altLang="en-US" sz="1600" dirty="0"/>
              <a:t>개</a:t>
            </a:r>
            <a:r>
              <a:rPr lang="en-US" altLang="ko-KR" sz="1600" dirty="0"/>
              <a:t>, </a:t>
            </a:r>
            <a:r>
              <a:rPr lang="ko-KR" altLang="en-US" sz="1600" dirty="0"/>
              <a:t>집행관리는 총 </a:t>
            </a:r>
            <a:r>
              <a:rPr lang="en-US" altLang="ko-KR" sz="1600" dirty="0"/>
              <a:t>4</a:t>
            </a:r>
            <a:r>
              <a:rPr lang="ko-KR" altLang="en-US" sz="1600" dirty="0"/>
              <a:t>개 </a:t>
            </a:r>
            <a:r>
              <a:rPr lang="en-US" altLang="ko-KR" sz="1600" dirty="0"/>
              <a:t>Sub Process</a:t>
            </a:r>
            <a:r>
              <a:rPr lang="ko-KR" altLang="en-US" sz="1600" dirty="0"/>
              <a:t>로 구성됨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 </a:t>
            </a:r>
            <a:r>
              <a:rPr lang="ko-KR" altLang="en-US" dirty="0"/>
              <a:t>기금지원관리 업무프로세스 개선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3.4.1 </a:t>
            </a:r>
            <a:r>
              <a:rPr lang="ko-KR" altLang="en-US" dirty="0"/>
              <a:t>기금지원관리 업무기능 정의 </a:t>
            </a:r>
            <a:r>
              <a:rPr lang="en-US" altLang="ko-KR" dirty="0"/>
              <a:t>(1/6)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4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/>
              </a:rPr>
              <a:t>업무분류 구조도 </a:t>
            </a:r>
            <a:r>
              <a:rPr lang="en-US" altLang="ko-KR" sz="14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/>
              </a:rPr>
              <a:t>(TO-BE)</a:t>
            </a:r>
            <a:endParaRPr lang="ko-KR" altLang="en-US" sz="1400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19" y="1952836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+mn-ea"/>
              <a:ea typeface="+mn-ea"/>
            </a:endParaRPr>
          </a:p>
        </p:txBody>
      </p:sp>
      <p:sp>
        <p:nvSpPr>
          <p:cNvPr id="313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</a:rPr>
              <a:t>Level2</a:t>
            </a:r>
          </a:p>
        </p:txBody>
      </p:sp>
      <p:sp>
        <p:nvSpPr>
          <p:cNvPr id="314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</a:rPr>
              <a:t>Level3</a:t>
            </a:r>
          </a:p>
        </p:txBody>
      </p:sp>
      <p:sp>
        <p:nvSpPr>
          <p:cNvPr id="315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</a:rPr>
              <a:t>Level4</a:t>
            </a:r>
          </a:p>
        </p:txBody>
      </p:sp>
      <p:sp>
        <p:nvSpPr>
          <p:cNvPr id="119" name="Rectangle 43"/>
          <p:cNvSpPr>
            <a:spLocks noChangeArrowheads="1"/>
          </p:cNvSpPr>
          <p:nvPr/>
        </p:nvSpPr>
        <p:spPr bwMode="auto">
          <a:xfrm>
            <a:off x="1280593" y="2065680"/>
            <a:ext cx="2582542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</a:rPr>
              <a:t>4.1 </a:t>
            </a:r>
            <a:r>
              <a:rPr lang="ko-KR" altLang="en-US" sz="1300" b="1" kern="0" dirty="0">
                <a:solidFill>
                  <a:prstClr val="white"/>
                </a:solidFill>
              </a:rPr>
              <a:t>지급관리</a:t>
            </a:r>
            <a:endParaRPr lang="en-US" altLang="ko-KR" sz="1300" b="1" kern="0" dirty="0">
              <a:solidFill>
                <a:prstClr val="white"/>
              </a:solidFill>
            </a:endParaRPr>
          </a:p>
        </p:txBody>
      </p:sp>
      <p:cxnSp>
        <p:nvCxnSpPr>
          <p:cNvPr id="120" name="꺾인 연결선 119"/>
          <p:cNvCxnSpPr>
            <a:stCxn id="119" idx="2"/>
            <a:endCxn id="123" idx="0"/>
          </p:cNvCxnSpPr>
          <p:nvPr/>
        </p:nvCxnSpPr>
        <p:spPr bwMode="auto">
          <a:xfrm rot="5400000">
            <a:off x="2102254" y="2264948"/>
            <a:ext cx="270790" cy="66843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21" name="꺾인 연결선 120"/>
          <p:cNvCxnSpPr>
            <a:stCxn id="119" idx="2"/>
            <a:endCxn id="129" idx="0"/>
          </p:cNvCxnSpPr>
          <p:nvPr/>
        </p:nvCxnSpPr>
        <p:spPr bwMode="auto">
          <a:xfrm rot="16200000" flipH="1">
            <a:off x="2776537" y="2259095"/>
            <a:ext cx="270790" cy="68013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grpSp>
        <p:nvGrpSpPr>
          <p:cNvPr id="5" name="그룹 94"/>
          <p:cNvGrpSpPr/>
          <p:nvPr/>
        </p:nvGrpSpPr>
        <p:grpSpPr>
          <a:xfrm>
            <a:off x="1280592" y="2734558"/>
            <a:ext cx="1245684" cy="1734075"/>
            <a:chOff x="2628424" y="2511015"/>
            <a:chExt cx="1245684" cy="1734075"/>
          </a:xfrm>
        </p:grpSpPr>
        <p:sp>
          <p:nvSpPr>
            <p:cNvPr id="123" name="Rectangle 43"/>
            <p:cNvSpPr>
              <a:spLocks noChangeArrowheads="1"/>
            </p:cNvSpPr>
            <p:nvPr/>
          </p:nvSpPr>
          <p:spPr bwMode="auto">
            <a:xfrm>
              <a:off x="2628424" y="2511015"/>
              <a:ext cx="1245684" cy="399374"/>
            </a:xfrm>
            <a:prstGeom prst="roundRect">
              <a:avLst>
                <a:gd name="adj" fmla="val 0"/>
              </a:avLst>
            </a:prstGeom>
            <a:solidFill>
              <a:srgbClr val="B1CFFC"/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0" tIns="36000" rIns="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00000"/>
                  </a:solidFill>
                </a:rPr>
                <a:t>4.1.1 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00000"/>
                  </a:solidFill>
                </a:rPr>
                <a:t>집행계획작성</a:t>
              </a:r>
              <a:endParaRPr lang="en-US" altLang="ko-KR" sz="1100" b="1" kern="0" spc="-150" dirty="0">
                <a:solidFill>
                  <a:srgbClr val="000000"/>
                </a:solidFill>
              </a:endParaRPr>
            </a:p>
          </p:txBody>
        </p:sp>
        <p:sp>
          <p:nvSpPr>
            <p:cNvPr id="124" name="Rectangle 43"/>
            <p:cNvSpPr>
              <a:spLocks noChangeArrowheads="1"/>
            </p:cNvSpPr>
            <p:nvPr/>
          </p:nvSpPr>
          <p:spPr bwMode="auto">
            <a:xfrm>
              <a:off x="2640132" y="3258286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4.1.1.1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지원계획작성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sp>
          <p:nvSpPr>
            <p:cNvPr id="125" name="Rectangle 43"/>
            <p:cNvSpPr>
              <a:spLocks noChangeArrowheads="1"/>
            </p:cNvSpPr>
            <p:nvPr/>
          </p:nvSpPr>
          <p:spPr bwMode="auto">
            <a:xfrm>
              <a:off x="2640132" y="3822349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4.1.1.2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15EBB"/>
                  </a:solidFill>
                </a:rPr>
                <a:t>보조금집행계획작성</a:t>
              </a:r>
              <a:endParaRPr lang="en-US" altLang="ko-KR" sz="1100" b="1" kern="0" spc="-150" dirty="0">
                <a:solidFill>
                  <a:srgbClr val="015EBB"/>
                </a:solidFill>
              </a:endParaRPr>
            </a:p>
          </p:txBody>
        </p:sp>
        <p:cxnSp>
          <p:nvCxnSpPr>
            <p:cNvPr id="126" name="꺾인 연결선 91"/>
            <p:cNvCxnSpPr>
              <a:stCxn id="123" idx="2"/>
              <a:endCxn id="124" idx="0"/>
            </p:cNvCxnSpPr>
            <p:nvPr/>
          </p:nvCxnSpPr>
          <p:spPr bwMode="auto">
            <a:xfrm>
              <a:off x="3251266" y="2910389"/>
              <a:ext cx="0" cy="347897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" name="꺾인 연결선 91"/>
            <p:cNvCxnSpPr>
              <a:stCxn id="124" idx="2"/>
              <a:endCxn id="125" idx="0"/>
            </p:cNvCxnSpPr>
            <p:nvPr/>
          </p:nvCxnSpPr>
          <p:spPr bwMode="auto">
            <a:xfrm>
              <a:off x="3251266" y="3681027"/>
              <a:ext cx="0" cy="141322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" name="그룹 119"/>
          <p:cNvGrpSpPr/>
          <p:nvPr/>
        </p:nvGrpSpPr>
        <p:grpSpPr>
          <a:xfrm>
            <a:off x="2629158" y="2734558"/>
            <a:ext cx="1245684" cy="1734075"/>
            <a:chOff x="3990712" y="2511015"/>
            <a:chExt cx="1245684" cy="1734075"/>
          </a:xfrm>
        </p:grpSpPr>
        <p:sp>
          <p:nvSpPr>
            <p:cNvPr id="129" name="Rectangle 43"/>
            <p:cNvSpPr>
              <a:spLocks noChangeArrowheads="1"/>
            </p:cNvSpPr>
            <p:nvPr/>
          </p:nvSpPr>
          <p:spPr bwMode="auto">
            <a:xfrm>
              <a:off x="3990712" y="2511015"/>
              <a:ext cx="1245684" cy="399374"/>
            </a:xfrm>
            <a:prstGeom prst="roundRect">
              <a:avLst>
                <a:gd name="adj" fmla="val 0"/>
              </a:avLst>
            </a:prstGeom>
            <a:solidFill>
              <a:srgbClr val="B1CFFC"/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00000"/>
                  </a:solidFill>
                </a:rPr>
                <a:t>4.1.2 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00000"/>
                  </a:solidFill>
                </a:rPr>
                <a:t>지원금지급관리</a:t>
              </a:r>
              <a:endParaRPr lang="en-US" altLang="ko-KR" sz="1100" b="1" kern="0" spc="-150" dirty="0">
                <a:solidFill>
                  <a:srgbClr val="000000"/>
                </a:solidFill>
              </a:endParaRPr>
            </a:p>
          </p:txBody>
        </p:sp>
        <p:sp>
          <p:nvSpPr>
            <p:cNvPr id="130" name="Rectangle 43"/>
            <p:cNvSpPr>
              <a:spLocks noChangeArrowheads="1"/>
            </p:cNvSpPr>
            <p:nvPr/>
          </p:nvSpPr>
          <p:spPr bwMode="auto">
            <a:xfrm>
              <a:off x="4002420" y="3258286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4.1.2.1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지원금지급신청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sp>
          <p:nvSpPr>
            <p:cNvPr id="131" name="Rectangle 43"/>
            <p:cNvSpPr>
              <a:spLocks noChangeArrowheads="1"/>
            </p:cNvSpPr>
            <p:nvPr/>
          </p:nvSpPr>
          <p:spPr bwMode="auto">
            <a:xfrm>
              <a:off x="4002420" y="3822349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4.1.2.2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지원금지급처리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cxnSp>
          <p:nvCxnSpPr>
            <p:cNvPr id="132" name="꺾인 연결선 91"/>
            <p:cNvCxnSpPr>
              <a:stCxn id="129" idx="2"/>
              <a:endCxn id="130" idx="0"/>
            </p:cNvCxnSpPr>
            <p:nvPr/>
          </p:nvCxnSpPr>
          <p:spPr bwMode="auto">
            <a:xfrm>
              <a:off x="4613554" y="2910389"/>
              <a:ext cx="0" cy="347897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3" name="꺾인 연결선 91"/>
            <p:cNvCxnSpPr>
              <a:stCxn id="130" idx="2"/>
              <a:endCxn id="131" idx="0"/>
            </p:cNvCxnSpPr>
            <p:nvPr/>
          </p:nvCxnSpPr>
          <p:spPr bwMode="auto">
            <a:xfrm>
              <a:off x="4613554" y="3681027"/>
              <a:ext cx="0" cy="141322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34" name="Rectangle 43"/>
          <p:cNvSpPr>
            <a:spLocks noChangeArrowheads="1"/>
          </p:cNvSpPr>
          <p:nvPr/>
        </p:nvSpPr>
        <p:spPr bwMode="auto">
          <a:xfrm>
            <a:off x="3977725" y="2060848"/>
            <a:ext cx="529575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</a:rPr>
              <a:t>4.2 </a:t>
            </a:r>
            <a:r>
              <a:rPr lang="ko-KR" altLang="en-US" sz="1300" b="1" kern="0" dirty="0">
                <a:solidFill>
                  <a:prstClr val="white"/>
                </a:solidFill>
              </a:rPr>
              <a:t>집행관리</a:t>
            </a:r>
            <a:endParaRPr lang="en-US" altLang="ko-KR" sz="1300" b="1" kern="0" dirty="0">
              <a:solidFill>
                <a:prstClr val="white"/>
              </a:solidFill>
            </a:endParaRPr>
          </a:p>
        </p:txBody>
      </p:sp>
      <p:grpSp>
        <p:nvGrpSpPr>
          <p:cNvPr id="7" name="그룹 68"/>
          <p:cNvGrpSpPr/>
          <p:nvPr/>
        </p:nvGrpSpPr>
        <p:grpSpPr>
          <a:xfrm>
            <a:off x="5326290" y="2733188"/>
            <a:ext cx="1245684" cy="1735393"/>
            <a:chOff x="2087136" y="2509645"/>
            <a:chExt cx="1245684" cy="1735393"/>
          </a:xfrm>
        </p:grpSpPr>
        <p:sp>
          <p:nvSpPr>
            <p:cNvPr id="136" name="Rectangle 43"/>
            <p:cNvSpPr>
              <a:spLocks noChangeArrowheads="1"/>
            </p:cNvSpPr>
            <p:nvPr/>
          </p:nvSpPr>
          <p:spPr bwMode="auto">
            <a:xfrm>
              <a:off x="2087136" y="2509645"/>
              <a:ext cx="1245684" cy="399374"/>
            </a:xfrm>
            <a:prstGeom prst="roundRect">
              <a:avLst>
                <a:gd name="adj" fmla="val 0"/>
              </a:avLst>
            </a:prstGeom>
            <a:solidFill>
              <a:srgbClr val="B1CFFC"/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00000"/>
                  </a:solidFill>
                </a:rPr>
                <a:t>4.2.2 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00000"/>
                  </a:solidFill>
                </a:rPr>
                <a:t>현황점검관리</a:t>
              </a:r>
              <a:endParaRPr lang="en-US" altLang="ko-KR" sz="1100" b="1" kern="0" spc="-150" dirty="0">
                <a:solidFill>
                  <a:srgbClr val="000000"/>
                </a:solidFill>
              </a:endParaRPr>
            </a:p>
          </p:txBody>
        </p:sp>
        <p:sp>
          <p:nvSpPr>
            <p:cNvPr id="137" name="Rectangle 43"/>
            <p:cNvSpPr>
              <a:spLocks noChangeArrowheads="1"/>
            </p:cNvSpPr>
            <p:nvPr/>
          </p:nvSpPr>
          <p:spPr bwMode="auto">
            <a:xfrm>
              <a:off x="2098844" y="3258234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4.2.2.1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현장조사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sp>
          <p:nvSpPr>
            <p:cNvPr id="138" name="Rectangle 43"/>
            <p:cNvSpPr>
              <a:spLocks noChangeArrowheads="1"/>
            </p:cNvSpPr>
            <p:nvPr/>
          </p:nvSpPr>
          <p:spPr bwMode="auto">
            <a:xfrm>
              <a:off x="2098844" y="3822297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4.2.2.2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시정명령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cxnSp>
          <p:nvCxnSpPr>
            <p:cNvPr id="139" name="꺾인 연결선 91"/>
            <p:cNvCxnSpPr>
              <a:stCxn id="136" idx="2"/>
              <a:endCxn id="137" idx="0"/>
            </p:cNvCxnSpPr>
            <p:nvPr/>
          </p:nvCxnSpPr>
          <p:spPr bwMode="auto">
            <a:xfrm>
              <a:off x="2709978" y="2909019"/>
              <a:ext cx="0" cy="349215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0" name="꺾인 연결선 91"/>
            <p:cNvCxnSpPr>
              <a:stCxn id="137" idx="2"/>
              <a:endCxn id="138" idx="0"/>
            </p:cNvCxnSpPr>
            <p:nvPr/>
          </p:nvCxnSpPr>
          <p:spPr bwMode="auto">
            <a:xfrm>
              <a:off x="2709978" y="3680975"/>
              <a:ext cx="0" cy="141322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8" name="그룹 81"/>
          <p:cNvGrpSpPr/>
          <p:nvPr/>
        </p:nvGrpSpPr>
        <p:grpSpPr>
          <a:xfrm>
            <a:off x="3977724" y="2733188"/>
            <a:ext cx="1245684" cy="1735393"/>
            <a:chOff x="721649" y="2499893"/>
            <a:chExt cx="1245684" cy="1735393"/>
          </a:xfrm>
        </p:grpSpPr>
        <p:sp>
          <p:nvSpPr>
            <p:cNvPr id="142" name="Rectangle 43"/>
            <p:cNvSpPr>
              <a:spLocks noChangeArrowheads="1"/>
            </p:cNvSpPr>
            <p:nvPr/>
          </p:nvSpPr>
          <p:spPr bwMode="auto">
            <a:xfrm>
              <a:off x="721649" y="2499893"/>
              <a:ext cx="1245684" cy="399374"/>
            </a:xfrm>
            <a:prstGeom prst="roundRect">
              <a:avLst>
                <a:gd name="adj" fmla="val 0"/>
              </a:avLst>
            </a:prstGeom>
            <a:solidFill>
              <a:srgbClr val="B1CFFC"/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00000"/>
                  </a:solidFill>
                </a:rPr>
                <a:t>4.2.1 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00000"/>
                  </a:solidFill>
                </a:rPr>
                <a:t>중요재산등록지원</a:t>
              </a:r>
              <a:endParaRPr lang="en-US" altLang="ko-KR" sz="1100" b="1" kern="0" spc="-150" dirty="0">
                <a:solidFill>
                  <a:srgbClr val="000000"/>
                </a:solidFill>
              </a:endParaRPr>
            </a:p>
          </p:txBody>
        </p:sp>
        <p:sp>
          <p:nvSpPr>
            <p:cNvPr id="143" name="Rectangle 43"/>
            <p:cNvSpPr>
              <a:spLocks noChangeArrowheads="1"/>
            </p:cNvSpPr>
            <p:nvPr/>
          </p:nvSpPr>
          <p:spPr bwMode="auto">
            <a:xfrm>
              <a:off x="733357" y="3248482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4.2.1.1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현황관리지원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sp>
          <p:nvSpPr>
            <p:cNvPr id="144" name="Rectangle 43"/>
            <p:cNvSpPr>
              <a:spLocks noChangeArrowheads="1"/>
            </p:cNvSpPr>
            <p:nvPr/>
          </p:nvSpPr>
          <p:spPr bwMode="auto">
            <a:xfrm>
              <a:off x="733357" y="3812545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4.2.1.2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처분관리지원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cxnSp>
          <p:nvCxnSpPr>
            <p:cNvPr id="145" name="꺾인 연결선 91"/>
            <p:cNvCxnSpPr>
              <a:stCxn id="142" idx="2"/>
              <a:endCxn id="143" idx="0"/>
            </p:cNvCxnSpPr>
            <p:nvPr/>
          </p:nvCxnSpPr>
          <p:spPr bwMode="auto">
            <a:xfrm>
              <a:off x="1344491" y="2899267"/>
              <a:ext cx="0" cy="349215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6" name="꺾인 연결선 91"/>
            <p:cNvCxnSpPr>
              <a:stCxn id="143" idx="2"/>
              <a:endCxn id="144" idx="0"/>
            </p:cNvCxnSpPr>
            <p:nvPr/>
          </p:nvCxnSpPr>
          <p:spPr bwMode="auto">
            <a:xfrm>
              <a:off x="1344491" y="3671223"/>
              <a:ext cx="0" cy="141322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47" name="꺾인 연결선 146"/>
          <p:cNvCxnSpPr>
            <a:stCxn id="134" idx="2"/>
            <a:endCxn id="142" idx="0"/>
          </p:cNvCxnSpPr>
          <p:nvPr/>
        </p:nvCxnSpPr>
        <p:spPr bwMode="auto">
          <a:xfrm rot="5400000">
            <a:off x="5475959" y="1583544"/>
            <a:ext cx="274252" cy="202503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48" name="꺾인 연결선 147"/>
          <p:cNvCxnSpPr>
            <a:stCxn id="134" idx="2"/>
            <a:endCxn id="136" idx="0"/>
          </p:cNvCxnSpPr>
          <p:nvPr/>
        </p:nvCxnSpPr>
        <p:spPr bwMode="auto">
          <a:xfrm rot="5400000">
            <a:off x="6150242" y="2257827"/>
            <a:ext cx="274252" cy="67647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grpSp>
        <p:nvGrpSpPr>
          <p:cNvPr id="9" name="그룹 96"/>
          <p:cNvGrpSpPr/>
          <p:nvPr/>
        </p:nvGrpSpPr>
        <p:grpSpPr>
          <a:xfrm>
            <a:off x="6674856" y="2733188"/>
            <a:ext cx="1250058" cy="2863511"/>
            <a:chOff x="1259076" y="2509645"/>
            <a:chExt cx="1250058" cy="2863511"/>
          </a:xfrm>
        </p:grpSpPr>
        <p:grpSp>
          <p:nvGrpSpPr>
            <p:cNvPr id="10" name="그룹 97"/>
            <p:cNvGrpSpPr/>
            <p:nvPr/>
          </p:nvGrpSpPr>
          <p:grpSpPr>
            <a:xfrm>
              <a:off x="1263450" y="2509645"/>
              <a:ext cx="1245684" cy="2294073"/>
              <a:chOff x="3527296" y="2509645"/>
              <a:chExt cx="1245684" cy="2294073"/>
            </a:xfrm>
          </p:grpSpPr>
          <p:cxnSp>
            <p:nvCxnSpPr>
              <p:cNvPr id="153" name="꺾인 연결선 91"/>
              <p:cNvCxnSpPr>
                <a:stCxn id="154" idx="2"/>
                <a:endCxn id="155" idx="0"/>
              </p:cNvCxnSpPr>
              <p:nvPr/>
            </p:nvCxnSpPr>
            <p:spPr bwMode="auto">
              <a:xfrm>
                <a:off x="4150138" y="2909019"/>
                <a:ext cx="0" cy="349215"/>
              </a:xfrm>
              <a:prstGeom prst="straightConnector1">
                <a:avLst/>
              </a:prstGeom>
              <a:solidFill>
                <a:srgbClr val="FBB779"/>
              </a:solidFill>
              <a:ln w="12700" cap="flat" cmpd="sng" algn="ctr">
                <a:solidFill>
                  <a:srgbClr val="000000">
                    <a:lumMod val="50000"/>
                    <a:lumOff val="5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54" name="Rectangle 43"/>
              <p:cNvSpPr>
                <a:spLocks noChangeArrowheads="1"/>
              </p:cNvSpPr>
              <p:nvPr/>
            </p:nvSpPr>
            <p:spPr bwMode="auto">
              <a:xfrm>
                <a:off x="3527296" y="2509645"/>
                <a:ext cx="1245684" cy="399374"/>
              </a:xfrm>
              <a:prstGeom prst="roundRect">
                <a:avLst>
                  <a:gd name="adj" fmla="val 0"/>
                </a:avLst>
              </a:prstGeom>
              <a:solidFill>
                <a:srgbClr val="B1CFFC"/>
              </a:solidFill>
              <a:ln w="1270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00000"/>
                    </a:solidFill>
                  </a:rPr>
                  <a:t>4.2.3 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spc="-150" dirty="0">
                    <a:solidFill>
                      <a:srgbClr val="000000"/>
                    </a:solidFill>
                  </a:rPr>
                  <a:t>연중평가관리</a:t>
                </a:r>
                <a:endParaRPr lang="en-US" altLang="ko-KR" sz="1100" b="1" kern="0" spc="-15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55" name="Rectangle 43"/>
              <p:cNvSpPr>
                <a:spLocks noChangeArrowheads="1"/>
              </p:cNvSpPr>
              <p:nvPr/>
            </p:nvSpPr>
            <p:spPr bwMode="auto">
              <a:xfrm>
                <a:off x="3539004" y="3258234"/>
                <a:ext cx="1222268" cy="422741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rgbClr val="015EBB"/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15EBB"/>
                    </a:solidFill>
                  </a:rPr>
                  <a:t>4.2.3.1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dirty="0">
                    <a:solidFill>
                      <a:srgbClr val="015EBB"/>
                    </a:solidFill>
                  </a:rPr>
                  <a:t>평가계획작성</a:t>
                </a:r>
                <a:endParaRPr lang="en-US" altLang="ko-KR" sz="1100" b="1" kern="0" dirty="0">
                  <a:solidFill>
                    <a:srgbClr val="015EBB"/>
                  </a:solidFill>
                </a:endParaRPr>
              </a:p>
            </p:txBody>
          </p:sp>
          <p:sp>
            <p:nvSpPr>
              <p:cNvPr id="156" name="Rectangle 43"/>
              <p:cNvSpPr>
                <a:spLocks noChangeArrowheads="1"/>
              </p:cNvSpPr>
              <p:nvPr/>
            </p:nvSpPr>
            <p:spPr bwMode="auto">
              <a:xfrm>
                <a:off x="3539004" y="3822297"/>
                <a:ext cx="1222268" cy="422741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rgbClr val="015EBB"/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15EBB"/>
                    </a:solidFill>
                  </a:rPr>
                  <a:t>4.2.3.2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dirty="0">
                    <a:solidFill>
                      <a:srgbClr val="015EBB"/>
                    </a:solidFill>
                  </a:rPr>
                  <a:t>현장평가</a:t>
                </a:r>
                <a:endParaRPr lang="en-US" altLang="ko-KR" sz="1100" b="1" kern="0" dirty="0">
                  <a:solidFill>
                    <a:srgbClr val="015EBB"/>
                  </a:solidFill>
                </a:endParaRPr>
              </a:p>
            </p:txBody>
          </p:sp>
          <p:cxnSp>
            <p:nvCxnSpPr>
              <p:cNvPr id="157" name="꺾인 연결선 91"/>
              <p:cNvCxnSpPr>
                <a:stCxn id="155" idx="2"/>
                <a:endCxn id="156" idx="0"/>
              </p:cNvCxnSpPr>
              <p:nvPr/>
            </p:nvCxnSpPr>
            <p:spPr bwMode="auto">
              <a:xfrm>
                <a:off x="4150138" y="3680975"/>
                <a:ext cx="0" cy="141322"/>
              </a:xfrm>
              <a:prstGeom prst="straightConnector1">
                <a:avLst/>
              </a:prstGeom>
              <a:solidFill>
                <a:srgbClr val="FBB779"/>
              </a:solidFill>
              <a:ln w="12700" cap="flat" cmpd="sng" algn="ctr">
                <a:solidFill>
                  <a:srgbClr val="000000">
                    <a:lumMod val="50000"/>
                    <a:lumOff val="5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58" name="Rectangle 43"/>
              <p:cNvSpPr>
                <a:spLocks noChangeArrowheads="1"/>
              </p:cNvSpPr>
              <p:nvPr/>
            </p:nvSpPr>
            <p:spPr bwMode="auto">
              <a:xfrm>
                <a:off x="3539004" y="4380977"/>
                <a:ext cx="1222268" cy="422741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rgbClr val="015EBB"/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15EBB"/>
                    </a:solidFill>
                  </a:rPr>
                  <a:t>4.2.3.3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dirty="0">
                    <a:solidFill>
                      <a:srgbClr val="015EBB"/>
                    </a:solidFill>
                  </a:rPr>
                  <a:t>시민모니터링</a:t>
                </a:r>
                <a:endParaRPr lang="en-US" altLang="ko-KR" sz="1100" b="1" kern="0" dirty="0">
                  <a:solidFill>
                    <a:srgbClr val="015EBB"/>
                  </a:solidFill>
                </a:endParaRPr>
              </a:p>
            </p:txBody>
          </p:sp>
          <p:cxnSp>
            <p:nvCxnSpPr>
              <p:cNvPr id="159" name="꺾인 연결선 91"/>
              <p:cNvCxnSpPr>
                <a:stCxn id="156" idx="2"/>
                <a:endCxn id="158" idx="0"/>
              </p:cNvCxnSpPr>
              <p:nvPr/>
            </p:nvCxnSpPr>
            <p:spPr bwMode="auto">
              <a:xfrm>
                <a:off x="4150138" y="4245038"/>
                <a:ext cx="0" cy="135939"/>
              </a:xfrm>
              <a:prstGeom prst="straightConnector1">
                <a:avLst/>
              </a:prstGeom>
              <a:solidFill>
                <a:srgbClr val="FBB779"/>
              </a:solidFill>
              <a:ln w="12700" cap="flat" cmpd="sng" algn="ctr">
                <a:solidFill>
                  <a:srgbClr val="000000">
                    <a:lumMod val="50000"/>
                    <a:lumOff val="5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151" name="Rectangle 43"/>
            <p:cNvSpPr>
              <a:spLocks noChangeArrowheads="1"/>
            </p:cNvSpPr>
            <p:nvPr/>
          </p:nvSpPr>
          <p:spPr bwMode="auto">
            <a:xfrm>
              <a:off x="1259076" y="4950415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4.2.3.4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고객만족도조사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cxnSp>
          <p:nvCxnSpPr>
            <p:cNvPr id="152" name="꺾인 연결선 91"/>
            <p:cNvCxnSpPr>
              <a:endCxn id="151" idx="0"/>
            </p:cNvCxnSpPr>
            <p:nvPr/>
          </p:nvCxnSpPr>
          <p:spPr bwMode="auto">
            <a:xfrm>
              <a:off x="1870210" y="4814476"/>
              <a:ext cx="0" cy="135939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60" name="꺾인 연결선 159"/>
          <p:cNvCxnSpPr>
            <a:stCxn id="134" idx="2"/>
            <a:endCxn id="154" idx="0"/>
          </p:cNvCxnSpPr>
          <p:nvPr/>
        </p:nvCxnSpPr>
        <p:spPr bwMode="auto">
          <a:xfrm rot="16200000" flipH="1">
            <a:off x="6826711" y="2257827"/>
            <a:ext cx="274252" cy="67646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grpSp>
        <p:nvGrpSpPr>
          <p:cNvPr id="11" name="그룹 112"/>
          <p:cNvGrpSpPr/>
          <p:nvPr/>
        </p:nvGrpSpPr>
        <p:grpSpPr>
          <a:xfrm>
            <a:off x="8027796" y="2733188"/>
            <a:ext cx="1245684" cy="1741799"/>
            <a:chOff x="4967456" y="2511015"/>
            <a:chExt cx="1245684" cy="1741799"/>
          </a:xfrm>
        </p:grpSpPr>
        <p:sp>
          <p:nvSpPr>
            <p:cNvPr id="162" name="Rectangle 43"/>
            <p:cNvSpPr>
              <a:spLocks noChangeArrowheads="1"/>
            </p:cNvSpPr>
            <p:nvPr/>
          </p:nvSpPr>
          <p:spPr bwMode="auto">
            <a:xfrm>
              <a:off x="4967456" y="2511015"/>
              <a:ext cx="1245684" cy="399374"/>
            </a:xfrm>
            <a:prstGeom prst="roundRect">
              <a:avLst>
                <a:gd name="adj" fmla="val 0"/>
              </a:avLst>
            </a:prstGeom>
            <a:solidFill>
              <a:srgbClr val="B1CFFC"/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00000"/>
                  </a:solidFill>
                </a:rPr>
                <a:t>4.2.4 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00000"/>
                  </a:solidFill>
                </a:rPr>
                <a:t>정산관리지원</a:t>
              </a:r>
              <a:endParaRPr lang="en-US" altLang="ko-KR" sz="1100" b="1" kern="0" spc="-150" dirty="0">
                <a:solidFill>
                  <a:srgbClr val="000000"/>
                </a:solidFill>
              </a:endParaRPr>
            </a:p>
          </p:txBody>
        </p:sp>
        <p:sp>
          <p:nvSpPr>
            <p:cNvPr id="163" name="Rectangle 43"/>
            <p:cNvSpPr>
              <a:spLocks noChangeArrowheads="1"/>
            </p:cNvSpPr>
            <p:nvPr/>
          </p:nvSpPr>
          <p:spPr bwMode="auto">
            <a:xfrm>
              <a:off x="4978442" y="3273735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4.2.4.1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15EBB"/>
                  </a:solidFill>
                </a:rPr>
                <a:t>집행결과마감지원</a:t>
              </a:r>
              <a:endParaRPr lang="en-US" altLang="ko-KR" sz="1100" b="1" kern="0" spc="-150" dirty="0">
                <a:solidFill>
                  <a:srgbClr val="015EBB"/>
                </a:solidFill>
              </a:endParaRPr>
            </a:p>
          </p:txBody>
        </p:sp>
        <p:sp>
          <p:nvSpPr>
            <p:cNvPr id="164" name="Rectangle 43"/>
            <p:cNvSpPr>
              <a:spLocks noChangeArrowheads="1"/>
            </p:cNvSpPr>
            <p:nvPr/>
          </p:nvSpPr>
          <p:spPr bwMode="auto">
            <a:xfrm>
              <a:off x="4978442" y="3830073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4.2.4.2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15EBB"/>
                  </a:solidFill>
                </a:rPr>
                <a:t>지원금확정결과관리</a:t>
              </a:r>
              <a:endParaRPr lang="en-US" altLang="ko-KR" sz="1100" b="1" kern="0" spc="-150" dirty="0">
                <a:solidFill>
                  <a:srgbClr val="015EBB"/>
                </a:solidFill>
              </a:endParaRPr>
            </a:p>
          </p:txBody>
        </p:sp>
        <p:cxnSp>
          <p:nvCxnSpPr>
            <p:cNvPr id="165" name="꺾인 연결선 91"/>
            <p:cNvCxnSpPr>
              <a:stCxn id="162" idx="2"/>
            </p:cNvCxnSpPr>
            <p:nvPr/>
          </p:nvCxnSpPr>
          <p:spPr bwMode="auto">
            <a:xfrm>
              <a:off x="5590298" y="2910389"/>
              <a:ext cx="0" cy="347897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66" name="꺾인 연결선 91"/>
            <p:cNvCxnSpPr>
              <a:stCxn id="163" idx="2"/>
              <a:endCxn id="164" idx="0"/>
            </p:cNvCxnSpPr>
            <p:nvPr/>
          </p:nvCxnSpPr>
          <p:spPr bwMode="auto">
            <a:xfrm>
              <a:off x="5589576" y="3696476"/>
              <a:ext cx="0" cy="133597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67" name="꺾인 연결선 166"/>
          <p:cNvCxnSpPr>
            <a:stCxn id="134" idx="2"/>
            <a:endCxn id="162" idx="0"/>
          </p:cNvCxnSpPr>
          <p:nvPr/>
        </p:nvCxnSpPr>
        <p:spPr bwMode="auto">
          <a:xfrm rot="16200000" flipH="1">
            <a:off x="7500994" y="1583544"/>
            <a:ext cx="274252" cy="202503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</p:spTree>
    <p:extLst>
      <p:ext uri="{BB962C8B-B14F-4D97-AF65-F5344CB8AC3E}">
        <p14:creationId xmlns:p14="http://schemas.microsoft.com/office/powerpoint/2010/main" val="3779216540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사후관리는 반납관리</a:t>
            </a:r>
            <a:r>
              <a:rPr lang="en-US" altLang="ko-KR" sz="1600" dirty="0"/>
              <a:t>, </a:t>
            </a:r>
            <a:r>
              <a:rPr lang="ko-KR" altLang="en-US" sz="1600" dirty="0"/>
              <a:t>성과평가의 총 </a:t>
            </a:r>
            <a:r>
              <a:rPr lang="en-US" altLang="ko-KR" sz="1600" dirty="0"/>
              <a:t>2</a:t>
            </a:r>
            <a:r>
              <a:rPr lang="ko-KR" altLang="en-US" sz="1600" dirty="0"/>
              <a:t>개</a:t>
            </a:r>
            <a:r>
              <a:rPr lang="en-US" altLang="ko-KR" sz="1600" dirty="0"/>
              <a:t>, </a:t>
            </a:r>
            <a:r>
              <a:rPr lang="ko-KR" altLang="en-US" sz="1600" dirty="0"/>
              <a:t>직접지원관리는 체육인복지지원의 </a:t>
            </a:r>
            <a:r>
              <a:rPr lang="en-US" altLang="ko-KR" sz="1600" dirty="0"/>
              <a:t>1</a:t>
            </a:r>
            <a:r>
              <a:rPr lang="ko-KR" altLang="en-US" sz="1600" dirty="0"/>
              <a:t>개 </a:t>
            </a:r>
            <a:r>
              <a:rPr lang="en-US" altLang="ko-KR" sz="1600" dirty="0"/>
              <a:t>Sub Process</a:t>
            </a:r>
            <a:r>
              <a:rPr lang="ko-KR" altLang="en-US" sz="1600" dirty="0"/>
              <a:t>로 구성됨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3.4.1 </a:t>
            </a:r>
            <a:r>
              <a:rPr lang="ko-KR" altLang="en-US" dirty="0"/>
              <a:t>기금지원 업무기능 정의 </a:t>
            </a:r>
            <a:r>
              <a:rPr lang="en-US" altLang="ko-KR" dirty="0"/>
              <a:t>(2/6)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4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/>
              </a:rPr>
              <a:t>업무분류 구조도 </a:t>
            </a:r>
            <a:r>
              <a:rPr lang="en-US" altLang="ko-KR" sz="14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/>
              </a:rPr>
              <a:t>(TO-BE)</a:t>
            </a:r>
            <a:endParaRPr lang="ko-KR" altLang="en-US" sz="1400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19" y="1952836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latin typeface="+mn-ea"/>
              <a:ea typeface="+mn-ea"/>
            </a:endParaRPr>
          </a:p>
        </p:txBody>
      </p:sp>
      <p:sp>
        <p:nvSpPr>
          <p:cNvPr id="313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</a:rPr>
              <a:t>Level2</a:t>
            </a:r>
          </a:p>
        </p:txBody>
      </p:sp>
      <p:sp>
        <p:nvSpPr>
          <p:cNvPr id="314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</a:rPr>
              <a:t>Level3</a:t>
            </a:r>
          </a:p>
        </p:txBody>
      </p:sp>
      <p:sp>
        <p:nvSpPr>
          <p:cNvPr id="315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dirty="0">
                <a:solidFill>
                  <a:schemeClr val="bg1"/>
                </a:solidFill>
              </a:rPr>
              <a:t>Level4</a:t>
            </a:r>
          </a:p>
        </p:txBody>
      </p:sp>
      <p:sp>
        <p:nvSpPr>
          <p:cNvPr id="67" name="Rectangle 43"/>
          <p:cNvSpPr>
            <a:spLocks noChangeArrowheads="1"/>
          </p:cNvSpPr>
          <p:nvPr/>
        </p:nvSpPr>
        <p:spPr bwMode="auto">
          <a:xfrm>
            <a:off x="1316597" y="2060848"/>
            <a:ext cx="3197144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</a:rPr>
              <a:t>4.3 </a:t>
            </a:r>
            <a:r>
              <a:rPr lang="ko-KR" altLang="en-US" sz="1300" b="1" kern="0" dirty="0">
                <a:solidFill>
                  <a:prstClr val="white"/>
                </a:solidFill>
              </a:rPr>
              <a:t>사후관리</a:t>
            </a:r>
            <a:endParaRPr lang="en-US" altLang="ko-KR" sz="1300" b="1" kern="0" dirty="0">
              <a:solidFill>
                <a:prstClr val="white"/>
              </a:solidFill>
            </a:endParaRPr>
          </a:p>
        </p:txBody>
      </p:sp>
      <p:cxnSp>
        <p:nvCxnSpPr>
          <p:cNvPr id="68" name="꺾인 연결선 67"/>
          <p:cNvCxnSpPr>
            <a:stCxn id="67" idx="2"/>
            <a:endCxn id="77" idx="0"/>
          </p:cNvCxnSpPr>
          <p:nvPr/>
        </p:nvCxnSpPr>
        <p:spPr bwMode="auto">
          <a:xfrm rot="5400000">
            <a:off x="2292594" y="2105781"/>
            <a:ext cx="269420" cy="97573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" name="꺾인 연결선 68"/>
          <p:cNvCxnSpPr>
            <a:stCxn id="67" idx="2"/>
            <a:endCxn id="71" idx="0"/>
          </p:cNvCxnSpPr>
          <p:nvPr/>
        </p:nvCxnSpPr>
        <p:spPr bwMode="auto">
          <a:xfrm rot="16200000" flipH="1">
            <a:off x="3268323" y="2105781"/>
            <a:ext cx="269420" cy="97572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3268056" y="2728356"/>
            <a:ext cx="1245684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</a:rPr>
              <a:t>4.3.2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</a:rPr>
              <a:t>평가관리</a:t>
            </a:r>
            <a:endParaRPr lang="en-US" altLang="ko-KR" sz="1100" b="1" kern="0" spc="-150" dirty="0">
              <a:solidFill>
                <a:srgbClr val="000000"/>
              </a:solidFill>
            </a:endParaRPr>
          </a:p>
        </p:txBody>
      </p:sp>
      <p:sp>
        <p:nvSpPr>
          <p:cNvPr id="72" name="Rectangle 43"/>
          <p:cNvSpPr>
            <a:spLocks noChangeArrowheads="1"/>
          </p:cNvSpPr>
          <p:nvPr/>
        </p:nvSpPr>
        <p:spPr bwMode="auto">
          <a:xfrm>
            <a:off x="3279764" y="3482005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15EBB"/>
                </a:solidFill>
              </a:rPr>
              <a:t>4.3.2.1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15EBB"/>
                </a:solidFill>
              </a:rPr>
              <a:t>위원회평가</a:t>
            </a:r>
            <a:endParaRPr lang="en-US" altLang="ko-KR" sz="1100" b="1" kern="0" dirty="0">
              <a:solidFill>
                <a:srgbClr val="015EBB"/>
              </a:solidFill>
            </a:endParaRPr>
          </a:p>
        </p:txBody>
      </p:sp>
      <p:cxnSp>
        <p:nvCxnSpPr>
          <p:cNvPr id="73" name="꺾인 연결선 91"/>
          <p:cNvCxnSpPr>
            <a:stCxn id="71" idx="2"/>
            <a:endCxn id="72" idx="0"/>
          </p:cNvCxnSpPr>
          <p:nvPr/>
        </p:nvCxnSpPr>
        <p:spPr bwMode="auto">
          <a:xfrm>
            <a:off x="3890898" y="3127730"/>
            <a:ext cx="0" cy="35427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4" name="Rectangle 43"/>
          <p:cNvSpPr>
            <a:spLocks noChangeArrowheads="1"/>
          </p:cNvSpPr>
          <p:nvPr/>
        </p:nvSpPr>
        <p:spPr bwMode="auto">
          <a:xfrm>
            <a:off x="3279764" y="4046068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15EBB"/>
                </a:solidFill>
              </a:rPr>
              <a:t>4.3.2.2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15EBB"/>
                </a:solidFill>
              </a:rPr>
              <a:t>환류관리</a:t>
            </a:r>
            <a:endParaRPr lang="en-US" altLang="ko-KR" sz="1100" b="1" kern="0" dirty="0">
              <a:solidFill>
                <a:srgbClr val="015EBB"/>
              </a:solidFill>
            </a:endParaRPr>
          </a:p>
        </p:txBody>
      </p:sp>
      <p:cxnSp>
        <p:nvCxnSpPr>
          <p:cNvPr id="75" name="꺾인 연결선 91"/>
          <p:cNvCxnSpPr/>
          <p:nvPr/>
        </p:nvCxnSpPr>
        <p:spPr bwMode="auto">
          <a:xfrm>
            <a:off x="3885928" y="3904746"/>
            <a:ext cx="0" cy="1413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5" name="그룹 9"/>
          <p:cNvGrpSpPr/>
          <p:nvPr/>
        </p:nvGrpSpPr>
        <p:grpSpPr>
          <a:xfrm>
            <a:off x="1316596" y="2728356"/>
            <a:ext cx="1245684" cy="1743255"/>
            <a:chOff x="6659644" y="2511015"/>
            <a:chExt cx="1245684" cy="1743255"/>
          </a:xfrm>
        </p:grpSpPr>
        <p:sp>
          <p:nvSpPr>
            <p:cNvPr id="77" name="Rectangle 43"/>
            <p:cNvSpPr>
              <a:spLocks noChangeArrowheads="1"/>
            </p:cNvSpPr>
            <p:nvPr/>
          </p:nvSpPr>
          <p:spPr bwMode="auto">
            <a:xfrm>
              <a:off x="6659644" y="2511015"/>
              <a:ext cx="1245684" cy="399374"/>
            </a:xfrm>
            <a:prstGeom prst="roundRect">
              <a:avLst>
                <a:gd name="adj" fmla="val 0"/>
              </a:avLst>
            </a:prstGeom>
            <a:solidFill>
              <a:srgbClr val="B1CFFC"/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00000"/>
                  </a:solidFill>
                </a:rPr>
                <a:t>4.3.1 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spc="-150" dirty="0">
                  <a:solidFill>
                    <a:srgbClr val="000000"/>
                  </a:solidFill>
                </a:rPr>
                <a:t>반납관리</a:t>
              </a:r>
              <a:endParaRPr lang="en-US" altLang="ko-KR" sz="1100" b="1" kern="0" spc="-150" dirty="0">
                <a:solidFill>
                  <a:srgbClr val="000000"/>
                </a:solidFill>
              </a:endParaRPr>
            </a:p>
          </p:txBody>
        </p:sp>
        <p:cxnSp>
          <p:nvCxnSpPr>
            <p:cNvPr id="78" name="꺾인 연결선 91"/>
            <p:cNvCxnSpPr>
              <a:stCxn id="77" idx="2"/>
            </p:cNvCxnSpPr>
            <p:nvPr/>
          </p:nvCxnSpPr>
          <p:spPr bwMode="auto">
            <a:xfrm>
              <a:off x="7282486" y="2910389"/>
              <a:ext cx="0" cy="347898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9" name="꺾인 연결선 91"/>
            <p:cNvCxnSpPr/>
            <p:nvPr/>
          </p:nvCxnSpPr>
          <p:spPr bwMode="auto">
            <a:xfrm>
              <a:off x="7282486" y="3153096"/>
              <a:ext cx="0" cy="143352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" name="Rectangle 43"/>
            <p:cNvSpPr>
              <a:spLocks noChangeArrowheads="1"/>
            </p:cNvSpPr>
            <p:nvPr/>
          </p:nvSpPr>
          <p:spPr bwMode="auto">
            <a:xfrm>
              <a:off x="6682194" y="3265436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4.3.1.1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반납처리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sp>
          <p:nvSpPr>
            <p:cNvPr id="81" name="Rectangle 43"/>
            <p:cNvSpPr>
              <a:spLocks noChangeArrowheads="1"/>
            </p:cNvSpPr>
            <p:nvPr/>
          </p:nvSpPr>
          <p:spPr bwMode="auto">
            <a:xfrm>
              <a:off x="6682194" y="3831529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4.3.1.2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강제징수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cxnSp>
          <p:nvCxnSpPr>
            <p:cNvPr id="82" name="꺾인 연결선 91"/>
            <p:cNvCxnSpPr>
              <a:stCxn id="80" idx="2"/>
              <a:endCxn id="81" idx="0"/>
            </p:cNvCxnSpPr>
            <p:nvPr/>
          </p:nvCxnSpPr>
          <p:spPr bwMode="auto">
            <a:xfrm>
              <a:off x="7293328" y="3688177"/>
              <a:ext cx="0" cy="143352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" name="그룹 15"/>
          <p:cNvGrpSpPr/>
          <p:nvPr/>
        </p:nvGrpSpPr>
        <p:grpSpPr>
          <a:xfrm>
            <a:off x="5219516" y="2729726"/>
            <a:ext cx="1245684" cy="2862201"/>
            <a:chOff x="10168398" y="2511015"/>
            <a:chExt cx="1245684" cy="2862201"/>
          </a:xfrm>
        </p:grpSpPr>
        <p:grpSp>
          <p:nvGrpSpPr>
            <p:cNvPr id="7" name="그룹 63"/>
            <p:cNvGrpSpPr/>
            <p:nvPr/>
          </p:nvGrpSpPr>
          <p:grpSpPr>
            <a:xfrm>
              <a:off x="10168398" y="2511015"/>
              <a:ext cx="1245684" cy="2298138"/>
              <a:chOff x="6755948" y="2509729"/>
              <a:chExt cx="1245684" cy="2298138"/>
            </a:xfrm>
          </p:grpSpPr>
          <p:sp>
            <p:nvSpPr>
              <p:cNvPr id="87" name="Rectangle 43"/>
              <p:cNvSpPr>
                <a:spLocks noChangeArrowheads="1"/>
              </p:cNvSpPr>
              <p:nvPr/>
            </p:nvSpPr>
            <p:spPr bwMode="auto">
              <a:xfrm>
                <a:off x="6755948" y="2509729"/>
                <a:ext cx="1245684" cy="399374"/>
              </a:xfrm>
              <a:prstGeom prst="roundRect">
                <a:avLst>
                  <a:gd name="adj" fmla="val 0"/>
                </a:avLst>
              </a:prstGeom>
              <a:solidFill>
                <a:srgbClr val="B1CFFC"/>
              </a:solidFill>
              <a:ln w="1270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00000"/>
                    </a:solidFill>
                  </a:rPr>
                  <a:t>4.4.1 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spc="-150" dirty="0">
                    <a:solidFill>
                      <a:srgbClr val="000000"/>
                    </a:solidFill>
                  </a:rPr>
                  <a:t>신체육인복지지원</a:t>
                </a:r>
                <a:endParaRPr lang="en-US" altLang="ko-KR" sz="1100" b="1" kern="0" spc="-15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Rectangle 43"/>
              <p:cNvSpPr>
                <a:spLocks noChangeArrowheads="1"/>
              </p:cNvSpPr>
              <p:nvPr/>
            </p:nvSpPr>
            <p:spPr bwMode="auto">
              <a:xfrm>
                <a:off x="6767656" y="3257000"/>
                <a:ext cx="1222268" cy="422741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rgbClr val="015EBB"/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15EBB"/>
                    </a:solidFill>
                  </a:rPr>
                  <a:t>4.4.1.1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dirty="0">
                    <a:solidFill>
                      <a:srgbClr val="015EBB"/>
                    </a:solidFill>
                  </a:rPr>
                  <a:t>대상자추천</a:t>
                </a:r>
                <a:endParaRPr lang="en-US" altLang="ko-KR" sz="1100" b="1" kern="0" dirty="0">
                  <a:solidFill>
                    <a:srgbClr val="015EBB"/>
                  </a:solidFill>
                </a:endParaRPr>
              </a:p>
            </p:txBody>
          </p:sp>
          <p:sp>
            <p:nvSpPr>
              <p:cNvPr id="89" name="Rectangle 43"/>
              <p:cNvSpPr>
                <a:spLocks noChangeArrowheads="1"/>
              </p:cNvSpPr>
              <p:nvPr/>
            </p:nvSpPr>
            <p:spPr bwMode="auto">
              <a:xfrm>
                <a:off x="6767656" y="3821063"/>
                <a:ext cx="1222268" cy="422741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rgbClr val="015EBB"/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15EBB"/>
                    </a:solidFill>
                  </a:rPr>
                  <a:t>4.4.1.2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dirty="0">
                    <a:solidFill>
                      <a:srgbClr val="015EBB"/>
                    </a:solidFill>
                  </a:rPr>
                  <a:t>자격검토</a:t>
                </a:r>
                <a:endParaRPr lang="en-US" altLang="ko-KR" sz="1100" b="1" kern="0" dirty="0">
                  <a:solidFill>
                    <a:srgbClr val="015EBB"/>
                  </a:solidFill>
                </a:endParaRPr>
              </a:p>
            </p:txBody>
          </p:sp>
          <p:sp>
            <p:nvSpPr>
              <p:cNvPr id="90" name="Rectangle 43"/>
              <p:cNvSpPr>
                <a:spLocks noChangeArrowheads="1"/>
              </p:cNvSpPr>
              <p:nvPr/>
            </p:nvSpPr>
            <p:spPr bwMode="auto">
              <a:xfrm>
                <a:off x="6767656" y="4385126"/>
                <a:ext cx="1222268" cy="422741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rgbClr val="015EBB"/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en-US" altLang="ko-KR" sz="1100" b="1" kern="0" dirty="0">
                    <a:solidFill>
                      <a:srgbClr val="015EBB"/>
                    </a:solidFill>
                  </a:rPr>
                  <a:t>4.4.1.3</a:t>
                </a:r>
              </a:p>
              <a:p>
                <a:pPr algn="ctr" eaLnBrk="0" fontAlgn="base" latinLnBrk="0" hangingPunct="0">
                  <a:spcAft>
                    <a:spcPct val="0"/>
                  </a:spcAft>
                  <a:buClr>
                    <a:prstClr val="black"/>
                  </a:buClr>
                  <a:buSzPct val="90000"/>
                </a:pPr>
                <a:r>
                  <a:rPr lang="ko-KR" altLang="en-US" sz="1100" b="1" kern="0" dirty="0">
                    <a:solidFill>
                      <a:srgbClr val="015EBB"/>
                    </a:solidFill>
                  </a:rPr>
                  <a:t>지원금지급</a:t>
                </a:r>
                <a:endParaRPr lang="en-US" altLang="ko-KR" sz="1100" b="1" kern="0" dirty="0">
                  <a:solidFill>
                    <a:srgbClr val="015EBB"/>
                  </a:solidFill>
                </a:endParaRPr>
              </a:p>
            </p:txBody>
          </p:sp>
          <p:cxnSp>
            <p:nvCxnSpPr>
              <p:cNvPr id="91" name="꺾인 연결선 91"/>
              <p:cNvCxnSpPr/>
              <p:nvPr/>
            </p:nvCxnSpPr>
            <p:spPr bwMode="auto">
              <a:xfrm>
                <a:off x="7378790" y="2909103"/>
                <a:ext cx="0" cy="347897"/>
              </a:xfrm>
              <a:prstGeom prst="straightConnector1">
                <a:avLst/>
              </a:prstGeom>
              <a:solidFill>
                <a:srgbClr val="FBB779"/>
              </a:solidFill>
              <a:ln w="12700" cap="flat" cmpd="sng" algn="ctr">
                <a:solidFill>
                  <a:srgbClr val="000000">
                    <a:lumMod val="50000"/>
                    <a:lumOff val="5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2" name="꺾인 연결선 91"/>
              <p:cNvCxnSpPr/>
              <p:nvPr/>
            </p:nvCxnSpPr>
            <p:spPr bwMode="auto">
              <a:xfrm>
                <a:off x="7378790" y="3679741"/>
                <a:ext cx="0" cy="141322"/>
              </a:xfrm>
              <a:prstGeom prst="straightConnector1">
                <a:avLst/>
              </a:prstGeom>
              <a:solidFill>
                <a:srgbClr val="FBB779"/>
              </a:solidFill>
              <a:ln w="12700" cap="flat" cmpd="sng" algn="ctr">
                <a:solidFill>
                  <a:srgbClr val="000000">
                    <a:lumMod val="50000"/>
                    <a:lumOff val="5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" name="꺾인 연결선 91"/>
              <p:cNvCxnSpPr/>
              <p:nvPr/>
            </p:nvCxnSpPr>
            <p:spPr bwMode="auto">
              <a:xfrm>
                <a:off x="7378790" y="4243804"/>
                <a:ext cx="0" cy="141322"/>
              </a:xfrm>
              <a:prstGeom prst="straightConnector1">
                <a:avLst/>
              </a:prstGeom>
              <a:solidFill>
                <a:srgbClr val="FBB779"/>
              </a:solidFill>
              <a:ln w="12700" cap="flat" cmpd="sng" algn="ctr">
                <a:solidFill>
                  <a:srgbClr val="000000">
                    <a:lumMod val="50000"/>
                    <a:lumOff val="5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85" name="Rectangle 43"/>
            <p:cNvSpPr>
              <a:spLocks noChangeArrowheads="1"/>
            </p:cNvSpPr>
            <p:nvPr/>
          </p:nvSpPr>
          <p:spPr bwMode="auto">
            <a:xfrm>
              <a:off x="10178558" y="4950475"/>
              <a:ext cx="1222268" cy="4227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12700" algn="ctr">
              <a:solidFill>
                <a:srgbClr val="015EBB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1100" b="1" kern="0" dirty="0">
                  <a:solidFill>
                    <a:srgbClr val="015EBB"/>
                  </a:solidFill>
                </a:rPr>
                <a:t>4.4.1.4</a:t>
              </a: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100" b="1" kern="0" dirty="0">
                  <a:solidFill>
                    <a:srgbClr val="015EBB"/>
                  </a:solidFill>
                </a:rPr>
                <a:t>증명서 발급</a:t>
              </a:r>
              <a:endParaRPr lang="en-US" altLang="ko-KR" sz="1100" b="1" kern="0" dirty="0">
                <a:solidFill>
                  <a:srgbClr val="015EBB"/>
                </a:solidFill>
              </a:endParaRPr>
            </a:p>
          </p:txBody>
        </p:sp>
        <p:cxnSp>
          <p:nvCxnSpPr>
            <p:cNvPr id="86" name="꺾인 연결선 91"/>
            <p:cNvCxnSpPr>
              <a:endCxn id="85" idx="0"/>
            </p:cNvCxnSpPr>
            <p:nvPr/>
          </p:nvCxnSpPr>
          <p:spPr bwMode="auto">
            <a:xfrm>
              <a:off x="10789692" y="4809153"/>
              <a:ext cx="0" cy="141322"/>
            </a:xfrm>
            <a:prstGeom prst="straightConnector1">
              <a:avLst/>
            </a:prstGeom>
            <a:solidFill>
              <a:srgbClr val="FBB779"/>
            </a:solidFill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94" name="Rectangle 43"/>
          <p:cNvSpPr>
            <a:spLocks noChangeArrowheads="1"/>
          </p:cNvSpPr>
          <p:nvPr/>
        </p:nvSpPr>
        <p:spPr bwMode="auto">
          <a:xfrm>
            <a:off x="5097016" y="2062133"/>
            <a:ext cx="1508082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dirty="0">
                <a:solidFill>
                  <a:prstClr val="white"/>
                </a:solidFill>
              </a:rPr>
              <a:t>4.4 </a:t>
            </a:r>
            <a:r>
              <a:rPr lang="ko-KR" altLang="en-US" sz="1300" b="1" kern="0" dirty="0">
                <a:solidFill>
                  <a:prstClr val="white"/>
                </a:solidFill>
              </a:rPr>
              <a:t>직접지원관리</a:t>
            </a:r>
            <a:endParaRPr lang="en-US" altLang="ko-KR" sz="1300" b="1" kern="0" dirty="0">
              <a:solidFill>
                <a:prstClr val="white"/>
              </a:solidFill>
            </a:endParaRPr>
          </a:p>
        </p:txBody>
      </p:sp>
      <p:cxnSp>
        <p:nvCxnSpPr>
          <p:cNvPr id="95" name="꺾인 연결선 57"/>
          <p:cNvCxnSpPr>
            <a:stCxn id="94" idx="2"/>
            <a:endCxn id="87" idx="0"/>
          </p:cNvCxnSpPr>
          <p:nvPr/>
        </p:nvCxnSpPr>
        <p:spPr bwMode="auto">
          <a:xfrm flipH="1">
            <a:off x="5842358" y="2460221"/>
            <a:ext cx="8699" cy="2695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47" name="Rectangle 43"/>
          <p:cNvSpPr>
            <a:spLocks noChangeArrowheads="1"/>
          </p:cNvSpPr>
          <p:nvPr/>
        </p:nvSpPr>
        <p:spPr bwMode="auto">
          <a:xfrm>
            <a:off x="3279764" y="4605122"/>
            <a:ext cx="12222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15EBB"/>
                </a:solidFill>
              </a:rPr>
              <a:t>4.3.2.3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15EBB"/>
                </a:solidFill>
              </a:rPr>
              <a:t>위원회관리</a:t>
            </a:r>
            <a:endParaRPr lang="en-US" altLang="ko-KR" sz="1100" b="1" kern="0" dirty="0">
              <a:solidFill>
                <a:srgbClr val="015EBB"/>
              </a:solidFill>
            </a:endParaRPr>
          </a:p>
        </p:txBody>
      </p:sp>
      <p:cxnSp>
        <p:nvCxnSpPr>
          <p:cNvPr id="48" name="꺾인 연결선 91"/>
          <p:cNvCxnSpPr>
            <a:stCxn id="74" idx="2"/>
            <a:endCxn id="47" idx="0"/>
          </p:cNvCxnSpPr>
          <p:nvPr/>
        </p:nvCxnSpPr>
        <p:spPr bwMode="auto">
          <a:xfrm>
            <a:off x="3890898" y="4468809"/>
            <a:ext cx="0" cy="13631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1922038579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기금지원 </a:t>
            </a:r>
            <a:r>
              <a:rPr lang="en-US" altLang="ko-KR" sz="1600" dirty="0"/>
              <a:t>Level 3 </a:t>
            </a:r>
            <a:r>
              <a:rPr lang="ko-KR" altLang="en-US" sz="1600" dirty="0"/>
              <a:t>업무기능인 집행계획작성</a:t>
            </a:r>
            <a:r>
              <a:rPr lang="en-US" altLang="ko-KR" sz="1600" dirty="0"/>
              <a:t>, </a:t>
            </a:r>
            <a:r>
              <a:rPr lang="ko-KR" altLang="en-US" sz="1600" dirty="0"/>
              <a:t>지원금지급관리</a:t>
            </a:r>
            <a:r>
              <a:rPr lang="en-US" altLang="ko-KR" sz="1600" dirty="0"/>
              <a:t>, </a:t>
            </a:r>
            <a:r>
              <a:rPr lang="ko-KR" altLang="en-US" sz="1600" dirty="0"/>
              <a:t>중요재산등록지원 각각에 대한 정의와 </a:t>
            </a:r>
            <a:r>
              <a:rPr lang="en-US" altLang="ko-KR" sz="1600" dirty="0"/>
              <a:t>Level 4 </a:t>
            </a:r>
            <a:r>
              <a:rPr lang="ko-KR" altLang="en-US" sz="1600" dirty="0"/>
              <a:t>수준의 업무기능에 대한 정의</a:t>
            </a:r>
            <a:r>
              <a:rPr lang="en-US" altLang="ko-KR" sz="1600" dirty="0"/>
              <a:t>, </a:t>
            </a:r>
            <a:r>
              <a:rPr lang="ko-KR" altLang="en-US" sz="1600" dirty="0"/>
              <a:t>업무수행조직과 개선할 사항을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3.4.1 </a:t>
            </a:r>
            <a:r>
              <a:rPr lang="ko-KR" altLang="en-US" dirty="0"/>
              <a:t>기금지원 업무기능 정의 </a:t>
            </a:r>
            <a:r>
              <a:rPr lang="en-US" altLang="ko-KR" dirty="0"/>
              <a:t>(3/6)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347971"/>
              </p:ext>
            </p:extLst>
          </p:nvPr>
        </p:nvGraphicFramePr>
        <p:xfrm>
          <a:off x="354520" y="1736814"/>
          <a:ext cx="9180512" cy="4466632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275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집행계획작성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기금지원팀 기금지원담당이 지원사업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보조사업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에 대한 월별 보조금집행계획을 작성하는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>공단본부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</a:b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>기금지원팀</a:t>
                      </a:r>
                      <a:endParaRPr lang="ko-KR" altLang="en-US" sz="1000" b="0" kern="120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자금운용팀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예산팀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보조금지원 내역사업을 선별하여 보조사업자가 월별집행계획을 작성하고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월별보조금집행계획을 기금지원팀과 자금운용팀이 공유할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91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지원계획작성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기금지원팀 지원담당이 확정된 기금운용계획에서 보조사업자로서 보조사업으로 집행되는 사업에 대한 지원계획을 엑셀로 입력하여 관리하는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보조금집행  계획 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기금지원팀 기금지원담당이 지원사업자로부터 월별집행계획을 접수받고 소규모사업의 경우 월별집행계획을 작성하여 월별 보조금 집행계획을 작성하고  자금운용팀에 통보하는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81677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지원금 지급관리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지원사업자가 지원금 교부신청을 하면 기금지원팀 기금지원담당이 지원금을 지급하는 업무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>공단본부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/>
                      </a:r>
                      <a:b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</a:b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>기금지원팀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</a:rPr>
                        <a:t>지원사업자</a:t>
                      </a:r>
                      <a:endParaRPr lang="ko-KR" altLang="en-US" sz="1000" b="0" kern="120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재무관리팀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금고은행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b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지원사업자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just" latinLnBrk="0"/>
                      <a:r>
                        <a:rPr lang="ko-KR" altLang="en-US" sz="1000" dirty="0"/>
                        <a:t>지원금지급관리 업무는 </a:t>
                      </a:r>
                      <a:r>
                        <a:rPr lang="en-US" altLang="ko-KR" sz="1000" dirty="0"/>
                        <a:t>e</a:t>
                      </a:r>
                      <a:r>
                        <a:rPr lang="ko-KR" altLang="en-US" sz="1000" dirty="0"/>
                        <a:t>나라도움을 통해 확인한 지원금지급신청 건을 통합재무시스템을 통해 지급처리 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412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지원금지급신청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지원사업자가 지원금을 교부신청하고 기금지원팀 기금지원담당이    교부 신청을 접수하는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지원금지급처리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kern="1200" spc="-1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기금지원팀 기금지원담당이 지원사업자에게 지원금을 지급하는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67874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중요재산등록지원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문화체육관광부의 지원사업자 중요재산관리 지원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기금환수팀</a:t>
                      </a:r>
                      <a:endParaRPr lang="ko-KR" altLang="en-US" sz="1000" b="0" spc="-16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10" baseline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</a:t>
                      </a:r>
                      <a:r>
                        <a:rPr lang="en-US" altLang="ko-KR" sz="1000" b="0" spc="-110" baseline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지원사업자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/>
                        <a:t>중요재산등록지원 업무 중 문화체육관광부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공단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지원사업자로 이어지는 보완요청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처분협의 등에 대한 소통을 정보시스템을 통해 처리할 수 있도록 개선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현황점검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지원사업자의 중요재산 취득과 현황정보의 등록에 대한 문화체육관광부를 대신하여 관리를 지원하는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시정명령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문화체육관광부와 지원사업자의 중요재산 처분협의 후 처분결과등록에 대해 문화체육관광부를 대신하여 관리를 지원하는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7550593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기금지원 </a:t>
            </a:r>
            <a:r>
              <a:rPr lang="en-US" altLang="ko-KR" sz="1600" dirty="0"/>
              <a:t>Level 3 </a:t>
            </a:r>
            <a:r>
              <a:rPr lang="ko-KR" altLang="en-US" sz="1600" dirty="0"/>
              <a:t>업무기능인 현황점검관리</a:t>
            </a:r>
            <a:r>
              <a:rPr lang="en-US" altLang="ko-KR" sz="1600" dirty="0"/>
              <a:t>, </a:t>
            </a:r>
            <a:r>
              <a:rPr lang="ko-KR" altLang="en-US" sz="1600" dirty="0"/>
              <a:t>연중평가관리 각각에 대한 정의와 </a:t>
            </a:r>
            <a:r>
              <a:rPr lang="en-US" altLang="ko-KR" sz="1600" dirty="0"/>
              <a:t>Level 4 </a:t>
            </a:r>
            <a:r>
              <a:rPr lang="ko-KR" altLang="en-US" sz="1600" dirty="0"/>
              <a:t>수준의 업무기능에 대한 정의</a:t>
            </a:r>
            <a:r>
              <a:rPr lang="en-US" altLang="ko-KR" sz="1600" dirty="0"/>
              <a:t>, </a:t>
            </a:r>
            <a:r>
              <a:rPr lang="ko-KR" altLang="en-US" sz="1600" dirty="0"/>
              <a:t>업무수행조직과 개선할 사항을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3.4.1 </a:t>
            </a:r>
            <a:r>
              <a:rPr lang="ko-KR" altLang="en-US" dirty="0"/>
              <a:t>기금지원 업무기능 정의 </a:t>
            </a:r>
            <a:r>
              <a:rPr lang="en-US" altLang="ko-KR" dirty="0"/>
              <a:t>(4/6)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228093"/>
              </p:ext>
            </p:extLst>
          </p:nvPr>
        </p:nvGraphicFramePr>
        <p:xfrm>
          <a:off x="354520" y="1736814"/>
          <a:ext cx="9180512" cy="3826552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275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현황점검관리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현황점검 사유가 발생하면 대상 지원사업자에 대한 현황점검과 시정명령을 수행하는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기금환수팀</a:t>
                      </a:r>
                      <a:endParaRPr lang="ko-KR" altLang="en-US" sz="1000" b="0" spc="-16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10" baseline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</a:t>
                      </a:r>
                      <a:r>
                        <a:rPr lang="en-US" altLang="ko-KR" sz="1000" b="0" spc="-110" baseline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지원사업자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/>
                        <a:t>e</a:t>
                      </a:r>
                      <a:r>
                        <a:rPr lang="ko-KR" altLang="en-US" sz="1000" dirty="0"/>
                        <a:t>나라도움을 통해 지원사업자의 집행자료를 검토하고 현장조사 후 시정</a:t>
                      </a:r>
                      <a:r>
                        <a:rPr lang="en-US" altLang="ko-KR" sz="1000" dirty="0"/>
                        <a:t>/</a:t>
                      </a:r>
                      <a:r>
                        <a:rPr lang="ko-KR" altLang="en-US" sz="1000" dirty="0"/>
                        <a:t>보완 등 조치와 관련한 일련의 절차를 기금지원과 홈페이지를 통해 소통할 수 있도록 개선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91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현황점검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문화체육관광부의 요구 혹은 법정규정 사항에 따라 현황점검을 실시하고 결과를 등록하는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시정명령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현장점검 실시 결과 시정명령이 필요한 경우 시정할 것을 명하고 지원사업자는 시정명령에 따라 시정조치 후 결과를 등록하는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81677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연중평가관리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연초 평가편람 및 평가계획을 작성하여 월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회 현장평가와 시민모니터링 및 고객만족도 조사를 실시하는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기금평가팀</a:t>
                      </a:r>
                      <a:endParaRPr lang="ko-KR" altLang="en-US" sz="1000" b="0" spc="-21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10" baseline="0" dirty="0">
                          <a:latin typeface="맑은 고딕" pitchFamily="50" charset="-127"/>
                          <a:ea typeface="+mn-ea"/>
                        </a:rPr>
                        <a:t>문화체육관광부</a:t>
                      </a:r>
                      <a:r>
                        <a:rPr lang="en-US" altLang="ko-KR" sz="1000" b="0" spc="-110" baseline="0" dirty="0">
                          <a:latin typeface="맑은 고딕" pitchFamily="50" charset="-127"/>
                          <a:ea typeface="+mn-ea"/>
                        </a:rPr>
                        <a:t>,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지원사업자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공단본부 이사장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평가위원회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현장평가단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spc="-110" baseline="0" dirty="0">
                          <a:latin typeface="맑은 고딕" pitchFamily="50" charset="-127"/>
                          <a:ea typeface="+mn-ea"/>
                        </a:rPr>
                        <a:t>시민모니터링단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spc="-110" baseline="0" dirty="0">
                          <a:latin typeface="맑은 고딕" pitchFamily="50" charset="-127"/>
                          <a:ea typeface="+mn-ea"/>
                        </a:rPr>
                        <a:t>전문리서치업체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/>
                        <a:t>연중평가관리 업무의 평가계획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현장평가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시민모니터링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고객만족도조사 업무에 필요한 절차를 정보화하고 소통채널을 다양하게 제공할 수 있도록 개선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47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평가계획 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평가편람을 작성하여 이사장보고를 통해 확정하고 평가계획을 작성하여 평가위원회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의 심의 의결을 거쳐 확정하는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21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23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49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현장평가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현장평가단을 구성하여 현장평가단에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의한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월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회 현장평가와 반기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회 지정사업에 대해 문화체육관광부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및 공단의 현장평가 수행 후 평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가점수를 산정하는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21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23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anchor="ctr"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47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시민모니터링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시민모니터링 요원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신청을 접수받아 시민모니터링단을 구성하고 월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회 시민모니터링을 운영하여 결과를 접수하는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21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23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anchor="ctr"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고객만족도  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월 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회 고객만족도 조사 업체를 선정하여 고객만족도 조사 후 평가점수를 산정하는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21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23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7787439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기금지원 </a:t>
            </a:r>
            <a:r>
              <a:rPr lang="en-US" altLang="ko-KR" sz="1600" dirty="0"/>
              <a:t>Level 3 </a:t>
            </a:r>
            <a:r>
              <a:rPr lang="ko-KR" altLang="en-US" sz="1600" dirty="0"/>
              <a:t>업무기능인 정산지원관리</a:t>
            </a:r>
            <a:r>
              <a:rPr lang="en-US" altLang="ko-KR" sz="1600" dirty="0"/>
              <a:t>, </a:t>
            </a:r>
            <a:r>
              <a:rPr lang="ko-KR" altLang="en-US" sz="1600" dirty="0"/>
              <a:t>반납관리</a:t>
            </a:r>
            <a:r>
              <a:rPr lang="en-US" altLang="ko-KR" sz="1600" dirty="0"/>
              <a:t>, </a:t>
            </a:r>
            <a:r>
              <a:rPr lang="ko-KR" altLang="en-US" sz="1600" dirty="0"/>
              <a:t>평가관리에 대한 정의와 </a:t>
            </a:r>
            <a:r>
              <a:rPr lang="en-US" altLang="ko-KR" sz="1600" dirty="0"/>
              <a:t>Level 4 </a:t>
            </a:r>
            <a:r>
              <a:rPr lang="ko-KR" altLang="en-US" sz="1600" dirty="0"/>
              <a:t>수준의 업무기능에 대한 정의</a:t>
            </a:r>
            <a:r>
              <a:rPr lang="en-US" altLang="ko-KR" sz="1600" dirty="0"/>
              <a:t>, </a:t>
            </a:r>
            <a:r>
              <a:rPr lang="ko-KR" altLang="en-US" sz="1600" dirty="0"/>
              <a:t>업무수행조직과 개선할 사항을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3.4.1 </a:t>
            </a:r>
            <a:r>
              <a:rPr lang="ko-KR" altLang="en-US" dirty="0"/>
              <a:t>기금지원 업무기능 정의 </a:t>
            </a:r>
            <a:r>
              <a:rPr lang="en-US" altLang="ko-KR" dirty="0"/>
              <a:t>(5/6)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556641"/>
              </p:ext>
            </p:extLst>
          </p:nvPr>
        </p:nvGraphicFramePr>
        <p:xfrm>
          <a:off x="354520" y="1736814"/>
          <a:ext cx="9180512" cy="4535629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275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정산관리지원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정산시기가 도래하면 문화체육관광부의 정산보고 및 실적보고 접수를 지원하고 확정된 지원금액에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대해 관리하는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기금정산팀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지원사업자</a:t>
                      </a:r>
                      <a:endParaRPr lang="ko-KR" altLang="en-US" sz="1000" b="0" spc="-16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10" baseline="0" dirty="0">
                          <a:latin typeface="맑은 고딕" pitchFamily="50" charset="-127"/>
                          <a:ea typeface="+mn-ea"/>
                        </a:rPr>
                        <a:t>공단 본부</a:t>
                      </a:r>
                      <a:endParaRPr lang="en-US" altLang="ko-KR" sz="1000" b="0" spc="-110" baseline="0" dirty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10" baseline="0" dirty="0">
                          <a:latin typeface="맑은 고딕" pitchFamily="50" charset="-127"/>
                          <a:ea typeface="+mn-ea"/>
                        </a:rPr>
                        <a:t>기금환수팀</a:t>
                      </a:r>
                      <a:endParaRPr lang="en-US" altLang="ko-KR" sz="1000" b="0" spc="-110" baseline="0" dirty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30" baseline="0" dirty="0">
                          <a:latin typeface="맑은 고딕" pitchFamily="50" charset="-127"/>
                          <a:ea typeface="+mn-ea"/>
                        </a:rPr>
                        <a:t>문화체육관광부</a:t>
                      </a:r>
                      <a:r>
                        <a:rPr lang="en-US" altLang="ko-KR" sz="1000" b="0" spc="-110" baseline="0" dirty="0">
                          <a:latin typeface="맑은 고딕" pitchFamily="50" charset="-127"/>
                          <a:ea typeface="+mn-ea"/>
                        </a:rPr>
                        <a:t>,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지원사업자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just" latinLnBrk="0"/>
                      <a:r>
                        <a:rPr lang="ko-KR" altLang="en-US" sz="1000" dirty="0"/>
                        <a:t>정산관리는 </a:t>
                      </a:r>
                      <a:r>
                        <a:rPr lang="en-US" altLang="ko-KR" sz="1000" dirty="0"/>
                        <a:t>e</a:t>
                      </a:r>
                      <a:r>
                        <a:rPr lang="ko-KR" altLang="en-US" sz="1000" dirty="0"/>
                        <a:t>나라도움에서 처리되고 있어 이월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정산검토결과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확정현황 등 정산정보를 등록하여 팀간 공유할 수 있도록 개선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91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집행결과마감지원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지원사업자의 집행마감 후 등록결과에 대해 보완요청을 통해 실적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및 정산보고 확정 및 출력을 간접 지원하는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지원금확정  결과관리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문화체육관광부로부터 확정된 지원금액을 접수받아 결과를 엑셀로 관리하고 환수팀에 통보하는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23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81677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반납관리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반환금이 결정되면 반납처리하고 반납이 안되면 강제징수하는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b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기금환수팀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문화체육관광부</a:t>
                      </a:r>
                      <a:endParaRPr lang="en-US" altLang="ko-KR" sz="1000" b="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pc="-110" baseline="0" dirty="0">
                          <a:latin typeface="맑은 고딕" pitchFamily="50" charset="-127"/>
                          <a:ea typeface="+mn-ea"/>
                        </a:rPr>
                        <a:t>지원사업자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/>
                        <a:t>대부분 </a:t>
                      </a:r>
                      <a:r>
                        <a:rPr lang="en-US" altLang="ko-KR" sz="1000" dirty="0"/>
                        <a:t>e</a:t>
                      </a:r>
                      <a:r>
                        <a:rPr lang="ko-KR" altLang="en-US" sz="1000" dirty="0"/>
                        <a:t>나라도움에서 처리되고 있어 향후 지원사업자의 정산반납현황의 연계가 필요하며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단기적으로는 반환현황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처분현황 등 정보관리와 소통을 위한 기능 개선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412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반납처리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문화체육관광부에서 </a:t>
                      </a:r>
                      <a:r>
                        <a:rPr lang="ko-KR" altLang="en-US" sz="1000" b="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대상자에게 반환을 명령하고 대상자는 반납처리를 하는 업무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강제징수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기금환수팀에서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반환금 및 제재부가금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대상자가 해당 금액을 반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환하지 않을 경우 강제징수 처리를 </a:t>
                      </a:r>
                      <a:r>
                        <a:rPr lang="ko-KR" altLang="en-US" sz="1000" b="0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문화체육관광부에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요구하는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spc="-16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67874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평가관리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성과보고서를 접수하여 지표평가 후 결과를 환류하는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공단본부</a:t>
                      </a:r>
                      <a:endParaRPr lang="en-US" altLang="ko-KR" sz="1000" b="0" spc="-10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latinLnBrk="1"/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기금평가팀</a:t>
                      </a:r>
                      <a:r>
                        <a:rPr lang="en-US" altLang="ko-KR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평가위원회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10" baseline="0" dirty="0">
                          <a:latin typeface="맑은 고딕" pitchFamily="50" charset="-127"/>
                          <a:ea typeface="+mn-ea"/>
                        </a:rPr>
                        <a:t>지원사업자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just" latinLnBrk="0"/>
                      <a:r>
                        <a:rPr lang="ko-KR" altLang="en-US" sz="1000" spc="-150" dirty="0"/>
                        <a:t>성과계획정보를 기반으로 성과보고서</a:t>
                      </a:r>
                      <a:r>
                        <a:rPr lang="en-US" altLang="ko-KR" sz="1000" spc="-150" dirty="0"/>
                        <a:t>,</a:t>
                      </a:r>
                      <a:r>
                        <a:rPr lang="ko-KR" altLang="en-US" sz="1000" spc="-150" dirty="0"/>
                        <a:t> 점수환산처리</a:t>
                      </a:r>
                      <a:r>
                        <a:rPr lang="en-US" altLang="ko-KR" sz="1000" spc="-150" dirty="0"/>
                        <a:t>, </a:t>
                      </a:r>
                      <a:r>
                        <a:rPr lang="ko-KR" altLang="en-US" sz="1000" spc="-150" dirty="0"/>
                        <a:t>위원회평가 등을 정보화하고 지원사업자와의 소통을 다양한 채널을 통해 서비스 제공할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위원회평가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성과보고서를 접수하여 계량 및 비계량 평가를 수행하여 평가위원회를 통해 평가결과를 확정하는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kern="1200" spc="-100" baseline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환류관리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평가결과가 확정되면 홈페이지시스템에 공시하고 평가결과의 유형을 분석하여 차년도 공고에 의한 사업자 선정 시 결과를 반영하는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위원회관리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성과평가위원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현장평가위원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시민모니터링평가단 등 평가위원을 등록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관리하고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위원 활동실적에 따른 수당 지급하는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2043255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기금지원 </a:t>
            </a:r>
            <a:r>
              <a:rPr lang="en-US" altLang="ko-KR" sz="1600" dirty="0"/>
              <a:t>Level 3 </a:t>
            </a:r>
            <a:r>
              <a:rPr lang="ko-KR" altLang="en-US" sz="1600" dirty="0"/>
              <a:t>업무기능인 체육인복지지원에 대한 정의와 </a:t>
            </a:r>
            <a:r>
              <a:rPr lang="en-US" altLang="ko-KR" sz="1600" dirty="0"/>
              <a:t>Level 4 </a:t>
            </a:r>
            <a:r>
              <a:rPr lang="ko-KR" altLang="en-US" sz="1600" dirty="0"/>
              <a:t>수준의 업무기능에 대한 정의</a:t>
            </a:r>
            <a:r>
              <a:rPr lang="en-US" altLang="ko-KR" sz="1600" dirty="0"/>
              <a:t>, </a:t>
            </a:r>
            <a:r>
              <a:rPr lang="ko-KR" altLang="en-US" sz="1600" dirty="0"/>
              <a:t>업무수행조직과 개선할 사항을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3.4.1 </a:t>
            </a:r>
            <a:r>
              <a:rPr lang="ko-KR" altLang="en-US" dirty="0"/>
              <a:t>기금지원 업무기능 정의 </a:t>
            </a:r>
            <a:r>
              <a:rPr lang="en-US" altLang="ko-KR" dirty="0"/>
              <a:t>(6/6)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5435164"/>
              </p:ext>
            </p:extLst>
          </p:nvPr>
        </p:nvGraphicFramePr>
        <p:xfrm>
          <a:off x="354520" y="1736814"/>
          <a:ext cx="9180512" cy="2637832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5211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21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Lv4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81677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돋움"/>
                          <a:cs typeface="+mn-cs"/>
                        </a:rPr>
                        <a:t>체육인 복지지원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추천 및 대상자 신청을 검토하여 대상자에게 체육인복지지원금을 지급하는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60" baseline="0" dirty="0">
                          <a:latin typeface="맑은 고딕" pitchFamily="50" charset="-127"/>
                          <a:ea typeface="맑은 고딕" pitchFamily="50" charset="-127"/>
                        </a:rPr>
                        <a:t>체육진흥팀  체육인복지  사업담당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pc="-16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추천단체</a:t>
                      </a:r>
                      <a:r>
                        <a:rPr lang="en-US" altLang="ko-KR" sz="1000" b="0" kern="1200" spc="-16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16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지원 대상자</a:t>
                      </a:r>
                      <a:r>
                        <a:rPr lang="en-US" altLang="ko-KR" sz="1000" b="0" kern="1200" spc="-16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16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수급자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just" latinLnBrk="0"/>
                      <a:r>
                        <a:rPr lang="ko-KR" altLang="en-US" sz="1000" dirty="0"/>
                        <a:t>신체육인복지지원 업무를 위한 대상자추천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지원신청 등을 정보화하고 통합재무를 통해 지급처리하며</a:t>
                      </a:r>
                      <a:r>
                        <a:rPr lang="en-US" altLang="ko-KR" sz="1000" dirty="0"/>
                        <a:t>, </a:t>
                      </a:r>
                      <a:r>
                        <a:rPr lang="ko-KR" altLang="en-US" sz="1000" dirty="0"/>
                        <a:t>각종 증명을 다양한 채널을 통해 신청하고 발급할 수 있도록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47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대상자추천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추천단체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대한체육회</a:t>
                      </a:r>
                      <a:r>
                        <a:rPr lang="en-US" altLang="ko-KR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대한장애인체육회</a:t>
                      </a:r>
                      <a:r>
                        <a:rPr lang="en-US" altLang="ko-KR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가맹경기단체</a:t>
                      </a:r>
                      <a:r>
                        <a:rPr lang="en-US" altLang="ko-KR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국군체육부대상</a:t>
                      </a:r>
                      <a:r>
                        <a:rPr lang="en-US" altLang="ko-KR" sz="1000" b="0" spc="-1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b="0" spc="-100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혹은 공단 이사장에 의한 추천이나 당사자의 신청을 </a:t>
                      </a:r>
                      <a:r>
                        <a:rPr lang="ko-KR" altLang="en-US" sz="1000" b="0" baseline="0" dirty="0" err="1">
                          <a:latin typeface="맑은 고딕" pitchFamily="50" charset="-127"/>
                          <a:ea typeface="맑은 고딕" pitchFamily="50" charset="-127"/>
                        </a:rPr>
                        <a:t>접수받는</a:t>
                      </a:r>
                      <a:r>
                        <a:rPr lang="ko-KR" altLang="en-US" sz="1000" b="0" baseline="0" dirty="0">
                          <a:latin typeface="맑은 고딕" pitchFamily="50" charset="-127"/>
                          <a:ea typeface="맑은 고딕" pitchFamily="50" charset="-127"/>
                        </a:rPr>
                        <a:t>    업무</a:t>
                      </a:r>
                      <a:endParaRPr lang="ko-KR" altLang="en-US" sz="100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spc="-100" baseline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49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자격검토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접수된 신청 및 추천내용을 검토하여 대상자 자격여부</a:t>
                      </a:r>
                      <a:r>
                        <a:rPr lang="en-US" altLang="ko-KR" sz="10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itchFamily="50" charset="-127"/>
                          <a:ea typeface="맑은 고딕" pitchFamily="50" charset="-127"/>
                        </a:rPr>
                        <a:t>평가점수 해당여부 등 지급조건을 검토하여 심의 및 결정하는 업무</a:t>
                      </a:r>
                      <a:endParaRPr lang="ko-KR" altLang="en-US" sz="1000" b="0" dirty="0">
                        <a:solidFill>
                          <a:srgbClr val="FF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47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지원금지급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지원자격이 해당하는 경우 검토 혹은 심의결과에 따라 지원금을 지급신청을 접수하여 지급하고 증명서를 발급하는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anchor="ctr"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7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맑은 고딕" pitchFamily="50" charset="-127"/>
                          <a:ea typeface="맑은 고딕" pitchFamily="50" charset="-127"/>
                        </a:rPr>
                        <a:t>증명서 발급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증명서 발급</a:t>
                      </a:r>
                      <a:r>
                        <a:rPr lang="ko-KR" altLang="en-US" sz="1000" b="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대상자가 지급증명서 발급을 신청하면 검토하여 증명서를 발급하는 업무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spc="-160" baseline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282379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기금운용계획 중 보조금지원 내역사업을 선별하여 보조사업자가 월별집행계획을 작성하도록 하여 신속하고 정확한 월별보조금집행계획을 기금지원팀과 자금운용팀이 공유할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 </a:t>
            </a:r>
            <a:r>
              <a:rPr lang="ko-KR" altLang="en-US" dirty="0"/>
              <a:t>기금지원 업무프로세스 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3.4.2.1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지급관리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&gt;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집행계획 작성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7682379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집행계획 작성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1" name="표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524303"/>
              </p:ext>
            </p:extLst>
          </p:nvPr>
        </p:nvGraphicFramePr>
        <p:xfrm>
          <a:off x="344488" y="1916832"/>
          <a:ext cx="9181020" cy="439762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16024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608467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4.1.1.1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지원계획작성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보조금집행계획작성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79384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자금운용팀 자금운용 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72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기금지원팀 기금지원 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69236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72" name="Shape 266"/>
          <p:cNvCxnSpPr>
            <a:cxnSpLocks noChangeShapeType="1"/>
            <a:stCxn id="76" idx="3"/>
            <a:endCxn id="83" idx="1"/>
          </p:cNvCxnSpPr>
          <p:nvPr/>
        </p:nvCxnSpPr>
        <p:spPr bwMode="auto">
          <a:xfrm>
            <a:off x="3009125" y="4061587"/>
            <a:ext cx="24735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75" idx="0"/>
            <a:endCxn id="76" idx="1"/>
          </p:cNvCxnSpPr>
          <p:nvPr/>
        </p:nvCxnSpPr>
        <p:spPr bwMode="auto">
          <a:xfrm>
            <a:off x="2073021" y="4056041"/>
            <a:ext cx="179679" cy="554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4" name="TextBox 73"/>
          <p:cNvSpPr txBox="1"/>
          <p:nvPr/>
        </p:nvSpPr>
        <p:spPr>
          <a:xfrm>
            <a:off x="3649077" y="3717032"/>
            <a:ext cx="71695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prstClr val="black"/>
                </a:solidFill>
              </a:rPr>
              <a:t>소규모금액</a:t>
            </a:r>
          </a:p>
        </p:txBody>
      </p:sp>
      <p:sp>
        <p:nvSpPr>
          <p:cNvPr id="75" name="육각형 74"/>
          <p:cNvSpPr/>
          <p:nvPr/>
        </p:nvSpPr>
        <p:spPr bwMode="auto">
          <a:xfrm>
            <a:off x="1316596" y="3850888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dirty="0">
                <a:solidFill>
                  <a:prstClr val="black"/>
                </a:solidFill>
              </a:rPr>
              <a:t>기금운용계획 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6" name="직사각형 75"/>
          <p:cNvSpPr/>
          <p:nvPr/>
        </p:nvSpPr>
        <p:spPr bwMode="auto">
          <a:xfrm>
            <a:off x="2252700" y="39012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1. </a:t>
            </a:r>
            <a:r>
              <a:rPr lang="ko-KR" altLang="en-US" sz="900" kern="0" dirty="0">
                <a:solidFill>
                  <a:srgbClr val="015EBB"/>
                </a:solidFill>
              </a:rPr>
              <a:t>기금지원 계획 등록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3258186" y="450018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2. </a:t>
            </a:r>
            <a:r>
              <a:rPr lang="ko-KR" altLang="en-US" sz="900" kern="0" dirty="0">
                <a:solidFill>
                  <a:srgbClr val="015EBB"/>
                </a:solidFill>
              </a:rPr>
              <a:t>기금지원 계획 통보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79" name="Shape 266"/>
          <p:cNvCxnSpPr>
            <a:cxnSpLocks noChangeShapeType="1"/>
            <a:stCxn id="83" idx="2"/>
            <a:endCxn id="78" idx="0"/>
          </p:cNvCxnSpPr>
          <p:nvPr/>
        </p:nvCxnSpPr>
        <p:spPr bwMode="auto">
          <a:xfrm>
            <a:off x="3636398" y="4248703"/>
            <a:ext cx="1" cy="2514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3258186" y="56612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3. </a:t>
            </a:r>
            <a:r>
              <a:rPr lang="ko-KR" altLang="en-US" sz="900" kern="0" dirty="0">
                <a:solidFill>
                  <a:srgbClr val="015EBB"/>
                </a:solidFill>
              </a:rPr>
              <a:t>월별보조금 집행계획작성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83" name="순서도: 판단 161"/>
          <p:cNvSpPr>
            <a:spLocks noChangeArrowheads="1"/>
          </p:cNvSpPr>
          <p:nvPr/>
        </p:nvSpPr>
        <p:spPr bwMode="auto">
          <a:xfrm>
            <a:off x="3256481" y="3874470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금액 규모</a:t>
            </a:r>
          </a:p>
        </p:txBody>
      </p:sp>
      <p:cxnSp>
        <p:nvCxnSpPr>
          <p:cNvPr id="85" name="Shape 266"/>
          <p:cNvCxnSpPr>
            <a:cxnSpLocks noChangeShapeType="1"/>
            <a:stCxn id="83" idx="3"/>
            <a:endCxn id="154" idx="1"/>
          </p:cNvCxnSpPr>
          <p:nvPr/>
        </p:nvCxnSpPr>
        <p:spPr bwMode="auto">
          <a:xfrm>
            <a:off x="4016315" y="4061587"/>
            <a:ext cx="36062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TextBox 85"/>
          <p:cNvSpPr txBox="1"/>
          <p:nvPr/>
        </p:nvSpPr>
        <p:spPr>
          <a:xfrm>
            <a:off x="2900772" y="4171326"/>
            <a:ext cx="74830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i="1" dirty="0">
                <a:solidFill>
                  <a:prstClr val="black"/>
                </a:solidFill>
              </a:rPr>
              <a:t>대규모금액</a:t>
            </a:r>
          </a:p>
        </p:txBody>
      </p:sp>
      <p:sp>
        <p:nvSpPr>
          <p:cNvPr id="88" name="직사각형 87"/>
          <p:cNvSpPr/>
          <p:nvPr/>
        </p:nvSpPr>
        <p:spPr bwMode="auto">
          <a:xfrm>
            <a:off x="6709958" y="39012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7. </a:t>
            </a:r>
            <a:r>
              <a:rPr lang="ko-KR" altLang="en-US" sz="900" kern="0" dirty="0">
                <a:solidFill>
                  <a:srgbClr val="015EBB"/>
                </a:solidFill>
              </a:rPr>
              <a:t>월별보조금 집행계획승인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89" name="Shape 266"/>
          <p:cNvCxnSpPr>
            <a:cxnSpLocks noChangeShapeType="1"/>
            <a:stCxn id="78" idx="2"/>
            <a:endCxn id="82" idx="0"/>
          </p:cNvCxnSpPr>
          <p:nvPr/>
        </p:nvCxnSpPr>
        <p:spPr bwMode="auto">
          <a:xfrm>
            <a:off x="3636399" y="4820954"/>
            <a:ext cx="0" cy="8402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82" idx="3"/>
            <a:endCxn id="155" idx="1"/>
          </p:cNvCxnSpPr>
          <p:nvPr/>
        </p:nvCxnSpPr>
        <p:spPr bwMode="auto">
          <a:xfrm>
            <a:off x="4014611" y="5821615"/>
            <a:ext cx="36232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154" idx="3"/>
            <a:endCxn id="88" idx="1"/>
          </p:cNvCxnSpPr>
          <p:nvPr/>
        </p:nvCxnSpPr>
        <p:spPr bwMode="auto">
          <a:xfrm>
            <a:off x="5133361" y="4061587"/>
            <a:ext cx="157659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88" idx="3"/>
            <a:endCxn id="94" idx="1"/>
          </p:cNvCxnSpPr>
          <p:nvPr/>
        </p:nvCxnSpPr>
        <p:spPr bwMode="auto">
          <a:xfrm>
            <a:off x="7466383" y="4061587"/>
            <a:ext cx="39224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직사각형 93"/>
          <p:cNvSpPr/>
          <p:nvPr/>
        </p:nvSpPr>
        <p:spPr bwMode="auto">
          <a:xfrm>
            <a:off x="7858630" y="39012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8. </a:t>
            </a:r>
            <a:r>
              <a:rPr lang="ko-KR" altLang="en-US" sz="900" kern="0" dirty="0">
                <a:solidFill>
                  <a:srgbClr val="015EBB"/>
                </a:solidFill>
              </a:rPr>
              <a:t>월별보조금 집행계획전달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95" name="Shape 266"/>
          <p:cNvCxnSpPr>
            <a:cxnSpLocks noChangeShapeType="1"/>
            <a:stCxn id="94" idx="0"/>
            <a:endCxn id="80" idx="2"/>
          </p:cNvCxnSpPr>
          <p:nvPr/>
        </p:nvCxnSpPr>
        <p:spPr bwMode="auto">
          <a:xfrm flipH="1" flipV="1">
            <a:off x="8236111" y="3068960"/>
            <a:ext cx="732" cy="83224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6" name="타원 95"/>
          <p:cNvSpPr/>
          <p:nvPr/>
        </p:nvSpPr>
        <p:spPr>
          <a:xfrm>
            <a:off x="1601239" y="3851920"/>
            <a:ext cx="194992" cy="229182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1923239" y="3727237"/>
            <a:ext cx="65740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prstClr val="black"/>
                </a:solidFill>
              </a:rPr>
              <a:t>기금지원</a:t>
            </a:r>
          </a:p>
        </p:txBody>
      </p:sp>
      <p:sp>
        <p:nvSpPr>
          <p:cNvPr id="125" name="순서도: 종속 처리 64"/>
          <p:cNvSpPr>
            <a:spLocks noChangeAspect="1" noChangeArrowheads="1"/>
          </p:cNvSpPr>
          <p:nvPr/>
        </p:nvSpPr>
        <p:spPr bwMode="auto">
          <a:xfrm>
            <a:off x="6707751" y="5769611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4.1.2.1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지원금</a:t>
            </a:r>
            <a:endParaRPr kumimoji="1" lang="en-US" altLang="ko-KR" sz="900" kern="0" dirty="0">
              <a:solidFill>
                <a:prstClr val="black"/>
              </a:solidFill>
            </a:endParaRP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지급신청</a:t>
            </a:r>
          </a:p>
        </p:txBody>
      </p:sp>
      <p:cxnSp>
        <p:nvCxnSpPr>
          <p:cNvPr id="128" name="Shape 266"/>
          <p:cNvCxnSpPr>
            <a:cxnSpLocks noChangeShapeType="1"/>
            <a:stCxn id="88" idx="2"/>
            <a:endCxn id="125" idx="0"/>
          </p:cNvCxnSpPr>
          <p:nvPr/>
        </p:nvCxnSpPr>
        <p:spPr bwMode="auto">
          <a:xfrm>
            <a:off x="7088171" y="4221972"/>
            <a:ext cx="0" cy="15476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9" name="순서도: 종속 처리 64"/>
          <p:cNvSpPr>
            <a:spLocks noChangeAspect="1" noChangeArrowheads="1"/>
          </p:cNvSpPr>
          <p:nvPr/>
        </p:nvSpPr>
        <p:spPr bwMode="auto">
          <a:xfrm>
            <a:off x="1320440" y="5769611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/>
              <a:t>1.1.2.4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/>
              <a:t>예산확정</a:t>
            </a:r>
          </a:p>
        </p:txBody>
      </p:sp>
      <p:cxnSp>
        <p:nvCxnSpPr>
          <p:cNvPr id="130" name="Shape 266"/>
          <p:cNvCxnSpPr>
            <a:cxnSpLocks noChangeShapeType="1"/>
            <a:stCxn id="129" idx="0"/>
          </p:cNvCxnSpPr>
          <p:nvPr/>
        </p:nvCxnSpPr>
        <p:spPr bwMode="auto">
          <a:xfrm flipH="1" flipV="1">
            <a:off x="1698736" y="4259165"/>
            <a:ext cx="2124" cy="151044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1" name="타원 130"/>
          <p:cNvSpPr/>
          <p:nvPr/>
        </p:nvSpPr>
        <p:spPr>
          <a:xfrm>
            <a:off x="8893818" y="3259983"/>
            <a:ext cx="148055" cy="19897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41" name="타원 140"/>
          <p:cNvSpPr/>
          <p:nvPr/>
        </p:nvSpPr>
        <p:spPr>
          <a:xfrm>
            <a:off x="9148858" y="3259983"/>
            <a:ext cx="148055" cy="19897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54" name="직사각형 153"/>
          <p:cNvSpPr/>
          <p:nvPr/>
        </p:nvSpPr>
        <p:spPr bwMode="auto">
          <a:xfrm>
            <a:off x="4376936" y="39012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50" dirty="0">
                <a:solidFill>
                  <a:srgbClr val="015EBB"/>
                </a:solidFill>
              </a:rPr>
              <a:t>3-1. </a:t>
            </a:r>
            <a:r>
              <a:rPr lang="ko-KR" altLang="en-US" sz="900" kern="0" spc="-150" dirty="0">
                <a:solidFill>
                  <a:srgbClr val="015EBB"/>
                </a:solidFill>
              </a:rPr>
              <a:t>월별보조금 </a:t>
            </a:r>
            <a:r>
              <a:rPr lang="ko-KR" altLang="en-US" sz="900" kern="0" dirty="0">
                <a:solidFill>
                  <a:srgbClr val="015EBB"/>
                </a:solidFill>
              </a:rPr>
              <a:t>집행계획작성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55" name="직사각형 154"/>
          <p:cNvSpPr/>
          <p:nvPr/>
        </p:nvSpPr>
        <p:spPr bwMode="auto">
          <a:xfrm>
            <a:off x="4376936" y="56612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4. </a:t>
            </a:r>
            <a:r>
              <a:rPr lang="ko-KR" altLang="en-US" sz="900" kern="0" dirty="0">
                <a:solidFill>
                  <a:srgbClr val="015EBB"/>
                </a:solidFill>
              </a:rPr>
              <a:t>월별보조금 집행계획제출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sp>
        <p:nvSpPr>
          <p:cNvPr id="156" name="직사각형 155"/>
          <p:cNvSpPr/>
          <p:nvPr/>
        </p:nvSpPr>
        <p:spPr bwMode="auto">
          <a:xfrm>
            <a:off x="4376936" y="450018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월별보조금 집행계획접수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7" name="Shape 266"/>
          <p:cNvCxnSpPr>
            <a:cxnSpLocks noChangeShapeType="1"/>
            <a:stCxn id="155" idx="0"/>
            <a:endCxn id="156" idx="2"/>
          </p:cNvCxnSpPr>
          <p:nvPr/>
        </p:nvCxnSpPr>
        <p:spPr bwMode="auto">
          <a:xfrm flipV="1">
            <a:off x="4755149" y="4820954"/>
            <a:ext cx="0" cy="8402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8" name="직사각형 157"/>
          <p:cNvSpPr/>
          <p:nvPr/>
        </p:nvSpPr>
        <p:spPr bwMode="auto">
          <a:xfrm>
            <a:off x="5243979" y="450018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15EBB"/>
                </a:solidFill>
              </a:rPr>
              <a:t>6. </a:t>
            </a:r>
            <a:r>
              <a:rPr lang="ko-KR" altLang="en-US" sz="900" kern="0" dirty="0">
                <a:solidFill>
                  <a:srgbClr val="015EBB"/>
                </a:solidFill>
              </a:rPr>
              <a:t>월별보조금 집행계획검토</a:t>
            </a:r>
            <a:endParaRPr lang="en-US" altLang="ko-KR" sz="900" kern="0" dirty="0">
              <a:solidFill>
                <a:srgbClr val="015EBB"/>
              </a:solidFill>
            </a:endParaRPr>
          </a:p>
        </p:txBody>
      </p:sp>
      <p:cxnSp>
        <p:nvCxnSpPr>
          <p:cNvPr id="159" name="Shape 266"/>
          <p:cNvCxnSpPr>
            <a:cxnSpLocks noChangeShapeType="1"/>
            <a:stCxn id="156" idx="3"/>
            <a:endCxn id="158" idx="1"/>
          </p:cNvCxnSpPr>
          <p:nvPr/>
        </p:nvCxnSpPr>
        <p:spPr bwMode="auto">
          <a:xfrm>
            <a:off x="5133361" y="4660569"/>
            <a:ext cx="11061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0" name="Shape 266"/>
          <p:cNvCxnSpPr>
            <a:cxnSpLocks noChangeShapeType="1"/>
            <a:stCxn id="161" idx="2"/>
            <a:endCxn id="82" idx="2"/>
          </p:cNvCxnSpPr>
          <p:nvPr/>
        </p:nvCxnSpPr>
        <p:spPr bwMode="auto">
          <a:xfrm rot="5400000">
            <a:off x="4511462" y="3977837"/>
            <a:ext cx="1129100" cy="2879226"/>
          </a:xfrm>
          <a:prstGeom prst="bentConnector3">
            <a:avLst>
              <a:gd name="adj1" fmla="val 120246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1" name="순서도: 판단 161"/>
          <p:cNvSpPr>
            <a:spLocks noChangeArrowheads="1"/>
          </p:cNvSpPr>
          <p:nvPr/>
        </p:nvSpPr>
        <p:spPr bwMode="auto">
          <a:xfrm>
            <a:off x="6135708" y="4478667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여부</a:t>
            </a:r>
          </a:p>
        </p:txBody>
      </p:sp>
      <p:cxnSp>
        <p:nvCxnSpPr>
          <p:cNvPr id="162" name="Shape 266"/>
          <p:cNvCxnSpPr>
            <a:cxnSpLocks noChangeShapeType="1"/>
            <a:stCxn id="158" idx="3"/>
            <a:endCxn id="161" idx="1"/>
          </p:cNvCxnSpPr>
          <p:nvPr/>
        </p:nvCxnSpPr>
        <p:spPr bwMode="auto">
          <a:xfrm>
            <a:off x="6000404" y="4660569"/>
            <a:ext cx="135304" cy="52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3" name="Shape 266"/>
          <p:cNvCxnSpPr>
            <a:cxnSpLocks noChangeShapeType="1"/>
            <a:stCxn id="161" idx="3"/>
          </p:cNvCxnSpPr>
          <p:nvPr/>
        </p:nvCxnSpPr>
        <p:spPr bwMode="auto">
          <a:xfrm flipV="1">
            <a:off x="6895542" y="4221972"/>
            <a:ext cx="64575" cy="44381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4" name="TextBox 163"/>
          <p:cNvSpPr txBox="1"/>
          <p:nvPr/>
        </p:nvSpPr>
        <p:spPr>
          <a:xfrm>
            <a:off x="6495734" y="4875968"/>
            <a:ext cx="2663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prstClr val="black"/>
                </a:solidFill>
              </a:rPr>
              <a:t>Y</a:t>
            </a:r>
            <a:endParaRPr lang="ko-KR" altLang="en-US" sz="1000" dirty="0">
              <a:solidFill>
                <a:prstClr val="black"/>
              </a:solidFill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6702880" y="4413208"/>
            <a:ext cx="2663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prstClr val="black"/>
                </a:solidFill>
              </a:rPr>
              <a:t>N</a:t>
            </a:r>
            <a:endParaRPr lang="ko-KR" altLang="en-US" sz="1000" dirty="0">
              <a:solidFill>
                <a:prstClr val="black"/>
              </a:solidFill>
            </a:endParaRPr>
          </a:p>
        </p:txBody>
      </p:sp>
      <p:sp>
        <p:nvSpPr>
          <p:cNvPr id="166" name="순서도: 종속 처리 64"/>
          <p:cNvSpPr>
            <a:spLocks noChangeAspect="1" noChangeArrowheads="1"/>
          </p:cNvSpPr>
          <p:nvPr/>
        </p:nvSpPr>
        <p:spPr bwMode="auto">
          <a:xfrm>
            <a:off x="8634734" y="5769611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평가계획작성</a:t>
            </a:r>
          </a:p>
        </p:txBody>
      </p:sp>
      <p:cxnSp>
        <p:nvCxnSpPr>
          <p:cNvPr id="167" name="Shape 266"/>
          <p:cNvCxnSpPr>
            <a:cxnSpLocks noChangeShapeType="1"/>
            <a:endCxn id="166" idx="0"/>
          </p:cNvCxnSpPr>
          <p:nvPr/>
        </p:nvCxnSpPr>
        <p:spPr bwMode="auto">
          <a:xfrm rot="16200000" flipH="1">
            <a:off x="7352684" y="4107141"/>
            <a:ext cx="1551252" cy="177368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8" name="타원 167"/>
          <p:cNvSpPr/>
          <p:nvPr/>
        </p:nvSpPr>
        <p:spPr>
          <a:xfrm>
            <a:off x="7159571" y="3901201"/>
            <a:ext cx="249855" cy="31715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0" name="순서도: 종속 처리 64"/>
          <p:cNvSpPr>
            <a:spLocks noChangeAspect="1" noChangeArrowheads="1"/>
          </p:cNvSpPr>
          <p:nvPr/>
        </p:nvSpPr>
        <p:spPr bwMode="auto">
          <a:xfrm>
            <a:off x="7855691" y="2673267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/>
              <a:t>1.6.1.3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/>
              <a:t>자금수급</a:t>
            </a:r>
            <a:endParaRPr kumimoji="1" lang="en-US" altLang="ko-KR" sz="900" kern="0" dirty="0"/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/>
              <a:t>계획작성</a:t>
            </a:r>
          </a:p>
        </p:txBody>
      </p:sp>
    </p:spTree>
    <p:extLst>
      <p:ext uri="{BB962C8B-B14F-4D97-AF65-F5344CB8AC3E}">
        <p14:creationId xmlns:p14="http://schemas.microsoft.com/office/powerpoint/2010/main" val="1303272846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기금운용계획 중 보조금지원 내역사업을 선별하여 보조사업자가 월별집행계획을 작성하도록 하여 신속하고 정확한 월별보조금집행계획을 기금지원팀과 자금운용팀이 공유할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3.4.2.1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지급관리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&gt;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집행계획 작성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3973022"/>
              </p:ext>
            </p:extLst>
          </p:nvPr>
        </p:nvGraphicFramePr>
        <p:xfrm>
          <a:off x="344488" y="1604186"/>
          <a:ext cx="9180513" cy="4220756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33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기금지원계획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기금운용계획이 확정되면 기금지원팀 기금지원담당자는 전체 기금운용계획 내역사업 중 보조사업을 구분하여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지원대상 보조사업자를 배정하여 기금지원계획 작성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기금지원계획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1382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기금지원계획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작성된 기금지원사업내역을 공문 혹은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eMail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형식으로 해당 지원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보조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사업자에게 통보 하고 월별보조금집행계획 작성 요청</a:t>
                      </a:r>
                      <a:endParaRPr lang="en-US" altLang="ko-KR" sz="1000" spc="-1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indent="0" latinLnBrk="0">
                        <a:buFontTx/>
                        <a:buNone/>
                      </a:pP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공문 통보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기금지원계획을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Excel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등으로 다운로드 공문에 첨부하여 통보</a:t>
                      </a:r>
                      <a:endParaRPr lang="en-US" altLang="ko-KR" sz="1000" spc="-1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indent="0" latinLnBrk="0">
                        <a:buFontTx/>
                        <a:buNone/>
                      </a:pP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eMail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통보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 작성요청을 사전 등록된 보조사업자에게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eMail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발송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405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기금지원계획을 접수한 지원사업자는 기금보조사업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내역사업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월별보조금집행계획 작성</a:t>
                      </a:r>
                      <a:endParaRPr lang="en-US" altLang="ko-KR" sz="1000" spc="-1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latinLnBrk="0"/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대규모 지원사업자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(3)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기금지원시스템에 직접 월별보조금집행계획 등록</a:t>
                      </a:r>
                      <a:endParaRPr lang="en-US" altLang="ko-KR" sz="1000" spc="-1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latinLnBrk="0"/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소규모 지원사업자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(3-1)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기금지원팀 기금지원담당자가 월별보조금집행계획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보조사업자는 월별보조금집행계획 작성이 끝나면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기금지원시스템을 통해 제출한 후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공문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혹은 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eMail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통해 기금지원팀 기금지원담당자에게 통보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기금지원팀 기금지원담당자는 월별보조금집행계획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월별보조금집행계획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접수된 월별집행계획을 검토하여 보완이 필요한 경우 해당 지원사업자에게 보완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월별보조금집행계획 승인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기금지원담당자는 각 지원사업자로부터 제출된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월별보조금집행계획과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작성한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월별보조금집행계획을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통합하여 팀장에게 보조사업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월별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보조금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집행계획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승인을 득함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월별보조금집행계획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월별보조금집행계획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작성된 기금보조금사업의 월별보조금집행계획을 자금운용팀에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 수입 및 지출계획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849657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지급관리 지원금지급관리 업무는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나라도움을 통해 확인한 지원금지급신청 건을 통합재무시스템을 통해 지급처리 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지급관리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&gt;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지원금지급관리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en-US" altLang="ko-KR" dirty="0"/>
              <a:t>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45597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지원금지급관리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0" name="표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7482794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20541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306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6166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62829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지원금지급신청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4.1.2.2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지원금지급처리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31312">
                <a:tc rowSpan="3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자금운용팀</a:t>
                      </a:r>
                      <a:endParaRPr lang="en-US" altLang="ko-KR" sz="1100" b="0" i="0" u="none" strike="noStrike" kern="1200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48072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재무관리팀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041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828092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금고은행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주거래은행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04056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71" name="Shape 266"/>
          <p:cNvCxnSpPr>
            <a:cxnSpLocks noChangeShapeType="1"/>
            <a:stCxn id="88" idx="2"/>
            <a:endCxn id="76" idx="3"/>
          </p:cNvCxnSpPr>
          <p:nvPr/>
        </p:nvCxnSpPr>
        <p:spPr bwMode="auto">
          <a:xfrm rot="5400000">
            <a:off x="4579090" y="4433063"/>
            <a:ext cx="1202027" cy="208570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2" name="TextBox 71"/>
          <p:cNvSpPr txBox="1"/>
          <p:nvPr/>
        </p:nvSpPr>
        <p:spPr>
          <a:xfrm>
            <a:off x="6231930" y="4879317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474730" y="4464767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74" name="Shape 266"/>
          <p:cNvCxnSpPr>
            <a:cxnSpLocks noChangeShapeType="1"/>
            <a:stCxn id="75" idx="1"/>
            <a:endCxn id="125" idx="1"/>
          </p:cNvCxnSpPr>
          <p:nvPr/>
        </p:nvCxnSpPr>
        <p:spPr bwMode="auto">
          <a:xfrm rot="10800000" flipV="1">
            <a:off x="2623946" y="4687784"/>
            <a:ext cx="756883" cy="48721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직사각형 74"/>
          <p:cNvSpPr/>
          <p:nvPr/>
        </p:nvSpPr>
        <p:spPr bwMode="auto">
          <a:xfrm>
            <a:off x="3380828" y="452739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2.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교부</a:t>
            </a:r>
            <a:r>
              <a:rPr lang="en-US" altLang="ko-KR" sz="900" kern="0" spc="-100" dirty="0">
                <a:solidFill>
                  <a:prstClr val="black"/>
                </a:solidFill>
              </a:rPr>
              <a:t>(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지급</a:t>
            </a:r>
            <a:r>
              <a:rPr lang="en-US" altLang="ko-KR" sz="900" kern="0" spc="-100" dirty="0">
                <a:solidFill>
                  <a:prstClr val="black"/>
                </a:solidFill>
              </a:rPr>
              <a:t>)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요청 접수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76" name="직사각형 75"/>
          <p:cNvSpPr/>
          <p:nvPr/>
        </p:nvSpPr>
        <p:spPr bwMode="auto">
          <a:xfrm>
            <a:off x="3380828" y="591654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지원금 교부</a:t>
            </a:r>
            <a:r>
              <a:rPr lang="en-US" altLang="ko-KR" sz="900" kern="0" spc="-100" dirty="0">
                <a:solidFill>
                  <a:prstClr val="black"/>
                </a:solidFill>
              </a:rPr>
              <a:t>(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지급</a:t>
            </a:r>
            <a:r>
              <a:rPr lang="en-US" altLang="ko-KR" sz="900" kern="0" spc="-100" dirty="0">
                <a:solidFill>
                  <a:prstClr val="black"/>
                </a:solidFill>
              </a:rPr>
              <a:t>)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요청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4664968" y="452739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3.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지급시기 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79" name="Shape 266"/>
          <p:cNvCxnSpPr>
            <a:cxnSpLocks noChangeShapeType="1"/>
            <a:endCxn id="76" idx="1"/>
          </p:cNvCxnSpPr>
          <p:nvPr/>
        </p:nvCxnSpPr>
        <p:spPr bwMode="auto">
          <a:xfrm rot="16200000" flipH="1">
            <a:off x="1553705" y="4249804"/>
            <a:ext cx="2052832" cy="160141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7338987" y="452739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지출품의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6" name="육각형 85"/>
          <p:cNvSpPr/>
          <p:nvPr/>
        </p:nvSpPr>
        <p:spPr bwMode="auto">
          <a:xfrm>
            <a:off x="1391715" y="3717032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dirty="0">
                <a:solidFill>
                  <a:prstClr val="black"/>
                </a:solidFill>
              </a:rPr>
              <a:t>집행시기도래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8" name="순서도: 판단 87"/>
          <p:cNvSpPr>
            <a:spLocks noChangeArrowheads="1"/>
          </p:cNvSpPr>
          <p:nvPr/>
        </p:nvSpPr>
        <p:spPr bwMode="auto">
          <a:xfrm>
            <a:off x="5843036" y="4500667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800" kern="0" spc="-100" dirty="0">
                <a:solidFill>
                  <a:prstClr val="black"/>
                </a:solidFill>
              </a:rPr>
              <a:t>지급 시기 도래</a:t>
            </a:r>
          </a:p>
        </p:txBody>
      </p:sp>
      <p:sp>
        <p:nvSpPr>
          <p:cNvPr id="89" name="육각형 88"/>
          <p:cNvSpPr/>
          <p:nvPr/>
        </p:nvSpPr>
        <p:spPr bwMode="auto">
          <a:xfrm>
            <a:off x="8516904" y="5849173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이체내용 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90" name="Shape 266"/>
          <p:cNvCxnSpPr>
            <a:cxnSpLocks noChangeShapeType="1"/>
            <a:stCxn id="76" idx="0"/>
            <a:endCxn id="75" idx="2"/>
          </p:cNvCxnSpPr>
          <p:nvPr/>
        </p:nvCxnSpPr>
        <p:spPr bwMode="auto">
          <a:xfrm flipV="1">
            <a:off x="3759041" y="4848169"/>
            <a:ext cx="0" cy="10683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75" idx="3"/>
            <a:endCxn id="78" idx="1"/>
          </p:cNvCxnSpPr>
          <p:nvPr/>
        </p:nvCxnSpPr>
        <p:spPr bwMode="auto">
          <a:xfrm>
            <a:off x="4137253" y="4687784"/>
            <a:ext cx="52771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78" idx="3"/>
            <a:endCxn id="88" idx="1"/>
          </p:cNvCxnSpPr>
          <p:nvPr/>
        </p:nvCxnSpPr>
        <p:spPr bwMode="auto">
          <a:xfrm>
            <a:off x="5421393" y="4687784"/>
            <a:ext cx="42164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88" idx="3"/>
            <a:endCxn id="82" idx="1"/>
          </p:cNvCxnSpPr>
          <p:nvPr/>
        </p:nvCxnSpPr>
        <p:spPr bwMode="auto">
          <a:xfrm>
            <a:off x="6602870" y="4687784"/>
            <a:ext cx="73611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121" idx="3"/>
            <a:endCxn id="156" idx="0"/>
          </p:cNvCxnSpPr>
          <p:nvPr/>
        </p:nvCxnSpPr>
        <p:spPr bwMode="auto">
          <a:xfrm>
            <a:off x="8090103" y="2616047"/>
            <a:ext cx="805165" cy="261315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원통 68"/>
          <p:cNvSpPr>
            <a:spLocks noChangeAspect="1" noChangeArrowheads="1"/>
          </p:cNvSpPr>
          <p:nvPr/>
        </p:nvSpPr>
        <p:spPr bwMode="auto">
          <a:xfrm>
            <a:off x="2288704" y="5175000"/>
            <a:ext cx="670481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b="1" kern="0" spc="-100" dirty="0">
                <a:solidFill>
                  <a:prstClr val="black"/>
                </a:solidFill>
              </a:rPr>
              <a:t>지원사업계획</a:t>
            </a:r>
            <a:r>
              <a:rPr kumimoji="1" lang="en-US" altLang="ko-KR" sz="900" b="1" kern="0" spc="-100" dirty="0">
                <a:solidFill>
                  <a:prstClr val="black"/>
                </a:solidFill>
              </a:rPr>
              <a:t>/</a:t>
            </a:r>
            <a:r>
              <a:rPr kumimoji="1" lang="ko-KR" altLang="en-US" sz="900" b="1" kern="0" spc="-100" dirty="0">
                <a:solidFill>
                  <a:prstClr val="black"/>
                </a:solidFill>
              </a:rPr>
              <a:t>교부정보</a:t>
            </a:r>
            <a:endParaRPr kumimoji="1" lang="ko-KR" altLang="en-US" sz="600" b="1" kern="0" spc="-100" dirty="0">
              <a:solidFill>
                <a:prstClr val="black"/>
              </a:solidFill>
            </a:endParaRPr>
          </a:p>
        </p:txBody>
      </p:sp>
      <p:sp>
        <p:nvSpPr>
          <p:cNvPr id="128" name="타원 127"/>
          <p:cNvSpPr/>
          <p:nvPr/>
        </p:nvSpPr>
        <p:spPr>
          <a:xfrm>
            <a:off x="1920567" y="5908791"/>
            <a:ext cx="241894" cy="311728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2619164" y="5913175"/>
            <a:ext cx="308592" cy="262383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30" name="Shape 266"/>
          <p:cNvCxnSpPr>
            <a:cxnSpLocks noChangeShapeType="1"/>
            <a:endCxn id="125" idx="3"/>
          </p:cNvCxnSpPr>
          <p:nvPr/>
        </p:nvCxnSpPr>
        <p:spPr bwMode="auto">
          <a:xfrm rot="10800000">
            <a:off x="2623945" y="5600815"/>
            <a:ext cx="775464" cy="34513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6" name="직사각형 155"/>
          <p:cNvSpPr/>
          <p:nvPr/>
        </p:nvSpPr>
        <p:spPr bwMode="auto">
          <a:xfrm>
            <a:off x="8517055" y="5229200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이체처리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7" name="Shape 266"/>
          <p:cNvCxnSpPr>
            <a:cxnSpLocks noChangeShapeType="1"/>
            <a:stCxn id="156" idx="2"/>
          </p:cNvCxnSpPr>
          <p:nvPr/>
        </p:nvCxnSpPr>
        <p:spPr bwMode="auto">
          <a:xfrm flipH="1">
            <a:off x="8895116" y="5549971"/>
            <a:ext cx="152" cy="3588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9" name="순서도: 종속 처리 64"/>
          <p:cNvSpPr>
            <a:spLocks noChangeAspect="1" noChangeArrowheads="1"/>
          </p:cNvSpPr>
          <p:nvPr/>
        </p:nvSpPr>
        <p:spPr bwMode="auto">
          <a:xfrm>
            <a:off x="1400593" y="3033307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4.1.1.2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보조금집행</a:t>
            </a:r>
            <a:endParaRPr kumimoji="1" lang="en-US" altLang="ko-KR" sz="900" kern="0" dirty="0">
              <a:solidFill>
                <a:prstClr val="black"/>
              </a:solidFill>
            </a:endParaRP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계획작성</a:t>
            </a:r>
          </a:p>
        </p:txBody>
      </p:sp>
      <p:cxnSp>
        <p:nvCxnSpPr>
          <p:cNvPr id="160" name="Shape 266"/>
          <p:cNvCxnSpPr>
            <a:cxnSpLocks noChangeShapeType="1"/>
            <a:stCxn id="159" idx="2"/>
          </p:cNvCxnSpPr>
          <p:nvPr/>
        </p:nvCxnSpPr>
        <p:spPr bwMode="auto">
          <a:xfrm>
            <a:off x="1781013" y="3429000"/>
            <a:ext cx="7279" cy="30706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1" name="순서도: 종속 처리 64"/>
          <p:cNvSpPr>
            <a:spLocks noChangeAspect="1" noChangeArrowheads="1"/>
          </p:cNvSpPr>
          <p:nvPr/>
        </p:nvSpPr>
        <p:spPr bwMode="auto">
          <a:xfrm>
            <a:off x="7329264" y="3764254"/>
            <a:ext cx="760839" cy="395693"/>
          </a:xfrm>
          <a:prstGeom prst="flowChartPredefinedProcess">
            <a:avLst/>
          </a:prstGeom>
          <a:noFill/>
          <a:ln w="1397" algn="ctr">
            <a:solidFill>
              <a:srgbClr val="015EB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1.3.1.2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5. </a:t>
            </a:r>
            <a:r>
              <a:rPr kumimoji="1" lang="ko-KR" altLang="en-US" sz="900" kern="0" dirty="0">
                <a:solidFill>
                  <a:srgbClr val="015EBB"/>
                </a:solidFill>
              </a:rPr>
              <a:t>지출요구</a:t>
            </a:r>
          </a:p>
        </p:txBody>
      </p:sp>
      <p:sp>
        <p:nvSpPr>
          <p:cNvPr id="163" name="타원 162"/>
          <p:cNvSpPr/>
          <p:nvPr/>
        </p:nvSpPr>
        <p:spPr>
          <a:xfrm>
            <a:off x="2619164" y="5862751"/>
            <a:ext cx="224088" cy="25901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19" name="Shape 266"/>
          <p:cNvCxnSpPr>
            <a:cxnSpLocks noChangeShapeType="1"/>
            <a:stCxn id="82" idx="0"/>
            <a:endCxn id="161" idx="2"/>
          </p:cNvCxnSpPr>
          <p:nvPr/>
        </p:nvCxnSpPr>
        <p:spPr bwMode="auto">
          <a:xfrm flipH="1" flipV="1">
            <a:off x="7709684" y="4159947"/>
            <a:ext cx="7516" cy="36745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0" name="순서도: 종속 처리 64"/>
          <p:cNvSpPr>
            <a:spLocks noChangeAspect="1" noChangeArrowheads="1"/>
          </p:cNvSpPr>
          <p:nvPr/>
        </p:nvSpPr>
        <p:spPr bwMode="auto">
          <a:xfrm>
            <a:off x="7329264" y="3038570"/>
            <a:ext cx="760839" cy="395693"/>
          </a:xfrm>
          <a:prstGeom prst="flowChartPredefinedProcess">
            <a:avLst/>
          </a:prstGeom>
          <a:noFill/>
          <a:ln w="1397" algn="ctr">
            <a:solidFill>
              <a:srgbClr val="015EB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1.3.1.3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6. </a:t>
            </a:r>
            <a:r>
              <a:rPr kumimoji="1" lang="ko-KR" altLang="en-US" sz="900" kern="0" spc="-150" dirty="0">
                <a:solidFill>
                  <a:srgbClr val="015EBB"/>
                </a:solidFill>
              </a:rPr>
              <a:t>지출원인행위</a:t>
            </a:r>
          </a:p>
        </p:txBody>
      </p:sp>
      <p:sp>
        <p:nvSpPr>
          <p:cNvPr id="121" name="순서도: 종속 처리 64"/>
          <p:cNvSpPr>
            <a:spLocks noChangeAspect="1" noChangeArrowheads="1"/>
          </p:cNvSpPr>
          <p:nvPr/>
        </p:nvSpPr>
        <p:spPr bwMode="auto">
          <a:xfrm>
            <a:off x="7329264" y="2418200"/>
            <a:ext cx="760839" cy="395693"/>
          </a:xfrm>
          <a:prstGeom prst="flowChartPredefinedProcess">
            <a:avLst/>
          </a:prstGeom>
          <a:noFill/>
          <a:ln w="1397" algn="ctr">
            <a:solidFill>
              <a:srgbClr val="015EB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1.3.1.4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7. </a:t>
            </a:r>
            <a:r>
              <a:rPr kumimoji="1" lang="ko-KR" altLang="en-US" sz="900" kern="0" dirty="0">
                <a:solidFill>
                  <a:srgbClr val="015EBB"/>
                </a:solidFill>
              </a:rPr>
              <a:t>지출처리</a:t>
            </a:r>
          </a:p>
        </p:txBody>
      </p:sp>
      <p:cxnSp>
        <p:nvCxnSpPr>
          <p:cNvPr id="122" name="Shape 266"/>
          <p:cNvCxnSpPr>
            <a:cxnSpLocks noChangeShapeType="1"/>
            <a:stCxn id="161" idx="0"/>
            <a:endCxn id="120" idx="2"/>
          </p:cNvCxnSpPr>
          <p:nvPr/>
        </p:nvCxnSpPr>
        <p:spPr bwMode="auto">
          <a:xfrm flipV="1">
            <a:off x="7709684" y="3434263"/>
            <a:ext cx="0" cy="32999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" name="Shape 266"/>
          <p:cNvCxnSpPr>
            <a:cxnSpLocks noChangeShapeType="1"/>
            <a:stCxn id="120" idx="0"/>
            <a:endCxn id="121" idx="2"/>
          </p:cNvCxnSpPr>
          <p:nvPr/>
        </p:nvCxnSpPr>
        <p:spPr bwMode="auto">
          <a:xfrm flipV="1">
            <a:off x="7709684" y="2813893"/>
            <a:ext cx="0" cy="2246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724971816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지급관리 지원금지급관리 업무는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나라도움을 통해 확인한 지원금지급신청 건을 통합재무시스템을 통해 지급처리 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3.4.2.2 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지급관리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&gt;</a:t>
            </a:r>
            <a:r>
              <a:rPr kumimoji="1"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지원금지급관리 </a:t>
            </a:r>
            <a:r>
              <a:rPr kumimoji="1"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en-US" altLang="ko-KR" dirty="0"/>
              <a:t>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115395"/>
              </p:ext>
            </p:extLst>
          </p:nvPr>
        </p:nvGraphicFramePr>
        <p:xfrm>
          <a:off x="344488" y="1604186"/>
          <a:ext cx="9180513" cy="384143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지원금교부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집행시기가 도래한 지원사업자는 지원사업계획에 따라 공단의 기금지원팀 기금지원담당자에게 지원금 지급을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지원금지급신청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교부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공단의 기금지원팀 기금지원담당자는 지원사업자로부터 지급요청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지원금지급신청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지급시기확인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기금지원팀 기금지원담당자는 지원사업자로부터의 교부요청의 지급시기가 맞는지 여부를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기금지원사업계획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지출품의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지급시기 확인결과 지급시기가 맞으면 지출품의 수행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지출품의정보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67683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지출요구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지출품의가 완료되면 지출요구서를 작성하여 재무관리팀에 제출</a:t>
                      </a:r>
                      <a:endParaRPr lang="en-US" altLang="ko-KR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latinLnBrk="0"/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자치단체교부의 경우 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자치단체 징수관 통장으로 교부</a:t>
                      </a:r>
                      <a:endParaRPr lang="en-US" altLang="ko-KR" sz="10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150813" indent="-150813" latinLnBrk="0"/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-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민간보조금 교부의 경우 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재정정보원의 국고보조금예치계좌로 이체하되 적요란에 교부요청 시 수신한 식별번호를 입력하여 이체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지출요구정보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6043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지출원인행위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지출요구서를 접수한 재무관리팀에서는 지출원인행위를 작성하여 자금운용팀에 지출처리요청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지출원인행위정보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통합재무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자금운용팀에서는 지출원인행위 내용을 확인하여 금고은행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혹은 주거래은행에 지출처리 송부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지출처리정보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이체처리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금고은행 혹은 주거래은행에서는 지출처리 내용에 따라 이체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이체처리결과정보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금고은행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처리시스템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9584055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집행관리 중요재산등록지원 업무 중 문화체육관광부</a:t>
            </a:r>
            <a:r>
              <a:rPr lang="en-US" altLang="ko-KR" sz="1600" dirty="0"/>
              <a:t>, </a:t>
            </a:r>
            <a:r>
              <a:rPr lang="ko-KR" altLang="en-US" sz="1600" dirty="0"/>
              <a:t>공단</a:t>
            </a:r>
            <a:r>
              <a:rPr lang="en-US" altLang="ko-KR" sz="1600" dirty="0"/>
              <a:t>, </a:t>
            </a:r>
            <a:r>
              <a:rPr lang="ko-KR" altLang="en-US" sz="1600" dirty="0"/>
              <a:t>지원사업자로 이어지는 보완요청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처분협의 등에 대한 소통을 정보시스템을 통해 처리할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3.4.2.3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중요재산등록지원 </a:t>
            </a:r>
            <a:r>
              <a:rPr lang="en-US" altLang="ko-KR" dirty="0"/>
              <a:t>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9130529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중요재산등록지원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1" name="표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9750180"/>
              </p:ext>
            </p:extLst>
          </p:nvPr>
        </p:nvGraphicFramePr>
        <p:xfrm>
          <a:off x="344488" y="1942232"/>
          <a:ext cx="9181020" cy="4380099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현황관리지원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58983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24136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620180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2" name="육각형 121"/>
          <p:cNvSpPr/>
          <p:nvPr/>
        </p:nvSpPr>
        <p:spPr bwMode="auto">
          <a:xfrm>
            <a:off x="1794057" y="5391431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중요재산 취득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3067764" y="291501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393335" y="2776850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25" name="Shape 266"/>
          <p:cNvCxnSpPr>
            <a:cxnSpLocks noChangeShapeType="1"/>
            <a:stCxn id="128" idx="2"/>
            <a:endCxn id="163" idx="0"/>
          </p:cNvCxnSpPr>
          <p:nvPr/>
        </p:nvCxnSpPr>
        <p:spPr bwMode="auto">
          <a:xfrm rot="16200000" flipH="1">
            <a:off x="3013506" y="3049777"/>
            <a:ext cx="136394" cy="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6" name="직사각형 125"/>
          <p:cNvSpPr/>
          <p:nvPr/>
        </p:nvSpPr>
        <p:spPr bwMode="auto">
          <a:xfrm>
            <a:off x="1791879" y="4810163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중요재산 취득정보 보고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27" name="Shape 266"/>
          <p:cNvCxnSpPr>
            <a:cxnSpLocks noChangeShapeType="1"/>
            <a:endCxn id="126" idx="2"/>
          </p:cNvCxnSpPr>
          <p:nvPr/>
        </p:nvCxnSpPr>
        <p:spPr bwMode="auto">
          <a:xfrm flipV="1">
            <a:off x="2170091" y="5130934"/>
            <a:ext cx="1" cy="2517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" name="순서도: 판단 127"/>
          <p:cNvSpPr>
            <a:spLocks noChangeArrowheads="1"/>
          </p:cNvSpPr>
          <p:nvPr/>
        </p:nvSpPr>
        <p:spPr bwMode="auto">
          <a:xfrm>
            <a:off x="2701786" y="2607348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필요</a:t>
            </a:r>
          </a:p>
        </p:txBody>
      </p:sp>
      <p:cxnSp>
        <p:nvCxnSpPr>
          <p:cNvPr id="129" name="Shape 266"/>
          <p:cNvCxnSpPr>
            <a:cxnSpLocks noChangeShapeType="1"/>
            <a:stCxn id="130" idx="3"/>
            <a:endCxn id="128" idx="1"/>
          </p:cNvCxnSpPr>
          <p:nvPr/>
        </p:nvCxnSpPr>
        <p:spPr bwMode="auto">
          <a:xfrm>
            <a:off x="2548304" y="2794465"/>
            <a:ext cx="15348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0" name="직사각형 129"/>
          <p:cNvSpPr/>
          <p:nvPr/>
        </p:nvSpPr>
        <p:spPr bwMode="auto">
          <a:xfrm>
            <a:off x="1791879" y="2634079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2.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등록현황 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31" name="직사각형 130"/>
          <p:cNvSpPr/>
          <p:nvPr/>
        </p:nvSpPr>
        <p:spPr bwMode="auto">
          <a:xfrm>
            <a:off x="4736976" y="42684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6. </a:t>
            </a:r>
            <a:r>
              <a:rPr lang="ko-KR" altLang="en-US" sz="900" kern="0" dirty="0">
                <a:solidFill>
                  <a:srgbClr val="508CD2"/>
                </a:solidFill>
              </a:rPr>
              <a:t>현황정보 등록요청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32" name="직사각형 131"/>
          <p:cNvSpPr/>
          <p:nvPr/>
        </p:nvSpPr>
        <p:spPr bwMode="auto">
          <a:xfrm>
            <a:off x="4736976" y="5331757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7.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현황정보 등록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33" name="Shape 266"/>
          <p:cNvCxnSpPr>
            <a:cxnSpLocks noChangeShapeType="1"/>
            <a:stCxn id="128" idx="3"/>
          </p:cNvCxnSpPr>
          <p:nvPr/>
        </p:nvCxnSpPr>
        <p:spPr bwMode="auto">
          <a:xfrm>
            <a:off x="3461620" y="2794465"/>
            <a:ext cx="173258" cy="201189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" name="Shape 266"/>
          <p:cNvCxnSpPr>
            <a:cxnSpLocks noChangeShapeType="1"/>
            <a:stCxn id="131" idx="2"/>
            <a:endCxn id="132" idx="0"/>
          </p:cNvCxnSpPr>
          <p:nvPr/>
        </p:nvCxnSpPr>
        <p:spPr bwMode="auto">
          <a:xfrm>
            <a:off x="5115189" y="4589188"/>
            <a:ext cx="0" cy="7425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5" name="직사각형 134"/>
          <p:cNvSpPr/>
          <p:nvPr/>
        </p:nvSpPr>
        <p:spPr bwMode="auto">
          <a:xfrm>
            <a:off x="5852759" y="260668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8.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등록정보 검토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36" name="Shape 266"/>
          <p:cNvCxnSpPr>
            <a:cxnSpLocks noChangeShapeType="1"/>
            <a:stCxn id="132" idx="3"/>
            <a:endCxn id="135" idx="2"/>
          </p:cNvCxnSpPr>
          <p:nvPr/>
        </p:nvCxnSpPr>
        <p:spPr bwMode="auto">
          <a:xfrm flipV="1">
            <a:off x="5493401" y="2927459"/>
            <a:ext cx="737571" cy="256468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" name="Shape 266"/>
          <p:cNvCxnSpPr>
            <a:cxnSpLocks noChangeShapeType="1"/>
            <a:stCxn id="126" idx="0"/>
            <a:endCxn id="130" idx="2"/>
          </p:cNvCxnSpPr>
          <p:nvPr/>
        </p:nvCxnSpPr>
        <p:spPr bwMode="auto">
          <a:xfrm flipV="1">
            <a:off x="2170092" y="2954850"/>
            <a:ext cx="0" cy="185531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8" name="순서도: 판단 137"/>
          <p:cNvSpPr>
            <a:spLocks noChangeArrowheads="1"/>
          </p:cNvSpPr>
          <p:nvPr/>
        </p:nvSpPr>
        <p:spPr bwMode="auto">
          <a:xfrm>
            <a:off x="6916162" y="2580466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필요</a:t>
            </a:r>
          </a:p>
        </p:txBody>
      </p:sp>
      <p:cxnSp>
        <p:nvCxnSpPr>
          <p:cNvPr id="139" name="Shape 266"/>
          <p:cNvCxnSpPr>
            <a:cxnSpLocks noChangeShapeType="1"/>
            <a:stCxn id="138" idx="2"/>
            <a:endCxn id="167" idx="0"/>
          </p:cNvCxnSpPr>
          <p:nvPr/>
        </p:nvCxnSpPr>
        <p:spPr bwMode="auto">
          <a:xfrm>
            <a:off x="7296079" y="2954699"/>
            <a:ext cx="1" cy="15880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0" name="순서도: 판단 139"/>
          <p:cNvSpPr>
            <a:spLocks noChangeArrowheads="1"/>
          </p:cNvSpPr>
          <p:nvPr/>
        </p:nvSpPr>
        <p:spPr bwMode="auto">
          <a:xfrm>
            <a:off x="8130835" y="5435727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처분 여부</a:t>
            </a:r>
          </a:p>
        </p:txBody>
      </p:sp>
      <p:sp>
        <p:nvSpPr>
          <p:cNvPr id="141" name="직사각형 140"/>
          <p:cNvSpPr/>
          <p:nvPr/>
        </p:nvSpPr>
        <p:spPr bwMode="auto">
          <a:xfrm>
            <a:off x="3403465" y="481016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중요재산 정보관리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42" name="Shape 266"/>
          <p:cNvCxnSpPr>
            <a:cxnSpLocks noChangeShapeType="1"/>
            <a:stCxn id="141" idx="2"/>
            <a:endCxn id="143" idx="0"/>
          </p:cNvCxnSpPr>
          <p:nvPr/>
        </p:nvCxnSpPr>
        <p:spPr bwMode="auto">
          <a:xfrm>
            <a:off x="3781678" y="5130933"/>
            <a:ext cx="1704" cy="4768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3" name="순서도: 판단 142"/>
          <p:cNvSpPr>
            <a:spLocks noChangeArrowheads="1"/>
          </p:cNvSpPr>
          <p:nvPr/>
        </p:nvSpPr>
        <p:spPr bwMode="auto">
          <a:xfrm>
            <a:off x="3403465" y="5607735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정보 등록 시기</a:t>
            </a:r>
          </a:p>
        </p:txBody>
      </p:sp>
      <p:cxnSp>
        <p:nvCxnSpPr>
          <p:cNvPr id="144" name="Shape 266"/>
          <p:cNvCxnSpPr>
            <a:cxnSpLocks noChangeShapeType="1"/>
            <a:stCxn id="143" idx="3"/>
            <a:endCxn id="131" idx="1"/>
          </p:cNvCxnSpPr>
          <p:nvPr/>
        </p:nvCxnSpPr>
        <p:spPr bwMode="auto">
          <a:xfrm flipV="1">
            <a:off x="4163299" y="4428803"/>
            <a:ext cx="573677" cy="136604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" name="Shape 266"/>
          <p:cNvCxnSpPr>
            <a:cxnSpLocks noChangeShapeType="1"/>
            <a:stCxn id="143" idx="1"/>
            <a:endCxn id="141" idx="1"/>
          </p:cNvCxnSpPr>
          <p:nvPr/>
        </p:nvCxnSpPr>
        <p:spPr bwMode="auto">
          <a:xfrm rot="10800000">
            <a:off x="3403465" y="4970548"/>
            <a:ext cx="12700" cy="824304"/>
          </a:xfrm>
          <a:prstGeom prst="bentConnector3">
            <a:avLst>
              <a:gd name="adj1" fmla="val 180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6" name="Shape 266"/>
          <p:cNvCxnSpPr>
            <a:cxnSpLocks noChangeShapeType="1"/>
            <a:stCxn id="135" idx="3"/>
            <a:endCxn id="138" idx="1"/>
          </p:cNvCxnSpPr>
          <p:nvPr/>
        </p:nvCxnSpPr>
        <p:spPr bwMode="auto">
          <a:xfrm>
            <a:off x="6609184" y="2767074"/>
            <a:ext cx="306978" cy="5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7" name="Shape 266"/>
          <p:cNvCxnSpPr>
            <a:cxnSpLocks noChangeShapeType="1"/>
            <a:stCxn id="138" idx="3"/>
            <a:endCxn id="140" idx="1"/>
          </p:cNvCxnSpPr>
          <p:nvPr/>
        </p:nvCxnSpPr>
        <p:spPr bwMode="auto">
          <a:xfrm>
            <a:off x="7675996" y="2767583"/>
            <a:ext cx="454839" cy="285526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8" name="Shape 266"/>
          <p:cNvCxnSpPr>
            <a:cxnSpLocks noChangeShapeType="1"/>
            <a:stCxn id="140" idx="0"/>
            <a:endCxn id="141" idx="0"/>
          </p:cNvCxnSpPr>
          <p:nvPr/>
        </p:nvCxnSpPr>
        <p:spPr bwMode="auto">
          <a:xfrm rot="16200000" flipV="1">
            <a:off x="5833433" y="2758408"/>
            <a:ext cx="625565" cy="4729074"/>
          </a:xfrm>
          <a:prstGeom prst="bentConnector3">
            <a:avLst>
              <a:gd name="adj1" fmla="val 478757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9" name="타원 148"/>
          <p:cNvSpPr/>
          <p:nvPr/>
        </p:nvSpPr>
        <p:spPr>
          <a:xfrm>
            <a:off x="3792418" y="4806363"/>
            <a:ext cx="257693" cy="30267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50" name="Shape 266"/>
          <p:cNvCxnSpPr>
            <a:cxnSpLocks noChangeShapeType="1"/>
            <a:stCxn id="140" idx="3"/>
            <a:endCxn id="171" idx="2"/>
          </p:cNvCxnSpPr>
          <p:nvPr/>
        </p:nvCxnSpPr>
        <p:spPr bwMode="auto">
          <a:xfrm>
            <a:off x="8890669" y="5622844"/>
            <a:ext cx="288509" cy="173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" name="TextBox 150"/>
          <p:cNvSpPr txBox="1"/>
          <p:nvPr/>
        </p:nvSpPr>
        <p:spPr>
          <a:xfrm>
            <a:off x="8902008" y="5391431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8540109" y="5239559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7277773" y="2882195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7647501" y="2541911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4225904" y="5574967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3248915" y="5579128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57" name="Shape 266"/>
          <p:cNvCxnSpPr>
            <a:cxnSpLocks noChangeShapeType="1"/>
            <a:stCxn id="159" idx="1"/>
            <a:endCxn id="130" idx="1"/>
          </p:cNvCxnSpPr>
          <p:nvPr/>
        </p:nvCxnSpPr>
        <p:spPr bwMode="auto">
          <a:xfrm rot="5400000" flipH="1" flipV="1">
            <a:off x="1349335" y="3129650"/>
            <a:ext cx="777729" cy="10736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8" name="순서도: 문서 78"/>
          <p:cNvSpPr>
            <a:spLocks noChangeAspect="1" noChangeArrowheads="1"/>
          </p:cNvSpPr>
          <p:nvPr/>
        </p:nvSpPr>
        <p:spPr bwMode="auto">
          <a:xfrm>
            <a:off x="1343077" y="3129244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취득가액 정보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59" name="원통 68"/>
          <p:cNvSpPr>
            <a:spLocks noChangeAspect="1" noChangeArrowheads="1"/>
          </p:cNvSpPr>
          <p:nvPr/>
        </p:nvSpPr>
        <p:spPr bwMode="auto">
          <a:xfrm>
            <a:off x="1303578" y="3572194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36000" r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</a:rPr>
              <a:t>중요재산 정보</a:t>
            </a:r>
            <a:endParaRPr kumimoji="1" lang="ko-KR" altLang="en-US" sz="800" b="1" kern="0" spc="-100" dirty="0">
              <a:solidFill>
                <a:prstClr val="black"/>
              </a:solidFill>
            </a:endParaRPr>
          </a:p>
        </p:txBody>
      </p:sp>
      <p:cxnSp>
        <p:nvCxnSpPr>
          <p:cNvPr id="160" name="Shape 266"/>
          <p:cNvCxnSpPr>
            <a:cxnSpLocks noChangeShapeType="1"/>
            <a:endCxn id="135" idx="1"/>
          </p:cNvCxnSpPr>
          <p:nvPr/>
        </p:nvCxnSpPr>
        <p:spPr bwMode="auto">
          <a:xfrm rot="5400000" flipH="1" flipV="1">
            <a:off x="5448025" y="2930487"/>
            <a:ext cx="568147" cy="24132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1" name="순서도: 문서 78"/>
          <p:cNvSpPr>
            <a:spLocks noChangeAspect="1" noChangeArrowheads="1"/>
          </p:cNvSpPr>
          <p:nvPr/>
        </p:nvSpPr>
        <p:spPr bwMode="auto">
          <a:xfrm>
            <a:off x="5259680" y="3129244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현재가치 정보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62" name="원통 68"/>
          <p:cNvSpPr>
            <a:spLocks noChangeAspect="1" noChangeArrowheads="1"/>
          </p:cNvSpPr>
          <p:nvPr/>
        </p:nvSpPr>
        <p:spPr bwMode="auto">
          <a:xfrm>
            <a:off x="5307242" y="3556257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36000" r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</a:rPr>
              <a:t>중요재산 정보</a:t>
            </a:r>
            <a:endParaRPr kumimoji="1" lang="ko-KR" altLang="en-US" sz="800" b="1" kern="0" spc="-100" dirty="0">
              <a:solidFill>
                <a:prstClr val="black"/>
              </a:solidFill>
            </a:endParaRPr>
          </a:p>
        </p:txBody>
      </p:sp>
      <p:sp>
        <p:nvSpPr>
          <p:cNvPr id="163" name="직사각형 162"/>
          <p:cNvSpPr/>
          <p:nvPr/>
        </p:nvSpPr>
        <p:spPr bwMode="auto">
          <a:xfrm>
            <a:off x="2703491" y="311797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보완요청 지시통보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64" name="직사각형 163"/>
          <p:cNvSpPr/>
          <p:nvPr/>
        </p:nvSpPr>
        <p:spPr bwMode="auto">
          <a:xfrm>
            <a:off x="2704889" y="423710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4. </a:t>
            </a:r>
            <a:r>
              <a:rPr lang="ko-KR" altLang="en-US" sz="900" kern="0" dirty="0">
                <a:solidFill>
                  <a:srgbClr val="508CD2"/>
                </a:solidFill>
              </a:rPr>
              <a:t>보완요청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65" name="Shape 266"/>
          <p:cNvCxnSpPr>
            <a:cxnSpLocks noChangeShapeType="1"/>
            <a:stCxn id="163" idx="2"/>
            <a:endCxn id="164" idx="0"/>
          </p:cNvCxnSpPr>
          <p:nvPr/>
        </p:nvCxnSpPr>
        <p:spPr bwMode="auto">
          <a:xfrm>
            <a:off x="3081704" y="3438746"/>
            <a:ext cx="1398" cy="79836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6" name="Shape 266"/>
          <p:cNvCxnSpPr>
            <a:cxnSpLocks noChangeShapeType="1"/>
            <a:stCxn id="164" idx="2"/>
            <a:endCxn id="126" idx="3"/>
          </p:cNvCxnSpPr>
          <p:nvPr/>
        </p:nvCxnSpPr>
        <p:spPr bwMode="auto">
          <a:xfrm rot="5400000">
            <a:off x="2609367" y="4496814"/>
            <a:ext cx="412672" cy="53479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7" name="직사각형 166"/>
          <p:cNvSpPr/>
          <p:nvPr/>
        </p:nvSpPr>
        <p:spPr bwMode="auto">
          <a:xfrm>
            <a:off x="6917867" y="311350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9. </a:t>
            </a:r>
            <a:r>
              <a:rPr lang="ko-KR" altLang="en-US" sz="900" kern="0" dirty="0">
                <a:solidFill>
                  <a:prstClr val="black"/>
                </a:solidFill>
              </a:rPr>
              <a:t>보완요청 지시통보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68" name="직사각형 167"/>
          <p:cNvSpPr/>
          <p:nvPr/>
        </p:nvSpPr>
        <p:spPr bwMode="auto">
          <a:xfrm>
            <a:off x="6917867" y="423921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10. </a:t>
            </a:r>
            <a:r>
              <a:rPr lang="ko-KR" altLang="en-US" sz="900" kern="0" dirty="0">
                <a:solidFill>
                  <a:srgbClr val="508CD2"/>
                </a:solidFill>
              </a:rPr>
              <a:t>보완요청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69" name="Shape 266"/>
          <p:cNvCxnSpPr>
            <a:cxnSpLocks noChangeShapeType="1"/>
            <a:stCxn id="167" idx="2"/>
            <a:endCxn id="168" idx="0"/>
          </p:cNvCxnSpPr>
          <p:nvPr/>
        </p:nvCxnSpPr>
        <p:spPr bwMode="auto">
          <a:xfrm>
            <a:off x="7296080" y="3434277"/>
            <a:ext cx="0" cy="8049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0" name="Shape 266"/>
          <p:cNvCxnSpPr>
            <a:cxnSpLocks noChangeShapeType="1"/>
            <a:stCxn id="168" idx="2"/>
            <a:endCxn id="132" idx="2"/>
          </p:cNvCxnSpPr>
          <p:nvPr/>
        </p:nvCxnSpPr>
        <p:spPr bwMode="auto">
          <a:xfrm rot="5400000">
            <a:off x="5659365" y="4015812"/>
            <a:ext cx="1092541" cy="2180891"/>
          </a:xfrm>
          <a:prstGeom prst="bentConnector3">
            <a:avLst>
              <a:gd name="adj1" fmla="val 120924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1" name="타원 170"/>
          <p:cNvSpPr/>
          <p:nvPr/>
        </p:nvSpPr>
        <p:spPr>
          <a:xfrm>
            <a:off x="9179178" y="553169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172" name="Shape 266"/>
          <p:cNvCxnSpPr>
            <a:cxnSpLocks noChangeShapeType="1"/>
            <a:stCxn id="126" idx="1"/>
            <a:endCxn id="159" idx="3"/>
          </p:cNvCxnSpPr>
          <p:nvPr/>
        </p:nvCxnSpPr>
        <p:spPr bwMode="auto">
          <a:xfrm rot="10800000">
            <a:off x="1684519" y="3998009"/>
            <a:ext cx="107360" cy="97254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3" name="Shape 266"/>
          <p:cNvCxnSpPr>
            <a:cxnSpLocks noChangeShapeType="1"/>
            <a:stCxn id="174" idx="6"/>
            <a:endCxn id="162" idx="3"/>
          </p:cNvCxnSpPr>
          <p:nvPr/>
        </p:nvCxnSpPr>
        <p:spPr bwMode="auto">
          <a:xfrm flipV="1">
            <a:off x="5499306" y="3982071"/>
            <a:ext cx="188877" cy="139598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4" name="타원 173"/>
          <p:cNvSpPr/>
          <p:nvPr/>
        </p:nvSpPr>
        <p:spPr>
          <a:xfrm>
            <a:off x="5137701" y="5250732"/>
            <a:ext cx="361605" cy="25465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75" name="Shape 266"/>
          <p:cNvCxnSpPr>
            <a:cxnSpLocks noChangeShapeType="1"/>
            <a:stCxn id="176" idx="4"/>
          </p:cNvCxnSpPr>
          <p:nvPr/>
        </p:nvCxnSpPr>
        <p:spPr bwMode="auto">
          <a:xfrm>
            <a:off x="3966248" y="4375720"/>
            <a:ext cx="2319" cy="4306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6" name="타원 175"/>
          <p:cNvSpPr/>
          <p:nvPr/>
        </p:nvSpPr>
        <p:spPr>
          <a:xfrm>
            <a:off x="3865091" y="41899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</p:spTree>
    <p:extLst>
      <p:ext uri="{BB962C8B-B14F-4D97-AF65-F5344CB8AC3E}">
        <p14:creationId xmlns:p14="http://schemas.microsoft.com/office/powerpoint/2010/main" val="2694978879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집행관리 중요재산등록지원 업무 중 문화체육관광부</a:t>
            </a:r>
            <a:r>
              <a:rPr lang="en-US" altLang="ko-KR" sz="1600" dirty="0"/>
              <a:t>, </a:t>
            </a:r>
            <a:r>
              <a:rPr lang="ko-KR" altLang="en-US" sz="1600" dirty="0"/>
              <a:t>공단</a:t>
            </a:r>
            <a:r>
              <a:rPr lang="en-US" altLang="ko-KR" sz="1600" dirty="0"/>
              <a:t>, </a:t>
            </a:r>
            <a:r>
              <a:rPr lang="ko-KR" altLang="en-US" sz="1600" dirty="0"/>
              <a:t>지원사업자로 이어지는 보완요청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처분협의 등에 대한 소통을 정보시스템을 통해 처리할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3.4.2.3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중요재산등록지원 </a:t>
            </a:r>
            <a:r>
              <a:rPr lang="en-US" altLang="ko-KR" dirty="0"/>
              <a:t>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7423188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중요재산등록지원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9" name="표 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0682668"/>
              </p:ext>
            </p:extLst>
          </p:nvPr>
        </p:nvGraphicFramePr>
        <p:xfrm>
          <a:off x="344488" y="1929067"/>
          <a:ext cx="9181020" cy="4426861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처분관리지원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834947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84176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630938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0" name="직사각형 79"/>
          <p:cNvSpPr/>
          <p:nvPr/>
        </p:nvSpPr>
        <p:spPr bwMode="auto">
          <a:xfrm>
            <a:off x="2310657" y="545909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11. </a:t>
            </a:r>
            <a:r>
              <a:rPr lang="ko-KR" altLang="en-US" sz="900" kern="0" dirty="0">
                <a:solidFill>
                  <a:srgbClr val="508CD2"/>
                </a:solidFill>
              </a:rPr>
              <a:t>처분협의 요청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81" name="Shape 266"/>
          <p:cNvCxnSpPr>
            <a:cxnSpLocks noChangeShapeType="1"/>
            <a:stCxn id="91" idx="6"/>
            <a:endCxn id="80" idx="1"/>
          </p:cNvCxnSpPr>
          <p:nvPr/>
        </p:nvCxnSpPr>
        <p:spPr bwMode="auto">
          <a:xfrm>
            <a:off x="1806942" y="5619478"/>
            <a:ext cx="503715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/>
          <p:cNvSpPr/>
          <p:nvPr/>
        </p:nvSpPr>
        <p:spPr bwMode="auto">
          <a:xfrm>
            <a:off x="2310657" y="253832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</a:rPr>
              <a:t>처분협의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3" name="Shape 266"/>
          <p:cNvCxnSpPr>
            <a:cxnSpLocks noChangeShapeType="1"/>
            <a:stCxn id="80" idx="0"/>
            <a:endCxn id="127" idx="2"/>
          </p:cNvCxnSpPr>
          <p:nvPr/>
        </p:nvCxnSpPr>
        <p:spPr bwMode="auto">
          <a:xfrm flipH="1" flipV="1">
            <a:off x="2688869" y="4275691"/>
            <a:ext cx="1" cy="11834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" name="육각형 83"/>
          <p:cNvSpPr/>
          <p:nvPr/>
        </p:nvSpPr>
        <p:spPr bwMode="auto">
          <a:xfrm>
            <a:off x="7612037" y="2498014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중요재산 관리 종료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82" idx="3"/>
            <a:endCxn id="92" idx="1"/>
          </p:cNvCxnSpPr>
          <p:nvPr/>
        </p:nvCxnSpPr>
        <p:spPr bwMode="auto">
          <a:xfrm>
            <a:off x="3067082" y="2698712"/>
            <a:ext cx="428918" cy="16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직사각형 85"/>
          <p:cNvSpPr/>
          <p:nvPr/>
        </p:nvSpPr>
        <p:spPr bwMode="auto">
          <a:xfrm>
            <a:off x="4448944" y="548115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15. </a:t>
            </a:r>
            <a:r>
              <a:rPr lang="ko-KR" altLang="en-US" sz="900" kern="0" dirty="0">
                <a:solidFill>
                  <a:prstClr val="black"/>
                </a:solidFill>
              </a:rPr>
              <a:t>처분처리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7" name="직사각형 86"/>
          <p:cNvSpPr/>
          <p:nvPr/>
        </p:nvSpPr>
        <p:spPr bwMode="auto">
          <a:xfrm>
            <a:off x="5601074" y="547858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16. </a:t>
            </a:r>
            <a:r>
              <a:rPr lang="ko-KR" altLang="en-US" sz="900" kern="0" dirty="0">
                <a:solidFill>
                  <a:srgbClr val="508CD2"/>
                </a:solidFill>
              </a:rPr>
              <a:t>처분결과 작성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88" name="Shape 266"/>
          <p:cNvCxnSpPr>
            <a:cxnSpLocks noChangeShapeType="1"/>
            <a:stCxn id="92" idx="3"/>
            <a:endCxn id="94" idx="2"/>
          </p:cNvCxnSpPr>
          <p:nvPr/>
        </p:nvCxnSpPr>
        <p:spPr bwMode="auto">
          <a:xfrm>
            <a:off x="4255834" y="2700397"/>
            <a:ext cx="327761" cy="10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" name="Shape 266"/>
          <p:cNvCxnSpPr>
            <a:cxnSpLocks noChangeShapeType="1"/>
            <a:stCxn id="86" idx="3"/>
            <a:endCxn id="87" idx="1"/>
          </p:cNvCxnSpPr>
          <p:nvPr/>
        </p:nvCxnSpPr>
        <p:spPr bwMode="auto">
          <a:xfrm flipV="1">
            <a:off x="5205369" y="5638966"/>
            <a:ext cx="395705" cy="25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87" idx="0"/>
            <a:endCxn id="129" idx="2"/>
          </p:cNvCxnSpPr>
          <p:nvPr/>
        </p:nvCxnSpPr>
        <p:spPr bwMode="auto">
          <a:xfrm flipH="1" flipV="1">
            <a:off x="5978680" y="3808450"/>
            <a:ext cx="607" cy="16701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" name="타원 90"/>
          <p:cNvSpPr/>
          <p:nvPr/>
        </p:nvSpPr>
        <p:spPr>
          <a:xfrm>
            <a:off x="1604628" y="552659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92" name="순서도: 판단 91"/>
          <p:cNvSpPr>
            <a:spLocks noChangeArrowheads="1"/>
          </p:cNvSpPr>
          <p:nvPr/>
        </p:nvSpPr>
        <p:spPr bwMode="auto">
          <a:xfrm>
            <a:off x="3496000" y="2513280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처분 승인</a:t>
            </a:r>
          </a:p>
        </p:txBody>
      </p:sp>
      <p:cxnSp>
        <p:nvCxnSpPr>
          <p:cNvPr id="93" name="Shape 266"/>
          <p:cNvCxnSpPr>
            <a:cxnSpLocks noChangeShapeType="1"/>
            <a:stCxn id="92" idx="2"/>
            <a:endCxn id="86" idx="1"/>
          </p:cNvCxnSpPr>
          <p:nvPr/>
        </p:nvCxnSpPr>
        <p:spPr bwMode="auto">
          <a:xfrm rot="16200000" flipH="1">
            <a:off x="2785417" y="3978012"/>
            <a:ext cx="2754026" cy="57302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타원 93"/>
          <p:cNvSpPr/>
          <p:nvPr/>
        </p:nvSpPr>
        <p:spPr>
          <a:xfrm>
            <a:off x="4583595" y="260859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3875916" y="2887511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4264006" y="2500419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97" name="직사각형 96"/>
          <p:cNvSpPr/>
          <p:nvPr/>
        </p:nvSpPr>
        <p:spPr bwMode="auto">
          <a:xfrm>
            <a:off x="6572839" y="253950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</a:rPr>
              <a:t>처분결과 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19" name="Shape 266"/>
          <p:cNvCxnSpPr>
            <a:cxnSpLocks noChangeShapeType="1"/>
            <a:stCxn id="129" idx="3"/>
            <a:endCxn id="120" idx="1"/>
          </p:cNvCxnSpPr>
          <p:nvPr/>
        </p:nvCxnSpPr>
        <p:spPr bwMode="auto">
          <a:xfrm flipV="1">
            <a:off x="6356892" y="3647990"/>
            <a:ext cx="213098" cy="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0" name="순서도: 판단 119"/>
          <p:cNvSpPr>
            <a:spLocks noChangeArrowheads="1"/>
          </p:cNvSpPr>
          <p:nvPr/>
        </p:nvSpPr>
        <p:spPr bwMode="auto">
          <a:xfrm>
            <a:off x="6569990" y="3460873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여부</a:t>
            </a:r>
          </a:p>
        </p:txBody>
      </p:sp>
      <p:cxnSp>
        <p:nvCxnSpPr>
          <p:cNvPr id="121" name="Shape 266"/>
          <p:cNvCxnSpPr>
            <a:cxnSpLocks noChangeShapeType="1"/>
            <a:stCxn id="120" idx="0"/>
            <a:endCxn id="97" idx="2"/>
          </p:cNvCxnSpPr>
          <p:nvPr/>
        </p:nvCxnSpPr>
        <p:spPr bwMode="auto">
          <a:xfrm flipV="1">
            <a:off x="6949907" y="2860275"/>
            <a:ext cx="1145" cy="6005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2" name="직사각형 121"/>
          <p:cNvSpPr/>
          <p:nvPr/>
        </p:nvSpPr>
        <p:spPr bwMode="auto">
          <a:xfrm>
            <a:off x="6572043" y="408025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18. </a:t>
            </a:r>
            <a:r>
              <a:rPr lang="ko-KR" altLang="en-US" sz="900" kern="0" dirty="0">
                <a:solidFill>
                  <a:srgbClr val="508CD2"/>
                </a:solidFill>
              </a:rPr>
              <a:t>보완요청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23" name="Shape 266"/>
          <p:cNvCxnSpPr>
            <a:cxnSpLocks noChangeShapeType="1"/>
            <a:stCxn id="120" idx="2"/>
            <a:endCxn id="122" idx="0"/>
          </p:cNvCxnSpPr>
          <p:nvPr/>
        </p:nvCxnSpPr>
        <p:spPr bwMode="auto">
          <a:xfrm>
            <a:off x="6949907" y="3835106"/>
            <a:ext cx="349" cy="2451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4" name="Shape 266"/>
          <p:cNvCxnSpPr>
            <a:cxnSpLocks noChangeShapeType="1"/>
            <a:stCxn id="122" idx="2"/>
            <a:endCxn id="87" idx="3"/>
          </p:cNvCxnSpPr>
          <p:nvPr/>
        </p:nvCxnSpPr>
        <p:spPr bwMode="auto">
          <a:xfrm rot="5400000">
            <a:off x="6034906" y="4723615"/>
            <a:ext cx="1237945" cy="59275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TextBox 124"/>
          <p:cNvSpPr txBox="1"/>
          <p:nvPr/>
        </p:nvSpPr>
        <p:spPr>
          <a:xfrm>
            <a:off x="6947597" y="3771815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6970171" y="3265453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7" name="직사각형 126"/>
          <p:cNvSpPr/>
          <p:nvPr/>
        </p:nvSpPr>
        <p:spPr bwMode="auto">
          <a:xfrm>
            <a:off x="2310656" y="39549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12. </a:t>
            </a:r>
            <a:r>
              <a:rPr lang="ko-KR" altLang="en-US" sz="900" kern="0" dirty="0">
                <a:solidFill>
                  <a:srgbClr val="508CD2"/>
                </a:solidFill>
              </a:rPr>
              <a:t>취합 및 사전협의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28" name="Shape 266"/>
          <p:cNvCxnSpPr>
            <a:cxnSpLocks noChangeShapeType="1"/>
            <a:stCxn id="127" idx="0"/>
            <a:endCxn id="82" idx="2"/>
          </p:cNvCxnSpPr>
          <p:nvPr/>
        </p:nvCxnSpPr>
        <p:spPr bwMode="auto">
          <a:xfrm flipV="1">
            <a:off x="2688869" y="2859097"/>
            <a:ext cx="1" cy="109582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9" name="직사각형 128"/>
          <p:cNvSpPr/>
          <p:nvPr/>
        </p:nvSpPr>
        <p:spPr bwMode="auto">
          <a:xfrm>
            <a:off x="5600467" y="348767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17. </a:t>
            </a:r>
            <a:r>
              <a:rPr lang="ko-KR" altLang="en-US" sz="900" kern="0" dirty="0">
                <a:solidFill>
                  <a:srgbClr val="508CD2"/>
                </a:solidFill>
              </a:rPr>
              <a:t>처분결과 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30" name="Shape 266"/>
          <p:cNvCxnSpPr>
            <a:cxnSpLocks noChangeShapeType="1"/>
            <a:stCxn id="97" idx="3"/>
            <a:endCxn id="84" idx="3"/>
          </p:cNvCxnSpPr>
          <p:nvPr/>
        </p:nvCxnSpPr>
        <p:spPr bwMode="auto">
          <a:xfrm>
            <a:off x="7329264" y="2699890"/>
            <a:ext cx="282773" cy="32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1" name="순서도: 종속 처리 130"/>
          <p:cNvSpPr>
            <a:spLocks noChangeAspect="1" noChangeArrowheads="1"/>
          </p:cNvSpPr>
          <p:nvPr/>
        </p:nvSpPr>
        <p:spPr bwMode="auto">
          <a:xfrm>
            <a:off x="4496939" y="3450115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/>
              <a:t>4.3.1.1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/>
              <a:t>반납처리</a:t>
            </a:r>
          </a:p>
        </p:txBody>
      </p:sp>
      <p:cxnSp>
        <p:nvCxnSpPr>
          <p:cNvPr id="132" name="Shape 266"/>
          <p:cNvCxnSpPr>
            <a:cxnSpLocks noChangeShapeType="1"/>
            <a:stCxn id="129" idx="1"/>
            <a:endCxn id="131" idx="3"/>
          </p:cNvCxnSpPr>
          <p:nvPr/>
        </p:nvCxnSpPr>
        <p:spPr bwMode="auto">
          <a:xfrm flipH="1" flipV="1">
            <a:off x="5257778" y="3647962"/>
            <a:ext cx="342689" cy="10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4448944" y="42930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dirty="0">
                <a:solidFill>
                  <a:prstClr val="black"/>
                </a:solidFill>
              </a:rPr>
              <a:t>처분승인확인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0" name="Shape 266"/>
          <p:cNvCxnSpPr>
            <a:cxnSpLocks noChangeShapeType="1"/>
            <a:stCxn id="92" idx="2"/>
            <a:endCxn id="39" idx="1"/>
          </p:cNvCxnSpPr>
          <p:nvPr/>
        </p:nvCxnSpPr>
        <p:spPr bwMode="auto">
          <a:xfrm rot="16200000" flipH="1">
            <a:off x="3379446" y="3383983"/>
            <a:ext cx="1565969" cy="57302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778167239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집행관리 중요재산등록지원 업무 중 문화체육관광부</a:t>
            </a:r>
            <a:r>
              <a:rPr lang="en-US" altLang="ko-KR" sz="1600" dirty="0"/>
              <a:t>, </a:t>
            </a:r>
            <a:r>
              <a:rPr lang="ko-KR" altLang="en-US" sz="1600" dirty="0"/>
              <a:t>공단</a:t>
            </a:r>
            <a:r>
              <a:rPr lang="en-US" altLang="ko-KR" sz="1600" dirty="0"/>
              <a:t>, </a:t>
            </a:r>
            <a:r>
              <a:rPr lang="ko-KR" altLang="en-US" sz="1600" dirty="0"/>
              <a:t>지원사업자로 이어지는 보완요청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처분협의 등에 대한 소통을 정보시스템을 통해 처리할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3.4.2.3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중요재산등록지원</a:t>
            </a:r>
            <a:r>
              <a:rPr lang="en-US" altLang="ko-KR" dirty="0"/>
              <a:t> 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7268048"/>
              </p:ext>
            </p:extLst>
          </p:nvPr>
        </p:nvGraphicFramePr>
        <p:xfrm>
          <a:off x="344488" y="1604186"/>
          <a:ext cx="9180513" cy="460248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 취득정보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+mn-ea"/>
                        </a:rPr>
                        <a:t>지원사업자가 지원사업 수행 과정에서 중요재산을 취득하면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+mn-ea"/>
                        </a:rPr>
                        <a:t>중요재산 취득정보를 문화체육관광부 담당자에게 보고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중요재산기본정보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취득가액정보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등록현황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spc="0" baseline="0" dirty="0">
                          <a:latin typeface="맑은 고딕" panose="020B0503020000020004" pitchFamily="50" charset="-127"/>
                          <a:ea typeface="+mn-ea"/>
                        </a:rPr>
                        <a:t>문화체육관광부 담당자는 등록정보를 검토 아래의 결정 및 활동 수행</a:t>
                      </a:r>
                      <a:endParaRPr lang="en-US" altLang="ko-KR" sz="1000" spc="0" baseline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19063" indent="-119063" latinLnBrk="0">
                        <a:buAutoNum type="arabicParenR"/>
                      </a:pP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+mn-ea"/>
                        </a:rPr>
                        <a:t>중요재산여부 판단</a:t>
                      </a:r>
                      <a:endParaRPr lang="en-US" altLang="ko-KR" sz="1000" spc="-100" baseline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19063" indent="-119063" latinLnBrk="0">
                        <a:buAutoNum type="arabicParenR"/>
                      </a:pP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+mn-ea"/>
                        </a:rPr>
                        <a:t>중요재산이면서 보완이 필요한 경우 공단에 보완통보 요청</a:t>
                      </a:r>
                      <a:endParaRPr lang="en-US" altLang="ko-KR" sz="1000" spc="-100" baseline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19063" indent="-119063" latinLnBrk="0">
                        <a:buAutoNum type="arabicParenR"/>
                      </a:pP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+mn-ea"/>
                        </a:rPr>
                        <a:t>중요재산이면서 보완이 필요하지 않은 경우 정보공시 확정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중요재산기본정보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취득가액정보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보완요청지시통보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공단 기금환수팀 중요재산 담당자에게 지원사업의 중요재산 보완요청 지시사항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보완요청지시정보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기금환수팀 중요재산 담당자는 홈페이지에 접수된 문화체육관광부의 보완요청에 따라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 등록내용 확인 후 지원사업자에게 보완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 정보관리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중요재산을 취득한 지원사업자는 중요재산 정보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작성하여 관리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kern="1200" spc="-2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중요재산기본정보</a:t>
                      </a:r>
                      <a:r>
                        <a:rPr lang="en-US" altLang="ko-KR" sz="1000" b="0" kern="1200" spc="-2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spc="-2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취득가액</a:t>
                      </a:r>
                      <a:r>
                        <a:rPr lang="en-US" altLang="ko-KR" sz="1000" b="0" kern="1200" spc="-2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spc="-22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현재가치정보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현황정보 등록요청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 정보 등록시기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 도래하면 공단 기금환수팀 중요재산 담당자는 지원사업자에게 현황정보 등록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현황정보 등록요청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현황정보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현황정보 등록요청을 확인하여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나라도움에 중요재산 현황정보를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중요재산현재가치정보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등록정보를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중요재산현재가치정보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보완요청지시통보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등록정보 검토결과 보완이 필요한 경우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기금환수팀 중요재산 담당자에게 지원사업의 중요재산 보완요청 지시사항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보완요청지시정보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기금환수팀 중요재산 담당자는 홈페이지에 접수된 문화체육관광부의 보완요청에 따라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 등록내용 확인 후 지원사업자에게 보완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84668952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집행관리 중요재산등록지원 업무 중 문화체육관광부</a:t>
            </a:r>
            <a:r>
              <a:rPr lang="en-US" altLang="ko-KR" sz="1600" dirty="0"/>
              <a:t>, </a:t>
            </a:r>
            <a:r>
              <a:rPr lang="ko-KR" altLang="en-US" sz="1600" dirty="0"/>
              <a:t>공단</a:t>
            </a:r>
            <a:r>
              <a:rPr lang="en-US" altLang="ko-KR" sz="1600" dirty="0"/>
              <a:t>, </a:t>
            </a:r>
            <a:r>
              <a:rPr lang="ko-KR" altLang="en-US" sz="1600" dirty="0"/>
              <a:t>지원사업자로 이어지는 보완요청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처분협의 등에 대한 소통을 정보시스템을 통해 처리할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3.4.2.3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중요재산등록지원 </a:t>
            </a:r>
            <a:r>
              <a:rPr lang="en-US" altLang="ko-KR" dirty="0"/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0904076"/>
              </p:ext>
            </p:extLst>
          </p:nvPr>
        </p:nvGraphicFramePr>
        <p:xfrm>
          <a:off x="344488" y="1604186"/>
          <a:ext cx="9180513" cy="411480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처분협의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중요재산을 취득하여 관리하고 있는 지원사업자는 중요재산의 처분시기가 도래하면 공단 기금환수팀 중요재산담당자에게 처분협의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중요재산처분기간 도래정보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처분방안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취합 및 사전협의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기금환수팀 중요재산담당자는 지원사업자로부터의 처분협의 요청을 취합하여 사전협의를 수행하고 결과를 문화체육관광부 담당자에게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중요재산처분기간도래정보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처분방안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처분협의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사전협의된 결과를 고려하여 지원사업자의 처분협의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요청에 대해 의사결정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사전협의결과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처분협의결과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처분승인확인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기금환수팀은 문화체육관광부 처분 승인사항을 확인함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문화체육관광부와 지원사업자의 처분협의 결과 처분이 승인된 경우 지원사업자는 해당 중요재산을 처분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b="0" dirty="0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처분결과작성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중요재산을 처분한 지원사업자가 처분된 결과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처분결과검토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기금환수팀 중요재산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담당자가 지원사업자가 제출한 처분결과 검토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접수된 처분결과를 검토하여 반환금이 있는 경우 반납관리로 진행하고 보완이 필요한 경우 보완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처분결과확인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처분결과를 확인 후 해당 중요재산관리 종료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처분결과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0108560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5" name="표 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0416334"/>
              </p:ext>
            </p:extLst>
          </p:nvPr>
        </p:nvGraphicFramePr>
        <p:xfrm>
          <a:off x="344488" y="1939825"/>
          <a:ext cx="9181020" cy="4344095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11256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13234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4.2.2.2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시정명령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58983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7220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기금환수팀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기금정산팀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36104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현장점검관리 업무는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나라도움을 통해 지원사업자의 집행자료를 검토하고 현장조사 후 시정</a:t>
            </a:r>
            <a:r>
              <a:rPr lang="en-US" altLang="ko-KR" sz="1600" dirty="0"/>
              <a:t>/</a:t>
            </a:r>
            <a:r>
              <a:rPr lang="ko-KR" altLang="en-US" sz="1600" dirty="0"/>
              <a:t>보완 등 조치와 관련한 일련의 절차를 기금지원과 홈페이지를 통해 소통할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3.4.2.4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현장점검관리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5852458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현장점검관리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96" name="Shape 266"/>
          <p:cNvCxnSpPr>
            <a:cxnSpLocks noChangeShapeType="1"/>
            <a:endCxn id="120" idx="0"/>
          </p:cNvCxnSpPr>
          <p:nvPr/>
        </p:nvCxnSpPr>
        <p:spPr bwMode="auto">
          <a:xfrm>
            <a:off x="2600111" y="3381857"/>
            <a:ext cx="1" cy="35908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7" name="순서도: 종속 처리 64"/>
          <p:cNvSpPr>
            <a:spLocks noChangeAspect="1" noChangeArrowheads="1"/>
          </p:cNvSpPr>
          <p:nvPr/>
        </p:nvSpPr>
        <p:spPr bwMode="auto">
          <a:xfrm>
            <a:off x="4403870" y="5077622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4.2.4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정산관리</a:t>
            </a:r>
          </a:p>
        </p:txBody>
      </p:sp>
      <p:sp>
        <p:nvSpPr>
          <p:cNvPr id="119" name="육각형 118"/>
          <p:cNvSpPr/>
          <p:nvPr/>
        </p:nvSpPr>
        <p:spPr bwMode="auto">
          <a:xfrm>
            <a:off x="1316596" y="3696171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법정 점검사유 발생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20" name="직사각형 119"/>
          <p:cNvSpPr/>
          <p:nvPr/>
        </p:nvSpPr>
        <p:spPr bwMode="auto">
          <a:xfrm>
            <a:off x="2221899" y="374093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1. </a:t>
            </a:r>
            <a:r>
              <a:rPr lang="ko-KR" altLang="en-US" sz="900" kern="0" dirty="0">
                <a:solidFill>
                  <a:srgbClr val="508CD2"/>
                </a:solidFill>
              </a:rPr>
              <a:t>점검대상 확정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21" name="육각형 120"/>
          <p:cNvSpPr/>
          <p:nvPr/>
        </p:nvSpPr>
        <p:spPr bwMode="auto">
          <a:xfrm>
            <a:off x="2221899" y="2971552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점검요구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22" name="직사각형 121"/>
          <p:cNvSpPr/>
          <p:nvPr/>
        </p:nvSpPr>
        <p:spPr bwMode="auto">
          <a:xfrm>
            <a:off x="3155838" y="374093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2. </a:t>
            </a:r>
            <a:r>
              <a:rPr lang="ko-KR" altLang="en-US" sz="900" kern="0" dirty="0">
                <a:solidFill>
                  <a:srgbClr val="508CD2"/>
                </a:solidFill>
              </a:rPr>
              <a:t>집행자료 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23" name="Shape 266"/>
          <p:cNvCxnSpPr>
            <a:cxnSpLocks noChangeShapeType="1"/>
            <a:stCxn id="119" idx="0"/>
            <a:endCxn id="120" idx="1"/>
          </p:cNvCxnSpPr>
          <p:nvPr/>
        </p:nvCxnSpPr>
        <p:spPr bwMode="auto">
          <a:xfrm>
            <a:off x="2073021" y="3901324"/>
            <a:ext cx="14887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4" name="Shape 266"/>
          <p:cNvCxnSpPr>
            <a:cxnSpLocks noChangeShapeType="1"/>
            <a:stCxn id="120" idx="3"/>
            <a:endCxn id="122" idx="1"/>
          </p:cNvCxnSpPr>
          <p:nvPr/>
        </p:nvCxnSpPr>
        <p:spPr bwMode="auto">
          <a:xfrm>
            <a:off x="2978324" y="3901324"/>
            <a:ext cx="17751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순서도: 판단 124"/>
          <p:cNvSpPr>
            <a:spLocks noChangeArrowheads="1"/>
          </p:cNvSpPr>
          <p:nvPr/>
        </p:nvSpPr>
        <p:spPr bwMode="auto">
          <a:xfrm>
            <a:off x="3155838" y="4342594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현장 조사 </a:t>
            </a:r>
          </a:p>
        </p:txBody>
      </p:sp>
      <p:sp>
        <p:nvSpPr>
          <p:cNvPr id="126" name="직사각형 125"/>
          <p:cNvSpPr/>
          <p:nvPr/>
        </p:nvSpPr>
        <p:spPr bwMode="auto">
          <a:xfrm>
            <a:off x="3155838" y="490910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3. </a:t>
            </a:r>
            <a:r>
              <a:rPr lang="ko-KR" altLang="en-US" sz="900" kern="0" dirty="0">
                <a:solidFill>
                  <a:srgbClr val="508CD2"/>
                </a:solidFill>
              </a:rPr>
              <a:t>현장조사 계획작성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27" name="직사각형 126"/>
          <p:cNvSpPr/>
          <p:nvPr/>
        </p:nvSpPr>
        <p:spPr bwMode="auto">
          <a:xfrm>
            <a:off x="3162847" y="551759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4. </a:t>
            </a:r>
            <a:r>
              <a:rPr lang="ko-KR" altLang="en-US" sz="900" kern="0" dirty="0">
                <a:solidFill>
                  <a:srgbClr val="508CD2"/>
                </a:solidFill>
              </a:rPr>
              <a:t>현장조사 실시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28" name="직사각형 127"/>
          <p:cNvSpPr/>
          <p:nvPr/>
        </p:nvSpPr>
        <p:spPr bwMode="auto">
          <a:xfrm>
            <a:off x="5532473" y="485148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5. </a:t>
            </a:r>
            <a:r>
              <a:rPr lang="ko-KR" altLang="en-US" sz="900" kern="0" dirty="0">
                <a:solidFill>
                  <a:srgbClr val="508CD2"/>
                </a:solidFill>
              </a:rPr>
              <a:t>현장조사 결과작성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29" name="순서도: 판단 128"/>
          <p:cNvSpPr>
            <a:spLocks noChangeArrowheads="1"/>
          </p:cNvSpPr>
          <p:nvPr/>
        </p:nvSpPr>
        <p:spPr bwMode="auto">
          <a:xfrm>
            <a:off x="5529064" y="4316111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시정 필요</a:t>
            </a:r>
          </a:p>
        </p:txBody>
      </p:sp>
      <p:cxnSp>
        <p:nvCxnSpPr>
          <p:cNvPr id="130" name="Shape 266"/>
          <p:cNvCxnSpPr>
            <a:cxnSpLocks noChangeShapeType="1"/>
            <a:stCxn id="122" idx="2"/>
            <a:endCxn id="125" idx="0"/>
          </p:cNvCxnSpPr>
          <p:nvPr/>
        </p:nvCxnSpPr>
        <p:spPr bwMode="auto">
          <a:xfrm>
            <a:off x="3534051" y="4061709"/>
            <a:ext cx="1704" cy="2808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1" name="Shape 266"/>
          <p:cNvCxnSpPr>
            <a:cxnSpLocks noChangeShapeType="1"/>
            <a:stCxn id="125" idx="3"/>
            <a:endCxn id="132" idx="3"/>
          </p:cNvCxnSpPr>
          <p:nvPr/>
        </p:nvCxnSpPr>
        <p:spPr bwMode="auto">
          <a:xfrm flipV="1">
            <a:off x="3915672" y="4526738"/>
            <a:ext cx="486015" cy="29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" name="육각형 131"/>
          <p:cNvSpPr/>
          <p:nvPr/>
        </p:nvSpPr>
        <p:spPr bwMode="auto">
          <a:xfrm>
            <a:off x="4401687" y="4321585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점검종료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33" name="직사각형 132"/>
          <p:cNvSpPr/>
          <p:nvPr/>
        </p:nvSpPr>
        <p:spPr bwMode="auto">
          <a:xfrm>
            <a:off x="6609184" y="434284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9. </a:t>
            </a:r>
            <a:r>
              <a:rPr lang="ko-KR" altLang="en-US" sz="900" kern="0" dirty="0">
                <a:solidFill>
                  <a:srgbClr val="508CD2"/>
                </a:solidFill>
              </a:rPr>
              <a:t>시정명령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34" name="직사각형 133"/>
          <p:cNvSpPr/>
          <p:nvPr/>
        </p:nvSpPr>
        <p:spPr bwMode="auto">
          <a:xfrm>
            <a:off x="6609184" y="55311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10. </a:t>
            </a:r>
            <a:r>
              <a:rPr lang="ko-KR" altLang="en-US" sz="900" kern="0" dirty="0">
                <a:solidFill>
                  <a:prstClr val="black"/>
                </a:solidFill>
              </a:rPr>
              <a:t>시정조치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5" name="Shape 266"/>
          <p:cNvCxnSpPr>
            <a:cxnSpLocks noChangeShapeType="1"/>
            <a:stCxn id="125" idx="2"/>
            <a:endCxn id="126" idx="0"/>
          </p:cNvCxnSpPr>
          <p:nvPr/>
        </p:nvCxnSpPr>
        <p:spPr bwMode="auto">
          <a:xfrm flipH="1">
            <a:off x="3534051" y="4716827"/>
            <a:ext cx="1704" cy="1922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" name="Shape 266"/>
          <p:cNvCxnSpPr>
            <a:cxnSpLocks noChangeShapeType="1"/>
            <a:stCxn id="126" idx="2"/>
            <a:endCxn id="127" idx="0"/>
          </p:cNvCxnSpPr>
          <p:nvPr/>
        </p:nvCxnSpPr>
        <p:spPr bwMode="auto">
          <a:xfrm>
            <a:off x="3534051" y="5229876"/>
            <a:ext cx="7009" cy="2877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" name="Shape 266"/>
          <p:cNvCxnSpPr>
            <a:cxnSpLocks noChangeShapeType="1"/>
            <a:stCxn id="128" idx="0"/>
            <a:endCxn id="129" idx="2"/>
          </p:cNvCxnSpPr>
          <p:nvPr/>
        </p:nvCxnSpPr>
        <p:spPr bwMode="auto">
          <a:xfrm flipH="1" flipV="1">
            <a:off x="5908981" y="4690344"/>
            <a:ext cx="1705" cy="1611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8" name="Shape 266"/>
          <p:cNvCxnSpPr>
            <a:cxnSpLocks noChangeShapeType="1"/>
            <a:stCxn id="127" idx="3"/>
            <a:endCxn id="128" idx="2"/>
          </p:cNvCxnSpPr>
          <p:nvPr/>
        </p:nvCxnSpPr>
        <p:spPr bwMode="auto">
          <a:xfrm flipV="1">
            <a:off x="3919272" y="5172260"/>
            <a:ext cx="1991414" cy="50572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9" name="Shape 266"/>
          <p:cNvCxnSpPr>
            <a:cxnSpLocks noChangeShapeType="1"/>
            <a:stCxn id="129" idx="3"/>
            <a:endCxn id="133" idx="1"/>
          </p:cNvCxnSpPr>
          <p:nvPr/>
        </p:nvCxnSpPr>
        <p:spPr bwMode="auto">
          <a:xfrm>
            <a:off x="6288898" y="4503228"/>
            <a:ext cx="32028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0" name="직사각형 139"/>
          <p:cNvSpPr/>
          <p:nvPr/>
        </p:nvSpPr>
        <p:spPr bwMode="auto">
          <a:xfrm>
            <a:off x="7686756" y="553042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11. </a:t>
            </a:r>
            <a:r>
              <a:rPr lang="ko-KR" altLang="en-US" sz="900" kern="0" dirty="0">
                <a:solidFill>
                  <a:srgbClr val="508CD2"/>
                </a:solidFill>
              </a:rPr>
              <a:t>시정조치 결과보고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41" name="직사각형 140"/>
          <p:cNvSpPr/>
          <p:nvPr/>
        </p:nvSpPr>
        <p:spPr bwMode="auto">
          <a:xfrm>
            <a:off x="7682928" y="434284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12. </a:t>
            </a:r>
            <a:r>
              <a:rPr lang="ko-KR" altLang="en-US" sz="900" kern="0" dirty="0">
                <a:solidFill>
                  <a:srgbClr val="508CD2"/>
                </a:solidFill>
              </a:rPr>
              <a:t>결과보고 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42" name="Shape 266"/>
          <p:cNvCxnSpPr>
            <a:cxnSpLocks noChangeShapeType="1"/>
            <a:stCxn id="129" idx="0"/>
            <a:endCxn id="143" idx="2"/>
          </p:cNvCxnSpPr>
          <p:nvPr/>
        </p:nvCxnSpPr>
        <p:spPr bwMode="auto">
          <a:xfrm flipV="1">
            <a:off x="5908981" y="4051672"/>
            <a:ext cx="1705" cy="26443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3" name="직사각형 142"/>
          <p:cNvSpPr/>
          <p:nvPr/>
        </p:nvSpPr>
        <p:spPr bwMode="auto">
          <a:xfrm>
            <a:off x="5532473" y="37309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6. </a:t>
            </a:r>
            <a:r>
              <a:rPr lang="ko-KR" altLang="en-US" sz="900" kern="0" dirty="0">
                <a:solidFill>
                  <a:srgbClr val="508CD2"/>
                </a:solidFill>
              </a:rPr>
              <a:t>점검결과보고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44" name="직사각형 143"/>
          <p:cNvSpPr/>
          <p:nvPr/>
        </p:nvSpPr>
        <p:spPr bwMode="auto">
          <a:xfrm>
            <a:off x="5532473" y="30108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점검결과 보고 검토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45" name="Shape 266"/>
          <p:cNvCxnSpPr>
            <a:cxnSpLocks noChangeShapeType="1"/>
            <a:stCxn id="163" idx="1"/>
          </p:cNvCxnSpPr>
          <p:nvPr/>
        </p:nvCxnSpPr>
        <p:spPr bwMode="auto">
          <a:xfrm rot="10800000" flipV="1">
            <a:off x="4779900" y="2654613"/>
            <a:ext cx="749165" cy="166149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6" name="Shape 266"/>
          <p:cNvCxnSpPr>
            <a:cxnSpLocks noChangeShapeType="1"/>
            <a:stCxn id="133" idx="2"/>
            <a:endCxn id="134" idx="0"/>
          </p:cNvCxnSpPr>
          <p:nvPr/>
        </p:nvCxnSpPr>
        <p:spPr bwMode="auto">
          <a:xfrm>
            <a:off x="6987397" y="4663613"/>
            <a:ext cx="0" cy="86748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7" name="Shape 266"/>
          <p:cNvCxnSpPr>
            <a:cxnSpLocks noChangeShapeType="1"/>
            <a:stCxn id="134" idx="3"/>
            <a:endCxn id="140" idx="1"/>
          </p:cNvCxnSpPr>
          <p:nvPr/>
        </p:nvCxnSpPr>
        <p:spPr bwMode="auto">
          <a:xfrm flipV="1">
            <a:off x="7365609" y="5690813"/>
            <a:ext cx="321147" cy="6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8" name="Shape 266"/>
          <p:cNvCxnSpPr>
            <a:cxnSpLocks noChangeShapeType="1"/>
            <a:stCxn id="140" idx="0"/>
            <a:endCxn id="141" idx="2"/>
          </p:cNvCxnSpPr>
          <p:nvPr/>
        </p:nvCxnSpPr>
        <p:spPr bwMode="auto">
          <a:xfrm flipH="1" flipV="1">
            <a:off x="8061141" y="4663613"/>
            <a:ext cx="3828" cy="86681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9" name="순서도: 판단 148"/>
          <p:cNvSpPr>
            <a:spLocks noChangeArrowheads="1"/>
          </p:cNvSpPr>
          <p:nvPr/>
        </p:nvSpPr>
        <p:spPr bwMode="auto">
          <a:xfrm>
            <a:off x="7685184" y="3702662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필요</a:t>
            </a:r>
          </a:p>
        </p:txBody>
      </p:sp>
      <p:cxnSp>
        <p:nvCxnSpPr>
          <p:cNvPr id="150" name="Shape 266"/>
          <p:cNvCxnSpPr>
            <a:cxnSpLocks noChangeShapeType="1"/>
          </p:cNvCxnSpPr>
          <p:nvPr/>
        </p:nvCxnSpPr>
        <p:spPr bwMode="auto">
          <a:xfrm>
            <a:off x="8439140" y="3889779"/>
            <a:ext cx="607329" cy="44992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" name="타원 150"/>
          <p:cNvSpPr/>
          <p:nvPr/>
        </p:nvSpPr>
        <p:spPr>
          <a:xfrm>
            <a:off x="4383558" y="3683216"/>
            <a:ext cx="317414" cy="19976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</a:endParaRPr>
          </a:p>
        </p:txBody>
      </p:sp>
      <p:cxnSp>
        <p:nvCxnSpPr>
          <p:cNvPr id="152" name="Shape 266"/>
          <p:cNvCxnSpPr>
            <a:cxnSpLocks noChangeShapeType="1"/>
            <a:stCxn id="149" idx="1"/>
            <a:endCxn id="143" idx="3"/>
          </p:cNvCxnSpPr>
          <p:nvPr/>
        </p:nvCxnSpPr>
        <p:spPr bwMode="auto">
          <a:xfrm flipH="1">
            <a:off x="6288898" y="3889779"/>
            <a:ext cx="1396286" cy="15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3" name="Shape 266"/>
          <p:cNvCxnSpPr>
            <a:cxnSpLocks noChangeShapeType="1"/>
            <a:stCxn id="141" idx="0"/>
            <a:endCxn id="149" idx="2"/>
          </p:cNvCxnSpPr>
          <p:nvPr/>
        </p:nvCxnSpPr>
        <p:spPr bwMode="auto">
          <a:xfrm flipV="1">
            <a:off x="8061141" y="4076895"/>
            <a:ext cx="3960" cy="26594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4" name="Shape 266"/>
          <p:cNvCxnSpPr>
            <a:cxnSpLocks noChangeShapeType="1"/>
            <a:stCxn id="143" idx="0"/>
            <a:endCxn id="144" idx="2"/>
          </p:cNvCxnSpPr>
          <p:nvPr/>
        </p:nvCxnSpPr>
        <p:spPr bwMode="auto">
          <a:xfrm flipV="1">
            <a:off x="5910686" y="3331592"/>
            <a:ext cx="0" cy="3993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5" name="TextBox 154"/>
          <p:cNvSpPr txBox="1"/>
          <p:nvPr/>
        </p:nvSpPr>
        <p:spPr>
          <a:xfrm>
            <a:off x="3593693" y="4638785"/>
            <a:ext cx="24651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6181008" y="4267696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3813935" y="4332069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8357132" y="3702950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7467481" y="3664849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60" name="Shape 266"/>
          <p:cNvCxnSpPr>
            <a:cxnSpLocks noChangeShapeType="1"/>
            <a:endCxn id="97" idx="0"/>
          </p:cNvCxnSpPr>
          <p:nvPr/>
        </p:nvCxnSpPr>
        <p:spPr bwMode="auto">
          <a:xfrm flipH="1">
            <a:off x="4784290" y="4731890"/>
            <a:ext cx="3100" cy="3457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1" name="순서도: 문서 78"/>
          <p:cNvSpPr>
            <a:spLocks noChangeAspect="1" noChangeArrowheads="1"/>
          </p:cNvSpPr>
          <p:nvPr/>
        </p:nvSpPr>
        <p:spPr bwMode="auto">
          <a:xfrm>
            <a:off x="8191661" y="5125247"/>
            <a:ext cx="664052" cy="425807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88900" indent="-88900" algn="ctr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위반내용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marL="88900" indent="-88900" algn="ctr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조치결과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62" name="직사각형 161"/>
          <p:cNvSpPr/>
          <p:nvPr/>
        </p:nvSpPr>
        <p:spPr bwMode="auto">
          <a:xfrm>
            <a:off x="8674134" y="433970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13. </a:t>
            </a:r>
            <a:r>
              <a:rPr lang="ko-KR" altLang="en-US" sz="900" kern="0" dirty="0">
                <a:solidFill>
                  <a:srgbClr val="508CD2"/>
                </a:solidFill>
              </a:rPr>
              <a:t>보완요청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63" name="순서도: 판단 162"/>
          <p:cNvSpPr>
            <a:spLocks noChangeArrowheads="1"/>
          </p:cNvSpPr>
          <p:nvPr/>
        </p:nvSpPr>
        <p:spPr bwMode="auto">
          <a:xfrm>
            <a:off x="5529064" y="2467496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시정 필요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5672375" y="4106476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5" name="직사각형 164"/>
          <p:cNvSpPr/>
          <p:nvPr/>
        </p:nvSpPr>
        <p:spPr bwMode="auto">
          <a:xfrm>
            <a:off x="6609184" y="249919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시정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보완 조치 지시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66" name="Shape 266"/>
          <p:cNvCxnSpPr>
            <a:cxnSpLocks noChangeShapeType="1"/>
            <a:stCxn id="144" idx="0"/>
            <a:endCxn id="163" idx="2"/>
          </p:cNvCxnSpPr>
          <p:nvPr/>
        </p:nvCxnSpPr>
        <p:spPr bwMode="auto">
          <a:xfrm flipH="1" flipV="1">
            <a:off x="5908981" y="2841729"/>
            <a:ext cx="1705" cy="16909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7" name="Shape 266"/>
          <p:cNvCxnSpPr>
            <a:cxnSpLocks noChangeShapeType="1"/>
            <a:stCxn id="163" idx="3"/>
            <a:endCxn id="165" idx="1"/>
          </p:cNvCxnSpPr>
          <p:nvPr/>
        </p:nvCxnSpPr>
        <p:spPr bwMode="auto">
          <a:xfrm>
            <a:off x="6288898" y="2654613"/>
            <a:ext cx="320286" cy="49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8" name="Shape 266"/>
          <p:cNvCxnSpPr>
            <a:cxnSpLocks noChangeShapeType="1"/>
            <a:stCxn id="165" idx="2"/>
            <a:endCxn id="133" idx="0"/>
          </p:cNvCxnSpPr>
          <p:nvPr/>
        </p:nvCxnSpPr>
        <p:spPr bwMode="auto">
          <a:xfrm>
            <a:off x="6987397" y="2819970"/>
            <a:ext cx="0" cy="15228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9" name="TextBox 168"/>
          <p:cNvSpPr txBox="1"/>
          <p:nvPr/>
        </p:nvSpPr>
        <p:spPr>
          <a:xfrm>
            <a:off x="6181713" y="245857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5313040" y="2452688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71" name="Shape 266"/>
          <p:cNvCxnSpPr>
            <a:cxnSpLocks noChangeShapeType="1"/>
            <a:stCxn id="162" idx="2"/>
            <a:endCxn id="134" idx="2"/>
          </p:cNvCxnSpPr>
          <p:nvPr/>
        </p:nvCxnSpPr>
        <p:spPr bwMode="auto">
          <a:xfrm rot="5400000">
            <a:off x="7424174" y="4223698"/>
            <a:ext cx="1191397" cy="2064950"/>
          </a:xfrm>
          <a:prstGeom prst="bentConnector3">
            <a:avLst>
              <a:gd name="adj1" fmla="val 119188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육각형 61"/>
          <p:cNvSpPr/>
          <p:nvPr/>
        </p:nvSpPr>
        <p:spPr bwMode="auto">
          <a:xfrm>
            <a:off x="1327880" y="4249677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기금지원실</a:t>
            </a:r>
            <a:endParaRPr lang="en-US" altLang="ko-KR" sz="900" kern="0" spc="-100" dirty="0">
              <a:solidFill>
                <a:prstClr val="black"/>
              </a:solidFill>
            </a:endParaRPr>
          </a:p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점검요구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63" name="Shape 266"/>
          <p:cNvCxnSpPr>
            <a:cxnSpLocks noChangeShapeType="1"/>
            <a:stCxn id="62" idx="0"/>
            <a:endCxn id="120" idx="2"/>
          </p:cNvCxnSpPr>
          <p:nvPr/>
        </p:nvCxnSpPr>
        <p:spPr bwMode="auto">
          <a:xfrm flipV="1">
            <a:off x="2084305" y="4061709"/>
            <a:ext cx="515807" cy="39312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145377623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현장점검관리 업무는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나라도움을 통해 지원사업자의 집행자료를 검토하고 현장조사 후 시정</a:t>
            </a:r>
            <a:r>
              <a:rPr lang="en-US" altLang="ko-KR" sz="1600" dirty="0"/>
              <a:t>/</a:t>
            </a:r>
            <a:r>
              <a:rPr lang="ko-KR" altLang="en-US" sz="1600" dirty="0"/>
              <a:t>보완 등 조치와 관련한 일련의 절차를 기금지원과 홈페이지를 통해 소통할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3.4.2.4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현장점검관리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1331365"/>
              </p:ext>
            </p:extLst>
          </p:nvPr>
        </p:nvGraphicFramePr>
        <p:xfrm>
          <a:off x="344488" y="1604183"/>
          <a:ext cx="9180513" cy="4704541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458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184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점검대상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문화체육관광부의 점검요구 혹은 점검시기가 도래하면 공단의 해당사업 관리담당자는 점검대상 사업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혹은 사업자를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점검대상정보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117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집행자료검토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점검대상 사업 또는 사업자의 지출 및 증빙자료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117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현장조사계획작성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집행자료 검토결과 현장조사가 필요한 경우 현장조사 일정 등 계획 작성</a:t>
                      </a:r>
                      <a:endParaRPr lang="en-US" altLang="ko-KR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현장조사계획정보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117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공단의 해당사업 관리담당자는 현장조사계획에 따른 현장조사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현장조사필요자료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184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현장조사결과작성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해당사업 관리담당자는 모바일을 통해 현장조사결과 작성</a:t>
                      </a:r>
                      <a:endParaRPr lang="en-US" altLang="ko-KR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latinLnBrk="0"/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※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 불가시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Excel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다운로드한 조사표 작성 후 업로드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184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점검결과보고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현장조사결과를 문화체육관광부에 보고하기 위하여 그룹웨어에 현장조사결과를 첨부하여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통보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117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점검결과보고검토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점검결과보고를 접수하여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7764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보완조치지시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문화체육관광부는 현장조사결과보고 검토결과 시정조치는 공단 기금환수팀으로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보완요구는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공단 기금정산팀으로 조치요구사항을 작성하여 통보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보완지시정보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184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시정명령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현장조사결과 시정조치가 필요한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경우 공단의 해당사업 관리담당자는 지원사업자에게 시정을 명령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시정명령정보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117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시정조치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시정명령을 접수하여 시정명령에 따라 조치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시정조치정보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1842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시정조치결과보고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시정조치를 수행한 지원사업자는 공단 홈페이지를 통해 시정조치에 대한 결과보고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시정조치결과정보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1175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결과보고검토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공단의 해당사업 관리담당자는 시정조치 결과보고를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시정조치결과정보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31842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지원사업자가 제출한 시정조치결과보고를 공단 해당사업담당자가 검토 후 보완이 필요할 경우 지원사업자에게 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31429050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연중평가관리 업무의 평가계획</a:t>
            </a:r>
            <a:r>
              <a:rPr lang="en-US" altLang="ko-KR" sz="1600" dirty="0"/>
              <a:t>, </a:t>
            </a:r>
            <a:r>
              <a:rPr lang="ko-KR" altLang="en-US" sz="1600" dirty="0"/>
              <a:t>현장평가</a:t>
            </a:r>
            <a:r>
              <a:rPr lang="en-US" altLang="ko-KR" sz="1600" dirty="0"/>
              <a:t>, </a:t>
            </a:r>
            <a:r>
              <a:rPr lang="ko-KR" altLang="en-US" sz="1600" dirty="0"/>
              <a:t>시민모니터링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고객만족도조사 업무에 필요한 절차를 정보화하고 소통채널을 다양하게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3.4.2.5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연중평가관리 </a:t>
            </a:r>
            <a:r>
              <a:rPr lang="en-US" altLang="ko-KR" dirty="0"/>
              <a:t>(1/6)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5125342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연중평가관리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3" name="표 9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2220060"/>
              </p:ext>
            </p:extLst>
          </p:nvPr>
        </p:nvGraphicFramePr>
        <p:xfrm>
          <a:off x="344488" y="1939825"/>
          <a:ext cx="9181020" cy="4416103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6004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64451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4.2.3.1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평가계획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4.2.3.2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현장평가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98943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48072">
                <a:tc rowSpan="4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현장평가단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80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평가위원회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600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3321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기금평가팀평가담당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612068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간접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94" name="Shape 266"/>
          <p:cNvCxnSpPr>
            <a:cxnSpLocks noChangeShapeType="1"/>
            <a:stCxn id="157" idx="0"/>
            <a:endCxn id="146" idx="2"/>
          </p:cNvCxnSpPr>
          <p:nvPr/>
        </p:nvCxnSpPr>
        <p:spPr bwMode="auto">
          <a:xfrm flipV="1">
            <a:off x="1746180" y="4920689"/>
            <a:ext cx="5168" cy="3505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97" idx="0"/>
          </p:cNvCxnSpPr>
          <p:nvPr/>
        </p:nvCxnSpPr>
        <p:spPr bwMode="auto">
          <a:xfrm flipV="1">
            <a:off x="1751348" y="5615013"/>
            <a:ext cx="6297" cy="1982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6" name="육각형 95"/>
          <p:cNvSpPr/>
          <p:nvPr/>
        </p:nvSpPr>
        <p:spPr bwMode="auto">
          <a:xfrm>
            <a:off x="1373135" y="5275214"/>
            <a:ext cx="756425" cy="348064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작성시기 도래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97" name="순서도: 종속 처리 64"/>
          <p:cNvSpPr>
            <a:spLocks noChangeAspect="1" noChangeArrowheads="1"/>
          </p:cNvSpPr>
          <p:nvPr/>
        </p:nvSpPr>
        <p:spPr bwMode="auto">
          <a:xfrm>
            <a:off x="1370928" y="5813283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4.1.1.2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보조금집행</a:t>
            </a:r>
            <a:endParaRPr kumimoji="1" lang="en-US" altLang="ko-KR" sz="900" kern="0" dirty="0">
              <a:solidFill>
                <a:prstClr val="black"/>
              </a:solidFill>
            </a:endParaRP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계획작성</a:t>
            </a:r>
          </a:p>
        </p:txBody>
      </p:sp>
      <p:sp>
        <p:nvSpPr>
          <p:cNvPr id="119" name="직사각형 118"/>
          <p:cNvSpPr/>
          <p:nvPr/>
        </p:nvSpPr>
        <p:spPr bwMode="auto">
          <a:xfrm>
            <a:off x="2323379" y="459253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60" dirty="0">
                <a:solidFill>
                  <a:prstClr val="black"/>
                </a:solidFill>
              </a:rPr>
              <a:t>3. </a:t>
            </a:r>
            <a:r>
              <a:rPr lang="ko-KR" altLang="en-US" sz="900" kern="0" spc="-160" dirty="0">
                <a:solidFill>
                  <a:prstClr val="black"/>
                </a:solidFill>
              </a:rPr>
              <a:t>평가편람  작성 </a:t>
            </a:r>
            <a:r>
              <a:rPr lang="en-US" altLang="ko-KR" sz="900" kern="0" spc="-160" dirty="0">
                <a:solidFill>
                  <a:prstClr val="black"/>
                </a:solidFill>
              </a:rPr>
              <a:t>/</a:t>
            </a:r>
            <a:r>
              <a:rPr lang="ko-KR" altLang="en-US" sz="900" kern="0" spc="-160" dirty="0">
                <a:solidFill>
                  <a:prstClr val="black"/>
                </a:solidFill>
              </a:rPr>
              <a:t>현장평가단구성</a:t>
            </a:r>
            <a:endParaRPr lang="en-US" altLang="ko-KR" sz="900" kern="0" spc="-160" dirty="0">
              <a:solidFill>
                <a:prstClr val="black"/>
              </a:solidFill>
            </a:endParaRPr>
          </a:p>
        </p:txBody>
      </p:sp>
      <p:sp>
        <p:nvSpPr>
          <p:cNvPr id="120" name="직사각형 119"/>
          <p:cNvSpPr/>
          <p:nvPr/>
        </p:nvSpPr>
        <p:spPr bwMode="auto">
          <a:xfrm>
            <a:off x="7293602" y="23818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11.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반기단위 현장점검 실시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21" name="Shape 266"/>
          <p:cNvCxnSpPr>
            <a:cxnSpLocks noChangeShapeType="1"/>
            <a:stCxn id="119" idx="0"/>
            <a:endCxn id="145" idx="2"/>
          </p:cNvCxnSpPr>
          <p:nvPr/>
        </p:nvCxnSpPr>
        <p:spPr bwMode="auto">
          <a:xfrm flipV="1">
            <a:off x="2701592" y="4400240"/>
            <a:ext cx="1329" cy="19229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2" name="Shape 266"/>
          <p:cNvCxnSpPr>
            <a:cxnSpLocks noChangeShapeType="1"/>
            <a:endCxn id="120" idx="1"/>
          </p:cNvCxnSpPr>
          <p:nvPr/>
        </p:nvCxnSpPr>
        <p:spPr bwMode="auto">
          <a:xfrm rot="5400000" flipH="1" flipV="1">
            <a:off x="5733189" y="2839828"/>
            <a:ext cx="1858014" cy="126281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" name="직사각형 122"/>
          <p:cNvSpPr/>
          <p:nvPr/>
        </p:nvSpPr>
        <p:spPr bwMode="auto">
          <a:xfrm>
            <a:off x="6351812" y="33795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10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월별 현장평가 실시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24" name="Shape 266"/>
          <p:cNvCxnSpPr>
            <a:cxnSpLocks noChangeShapeType="1"/>
            <a:stCxn id="150" idx="0"/>
            <a:endCxn id="123" idx="1"/>
          </p:cNvCxnSpPr>
          <p:nvPr/>
        </p:nvCxnSpPr>
        <p:spPr bwMode="auto">
          <a:xfrm rot="5400000" flipH="1" flipV="1">
            <a:off x="5843390" y="3891819"/>
            <a:ext cx="860341" cy="15650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5" name="Shape 266"/>
          <p:cNvCxnSpPr>
            <a:cxnSpLocks noChangeShapeType="1"/>
            <a:stCxn id="120" idx="2"/>
            <a:endCxn id="133" idx="0"/>
          </p:cNvCxnSpPr>
          <p:nvPr/>
        </p:nvCxnSpPr>
        <p:spPr bwMode="auto">
          <a:xfrm>
            <a:off x="7671815" y="2702611"/>
            <a:ext cx="0" cy="6769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" name="Shape 266"/>
          <p:cNvCxnSpPr>
            <a:cxnSpLocks noChangeShapeType="1"/>
            <a:stCxn id="133" idx="3"/>
            <a:endCxn id="135" idx="0"/>
          </p:cNvCxnSpPr>
          <p:nvPr/>
        </p:nvCxnSpPr>
        <p:spPr bwMode="auto">
          <a:xfrm>
            <a:off x="8050027" y="3539899"/>
            <a:ext cx="483211" cy="137586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" name="직사각형 126"/>
          <p:cNvSpPr/>
          <p:nvPr/>
        </p:nvSpPr>
        <p:spPr bwMode="auto">
          <a:xfrm>
            <a:off x="3199943" y="530250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5. </a:t>
            </a:r>
            <a:r>
              <a:rPr lang="ko-KR" altLang="en-US" sz="900" kern="0" dirty="0">
                <a:solidFill>
                  <a:srgbClr val="508CD2"/>
                </a:solidFill>
              </a:rPr>
              <a:t>평가편람 및 계획 통보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28" name="Shape 266"/>
          <p:cNvCxnSpPr>
            <a:cxnSpLocks noChangeShapeType="1"/>
            <a:stCxn id="153" idx="0"/>
            <a:endCxn id="150" idx="1"/>
          </p:cNvCxnSpPr>
          <p:nvPr/>
        </p:nvCxnSpPr>
        <p:spPr bwMode="auto">
          <a:xfrm rot="5400000" flipH="1" flipV="1">
            <a:off x="4783430" y="4268841"/>
            <a:ext cx="741881" cy="132545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9" name="원통 68"/>
          <p:cNvSpPr>
            <a:spLocks noChangeAspect="1" noChangeArrowheads="1"/>
          </p:cNvSpPr>
          <p:nvPr/>
        </p:nvSpPr>
        <p:spPr bwMode="auto">
          <a:xfrm>
            <a:off x="8581275" y="2888198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</a:rPr>
              <a:t>평가결과</a:t>
            </a:r>
            <a:endParaRPr kumimoji="1" lang="ko-KR" altLang="en-US" sz="900" b="1" kern="0" spc="-190" dirty="0">
              <a:solidFill>
                <a:prstClr val="black"/>
              </a:solidFill>
            </a:endParaRPr>
          </a:p>
        </p:txBody>
      </p:sp>
      <p:sp>
        <p:nvSpPr>
          <p:cNvPr id="130" name="직사각형 129"/>
          <p:cNvSpPr/>
          <p:nvPr/>
        </p:nvSpPr>
        <p:spPr bwMode="auto">
          <a:xfrm>
            <a:off x="7293602" y="44002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11.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반기단위 현장점검 실시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31" name="Shape 266"/>
          <p:cNvCxnSpPr>
            <a:cxnSpLocks noChangeShapeType="1"/>
            <a:stCxn id="150" idx="3"/>
            <a:endCxn id="130" idx="1"/>
          </p:cNvCxnSpPr>
          <p:nvPr/>
        </p:nvCxnSpPr>
        <p:spPr bwMode="auto">
          <a:xfrm>
            <a:off x="6573521" y="4560626"/>
            <a:ext cx="72008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" name="Shape 266"/>
          <p:cNvCxnSpPr>
            <a:cxnSpLocks noChangeShapeType="1"/>
            <a:stCxn id="130" idx="0"/>
            <a:endCxn id="133" idx="2"/>
          </p:cNvCxnSpPr>
          <p:nvPr/>
        </p:nvCxnSpPr>
        <p:spPr bwMode="auto">
          <a:xfrm flipV="1">
            <a:off x="7671815" y="3700284"/>
            <a:ext cx="0" cy="69995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3" name="직사각형 132"/>
          <p:cNvSpPr/>
          <p:nvPr/>
        </p:nvSpPr>
        <p:spPr bwMode="auto">
          <a:xfrm>
            <a:off x="7293602" y="33795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12.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평가</a:t>
            </a:r>
            <a:r>
              <a:rPr lang="en-US" altLang="ko-KR" sz="900" kern="0" spc="-100" dirty="0">
                <a:solidFill>
                  <a:prstClr val="black"/>
                </a:solidFill>
              </a:rPr>
              <a:t>/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점검 결과등록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34" name="육각형 133"/>
          <p:cNvSpPr/>
          <p:nvPr/>
        </p:nvSpPr>
        <p:spPr bwMode="auto">
          <a:xfrm>
            <a:off x="8155025" y="5409975"/>
            <a:ext cx="756425" cy="348064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현장평가 완료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35" name="직사각형 134"/>
          <p:cNvSpPr/>
          <p:nvPr/>
        </p:nvSpPr>
        <p:spPr bwMode="auto">
          <a:xfrm>
            <a:off x="8155025" y="49157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13.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평가결과 오기확인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36" name="Shape 266"/>
          <p:cNvCxnSpPr>
            <a:cxnSpLocks noChangeShapeType="1"/>
            <a:stCxn id="135" idx="2"/>
          </p:cNvCxnSpPr>
          <p:nvPr/>
        </p:nvCxnSpPr>
        <p:spPr bwMode="auto">
          <a:xfrm flipH="1">
            <a:off x="8533237" y="5236539"/>
            <a:ext cx="1" cy="1734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7" name="Shape 266"/>
          <p:cNvCxnSpPr>
            <a:cxnSpLocks noChangeShapeType="1"/>
            <a:stCxn id="123" idx="3"/>
            <a:endCxn id="133" idx="1"/>
          </p:cNvCxnSpPr>
          <p:nvPr/>
        </p:nvCxnSpPr>
        <p:spPr bwMode="auto">
          <a:xfrm>
            <a:off x="7108237" y="3539899"/>
            <a:ext cx="185365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8" name="Shape 266"/>
          <p:cNvCxnSpPr>
            <a:cxnSpLocks noChangeShapeType="1"/>
            <a:stCxn id="142" idx="3"/>
            <a:endCxn id="152" idx="1"/>
          </p:cNvCxnSpPr>
          <p:nvPr/>
        </p:nvCxnSpPr>
        <p:spPr bwMode="auto">
          <a:xfrm>
            <a:off x="3956368" y="6063394"/>
            <a:ext cx="15706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9" name="순서도: 종속 처리 64"/>
          <p:cNvSpPr>
            <a:spLocks noChangeAspect="1" noChangeArrowheads="1"/>
          </p:cNvSpPr>
          <p:nvPr/>
        </p:nvSpPr>
        <p:spPr bwMode="auto">
          <a:xfrm>
            <a:off x="7453912" y="5898543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4.3.2.1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위원회평가</a:t>
            </a:r>
          </a:p>
        </p:txBody>
      </p:sp>
      <p:cxnSp>
        <p:nvCxnSpPr>
          <p:cNvPr id="140" name="Shape 266"/>
          <p:cNvCxnSpPr>
            <a:cxnSpLocks noChangeShapeType="1"/>
            <a:stCxn id="134" idx="3"/>
            <a:endCxn id="139" idx="0"/>
          </p:cNvCxnSpPr>
          <p:nvPr/>
        </p:nvCxnSpPr>
        <p:spPr bwMode="auto">
          <a:xfrm rot="10800000" flipV="1">
            <a:off x="7834333" y="5584007"/>
            <a:ext cx="320693" cy="31453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1" name="타원 140"/>
          <p:cNvSpPr/>
          <p:nvPr/>
        </p:nvSpPr>
        <p:spPr>
          <a:xfrm>
            <a:off x="5213463" y="552213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142" name="직사각형 141"/>
          <p:cNvSpPr/>
          <p:nvPr/>
        </p:nvSpPr>
        <p:spPr bwMode="auto">
          <a:xfrm>
            <a:off x="3199943" y="59030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6. </a:t>
            </a:r>
            <a:r>
              <a:rPr lang="ko-KR" altLang="en-US" sz="900" kern="0" dirty="0">
                <a:solidFill>
                  <a:srgbClr val="508CD2"/>
                </a:solidFill>
              </a:rPr>
              <a:t>평가편람 및 계획 접수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43" name="Shape 266"/>
          <p:cNvCxnSpPr>
            <a:cxnSpLocks noChangeShapeType="1"/>
            <a:stCxn id="127" idx="2"/>
            <a:endCxn id="142" idx="0"/>
          </p:cNvCxnSpPr>
          <p:nvPr/>
        </p:nvCxnSpPr>
        <p:spPr bwMode="auto">
          <a:xfrm>
            <a:off x="3578156" y="5623278"/>
            <a:ext cx="0" cy="2797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4" name="Shape 266"/>
          <p:cNvCxnSpPr>
            <a:cxnSpLocks noChangeShapeType="1"/>
            <a:endCxn id="129" idx="2"/>
          </p:cNvCxnSpPr>
          <p:nvPr/>
        </p:nvCxnSpPr>
        <p:spPr bwMode="auto">
          <a:xfrm flipV="1">
            <a:off x="8044185" y="3101105"/>
            <a:ext cx="537090" cy="32309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5" name="직사각형 144"/>
          <p:cNvSpPr/>
          <p:nvPr/>
        </p:nvSpPr>
        <p:spPr bwMode="auto">
          <a:xfrm>
            <a:off x="2324708" y="40794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평가편람 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46" name="직사각형 145"/>
          <p:cNvSpPr/>
          <p:nvPr/>
        </p:nvSpPr>
        <p:spPr bwMode="auto">
          <a:xfrm>
            <a:off x="1373135" y="459991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평가계획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47" name="직사각형 146"/>
          <p:cNvSpPr/>
          <p:nvPr/>
        </p:nvSpPr>
        <p:spPr bwMode="auto">
          <a:xfrm>
            <a:off x="1373135" y="37396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평가계획 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48" name="Shape 266"/>
          <p:cNvCxnSpPr>
            <a:cxnSpLocks noChangeShapeType="1"/>
            <a:stCxn id="145" idx="3"/>
            <a:endCxn id="127" idx="0"/>
          </p:cNvCxnSpPr>
          <p:nvPr/>
        </p:nvCxnSpPr>
        <p:spPr bwMode="auto">
          <a:xfrm>
            <a:off x="3081133" y="4239855"/>
            <a:ext cx="497023" cy="106265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" name="Shape 266"/>
          <p:cNvCxnSpPr>
            <a:cxnSpLocks noChangeShapeType="1"/>
            <a:stCxn id="146" idx="0"/>
            <a:endCxn id="147" idx="2"/>
          </p:cNvCxnSpPr>
          <p:nvPr/>
        </p:nvCxnSpPr>
        <p:spPr bwMode="auto">
          <a:xfrm flipV="1">
            <a:off x="1751348" y="4060443"/>
            <a:ext cx="0" cy="5394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0" name="직사각형 149"/>
          <p:cNvSpPr/>
          <p:nvPr/>
        </p:nvSpPr>
        <p:spPr bwMode="auto">
          <a:xfrm>
            <a:off x="5817096" y="44002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9. </a:t>
            </a:r>
            <a:r>
              <a:rPr lang="ko-KR" altLang="en-US" sz="900" kern="0" dirty="0">
                <a:solidFill>
                  <a:srgbClr val="508CD2"/>
                </a:solidFill>
              </a:rPr>
              <a:t>평가위원 등록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51" name="Shape 266"/>
          <p:cNvCxnSpPr>
            <a:cxnSpLocks noChangeShapeType="1"/>
            <a:stCxn id="147" idx="3"/>
            <a:endCxn id="119" idx="1"/>
          </p:cNvCxnSpPr>
          <p:nvPr/>
        </p:nvCxnSpPr>
        <p:spPr bwMode="auto">
          <a:xfrm>
            <a:off x="2129560" y="3900058"/>
            <a:ext cx="193819" cy="85286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2" name="직사각형 151"/>
          <p:cNvSpPr/>
          <p:nvPr/>
        </p:nvSpPr>
        <p:spPr bwMode="auto">
          <a:xfrm>
            <a:off x="4113431" y="59030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7. </a:t>
            </a:r>
            <a:r>
              <a:rPr lang="ko-KR" altLang="en-US" sz="900" kern="0" dirty="0">
                <a:solidFill>
                  <a:srgbClr val="508CD2"/>
                </a:solidFill>
              </a:rPr>
              <a:t>성과계획서 작성 및 제출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53" name="직사각형 152"/>
          <p:cNvSpPr/>
          <p:nvPr/>
        </p:nvSpPr>
        <p:spPr bwMode="auto">
          <a:xfrm>
            <a:off x="4113431" y="530250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8. </a:t>
            </a:r>
            <a:r>
              <a:rPr lang="ko-KR" altLang="en-US" sz="900" kern="0" dirty="0">
                <a:solidFill>
                  <a:srgbClr val="508CD2"/>
                </a:solidFill>
              </a:rPr>
              <a:t>성과계획서 검토 및 확정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54" name="Shape 266"/>
          <p:cNvCxnSpPr>
            <a:cxnSpLocks noChangeShapeType="1"/>
            <a:stCxn id="152" idx="0"/>
            <a:endCxn id="153" idx="2"/>
          </p:cNvCxnSpPr>
          <p:nvPr/>
        </p:nvCxnSpPr>
        <p:spPr bwMode="auto">
          <a:xfrm flipV="1">
            <a:off x="4491644" y="5623278"/>
            <a:ext cx="0" cy="2797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5" name="순서도: 종속 처리 64"/>
          <p:cNvSpPr>
            <a:spLocks noChangeAspect="1" noChangeArrowheads="1"/>
          </p:cNvSpPr>
          <p:nvPr/>
        </p:nvSpPr>
        <p:spPr bwMode="auto">
          <a:xfrm>
            <a:off x="8650844" y="5903140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4.3.2.2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환류관리</a:t>
            </a:r>
          </a:p>
        </p:txBody>
      </p:sp>
      <p:cxnSp>
        <p:nvCxnSpPr>
          <p:cNvPr id="156" name="Shape 266"/>
          <p:cNvCxnSpPr>
            <a:cxnSpLocks noChangeShapeType="1"/>
            <a:stCxn id="134" idx="0"/>
            <a:endCxn id="155" idx="0"/>
          </p:cNvCxnSpPr>
          <p:nvPr/>
        </p:nvCxnSpPr>
        <p:spPr bwMode="auto">
          <a:xfrm>
            <a:off x="8911450" y="5584007"/>
            <a:ext cx="119814" cy="31913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7" name="타원 156"/>
          <p:cNvSpPr/>
          <p:nvPr/>
        </p:nvSpPr>
        <p:spPr>
          <a:xfrm>
            <a:off x="1566160" y="5271190"/>
            <a:ext cx="360040" cy="28732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58" name="타원 157"/>
          <p:cNvSpPr/>
          <p:nvPr/>
        </p:nvSpPr>
        <p:spPr>
          <a:xfrm>
            <a:off x="5206315" y="521710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159" name="Shape 266"/>
          <p:cNvCxnSpPr>
            <a:cxnSpLocks noChangeShapeType="1"/>
            <a:stCxn id="153" idx="3"/>
          </p:cNvCxnSpPr>
          <p:nvPr/>
        </p:nvCxnSpPr>
        <p:spPr bwMode="auto">
          <a:xfrm flipV="1">
            <a:off x="4869856" y="5302507"/>
            <a:ext cx="336459" cy="16038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0" name="Shape 266"/>
          <p:cNvCxnSpPr>
            <a:cxnSpLocks noChangeShapeType="1"/>
            <a:stCxn id="153" idx="3"/>
            <a:endCxn id="141" idx="2"/>
          </p:cNvCxnSpPr>
          <p:nvPr/>
        </p:nvCxnSpPr>
        <p:spPr bwMode="auto">
          <a:xfrm>
            <a:off x="4869856" y="5462893"/>
            <a:ext cx="343607" cy="15211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9" name="순서도: 종속 처리 58"/>
          <p:cNvSpPr>
            <a:spLocks noChangeAspect="1" noChangeArrowheads="1"/>
          </p:cNvSpPr>
          <p:nvPr/>
        </p:nvSpPr>
        <p:spPr bwMode="auto">
          <a:xfrm>
            <a:off x="6635554" y="5383341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4.2.3.4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위원회관리</a:t>
            </a:r>
            <a:endParaRPr kumimoji="1"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0" name="Shape 266"/>
          <p:cNvCxnSpPr>
            <a:cxnSpLocks noChangeShapeType="1"/>
            <a:stCxn id="134" idx="3"/>
            <a:endCxn id="59" idx="3"/>
          </p:cNvCxnSpPr>
          <p:nvPr/>
        </p:nvCxnSpPr>
        <p:spPr bwMode="auto">
          <a:xfrm flipH="1" flipV="1">
            <a:off x="7396393" y="5581188"/>
            <a:ext cx="758632" cy="281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89213162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연중평가관리 업무의 평가계획</a:t>
            </a:r>
            <a:r>
              <a:rPr lang="en-US" altLang="ko-KR" sz="1600" dirty="0"/>
              <a:t>, </a:t>
            </a:r>
            <a:r>
              <a:rPr lang="ko-KR" altLang="en-US" sz="1600" dirty="0"/>
              <a:t>현장평가</a:t>
            </a:r>
            <a:r>
              <a:rPr lang="en-US" altLang="ko-KR" sz="1600" dirty="0"/>
              <a:t>, </a:t>
            </a:r>
            <a:r>
              <a:rPr lang="ko-KR" altLang="en-US" sz="1600" dirty="0"/>
              <a:t>시민모니터링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고객만족도조사 업무에 필요한 절차를 정보화하고 소통채널을 다양하게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3.4.2.5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연중평가관리 </a:t>
            </a:r>
            <a:r>
              <a:rPr lang="en-US" altLang="ko-KR" dirty="0"/>
              <a:t>(2/6)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8497782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연중평가관리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5" name="표 7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693"/>
              </p:ext>
            </p:extLst>
          </p:nvPr>
        </p:nvGraphicFramePr>
        <p:xfrm>
          <a:off x="344488" y="1939825"/>
          <a:ext cx="9181020" cy="4432961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4.2.3.3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시민모니터링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98943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시민 모니터링단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1242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기금평가팀 평가담당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58062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시민 모니터링요원 지원자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58062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지원사업자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직접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간접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6" name="직사각형 75"/>
          <p:cNvSpPr/>
          <p:nvPr/>
        </p:nvSpPr>
        <p:spPr bwMode="auto">
          <a:xfrm>
            <a:off x="5172708" y="25427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srgbClr val="508CD2"/>
                </a:solidFill>
              </a:rPr>
              <a:t>19. </a:t>
            </a:r>
            <a:r>
              <a:rPr lang="ko-KR" altLang="en-US" sz="900" kern="0" spc="-110" dirty="0">
                <a:solidFill>
                  <a:srgbClr val="508CD2"/>
                </a:solidFill>
              </a:rPr>
              <a:t>모니터링단 구성</a:t>
            </a:r>
            <a:endParaRPr lang="en-US" altLang="ko-KR" sz="900" kern="0" spc="-110" dirty="0">
              <a:solidFill>
                <a:srgbClr val="508CD2"/>
              </a:solidFill>
            </a:endParaRPr>
          </a:p>
        </p:txBody>
      </p:sp>
      <p:sp>
        <p:nvSpPr>
          <p:cNvPr id="77" name="직사각형 76"/>
          <p:cNvSpPr/>
          <p:nvPr/>
        </p:nvSpPr>
        <p:spPr bwMode="auto">
          <a:xfrm>
            <a:off x="7976995" y="37001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srgbClr val="508CD2"/>
                </a:solidFill>
              </a:rPr>
              <a:t>22. </a:t>
            </a:r>
            <a:r>
              <a:rPr lang="ko-KR" altLang="en-US" sz="900" kern="0" spc="-110" dirty="0">
                <a:solidFill>
                  <a:srgbClr val="508CD2"/>
                </a:solidFill>
              </a:rPr>
              <a:t>작성결과접수</a:t>
            </a:r>
            <a:endParaRPr lang="en-US" altLang="ko-KR" sz="900" kern="0" spc="-110" dirty="0">
              <a:solidFill>
                <a:srgbClr val="508CD2"/>
              </a:solidFill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6572839" y="25427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srgbClr val="508CD2"/>
                </a:solidFill>
              </a:rPr>
              <a:t>20. </a:t>
            </a:r>
            <a:r>
              <a:rPr lang="ko-KR" altLang="en-US" sz="900" kern="0" spc="-110" dirty="0">
                <a:solidFill>
                  <a:srgbClr val="508CD2"/>
                </a:solidFill>
              </a:rPr>
              <a:t>월별 모니터링실시</a:t>
            </a:r>
            <a:endParaRPr lang="en-US" altLang="ko-KR" sz="900" kern="0" spc="-110" dirty="0">
              <a:solidFill>
                <a:srgbClr val="508CD2"/>
              </a:solidFill>
            </a:endParaRPr>
          </a:p>
        </p:txBody>
      </p:sp>
      <p:cxnSp>
        <p:nvCxnSpPr>
          <p:cNvPr id="79" name="Shape 266"/>
          <p:cNvCxnSpPr>
            <a:cxnSpLocks noChangeShapeType="1"/>
            <a:stCxn id="76" idx="3"/>
            <a:endCxn id="78" idx="1"/>
          </p:cNvCxnSpPr>
          <p:nvPr/>
        </p:nvCxnSpPr>
        <p:spPr bwMode="auto">
          <a:xfrm>
            <a:off x="5929133" y="2703155"/>
            <a:ext cx="64370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" name="Shape 266"/>
          <p:cNvCxnSpPr>
            <a:cxnSpLocks noChangeShapeType="1"/>
            <a:stCxn id="78" idx="3"/>
            <a:endCxn id="83" idx="1"/>
          </p:cNvCxnSpPr>
          <p:nvPr/>
        </p:nvCxnSpPr>
        <p:spPr bwMode="auto">
          <a:xfrm>
            <a:off x="7329264" y="2703155"/>
            <a:ext cx="64773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" name="원통 68"/>
          <p:cNvSpPr>
            <a:spLocks noChangeAspect="1" noChangeArrowheads="1"/>
          </p:cNvSpPr>
          <p:nvPr/>
        </p:nvSpPr>
        <p:spPr bwMode="auto">
          <a:xfrm>
            <a:off x="3723044" y="2503500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</a:rPr>
              <a:t>모집공고</a:t>
            </a:r>
            <a:r>
              <a:rPr kumimoji="1" lang="en-US" altLang="ko-KR" sz="1000" b="1" kern="0" dirty="0">
                <a:solidFill>
                  <a:prstClr val="black"/>
                </a:solidFill>
              </a:rPr>
              <a:t>/</a:t>
            </a:r>
            <a:r>
              <a:rPr kumimoji="1" lang="ko-KR" altLang="en-US" sz="1000" b="1" kern="0" dirty="0">
                <a:solidFill>
                  <a:prstClr val="black"/>
                </a:solidFill>
              </a:rPr>
              <a:t>신청</a:t>
            </a:r>
            <a:endParaRPr kumimoji="1" lang="ko-KR" altLang="en-US" sz="900" b="1" kern="0" spc="-190" dirty="0">
              <a:solidFill>
                <a:prstClr val="black"/>
              </a:solidFill>
            </a:endParaRPr>
          </a:p>
        </p:txBody>
      </p:sp>
      <p:cxnSp>
        <p:nvCxnSpPr>
          <p:cNvPr id="82" name="Shape 266"/>
          <p:cNvCxnSpPr>
            <a:cxnSpLocks noChangeShapeType="1"/>
            <a:stCxn id="88" idx="0"/>
          </p:cNvCxnSpPr>
          <p:nvPr/>
        </p:nvCxnSpPr>
        <p:spPr bwMode="auto">
          <a:xfrm rot="16200000" flipV="1">
            <a:off x="3872129" y="3254104"/>
            <a:ext cx="1027790" cy="37821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" name="직사각형 82"/>
          <p:cNvSpPr/>
          <p:nvPr/>
        </p:nvSpPr>
        <p:spPr bwMode="auto">
          <a:xfrm>
            <a:off x="7976995" y="254276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srgbClr val="508CD2"/>
                </a:solidFill>
              </a:rPr>
              <a:t>21. </a:t>
            </a:r>
            <a:r>
              <a:rPr lang="ko-KR" altLang="en-US" sz="900" kern="0" spc="-110" dirty="0">
                <a:solidFill>
                  <a:srgbClr val="508CD2"/>
                </a:solidFill>
              </a:rPr>
              <a:t>모니터링 결과작성</a:t>
            </a:r>
            <a:endParaRPr lang="en-US" altLang="ko-KR" sz="900" kern="0" spc="-110" dirty="0">
              <a:solidFill>
                <a:srgbClr val="508CD2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1992623" y="3237426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60" dirty="0">
                <a:solidFill>
                  <a:prstClr val="black"/>
                </a:solidFill>
              </a:rPr>
              <a:t>15. </a:t>
            </a:r>
            <a:r>
              <a:rPr lang="ko-KR" altLang="en-US" sz="900" kern="0" spc="-160" dirty="0">
                <a:solidFill>
                  <a:prstClr val="black"/>
                </a:solidFill>
              </a:rPr>
              <a:t> 모집공고 등록</a:t>
            </a:r>
            <a:endParaRPr lang="en-US" altLang="ko-KR" sz="900" kern="0" spc="-160" dirty="0">
              <a:solidFill>
                <a:prstClr val="black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123" idx="6"/>
            <a:endCxn id="87" idx="1"/>
          </p:cNvCxnSpPr>
          <p:nvPr/>
        </p:nvCxnSpPr>
        <p:spPr bwMode="auto">
          <a:xfrm>
            <a:off x="1662926" y="4117490"/>
            <a:ext cx="329697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" name="Shape 266"/>
          <p:cNvCxnSpPr>
            <a:cxnSpLocks noChangeShapeType="1"/>
            <a:stCxn id="87" idx="0"/>
            <a:endCxn id="84" idx="2"/>
          </p:cNvCxnSpPr>
          <p:nvPr/>
        </p:nvCxnSpPr>
        <p:spPr bwMode="auto">
          <a:xfrm flipV="1">
            <a:off x="2370836" y="3558197"/>
            <a:ext cx="0" cy="3989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" name="직사각형 86"/>
          <p:cNvSpPr/>
          <p:nvPr/>
        </p:nvSpPr>
        <p:spPr bwMode="auto">
          <a:xfrm>
            <a:off x="1992623" y="3957105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14. </a:t>
            </a:r>
            <a:r>
              <a:rPr lang="ko-KR" altLang="en-US" sz="900" kern="0" dirty="0">
                <a:solidFill>
                  <a:prstClr val="black"/>
                </a:solidFill>
              </a:rPr>
              <a:t>모집 공고문</a:t>
            </a:r>
            <a:r>
              <a:rPr lang="en-US" altLang="ko-KR" sz="900" kern="0" dirty="0">
                <a:solidFill>
                  <a:prstClr val="black"/>
                </a:solidFill>
              </a:rPr>
              <a:t> </a:t>
            </a:r>
            <a:r>
              <a:rPr lang="ko-KR" altLang="en-US" sz="900" kern="0" dirty="0">
                <a:solidFill>
                  <a:prstClr val="black"/>
                </a:solidFill>
              </a:rPr>
              <a:t>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8" name="직사각형 87"/>
          <p:cNvSpPr/>
          <p:nvPr/>
        </p:nvSpPr>
        <p:spPr bwMode="auto">
          <a:xfrm>
            <a:off x="4196916" y="395710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srgbClr val="508CD2"/>
                </a:solidFill>
              </a:rPr>
              <a:t>17.  </a:t>
            </a:r>
            <a:r>
              <a:rPr lang="ko-KR" altLang="en-US" sz="900" kern="0" spc="-110" dirty="0">
                <a:solidFill>
                  <a:srgbClr val="508CD2"/>
                </a:solidFill>
              </a:rPr>
              <a:t>모니터링단 신청접수</a:t>
            </a:r>
            <a:endParaRPr lang="en-US" altLang="ko-KR" sz="900" kern="0" spc="-110" dirty="0">
              <a:solidFill>
                <a:srgbClr val="508CD2"/>
              </a:solidFill>
            </a:endParaRPr>
          </a:p>
        </p:txBody>
      </p:sp>
      <p:sp>
        <p:nvSpPr>
          <p:cNvPr id="89" name="직사각형 88"/>
          <p:cNvSpPr/>
          <p:nvPr/>
        </p:nvSpPr>
        <p:spPr bwMode="auto">
          <a:xfrm>
            <a:off x="3116796" y="542308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srgbClr val="508CD2"/>
                </a:solidFill>
              </a:rPr>
              <a:t>16.  </a:t>
            </a:r>
            <a:r>
              <a:rPr lang="ko-KR" altLang="en-US" sz="900" kern="0" spc="-110" dirty="0">
                <a:solidFill>
                  <a:srgbClr val="508CD2"/>
                </a:solidFill>
              </a:rPr>
              <a:t>모니터링단 신청등록</a:t>
            </a:r>
            <a:endParaRPr lang="en-US" altLang="ko-KR" sz="900" kern="0" spc="-110" dirty="0">
              <a:solidFill>
                <a:srgbClr val="508CD2"/>
              </a:solidFill>
            </a:endParaRPr>
          </a:p>
        </p:txBody>
      </p:sp>
      <p:cxnSp>
        <p:nvCxnSpPr>
          <p:cNvPr id="90" name="Shape 266"/>
          <p:cNvCxnSpPr>
            <a:cxnSpLocks noChangeShapeType="1"/>
            <a:stCxn id="84" idx="3"/>
            <a:endCxn id="89" idx="0"/>
          </p:cNvCxnSpPr>
          <p:nvPr/>
        </p:nvCxnSpPr>
        <p:spPr bwMode="auto">
          <a:xfrm>
            <a:off x="2749048" y="3397812"/>
            <a:ext cx="745961" cy="202527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89" idx="3"/>
            <a:endCxn id="88" idx="2"/>
          </p:cNvCxnSpPr>
          <p:nvPr/>
        </p:nvCxnSpPr>
        <p:spPr bwMode="auto">
          <a:xfrm flipV="1">
            <a:off x="3873221" y="4277876"/>
            <a:ext cx="701908" cy="130559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" name="직사각형 91"/>
          <p:cNvSpPr/>
          <p:nvPr/>
        </p:nvSpPr>
        <p:spPr bwMode="auto">
          <a:xfrm>
            <a:off x="5172708" y="395710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10" dirty="0">
                <a:solidFill>
                  <a:srgbClr val="508CD2"/>
                </a:solidFill>
              </a:rPr>
              <a:t>18. </a:t>
            </a:r>
            <a:r>
              <a:rPr lang="ko-KR" altLang="en-US" sz="900" kern="0" spc="-110" dirty="0">
                <a:solidFill>
                  <a:srgbClr val="508CD2"/>
                </a:solidFill>
              </a:rPr>
              <a:t>자격검토 및 선정</a:t>
            </a:r>
            <a:endParaRPr lang="en-US" altLang="ko-KR" sz="900" kern="0" spc="-110" dirty="0">
              <a:solidFill>
                <a:srgbClr val="508CD2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88" idx="3"/>
            <a:endCxn id="92" idx="1"/>
          </p:cNvCxnSpPr>
          <p:nvPr/>
        </p:nvCxnSpPr>
        <p:spPr bwMode="auto">
          <a:xfrm>
            <a:off x="4953341" y="4117491"/>
            <a:ext cx="21936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83" idx="2"/>
            <a:endCxn id="77" idx="0"/>
          </p:cNvCxnSpPr>
          <p:nvPr/>
        </p:nvCxnSpPr>
        <p:spPr bwMode="auto">
          <a:xfrm>
            <a:off x="8355208" y="2863540"/>
            <a:ext cx="0" cy="8365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5" name="Shape 266"/>
          <p:cNvCxnSpPr>
            <a:cxnSpLocks noChangeShapeType="1"/>
            <a:stCxn id="92" idx="0"/>
            <a:endCxn id="76" idx="2"/>
          </p:cNvCxnSpPr>
          <p:nvPr/>
        </p:nvCxnSpPr>
        <p:spPr bwMode="auto">
          <a:xfrm flipV="1">
            <a:off x="5550921" y="2863540"/>
            <a:ext cx="0" cy="109356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84" idx="0"/>
            <a:endCxn id="81" idx="2"/>
          </p:cNvCxnSpPr>
          <p:nvPr/>
        </p:nvCxnSpPr>
        <p:spPr bwMode="auto">
          <a:xfrm rot="5400000" flipH="1" flipV="1">
            <a:off x="2786431" y="2300813"/>
            <a:ext cx="521019" cy="135220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7" name="순서도: 문서 96"/>
          <p:cNvSpPr>
            <a:spLocks noChangeAspect="1" noChangeArrowheads="1"/>
          </p:cNvSpPr>
          <p:nvPr/>
        </p:nvSpPr>
        <p:spPr bwMode="auto">
          <a:xfrm>
            <a:off x="4304647" y="3270640"/>
            <a:ext cx="664052" cy="51110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88900" indent="-88900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모니터링 요원신청서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19" name="육각형 118"/>
          <p:cNvSpPr/>
          <p:nvPr/>
        </p:nvSpPr>
        <p:spPr bwMode="auto">
          <a:xfrm>
            <a:off x="7976994" y="4281862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모니터링 완료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20" name="Shape 266"/>
          <p:cNvCxnSpPr>
            <a:cxnSpLocks noChangeShapeType="1"/>
            <a:stCxn id="77" idx="2"/>
          </p:cNvCxnSpPr>
          <p:nvPr/>
        </p:nvCxnSpPr>
        <p:spPr bwMode="auto">
          <a:xfrm flipH="1">
            <a:off x="8355206" y="4020883"/>
            <a:ext cx="2" cy="2569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순서도: 종속 처리 64"/>
          <p:cNvSpPr>
            <a:spLocks noChangeAspect="1" noChangeArrowheads="1"/>
          </p:cNvSpPr>
          <p:nvPr/>
        </p:nvSpPr>
        <p:spPr bwMode="auto">
          <a:xfrm>
            <a:off x="7401272" y="4830378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4.3.2.1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위원회평가</a:t>
            </a:r>
          </a:p>
        </p:txBody>
      </p:sp>
      <p:cxnSp>
        <p:nvCxnSpPr>
          <p:cNvPr id="122" name="Shape 266"/>
          <p:cNvCxnSpPr>
            <a:cxnSpLocks noChangeShapeType="1"/>
            <a:stCxn id="119" idx="3"/>
            <a:endCxn id="121" idx="0"/>
          </p:cNvCxnSpPr>
          <p:nvPr/>
        </p:nvCxnSpPr>
        <p:spPr bwMode="auto">
          <a:xfrm rot="10800000" flipV="1">
            <a:off x="7781692" y="4487014"/>
            <a:ext cx="195302" cy="34336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3" name="타원 122"/>
          <p:cNvSpPr/>
          <p:nvPr/>
        </p:nvSpPr>
        <p:spPr>
          <a:xfrm>
            <a:off x="1460612" y="402461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124" name="순서도: 문서 123"/>
          <p:cNvSpPr>
            <a:spLocks noChangeAspect="1" noChangeArrowheads="1"/>
          </p:cNvSpPr>
          <p:nvPr/>
        </p:nvSpPr>
        <p:spPr bwMode="auto">
          <a:xfrm>
            <a:off x="2585119" y="2500977"/>
            <a:ext cx="664052" cy="51110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88900" indent="-88900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모집공고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5" name="순서도: 종속 처리 64"/>
          <p:cNvSpPr>
            <a:spLocks noChangeAspect="1" noChangeArrowheads="1"/>
          </p:cNvSpPr>
          <p:nvPr/>
        </p:nvSpPr>
        <p:spPr bwMode="auto">
          <a:xfrm>
            <a:off x="8487394" y="4823520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4.3.2.2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환류관리</a:t>
            </a:r>
          </a:p>
        </p:txBody>
      </p:sp>
      <p:cxnSp>
        <p:nvCxnSpPr>
          <p:cNvPr id="126" name="Shape 266"/>
          <p:cNvCxnSpPr>
            <a:cxnSpLocks noChangeShapeType="1"/>
            <a:stCxn id="119" idx="0"/>
            <a:endCxn id="125" idx="0"/>
          </p:cNvCxnSpPr>
          <p:nvPr/>
        </p:nvCxnSpPr>
        <p:spPr bwMode="auto">
          <a:xfrm>
            <a:off x="8733419" y="4487015"/>
            <a:ext cx="134395" cy="3365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순서도: 종속 처리 36"/>
          <p:cNvSpPr>
            <a:spLocks noChangeAspect="1" noChangeArrowheads="1"/>
          </p:cNvSpPr>
          <p:nvPr/>
        </p:nvSpPr>
        <p:spPr bwMode="auto">
          <a:xfrm>
            <a:off x="6280393" y="4823520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4.2.3.4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위원회관리</a:t>
            </a:r>
            <a:endParaRPr kumimoji="1"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8" name="Shape 266"/>
          <p:cNvCxnSpPr>
            <a:cxnSpLocks noChangeShapeType="1"/>
            <a:stCxn id="119" idx="3"/>
            <a:endCxn id="37" idx="0"/>
          </p:cNvCxnSpPr>
          <p:nvPr/>
        </p:nvCxnSpPr>
        <p:spPr bwMode="auto">
          <a:xfrm rot="10800000" flipV="1">
            <a:off x="6660814" y="4487014"/>
            <a:ext cx="1316181" cy="3365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2143012727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연중평가관리 업무의 평가계획</a:t>
            </a:r>
            <a:r>
              <a:rPr lang="en-US" altLang="ko-KR" sz="1600" dirty="0"/>
              <a:t>, </a:t>
            </a:r>
            <a:r>
              <a:rPr lang="ko-KR" altLang="en-US" sz="1600" dirty="0"/>
              <a:t>현장평가</a:t>
            </a:r>
            <a:r>
              <a:rPr lang="en-US" altLang="ko-KR" sz="1600" dirty="0"/>
              <a:t>, </a:t>
            </a:r>
            <a:r>
              <a:rPr lang="ko-KR" altLang="en-US" sz="1600" dirty="0"/>
              <a:t>시민모니터링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고객만족도조사 업무에 필요한 절차를 정보화하고 소통채널을 다양하게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3.4.2.5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연중평가관리 </a:t>
            </a:r>
            <a:r>
              <a:rPr lang="en-US" altLang="ko-KR" dirty="0"/>
              <a:t>(3/6)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863195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연중평가관리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0" name="표 7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7381649"/>
              </p:ext>
            </p:extLst>
          </p:nvPr>
        </p:nvGraphicFramePr>
        <p:xfrm>
          <a:off x="344488" y="1939825"/>
          <a:ext cx="9181020" cy="4488111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4.2.3.4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고객만족도 조사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04056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총무팀 공고담당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630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기금평가팀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평가담당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008112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 리서치업체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36104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지원사업자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직접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간접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1" name="순서도: 종속 처리 64"/>
          <p:cNvSpPr>
            <a:spLocks noChangeAspect="1" noChangeArrowheads="1"/>
          </p:cNvSpPr>
          <p:nvPr/>
        </p:nvSpPr>
        <p:spPr bwMode="auto">
          <a:xfrm>
            <a:off x="8584649" y="4470369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4.3.2.1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위원회평가</a:t>
            </a:r>
          </a:p>
        </p:txBody>
      </p:sp>
      <p:sp>
        <p:nvSpPr>
          <p:cNvPr id="82" name="직사각형 81"/>
          <p:cNvSpPr/>
          <p:nvPr/>
        </p:nvSpPr>
        <p:spPr bwMode="auto">
          <a:xfrm>
            <a:off x="1364672" y="329885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</a:rPr>
              <a:t>조사계획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3" name="직사각형 82"/>
          <p:cNvSpPr/>
          <p:nvPr/>
        </p:nvSpPr>
        <p:spPr bwMode="auto">
          <a:xfrm>
            <a:off x="3728523" y="3298853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29 </a:t>
            </a:r>
            <a:r>
              <a:rPr lang="ko-KR" altLang="en-US" sz="900" kern="0" dirty="0">
                <a:solidFill>
                  <a:prstClr val="black"/>
                </a:solidFill>
              </a:rPr>
              <a:t>업체공고 의뢰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1364672" y="398559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24. </a:t>
            </a:r>
            <a:r>
              <a:rPr lang="ko-KR" altLang="en-US" sz="900" kern="0" dirty="0">
                <a:solidFill>
                  <a:srgbClr val="508CD2"/>
                </a:solidFill>
              </a:rPr>
              <a:t>측정항목 확정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82" idx="2"/>
            <a:endCxn id="84" idx="0"/>
          </p:cNvCxnSpPr>
          <p:nvPr/>
        </p:nvCxnSpPr>
        <p:spPr bwMode="auto">
          <a:xfrm>
            <a:off x="1742885" y="3619624"/>
            <a:ext cx="0" cy="3659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" name="Shape 266"/>
          <p:cNvCxnSpPr>
            <a:cxnSpLocks noChangeShapeType="1"/>
            <a:stCxn id="91" idx="0"/>
            <a:endCxn id="89" idx="2"/>
          </p:cNvCxnSpPr>
          <p:nvPr/>
        </p:nvCxnSpPr>
        <p:spPr bwMode="auto">
          <a:xfrm flipV="1">
            <a:off x="5244077" y="4306365"/>
            <a:ext cx="0" cy="28110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" name="Shape 266"/>
          <p:cNvCxnSpPr>
            <a:cxnSpLocks noChangeShapeType="1"/>
            <a:stCxn id="89" idx="3"/>
            <a:endCxn id="92" idx="0"/>
          </p:cNvCxnSpPr>
          <p:nvPr/>
        </p:nvCxnSpPr>
        <p:spPr bwMode="auto">
          <a:xfrm>
            <a:off x="5622289" y="4145980"/>
            <a:ext cx="500671" cy="43587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8" name="Shape 266"/>
          <p:cNvCxnSpPr>
            <a:cxnSpLocks noChangeShapeType="1"/>
            <a:endCxn id="81" idx="0"/>
          </p:cNvCxnSpPr>
          <p:nvPr/>
        </p:nvCxnSpPr>
        <p:spPr bwMode="auto">
          <a:xfrm>
            <a:off x="8965068" y="4270110"/>
            <a:ext cx="1" cy="20025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" name="직사각형 88"/>
          <p:cNvSpPr/>
          <p:nvPr/>
        </p:nvSpPr>
        <p:spPr bwMode="auto">
          <a:xfrm>
            <a:off x="4865864" y="398559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32. </a:t>
            </a:r>
            <a:r>
              <a:rPr lang="ko-KR" altLang="en-US" sz="900" kern="0" dirty="0">
                <a:solidFill>
                  <a:prstClr val="black"/>
                </a:solidFill>
              </a:rPr>
              <a:t>리서치 업체 선정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3728523" y="239548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30. </a:t>
            </a:r>
            <a:r>
              <a:rPr lang="ko-KR" altLang="en-US" sz="900" kern="0" dirty="0">
                <a:solidFill>
                  <a:prstClr val="black"/>
                </a:solidFill>
              </a:rPr>
              <a:t>업체공고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1" name="직사각형 90"/>
          <p:cNvSpPr/>
          <p:nvPr/>
        </p:nvSpPr>
        <p:spPr bwMode="auto">
          <a:xfrm>
            <a:off x="4865864" y="45874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31. </a:t>
            </a:r>
            <a:r>
              <a:rPr lang="ko-KR" altLang="en-US" sz="900" kern="0" dirty="0">
                <a:solidFill>
                  <a:prstClr val="black"/>
                </a:solidFill>
              </a:rPr>
              <a:t>제안서 제출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2" name="직사각형 91"/>
          <p:cNvSpPr/>
          <p:nvPr/>
        </p:nvSpPr>
        <p:spPr bwMode="auto">
          <a:xfrm>
            <a:off x="5744747" y="458185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33. </a:t>
            </a:r>
            <a:r>
              <a:rPr lang="ko-KR" altLang="en-US" sz="900" kern="0" dirty="0">
                <a:solidFill>
                  <a:prstClr val="black"/>
                </a:solidFill>
              </a:rPr>
              <a:t>만족도 조사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3" name="직사각형 92"/>
          <p:cNvSpPr/>
          <p:nvPr/>
        </p:nvSpPr>
        <p:spPr bwMode="auto">
          <a:xfrm>
            <a:off x="5744747" y="505714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34. </a:t>
            </a:r>
            <a:r>
              <a:rPr lang="ko-KR" altLang="en-US" sz="900" kern="0" dirty="0">
                <a:solidFill>
                  <a:prstClr val="black"/>
                </a:solidFill>
              </a:rPr>
              <a:t>결과분석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4" name="직사각형 93"/>
          <p:cNvSpPr/>
          <p:nvPr/>
        </p:nvSpPr>
        <p:spPr bwMode="auto">
          <a:xfrm>
            <a:off x="6702116" y="505317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35. </a:t>
            </a:r>
            <a:r>
              <a:rPr lang="ko-KR" altLang="en-US" sz="900" kern="0" dirty="0">
                <a:solidFill>
                  <a:srgbClr val="508CD2"/>
                </a:solidFill>
              </a:rPr>
              <a:t>보고서 제출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95" name="직사각형 94"/>
          <p:cNvSpPr/>
          <p:nvPr/>
        </p:nvSpPr>
        <p:spPr bwMode="auto">
          <a:xfrm>
            <a:off x="7540467" y="398559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36. </a:t>
            </a:r>
            <a:r>
              <a:rPr lang="ko-KR" altLang="en-US" sz="900" kern="0" dirty="0">
                <a:solidFill>
                  <a:srgbClr val="508CD2"/>
                </a:solidFill>
              </a:rPr>
              <a:t>보고서 접수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96" name="육각형 95"/>
          <p:cNvSpPr/>
          <p:nvPr/>
        </p:nvSpPr>
        <p:spPr bwMode="auto">
          <a:xfrm>
            <a:off x="8569001" y="3940475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만족도조사 완료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97" name="Shape 266"/>
          <p:cNvCxnSpPr>
            <a:cxnSpLocks noChangeShapeType="1"/>
            <a:stCxn id="92" idx="2"/>
            <a:endCxn id="93" idx="0"/>
          </p:cNvCxnSpPr>
          <p:nvPr/>
        </p:nvCxnSpPr>
        <p:spPr bwMode="auto">
          <a:xfrm>
            <a:off x="6122960" y="4902625"/>
            <a:ext cx="0" cy="15452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" name="Shape 266"/>
          <p:cNvCxnSpPr>
            <a:cxnSpLocks noChangeShapeType="1"/>
            <a:stCxn id="93" idx="3"/>
            <a:endCxn id="94" idx="1"/>
          </p:cNvCxnSpPr>
          <p:nvPr/>
        </p:nvCxnSpPr>
        <p:spPr bwMode="auto">
          <a:xfrm flipV="1">
            <a:off x="6501172" y="5213557"/>
            <a:ext cx="200944" cy="397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0" name="Shape 266"/>
          <p:cNvCxnSpPr>
            <a:cxnSpLocks noChangeShapeType="1"/>
            <a:stCxn id="94" idx="3"/>
            <a:endCxn id="95" idx="2"/>
          </p:cNvCxnSpPr>
          <p:nvPr/>
        </p:nvCxnSpPr>
        <p:spPr bwMode="auto">
          <a:xfrm flipV="1">
            <a:off x="7458541" y="4306365"/>
            <a:ext cx="460139" cy="90719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1" name="Shape 266"/>
          <p:cNvCxnSpPr>
            <a:cxnSpLocks noChangeShapeType="1"/>
            <a:stCxn id="83" idx="0"/>
            <a:endCxn id="90" idx="2"/>
          </p:cNvCxnSpPr>
          <p:nvPr/>
        </p:nvCxnSpPr>
        <p:spPr bwMode="auto">
          <a:xfrm flipV="1">
            <a:off x="4106736" y="2716259"/>
            <a:ext cx="0" cy="5825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2" name="Shape 266"/>
          <p:cNvCxnSpPr>
            <a:cxnSpLocks noChangeShapeType="1"/>
            <a:stCxn id="90" idx="3"/>
            <a:endCxn id="91" idx="1"/>
          </p:cNvCxnSpPr>
          <p:nvPr/>
        </p:nvCxnSpPr>
        <p:spPr bwMode="auto">
          <a:xfrm>
            <a:off x="4484948" y="2555874"/>
            <a:ext cx="380916" cy="219198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" name="Shape 266"/>
          <p:cNvCxnSpPr>
            <a:cxnSpLocks noChangeShapeType="1"/>
            <a:stCxn id="84" idx="3"/>
            <a:endCxn id="125" idx="1"/>
          </p:cNvCxnSpPr>
          <p:nvPr/>
        </p:nvCxnSpPr>
        <p:spPr bwMode="auto">
          <a:xfrm>
            <a:off x="2121097" y="4145980"/>
            <a:ext cx="20531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4" name="Shape 266"/>
          <p:cNvCxnSpPr>
            <a:cxnSpLocks noChangeShapeType="1"/>
            <a:stCxn id="95" idx="3"/>
            <a:endCxn id="96" idx="3"/>
          </p:cNvCxnSpPr>
          <p:nvPr/>
        </p:nvCxnSpPr>
        <p:spPr bwMode="auto">
          <a:xfrm flipV="1">
            <a:off x="8296892" y="4145628"/>
            <a:ext cx="272109" cy="3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직사각형 124"/>
          <p:cNvSpPr/>
          <p:nvPr/>
        </p:nvSpPr>
        <p:spPr bwMode="auto">
          <a:xfrm>
            <a:off x="2326413" y="398559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srgbClr val="508CD2"/>
                </a:solidFill>
              </a:rPr>
              <a:t>25. </a:t>
            </a:r>
            <a:r>
              <a:rPr lang="ko-KR" altLang="en-US" sz="900" kern="0" spc="-120" dirty="0">
                <a:solidFill>
                  <a:srgbClr val="508CD2"/>
                </a:solidFill>
              </a:rPr>
              <a:t>만족도 자체 조사여부 확인</a:t>
            </a:r>
            <a:endParaRPr lang="en-US" altLang="ko-KR" sz="900" kern="0" spc="-120" dirty="0">
              <a:solidFill>
                <a:srgbClr val="508CD2"/>
              </a:solidFill>
            </a:endParaRPr>
          </a:p>
        </p:txBody>
      </p:sp>
      <p:sp>
        <p:nvSpPr>
          <p:cNvPr id="126" name="순서도: 판단 125"/>
          <p:cNvSpPr>
            <a:spLocks noChangeArrowheads="1"/>
          </p:cNvSpPr>
          <p:nvPr/>
        </p:nvSpPr>
        <p:spPr bwMode="auto">
          <a:xfrm>
            <a:off x="2324708" y="5525695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800" kern="0" spc="-100" dirty="0">
                <a:solidFill>
                  <a:prstClr val="black"/>
                </a:solidFill>
              </a:rPr>
              <a:t>자체조사 여부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86688" y="5791275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3019597" y="5508081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29" name="Shape 266"/>
          <p:cNvCxnSpPr>
            <a:cxnSpLocks noChangeShapeType="1"/>
            <a:stCxn id="125" idx="2"/>
            <a:endCxn id="126" idx="0"/>
          </p:cNvCxnSpPr>
          <p:nvPr/>
        </p:nvCxnSpPr>
        <p:spPr bwMode="auto">
          <a:xfrm flipH="1">
            <a:off x="2704625" y="4306365"/>
            <a:ext cx="1" cy="12193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0" name="직사각형 129"/>
          <p:cNvSpPr/>
          <p:nvPr/>
        </p:nvSpPr>
        <p:spPr bwMode="auto">
          <a:xfrm>
            <a:off x="2324708" y="599481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26. </a:t>
            </a:r>
            <a:r>
              <a:rPr lang="ko-KR" altLang="en-US" sz="900" kern="0" dirty="0">
                <a:solidFill>
                  <a:prstClr val="black"/>
                </a:solidFill>
              </a:rPr>
              <a:t>만족도 자체수행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1" name="Shape 266"/>
          <p:cNvCxnSpPr>
            <a:cxnSpLocks noChangeShapeType="1"/>
            <a:stCxn id="137" idx="3"/>
          </p:cNvCxnSpPr>
          <p:nvPr/>
        </p:nvCxnSpPr>
        <p:spPr bwMode="auto">
          <a:xfrm flipV="1">
            <a:off x="7458540" y="4306365"/>
            <a:ext cx="610388" cy="184883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" name="타원 131"/>
          <p:cNvSpPr/>
          <p:nvPr/>
        </p:nvSpPr>
        <p:spPr>
          <a:xfrm>
            <a:off x="7974374" y="4120920"/>
            <a:ext cx="189107" cy="141403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33" name="Shape 266"/>
          <p:cNvCxnSpPr>
            <a:cxnSpLocks noChangeShapeType="1"/>
            <a:stCxn id="126" idx="2"/>
            <a:endCxn id="130" idx="0"/>
          </p:cNvCxnSpPr>
          <p:nvPr/>
        </p:nvCxnSpPr>
        <p:spPr bwMode="auto">
          <a:xfrm flipH="1">
            <a:off x="2702921" y="5899928"/>
            <a:ext cx="1704" cy="9489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" name="Shape 266"/>
          <p:cNvCxnSpPr>
            <a:cxnSpLocks noChangeShapeType="1"/>
            <a:stCxn id="126" idx="3"/>
            <a:endCxn id="83" idx="2"/>
          </p:cNvCxnSpPr>
          <p:nvPr/>
        </p:nvCxnSpPr>
        <p:spPr bwMode="auto">
          <a:xfrm flipV="1">
            <a:off x="3084542" y="3619624"/>
            <a:ext cx="1022194" cy="20931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5" name="Shape 266"/>
          <p:cNvCxnSpPr>
            <a:cxnSpLocks noChangeShapeType="1"/>
            <a:stCxn id="136" idx="4"/>
            <a:endCxn id="82" idx="0"/>
          </p:cNvCxnSpPr>
          <p:nvPr/>
        </p:nvCxnSpPr>
        <p:spPr bwMode="auto">
          <a:xfrm>
            <a:off x="1742884" y="3026120"/>
            <a:ext cx="1" cy="27273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" name="타원 135"/>
          <p:cNvSpPr/>
          <p:nvPr/>
        </p:nvSpPr>
        <p:spPr>
          <a:xfrm>
            <a:off x="1641727" y="284036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137" name="직사각형 136"/>
          <p:cNvSpPr/>
          <p:nvPr/>
        </p:nvSpPr>
        <p:spPr bwMode="auto">
          <a:xfrm>
            <a:off x="6702115" y="599481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30" dirty="0">
                <a:solidFill>
                  <a:srgbClr val="508CD2"/>
                </a:solidFill>
              </a:rPr>
              <a:t>27. </a:t>
            </a:r>
            <a:r>
              <a:rPr lang="ko-KR" altLang="en-US" sz="900" kern="0" spc="-130" dirty="0">
                <a:solidFill>
                  <a:srgbClr val="508CD2"/>
                </a:solidFill>
              </a:rPr>
              <a:t>자체만족도</a:t>
            </a:r>
            <a:endParaRPr lang="en-US" altLang="ko-KR" sz="900" kern="0" spc="-130" dirty="0">
              <a:solidFill>
                <a:srgbClr val="508CD2"/>
              </a:solidFill>
            </a:endParaRPr>
          </a:p>
          <a:p>
            <a:pPr algn="ctr" latinLnBrk="0"/>
            <a:r>
              <a:rPr lang="ko-KR" altLang="en-US" sz="900" kern="0" spc="-130" dirty="0">
                <a:solidFill>
                  <a:srgbClr val="508CD2"/>
                </a:solidFill>
              </a:rPr>
              <a:t>결과보고서제출</a:t>
            </a:r>
            <a:endParaRPr lang="en-US" altLang="ko-KR" sz="900" kern="0" spc="-130" dirty="0">
              <a:solidFill>
                <a:srgbClr val="508CD2"/>
              </a:solidFill>
            </a:endParaRPr>
          </a:p>
        </p:txBody>
      </p:sp>
      <p:cxnSp>
        <p:nvCxnSpPr>
          <p:cNvPr id="138" name="Shape 266"/>
          <p:cNvCxnSpPr>
            <a:cxnSpLocks noChangeShapeType="1"/>
            <a:stCxn id="130" idx="3"/>
            <a:endCxn id="137" idx="1"/>
          </p:cNvCxnSpPr>
          <p:nvPr/>
        </p:nvCxnSpPr>
        <p:spPr bwMode="auto">
          <a:xfrm>
            <a:off x="3081133" y="6155204"/>
            <a:ext cx="362098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9" name="직사각형 138"/>
          <p:cNvSpPr/>
          <p:nvPr/>
        </p:nvSpPr>
        <p:spPr bwMode="auto">
          <a:xfrm>
            <a:off x="3728523" y="398559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28. </a:t>
            </a:r>
            <a:r>
              <a:rPr lang="ko-KR" altLang="en-US" sz="900" kern="0" dirty="0">
                <a:solidFill>
                  <a:srgbClr val="508CD2"/>
                </a:solidFill>
              </a:rPr>
              <a:t>조사대상 선정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47" name="순서도: 종속 처리 64"/>
          <p:cNvSpPr>
            <a:spLocks noChangeAspect="1" noChangeArrowheads="1"/>
          </p:cNvSpPr>
          <p:nvPr/>
        </p:nvSpPr>
        <p:spPr bwMode="auto">
          <a:xfrm>
            <a:off x="8573355" y="3400403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4.3.2.2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환류관리</a:t>
            </a:r>
          </a:p>
        </p:txBody>
      </p:sp>
      <p:cxnSp>
        <p:nvCxnSpPr>
          <p:cNvPr id="48" name="Shape 266"/>
          <p:cNvCxnSpPr>
            <a:cxnSpLocks noChangeShapeType="1"/>
            <a:endCxn id="47" idx="2"/>
          </p:cNvCxnSpPr>
          <p:nvPr/>
        </p:nvCxnSpPr>
        <p:spPr bwMode="auto">
          <a:xfrm flipH="1" flipV="1">
            <a:off x="8953775" y="3796096"/>
            <a:ext cx="11293" cy="1443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007918163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연중평가관리 업무의 평가계획</a:t>
            </a:r>
            <a:r>
              <a:rPr lang="en-US" altLang="ko-KR" sz="1600" dirty="0"/>
              <a:t>, </a:t>
            </a:r>
            <a:r>
              <a:rPr lang="ko-KR" altLang="en-US" sz="1600" dirty="0"/>
              <a:t>현장평가</a:t>
            </a:r>
            <a:r>
              <a:rPr lang="en-US" altLang="ko-KR" sz="1600" dirty="0"/>
              <a:t>, </a:t>
            </a:r>
            <a:r>
              <a:rPr lang="ko-KR" altLang="en-US" sz="1600" dirty="0"/>
              <a:t>시민모니터링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고객만족도조사 업무에 필요한 절차를 정보화하고 소통채널을 다양하게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3.4.2.5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연중평가관리 </a:t>
            </a:r>
            <a:r>
              <a:rPr lang="en-US" altLang="ko-KR" dirty="0"/>
              <a:t>(4/6)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26973"/>
              </p:ext>
            </p:extLst>
          </p:nvPr>
        </p:nvGraphicFramePr>
        <p:xfrm>
          <a:off x="344488" y="1604187"/>
          <a:ext cx="9180513" cy="4704539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3853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평가계획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매년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평가일정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및 대상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방법 등 연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월단위 평가계획을 작성하여 평가위원회에 보고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평가계획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평가위원회를 개최하여 심의 및 의결을 거쳐 평가계획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평가편람 작성 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현장평가단구성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평가편람을 작성하고 현장평가단을 구성하여 이사장에게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평가편람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현장평가위원목록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평가편람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이사장은 평가편람과 현장평가단을 검토하여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평가편람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현장평가위원목록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평가편람 및 계획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평가대상 지원사업자에게 평가편람과 평가계획을 첨부하여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평가편람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평가편람 및 계획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평가대상 지원사업자는 평가편람 및 계획을 공단홈페이지를 통해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평가편람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평가계획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성과계획서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평가대상 지원사업자는 평가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계획을 숙지하고 공단 홈페이지의 성과계획서 양식에 의거 성과지표 등록하고 성과계획서를 첨부하여 기금평가팀에 제출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성과계획서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2815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성과계획서 검토 및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spc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제출된 성과계획서를 검토하여 보완이 필요한 경우 보완을 요청하고 사업별 성과지표를 확정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성과계획서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2815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 평가위원의 경우 평가위원 인적사항 및 경력사항을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현장평가위원목록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 현장평가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구성된 </a:t>
                      </a:r>
                      <a:r>
                        <a:rPr lang="ko-KR" altLang="en-US" sz="10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현장평가단이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 현장평가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실시하고 결과를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</a:t>
                      </a:r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모바일을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통해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반기단위 현장점검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평가담당자와 문화체육관광부 담당자는 반기 </a:t>
                      </a:r>
                      <a:r>
                        <a:rPr lang="en-US" altLang="ko-KR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 문제사업 등에 대한 현장점검을 실시하고 결과를 </a:t>
                      </a:r>
                      <a:r>
                        <a:rPr lang="ko-KR" altLang="en-US" sz="1000" spc="-1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</a:t>
                      </a:r>
                      <a:r>
                        <a:rPr lang="en-US" altLang="ko-KR" sz="1000" spc="-1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spc="-100" baseline="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모바일을</a:t>
                      </a:r>
                      <a:r>
                        <a:rPr lang="ko-KR" altLang="en-US" sz="1000" spc="-1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통해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점검결과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현장평가위원은 모바일을 통해 등록하지 못한 경우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기금지원시스템에 현장점검결과와 평가결과를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32815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 오기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평가담당자가 평가결과 및 점검결과의 오기 등을 확인</a:t>
                      </a:r>
                      <a:endParaRPr lang="en-US" altLang="ko-KR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latinLnBrk="0"/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→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4.3.2.2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환류관리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평가결과를 지원사업자에게 통보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8665977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연중평가관리 업무의 평가계획</a:t>
            </a:r>
            <a:r>
              <a:rPr lang="en-US" altLang="ko-KR" sz="1600" dirty="0"/>
              <a:t>, </a:t>
            </a:r>
            <a:r>
              <a:rPr lang="ko-KR" altLang="en-US" sz="1600" dirty="0"/>
              <a:t>현장평가</a:t>
            </a:r>
            <a:r>
              <a:rPr lang="en-US" altLang="ko-KR" sz="1600" dirty="0"/>
              <a:t>, </a:t>
            </a:r>
            <a:r>
              <a:rPr lang="ko-KR" altLang="en-US" sz="1600" dirty="0"/>
              <a:t>시민모니터링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고객만족도조사 업무에 필요한 절차를 정보화하고 소통채널을 다양하게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3.4.2.5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연중평가관리 </a:t>
            </a:r>
            <a:r>
              <a:rPr lang="en-US" altLang="ko-KR" dirty="0"/>
              <a:t>(5/6)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4130803"/>
              </p:ext>
            </p:extLst>
          </p:nvPr>
        </p:nvGraphicFramePr>
        <p:xfrm>
          <a:off x="344488" y="1604187"/>
          <a:ext cx="9180513" cy="4641252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0976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모집공고문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평가담당자가 시민모니터링단 모집공고문을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모집공고문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모집공고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평가담당자가 모집공고를 홈페이지에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모집공고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모니터링단 신청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시민 모니터링단에 신청하고자 하는 자가 홈페이지 공고를 보고 모니터링단 신청내용을 등록하고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신청요건에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해당하는 자격증빙서류를 스캔하여 첨부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모니터링요원신청정보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모니터링단 신청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홈페이지를 통해 등록된 모니터링요원신청서를 기금지원시스템으로 수신하여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모니터링요원신청정보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자격검토 및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접수된 신청정보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및 첨부문서를 토대로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평가담당자가 모니터링요원 자격을 검토하여 선정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(SMS, eMail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통해 결과 전송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모니터링요원선정결과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모니터링단 구성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선정된 모니터링요원과 기존 모니터링요원으로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모니터링단을 구성하고 구성단에게 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SMS, eMail, Mobile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통해 전송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모니터링요원정보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 모니터링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시민모니터링단이 모니터링 대상 사업자에 대해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모니터링을 실시하고 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</a:t>
                      </a:r>
                      <a:r>
                        <a:rPr lang="en-US" altLang="ko-KR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/Mobile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통해 결과등록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모니터링결과작성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 결과를 검토하여 보완한 후 기금평가팀 평가담당자에게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  <a:r>
                        <a:rPr lang="ko-KR" altLang="en-US" sz="10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홈페이지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512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작성결과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기금평가팀 평가담당자는 시민모니터링단으로부터 모니터링결과를 접수하여 검토 후 확정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→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4.3.2.2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환류관리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평가결과를 지원사업자에게 통보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5121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조사계획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고객만족도 조사시기가 도래하면 공단의 기금평가팀 평가담당자는 고객만족도 조사계획을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고객만족도 조사계획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5121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측정항목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전년도 고객만족도 측정항목과 개선요구 등을 고려하여 만족도 조사의 측정항목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고객만족도 설문측정항목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51211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 자체 조사여부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만족도 조사 대상 지원사업자 중 자체적으로 만족도 조사여부를 확인하여 결과 제출을 요구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자체고객만족도 조사여부정보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8729311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집행관리 연중평가관리 업무의 평가계획</a:t>
            </a:r>
            <a:r>
              <a:rPr lang="en-US" altLang="ko-KR" sz="1600" dirty="0"/>
              <a:t>, </a:t>
            </a:r>
            <a:r>
              <a:rPr lang="ko-KR" altLang="en-US" sz="1600" dirty="0"/>
              <a:t>현장평가</a:t>
            </a:r>
            <a:r>
              <a:rPr lang="en-US" altLang="ko-KR" sz="1600" dirty="0"/>
              <a:t>, </a:t>
            </a:r>
            <a:r>
              <a:rPr lang="ko-KR" altLang="en-US" sz="1600" dirty="0"/>
              <a:t>시민모니터링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고객만족도조사 업무에 필요한 절차를 정보화하고 소통채널을 다양하게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3.4.2.5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연중평가관리 </a:t>
            </a:r>
            <a:r>
              <a:rPr lang="en-US" altLang="ko-KR" dirty="0"/>
              <a:t>(6/6)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7143866"/>
              </p:ext>
            </p:extLst>
          </p:nvPr>
        </p:nvGraphicFramePr>
        <p:xfrm>
          <a:off x="344488" y="1604186"/>
          <a:ext cx="9180513" cy="44718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7461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786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 자체수행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자체적으로 수행한 만족도 조사결과가 있는 지원사업자는 기금평가팀 평가담당자의 요구에 따라 수행결과를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4786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자체만족도</a:t>
                      </a:r>
                    </a:p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결과보고서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자체적으로 수행한 만족도 조사결과가 있는 지원사업자는 조사결과 점수를 공단홈페이지를 통해 통해 등록하고 기금평가팀 평가담당자의 요구에 따라 결과보고서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자체고객만족도 조사결과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478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조사대상선정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 자체조사를 수행하지 않는 지원사업자를 대상으로 조사대상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조사대상 지원사업자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478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업체공고 의뢰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만족도조사를 자체적으로 수행하지 않은 것으로 확인된 경우 공단 기금평가팀 평가담당자는 총무팀 공고담당자에게 고객만족도 조사 전문업체공고를 의뢰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고객만족도업체 선정공고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그룹웨어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78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업체공고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총무팀 공고담당자는 공고의뢰를 접수하여 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고객만족도업체 선정공고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478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제안서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공고를 확인한 전문리서치업체에서는 공고내용에 따라 제안서를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사업제안서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478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리서치업체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제안내용을 검토하여 리서치업체를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업체선정결과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478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 조사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선정된 리서치 업체에서 전달된 측정항목에 따라 만족도조사를 수행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4786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결과분석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리서치업체에서 만족도조사결과 수집된 의견에 대한 결과를 분석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4786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보고서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분석된 결과를 공단홈페이지 고객만족도 결과보고에 등록하고 결과분석보고서는 작성하여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고객만족도조사 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4786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보고서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기금평가팀 평가담당자는 리서치업체가 제출한 만족도조사결과를 접수하고 공단홈페이지로부터 평가정보 수신 후 대상지원사업자에 통보</a:t>
                      </a:r>
                      <a:endParaRPr lang="en-US" altLang="ko-KR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→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+mn-ea"/>
                        </a:rPr>
                        <a:t>4.3.2.2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환류관리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평가결과를 지원사업자에게 통보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고객만족도조사 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6360524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정산관리는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 이월현황</a:t>
            </a:r>
            <a:r>
              <a:rPr lang="en-US" altLang="ko-KR" sz="1600" dirty="0"/>
              <a:t>, </a:t>
            </a:r>
            <a:r>
              <a:rPr lang="ko-KR" altLang="en-US" sz="1600" dirty="0"/>
              <a:t>정산검토결과</a:t>
            </a:r>
            <a:r>
              <a:rPr lang="en-US" altLang="ko-KR" sz="1600" dirty="0"/>
              <a:t>, </a:t>
            </a:r>
            <a:r>
              <a:rPr lang="ko-KR" altLang="en-US" sz="1600" dirty="0"/>
              <a:t>확정현황 등 정산정보를 등록하여 팀간 공유할 수 있도록 구현하고</a:t>
            </a:r>
            <a:r>
              <a:rPr lang="en-US" altLang="ko-KR" sz="1600" dirty="0"/>
              <a:t>, </a:t>
            </a:r>
            <a:r>
              <a:rPr lang="ko-KR" altLang="en-US" sz="1600" dirty="0"/>
              <a:t>문화체육관광부에 보고할 수 있도록 개선함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3.4.2.6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정산관리지원 </a:t>
            </a:r>
            <a:r>
              <a:rPr lang="en-US" altLang="ko-KR" dirty="0"/>
              <a:t>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521743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정산관리지원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41729"/>
              </p:ext>
            </p:extLst>
          </p:nvPr>
        </p:nvGraphicFramePr>
        <p:xfrm>
          <a:off x="344488" y="1893217"/>
          <a:ext cx="9181020" cy="4416103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4.2.4.1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집행결과마감지원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46915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32148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620180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4006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업체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44" name="Shape 266"/>
          <p:cNvCxnSpPr>
            <a:cxnSpLocks noChangeShapeType="1"/>
            <a:stCxn id="48" idx="0"/>
            <a:endCxn id="50" idx="2"/>
          </p:cNvCxnSpPr>
          <p:nvPr/>
        </p:nvCxnSpPr>
        <p:spPr bwMode="auto">
          <a:xfrm flipV="1">
            <a:off x="1863463" y="4459067"/>
            <a:ext cx="5312" cy="12524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5" name="Shape 266"/>
          <p:cNvCxnSpPr>
            <a:cxnSpLocks noChangeShapeType="1"/>
            <a:endCxn id="48" idx="2"/>
          </p:cNvCxnSpPr>
          <p:nvPr/>
        </p:nvCxnSpPr>
        <p:spPr bwMode="auto">
          <a:xfrm flipV="1">
            <a:off x="1857113" y="4958548"/>
            <a:ext cx="6350" cy="12524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6" name="육각형 45"/>
          <p:cNvSpPr/>
          <p:nvPr/>
        </p:nvSpPr>
        <p:spPr bwMode="auto">
          <a:xfrm>
            <a:off x="1471759" y="5091183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정산시기 도래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47" name="직사각형 46"/>
          <p:cNvSpPr/>
          <p:nvPr/>
        </p:nvSpPr>
        <p:spPr bwMode="auto">
          <a:xfrm>
            <a:off x="4016944" y="4138296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10.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집행마감 등록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48" name="순서도: 판단 47"/>
          <p:cNvSpPr>
            <a:spLocks noChangeArrowheads="1"/>
          </p:cNvSpPr>
          <p:nvPr/>
        </p:nvSpPr>
        <p:spPr bwMode="auto">
          <a:xfrm>
            <a:off x="1483546" y="4584315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이월  여부</a:t>
            </a:r>
          </a:p>
        </p:txBody>
      </p:sp>
      <p:cxnSp>
        <p:nvCxnSpPr>
          <p:cNvPr id="49" name="Shape 266"/>
          <p:cNvCxnSpPr>
            <a:cxnSpLocks noChangeShapeType="1"/>
            <a:stCxn id="48" idx="3"/>
            <a:endCxn id="87" idx="0"/>
          </p:cNvCxnSpPr>
          <p:nvPr/>
        </p:nvCxnSpPr>
        <p:spPr bwMode="auto">
          <a:xfrm>
            <a:off x="2243380" y="4771432"/>
            <a:ext cx="1364756" cy="39511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직사각형 49"/>
          <p:cNvSpPr/>
          <p:nvPr/>
        </p:nvSpPr>
        <p:spPr bwMode="auto">
          <a:xfrm>
            <a:off x="1490562" y="4138296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이월신청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51" name="Shape 266"/>
          <p:cNvCxnSpPr>
            <a:cxnSpLocks noChangeShapeType="1"/>
            <a:stCxn id="84" idx="2"/>
            <a:endCxn id="129" idx="1"/>
          </p:cNvCxnSpPr>
          <p:nvPr/>
        </p:nvCxnSpPr>
        <p:spPr bwMode="auto">
          <a:xfrm rot="16200000" flipH="1">
            <a:off x="3640742" y="3036087"/>
            <a:ext cx="127647" cy="62543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" name="직사각형 51"/>
          <p:cNvSpPr/>
          <p:nvPr/>
        </p:nvSpPr>
        <p:spPr bwMode="auto">
          <a:xfrm>
            <a:off x="7190774" y="456978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15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실적</a:t>
            </a:r>
            <a:r>
              <a:rPr lang="en-US" altLang="ko-KR" sz="900" kern="0" spc="-100" dirty="0">
                <a:solidFill>
                  <a:prstClr val="black"/>
                </a:solidFill>
              </a:rPr>
              <a:t>/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정산 </a:t>
            </a:r>
            <a:r>
              <a:rPr lang="ko-KR" altLang="en-US" sz="900" kern="0" spc="-170" dirty="0">
                <a:solidFill>
                  <a:prstClr val="black"/>
                </a:solidFill>
              </a:rPr>
              <a:t>출력</a:t>
            </a:r>
            <a:r>
              <a:rPr lang="en-US" altLang="ko-KR" sz="900" kern="0" spc="-170" dirty="0">
                <a:solidFill>
                  <a:prstClr val="black"/>
                </a:solidFill>
              </a:rPr>
              <a:t> </a:t>
            </a:r>
            <a:r>
              <a:rPr lang="ko-KR" altLang="en-US" sz="900" kern="0" spc="-170" dirty="0">
                <a:solidFill>
                  <a:prstClr val="black"/>
                </a:solidFill>
              </a:rPr>
              <a:t>및 문서보고</a:t>
            </a:r>
            <a:endParaRPr lang="en-US" altLang="ko-KR" sz="900" kern="0" spc="-170" dirty="0">
              <a:solidFill>
                <a:prstClr val="black"/>
              </a:solidFill>
            </a:endParaRPr>
          </a:p>
        </p:txBody>
      </p:sp>
      <p:cxnSp>
        <p:nvCxnSpPr>
          <p:cNvPr id="53" name="Shape 266"/>
          <p:cNvCxnSpPr>
            <a:cxnSpLocks noChangeShapeType="1"/>
            <a:stCxn id="50" idx="0"/>
            <a:endCxn id="55" idx="2"/>
          </p:cNvCxnSpPr>
          <p:nvPr/>
        </p:nvCxnSpPr>
        <p:spPr bwMode="auto">
          <a:xfrm flipV="1">
            <a:off x="1868775" y="2698663"/>
            <a:ext cx="3276" cy="143963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4" name="직사각형 53"/>
          <p:cNvSpPr/>
          <p:nvPr/>
        </p:nvSpPr>
        <p:spPr bwMode="auto">
          <a:xfrm>
            <a:off x="3229924" y="589083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외부감사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1493838" y="2377892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2.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이월신청 검토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56" name="Shape 266"/>
          <p:cNvCxnSpPr>
            <a:cxnSpLocks noChangeShapeType="1"/>
            <a:stCxn id="55" idx="3"/>
            <a:endCxn id="58" idx="1"/>
          </p:cNvCxnSpPr>
          <p:nvPr/>
        </p:nvCxnSpPr>
        <p:spPr bwMode="auto">
          <a:xfrm>
            <a:off x="2250263" y="2538278"/>
            <a:ext cx="18284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" name="Shape 266"/>
          <p:cNvCxnSpPr>
            <a:cxnSpLocks noChangeShapeType="1"/>
            <a:stCxn id="58" idx="2"/>
            <a:endCxn id="59" idx="0"/>
          </p:cNvCxnSpPr>
          <p:nvPr/>
        </p:nvCxnSpPr>
        <p:spPr bwMode="auto">
          <a:xfrm>
            <a:off x="2811322" y="2698663"/>
            <a:ext cx="0" cy="143963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" name="직사각형 57"/>
          <p:cNvSpPr/>
          <p:nvPr/>
        </p:nvSpPr>
        <p:spPr bwMode="auto">
          <a:xfrm>
            <a:off x="2433109" y="2377892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3.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검토결과 통보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2433109" y="4138296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5.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이월처리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60" name="Shape 266"/>
          <p:cNvCxnSpPr>
            <a:cxnSpLocks noChangeShapeType="1"/>
            <a:stCxn id="59" idx="3"/>
            <a:endCxn id="47" idx="1"/>
          </p:cNvCxnSpPr>
          <p:nvPr/>
        </p:nvCxnSpPr>
        <p:spPr bwMode="auto">
          <a:xfrm>
            <a:off x="3189534" y="4298682"/>
            <a:ext cx="82741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직사각형 60"/>
          <p:cNvSpPr/>
          <p:nvPr/>
        </p:nvSpPr>
        <p:spPr bwMode="auto">
          <a:xfrm>
            <a:off x="4629012" y="588907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외부감사 보고서제출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2" name="Shape 266"/>
          <p:cNvCxnSpPr>
            <a:cxnSpLocks noChangeShapeType="1"/>
            <a:stCxn id="87" idx="3"/>
            <a:endCxn id="47" idx="2"/>
          </p:cNvCxnSpPr>
          <p:nvPr/>
        </p:nvCxnSpPr>
        <p:spPr bwMode="auto">
          <a:xfrm flipV="1">
            <a:off x="3988053" y="4459067"/>
            <a:ext cx="407104" cy="89460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" name="Shape 266"/>
          <p:cNvCxnSpPr>
            <a:cxnSpLocks noChangeShapeType="1"/>
            <a:stCxn id="87" idx="2"/>
            <a:endCxn id="54" idx="0"/>
          </p:cNvCxnSpPr>
          <p:nvPr/>
        </p:nvCxnSpPr>
        <p:spPr bwMode="auto">
          <a:xfrm>
            <a:off x="3608136" y="5540783"/>
            <a:ext cx="1" cy="3500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4" name="Shape 266"/>
          <p:cNvCxnSpPr>
            <a:cxnSpLocks noChangeShapeType="1"/>
            <a:stCxn id="54" idx="3"/>
            <a:endCxn id="61" idx="1"/>
          </p:cNvCxnSpPr>
          <p:nvPr/>
        </p:nvCxnSpPr>
        <p:spPr bwMode="auto">
          <a:xfrm flipV="1">
            <a:off x="3986349" y="6049461"/>
            <a:ext cx="642663" cy="17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61" idx="0"/>
            <a:endCxn id="88" idx="2"/>
          </p:cNvCxnSpPr>
          <p:nvPr/>
        </p:nvCxnSpPr>
        <p:spPr bwMode="auto">
          <a:xfrm flipV="1">
            <a:off x="5007225" y="5752117"/>
            <a:ext cx="0" cy="1369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96" idx="3"/>
            <a:endCxn id="124" idx="2"/>
          </p:cNvCxnSpPr>
          <p:nvPr/>
        </p:nvCxnSpPr>
        <p:spPr bwMode="auto">
          <a:xfrm flipV="1">
            <a:off x="9011163" y="3088843"/>
            <a:ext cx="204019" cy="202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7" name="Shape 266"/>
          <p:cNvCxnSpPr>
            <a:cxnSpLocks noChangeShapeType="1"/>
            <a:stCxn id="103" idx="0"/>
            <a:endCxn id="95" idx="2"/>
          </p:cNvCxnSpPr>
          <p:nvPr/>
        </p:nvCxnSpPr>
        <p:spPr bwMode="auto">
          <a:xfrm flipH="1" flipV="1">
            <a:off x="7569328" y="3251253"/>
            <a:ext cx="3612" cy="2135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9" name="TextBox 68"/>
          <p:cNvSpPr txBox="1"/>
          <p:nvPr/>
        </p:nvSpPr>
        <p:spPr>
          <a:xfrm>
            <a:off x="1996664" y="4441453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2195765" y="4558214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601365" y="5527136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3867470" y="5116012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73" name="원통 68"/>
          <p:cNvSpPr>
            <a:spLocks noChangeAspect="1" noChangeArrowheads="1"/>
          </p:cNvSpPr>
          <p:nvPr/>
        </p:nvSpPr>
        <p:spPr bwMode="auto">
          <a:xfrm>
            <a:off x="4089293" y="2325370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36000" r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50" b="1" kern="0" spc="-100" dirty="0">
                <a:solidFill>
                  <a:prstClr val="black"/>
                </a:solidFill>
              </a:rPr>
              <a:t>실적정보</a:t>
            </a:r>
            <a:r>
              <a:rPr kumimoji="1" lang="en-US" altLang="ko-KR" sz="1050" b="1" kern="0" spc="-100" dirty="0">
                <a:solidFill>
                  <a:prstClr val="black"/>
                </a:solidFill>
              </a:rPr>
              <a:t>/ </a:t>
            </a:r>
            <a:r>
              <a:rPr kumimoji="1" lang="ko-KR" altLang="en-US" sz="1050" b="1" kern="0" spc="-100" dirty="0">
                <a:solidFill>
                  <a:prstClr val="black"/>
                </a:solidFill>
              </a:rPr>
              <a:t>정산정보</a:t>
            </a:r>
            <a:endParaRPr kumimoji="1" lang="en-US" altLang="ko-KR" sz="800" b="1" kern="0" spc="-100" dirty="0">
              <a:solidFill>
                <a:prstClr val="black"/>
              </a:solidFill>
            </a:endParaRPr>
          </a:p>
        </p:txBody>
      </p:sp>
      <p:grpSp>
        <p:nvGrpSpPr>
          <p:cNvPr id="5" name="그룹 100"/>
          <p:cNvGrpSpPr>
            <a:grpSpLocks noChangeAspect="1"/>
          </p:cNvGrpSpPr>
          <p:nvPr/>
        </p:nvGrpSpPr>
        <p:grpSpPr bwMode="auto">
          <a:xfrm>
            <a:off x="2305703" y="5409224"/>
            <a:ext cx="1161001" cy="295863"/>
            <a:chOff x="3585309" y="5140608"/>
            <a:chExt cx="1087885" cy="288634"/>
          </a:xfrm>
        </p:grpSpPr>
        <p:sp>
          <p:nvSpPr>
            <p:cNvPr id="75" name="Line 175"/>
            <p:cNvSpPr>
              <a:spLocks noChangeShapeType="1"/>
            </p:cNvSpPr>
            <p:nvPr/>
          </p:nvSpPr>
          <p:spPr bwMode="auto">
            <a:xfrm flipH="1">
              <a:off x="4503300" y="5162192"/>
              <a:ext cx="169894" cy="189306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endParaRPr kumimoji="1" lang="ko-KR" altLang="en-US" sz="1200" b="1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6" name="그룹 56"/>
            <p:cNvGrpSpPr>
              <a:grpSpLocks/>
            </p:cNvGrpSpPr>
            <p:nvPr/>
          </p:nvGrpSpPr>
          <p:grpSpPr bwMode="auto">
            <a:xfrm flipH="1">
              <a:off x="3585309" y="5140608"/>
              <a:ext cx="896253" cy="288634"/>
              <a:chOff x="2676696" y="3305943"/>
              <a:chExt cx="1523344" cy="619556"/>
            </a:xfrm>
          </p:grpSpPr>
          <p:sp>
            <p:nvSpPr>
              <p:cNvPr id="77" name="Freeform 176"/>
              <p:cNvSpPr>
                <a:spLocks noChangeArrowheads="1"/>
              </p:cNvSpPr>
              <p:nvPr/>
            </p:nvSpPr>
            <p:spPr bwMode="auto">
              <a:xfrm>
                <a:off x="2709981" y="3305943"/>
                <a:ext cx="325105" cy="619556"/>
              </a:xfrm>
              <a:custGeom>
                <a:avLst/>
                <a:gdLst>
                  <a:gd name="T0" fmla="*/ 2147483647 w 56"/>
                  <a:gd name="T1" fmla="*/ 0 h 210"/>
                  <a:gd name="T2" fmla="*/ 0 w 56"/>
                  <a:gd name="T3" fmla="*/ 0 h 210"/>
                  <a:gd name="T4" fmla="*/ 0 w 56"/>
                  <a:gd name="T5" fmla="*/ 2147483647 h 210"/>
                  <a:gd name="T6" fmla="*/ 2147483647 w 56"/>
                  <a:gd name="T7" fmla="*/ 2147483647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210"/>
                  <a:gd name="T14" fmla="*/ 56 w 5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210">
                    <a:moveTo>
                      <a:pt x="56" y="0"/>
                    </a:moveTo>
                    <a:lnTo>
                      <a:pt x="0" y="0"/>
                    </a:lnTo>
                    <a:lnTo>
                      <a:pt x="0" y="210"/>
                    </a:lnTo>
                    <a:lnTo>
                      <a:pt x="56" y="210"/>
                    </a:lnTo>
                  </a:path>
                </a:pathLst>
              </a:custGeom>
              <a:noFill/>
              <a:ln w="144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kumimoji="1" lang="ko-KR" altLang="en-US" sz="1200" b="1" u="sng" kern="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78" name="Rectangle 179"/>
              <p:cNvSpPr>
                <a:spLocks noChangeArrowheads="1"/>
              </p:cNvSpPr>
              <p:nvPr/>
            </p:nvSpPr>
            <p:spPr bwMode="auto">
              <a:xfrm>
                <a:off x="2676696" y="3352324"/>
                <a:ext cx="1523344" cy="5156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/>
              <a:p>
                <a:pPr marL="33338" indent="-33338">
                  <a:buFont typeface="Wingdings" panose="05000000000000000000" pitchFamily="2" charset="2"/>
                  <a:buChar char="§"/>
                </a:pPr>
                <a:r>
                  <a:rPr lang="ko-KR" altLang="en-US" sz="800" dirty="0"/>
                  <a:t>연간 총</a:t>
                </a:r>
                <a:r>
                  <a:rPr lang="en-US" altLang="ko-KR" sz="800" dirty="0"/>
                  <a:t>10</a:t>
                </a:r>
                <a:r>
                  <a:rPr lang="ko-KR" altLang="en-US" sz="800" dirty="0"/>
                  <a:t>억 이상</a:t>
                </a:r>
                <a:endParaRPr lang="en-US" altLang="ko-KR" sz="800" dirty="0"/>
              </a:p>
              <a:p>
                <a:pPr marL="33338" indent="-33338">
                  <a:buFont typeface="Wingdings" panose="05000000000000000000" pitchFamily="2" charset="2"/>
                  <a:buChar char="§"/>
                </a:pPr>
                <a:r>
                  <a:rPr lang="ko-KR" altLang="en-US" sz="800" dirty="0"/>
                  <a:t>사업별 </a:t>
                </a:r>
                <a:r>
                  <a:rPr lang="en-US" altLang="ko-KR" sz="800" dirty="0"/>
                  <a:t>3</a:t>
                </a:r>
                <a:r>
                  <a:rPr lang="ko-KR" altLang="en-US" sz="800" dirty="0"/>
                  <a:t>억원 이상</a:t>
                </a:r>
              </a:p>
            </p:txBody>
          </p:sp>
        </p:grpSp>
      </p:grpSp>
      <p:grpSp>
        <p:nvGrpSpPr>
          <p:cNvPr id="7" name="그룹 100"/>
          <p:cNvGrpSpPr>
            <a:grpSpLocks noChangeAspect="1"/>
          </p:cNvGrpSpPr>
          <p:nvPr/>
        </p:nvGrpSpPr>
        <p:grpSpPr bwMode="auto">
          <a:xfrm flipH="1">
            <a:off x="7773322" y="4899055"/>
            <a:ext cx="1644174" cy="510657"/>
            <a:chOff x="3453341" y="5024346"/>
            <a:chExt cx="1309971" cy="498180"/>
          </a:xfrm>
        </p:grpSpPr>
        <p:sp>
          <p:nvSpPr>
            <p:cNvPr id="80" name="Line 175"/>
            <p:cNvSpPr>
              <a:spLocks noChangeShapeType="1"/>
            </p:cNvSpPr>
            <p:nvPr/>
          </p:nvSpPr>
          <p:spPr bwMode="auto">
            <a:xfrm flipH="1">
              <a:off x="4461979" y="5024346"/>
              <a:ext cx="301333" cy="326756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endParaRPr kumimoji="1" lang="ko-KR" altLang="en-US" sz="1200" b="1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8" name="그룹 56"/>
            <p:cNvGrpSpPr>
              <a:grpSpLocks/>
            </p:cNvGrpSpPr>
            <p:nvPr/>
          </p:nvGrpSpPr>
          <p:grpSpPr bwMode="auto">
            <a:xfrm flipH="1">
              <a:off x="3453341" y="5140610"/>
              <a:ext cx="1008637" cy="381916"/>
              <a:chOff x="2709981" y="3305943"/>
              <a:chExt cx="1714361" cy="819786"/>
            </a:xfrm>
          </p:grpSpPr>
          <p:sp>
            <p:nvSpPr>
              <p:cNvPr id="82" name="Freeform 176"/>
              <p:cNvSpPr>
                <a:spLocks noChangeArrowheads="1"/>
              </p:cNvSpPr>
              <p:nvPr/>
            </p:nvSpPr>
            <p:spPr bwMode="auto">
              <a:xfrm>
                <a:off x="2709981" y="3305943"/>
                <a:ext cx="349707" cy="819786"/>
              </a:xfrm>
              <a:custGeom>
                <a:avLst/>
                <a:gdLst>
                  <a:gd name="T0" fmla="*/ 2147483647 w 56"/>
                  <a:gd name="T1" fmla="*/ 0 h 210"/>
                  <a:gd name="T2" fmla="*/ 0 w 56"/>
                  <a:gd name="T3" fmla="*/ 0 h 210"/>
                  <a:gd name="T4" fmla="*/ 0 w 56"/>
                  <a:gd name="T5" fmla="*/ 2147483647 h 210"/>
                  <a:gd name="T6" fmla="*/ 2147483647 w 56"/>
                  <a:gd name="T7" fmla="*/ 2147483647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210"/>
                  <a:gd name="T14" fmla="*/ 56 w 5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210">
                    <a:moveTo>
                      <a:pt x="56" y="0"/>
                    </a:moveTo>
                    <a:lnTo>
                      <a:pt x="0" y="0"/>
                    </a:lnTo>
                    <a:lnTo>
                      <a:pt x="0" y="210"/>
                    </a:lnTo>
                    <a:lnTo>
                      <a:pt x="56" y="210"/>
                    </a:lnTo>
                  </a:path>
                </a:pathLst>
              </a:custGeom>
              <a:noFill/>
              <a:ln w="144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kumimoji="1" lang="ko-KR" altLang="en-US" sz="1200" b="1" u="sng" kern="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83" name="Rectangle 179"/>
              <p:cNvSpPr>
                <a:spLocks noChangeArrowheads="1"/>
              </p:cNvSpPr>
              <p:nvPr/>
            </p:nvSpPr>
            <p:spPr bwMode="auto">
              <a:xfrm>
                <a:off x="2814635" y="3352324"/>
                <a:ext cx="1609707" cy="7734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/>
              <a:p>
                <a:pPr marL="33338" indent="-33338">
                  <a:buFont typeface="Wingdings" panose="05000000000000000000" pitchFamily="2" charset="2"/>
                  <a:buChar char="§"/>
                </a:pPr>
                <a:r>
                  <a:rPr lang="en-US" altLang="ko-KR" sz="800" dirty="0"/>
                  <a:t>e</a:t>
                </a:r>
                <a:r>
                  <a:rPr lang="ko-KR" altLang="en-US" sz="800" dirty="0"/>
                  <a:t>나라도움과 별도로 근거자료 보관을 위해 문서를 받고 있음</a:t>
                </a:r>
              </a:p>
            </p:txBody>
          </p:sp>
        </p:grpSp>
      </p:grpSp>
      <p:sp>
        <p:nvSpPr>
          <p:cNvPr id="84" name="직사각형 83"/>
          <p:cNvSpPr/>
          <p:nvPr/>
        </p:nvSpPr>
        <p:spPr bwMode="auto">
          <a:xfrm>
            <a:off x="3013633" y="29642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20" dirty="0">
                <a:solidFill>
                  <a:srgbClr val="508CD2"/>
                </a:solidFill>
              </a:rPr>
              <a:t>4. </a:t>
            </a:r>
            <a:r>
              <a:rPr lang="ko-KR" altLang="en-US" sz="900" kern="0" spc="-120" dirty="0">
                <a:solidFill>
                  <a:srgbClr val="508CD2"/>
                </a:solidFill>
              </a:rPr>
              <a:t>이월처리내역 등록</a:t>
            </a:r>
            <a:endParaRPr lang="en-US" altLang="ko-KR" sz="900" kern="0" spc="-120" dirty="0">
              <a:solidFill>
                <a:srgbClr val="508CD2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58" idx="2"/>
            <a:endCxn id="84" idx="0"/>
          </p:cNvCxnSpPr>
          <p:nvPr/>
        </p:nvCxnSpPr>
        <p:spPr bwMode="auto">
          <a:xfrm rot="16200000" flipH="1">
            <a:off x="2968809" y="2541176"/>
            <a:ext cx="265550" cy="58052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" name="순서도: 판단 86"/>
          <p:cNvSpPr>
            <a:spLocks noChangeArrowheads="1"/>
          </p:cNvSpPr>
          <p:nvPr/>
        </p:nvSpPr>
        <p:spPr bwMode="auto">
          <a:xfrm>
            <a:off x="3228219" y="5166550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800" kern="0" spc="-160" dirty="0">
                <a:solidFill>
                  <a:prstClr val="black"/>
                </a:solidFill>
              </a:rPr>
              <a:t>외부 감사 여부</a:t>
            </a:r>
          </a:p>
        </p:txBody>
      </p:sp>
      <p:sp>
        <p:nvSpPr>
          <p:cNvPr id="88" name="직사각형 87"/>
          <p:cNvSpPr/>
          <p:nvPr/>
        </p:nvSpPr>
        <p:spPr bwMode="auto">
          <a:xfrm>
            <a:off x="4629012" y="543134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외부감사 보고서접수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9" name="직사각형 88"/>
          <p:cNvSpPr/>
          <p:nvPr/>
        </p:nvSpPr>
        <p:spPr bwMode="auto">
          <a:xfrm>
            <a:off x="4629012" y="499045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9.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외부감사 결과등록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90" name="Shape 266"/>
          <p:cNvCxnSpPr>
            <a:cxnSpLocks noChangeShapeType="1"/>
            <a:stCxn id="88" idx="0"/>
            <a:endCxn id="89" idx="2"/>
          </p:cNvCxnSpPr>
          <p:nvPr/>
        </p:nvCxnSpPr>
        <p:spPr bwMode="auto">
          <a:xfrm flipV="1">
            <a:off x="5007225" y="5311222"/>
            <a:ext cx="0" cy="12012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" name="Shape 266"/>
          <p:cNvCxnSpPr>
            <a:cxnSpLocks noChangeShapeType="1"/>
            <a:stCxn id="89" idx="0"/>
          </p:cNvCxnSpPr>
          <p:nvPr/>
        </p:nvCxnSpPr>
        <p:spPr bwMode="auto">
          <a:xfrm rot="16200000" flipV="1">
            <a:off x="4516203" y="4499428"/>
            <a:ext cx="538207" cy="44383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" name="Shape 266"/>
          <p:cNvCxnSpPr>
            <a:cxnSpLocks noChangeShapeType="1"/>
            <a:stCxn id="58" idx="3"/>
            <a:endCxn id="73" idx="2"/>
          </p:cNvCxnSpPr>
          <p:nvPr/>
        </p:nvCxnSpPr>
        <p:spPr bwMode="auto">
          <a:xfrm flipV="1">
            <a:off x="3189534" y="2538277"/>
            <a:ext cx="899759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3" name="TextBox 92"/>
          <p:cNvSpPr txBox="1"/>
          <p:nvPr/>
        </p:nvSpPr>
        <p:spPr>
          <a:xfrm>
            <a:off x="8661412" y="3198168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8885276" y="2869473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95" name="직사각형 94"/>
          <p:cNvSpPr/>
          <p:nvPr/>
        </p:nvSpPr>
        <p:spPr bwMode="auto">
          <a:xfrm>
            <a:off x="7191115" y="2930482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16.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형식검토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96" name="순서도: 판단 95"/>
          <p:cNvSpPr>
            <a:spLocks noChangeArrowheads="1"/>
          </p:cNvSpPr>
          <p:nvPr/>
        </p:nvSpPr>
        <p:spPr bwMode="auto">
          <a:xfrm>
            <a:off x="8251329" y="2903751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여부</a:t>
            </a:r>
          </a:p>
        </p:txBody>
      </p:sp>
      <p:cxnSp>
        <p:nvCxnSpPr>
          <p:cNvPr id="97" name="Shape 266"/>
          <p:cNvCxnSpPr>
            <a:cxnSpLocks noChangeShapeType="1"/>
            <a:stCxn id="95" idx="3"/>
            <a:endCxn id="96" idx="1"/>
          </p:cNvCxnSpPr>
          <p:nvPr/>
        </p:nvCxnSpPr>
        <p:spPr bwMode="auto">
          <a:xfrm>
            <a:off x="7947540" y="3090868"/>
            <a:ext cx="30378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" name="직사각형 118"/>
          <p:cNvSpPr/>
          <p:nvPr/>
        </p:nvSpPr>
        <p:spPr bwMode="auto">
          <a:xfrm>
            <a:off x="8697416" y="375630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17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보완요청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20" name="직사각형 119"/>
          <p:cNvSpPr/>
          <p:nvPr/>
        </p:nvSpPr>
        <p:spPr bwMode="auto">
          <a:xfrm>
            <a:off x="8701009" y="456978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18.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추가보완등록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21" name="Shape 266"/>
          <p:cNvCxnSpPr>
            <a:cxnSpLocks noChangeShapeType="1"/>
            <a:stCxn id="96" idx="2"/>
            <a:endCxn id="119" idx="0"/>
          </p:cNvCxnSpPr>
          <p:nvPr/>
        </p:nvCxnSpPr>
        <p:spPr bwMode="auto">
          <a:xfrm rot="16200000" flipH="1">
            <a:off x="8614279" y="3294950"/>
            <a:ext cx="478317" cy="444383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2" name="Shape 266"/>
          <p:cNvCxnSpPr>
            <a:cxnSpLocks noChangeShapeType="1"/>
            <a:stCxn id="119" idx="2"/>
            <a:endCxn id="120" idx="0"/>
          </p:cNvCxnSpPr>
          <p:nvPr/>
        </p:nvCxnSpPr>
        <p:spPr bwMode="auto">
          <a:xfrm>
            <a:off x="9075629" y="4077072"/>
            <a:ext cx="3593" cy="4927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" name="Shape 266"/>
          <p:cNvCxnSpPr>
            <a:cxnSpLocks noChangeShapeType="1"/>
            <a:stCxn id="120" idx="1"/>
            <a:endCxn id="52" idx="3"/>
          </p:cNvCxnSpPr>
          <p:nvPr/>
        </p:nvCxnSpPr>
        <p:spPr bwMode="auto">
          <a:xfrm flipH="1">
            <a:off x="7947199" y="4730167"/>
            <a:ext cx="75381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4" name="타원 123"/>
          <p:cNvSpPr/>
          <p:nvPr/>
        </p:nvSpPr>
        <p:spPr>
          <a:xfrm>
            <a:off x="9215182" y="299596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125" name="Shape 266"/>
          <p:cNvCxnSpPr>
            <a:cxnSpLocks noChangeShapeType="1"/>
            <a:stCxn id="100" idx="2"/>
            <a:endCxn id="52" idx="1"/>
          </p:cNvCxnSpPr>
          <p:nvPr/>
        </p:nvCxnSpPr>
        <p:spPr bwMode="auto">
          <a:xfrm rot="16200000" flipH="1">
            <a:off x="6378361" y="3917754"/>
            <a:ext cx="1158538" cy="46628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" name="Shape 266"/>
          <p:cNvCxnSpPr>
            <a:cxnSpLocks noChangeShapeType="1"/>
            <a:stCxn id="47" idx="0"/>
            <a:endCxn id="129" idx="2"/>
          </p:cNvCxnSpPr>
          <p:nvPr/>
        </p:nvCxnSpPr>
        <p:spPr bwMode="auto">
          <a:xfrm rot="5400000" flipH="1" flipV="1">
            <a:off x="4112687" y="3855486"/>
            <a:ext cx="565280" cy="34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" name="TextBox 126"/>
          <p:cNvSpPr txBox="1"/>
          <p:nvPr/>
        </p:nvSpPr>
        <p:spPr>
          <a:xfrm>
            <a:off x="5773327" y="3489465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5978191" y="3175151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9" name="직사각형 128"/>
          <p:cNvSpPr/>
          <p:nvPr/>
        </p:nvSpPr>
        <p:spPr bwMode="auto">
          <a:xfrm>
            <a:off x="4017285" y="3252245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11.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증빙검토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30" name="순서도: 판단 129"/>
          <p:cNvSpPr>
            <a:spLocks noChangeArrowheads="1"/>
          </p:cNvSpPr>
          <p:nvPr/>
        </p:nvSpPr>
        <p:spPr bwMode="auto">
          <a:xfrm>
            <a:off x="5331071" y="3226458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여부</a:t>
            </a:r>
          </a:p>
        </p:txBody>
      </p:sp>
      <p:cxnSp>
        <p:nvCxnSpPr>
          <p:cNvPr id="131" name="Shape 266"/>
          <p:cNvCxnSpPr>
            <a:cxnSpLocks noChangeShapeType="1"/>
            <a:stCxn id="129" idx="3"/>
            <a:endCxn id="130" idx="1"/>
          </p:cNvCxnSpPr>
          <p:nvPr/>
        </p:nvCxnSpPr>
        <p:spPr bwMode="auto">
          <a:xfrm>
            <a:off x="4773710" y="3412631"/>
            <a:ext cx="557361" cy="9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" name="직사각형 131"/>
          <p:cNvSpPr/>
          <p:nvPr/>
        </p:nvSpPr>
        <p:spPr bwMode="auto">
          <a:xfrm>
            <a:off x="5323205" y="3720297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12.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보완요청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33" name="Shape 266"/>
          <p:cNvCxnSpPr>
            <a:cxnSpLocks noChangeShapeType="1"/>
            <a:stCxn id="130" idx="2"/>
            <a:endCxn id="132" idx="0"/>
          </p:cNvCxnSpPr>
          <p:nvPr/>
        </p:nvCxnSpPr>
        <p:spPr bwMode="auto">
          <a:xfrm rot="5400000">
            <a:off x="5646400" y="3655709"/>
            <a:ext cx="119606" cy="957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9" name="그룹 100"/>
          <p:cNvGrpSpPr>
            <a:grpSpLocks noChangeAspect="1"/>
          </p:cNvGrpSpPr>
          <p:nvPr/>
        </p:nvGrpSpPr>
        <p:grpSpPr bwMode="auto">
          <a:xfrm flipH="1">
            <a:off x="4778113" y="4338934"/>
            <a:ext cx="1600663" cy="602235"/>
            <a:chOff x="3488935" y="4842609"/>
            <a:chExt cx="1275305" cy="880477"/>
          </a:xfrm>
        </p:grpSpPr>
        <p:sp>
          <p:nvSpPr>
            <p:cNvPr id="135" name="Line 175"/>
            <p:cNvSpPr>
              <a:spLocks noChangeShapeType="1"/>
            </p:cNvSpPr>
            <p:nvPr/>
          </p:nvSpPr>
          <p:spPr bwMode="auto">
            <a:xfrm flipH="1">
              <a:off x="4503300" y="4842609"/>
              <a:ext cx="260940" cy="508891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endParaRPr kumimoji="1" lang="ko-KR" altLang="en-US" sz="1200" b="1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" name="그룹 56"/>
            <p:cNvGrpSpPr>
              <a:grpSpLocks/>
            </p:cNvGrpSpPr>
            <p:nvPr/>
          </p:nvGrpSpPr>
          <p:grpSpPr bwMode="auto">
            <a:xfrm flipH="1">
              <a:off x="3488935" y="5253221"/>
              <a:ext cx="1008407" cy="469865"/>
              <a:chOff x="2649866" y="3547669"/>
              <a:chExt cx="1713968" cy="1008571"/>
            </a:xfrm>
          </p:grpSpPr>
          <p:sp>
            <p:nvSpPr>
              <p:cNvPr id="137" name="Freeform 176"/>
              <p:cNvSpPr>
                <a:spLocks noChangeArrowheads="1"/>
              </p:cNvSpPr>
              <p:nvPr/>
            </p:nvSpPr>
            <p:spPr bwMode="auto">
              <a:xfrm>
                <a:off x="2649866" y="3547669"/>
                <a:ext cx="323960" cy="1008571"/>
              </a:xfrm>
              <a:custGeom>
                <a:avLst/>
                <a:gdLst>
                  <a:gd name="T0" fmla="*/ 2147483647 w 56"/>
                  <a:gd name="T1" fmla="*/ 0 h 210"/>
                  <a:gd name="T2" fmla="*/ 0 w 56"/>
                  <a:gd name="T3" fmla="*/ 0 h 210"/>
                  <a:gd name="T4" fmla="*/ 0 w 56"/>
                  <a:gd name="T5" fmla="*/ 2147483647 h 210"/>
                  <a:gd name="T6" fmla="*/ 2147483647 w 56"/>
                  <a:gd name="T7" fmla="*/ 2147483647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210"/>
                  <a:gd name="T14" fmla="*/ 56 w 5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210">
                    <a:moveTo>
                      <a:pt x="56" y="0"/>
                    </a:moveTo>
                    <a:lnTo>
                      <a:pt x="0" y="0"/>
                    </a:lnTo>
                    <a:lnTo>
                      <a:pt x="0" y="210"/>
                    </a:lnTo>
                    <a:lnTo>
                      <a:pt x="56" y="210"/>
                    </a:lnTo>
                  </a:path>
                </a:pathLst>
              </a:custGeom>
              <a:noFill/>
              <a:ln w="144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kumimoji="1" lang="ko-KR" altLang="en-US" sz="1200" b="1" u="sng" kern="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38" name="Rectangle 179"/>
              <p:cNvSpPr>
                <a:spLocks noChangeArrowheads="1"/>
              </p:cNvSpPr>
              <p:nvPr/>
            </p:nvSpPr>
            <p:spPr bwMode="auto">
              <a:xfrm>
                <a:off x="2754128" y="3645648"/>
                <a:ext cx="1609706" cy="5156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/>
              <a:p>
                <a:pPr marL="33338" indent="-33338">
                  <a:buFont typeface="Wingdings" panose="05000000000000000000" pitchFamily="2" charset="2"/>
                  <a:buChar char="§"/>
                </a:pPr>
                <a:r>
                  <a:rPr lang="ko-KR" altLang="en-US" sz="800" dirty="0"/>
                  <a:t>수익금이 발생한         경우 정산보고 시 보고</a:t>
                </a:r>
              </a:p>
            </p:txBody>
          </p:sp>
        </p:grpSp>
      </p:grpSp>
      <p:cxnSp>
        <p:nvCxnSpPr>
          <p:cNvPr id="139" name="Shape 266"/>
          <p:cNvCxnSpPr>
            <a:cxnSpLocks noChangeShapeType="1"/>
            <a:stCxn id="100" idx="0"/>
            <a:endCxn id="95" idx="1"/>
          </p:cNvCxnSpPr>
          <p:nvPr/>
        </p:nvCxnSpPr>
        <p:spPr bwMode="auto">
          <a:xfrm rot="5400000" flipH="1" flipV="1">
            <a:off x="6877806" y="2937549"/>
            <a:ext cx="159990" cy="46662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8" name="직사각형 97"/>
          <p:cNvSpPr/>
          <p:nvPr/>
        </p:nvSpPr>
        <p:spPr bwMode="auto">
          <a:xfrm>
            <a:off x="5319614" y="415555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13.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보완처리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99" name="Shape 266"/>
          <p:cNvCxnSpPr>
            <a:cxnSpLocks noChangeShapeType="1"/>
            <a:stCxn id="132" idx="2"/>
            <a:endCxn id="98" idx="0"/>
          </p:cNvCxnSpPr>
          <p:nvPr/>
        </p:nvCxnSpPr>
        <p:spPr bwMode="auto">
          <a:xfrm rot="5400000">
            <a:off x="5642382" y="4096514"/>
            <a:ext cx="114483" cy="359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" name="자유형 11"/>
          <p:cNvSpPr/>
          <p:nvPr/>
        </p:nvSpPr>
        <p:spPr>
          <a:xfrm>
            <a:off x="4572000" y="3572209"/>
            <a:ext cx="754602" cy="746641"/>
          </a:xfrm>
          <a:custGeom>
            <a:avLst/>
            <a:gdLst>
              <a:gd name="connsiteX0" fmla="*/ 754602 w 754602"/>
              <a:gd name="connsiteY0" fmla="*/ 710213 h 710213"/>
              <a:gd name="connsiteX1" fmla="*/ 461639 w 754602"/>
              <a:gd name="connsiteY1" fmla="*/ 710213 h 710213"/>
              <a:gd name="connsiteX2" fmla="*/ 470517 w 754602"/>
              <a:gd name="connsiteY2" fmla="*/ 213064 h 710213"/>
              <a:gd name="connsiteX3" fmla="*/ 0 w 754602"/>
              <a:gd name="connsiteY3" fmla="*/ 213064 h 710213"/>
              <a:gd name="connsiteX4" fmla="*/ 0 w 754602"/>
              <a:gd name="connsiteY4" fmla="*/ 0 h 710213"/>
              <a:gd name="connsiteX0" fmla="*/ 754602 w 754602"/>
              <a:gd name="connsiteY0" fmla="*/ 710213 h 710213"/>
              <a:gd name="connsiteX1" fmla="*/ 461639 w 754602"/>
              <a:gd name="connsiteY1" fmla="*/ 710213 h 710213"/>
              <a:gd name="connsiteX2" fmla="*/ 459843 w 754602"/>
              <a:gd name="connsiteY2" fmla="*/ 213064 h 710213"/>
              <a:gd name="connsiteX3" fmla="*/ 0 w 754602"/>
              <a:gd name="connsiteY3" fmla="*/ 213064 h 710213"/>
              <a:gd name="connsiteX4" fmla="*/ 0 w 754602"/>
              <a:gd name="connsiteY4" fmla="*/ 0 h 710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54602" h="710213">
                <a:moveTo>
                  <a:pt x="754602" y="710213"/>
                </a:moveTo>
                <a:lnTo>
                  <a:pt x="461639" y="710213"/>
                </a:lnTo>
                <a:cubicBezTo>
                  <a:pt x="461040" y="544497"/>
                  <a:pt x="460442" y="378780"/>
                  <a:pt x="459843" y="213064"/>
                </a:cubicBezTo>
                <a:lnTo>
                  <a:pt x="0" y="21306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chemeClr val="tx1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0" name="직사각형 99"/>
          <p:cNvSpPr/>
          <p:nvPr/>
        </p:nvSpPr>
        <p:spPr bwMode="auto">
          <a:xfrm>
            <a:off x="6346274" y="325085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14.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정산완료 처리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01" name="Shape 266"/>
          <p:cNvCxnSpPr>
            <a:cxnSpLocks noChangeShapeType="1"/>
            <a:stCxn id="130" idx="3"/>
            <a:endCxn id="100" idx="1"/>
          </p:cNvCxnSpPr>
          <p:nvPr/>
        </p:nvCxnSpPr>
        <p:spPr bwMode="auto">
          <a:xfrm flipV="1">
            <a:off x="6090905" y="3411244"/>
            <a:ext cx="255369" cy="233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" name="순서도: 판단 102"/>
          <p:cNvSpPr>
            <a:spLocks noChangeArrowheads="1"/>
          </p:cNvSpPr>
          <p:nvPr/>
        </p:nvSpPr>
        <p:spPr bwMode="auto">
          <a:xfrm>
            <a:off x="7113240" y="3464797"/>
            <a:ext cx="919399" cy="411656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 smtClean="0">
                <a:solidFill>
                  <a:prstClr val="black"/>
                </a:solidFill>
              </a:rPr>
              <a:t>행정소송 요청여부</a:t>
            </a:r>
            <a:endParaRPr lang="ko-KR" altLang="en-US" sz="900" kern="0" dirty="0">
              <a:solidFill>
                <a:prstClr val="black"/>
              </a:solidFill>
            </a:endParaRPr>
          </a:p>
        </p:txBody>
      </p:sp>
      <p:cxnSp>
        <p:nvCxnSpPr>
          <p:cNvPr id="104" name="Shape 266"/>
          <p:cNvCxnSpPr>
            <a:cxnSpLocks noChangeShapeType="1"/>
            <a:stCxn id="52" idx="0"/>
            <a:endCxn id="103" idx="2"/>
          </p:cNvCxnSpPr>
          <p:nvPr/>
        </p:nvCxnSpPr>
        <p:spPr bwMode="auto">
          <a:xfrm flipV="1">
            <a:off x="7568987" y="3876453"/>
            <a:ext cx="3953" cy="69332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5" name="Shape 266"/>
          <p:cNvCxnSpPr>
            <a:cxnSpLocks noChangeShapeType="1"/>
            <a:stCxn id="103" idx="3"/>
            <a:endCxn id="103" idx="2"/>
          </p:cNvCxnSpPr>
          <p:nvPr/>
        </p:nvCxnSpPr>
        <p:spPr bwMode="auto">
          <a:xfrm flipH="1">
            <a:off x="7572940" y="3670625"/>
            <a:ext cx="459699" cy="205828"/>
          </a:xfrm>
          <a:prstGeom prst="bentConnector4">
            <a:avLst>
              <a:gd name="adj1" fmla="val -49728"/>
              <a:gd name="adj2" fmla="val 211064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6" name="TextBox 105"/>
          <p:cNvSpPr txBox="1"/>
          <p:nvPr/>
        </p:nvSpPr>
        <p:spPr>
          <a:xfrm>
            <a:off x="7544006" y="3284984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7994068" y="364502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0557777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정산관리는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 이월현황</a:t>
            </a:r>
            <a:r>
              <a:rPr lang="en-US" altLang="ko-KR" sz="1600" dirty="0"/>
              <a:t>, </a:t>
            </a:r>
            <a:r>
              <a:rPr lang="ko-KR" altLang="en-US" sz="1600" dirty="0"/>
              <a:t>정산검토결과</a:t>
            </a:r>
            <a:r>
              <a:rPr lang="en-US" altLang="ko-KR" sz="1600" dirty="0"/>
              <a:t>, </a:t>
            </a:r>
            <a:r>
              <a:rPr lang="ko-KR" altLang="en-US" sz="1600" dirty="0"/>
              <a:t>확정현황 등 정산정보를 등록하여 팀간 공유할 수 있도록 구현하고</a:t>
            </a:r>
            <a:r>
              <a:rPr lang="en-US" altLang="ko-KR" sz="1600" dirty="0"/>
              <a:t>, </a:t>
            </a:r>
            <a:r>
              <a:rPr lang="ko-KR" altLang="en-US" sz="1600" dirty="0"/>
              <a:t>문화체육관광부에 보고할 수 있도록 개선함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3.4.2.6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정산관리지원 </a:t>
            </a:r>
            <a:r>
              <a:rPr lang="en-US" altLang="ko-KR" dirty="0"/>
              <a:t>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3763582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집행관리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4.2.4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정산관리지원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4192445"/>
              </p:ext>
            </p:extLst>
          </p:nvPr>
        </p:nvGraphicFramePr>
        <p:xfrm>
          <a:off x="344488" y="1893217"/>
          <a:ext cx="9181020" cy="4344095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6166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62829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4.2.4.2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지원금확정결과관리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906955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44116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3681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48072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4" name="직사각형 43"/>
          <p:cNvSpPr/>
          <p:nvPr/>
        </p:nvSpPr>
        <p:spPr bwMode="auto">
          <a:xfrm>
            <a:off x="3329751" y="2377892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21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지원금액 확정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46" name="Shape 266"/>
          <p:cNvCxnSpPr>
            <a:cxnSpLocks noChangeShapeType="1"/>
            <a:endCxn id="59" idx="1"/>
          </p:cNvCxnSpPr>
          <p:nvPr/>
        </p:nvCxnSpPr>
        <p:spPr bwMode="auto">
          <a:xfrm>
            <a:off x="1903935" y="3754789"/>
            <a:ext cx="204408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" name="Shape 266"/>
          <p:cNvCxnSpPr>
            <a:cxnSpLocks noChangeShapeType="1"/>
            <a:stCxn id="44" idx="3"/>
            <a:endCxn id="52" idx="1"/>
          </p:cNvCxnSpPr>
          <p:nvPr/>
        </p:nvCxnSpPr>
        <p:spPr bwMode="auto">
          <a:xfrm>
            <a:off x="4086176" y="2538278"/>
            <a:ext cx="50678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8" name="Shape 266"/>
          <p:cNvCxnSpPr>
            <a:cxnSpLocks noChangeShapeType="1"/>
            <a:stCxn id="54" idx="3"/>
            <a:endCxn id="65" idx="0"/>
          </p:cNvCxnSpPr>
          <p:nvPr/>
        </p:nvCxnSpPr>
        <p:spPr bwMode="auto">
          <a:xfrm>
            <a:off x="7473280" y="3677301"/>
            <a:ext cx="377872" cy="80260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9" name="순서도: 종속 처리 64"/>
          <p:cNvSpPr>
            <a:spLocks noChangeAspect="1" noChangeArrowheads="1"/>
          </p:cNvSpPr>
          <p:nvPr/>
        </p:nvSpPr>
        <p:spPr bwMode="auto">
          <a:xfrm>
            <a:off x="8695514" y="5121539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4.3.1.1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반납처리</a:t>
            </a:r>
          </a:p>
        </p:txBody>
      </p:sp>
      <p:cxnSp>
        <p:nvCxnSpPr>
          <p:cNvPr id="50" name="Shape 266"/>
          <p:cNvCxnSpPr>
            <a:cxnSpLocks noChangeShapeType="1"/>
            <a:stCxn id="65" idx="3"/>
            <a:endCxn id="57" idx="3"/>
          </p:cNvCxnSpPr>
          <p:nvPr/>
        </p:nvCxnSpPr>
        <p:spPr bwMode="auto">
          <a:xfrm flipV="1">
            <a:off x="8229364" y="4636746"/>
            <a:ext cx="446633" cy="35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" name="Shape 266"/>
          <p:cNvCxnSpPr>
            <a:cxnSpLocks noChangeShapeType="1"/>
            <a:stCxn id="44" idx="2"/>
            <a:endCxn id="62" idx="1"/>
          </p:cNvCxnSpPr>
          <p:nvPr/>
        </p:nvCxnSpPr>
        <p:spPr bwMode="auto">
          <a:xfrm flipH="1">
            <a:off x="3707963" y="2698663"/>
            <a:ext cx="1" cy="334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" name="직사각형 51"/>
          <p:cNvSpPr/>
          <p:nvPr/>
        </p:nvSpPr>
        <p:spPr bwMode="auto">
          <a:xfrm>
            <a:off x="4592960" y="23778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22. </a:t>
            </a:r>
            <a:r>
              <a:rPr lang="ko-KR" altLang="en-US" sz="900" kern="0" dirty="0">
                <a:solidFill>
                  <a:prstClr val="black"/>
                </a:solidFill>
              </a:rPr>
              <a:t>확정금액 문서통보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3" name="직사각형 52"/>
          <p:cNvSpPr/>
          <p:nvPr/>
        </p:nvSpPr>
        <p:spPr bwMode="auto">
          <a:xfrm>
            <a:off x="5529064" y="351685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</a:rPr>
              <a:t>확정금액 문서접수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4" name="직사각형 53"/>
          <p:cNvSpPr/>
          <p:nvPr/>
        </p:nvSpPr>
        <p:spPr bwMode="auto">
          <a:xfrm>
            <a:off x="6716855" y="351691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24. </a:t>
            </a:r>
            <a:r>
              <a:rPr lang="ko-KR" altLang="en-US" sz="900" kern="0" dirty="0">
                <a:solidFill>
                  <a:srgbClr val="508CD2"/>
                </a:solidFill>
              </a:rPr>
              <a:t>확정 금액 및 이자 등록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55" name="Shape 266"/>
          <p:cNvCxnSpPr>
            <a:cxnSpLocks noChangeShapeType="1"/>
            <a:stCxn id="53" idx="3"/>
            <a:endCxn id="54" idx="1"/>
          </p:cNvCxnSpPr>
          <p:nvPr/>
        </p:nvCxnSpPr>
        <p:spPr bwMode="auto">
          <a:xfrm>
            <a:off x="6285489" y="3677243"/>
            <a:ext cx="431366" cy="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" name="육각형 56"/>
          <p:cNvSpPr/>
          <p:nvPr/>
        </p:nvSpPr>
        <p:spPr bwMode="auto">
          <a:xfrm>
            <a:off x="8675997" y="4431593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정산관리 완료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2108343" y="359440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19. </a:t>
            </a:r>
            <a:r>
              <a:rPr lang="ko-KR" altLang="en-US" sz="900" kern="0" dirty="0">
                <a:solidFill>
                  <a:prstClr val="black"/>
                </a:solidFill>
              </a:rPr>
              <a:t>검토결과 보고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0" name="Shape 266"/>
          <p:cNvCxnSpPr>
            <a:cxnSpLocks noChangeShapeType="1"/>
            <a:stCxn id="59" idx="0"/>
            <a:endCxn id="61" idx="2"/>
          </p:cNvCxnSpPr>
          <p:nvPr/>
        </p:nvCxnSpPr>
        <p:spPr bwMode="auto">
          <a:xfrm flipV="1">
            <a:off x="2486556" y="2698663"/>
            <a:ext cx="0" cy="89574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직사각형 60"/>
          <p:cNvSpPr/>
          <p:nvPr/>
        </p:nvSpPr>
        <p:spPr bwMode="auto">
          <a:xfrm>
            <a:off x="2108343" y="23778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20 </a:t>
            </a:r>
            <a:r>
              <a:rPr lang="ko-KR" altLang="en-US" sz="900" kern="0" dirty="0">
                <a:solidFill>
                  <a:prstClr val="black"/>
                </a:solidFill>
              </a:rPr>
              <a:t>검토결과 보고접수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2" name="원통 68"/>
          <p:cNvSpPr>
            <a:spLocks noChangeAspect="1" noChangeArrowheads="1"/>
          </p:cNvSpPr>
          <p:nvPr/>
        </p:nvSpPr>
        <p:spPr bwMode="auto">
          <a:xfrm>
            <a:off x="3327022" y="3032956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36000" r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50" b="1" kern="0" spc="-100" dirty="0">
                <a:solidFill>
                  <a:prstClr val="black"/>
                </a:solidFill>
              </a:rPr>
              <a:t>실적정보</a:t>
            </a:r>
            <a:r>
              <a:rPr kumimoji="1" lang="en-US" altLang="ko-KR" sz="1050" b="1" kern="0" spc="-100" dirty="0">
                <a:solidFill>
                  <a:prstClr val="black"/>
                </a:solidFill>
              </a:rPr>
              <a:t>/ </a:t>
            </a:r>
            <a:r>
              <a:rPr kumimoji="1" lang="ko-KR" altLang="en-US" sz="1050" b="1" kern="0" spc="-100" dirty="0">
                <a:solidFill>
                  <a:prstClr val="black"/>
                </a:solidFill>
              </a:rPr>
              <a:t>정산정보</a:t>
            </a:r>
            <a:endParaRPr kumimoji="1" lang="en-US" altLang="ko-KR" sz="800" b="1" kern="0" spc="-100" dirty="0">
              <a:solidFill>
                <a:prstClr val="black"/>
              </a:solidFill>
            </a:endParaRPr>
          </a:p>
        </p:txBody>
      </p:sp>
      <p:cxnSp>
        <p:nvCxnSpPr>
          <p:cNvPr id="63" name="Shape 266"/>
          <p:cNvCxnSpPr>
            <a:cxnSpLocks noChangeShapeType="1"/>
            <a:stCxn id="61" idx="3"/>
            <a:endCxn id="44" idx="1"/>
          </p:cNvCxnSpPr>
          <p:nvPr/>
        </p:nvCxnSpPr>
        <p:spPr bwMode="auto">
          <a:xfrm>
            <a:off x="2864768" y="2538278"/>
            <a:ext cx="46498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" name="타원 63"/>
          <p:cNvSpPr/>
          <p:nvPr/>
        </p:nvSpPr>
        <p:spPr>
          <a:xfrm>
            <a:off x="1688733" y="366190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7472939" y="447990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25. </a:t>
            </a:r>
            <a:r>
              <a:rPr lang="ko-KR" altLang="en-US" sz="900" kern="0" dirty="0">
                <a:solidFill>
                  <a:srgbClr val="508CD2"/>
                </a:solidFill>
              </a:rPr>
              <a:t>정산결과 확인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66" name="Shape 266"/>
          <p:cNvCxnSpPr>
            <a:cxnSpLocks noChangeShapeType="1"/>
            <a:endCxn id="49" idx="0"/>
          </p:cNvCxnSpPr>
          <p:nvPr/>
        </p:nvCxnSpPr>
        <p:spPr bwMode="auto">
          <a:xfrm>
            <a:off x="9075933" y="4832611"/>
            <a:ext cx="1" cy="28892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8" name="직사각형 27"/>
          <p:cNvSpPr/>
          <p:nvPr/>
        </p:nvSpPr>
        <p:spPr bwMode="auto">
          <a:xfrm>
            <a:off x="5529064" y="447615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</a:rPr>
              <a:t>확정금액 문서접수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5529063" y="57165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23. </a:t>
            </a:r>
            <a:r>
              <a:rPr lang="ko-KR" altLang="en-US" sz="900" kern="0" dirty="0">
                <a:solidFill>
                  <a:prstClr val="black"/>
                </a:solidFill>
              </a:rPr>
              <a:t>확정금액 문서접수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0" name="Shape 266"/>
          <p:cNvCxnSpPr>
            <a:cxnSpLocks noChangeShapeType="1"/>
            <a:stCxn id="52" idx="2"/>
            <a:endCxn id="53" idx="1"/>
          </p:cNvCxnSpPr>
          <p:nvPr/>
        </p:nvCxnSpPr>
        <p:spPr bwMode="auto">
          <a:xfrm rot="16200000" flipH="1">
            <a:off x="4760828" y="2909007"/>
            <a:ext cx="978580" cy="55789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3" name="Shape 266"/>
          <p:cNvCxnSpPr>
            <a:cxnSpLocks noChangeShapeType="1"/>
            <a:stCxn id="52" idx="2"/>
            <a:endCxn id="28" idx="1"/>
          </p:cNvCxnSpPr>
          <p:nvPr/>
        </p:nvCxnSpPr>
        <p:spPr bwMode="auto">
          <a:xfrm rot="16200000" flipH="1">
            <a:off x="4281182" y="3388653"/>
            <a:ext cx="1937873" cy="55789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hape 266"/>
          <p:cNvCxnSpPr>
            <a:cxnSpLocks noChangeShapeType="1"/>
            <a:stCxn id="52" idx="2"/>
            <a:endCxn id="29" idx="1"/>
          </p:cNvCxnSpPr>
          <p:nvPr/>
        </p:nvCxnSpPr>
        <p:spPr bwMode="auto">
          <a:xfrm rot="16200000" flipH="1">
            <a:off x="3660987" y="4008849"/>
            <a:ext cx="3178262" cy="55789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606330598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정산관리는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 이월현황</a:t>
            </a:r>
            <a:r>
              <a:rPr lang="en-US" altLang="ko-KR" sz="1600" dirty="0"/>
              <a:t>, </a:t>
            </a:r>
            <a:r>
              <a:rPr lang="ko-KR" altLang="en-US" sz="1600" dirty="0"/>
              <a:t>정산검토결과</a:t>
            </a:r>
            <a:r>
              <a:rPr lang="en-US" altLang="ko-KR" sz="1600" dirty="0"/>
              <a:t>, </a:t>
            </a:r>
            <a:r>
              <a:rPr lang="ko-KR" altLang="en-US" sz="1600" dirty="0"/>
              <a:t>확정현황 등 정산정보를 등록하여 팀간 공유할 수 있도록 구현하고</a:t>
            </a:r>
            <a:r>
              <a:rPr lang="en-US" altLang="ko-KR" sz="1600" dirty="0"/>
              <a:t>, </a:t>
            </a:r>
            <a:r>
              <a:rPr lang="ko-KR" altLang="en-US" sz="1600" dirty="0"/>
              <a:t>문화체육관광부에 보고할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3.4.2.6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정산관리지원 </a:t>
            </a:r>
            <a:r>
              <a:rPr lang="en-US" altLang="ko-KR" dirty="0"/>
              <a:t>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xmlns="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8184159"/>
              </p:ext>
            </p:extLst>
          </p:nvPr>
        </p:nvGraphicFramePr>
        <p:xfrm>
          <a:off x="344488" y="1604186"/>
          <a:ext cx="9180513" cy="4563922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xmlns="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:a16="http://schemas.microsoft.com/office/drawing/2014/main" xmlns="" val="479372368"/>
                    </a:ext>
                  </a:extLst>
                </a:gridCol>
              </a:tblGrid>
              <a:tr h="42754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1037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회계연도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종료 혹은 사업종료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등의 사유로 정산시기가 도래하면 지원사업자는 이월이 필요한 경우 문화체육관광부에 이월을 신청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이월신청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038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이월신청검토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이월신청을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038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이월신청 검토결과를 등록하여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이월신청검토결과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1037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이월처리내역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정산담당자는 이월처리내역을 확인하여 사업별 이월처리내역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이월처리내역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3038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이월신청이 승인된 지원사업자는 이월로 회계처리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이월처리결과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1037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지원사업자가 법적요건에 따라 외부감사</a:t>
                      </a:r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실시가 필요한 경우 외부감사를 의뢰하여 외부감사업체가 외부감사를 실시</a:t>
                      </a:r>
                      <a:endParaRPr lang="ko-KR" altLang="en-US" sz="1000" spc="-1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1037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외부감사보고서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외부감사업체가 외부감사보고서를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1037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외부감사보고서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지원사업자가 외부감사보고서를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</a:t>
                      </a:r>
                      <a:endParaRPr lang="en-US" altLang="ko-KR" sz="100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사업비 합산 </a:t>
                      </a:r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 이상 </a:t>
                      </a:r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 미만은 </a:t>
                      </a:r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보조사업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 대한 회계검증보고서를 제출</a:t>
                      </a:r>
                      <a:endParaRPr lang="en-US" altLang="ko-KR" sz="100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latinLnBrk="0"/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-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사업비 합산 </a:t>
                      </a:r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 이상은 </a:t>
                      </a:r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보조사업자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 대한 회계감사보고서를 제출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30389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외부감사결과등록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접수된 외부감사결과를 지원사업자가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외부감사보고서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3038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집행마감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이월처리가 완료되면 지원사업자는 집행마감 등록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3038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정산담당자가 집행마감이 되면 등록된 지출 증빙을 검토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지출증빙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30389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정산담당자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 증빙검토결과 보완이 필요한 경우 보완을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31037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보완요청 내용을 접수하여 지출증빙내역 보완처리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지출증빙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2733359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정산관리는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 이월현황</a:t>
            </a:r>
            <a:r>
              <a:rPr lang="en-US" altLang="ko-KR" sz="1600" dirty="0"/>
              <a:t>, </a:t>
            </a:r>
            <a:r>
              <a:rPr lang="ko-KR" altLang="en-US" sz="1600" dirty="0"/>
              <a:t>정산검토결과</a:t>
            </a:r>
            <a:r>
              <a:rPr lang="en-US" altLang="ko-KR" sz="1600" dirty="0"/>
              <a:t>, </a:t>
            </a:r>
            <a:r>
              <a:rPr lang="ko-KR" altLang="en-US" sz="1600" dirty="0"/>
              <a:t>확정현황 등 정산정보를 등록하여 팀간 공유할 수 있도록 구현하고</a:t>
            </a:r>
            <a:r>
              <a:rPr lang="en-US" altLang="ko-KR" sz="1600" dirty="0"/>
              <a:t>, </a:t>
            </a:r>
            <a:r>
              <a:rPr lang="ko-KR" altLang="en-US" sz="1600" dirty="0"/>
              <a:t>문화체육관광부에 보고할 수 있도록 개선함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3.4.2.6 </a:t>
            </a:r>
            <a:r>
              <a:rPr lang="ko-KR" altLang="en-US" dirty="0"/>
              <a:t>집행관리</a:t>
            </a:r>
            <a:r>
              <a:rPr lang="en-US" altLang="ko-KR" dirty="0"/>
              <a:t>&gt;</a:t>
            </a:r>
            <a:r>
              <a:rPr lang="ko-KR" altLang="en-US" dirty="0"/>
              <a:t>정산관리지원 </a:t>
            </a:r>
            <a:r>
              <a:rPr lang="en-US" altLang="ko-KR" dirty="0"/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xmlns="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0760978"/>
              </p:ext>
            </p:extLst>
          </p:nvPr>
        </p:nvGraphicFramePr>
        <p:xfrm>
          <a:off x="344488" y="1604186"/>
          <a:ext cx="9180513" cy="43877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xmlns="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:a16="http://schemas.microsoft.com/office/drawing/2014/main" xmlns="" val="479372368"/>
                    </a:ext>
                  </a:extLst>
                </a:gridCol>
              </a:tblGrid>
              <a:tr h="41402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정산완료처리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정산담당자는 보완처리 내용을 검토 후 정산완료처리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지출증빙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008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</a:t>
                      </a:r>
                      <a:r>
                        <a:rPr lang="en-US" altLang="ko-KR" sz="1000" b="1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정산보고 출력 및 문서보고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증빙검토 결과 보완이 필요하지 않은 경우 지원사업자는 실적 및 정산보고서를 생성하여 출력하여 공문으로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형식검토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정산담당자는 지원사업자가 등록한 실적 및 정산보고에 대한 형식검토를 통해 누락여부를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 및 정산보고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 보완이 필요한 경우 기금정산팀 정산담당자는 지원사업자에게 보완을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추가보완등록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보완요청을 받은 지원사업자는 실적보고 및 정산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관련 자료 혹은 정보를 추가 보완하여 등록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추가보완정보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정산담당자의 문서검토 결과 보완이 필요하지 않은 경우 검토결과를 작성하여 문화체육관광부에 보고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실적보고 및 정산 보고서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검토결과보고접수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공단 홈페이지를 통해 기금정산 검토결과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실적보고 및 정산 보고서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지원금액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문화체육관광부 담당자가 보고된 내용을 검토하여 지원금액을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확정된 지원금액정보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확정금액 문서통보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확정된 지원금액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관련 문서를 기금정산팀 정산담당자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 환수담당자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지원사업자에게 통보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확정된 지원금액정보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확정금액 문서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확정금액을 문화체육관광부 담당자로부터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+mn-ea"/>
                        </a:rPr>
                        <a:t>기금정산팀 정산담당자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+mn-ea"/>
                        </a:rPr>
                        <a:t>기금환수팀 환수담당자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+mn-ea"/>
                        </a:rPr>
                        <a:t>지원사업자가 각각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확정된 지원금액정보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확정금액 및 이자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기금정산팀 정산담당자는 확정금액과 이자 및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반환액을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등록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불인정금액 포함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확정된 지원금액정보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330085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정산결과확인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기금환수팀에서는 정산결과 확정금액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이자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반납액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제재부가금 등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확정된 지원금액정보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기금지원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593164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반납관리 업무는 대부분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</a:t>
            </a:r>
            <a:r>
              <a:rPr lang="en-US" altLang="ko-KR" sz="1600" dirty="0"/>
              <a:t>, </a:t>
            </a:r>
            <a:r>
              <a:rPr lang="ko-KR" altLang="en-US" sz="1600" dirty="0"/>
              <a:t>단기적으로는 반환현황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처분현황 등 정보관리와 소통을 위한 기능을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3.4.2.7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반납관리 </a:t>
            </a:r>
            <a:r>
              <a:rPr lang="en-US" altLang="ko-KR" dirty="0"/>
              <a:t>(</a:t>
            </a:r>
            <a:r>
              <a:rPr lang="en-US" altLang="ko-KR" dirty="0" smtClean="0"/>
              <a:t>1/6)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629809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사후관리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반납관리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4222"/>
              </p:ext>
            </p:extLst>
          </p:nvPr>
        </p:nvGraphicFramePr>
        <p:xfrm>
          <a:off x="344488" y="1893217"/>
          <a:ext cx="9181020" cy="4488111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반납처리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014967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28192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368152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제외</a:t>
                      </a: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44" name="Shape 266"/>
          <p:cNvCxnSpPr>
            <a:cxnSpLocks noChangeShapeType="1"/>
            <a:stCxn id="53" idx="0"/>
            <a:endCxn id="59" idx="1"/>
          </p:cNvCxnSpPr>
          <p:nvPr/>
        </p:nvCxnSpPr>
        <p:spPr bwMode="auto">
          <a:xfrm flipV="1">
            <a:off x="3296816" y="3542503"/>
            <a:ext cx="179679" cy="36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5" name="Shape 266"/>
          <p:cNvCxnSpPr>
            <a:cxnSpLocks noChangeShapeType="1"/>
            <a:stCxn id="59" idx="3"/>
            <a:endCxn id="60" idx="0"/>
          </p:cNvCxnSpPr>
          <p:nvPr/>
        </p:nvCxnSpPr>
        <p:spPr bwMode="auto">
          <a:xfrm>
            <a:off x="4232920" y="3542503"/>
            <a:ext cx="450222" cy="57383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6" name="직사각형 45"/>
          <p:cNvSpPr/>
          <p:nvPr/>
        </p:nvSpPr>
        <p:spPr bwMode="auto">
          <a:xfrm>
            <a:off x="5252215" y="5090836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5.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이의신청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47" name="Shape 266"/>
          <p:cNvCxnSpPr>
            <a:cxnSpLocks noChangeShapeType="1"/>
            <a:stCxn id="100" idx="0"/>
            <a:endCxn id="51" idx="2"/>
          </p:cNvCxnSpPr>
          <p:nvPr/>
        </p:nvCxnSpPr>
        <p:spPr bwMode="auto">
          <a:xfrm flipV="1">
            <a:off x="5628724" y="2636912"/>
            <a:ext cx="1704" cy="16044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8" name="Shape 266"/>
          <p:cNvCxnSpPr>
            <a:cxnSpLocks noChangeShapeType="1"/>
            <a:stCxn id="63" idx="3"/>
            <a:endCxn id="49" idx="1"/>
          </p:cNvCxnSpPr>
          <p:nvPr/>
        </p:nvCxnSpPr>
        <p:spPr bwMode="auto">
          <a:xfrm>
            <a:off x="6005590" y="5744400"/>
            <a:ext cx="1287329" cy="522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9" name="직사각형 48"/>
          <p:cNvSpPr/>
          <p:nvPr/>
        </p:nvSpPr>
        <p:spPr bwMode="auto">
          <a:xfrm>
            <a:off x="7292919" y="55892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12 </a:t>
            </a:r>
            <a:r>
              <a:rPr lang="ko-KR" altLang="en-US" sz="900" kern="0" dirty="0">
                <a:solidFill>
                  <a:prstClr val="black"/>
                </a:solidFill>
              </a:rPr>
              <a:t>반납액 반환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0" name="Shape 266"/>
          <p:cNvCxnSpPr>
            <a:cxnSpLocks noChangeShapeType="1"/>
            <a:stCxn id="54" idx="3"/>
            <a:endCxn id="53" idx="3"/>
          </p:cNvCxnSpPr>
          <p:nvPr/>
        </p:nvCxnSpPr>
        <p:spPr bwMode="auto">
          <a:xfrm flipV="1">
            <a:off x="2125895" y="3546181"/>
            <a:ext cx="414496" cy="86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직사각형 50"/>
          <p:cNvSpPr/>
          <p:nvPr/>
        </p:nvSpPr>
        <p:spPr bwMode="auto">
          <a:xfrm>
            <a:off x="5252215" y="2316141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8.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이의신청검토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52" name="Shape 266"/>
          <p:cNvCxnSpPr>
            <a:cxnSpLocks noChangeShapeType="1"/>
            <a:stCxn id="49" idx="0"/>
            <a:endCxn id="140" idx="2"/>
          </p:cNvCxnSpPr>
          <p:nvPr/>
        </p:nvCxnSpPr>
        <p:spPr bwMode="auto">
          <a:xfrm flipV="1">
            <a:off x="7671132" y="4953120"/>
            <a:ext cx="0" cy="6361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" name="육각형 52"/>
          <p:cNvSpPr/>
          <p:nvPr/>
        </p:nvSpPr>
        <p:spPr bwMode="auto">
          <a:xfrm>
            <a:off x="2540391" y="3341028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지원금액 확정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54" name="순서도: 종속 처리 64"/>
          <p:cNvSpPr>
            <a:spLocks noChangeAspect="1" noChangeArrowheads="1"/>
          </p:cNvSpPr>
          <p:nvPr/>
        </p:nvSpPr>
        <p:spPr bwMode="auto">
          <a:xfrm>
            <a:off x="1365056" y="3356992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4.2.4.2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지원금</a:t>
            </a:r>
            <a:endParaRPr kumimoji="1" lang="en-US" altLang="ko-KR" sz="900" kern="0" dirty="0">
              <a:solidFill>
                <a:prstClr val="black"/>
              </a:solidFill>
            </a:endParaRP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확정결과관리</a:t>
            </a:r>
          </a:p>
        </p:txBody>
      </p:sp>
      <p:sp>
        <p:nvSpPr>
          <p:cNvPr id="55" name="육각형 54"/>
          <p:cNvSpPr/>
          <p:nvPr/>
        </p:nvSpPr>
        <p:spPr bwMode="auto">
          <a:xfrm>
            <a:off x="2252359" y="4098815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교부취소 결정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56" name="육각형 55"/>
          <p:cNvSpPr/>
          <p:nvPr/>
        </p:nvSpPr>
        <p:spPr bwMode="auto">
          <a:xfrm>
            <a:off x="2972439" y="3832584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부적정집행 확정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57" name="Shape 266"/>
          <p:cNvCxnSpPr>
            <a:cxnSpLocks noChangeShapeType="1"/>
            <a:stCxn id="55" idx="0"/>
            <a:endCxn id="59" idx="2"/>
          </p:cNvCxnSpPr>
          <p:nvPr/>
        </p:nvCxnSpPr>
        <p:spPr bwMode="auto">
          <a:xfrm flipV="1">
            <a:off x="3008784" y="3702888"/>
            <a:ext cx="845924" cy="60108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" name="Shape 266"/>
          <p:cNvCxnSpPr>
            <a:cxnSpLocks noChangeShapeType="1"/>
            <a:stCxn id="56" idx="0"/>
            <a:endCxn id="59" idx="2"/>
          </p:cNvCxnSpPr>
          <p:nvPr/>
        </p:nvCxnSpPr>
        <p:spPr bwMode="auto">
          <a:xfrm flipV="1">
            <a:off x="3728864" y="3702888"/>
            <a:ext cx="125844" cy="33484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9" name="직사각형 58"/>
          <p:cNvSpPr/>
          <p:nvPr/>
        </p:nvSpPr>
        <p:spPr bwMode="auto">
          <a:xfrm>
            <a:off x="3476495" y="33821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1. </a:t>
            </a:r>
            <a:r>
              <a:rPr lang="ko-KR" altLang="en-US" sz="900" kern="0" dirty="0">
                <a:solidFill>
                  <a:srgbClr val="508CD2"/>
                </a:solidFill>
              </a:rPr>
              <a:t>확정금액 및 이자 확인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4304929" y="41163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2. </a:t>
            </a:r>
            <a:r>
              <a:rPr lang="ko-KR" altLang="en-US" sz="900" kern="0" dirty="0">
                <a:solidFill>
                  <a:srgbClr val="508CD2"/>
                </a:solidFill>
              </a:rPr>
              <a:t>반납요구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4304928" y="509083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3. </a:t>
            </a:r>
            <a:r>
              <a:rPr lang="ko-KR" altLang="en-US" sz="900" kern="0" dirty="0">
                <a:solidFill>
                  <a:srgbClr val="508CD2"/>
                </a:solidFill>
              </a:rPr>
              <a:t>반납요구 접수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4304928" y="558401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4. </a:t>
            </a:r>
            <a:r>
              <a:rPr lang="ko-KR" altLang="en-US" sz="900" kern="0" dirty="0">
                <a:solidFill>
                  <a:prstClr val="black"/>
                </a:solidFill>
              </a:rPr>
              <a:t>반납요구 검토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3" name="순서도: 판단 62"/>
          <p:cNvSpPr>
            <a:spLocks noChangeArrowheads="1"/>
          </p:cNvSpPr>
          <p:nvPr/>
        </p:nvSpPr>
        <p:spPr bwMode="auto">
          <a:xfrm>
            <a:off x="5245756" y="5557283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불복 여부</a:t>
            </a:r>
          </a:p>
        </p:txBody>
      </p:sp>
      <p:cxnSp>
        <p:nvCxnSpPr>
          <p:cNvPr id="64" name="Shape 266"/>
          <p:cNvCxnSpPr>
            <a:cxnSpLocks noChangeShapeType="1"/>
            <a:stCxn id="60" idx="2"/>
            <a:endCxn id="61" idx="0"/>
          </p:cNvCxnSpPr>
          <p:nvPr/>
        </p:nvCxnSpPr>
        <p:spPr bwMode="auto">
          <a:xfrm flipH="1">
            <a:off x="4683141" y="4437112"/>
            <a:ext cx="1" cy="65372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" name="Shape 266"/>
          <p:cNvCxnSpPr>
            <a:cxnSpLocks noChangeShapeType="1"/>
            <a:stCxn id="61" idx="2"/>
            <a:endCxn id="62" idx="0"/>
          </p:cNvCxnSpPr>
          <p:nvPr/>
        </p:nvCxnSpPr>
        <p:spPr bwMode="auto">
          <a:xfrm>
            <a:off x="4683141" y="5411607"/>
            <a:ext cx="0" cy="1724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62" idx="3"/>
            <a:endCxn id="63" idx="1"/>
          </p:cNvCxnSpPr>
          <p:nvPr/>
        </p:nvCxnSpPr>
        <p:spPr bwMode="auto">
          <a:xfrm flipV="1">
            <a:off x="5061353" y="5744400"/>
            <a:ext cx="184403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직사각형 66"/>
          <p:cNvSpPr/>
          <p:nvPr/>
        </p:nvSpPr>
        <p:spPr bwMode="auto">
          <a:xfrm>
            <a:off x="8289627" y="2312876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9.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검토결과통보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70" name="Shape 266"/>
          <p:cNvCxnSpPr>
            <a:cxnSpLocks noChangeShapeType="1"/>
            <a:stCxn id="63" idx="0"/>
            <a:endCxn id="46" idx="2"/>
          </p:cNvCxnSpPr>
          <p:nvPr/>
        </p:nvCxnSpPr>
        <p:spPr bwMode="auto">
          <a:xfrm flipV="1">
            <a:off x="5625673" y="5411607"/>
            <a:ext cx="4755" cy="14567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/>
          <p:cNvSpPr/>
          <p:nvPr/>
        </p:nvSpPr>
        <p:spPr bwMode="auto">
          <a:xfrm>
            <a:off x="6033120" y="60212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13. </a:t>
            </a:r>
            <a:r>
              <a:rPr lang="ko-KR" altLang="en-US" sz="900" kern="0" dirty="0">
                <a:solidFill>
                  <a:prstClr val="black"/>
                </a:solidFill>
              </a:rPr>
              <a:t>반납액 미반환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2" name="Shape 266"/>
          <p:cNvCxnSpPr>
            <a:cxnSpLocks noChangeShapeType="1"/>
            <a:stCxn id="63" idx="2"/>
            <a:endCxn id="71" idx="1"/>
          </p:cNvCxnSpPr>
          <p:nvPr/>
        </p:nvCxnSpPr>
        <p:spPr bwMode="auto">
          <a:xfrm rot="16200000" flipH="1">
            <a:off x="5704317" y="5852871"/>
            <a:ext cx="250158" cy="40744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3" name="Shape 266"/>
          <p:cNvCxnSpPr>
            <a:cxnSpLocks noChangeShapeType="1"/>
            <a:stCxn id="71" idx="3"/>
            <a:endCxn id="150" idx="2"/>
          </p:cNvCxnSpPr>
          <p:nvPr/>
        </p:nvCxnSpPr>
        <p:spPr bwMode="auto">
          <a:xfrm>
            <a:off x="6789545" y="6181674"/>
            <a:ext cx="2418014" cy="45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4" name="타원 73"/>
          <p:cNvSpPr/>
          <p:nvPr/>
        </p:nvSpPr>
        <p:spPr>
          <a:xfrm>
            <a:off x="6184282" y="3735546"/>
            <a:ext cx="133583" cy="11004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76" name="Shape 266"/>
          <p:cNvCxnSpPr>
            <a:cxnSpLocks noChangeShapeType="1"/>
            <a:stCxn id="51" idx="3"/>
            <a:endCxn id="67" idx="1"/>
          </p:cNvCxnSpPr>
          <p:nvPr/>
        </p:nvCxnSpPr>
        <p:spPr bwMode="auto">
          <a:xfrm flipV="1">
            <a:off x="6008640" y="2473262"/>
            <a:ext cx="2280987" cy="326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7" name="TextBox 76"/>
          <p:cNvSpPr txBox="1"/>
          <p:nvPr/>
        </p:nvSpPr>
        <p:spPr>
          <a:xfrm>
            <a:off x="5656997" y="544522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887435" y="5520118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5601072" y="6006480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80" name="육각형 79"/>
          <p:cNvSpPr/>
          <p:nvPr/>
        </p:nvSpPr>
        <p:spPr bwMode="auto">
          <a:xfrm>
            <a:off x="1532279" y="4365104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반환수익금발생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81" name="Shape 266"/>
          <p:cNvCxnSpPr>
            <a:cxnSpLocks noChangeShapeType="1"/>
            <a:stCxn id="80" idx="0"/>
            <a:endCxn id="59" idx="2"/>
          </p:cNvCxnSpPr>
          <p:nvPr/>
        </p:nvCxnSpPr>
        <p:spPr bwMode="auto">
          <a:xfrm flipV="1">
            <a:off x="2288704" y="3702888"/>
            <a:ext cx="1566004" cy="86736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육각형 81"/>
          <p:cNvSpPr/>
          <p:nvPr/>
        </p:nvSpPr>
        <p:spPr bwMode="auto">
          <a:xfrm>
            <a:off x="3872880" y="2780928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제재부가금통보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83" name="Shape 266"/>
          <p:cNvCxnSpPr>
            <a:cxnSpLocks noChangeShapeType="1"/>
            <a:stCxn id="82" idx="0"/>
            <a:endCxn id="60" idx="0"/>
          </p:cNvCxnSpPr>
          <p:nvPr/>
        </p:nvCxnSpPr>
        <p:spPr bwMode="auto">
          <a:xfrm>
            <a:off x="4629305" y="2986081"/>
            <a:ext cx="53837" cy="113026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" name="직사각형 83"/>
          <p:cNvSpPr/>
          <p:nvPr/>
        </p:nvSpPr>
        <p:spPr bwMode="auto">
          <a:xfrm>
            <a:off x="6978760" y="37170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srgbClr val="508CD2"/>
                </a:solidFill>
              </a:rPr>
              <a:t>10. </a:t>
            </a:r>
            <a:r>
              <a:rPr lang="ko-KR" altLang="en-US" sz="900" kern="0" dirty="0">
                <a:solidFill>
                  <a:srgbClr val="508CD2"/>
                </a:solidFill>
              </a:rPr>
              <a:t>검토결과 등록</a:t>
            </a:r>
            <a:r>
              <a:rPr lang="en-US" altLang="ko-KR" sz="900" kern="0" dirty="0">
                <a:solidFill>
                  <a:srgbClr val="508CD2"/>
                </a:solidFill>
              </a:rPr>
              <a:t>/</a:t>
            </a:r>
            <a:r>
              <a:rPr lang="ko-KR" altLang="en-US" sz="900" kern="0" dirty="0">
                <a:solidFill>
                  <a:srgbClr val="508CD2"/>
                </a:solidFill>
              </a:rPr>
              <a:t>통보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67" idx="2"/>
            <a:endCxn id="84" idx="3"/>
          </p:cNvCxnSpPr>
          <p:nvPr/>
        </p:nvCxnSpPr>
        <p:spPr bwMode="auto">
          <a:xfrm rot="5400000">
            <a:off x="7579628" y="2789205"/>
            <a:ext cx="1243771" cy="93265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" name="Shape 266"/>
          <p:cNvCxnSpPr>
            <a:cxnSpLocks noChangeShapeType="1"/>
            <a:stCxn id="119" idx="2"/>
            <a:endCxn id="49" idx="1"/>
          </p:cNvCxnSpPr>
          <p:nvPr/>
        </p:nvCxnSpPr>
        <p:spPr bwMode="auto">
          <a:xfrm rot="16200000" flipH="1">
            <a:off x="6824307" y="5281013"/>
            <a:ext cx="343671" cy="59355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" name="타원 86"/>
          <p:cNvSpPr/>
          <p:nvPr/>
        </p:nvSpPr>
        <p:spPr>
          <a:xfrm>
            <a:off x="2356973" y="3349459"/>
            <a:ext cx="288612" cy="353429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8" name="타원 87"/>
          <p:cNvSpPr/>
          <p:nvPr/>
        </p:nvSpPr>
        <p:spPr>
          <a:xfrm>
            <a:off x="2778404" y="3351119"/>
            <a:ext cx="288612" cy="353429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89" name="Shape 266"/>
          <p:cNvCxnSpPr>
            <a:cxnSpLocks noChangeShapeType="1"/>
            <a:stCxn id="90" idx="3"/>
            <a:endCxn id="91" idx="3"/>
          </p:cNvCxnSpPr>
          <p:nvPr/>
        </p:nvCxnSpPr>
        <p:spPr bwMode="auto">
          <a:xfrm flipV="1">
            <a:off x="2125589" y="5556158"/>
            <a:ext cx="410388" cy="1490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0" name="순서도: 종속 처리 64"/>
          <p:cNvSpPr>
            <a:spLocks noChangeAspect="1" noChangeArrowheads="1"/>
          </p:cNvSpPr>
          <p:nvPr/>
        </p:nvSpPr>
        <p:spPr bwMode="auto">
          <a:xfrm>
            <a:off x="1364750" y="5373216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4.2.1.2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처분관리지원</a:t>
            </a:r>
          </a:p>
        </p:txBody>
      </p:sp>
      <p:sp>
        <p:nvSpPr>
          <p:cNvPr id="91" name="육각형 90"/>
          <p:cNvSpPr/>
          <p:nvPr/>
        </p:nvSpPr>
        <p:spPr bwMode="auto">
          <a:xfrm>
            <a:off x="2535977" y="5351005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중요재산 처분반납금발생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92" name="Shape 266"/>
          <p:cNvCxnSpPr>
            <a:cxnSpLocks noChangeShapeType="1"/>
            <a:stCxn id="91" idx="0"/>
            <a:endCxn id="59" idx="2"/>
          </p:cNvCxnSpPr>
          <p:nvPr/>
        </p:nvCxnSpPr>
        <p:spPr bwMode="auto">
          <a:xfrm flipV="1">
            <a:off x="3292402" y="3702888"/>
            <a:ext cx="562306" cy="185327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3" name="타원 92"/>
          <p:cNvSpPr/>
          <p:nvPr/>
        </p:nvSpPr>
        <p:spPr>
          <a:xfrm>
            <a:off x="2510485" y="3333130"/>
            <a:ext cx="288612" cy="353429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94" name="타원 93"/>
          <p:cNvSpPr/>
          <p:nvPr/>
        </p:nvSpPr>
        <p:spPr>
          <a:xfrm>
            <a:off x="2670260" y="3344119"/>
            <a:ext cx="288612" cy="353429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95" name="타원 94"/>
          <p:cNvSpPr/>
          <p:nvPr/>
        </p:nvSpPr>
        <p:spPr>
          <a:xfrm>
            <a:off x="2824886" y="3346234"/>
            <a:ext cx="288612" cy="353429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19" name="직사각형 118"/>
          <p:cNvSpPr/>
          <p:nvPr/>
        </p:nvSpPr>
        <p:spPr bwMode="auto">
          <a:xfrm>
            <a:off x="6321152" y="508518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srgbClr val="508CD2"/>
                </a:solidFill>
              </a:rPr>
              <a:t>11. </a:t>
            </a:r>
            <a:r>
              <a:rPr lang="ko-KR" altLang="en-US" sz="900" kern="0" dirty="0">
                <a:solidFill>
                  <a:srgbClr val="508CD2"/>
                </a:solidFill>
              </a:rPr>
              <a:t>검토결과 접수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20" name="Shape 266"/>
          <p:cNvCxnSpPr>
            <a:cxnSpLocks noChangeShapeType="1"/>
            <a:stCxn id="84" idx="2"/>
            <a:endCxn id="119" idx="0"/>
          </p:cNvCxnSpPr>
          <p:nvPr/>
        </p:nvCxnSpPr>
        <p:spPr bwMode="auto">
          <a:xfrm rot="5400000">
            <a:off x="6504479" y="4232689"/>
            <a:ext cx="1047381" cy="657608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" name="순서도: 판단 99"/>
          <p:cNvSpPr>
            <a:spLocks noChangeArrowheads="1"/>
          </p:cNvSpPr>
          <p:nvPr/>
        </p:nvSpPr>
        <p:spPr bwMode="auto">
          <a:xfrm>
            <a:off x="5169024" y="4241387"/>
            <a:ext cx="919399" cy="411656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행정소송 요청여부</a:t>
            </a:r>
            <a:endParaRPr lang="ko-KR" altLang="en-US" sz="900" kern="0" dirty="0">
              <a:solidFill>
                <a:prstClr val="black"/>
              </a:solidFill>
            </a:endParaRPr>
          </a:p>
        </p:txBody>
      </p:sp>
      <p:cxnSp>
        <p:nvCxnSpPr>
          <p:cNvPr id="101" name="Shape 266"/>
          <p:cNvCxnSpPr>
            <a:cxnSpLocks noChangeShapeType="1"/>
            <a:stCxn id="46" idx="0"/>
            <a:endCxn id="100" idx="2"/>
          </p:cNvCxnSpPr>
          <p:nvPr/>
        </p:nvCxnSpPr>
        <p:spPr bwMode="auto">
          <a:xfrm flipH="1" flipV="1">
            <a:off x="5628724" y="4653043"/>
            <a:ext cx="1704" cy="4377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" name="직사각형 101"/>
          <p:cNvSpPr/>
          <p:nvPr/>
        </p:nvSpPr>
        <p:spPr bwMode="auto">
          <a:xfrm>
            <a:off x="6140791" y="371748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6.</a:t>
            </a:r>
            <a:r>
              <a:rPr lang="ko-KR" altLang="en-US" sz="900" kern="0" dirty="0" smtClean="0">
                <a:solidFill>
                  <a:prstClr val="black"/>
                </a:solidFill>
              </a:rPr>
              <a:t>행정소송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03" name="직사각형 102"/>
          <p:cNvSpPr/>
          <p:nvPr/>
        </p:nvSpPr>
        <p:spPr bwMode="auto">
          <a:xfrm>
            <a:off x="6140791" y="256490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7.</a:t>
            </a:r>
            <a:r>
              <a:rPr lang="ko-KR" altLang="en-US" sz="900" kern="0" dirty="0" smtClean="0">
                <a:solidFill>
                  <a:prstClr val="black"/>
                </a:solidFill>
              </a:rPr>
              <a:t>행정소송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04" name="순서도: 판단 103"/>
          <p:cNvSpPr>
            <a:spLocks noChangeArrowheads="1"/>
          </p:cNvSpPr>
          <p:nvPr/>
        </p:nvSpPr>
        <p:spPr bwMode="auto">
          <a:xfrm>
            <a:off x="6897216" y="2886201"/>
            <a:ext cx="919399" cy="411656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 smtClean="0">
                <a:solidFill>
                  <a:prstClr val="black"/>
                </a:solidFill>
              </a:rPr>
              <a:t>소송 완료</a:t>
            </a:r>
            <a:endParaRPr lang="ko-KR" altLang="en-US" sz="900" kern="0" dirty="0">
              <a:solidFill>
                <a:prstClr val="black"/>
              </a:solidFill>
            </a:endParaRPr>
          </a:p>
        </p:txBody>
      </p:sp>
      <p:cxnSp>
        <p:nvCxnSpPr>
          <p:cNvPr id="105" name="Shape 266"/>
          <p:cNvCxnSpPr>
            <a:cxnSpLocks noChangeShapeType="1"/>
            <a:stCxn id="104" idx="2"/>
            <a:endCxn id="84" idx="0"/>
          </p:cNvCxnSpPr>
          <p:nvPr/>
        </p:nvCxnSpPr>
        <p:spPr bwMode="auto">
          <a:xfrm>
            <a:off x="7356916" y="3297857"/>
            <a:ext cx="57" cy="41917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/>
          <p:cNvCxnSpPr>
            <a:cxnSpLocks noChangeShapeType="1"/>
            <a:stCxn id="104" idx="1"/>
            <a:endCxn id="103" idx="2"/>
          </p:cNvCxnSpPr>
          <p:nvPr/>
        </p:nvCxnSpPr>
        <p:spPr bwMode="auto">
          <a:xfrm rot="10800000">
            <a:off x="6519004" y="2885675"/>
            <a:ext cx="378212" cy="20635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" name="Shape 266"/>
          <p:cNvCxnSpPr>
            <a:cxnSpLocks noChangeShapeType="1"/>
            <a:stCxn id="103" idx="3"/>
            <a:endCxn id="104" idx="0"/>
          </p:cNvCxnSpPr>
          <p:nvPr/>
        </p:nvCxnSpPr>
        <p:spPr bwMode="auto">
          <a:xfrm>
            <a:off x="6897216" y="2725290"/>
            <a:ext cx="459700" cy="16091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2" name="Shape 266"/>
          <p:cNvCxnSpPr>
            <a:cxnSpLocks noChangeShapeType="1"/>
            <a:stCxn id="100" idx="3"/>
            <a:endCxn id="102" idx="2"/>
          </p:cNvCxnSpPr>
          <p:nvPr/>
        </p:nvCxnSpPr>
        <p:spPr bwMode="auto">
          <a:xfrm flipV="1">
            <a:off x="6088423" y="4038258"/>
            <a:ext cx="430581" cy="40895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" name="Shape 266"/>
          <p:cNvCxnSpPr>
            <a:cxnSpLocks noChangeShapeType="1"/>
            <a:stCxn id="102" idx="0"/>
            <a:endCxn id="103" idx="2"/>
          </p:cNvCxnSpPr>
          <p:nvPr/>
        </p:nvCxnSpPr>
        <p:spPr bwMode="auto">
          <a:xfrm flipV="1">
            <a:off x="6519004" y="2885675"/>
            <a:ext cx="0" cy="83181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TextBox 124"/>
          <p:cNvSpPr txBox="1"/>
          <p:nvPr/>
        </p:nvSpPr>
        <p:spPr>
          <a:xfrm>
            <a:off x="5996303" y="4286081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5584386" y="4078601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7334994" y="3276612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6747401" y="3070300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8899801" y="436438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8899801" y="4882366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8316110" y="5147771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8899801" y="5506882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39" name="순서도: 판단 138"/>
          <p:cNvSpPr>
            <a:spLocks noChangeArrowheads="1"/>
          </p:cNvSpPr>
          <p:nvPr/>
        </p:nvSpPr>
        <p:spPr bwMode="auto">
          <a:xfrm>
            <a:off x="8478179" y="4556606"/>
            <a:ext cx="919399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 smtClean="0">
                <a:solidFill>
                  <a:prstClr val="black"/>
                </a:solidFill>
              </a:rPr>
              <a:t>완납 </a:t>
            </a:r>
            <a:r>
              <a:rPr lang="ko-KR" altLang="en-US" sz="900" kern="0" dirty="0">
                <a:solidFill>
                  <a:prstClr val="black"/>
                </a:solidFill>
              </a:rPr>
              <a:t>여부</a:t>
            </a:r>
          </a:p>
        </p:txBody>
      </p:sp>
      <p:sp>
        <p:nvSpPr>
          <p:cNvPr id="140" name="직사각형 139"/>
          <p:cNvSpPr/>
          <p:nvPr/>
        </p:nvSpPr>
        <p:spPr bwMode="auto">
          <a:xfrm>
            <a:off x="7292919" y="4632349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14.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반납여부 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41" name="직사각형 140"/>
          <p:cNvSpPr/>
          <p:nvPr/>
        </p:nvSpPr>
        <p:spPr bwMode="auto">
          <a:xfrm>
            <a:off x="7868983" y="408072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srgbClr val="508CD2"/>
                </a:solidFill>
              </a:rPr>
              <a:t>15 </a:t>
            </a:r>
            <a:r>
              <a:rPr lang="ko-KR" altLang="en-US" sz="900" kern="0" dirty="0">
                <a:solidFill>
                  <a:srgbClr val="508CD2"/>
                </a:solidFill>
              </a:rPr>
              <a:t>반납현황 등록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50" name="타원 149"/>
          <p:cNvSpPr/>
          <p:nvPr/>
        </p:nvSpPr>
        <p:spPr>
          <a:xfrm>
            <a:off x="9207559" y="609329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154" name="순서도: 판단 153"/>
          <p:cNvSpPr>
            <a:spLocks noChangeArrowheads="1"/>
          </p:cNvSpPr>
          <p:nvPr/>
        </p:nvSpPr>
        <p:spPr bwMode="auto">
          <a:xfrm>
            <a:off x="8481062" y="5165593"/>
            <a:ext cx="919399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반납시한 </a:t>
            </a:r>
            <a:r>
              <a:rPr lang="ko-KR" altLang="en-US" sz="900" kern="0" dirty="0" smtClean="0">
                <a:solidFill>
                  <a:prstClr val="black"/>
                </a:solidFill>
              </a:rPr>
              <a:t>마감</a:t>
            </a:r>
            <a:endParaRPr lang="ko-KR" altLang="en-US" sz="900" kern="0" dirty="0">
              <a:solidFill>
                <a:prstClr val="black"/>
              </a:solidFill>
            </a:endParaRPr>
          </a:p>
        </p:txBody>
      </p:sp>
      <p:cxnSp>
        <p:nvCxnSpPr>
          <p:cNvPr id="158" name="Shape 266"/>
          <p:cNvCxnSpPr>
            <a:cxnSpLocks noChangeShapeType="1"/>
            <a:stCxn id="140" idx="0"/>
            <a:endCxn id="141" idx="1"/>
          </p:cNvCxnSpPr>
          <p:nvPr/>
        </p:nvCxnSpPr>
        <p:spPr bwMode="auto">
          <a:xfrm rot="5400000" flipH="1" flipV="1">
            <a:off x="7574439" y="4337806"/>
            <a:ext cx="391237" cy="19785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1" name="Shape 266"/>
          <p:cNvCxnSpPr>
            <a:cxnSpLocks noChangeShapeType="1"/>
            <a:stCxn id="141" idx="2"/>
            <a:endCxn id="139" idx="1"/>
          </p:cNvCxnSpPr>
          <p:nvPr/>
        </p:nvCxnSpPr>
        <p:spPr bwMode="auto">
          <a:xfrm rot="16200000" flipH="1">
            <a:off x="8191574" y="4457118"/>
            <a:ext cx="342226" cy="23098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5" name="Shape 266"/>
          <p:cNvCxnSpPr>
            <a:cxnSpLocks noChangeShapeType="1"/>
            <a:stCxn id="139" idx="2"/>
            <a:endCxn id="154" idx="0"/>
          </p:cNvCxnSpPr>
          <p:nvPr/>
        </p:nvCxnSpPr>
        <p:spPr bwMode="auto">
          <a:xfrm>
            <a:off x="8937879" y="4930839"/>
            <a:ext cx="2883" cy="23475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8" name="Shape 266"/>
          <p:cNvCxnSpPr>
            <a:cxnSpLocks noChangeShapeType="1"/>
            <a:stCxn id="154" idx="1"/>
            <a:endCxn id="49" idx="3"/>
          </p:cNvCxnSpPr>
          <p:nvPr/>
        </p:nvCxnSpPr>
        <p:spPr bwMode="auto">
          <a:xfrm rot="10800000" flipV="1">
            <a:off x="8049344" y="5352710"/>
            <a:ext cx="431718" cy="396916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2" name="Shape 266"/>
          <p:cNvCxnSpPr>
            <a:cxnSpLocks noChangeShapeType="1"/>
            <a:stCxn id="139" idx="0"/>
            <a:endCxn id="175" idx="2"/>
          </p:cNvCxnSpPr>
          <p:nvPr/>
        </p:nvCxnSpPr>
        <p:spPr bwMode="auto">
          <a:xfrm rot="5400000" flipH="1" flipV="1">
            <a:off x="8902230" y="4289119"/>
            <a:ext cx="303137" cy="23183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5" name="타원 174"/>
          <p:cNvSpPr/>
          <p:nvPr/>
        </p:nvSpPr>
        <p:spPr>
          <a:xfrm>
            <a:off x="9169717" y="416058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 smtClean="0">
                <a:solidFill>
                  <a:prstClr val="white"/>
                </a:solidFill>
                <a:latin typeface="돋움"/>
                <a:ea typeface="돋움"/>
              </a:rPr>
              <a:t>4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178" name="Shape 266"/>
          <p:cNvCxnSpPr>
            <a:cxnSpLocks noChangeShapeType="1"/>
            <a:stCxn id="154" idx="2"/>
            <a:endCxn id="150" idx="2"/>
          </p:cNvCxnSpPr>
          <p:nvPr/>
        </p:nvCxnSpPr>
        <p:spPr bwMode="auto">
          <a:xfrm rot="16200000" flipH="1">
            <a:off x="8750985" y="5729602"/>
            <a:ext cx="646350" cy="26679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811177950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반납관리 업무는 대부분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</a:t>
            </a:r>
            <a:r>
              <a:rPr lang="en-US" altLang="ko-KR" sz="1600" dirty="0"/>
              <a:t>, </a:t>
            </a:r>
            <a:r>
              <a:rPr lang="ko-KR" altLang="en-US" sz="1600" dirty="0"/>
              <a:t>단기적으로는 반환현황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처분현황 등 정보관리와 소통을 위한 기능을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3.4.2.7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반납관리 </a:t>
            </a:r>
            <a:r>
              <a:rPr lang="en-US" altLang="ko-KR" dirty="0"/>
              <a:t>(</a:t>
            </a:r>
            <a:r>
              <a:rPr lang="en-US" altLang="ko-KR" dirty="0" smtClean="0"/>
              <a:t>2/6)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사후관리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반납관리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7" name="표 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9897751"/>
              </p:ext>
            </p:extLst>
          </p:nvPr>
        </p:nvGraphicFramePr>
        <p:xfrm>
          <a:off x="344488" y="1893217"/>
          <a:ext cx="9181020" cy="4416103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4.3.1.2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강제징수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8903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448272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6064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자산관리공사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576064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제외</a:t>
                      </a: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0" name="직사각형 79"/>
          <p:cNvSpPr/>
          <p:nvPr/>
        </p:nvSpPr>
        <p:spPr bwMode="auto">
          <a:xfrm>
            <a:off x="3908676" y="297183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20. </a:t>
            </a:r>
            <a:r>
              <a:rPr lang="ko-KR" altLang="en-US" sz="900" kern="0" dirty="0"/>
              <a:t>독촉장</a:t>
            </a:r>
            <a:endParaRPr lang="en-US" altLang="ko-KR" sz="900" kern="0" dirty="0"/>
          </a:p>
          <a:p>
            <a:pPr algn="ctr" latinLnBrk="0"/>
            <a:r>
              <a:rPr lang="ko-KR" altLang="en-US" sz="900" kern="0" dirty="0"/>
              <a:t>발부요청</a:t>
            </a:r>
            <a:endParaRPr lang="en-US" altLang="ko-KR" sz="900" kern="0" dirty="0"/>
          </a:p>
        </p:txBody>
      </p:sp>
      <p:sp>
        <p:nvSpPr>
          <p:cNvPr id="91" name="타원 90"/>
          <p:cNvSpPr/>
          <p:nvPr/>
        </p:nvSpPr>
        <p:spPr>
          <a:xfrm>
            <a:off x="3429471" y="2420888"/>
            <a:ext cx="286424" cy="356973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94" idx="6"/>
            <a:endCxn id="95" idx="1"/>
          </p:cNvCxnSpPr>
          <p:nvPr/>
        </p:nvCxnSpPr>
        <p:spPr bwMode="auto">
          <a:xfrm flipV="1">
            <a:off x="1554914" y="3153654"/>
            <a:ext cx="112877" cy="481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4" name="타원 93"/>
          <p:cNvSpPr/>
          <p:nvPr/>
        </p:nvSpPr>
        <p:spPr>
          <a:xfrm>
            <a:off x="1352600" y="306558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95" name="직사각형 94"/>
          <p:cNvSpPr/>
          <p:nvPr/>
        </p:nvSpPr>
        <p:spPr bwMode="auto">
          <a:xfrm>
            <a:off x="1667791" y="2993268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16.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교부취소요청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96" name="직사각형 95"/>
          <p:cNvSpPr/>
          <p:nvPr/>
        </p:nvSpPr>
        <p:spPr bwMode="auto">
          <a:xfrm>
            <a:off x="1667791" y="2321739"/>
            <a:ext cx="756425" cy="320771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17.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교부취소처리 및 반환명령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97" name="Shape 266"/>
          <p:cNvCxnSpPr>
            <a:cxnSpLocks noChangeShapeType="1"/>
            <a:stCxn id="95" idx="0"/>
            <a:endCxn id="96" idx="2"/>
          </p:cNvCxnSpPr>
          <p:nvPr/>
        </p:nvCxnSpPr>
        <p:spPr bwMode="auto">
          <a:xfrm flipV="1">
            <a:off x="2046004" y="2642510"/>
            <a:ext cx="0" cy="35075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8" name="Shape 266"/>
          <p:cNvCxnSpPr>
            <a:cxnSpLocks noChangeShapeType="1"/>
            <a:stCxn id="96" idx="3"/>
            <a:endCxn id="119" idx="0"/>
          </p:cNvCxnSpPr>
          <p:nvPr/>
        </p:nvCxnSpPr>
        <p:spPr bwMode="auto">
          <a:xfrm>
            <a:off x="2424216" y="2482125"/>
            <a:ext cx="1034789" cy="48519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" name="타원 98"/>
          <p:cNvSpPr/>
          <p:nvPr/>
        </p:nvSpPr>
        <p:spPr>
          <a:xfrm>
            <a:off x="8074003" y="2708920"/>
            <a:ext cx="252028" cy="432354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01" name="순서도: 종속 처리 64"/>
          <p:cNvSpPr>
            <a:spLocks noChangeAspect="1" noChangeArrowheads="1"/>
          </p:cNvSpPr>
          <p:nvPr/>
        </p:nvSpPr>
        <p:spPr bwMode="auto">
          <a:xfrm>
            <a:off x="8742681" y="2852936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/>
              <a:t>1.3.1.2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/>
              <a:t>지출요구</a:t>
            </a:r>
          </a:p>
        </p:txBody>
      </p:sp>
      <p:sp>
        <p:nvSpPr>
          <p:cNvPr id="103" name="순서도: 종속 처리 64"/>
          <p:cNvSpPr>
            <a:spLocks noChangeAspect="1" noChangeArrowheads="1"/>
          </p:cNvSpPr>
          <p:nvPr/>
        </p:nvSpPr>
        <p:spPr bwMode="auto">
          <a:xfrm>
            <a:off x="8742265" y="4473467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/>
              <a:t>1.2.1.2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/>
              <a:t>징수요구</a:t>
            </a:r>
          </a:p>
        </p:txBody>
      </p:sp>
      <p:cxnSp>
        <p:nvCxnSpPr>
          <p:cNvPr id="105" name="Shape 266"/>
          <p:cNvCxnSpPr>
            <a:cxnSpLocks noChangeShapeType="1"/>
            <a:stCxn id="185" idx="0"/>
            <a:endCxn id="101" idx="1"/>
          </p:cNvCxnSpPr>
          <p:nvPr/>
        </p:nvCxnSpPr>
        <p:spPr bwMode="auto">
          <a:xfrm flipV="1">
            <a:off x="8472707" y="3050783"/>
            <a:ext cx="269974" cy="78866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6" name="Shape 266"/>
          <p:cNvCxnSpPr>
            <a:cxnSpLocks noChangeShapeType="1"/>
            <a:stCxn id="185" idx="0"/>
            <a:endCxn id="103" idx="1"/>
          </p:cNvCxnSpPr>
          <p:nvPr/>
        </p:nvCxnSpPr>
        <p:spPr bwMode="auto">
          <a:xfrm>
            <a:off x="8472707" y="3839452"/>
            <a:ext cx="269558" cy="83186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4" name="TextBox 113"/>
          <p:cNvSpPr txBox="1"/>
          <p:nvPr/>
        </p:nvSpPr>
        <p:spPr>
          <a:xfrm>
            <a:off x="8542000" y="3412323"/>
            <a:ext cx="85739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연도 내 환수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534814" y="4058966"/>
            <a:ext cx="83783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/>
              <a:t>해당연도     경과 후 환수</a:t>
            </a:r>
          </a:p>
        </p:txBody>
      </p:sp>
      <p:sp>
        <p:nvSpPr>
          <p:cNvPr id="118" name="직사각형 117"/>
          <p:cNvSpPr/>
          <p:nvPr/>
        </p:nvSpPr>
        <p:spPr bwMode="auto">
          <a:xfrm>
            <a:off x="2108476" y="58501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18. </a:t>
            </a:r>
            <a:r>
              <a:rPr lang="ko-KR" altLang="en-US" sz="900" kern="0" dirty="0"/>
              <a:t>반환접수</a:t>
            </a:r>
            <a:endParaRPr lang="en-US" altLang="ko-KR" sz="900" kern="0" dirty="0"/>
          </a:p>
        </p:txBody>
      </p:sp>
      <p:sp>
        <p:nvSpPr>
          <p:cNvPr id="119" name="직사각형 118"/>
          <p:cNvSpPr/>
          <p:nvPr/>
        </p:nvSpPr>
        <p:spPr bwMode="auto">
          <a:xfrm>
            <a:off x="3080792" y="296731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19.</a:t>
            </a:r>
            <a:r>
              <a:rPr lang="ko-KR" altLang="en-US" sz="900" kern="0" dirty="0"/>
              <a:t>반환여부확인</a:t>
            </a:r>
            <a:endParaRPr lang="en-US" altLang="ko-KR" sz="900" kern="0" dirty="0"/>
          </a:p>
        </p:txBody>
      </p:sp>
      <p:sp>
        <p:nvSpPr>
          <p:cNvPr id="120" name="직사각형 119"/>
          <p:cNvSpPr/>
          <p:nvPr/>
        </p:nvSpPr>
        <p:spPr bwMode="auto">
          <a:xfrm>
            <a:off x="4358830" y="586007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22.</a:t>
            </a:r>
            <a:r>
              <a:rPr lang="ko-KR" altLang="en-US" sz="900" kern="0" dirty="0"/>
              <a:t>독촉장접수</a:t>
            </a:r>
            <a:endParaRPr lang="en-US" altLang="ko-KR" sz="900" kern="0" dirty="0"/>
          </a:p>
        </p:txBody>
      </p:sp>
      <p:grpSp>
        <p:nvGrpSpPr>
          <p:cNvPr id="122" name="그룹 121"/>
          <p:cNvGrpSpPr/>
          <p:nvPr/>
        </p:nvGrpSpPr>
        <p:grpSpPr>
          <a:xfrm>
            <a:off x="3080792" y="3501008"/>
            <a:ext cx="846198" cy="643155"/>
            <a:chOff x="3584848" y="3743525"/>
            <a:chExt cx="846198" cy="643155"/>
          </a:xfrm>
        </p:grpSpPr>
        <p:sp>
          <p:nvSpPr>
            <p:cNvPr id="123" name="TextBox 122"/>
            <p:cNvSpPr txBox="1"/>
            <p:nvPr/>
          </p:nvSpPr>
          <p:spPr>
            <a:xfrm>
              <a:off x="3953941" y="4155848"/>
              <a:ext cx="36583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 smtClean="0">
                  <a:solidFill>
                    <a:prstClr val="black"/>
                  </a:solidFill>
                </a:rPr>
                <a:t>Y</a:t>
              </a:r>
              <a:endParaRPr lang="ko-KR" altLang="en-US" sz="900" dirty="0">
                <a:solidFill>
                  <a:prstClr val="black"/>
                </a:solidFill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4179018" y="3743525"/>
              <a:ext cx="25202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 smtClean="0">
                  <a:solidFill>
                    <a:prstClr val="black"/>
                  </a:solidFill>
                </a:rPr>
                <a:t>N</a:t>
              </a:r>
              <a:endParaRPr lang="ko-KR" altLang="en-US" sz="900" dirty="0">
                <a:solidFill>
                  <a:prstClr val="black"/>
                </a:solidFill>
              </a:endParaRPr>
            </a:p>
          </p:txBody>
        </p:sp>
        <p:sp>
          <p:nvSpPr>
            <p:cNvPr id="125" name="순서도: 판단 124"/>
            <p:cNvSpPr>
              <a:spLocks noChangeArrowheads="1"/>
            </p:cNvSpPr>
            <p:nvPr/>
          </p:nvSpPr>
          <p:spPr bwMode="auto">
            <a:xfrm>
              <a:off x="3584848" y="3787240"/>
              <a:ext cx="759834" cy="374233"/>
            </a:xfrm>
            <a:prstGeom prst="flowChartDecisi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pc="-100" dirty="0">
                  <a:solidFill>
                    <a:prstClr val="black"/>
                  </a:solidFill>
                </a:rPr>
                <a:t>반환 여부</a:t>
              </a:r>
            </a:p>
          </p:txBody>
        </p:sp>
      </p:grpSp>
      <p:sp>
        <p:nvSpPr>
          <p:cNvPr id="127" name="직사각형 126"/>
          <p:cNvSpPr/>
          <p:nvPr/>
        </p:nvSpPr>
        <p:spPr bwMode="auto">
          <a:xfrm>
            <a:off x="5889104" y="232635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25.</a:t>
            </a:r>
            <a:r>
              <a:rPr lang="ko-KR" altLang="en-US" sz="900" kern="0" dirty="0" smtClean="0">
                <a:solidFill>
                  <a:prstClr val="black"/>
                </a:solidFill>
              </a:rPr>
              <a:t>금융재산압류 </a:t>
            </a:r>
            <a:r>
              <a:rPr lang="ko-KR" altLang="en-US" sz="900" kern="0" dirty="0">
                <a:solidFill>
                  <a:prstClr val="black"/>
                </a:solidFill>
              </a:rPr>
              <a:t>처분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29" name="Shape 266"/>
          <p:cNvCxnSpPr>
            <a:cxnSpLocks noChangeShapeType="1"/>
            <a:stCxn id="96" idx="3"/>
            <a:endCxn id="118" idx="0"/>
          </p:cNvCxnSpPr>
          <p:nvPr/>
        </p:nvCxnSpPr>
        <p:spPr bwMode="auto">
          <a:xfrm>
            <a:off x="2424216" y="2482125"/>
            <a:ext cx="62473" cy="33679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" name="직선 화살표 연결선 131"/>
          <p:cNvCxnSpPr>
            <a:stCxn id="119" idx="2"/>
            <a:endCxn id="125" idx="0"/>
          </p:cNvCxnSpPr>
          <p:nvPr/>
        </p:nvCxnSpPr>
        <p:spPr>
          <a:xfrm>
            <a:off x="3459005" y="3288089"/>
            <a:ext cx="1704" cy="25663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꺾인 연결선 133"/>
          <p:cNvCxnSpPr>
            <a:stCxn id="125" idx="3"/>
            <a:endCxn id="80" idx="2"/>
          </p:cNvCxnSpPr>
          <p:nvPr/>
        </p:nvCxnSpPr>
        <p:spPr>
          <a:xfrm flipV="1">
            <a:off x="3840626" y="3292606"/>
            <a:ext cx="446263" cy="439234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직사각형 136"/>
          <p:cNvSpPr/>
          <p:nvPr/>
        </p:nvSpPr>
        <p:spPr bwMode="auto">
          <a:xfrm>
            <a:off x="3908676" y="231268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21 </a:t>
            </a:r>
            <a:r>
              <a:rPr lang="ko-KR" altLang="en-US" sz="900" kern="0" dirty="0">
                <a:solidFill>
                  <a:srgbClr val="508CD2"/>
                </a:solidFill>
              </a:rPr>
              <a:t>독촉장발부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42" name="직선 화살표 연결선 141"/>
          <p:cNvCxnSpPr>
            <a:stCxn id="80" idx="0"/>
            <a:endCxn id="137" idx="2"/>
          </p:cNvCxnSpPr>
          <p:nvPr/>
        </p:nvCxnSpPr>
        <p:spPr>
          <a:xfrm flipV="1">
            <a:off x="4286889" y="2633457"/>
            <a:ext cx="0" cy="33837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직사각형 143"/>
          <p:cNvSpPr/>
          <p:nvPr/>
        </p:nvSpPr>
        <p:spPr bwMode="auto">
          <a:xfrm>
            <a:off x="5339650" y="346035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/>
              <a:t>23.</a:t>
            </a:r>
            <a:r>
              <a:rPr lang="ko-KR" altLang="en-US" sz="900" kern="0" dirty="0" smtClean="0"/>
              <a:t>반환여부확인</a:t>
            </a:r>
            <a:endParaRPr lang="en-US" altLang="ko-KR" sz="900" kern="0" dirty="0"/>
          </a:p>
        </p:txBody>
      </p:sp>
      <p:cxnSp>
        <p:nvCxnSpPr>
          <p:cNvPr id="146" name="꺾인 연결선 145"/>
          <p:cNvCxnSpPr>
            <a:stCxn id="137" idx="3"/>
            <a:endCxn id="144" idx="0"/>
          </p:cNvCxnSpPr>
          <p:nvPr/>
        </p:nvCxnSpPr>
        <p:spPr>
          <a:xfrm>
            <a:off x="4665101" y="2473072"/>
            <a:ext cx="1052762" cy="98728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꺾인 연결선 146"/>
          <p:cNvCxnSpPr>
            <a:stCxn id="137" idx="3"/>
            <a:endCxn id="120" idx="0"/>
          </p:cNvCxnSpPr>
          <p:nvPr/>
        </p:nvCxnSpPr>
        <p:spPr>
          <a:xfrm>
            <a:off x="4665101" y="2473072"/>
            <a:ext cx="71942" cy="3387002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꺾인 연결선 148"/>
          <p:cNvCxnSpPr>
            <a:stCxn id="144" idx="2"/>
            <a:endCxn id="153" idx="0"/>
          </p:cNvCxnSpPr>
          <p:nvPr/>
        </p:nvCxnSpPr>
        <p:spPr>
          <a:xfrm rot="16200000" flipH="1">
            <a:off x="5470101" y="4028887"/>
            <a:ext cx="497777" cy="225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/>
          <p:cNvSpPr/>
          <p:nvPr/>
        </p:nvSpPr>
        <p:spPr bwMode="auto">
          <a:xfrm>
            <a:off x="5889387" y="28003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24.</a:t>
            </a:r>
            <a:r>
              <a:rPr lang="ko-KR" altLang="en-US" sz="900" kern="0" dirty="0" smtClean="0">
                <a:solidFill>
                  <a:prstClr val="black"/>
                </a:solidFill>
              </a:rPr>
              <a:t>금융재산압류 </a:t>
            </a:r>
            <a:r>
              <a:rPr lang="ko-KR" altLang="en-US" sz="900" kern="0" dirty="0">
                <a:solidFill>
                  <a:prstClr val="black"/>
                </a:solidFill>
              </a:rPr>
              <a:t>처분요청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1" name="꺾인 연결선 150"/>
          <p:cNvCxnSpPr>
            <a:stCxn id="153" idx="3"/>
            <a:endCxn id="150" idx="2"/>
          </p:cNvCxnSpPr>
          <p:nvPr/>
        </p:nvCxnSpPr>
        <p:spPr>
          <a:xfrm flipV="1">
            <a:off x="6100033" y="3121159"/>
            <a:ext cx="167567" cy="1344861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2" name="그룹 151"/>
          <p:cNvGrpSpPr/>
          <p:nvPr/>
        </p:nvGrpSpPr>
        <p:grpSpPr>
          <a:xfrm>
            <a:off x="5340199" y="4124761"/>
            <a:ext cx="864096" cy="759207"/>
            <a:chOff x="5491539" y="3620705"/>
            <a:chExt cx="864096" cy="759207"/>
          </a:xfrm>
        </p:grpSpPr>
        <p:sp>
          <p:nvSpPr>
            <p:cNvPr id="153" name="순서도: 판단 152"/>
            <p:cNvSpPr>
              <a:spLocks noChangeArrowheads="1"/>
            </p:cNvSpPr>
            <p:nvPr/>
          </p:nvSpPr>
          <p:spPr bwMode="auto">
            <a:xfrm>
              <a:off x="5491539" y="3774847"/>
              <a:ext cx="759834" cy="374233"/>
            </a:xfrm>
            <a:prstGeom prst="flowChartDecisi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pc="-100" dirty="0">
                  <a:solidFill>
                    <a:prstClr val="black"/>
                  </a:solidFill>
                </a:rPr>
                <a:t>반환 여부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5989796" y="3620705"/>
              <a:ext cx="36583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prstClr val="black"/>
                  </a:solidFill>
                </a:rPr>
                <a:t>N</a:t>
              </a:r>
              <a:endParaRPr lang="ko-KR" altLang="en-US" sz="900" dirty="0">
                <a:solidFill>
                  <a:prstClr val="black"/>
                </a:solidFill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5565463" y="4149080"/>
              <a:ext cx="25202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prstClr val="black"/>
                  </a:solidFill>
                </a:rPr>
                <a:t>Y</a:t>
              </a:r>
              <a:endParaRPr lang="ko-KR" altLang="en-US" sz="90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159" name="직선 화살표 연결선 158"/>
          <p:cNvCxnSpPr>
            <a:stCxn id="150" idx="0"/>
            <a:endCxn id="127" idx="2"/>
          </p:cNvCxnSpPr>
          <p:nvPr/>
        </p:nvCxnSpPr>
        <p:spPr>
          <a:xfrm flipH="1" flipV="1">
            <a:off x="6267317" y="2647122"/>
            <a:ext cx="283" cy="15326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직사각형 159"/>
          <p:cNvSpPr/>
          <p:nvPr/>
        </p:nvSpPr>
        <p:spPr bwMode="auto">
          <a:xfrm>
            <a:off x="6594830" y="450912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26.</a:t>
            </a:r>
            <a:r>
              <a:rPr lang="ko-KR" altLang="en-US" sz="900" kern="0" dirty="0" smtClean="0">
                <a:solidFill>
                  <a:prstClr val="black"/>
                </a:solidFill>
              </a:rPr>
              <a:t>재산여부요청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61" name="꺾인 연결선 160"/>
          <p:cNvCxnSpPr>
            <a:stCxn id="127" idx="3"/>
            <a:endCxn id="166" idx="0"/>
          </p:cNvCxnSpPr>
          <p:nvPr/>
        </p:nvCxnSpPr>
        <p:spPr>
          <a:xfrm>
            <a:off x="6645529" y="2486737"/>
            <a:ext cx="326504" cy="1168366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꺾인 연결선 161"/>
          <p:cNvCxnSpPr>
            <a:stCxn id="166" idx="3"/>
            <a:endCxn id="185" idx="3"/>
          </p:cNvCxnSpPr>
          <p:nvPr/>
        </p:nvCxnSpPr>
        <p:spPr>
          <a:xfrm flipV="1">
            <a:off x="7351950" y="3839452"/>
            <a:ext cx="364332" cy="2768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3" name="그룹 162"/>
          <p:cNvGrpSpPr/>
          <p:nvPr/>
        </p:nvGrpSpPr>
        <p:grpSpPr>
          <a:xfrm>
            <a:off x="6592116" y="3582069"/>
            <a:ext cx="883242" cy="646244"/>
            <a:chOff x="6535512" y="3582069"/>
            <a:chExt cx="883242" cy="646244"/>
          </a:xfrm>
        </p:grpSpPr>
        <p:sp>
          <p:nvSpPr>
            <p:cNvPr id="166" name="순서도: 판단 165"/>
            <p:cNvSpPr>
              <a:spLocks noChangeArrowheads="1"/>
            </p:cNvSpPr>
            <p:nvPr/>
          </p:nvSpPr>
          <p:spPr bwMode="auto">
            <a:xfrm>
              <a:off x="6535512" y="3655103"/>
              <a:ext cx="759834" cy="374233"/>
            </a:xfrm>
            <a:prstGeom prst="flowChartDecisi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pc="-100" dirty="0" err="1">
                  <a:solidFill>
                    <a:prstClr val="black"/>
                  </a:solidFill>
                </a:rPr>
                <a:t>전액반</a:t>
              </a:r>
              <a:endParaRPr lang="en-US" altLang="ko-KR" sz="900" kern="0" spc="-100" dirty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pc="-100" dirty="0" err="1">
                  <a:solidFill>
                    <a:prstClr val="black"/>
                  </a:solidFill>
                </a:rPr>
                <a:t>환여부</a:t>
              </a:r>
              <a:endParaRPr lang="ko-KR" altLang="en-US" sz="900" kern="0" spc="-100" dirty="0">
                <a:solidFill>
                  <a:prstClr val="black"/>
                </a:solidFill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7166726" y="3582069"/>
              <a:ext cx="25202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prstClr val="black"/>
                  </a:solidFill>
                </a:rPr>
                <a:t>Y</a:t>
              </a:r>
              <a:endParaRPr lang="ko-KR" altLang="en-US" sz="900" dirty="0">
                <a:solidFill>
                  <a:prstClr val="black"/>
                </a:solidFill>
              </a:endParaRP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6667279" y="3997481"/>
              <a:ext cx="36583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prstClr val="black"/>
                  </a:solidFill>
                </a:rPr>
                <a:t>N</a:t>
              </a:r>
              <a:endParaRPr lang="ko-KR" altLang="en-US" sz="90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172" name="꺾인 연결선 171"/>
          <p:cNvCxnSpPr>
            <a:stCxn id="166" idx="2"/>
            <a:endCxn id="160" idx="0"/>
          </p:cNvCxnSpPr>
          <p:nvPr/>
        </p:nvCxnSpPr>
        <p:spPr>
          <a:xfrm rot="16200000" flipH="1">
            <a:off x="6732646" y="4268723"/>
            <a:ext cx="479784" cy="1010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/>
          <p:cNvSpPr/>
          <p:nvPr/>
        </p:nvSpPr>
        <p:spPr bwMode="auto">
          <a:xfrm>
            <a:off x="7204186" y="528310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prstClr val="black"/>
                </a:solidFill>
              </a:rPr>
              <a:t>27.</a:t>
            </a:r>
            <a:r>
              <a:rPr lang="ko-KR" altLang="en-US" sz="900" kern="0" dirty="0" smtClean="0">
                <a:solidFill>
                  <a:prstClr val="black"/>
                </a:solidFill>
              </a:rPr>
              <a:t>재산조회회신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74" name="Shape 266"/>
          <p:cNvCxnSpPr>
            <a:cxnSpLocks noChangeShapeType="1"/>
            <a:stCxn id="173" idx="3"/>
            <a:endCxn id="177" idx="2"/>
          </p:cNvCxnSpPr>
          <p:nvPr/>
        </p:nvCxnSpPr>
        <p:spPr bwMode="auto">
          <a:xfrm>
            <a:off x="7960611" y="5443488"/>
            <a:ext cx="336573" cy="21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7" name="타원 176"/>
          <p:cNvSpPr/>
          <p:nvPr/>
        </p:nvSpPr>
        <p:spPr>
          <a:xfrm>
            <a:off x="8297184" y="535278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178" name="타원 177"/>
          <p:cNvSpPr/>
          <p:nvPr/>
        </p:nvSpPr>
        <p:spPr>
          <a:xfrm>
            <a:off x="6411682" y="335699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3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180" name="꺾인 연결선 179"/>
          <p:cNvCxnSpPr>
            <a:stCxn id="160" idx="2"/>
            <a:endCxn id="173" idx="1"/>
          </p:cNvCxnSpPr>
          <p:nvPr/>
        </p:nvCxnSpPr>
        <p:spPr>
          <a:xfrm rot="16200000" flipH="1">
            <a:off x="6781816" y="5021117"/>
            <a:ext cx="613597" cy="23114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꺾인 연결선 180"/>
          <p:cNvCxnSpPr>
            <a:stCxn id="178" idx="2"/>
            <a:endCxn id="150" idx="2"/>
          </p:cNvCxnSpPr>
          <p:nvPr/>
        </p:nvCxnSpPr>
        <p:spPr>
          <a:xfrm rot="10800000">
            <a:off x="6267600" y="3121160"/>
            <a:ext cx="144082" cy="32871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716282" y="3634299"/>
            <a:ext cx="756425" cy="410305"/>
            <a:chOff x="7437719" y="3634299"/>
            <a:chExt cx="756425" cy="410305"/>
          </a:xfrm>
        </p:grpSpPr>
        <p:sp>
          <p:nvSpPr>
            <p:cNvPr id="185" name="육각형 184"/>
            <p:cNvSpPr/>
            <p:nvPr/>
          </p:nvSpPr>
          <p:spPr bwMode="auto">
            <a:xfrm>
              <a:off x="7437719" y="3634299"/>
              <a:ext cx="756425" cy="410305"/>
            </a:xfrm>
            <a:prstGeom prst="hexagon">
              <a:avLst/>
            </a:prstGeom>
            <a:solidFill>
              <a:srgbClr val="FFFFFF"/>
            </a:solidFill>
            <a:ln w="9525" cap="flat" cmpd="sng" algn="ctr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>
              <a:noAutofit/>
            </a:bodyPr>
            <a:lstStyle/>
            <a:p>
              <a:pPr algn="ctr" latinLnBrk="0">
                <a:defRPr/>
              </a:pPr>
              <a:r>
                <a:rPr lang="ko-KR" altLang="en-US" sz="900" kern="0" spc="-100" dirty="0">
                  <a:solidFill>
                    <a:prstClr val="black"/>
                  </a:solidFill>
                </a:rPr>
                <a:t>환수절차 종료</a:t>
              </a:r>
              <a:endParaRPr lang="en-US" altLang="ko-KR" sz="900" kern="0" spc="-100" dirty="0">
                <a:solidFill>
                  <a:prstClr val="black"/>
                </a:solidFill>
              </a:endParaRPr>
            </a:p>
          </p:txBody>
        </p:sp>
        <p:sp>
          <p:nvSpPr>
            <p:cNvPr id="186" name="TextBox 185"/>
            <p:cNvSpPr txBox="1"/>
            <p:nvPr/>
          </p:nvSpPr>
          <p:spPr>
            <a:xfrm>
              <a:off x="7689304" y="3767027"/>
              <a:ext cx="252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ko-KR" altLang="en-US" sz="1200" dirty="0" err="1" smtClean="0"/>
            </a:p>
          </p:txBody>
        </p:sp>
      </p:grpSp>
      <p:sp>
        <p:nvSpPr>
          <p:cNvPr id="187" name="타원 186"/>
          <p:cNvSpPr/>
          <p:nvPr/>
        </p:nvSpPr>
        <p:spPr>
          <a:xfrm>
            <a:off x="7401272" y="310684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 smtClean="0">
                <a:solidFill>
                  <a:prstClr val="white"/>
                </a:solidFill>
                <a:latin typeface="돋움"/>
                <a:ea typeface="돋움"/>
              </a:rPr>
              <a:t>4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188" name="꺾인 연결선 187"/>
          <p:cNvCxnSpPr>
            <a:stCxn id="187" idx="4"/>
            <a:endCxn id="185" idx="3"/>
          </p:cNvCxnSpPr>
          <p:nvPr/>
        </p:nvCxnSpPr>
        <p:spPr>
          <a:xfrm rot="16200000" flipH="1">
            <a:off x="7335932" y="3459102"/>
            <a:ext cx="546846" cy="21385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꺾인 연결선 5"/>
          <p:cNvCxnSpPr>
            <a:stCxn id="118" idx="3"/>
            <a:endCxn id="125" idx="1"/>
          </p:cNvCxnSpPr>
          <p:nvPr/>
        </p:nvCxnSpPr>
        <p:spPr>
          <a:xfrm flipV="1">
            <a:off x="2864901" y="3731840"/>
            <a:ext cx="215891" cy="2278659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꺾인 연결선 20"/>
          <p:cNvCxnSpPr>
            <a:stCxn id="120" idx="3"/>
            <a:endCxn id="153" idx="1"/>
          </p:cNvCxnSpPr>
          <p:nvPr/>
        </p:nvCxnSpPr>
        <p:spPr>
          <a:xfrm flipV="1">
            <a:off x="5115255" y="4466020"/>
            <a:ext cx="224944" cy="1554440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1" name="타원 310"/>
          <p:cNvSpPr/>
          <p:nvPr/>
        </p:nvSpPr>
        <p:spPr>
          <a:xfrm>
            <a:off x="3357847" y="424833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 smtClean="0">
                <a:solidFill>
                  <a:prstClr val="white"/>
                </a:solidFill>
                <a:latin typeface="돋움"/>
                <a:ea typeface="돋움"/>
              </a:rPr>
              <a:t>4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312" name="타원 311"/>
          <p:cNvSpPr/>
          <p:nvPr/>
        </p:nvSpPr>
        <p:spPr>
          <a:xfrm>
            <a:off x="5615198" y="4883968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 smtClean="0">
                <a:solidFill>
                  <a:prstClr val="white"/>
                </a:solidFill>
                <a:latin typeface="돋움"/>
                <a:ea typeface="돋움"/>
              </a:rPr>
              <a:t>4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313" name="직선 화살표 연결선 312"/>
          <p:cNvCxnSpPr>
            <a:stCxn id="125" idx="2"/>
            <a:endCxn id="311" idx="0"/>
          </p:cNvCxnSpPr>
          <p:nvPr/>
        </p:nvCxnSpPr>
        <p:spPr>
          <a:xfrm flipH="1">
            <a:off x="3459004" y="3918956"/>
            <a:ext cx="1705" cy="32938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직선 화살표 연결선 313"/>
          <p:cNvCxnSpPr>
            <a:stCxn id="153" idx="2"/>
            <a:endCxn id="312" idx="0"/>
          </p:cNvCxnSpPr>
          <p:nvPr/>
        </p:nvCxnSpPr>
        <p:spPr>
          <a:xfrm flipH="1">
            <a:off x="5716355" y="4653136"/>
            <a:ext cx="3761" cy="23083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71816155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반납관리 업무는 대부분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</a:t>
            </a:r>
            <a:r>
              <a:rPr lang="en-US" altLang="ko-KR" sz="1600" dirty="0"/>
              <a:t>, </a:t>
            </a:r>
            <a:r>
              <a:rPr lang="ko-KR" altLang="en-US" sz="1600" dirty="0"/>
              <a:t>단기적으로는 반환현황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처분현황 등 정보관리와 소통을 위한 기능을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3.4.2.7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반납관리 </a:t>
            </a:r>
            <a:r>
              <a:rPr lang="en-US" altLang="ko-KR" dirty="0" smtClean="0"/>
              <a:t>(3/6)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:a16="http://schemas.microsoft.com/office/drawing/2014/main" xmlns="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9091874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사후관리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4.3.1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반납관리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4453290"/>
              </p:ext>
            </p:extLst>
          </p:nvPr>
        </p:nvGraphicFramePr>
        <p:xfrm>
          <a:off x="344488" y="1893217"/>
          <a:ext cx="9181020" cy="4416103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24491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4.3.1.2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강제징수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8903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448272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4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자산관리공사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576064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제외</a:t>
                      </a: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79" name="타원 78"/>
          <p:cNvSpPr/>
          <p:nvPr/>
        </p:nvSpPr>
        <p:spPr>
          <a:xfrm>
            <a:off x="1406448" y="2904637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2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93" name="직사각형 92"/>
          <p:cNvSpPr/>
          <p:nvPr/>
        </p:nvSpPr>
        <p:spPr bwMode="auto">
          <a:xfrm>
            <a:off x="1856656" y="2837131"/>
            <a:ext cx="756425" cy="320771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/>
              <a:t>28.</a:t>
            </a:r>
            <a:r>
              <a:rPr lang="ko-KR" altLang="en-US" sz="900" kern="0" spc="-100" dirty="0" smtClean="0"/>
              <a:t>재산조회결과</a:t>
            </a:r>
            <a:endParaRPr lang="en-US" altLang="ko-KR" sz="900" kern="0" spc="-100" dirty="0"/>
          </a:p>
          <a:p>
            <a:pPr algn="ctr" latinLnBrk="0"/>
            <a:r>
              <a:rPr lang="ko-KR" altLang="en-US" sz="900" kern="0" spc="-100" dirty="0" smtClean="0"/>
              <a:t>접수</a:t>
            </a:r>
            <a:endParaRPr lang="en-US" altLang="ko-KR" sz="900" kern="0" spc="-100" dirty="0"/>
          </a:p>
        </p:txBody>
      </p:sp>
      <p:sp>
        <p:nvSpPr>
          <p:cNvPr id="94" name="직사각형 93"/>
          <p:cNvSpPr/>
          <p:nvPr/>
        </p:nvSpPr>
        <p:spPr bwMode="auto">
          <a:xfrm>
            <a:off x="4016896" y="2316141"/>
            <a:ext cx="756425" cy="320771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30.</a:t>
            </a:r>
            <a:r>
              <a:rPr lang="ko-KR" altLang="en-US" sz="900" kern="0" spc="-100" dirty="0" smtClean="0">
                <a:solidFill>
                  <a:prstClr val="black"/>
                </a:solidFill>
              </a:rPr>
              <a:t>재산압류 시행 통지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95" name="직사각형 94"/>
          <p:cNvSpPr/>
          <p:nvPr/>
        </p:nvSpPr>
        <p:spPr bwMode="auto">
          <a:xfrm>
            <a:off x="5508169" y="5868566"/>
            <a:ext cx="756425" cy="320771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34.</a:t>
            </a:r>
            <a:r>
              <a:rPr lang="ko-KR" altLang="en-US" sz="900" kern="0" spc="-100" dirty="0" smtClean="0">
                <a:solidFill>
                  <a:prstClr val="black"/>
                </a:solidFill>
              </a:rPr>
              <a:t>압류통지 접수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96" name="직사각형 95"/>
          <p:cNvSpPr/>
          <p:nvPr/>
        </p:nvSpPr>
        <p:spPr bwMode="auto">
          <a:xfrm>
            <a:off x="2954948" y="2837131"/>
            <a:ext cx="756425" cy="320771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29.</a:t>
            </a:r>
            <a:r>
              <a:rPr lang="ko-KR" altLang="en-US" sz="900" kern="0" spc="-100" dirty="0" smtClean="0">
                <a:solidFill>
                  <a:prstClr val="black"/>
                </a:solidFill>
              </a:rPr>
              <a:t>재산압류 요청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99" name="직사각형 98"/>
          <p:cNvSpPr/>
          <p:nvPr/>
        </p:nvSpPr>
        <p:spPr bwMode="auto">
          <a:xfrm>
            <a:off x="5900362" y="4138208"/>
            <a:ext cx="756425" cy="320771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/>
              <a:t>32.</a:t>
            </a:r>
            <a:r>
              <a:rPr lang="ko-KR" altLang="en-US" sz="900" kern="0" spc="-100" dirty="0" smtClean="0"/>
              <a:t>공매요청</a:t>
            </a:r>
            <a:endParaRPr lang="en-US" altLang="ko-KR" sz="900" kern="0" spc="-100" dirty="0"/>
          </a:p>
        </p:txBody>
      </p:sp>
      <p:sp>
        <p:nvSpPr>
          <p:cNvPr id="103" name="육각형 102"/>
          <p:cNvSpPr/>
          <p:nvPr/>
        </p:nvSpPr>
        <p:spPr bwMode="auto">
          <a:xfrm>
            <a:off x="8117077" y="3229160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환수절차 종료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06" name="직사각형 105"/>
          <p:cNvSpPr/>
          <p:nvPr/>
        </p:nvSpPr>
        <p:spPr bwMode="auto">
          <a:xfrm>
            <a:off x="6515190" y="5276936"/>
            <a:ext cx="756425" cy="320771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/>
              <a:t>35.</a:t>
            </a:r>
            <a:r>
              <a:rPr lang="ko-KR" altLang="en-US" sz="900" kern="0" spc="-100" dirty="0" smtClean="0"/>
              <a:t>공매처분</a:t>
            </a:r>
            <a:endParaRPr lang="en-US" altLang="ko-KR" sz="900" kern="0" spc="-100" dirty="0"/>
          </a:p>
        </p:txBody>
      </p:sp>
      <p:sp>
        <p:nvSpPr>
          <p:cNvPr id="117" name="순서도: 판단 116"/>
          <p:cNvSpPr>
            <a:spLocks noChangeArrowheads="1"/>
          </p:cNvSpPr>
          <p:nvPr/>
        </p:nvSpPr>
        <p:spPr bwMode="auto">
          <a:xfrm>
            <a:off x="6360878" y="3249048"/>
            <a:ext cx="1057157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pc="-100" dirty="0" err="1">
                <a:solidFill>
                  <a:prstClr val="black"/>
                </a:solidFill>
              </a:rPr>
              <a:t>환수금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 반환완료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913979" y="3085329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7323465" y="3429000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6790273" y="2391215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3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33" name="Shape 266"/>
          <p:cNvCxnSpPr>
            <a:cxnSpLocks noChangeShapeType="1"/>
            <a:stCxn id="79" idx="6"/>
            <a:endCxn id="93" idx="1"/>
          </p:cNvCxnSpPr>
          <p:nvPr/>
        </p:nvCxnSpPr>
        <p:spPr bwMode="auto">
          <a:xfrm>
            <a:off x="1608762" y="2997517"/>
            <a:ext cx="24789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" name="Shape 266"/>
          <p:cNvCxnSpPr>
            <a:cxnSpLocks noChangeShapeType="1"/>
            <a:stCxn id="93" idx="3"/>
            <a:endCxn id="96" idx="1"/>
          </p:cNvCxnSpPr>
          <p:nvPr/>
        </p:nvCxnSpPr>
        <p:spPr bwMode="auto">
          <a:xfrm>
            <a:off x="2613081" y="2997517"/>
            <a:ext cx="341867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" name="Shape 266"/>
          <p:cNvCxnSpPr>
            <a:cxnSpLocks noChangeShapeType="1"/>
            <a:stCxn id="96" idx="3"/>
            <a:endCxn id="94" idx="2"/>
          </p:cNvCxnSpPr>
          <p:nvPr/>
        </p:nvCxnSpPr>
        <p:spPr bwMode="auto">
          <a:xfrm flipV="1">
            <a:off x="3711373" y="2636912"/>
            <a:ext cx="683736" cy="3606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" name="Shape 266"/>
          <p:cNvCxnSpPr>
            <a:cxnSpLocks noChangeShapeType="1"/>
            <a:stCxn id="95" idx="3"/>
            <a:endCxn id="106" idx="2"/>
          </p:cNvCxnSpPr>
          <p:nvPr/>
        </p:nvCxnSpPr>
        <p:spPr bwMode="auto">
          <a:xfrm flipV="1">
            <a:off x="6264594" y="5597707"/>
            <a:ext cx="628809" cy="43124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5" name="Shape 266"/>
          <p:cNvCxnSpPr>
            <a:cxnSpLocks noChangeShapeType="1"/>
            <a:stCxn id="117" idx="0"/>
            <a:endCxn id="129" idx="4"/>
          </p:cNvCxnSpPr>
          <p:nvPr/>
        </p:nvCxnSpPr>
        <p:spPr bwMode="auto">
          <a:xfrm flipV="1">
            <a:off x="6889457" y="2576975"/>
            <a:ext cx="1973" cy="67207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6" name="Shape 266"/>
          <p:cNvCxnSpPr>
            <a:cxnSpLocks noChangeShapeType="1"/>
            <a:stCxn id="106" idx="0"/>
            <a:endCxn id="117" idx="2"/>
          </p:cNvCxnSpPr>
          <p:nvPr/>
        </p:nvCxnSpPr>
        <p:spPr bwMode="auto">
          <a:xfrm flipH="1" flipV="1">
            <a:off x="6889457" y="3623281"/>
            <a:ext cx="3946" cy="16536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" name="Shape 266"/>
          <p:cNvCxnSpPr>
            <a:cxnSpLocks noChangeShapeType="1"/>
            <a:stCxn id="99" idx="2"/>
            <a:endCxn id="106" idx="1"/>
          </p:cNvCxnSpPr>
          <p:nvPr/>
        </p:nvCxnSpPr>
        <p:spPr bwMode="auto">
          <a:xfrm rot="16200000" flipH="1">
            <a:off x="5907711" y="4829842"/>
            <a:ext cx="978343" cy="23661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" name="Shape 266"/>
          <p:cNvCxnSpPr>
            <a:cxnSpLocks noChangeShapeType="1"/>
            <a:stCxn id="92" idx="3"/>
            <a:endCxn id="99" idx="1"/>
          </p:cNvCxnSpPr>
          <p:nvPr/>
        </p:nvCxnSpPr>
        <p:spPr bwMode="auto">
          <a:xfrm>
            <a:off x="5421393" y="3604127"/>
            <a:ext cx="478969" cy="69446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4" name="Shape 266"/>
          <p:cNvCxnSpPr>
            <a:cxnSpLocks noChangeShapeType="1"/>
            <a:stCxn id="94" idx="3"/>
            <a:endCxn id="92" idx="0"/>
          </p:cNvCxnSpPr>
          <p:nvPr/>
        </p:nvCxnSpPr>
        <p:spPr bwMode="auto">
          <a:xfrm>
            <a:off x="4773321" y="2476527"/>
            <a:ext cx="269860" cy="80845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" name="직사각형 91"/>
          <p:cNvSpPr/>
          <p:nvPr/>
        </p:nvSpPr>
        <p:spPr bwMode="auto">
          <a:xfrm>
            <a:off x="4664968" y="3284984"/>
            <a:ext cx="756425" cy="638286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31.</a:t>
            </a:r>
            <a:r>
              <a:rPr lang="ko-KR" altLang="en-US" sz="900" kern="0" spc="-100" dirty="0" err="1" smtClean="0">
                <a:solidFill>
                  <a:prstClr val="black"/>
                </a:solidFill>
              </a:rPr>
              <a:t>문체부</a:t>
            </a:r>
            <a:endParaRPr lang="en-US" altLang="ko-KR" sz="900" kern="0" spc="-100" dirty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pc="-100" dirty="0" smtClean="0">
                <a:solidFill>
                  <a:prstClr val="black"/>
                </a:solidFill>
              </a:rPr>
              <a:t>재산압류</a:t>
            </a:r>
            <a:endParaRPr lang="en-US" altLang="ko-KR" sz="900" kern="0" spc="-100" dirty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pc="-100" dirty="0" smtClean="0">
                <a:solidFill>
                  <a:prstClr val="black"/>
                </a:solidFill>
              </a:rPr>
              <a:t>시행 통지</a:t>
            </a:r>
            <a:endParaRPr lang="en-US" altLang="ko-KR" sz="900" kern="0" spc="-100" dirty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pc="-100" dirty="0" smtClean="0">
                <a:solidFill>
                  <a:prstClr val="black"/>
                </a:solidFill>
              </a:rPr>
              <a:t>접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수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02" name="Shape 266"/>
          <p:cNvCxnSpPr>
            <a:cxnSpLocks noChangeShapeType="1"/>
            <a:stCxn id="114" idx="2"/>
            <a:endCxn id="95" idx="1"/>
          </p:cNvCxnSpPr>
          <p:nvPr/>
        </p:nvCxnSpPr>
        <p:spPr bwMode="auto">
          <a:xfrm rot="16200000" flipH="1">
            <a:off x="4646639" y="5167421"/>
            <a:ext cx="1258073" cy="46498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0" name="Shape 266"/>
          <p:cNvCxnSpPr>
            <a:cxnSpLocks noChangeShapeType="1"/>
            <a:stCxn id="117" idx="3"/>
            <a:endCxn id="103" idx="3"/>
          </p:cNvCxnSpPr>
          <p:nvPr/>
        </p:nvCxnSpPr>
        <p:spPr bwMode="auto">
          <a:xfrm flipV="1">
            <a:off x="7418035" y="3434313"/>
            <a:ext cx="699042" cy="185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4" name="직사각형 113"/>
          <p:cNvSpPr/>
          <p:nvPr/>
        </p:nvSpPr>
        <p:spPr bwMode="auto">
          <a:xfrm>
            <a:off x="4664968" y="4450108"/>
            <a:ext cx="756425" cy="320771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33.</a:t>
            </a:r>
            <a:r>
              <a:rPr lang="ko-KR" altLang="en-US" sz="900" kern="0" spc="-100" dirty="0" smtClean="0">
                <a:solidFill>
                  <a:prstClr val="black"/>
                </a:solidFill>
              </a:rPr>
              <a:t>압류통지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16" name="Shape 266"/>
          <p:cNvCxnSpPr>
            <a:cxnSpLocks noChangeShapeType="1"/>
            <a:stCxn id="92" idx="2"/>
            <a:endCxn id="114" idx="0"/>
          </p:cNvCxnSpPr>
          <p:nvPr/>
        </p:nvCxnSpPr>
        <p:spPr bwMode="auto">
          <a:xfrm>
            <a:off x="5043181" y="3923270"/>
            <a:ext cx="0" cy="5268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779724820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반납관리 업무는 대부분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</a:t>
            </a:r>
            <a:r>
              <a:rPr lang="en-US" altLang="ko-KR" sz="1600" dirty="0"/>
              <a:t>, </a:t>
            </a:r>
            <a:r>
              <a:rPr lang="ko-KR" altLang="en-US" sz="1600" dirty="0"/>
              <a:t>단기적으로는 반환현황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처분현황 등 정보관리와 소통을 위한 기능을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3.4.2.7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반납관리 </a:t>
            </a:r>
            <a:r>
              <a:rPr lang="en-US" altLang="ko-KR" dirty="0" smtClean="0"/>
              <a:t>(4/6)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4542861"/>
              </p:ext>
            </p:extLst>
          </p:nvPr>
        </p:nvGraphicFramePr>
        <p:xfrm>
          <a:off x="344488" y="1604186"/>
          <a:ext cx="9180513" cy="4733898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079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71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확정금액 및 이자확인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부적정집행 확정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교부취소결정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반납수입금발생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반납금액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확정된 내용과 정산 후 지원금액이 확정된 경우 기금환수팀 환수담당자는 기금정산팀에서 공람한 확정된 금액과 이자를 확인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확정지원금액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확정이자액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반납요구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기금환수팀 환수담당자는 반납액과 문화체육관광부로부터 제제부가금이 통보된 경우 제재부가금에 대한 반납요구와 이의신청관련 정보를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반납요구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+mn-ea"/>
                        </a:rPr>
                        <a:t>반납요구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반납액 혹은 제재부가금 대상 지원사업자는 반납요구를 접수하여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반납요구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반납요구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지원사업자는 반납요구를 검토하여 불복여부 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반납요구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반납요구 검토 결과 불복하기로 결정한 지원사업자는 문화체육관광부 담당자에게 이의를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행정소송요청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지원사업자가 제기한 이의신청에 대하여 문화체육관광부에 지원사업자를 대상으로 행정소송을 진행할 것을 요청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행정소송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공단에서 요청한 행정소송요청에 따라 행정소송을 진행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지원사업자로부터 접수된 이의신청을 검토하여 조정여부를 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이의신청에 대한 검토결과 조정된 경우 조정된 결과를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조정되지 않은 경우 조정되지 않은 사유를 대상자와 공단 담당자에게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 동록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 환수담당자는 이의신청에 대한 검토결과 조정된 경우 조정된 결과를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조정되지 않은 경우 조정되지 않은 사유를 등록 후 대상자에게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지원사업자는 공단 홈페이지를 통해 검토결과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검토결과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499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반납액 반환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지원사업자가 반납요구를 검토한 결과 반납하기로 결정한 경우 반납액을 반납처리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반납금액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 일시정보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117364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반납관리 업무는 대부분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</a:t>
            </a:r>
            <a:r>
              <a:rPr lang="en-US" altLang="ko-KR" sz="1600" dirty="0"/>
              <a:t>, </a:t>
            </a:r>
            <a:r>
              <a:rPr lang="ko-KR" altLang="en-US" sz="1600" dirty="0"/>
              <a:t>단기적으로는 반환현황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처분현황 등 정보관리와 소통을 위한 기능을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3.4.2.7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반납관리 </a:t>
            </a:r>
            <a:r>
              <a:rPr lang="en-US" altLang="ko-KR" dirty="0" smtClean="0"/>
              <a:t>(5/6)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2176388"/>
              </p:ext>
            </p:extLst>
          </p:nvPr>
        </p:nvGraphicFramePr>
        <p:xfrm>
          <a:off x="344488" y="1604186"/>
          <a:ext cx="9180513" cy="4777146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316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342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반납액 미반환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지원사업자나 반납요구를 검토한 결과 반납하지 않기로 결정한 경우 반납액을 반환기일까지 미반환 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342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반납여부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 환수담당자는 반납기한이 도래하면 반납여부를 확인하여 반납된 경우 환수절차를 종료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반납여부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342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반환현황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 환수담당자는 반환여부 확인 결과를 기금지원시스템에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반환금액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b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반환일시정보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342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교부취소요청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독촉전화 이후 반환여부를 확인한 결과 반환되지 않은 경우 문화체육관광부 담당자에게 해당사실을 알리고 교부취소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교부취소요청정보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342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교부취소처리 및 반환명령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문화체육관광부 담당자는 교부취소 요청에 대해 검토하여 지원사업자에 대한 교부취소처리와 반환명령을 지시하고 공단에도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교부취소결과정보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반환접수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문체부에서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발행한 반환요청서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반환요청서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반환여부확인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환수담당자는 반환여부를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반환여부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독촉장발부요청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환수담당자는 반환 기한도래 후 반환여부를 확인하여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미반환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문체부에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독촉장 발부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독촉장발부요청정보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독촉장 발부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환수담당자로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부터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독촉장 발부 요청이 오면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독촉장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발부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우편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eMail, SMS)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신규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독촉장 접수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문체부에서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발행한 독촉장을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독촉장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반환여부확인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환수담당자는 반환여부를 확인하여 반환된 경우 환수절차를 종료하고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미반환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문체부에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금융재산압류처분을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반환여부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</a:t>
                      </a:r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나라도움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금융재산압류처분 요청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환수담당자는 독촉장 기한도래 후 반환여부를 확인하여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미반환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문체부에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금융재산압류처분을 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금융재산압류 처분요청정보</a:t>
                      </a:r>
                      <a:endParaRPr lang="ko-KR" altLang="en-US" sz="1000" b="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금융재산압류 처분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전액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반환이 안되어 있을 경우 재산압류처분 절차 진행을 </a:t>
                      </a:r>
                      <a:r>
                        <a:rPr lang="ko-KR" altLang="en-US" sz="1000" baseline="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기금환수팀에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요청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금융재산압류 처분정보</a:t>
                      </a:r>
                      <a:endParaRPr lang="ko-KR" altLang="en-US" sz="1000" b="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8771498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반납관리 업무는 대부분 </a:t>
            </a:r>
            <a:r>
              <a:rPr lang="en-US" altLang="ko-KR" sz="1600" dirty="0"/>
              <a:t>e</a:t>
            </a:r>
            <a:r>
              <a:rPr lang="ko-KR" altLang="en-US" sz="1600" dirty="0"/>
              <a:t>나라도움에서 처리되고 있어 향후 지원사업자의 정산반납현황의 연계가 필요하며</a:t>
            </a:r>
            <a:r>
              <a:rPr lang="en-US" altLang="ko-KR" sz="1600" dirty="0"/>
              <a:t>, </a:t>
            </a:r>
            <a:r>
              <a:rPr lang="ko-KR" altLang="en-US" sz="1600" dirty="0"/>
              <a:t>단기적으로는 반환현황</a:t>
            </a:r>
            <a:r>
              <a:rPr lang="en-US" altLang="ko-KR" sz="1600" dirty="0"/>
              <a:t>, </a:t>
            </a:r>
            <a:r>
              <a:rPr lang="ko-KR" altLang="en-US" sz="1600" dirty="0"/>
              <a:t>처분현황 등 정보관리와 소통을 위한 기능을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3.4.2.7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반납관리 </a:t>
            </a:r>
            <a:r>
              <a:rPr lang="en-US" altLang="ko-KR" dirty="0" smtClean="0"/>
              <a:t>(6/6)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084153"/>
              </p:ext>
            </p:extLst>
          </p:nvPr>
        </p:nvGraphicFramePr>
        <p:xfrm>
          <a:off x="344488" y="1604186"/>
          <a:ext cx="9180513" cy="3774339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4316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재산여부요청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문체부에서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금융재산압류처분 회신이 오면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기금환수팀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환수담당자는 자산관리공사에 재산여부 요청 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재산여부요청 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재산조회회신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자산관리공사는 재산여부 요청에 따라 재산조회결과를 회신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재산조회결과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재산조회결과 접수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기금환수담당이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환수대상 사업자에 대하여 자산관리공사에 요청한 재산조회결과를 자산관리공사로부터 통지를 받아 접수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재산조회결과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 요청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기금환수담당이 재산조회결과를 기준으로 환수대상 사업자에 대한 재산압류를 </a:t>
                      </a:r>
                      <a:r>
                        <a:rPr lang="ko-KR" altLang="en-US" sz="1000" spc="-100" baseline="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문체부에</a:t>
                      </a:r>
                      <a:r>
                        <a:rPr lang="ko-KR" altLang="en-US" sz="1000" spc="-1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요청함</a:t>
                      </a:r>
                      <a:endParaRPr lang="ko-KR" altLang="en-US" sz="1000" spc="-1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재산압류요청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 시행 통지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문체부가 </a:t>
                      </a:r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요청받은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재산환수 요청에 대해 검토 후 재산압류 시행을 기금환수담당에게 통지함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재산압류시행통지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재산압류 시행 통지 접수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spc="-1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기금환수담당이 환수대상 사업자에 대한 문체부의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 시행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통지를 접수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재산압류시행통지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공매요청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기금환수담당이 환수대상 사업자의 재산에 대한 공매를 자산관리공사에 요청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공매요청내역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압류통지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기금환수담당이 환수대상 사업자의 재산에 대한 압류내역을 환수대상 사업자에게 통지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재산압류내역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압류통지 접수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환수대상 사업자가 기금환수담당의 재산압류 통지를 접수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재산압류내역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  <a:tr h="334269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공매처분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자산관리공사가 기금환수담당의 공매요청에 의해 환수대상 사업자의 재산을 공매처분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공매처분결과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+mn-ea"/>
                          <a:ea typeface="+mn-ea"/>
                        </a:rPr>
                        <a:t>현행유지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3741390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성과평가 업무는 성과계획정보를 기반으로 성과보고서</a:t>
            </a:r>
            <a:r>
              <a:rPr lang="en-US" altLang="ko-KR" sz="1600" dirty="0"/>
              <a:t>,</a:t>
            </a:r>
            <a:r>
              <a:rPr lang="ko-KR" altLang="en-US" sz="1600" dirty="0"/>
              <a:t> 점수환산처리</a:t>
            </a:r>
            <a:r>
              <a:rPr lang="en-US" altLang="ko-KR" sz="1600" dirty="0"/>
              <a:t>, </a:t>
            </a:r>
            <a:r>
              <a:rPr lang="ko-KR" altLang="en-US" sz="1600" dirty="0"/>
              <a:t>위원회평가 등을 정보화하고 지원사업자와의 소통을 다양한 채널을 통해 서비스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3.4.2.8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성과평가 </a:t>
            </a:r>
            <a:r>
              <a:rPr lang="en-US" altLang="ko-KR" dirty="0"/>
              <a:t>(1/5)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644366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사후관리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4.3.2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성과평가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9" name="표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193768"/>
              </p:ext>
            </p:extLst>
          </p:nvPr>
        </p:nvGraphicFramePr>
        <p:xfrm>
          <a:off x="344488" y="1939825"/>
          <a:ext cx="9181020" cy="4416103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5202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805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25658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98833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24036">
                <a:tc gridSpan="3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4.3.2.1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위원회평가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4.3.2.2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환류관리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8903">
                <a:tc gridSpan="3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8046">
                <a:tc rowSpan="3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평가위원회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전체위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804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실무소위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4660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기금평가팀평가담당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792088">
                <a:tc gridSpan="3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32048">
                <a:tc gridSpan="3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대한체육회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140" name="Shape 266"/>
          <p:cNvCxnSpPr>
            <a:cxnSpLocks noChangeShapeType="1"/>
            <a:stCxn id="148" idx="3"/>
            <a:endCxn id="195" idx="0"/>
          </p:cNvCxnSpPr>
          <p:nvPr/>
        </p:nvCxnSpPr>
        <p:spPr bwMode="auto">
          <a:xfrm>
            <a:off x="5457056" y="2907343"/>
            <a:ext cx="525326" cy="91560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1" name="Shape 266"/>
          <p:cNvCxnSpPr>
            <a:cxnSpLocks noChangeShapeType="1"/>
            <a:stCxn id="142" idx="3"/>
            <a:endCxn id="149" idx="1"/>
          </p:cNvCxnSpPr>
          <p:nvPr/>
        </p:nvCxnSpPr>
        <p:spPr bwMode="auto">
          <a:xfrm flipV="1">
            <a:off x="5280786" y="5336875"/>
            <a:ext cx="180111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2" name="순서도: 판단 141"/>
          <p:cNvSpPr>
            <a:spLocks noChangeArrowheads="1"/>
          </p:cNvSpPr>
          <p:nvPr/>
        </p:nvSpPr>
        <p:spPr bwMode="auto">
          <a:xfrm>
            <a:off x="4520952" y="5149759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불복 여부</a:t>
            </a:r>
          </a:p>
        </p:txBody>
      </p:sp>
      <p:cxnSp>
        <p:nvCxnSpPr>
          <p:cNvPr id="143" name="Shape 266"/>
          <p:cNvCxnSpPr>
            <a:cxnSpLocks noChangeShapeType="1"/>
            <a:stCxn id="142" idx="0"/>
            <a:endCxn id="202" idx="4"/>
          </p:cNvCxnSpPr>
          <p:nvPr/>
        </p:nvCxnSpPr>
        <p:spPr bwMode="auto">
          <a:xfrm flipH="1" flipV="1">
            <a:off x="4896317" y="3052227"/>
            <a:ext cx="4552" cy="209753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4" name="Shape 266"/>
          <p:cNvCxnSpPr>
            <a:cxnSpLocks noChangeShapeType="1"/>
            <a:stCxn id="146" idx="3"/>
            <a:endCxn id="142" idx="2"/>
          </p:cNvCxnSpPr>
          <p:nvPr/>
        </p:nvCxnSpPr>
        <p:spPr bwMode="auto">
          <a:xfrm flipV="1">
            <a:off x="4719053" y="5523992"/>
            <a:ext cx="181816" cy="20023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5" name="직사각형 144"/>
          <p:cNvSpPr/>
          <p:nvPr/>
        </p:nvSpPr>
        <p:spPr bwMode="auto">
          <a:xfrm>
            <a:off x="3404770" y="3192678"/>
            <a:ext cx="756425" cy="288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7. </a:t>
            </a:r>
            <a:r>
              <a:rPr lang="ko-KR" altLang="en-US" sz="900" kern="0" dirty="0">
                <a:solidFill>
                  <a:srgbClr val="508CD2"/>
                </a:solidFill>
              </a:rPr>
              <a:t>지표평가</a:t>
            </a:r>
            <a:endParaRPr lang="en-US" altLang="ko-KR" sz="900" kern="0" dirty="0">
              <a:solidFill>
                <a:srgbClr val="508CD2"/>
              </a:solidFill>
            </a:endParaRPr>
          </a:p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(</a:t>
            </a:r>
            <a:r>
              <a:rPr lang="ko-KR" altLang="en-US" sz="900" kern="0" dirty="0">
                <a:solidFill>
                  <a:srgbClr val="508CD2"/>
                </a:solidFill>
              </a:rPr>
              <a:t>계량</a:t>
            </a:r>
            <a:r>
              <a:rPr lang="en-US" altLang="ko-KR" sz="900" kern="0" dirty="0">
                <a:solidFill>
                  <a:srgbClr val="508CD2"/>
                </a:solidFill>
              </a:rPr>
              <a:t>/</a:t>
            </a:r>
            <a:r>
              <a:rPr lang="ko-KR" altLang="en-US" sz="900" kern="0" dirty="0">
                <a:solidFill>
                  <a:srgbClr val="508CD2"/>
                </a:solidFill>
              </a:rPr>
              <a:t>비계량</a:t>
            </a:r>
            <a:r>
              <a:rPr lang="en-US" altLang="ko-KR" sz="900" kern="0" dirty="0">
                <a:solidFill>
                  <a:srgbClr val="508CD2"/>
                </a:solidFill>
              </a:rPr>
              <a:t>)</a:t>
            </a:r>
          </a:p>
        </p:txBody>
      </p:sp>
      <p:sp>
        <p:nvSpPr>
          <p:cNvPr id="146" name="직사각형 145"/>
          <p:cNvSpPr/>
          <p:nvPr/>
        </p:nvSpPr>
        <p:spPr bwMode="auto">
          <a:xfrm>
            <a:off x="3962628" y="55638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8. </a:t>
            </a:r>
            <a:r>
              <a:rPr lang="ko-KR" altLang="en-US" sz="900" kern="0" dirty="0">
                <a:solidFill>
                  <a:srgbClr val="508CD2"/>
                </a:solidFill>
              </a:rPr>
              <a:t>평가결과 확인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47" name="Shape 266"/>
          <p:cNvCxnSpPr>
            <a:cxnSpLocks noChangeShapeType="1"/>
            <a:stCxn id="145" idx="3"/>
            <a:endCxn id="146" idx="0"/>
          </p:cNvCxnSpPr>
          <p:nvPr/>
        </p:nvCxnSpPr>
        <p:spPr bwMode="auto">
          <a:xfrm>
            <a:off x="4161195" y="3336678"/>
            <a:ext cx="179646" cy="222716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8" name="직사각형 147"/>
          <p:cNvSpPr/>
          <p:nvPr/>
        </p:nvSpPr>
        <p:spPr bwMode="auto">
          <a:xfrm>
            <a:off x="4700631" y="274695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11. </a:t>
            </a:r>
            <a:r>
              <a:rPr lang="ko-KR" altLang="en-US" sz="900" kern="0" dirty="0">
                <a:solidFill>
                  <a:srgbClr val="508CD2"/>
                </a:solidFill>
              </a:rPr>
              <a:t>평가결과 조정 및 확정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49" name="직사각형 148"/>
          <p:cNvSpPr/>
          <p:nvPr/>
        </p:nvSpPr>
        <p:spPr bwMode="auto">
          <a:xfrm>
            <a:off x="5460897" y="517648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9 </a:t>
            </a:r>
            <a:r>
              <a:rPr lang="ko-KR" altLang="en-US" sz="900" kern="0" dirty="0">
                <a:solidFill>
                  <a:srgbClr val="508CD2"/>
                </a:solidFill>
              </a:rPr>
              <a:t>이의신청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50" name="직사각형 149"/>
          <p:cNvSpPr/>
          <p:nvPr/>
        </p:nvSpPr>
        <p:spPr bwMode="auto">
          <a:xfrm>
            <a:off x="4953000" y="444771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10. </a:t>
            </a:r>
            <a:r>
              <a:rPr lang="ko-KR" altLang="en-US" sz="900" kern="0" dirty="0">
                <a:solidFill>
                  <a:srgbClr val="508CD2"/>
                </a:solidFill>
              </a:rPr>
              <a:t>이의신청 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51" name="Shape 266"/>
          <p:cNvCxnSpPr>
            <a:cxnSpLocks noChangeShapeType="1"/>
            <a:stCxn id="150" idx="0"/>
            <a:endCxn id="203" idx="4"/>
          </p:cNvCxnSpPr>
          <p:nvPr/>
        </p:nvCxnSpPr>
        <p:spPr bwMode="auto">
          <a:xfrm flipH="1" flipV="1">
            <a:off x="5327169" y="3059838"/>
            <a:ext cx="4044" cy="13878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2" name="직사각형 151"/>
          <p:cNvSpPr/>
          <p:nvPr/>
        </p:nvSpPr>
        <p:spPr bwMode="auto">
          <a:xfrm>
            <a:off x="5784533" y="383564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12. </a:t>
            </a:r>
            <a:r>
              <a:rPr lang="ko-KR" altLang="en-US" sz="900" kern="0" dirty="0">
                <a:solidFill>
                  <a:srgbClr val="508CD2"/>
                </a:solidFill>
              </a:rPr>
              <a:t>평가결과 제출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53" name="육각형 152"/>
          <p:cNvSpPr/>
          <p:nvPr/>
        </p:nvSpPr>
        <p:spPr bwMode="auto">
          <a:xfrm>
            <a:off x="5781092" y="2325921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평가결과 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54" name="직사각형 153"/>
          <p:cNvSpPr/>
          <p:nvPr/>
        </p:nvSpPr>
        <p:spPr bwMode="auto">
          <a:xfrm>
            <a:off x="6560091" y="41956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13 </a:t>
            </a:r>
            <a:r>
              <a:rPr lang="ko-KR" altLang="en-US" sz="900" kern="0" dirty="0">
                <a:solidFill>
                  <a:srgbClr val="508CD2"/>
                </a:solidFill>
              </a:rPr>
              <a:t>평가결과 공개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55" name="육각형 154"/>
          <p:cNvSpPr/>
          <p:nvPr/>
        </p:nvSpPr>
        <p:spPr bwMode="auto">
          <a:xfrm>
            <a:off x="8695810" y="3763640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환류관리 완료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56" name="직사각형 155"/>
          <p:cNvSpPr/>
          <p:nvPr/>
        </p:nvSpPr>
        <p:spPr bwMode="auto">
          <a:xfrm>
            <a:off x="6560091" y="474887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14. </a:t>
            </a:r>
            <a:r>
              <a:rPr lang="ko-KR" altLang="en-US" sz="900" kern="0" dirty="0">
                <a:solidFill>
                  <a:srgbClr val="508CD2"/>
                </a:solidFill>
              </a:rPr>
              <a:t>결과통보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57" name="Shape 266"/>
          <p:cNvCxnSpPr>
            <a:cxnSpLocks noChangeShapeType="1"/>
            <a:stCxn id="152" idx="2"/>
            <a:endCxn id="154" idx="1"/>
          </p:cNvCxnSpPr>
          <p:nvPr/>
        </p:nvCxnSpPr>
        <p:spPr bwMode="auto">
          <a:xfrm rot="16200000" flipH="1">
            <a:off x="6261591" y="4057573"/>
            <a:ext cx="199655" cy="39734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8" name="Shape 266"/>
          <p:cNvCxnSpPr>
            <a:cxnSpLocks noChangeShapeType="1"/>
            <a:stCxn id="154" idx="2"/>
            <a:endCxn id="156" idx="0"/>
          </p:cNvCxnSpPr>
          <p:nvPr/>
        </p:nvCxnSpPr>
        <p:spPr bwMode="auto">
          <a:xfrm>
            <a:off x="6938304" y="4516459"/>
            <a:ext cx="0" cy="2324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9" name="Shape 266"/>
          <p:cNvCxnSpPr>
            <a:cxnSpLocks noChangeShapeType="1"/>
            <a:stCxn id="152" idx="0"/>
          </p:cNvCxnSpPr>
          <p:nvPr/>
        </p:nvCxnSpPr>
        <p:spPr bwMode="auto">
          <a:xfrm flipV="1">
            <a:off x="6162746" y="2762327"/>
            <a:ext cx="8765" cy="107332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0" name="Shape 266"/>
          <p:cNvCxnSpPr>
            <a:cxnSpLocks noChangeShapeType="1"/>
            <a:stCxn id="156" idx="2"/>
            <a:endCxn id="183" idx="0"/>
          </p:cNvCxnSpPr>
          <p:nvPr/>
        </p:nvCxnSpPr>
        <p:spPr bwMode="auto">
          <a:xfrm>
            <a:off x="6938304" y="5069650"/>
            <a:ext cx="0" cy="42411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1" name="원통 68"/>
          <p:cNvSpPr>
            <a:spLocks noChangeAspect="1" noChangeArrowheads="1"/>
          </p:cNvSpPr>
          <p:nvPr/>
        </p:nvSpPr>
        <p:spPr bwMode="auto">
          <a:xfrm>
            <a:off x="6368090" y="3079564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</a:rPr>
              <a:t>평가결과정보</a:t>
            </a:r>
            <a:endParaRPr kumimoji="1" lang="ko-KR" altLang="en-US" sz="900" b="1" kern="0" spc="-190" dirty="0">
              <a:solidFill>
                <a:prstClr val="black"/>
              </a:solidFill>
            </a:endParaRPr>
          </a:p>
        </p:txBody>
      </p:sp>
      <p:cxnSp>
        <p:nvCxnSpPr>
          <p:cNvPr id="162" name="Shape 266"/>
          <p:cNvCxnSpPr>
            <a:cxnSpLocks noChangeShapeType="1"/>
            <a:stCxn id="152" idx="3"/>
            <a:endCxn id="161" idx="3"/>
          </p:cNvCxnSpPr>
          <p:nvPr/>
        </p:nvCxnSpPr>
        <p:spPr bwMode="auto">
          <a:xfrm flipV="1">
            <a:off x="6540958" y="3505378"/>
            <a:ext cx="208073" cy="49065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3" name="타원 162"/>
          <p:cNvSpPr/>
          <p:nvPr/>
        </p:nvSpPr>
        <p:spPr>
          <a:xfrm>
            <a:off x="5252994" y="2821813"/>
            <a:ext cx="378213" cy="31398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64" name="TextBox 163"/>
          <p:cNvSpPr txBox="1"/>
          <p:nvPr/>
        </p:nvSpPr>
        <p:spPr>
          <a:xfrm>
            <a:off x="5185333" y="510391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4906509" y="4914821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66" name="Shape 266"/>
          <p:cNvCxnSpPr>
            <a:cxnSpLocks noChangeShapeType="1"/>
            <a:stCxn id="149" idx="0"/>
            <a:endCxn id="150" idx="3"/>
          </p:cNvCxnSpPr>
          <p:nvPr/>
        </p:nvCxnSpPr>
        <p:spPr bwMode="auto">
          <a:xfrm rot="16200000" flipV="1">
            <a:off x="5490075" y="4827453"/>
            <a:ext cx="568387" cy="12968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7" name="직사각형 166"/>
          <p:cNvSpPr/>
          <p:nvPr/>
        </p:nvSpPr>
        <p:spPr bwMode="auto">
          <a:xfrm>
            <a:off x="1321011" y="45782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1. </a:t>
            </a:r>
            <a:r>
              <a:rPr lang="ko-KR" altLang="en-US" sz="900" kern="0" dirty="0">
                <a:solidFill>
                  <a:srgbClr val="508CD2"/>
                </a:solidFill>
              </a:rPr>
              <a:t>성과보고서 작성요청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68" name="직사각형 167"/>
          <p:cNvSpPr/>
          <p:nvPr/>
        </p:nvSpPr>
        <p:spPr bwMode="auto">
          <a:xfrm>
            <a:off x="1321011" y="555269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2.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성과보고서 작성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69" name="직사각형 168"/>
          <p:cNvSpPr/>
          <p:nvPr/>
        </p:nvSpPr>
        <p:spPr bwMode="auto">
          <a:xfrm>
            <a:off x="2184567" y="555268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3. </a:t>
            </a:r>
            <a:r>
              <a:rPr lang="ko-KR" altLang="en-US" sz="900" kern="0" dirty="0">
                <a:solidFill>
                  <a:srgbClr val="508CD2"/>
                </a:solidFill>
              </a:rPr>
              <a:t>성과보고서 제출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70" name="직사각형 169"/>
          <p:cNvSpPr/>
          <p:nvPr/>
        </p:nvSpPr>
        <p:spPr bwMode="auto">
          <a:xfrm>
            <a:off x="2184567" y="45782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4. </a:t>
            </a:r>
            <a:r>
              <a:rPr lang="ko-KR" altLang="en-US" sz="900" kern="0" dirty="0">
                <a:solidFill>
                  <a:srgbClr val="508CD2"/>
                </a:solidFill>
              </a:rPr>
              <a:t>성과보고서 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71" name="순서도: 판단 170"/>
          <p:cNvSpPr>
            <a:spLocks noChangeArrowheads="1"/>
          </p:cNvSpPr>
          <p:nvPr/>
        </p:nvSpPr>
        <p:spPr bwMode="auto">
          <a:xfrm>
            <a:off x="2688623" y="5009587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보완 여부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3050081" y="537894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3363025" y="4998368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74" name="직사각형 173"/>
          <p:cNvSpPr/>
          <p:nvPr/>
        </p:nvSpPr>
        <p:spPr bwMode="auto">
          <a:xfrm>
            <a:off x="3404770" y="4578276"/>
            <a:ext cx="756425" cy="27004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5 </a:t>
            </a:r>
            <a:r>
              <a:rPr lang="ko-KR" altLang="en-US" sz="900" kern="0" dirty="0">
                <a:solidFill>
                  <a:srgbClr val="508CD2"/>
                </a:solidFill>
              </a:rPr>
              <a:t>성과보고서 확정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75" name="Shape 266"/>
          <p:cNvCxnSpPr>
            <a:cxnSpLocks noChangeShapeType="1"/>
            <a:stCxn id="167" idx="2"/>
            <a:endCxn id="168" idx="0"/>
          </p:cNvCxnSpPr>
          <p:nvPr/>
        </p:nvCxnSpPr>
        <p:spPr bwMode="auto">
          <a:xfrm>
            <a:off x="1699224" y="4899047"/>
            <a:ext cx="0" cy="65364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6" name="Shape 266"/>
          <p:cNvCxnSpPr>
            <a:cxnSpLocks noChangeShapeType="1"/>
            <a:stCxn id="168" idx="3"/>
            <a:endCxn id="169" idx="1"/>
          </p:cNvCxnSpPr>
          <p:nvPr/>
        </p:nvCxnSpPr>
        <p:spPr bwMode="auto">
          <a:xfrm flipV="1">
            <a:off x="2077436" y="5713075"/>
            <a:ext cx="107131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7" name="Shape 266"/>
          <p:cNvCxnSpPr>
            <a:cxnSpLocks noChangeShapeType="1"/>
            <a:stCxn id="169" idx="0"/>
            <a:endCxn id="170" idx="2"/>
          </p:cNvCxnSpPr>
          <p:nvPr/>
        </p:nvCxnSpPr>
        <p:spPr bwMode="auto">
          <a:xfrm flipV="1">
            <a:off x="2562780" y="4899047"/>
            <a:ext cx="0" cy="65364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8" name="Shape 266"/>
          <p:cNvCxnSpPr>
            <a:cxnSpLocks noChangeShapeType="1"/>
            <a:stCxn id="170" idx="3"/>
            <a:endCxn id="171" idx="0"/>
          </p:cNvCxnSpPr>
          <p:nvPr/>
        </p:nvCxnSpPr>
        <p:spPr bwMode="auto">
          <a:xfrm>
            <a:off x="2940992" y="4738662"/>
            <a:ext cx="127548" cy="270925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9" name="Shape 266"/>
          <p:cNvCxnSpPr>
            <a:cxnSpLocks noChangeShapeType="1"/>
            <a:stCxn id="171" idx="2"/>
            <a:endCxn id="169" idx="3"/>
          </p:cNvCxnSpPr>
          <p:nvPr/>
        </p:nvCxnSpPr>
        <p:spPr bwMode="auto">
          <a:xfrm rot="5400000">
            <a:off x="2840139" y="5484673"/>
            <a:ext cx="329255" cy="12754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0" name="Shape 266"/>
          <p:cNvCxnSpPr>
            <a:cxnSpLocks noChangeShapeType="1"/>
            <a:stCxn id="171" idx="3"/>
            <a:endCxn id="174" idx="2"/>
          </p:cNvCxnSpPr>
          <p:nvPr/>
        </p:nvCxnSpPr>
        <p:spPr bwMode="auto">
          <a:xfrm flipV="1">
            <a:off x="3448457" y="4848325"/>
            <a:ext cx="334526" cy="34837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1" name="순서도: 종속 처리 180"/>
          <p:cNvSpPr>
            <a:spLocks noChangeAspect="1" noChangeArrowheads="1"/>
          </p:cNvSpPr>
          <p:nvPr/>
        </p:nvSpPr>
        <p:spPr bwMode="auto">
          <a:xfrm>
            <a:off x="2781997" y="2727724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4.2.3.3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시민모니터링</a:t>
            </a:r>
          </a:p>
        </p:txBody>
      </p:sp>
      <p:cxnSp>
        <p:nvCxnSpPr>
          <p:cNvPr id="182" name="Shape 266"/>
          <p:cNvCxnSpPr>
            <a:cxnSpLocks noChangeShapeType="1"/>
            <a:stCxn id="181" idx="3"/>
            <a:endCxn id="145" idx="0"/>
          </p:cNvCxnSpPr>
          <p:nvPr/>
        </p:nvCxnSpPr>
        <p:spPr bwMode="auto">
          <a:xfrm>
            <a:off x="3542836" y="2925571"/>
            <a:ext cx="240147" cy="26710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3" name="직사각형 182"/>
          <p:cNvSpPr/>
          <p:nvPr/>
        </p:nvSpPr>
        <p:spPr bwMode="auto">
          <a:xfrm>
            <a:off x="6560091" y="5493762"/>
            <a:ext cx="756425" cy="79122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15. </a:t>
            </a:r>
            <a:r>
              <a:rPr lang="ko-KR" altLang="en-US" sz="900" kern="0" dirty="0">
                <a:solidFill>
                  <a:srgbClr val="508CD2"/>
                </a:solidFill>
              </a:rPr>
              <a:t>통보접수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84" name="육각형 183"/>
          <p:cNvSpPr/>
          <p:nvPr/>
        </p:nvSpPr>
        <p:spPr bwMode="auto">
          <a:xfrm>
            <a:off x="1321010" y="3935152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평가시기 도래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85" name="Shape 266"/>
          <p:cNvCxnSpPr>
            <a:cxnSpLocks noChangeShapeType="1"/>
            <a:endCxn id="167" idx="0"/>
          </p:cNvCxnSpPr>
          <p:nvPr/>
        </p:nvCxnSpPr>
        <p:spPr bwMode="auto">
          <a:xfrm>
            <a:off x="1699222" y="4327061"/>
            <a:ext cx="2" cy="25121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6" name="순서도: 종속 처리 185"/>
          <p:cNvSpPr>
            <a:spLocks noChangeAspect="1" noChangeArrowheads="1"/>
          </p:cNvSpPr>
          <p:nvPr/>
        </p:nvSpPr>
        <p:spPr bwMode="auto">
          <a:xfrm>
            <a:off x="1316596" y="3192744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현장평가</a:t>
            </a:r>
            <a:endParaRPr kumimoji="1"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87" name="Shape 266"/>
          <p:cNvCxnSpPr>
            <a:cxnSpLocks noChangeShapeType="1"/>
            <a:stCxn id="186" idx="2"/>
          </p:cNvCxnSpPr>
          <p:nvPr/>
        </p:nvCxnSpPr>
        <p:spPr bwMode="auto">
          <a:xfrm flipH="1">
            <a:off x="1697015" y="3588437"/>
            <a:ext cx="1" cy="3274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8" name="순서도: 종속 처리 187"/>
          <p:cNvSpPr>
            <a:spLocks noChangeAspect="1" noChangeArrowheads="1"/>
          </p:cNvSpPr>
          <p:nvPr/>
        </p:nvSpPr>
        <p:spPr bwMode="auto">
          <a:xfrm>
            <a:off x="2144688" y="3196126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4.2.3.4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고객만족도조사</a:t>
            </a:r>
            <a:endParaRPr kumimoji="1"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89" name="Shape 266"/>
          <p:cNvCxnSpPr>
            <a:cxnSpLocks noChangeShapeType="1"/>
            <a:stCxn id="188" idx="2"/>
            <a:endCxn id="184" idx="0"/>
          </p:cNvCxnSpPr>
          <p:nvPr/>
        </p:nvCxnSpPr>
        <p:spPr bwMode="auto">
          <a:xfrm rot="5400000">
            <a:off x="2027029" y="3642226"/>
            <a:ext cx="548486" cy="44767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0" name="Shape 266"/>
          <p:cNvCxnSpPr>
            <a:cxnSpLocks noChangeShapeType="1"/>
            <a:stCxn id="191" idx="2"/>
            <a:endCxn id="156" idx="3"/>
          </p:cNvCxnSpPr>
          <p:nvPr/>
        </p:nvCxnSpPr>
        <p:spPr bwMode="auto">
          <a:xfrm rot="5400000">
            <a:off x="6789722" y="4002051"/>
            <a:ext cx="1434008" cy="38042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1" name="순서도: 종속 처리 190"/>
          <p:cNvSpPr>
            <a:spLocks noChangeAspect="1" noChangeArrowheads="1"/>
          </p:cNvSpPr>
          <p:nvPr/>
        </p:nvSpPr>
        <p:spPr bwMode="auto">
          <a:xfrm>
            <a:off x="7316516" y="3079564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4.2.3.3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시민모니터링</a:t>
            </a:r>
            <a:endParaRPr kumimoji="1"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92" name="직사각형 191"/>
          <p:cNvSpPr/>
          <p:nvPr/>
        </p:nvSpPr>
        <p:spPr bwMode="auto">
          <a:xfrm>
            <a:off x="7768059" y="54918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16. </a:t>
            </a:r>
            <a:r>
              <a:rPr lang="ko-KR" altLang="en-US" sz="900" kern="0" dirty="0">
                <a:solidFill>
                  <a:srgbClr val="508CD2"/>
                </a:solidFill>
              </a:rPr>
              <a:t>개선방안 제출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93" name="직사각형 192"/>
          <p:cNvSpPr/>
          <p:nvPr/>
        </p:nvSpPr>
        <p:spPr bwMode="auto">
          <a:xfrm>
            <a:off x="7768059" y="444771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17. </a:t>
            </a:r>
            <a:r>
              <a:rPr lang="ko-KR" altLang="en-US" sz="900" kern="0" dirty="0">
                <a:solidFill>
                  <a:srgbClr val="508CD2"/>
                </a:solidFill>
              </a:rPr>
              <a:t>개선방안 접수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94" name="Shape 266"/>
          <p:cNvCxnSpPr>
            <a:cxnSpLocks noChangeShapeType="1"/>
            <a:stCxn id="192" idx="0"/>
            <a:endCxn id="193" idx="2"/>
          </p:cNvCxnSpPr>
          <p:nvPr/>
        </p:nvCxnSpPr>
        <p:spPr bwMode="auto">
          <a:xfrm flipV="1">
            <a:off x="8146272" y="4768487"/>
            <a:ext cx="0" cy="7233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5" name="타원 194"/>
          <p:cNvSpPr/>
          <p:nvPr/>
        </p:nvSpPr>
        <p:spPr>
          <a:xfrm>
            <a:off x="5853100" y="3822948"/>
            <a:ext cx="258564" cy="321832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6" name="Shape 266"/>
          <p:cNvCxnSpPr>
            <a:cxnSpLocks noChangeShapeType="1"/>
            <a:stCxn id="193" idx="0"/>
            <a:endCxn id="155" idx="3"/>
          </p:cNvCxnSpPr>
          <p:nvPr/>
        </p:nvCxnSpPr>
        <p:spPr bwMode="auto">
          <a:xfrm rot="5400000" flipH="1" flipV="1">
            <a:off x="8181580" y="3933486"/>
            <a:ext cx="478923" cy="54953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7" name="Shape 266"/>
          <p:cNvCxnSpPr>
            <a:cxnSpLocks noChangeShapeType="1"/>
            <a:stCxn id="206" idx="6"/>
            <a:endCxn id="199" idx="1"/>
          </p:cNvCxnSpPr>
          <p:nvPr/>
        </p:nvCxnSpPr>
        <p:spPr bwMode="auto">
          <a:xfrm flipV="1">
            <a:off x="7316516" y="6124597"/>
            <a:ext cx="1379294" cy="380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8" name="Shape 266"/>
          <p:cNvCxnSpPr>
            <a:cxnSpLocks noChangeShapeType="1"/>
            <a:stCxn id="199" idx="0"/>
          </p:cNvCxnSpPr>
          <p:nvPr/>
        </p:nvCxnSpPr>
        <p:spPr bwMode="auto">
          <a:xfrm flipV="1">
            <a:off x="9074023" y="4173277"/>
            <a:ext cx="1" cy="179093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9" name="직사각형 198"/>
          <p:cNvSpPr/>
          <p:nvPr/>
        </p:nvSpPr>
        <p:spPr bwMode="auto">
          <a:xfrm>
            <a:off x="8695810" y="596421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18.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생활체육공모 사업선정시반영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200" name="Shape 266"/>
          <p:cNvCxnSpPr>
            <a:cxnSpLocks noChangeShapeType="1"/>
            <a:stCxn id="205" idx="6"/>
            <a:endCxn id="192" idx="1"/>
          </p:cNvCxnSpPr>
          <p:nvPr/>
        </p:nvCxnSpPr>
        <p:spPr bwMode="auto">
          <a:xfrm flipV="1">
            <a:off x="7316516" y="5652218"/>
            <a:ext cx="451543" cy="296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" name="Shape 266"/>
          <p:cNvCxnSpPr>
            <a:cxnSpLocks noChangeShapeType="1"/>
            <a:stCxn id="174" idx="0"/>
            <a:endCxn id="208" idx="2"/>
          </p:cNvCxnSpPr>
          <p:nvPr/>
        </p:nvCxnSpPr>
        <p:spPr bwMode="auto">
          <a:xfrm flipH="1" flipV="1">
            <a:off x="3782982" y="4291443"/>
            <a:ext cx="1" cy="28683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2" name="타원 201"/>
          <p:cNvSpPr/>
          <p:nvPr/>
        </p:nvSpPr>
        <p:spPr>
          <a:xfrm>
            <a:off x="4805409" y="2854381"/>
            <a:ext cx="181816" cy="19784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203" name="타원 202"/>
          <p:cNvSpPr/>
          <p:nvPr/>
        </p:nvSpPr>
        <p:spPr>
          <a:xfrm>
            <a:off x="5236261" y="2861992"/>
            <a:ext cx="181816" cy="19784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204" name="Shape 266"/>
          <p:cNvCxnSpPr>
            <a:cxnSpLocks noChangeShapeType="1"/>
            <a:stCxn id="208" idx="0"/>
            <a:endCxn id="145" idx="2"/>
          </p:cNvCxnSpPr>
          <p:nvPr/>
        </p:nvCxnSpPr>
        <p:spPr bwMode="auto">
          <a:xfrm flipV="1">
            <a:off x="3782982" y="3480678"/>
            <a:ext cx="1" cy="54071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" name="타원 204"/>
          <p:cNvSpPr/>
          <p:nvPr/>
        </p:nvSpPr>
        <p:spPr>
          <a:xfrm>
            <a:off x="7129972" y="5574991"/>
            <a:ext cx="186544" cy="160386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206" name="타원 205"/>
          <p:cNvSpPr/>
          <p:nvPr/>
        </p:nvSpPr>
        <p:spPr>
          <a:xfrm>
            <a:off x="7129972" y="6031179"/>
            <a:ext cx="186544" cy="194435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207" name="순서도: 종속 처리 206"/>
          <p:cNvSpPr>
            <a:spLocks noChangeAspect="1" noChangeArrowheads="1"/>
          </p:cNvSpPr>
          <p:nvPr/>
        </p:nvSpPr>
        <p:spPr bwMode="auto">
          <a:xfrm>
            <a:off x="7316516" y="2685004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현장평가</a:t>
            </a:r>
            <a:endParaRPr kumimoji="1"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208" name="직사각형 207"/>
          <p:cNvSpPr/>
          <p:nvPr/>
        </p:nvSpPr>
        <p:spPr bwMode="auto">
          <a:xfrm>
            <a:off x="3404769" y="4021394"/>
            <a:ext cx="756425" cy="27004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6. </a:t>
            </a:r>
            <a:r>
              <a:rPr lang="ko-KR" altLang="en-US" sz="900" kern="0" dirty="0">
                <a:solidFill>
                  <a:srgbClr val="508CD2"/>
                </a:solidFill>
              </a:rPr>
              <a:t>점수환산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grpSp>
        <p:nvGrpSpPr>
          <p:cNvPr id="5" name="그룹 100"/>
          <p:cNvGrpSpPr>
            <a:grpSpLocks noChangeAspect="1"/>
          </p:cNvGrpSpPr>
          <p:nvPr/>
        </p:nvGrpSpPr>
        <p:grpSpPr bwMode="auto">
          <a:xfrm flipH="1">
            <a:off x="4820683" y="2421877"/>
            <a:ext cx="852397" cy="314346"/>
            <a:chOff x="3886757" y="4959376"/>
            <a:chExt cx="679135" cy="459579"/>
          </a:xfrm>
        </p:grpSpPr>
        <p:sp>
          <p:nvSpPr>
            <p:cNvPr id="78" name="Line 175"/>
            <p:cNvSpPr>
              <a:spLocks noChangeShapeType="1"/>
            </p:cNvSpPr>
            <p:nvPr/>
          </p:nvSpPr>
          <p:spPr bwMode="auto">
            <a:xfrm flipH="1" flipV="1">
              <a:off x="4461979" y="5249776"/>
              <a:ext cx="103913" cy="16917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endParaRPr kumimoji="1" lang="ko-KR" altLang="en-US" sz="1200" b="1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6" name="그룹 56"/>
            <p:cNvGrpSpPr>
              <a:grpSpLocks/>
            </p:cNvGrpSpPr>
            <p:nvPr/>
          </p:nvGrpSpPr>
          <p:grpSpPr bwMode="auto">
            <a:xfrm flipH="1">
              <a:off x="3886757" y="4959376"/>
              <a:ext cx="575219" cy="290400"/>
              <a:chOff x="2709981" y="2916928"/>
              <a:chExt cx="977688" cy="623347"/>
            </a:xfrm>
          </p:grpSpPr>
          <p:sp>
            <p:nvSpPr>
              <p:cNvPr id="80" name="Freeform 176"/>
              <p:cNvSpPr>
                <a:spLocks noChangeArrowheads="1"/>
              </p:cNvSpPr>
              <p:nvPr/>
            </p:nvSpPr>
            <p:spPr bwMode="auto">
              <a:xfrm>
                <a:off x="2709981" y="2916928"/>
                <a:ext cx="323960" cy="623347"/>
              </a:xfrm>
              <a:custGeom>
                <a:avLst/>
                <a:gdLst>
                  <a:gd name="T0" fmla="*/ 2147483647 w 56"/>
                  <a:gd name="T1" fmla="*/ 0 h 210"/>
                  <a:gd name="T2" fmla="*/ 0 w 56"/>
                  <a:gd name="T3" fmla="*/ 0 h 210"/>
                  <a:gd name="T4" fmla="*/ 0 w 56"/>
                  <a:gd name="T5" fmla="*/ 2147483647 h 210"/>
                  <a:gd name="T6" fmla="*/ 2147483647 w 56"/>
                  <a:gd name="T7" fmla="*/ 2147483647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210"/>
                  <a:gd name="T14" fmla="*/ 56 w 5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210">
                    <a:moveTo>
                      <a:pt x="56" y="0"/>
                    </a:moveTo>
                    <a:lnTo>
                      <a:pt x="0" y="0"/>
                    </a:lnTo>
                    <a:lnTo>
                      <a:pt x="0" y="210"/>
                    </a:lnTo>
                    <a:lnTo>
                      <a:pt x="56" y="210"/>
                    </a:lnTo>
                  </a:path>
                </a:pathLst>
              </a:custGeom>
              <a:noFill/>
              <a:ln w="144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kumimoji="1" lang="ko-KR" altLang="en-US" sz="1200" b="1" u="sng" kern="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81" name="Rectangle 179"/>
              <p:cNvSpPr>
                <a:spLocks noChangeArrowheads="1"/>
              </p:cNvSpPr>
              <p:nvPr/>
            </p:nvSpPr>
            <p:spPr bwMode="auto">
              <a:xfrm>
                <a:off x="2814240" y="3049534"/>
                <a:ext cx="873429" cy="3863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/>
              <a:p>
                <a:pPr marL="33338" indent="-33338">
                  <a:buFont typeface="Wingdings" panose="05000000000000000000" pitchFamily="2" charset="2"/>
                  <a:buChar char="§"/>
                </a:pPr>
                <a:r>
                  <a:rPr lang="ko-KR" altLang="en-US" sz="800" dirty="0"/>
                  <a:t>회의록 작성</a:t>
                </a:r>
              </a:p>
            </p:txBody>
          </p:sp>
        </p:grpSp>
      </p:grpSp>
      <p:grpSp>
        <p:nvGrpSpPr>
          <p:cNvPr id="7" name="그룹 100"/>
          <p:cNvGrpSpPr>
            <a:grpSpLocks noChangeAspect="1"/>
          </p:cNvGrpSpPr>
          <p:nvPr/>
        </p:nvGrpSpPr>
        <p:grpSpPr bwMode="auto">
          <a:xfrm flipH="1">
            <a:off x="3659060" y="2609813"/>
            <a:ext cx="852397" cy="314346"/>
            <a:chOff x="3886757" y="4959376"/>
            <a:chExt cx="679135" cy="459579"/>
          </a:xfrm>
        </p:grpSpPr>
        <p:sp>
          <p:nvSpPr>
            <p:cNvPr id="86" name="Line 175"/>
            <p:cNvSpPr>
              <a:spLocks noChangeShapeType="1"/>
            </p:cNvSpPr>
            <p:nvPr/>
          </p:nvSpPr>
          <p:spPr bwMode="auto">
            <a:xfrm flipH="1" flipV="1">
              <a:off x="4461979" y="5249776"/>
              <a:ext cx="103913" cy="16917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endParaRPr kumimoji="1" lang="ko-KR" altLang="en-US" sz="1200" b="1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8" name="그룹 56"/>
            <p:cNvGrpSpPr>
              <a:grpSpLocks/>
            </p:cNvGrpSpPr>
            <p:nvPr/>
          </p:nvGrpSpPr>
          <p:grpSpPr bwMode="auto">
            <a:xfrm flipH="1">
              <a:off x="3886757" y="4959376"/>
              <a:ext cx="575219" cy="290400"/>
              <a:chOff x="2709981" y="2916928"/>
              <a:chExt cx="977688" cy="623347"/>
            </a:xfrm>
          </p:grpSpPr>
          <p:sp>
            <p:nvSpPr>
              <p:cNvPr id="88" name="Freeform 176"/>
              <p:cNvSpPr>
                <a:spLocks noChangeArrowheads="1"/>
              </p:cNvSpPr>
              <p:nvPr/>
            </p:nvSpPr>
            <p:spPr bwMode="auto">
              <a:xfrm>
                <a:off x="2709981" y="2916928"/>
                <a:ext cx="323960" cy="623347"/>
              </a:xfrm>
              <a:custGeom>
                <a:avLst/>
                <a:gdLst>
                  <a:gd name="T0" fmla="*/ 2147483647 w 56"/>
                  <a:gd name="T1" fmla="*/ 0 h 210"/>
                  <a:gd name="T2" fmla="*/ 0 w 56"/>
                  <a:gd name="T3" fmla="*/ 0 h 210"/>
                  <a:gd name="T4" fmla="*/ 0 w 56"/>
                  <a:gd name="T5" fmla="*/ 2147483647 h 210"/>
                  <a:gd name="T6" fmla="*/ 2147483647 w 56"/>
                  <a:gd name="T7" fmla="*/ 2147483647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210"/>
                  <a:gd name="T14" fmla="*/ 56 w 5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210">
                    <a:moveTo>
                      <a:pt x="56" y="0"/>
                    </a:moveTo>
                    <a:lnTo>
                      <a:pt x="0" y="0"/>
                    </a:lnTo>
                    <a:lnTo>
                      <a:pt x="0" y="210"/>
                    </a:lnTo>
                    <a:lnTo>
                      <a:pt x="56" y="210"/>
                    </a:lnTo>
                  </a:path>
                </a:pathLst>
              </a:custGeom>
              <a:noFill/>
              <a:ln w="144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kumimoji="1" lang="ko-KR" altLang="en-US" sz="1200" b="1" u="sng" kern="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89" name="Rectangle 179"/>
              <p:cNvSpPr>
                <a:spLocks noChangeArrowheads="1"/>
              </p:cNvSpPr>
              <p:nvPr/>
            </p:nvSpPr>
            <p:spPr bwMode="auto">
              <a:xfrm>
                <a:off x="2814240" y="3049534"/>
                <a:ext cx="873429" cy="3863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/>
              <a:p>
                <a:pPr marL="33338" indent="-33338">
                  <a:buFont typeface="Wingdings" panose="05000000000000000000" pitchFamily="2" charset="2"/>
                  <a:buChar char="§"/>
                </a:pPr>
                <a:r>
                  <a:rPr lang="ko-KR" altLang="en-US" sz="800" dirty="0"/>
                  <a:t>결과 참조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0344517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사후관리 성과평가 업무는 성과계획정보를 기반으로 성과보고서</a:t>
            </a:r>
            <a:r>
              <a:rPr lang="en-US" altLang="ko-KR" sz="1600" dirty="0"/>
              <a:t>,</a:t>
            </a:r>
            <a:r>
              <a:rPr lang="ko-KR" altLang="en-US" sz="1600" dirty="0"/>
              <a:t> 점수환산처리</a:t>
            </a:r>
            <a:r>
              <a:rPr lang="en-US" altLang="ko-KR" sz="1600" dirty="0"/>
              <a:t>, </a:t>
            </a:r>
            <a:r>
              <a:rPr lang="ko-KR" altLang="en-US" sz="1600" dirty="0"/>
              <a:t>위원회평가 등을 정보화하고 지원사업자와의 소통을 다양한 채널을 통해 서비스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3.4.2.8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성과평가 </a:t>
            </a:r>
            <a:r>
              <a:rPr lang="en-US" altLang="ko-KR" dirty="0"/>
              <a:t>(2/5)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사후관리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4.3.2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성과평가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9" name="표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5667745"/>
              </p:ext>
            </p:extLst>
          </p:nvPr>
        </p:nvGraphicFramePr>
        <p:xfrm>
          <a:off x="344488" y="1939825"/>
          <a:ext cx="9145016" cy="4369495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20891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515733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4.3.2.3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69386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08112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평가위원회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3762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kern="1200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기금평가팀평가담당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1" name="순서도: 종속 처리 140"/>
          <p:cNvSpPr>
            <a:spLocks noChangeAspect="1" noChangeArrowheads="1"/>
          </p:cNvSpPr>
          <p:nvPr/>
        </p:nvSpPr>
        <p:spPr bwMode="auto">
          <a:xfrm>
            <a:off x="6609184" y="3269784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4.2.3.3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시민모니터링</a:t>
            </a:r>
          </a:p>
        </p:txBody>
      </p:sp>
      <p:sp>
        <p:nvSpPr>
          <p:cNvPr id="16" name="순서도: 종속 처리 15"/>
          <p:cNvSpPr>
            <a:spLocks noChangeAspect="1" noChangeArrowheads="1"/>
          </p:cNvSpPr>
          <p:nvPr/>
        </p:nvSpPr>
        <p:spPr bwMode="auto">
          <a:xfrm>
            <a:off x="5601072" y="3269784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4.2.3.1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현장평가</a:t>
            </a:r>
          </a:p>
        </p:txBody>
      </p:sp>
      <p:sp>
        <p:nvSpPr>
          <p:cNvPr id="17" name="직사각형 16"/>
          <p:cNvSpPr/>
          <p:nvPr/>
        </p:nvSpPr>
        <p:spPr bwMode="auto">
          <a:xfrm>
            <a:off x="2288704" y="49903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19. </a:t>
            </a:r>
            <a:r>
              <a:rPr lang="ko-KR" altLang="en-US" sz="900" kern="0" dirty="0">
                <a:solidFill>
                  <a:srgbClr val="508CD2"/>
                </a:solidFill>
              </a:rPr>
              <a:t>평가위원 선정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8" name="순서도: 종속 처리 17"/>
          <p:cNvSpPr>
            <a:spLocks noChangeAspect="1" noChangeArrowheads="1"/>
          </p:cNvSpPr>
          <p:nvPr/>
        </p:nvSpPr>
        <p:spPr bwMode="auto">
          <a:xfrm>
            <a:off x="7617296" y="3269783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4.3.2.1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위원회평가</a:t>
            </a:r>
          </a:p>
        </p:txBody>
      </p:sp>
      <p:sp>
        <p:nvSpPr>
          <p:cNvPr id="19" name="원통 68"/>
          <p:cNvSpPr>
            <a:spLocks noChangeAspect="1" noChangeArrowheads="1"/>
          </p:cNvSpPr>
          <p:nvPr/>
        </p:nvSpPr>
        <p:spPr bwMode="auto">
          <a:xfrm>
            <a:off x="2292276" y="5667482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</a:rPr>
              <a:t>평가위원정보</a:t>
            </a:r>
            <a:endParaRPr kumimoji="1" lang="ko-KR" altLang="en-US" sz="900" b="1" kern="0" spc="-190" dirty="0">
              <a:solidFill>
                <a:prstClr val="black"/>
              </a:solidFill>
            </a:endParaRPr>
          </a:p>
        </p:txBody>
      </p:sp>
      <p:cxnSp>
        <p:nvCxnSpPr>
          <p:cNvPr id="20" name="Shape 266"/>
          <p:cNvCxnSpPr>
            <a:cxnSpLocks noChangeShapeType="1"/>
            <a:stCxn id="19" idx="1"/>
            <a:endCxn id="17" idx="2"/>
          </p:cNvCxnSpPr>
          <p:nvPr/>
        </p:nvCxnSpPr>
        <p:spPr bwMode="auto">
          <a:xfrm flipH="1" flipV="1">
            <a:off x="2666917" y="5311103"/>
            <a:ext cx="6300" cy="35637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3" name="직사각형 22"/>
          <p:cNvSpPr/>
          <p:nvPr/>
        </p:nvSpPr>
        <p:spPr bwMode="auto">
          <a:xfrm>
            <a:off x="4163844" y="432711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22. </a:t>
            </a:r>
            <a:r>
              <a:rPr lang="ko-KR" altLang="en-US" sz="900" kern="0" dirty="0">
                <a:solidFill>
                  <a:srgbClr val="508CD2"/>
                </a:solidFill>
              </a:rPr>
              <a:t>평가위원 위촉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2288704" y="328498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20. </a:t>
            </a:r>
            <a:r>
              <a:rPr lang="ko-KR" altLang="en-US" sz="900" kern="0" dirty="0">
                <a:solidFill>
                  <a:srgbClr val="508CD2"/>
                </a:solidFill>
              </a:rPr>
              <a:t>평가위원 참여의견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25" name="순서도: 판단 24"/>
          <p:cNvSpPr>
            <a:spLocks noChangeArrowheads="1"/>
          </p:cNvSpPr>
          <p:nvPr/>
        </p:nvSpPr>
        <p:spPr bwMode="auto">
          <a:xfrm>
            <a:off x="3194602" y="4302517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참여 여부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3858983" y="4248265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610825" y="4602672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28" name="Shape 266"/>
          <p:cNvCxnSpPr>
            <a:cxnSpLocks noChangeShapeType="1"/>
            <a:stCxn id="17" idx="0"/>
            <a:endCxn id="24" idx="2"/>
          </p:cNvCxnSpPr>
          <p:nvPr/>
        </p:nvCxnSpPr>
        <p:spPr bwMode="auto">
          <a:xfrm flipV="1">
            <a:off x="2666917" y="3605755"/>
            <a:ext cx="0" cy="138457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" name="Shape 266"/>
          <p:cNvCxnSpPr>
            <a:cxnSpLocks noChangeShapeType="1"/>
            <a:stCxn id="24" idx="3"/>
            <a:endCxn id="25" idx="0"/>
          </p:cNvCxnSpPr>
          <p:nvPr/>
        </p:nvCxnSpPr>
        <p:spPr bwMode="auto">
          <a:xfrm>
            <a:off x="3045129" y="3445370"/>
            <a:ext cx="529390" cy="85714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4" name="Shape 266"/>
          <p:cNvCxnSpPr>
            <a:cxnSpLocks noChangeShapeType="1"/>
            <a:stCxn id="25" idx="3"/>
            <a:endCxn id="23" idx="1"/>
          </p:cNvCxnSpPr>
          <p:nvPr/>
        </p:nvCxnSpPr>
        <p:spPr bwMode="auto">
          <a:xfrm flipV="1">
            <a:off x="3954436" y="4487504"/>
            <a:ext cx="209408" cy="21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직사각형 36"/>
          <p:cNvSpPr/>
          <p:nvPr/>
        </p:nvSpPr>
        <p:spPr bwMode="auto">
          <a:xfrm>
            <a:off x="3198011" y="49903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21. </a:t>
            </a:r>
            <a:r>
              <a:rPr lang="ko-KR" altLang="en-US" sz="900" kern="0" dirty="0">
                <a:solidFill>
                  <a:srgbClr val="508CD2"/>
                </a:solidFill>
              </a:rPr>
              <a:t>평가위원 해촉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38" name="Shape 266"/>
          <p:cNvCxnSpPr>
            <a:cxnSpLocks noChangeShapeType="1"/>
            <a:stCxn id="25" idx="2"/>
            <a:endCxn id="37" idx="0"/>
          </p:cNvCxnSpPr>
          <p:nvPr/>
        </p:nvCxnSpPr>
        <p:spPr bwMode="auto">
          <a:xfrm>
            <a:off x="3574519" y="4676750"/>
            <a:ext cx="1705" cy="313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" name="Shape 266"/>
          <p:cNvCxnSpPr>
            <a:cxnSpLocks noChangeShapeType="1"/>
            <a:stCxn id="37" idx="1"/>
            <a:endCxn id="17" idx="3"/>
          </p:cNvCxnSpPr>
          <p:nvPr/>
        </p:nvCxnSpPr>
        <p:spPr bwMode="auto">
          <a:xfrm flipH="1">
            <a:off x="3045129" y="5150718"/>
            <a:ext cx="15288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4" name="직사각형 43"/>
          <p:cNvSpPr/>
          <p:nvPr/>
        </p:nvSpPr>
        <p:spPr bwMode="auto">
          <a:xfrm>
            <a:off x="5097016" y="43287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24. </a:t>
            </a:r>
            <a:r>
              <a:rPr lang="ko-KR" altLang="en-US" sz="900" kern="0" dirty="0">
                <a:solidFill>
                  <a:srgbClr val="508CD2"/>
                </a:solidFill>
              </a:rPr>
              <a:t>위원회 활동일정수립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45" name="직사각형 44"/>
          <p:cNvSpPr/>
          <p:nvPr/>
        </p:nvSpPr>
        <p:spPr bwMode="auto">
          <a:xfrm>
            <a:off x="6612113" y="43295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25. </a:t>
            </a:r>
            <a:r>
              <a:rPr lang="ko-KR" altLang="en-US" sz="900" kern="0" dirty="0">
                <a:solidFill>
                  <a:srgbClr val="508CD2"/>
                </a:solidFill>
              </a:rPr>
              <a:t>위원회 활동검토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46" name="Shape 266"/>
          <p:cNvCxnSpPr>
            <a:cxnSpLocks noChangeShapeType="1"/>
            <a:stCxn id="16" idx="2"/>
            <a:endCxn id="45" idx="0"/>
          </p:cNvCxnSpPr>
          <p:nvPr/>
        </p:nvCxnSpPr>
        <p:spPr bwMode="auto">
          <a:xfrm rot="16200000" flipH="1">
            <a:off x="6153852" y="3493117"/>
            <a:ext cx="664115" cy="100883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Shape 266"/>
          <p:cNvCxnSpPr>
            <a:cxnSpLocks noChangeShapeType="1"/>
            <a:stCxn id="141" idx="2"/>
            <a:endCxn id="45" idx="0"/>
          </p:cNvCxnSpPr>
          <p:nvPr/>
        </p:nvCxnSpPr>
        <p:spPr bwMode="auto">
          <a:xfrm rot="16200000" flipH="1">
            <a:off x="6657908" y="3997173"/>
            <a:ext cx="664115" cy="72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" name="Shape 266"/>
          <p:cNvCxnSpPr>
            <a:cxnSpLocks noChangeShapeType="1"/>
            <a:stCxn id="18" idx="2"/>
            <a:endCxn id="45" idx="0"/>
          </p:cNvCxnSpPr>
          <p:nvPr/>
        </p:nvCxnSpPr>
        <p:spPr bwMode="auto">
          <a:xfrm rot="5400000">
            <a:off x="7161963" y="3493839"/>
            <a:ext cx="664116" cy="100739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5" name="직사각형 54"/>
          <p:cNvSpPr/>
          <p:nvPr/>
        </p:nvSpPr>
        <p:spPr bwMode="auto">
          <a:xfrm>
            <a:off x="7576900" y="50246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26. </a:t>
            </a:r>
            <a:r>
              <a:rPr lang="ko-KR" altLang="en-US" sz="900" kern="0" dirty="0">
                <a:solidFill>
                  <a:srgbClr val="508CD2"/>
                </a:solidFill>
              </a:rPr>
              <a:t>평가수당 지급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56" name="Shape 266"/>
          <p:cNvCxnSpPr>
            <a:cxnSpLocks noChangeShapeType="1"/>
            <a:stCxn id="23" idx="3"/>
            <a:endCxn id="44" idx="1"/>
          </p:cNvCxnSpPr>
          <p:nvPr/>
        </p:nvCxnSpPr>
        <p:spPr bwMode="auto">
          <a:xfrm>
            <a:off x="4920269" y="4487504"/>
            <a:ext cx="176747" cy="160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Rectangle 179"/>
          <p:cNvSpPr>
            <a:spLocks noChangeArrowheads="1"/>
          </p:cNvSpPr>
          <p:nvPr/>
        </p:nvSpPr>
        <p:spPr bwMode="auto">
          <a:xfrm>
            <a:off x="8049344" y="3701673"/>
            <a:ext cx="79208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33338" indent="-33338">
              <a:buFont typeface="Wingdings" panose="05000000000000000000" pitchFamily="2" charset="2"/>
              <a:buChar char="§"/>
            </a:pPr>
            <a:r>
              <a:rPr lang="ko-KR" altLang="en-US" sz="800" dirty="0"/>
              <a:t>회의록</a:t>
            </a:r>
            <a:endParaRPr lang="en-US" altLang="ko-KR" sz="800" dirty="0"/>
          </a:p>
          <a:p>
            <a:pPr marL="33338" indent="-33338">
              <a:buFont typeface="Wingdings" panose="05000000000000000000" pitchFamily="2" charset="2"/>
              <a:buChar char="§"/>
            </a:pPr>
            <a:r>
              <a:rPr lang="ko-KR" altLang="en-US" sz="800" dirty="0"/>
              <a:t>위원별평가결과</a:t>
            </a:r>
          </a:p>
        </p:txBody>
      </p:sp>
      <p:sp>
        <p:nvSpPr>
          <p:cNvPr id="76" name="Rectangle 179"/>
          <p:cNvSpPr>
            <a:spLocks noChangeArrowheads="1"/>
          </p:cNvSpPr>
          <p:nvPr/>
        </p:nvSpPr>
        <p:spPr bwMode="auto">
          <a:xfrm>
            <a:off x="6050876" y="3701673"/>
            <a:ext cx="62304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33338" indent="-33338">
              <a:buFont typeface="Wingdings" panose="05000000000000000000" pitchFamily="2" charset="2"/>
              <a:buChar char="§"/>
            </a:pPr>
            <a:r>
              <a:rPr lang="ko-KR" altLang="en-US" sz="800" dirty="0"/>
              <a:t>위원별 현장평가결과</a:t>
            </a:r>
          </a:p>
        </p:txBody>
      </p:sp>
      <p:sp>
        <p:nvSpPr>
          <p:cNvPr id="77" name="Rectangle 179"/>
          <p:cNvSpPr>
            <a:spLocks noChangeArrowheads="1"/>
          </p:cNvSpPr>
          <p:nvPr/>
        </p:nvSpPr>
        <p:spPr bwMode="auto">
          <a:xfrm>
            <a:off x="7058988" y="3701673"/>
            <a:ext cx="69793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33338" indent="-33338">
              <a:buFont typeface="Wingdings" panose="05000000000000000000" pitchFamily="2" charset="2"/>
              <a:buChar char="§"/>
            </a:pPr>
            <a:r>
              <a:rPr lang="ko-KR" altLang="en-US" sz="800" dirty="0"/>
              <a:t>시민모니터링 실시결과</a:t>
            </a:r>
          </a:p>
        </p:txBody>
      </p:sp>
      <p:cxnSp>
        <p:nvCxnSpPr>
          <p:cNvPr id="78" name="Shape 266"/>
          <p:cNvCxnSpPr>
            <a:cxnSpLocks noChangeShapeType="1"/>
            <a:stCxn id="104" idx="3"/>
            <a:endCxn id="55" idx="1"/>
          </p:cNvCxnSpPr>
          <p:nvPr/>
        </p:nvCxnSpPr>
        <p:spPr bwMode="auto">
          <a:xfrm flipV="1">
            <a:off x="7375515" y="5185082"/>
            <a:ext cx="201385" cy="101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" name="Shape 266"/>
          <p:cNvCxnSpPr>
            <a:cxnSpLocks noChangeShapeType="1"/>
          </p:cNvCxnSpPr>
          <p:nvPr/>
        </p:nvCxnSpPr>
        <p:spPr bwMode="auto">
          <a:xfrm>
            <a:off x="5853441" y="4410478"/>
            <a:ext cx="758672" cy="8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" name="직사각형 84"/>
          <p:cNvSpPr/>
          <p:nvPr/>
        </p:nvSpPr>
        <p:spPr bwMode="auto">
          <a:xfrm>
            <a:off x="4160912" y="328581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23. </a:t>
            </a:r>
            <a:r>
              <a:rPr lang="ko-KR" altLang="en-US" sz="900" kern="0" dirty="0">
                <a:solidFill>
                  <a:srgbClr val="508CD2"/>
                </a:solidFill>
              </a:rPr>
              <a:t>평가위원 위촉확인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87" name="Shape 266"/>
          <p:cNvCxnSpPr>
            <a:cxnSpLocks noChangeShapeType="1"/>
            <a:stCxn id="23" idx="0"/>
            <a:endCxn id="85" idx="2"/>
          </p:cNvCxnSpPr>
          <p:nvPr/>
        </p:nvCxnSpPr>
        <p:spPr bwMode="auto">
          <a:xfrm flipH="1" flipV="1">
            <a:off x="4539125" y="3606589"/>
            <a:ext cx="2932" cy="72052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" name="Shape 266"/>
          <p:cNvCxnSpPr>
            <a:cxnSpLocks noChangeShapeType="1"/>
            <a:stCxn id="44" idx="0"/>
            <a:endCxn id="16" idx="0"/>
          </p:cNvCxnSpPr>
          <p:nvPr/>
        </p:nvCxnSpPr>
        <p:spPr bwMode="auto">
          <a:xfrm rot="5400000" flipH="1" flipV="1">
            <a:off x="5198892" y="3546122"/>
            <a:ext cx="1058937" cy="506263"/>
          </a:xfrm>
          <a:prstGeom prst="bentConnector3">
            <a:avLst>
              <a:gd name="adj1" fmla="val 121588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3" name="Shape 266"/>
          <p:cNvCxnSpPr>
            <a:cxnSpLocks noChangeShapeType="1"/>
            <a:stCxn id="44" idx="0"/>
            <a:endCxn id="141" idx="0"/>
          </p:cNvCxnSpPr>
          <p:nvPr/>
        </p:nvCxnSpPr>
        <p:spPr bwMode="auto">
          <a:xfrm rot="5400000" flipH="1" flipV="1">
            <a:off x="5702948" y="3042066"/>
            <a:ext cx="1058937" cy="1514375"/>
          </a:xfrm>
          <a:prstGeom prst="bentConnector3">
            <a:avLst>
              <a:gd name="adj1" fmla="val 121588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" name="Shape 266"/>
          <p:cNvCxnSpPr>
            <a:cxnSpLocks noChangeShapeType="1"/>
            <a:stCxn id="44" idx="0"/>
            <a:endCxn id="18" idx="0"/>
          </p:cNvCxnSpPr>
          <p:nvPr/>
        </p:nvCxnSpPr>
        <p:spPr bwMode="auto">
          <a:xfrm rot="5400000" flipH="1" flipV="1">
            <a:off x="6207003" y="2538009"/>
            <a:ext cx="1058938" cy="2522487"/>
          </a:xfrm>
          <a:prstGeom prst="bentConnector3">
            <a:avLst>
              <a:gd name="adj1" fmla="val 121588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9" name="육각형 98"/>
          <p:cNvSpPr/>
          <p:nvPr/>
        </p:nvSpPr>
        <p:spPr bwMode="auto">
          <a:xfrm>
            <a:off x="1352600" y="4945565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연초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00" name="Shape 266"/>
          <p:cNvCxnSpPr>
            <a:cxnSpLocks noChangeShapeType="1"/>
            <a:stCxn id="99" idx="0"/>
            <a:endCxn id="17" idx="1"/>
          </p:cNvCxnSpPr>
          <p:nvPr/>
        </p:nvCxnSpPr>
        <p:spPr bwMode="auto">
          <a:xfrm>
            <a:off x="2109025" y="5150718"/>
            <a:ext cx="179679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" name="육각형 102"/>
          <p:cNvSpPr/>
          <p:nvPr/>
        </p:nvSpPr>
        <p:spPr bwMode="auto">
          <a:xfrm>
            <a:off x="8589063" y="5675237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위원회종료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04" name="순서도: 판단 103"/>
          <p:cNvSpPr>
            <a:spLocks noChangeArrowheads="1"/>
          </p:cNvSpPr>
          <p:nvPr/>
        </p:nvSpPr>
        <p:spPr bwMode="auto">
          <a:xfrm>
            <a:off x="6615681" y="4998983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활동 확인</a:t>
            </a:r>
          </a:p>
        </p:txBody>
      </p:sp>
      <p:cxnSp>
        <p:nvCxnSpPr>
          <p:cNvPr id="105" name="Shape 266"/>
          <p:cNvCxnSpPr>
            <a:cxnSpLocks noChangeShapeType="1"/>
            <a:stCxn id="45" idx="2"/>
            <a:endCxn id="104" idx="0"/>
          </p:cNvCxnSpPr>
          <p:nvPr/>
        </p:nvCxnSpPr>
        <p:spPr bwMode="auto">
          <a:xfrm>
            <a:off x="6990326" y="4650363"/>
            <a:ext cx="5272" cy="34862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0" name="TextBox 109"/>
          <p:cNvSpPr txBox="1"/>
          <p:nvPr/>
        </p:nvSpPr>
        <p:spPr>
          <a:xfrm>
            <a:off x="7284382" y="4949485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6446840" y="4949485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12" name="Shape 266"/>
          <p:cNvCxnSpPr>
            <a:cxnSpLocks noChangeShapeType="1"/>
            <a:stCxn id="104" idx="1"/>
          </p:cNvCxnSpPr>
          <p:nvPr/>
        </p:nvCxnSpPr>
        <p:spPr bwMode="auto">
          <a:xfrm rot="10800000">
            <a:off x="6612113" y="4561986"/>
            <a:ext cx="3568" cy="624114"/>
          </a:xfrm>
          <a:prstGeom prst="bentConnector3">
            <a:avLst>
              <a:gd name="adj1" fmla="val 6506951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1" name="순서도: 판단 120"/>
          <p:cNvSpPr>
            <a:spLocks noChangeArrowheads="1"/>
          </p:cNvSpPr>
          <p:nvPr/>
        </p:nvSpPr>
        <p:spPr bwMode="auto">
          <a:xfrm>
            <a:off x="7575195" y="5693273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일정 종료</a:t>
            </a:r>
          </a:p>
        </p:txBody>
      </p:sp>
      <p:cxnSp>
        <p:nvCxnSpPr>
          <p:cNvPr id="122" name="Shape 266"/>
          <p:cNvCxnSpPr>
            <a:cxnSpLocks noChangeShapeType="1"/>
            <a:stCxn id="121" idx="3"/>
            <a:endCxn id="103" idx="3"/>
          </p:cNvCxnSpPr>
          <p:nvPr/>
        </p:nvCxnSpPr>
        <p:spPr bwMode="auto">
          <a:xfrm>
            <a:off x="8335029" y="5880390"/>
            <a:ext cx="25403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" name="Shape 266"/>
          <p:cNvCxnSpPr>
            <a:cxnSpLocks noChangeShapeType="1"/>
            <a:stCxn id="121" idx="1"/>
            <a:endCxn id="45" idx="1"/>
          </p:cNvCxnSpPr>
          <p:nvPr/>
        </p:nvCxnSpPr>
        <p:spPr bwMode="auto">
          <a:xfrm rot="10800000">
            <a:off x="6612113" y="4489978"/>
            <a:ext cx="963082" cy="1390412"/>
          </a:xfrm>
          <a:prstGeom prst="bentConnector3">
            <a:avLst>
              <a:gd name="adj1" fmla="val 139407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1" name="TextBox 130"/>
          <p:cNvSpPr txBox="1"/>
          <p:nvPr/>
        </p:nvSpPr>
        <p:spPr>
          <a:xfrm>
            <a:off x="8201746" y="5646440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7364204" y="5646440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33" name="Shape 266"/>
          <p:cNvCxnSpPr>
            <a:cxnSpLocks noChangeShapeType="1"/>
            <a:stCxn id="55" idx="2"/>
            <a:endCxn id="121" idx="0"/>
          </p:cNvCxnSpPr>
          <p:nvPr/>
        </p:nvCxnSpPr>
        <p:spPr bwMode="auto">
          <a:xfrm flipH="1">
            <a:off x="7955112" y="5345467"/>
            <a:ext cx="1" cy="34780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" name="순서도: 종속 처리 64"/>
          <p:cNvSpPr>
            <a:spLocks noChangeAspect="1" noChangeArrowheads="1"/>
          </p:cNvSpPr>
          <p:nvPr/>
        </p:nvSpPr>
        <p:spPr bwMode="auto">
          <a:xfrm>
            <a:off x="8579338" y="4990015"/>
            <a:ext cx="760839" cy="395693"/>
          </a:xfrm>
          <a:prstGeom prst="flowChartPredefinedProcess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1.3.1.2</a:t>
            </a:r>
          </a:p>
          <a:p>
            <a:pPr algn="ctr" latinLnBrk="0"/>
            <a:r>
              <a:rPr lang="ko-KR" altLang="en-US" sz="900" kern="0" dirty="0">
                <a:solidFill>
                  <a:srgbClr val="508CD2"/>
                </a:solidFill>
              </a:rPr>
              <a:t>지출요구</a:t>
            </a:r>
          </a:p>
        </p:txBody>
      </p:sp>
      <p:cxnSp>
        <p:nvCxnSpPr>
          <p:cNvPr id="137" name="Shape 266"/>
          <p:cNvCxnSpPr>
            <a:cxnSpLocks noChangeShapeType="1"/>
            <a:stCxn id="55" idx="3"/>
            <a:endCxn id="136" idx="1"/>
          </p:cNvCxnSpPr>
          <p:nvPr/>
        </p:nvCxnSpPr>
        <p:spPr bwMode="auto">
          <a:xfrm>
            <a:off x="8333325" y="5185082"/>
            <a:ext cx="246013" cy="278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4083725707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사후관리 성과평가 업무는 성과계획정보를 기반으로 성과보고서</a:t>
            </a:r>
            <a:r>
              <a:rPr lang="en-US" altLang="ko-KR" sz="1600" dirty="0"/>
              <a:t>,</a:t>
            </a:r>
            <a:r>
              <a:rPr lang="ko-KR" altLang="en-US" sz="1600" dirty="0"/>
              <a:t> 점수환산처리</a:t>
            </a:r>
            <a:r>
              <a:rPr lang="en-US" altLang="ko-KR" sz="1600" dirty="0"/>
              <a:t>, </a:t>
            </a:r>
            <a:r>
              <a:rPr lang="ko-KR" altLang="en-US" sz="1600" dirty="0"/>
              <a:t>위원회평가 등을 정보화하고 지원사업자와의 소통을 다양한 채널을 통해 서비스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3.4.2.8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성과평가 </a:t>
            </a:r>
            <a:r>
              <a:rPr lang="en-US" altLang="ko-KR" dirty="0"/>
              <a:t>(3/5)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6979292"/>
              </p:ext>
            </p:extLst>
          </p:nvPr>
        </p:nvGraphicFramePr>
        <p:xfrm>
          <a:off x="344488" y="1604179"/>
          <a:ext cx="9180513" cy="460044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8466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173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 작성요청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평가담당자는 성과보고서 작성을 요청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성과보고서 작성요청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해당사업에 대한 성과계획서에서 확정된 계량 및 비계량 지표에 따른 성과보고서를 작성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작성된 성과보고서를 기반으로 공단 홈페이지에 성과지표와 목표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실적을 등록하고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월까지 기금평가팀 평가담당자에게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제출된 성과보고서를 검토하여 보완이 필요한 경우 보완요청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성과보고서에 대한 보완이 필요없는 것으로 검토된 경우 기금평가팀 평가담당자는 성과보고서 확정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 후에는 보완 불가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성과보고서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점수환산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확정된 평가결과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만족도조사결과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종합하여 점수환산처리하여 평가점수 산출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spc="-16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현장평가결과</a:t>
                      </a:r>
                      <a:r>
                        <a:rPr lang="en-US" altLang="ko-KR" sz="1000" b="0" spc="-16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spc="-16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만족도조사결과</a:t>
                      </a:r>
                      <a:r>
                        <a:rPr lang="en-US" altLang="ko-KR" sz="1000" b="0" spc="-16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spc="-16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평가점수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지표평가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계량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비계량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평가위원회 실무소위원회에서 취합된 성과보고서와 관련자료를 검토하여 차년도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계량 및 비계량 지표평가를 실시한 후 대상자에게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 대상 지원사업자는 지표평가 결과를 확인하여 불복여부 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1737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지원사업자가 비계량 지표평가 검토결과 이의가 있는 경우 기금평가팀 평가담당자에게 이의를 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173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이의신청 내용의 조정여부를 사전검토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이의신청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4046656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사후관리 성과평가 업무는 성과계획정보를 기반으로 성과보고서</a:t>
            </a:r>
            <a:r>
              <a:rPr lang="en-US" altLang="ko-KR" sz="1600" dirty="0"/>
              <a:t>,</a:t>
            </a:r>
            <a:r>
              <a:rPr lang="ko-KR" altLang="en-US" sz="1600" dirty="0"/>
              <a:t> 점수환산처리</a:t>
            </a:r>
            <a:r>
              <a:rPr lang="en-US" altLang="ko-KR" sz="1600" dirty="0"/>
              <a:t>, </a:t>
            </a:r>
            <a:r>
              <a:rPr lang="ko-KR" altLang="en-US" sz="1600" dirty="0"/>
              <a:t>위원회평가 등을 정보화하고 지원사업자와의 소통을 다양한 채널을 통해 서비스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3.4.2.8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성과평가 </a:t>
            </a:r>
            <a:r>
              <a:rPr lang="en-US" altLang="ko-KR" dirty="0"/>
              <a:t>(4/5)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5804589"/>
              </p:ext>
            </p:extLst>
          </p:nvPr>
        </p:nvGraphicFramePr>
        <p:xfrm>
          <a:off x="344488" y="1604187"/>
          <a:ext cx="9180513" cy="4705133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8465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867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 조정 및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평가위원회를 개최하여 조정이 필요한 것으로 판단된 경우 평가결과를 조정하고 이의신청 기한까지 이의신청이 없는 경우 평가결과 확정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확정된 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048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확정된 평가결과를 기금평가팀 평가담당자가 공단 홈페이지를 통해 문화체육관광부에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확정된 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491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평가결과 공개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확정된 평가결과는 기금평가팀 평가담당자가 외부에 공개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확정된 평가결과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0048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기금평가팀 평가담당자는 평가결과를 홈페이지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SMS, eMail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등을 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통해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지원사업자에게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만족도조사결과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확정된 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356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통보접수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지원사업자는 평가결과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시민모니터링결과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위원회평가최종결과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현장평가결과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만족도조사결과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확정된 평가결과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96282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개선방안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현장평가에 대한 평가결과의 경우 지원사업자가 평가결과에 따라 개선방안이 필요한 경우 개선방안을 작성하여 제출함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.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위원회평가에 대한 개선방안은 차년도 성과계획서 제출 시 작성하여 제출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개선방안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4867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개선방안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기금평가팀 평가담당자는 지원사업자로부터 개선방안을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개선방안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867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생활체육공모사업 선정 시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위원회 최종평가결과 평가결과가 미흡으로 결정된 사업자에 대해서는 지원사업자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대한체육회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가 생활체육공모사업 선정시 반영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확정된평가결과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40963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공단 기금평가팀에서는 각종 성과평가위원을 선정하여 대상 평가위원에게 참여여부 의사를 묻는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+mn-ea"/>
                        </a:rPr>
                        <a:t>SMS, eMail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등 송신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+mn-ea"/>
                        </a:rPr>
                        <a:t>평가위원선정결과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+mn-ea"/>
                        </a:rPr>
                        <a:t>20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평가위원참여의견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+mn-ea"/>
                        </a:rPr>
                        <a:t>평가위원으로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+mn-ea"/>
                        </a:rPr>
                        <a:t>선정된 대상자는 참여여부를 회신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smtClean="0">
                          <a:latin typeface="맑은 고딕" panose="020B0503020000020004" pitchFamily="50" charset="-127"/>
                          <a:ea typeface="+mn-ea"/>
                        </a:rPr>
                        <a:t>평가위원참여여부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SMS, eMail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7629845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사후관리 성과평가 업무는 성과계획정보를 기반으로 성과보고서</a:t>
            </a:r>
            <a:r>
              <a:rPr lang="en-US" altLang="ko-KR" sz="1600" dirty="0"/>
              <a:t>,</a:t>
            </a:r>
            <a:r>
              <a:rPr lang="ko-KR" altLang="en-US" sz="1600" dirty="0"/>
              <a:t> 점수환산처리</a:t>
            </a:r>
            <a:r>
              <a:rPr lang="en-US" altLang="ko-KR" sz="1600" dirty="0"/>
              <a:t>, </a:t>
            </a:r>
            <a:r>
              <a:rPr lang="ko-KR" altLang="en-US" sz="1600" dirty="0"/>
              <a:t>위원회평가 등을 정보화하고 지원사업자와의 소통을 다양한 채널을 통해 서비스 제공할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3.4.2.8 </a:t>
            </a:r>
            <a:r>
              <a:rPr lang="ko-KR" altLang="en-US" dirty="0"/>
              <a:t>사후관리</a:t>
            </a:r>
            <a:r>
              <a:rPr lang="en-US" altLang="ko-KR" dirty="0"/>
              <a:t>&gt;</a:t>
            </a:r>
            <a:r>
              <a:rPr lang="ko-KR" altLang="en-US" dirty="0"/>
              <a:t>성과평가 </a:t>
            </a:r>
            <a:r>
              <a:rPr lang="en-US" altLang="ko-KR" dirty="0"/>
              <a:t>(5/5)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152065"/>
              </p:ext>
            </p:extLst>
          </p:nvPr>
        </p:nvGraphicFramePr>
        <p:xfrm>
          <a:off x="344488" y="1604187"/>
          <a:ext cx="9180513" cy="3360682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8465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477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 해촉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 참여의견이 불가인 경우이거나 활동이 불가한 경우 해촉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(SMS, eMail)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하고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별도 추천을 통해 추가평가위원 선정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477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 위촉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참여의사를 밝힌 위원에 대하여는 평가위원 위촉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(SMS, eMail, Mobile,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홈페이지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7461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 위촉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평가위원은 공단으로부터 위촉결과를 확인하고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 위원의 경우 홈페이지를 통해 간단한 등록절차를 거치고 개인정보보호 등 평가활동정보화 기본요건 처리 후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Mobile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 설치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평가위원정보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589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위원회활동일정수립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기금평가팀에서는 현장평가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시민모니터링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성과평가위원회 등의 활동 일정을 연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월별로 수립하여 등록하고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SMS,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eMail, Mobile, 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홈페이지 등에 공지하여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위원회별 활동을 실시할 수 있도록 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위원회활동계획일정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477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위원회활동검토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기금평가팀은 각종 평가위원회 활동결과를 검토하고 결과를 취합하여 내부 보고 실시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현장평가결과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시민모니터링결과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성과평가위원회결과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기금지원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47744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평가수당지급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위원회 활동결과에 따라 수당 지급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+mn-ea"/>
                        </a:rPr>
                        <a:t>평가위원별 수당지급정보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54911286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지원금지원 신체육인복지지원 업무를 위한 대상자추천</a:t>
            </a:r>
            <a:r>
              <a:rPr lang="en-US" altLang="ko-KR" sz="1600" dirty="0"/>
              <a:t>, </a:t>
            </a:r>
            <a:r>
              <a:rPr lang="ko-KR" altLang="en-US" sz="1600" dirty="0"/>
              <a:t>지원신청 등을 정보화하고 통합재무를 통해 지급처리하며</a:t>
            </a:r>
            <a:r>
              <a:rPr lang="en-US" altLang="ko-KR" sz="1600" dirty="0"/>
              <a:t>, </a:t>
            </a:r>
            <a:r>
              <a:rPr lang="ko-KR" altLang="en-US" sz="1600" dirty="0"/>
              <a:t>각종 증명을 다양한 채널을 통해 신청하고 발급할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3.4.2.9 </a:t>
            </a:r>
            <a:r>
              <a:rPr lang="ko-KR" altLang="en-US" dirty="0"/>
              <a:t>직접지원관리</a:t>
            </a:r>
            <a:r>
              <a:rPr lang="en-US" altLang="ko-KR" dirty="0"/>
              <a:t>&gt;</a:t>
            </a:r>
            <a:r>
              <a:rPr lang="ko-KR" altLang="en-US" dirty="0"/>
              <a:t>신체육인복지지원 </a:t>
            </a:r>
            <a:r>
              <a:rPr lang="en-US" altLang="ko-KR" dirty="0"/>
              <a:t>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9804107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직접지원관리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4.4.1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신체육인복지지원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3" name="표 1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7390693"/>
              </p:ext>
            </p:extLst>
          </p:nvPr>
        </p:nvGraphicFramePr>
        <p:xfrm>
          <a:off x="344488" y="1950740"/>
          <a:ext cx="9181020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03244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21246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 추천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자격검토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15288">
                <a:tc grid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문체부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60040">
                <a:tc rowSpan="3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600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152128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체육진흥팀 신체육인 복지지원 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044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spc="-16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대한체육회</a:t>
                      </a:r>
                      <a:r>
                        <a:rPr lang="en-US" altLang="ko-KR" sz="1000" b="0" i="0" u="none" strike="noStrike" spc="-16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spc="-16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대한장애인체육회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90010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spc="-16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가맹경기단체</a:t>
                      </a:r>
                      <a:r>
                        <a:rPr lang="en-US" altLang="ko-KR" sz="1000" b="0" i="0" u="none" strike="noStrike" kern="1200" spc="-16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spc="-16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국군체육부대장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32048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지원대상자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관련타인 포함</a:t>
                      </a: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4" name="육각형 123"/>
          <p:cNvSpPr/>
          <p:nvPr/>
        </p:nvSpPr>
        <p:spPr bwMode="auto">
          <a:xfrm>
            <a:off x="2249051" y="5119092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50" dirty="0">
                <a:solidFill>
                  <a:prstClr val="black"/>
                </a:solidFill>
              </a:rPr>
              <a:t>재정집행 계획 확정 시</a:t>
            </a:r>
            <a:endParaRPr lang="en-US" altLang="ko-KR" sz="900" kern="0" spc="-150" dirty="0">
              <a:solidFill>
                <a:prstClr val="black"/>
              </a:solidFill>
            </a:endParaRPr>
          </a:p>
        </p:txBody>
      </p:sp>
      <p:sp>
        <p:nvSpPr>
          <p:cNvPr id="125" name="순서도: 종속 처리 64"/>
          <p:cNvSpPr>
            <a:spLocks noChangeAspect="1" noChangeArrowheads="1"/>
          </p:cNvSpPr>
          <p:nvPr/>
        </p:nvSpPr>
        <p:spPr bwMode="auto">
          <a:xfrm>
            <a:off x="1328565" y="5122168"/>
            <a:ext cx="760839" cy="395693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prstClr val="black"/>
                </a:solidFill>
              </a:rPr>
              <a:t>4.1.1.2 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보조금집행</a:t>
            </a:r>
            <a:endParaRPr kumimoji="1" lang="en-US" altLang="ko-KR" sz="900" kern="0" dirty="0">
              <a:solidFill>
                <a:prstClr val="black"/>
              </a:solidFill>
            </a:endParaRP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계획작성</a:t>
            </a:r>
          </a:p>
        </p:txBody>
      </p:sp>
      <p:cxnSp>
        <p:nvCxnSpPr>
          <p:cNvPr id="126" name="Shape 266"/>
          <p:cNvCxnSpPr>
            <a:cxnSpLocks noChangeShapeType="1"/>
            <a:stCxn id="125" idx="3"/>
            <a:endCxn id="124" idx="3"/>
          </p:cNvCxnSpPr>
          <p:nvPr/>
        </p:nvCxnSpPr>
        <p:spPr bwMode="auto">
          <a:xfrm>
            <a:off x="2089404" y="5320015"/>
            <a:ext cx="159647" cy="423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" name="직사각형 126"/>
          <p:cNvSpPr/>
          <p:nvPr/>
        </p:nvSpPr>
        <p:spPr bwMode="auto">
          <a:xfrm>
            <a:off x="3152800" y="51643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2. </a:t>
            </a:r>
            <a:r>
              <a:rPr lang="ko-KR" altLang="en-US" sz="900" kern="0" dirty="0">
                <a:solidFill>
                  <a:srgbClr val="508CD2"/>
                </a:solidFill>
              </a:rPr>
              <a:t>추천신청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28" name="직사각형 127"/>
          <p:cNvSpPr/>
          <p:nvPr/>
        </p:nvSpPr>
        <p:spPr bwMode="auto">
          <a:xfrm>
            <a:off x="4597314" y="593693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4. </a:t>
            </a:r>
            <a:r>
              <a:rPr lang="ko-KR" altLang="en-US" sz="900" kern="0" dirty="0">
                <a:solidFill>
                  <a:srgbClr val="508CD2"/>
                </a:solidFill>
              </a:rPr>
              <a:t>지원신청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29" name="Shape 266"/>
          <p:cNvCxnSpPr>
            <a:cxnSpLocks noChangeShapeType="1"/>
            <a:stCxn id="124" idx="0"/>
            <a:endCxn id="127" idx="1"/>
          </p:cNvCxnSpPr>
          <p:nvPr/>
        </p:nvCxnSpPr>
        <p:spPr bwMode="auto">
          <a:xfrm>
            <a:off x="3005476" y="5324245"/>
            <a:ext cx="147324" cy="53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0" name="Shape 266"/>
          <p:cNvCxnSpPr>
            <a:cxnSpLocks noChangeShapeType="1"/>
            <a:stCxn id="132" idx="4"/>
            <a:endCxn id="128" idx="1"/>
          </p:cNvCxnSpPr>
          <p:nvPr/>
        </p:nvCxnSpPr>
        <p:spPr bwMode="auto">
          <a:xfrm rot="16200000" flipH="1">
            <a:off x="3344210" y="4844212"/>
            <a:ext cx="553177" cy="195303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1" name="TextBox 130"/>
          <p:cNvSpPr txBox="1"/>
          <p:nvPr/>
        </p:nvSpPr>
        <p:spPr>
          <a:xfrm>
            <a:off x="1819552" y="4697870"/>
            <a:ext cx="779170" cy="2335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i="1" dirty="0">
                <a:solidFill>
                  <a:prstClr val="black"/>
                </a:solidFill>
              </a:rPr>
              <a:t>체육장학금</a:t>
            </a:r>
          </a:p>
        </p:txBody>
      </p:sp>
      <p:sp>
        <p:nvSpPr>
          <p:cNvPr id="132" name="타원 131"/>
          <p:cNvSpPr/>
          <p:nvPr/>
        </p:nvSpPr>
        <p:spPr>
          <a:xfrm>
            <a:off x="2579123" y="5371120"/>
            <a:ext cx="130319" cy="173020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</a:endParaRPr>
          </a:p>
        </p:txBody>
      </p:sp>
      <p:sp>
        <p:nvSpPr>
          <p:cNvPr id="133" name="직사각형 132"/>
          <p:cNvSpPr/>
          <p:nvPr/>
        </p:nvSpPr>
        <p:spPr bwMode="auto">
          <a:xfrm>
            <a:off x="4597314" y="456896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3. </a:t>
            </a:r>
            <a:r>
              <a:rPr lang="ko-KR" altLang="en-US" sz="900" kern="0" dirty="0">
                <a:solidFill>
                  <a:srgbClr val="508CD2"/>
                </a:solidFill>
              </a:rPr>
              <a:t>대상자추천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34" name="Shape 266"/>
          <p:cNvCxnSpPr>
            <a:cxnSpLocks noChangeShapeType="1"/>
            <a:stCxn id="127" idx="0"/>
            <a:endCxn id="133" idx="1"/>
          </p:cNvCxnSpPr>
          <p:nvPr/>
        </p:nvCxnSpPr>
        <p:spPr bwMode="auto">
          <a:xfrm rot="5400000" flipH="1" flipV="1">
            <a:off x="3846640" y="4413724"/>
            <a:ext cx="435046" cy="106630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5" name="직사각형 134"/>
          <p:cNvSpPr/>
          <p:nvPr/>
        </p:nvSpPr>
        <p:spPr bwMode="auto">
          <a:xfrm>
            <a:off x="2254655" y="41502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1. </a:t>
            </a:r>
            <a:r>
              <a:rPr lang="ko-KR" altLang="en-US" sz="900" kern="0" dirty="0">
                <a:solidFill>
                  <a:srgbClr val="508CD2"/>
                </a:solidFill>
              </a:rPr>
              <a:t>대상자 추천의뢰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36" name="Shape 266"/>
          <p:cNvCxnSpPr>
            <a:cxnSpLocks noChangeShapeType="1"/>
            <a:endCxn id="135" idx="2"/>
          </p:cNvCxnSpPr>
          <p:nvPr/>
        </p:nvCxnSpPr>
        <p:spPr bwMode="auto">
          <a:xfrm flipV="1">
            <a:off x="2631763" y="4471020"/>
            <a:ext cx="1105" cy="68416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136"/>
          <p:cNvSpPr txBox="1"/>
          <p:nvPr/>
        </p:nvSpPr>
        <p:spPr>
          <a:xfrm>
            <a:off x="3842609" y="4901267"/>
            <a:ext cx="192161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i="1" dirty="0">
                <a:solidFill>
                  <a:prstClr val="black"/>
                </a:solidFill>
              </a:rPr>
              <a:t>특별보조금</a:t>
            </a:r>
            <a:r>
              <a:rPr lang="en-US" altLang="ko-KR" sz="900" i="1" dirty="0">
                <a:solidFill>
                  <a:prstClr val="black"/>
                </a:solidFill>
              </a:rPr>
              <a:t>, </a:t>
            </a:r>
            <a:r>
              <a:rPr lang="ko-KR" altLang="en-US" sz="900" i="1" dirty="0">
                <a:solidFill>
                  <a:prstClr val="black"/>
                </a:solidFill>
              </a:rPr>
              <a:t>장애연금</a:t>
            </a:r>
            <a:r>
              <a:rPr lang="en-US" altLang="ko-KR" sz="900" i="1" dirty="0">
                <a:solidFill>
                  <a:prstClr val="black"/>
                </a:solidFill>
              </a:rPr>
              <a:t>, </a:t>
            </a:r>
            <a:r>
              <a:rPr lang="ko-KR" altLang="en-US" sz="900" i="1" dirty="0">
                <a:solidFill>
                  <a:prstClr val="black"/>
                </a:solidFill>
              </a:rPr>
              <a:t>경기지도자연구비</a:t>
            </a:r>
            <a:r>
              <a:rPr lang="en-US" altLang="ko-KR" sz="900" i="1" dirty="0">
                <a:solidFill>
                  <a:prstClr val="black"/>
                </a:solidFill>
              </a:rPr>
              <a:t>, </a:t>
            </a:r>
            <a:r>
              <a:rPr lang="ko-KR" altLang="en-US" sz="900" i="1" dirty="0">
                <a:solidFill>
                  <a:prstClr val="black"/>
                </a:solidFill>
              </a:rPr>
              <a:t>복지후생금</a:t>
            </a:r>
            <a:r>
              <a:rPr lang="en-US" altLang="ko-KR" sz="900" i="1" dirty="0">
                <a:solidFill>
                  <a:prstClr val="black"/>
                </a:solidFill>
              </a:rPr>
              <a:t>(</a:t>
            </a:r>
            <a:r>
              <a:rPr lang="ko-KR" altLang="en-US" sz="900" i="1" dirty="0">
                <a:solidFill>
                  <a:prstClr val="black"/>
                </a:solidFill>
              </a:rPr>
              <a:t>생활보조비</a:t>
            </a:r>
            <a:r>
              <a:rPr lang="en-US" altLang="ko-KR" sz="900" i="1" dirty="0">
                <a:solidFill>
                  <a:prstClr val="black"/>
                </a:solidFill>
              </a:rPr>
              <a:t>, </a:t>
            </a:r>
            <a:r>
              <a:rPr lang="ko-KR" altLang="en-US" sz="900" i="1" dirty="0">
                <a:solidFill>
                  <a:prstClr val="black"/>
                </a:solidFill>
              </a:rPr>
              <a:t>체육전문가 전환지원</a:t>
            </a:r>
            <a:r>
              <a:rPr lang="en-US" altLang="ko-KR" sz="900" i="1" dirty="0">
                <a:solidFill>
                  <a:prstClr val="black"/>
                </a:solidFill>
              </a:rPr>
              <a:t>)</a:t>
            </a:r>
            <a:endParaRPr lang="ko-KR" altLang="en-US" sz="900" i="1" dirty="0">
              <a:solidFill>
                <a:prstClr val="black"/>
              </a:solidFill>
            </a:endParaRPr>
          </a:p>
        </p:txBody>
      </p:sp>
      <p:cxnSp>
        <p:nvCxnSpPr>
          <p:cNvPr id="138" name="Shape 266"/>
          <p:cNvCxnSpPr>
            <a:cxnSpLocks noChangeShapeType="1"/>
            <a:stCxn id="135" idx="3"/>
            <a:endCxn id="133" idx="0"/>
          </p:cNvCxnSpPr>
          <p:nvPr/>
        </p:nvCxnSpPr>
        <p:spPr bwMode="auto">
          <a:xfrm>
            <a:off x="3011080" y="4310635"/>
            <a:ext cx="1964447" cy="25833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9" name="직사각형 138"/>
          <p:cNvSpPr/>
          <p:nvPr/>
        </p:nvSpPr>
        <p:spPr bwMode="auto">
          <a:xfrm>
            <a:off x="4597314" y="548816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3 </a:t>
            </a:r>
            <a:r>
              <a:rPr lang="ko-KR" altLang="en-US" sz="900" kern="0" dirty="0">
                <a:solidFill>
                  <a:srgbClr val="508CD2"/>
                </a:solidFill>
              </a:rPr>
              <a:t>대상자추천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40" name="Shape 266"/>
          <p:cNvCxnSpPr>
            <a:cxnSpLocks noChangeShapeType="1"/>
            <a:stCxn id="157" idx="4"/>
            <a:endCxn id="139" idx="1"/>
          </p:cNvCxnSpPr>
          <p:nvPr/>
        </p:nvCxnSpPr>
        <p:spPr bwMode="auto">
          <a:xfrm rot="16200000" flipH="1">
            <a:off x="3641777" y="4693009"/>
            <a:ext cx="110443" cy="180063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1" name="TextBox 140"/>
          <p:cNvSpPr txBox="1"/>
          <p:nvPr/>
        </p:nvSpPr>
        <p:spPr>
          <a:xfrm>
            <a:off x="2719522" y="5866573"/>
            <a:ext cx="212079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i="1" spc="-100" dirty="0">
                <a:solidFill>
                  <a:prstClr val="black"/>
                </a:solidFill>
              </a:rPr>
              <a:t>복지후생금</a:t>
            </a:r>
            <a:r>
              <a:rPr lang="en-US" altLang="ko-KR" sz="800" i="1" spc="-100" dirty="0">
                <a:solidFill>
                  <a:prstClr val="black"/>
                </a:solidFill>
              </a:rPr>
              <a:t>(</a:t>
            </a:r>
            <a:r>
              <a:rPr lang="ko-KR" altLang="en-US" sz="800" i="1" spc="-100" dirty="0">
                <a:solidFill>
                  <a:prstClr val="black"/>
                </a:solidFill>
              </a:rPr>
              <a:t>대학원진학장학금</a:t>
            </a:r>
            <a:r>
              <a:rPr lang="en-US" altLang="ko-KR" sz="800" i="1" spc="-100" dirty="0">
                <a:solidFill>
                  <a:prstClr val="black"/>
                </a:solidFill>
              </a:rPr>
              <a:t>, </a:t>
            </a:r>
            <a:r>
              <a:rPr lang="ko-KR" altLang="en-US" sz="800" i="1" spc="-100" dirty="0">
                <a:solidFill>
                  <a:prstClr val="black"/>
                </a:solidFill>
              </a:rPr>
              <a:t>단기교육훈련비</a:t>
            </a:r>
            <a:r>
              <a:rPr lang="en-US" altLang="ko-KR" sz="800" i="1" spc="-100" dirty="0">
                <a:solidFill>
                  <a:prstClr val="black"/>
                </a:solidFill>
              </a:rPr>
              <a:t>)</a:t>
            </a:r>
            <a:endParaRPr lang="ko-KR" altLang="en-US" sz="800" i="1" spc="-100" dirty="0">
              <a:solidFill>
                <a:prstClr val="black"/>
              </a:solidFill>
            </a:endParaRPr>
          </a:p>
        </p:txBody>
      </p:sp>
      <p:cxnSp>
        <p:nvCxnSpPr>
          <p:cNvPr id="142" name="Shape 266"/>
          <p:cNvCxnSpPr>
            <a:cxnSpLocks noChangeShapeType="1"/>
            <a:stCxn id="128" idx="0"/>
            <a:endCxn id="139" idx="2"/>
          </p:cNvCxnSpPr>
          <p:nvPr/>
        </p:nvCxnSpPr>
        <p:spPr bwMode="auto">
          <a:xfrm flipV="1">
            <a:off x="4975527" y="5808932"/>
            <a:ext cx="0" cy="12799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" name="Shape 266"/>
          <p:cNvCxnSpPr>
            <a:cxnSpLocks noChangeShapeType="1"/>
            <a:stCxn id="139" idx="3"/>
            <a:endCxn id="144" idx="2"/>
          </p:cNvCxnSpPr>
          <p:nvPr/>
        </p:nvCxnSpPr>
        <p:spPr bwMode="auto">
          <a:xfrm flipV="1">
            <a:off x="5353739" y="4247127"/>
            <a:ext cx="341284" cy="140142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4" name="직사각형 143"/>
          <p:cNvSpPr/>
          <p:nvPr/>
        </p:nvSpPr>
        <p:spPr bwMode="auto">
          <a:xfrm>
            <a:off x="5316810" y="39263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5. </a:t>
            </a:r>
            <a:r>
              <a:rPr lang="ko-KR" altLang="en-US" sz="900" kern="0" dirty="0">
                <a:solidFill>
                  <a:srgbClr val="508CD2"/>
                </a:solidFill>
              </a:rPr>
              <a:t>추천</a:t>
            </a:r>
            <a:r>
              <a:rPr lang="en-US" altLang="ko-KR" sz="900" kern="0" dirty="0">
                <a:solidFill>
                  <a:srgbClr val="508CD2"/>
                </a:solidFill>
              </a:rPr>
              <a:t>/</a:t>
            </a:r>
            <a:r>
              <a:rPr lang="ko-KR" altLang="en-US" sz="900" kern="0" dirty="0">
                <a:solidFill>
                  <a:srgbClr val="508CD2"/>
                </a:solidFill>
              </a:rPr>
              <a:t>지원 접수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45" name="Shape 266"/>
          <p:cNvCxnSpPr>
            <a:cxnSpLocks noChangeShapeType="1"/>
            <a:stCxn id="128" idx="3"/>
          </p:cNvCxnSpPr>
          <p:nvPr/>
        </p:nvCxnSpPr>
        <p:spPr bwMode="auto">
          <a:xfrm flipV="1">
            <a:off x="5353739" y="4247127"/>
            <a:ext cx="537549" cy="185019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6" name="TextBox 145"/>
          <p:cNvSpPr txBox="1"/>
          <p:nvPr/>
        </p:nvSpPr>
        <p:spPr>
          <a:xfrm>
            <a:off x="5871069" y="4237640"/>
            <a:ext cx="262844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i="1" spc="-100" dirty="0">
                <a:solidFill>
                  <a:prstClr val="black"/>
                </a:solidFill>
              </a:rPr>
              <a:t>복지후생금</a:t>
            </a:r>
            <a:r>
              <a:rPr lang="en-US" altLang="ko-KR" sz="800" i="1" spc="-100" dirty="0">
                <a:solidFill>
                  <a:prstClr val="black"/>
                </a:solidFill>
              </a:rPr>
              <a:t>(</a:t>
            </a:r>
            <a:r>
              <a:rPr lang="ko-KR" altLang="en-US" sz="800" i="1" spc="-100" dirty="0">
                <a:solidFill>
                  <a:prstClr val="black"/>
                </a:solidFill>
              </a:rPr>
              <a:t>체육전문가전환지원</a:t>
            </a:r>
            <a:r>
              <a:rPr lang="en-US" altLang="ko-KR" sz="800" i="1" spc="-100" dirty="0">
                <a:solidFill>
                  <a:prstClr val="black"/>
                </a:solidFill>
              </a:rPr>
              <a:t>)</a:t>
            </a:r>
            <a:endParaRPr lang="ko-KR" altLang="en-US" sz="800" i="1" spc="-100" dirty="0">
              <a:solidFill>
                <a:prstClr val="black"/>
              </a:solidFill>
            </a:endParaRPr>
          </a:p>
        </p:txBody>
      </p:sp>
      <p:cxnSp>
        <p:nvCxnSpPr>
          <p:cNvPr id="147" name="Shape 266"/>
          <p:cNvCxnSpPr>
            <a:cxnSpLocks noChangeShapeType="1"/>
            <a:stCxn id="133" idx="3"/>
          </p:cNvCxnSpPr>
          <p:nvPr/>
        </p:nvCxnSpPr>
        <p:spPr bwMode="auto">
          <a:xfrm flipV="1">
            <a:off x="5353739" y="4235144"/>
            <a:ext cx="138013" cy="49420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8" name="직사각형 147"/>
          <p:cNvSpPr/>
          <p:nvPr/>
        </p:nvSpPr>
        <p:spPr bwMode="auto">
          <a:xfrm>
            <a:off x="5325382" y="344936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6. </a:t>
            </a:r>
            <a:r>
              <a:rPr lang="ko-KR" altLang="en-US" sz="900" kern="0" dirty="0">
                <a:solidFill>
                  <a:srgbClr val="508CD2"/>
                </a:solidFill>
              </a:rPr>
              <a:t>자격검토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49" name="Shape 266"/>
          <p:cNvCxnSpPr>
            <a:cxnSpLocks noChangeShapeType="1"/>
            <a:stCxn id="144" idx="0"/>
            <a:endCxn id="148" idx="2"/>
          </p:cNvCxnSpPr>
          <p:nvPr/>
        </p:nvCxnSpPr>
        <p:spPr bwMode="auto">
          <a:xfrm flipV="1">
            <a:off x="5695023" y="3770135"/>
            <a:ext cx="8572" cy="15622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0" name="Shape 266"/>
          <p:cNvCxnSpPr>
            <a:cxnSpLocks noChangeShapeType="1"/>
            <a:stCxn id="148" idx="3"/>
            <a:endCxn id="151" idx="1"/>
          </p:cNvCxnSpPr>
          <p:nvPr/>
        </p:nvCxnSpPr>
        <p:spPr bwMode="auto">
          <a:xfrm>
            <a:off x="6081807" y="3609750"/>
            <a:ext cx="383361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" name="순서도: 판단 150"/>
          <p:cNvSpPr>
            <a:spLocks noChangeArrowheads="1"/>
          </p:cNvSpPr>
          <p:nvPr/>
        </p:nvSpPr>
        <p:spPr bwMode="auto">
          <a:xfrm>
            <a:off x="6465168" y="3422633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보고 여부</a:t>
            </a:r>
          </a:p>
        </p:txBody>
      </p:sp>
      <p:cxnSp>
        <p:nvCxnSpPr>
          <p:cNvPr id="152" name="Shape 266"/>
          <p:cNvCxnSpPr>
            <a:cxnSpLocks noChangeShapeType="1"/>
            <a:stCxn id="151" idx="0"/>
            <a:endCxn id="155" idx="1"/>
          </p:cNvCxnSpPr>
          <p:nvPr/>
        </p:nvCxnSpPr>
        <p:spPr bwMode="auto">
          <a:xfrm rot="5400000" flipH="1" flipV="1">
            <a:off x="7134901" y="2616203"/>
            <a:ext cx="516615" cy="109624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3" name="Shape 266"/>
          <p:cNvCxnSpPr>
            <a:cxnSpLocks noChangeShapeType="1"/>
            <a:stCxn id="151" idx="2"/>
            <a:endCxn id="166" idx="1"/>
          </p:cNvCxnSpPr>
          <p:nvPr/>
        </p:nvCxnSpPr>
        <p:spPr bwMode="auto">
          <a:xfrm rot="16200000" flipH="1">
            <a:off x="7648934" y="2993016"/>
            <a:ext cx="230220" cy="183791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직사각형 153"/>
          <p:cNvSpPr/>
          <p:nvPr/>
        </p:nvSpPr>
        <p:spPr bwMode="auto">
          <a:xfrm>
            <a:off x="8697075" y="427206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10 </a:t>
            </a:r>
            <a:r>
              <a:rPr lang="ko-KR" altLang="en-US" sz="900" kern="0" dirty="0">
                <a:solidFill>
                  <a:srgbClr val="508CD2"/>
                </a:solidFill>
              </a:rPr>
              <a:t>검토</a:t>
            </a:r>
            <a:r>
              <a:rPr lang="en-US" altLang="ko-KR" sz="900" kern="0" dirty="0">
                <a:solidFill>
                  <a:srgbClr val="508CD2"/>
                </a:solidFill>
              </a:rPr>
              <a:t>/</a:t>
            </a:r>
            <a:r>
              <a:rPr lang="ko-KR" altLang="en-US" sz="900" kern="0" dirty="0">
                <a:solidFill>
                  <a:srgbClr val="508CD2"/>
                </a:solidFill>
              </a:rPr>
              <a:t>심의 결과 통보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55" name="직사각형 154"/>
          <p:cNvSpPr/>
          <p:nvPr/>
        </p:nvSpPr>
        <p:spPr bwMode="auto">
          <a:xfrm>
            <a:off x="7941332" y="27456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심의</a:t>
            </a:r>
            <a:r>
              <a:rPr lang="en-US" altLang="ko-KR" sz="900" kern="0" dirty="0">
                <a:solidFill>
                  <a:prstClr val="black"/>
                </a:solidFill>
              </a:rPr>
              <a:t>/</a:t>
            </a:r>
            <a:r>
              <a:rPr lang="ko-KR" altLang="en-US" sz="900" kern="0" dirty="0">
                <a:solidFill>
                  <a:prstClr val="black"/>
                </a:solidFill>
              </a:rPr>
              <a:t>의결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56" name="직사각형 155"/>
          <p:cNvSpPr/>
          <p:nvPr/>
        </p:nvSpPr>
        <p:spPr bwMode="auto">
          <a:xfrm>
            <a:off x="7941332" y="31386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검토 및 지급결정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57" name="타원 156"/>
          <p:cNvSpPr/>
          <p:nvPr/>
        </p:nvSpPr>
        <p:spPr>
          <a:xfrm>
            <a:off x="2731523" y="5365084"/>
            <a:ext cx="130319" cy="173020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</a:endParaRPr>
          </a:p>
        </p:txBody>
      </p:sp>
      <p:cxnSp>
        <p:nvCxnSpPr>
          <p:cNvPr id="158" name="Shape 266"/>
          <p:cNvCxnSpPr>
            <a:cxnSpLocks noChangeShapeType="1"/>
            <a:stCxn id="151" idx="3"/>
            <a:endCxn id="156" idx="1"/>
          </p:cNvCxnSpPr>
          <p:nvPr/>
        </p:nvCxnSpPr>
        <p:spPr bwMode="auto">
          <a:xfrm flipV="1">
            <a:off x="7225002" y="3299083"/>
            <a:ext cx="716330" cy="31066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9" name="TextBox 158"/>
          <p:cNvSpPr txBox="1"/>
          <p:nvPr/>
        </p:nvSpPr>
        <p:spPr>
          <a:xfrm>
            <a:off x="6851061" y="2944266"/>
            <a:ext cx="97293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Y(</a:t>
            </a:r>
            <a:r>
              <a:rPr lang="ko-KR" altLang="en-US" sz="900" dirty="0">
                <a:solidFill>
                  <a:prstClr val="black"/>
                </a:solidFill>
              </a:rPr>
              <a:t>특별보조금</a:t>
            </a:r>
            <a:r>
              <a:rPr lang="en-US" altLang="ko-KR" sz="900" dirty="0">
                <a:solidFill>
                  <a:prstClr val="black"/>
                </a:solidFill>
              </a:rPr>
              <a:t>)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6894934" y="3810940"/>
            <a:ext cx="3080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1" name="TextBox 160"/>
          <p:cNvSpPr txBox="1"/>
          <p:nvPr/>
        </p:nvSpPr>
        <p:spPr>
          <a:xfrm>
            <a:off x="7579768" y="3444177"/>
            <a:ext cx="175069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Y(</a:t>
            </a:r>
            <a:r>
              <a:rPr lang="ko-KR" altLang="en-US" sz="900" dirty="0">
                <a:solidFill>
                  <a:prstClr val="black"/>
                </a:solidFill>
              </a:rPr>
              <a:t>체육장학금</a:t>
            </a:r>
            <a:r>
              <a:rPr lang="en-US" altLang="ko-KR" sz="900" dirty="0">
                <a:solidFill>
                  <a:prstClr val="black"/>
                </a:solidFill>
              </a:rPr>
              <a:t>, </a:t>
            </a:r>
            <a:r>
              <a:rPr lang="ko-KR" altLang="en-US" sz="900" dirty="0">
                <a:solidFill>
                  <a:prstClr val="black"/>
                </a:solidFill>
              </a:rPr>
              <a:t>국외유학지원금</a:t>
            </a:r>
            <a:r>
              <a:rPr lang="en-US" altLang="ko-KR" sz="900" dirty="0">
                <a:solidFill>
                  <a:prstClr val="black"/>
                </a:solidFill>
              </a:rPr>
              <a:t>)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2" name="타원 161"/>
          <p:cNvSpPr/>
          <p:nvPr/>
        </p:nvSpPr>
        <p:spPr>
          <a:xfrm>
            <a:off x="8974130" y="5528554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cxnSp>
        <p:nvCxnSpPr>
          <p:cNvPr id="163" name="Shape 266"/>
          <p:cNvCxnSpPr>
            <a:cxnSpLocks noChangeShapeType="1"/>
            <a:stCxn id="155" idx="3"/>
          </p:cNvCxnSpPr>
          <p:nvPr/>
        </p:nvCxnSpPr>
        <p:spPr bwMode="auto">
          <a:xfrm>
            <a:off x="8697757" y="2906018"/>
            <a:ext cx="554856" cy="95527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4" name="Shape 266"/>
          <p:cNvCxnSpPr>
            <a:cxnSpLocks noChangeShapeType="1"/>
            <a:stCxn id="156" idx="3"/>
            <a:endCxn id="166" idx="0"/>
          </p:cNvCxnSpPr>
          <p:nvPr/>
        </p:nvCxnSpPr>
        <p:spPr bwMode="auto">
          <a:xfrm>
            <a:off x="8697757" y="3299083"/>
            <a:ext cx="363460" cy="56761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5" name="Shape 266"/>
          <p:cNvCxnSpPr>
            <a:cxnSpLocks noChangeShapeType="1"/>
            <a:stCxn id="154" idx="2"/>
            <a:endCxn id="162" idx="0"/>
          </p:cNvCxnSpPr>
          <p:nvPr/>
        </p:nvCxnSpPr>
        <p:spPr bwMode="auto">
          <a:xfrm flipH="1">
            <a:off x="9075287" y="4592836"/>
            <a:ext cx="1" cy="93571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6" name="직사각형 165"/>
          <p:cNvSpPr/>
          <p:nvPr/>
        </p:nvSpPr>
        <p:spPr bwMode="auto">
          <a:xfrm>
            <a:off x="8683004" y="38667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508CD2"/>
                </a:solidFill>
              </a:rPr>
              <a:t>9. </a:t>
            </a:r>
            <a:r>
              <a:rPr lang="ko-KR" altLang="en-US" sz="900" kern="0" dirty="0">
                <a:solidFill>
                  <a:srgbClr val="508CD2"/>
                </a:solidFill>
              </a:rPr>
              <a:t>검토</a:t>
            </a:r>
            <a:r>
              <a:rPr lang="en-US" altLang="ko-KR" sz="900" kern="0" dirty="0">
                <a:solidFill>
                  <a:srgbClr val="508CD2"/>
                </a:solidFill>
              </a:rPr>
              <a:t>/</a:t>
            </a:r>
            <a:r>
              <a:rPr lang="ko-KR" altLang="en-US" sz="900" kern="0" dirty="0">
                <a:solidFill>
                  <a:srgbClr val="508CD2"/>
                </a:solidFill>
              </a:rPr>
              <a:t>심의 결과 등록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67" name="Shape 266"/>
          <p:cNvCxnSpPr>
            <a:cxnSpLocks noChangeShapeType="1"/>
            <a:stCxn id="166" idx="2"/>
            <a:endCxn id="154" idx="0"/>
          </p:cNvCxnSpPr>
          <p:nvPr/>
        </p:nvCxnSpPr>
        <p:spPr bwMode="auto">
          <a:xfrm>
            <a:off x="9061217" y="4187471"/>
            <a:ext cx="14071" cy="845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8" name="Shape 266"/>
          <p:cNvCxnSpPr>
            <a:cxnSpLocks noChangeShapeType="1"/>
            <a:stCxn id="176" idx="3"/>
            <a:endCxn id="148" idx="0"/>
          </p:cNvCxnSpPr>
          <p:nvPr/>
        </p:nvCxnSpPr>
        <p:spPr bwMode="auto">
          <a:xfrm rot="5400000">
            <a:off x="5380719" y="3125216"/>
            <a:ext cx="647024" cy="127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9" name="순서도: 문서 78"/>
          <p:cNvSpPr>
            <a:spLocks noChangeAspect="1" noChangeArrowheads="1"/>
          </p:cNvSpPr>
          <p:nvPr/>
        </p:nvSpPr>
        <p:spPr bwMode="auto">
          <a:xfrm>
            <a:off x="5393802" y="2908807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지원금별 자격정보</a:t>
            </a:r>
          </a:p>
        </p:txBody>
      </p:sp>
      <p:sp>
        <p:nvSpPr>
          <p:cNvPr id="170" name="순서도: 문서 78"/>
          <p:cNvSpPr>
            <a:spLocks noChangeAspect="1" noChangeArrowheads="1"/>
          </p:cNvSpPr>
          <p:nvPr/>
        </p:nvSpPr>
        <p:spPr bwMode="auto">
          <a:xfrm>
            <a:off x="3143644" y="3378071"/>
            <a:ext cx="1179686" cy="834977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대상자정보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latinLnBrk="0"/>
            <a:r>
              <a:rPr lang="en-US" altLang="ko-KR" sz="800" kern="0" spc="-100" dirty="0">
                <a:solidFill>
                  <a:prstClr val="black"/>
                </a:solidFill>
              </a:rPr>
              <a:t> (</a:t>
            </a:r>
            <a:r>
              <a:rPr lang="ko-KR" altLang="en-US" sz="800" kern="0" spc="-100" dirty="0">
                <a:solidFill>
                  <a:prstClr val="black"/>
                </a:solidFill>
              </a:rPr>
              <a:t>인적정보</a:t>
            </a:r>
            <a:r>
              <a:rPr lang="en-US" altLang="ko-KR" sz="800" kern="0" spc="-100" dirty="0">
                <a:solidFill>
                  <a:prstClr val="black"/>
                </a:solidFill>
              </a:rPr>
              <a:t>, </a:t>
            </a:r>
            <a:r>
              <a:rPr lang="ko-KR" altLang="en-US" sz="800" kern="0" spc="-100" dirty="0">
                <a:solidFill>
                  <a:prstClr val="black"/>
                </a:solidFill>
              </a:rPr>
              <a:t>입상</a:t>
            </a:r>
            <a:r>
              <a:rPr lang="en-US" altLang="ko-KR" sz="800" kern="0" spc="-100" dirty="0">
                <a:solidFill>
                  <a:prstClr val="black"/>
                </a:solidFill>
              </a:rPr>
              <a:t>/</a:t>
            </a:r>
            <a:r>
              <a:rPr lang="ko-KR" altLang="en-US" sz="800" kern="0" spc="-100" dirty="0">
                <a:solidFill>
                  <a:prstClr val="black"/>
                </a:solidFill>
              </a:rPr>
              <a:t>포상정보</a:t>
            </a:r>
            <a:r>
              <a:rPr lang="en-US" altLang="ko-KR" sz="800" kern="0" spc="-100" dirty="0">
                <a:solidFill>
                  <a:prstClr val="black"/>
                </a:solidFill>
              </a:rPr>
              <a:t> </a:t>
            </a:r>
            <a:r>
              <a:rPr lang="ko-KR" altLang="en-US" sz="800" kern="0" spc="-100" dirty="0">
                <a:solidFill>
                  <a:prstClr val="black"/>
                </a:solidFill>
              </a:rPr>
              <a:t>등</a:t>
            </a:r>
            <a:r>
              <a:rPr lang="en-US" altLang="ko-KR" sz="800" kern="0" spc="-100" dirty="0">
                <a:solidFill>
                  <a:prstClr val="black"/>
                </a:solidFill>
              </a:rPr>
              <a:t>)</a:t>
            </a:r>
          </a:p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추천정보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latinLnBrk="0"/>
            <a:r>
              <a:rPr lang="en-US" altLang="ko-KR" sz="800" kern="0" dirty="0">
                <a:solidFill>
                  <a:prstClr val="black"/>
                </a:solidFill>
              </a:rPr>
              <a:t> (</a:t>
            </a:r>
            <a:r>
              <a:rPr lang="ko-KR" altLang="en-US" sz="800" kern="0" dirty="0">
                <a:solidFill>
                  <a:prstClr val="black"/>
                </a:solidFill>
              </a:rPr>
              <a:t>추천사유정보 등</a:t>
            </a:r>
            <a:r>
              <a:rPr lang="en-US" altLang="ko-KR" sz="800" kern="0" dirty="0">
                <a:solidFill>
                  <a:prstClr val="black"/>
                </a:solidFill>
              </a:rPr>
              <a:t>)</a:t>
            </a:r>
          </a:p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평가점수정보 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71" name="Shape 266"/>
          <p:cNvCxnSpPr>
            <a:cxnSpLocks noChangeShapeType="1"/>
            <a:stCxn id="177" idx="3"/>
            <a:endCxn id="148" idx="1"/>
          </p:cNvCxnSpPr>
          <p:nvPr/>
        </p:nvCxnSpPr>
        <p:spPr bwMode="auto">
          <a:xfrm rot="16200000" flipH="1">
            <a:off x="4642761" y="2927129"/>
            <a:ext cx="801148" cy="56409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2" name="순서도: 문서 78"/>
          <p:cNvSpPr>
            <a:spLocks noChangeAspect="1" noChangeArrowheads="1"/>
          </p:cNvSpPr>
          <p:nvPr/>
        </p:nvSpPr>
        <p:spPr bwMode="auto">
          <a:xfrm>
            <a:off x="4501370" y="2908807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대상자별 지급정보</a:t>
            </a:r>
          </a:p>
        </p:txBody>
      </p:sp>
      <p:cxnSp>
        <p:nvCxnSpPr>
          <p:cNvPr id="173" name="Shape 266"/>
          <p:cNvCxnSpPr>
            <a:cxnSpLocks noChangeShapeType="1"/>
            <a:stCxn id="174" idx="2"/>
          </p:cNvCxnSpPr>
          <p:nvPr/>
        </p:nvCxnSpPr>
        <p:spPr bwMode="auto">
          <a:xfrm rot="10800000" flipV="1">
            <a:off x="8077339" y="4112110"/>
            <a:ext cx="570612" cy="58306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4" name="타원 173"/>
          <p:cNvSpPr/>
          <p:nvPr/>
        </p:nvSpPr>
        <p:spPr>
          <a:xfrm>
            <a:off x="8647951" y="4010846"/>
            <a:ext cx="253639" cy="202527"/>
          </a:xfrm>
          <a:prstGeom prst="ellipse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prstClr val="black"/>
              </a:solidFill>
            </a:endParaRPr>
          </a:p>
        </p:txBody>
      </p:sp>
      <p:sp>
        <p:nvSpPr>
          <p:cNvPr id="175" name="순서도: 문서 78"/>
          <p:cNvSpPr>
            <a:spLocks noChangeAspect="1" noChangeArrowheads="1"/>
          </p:cNvSpPr>
          <p:nvPr/>
        </p:nvSpPr>
        <p:spPr bwMode="auto">
          <a:xfrm>
            <a:off x="7523062" y="4227570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대상자정보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확정정보</a:t>
            </a:r>
            <a:r>
              <a:rPr lang="en-US" altLang="ko-KR" sz="900" kern="0" dirty="0">
                <a:solidFill>
                  <a:prstClr val="black"/>
                </a:solidFill>
              </a:rPr>
              <a:t>)</a:t>
            </a:r>
            <a:endParaRPr lang="ko-KR" altLang="en-US" sz="900" kern="0" dirty="0">
              <a:solidFill>
                <a:prstClr val="black"/>
              </a:solidFill>
            </a:endParaRPr>
          </a:p>
        </p:txBody>
      </p:sp>
      <p:sp>
        <p:nvSpPr>
          <p:cNvPr id="176" name="원통 68"/>
          <p:cNvSpPr>
            <a:spLocks noChangeAspect="1" noChangeArrowheads="1"/>
          </p:cNvSpPr>
          <p:nvPr/>
        </p:nvSpPr>
        <p:spPr bwMode="auto">
          <a:xfrm>
            <a:off x="5323926" y="2376526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spc="-100" dirty="0">
                <a:solidFill>
                  <a:prstClr val="black"/>
                </a:solidFill>
              </a:rPr>
              <a:t>지원자격정보</a:t>
            </a:r>
            <a:endParaRPr kumimoji="1" lang="ko-KR" altLang="en-US" sz="600" b="1" kern="0" spc="-190" dirty="0">
              <a:solidFill>
                <a:prstClr val="black"/>
              </a:solidFill>
            </a:endParaRPr>
          </a:p>
        </p:txBody>
      </p:sp>
      <p:sp>
        <p:nvSpPr>
          <p:cNvPr id="177" name="원통 68"/>
          <p:cNvSpPr>
            <a:spLocks noChangeAspect="1" noChangeArrowheads="1"/>
          </p:cNvSpPr>
          <p:nvPr/>
        </p:nvSpPr>
        <p:spPr bwMode="auto">
          <a:xfrm>
            <a:off x="4380347" y="2382788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spc="-100" dirty="0">
                <a:solidFill>
                  <a:prstClr val="black"/>
                </a:solidFill>
              </a:rPr>
              <a:t>지급이력정보</a:t>
            </a:r>
            <a:endParaRPr kumimoji="1" lang="ko-KR" altLang="en-US" sz="600" b="1" kern="0" spc="-190" dirty="0">
              <a:solidFill>
                <a:prstClr val="black"/>
              </a:solidFill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3688386" y="5466775"/>
            <a:ext cx="87169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i="1" dirty="0">
                <a:solidFill>
                  <a:prstClr val="black"/>
                </a:solidFill>
              </a:rPr>
              <a:t>특별보조금</a:t>
            </a:r>
          </a:p>
        </p:txBody>
      </p:sp>
      <p:cxnSp>
        <p:nvCxnSpPr>
          <p:cNvPr id="179" name="Shape 266"/>
          <p:cNvCxnSpPr>
            <a:cxnSpLocks noChangeShapeType="1"/>
            <a:stCxn id="170" idx="3"/>
            <a:endCxn id="144" idx="1"/>
          </p:cNvCxnSpPr>
          <p:nvPr/>
        </p:nvCxnSpPr>
        <p:spPr bwMode="auto">
          <a:xfrm>
            <a:off x="4323330" y="3795560"/>
            <a:ext cx="993480" cy="291182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0" name="원통 68"/>
          <p:cNvSpPr>
            <a:spLocks noChangeAspect="1" noChangeArrowheads="1"/>
          </p:cNvSpPr>
          <p:nvPr/>
        </p:nvSpPr>
        <p:spPr bwMode="auto">
          <a:xfrm>
            <a:off x="7480374" y="4709795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spc="-100" dirty="0">
                <a:solidFill>
                  <a:prstClr val="black"/>
                </a:solidFill>
              </a:rPr>
              <a:t>지급대상자 정보</a:t>
            </a:r>
            <a:endParaRPr kumimoji="1" lang="ko-KR" altLang="en-US" sz="600" b="1" kern="0" spc="-19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9972193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지원금지원 신체육인복지지원 업무를 위한 대상자추천</a:t>
            </a:r>
            <a:r>
              <a:rPr lang="en-US" altLang="ko-KR" sz="1600" dirty="0"/>
              <a:t>, </a:t>
            </a:r>
            <a:r>
              <a:rPr lang="ko-KR" altLang="en-US" sz="1600" dirty="0"/>
              <a:t>지원신청 등을 정보화하고 통합재무를 통해 지급처리하며</a:t>
            </a:r>
            <a:r>
              <a:rPr lang="en-US" altLang="ko-KR" sz="1600" dirty="0"/>
              <a:t>, </a:t>
            </a:r>
            <a:r>
              <a:rPr lang="ko-KR" altLang="en-US" sz="1600" dirty="0"/>
              <a:t>각종 증명을 다양한 채널을 통해 신청하고 발급할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3.4.2.9 </a:t>
            </a:r>
            <a:r>
              <a:rPr lang="ko-KR" altLang="en-US" dirty="0"/>
              <a:t>직접지원관리</a:t>
            </a:r>
            <a:r>
              <a:rPr lang="en-US" altLang="ko-KR" dirty="0"/>
              <a:t>&gt;</a:t>
            </a:r>
            <a:r>
              <a:rPr lang="ko-KR" altLang="en-US" dirty="0"/>
              <a:t>신체육인복지지원 </a:t>
            </a:r>
            <a:r>
              <a:rPr lang="en-US" altLang="ko-KR" dirty="0"/>
              <a:t>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735968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기금지원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&gt; 4.4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직접지원관리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4.4.1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신체육인복지지원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4" name="표 1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6233026"/>
              </p:ext>
            </p:extLst>
          </p:nvPr>
        </p:nvGraphicFramePr>
        <p:xfrm>
          <a:off x="344488" y="1950740"/>
          <a:ext cx="9181020" cy="44305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0851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63640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4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4.4.1.3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지원금 지급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4.4.1.4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증명서 발급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15288">
                <a:tc rowSpan="4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60040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이사장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600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재무관리팀</a:t>
                      </a:r>
                      <a:endParaRPr lang="en-US" altLang="ko-KR" sz="11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r>
                        <a:rPr lang="ko-KR" altLang="en-US" sz="11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자금운용팀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575036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체육진흥팀 신체육인 복지지원 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296144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지원대상자</a:t>
                      </a:r>
                      <a:endParaRPr lang="en-US" altLang="ko-KR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관련타인 포함</a:t>
                      </a:r>
                      <a:r>
                        <a:rPr lang="en-US" altLang="ko-KR" sz="1100" b="0" i="0" u="none" strike="noStrike" spc="-100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1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125" name="Shape 266"/>
          <p:cNvCxnSpPr>
            <a:cxnSpLocks noChangeShapeType="1"/>
            <a:stCxn id="129" idx="2"/>
          </p:cNvCxnSpPr>
          <p:nvPr/>
        </p:nvCxnSpPr>
        <p:spPr bwMode="auto">
          <a:xfrm flipH="1">
            <a:off x="2657563" y="5717446"/>
            <a:ext cx="1705" cy="18711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6" name="Shape 266"/>
          <p:cNvCxnSpPr>
            <a:cxnSpLocks noChangeShapeType="1"/>
            <a:stCxn id="127" idx="4"/>
            <a:endCxn id="128" idx="0"/>
          </p:cNvCxnSpPr>
          <p:nvPr/>
        </p:nvCxnSpPr>
        <p:spPr bwMode="auto">
          <a:xfrm>
            <a:off x="1694808" y="4982912"/>
            <a:ext cx="1" cy="38990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" name="타원 126"/>
          <p:cNvSpPr/>
          <p:nvPr/>
        </p:nvSpPr>
        <p:spPr>
          <a:xfrm>
            <a:off x="1593651" y="4797152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000" b="1" kern="0" dirty="0">
                <a:solidFill>
                  <a:prstClr val="white"/>
                </a:solidFill>
                <a:latin typeface="돋움"/>
                <a:ea typeface="돋움"/>
              </a:rPr>
              <a:t>1</a:t>
            </a:r>
            <a:endParaRPr kumimoji="1" lang="ko-KR" altLang="en-US" sz="1000" b="1" kern="0" dirty="0">
              <a:solidFill>
                <a:prstClr val="white"/>
              </a:solidFill>
              <a:latin typeface="돋움"/>
              <a:ea typeface="돋움"/>
            </a:endParaRPr>
          </a:p>
        </p:txBody>
      </p:sp>
      <p:sp>
        <p:nvSpPr>
          <p:cNvPr id="128" name="직사각형 127"/>
          <p:cNvSpPr/>
          <p:nvPr/>
        </p:nvSpPr>
        <p:spPr bwMode="auto">
          <a:xfrm>
            <a:off x="1316596" y="5372813"/>
            <a:ext cx="756425" cy="321923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>
                <a:solidFill>
                  <a:prstClr val="black"/>
                </a:solidFill>
              </a:rPr>
              <a:t>11.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통보내용확인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29" name="순서도: 판단 128"/>
          <p:cNvSpPr>
            <a:spLocks noChangeArrowheads="1"/>
          </p:cNvSpPr>
          <p:nvPr/>
        </p:nvSpPr>
        <p:spPr bwMode="auto">
          <a:xfrm>
            <a:off x="2279351" y="5343213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탈락 여부</a:t>
            </a:r>
          </a:p>
        </p:txBody>
      </p:sp>
      <p:cxnSp>
        <p:nvCxnSpPr>
          <p:cNvPr id="130" name="Shape 266"/>
          <p:cNvCxnSpPr>
            <a:cxnSpLocks noChangeShapeType="1"/>
            <a:stCxn id="128" idx="3"/>
            <a:endCxn id="129" idx="1"/>
          </p:cNvCxnSpPr>
          <p:nvPr/>
        </p:nvCxnSpPr>
        <p:spPr bwMode="auto">
          <a:xfrm flipV="1">
            <a:off x="2073021" y="5530330"/>
            <a:ext cx="206330" cy="344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1" name="육각형 130"/>
          <p:cNvSpPr/>
          <p:nvPr/>
        </p:nvSpPr>
        <p:spPr bwMode="auto">
          <a:xfrm>
            <a:off x="2279351" y="5904563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탈락결과 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35" name="직사각형 134"/>
          <p:cNvSpPr/>
          <p:nvPr/>
        </p:nvSpPr>
        <p:spPr bwMode="auto">
          <a:xfrm>
            <a:off x="4953000" y="59029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pc="-100" dirty="0" smtClean="0">
                <a:solidFill>
                  <a:prstClr val="black"/>
                </a:solidFill>
              </a:rPr>
              <a:t>12. </a:t>
            </a:r>
            <a:r>
              <a:rPr lang="ko-KR" altLang="en-US" sz="900" kern="0" spc="-100" dirty="0">
                <a:solidFill>
                  <a:prstClr val="black"/>
                </a:solidFill>
              </a:rPr>
              <a:t>이체확인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cxnSp>
        <p:nvCxnSpPr>
          <p:cNvPr id="139" name="Shape 266"/>
          <p:cNvCxnSpPr>
            <a:cxnSpLocks noChangeShapeType="1"/>
            <a:stCxn id="129" idx="0"/>
            <a:endCxn id="60" idx="1"/>
          </p:cNvCxnSpPr>
          <p:nvPr/>
        </p:nvCxnSpPr>
        <p:spPr bwMode="auto">
          <a:xfrm rot="5400000" flipH="1" flipV="1">
            <a:off x="2347747" y="4622796"/>
            <a:ext cx="1031939" cy="40889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2" name="Shape 266"/>
          <p:cNvCxnSpPr>
            <a:cxnSpLocks noChangeShapeType="1"/>
            <a:stCxn id="60" idx="3"/>
            <a:endCxn id="61" idx="1"/>
          </p:cNvCxnSpPr>
          <p:nvPr/>
        </p:nvCxnSpPr>
        <p:spPr bwMode="auto">
          <a:xfrm flipV="1">
            <a:off x="3829004" y="3300929"/>
            <a:ext cx="217464" cy="1010345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4" name="Shape 266"/>
          <p:cNvCxnSpPr>
            <a:cxnSpLocks noChangeShapeType="1"/>
            <a:stCxn id="62" idx="2"/>
            <a:endCxn id="135" idx="0"/>
          </p:cNvCxnSpPr>
          <p:nvPr/>
        </p:nvCxnSpPr>
        <p:spPr bwMode="auto">
          <a:xfrm rot="5400000">
            <a:off x="4130240" y="4699749"/>
            <a:ext cx="2404154" cy="220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7" name="순서도: 판단 146"/>
          <p:cNvSpPr>
            <a:spLocks noChangeArrowheads="1"/>
          </p:cNvSpPr>
          <p:nvPr/>
        </p:nvSpPr>
        <p:spPr bwMode="auto">
          <a:xfrm>
            <a:off x="6105128" y="5878672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증명 필요 여부</a:t>
            </a:r>
          </a:p>
        </p:txBody>
      </p:sp>
      <p:sp>
        <p:nvSpPr>
          <p:cNvPr id="148" name="직사각형 147"/>
          <p:cNvSpPr/>
          <p:nvPr/>
        </p:nvSpPr>
        <p:spPr bwMode="auto">
          <a:xfrm>
            <a:off x="6106833" y="522710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srgbClr val="508CD2"/>
                </a:solidFill>
              </a:rPr>
              <a:t>13 </a:t>
            </a:r>
            <a:r>
              <a:rPr lang="ko-KR" altLang="en-US" sz="900" kern="0" dirty="0">
                <a:solidFill>
                  <a:srgbClr val="508CD2"/>
                </a:solidFill>
              </a:rPr>
              <a:t>증명발급 신청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49" name="직사각형 148"/>
          <p:cNvSpPr/>
          <p:nvPr/>
        </p:nvSpPr>
        <p:spPr bwMode="auto">
          <a:xfrm>
            <a:off x="6106833" y="376363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srgbClr val="508CD2"/>
                </a:solidFill>
              </a:rPr>
              <a:t>14. </a:t>
            </a:r>
            <a:r>
              <a:rPr lang="ko-KR" altLang="en-US" sz="900" kern="0" dirty="0">
                <a:solidFill>
                  <a:srgbClr val="508CD2"/>
                </a:solidFill>
              </a:rPr>
              <a:t>신청검토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sp>
        <p:nvSpPr>
          <p:cNvPr id="150" name="순서도: 판단 149"/>
          <p:cNvSpPr>
            <a:spLocks noChangeArrowheads="1"/>
          </p:cNvSpPr>
          <p:nvPr/>
        </p:nvSpPr>
        <p:spPr bwMode="auto">
          <a:xfrm>
            <a:off x="6994214" y="3747349"/>
            <a:ext cx="759834" cy="374233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발급 대상</a:t>
            </a:r>
          </a:p>
        </p:txBody>
      </p:sp>
      <p:cxnSp>
        <p:nvCxnSpPr>
          <p:cNvPr id="151" name="Shape 266"/>
          <p:cNvCxnSpPr>
            <a:cxnSpLocks noChangeShapeType="1"/>
            <a:stCxn id="135" idx="3"/>
            <a:endCxn id="147" idx="1"/>
          </p:cNvCxnSpPr>
          <p:nvPr/>
        </p:nvCxnSpPr>
        <p:spPr bwMode="auto">
          <a:xfrm>
            <a:off x="5709425" y="6063315"/>
            <a:ext cx="395703" cy="247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2" name="Shape 266"/>
          <p:cNvCxnSpPr>
            <a:cxnSpLocks noChangeShapeType="1"/>
            <a:stCxn id="147" idx="0"/>
            <a:endCxn id="148" idx="2"/>
          </p:cNvCxnSpPr>
          <p:nvPr/>
        </p:nvCxnSpPr>
        <p:spPr bwMode="auto">
          <a:xfrm flipV="1">
            <a:off x="6485045" y="5547875"/>
            <a:ext cx="1" cy="330797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3" name="Shape 266"/>
          <p:cNvCxnSpPr>
            <a:cxnSpLocks noChangeShapeType="1"/>
            <a:stCxn id="149" idx="3"/>
            <a:endCxn id="150" idx="1"/>
          </p:cNvCxnSpPr>
          <p:nvPr/>
        </p:nvCxnSpPr>
        <p:spPr bwMode="auto">
          <a:xfrm>
            <a:off x="6863258" y="3924016"/>
            <a:ext cx="130956" cy="104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4" name="Shape 266"/>
          <p:cNvCxnSpPr>
            <a:cxnSpLocks noChangeShapeType="1"/>
            <a:stCxn id="150" idx="2"/>
          </p:cNvCxnSpPr>
          <p:nvPr/>
        </p:nvCxnSpPr>
        <p:spPr bwMode="auto">
          <a:xfrm>
            <a:off x="7374131" y="4121582"/>
            <a:ext cx="6383" cy="175795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5" name="Shape 266"/>
          <p:cNvCxnSpPr>
            <a:cxnSpLocks noChangeShapeType="1"/>
            <a:stCxn id="147" idx="3"/>
            <a:endCxn id="156" idx="3"/>
          </p:cNvCxnSpPr>
          <p:nvPr/>
        </p:nvCxnSpPr>
        <p:spPr bwMode="auto">
          <a:xfrm>
            <a:off x="6864962" y="6065789"/>
            <a:ext cx="127955" cy="265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6" name="육각형 155"/>
          <p:cNvSpPr/>
          <p:nvPr/>
        </p:nvSpPr>
        <p:spPr bwMode="auto">
          <a:xfrm>
            <a:off x="6992917" y="5863295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지급처리 완료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57" name="육각형 156"/>
          <p:cNvSpPr/>
          <p:nvPr/>
        </p:nvSpPr>
        <p:spPr bwMode="auto">
          <a:xfrm>
            <a:off x="8729545" y="3714736"/>
            <a:ext cx="756425" cy="410305"/>
          </a:xfrm>
          <a:prstGeom prst="hexagon">
            <a:avLst/>
          </a:prstGeom>
          <a:solidFill>
            <a:srgbClr val="FFFFFF"/>
          </a:solidFill>
          <a:ln w="9525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>
            <a:noAutofit/>
          </a:bodyPr>
          <a:lstStyle/>
          <a:p>
            <a:pPr algn="ctr" latinLnBrk="0">
              <a:defRPr/>
            </a:pPr>
            <a:r>
              <a:rPr lang="ko-KR" altLang="en-US" sz="900" kern="0" spc="-100" dirty="0">
                <a:solidFill>
                  <a:prstClr val="black"/>
                </a:solidFill>
              </a:rPr>
              <a:t>발급처리 완료</a:t>
            </a:r>
            <a:endParaRPr lang="en-US" altLang="ko-KR" sz="900" kern="0" spc="-100" dirty="0">
              <a:solidFill>
                <a:prstClr val="black"/>
              </a:solidFill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2614762" y="5637514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2654568" y="5107770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7648592" y="3678932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1" name="TextBox 160"/>
          <p:cNvSpPr txBox="1"/>
          <p:nvPr/>
        </p:nvSpPr>
        <p:spPr>
          <a:xfrm>
            <a:off x="7348716" y="4119175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cxnSp>
        <p:nvCxnSpPr>
          <p:cNvPr id="162" name="Shape 266"/>
          <p:cNvCxnSpPr>
            <a:cxnSpLocks noChangeShapeType="1"/>
            <a:stCxn id="148" idx="0"/>
            <a:endCxn id="149" idx="2"/>
          </p:cNvCxnSpPr>
          <p:nvPr/>
        </p:nvCxnSpPr>
        <p:spPr bwMode="auto">
          <a:xfrm flipV="1">
            <a:off x="6485046" y="4084401"/>
            <a:ext cx="0" cy="114270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3" name="직사각형 162"/>
          <p:cNvSpPr/>
          <p:nvPr/>
        </p:nvSpPr>
        <p:spPr bwMode="auto">
          <a:xfrm>
            <a:off x="7871534" y="376871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508CD2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 smtClean="0">
                <a:solidFill>
                  <a:srgbClr val="508CD2"/>
                </a:solidFill>
              </a:rPr>
              <a:t>15. </a:t>
            </a:r>
            <a:r>
              <a:rPr lang="ko-KR" altLang="en-US" sz="900" kern="0" dirty="0">
                <a:solidFill>
                  <a:srgbClr val="508CD2"/>
                </a:solidFill>
              </a:rPr>
              <a:t>발급처리</a:t>
            </a:r>
            <a:endParaRPr lang="en-US" altLang="ko-KR" sz="900" kern="0" dirty="0">
              <a:solidFill>
                <a:srgbClr val="508CD2"/>
              </a:solidFill>
            </a:endParaRPr>
          </a:p>
        </p:txBody>
      </p:sp>
      <p:cxnSp>
        <p:nvCxnSpPr>
          <p:cNvPr id="164" name="Shape 266"/>
          <p:cNvCxnSpPr>
            <a:cxnSpLocks noChangeShapeType="1"/>
            <a:stCxn id="150" idx="3"/>
            <a:endCxn id="163" idx="1"/>
          </p:cNvCxnSpPr>
          <p:nvPr/>
        </p:nvCxnSpPr>
        <p:spPr bwMode="auto">
          <a:xfrm flipV="1">
            <a:off x="7754048" y="3929097"/>
            <a:ext cx="117486" cy="536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5" name="Shape 266"/>
          <p:cNvCxnSpPr>
            <a:cxnSpLocks noChangeShapeType="1"/>
            <a:stCxn id="163" idx="3"/>
            <a:endCxn id="157" idx="3"/>
          </p:cNvCxnSpPr>
          <p:nvPr/>
        </p:nvCxnSpPr>
        <p:spPr bwMode="auto">
          <a:xfrm flipV="1">
            <a:off x="8627959" y="3919889"/>
            <a:ext cx="101586" cy="92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6" name="TextBox 165"/>
          <p:cNvSpPr txBox="1"/>
          <p:nvPr/>
        </p:nvSpPr>
        <p:spPr>
          <a:xfrm>
            <a:off x="6451723" y="5672097"/>
            <a:ext cx="25202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Y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6809997" y="5832482"/>
            <a:ext cx="3658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prstClr val="black"/>
                </a:solidFill>
              </a:rPr>
              <a:t>N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sp>
        <p:nvSpPr>
          <p:cNvPr id="168" name="원통 68"/>
          <p:cNvSpPr>
            <a:spLocks noChangeAspect="1" noChangeArrowheads="1"/>
          </p:cNvSpPr>
          <p:nvPr/>
        </p:nvSpPr>
        <p:spPr bwMode="auto">
          <a:xfrm>
            <a:off x="3455002" y="2398262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spc="-100" dirty="0">
                <a:solidFill>
                  <a:prstClr val="black"/>
                </a:solidFill>
              </a:rPr>
              <a:t>지급이력정보</a:t>
            </a:r>
            <a:endParaRPr kumimoji="1" lang="ko-KR" altLang="en-US" sz="600" b="1" kern="0" spc="-190" dirty="0">
              <a:solidFill>
                <a:prstClr val="black"/>
              </a:solidFill>
            </a:endParaRPr>
          </a:p>
        </p:txBody>
      </p:sp>
      <p:cxnSp>
        <p:nvCxnSpPr>
          <p:cNvPr id="169" name="Shape 266"/>
          <p:cNvCxnSpPr>
            <a:cxnSpLocks noChangeShapeType="1"/>
            <a:stCxn id="62" idx="0"/>
            <a:endCxn id="168" idx="4"/>
          </p:cNvCxnSpPr>
          <p:nvPr/>
        </p:nvCxnSpPr>
        <p:spPr bwMode="auto">
          <a:xfrm rot="16200000" flipV="1">
            <a:off x="4529196" y="2298858"/>
            <a:ext cx="491913" cy="111653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0" name="순서도: 문서 78"/>
          <p:cNvSpPr>
            <a:spLocks noChangeAspect="1" noChangeArrowheads="1"/>
          </p:cNvSpPr>
          <p:nvPr/>
        </p:nvSpPr>
        <p:spPr bwMode="auto">
          <a:xfrm>
            <a:off x="4618165" y="2466547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대상자별 지급정보</a:t>
            </a:r>
          </a:p>
        </p:txBody>
      </p:sp>
      <p:sp>
        <p:nvSpPr>
          <p:cNvPr id="171" name="원통 68"/>
          <p:cNvSpPr>
            <a:spLocks noChangeAspect="1" noChangeArrowheads="1"/>
          </p:cNvSpPr>
          <p:nvPr/>
        </p:nvSpPr>
        <p:spPr bwMode="auto">
          <a:xfrm>
            <a:off x="7875326" y="5268922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/>
              <a:t>증명서 발급정보</a:t>
            </a:r>
            <a:endParaRPr kumimoji="1" lang="ko-KR" altLang="en-US" sz="600" b="1" kern="0" spc="-190" dirty="0"/>
          </a:p>
        </p:txBody>
      </p:sp>
      <p:cxnSp>
        <p:nvCxnSpPr>
          <p:cNvPr id="172" name="Shape 266"/>
          <p:cNvCxnSpPr>
            <a:cxnSpLocks noChangeShapeType="1"/>
            <a:stCxn id="163" idx="2"/>
            <a:endCxn id="171" idx="1"/>
          </p:cNvCxnSpPr>
          <p:nvPr/>
        </p:nvCxnSpPr>
        <p:spPr bwMode="auto">
          <a:xfrm rot="16200000" flipH="1">
            <a:off x="7663287" y="4675942"/>
            <a:ext cx="1179440" cy="652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3" name="순서도: 문서 78"/>
          <p:cNvSpPr>
            <a:spLocks noChangeAspect="1" noChangeArrowheads="1"/>
          </p:cNvSpPr>
          <p:nvPr/>
        </p:nvSpPr>
        <p:spPr bwMode="auto">
          <a:xfrm>
            <a:off x="7973156" y="4509120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dirty="0">
                <a:solidFill>
                  <a:prstClr val="black"/>
                </a:solidFill>
              </a:rPr>
              <a:t>증명서발급정보</a:t>
            </a:r>
          </a:p>
        </p:txBody>
      </p:sp>
      <p:cxnSp>
        <p:nvCxnSpPr>
          <p:cNvPr id="174" name="Shape 266"/>
          <p:cNvCxnSpPr>
            <a:cxnSpLocks noChangeShapeType="1"/>
            <a:stCxn id="60" idx="0"/>
            <a:endCxn id="176" idx="4"/>
          </p:cNvCxnSpPr>
          <p:nvPr/>
        </p:nvCxnSpPr>
        <p:spPr bwMode="auto">
          <a:xfrm rot="16200000" flipV="1">
            <a:off x="2517772" y="3182614"/>
            <a:ext cx="806472" cy="105515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5" name="순서도: 문서 78"/>
          <p:cNvSpPr>
            <a:spLocks noChangeAspect="1" noChangeArrowheads="1"/>
          </p:cNvSpPr>
          <p:nvPr/>
        </p:nvSpPr>
        <p:spPr bwMode="auto">
          <a:xfrm>
            <a:off x="2809309" y="3122016"/>
            <a:ext cx="664052" cy="365266"/>
          </a:xfrm>
          <a:prstGeom prst="flowChartDocumen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  <a:extLst/>
        </p:spPr>
        <p:txBody>
          <a:bodyPr lIns="0" tIns="0" rIns="0" bIns="0" rtlCol="0" anchor="ctr">
            <a:noAutofit/>
          </a:bodyPr>
          <a:lstStyle/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spc="-100" dirty="0">
                <a:solidFill>
                  <a:prstClr val="black"/>
                </a:solidFill>
              </a:rPr>
              <a:t>지출품의정보</a:t>
            </a:r>
            <a:endParaRPr lang="en-US" altLang="ko-KR" sz="900" kern="0" spc="-100" dirty="0">
              <a:solidFill>
                <a:prstClr val="black"/>
              </a:solidFill>
            </a:endParaRPr>
          </a:p>
          <a:p>
            <a:pPr marL="53975" indent="-53975" latinLnBrk="0">
              <a:buFont typeface="Wingdings" panose="05000000000000000000" pitchFamily="2" charset="2"/>
              <a:buChar char="§"/>
            </a:pPr>
            <a:r>
              <a:rPr lang="ko-KR" altLang="en-US" sz="900" kern="0" spc="-100" dirty="0">
                <a:solidFill>
                  <a:prstClr val="black"/>
                </a:solidFill>
              </a:rPr>
              <a:t>지출결의정보</a:t>
            </a:r>
          </a:p>
        </p:txBody>
      </p:sp>
      <p:sp>
        <p:nvSpPr>
          <p:cNvPr id="176" name="원통 68"/>
          <p:cNvSpPr>
            <a:spLocks noChangeAspect="1" noChangeArrowheads="1"/>
          </p:cNvSpPr>
          <p:nvPr/>
        </p:nvSpPr>
        <p:spPr bwMode="auto">
          <a:xfrm>
            <a:off x="1631549" y="3094048"/>
            <a:ext cx="761882" cy="425814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b="1" kern="0" dirty="0">
                <a:solidFill>
                  <a:prstClr val="black"/>
                </a:solidFill>
              </a:rPr>
              <a:t>지출정보</a:t>
            </a:r>
            <a:endParaRPr kumimoji="1" lang="ko-KR" altLang="en-US" sz="700" b="1" kern="0" spc="-100" dirty="0">
              <a:solidFill>
                <a:prstClr val="black"/>
              </a:solidFill>
            </a:endParaRPr>
          </a:p>
        </p:txBody>
      </p:sp>
      <p:cxnSp>
        <p:nvCxnSpPr>
          <p:cNvPr id="177" name="Shape 266"/>
          <p:cNvCxnSpPr>
            <a:cxnSpLocks noChangeShapeType="1"/>
            <a:stCxn id="61" idx="3"/>
            <a:endCxn id="62" idx="1"/>
          </p:cNvCxnSpPr>
          <p:nvPr/>
        </p:nvCxnSpPr>
        <p:spPr bwMode="auto">
          <a:xfrm>
            <a:off x="4807307" y="3300929"/>
            <a:ext cx="14569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순서도: 종속 처리 64"/>
          <p:cNvSpPr>
            <a:spLocks noChangeAspect="1" noChangeArrowheads="1"/>
          </p:cNvSpPr>
          <p:nvPr/>
        </p:nvSpPr>
        <p:spPr bwMode="auto">
          <a:xfrm>
            <a:off x="3068165" y="4113427"/>
            <a:ext cx="760839" cy="395693"/>
          </a:xfrm>
          <a:prstGeom prst="flowChartPredefinedProcess">
            <a:avLst/>
          </a:prstGeom>
          <a:noFill/>
          <a:ln w="1397" algn="ctr">
            <a:solidFill>
              <a:srgbClr val="015EB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1.3.1.2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 smtClean="0">
                <a:solidFill>
                  <a:srgbClr val="015EBB"/>
                </a:solidFill>
              </a:rPr>
              <a:t>지출요구</a:t>
            </a:r>
            <a:endParaRPr kumimoji="1" lang="ko-KR" altLang="en-US" sz="900" kern="0" dirty="0">
              <a:solidFill>
                <a:srgbClr val="015EBB"/>
              </a:solidFill>
            </a:endParaRPr>
          </a:p>
        </p:txBody>
      </p:sp>
      <p:sp>
        <p:nvSpPr>
          <p:cNvPr id="61" name="순서도: 종속 처리 64"/>
          <p:cNvSpPr>
            <a:spLocks noChangeAspect="1" noChangeArrowheads="1"/>
          </p:cNvSpPr>
          <p:nvPr/>
        </p:nvSpPr>
        <p:spPr bwMode="auto">
          <a:xfrm>
            <a:off x="4046468" y="3103082"/>
            <a:ext cx="760839" cy="395693"/>
          </a:xfrm>
          <a:prstGeom prst="flowChartPredefinedProcess">
            <a:avLst/>
          </a:prstGeom>
          <a:noFill/>
          <a:ln w="1397" algn="ctr">
            <a:solidFill>
              <a:srgbClr val="015EB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>
                <a:solidFill>
                  <a:srgbClr val="015EBB"/>
                </a:solidFill>
              </a:rPr>
              <a:t>1.3.1.3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spc="-150" dirty="0" smtClean="0">
                <a:solidFill>
                  <a:srgbClr val="015EBB"/>
                </a:solidFill>
              </a:rPr>
              <a:t>지출원인행위</a:t>
            </a:r>
            <a:endParaRPr kumimoji="1" lang="ko-KR" altLang="en-US" sz="900" kern="0" spc="-150" dirty="0">
              <a:solidFill>
                <a:srgbClr val="015EBB"/>
              </a:solidFill>
            </a:endParaRPr>
          </a:p>
        </p:txBody>
      </p:sp>
      <p:sp>
        <p:nvSpPr>
          <p:cNvPr id="62" name="순서도: 종속 처리 64"/>
          <p:cNvSpPr>
            <a:spLocks noChangeAspect="1" noChangeArrowheads="1"/>
          </p:cNvSpPr>
          <p:nvPr/>
        </p:nvSpPr>
        <p:spPr bwMode="auto">
          <a:xfrm>
            <a:off x="4953000" y="3103082"/>
            <a:ext cx="760839" cy="395693"/>
          </a:xfrm>
          <a:prstGeom prst="flowChartPredefinedProcess">
            <a:avLst/>
          </a:prstGeom>
          <a:noFill/>
          <a:ln w="1397" algn="ctr">
            <a:solidFill>
              <a:srgbClr val="015EBB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900" kern="0" dirty="0" smtClean="0">
                <a:solidFill>
                  <a:srgbClr val="015EBB"/>
                </a:solidFill>
              </a:rPr>
              <a:t>1.3.1.4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 smtClean="0">
                <a:solidFill>
                  <a:srgbClr val="015EBB"/>
                </a:solidFill>
              </a:rPr>
              <a:t>지출처리</a:t>
            </a:r>
            <a:endParaRPr kumimoji="1" lang="ko-KR" altLang="en-US" sz="900" kern="0" dirty="0">
              <a:solidFill>
                <a:srgbClr val="015EB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0721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지원금지원 신체육인복지지원 업무를 위한 대상자추천</a:t>
            </a:r>
            <a:r>
              <a:rPr lang="en-US" altLang="ko-KR" sz="1600" dirty="0"/>
              <a:t>, </a:t>
            </a:r>
            <a:r>
              <a:rPr lang="ko-KR" altLang="en-US" sz="1600" dirty="0"/>
              <a:t>지원신청 등을 정보화하고 통합재무를 통해 지급처리하며</a:t>
            </a:r>
            <a:r>
              <a:rPr lang="en-US" altLang="ko-KR" sz="1600" dirty="0"/>
              <a:t>, </a:t>
            </a:r>
            <a:r>
              <a:rPr lang="ko-KR" altLang="en-US" sz="1600" dirty="0"/>
              <a:t>각종 증명을 다양한 채널을 통해 신청하고 발급할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3.4.2.9 </a:t>
            </a:r>
            <a:r>
              <a:rPr lang="ko-KR" altLang="en-US" dirty="0"/>
              <a:t>직접지원관리</a:t>
            </a:r>
            <a:r>
              <a:rPr lang="en-US" altLang="ko-KR" dirty="0"/>
              <a:t>&gt;</a:t>
            </a:r>
            <a:r>
              <a:rPr lang="ko-KR" altLang="en-US" dirty="0"/>
              <a:t>신체육인복지지원 </a:t>
            </a:r>
            <a:r>
              <a:rPr lang="en-US" altLang="ko-KR" dirty="0"/>
              <a:t>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3416541"/>
              </p:ext>
            </p:extLst>
          </p:nvPr>
        </p:nvGraphicFramePr>
        <p:xfrm>
          <a:off x="344488" y="1604186"/>
          <a:ext cx="9180513" cy="438912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대상자추천의뢰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체육인복지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지원사유 중 체육장학금의 경우 체육진흥팀 신체육인 복지지원 담당자가 대한체육회와 대한장애인 체육회에 대상자의 추천을 의뢰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추천신청정보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추천대상자정보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자격정보 등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spc="-1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가맹경기단체장 혹은 국군체육부대장은 지원사유가 발생하면 장애연금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경기지도자연구비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복지후생금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생활보조비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체육전문가 전환지원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대상자에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대한 추천을 체육진흥팀 신체육인 복지지원 담당자에게 신청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추천신청정보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추천대상자정보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자격정보 등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spc="-100" baseline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대상자추천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대한체육회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대한장애인 체육회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가맹경기단체장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국군체육부대장은 아래의 경우 대상자를 추천</a:t>
                      </a:r>
                      <a:endParaRPr lang="en-US" altLang="ko-KR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171450" indent="-171450" latinLnBrk="0">
                        <a:buFontTx/>
                        <a:buChar char="-"/>
                      </a:pP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체육장학금 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공단의 추천의뢰에 따라 대상자 추천</a:t>
                      </a: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171450" indent="-171450" latinLnBrk="0">
                        <a:buFontTx/>
                        <a:buChar char="-"/>
                      </a:pP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장애연금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en-US" altLang="ko-KR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경기지도자연구비</a:t>
                      </a:r>
                      <a:r>
                        <a:rPr lang="en-US" altLang="ko-KR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복지후생금</a:t>
                      </a:r>
                      <a:r>
                        <a:rPr lang="en-US" altLang="ko-KR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생활보조비</a:t>
                      </a:r>
                      <a:r>
                        <a:rPr lang="en-US" altLang="ko-KR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체육전문가 전환지원</a:t>
                      </a:r>
                      <a:r>
                        <a:rPr lang="en-US" altLang="ko-KR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: </a:t>
                      </a:r>
                      <a:r>
                        <a:rPr lang="ko-KR" altLang="en-US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가맹경기단체 및 국군체육부대장의 추천신청에 따른 대한체육회</a:t>
                      </a:r>
                      <a:r>
                        <a:rPr lang="en-US" altLang="ko-KR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대한장애인체육회의 대상자 추천</a:t>
                      </a:r>
                      <a:endParaRPr lang="en-US" altLang="ko-KR" sz="9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171450" indent="-171450" latinLnBrk="0">
                        <a:buFontTx/>
                        <a:buChar char="-"/>
                      </a:pPr>
                      <a:r>
                        <a:rPr lang="ko-KR" altLang="en-US" sz="9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복지후생금</a:t>
                      </a:r>
                      <a:r>
                        <a:rPr lang="en-US" altLang="ko-KR" sz="9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대학원진학장학금</a:t>
                      </a:r>
                      <a:r>
                        <a:rPr lang="en-US" altLang="ko-KR" sz="9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단기교육훈련비</a:t>
                      </a:r>
                      <a:r>
                        <a:rPr lang="en-US" altLang="ko-KR" sz="9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: </a:t>
                      </a:r>
                      <a:r>
                        <a:rPr lang="ko-KR" altLang="en-US" sz="900" spc="-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지원대상자의 지원신청에 따라 가맹경기단체 및 국군체육부대장이 대상자 추천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추천신청정보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추천대상자정보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자격정보 등</a:t>
                      </a:r>
                      <a:r>
                        <a:rPr lang="en-US" altLang="ko-KR" sz="1000" b="0" spc="-100" baseline="0" dirty="0"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000" b="0" spc="-100" baseline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복지후생금 중 대학원진학장학금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단기교육훈련비의 경우 지원대상자 혹은 관련 타인이 지원신청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지원신청정보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자격정보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체육진흥팀 신체육인 복지지원 담당자는 관련 단체의 대상자 추천 혹은 지원대상자 등의 지원신청정보를 홈페이지로부터 수신하여 접수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접수된 추천 및 지원신청서의 내용을 검토하여 자격해당 여부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심의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의결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특별보조금의 경우 자격에 해당한 대상자에 대해 이사회에서 심의하여 의결처리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자격검토결과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b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심의 의결결과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및 지급결정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자격에 해당하는 대상자 중 체육장학금과 국외 유학지원금에 해당하는 대상자는 이사장이 사전 자격검토결과를 검토하여 지급결정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검토결과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13307142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지원금지원 신체육인복지지원 업무를 위한 대상자추천</a:t>
            </a:r>
            <a:r>
              <a:rPr lang="en-US" altLang="ko-KR" sz="1600" dirty="0"/>
              <a:t>, </a:t>
            </a:r>
            <a:r>
              <a:rPr lang="ko-KR" altLang="en-US" sz="1600" dirty="0"/>
              <a:t>지원신청 등을 정보화하고 통합재무를 통해 지급처리하며</a:t>
            </a:r>
            <a:r>
              <a:rPr lang="en-US" altLang="ko-KR" sz="1600" dirty="0"/>
              <a:t>, </a:t>
            </a:r>
            <a:r>
              <a:rPr lang="ko-KR" altLang="en-US" sz="1600" dirty="0"/>
              <a:t>각종 증명을 다양한 채널을 통해 신청하고 발급할 수 있도록 개선함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3.4.2.9 </a:t>
            </a:r>
            <a:r>
              <a:rPr lang="ko-KR" altLang="en-US" dirty="0"/>
              <a:t>직접지원관리</a:t>
            </a:r>
            <a:r>
              <a:rPr lang="en-US" altLang="ko-KR" dirty="0"/>
              <a:t>&gt;</a:t>
            </a:r>
            <a:r>
              <a:rPr lang="ko-KR" altLang="en-US" dirty="0"/>
              <a:t>신체육인복지지원 </a:t>
            </a:r>
            <a:r>
              <a:rPr lang="en-US" altLang="ko-KR" dirty="0"/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3.4 </a:t>
            </a:r>
            <a:r>
              <a:rPr lang="ko-KR" altLang="en-US" dirty="0">
                <a:solidFill>
                  <a:prstClr val="black"/>
                </a:solidFill>
              </a:rPr>
              <a:t>기금지원관리 업무프로세스 개선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="" xmlns:a16="http://schemas.microsoft.com/office/drawing/2014/main" id="{BFCE367D-E1C5-4B9C-A735-4A31958C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399965"/>
              </p:ext>
            </p:extLst>
          </p:nvPr>
        </p:nvGraphicFramePr>
        <p:xfrm>
          <a:off x="344488" y="1604186"/>
          <a:ext cx="9180513" cy="3261360"/>
        </p:xfrm>
        <a:graphic>
          <a:graphicData uri="http://schemas.openxmlformats.org/drawingml/2006/table">
            <a:tbl>
              <a:tblPr firstRow="1" bandRow="1"/>
              <a:tblGrid>
                <a:gridCol w="36398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64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542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3258454549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83569">
                  <a:extLst>
                    <a:ext uri="{9D8B030D-6E8A-4147-A177-3AD203B41FA5}">
                      <a16:colId xmlns="" xmlns:a16="http://schemas.microsoft.com/office/drawing/2014/main" val="479372368"/>
                    </a:ext>
                  </a:extLst>
                </a:gridCol>
              </a:tblGrid>
              <a:tr h="3237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kern="1200" cap="none" spc="-15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NO</a:t>
                      </a:r>
                      <a:endParaRPr kumimoji="1" lang="ko-KR" altLang="ko-KR" sz="800" b="1" i="0" u="none" strike="noStrike" kern="1200" cap="none" spc="-15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업무활동명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(Level5)</a:t>
                      </a:r>
                      <a:endParaRPr kumimoji="1" lang="ko-KR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설명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입출력 데이터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시스템명</a:t>
                      </a:r>
                      <a:endParaRPr kumimoji="1" lang="ko-KR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변경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굴림" pitchFamily="50" charset="-127"/>
                        </a:rPr>
                        <a:t>구분</a:t>
                      </a:r>
                      <a:endParaRPr kumimoji="1" lang="en-US" altLang="ko-KR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굴림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심의결과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자격에 해당하는 대상자 중 복지후생금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대상자의 경우 체육진흥팀 신체육인복지지원 담당자의 검토결과를 등록하고 다른 지원금은 이사회 심의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의결결과와 이사장의 검토 및 지급결정을 등록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지급대상자정보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지급방식정보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</a:t>
                      </a:r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심의결과 통보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검토 혹은 심의결과를 추천기관과 지원대상자에게 통보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(SMS,</a:t>
                      </a:r>
                      <a:r>
                        <a:rPr lang="en-US" altLang="ko-KR" sz="10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eMail)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지급여부정보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지급방식정보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통보내용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추천기관과 지원대상자는 통보내용을 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확인하고 대상자로 최종 확정된 경우 대상자에게 </a:t>
                      </a:r>
                      <a:r>
                        <a:rPr lang="ko-KR" altLang="en-US" sz="1000" baseline="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체육진흥팀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aseline="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신체육인복지지원담당자가</a:t>
                      </a:r>
                      <a:r>
                        <a:rPr lang="ko-KR" altLang="en-US" sz="1000" baseline="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지출을 품의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지급여부정보</a:t>
                      </a:r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지급방식정보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이체확인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지원대상자는 지급이체 처리된 결과를 확인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지급급액정보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현행유지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증명발급신청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지원대상자가 이체를 확인하고 증명발급이 필요한 경우 증명발급 신청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(Mobile)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증명발급신청정보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증명발급신청을 접수한 공단에서는 접수된 내용을 검토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증명발급신청정보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962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en-US" altLang="ko-KR" sz="1000" b="1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10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발급처리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8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latinLnBrk="0"/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신청에 대한 검토결과 발급대상에 해당하면 발급처리하고 대상에 해당하지 않으면 발급대상이 아님 통보 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홈페이지</a:t>
                      </a:r>
                      <a:r>
                        <a:rPr lang="en-US" altLang="ko-KR" sz="10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SMS, eMail, Mobile)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발급처리결과정보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endParaRPr lang="en-US" altLang="ko-KR" sz="10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홈페이지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0"/>
                      <a:r>
                        <a:rPr lang="ko-KR" altLang="en-US" sz="10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개선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3955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차세대 경영정보시스템을 통한 경영업무 업무 효율성 향상을 위해서는 프로세스의 안정적이고 지속적인 </a:t>
            </a:r>
            <a:r>
              <a:rPr lang="ko-KR" altLang="en-US" dirty="0"/>
              <a:t>운영</a:t>
            </a:r>
            <a:r>
              <a:rPr lang="ko-KR" altLang="en-US" dirty="0">
                <a:latin typeface="맑은 고딕"/>
                <a:ea typeface="맑은 고딕"/>
              </a:rPr>
              <a:t>∙</a:t>
            </a:r>
            <a:r>
              <a:rPr lang="ko-KR" altLang="en-US" dirty="0"/>
              <a:t>관리를 하기 위한 프로세스 </a:t>
            </a:r>
            <a:r>
              <a:rPr lang="ko-KR" altLang="en-US" dirty="0" err="1"/>
              <a:t>거버넌스</a:t>
            </a:r>
            <a:r>
              <a:rPr lang="ko-KR" altLang="en-US" dirty="0"/>
              <a:t> 체계 마련이 필요함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3.5.1 </a:t>
            </a:r>
            <a:r>
              <a:rPr lang="ko-KR" altLang="en-US" dirty="0"/>
              <a:t>개요 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>
          <a:xfrm>
            <a:off x="5601073" y="0"/>
            <a:ext cx="3914836" cy="782680"/>
          </a:xfrm>
        </p:spPr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3.5 </a:t>
            </a:r>
            <a:r>
              <a:rPr lang="ko-KR" altLang="en-US" dirty="0">
                <a:solidFill>
                  <a:prstClr val="black"/>
                </a:solidFill>
              </a:rPr>
              <a:t>경영정보기반 프로세스 </a:t>
            </a:r>
            <a:r>
              <a:rPr lang="ko-KR" altLang="en-US" dirty="0" err="1">
                <a:solidFill>
                  <a:prstClr val="black"/>
                </a:solidFill>
              </a:rPr>
              <a:t>거버넌스</a:t>
            </a:r>
            <a:r>
              <a:rPr lang="ko-KR" altLang="en-US" dirty="0">
                <a:solidFill>
                  <a:prstClr val="black"/>
                </a:solidFill>
              </a:rPr>
              <a:t> 정립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96" name="Text Box 9"/>
          <p:cNvSpPr txBox="1">
            <a:spLocks noChangeArrowheads="1"/>
          </p:cNvSpPr>
          <p:nvPr/>
        </p:nvSpPr>
        <p:spPr bwMode="gray">
          <a:xfrm>
            <a:off x="6393160" y="1628800"/>
            <a:ext cx="2736304" cy="3099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000" tIns="46800" rIns="90000" bIns="468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latinLnBrk="0" hangingPunct="1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ea typeface="+mn-ea"/>
              </a:rPr>
              <a:t>프로세스 </a:t>
            </a:r>
            <a:r>
              <a:rPr kumimoji="1" lang="ko-KR" altLang="en-US" sz="1400" b="1" dirty="0" err="1">
                <a:solidFill>
                  <a:srgbClr val="000000"/>
                </a:solidFill>
                <a:latin typeface="+mn-ea"/>
                <a:ea typeface="+mn-ea"/>
              </a:rPr>
              <a:t>거버넌스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ea typeface="+mn-ea"/>
              </a:rPr>
              <a:t> 정립방향</a:t>
            </a:r>
          </a:p>
        </p:txBody>
      </p:sp>
      <p:sp>
        <p:nvSpPr>
          <p:cNvPr id="297" name="Line 10"/>
          <p:cNvSpPr>
            <a:spLocks noChangeShapeType="1"/>
          </p:cNvSpPr>
          <p:nvPr/>
        </p:nvSpPr>
        <p:spPr bwMode="gray">
          <a:xfrm>
            <a:off x="6496536" y="1974906"/>
            <a:ext cx="2520000" cy="0"/>
          </a:xfrm>
          <a:prstGeom prst="line">
            <a:avLst/>
          </a:prstGeom>
          <a:noFill/>
          <a:ln w="9525">
            <a:solidFill>
              <a:srgbClr val="4D4D4D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98" name="AutoShape 11"/>
          <p:cNvSpPr>
            <a:spLocks noChangeArrowheads="1"/>
          </p:cNvSpPr>
          <p:nvPr/>
        </p:nvSpPr>
        <p:spPr bwMode="gray">
          <a:xfrm rot="16200000" flipV="1">
            <a:off x="5800484" y="2550428"/>
            <a:ext cx="763135" cy="216025"/>
          </a:xfrm>
          <a:prstGeom prst="triangle">
            <a:avLst>
              <a:gd name="adj" fmla="val 50000"/>
            </a:avLst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DDDDD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300" name="AutoShape 13"/>
          <p:cNvSpPr>
            <a:spLocks noChangeArrowheads="1"/>
          </p:cNvSpPr>
          <p:nvPr/>
        </p:nvSpPr>
        <p:spPr bwMode="gray">
          <a:xfrm rot="16200000" flipV="1">
            <a:off x="5799666" y="3976502"/>
            <a:ext cx="764769" cy="216023"/>
          </a:xfrm>
          <a:prstGeom prst="triangle">
            <a:avLst>
              <a:gd name="adj" fmla="val 50000"/>
            </a:avLst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DDDDD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302" name="AutoShape 15"/>
          <p:cNvSpPr>
            <a:spLocks noChangeArrowheads="1"/>
          </p:cNvSpPr>
          <p:nvPr/>
        </p:nvSpPr>
        <p:spPr bwMode="gray">
          <a:xfrm rot="16200000" flipV="1">
            <a:off x="5800483" y="5380345"/>
            <a:ext cx="763135" cy="216023"/>
          </a:xfrm>
          <a:prstGeom prst="triangle">
            <a:avLst>
              <a:gd name="adj" fmla="val 50000"/>
            </a:avLst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DDDDD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="" xmlns:a16="http://schemas.microsoft.com/office/drawing/2014/main" id="{A100FEE2-F338-4AB2-BFEC-8AF491C97ACD}"/>
              </a:ext>
            </a:extLst>
          </p:cNvPr>
          <p:cNvSpPr/>
          <p:nvPr/>
        </p:nvSpPr>
        <p:spPr bwMode="auto">
          <a:xfrm>
            <a:off x="2727452" y="2199012"/>
            <a:ext cx="3130563" cy="252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명확한 프로세스 </a:t>
            </a:r>
            <a:r>
              <a:rPr lang="ko-KR" altLang="en-US" sz="1200" b="1" dirty="0" err="1">
                <a:solidFill>
                  <a:schemeClr val="bg1"/>
                </a:solidFill>
                <a:latin typeface="+mn-ea"/>
              </a:rPr>
              <a:t>오너십</a:t>
            </a:r>
            <a:endParaRPr lang="ko-KR" altLang="en-US" sz="12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2727452" y="3779280"/>
            <a:ext cx="3130563" cy="252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표준 프로세스 및 변경 관리 체계</a:t>
            </a:r>
          </a:p>
        </p:txBody>
      </p:sp>
      <p:sp>
        <p:nvSpPr>
          <p:cNvPr id="379" name="직사각형 378">
            <a:extLst>
              <a:ext uri="{FF2B5EF4-FFF2-40B4-BE49-F238E27FC236}">
                <a16:creationId xmlns="" xmlns:a16="http://schemas.microsoft.com/office/drawing/2014/main" id="{F82F15FF-E82E-49F2-AF43-F1E8C5077055}"/>
              </a:ext>
            </a:extLst>
          </p:cNvPr>
          <p:cNvSpPr/>
          <p:nvPr/>
        </p:nvSpPr>
        <p:spPr bwMode="auto">
          <a:xfrm>
            <a:off x="2727452" y="5169690"/>
            <a:ext cx="3130563" cy="252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지속적 프로세스 최적화 활동 유도</a:t>
            </a:r>
          </a:p>
        </p:txBody>
      </p:sp>
      <p:sp>
        <p:nvSpPr>
          <p:cNvPr id="305" name="Text Box 18"/>
          <p:cNvSpPr txBox="1">
            <a:spLocks noChangeArrowheads="1"/>
          </p:cNvSpPr>
          <p:nvPr/>
        </p:nvSpPr>
        <p:spPr bwMode="gray">
          <a:xfrm>
            <a:off x="2786753" y="2483931"/>
            <a:ext cx="3071262" cy="10058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80975" marR="0" lvl="0" indent="-180975" defTabSz="914400" eaLnBrk="1" fontAlgn="ctr" latinLnBrk="0" hangingPunct="1">
              <a:lnSpc>
                <a:spcPct val="1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공단의 경영업무 프로세스 中</a:t>
            </a:r>
            <a:r>
              <a:rPr kumimoji="1"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변경관리가 필요한 프로세스를 정의하여 표준화하기 위해서는 프로세스 표준화 및 개선 활동을 담당자를 명확히 하여야 함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307" name="Text Box 20"/>
          <p:cNvSpPr txBox="1">
            <a:spLocks noChangeArrowheads="1"/>
          </p:cNvSpPr>
          <p:nvPr/>
        </p:nvSpPr>
        <p:spPr bwMode="gray">
          <a:xfrm>
            <a:off x="2786753" y="4054912"/>
            <a:ext cx="3071262" cy="7634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80975" marR="0" lvl="0" indent="-180975" defTabSz="914400" eaLnBrk="1" fontAlgn="ctr" latinLnBrk="0" hangingPunct="1">
              <a:lnSpc>
                <a:spcPct val="1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공단 경영업무 프로세스 운영관리를 해서는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최적화된 표준 프로세스의 공식적인 승인 및 관리 절차 필요</a:t>
            </a:r>
          </a:p>
        </p:txBody>
      </p:sp>
      <p:sp>
        <p:nvSpPr>
          <p:cNvPr id="309" name="Text Box 22"/>
          <p:cNvSpPr txBox="1">
            <a:spLocks noChangeArrowheads="1"/>
          </p:cNvSpPr>
          <p:nvPr/>
        </p:nvSpPr>
        <p:spPr bwMode="gray">
          <a:xfrm>
            <a:off x="2786753" y="5500188"/>
            <a:ext cx="3071262" cy="7634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80975" marR="0" lvl="0" indent="-180975" defTabSz="914400" eaLnBrk="1" fontAlgn="ctr" latinLnBrk="0" hangingPunct="1">
              <a:lnSpc>
                <a:spcPct val="1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경영</a:t>
            </a:r>
            <a:r>
              <a:rPr kumimoji="1" lang="ko-KR" altLang="en-US" sz="105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업무의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지속적인 프로세스 혁신 활동 및  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IT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시스템 개발 시 기능 중심의 부분 최적화 유도</a:t>
            </a:r>
          </a:p>
        </p:txBody>
      </p:sp>
      <p:sp>
        <p:nvSpPr>
          <p:cNvPr id="295" name="Text Box 6"/>
          <p:cNvSpPr txBox="1">
            <a:spLocks noChangeArrowheads="1"/>
          </p:cNvSpPr>
          <p:nvPr/>
        </p:nvSpPr>
        <p:spPr bwMode="auto">
          <a:xfrm>
            <a:off x="2864768" y="1642734"/>
            <a:ext cx="261385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720" rIns="4572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fontAlgn="base" latinLnBrk="0" hangingPunct="1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ko-KR" altLang="en-US" sz="1400" b="1" dirty="0">
                <a:solidFill>
                  <a:srgbClr val="000000"/>
                </a:solidFill>
                <a:latin typeface="+mn-ea"/>
                <a:ea typeface="+mn-ea"/>
              </a:rPr>
              <a:t>프로세스 표준화 운영 필요사항</a:t>
            </a:r>
            <a:endParaRPr lang="en-US" altLang="ko-KR" sz="1400" b="1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388" name="Line 10"/>
          <p:cNvSpPr>
            <a:spLocks noChangeShapeType="1"/>
          </p:cNvSpPr>
          <p:nvPr/>
        </p:nvSpPr>
        <p:spPr bwMode="gray">
          <a:xfrm>
            <a:off x="2741875" y="1974906"/>
            <a:ext cx="2880000" cy="0"/>
          </a:xfrm>
          <a:prstGeom prst="line">
            <a:avLst/>
          </a:prstGeom>
          <a:noFill/>
          <a:ln w="9525">
            <a:solidFill>
              <a:srgbClr val="4D4D4D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89" name="Text Box 6"/>
          <p:cNvSpPr txBox="1">
            <a:spLocks noChangeArrowheads="1"/>
          </p:cNvSpPr>
          <p:nvPr/>
        </p:nvSpPr>
        <p:spPr bwMode="auto">
          <a:xfrm>
            <a:off x="706087" y="1858758"/>
            <a:ext cx="12945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720" rIns="4572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fontAlgn="base" latinLnBrk="0" hangingPunct="1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ko-KR" altLang="en-US" sz="1400" b="1" dirty="0">
                <a:solidFill>
                  <a:srgbClr val="000000"/>
                </a:solidFill>
                <a:latin typeface="+mn-ea"/>
                <a:ea typeface="+mn-ea"/>
              </a:rPr>
              <a:t>공단 경영업무 </a:t>
            </a:r>
            <a:endParaRPr lang="en-US" altLang="ko-KR" sz="1400" b="1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390" name="Line 10"/>
          <p:cNvSpPr>
            <a:spLocks noChangeShapeType="1"/>
          </p:cNvSpPr>
          <p:nvPr/>
        </p:nvSpPr>
        <p:spPr bwMode="gray">
          <a:xfrm>
            <a:off x="685646" y="2204864"/>
            <a:ext cx="1260000" cy="0"/>
          </a:xfrm>
          <a:prstGeom prst="line">
            <a:avLst/>
          </a:prstGeom>
          <a:noFill/>
          <a:ln w="9525">
            <a:solidFill>
              <a:srgbClr val="4D4D4D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91" name="Rectangle 33">
            <a:extLst>
              <a:ext uri="{FF2B5EF4-FFF2-40B4-BE49-F238E27FC236}">
                <a16:creationId xmlns="" xmlns:a16="http://schemas.microsoft.com/office/drawing/2014/main" id="{6F3DC6D4-F3B9-415A-9A02-4AA881A04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504" y="2564904"/>
            <a:ext cx="1728192" cy="756360"/>
          </a:xfrm>
          <a:prstGeom prst="rect">
            <a:avLst/>
          </a:prstGeom>
          <a:solidFill>
            <a:srgbClr val="7DAFFA">
              <a:lumMod val="60000"/>
              <a:lumOff val="40000"/>
            </a:srgbClr>
          </a:solidFill>
          <a:ln w="12700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marR="0" lvl="0" indent="-85725" algn="ctr" defTabSz="914400" eaLnBrk="0" fontAlgn="base" latinLnBrk="0" hangingPunct="0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통합재무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/>
            </a:r>
            <a:b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0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단위업무 </a:t>
            </a:r>
            <a:r>
              <a:rPr kumimoji="0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 392</a:t>
            </a: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개</a:t>
            </a:r>
            <a:r>
              <a:rPr kumimoji="0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92" name="Rectangle 33">
            <a:extLst>
              <a:ext uri="{FF2B5EF4-FFF2-40B4-BE49-F238E27FC236}">
                <a16:creationId xmlns="" xmlns:a16="http://schemas.microsoft.com/office/drawing/2014/main" id="{5EF07C5B-BB72-440D-BAB9-2A35B98CE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902" y="3657404"/>
            <a:ext cx="1728192" cy="759088"/>
          </a:xfrm>
          <a:prstGeom prst="rect">
            <a:avLst/>
          </a:prstGeom>
          <a:solidFill>
            <a:srgbClr val="7DAFFA">
              <a:lumMod val="60000"/>
              <a:lumOff val="40000"/>
            </a:srgbClr>
          </a:solidFill>
          <a:ln w="12700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인적자원관리</a:t>
            </a:r>
            <a:r>
              <a:rPr lang="en-US" altLang="ko-KR" sz="1600" b="1" kern="0" dirty="0">
                <a:solidFill>
                  <a:prstClr val="black"/>
                </a:solidFill>
              </a:rPr>
              <a:t/>
            </a:r>
            <a:br>
              <a:rPr lang="en-US" altLang="ko-KR" sz="1600" b="1" kern="0" dirty="0">
                <a:solidFill>
                  <a:prstClr val="black"/>
                </a:solidFill>
              </a:rPr>
            </a:br>
            <a:r>
              <a:rPr lang="en-US" altLang="ko-KR" sz="1200" b="1" kern="0" dirty="0">
                <a:solidFill>
                  <a:prstClr val="black"/>
                </a:solidFill>
              </a:rPr>
              <a:t>(</a:t>
            </a:r>
            <a:r>
              <a:rPr lang="ko-KR" altLang="en-US" sz="1200" b="1" kern="0" dirty="0">
                <a:solidFill>
                  <a:prstClr val="black"/>
                </a:solidFill>
              </a:rPr>
              <a:t>단위업무 </a:t>
            </a:r>
            <a:r>
              <a:rPr lang="en-US" altLang="ko-KR" sz="1200" b="1" kern="0" dirty="0">
                <a:solidFill>
                  <a:prstClr val="black"/>
                </a:solidFill>
              </a:rPr>
              <a:t>: 508</a:t>
            </a:r>
            <a:r>
              <a:rPr lang="ko-KR" altLang="en-US" sz="1200" b="1" kern="0" dirty="0">
                <a:solidFill>
                  <a:prstClr val="black"/>
                </a:solidFill>
              </a:rPr>
              <a:t>개</a:t>
            </a:r>
            <a:r>
              <a:rPr lang="en-US" altLang="ko-KR" sz="1200" b="1" kern="0" dirty="0">
                <a:solidFill>
                  <a:prstClr val="black"/>
                </a:solidFill>
              </a:rPr>
              <a:t>)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93" name="Rectangle 33">
            <a:extLst>
              <a:ext uri="{FF2B5EF4-FFF2-40B4-BE49-F238E27FC236}">
                <a16:creationId xmlns="" xmlns:a16="http://schemas.microsoft.com/office/drawing/2014/main" id="{5EF07C5B-BB72-440D-BAB9-2A35B98CE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902" y="4758144"/>
            <a:ext cx="1728192" cy="759088"/>
          </a:xfrm>
          <a:prstGeom prst="rect">
            <a:avLst/>
          </a:prstGeom>
          <a:solidFill>
            <a:srgbClr val="7DAFFA">
              <a:lumMod val="60000"/>
              <a:lumOff val="40000"/>
            </a:srgbClr>
          </a:solidFill>
          <a:ln w="12700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lnSpc>
                <a:spcPct val="150000"/>
              </a:lnSpc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기금지원관리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/>
            </a:r>
            <a:b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lang="en-US" altLang="ko-KR" sz="1200" b="1" kern="0" dirty="0">
                <a:solidFill>
                  <a:prstClr val="black"/>
                </a:solidFill>
              </a:rPr>
              <a:t>(</a:t>
            </a:r>
            <a:r>
              <a:rPr lang="ko-KR" altLang="en-US" sz="1200" b="1" kern="0" dirty="0">
                <a:solidFill>
                  <a:prstClr val="black"/>
                </a:solidFill>
              </a:rPr>
              <a:t>단위업무 </a:t>
            </a:r>
            <a:r>
              <a:rPr lang="en-US" altLang="ko-KR" sz="1200" b="1" kern="0" dirty="0">
                <a:solidFill>
                  <a:prstClr val="black"/>
                </a:solidFill>
              </a:rPr>
              <a:t>: 177</a:t>
            </a:r>
            <a:r>
              <a:rPr lang="ko-KR" altLang="en-US" sz="1200" b="1" kern="0" dirty="0">
                <a:solidFill>
                  <a:prstClr val="black"/>
                </a:solidFill>
              </a:rPr>
              <a:t>개</a:t>
            </a:r>
            <a:r>
              <a:rPr lang="en-US" altLang="ko-KR" sz="1200" b="1" kern="0" dirty="0">
                <a:solidFill>
                  <a:prstClr val="black"/>
                </a:solidFill>
              </a:rPr>
              <a:t>)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94" name="Freeform 411"/>
          <p:cNvSpPr>
            <a:spLocks/>
          </p:cNvSpPr>
          <p:nvPr/>
        </p:nvSpPr>
        <p:spPr bwMode="auto">
          <a:xfrm>
            <a:off x="2786753" y="2132856"/>
            <a:ext cx="266068" cy="272084"/>
          </a:xfrm>
          <a:custGeom>
            <a:avLst/>
            <a:gdLst>
              <a:gd name="T0" fmla="*/ 0 w 648"/>
              <a:gd name="T1" fmla="*/ 231533 h 618"/>
              <a:gd name="T2" fmla="*/ 59286 w 648"/>
              <a:gd name="T3" fmla="*/ 198103 h 618"/>
              <a:gd name="T4" fmla="*/ 82192 w 648"/>
              <a:gd name="T5" fmla="*/ 210485 h 618"/>
              <a:gd name="T6" fmla="*/ 123962 w 648"/>
              <a:gd name="T7" fmla="*/ 279821 h 618"/>
              <a:gd name="T8" fmla="*/ 187291 w 648"/>
              <a:gd name="T9" fmla="*/ 195627 h 618"/>
              <a:gd name="T10" fmla="*/ 292389 w 648"/>
              <a:gd name="T11" fmla="*/ 91623 h 618"/>
              <a:gd name="T12" fmla="*/ 359760 w 648"/>
              <a:gd name="T13" fmla="*/ 37144 h 618"/>
              <a:gd name="T14" fmla="*/ 425784 w 648"/>
              <a:gd name="T15" fmla="*/ 0 h 618"/>
              <a:gd name="T16" fmla="*/ 436563 w 648"/>
              <a:gd name="T17" fmla="*/ 16096 h 618"/>
              <a:gd name="T18" fmla="*/ 381319 w 648"/>
              <a:gd name="T19" fmla="*/ 60669 h 618"/>
              <a:gd name="T20" fmla="*/ 301821 w 648"/>
              <a:gd name="T21" fmla="*/ 142387 h 618"/>
              <a:gd name="T22" fmla="*/ 233103 w 648"/>
              <a:gd name="T23" fmla="*/ 222866 h 618"/>
              <a:gd name="T24" fmla="*/ 157648 w 648"/>
              <a:gd name="T25" fmla="*/ 342966 h 618"/>
              <a:gd name="T26" fmla="*/ 97014 w 648"/>
              <a:gd name="T27" fmla="*/ 382587 h 618"/>
              <a:gd name="T28" fmla="*/ 55244 w 648"/>
              <a:gd name="T29" fmla="*/ 288488 h 618"/>
              <a:gd name="T30" fmla="*/ 28296 w 648"/>
              <a:gd name="T31" fmla="*/ 250105 h 618"/>
              <a:gd name="T32" fmla="*/ 0 w 648"/>
              <a:gd name="T33" fmla="*/ 231533 h 61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48" h="618">
                <a:moveTo>
                  <a:pt x="0" y="374"/>
                </a:moveTo>
                <a:lnTo>
                  <a:pt x="88" y="320"/>
                </a:lnTo>
                <a:lnTo>
                  <a:pt x="122" y="340"/>
                </a:lnTo>
                <a:lnTo>
                  <a:pt x="184" y="452"/>
                </a:lnTo>
                <a:lnTo>
                  <a:pt x="278" y="316"/>
                </a:lnTo>
                <a:lnTo>
                  <a:pt x="434" y="148"/>
                </a:lnTo>
                <a:lnTo>
                  <a:pt x="534" y="60"/>
                </a:lnTo>
                <a:lnTo>
                  <a:pt x="632" y="0"/>
                </a:lnTo>
                <a:lnTo>
                  <a:pt x="648" y="26"/>
                </a:lnTo>
                <a:lnTo>
                  <a:pt x="566" y="98"/>
                </a:lnTo>
                <a:lnTo>
                  <a:pt x="448" y="230"/>
                </a:lnTo>
                <a:lnTo>
                  <a:pt x="346" y="360"/>
                </a:lnTo>
                <a:lnTo>
                  <a:pt x="234" y="554"/>
                </a:lnTo>
                <a:lnTo>
                  <a:pt x="144" y="618"/>
                </a:lnTo>
                <a:lnTo>
                  <a:pt x="82" y="466"/>
                </a:lnTo>
                <a:lnTo>
                  <a:pt x="42" y="404"/>
                </a:lnTo>
                <a:lnTo>
                  <a:pt x="0" y="374"/>
                </a:lnTo>
                <a:close/>
              </a:path>
            </a:pathLst>
          </a:custGeom>
          <a:solidFill>
            <a:schemeClr val="bg1"/>
          </a:solid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</a:endParaRPr>
          </a:p>
        </p:txBody>
      </p:sp>
      <p:sp>
        <p:nvSpPr>
          <p:cNvPr id="17" name="사다리꼴 16"/>
          <p:cNvSpPr/>
          <p:nvPr/>
        </p:nvSpPr>
        <p:spPr>
          <a:xfrm rot="16200000">
            <a:off x="739482" y="3942734"/>
            <a:ext cx="3646553" cy="207830"/>
          </a:xfrm>
          <a:prstGeom prst="trapezoid">
            <a:avLst>
              <a:gd name="adj" fmla="val 127712"/>
            </a:avLst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395" name="Freeform 411"/>
          <p:cNvSpPr>
            <a:spLocks/>
          </p:cNvSpPr>
          <p:nvPr/>
        </p:nvSpPr>
        <p:spPr bwMode="auto">
          <a:xfrm>
            <a:off x="2788566" y="3723336"/>
            <a:ext cx="266068" cy="272084"/>
          </a:xfrm>
          <a:custGeom>
            <a:avLst/>
            <a:gdLst>
              <a:gd name="T0" fmla="*/ 0 w 648"/>
              <a:gd name="T1" fmla="*/ 231533 h 618"/>
              <a:gd name="T2" fmla="*/ 59286 w 648"/>
              <a:gd name="T3" fmla="*/ 198103 h 618"/>
              <a:gd name="T4" fmla="*/ 82192 w 648"/>
              <a:gd name="T5" fmla="*/ 210485 h 618"/>
              <a:gd name="T6" fmla="*/ 123962 w 648"/>
              <a:gd name="T7" fmla="*/ 279821 h 618"/>
              <a:gd name="T8" fmla="*/ 187291 w 648"/>
              <a:gd name="T9" fmla="*/ 195627 h 618"/>
              <a:gd name="T10" fmla="*/ 292389 w 648"/>
              <a:gd name="T11" fmla="*/ 91623 h 618"/>
              <a:gd name="T12" fmla="*/ 359760 w 648"/>
              <a:gd name="T13" fmla="*/ 37144 h 618"/>
              <a:gd name="T14" fmla="*/ 425784 w 648"/>
              <a:gd name="T15" fmla="*/ 0 h 618"/>
              <a:gd name="T16" fmla="*/ 436563 w 648"/>
              <a:gd name="T17" fmla="*/ 16096 h 618"/>
              <a:gd name="T18" fmla="*/ 381319 w 648"/>
              <a:gd name="T19" fmla="*/ 60669 h 618"/>
              <a:gd name="T20" fmla="*/ 301821 w 648"/>
              <a:gd name="T21" fmla="*/ 142387 h 618"/>
              <a:gd name="T22" fmla="*/ 233103 w 648"/>
              <a:gd name="T23" fmla="*/ 222866 h 618"/>
              <a:gd name="T24" fmla="*/ 157648 w 648"/>
              <a:gd name="T25" fmla="*/ 342966 h 618"/>
              <a:gd name="T26" fmla="*/ 97014 w 648"/>
              <a:gd name="T27" fmla="*/ 382587 h 618"/>
              <a:gd name="T28" fmla="*/ 55244 w 648"/>
              <a:gd name="T29" fmla="*/ 288488 h 618"/>
              <a:gd name="T30" fmla="*/ 28296 w 648"/>
              <a:gd name="T31" fmla="*/ 250105 h 618"/>
              <a:gd name="T32" fmla="*/ 0 w 648"/>
              <a:gd name="T33" fmla="*/ 231533 h 61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48" h="618">
                <a:moveTo>
                  <a:pt x="0" y="374"/>
                </a:moveTo>
                <a:lnTo>
                  <a:pt x="88" y="320"/>
                </a:lnTo>
                <a:lnTo>
                  <a:pt x="122" y="340"/>
                </a:lnTo>
                <a:lnTo>
                  <a:pt x="184" y="452"/>
                </a:lnTo>
                <a:lnTo>
                  <a:pt x="278" y="316"/>
                </a:lnTo>
                <a:lnTo>
                  <a:pt x="434" y="148"/>
                </a:lnTo>
                <a:lnTo>
                  <a:pt x="534" y="60"/>
                </a:lnTo>
                <a:lnTo>
                  <a:pt x="632" y="0"/>
                </a:lnTo>
                <a:lnTo>
                  <a:pt x="648" y="26"/>
                </a:lnTo>
                <a:lnTo>
                  <a:pt x="566" y="98"/>
                </a:lnTo>
                <a:lnTo>
                  <a:pt x="448" y="230"/>
                </a:lnTo>
                <a:lnTo>
                  <a:pt x="346" y="360"/>
                </a:lnTo>
                <a:lnTo>
                  <a:pt x="234" y="554"/>
                </a:lnTo>
                <a:lnTo>
                  <a:pt x="144" y="618"/>
                </a:lnTo>
                <a:lnTo>
                  <a:pt x="82" y="466"/>
                </a:lnTo>
                <a:lnTo>
                  <a:pt x="42" y="404"/>
                </a:lnTo>
                <a:lnTo>
                  <a:pt x="0" y="374"/>
                </a:lnTo>
                <a:close/>
              </a:path>
            </a:pathLst>
          </a:custGeom>
          <a:solidFill>
            <a:schemeClr val="bg1"/>
          </a:solid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</a:endParaRPr>
          </a:p>
        </p:txBody>
      </p:sp>
      <p:sp>
        <p:nvSpPr>
          <p:cNvPr id="396" name="Freeform 411"/>
          <p:cNvSpPr>
            <a:spLocks/>
          </p:cNvSpPr>
          <p:nvPr/>
        </p:nvSpPr>
        <p:spPr bwMode="auto">
          <a:xfrm>
            <a:off x="2797531" y="5104493"/>
            <a:ext cx="266068" cy="272084"/>
          </a:xfrm>
          <a:custGeom>
            <a:avLst/>
            <a:gdLst>
              <a:gd name="T0" fmla="*/ 0 w 648"/>
              <a:gd name="T1" fmla="*/ 231533 h 618"/>
              <a:gd name="T2" fmla="*/ 59286 w 648"/>
              <a:gd name="T3" fmla="*/ 198103 h 618"/>
              <a:gd name="T4" fmla="*/ 82192 w 648"/>
              <a:gd name="T5" fmla="*/ 210485 h 618"/>
              <a:gd name="T6" fmla="*/ 123962 w 648"/>
              <a:gd name="T7" fmla="*/ 279821 h 618"/>
              <a:gd name="T8" fmla="*/ 187291 w 648"/>
              <a:gd name="T9" fmla="*/ 195627 h 618"/>
              <a:gd name="T10" fmla="*/ 292389 w 648"/>
              <a:gd name="T11" fmla="*/ 91623 h 618"/>
              <a:gd name="T12" fmla="*/ 359760 w 648"/>
              <a:gd name="T13" fmla="*/ 37144 h 618"/>
              <a:gd name="T14" fmla="*/ 425784 w 648"/>
              <a:gd name="T15" fmla="*/ 0 h 618"/>
              <a:gd name="T16" fmla="*/ 436563 w 648"/>
              <a:gd name="T17" fmla="*/ 16096 h 618"/>
              <a:gd name="T18" fmla="*/ 381319 w 648"/>
              <a:gd name="T19" fmla="*/ 60669 h 618"/>
              <a:gd name="T20" fmla="*/ 301821 w 648"/>
              <a:gd name="T21" fmla="*/ 142387 h 618"/>
              <a:gd name="T22" fmla="*/ 233103 w 648"/>
              <a:gd name="T23" fmla="*/ 222866 h 618"/>
              <a:gd name="T24" fmla="*/ 157648 w 648"/>
              <a:gd name="T25" fmla="*/ 342966 h 618"/>
              <a:gd name="T26" fmla="*/ 97014 w 648"/>
              <a:gd name="T27" fmla="*/ 382587 h 618"/>
              <a:gd name="T28" fmla="*/ 55244 w 648"/>
              <a:gd name="T29" fmla="*/ 288488 h 618"/>
              <a:gd name="T30" fmla="*/ 28296 w 648"/>
              <a:gd name="T31" fmla="*/ 250105 h 618"/>
              <a:gd name="T32" fmla="*/ 0 w 648"/>
              <a:gd name="T33" fmla="*/ 231533 h 61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48" h="618">
                <a:moveTo>
                  <a:pt x="0" y="374"/>
                </a:moveTo>
                <a:lnTo>
                  <a:pt x="88" y="320"/>
                </a:lnTo>
                <a:lnTo>
                  <a:pt x="122" y="340"/>
                </a:lnTo>
                <a:lnTo>
                  <a:pt x="184" y="452"/>
                </a:lnTo>
                <a:lnTo>
                  <a:pt x="278" y="316"/>
                </a:lnTo>
                <a:lnTo>
                  <a:pt x="434" y="148"/>
                </a:lnTo>
                <a:lnTo>
                  <a:pt x="534" y="60"/>
                </a:lnTo>
                <a:lnTo>
                  <a:pt x="632" y="0"/>
                </a:lnTo>
                <a:lnTo>
                  <a:pt x="648" y="26"/>
                </a:lnTo>
                <a:lnTo>
                  <a:pt x="566" y="98"/>
                </a:lnTo>
                <a:lnTo>
                  <a:pt x="448" y="230"/>
                </a:lnTo>
                <a:lnTo>
                  <a:pt x="346" y="360"/>
                </a:lnTo>
                <a:lnTo>
                  <a:pt x="234" y="554"/>
                </a:lnTo>
                <a:lnTo>
                  <a:pt x="144" y="618"/>
                </a:lnTo>
                <a:lnTo>
                  <a:pt x="82" y="466"/>
                </a:lnTo>
                <a:lnTo>
                  <a:pt x="42" y="404"/>
                </a:lnTo>
                <a:lnTo>
                  <a:pt x="0" y="374"/>
                </a:lnTo>
                <a:close/>
              </a:path>
            </a:pathLst>
          </a:custGeom>
          <a:solidFill>
            <a:schemeClr val="bg1"/>
          </a:solid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</a:endParaRPr>
          </a:p>
        </p:txBody>
      </p:sp>
      <p:sp>
        <p:nvSpPr>
          <p:cNvPr id="18" name="모서리가 둥근 직사각형 17"/>
          <p:cNvSpPr/>
          <p:nvPr/>
        </p:nvSpPr>
        <p:spPr>
          <a:xfrm>
            <a:off x="6506087" y="2276872"/>
            <a:ext cx="2767393" cy="887044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지속적 경영업무 프로세스</a:t>
            </a:r>
            <a: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개선 및 혁신활동 관리를 위한</a:t>
            </a:r>
            <a: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주체 명확화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397" name="모서리가 둥근 직사각형 396"/>
          <p:cNvSpPr/>
          <p:nvPr/>
        </p:nvSpPr>
        <p:spPr>
          <a:xfrm>
            <a:off x="6506087" y="3694084"/>
            <a:ext cx="2767393" cy="887044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fontAlgn="ctr" latinLnBrk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표준 프로세스의 공식적인</a:t>
            </a:r>
            <a: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승인 및 효율적 이행을 위한 관리체계 정립</a:t>
            </a:r>
          </a:p>
        </p:txBody>
      </p:sp>
      <p:sp>
        <p:nvSpPr>
          <p:cNvPr id="398" name="모서리가 둥근 직사각형 397"/>
          <p:cNvSpPr/>
          <p:nvPr/>
        </p:nvSpPr>
        <p:spPr>
          <a:xfrm>
            <a:off x="6506087" y="5062236"/>
            <a:ext cx="2767393" cy="887044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fontAlgn="ctr" latinLnBrk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혁신활동</a:t>
            </a:r>
            <a: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  <a:t>, </a:t>
            </a: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프로세스 최적화</a:t>
            </a:r>
            <a: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  <a:t>,</a:t>
            </a:r>
            <a:b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경영가치 제고로의</a:t>
            </a:r>
            <a: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en-US" altLang="ko-KR" sz="1400" b="1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400" b="1" kern="0" dirty="0" err="1">
                <a:solidFill>
                  <a:srgbClr val="000000"/>
                </a:solidFill>
                <a:latin typeface="+mn-ea"/>
              </a:rPr>
              <a:t>선순환</a:t>
            </a:r>
            <a:r>
              <a:rPr kumimoji="1" lang="ko-KR" altLang="en-US" sz="1400" b="1" kern="0" dirty="0">
                <a:solidFill>
                  <a:srgbClr val="000000"/>
                </a:solidFill>
                <a:latin typeface="+mn-ea"/>
              </a:rPr>
              <a:t> 체계 구축</a:t>
            </a:r>
          </a:p>
        </p:txBody>
      </p:sp>
    </p:spTree>
    <p:extLst>
      <p:ext uri="{BB962C8B-B14F-4D97-AF65-F5344CB8AC3E}">
        <p14:creationId xmlns:p14="http://schemas.microsoft.com/office/powerpoint/2010/main" val="2464781105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공단의 경영 업무 프로세스 </a:t>
            </a:r>
            <a:r>
              <a:rPr lang="ko-KR" altLang="en-US" sz="1600" dirty="0" err="1"/>
              <a:t>거버넌스</a:t>
            </a:r>
            <a:r>
              <a:rPr lang="ko-KR" altLang="en-US" sz="1600" dirty="0"/>
              <a:t> 정립을 위한 </a:t>
            </a:r>
            <a:r>
              <a:rPr lang="en-US" altLang="ko-KR" sz="1600" dirty="0"/>
              <a:t>7</a:t>
            </a:r>
            <a:r>
              <a:rPr lang="ko-KR" altLang="en-US" sz="1600" dirty="0"/>
              <a:t>개의 프로세스 </a:t>
            </a:r>
            <a:r>
              <a:rPr lang="ko-KR" altLang="en-US" sz="1600" dirty="0" err="1"/>
              <a:t>거버넌스</a:t>
            </a:r>
            <a:r>
              <a:rPr lang="ko-KR" altLang="en-US" sz="1600" dirty="0"/>
              <a:t> </a:t>
            </a:r>
            <a:r>
              <a:rPr lang="ko-KR" altLang="en-US" dirty="0"/>
              <a:t>추진영역을 도출함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3.5.2 </a:t>
            </a:r>
            <a:r>
              <a:rPr lang="ko-KR" altLang="en-US" dirty="0"/>
              <a:t>프로세스 </a:t>
            </a:r>
            <a:r>
              <a:rPr lang="ko-KR" altLang="en-US" dirty="0" err="1"/>
              <a:t>거버넌스</a:t>
            </a:r>
            <a:r>
              <a:rPr lang="ko-KR" altLang="en-US" dirty="0"/>
              <a:t> 추진영역 도출 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>
          <a:xfrm>
            <a:off x="5601073" y="0"/>
            <a:ext cx="3914836" cy="782680"/>
          </a:xfrm>
        </p:spPr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3.5 </a:t>
            </a:r>
            <a:r>
              <a:rPr lang="ko-KR" altLang="en-US" dirty="0">
                <a:solidFill>
                  <a:prstClr val="black"/>
                </a:solidFill>
              </a:rPr>
              <a:t>경영정보기반 프로세스 </a:t>
            </a:r>
            <a:r>
              <a:rPr lang="ko-KR" altLang="en-US" dirty="0" err="1">
                <a:solidFill>
                  <a:prstClr val="black"/>
                </a:solidFill>
              </a:rPr>
              <a:t>거버넌스</a:t>
            </a:r>
            <a:r>
              <a:rPr lang="ko-KR" altLang="en-US" dirty="0">
                <a:solidFill>
                  <a:prstClr val="black"/>
                </a:solidFill>
              </a:rPr>
              <a:t> 정립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3" name="Rectangle 253"/>
          <p:cNvSpPr>
            <a:spLocks noChangeArrowheads="1"/>
          </p:cNvSpPr>
          <p:nvPr/>
        </p:nvSpPr>
        <p:spPr bwMode="gray">
          <a:xfrm>
            <a:off x="2980736" y="5264151"/>
            <a:ext cx="2376264" cy="462222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 표준 준수 모니터링</a:t>
            </a:r>
          </a:p>
        </p:txBody>
      </p:sp>
      <p:sp>
        <p:nvSpPr>
          <p:cNvPr id="35" name="Rectangle 255"/>
          <p:cNvSpPr>
            <a:spLocks noChangeArrowheads="1"/>
          </p:cNvSpPr>
          <p:nvPr/>
        </p:nvSpPr>
        <p:spPr bwMode="gray">
          <a:xfrm>
            <a:off x="2980736" y="5813321"/>
            <a:ext cx="2376264" cy="450367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lvl="0" algn="ctr" eaLnBrk="1" fontAlgn="base" latinLnBrk="0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  지속적 프로세스 개선 체계 구축</a:t>
            </a:r>
          </a:p>
        </p:txBody>
      </p:sp>
      <p:sp>
        <p:nvSpPr>
          <p:cNvPr id="37" name="Rectangle 257"/>
          <p:cNvSpPr>
            <a:spLocks noChangeArrowheads="1"/>
          </p:cNvSpPr>
          <p:nvPr/>
        </p:nvSpPr>
        <p:spPr bwMode="gray">
          <a:xfrm>
            <a:off x="2980736" y="2562930"/>
            <a:ext cx="2376264" cy="648073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 </a:t>
            </a: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</a:t>
            </a:r>
            <a:r>
              <a:rPr kumimoji="0" lang="ko-KR" altLang="en-US" sz="11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거버넌스</a:t>
            </a: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역할 정립</a:t>
            </a:r>
          </a:p>
        </p:txBody>
      </p:sp>
      <p:sp>
        <p:nvSpPr>
          <p:cNvPr id="38" name="Rectangle 258"/>
          <p:cNvSpPr>
            <a:spLocks noChangeArrowheads="1"/>
          </p:cNvSpPr>
          <p:nvPr/>
        </p:nvSpPr>
        <p:spPr bwMode="gray">
          <a:xfrm>
            <a:off x="2980736" y="1927044"/>
            <a:ext cx="2376264" cy="55267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 </a:t>
            </a: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</a:t>
            </a:r>
            <a:r>
              <a:rPr kumimoji="0" lang="ko-KR" altLang="en-US" sz="11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오너십</a:t>
            </a: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명확화</a:t>
            </a:r>
          </a:p>
        </p:txBody>
      </p:sp>
      <p:sp>
        <p:nvSpPr>
          <p:cNvPr id="39" name="Rectangle 259"/>
          <p:cNvSpPr>
            <a:spLocks noChangeArrowheads="1"/>
          </p:cNvSpPr>
          <p:nvPr/>
        </p:nvSpPr>
        <p:spPr bwMode="gray">
          <a:xfrm>
            <a:off x="2980736" y="4588549"/>
            <a:ext cx="2376264" cy="611553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rgbClr val="969696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 프로세스 표준화</a:t>
            </a:r>
          </a:p>
        </p:txBody>
      </p:sp>
      <p:sp>
        <p:nvSpPr>
          <p:cNvPr id="40" name="Rectangle 260"/>
          <p:cNvSpPr>
            <a:spLocks noChangeArrowheads="1"/>
          </p:cNvSpPr>
          <p:nvPr/>
        </p:nvSpPr>
        <p:spPr bwMode="gray">
          <a:xfrm>
            <a:off x="2980736" y="3292406"/>
            <a:ext cx="2376264" cy="576064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rgbClr val="969696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 프로세스 분류체계 정립</a:t>
            </a:r>
          </a:p>
        </p:txBody>
      </p:sp>
      <p:sp>
        <p:nvSpPr>
          <p:cNvPr id="41" name="Rectangle 261"/>
          <p:cNvSpPr>
            <a:spLocks noChangeArrowheads="1"/>
          </p:cNvSpPr>
          <p:nvPr/>
        </p:nvSpPr>
        <p:spPr bwMode="gray">
          <a:xfrm>
            <a:off x="2980736" y="3938022"/>
            <a:ext cx="2376264" cy="576549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rgbClr val="969696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 프로세스 변경 관리</a:t>
            </a:r>
          </a:p>
        </p:txBody>
      </p:sp>
      <p:sp>
        <p:nvSpPr>
          <p:cNvPr id="51" name="Text Box 271"/>
          <p:cNvSpPr txBox="1">
            <a:spLocks noChangeArrowheads="1"/>
          </p:cNvSpPr>
          <p:nvPr/>
        </p:nvSpPr>
        <p:spPr bwMode="gray">
          <a:xfrm>
            <a:off x="4601752" y="1526074"/>
            <a:ext cx="3024336" cy="3099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468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</a:t>
            </a:r>
            <a:r>
              <a:rPr kumimoji="1" lang="ko-KR" altLang="en-US" sz="14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거버넌스</a:t>
            </a:r>
            <a:r>
              <a:rPr kumimoji="1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추진영역 도출</a:t>
            </a:r>
          </a:p>
        </p:txBody>
      </p:sp>
      <p:sp>
        <p:nvSpPr>
          <p:cNvPr id="52" name="Line 272"/>
          <p:cNvSpPr>
            <a:spLocks noChangeShapeType="1"/>
          </p:cNvSpPr>
          <p:nvPr/>
        </p:nvSpPr>
        <p:spPr bwMode="gray">
          <a:xfrm>
            <a:off x="4736976" y="1844824"/>
            <a:ext cx="2736000" cy="0"/>
          </a:xfrm>
          <a:prstGeom prst="line">
            <a:avLst/>
          </a:prstGeom>
          <a:noFill/>
          <a:ln w="9525">
            <a:solidFill>
              <a:srgbClr val="4D4D4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387655" y="2204864"/>
            <a:ext cx="2045065" cy="887044"/>
          </a:xfrm>
          <a:prstGeom prst="roundRect">
            <a:avLst>
              <a:gd name="adj" fmla="val 9729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지속적 경영업무 프로세스</a:t>
            </a:r>
            <a:r>
              <a:rPr kumimoji="1" lang="en-US" altLang="ko-KR" sz="1200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en-US" altLang="ko-KR" sz="1200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개선 및 혁신활동 관리를</a:t>
            </a:r>
            <a:r>
              <a:rPr kumimoji="1" lang="en-US" altLang="ko-KR" sz="1200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en-US" altLang="ko-KR" sz="1200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위한 주체 명확화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83" name="모서리가 둥근 직사각형 82"/>
          <p:cNvSpPr/>
          <p:nvPr/>
        </p:nvSpPr>
        <p:spPr>
          <a:xfrm>
            <a:off x="387655" y="3592141"/>
            <a:ext cx="2045065" cy="887044"/>
          </a:xfrm>
          <a:prstGeom prst="roundRect">
            <a:avLst>
              <a:gd name="adj" fmla="val 8738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 fontAlgn="ctr" latinLnBrk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표준 프로세스의 공식적인 승인 및 효율적 이행을 위한 관리체계 정립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387655" y="4990228"/>
            <a:ext cx="2045065" cy="887044"/>
          </a:xfrm>
          <a:prstGeom prst="roundRect">
            <a:avLst>
              <a:gd name="adj" fmla="val 10720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 fontAlgn="ctr" latinLnBrk="0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혁신활동</a:t>
            </a:r>
            <a:r>
              <a:rPr kumimoji="1" lang="en-US" altLang="ko-KR" sz="1200" kern="0" dirty="0">
                <a:solidFill>
                  <a:srgbClr val="000000"/>
                </a:solidFill>
                <a:latin typeface="+mn-ea"/>
              </a:rPr>
              <a:t>, </a:t>
            </a: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프로세스 최적화</a:t>
            </a:r>
            <a:r>
              <a:rPr kumimoji="1" lang="en-US" altLang="ko-KR" sz="1200" kern="0" dirty="0">
                <a:solidFill>
                  <a:srgbClr val="000000"/>
                </a:solidFill>
                <a:latin typeface="+mn-ea"/>
              </a:rPr>
              <a:t>,</a:t>
            </a: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경영가치 제고로의</a:t>
            </a:r>
            <a:b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</a:br>
            <a:r>
              <a:rPr kumimoji="1" lang="ko-KR" altLang="en-US" sz="1200" kern="0" dirty="0" err="1">
                <a:solidFill>
                  <a:srgbClr val="000000"/>
                </a:solidFill>
                <a:latin typeface="+mn-ea"/>
              </a:rPr>
              <a:t>선순환</a:t>
            </a:r>
            <a:r>
              <a:rPr kumimoji="1" lang="ko-KR" altLang="en-US" sz="1200" kern="0" dirty="0">
                <a:solidFill>
                  <a:srgbClr val="000000"/>
                </a:solidFill>
                <a:latin typeface="+mn-ea"/>
              </a:rPr>
              <a:t> 체계 구축</a:t>
            </a:r>
          </a:p>
        </p:txBody>
      </p:sp>
      <p:sp>
        <p:nvSpPr>
          <p:cNvPr id="113" name="Text Box 9"/>
          <p:cNvSpPr txBox="1">
            <a:spLocks noChangeArrowheads="1"/>
          </p:cNvSpPr>
          <p:nvPr/>
        </p:nvSpPr>
        <p:spPr bwMode="gray">
          <a:xfrm>
            <a:off x="848544" y="1628800"/>
            <a:ext cx="1152128" cy="3099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000" tIns="46800" rIns="90000" bIns="468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latinLnBrk="0" hangingPunct="1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ea typeface="+mn-ea"/>
              </a:rPr>
              <a:t>정립방향</a:t>
            </a:r>
          </a:p>
        </p:txBody>
      </p:sp>
      <p:sp>
        <p:nvSpPr>
          <p:cNvPr id="114" name="Line 10"/>
          <p:cNvSpPr>
            <a:spLocks noChangeShapeType="1"/>
          </p:cNvSpPr>
          <p:nvPr/>
        </p:nvSpPr>
        <p:spPr bwMode="gray">
          <a:xfrm>
            <a:off x="848544" y="1988840"/>
            <a:ext cx="1152000" cy="0"/>
          </a:xfrm>
          <a:prstGeom prst="line">
            <a:avLst/>
          </a:prstGeom>
          <a:noFill/>
          <a:ln w="9525">
            <a:solidFill>
              <a:srgbClr val="4D4D4D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243" name="직선 연결선 242"/>
          <p:cNvCxnSpPr>
            <a:stCxn id="82" idx="3"/>
            <a:endCxn id="38" idx="1"/>
          </p:cNvCxnSpPr>
          <p:nvPr/>
        </p:nvCxnSpPr>
        <p:spPr>
          <a:xfrm flipV="1">
            <a:off x="2432720" y="2203380"/>
            <a:ext cx="548016" cy="44500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직선 연결선 130"/>
          <p:cNvCxnSpPr>
            <a:stCxn id="82" idx="3"/>
            <a:endCxn id="37" idx="1"/>
          </p:cNvCxnSpPr>
          <p:nvPr/>
        </p:nvCxnSpPr>
        <p:spPr>
          <a:xfrm>
            <a:off x="2432720" y="2648386"/>
            <a:ext cx="548016" cy="23858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연결선 134"/>
          <p:cNvCxnSpPr>
            <a:stCxn id="83" idx="3"/>
            <a:endCxn id="41" idx="1"/>
          </p:cNvCxnSpPr>
          <p:nvPr/>
        </p:nvCxnSpPr>
        <p:spPr>
          <a:xfrm>
            <a:off x="2432720" y="4035663"/>
            <a:ext cx="548016" cy="19063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연결선 135"/>
          <p:cNvCxnSpPr>
            <a:stCxn id="83" idx="3"/>
            <a:endCxn id="40" idx="1"/>
          </p:cNvCxnSpPr>
          <p:nvPr/>
        </p:nvCxnSpPr>
        <p:spPr>
          <a:xfrm flipV="1">
            <a:off x="2432720" y="3580438"/>
            <a:ext cx="548016" cy="455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연결선 140"/>
          <p:cNvCxnSpPr>
            <a:stCxn id="84" idx="3"/>
            <a:endCxn id="35" idx="1"/>
          </p:cNvCxnSpPr>
          <p:nvPr/>
        </p:nvCxnSpPr>
        <p:spPr>
          <a:xfrm>
            <a:off x="2432720" y="5433750"/>
            <a:ext cx="548016" cy="60475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직선 연결선 167"/>
          <p:cNvCxnSpPr>
            <a:stCxn id="83" idx="3"/>
            <a:endCxn id="39" idx="1"/>
          </p:cNvCxnSpPr>
          <p:nvPr/>
        </p:nvCxnSpPr>
        <p:spPr>
          <a:xfrm>
            <a:off x="2432720" y="4035663"/>
            <a:ext cx="548016" cy="85866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직선 연결선 170"/>
          <p:cNvCxnSpPr>
            <a:stCxn id="83" idx="3"/>
            <a:endCxn id="33" idx="1"/>
          </p:cNvCxnSpPr>
          <p:nvPr/>
        </p:nvCxnSpPr>
        <p:spPr>
          <a:xfrm>
            <a:off x="2432720" y="4035663"/>
            <a:ext cx="548016" cy="145959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/>
          <p:cNvCxnSpPr>
            <a:stCxn id="83" idx="3"/>
            <a:endCxn id="35" idx="1"/>
          </p:cNvCxnSpPr>
          <p:nvPr/>
        </p:nvCxnSpPr>
        <p:spPr>
          <a:xfrm>
            <a:off x="2432720" y="4035663"/>
            <a:ext cx="548016" cy="200284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/>
          <p:cNvCxnSpPr>
            <a:stCxn id="84" idx="3"/>
            <a:endCxn id="41" idx="1"/>
          </p:cNvCxnSpPr>
          <p:nvPr/>
        </p:nvCxnSpPr>
        <p:spPr>
          <a:xfrm flipV="1">
            <a:off x="2432720" y="4226297"/>
            <a:ext cx="548016" cy="120745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/>
          <p:cNvCxnSpPr>
            <a:stCxn id="84" idx="3"/>
            <a:endCxn id="39" idx="1"/>
          </p:cNvCxnSpPr>
          <p:nvPr/>
        </p:nvCxnSpPr>
        <p:spPr>
          <a:xfrm flipV="1">
            <a:off x="2432720" y="4894326"/>
            <a:ext cx="548016" cy="53942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/>
          <p:cNvCxnSpPr>
            <a:stCxn id="84" idx="3"/>
            <a:endCxn id="33" idx="1"/>
          </p:cNvCxnSpPr>
          <p:nvPr/>
        </p:nvCxnSpPr>
        <p:spPr>
          <a:xfrm>
            <a:off x="2432720" y="5433750"/>
            <a:ext cx="548016" cy="6151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Rectangle 258"/>
          <p:cNvSpPr>
            <a:spLocks noChangeArrowheads="1"/>
          </p:cNvSpPr>
          <p:nvPr/>
        </p:nvSpPr>
        <p:spPr bwMode="gray">
          <a:xfrm>
            <a:off x="5385048" y="1927045"/>
            <a:ext cx="4104456" cy="552672"/>
          </a:xfrm>
          <a:prstGeom prst="rect">
            <a:avLst/>
          </a:prstGeom>
          <a:solidFill>
            <a:srgbClr val="FFFFFF"/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프로세스에 대한 공식화된 오너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십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)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의 누락 없는 관리 체계 수립</a:t>
            </a:r>
          </a:p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공식화된 절차를 통해 프로세스 오너로서의 역할 및 책임을 인지하도록 함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66" name="Rectangle 258"/>
          <p:cNvSpPr>
            <a:spLocks noChangeArrowheads="1"/>
          </p:cNvSpPr>
          <p:nvPr/>
        </p:nvSpPr>
        <p:spPr bwMode="gray">
          <a:xfrm>
            <a:off x="5385048" y="2562931"/>
            <a:ext cx="4104456" cy="648072"/>
          </a:xfrm>
          <a:prstGeom prst="rect">
            <a:avLst/>
          </a:prstGeom>
          <a:solidFill>
            <a:srgbClr val="FFFFFF"/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오너에게 책임감을 부여하고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활동에 대한 피드백 기준으로 활용</a:t>
            </a:r>
          </a:p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운영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의결 기구의 역할을 명확히 하여 프로세스 </a:t>
            </a:r>
            <a:r>
              <a:rPr lang="ko-KR" altLang="en-US" sz="1050" dirty="0" err="1">
                <a:solidFill>
                  <a:srgbClr val="000000"/>
                </a:solidFill>
                <a:latin typeface="+mn-ea"/>
                <a:ea typeface="+mn-ea"/>
              </a:rPr>
              <a:t>거버넌스의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 원활한 운영 도모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67" name="Rectangle 258"/>
          <p:cNvSpPr>
            <a:spLocks noChangeArrowheads="1"/>
          </p:cNvSpPr>
          <p:nvPr/>
        </p:nvSpPr>
        <p:spPr bwMode="gray">
          <a:xfrm>
            <a:off x="5385048" y="3292104"/>
            <a:ext cx="4104456" cy="576366"/>
          </a:xfrm>
          <a:prstGeom prst="rect">
            <a:avLst/>
          </a:prstGeom>
          <a:solidFill>
            <a:srgbClr val="FFFFFF"/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표준화 추진 영역에 대한 전사차원의 일관된 관점 정의</a:t>
            </a:r>
          </a:p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리엔지니어링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혁신 등의 과업 수행 시 참조할 수 있는 표준 프로세스 분류체계 제공 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68" name="Rectangle 258"/>
          <p:cNvSpPr>
            <a:spLocks noChangeArrowheads="1"/>
          </p:cNvSpPr>
          <p:nvPr/>
        </p:nvSpPr>
        <p:spPr bwMode="gray">
          <a:xfrm>
            <a:off x="5385048" y="3941848"/>
            <a:ext cx="4104456" cy="572723"/>
          </a:xfrm>
          <a:prstGeom prst="rect">
            <a:avLst/>
          </a:prstGeom>
          <a:solidFill>
            <a:srgbClr val="FFFFFF"/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표준의 최신성 유지</a:t>
            </a:r>
            <a:endParaRPr lang="en-US" altLang="ko-KR" sz="105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변경 및 심의 절차 체계화로 표준 프로세스 품질 검증</a:t>
            </a:r>
          </a:p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변경에 대한 신속한 공유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69" name="Rectangle 258"/>
          <p:cNvSpPr>
            <a:spLocks noChangeArrowheads="1"/>
          </p:cNvSpPr>
          <p:nvPr/>
        </p:nvSpPr>
        <p:spPr bwMode="gray">
          <a:xfrm>
            <a:off x="5385048" y="4588248"/>
            <a:ext cx="4104456" cy="611855"/>
          </a:xfrm>
          <a:prstGeom prst="rect">
            <a:avLst/>
          </a:prstGeom>
          <a:solidFill>
            <a:srgbClr val="FFFFFF"/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산포감소 및  업무처리 능력의 상향 평준화</a:t>
            </a:r>
          </a:p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가시화를 통한 현황 직시 및 개선활동 수행의 기반</a:t>
            </a:r>
          </a:p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부서간 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Cross Functional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연계 강화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70" name="Rectangle 258"/>
          <p:cNvSpPr>
            <a:spLocks noChangeArrowheads="1"/>
          </p:cNvSpPr>
          <p:nvPr/>
        </p:nvSpPr>
        <p:spPr bwMode="gray">
          <a:xfrm>
            <a:off x="5392615" y="5262696"/>
            <a:ext cx="4104456" cy="463885"/>
          </a:xfrm>
          <a:prstGeom prst="rect">
            <a:avLst/>
          </a:prstGeom>
          <a:solidFill>
            <a:srgbClr val="FFFFFF"/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표준프로세스의 엄격한 준수를 통해 휴먼 에러로 발생할 수 있는 문제를 제거</a:t>
            </a:r>
            <a:endParaRPr lang="en-US" altLang="ko-KR" sz="105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71" name="Rectangle 258"/>
          <p:cNvSpPr>
            <a:spLocks noChangeArrowheads="1"/>
          </p:cNvSpPr>
          <p:nvPr/>
        </p:nvSpPr>
        <p:spPr bwMode="gray">
          <a:xfrm>
            <a:off x="5385048" y="5810712"/>
            <a:ext cx="4104456" cy="450367"/>
          </a:xfrm>
          <a:prstGeom prst="rect">
            <a:avLst/>
          </a:prstGeom>
          <a:solidFill>
            <a:srgbClr val="FFFFFF"/>
          </a:solidFill>
          <a:ln w="12700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fontAlgn="base" latinLnBrk="0"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낭비와 복잡성 제거를 통한 프로세스 스피드 향상 및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비용절감 등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42" name="Rectangle 262"/>
          <p:cNvSpPr>
            <a:spLocks noChangeArrowheads="1"/>
          </p:cNvSpPr>
          <p:nvPr/>
        </p:nvSpPr>
        <p:spPr bwMode="gray">
          <a:xfrm>
            <a:off x="2991161" y="1943733"/>
            <a:ext cx="209263" cy="197135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 dirty="0">
                <a:latin typeface="+mn-ea"/>
              </a:rPr>
              <a:t>1</a:t>
            </a:r>
          </a:p>
        </p:txBody>
      </p:sp>
      <p:sp>
        <p:nvSpPr>
          <p:cNvPr id="43" name="Rectangle 263"/>
          <p:cNvSpPr>
            <a:spLocks noChangeArrowheads="1"/>
          </p:cNvSpPr>
          <p:nvPr/>
        </p:nvSpPr>
        <p:spPr bwMode="gray">
          <a:xfrm>
            <a:off x="2991161" y="2576590"/>
            <a:ext cx="209263" cy="197135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>
                <a:latin typeface="+mn-ea"/>
              </a:rPr>
              <a:t>2</a:t>
            </a:r>
          </a:p>
        </p:txBody>
      </p:sp>
      <p:sp>
        <p:nvSpPr>
          <p:cNvPr id="44" name="Rectangle 264"/>
          <p:cNvSpPr>
            <a:spLocks noChangeArrowheads="1"/>
          </p:cNvSpPr>
          <p:nvPr/>
        </p:nvSpPr>
        <p:spPr bwMode="gray">
          <a:xfrm>
            <a:off x="2991161" y="4598624"/>
            <a:ext cx="209263" cy="197135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>
                <a:latin typeface="+mn-ea"/>
              </a:rPr>
              <a:t>5</a:t>
            </a:r>
          </a:p>
        </p:txBody>
      </p:sp>
      <p:sp>
        <p:nvSpPr>
          <p:cNvPr id="45" name="Rectangle 265"/>
          <p:cNvSpPr>
            <a:spLocks noChangeArrowheads="1"/>
          </p:cNvSpPr>
          <p:nvPr/>
        </p:nvSpPr>
        <p:spPr bwMode="gray">
          <a:xfrm>
            <a:off x="2991161" y="3305876"/>
            <a:ext cx="209263" cy="197135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 dirty="0">
                <a:latin typeface="+mn-ea"/>
              </a:rPr>
              <a:t>3</a:t>
            </a:r>
          </a:p>
        </p:txBody>
      </p:sp>
      <p:sp>
        <p:nvSpPr>
          <p:cNvPr id="46" name="Rectangle 266"/>
          <p:cNvSpPr>
            <a:spLocks noChangeArrowheads="1"/>
          </p:cNvSpPr>
          <p:nvPr/>
        </p:nvSpPr>
        <p:spPr bwMode="gray">
          <a:xfrm>
            <a:off x="2991161" y="3952109"/>
            <a:ext cx="209263" cy="197135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47" name="Rectangle 267"/>
          <p:cNvSpPr>
            <a:spLocks noChangeArrowheads="1"/>
          </p:cNvSpPr>
          <p:nvPr/>
        </p:nvSpPr>
        <p:spPr bwMode="gray">
          <a:xfrm>
            <a:off x="2991161" y="5280067"/>
            <a:ext cx="209263" cy="197135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 dirty="0">
                <a:latin typeface="+mn-ea"/>
              </a:rPr>
              <a:t>6</a:t>
            </a:r>
          </a:p>
        </p:txBody>
      </p:sp>
      <p:sp>
        <p:nvSpPr>
          <p:cNvPr id="48" name="Rectangle 269"/>
          <p:cNvSpPr>
            <a:spLocks noChangeArrowheads="1"/>
          </p:cNvSpPr>
          <p:nvPr/>
        </p:nvSpPr>
        <p:spPr bwMode="gray">
          <a:xfrm>
            <a:off x="2991161" y="5825237"/>
            <a:ext cx="209263" cy="197135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 dirty="0">
                <a:latin typeface="+mn-ea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3728003717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공단의 경영 업무 프로세스 </a:t>
            </a:r>
            <a:r>
              <a:rPr lang="ko-KR" altLang="en-US" dirty="0" err="1"/>
              <a:t>거버넌스</a:t>
            </a:r>
            <a:r>
              <a:rPr lang="ko-KR" altLang="en-US" dirty="0"/>
              <a:t> 체계 구축을 위해서 프로세스 표준화 단계</a:t>
            </a:r>
            <a:r>
              <a:rPr lang="en-US" altLang="ko-KR" dirty="0"/>
              <a:t>, </a:t>
            </a:r>
            <a:r>
              <a:rPr lang="ko-KR" altLang="en-US" dirty="0"/>
              <a:t>프로세스 적용단계</a:t>
            </a:r>
            <a:r>
              <a:rPr lang="en-US" altLang="ko-KR" dirty="0"/>
              <a:t>, </a:t>
            </a:r>
            <a:r>
              <a:rPr lang="ko-KR" altLang="en-US" dirty="0"/>
              <a:t>프로세스 환류 단계로 구분하여 추진과제를 도출함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3.5.3 </a:t>
            </a:r>
            <a:r>
              <a:rPr lang="ko-KR" altLang="en-US" dirty="0"/>
              <a:t>프로세스 </a:t>
            </a:r>
            <a:r>
              <a:rPr lang="ko-KR" altLang="en-US" dirty="0" err="1"/>
              <a:t>거버넌스</a:t>
            </a:r>
            <a:r>
              <a:rPr lang="ko-KR" altLang="en-US" dirty="0"/>
              <a:t> 추진과제 도출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Ⅳ. </a:t>
            </a:r>
            <a:r>
              <a:rPr lang="ko-KR" altLang="en-US" dirty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목표 업무프로세스 설계</a:t>
            </a:r>
            <a:endParaRPr lang="en-US" altLang="ko-KR" dirty="0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3.5 </a:t>
            </a:r>
            <a:r>
              <a:rPr lang="ko-KR" altLang="en-US" dirty="0">
                <a:solidFill>
                  <a:prstClr val="black"/>
                </a:solidFill>
              </a:rPr>
              <a:t>경영정보기반 프로세스 </a:t>
            </a:r>
            <a:r>
              <a:rPr lang="ko-KR" altLang="en-US" dirty="0" err="1">
                <a:solidFill>
                  <a:prstClr val="black"/>
                </a:solidFill>
              </a:rPr>
              <a:t>거버넌스</a:t>
            </a:r>
            <a:r>
              <a:rPr lang="ko-KR" altLang="en-US" dirty="0">
                <a:solidFill>
                  <a:prstClr val="black"/>
                </a:solidFill>
              </a:rPr>
              <a:t> 정립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6622478" y="6127412"/>
            <a:ext cx="135485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000000"/>
                </a:solidFill>
                <a:latin typeface="+mn-ea"/>
              </a:rPr>
              <a:t>※ PO : Process Owner</a:t>
            </a:r>
            <a:endParaRPr lang="ko-KR" altLang="en-US" sz="900" dirty="0"/>
          </a:p>
        </p:txBody>
      </p:sp>
      <p:sp>
        <p:nvSpPr>
          <p:cNvPr id="10" name="Rectangle 273"/>
          <p:cNvSpPr>
            <a:spLocks noChangeArrowheads="1"/>
          </p:cNvSpPr>
          <p:nvPr/>
        </p:nvSpPr>
        <p:spPr bwMode="gray">
          <a:xfrm>
            <a:off x="7083882" y="2320628"/>
            <a:ext cx="2405621" cy="865584"/>
          </a:xfrm>
          <a:prstGeom prst="rect">
            <a:avLst/>
          </a:prstGeom>
          <a:solidFill>
            <a:schemeClr val="bg1"/>
          </a:solidFill>
          <a:ln w="12700">
            <a:solidFill>
              <a:srgbClr val="969696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lIns="90000" anchor="ctr" anchorCtr="1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표준화</a:t>
            </a:r>
          </a:p>
        </p:txBody>
      </p:sp>
      <p:sp>
        <p:nvSpPr>
          <p:cNvPr id="11" name="Rectangle 274"/>
          <p:cNvSpPr>
            <a:spLocks noChangeArrowheads="1"/>
          </p:cNvSpPr>
          <p:nvPr/>
        </p:nvSpPr>
        <p:spPr bwMode="gray">
          <a:xfrm>
            <a:off x="7083882" y="3645024"/>
            <a:ext cx="2405621" cy="865584"/>
          </a:xfrm>
          <a:prstGeom prst="rect">
            <a:avLst/>
          </a:prstGeom>
          <a:solidFill>
            <a:schemeClr val="bg1"/>
          </a:solidFill>
          <a:ln w="12700">
            <a:solidFill>
              <a:srgbClr val="969696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lIns="90000" anchor="ctr" anchorCtr="1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</a:t>
            </a:r>
            <a:r>
              <a: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표준 준수 및 모니터링</a:t>
            </a:r>
          </a:p>
        </p:txBody>
      </p:sp>
      <p:sp>
        <p:nvSpPr>
          <p:cNvPr id="12" name="Rectangle 275"/>
          <p:cNvSpPr>
            <a:spLocks noChangeArrowheads="1"/>
          </p:cNvSpPr>
          <p:nvPr/>
        </p:nvSpPr>
        <p:spPr bwMode="gray">
          <a:xfrm>
            <a:off x="7083882" y="5011688"/>
            <a:ext cx="2405621" cy="865584"/>
          </a:xfrm>
          <a:prstGeom prst="rect">
            <a:avLst/>
          </a:prstGeom>
          <a:solidFill>
            <a:schemeClr val="bg1"/>
          </a:solidFill>
          <a:ln w="12700">
            <a:solidFill>
              <a:srgbClr val="969696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lIns="90000" anchor="ctr" anchorCtr="1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</a:t>
            </a:r>
            <a:r>
              <a:rPr kumimoji="0" lang="ko-KR" altLang="en-US" sz="14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환류체계</a:t>
            </a:r>
            <a:r>
              <a: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구축</a:t>
            </a:r>
          </a:p>
        </p:txBody>
      </p:sp>
      <p:sp>
        <p:nvSpPr>
          <p:cNvPr id="13" name="Text Box 271"/>
          <p:cNvSpPr txBox="1">
            <a:spLocks noChangeArrowheads="1"/>
          </p:cNvSpPr>
          <p:nvPr/>
        </p:nvSpPr>
        <p:spPr bwMode="gray">
          <a:xfrm>
            <a:off x="7401272" y="1796522"/>
            <a:ext cx="1656184" cy="3099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468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추진과제 도출</a:t>
            </a:r>
          </a:p>
        </p:txBody>
      </p:sp>
      <p:sp>
        <p:nvSpPr>
          <p:cNvPr id="14" name="Line 272"/>
          <p:cNvSpPr>
            <a:spLocks noChangeShapeType="1"/>
          </p:cNvSpPr>
          <p:nvPr/>
        </p:nvSpPr>
        <p:spPr bwMode="gray">
          <a:xfrm>
            <a:off x="7473280" y="2132856"/>
            <a:ext cx="1512000" cy="0"/>
          </a:xfrm>
          <a:prstGeom prst="line">
            <a:avLst/>
          </a:prstGeom>
          <a:noFill/>
          <a:ln w="9525">
            <a:solidFill>
              <a:srgbClr val="4D4D4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15" name="직선 연결선 14"/>
          <p:cNvCxnSpPr>
            <a:stCxn id="22" idx="3"/>
            <a:endCxn id="10" idx="1"/>
          </p:cNvCxnSpPr>
          <p:nvPr/>
        </p:nvCxnSpPr>
        <p:spPr>
          <a:xfrm>
            <a:off x="6609184" y="2219384"/>
            <a:ext cx="474698" cy="53403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/>
          <p:cNvCxnSpPr>
            <a:stCxn id="23" idx="3"/>
            <a:endCxn id="10" idx="1"/>
          </p:cNvCxnSpPr>
          <p:nvPr/>
        </p:nvCxnSpPr>
        <p:spPr>
          <a:xfrm flipV="1">
            <a:off x="6609184" y="2753420"/>
            <a:ext cx="474698" cy="11016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/>
          <p:cNvCxnSpPr>
            <a:stCxn id="24" idx="3"/>
            <a:endCxn id="10" idx="1"/>
          </p:cNvCxnSpPr>
          <p:nvPr/>
        </p:nvCxnSpPr>
        <p:spPr>
          <a:xfrm flipV="1">
            <a:off x="6609184" y="2753420"/>
            <a:ext cx="474698" cy="75436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/>
          <p:cNvCxnSpPr>
            <a:stCxn id="26" idx="3"/>
            <a:endCxn id="10" idx="1"/>
          </p:cNvCxnSpPr>
          <p:nvPr/>
        </p:nvCxnSpPr>
        <p:spPr>
          <a:xfrm flipV="1">
            <a:off x="6609184" y="2753420"/>
            <a:ext cx="474698" cy="139468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/>
          <p:cNvCxnSpPr>
            <a:stCxn id="27" idx="3"/>
            <a:endCxn id="11" idx="1"/>
          </p:cNvCxnSpPr>
          <p:nvPr/>
        </p:nvCxnSpPr>
        <p:spPr>
          <a:xfrm flipV="1">
            <a:off x="6609184" y="4077816"/>
            <a:ext cx="474698" cy="71448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/>
          <p:cNvCxnSpPr>
            <a:stCxn id="28" idx="3"/>
            <a:endCxn id="12" idx="1"/>
          </p:cNvCxnSpPr>
          <p:nvPr/>
        </p:nvCxnSpPr>
        <p:spPr>
          <a:xfrm flipV="1">
            <a:off x="6609184" y="5444480"/>
            <a:ext cx="474698" cy="63256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/>
          <p:cNvCxnSpPr>
            <a:stCxn id="25" idx="3"/>
            <a:endCxn id="12" idx="1"/>
          </p:cNvCxnSpPr>
          <p:nvPr/>
        </p:nvCxnSpPr>
        <p:spPr>
          <a:xfrm>
            <a:off x="6609184" y="5428971"/>
            <a:ext cx="474698" cy="1550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58"/>
          <p:cNvSpPr>
            <a:spLocks noChangeArrowheads="1"/>
          </p:cNvSpPr>
          <p:nvPr/>
        </p:nvSpPr>
        <p:spPr bwMode="gray">
          <a:xfrm>
            <a:off x="2279912" y="1949384"/>
            <a:ext cx="4329272" cy="540000"/>
          </a:xfrm>
          <a:prstGeom prst="rect">
            <a:avLst/>
          </a:prstGeom>
          <a:solidFill>
            <a:srgbClr val="FFFFFF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eaLnBrk="1" hangingPunct="1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개선과 표준화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현업 </a:t>
            </a:r>
            <a:r>
              <a:rPr lang="ko-KR" altLang="en-US" sz="1050" dirty="0" err="1">
                <a:solidFill>
                  <a:srgbClr val="000000"/>
                </a:solidFill>
                <a:latin typeface="+mn-ea"/>
                <a:ea typeface="+mn-ea"/>
              </a:rPr>
              <a:t>확산를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 책임지는 “프로세스 오너” 선정 및 최신성 유지와 관련된 절차를 정의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23" name="Rectangle 258"/>
          <p:cNvSpPr>
            <a:spLocks noChangeArrowheads="1"/>
          </p:cNvSpPr>
          <p:nvPr/>
        </p:nvSpPr>
        <p:spPr bwMode="gray">
          <a:xfrm>
            <a:off x="2279912" y="2593582"/>
            <a:ext cx="4329272" cy="540000"/>
          </a:xfrm>
          <a:prstGeom prst="rect">
            <a:avLst/>
          </a:prstGeom>
          <a:solidFill>
            <a:srgbClr val="FFFFFF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eaLnBrk="1" hangingPunct="1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</a:t>
            </a:r>
            <a:r>
              <a:rPr lang="ko-KR" altLang="en-US" sz="1050" dirty="0" err="1">
                <a:solidFill>
                  <a:srgbClr val="000000"/>
                </a:solidFill>
                <a:latin typeface="+mn-ea"/>
                <a:ea typeface="+mn-ea"/>
              </a:rPr>
              <a:t>거버넌스를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 구성하는 의결 기구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운영조직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/>
            </a:r>
            <a:b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</a:b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오너의 운영 방식 및 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R&amp;R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을 정의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24" name="Rectangle 258"/>
          <p:cNvSpPr>
            <a:spLocks noChangeArrowheads="1"/>
          </p:cNvSpPr>
          <p:nvPr/>
        </p:nvSpPr>
        <p:spPr bwMode="gray">
          <a:xfrm>
            <a:off x="2279912" y="3237780"/>
            <a:ext cx="4329272" cy="540000"/>
          </a:xfrm>
          <a:prstGeom prst="rect">
            <a:avLst/>
          </a:prstGeom>
          <a:solidFill>
            <a:srgbClr val="FFFFFF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eaLnBrk="1" hangingPunct="1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가치 있는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결과를</a:t>
            </a: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 생성하는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일련의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업무활동을 전달하고자 하는</a:t>
            </a: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 경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로</a:t>
            </a: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, 수단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 및</a:t>
            </a: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대상에</a:t>
            </a: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 따라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ko-KR" sz="1050" dirty="0">
                <a:solidFill>
                  <a:srgbClr val="000000"/>
                </a:solidFill>
                <a:latin typeface="+mn-ea"/>
                <a:ea typeface="+mn-ea"/>
              </a:rPr>
              <a:t>분류하여 구조화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25" name="Rectangle 258"/>
          <p:cNvSpPr>
            <a:spLocks noChangeArrowheads="1"/>
          </p:cNvSpPr>
          <p:nvPr/>
        </p:nvSpPr>
        <p:spPr bwMode="gray">
          <a:xfrm>
            <a:off x="2279912" y="5158971"/>
            <a:ext cx="4329272" cy="540000"/>
          </a:xfrm>
          <a:prstGeom prst="rect">
            <a:avLst/>
          </a:prstGeom>
          <a:solidFill>
            <a:srgbClr val="FFFFFF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eaLnBrk="1" hangingPunct="1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개선 발굴에 따른 과제화부터 표준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프로세스 변경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/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심의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/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공지에 이르는 프로세스 변경 절차를 정의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26" name="Rectangle 258"/>
          <p:cNvSpPr>
            <a:spLocks noChangeArrowheads="1"/>
          </p:cNvSpPr>
          <p:nvPr/>
        </p:nvSpPr>
        <p:spPr bwMode="gray">
          <a:xfrm>
            <a:off x="2279912" y="3878104"/>
            <a:ext cx="4329272" cy="540000"/>
          </a:xfrm>
          <a:prstGeom prst="rect">
            <a:avLst/>
          </a:prstGeom>
          <a:solidFill>
            <a:srgbClr val="FFFFFF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eaLnBrk="1" hangingPunct="1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최적의 업무 수행방법과  절차를 정의하고 문서화 하기 위한 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>Template</a:t>
            </a: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과 가이드를 작성하고 실행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27" name="Rectangle 258"/>
          <p:cNvSpPr>
            <a:spLocks noChangeArrowheads="1"/>
          </p:cNvSpPr>
          <p:nvPr/>
        </p:nvSpPr>
        <p:spPr bwMode="gray">
          <a:xfrm>
            <a:off x="2279912" y="4522302"/>
            <a:ext cx="4329272" cy="540000"/>
          </a:xfrm>
          <a:prstGeom prst="rect">
            <a:avLst/>
          </a:prstGeom>
          <a:solidFill>
            <a:srgbClr val="FFFFFF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eaLnBrk="1" hangingPunct="1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현업에서 표준 프로세스 대로 업무를 수행하는지 모니터링 하는 체계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28" name="Rectangle 258"/>
          <p:cNvSpPr>
            <a:spLocks noChangeArrowheads="1"/>
          </p:cNvSpPr>
          <p:nvPr/>
        </p:nvSpPr>
        <p:spPr bwMode="gray">
          <a:xfrm>
            <a:off x="2279912" y="5807043"/>
            <a:ext cx="4329272" cy="540000"/>
          </a:xfrm>
          <a:prstGeom prst="rect">
            <a:avLst/>
          </a:prstGeom>
          <a:solidFill>
            <a:srgbClr val="FFFFFF"/>
          </a:solidFill>
          <a:ln w="3175" algn="ctr">
            <a:solidFill>
              <a:srgbClr val="969696"/>
            </a:solidFill>
            <a:miter lim="800000"/>
            <a:headEnd/>
            <a:tailEnd/>
          </a:ln>
        </p:spPr>
        <p:txBody>
          <a:bodyPr lIns="72000" tIns="36000" rIns="3600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72000" indent="-72000" eaLnBrk="1" hangingPunct="1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경영가치 관점에서의 낭비요소와 휴먼에러 발생 개소를 가시화하여 프로세스 오너 주도로 지속적 개선활동을 수행할 수 있는 방안을 </a:t>
            </a:r>
            <a: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  <a:t/>
            </a:r>
            <a:br>
              <a:rPr lang="en-US" altLang="ko-KR" sz="1050" dirty="0">
                <a:solidFill>
                  <a:srgbClr val="000000"/>
                </a:solidFill>
                <a:latin typeface="+mn-ea"/>
                <a:ea typeface="+mn-ea"/>
              </a:rPr>
            </a:br>
            <a:r>
              <a:rPr lang="ko-KR" altLang="en-US" sz="1050" dirty="0">
                <a:solidFill>
                  <a:srgbClr val="000000"/>
                </a:solidFill>
                <a:latin typeface="+mn-ea"/>
                <a:ea typeface="+mn-ea"/>
              </a:rPr>
              <a:t>정의</a:t>
            </a:r>
            <a:endParaRPr lang="ko-KR" altLang="en-US" sz="1050" dirty="0">
              <a:latin typeface="+mn-ea"/>
              <a:ea typeface="+mn-ea"/>
            </a:endParaRPr>
          </a:p>
        </p:txBody>
      </p:sp>
      <p:sp>
        <p:nvSpPr>
          <p:cNvPr id="43" name="Text Box 271"/>
          <p:cNvSpPr txBox="1">
            <a:spLocks noChangeArrowheads="1"/>
          </p:cNvSpPr>
          <p:nvPr/>
        </p:nvSpPr>
        <p:spPr bwMode="gray">
          <a:xfrm>
            <a:off x="1867120" y="1439152"/>
            <a:ext cx="3240360" cy="3099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468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</a:t>
            </a:r>
            <a:r>
              <a:rPr kumimoji="1" lang="ko-KR" altLang="en-US" sz="14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거버넌스</a:t>
            </a:r>
            <a:r>
              <a:rPr kumimoji="1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추진영역</a:t>
            </a:r>
          </a:p>
        </p:txBody>
      </p:sp>
      <p:sp>
        <p:nvSpPr>
          <p:cNvPr id="44" name="Line 272"/>
          <p:cNvSpPr>
            <a:spLocks noChangeShapeType="1"/>
          </p:cNvSpPr>
          <p:nvPr/>
        </p:nvSpPr>
        <p:spPr bwMode="gray">
          <a:xfrm>
            <a:off x="1928664" y="1772816"/>
            <a:ext cx="3024000" cy="0"/>
          </a:xfrm>
          <a:prstGeom prst="line">
            <a:avLst/>
          </a:prstGeom>
          <a:noFill/>
          <a:ln w="9525">
            <a:solidFill>
              <a:srgbClr val="4D4D4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9" name="Rectangle 253"/>
          <p:cNvSpPr>
            <a:spLocks noChangeArrowheads="1"/>
          </p:cNvSpPr>
          <p:nvPr/>
        </p:nvSpPr>
        <p:spPr bwMode="gray">
          <a:xfrm>
            <a:off x="416496" y="4521393"/>
            <a:ext cx="1791408" cy="540000"/>
          </a:xfrm>
          <a:prstGeom prst="rect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표준 준수 모니터링</a:t>
            </a:r>
          </a:p>
        </p:txBody>
      </p:sp>
      <p:sp>
        <p:nvSpPr>
          <p:cNvPr id="30" name="Rectangle 255"/>
          <p:cNvSpPr>
            <a:spLocks noChangeArrowheads="1"/>
          </p:cNvSpPr>
          <p:nvPr/>
        </p:nvSpPr>
        <p:spPr bwMode="gray">
          <a:xfrm>
            <a:off x="416496" y="5806569"/>
            <a:ext cx="1791408" cy="540000"/>
          </a:xfrm>
          <a:prstGeom prst="rect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lvl="0" algn="ctr" eaLnBrk="1" fontAlgn="base" latinLnBrk="0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지속적 프로세스</a:t>
            </a:r>
            <a:r>
              <a:rPr lang="en-US" altLang="ko-KR" b="1" kern="0" dirty="0">
                <a:solidFill>
                  <a:srgbClr val="000000"/>
                </a:solidFill>
                <a:latin typeface="+mn-ea"/>
                <a:ea typeface="+mn-ea"/>
              </a:rPr>
              <a:t/>
            </a:r>
            <a:br>
              <a:rPr lang="en-US" altLang="ko-KR" b="1" kern="0" dirty="0">
                <a:solidFill>
                  <a:srgbClr val="000000"/>
                </a:solidFill>
                <a:latin typeface="+mn-ea"/>
                <a:ea typeface="+mn-ea"/>
              </a:rPr>
            </a:br>
            <a:r>
              <a:rPr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개선 체계 구축</a:t>
            </a:r>
          </a:p>
        </p:txBody>
      </p:sp>
      <p:sp>
        <p:nvSpPr>
          <p:cNvPr id="31" name="Rectangle 257"/>
          <p:cNvSpPr>
            <a:spLocks noChangeArrowheads="1"/>
          </p:cNvSpPr>
          <p:nvPr/>
        </p:nvSpPr>
        <p:spPr bwMode="gray">
          <a:xfrm>
            <a:off x="416496" y="2590933"/>
            <a:ext cx="1791408" cy="540000"/>
          </a:xfrm>
          <a:prstGeom prst="rect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</a:t>
            </a: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</a:t>
            </a:r>
            <a: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0" lang="ko-KR" altLang="en-US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거버넌스</a:t>
            </a: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역할 정립</a:t>
            </a:r>
          </a:p>
        </p:txBody>
      </p:sp>
      <p:sp>
        <p:nvSpPr>
          <p:cNvPr id="32" name="Rectangle 258"/>
          <p:cNvSpPr>
            <a:spLocks noChangeArrowheads="1"/>
          </p:cNvSpPr>
          <p:nvPr/>
        </p:nvSpPr>
        <p:spPr bwMode="gray">
          <a:xfrm>
            <a:off x="416496" y="1955092"/>
            <a:ext cx="1791408" cy="540000"/>
          </a:xfrm>
          <a:prstGeom prst="rect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</a:t>
            </a: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</a:t>
            </a:r>
            <a: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0" lang="ko-KR" altLang="en-US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오너십</a:t>
            </a: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명확화</a:t>
            </a:r>
          </a:p>
        </p:txBody>
      </p:sp>
      <p:sp>
        <p:nvSpPr>
          <p:cNvPr id="33" name="Rectangle 259"/>
          <p:cNvSpPr>
            <a:spLocks noChangeArrowheads="1"/>
          </p:cNvSpPr>
          <p:nvPr/>
        </p:nvSpPr>
        <p:spPr bwMode="gray">
          <a:xfrm>
            <a:off x="416496" y="3876760"/>
            <a:ext cx="1791408" cy="5400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표준화</a:t>
            </a:r>
          </a:p>
        </p:txBody>
      </p:sp>
      <p:sp>
        <p:nvSpPr>
          <p:cNvPr id="34" name="Rectangle 260"/>
          <p:cNvSpPr>
            <a:spLocks noChangeArrowheads="1"/>
          </p:cNvSpPr>
          <p:nvPr/>
        </p:nvSpPr>
        <p:spPr bwMode="gray">
          <a:xfrm>
            <a:off x="416496" y="3235566"/>
            <a:ext cx="1791408" cy="5400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</a:t>
            </a:r>
            <a: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분류체계 정립</a:t>
            </a:r>
          </a:p>
        </p:txBody>
      </p:sp>
      <p:sp>
        <p:nvSpPr>
          <p:cNvPr id="35" name="Rectangle 261"/>
          <p:cNvSpPr>
            <a:spLocks noChangeArrowheads="1"/>
          </p:cNvSpPr>
          <p:nvPr/>
        </p:nvSpPr>
        <p:spPr bwMode="gray">
          <a:xfrm>
            <a:off x="416496" y="5157192"/>
            <a:ext cx="1791408" cy="5400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10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변경관리</a:t>
            </a:r>
          </a:p>
        </p:txBody>
      </p:sp>
      <p:sp>
        <p:nvSpPr>
          <p:cNvPr id="45" name="직사각형 44"/>
          <p:cNvSpPr/>
          <p:nvPr/>
        </p:nvSpPr>
        <p:spPr>
          <a:xfrm>
            <a:off x="7100744" y="2342106"/>
            <a:ext cx="660568" cy="262348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1 </a:t>
            </a:r>
            <a:r>
              <a:rPr lang="ko-KR" altLang="en-US" sz="1400" b="1" dirty="0">
                <a:solidFill>
                  <a:schemeClr val="bg1"/>
                </a:solidFill>
                <a:latin typeface="+mn-ea"/>
              </a:rPr>
              <a:t>단계</a:t>
            </a:r>
          </a:p>
        </p:txBody>
      </p:sp>
      <p:sp>
        <p:nvSpPr>
          <p:cNvPr id="46" name="직사각형 45"/>
          <p:cNvSpPr/>
          <p:nvPr/>
        </p:nvSpPr>
        <p:spPr>
          <a:xfrm>
            <a:off x="7103080" y="3665628"/>
            <a:ext cx="660568" cy="262348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2 </a:t>
            </a:r>
            <a:r>
              <a:rPr lang="ko-KR" altLang="en-US" sz="1400" b="1" dirty="0">
                <a:solidFill>
                  <a:schemeClr val="bg1"/>
                </a:solidFill>
                <a:latin typeface="+mn-ea"/>
              </a:rPr>
              <a:t>단계</a:t>
            </a:r>
          </a:p>
        </p:txBody>
      </p:sp>
      <p:sp>
        <p:nvSpPr>
          <p:cNvPr id="47" name="직사각형 46"/>
          <p:cNvSpPr/>
          <p:nvPr/>
        </p:nvSpPr>
        <p:spPr>
          <a:xfrm>
            <a:off x="7108208" y="5038576"/>
            <a:ext cx="660568" cy="262348"/>
          </a:xfrm>
          <a:prstGeom prst="rect">
            <a:avLst/>
          </a:prstGeom>
          <a:solidFill>
            <a:schemeClr val="bg2">
              <a:lumMod val="7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3 </a:t>
            </a:r>
            <a:r>
              <a:rPr lang="ko-KR" altLang="en-US" sz="1400" b="1" dirty="0">
                <a:solidFill>
                  <a:schemeClr val="bg1"/>
                </a:solidFill>
                <a:latin typeface="+mn-ea"/>
              </a:rPr>
              <a:t>단계</a:t>
            </a:r>
          </a:p>
        </p:txBody>
      </p:sp>
      <p:sp>
        <p:nvSpPr>
          <p:cNvPr id="41" name="Rectangle 262"/>
          <p:cNvSpPr>
            <a:spLocks noChangeArrowheads="1"/>
          </p:cNvSpPr>
          <p:nvPr/>
        </p:nvSpPr>
        <p:spPr bwMode="gray">
          <a:xfrm>
            <a:off x="434305" y="1974213"/>
            <a:ext cx="209263" cy="197135"/>
          </a:xfrm>
          <a:prstGeom prst="rect">
            <a:avLst/>
          </a:prstGeom>
          <a:solidFill>
            <a:srgbClr val="4B7DB4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</a:t>
            </a:r>
          </a:p>
        </p:txBody>
      </p:sp>
      <p:sp>
        <p:nvSpPr>
          <p:cNvPr id="42" name="Rectangle 263"/>
          <p:cNvSpPr>
            <a:spLocks noChangeArrowheads="1"/>
          </p:cNvSpPr>
          <p:nvPr/>
        </p:nvSpPr>
        <p:spPr bwMode="gray">
          <a:xfrm>
            <a:off x="434305" y="2608242"/>
            <a:ext cx="209263" cy="197135"/>
          </a:xfrm>
          <a:prstGeom prst="rect">
            <a:avLst/>
          </a:prstGeom>
          <a:solidFill>
            <a:srgbClr val="4B7DB4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>
                <a:solidFill>
                  <a:schemeClr val="bg1"/>
                </a:solidFill>
                <a:latin typeface="+mn-ea"/>
              </a:rPr>
              <a:t>2</a:t>
            </a:r>
          </a:p>
        </p:txBody>
      </p:sp>
      <p:sp>
        <p:nvSpPr>
          <p:cNvPr id="48" name="Rectangle 264"/>
          <p:cNvSpPr>
            <a:spLocks noChangeArrowheads="1"/>
          </p:cNvSpPr>
          <p:nvPr/>
        </p:nvSpPr>
        <p:spPr bwMode="gray">
          <a:xfrm>
            <a:off x="434305" y="3890764"/>
            <a:ext cx="209263" cy="197135"/>
          </a:xfrm>
          <a:prstGeom prst="rect">
            <a:avLst/>
          </a:prstGeom>
          <a:solidFill>
            <a:srgbClr val="4B7DB4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4</a:t>
            </a:r>
          </a:p>
        </p:txBody>
      </p:sp>
      <p:sp>
        <p:nvSpPr>
          <p:cNvPr id="49" name="Rectangle 265"/>
          <p:cNvSpPr>
            <a:spLocks noChangeArrowheads="1"/>
          </p:cNvSpPr>
          <p:nvPr/>
        </p:nvSpPr>
        <p:spPr bwMode="gray">
          <a:xfrm>
            <a:off x="434305" y="3253708"/>
            <a:ext cx="209263" cy="197135"/>
          </a:xfrm>
          <a:prstGeom prst="rect">
            <a:avLst/>
          </a:prstGeom>
          <a:solidFill>
            <a:srgbClr val="4B7DB4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3</a:t>
            </a:r>
          </a:p>
        </p:txBody>
      </p:sp>
      <p:sp>
        <p:nvSpPr>
          <p:cNvPr id="50" name="Rectangle 266"/>
          <p:cNvSpPr>
            <a:spLocks noChangeArrowheads="1"/>
          </p:cNvSpPr>
          <p:nvPr/>
        </p:nvSpPr>
        <p:spPr bwMode="gray">
          <a:xfrm>
            <a:off x="434305" y="5169314"/>
            <a:ext cx="209263" cy="197135"/>
          </a:xfrm>
          <a:prstGeom prst="rect">
            <a:avLst/>
          </a:prstGeom>
          <a:solidFill>
            <a:srgbClr val="4B7DB4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6</a:t>
            </a:r>
          </a:p>
        </p:txBody>
      </p:sp>
      <p:sp>
        <p:nvSpPr>
          <p:cNvPr id="51" name="Rectangle 267"/>
          <p:cNvSpPr>
            <a:spLocks noChangeArrowheads="1"/>
          </p:cNvSpPr>
          <p:nvPr/>
        </p:nvSpPr>
        <p:spPr bwMode="gray">
          <a:xfrm>
            <a:off x="434305" y="4536451"/>
            <a:ext cx="209263" cy="197135"/>
          </a:xfrm>
          <a:prstGeom prst="rect">
            <a:avLst/>
          </a:prstGeom>
          <a:solidFill>
            <a:srgbClr val="4B7DB4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5</a:t>
            </a:r>
          </a:p>
        </p:txBody>
      </p:sp>
      <p:sp>
        <p:nvSpPr>
          <p:cNvPr id="52" name="Rectangle 269"/>
          <p:cNvSpPr>
            <a:spLocks noChangeArrowheads="1"/>
          </p:cNvSpPr>
          <p:nvPr/>
        </p:nvSpPr>
        <p:spPr bwMode="gray">
          <a:xfrm>
            <a:off x="434305" y="5831863"/>
            <a:ext cx="209263" cy="197135"/>
          </a:xfrm>
          <a:prstGeom prst="rect">
            <a:avLst/>
          </a:prstGeom>
          <a:solidFill>
            <a:srgbClr val="4B7DB4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920382680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모서리가 둥근 직사각형 440"/>
          <p:cNvSpPr/>
          <p:nvPr/>
        </p:nvSpPr>
        <p:spPr>
          <a:xfrm>
            <a:off x="2280694" y="3032661"/>
            <a:ext cx="3411887" cy="768644"/>
          </a:xfrm>
          <a:prstGeom prst="roundRect">
            <a:avLst>
              <a:gd name="adj" fmla="val 17753"/>
            </a:avLst>
          </a:prstGeom>
          <a:solidFill>
            <a:schemeClr val="bg1">
              <a:lumMod val="85000"/>
            </a:schemeClr>
          </a:solidFill>
          <a:ln w="6350">
            <a:noFill/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42" name="모서리가 둥근 직사각형 441"/>
          <p:cNvSpPr/>
          <p:nvPr/>
        </p:nvSpPr>
        <p:spPr>
          <a:xfrm>
            <a:off x="2443763" y="1938022"/>
            <a:ext cx="1447090" cy="829902"/>
          </a:xfrm>
          <a:prstGeom prst="roundRect">
            <a:avLst>
              <a:gd name="adj" fmla="val 17753"/>
            </a:avLst>
          </a:prstGeom>
          <a:solidFill>
            <a:schemeClr val="bg1">
              <a:lumMod val="85000"/>
            </a:schemeClr>
          </a:solidFill>
          <a:ln w="6350">
            <a:noFill/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217024" cy="623391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프로세스 개선 및 표준화를 책임지는 </a:t>
            </a:r>
            <a:r>
              <a:rPr lang="en-US" altLang="ko-KR" kern="0" dirty="0">
                <a:solidFill>
                  <a:srgbClr val="000000"/>
                </a:solidFill>
                <a:latin typeface="+mn-ea"/>
              </a:rPr>
              <a:t>“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프로세스 오너</a:t>
            </a:r>
            <a:r>
              <a:rPr lang="en-US" altLang="ko-KR" kern="0" dirty="0">
                <a:solidFill>
                  <a:srgbClr val="000000"/>
                </a:solidFill>
                <a:latin typeface="+mn-ea"/>
              </a:rPr>
              <a:t>”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를 선정하고 프로세스 </a:t>
            </a:r>
            <a:r>
              <a:rPr lang="ko-KR" altLang="en-US" kern="0" dirty="0" err="1">
                <a:solidFill>
                  <a:srgbClr val="000000"/>
                </a:solidFill>
                <a:latin typeface="+mn-ea"/>
              </a:rPr>
              <a:t>거버넌스를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 구성하는 의결기구</a:t>
            </a:r>
            <a:r>
              <a:rPr lang="en-US" altLang="ko-KR" kern="0" dirty="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운영조직</a:t>
            </a:r>
            <a:r>
              <a:rPr lang="en-US" altLang="ko-KR" kern="0" dirty="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프로세스 운영 방식 및 역할을 정의함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3.5.4 </a:t>
            </a:r>
            <a:r>
              <a:rPr lang="ko-KR" altLang="en-US" dirty="0"/>
              <a:t>프로세스 거버넌스 추진과제 정의 </a:t>
            </a:r>
            <a:r>
              <a:rPr lang="en-US" altLang="ko-KR" dirty="0">
                <a:latin typeface="+mn-ea"/>
                <a:ea typeface="+mn-ea"/>
              </a:rPr>
              <a:t/>
            </a:r>
            <a:br>
              <a:rPr lang="en-US" altLang="ko-KR" dirty="0">
                <a:latin typeface="+mn-ea"/>
                <a:ea typeface="+mn-ea"/>
              </a:rPr>
            </a:br>
            <a:r>
              <a:rPr lang="en-US" altLang="ko-KR" dirty="0">
                <a:latin typeface="+mn-ea"/>
                <a:ea typeface="+mn-ea"/>
              </a:rPr>
              <a:t>3.5.4.1 </a:t>
            </a:r>
            <a:r>
              <a:rPr lang="ko-KR" altLang="en-US" dirty="0">
                <a:latin typeface="+mn-ea"/>
                <a:ea typeface="+mn-ea"/>
              </a:rPr>
              <a:t>표준화 </a:t>
            </a:r>
            <a:r>
              <a:rPr lang="en-US" altLang="ko-KR" dirty="0">
                <a:latin typeface="+mn-ea"/>
                <a:ea typeface="+mn-ea"/>
              </a:rPr>
              <a:t>&gt; </a:t>
            </a:r>
            <a:r>
              <a:rPr lang="ko-KR" altLang="en-US" dirty="0" err="1">
                <a:latin typeface="+mn-ea"/>
                <a:ea typeface="+mn-ea"/>
              </a:rPr>
              <a:t>오너십</a:t>
            </a:r>
            <a:r>
              <a:rPr lang="ko-KR" altLang="en-US" dirty="0">
                <a:latin typeface="+mn-ea"/>
                <a:ea typeface="+mn-ea"/>
              </a:rPr>
              <a:t> 부여와 역할정립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Ⅳ.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목표모델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3.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 업무프로세스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3.5 </a:t>
            </a:r>
            <a:r>
              <a:rPr lang="ko-KR" altLang="en-US" dirty="0">
                <a:solidFill>
                  <a:prstClr val="black"/>
                </a:solidFill>
              </a:rPr>
              <a:t>경영정보기반 프로세스 </a:t>
            </a:r>
            <a:r>
              <a:rPr lang="ko-KR" altLang="en-US" dirty="0" err="1">
                <a:solidFill>
                  <a:prstClr val="black"/>
                </a:solidFill>
              </a:rPr>
              <a:t>거버넌스</a:t>
            </a:r>
            <a:r>
              <a:rPr lang="ko-KR" altLang="en-US" dirty="0">
                <a:solidFill>
                  <a:prstClr val="black"/>
                </a:solidFill>
              </a:rPr>
              <a:t> 정립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94" name="Rectangle 55"/>
          <p:cNvSpPr>
            <a:spLocks noChangeArrowheads="1"/>
          </p:cNvSpPr>
          <p:nvPr/>
        </p:nvSpPr>
        <p:spPr bwMode="gray">
          <a:xfrm>
            <a:off x="452438" y="5121312"/>
            <a:ext cx="5310187" cy="1260000"/>
          </a:xfrm>
          <a:prstGeom prst="rect">
            <a:avLst/>
          </a:prstGeom>
          <a:solidFill>
            <a:srgbClr val="FFFFFF"/>
          </a:solidFill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95" name="Rectangle 56"/>
          <p:cNvSpPr>
            <a:spLocks noChangeArrowheads="1"/>
          </p:cNvSpPr>
          <p:nvPr/>
        </p:nvSpPr>
        <p:spPr bwMode="gray">
          <a:xfrm>
            <a:off x="5897563" y="5121312"/>
            <a:ext cx="3509962" cy="1260000"/>
          </a:xfrm>
          <a:prstGeom prst="rect">
            <a:avLst/>
          </a:prstGeom>
          <a:noFill/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06" name="AutoShape 123"/>
          <p:cNvSpPr>
            <a:spLocks noChangeAspect="1" noChangeArrowheads="1"/>
          </p:cNvSpPr>
          <p:nvPr/>
        </p:nvSpPr>
        <p:spPr bwMode="gray">
          <a:xfrm>
            <a:off x="6249144" y="5528027"/>
            <a:ext cx="352425" cy="312737"/>
          </a:xfrm>
          <a:prstGeom prst="bevel">
            <a:avLst>
              <a:gd name="adj" fmla="val 12500"/>
            </a:avLst>
          </a:prstGeom>
          <a:solidFill>
            <a:srgbClr val="4B7DB4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</a:t>
            </a:r>
          </a:p>
        </p:txBody>
      </p:sp>
      <p:sp>
        <p:nvSpPr>
          <p:cNvPr id="107" name="AutoShape 124"/>
          <p:cNvSpPr>
            <a:spLocks noChangeAspect="1" noChangeArrowheads="1"/>
          </p:cNvSpPr>
          <p:nvPr/>
        </p:nvSpPr>
        <p:spPr bwMode="gray">
          <a:xfrm>
            <a:off x="6249144" y="5947132"/>
            <a:ext cx="352425" cy="312737"/>
          </a:xfrm>
          <a:prstGeom prst="bevel">
            <a:avLst>
              <a:gd name="adj" fmla="val 12500"/>
            </a:avLst>
          </a:prstGeom>
          <a:solidFill>
            <a:srgbClr val="4B7DB4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2</a:t>
            </a:r>
          </a:p>
        </p:txBody>
      </p:sp>
      <p:sp>
        <p:nvSpPr>
          <p:cNvPr id="108" name="AutoShape 125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6655544" y="5517232"/>
            <a:ext cx="2402209" cy="323850"/>
          </a:xfrm>
          <a:prstGeom prst="bevel">
            <a:avLst>
              <a:gd name="adj" fmla="val 8824"/>
            </a:avLst>
          </a:prstGeom>
          <a:solidFill>
            <a:schemeClr val="bg1"/>
          </a:solidFill>
          <a:ln>
            <a:noFill/>
          </a:ln>
          <a:effectLst/>
        </p:spPr>
        <p:txBody>
          <a:bodyPr wrap="none" lIns="54000" tIns="18000" rIns="54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오너십 명확화</a:t>
            </a:r>
          </a:p>
        </p:txBody>
      </p:sp>
      <p:sp>
        <p:nvSpPr>
          <p:cNvPr id="109" name="AutoShape 126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6653956" y="5939512"/>
            <a:ext cx="2402210" cy="323850"/>
          </a:xfrm>
          <a:prstGeom prst="bevel">
            <a:avLst>
              <a:gd name="adj" fmla="val 8824"/>
            </a:avLst>
          </a:prstGeom>
          <a:solidFill>
            <a:schemeClr val="bg1"/>
          </a:solidFill>
          <a:ln>
            <a:noFill/>
          </a:ln>
          <a:effectLst/>
        </p:spPr>
        <p:txBody>
          <a:bodyPr wrap="none" lIns="54000" tIns="18000" rIns="54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거버넌스 역할 정립</a:t>
            </a:r>
          </a:p>
        </p:txBody>
      </p:sp>
      <p:sp>
        <p:nvSpPr>
          <p:cNvPr id="110" name="Text Box 127"/>
          <p:cNvSpPr txBox="1">
            <a:spLocks noChangeArrowheads="1"/>
          </p:cNvSpPr>
          <p:nvPr/>
        </p:nvSpPr>
        <p:spPr bwMode="gray">
          <a:xfrm>
            <a:off x="587375" y="5425922"/>
            <a:ext cx="5130800" cy="88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>
            <a:spAutoFit/>
          </a:bodyPr>
          <a:lstStyle>
            <a:lvl1pPr marL="153988" indent="-153988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lvl="0" eaLnBrk="1" fontAlgn="ctr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프로세스에 대한 공식화된 오너</a:t>
            </a:r>
            <a:r>
              <a:rPr kumimoji="1" lang="en-US" altLang="ko-KR" sz="1100" b="1" kern="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십</a:t>
            </a:r>
            <a:r>
              <a:rPr kumimoji="1" lang="en-US" altLang="ko-KR" sz="1100" b="1" kern="0" dirty="0">
                <a:solidFill>
                  <a:srgbClr val="000000"/>
                </a:solidFill>
                <a:latin typeface="+mn-ea"/>
                <a:ea typeface="+mn-ea"/>
              </a:rPr>
              <a:t>)</a:t>
            </a: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의 누락 없는 관리 체계 수립</a:t>
            </a:r>
          </a:p>
          <a:p>
            <a:pPr lvl="0" eaLnBrk="1" fontAlgn="ctr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공식화된 절차를 통해 프로세스 오너로서의 역할 및 책임을 인지 </a:t>
            </a:r>
            <a:endParaRPr kumimoji="1" lang="en-US" altLang="ko-KR" sz="1100" b="1" kern="0" dirty="0">
              <a:solidFill>
                <a:srgbClr val="000000"/>
              </a:solidFill>
              <a:latin typeface="+mn-ea"/>
              <a:ea typeface="+mn-ea"/>
            </a:endParaRPr>
          </a:p>
          <a:p>
            <a:pPr lvl="0" eaLnBrk="1" fontAlgn="ctr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프로세스 오너에게 책임감을 부여하고</a:t>
            </a:r>
            <a:r>
              <a:rPr kumimoji="1" lang="en-US" altLang="ko-KR" sz="1100" b="1" kern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활동에 대한 피드백 기준으로 활용</a:t>
            </a:r>
          </a:p>
          <a:p>
            <a:pPr lvl="0" eaLnBrk="1" fontAlgn="ctr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운영</a:t>
            </a:r>
            <a:r>
              <a:rPr kumimoji="1" lang="en-US" altLang="ko-KR" sz="1100" b="1" kern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의결 기구의 역할을 명확히 하여 프로세스 </a:t>
            </a:r>
            <a:r>
              <a:rPr kumimoji="1" lang="ko-KR" altLang="en-US" sz="1100" b="1" kern="0" dirty="0" err="1">
                <a:solidFill>
                  <a:srgbClr val="000000"/>
                </a:solidFill>
                <a:latin typeface="+mn-ea"/>
                <a:ea typeface="+mn-ea"/>
              </a:rPr>
              <a:t>거버넌스의</a:t>
            </a: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 원활한 운영 도모</a:t>
            </a:r>
          </a:p>
        </p:txBody>
      </p:sp>
      <p:sp>
        <p:nvSpPr>
          <p:cNvPr id="172" name="Text Box 190"/>
          <p:cNvSpPr txBox="1">
            <a:spLocks noChangeArrowheads="1"/>
          </p:cNvSpPr>
          <p:nvPr/>
        </p:nvSpPr>
        <p:spPr bwMode="auto">
          <a:xfrm>
            <a:off x="2398882" y="2477656"/>
            <a:ext cx="1125001" cy="2902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9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5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(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정보기획팀장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)</a:t>
            </a:r>
          </a:p>
        </p:txBody>
      </p:sp>
      <p:sp>
        <p:nvSpPr>
          <p:cNvPr id="177" name="Text Box 193"/>
          <p:cNvSpPr txBox="1">
            <a:spLocks noChangeArrowheads="1"/>
          </p:cNvSpPr>
          <p:nvPr/>
        </p:nvSpPr>
        <p:spPr bwMode="auto">
          <a:xfrm>
            <a:off x="2227739" y="3585099"/>
            <a:ext cx="981075" cy="188701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(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인사팀장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)</a:t>
            </a:r>
          </a:p>
        </p:txBody>
      </p:sp>
      <p:pic>
        <p:nvPicPr>
          <p:cNvPr id="92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5026" y="3120032"/>
            <a:ext cx="275685" cy="4779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3" name="Picture 51" descr="D:\모스트비주얼\아이콘 작업\왜가리\3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5851" y="1995486"/>
            <a:ext cx="303213" cy="5257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1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580" y="4296179"/>
            <a:ext cx="285231" cy="494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3" name="직사각형 182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5957487" y="5165472"/>
            <a:ext cx="936000" cy="216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>
                <a:solidFill>
                  <a:schemeClr val="bg1"/>
                </a:solidFill>
                <a:latin typeface="+mn-ea"/>
              </a:rPr>
              <a:t>추진영역</a:t>
            </a:r>
          </a:p>
        </p:txBody>
      </p:sp>
      <p:pic>
        <p:nvPicPr>
          <p:cNvPr id="185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8692" y="4296179"/>
            <a:ext cx="285231" cy="494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6" name="Text Box 193"/>
          <p:cNvSpPr txBox="1">
            <a:spLocks noChangeArrowheads="1"/>
          </p:cNvSpPr>
          <p:nvPr/>
        </p:nvSpPr>
        <p:spPr bwMode="auto">
          <a:xfrm>
            <a:off x="3091835" y="3587456"/>
            <a:ext cx="981075" cy="188701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(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재무관리팀장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)</a:t>
            </a:r>
          </a:p>
        </p:txBody>
      </p:sp>
      <p:pic>
        <p:nvPicPr>
          <p:cNvPr id="187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9122" y="3124273"/>
            <a:ext cx="275685" cy="4779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0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4003" y="4296179"/>
            <a:ext cx="285231" cy="494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0" name="직선 연결선 9"/>
          <p:cNvCxnSpPr>
            <a:stCxn id="177" idx="2"/>
            <a:endCxn id="181" idx="0"/>
          </p:cNvCxnSpPr>
          <p:nvPr/>
        </p:nvCxnSpPr>
        <p:spPr>
          <a:xfrm>
            <a:off x="2718277" y="3773800"/>
            <a:ext cx="14919" cy="522379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7" name="사다리꼴 386"/>
          <p:cNvSpPr/>
          <p:nvPr/>
        </p:nvSpPr>
        <p:spPr>
          <a:xfrm rot="16200000">
            <a:off x="4325017" y="3364674"/>
            <a:ext cx="3096000" cy="139613"/>
          </a:xfrm>
          <a:prstGeom prst="trapezoid">
            <a:avLst>
              <a:gd name="adj" fmla="val 253516"/>
            </a:avLst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388" name="Text Box 193"/>
          <p:cNvSpPr txBox="1">
            <a:spLocks noChangeArrowheads="1"/>
          </p:cNvSpPr>
          <p:nvPr/>
        </p:nvSpPr>
        <p:spPr bwMode="auto">
          <a:xfrm>
            <a:off x="2340764" y="4778484"/>
            <a:ext cx="720079" cy="188701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squar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(</a:t>
            </a:r>
            <a:r>
              <a:rPr kumimoji="1" lang="ko-KR" altLang="en-US" sz="1100" b="1" kern="0" noProof="0" dirty="0">
                <a:solidFill>
                  <a:srgbClr val="000000"/>
                </a:solidFill>
                <a:latin typeface="+mn-ea"/>
                <a:ea typeface="+mn-ea"/>
              </a:rPr>
              <a:t>실무자 </a:t>
            </a:r>
            <a:r>
              <a:rPr kumimoji="1" lang="en-US" altLang="ko-KR" sz="1100" b="1" kern="0" noProof="0" dirty="0">
                <a:solidFill>
                  <a:srgbClr val="000000"/>
                </a:solidFill>
                <a:latin typeface="+mn-ea"/>
                <a:ea typeface="+mn-ea"/>
              </a:rPr>
              <a:t>A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)</a:t>
            </a:r>
          </a:p>
        </p:txBody>
      </p:sp>
      <p:sp>
        <p:nvSpPr>
          <p:cNvPr id="389" name="Text Box 193"/>
          <p:cNvSpPr txBox="1">
            <a:spLocks noChangeArrowheads="1"/>
          </p:cNvSpPr>
          <p:nvPr/>
        </p:nvSpPr>
        <p:spPr bwMode="auto">
          <a:xfrm>
            <a:off x="3395108" y="4778484"/>
            <a:ext cx="720079" cy="188701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squar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(</a:t>
            </a:r>
            <a:r>
              <a:rPr kumimoji="1" lang="ko-KR" altLang="en-US" sz="1100" b="1" kern="0" noProof="0" dirty="0">
                <a:solidFill>
                  <a:srgbClr val="000000"/>
                </a:solidFill>
                <a:latin typeface="+mn-ea"/>
                <a:ea typeface="+mn-ea"/>
              </a:rPr>
              <a:t>실무자 </a:t>
            </a:r>
            <a:r>
              <a:rPr kumimoji="1" lang="en-US" altLang="ko-KR" sz="1100" b="1" kern="0" noProof="0" dirty="0">
                <a:solidFill>
                  <a:srgbClr val="000000"/>
                </a:solidFill>
                <a:latin typeface="+mn-ea"/>
                <a:ea typeface="+mn-ea"/>
              </a:rPr>
              <a:t>B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)</a:t>
            </a:r>
          </a:p>
        </p:txBody>
      </p:sp>
      <p:sp>
        <p:nvSpPr>
          <p:cNvPr id="390" name="Text Box 193"/>
          <p:cNvSpPr txBox="1">
            <a:spLocks noChangeArrowheads="1"/>
          </p:cNvSpPr>
          <p:nvPr/>
        </p:nvSpPr>
        <p:spPr bwMode="auto">
          <a:xfrm>
            <a:off x="4387979" y="4778484"/>
            <a:ext cx="720079" cy="188701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squar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(</a:t>
            </a:r>
            <a:r>
              <a:rPr kumimoji="1" lang="ko-KR" altLang="en-US" sz="1100" b="1" kern="0" noProof="0" dirty="0">
                <a:solidFill>
                  <a:srgbClr val="000000"/>
                </a:solidFill>
                <a:latin typeface="+mn-ea"/>
                <a:ea typeface="+mn-ea"/>
              </a:rPr>
              <a:t>실무자 </a:t>
            </a:r>
            <a:r>
              <a:rPr kumimoji="1" lang="en-US" altLang="ko-KR" sz="1100" b="1" kern="0" noProof="0" dirty="0">
                <a:solidFill>
                  <a:srgbClr val="000000"/>
                </a:solidFill>
                <a:latin typeface="+mn-ea"/>
                <a:ea typeface="+mn-ea"/>
              </a:rPr>
              <a:t>C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)</a:t>
            </a:r>
          </a:p>
        </p:txBody>
      </p:sp>
      <p:sp>
        <p:nvSpPr>
          <p:cNvPr id="391" name="Rectangle 56"/>
          <p:cNvSpPr>
            <a:spLocks noChangeArrowheads="1"/>
          </p:cNvSpPr>
          <p:nvPr/>
        </p:nvSpPr>
        <p:spPr bwMode="gray">
          <a:xfrm>
            <a:off x="5961112" y="1864782"/>
            <a:ext cx="3446413" cy="3148394"/>
          </a:xfrm>
          <a:prstGeom prst="rect">
            <a:avLst/>
          </a:prstGeom>
          <a:noFill/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 anchor="ctr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00" name="Rectangle 106"/>
          <p:cNvSpPr>
            <a:spLocks noChangeArrowheads="1"/>
          </p:cNvSpPr>
          <p:nvPr/>
        </p:nvSpPr>
        <p:spPr bwMode="gray">
          <a:xfrm>
            <a:off x="6013984" y="2755414"/>
            <a:ext cx="683319" cy="62033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72000" tIns="36000" rIns="72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dirty="0">
                <a:latin typeface="+mn-ea"/>
              </a:rPr>
              <a:t>변경관리위원회</a:t>
            </a:r>
            <a:r>
              <a:rPr lang="en-US" altLang="ko-KR" sz="1050" b="1" dirty="0">
                <a:latin typeface="+mn-ea"/>
              </a:rPr>
              <a:t/>
            </a:r>
            <a:br>
              <a:rPr lang="en-US" altLang="ko-KR" sz="1050" b="1" dirty="0">
                <a:latin typeface="+mn-ea"/>
              </a:rPr>
            </a:br>
            <a:r>
              <a:rPr lang="en-US" altLang="ko-KR" sz="900" dirty="0">
                <a:latin typeface="+mn-ea"/>
              </a:rPr>
              <a:t>(</a:t>
            </a:r>
            <a:r>
              <a:rPr lang="ko-KR" altLang="en-US" sz="900" dirty="0">
                <a:latin typeface="+mn-ea"/>
              </a:rPr>
              <a:t>의결기구</a:t>
            </a:r>
            <a:r>
              <a:rPr lang="en-US" altLang="ko-KR" sz="900" dirty="0">
                <a:latin typeface="+mn-ea"/>
              </a:rPr>
              <a:t>)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 Box 107"/>
          <p:cNvSpPr txBox="1">
            <a:spLocks noChangeArrowheads="1"/>
          </p:cNvSpPr>
          <p:nvPr/>
        </p:nvSpPr>
        <p:spPr bwMode="gray">
          <a:xfrm>
            <a:off x="6807838" y="2758935"/>
            <a:ext cx="2599687" cy="5595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marL="85725" indent="-8572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공단 경영 업무 프로세스 개선사항에 대한 의사결정과 조정</a:t>
            </a:r>
            <a:endParaRPr kumimoji="1" lang="en-US" altLang="ko-KR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noProof="0" dirty="0">
                <a:solidFill>
                  <a:srgbClr val="000000"/>
                </a:solidFill>
                <a:latin typeface="+mn-ea"/>
                <a:ea typeface="+mn-ea"/>
              </a:rPr>
              <a:t>표준 프로세스 변경</a:t>
            </a:r>
            <a:r>
              <a:rPr kumimoji="1" lang="en-US" altLang="ko-KR" sz="1050" kern="0" noProof="0" dirty="0">
                <a:solidFill>
                  <a:srgbClr val="000000"/>
                </a:solidFill>
                <a:latin typeface="+mn-ea"/>
                <a:ea typeface="+mn-ea"/>
              </a:rPr>
              <a:t>/</a:t>
            </a:r>
            <a:r>
              <a:rPr kumimoji="1" lang="ko-KR" altLang="en-US" sz="1050" kern="0" noProof="0" dirty="0">
                <a:solidFill>
                  <a:srgbClr val="000000"/>
                </a:solidFill>
                <a:latin typeface="+mn-ea"/>
                <a:ea typeface="+mn-ea"/>
              </a:rPr>
              <a:t>유지</a:t>
            </a:r>
            <a:r>
              <a:rPr kumimoji="1"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등 결정 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02" name="Rectangle 108"/>
          <p:cNvSpPr>
            <a:spLocks noChangeArrowheads="1"/>
          </p:cNvSpPr>
          <p:nvPr/>
        </p:nvSpPr>
        <p:spPr bwMode="gray">
          <a:xfrm>
            <a:off x="6013984" y="4433078"/>
            <a:ext cx="683319" cy="55685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72000" tIns="36000" rIns="72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dirty="0">
                <a:latin typeface="+mn-ea"/>
              </a:rPr>
              <a:t>실무자</a:t>
            </a:r>
          </a:p>
        </p:txBody>
      </p:sp>
      <p:sp>
        <p:nvSpPr>
          <p:cNvPr id="104" name="Text Box 110"/>
          <p:cNvSpPr txBox="1">
            <a:spLocks noChangeArrowheads="1"/>
          </p:cNvSpPr>
          <p:nvPr/>
        </p:nvSpPr>
        <p:spPr bwMode="gray">
          <a:xfrm>
            <a:off x="6807410" y="4413865"/>
            <a:ext cx="2538077" cy="5595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marL="85725" indent="-8572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각 팀의 </a:t>
            </a:r>
            <a:r>
              <a:rPr kumimoji="1" lang="en-US" altLang="ko-KR" sz="105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관할프로세스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내 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개선의 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시사점 </a:t>
            </a: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발견 및 보고</a:t>
            </a:r>
            <a:endParaRPr kumimoji="1" lang="en-US" altLang="ko-KR" sz="1050" kern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표준 준수 모니터링에 대한 피드백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393" name="직사각형 392"/>
          <p:cNvSpPr/>
          <p:nvPr/>
        </p:nvSpPr>
        <p:spPr>
          <a:xfrm>
            <a:off x="5166825" y="4315956"/>
            <a:ext cx="36740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fontAlgn="ctr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b="1" kern="0" dirty="0">
                <a:solidFill>
                  <a:srgbClr val="000000"/>
                </a:solidFill>
                <a:latin typeface="+mn-ea"/>
              </a:rPr>
              <a:t>...</a:t>
            </a:r>
          </a:p>
        </p:txBody>
      </p:sp>
      <p:sp>
        <p:nvSpPr>
          <p:cNvPr id="399" name="Line 136"/>
          <p:cNvSpPr>
            <a:spLocks noChangeShapeType="1"/>
          </p:cNvSpPr>
          <p:nvPr/>
        </p:nvSpPr>
        <p:spPr bwMode="auto">
          <a:xfrm>
            <a:off x="788555" y="3780497"/>
            <a:ext cx="648000" cy="0"/>
          </a:xfrm>
          <a:prstGeom prst="line">
            <a:avLst/>
          </a:prstGeom>
          <a:noFill/>
          <a:ln w="9525" cap="rnd">
            <a:solidFill>
              <a:srgbClr val="4D4D4D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00" name="Line 137"/>
          <p:cNvSpPr>
            <a:spLocks noChangeShapeType="1"/>
          </p:cNvSpPr>
          <p:nvPr/>
        </p:nvSpPr>
        <p:spPr bwMode="auto">
          <a:xfrm>
            <a:off x="572555" y="4401209"/>
            <a:ext cx="864000" cy="0"/>
          </a:xfrm>
          <a:prstGeom prst="line">
            <a:avLst/>
          </a:prstGeom>
          <a:noFill/>
          <a:ln w="9525" cap="rnd">
            <a:solidFill>
              <a:srgbClr val="4D4D4D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01" name="Line 138"/>
          <p:cNvSpPr>
            <a:spLocks noChangeShapeType="1"/>
          </p:cNvSpPr>
          <p:nvPr/>
        </p:nvSpPr>
        <p:spPr bwMode="auto">
          <a:xfrm>
            <a:off x="968555" y="3068960"/>
            <a:ext cx="468000" cy="0"/>
          </a:xfrm>
          <a:prstGeom prst="line">
            <a:avLst/>
          </a:prstGeom>
          <a:noFill/>
          <a:ln w="9525" cap="rnd">
            <a:solidFill>
              <a:srgbClr val="4D4D4D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02" name="Line 139"/>
          <p:cNvSpPr>
            <a:spLocks noChangeShapeType="1"/>
          </p:cNvSpPr>
          <p:nvPr/>
        </p:nvSpPr>
        <p:spPr bwMode="auto">
          <a:xfrm>
            <a:off x="1250892" y="2371896"/>
            <a:ext cx="185663" cy="0"/>
          </a:xfrm>
          <a:prstGeom prst="line">
            <a:avLst/>
          </a:prstGeom>
          <a:noFill/>
          <a:ln w="9525" cap="rnd">
            <a:solidFill>
              <a:srgbClr val="4D4D4D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 anchor="ctr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Char char="§"/>
            </a:pPr>
            <a:endParaRPr lang="ko-KR" altLang="en-US" sz="120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04" name="AutoShape 141"/>
          <p:cNvSpPr>
            <a:spLocks noChangeArrowheads="1"/>
          </p:cNvSpPr>
          <p:nvPr/>
        </p:nvSpPr>
        <p:spPr bwMode="auto">
          <a:xfrm>
            <a:off x="1194615" y="2650371"/>
            <a:ext cx="230188" cy="187325"/>
          </a:xfrm>
          <a:prstGeom prst="homePlate">
            <a:avLst>
              <a:gd name="adj" fmla="val 30720"/>
            </a:avLst>
          </a:prstGeom>
          <a:solidFill>
            <a:srgbClr val="DDDDDD"/>
          </a:solidFill>
          <a:ln w="12700" algn="ctr">
            <a:solidFill>
              <a:srgbClr val="808080"/>
            </a:solidFill>
            <a:miter lim="800000"/>
            <a:headEnd/>
            <a:tailEnd type="none" w="sm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54000" rIns="90000" bIns="54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06" name="AutoShape 144"/>
          <p:cNvSpPr>
            <a:spLocks noChangeArrowheads="1"/>
          </p:cNvSpPr>
          <p:nvPr/>
        </p:nvSpPr>
        <p:spPr bwMode="auto">
          <a:xfrm>
            <a:off x="875528" y="3383280"/>
            <a:ext cx="225425" cy="190500"/>
          </a:xfrm>
          <a:prstGeom prst="homePlate">
            <a:avLst>
              <a:gd name="adj" fmla="val 29583"/>
            </a:avLst>
          </a:prstGeom>
          <a:solidFill>
            <a:srgbClr val="DDDDDD"/>
          </a:solidFill>
          <a:ln w="12700" algn="ctr">
            <a:solidFill>
              <a:srgbClr val="808080"/>
            </a:solidFill>
            <a:miter lim="800000"/>
            <a:headEnd/>
            <a:tailEnd type="none" w="sm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54000" rIns="90000" bIns="54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07" name="AutoShape 145"/>
          <p:cNvSpPr>
            <a:spLocks noChangeArrowheads="1"/>
          </p:cNvSpPr>
          <p:nvPr/>
        </p:nvSpPr>
        <p:spPr bwMode="auto">
          <a:xfrm>
            <a:off x="1194615" y="3383280"/>
            <a:ext cx="227013" cy="190500"/>
          </a:xfrm>
          <a:prstGeom prst="homePlate">
            <a:avLst>
              <a:gd name="adj" fmla="val 29792"/>
            </a:avLst>
          </a:prstGeom>
          <a:solidFill>
            <a:srgbClr val="DDDDDD"/>
          </a:solidFill>
          <a:ln w="12700" algn="ctr">
            <a:solidFill>
              <a:srgbClr val="808080"/>
            </a:solidFill>
            <a:miter lim="800000"/>
            <a:headEnd/>
            <a:tailEnd type="none" w="sm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54000" rIns="90000" bIns="54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09" name="AutoShape 149"/>
          <p:cNvSpPr>
            <a:spLocks noChangeArrowheads="1"/>
          </p:cNvSpPr>
          <p:nvPr/>
        </p:nvSpPr>
        <p:spPr bwMode="auto">
          <a:xfrm>
            <a:off x="642165" y="4124984"/>
            <a:ext cx="230188" cy="187325"/>
          </a:xfrm>
          <a:prstGeom prst="homePlate">
            <a:avLst>
              <a:gd name="adj" fmla="val 30720"/>
            </a:avLst>
          </a:prstGeom>
          <a:solidFill>
            <a:srgbClr val="DDDDDD"/>
          </a:solidFill>
          <a:ln w="12700">
            <a:solidFill>
              <a:srgbClr val="808080"/>
            </a:solidFill>
            <a:miter lim="800000"/>
            <a:headEnd/>
            <a:tailEnd type="none" w="sm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54000" rIns="90000" bIns="54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10" name="AutoShape 150"/>
          <p:cNvSpPr>
            <a:spLocks noChangeArrowheads="1"/>
          </p:cNvSpPr>
          <p:nvPr/>
        </p:nvSpPr>
        <p:spPr bwMode="auto">
          <a:xfrm>
            <a:off x="946965" y="4124984"/>
            <a:ext cx="227013" cy="187325"/>
          </a:xfrm>
          <a:prstGeom prst="homePlate">
            <a:avLst>
              <a:gd name="adj" fmla="val 30297"/>
            </a:avLst>
          </a:prstGeom>
          <a:solidFill>
            <a:srgbClr val="DDDDDD"/>
          </a:solidFill>
          <a:ln w="12700">
            <a:solidFill>
              <a:srgbClr val="808080"/>
            </a:solidFill>
            <a:miter lim="800000"/>
            <a:headEnd/>
            <a:tailEnd type="none" w="sm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54000" rIns="90000" bIns="54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11" name="AutoShape 151"/>
          <p:cNvSpPr>
            <a:spLocks noChangeArrowheads="1"/>
          </p:cNvSpPr>
          <p:nvPr/>
        </p:nvSpPr>
        <p:spPr bwMode="auto">
          <a:xfrm>
            <a:off x="1250178" y="4124984"/>
            <a:ext cx="225425" cy="187325"/>
          </a:xfrm>
          <a:prstGeom prst="homePlate">
            <a:avLst>
              <a:gd name="adj" fmla="val 30085"/>
            </a:avLst>
          </a:prstGeom>
          <a:solidFill>
            <a:srgbClr val="DDDDDD"/>
          </a:solidFill>
          <a:ln w="12700">
            <a:solidFill>
              <a:srgbClr val="808080"/>
            </a:solidFill>
            <a:miter lim="800000"/>
            <a:headEnd/>
            <a:tailEnd type="none" w="sm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54000" rIns="90000" bIns="54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412" name="AutoShape 155"/>
          <p:cNvSpPr>
            <a:spLocks noChangeArrowheads="1"/>
          </p:cNvSpPr>
          <p:nvPr/>
        </p:nvSpPr>
        <p:spPr bwMode="auto">
          <a:xfrm>
            <a:off x="1194615" y="2092298"/>
            <a:ext cx="227013" cy="187325"/>
          </a:xfrm>
          <a:prstGeom prst="homePlate">
            <a:avLst>
              <a:gd name="adj" fmla="val 30297"/>
            </a:avLst>
          </a:prstGeom>
          <a:noFill/>
          <a:ln w="12700">
            <a:solidFill>
              <a:srgbClr val="808080"/>
            </a:solidFill>
            <a:miter lim="800000"/>
            <a:headEnd/>
            <a:tailEnd type="none" w="sm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54000" rIns="90000" bIns="54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cxnSp>
        <p:nvCxnSpPr>
          <p:cNvPr id="414" name="AutoShape 157"/>
          <p:cNvCxnSpPr>
            <a:cxnSpLocks noChangeShapeType="1"/>
            <a:stCxn id="412" idx="2"/>
            <a:endCxn id="404" idx="0"/>
          </p:cNvCxnSpPr>
          <p:nvPr/>
        </p:nvCxnSpPr>
        <p:spPr bwMode="auto">
          <a:xfrm>
            <a:off x="1279745" y="2279623"/>
            <a:ext cx="1191" cy="370748"/>
          </a:xfrm>
          <a:prstGeom prst="straightConnector1">
            <a:avLst/>
          </a:prstGeom>
          <a:noFill/>
          <a:ln w="9525">
            <a:solidFill>
              <a:srgbClr val="5F5F5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15" name="AutoShape 159"/>
          <p:cNvCxnSpPr>
            <a:cxnSpLocks noChangeShapeType="1"/>
            <a:stCxn id="404" idx="2"/>
            <a:endCxn id="407" idx="0"/>
          </p:cNvCxnSpPr>
          <p:nvPr/>
        </p:nvCxnSpPr>
        <p:spPr bwMode="auto">
          <a:xfrm flipH="1">
            <a:off x="1279745" y="2837696"/>
            <a:ext cx="1191" cy="545584"/>
          </a:xfrm>
          <a:prstGeom prst="straightConnector1">
            <a:avLst/>
          </a:prstGeom>
          <a:noFill/>
          <a:ln w="9525">
            <a:solidFill>
              <a:srgbClr val="5F5F5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16" name="AutoShape 160"/>
          <p:cNvCxnSpPr>
            <a:cxnSpLocks noChangeShapeType="1"/>
            <a:stCxn id="404" idx="2"/>
            <a:endCxn id="406" idx="0"/>
          </p:cNvCxnSpPr>
          <p:nvPr/>
        </p:nvCxnSpPr>
        <p:spPr bwMode="auto">
          <a:xfrm rot="5400000">
            <a:off x="847708" y="2950052"/>
            <a:ext cx="545584" cy="32087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5F5F5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19" name="AutoShape 165"/>
          <p:cNvCxnSpPr>
            <a:cxnSpLocks noChangeShapeType="1"/>
            <a:stCxn id="406" idx="2"/>
            <a:endCxn id="409" idx="0"/>
          </p:cNvCxnSpPr>
          <p:nvPr/>
        </p:nvCxnSpPr>
        <p:spPr bwMode="auto">
          <a:xfrm rot="5400000">
            <a:off x="568673" y="3733594"/>
            <a:ext cx="551204" cy="23157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5F5F5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20" name="AutoShape 166"/>
          <p:cNvCxnSpPr>
            <a:cxnSpLocks noChangeShapeType="1"/>
            <a:stCxn id="406" idx="2"/>
            <a:endCxn id="410" idx="0"/>
          </p:cNvCxnSpPr>
          <p:nvPr/>
        </p:nvCxnSpPr>
        <p:spPr bwMode="auto">
          <a:xfrm rot="16200000" flipH="1">
            <a:off x="720477" y="3813366"/>
            <a:ext cx="551204" cy="72032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5F5F5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21" name="AutoShape 167"/>
          <p:cNvCxnSpPr>
            <a:cxnSpLocks noChangeShapeType="1"/>
            <a:stCxn id="406" idx="2"/>
            <a:endCxn id="411" idx="0"/>
          </p:cNvCxnSpPr>
          <p:nvPr/>
        </p:nvCxnSpPr>
        <p:spPr bwMode="auto">
          <a:xfrm rot="16200000" flipH="1">
            <a:off x="871785" y="3662057"/>
            <a:ext cx="551204" cy="374649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5F5F5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24" name="Text Box 173"/>
          <p:cNvSpPr txBox="1">
            <a:spLocks noChangeArrowheads="1"/>
          </p:cNvSpPr>
          <p:nvPr/>
        </p:nvSpPr>
        <p:spPr bwMode="auto">
          <a:xfrm>
            <a:off x="576254" y="4428197"/>
            <a:ext cx="48101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</p:txBody>
      </p:sp>
      <p:sp>
        <p:nvSpPr>
          <p:cNvPr id="425" name="Text Box 174"/>
          <p:cNvSpPr txBox="1">
            <a:spLocks noChangeArrowheads="1"/>
          </p:cNvSpPr>
          <p:nvPr/>
        </p:nvSpPr>
        <p:spPr bwMode="auto">
          <a:xfrm>
            <a:off x="1168392" y="4428197"/>
            <a:ext cx="484187" cy="398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</p:txBody>
      </p:sp>
      <p:sp>
        <p:nvSpPr>
          <p:cNvPr id="426" name="Text Box 177"/>
          <p:cNvSpPr txBox="1">
            <a:spLocks noChangeArrowheads="1"/>
          </p:cNvSpPr>
          <p:nvPr/>
        </p:nvSpPr>
        <p:spPr bwMode="auto">
          <a:xfrm>
            <a:off x="885817" y="4432959"/>
            <a:ext cx="4826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  <a:p>
            <a:pPr eaLnBrk="1" fontAlgn="base" hangingPunct="1">
              <a:lnSpc>
                <a:spcPct val="25000"/>
              </a:lnSpc>
              <a:spcBef>
                <a:spcPct val="5000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kumimoji="1" lang="en-US" altLang="ko-KR" sz="800">
                <a:solidFill>
                  <a:srgbClr val="000000"/>
                </a:solidFill>
                <a:latin typeface="+mn-ea"/>
                <a:ea typeface="+mn-ea"/>
              </a:rPr>
              <a:t>----</a:t>
            </a:r>
          </a:p>
        </p:txBody>
      </p:sp>
      <p:sp>
        <p:nvSpPr>
          <p:cNvPr id="428" name="모서리가 둥근 직사각형 427"/>
          <p:cNvSpPr/>
          <p:nvPr/>
        </p:nvSpPr>
        <p:spPr>
          <a:xfrm>
            <a:off x="460058" y="1887551"/>
            <a:ext cx="1683547" cy="3125625"/>
          </a:xfrm>
          <a:prstGeom prst="roundRect">
            <a:avLst>
              <a:gd name="adj" fmla="val 4833"/>
            </a:avLst>
          </a:prstGeom>
          <a:noFill/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30" name="모서리가 둥근 직사각형 429"/>
          <p:cNvSpPr/>
          <p:nvPr/>
        </p:nvSpPr>
        <p:spPr>
          <a:xfrm>
            <a:off x="534455" y="3833089"/>
            <a:ext cx="1538225" cy="971683"/>
          </a:xfrm>
          <a:prstGeom prst="roundRect">
            <a:avLst>
              <a:gd name="adj" fmla="val 17753"/>
            </a:avLst>
          </a:prstGeom>
          <a:noFill/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31" name="모서리가 둥근 직사각형 430"/>
          <p:cNvSpPr/>
          <p:nvPr/>
        </p:nvSpPr>
        <p:spPr>
          <a:xfrm>
            <a:off x="2227740" y="1864782"/>
            <a:ext cx="3524766" cy="1981026"/>
          </a:xfrm>
          <a:prstGeom prst="roundRect">
            <a:avLst>
              <a:gd name="adj" fmla="val 4833"/>
            </a:avLst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32" name="모서리가 둥근 직사각형 431"/>
          <p:cNvSpPr/>
          <p:nvPr/>
        </p:nvSpPr>
        <p:spPr>
          <a:xfrm>
            <a:off x="2227739" y="4218113"/>
            <a:ext cx="3524766" cy="795063"/>
          </a:xfrm>
          <a:prstGeom prst="roundRect">
            <a:avLst>
              <a:gd name="adj" fmla="val 4833"/>
            </a:avLst>
          </a:prstGeom>
          <a:noFill/>
          <a:ln w="6350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pic>
        <p:nvPicPr>
          <p:cNvPr id="435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5971" y="3124273"/>
            <a:ext cx="275685" cy="4779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7" name="Text Box 193"/>
          <p:cNvSpPr txBox="1">
            <a:spLocks noChangeArrowheads="1"/>
          </p:cNvSpPr>
          <p:nvPr/>
        </p:nvSpPr>
        <p:spPr bwMode="auto">
          <a:xfrm>
            <a:off x="3955931" y="3588256"/>
            <a:ext cx="981075" cy="188701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(</a:t>
            </a:r>
            <a:r>
              <a:rPr kumimoji="1" lang="ko-KR" altLang="en-US" sz="1100" b="1" kern="0" noProof="0" dirty="0">
                <a:solidFill>
                  <a:srgbClr val="000000"/>
                </a:solidFill>
                <a:latin typeface="+mn-ea"/>
                <a:ea typeface="+mn-ea"/>
              </a:rPr>
              <a:t>예산팀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장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)</a:t>
            </a:r>
          </a:p>
        </p:txBody>
      </p:sp>
      <p:sp>
        <p:nvSpPr>
          <p:cNvPr id="439" name="직사각형 438"/>
          <p:cNvSpPr/>
          <p:nvPr/>
        </p:nvSpPr>
        <p:spPr>
          <a:xfrm>
            <a:off x="5013191" y="3162156"/>
            <a:ext cx="36740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fontAlgn="ctr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b="1" kern="0" dirty="0">
                <a:solidFill>
                  <a:srgbClr val="000000"/>
                </a:solidFill>
                <a:latin typeface="+mn-ea"/>
              </a:rPr>
              <a:t>...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5030172" y="4209261"/>
            <a:ext cx="66877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0" dirty="0">
                <a:solidFill>
                  <a:srgbClr val="000000"/>
                </a:solidFill>
                <a:latin typeface="+mn-ea"/>
              </a:rPr>
              <a:t>4. </a:t>
            </a:r>
            <a:r>
              <a:rPr kumimoji="1" lang="ko-KR" altLang="en-US" sz="900" b="1" kern="0" dirty="0">
                <a:solidFill>
                  <a:srgbClr val="000000"/>
                </a:solidFill>
                <a:latin typeface="+mn-ea"/>
              </a:rPr>
              <a:t>실무자</a:t>
            </a:r>
            <a:endParaRPr lang="ko-KR" altLang="en-US" sz="900" dirty="0"/>
          </a:p>
        </p:txBody>
      </p:sp>
      <p:sp>
        <p:nvSpPr>
          <p:cNvPr id="443" name="직사각형 442"/>
          <p:cNvSpPr/>
          <p:nvPr/>
        </p:nvSpPr>
        <p:spPr>
          <a:xfrm>
            <a:off x="4704764" y="3481576"/>
            <a:ext cx="1015021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0" dirty="0">
                <a:solidFill>
                  <a:srgbClr val="000000"/>
                </a:solidFill>
                <a:latin typeface="+mn-ea"/>
              </a:rPr>
              <a:t>3. </a:t>
            </a:r>
            <a:r>
              <a:rPr kumimoji="1" lang="ko-KR" altLang="en-US" sz="900" b="1" kern="0" dirty="0">
                <a:solidFill>
                  <a:srgbClr val="000000"/>
                </a:solidFill>
                <a:latin typeface="+mn-ea"/>
              </a:rPr>
              <a:t>변경관리위원</a:t>
            </a:r>
            <a:endParaRPr lang="ko-KR" altLang="en-US" sz="900" dirty="0"/>
          </a:p>
        </p:txBody>
      </p:sp>
      <p:sp>
        <p:nvSpPr>
          <p:cNvPr id="444" name="직사각형 443"/>
          <p:cNvSpPr/>
          <p:nvPr/>
        </p:nvSpPr>
        <p:spPr>
          <a:xfrm>
            <a:off x="2451662" y="1967266"/>
            <a:ext cx="784189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0" dirty="0">
                <a:solidFill>
                  <a:srgbClr val="000000"/>
                </a:solidFill>
                <a:latin typeface="+mn-ea"/>
              </a:rPr>
              <a:t>1. </a:t>
            </a:r>
            <a:r>
              <a:rPr kumimoji="1" lang="ko-KR" altLang="en-US" sz="900" b="1" kern="0" dirty="0">
                <a:solidFill>
                  <a:srgbClr val="000000"/>
                </a:solidFill>
                <a:latin typeface="+mn-ea"/>
              </a:rPr>
              <a:t>운영총괄</a:t>
            </a:r>
            <a:endParaRPr lang="ko-KR" altLang="en-US" sz="900" dirty="0"/>
          </a:p>
        </p:txBody>
      </p:sp>
      <p:cxnSp>
        <p:nvCxnSpPr>
          <p:cNvPr id="24" name="꺾인 연결선 23"/>
          <p:cNvCxnSpPr>
            <a:stCxn id="428" idx="3"/>
            <a:endCxn id="431" idx="1"/>
          </p:cNvCxnSpPr>
          <p:nvPr/>
        </p:nvCxnSpPr>
        <p:spPr>
          <a:xfrm flipV="1">
            <a:off x="2143605" y="2855295"/>
            <a:ext cx="84135" cy="595069"/>
          </a:xfrm>
          <a:prstGeom prst="bentConnector3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꺾인 연결선 445"/>
          <p:cNvCxnSpPr>
            <a:stCxn id="430" idx="3"/>
            <a:endCxn id="432" idx="1"/>
          </p:cNvCxnSpPr>
          <p:nvPr/>
        </p:nvCxnSpPr>
        <p:spPr>
          <a:xfrm>
            <a:off x="2072680" y="4318931"/>
            <a:ext cx="155059" cy="296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8" name="직선 연결선 447"/>
          <p:cNvCxnSpPr>
            <a:stCxn id="437" idx="2"/>
            <a:endCxn id="190" idx="0"/>
          </p:cNvCxnSpPr>
          <p:nvPr/>
        </p:nvCxnSpPr>
        <p:spPr>
          <a:xfrm>
            <a:off x="4446469" y="3776957"/>
            <a:ext cx="300150" cy="519222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9" name="직선 연결선 448"/>
          <p:cNvCxnSpPr>
            <a:stCxn id="186" idx="2"/>
            <a:endCxn id="185" idx="0"/>
          </p:cNvCxnSpPr>
          <p:nvPr/>
        </p:nvCxnSpPr>
        <p:spPr>
          <a:xfrm>
            <a:off x="3582373" y="3776157"/>
            <a:ext cx="158935" cy="520022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4" name="직사각형 453"/>
          <p:cNvSpPr/>
          <p:nvPr/>
        </p:nvSpPr>
        <p:spPr>
          <a:xfrm>
            <a:off x="3762164" y="2492896"/>
            <a:ext cx="758788" cy="2265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lIns="36000" tIns="36000" rIns="36000" bIns="36000">
            <a:spAutoFit/>
          </a:bodyPr>
          <a:lstStyle/>
          <a:p>
            <a:r>
              <a:rPr lang="ko-KR" altLang="en-US" sz="1000" b="1" kern="0" dirty="0">
                <a:solidFill>
                  <a:srgbClr val="000000"/>
                </a:solidFill>
                <a:latin typeface="+mn-ea"/>
              </a:rPr>
              <a:t>위원회 소집</a:t>
            </a:r>
            <a:endParaRPr lang="ko-KR" altLang="en-US" sz="1000" b="1" dirty="0"/>
          </a:p>
        </p:txBody>
      </p:sp>
      <p:sp>
        <p:nvSpPr>
          <p:cNvPr id="452" name="직사각형 451"/>
          <p:cNvSpPr/>
          <p:nvPr/>
        </p:nvSpPr>
        <p:spPr>
          <a:xfrm>
            <a:off x="2429358" y="2827129"/>
            <a:ext cx="976797" cy="2265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lIns="36000" tIns="36000" rIns="36000" bIns="36000">
            <a:spAutoFit/>
          </a:bodyPr>
          <a:lstStyle/>
          <a:p>
            <a:r>
              <a:rPr lang="ko-KR" altLang="en-US" sz="1000" b="1" kern="0" dirty="0">
                <a:solidFill>
                  <a:srgbClr val="000000"/>
                </a:solidFill>
                <a:latin typeface="+mn-ea"/>
              </a:rPr>
              <a:t>변경 안건 제시 </a:t>
            </a:r>
            <a:endParaRPr lang="ko-KR" altLang="en-US" sz="1000" b="1" dirty="0"/>
          </a:p>
        </p:txBody>
      </p:sp>
      <p:sp>
        <p:nvSpPr>
          <p:cNvPr id="31" name="직사각형 30"/>
          <p:cNvSpPr/>
          <p:nvPr/>
        </p:nvSpPr>
        <p:spPr>
          <a:xfrm>
            <a:off x="2363635" y="4067111"/>
            <a:ext cx="1042520" cy="2265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lIns="36000" tIns="36000" rIns="36000" bIns="36000">
            <a:spAutoFit/>
          </a:bodyPr>
          <a:lstStyle/>
          <a:p>
            <a:r>
              <a:rPr lang="ko-KR" altLang="en-US" sz="1000" b="1" kern="0" dirty="0">
                <a:solidFill>
                  <a:srgbClr val="000000"/>
                </a:solidFill>
                <a:latin typeface="+mn-ea"/>
              </a:rPr>
              <a:t>이슈 </a:t>
            </a:r>
            <a:r>
              <a:rPr lang="en-US" altLang="ko-KR" sz="1000" b="1" kern="0" dirty="0">
                <a:solidFill>
                  <a:srgbClr val="000000"/>
                </a:solidFill>
                <a:latin typeface="+mn-ea"/>
              </a:rPr>
              <a:t>&amp; </a:t>
            </a:r>
            <a:r>
              <a:rPr lang="ko-KR" altLang="en-US" sz="1000" b="1" kern="0" dirty="0">
                <a:solidFill>
                  <a:srgbClr val="000000"/>
                </a:solidFill>
                <a:latin typeface="+mn-ea"/>
              </a:rPr>
              <a:t>개선사항</a:t>
            </a:r>
            <a:endParaRPr lang="ko-KR" altLang="en-US" sz="1000" b="1" dirty="0"/>
          </a:p>
        </p:txBody>
      </p:sp>
      <p:sp>
        <p:nvSpPr>
          <p:cNvPr id="455" name="Rectangle 105"/>
          <p:cNvSpPr>
            <a:spLocks noChangeArrowheads="1"/>
          </p:cNvSpPr>
          <p:nvPr/>
        </p:nvSpPr>
        <p:spPr bwMode="gray">
          <a:xfrm>
            <a:off x="6013984" y="3466264"/>
            <a:ext cx="683319" cy="845137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72000" tIns="36000" rIns="72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dirty="0">
                <a:latin typeface="+mn-ea"/>
              </a:rPr>
              <a:t>변경관리위원</a:t>
            </a:r>
          </a:p>
        </p:txBody>
      </p:sp>
      <p:sp>
        <p:nvSpPr>
          <p:cNvPr id="91" name="Text Box 109"/>
          <p:cNvSpPr txBox="1">
            <a:spLocks noChangeArrowheads="1"/>
          </p:cNvSpPr>
          <p:nvPr/>
        </p:nvSpPr>
        <p:spPr bwMode="gray">
          <a:xfrm>
            <a:off x="6801378" y="3451024"/>
            <a:ext cx="2544110" cy="92120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marL="85725" indent="-8572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각 팀의 관할 프로세스 개선사항  접수</a:t>
            </a:r>
            <a:r>
              <a:rPr kumimoji="1"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  <a:t/>
            </a:r>
            <a:br>
              <a:rPr kumimoji="1"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</a:b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및 검토</a:t>
            </a:r>
            <a:r>
              <a:rPr kumimoji="1"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개선 프로세스 변경 안건 제시 </a:t>
            </a:r>
            <a:endParaRPr kumimoji="1" lang="en-US" altLang="ko-KR" sz="1050" kern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각 팀 프로세스 오너 지정 </a:t>
            </a:r>
            <a:endParaRPr kumimoji="1" lang="en-US" altLang="ko-KR" sz="1050" kern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인사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상생노사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재무관리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예산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자금운영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기금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관재</a:t>
            </a:r>
            <a:r>
              <a:rPr kumimoji="1"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총무팀 팀장</a:t>
            </a:r>
            <a:endParaRPr kumimoji="1" lang="en-US" altLang="ko-KR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4838663" y="2427362"/>
            <a:ext cx="612775" cy="419100"/>
            <a:chOff x="5573639" y="1919440"/>
            <a:chExt cx="612775" cy="419100"/>
          </a:xfrm>
        </p:grpSpPr>
        <p:sp>
          <p:nvSpPr>
            <p:cNvPr id="115" name="Oval 158"/>
            <p:cNvSpPr>
              <a:spLocks noChangeArrowheads="1"/>
            </p:cNvSpPr>
            <p:nvPr/>
          </p:nvSpPr>
          <p:spPr bwMode="auto">
            <a:xfrm>
              <a:off x="5573639" y="1919440"/>
              <a:ext cx="612775" cy="419100"/>
            </a:xfrm>
            <a:prstGeom prst="ellipse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endParaRPr lang="ko-KR" altLang="en-US"/>
            </a:p>
          </p:txBody>
        </p:sp>
        <p:sp>
          <p:nvSpPr>
            <p:cNvPr id="116" name="Oval 158"/>
            <p:cNvSpPr>
              <a:spLocks noChangeArrowheads="1"/>
            </p:cNvSpPr>
            <p:nvPr/>
          </p:nvSpPr>
          <p:spPr bwMode="auto">
            <a:xfrm>
              <a:off x="5610839" y="1955272"/>
              <a:ext cx="540000" cy="324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endParaRPr lang="ko-KR" altLang="en-US"/>
            </a:p>
          </p:txBody>
        </p:sp>
      </p:grpSp>
      <p:sp>
        <p:nvSpPr>
          <p:cNvPr id="445" name="직사각형 444"/>
          <p:cNvSpPr/>
          <p:nvPr/>
        </p:nvSpPr>
        <p:spPr>
          <a:xfrm>
            <a:off x="4443613" y="1893972"/>
            <a:ext cx="11128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0" dirty="0">
                <a:solidFill>
                  <a:srgbClr val="000000"/>
                </a:solidFill>
                <a:latin typeface="+mn-ea"/>
              </a:rPr>
              <a:t>2. </a:t>
            </a:r>
            <a:r>
              <a:rPr kumimoji="1" lang="ko-KR" altLang="en-US" sz="900" b="1" kern="0" dirty="0">
                <a:solidFill>
                  <a:srgbClr val="000000"/>
                </a:solidFill>
                <a:latin typeface="+mn-ea"/>
              </a:rPr>
              <a:t>업무프로세스</a:t>
            </a:r>
            <a:r>
              <a:rPr kumimoji="1" lang="en-US" altLang="ko-KR" sz="900" b="1" kern="0" dirty="0">
                <a:solidFill>
                  <a:srgbClr val="000000"/>
                </a:solidFill>
                <a:latin typeface="+mn-ea"/>
              </a:rPr>
              <a:t/>
            </a:r>
            <a:br>
              <a:rPr kumimoji="1" lang="en-US" altLang="ko-KR" sz="900" b="1" kern="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ko-KR" sz="900" b="1" kern="0" dirty="0">
                <a:solidFill>
                  <a:srgbClr val="000000"/>
                </a:solidFill>
                <a:latin typeface="+mn-ea"/>
              </a:rPr>
              <a:t>   </a:t>
            </a:r>
            <a:r>
              <a:rPr kumimoji="1" lang="ko-KR" altLang="en-US" sz="900" b="1" kern="0" dirty="0">
                <a:solidFill>
                  <a:srgbClr val="000000"/>
                </a:solidFill>
                <a:latin typeface="+mn-ea"/>
              </a:rPr>
              <a:t>변경관리위원회</a:t>
            </a:r>
            <a:endParaRPr lang="ko-KR" altLang="en-US" sz="900" dirty="0"/>
          </a:p>
        </p:txBody>
      </p:sp>
      <p:pic>
        <p:nvPicPr>
          <p:cNvPr id="105" name="Picture 272" descr="파일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65362">
            <a:off x="5014074" y="2370905"/>
            <a:ext cx="261952" cy="2876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1" name="Picture 51" descr="D:\모스트비주얼\아이콘 작업\왜가리\3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6393" y="2337812"/>
            <a:ext cx="214047" cy="371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2371" y="2337812"/>
            <a:ext cx="214047" cy="371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3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8028" y="2619804"/>
            <a:ext cx="214047" cy="371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4" name="Text Box 130"/>
          <p:cNvSpPr txBox="1">
            <a:spLocks noChangeArrowheads="1"/>
          </p:cNvSpPr>
          <p:nvPr/>
        </p:nvSpPr>
        <p:spPr bwMode="auto">
          <a:xfrm>
            <a:off x="1303452" y="2204864"/>
            <a:ext cx="829240" cy="313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Level 1</a:t>
            </a:r>
            <a:b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Mega Process</a:t>
            </a:r>
          </a:p>
        </p:txBody>
      </p:sp>
      <p:sp>
        <p:nvSpPr>
          <p:cNvPr id="395" name="Text Box 131"/>
          <p:cNvSpPr txBox="1">
            <a:spLocks noChangeArrowheads="1"/>
          </p:cNvSpPr>
          <p:nvPr/>
        </p:nvSpPr>
        <p:spPr bwMode="auto">
          <a:xfrm>
            <a:off x="1306757" y="2708920"/>
            <a:ext cx="836848" cy="313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Level 2</a:t>
            </a:r>
          </a:p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Process chain</a:t>
            </a:r>
          </a:p>
        </p:txBody>
      </p:sp>
      <p:sp>
        <p:nvSpPr>
          <p:cNvPr id="396" name="Text Box 132"/>
          <p:cNvSpPr txBox="1">
            <a:spLocks noChangeArrowheads="1"/>
          </p:cNvSpPr>
          <p:nvPr/>
        </p:nvSpPr>
        <p:spPr bwMode="auto">
          <a:xfrm>
            <a:off x="1506925" y="3269744"/>
            <a:ext cx="449926" cy="313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Level 3</a:t>
            </a:r>
            <a:b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Process</a:t>
            </a:r>
          </a:p>
        </p:txBody>
      </p:sp>
      <p:sp>
        <p:nvSpPr>
          <p:cNvPr id="397" name="Text Box 133"/>
          <p:cNvSpPr txBox="1">
            <a:spLocks noChangeArrowheads="1"/>
          </p:cNvSpPr>
          <p:nvPr/>
        </p:nvSpPr>
        <p:spPr bwMode="auto">
          <a:xfrm>
            <a:off x="1518948" y="3964506"/>
            <a:ext cx="425881" cy="313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Level 4</a:t>
            </a:r>
          </a:p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Task</a:t>
            </a:r>
          </a:p>
        </p:txBody>
      </p:sp>
      <p:sp>
        <p:nvSpPr>
          <p:cNvPr id="398" name="Text Box 134"/>
          <p:cNvSpPr txBox="1">
            <a:spLocks noChangeArrowheads="1"/>
          </p:cNvSpPr>
          <p:nvPr/>
        </p:nvSpPr>
        <p:spPr bwMode="auto">
          <a:xfrm>
            <a:off x="1518948" y="4421872"/>
            <a:ext cx="425881" cy="313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Level 5</a:t>
            </a:r>
          </a:p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Step</a:t>
            </a:r>
          </a:p>
        </p:txBody>
      </p:sp>
      <p:sp>
        <p:nvSpPr>
          <p:cNvPr id="11" name="굽은 화살표 10"/>
          <p:cNvSpPr/>
          <p:nvPr/>
        </p:nvSpPr>
        <p:spPr>
          <a:xfrm rot="18527465">
            <a:off x="2230349" y="2617755"/>
            <a:ext cx="301876" cy="300335"/>
          </a:xfrm>
          <a:prstGeom prst="bentArrow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22" name="굽은 화살표 121"/>
          <p:cNvSpPr/>
          <p:nvPr/>
        </p:nvSpPr>
        <p:spPr>
          <a:xfrm rot="18527465">
            <a:off x="2168243" y="3843915"/>
            <a:ext cx="301876" cy="300335"/>
          </a:xfrm>
          <a:prstGeom prst="bentArrow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23" name="굽은 화살표 122"/>
          <p:cNvSpPr/>
          <p:nvPr/>
        </p:nvSpPr>
        <p:spPr>
          <a:xfrm rot="16200000" flipH="1" flipV="1">
            <a:off x="3890082" y="2194533"/>
            <a:ext cx="301876" cy="300335"/>
          </a:xfrm>
          <a:prstGeom prst="bentArrow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27" name="직사각형 126"/>
          <p:cNvSpPr/>
          <p:nvPr/>
        </p:nvSpPr>
        <p:spPr>
          <a:xfrm>
            <a:off x="4880992" y="3043153"/>
            <a:ext cx="630548" cy="2265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lIns="36000" tIns="36000" rIns="36000" bIns="36000">
            <a:spAutoFit/>
          </a:bodyPr>
          <a:lstStyle/>
          <a:p>
            <a:r>
              <a:rPr lang="ko-KR" altLang="en-US" sz="1000" b="1" kern="0" dirty="0">
                <a:solidFill>
                  <a:srgbClr val="000000"/>
                </a:solidFill>
                <a:latin typeface="+mn-ea"/>
              </a:rPr>
              <a:t>안건 협의</a:t>
            </a:r>
            <a:endParaRPr lang="ko-KR" altLang="en-US" sz="1000" b="1" dirty="0"/>
          </a:p>
        </p:txBody>
      </p:sp>
      <p:sp>
        <p:nvSpPr>
          <p:cNvPr id="124" name="굽은 화살표 123"/>
          <p:cNvSpPr/>
          <p:nvPr/>
        </p:nvSpPr>
        <p:spPr>
          <a:xfrm rot="1952453" flipH="1">
            <a:off x="5336733" y="2835375"/>
            <a:ext cx="301876" cy="300335"/>
          </a:xfrm>
          <a:prstGeom prst="bentArrow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516071" y="1484784"/>
            <a:ext cx="1484601" cy="288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latin typeface="+mn-ea"/>
              </a:rPr>
              <a:t>공단 업무프로세스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3080792" y="1484784"/>
            <a:ext cx="1690151" cy="288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latin typeface="+mn-ea"/>
              </a:rPr>
              <a:t>프로세스 오너 구분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6609184" y="1484784"/>
            <a:ext cx="2088232" cy="288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latin typeface="+mn-ea"/>
              </a:rPr>
              <a:t>프로세스 </a:t>
            </a:r>
            <a:r>
              <a:rPr lang="ko-KR" altLang="en-US" sz="1200" b="1" dirty="0" err="1">
                <a:latin typeface="+mn-ea"/>
              </a:rPr>
              <a:t>오너별</a:t>
            </a:r>
            <a:r>
              <a:rPr lang="ko-KR" altLang="en-US" sz="1200" b="1" dirty="0">
                <a:latin typeface="+mn-ea"/>
              </a:rPr>
              <a:t> 역할 정의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503744" y="5165472"/>
            <a:ext cx="936000" cy="216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>
                <a:solidFill>
                  <a:schemeClr val="bg1"/>
                </a:solidFill>
                <a:latin typeface="+mn-ea"/>
              </a:rPr>
              <a:t>주요 내용</a:t>
            </a:r>
          </a:p>
        </p:txBody>
      </p:sp>
      <p:sp>
        <p:nvSpPr>
          <p:cNvPr id="98" name="Rectangle 105">
            <a:extLst>
              <a:ext uri="{FF2B5EF4-FFF2-40B4-BE49-F238E27FC236}">
                <a16:creationId xmlns="" xmlns:a16="http://schemas.microsoft.com/office/drawing/2014/main" id="{9D7914E6-9140-4683-8CA7-0503C2D9BD18}"/>
              </a:ext>
            </a:extLst>
          </p:cNvPr>
          <p:cNvSpPr>
            <a:spLocks noChangeArrowheads="1"/>
          </p:cNvSpPr>
          <p:nvPr/>
        </p:nvSpPr>
        <p:spPr bwMode="gray">
          <a:xfrm>
            <a:off x="6013984" y="1930994"/>
            <a:ext cx="683319" cy="77604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72000" tIns="36000" rIns="72000" bIns="36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dirty="0">
                <a:latin typeface="+mn-ea"/>
              </a:rPr>
              <a:t>운영총괄</a:t>
            </a:r>
          </a:p>
        </p:txBody>
      </p:sp>
      <p:sp>
        <p:nvSpPr>
          <p:cNvPr id="114" name="Text Box 109">
            <a:extLst>
              <a:ext uri="{FF2B5EF4-FFF2-40B4-BE49-F238E27FC236}">
                <a16:creationId xmlns="" xmlns:a16="http://schemas.microsoft.com/office/drawing/2014/main" id="{55260169-B465-4D90-A105-3511C5114A13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6799790" y="1916832"/>
            <a:ext cx="2401681" cy="759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8000" tIns="18000" rIns="18000" bIns="18000">
            <a:spAutoFit/>
          </a:bodyPr>
          <a:lstStyle>
            <a:lvl1pPr marL="85725" indent="-8572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변경관리 위원회 총괄</a:t>
            </a:r>
            <a:endParaRPr kumimoji="1" lang="en-US" altLang="ko-KR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변경 및 이슈관리 안건 협의의 소집</a:t>
            </a:r>
            <a:endParaRPr kumimoji="1" lang="en-US" altLang="ko-KR" sz="1050" kern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85725" marR="0" lvl="0" indent="-85725" defTabSz="914400" eaLnBrk="1" fontAlgn="ctr" latinLnBrk="0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변경 및 이슈관리 안건 회의 진행 및 결과 공고</a:t>
            </a:r>
            <a:endParaRPr kumimoji="1" lang="en-US" altLang="ko-KR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67485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공단의 업무활동을 전달하고자 하는 경로</a:t>
            </a:r>
            <a:r>
              <a:rPr lang="en-US" altLang="ko-KR" kern="0" dirty="0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수단 및 대상에 따라 분류하여 구조화 하고 최적의 업무 수행방법과 절차를 정의하여 표준화 활동 수행 기반을 마련함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>
                <a:latin typeface="+mn-ea"/>
                <a:ea typeface="+mn-ea"/>
              </a:rPr>
              <a:t>3.5.4 </a:t>
            </a:r>
            <a:r>
              <a:rPr lang="ko-KR" altLang="en-US" dirty="0">
                <a:latin typeface="+mn-ea"/>
                <a:ea typeface="+mn-ea"/>
              </a:rPr>
              <a:t>프로세스 거버넌스 추진과제 정의 </a:t>
            </a:r>
            <a:r>
              <a:rPr lang="en-US" altLang="ko-KR" dirty="0">
                <a:latin typeface="+mn-ea"/>
                <a:ea typeface="+mn-ea"/>
              </a:rPr>
              <a:t/>
            </a:r>
            <a:br>
              <a:rPr lang="en-US" altLang="ko-KR" dirty="0">
                <a:latin typeface="+mn-ea"/>
                <a:ea typeface="+mn-ea"/>
              </a:rPr>
            </a:br>
            <a:r>
              <a:rPr lang="en-US" altLang="ko-KR" dirty="0">
                <a:latin typeface="+mn-ea"/>
                <a:ea typeface="+mn-ea"/>
              </a:rPr>
              <a:t>3.5.4.1 </a:t>
            </a:r>
            <a:r>
              <a:rPr lang="ko-KR" altLang="en-US" dirty="0">
                <a:latin typeface="+mn-ea"/>
                <a:ea typeface="+mn-ea"/>
              </a:rPr>
              <a:t>표준화</a:t>
            </a:r>
            <a:r>
              <a:rPr lang="en-US" altLang="ko-KR" dirty="0">
                <a:latin typeface="+mn-ea"/>
                <a:ea typeface="+mn-ea"/>
              </a:rPr>
              <a:t> &gt; </a:t>
            </a:r>
            <a:r>
              <a:rPr lang="ko-KR" altLang="en-US" dirty="0">
                <a:latin typeface="+mn-ea"/>
                <a:ea typeface="+mn-ea"/>
              </a:rPr>
              <a:t>분류체계 수립 및 표준화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Ⅳ.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목표모델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3.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 업무프로세스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3.5 </a:t>
            </a:r>
            <a:r>
              <a:rPr lang="ko-KR" altLang="en-US" dirty="0">
                <a:solidFill>
                  <a:prstClr val="black"/>
                </a:solidFill>
              </a:rPr>
              <a:t>경영정보기반 프로세스 </a:t>
            </a:r>
            <a:r>
              <a:rPr lang="ko-KR" altLang="en-US" dirty="0" err="1">
                <a:solidFill>
                  <a:prstClr val="black"/>
                </a:solidFill>
              </a:rPr>
              <a:t>거버넌스</a:t>
            </a:r>
            <a:r>
              <a:rPr lang="ko-KR" altLang="en-US" dirty="0">
                <a:solidFill>
                  <a:prstClr val="black"/>
                </a:solidFill>
              </a:rPr>
              <a:t> 정립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94" name="Rectangle 55"/>
          <p:cNvSpPr>
            <a:spLocks noChangeArrowheads="1"/>
          </p:cNvSpPr>
          <p:nvPr/>
        </p:nvSpPr>
        <p:spPr bwMode="gray">
          <a:xfrm>
            <a:off x="452438" y="5121312"/>
            <a:ext cx="5310187" cy="1260000"/>
          </a:xfrm>
          <a:prstGeom prst="rect">
            <a:avLst/>
          </a:prstGeom>
          <a:solidFill>
            <a:srgbClr val="FFFFFF"/>
          </a:solidFill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95" name="Rectangle 56"/>
          <p:cNvSpPr>
            <a:spLocks noChangeArrowheads="1"/>
          </p:cNvSpPr>
          <p:nvPr/>
        </p:nvSpPr>
        <p:spPr bwMode="gray">
          <a:xfrm>
            <a:off x="5897563" y="5121312"/>
            <a:ext cx="3509962" cy="1260000"/>
          </a:xfrm>
          <a:prstGeom prst="rect">
            <a:avLst/>
          </a:prstGeom>
          <a:noFill/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06" name="AutoShape 123"/>
          <p:cNvSpPr>
            <a:spLocks noChangeAspect="1" noChangeArrowheads="1"/>
          </p:cNvSpPr>
          <p:nvPr/>
        </p:nvSpPr>
        <p:spPr bwMode="gray">
          <a:xfrm>
            <a:off x="6249144" y="5528027"/>
            <a:ext cx="352425" cy="312737"/>
          </a:xfrm>
          <a:prstGeom prst="bevel">
            <a:avLst>
              <a:gd name="adj" fmla="val 12500"/>
            </a:avLst>
          </a:prstGeom>
          <a:solidFill>
            <a:srgbClr val="4B7DB4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3</a:t>
            </a:r>
          </a:p>
        </p:txBody>
      </p:sp>
      <p:sp>
        <p:nvSpPr>
          <p:cNvPr id="107" name="AutoShape 124"/>
          <p:cNvSpPr>
            <a:spLocks noChangeAspect="1" noChangeArrowheads="1"/>
          </p:cNvSpPr>
          <p:nvPr/>
        </p:nvSpPr>
        <p:spPr bwMode="gray">
          <a:xfrm>
            <a:off x="6249144" y="5947132"/>
            <a:ext cx="352425" cy="312737"/>
          </a:xfrm>
          <a:prstGeom prst="bevel">
            <a:avLst>
              <a:gd name="adj" fmla="val 12500"/>
            </a:avLst>
          </a:prstGeom>
          <a:solidFill>
            <a:srgbClr val="4B7DB4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4</a:t>
            </a:r>
          </a:p>
        </p:txBody>
      </p:sp>
      <p:sp>
        <p:nvSpPr>
          <p:cNvPr id="108" name="AutoShape 125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6655544" y="5517232"/>
            <a:ext cx="2402209" cy="323850"/>
          </a:xfrm>
          <a:prstGeom prst="bevel">
            <a:avLst>
              <a:gd name="adj" fmla="val 8824"/>
            </a:avLst>
          </a:prstGeom>
          <a:solidFill>
            <a:schemeClr val="bg1"/>
          </a:solidFill>
          <a:ln>
            <a:noFill/>
          </a:ln>
          <a:effectLst/>
        </p:spPr>
        <p:txBody>
          <a:bodyPr wrap="none" lIns="54000" tIns="18000" rIns="54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</a:t>
            </a:r>
            <a:r>
              <a:rPr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분류체계 정립</a:t>
            </a:r>
            <a:endParaRPr kumimoji="0" lang="ko-KR" altLang="en-US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09" name="AutoShape 126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6653956" y="5939512"/>
            <a:ext cx="2402210" cy="323850"/>
          </a:xfrm>
          <a:prstGeom prst="bevel">
            <a:avLst>
              <a:gd name="adj" fmla="val 8824"/>
            </a:avLst>
          </a:prstGeom>
          <a:solidFill>
            <a:schemeClr val="bg1"/>
          </a:solidFill>
          <a:ln>
            <a:noFill/>
          </a:ln>
          <a:effectLst/>
        </p:spPr>
        <p:txBody>
          <a:bodyPr wrap="none" lIns="54000" tIns="18000" rIns="54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</a:t>
            </a:r>
            <a:r>
              <a:rPr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표준화</a:t>
            </a:r>
            <a:endParaRPr kumimoji="0" lang="ko-KR" altLang="en-US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10" name="Text Box 127"/>
          <p:cNvSpPr txBox="1">
            <a:spLocks noChangeArrowheads="1"/>
          </p:cNvSpPr>
          <p:nvPr/>
        </p:nvSpPr>
        <p:spPr bwMode="gray">
          <a:xfrm>
            <a:off x="587375" y="5417052"/>
            <a:ext cx="5130800" cy="868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>
            <a:spAutoFit/>
          </a:bodyPr>
          <a:lstStyle>
            <a:lvl1pPr marL="153988" indent="-153988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lvl="0" eaLnBrk="1" fontAlgn="ctr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표준화 추진 영역에 대한 전사차원의 일관된 관점 정의</a:t>
            </a:r>
          </a:p>
          <a:p>
            <a:pPr lvl="0" eaLnBrk="1" fontAlgn="ctr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프로세스 리엔지니어링</a:t>
            </a:r>
            <a:r>
              <a:rPr kumimoji="1" lang="en-US" altLang="ko-KR" sz="1100" b="1" kern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혁신 등의 과업 수행 시 참조할 수 있는 전사차원의 표준 프로세스 분류체계 제공 </a:t>
            </a:r>
          </a:p>
          <a:p>
            <a:pPr lvl="0" eaLnBrk="1" fontAlgn="ctr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rgbClr val="000000"/>
                </a:solidFill>
                <a:latin typeface="+mn-ea"/>
                <a:ea typeface="+mn-ea"/>
              </a:rPr>
              <a:t>프로세스 가시화를 통한 현황 직시 및 개선활동 수행의 기반 마련 </a:t>
            </a:r>
          </a:p>
        </p:txBody>
      </p:sp>
      <p:sp>
        <p:nvSpPr>
          <p:cNvPr id="182" name="직사각형 181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503744" y="5165472"/>
            <a:ext cx="936000" cy="216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>
                <a:solidFill>
                  <a:schemeClr val="bg1"/>
                </a:solidFill>
                <a:latin typeface="+mn-ea"/>
              </a:rPr>
              <a:t>주요 내용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5957487" y="5165472"/>
            <a:ext cx="936000" cy="216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>
                <a:solidFill>
                  <a:schemeClr val="bg1"/>
                </a:solidFill>
                <a:latin typeface="+mn-ea"/>
              </a:rPr>
              <a:t>추진영역</a:t>
            </a:r>
          </a:p>
        </p:txBody>
      </p:sp>
      <p:grpSp>
        <p:nvGrpSpPr>
          <p:cNvPr id="5" name="그룹 162"/>
          <p:cNvGrpSpPr/>
          <p:nvPr/>
        </p:nvGrpSpPr>
        <p:grpSpPr>
          <a:xfrm>
            <a:off x="332535" y="1932072"/>
            <a:ext cx="876049" cy="2827688"/>
            <a:chOff x="8564933" y="2032013"/>
            <a:chExt cx="1048965" cy="4726915"/>
          </a:xfrm>
          <a:noFill/>
        </p:grpSpPr>
        <p:sp>
          <p:nvSpPr>
            <p:cNvPr id="164" name="TextBox 163"/>
            <p:cNvSpPr txBox="1"/>
            <p:nvPr/>
          </p:nvSpPr>
          <p:spPr>
            <a:xfrm>
              <a:off x="8564933" y="2032013"/>
              <a:ext cx="1048965" cy="4244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Level 0</a:t>
              </a:r>
              <a:endPara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8564933" y="2628780"/>
              <a:ext cx="1048965" cy="4244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Level 1</a:t>
              </a:r>
              <a:endPara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8564933" y="3445529"/>
              <a:ext cx="1048965" cy="424460"/>
            </a:xfrm>
            <a:prstGeom prst="rect">
              <a:avLst/>
            </a:prstGeom>
            <a:grpFill/>
            <a:ln w="2540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Level 2</a:t>
              </a:r>
              <a:endPara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8564933" y="4528881"/>
              <a:ext cx="1048965" cy="4244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Level 3</a:t>
              </a:r>
              <a:endPara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8564933" y="6334468"/>
              <a:ext cx="1048965" cy="4244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Level 5</a:t>
              </a:r>
              <a:endPara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8564933" y="5491861"/>
              <a:ext cx="1048965" cy="4244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ea"/>
                </a:rPr>
                <a:t>Level 4</a:t>
              </a:r>
              <a:endParaRPr lang="ko-KR" altLang="en-US" sz="105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endParaRPr>
            </a:p>
          </p:txBody>
        </p:sp>
      </p:grpSp>
      <p:sp>
        <p:nvSpPr>
          <p:cNvPr id="395" name="모서리가 둥근 직사각형 394"/>
          <p:cNvSpPr/>
          <p:nvPr/>
        </p:nvSpPr>
        <p:spPr>
          <a:xfrm>
            <a:off x="452437" y="1864781"/>
            <a:ext cx="5310187" cy="3165875"/>
          </a:xfrm>
          <a:prstGeom prst="roundRect">
            <a:avLst>
              <a:gd name="adj" fmla="val 2426"/>
            </a:avLst>
          </a:prstGeom>
          <a:noFill/>
          <a:ln w="6350">
            <a:solidFill>
              <a:schemeClr val="bg1">
                <a:lumMod val="6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1784648" y="1484784"/>
            <a:ext cx="2768795" cy="288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latin typeface="+mn-ea"/>
              </a:rPr>
              <a:t>업무 </a:t>
            </a:r>
            <a:r>
              <a:rPr lang="en-US" altLang="ko-KR" sz="1200" b="1" dirty="0">
                <a:latin typeface="+mn-ea"/>
              </a:rPr>
              <a:t>&amp; </a:t>
            </a:r>
            <a:r>
              <a:rPr lang="ko-KR" altLang="en-US" sz="1200" b="1" dirty="0">
                <a:latin typeface="+mn-ea"/>
              </a:rPr>
              <a:t>프로세스 분류 및 구조화</a:t>
            </a:r>
          </a:p>
        </p:txBody>
      </p:sp>
      <p:sp>
        <p:nvSpPr>
          <p:cNvPr id="397" name="모서리가 둥근 직사각형 396"/>
          <p:cNvSpPr/>
          <p:nvPr/>
        </p:nvSpPr>
        <p:spPr>
          <a:xfrm>
            <a:off x="5897563" y="1862754"/>
            <a:ext cx="3509962" cy="3165875"/>
          </a:xfrm>
          <a:prstGeom prst="roundRect">
            <a:avLst>
              <a:gd name="adj" fmla="val 1945"/>
            </a:avLst>
          </a:prstGeom>
          <a:noFill/>
          <a:ln w="6350">
            <a:solidFill>
              <a:schemeClr val="bg1">
                <a:lumMod val="6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398" name="직사각형 397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6105128" y="1484784"/>
            <a:ext cx="3022749" cy="288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latin typeface="+mn-ea"/>
              </a:rPr>
              <a:t>프로세스 표준화 수행방법 및 절차 정의</a:t>
            </a:r>
          </a:p>
        </p:txBody>
      </p:sp>
      <p:sp>
        <p:nvSpPr>
          <p:cNvPr id="418" name="AutoShape 53"/>
          <p:cNvSpPr>
            <a:spLocks noChangeArrowheads="1"/>
          </p:cNvSpPr>
          <p:nvPr/>
        </p:nvSpPr>
        <p:spPr bwMode="auto">
          <a:xfrm>
            <a:off x="5946212" y="2405009"/>
            <a:ext cx="943071" cy="591284"/>
          </a:xfrm>
          <a:prstGeom prst="roundRect">
            <a:avLst>
              <a:gd name="adj" fmla="val 3181"/>
            </a:avLst>
          </a:prstGeom>
          <a:solidFill>
            <a:srgbClr val="F0F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fontAlgn="base" latinLnBrk="0">
              <a:lnSpc>
                <a:spcPct val="120000"/>
              </a:lnSpc>
              <a:spcBef>
                <a:spcPct val="40000"/>
              </a:spcBef>
              <a:defRPr/>
            </a:pPr>
            <a:endParaRPr lang="ko-KR" altLang="ko-KR" sz="800" b="1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19" name="Rectangle 14"/>
          <p:cNvSpPr>
            <a:spLocks noChangeArrowheads="1"/>
          </p:cNvSpPr>
          <p:nvPr/>
        </p:nvSpPr>
        <p:spPr bwMode="auto">
          <a:xfrm>
            <a:off x="5885491" y="2364120"/>
            <a:ext cx="1003792" cy="2211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987" tIns="45712" rIns="35994" bIns="45712" anchor="ctr"/>
          <a:lstStyle/>
          <a:p>
            <a:pPr algn="ctr" fontAlgn="base" latinLnBrk="0">
              <a:spcBef>
                <a:spcPts val="400"/>
              </a:spcBef>
              <a:defRPr/>
            </a:pPr>
            <a:r>
              <a:rPr lang="ko-KR" altLang="en-US" sz="700" b="1" kern="0" dirty="0">
                <a:solidFill>
                  <a:prstClr val="black"/>
                </a:solidFill>
                <a:latin typeface="+mn-ea"/>
              </a:rPr>
              <a:t>업무절차 특성 파악</a:t>
            </a:r>
          </a:p>
        </p:txBody>
      </p:sp>
      <p:pic>
        <p:nvPicPr>
          <p:cNvPr id="417" name="그림 416"/>
          <p:cNvPicPr preferRelativeResize="0">
            <a:picLocks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014070" y="2547017"/>
            <a:ext cx="817914" cy="429733"/>
          </a:xfrm>
          <a:prstGeom prst="rect">
            <a:avLst/>
          </a:prstGeom>
        </p:spPr>
      </p:pic>
      <p:sp>
        <p:nvSpPr>
          <p:cNvPr id="423" name="AutoShape 53"/>
          <p:cNvSpPr>
            <a:spLocks noChangeArrowheads="1"/>
          </p:cNvSpPr>
          <p:nvPr/>
        </p:nvSpPr>
        <p:spPr bwMode="auto">
          <a:xfrm>
            <a:off x="5946212" y="3055044"/>
            <a:ext cx="943071" cy="591283"/>
          </a:xfrm>
          <a:prstGeom prst="roundRect">
            <a:avLst>
              <a:gd name="adj" fmla="val 3181"/>
            </a:avLst>
          </a:prstGeom>
          <a:solidFill>
            <a:srgbClr val="F0F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fontAlgn="base" latinLnBrk="0">
              <a:lnSpc>
                <a:spcPct val="120000"/>
              </a:lnSpc>
              <a:spcBef>
                <a:spcPct val="40000"/>
              </a:spcBef>
              <a:defRPr/>
            </a:pPr>
            <a:endParaRPr lang="ko-KR" altLang="ko-KR" sz="800" b="1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28" name="AutoShape 53"/>
          <p:cNvSpPr>
            <a:spLocks noChangeArrowheads="1"/>
          </p:cNvSpPr>
          <p:nvPr/>
        </p:nvSpPr>
        <p:spPr bwMode="auto">
          <a:xfrm>
            <a:off x="5946212" y="4349884"/>
            <a:ext cx="943071" cy="591284"/>
          </a:xfrm>
          <a:prstGeom prst="roundRect">
            <a:avLst>
              <a:gd name="adj" fmla="val 3181"/>
            </a:avLst>
          </a:prstGeom>
          <a:solidFill>
            <a:srgbClr val="F0F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fontAlgn="base" latinLnBrk="0">
              <a:lnSpc>
                <a:spcPct val="120000"/>
              </a:lnSpc>
              <a:spcBef>
                <a:spcPct val="40000"/>
              </a:spcBef>
              <a:defRPr/>
            </a:pPr>
            <a:endParaRPr lang="ko-KR" altLang="ko-KR" sz="800" b="1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29" name="Rectangle 14"/>
          <p:cNvSpPr>
            <a:spLocks noChangeArrowheads="1"/>
          </p:cNvSpPr>
          <p:nvPr/>
        </p:nvSpPr>
        <p:spPr bwMode="auto">
          <a:xfrm>
            <a:off x="5976399" y="4315956"/>
            <a:ext cx="856047" cy="1969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987" tIns="45712" rIns="35994" bIns="45712" anchor="ctr"/>
          <a:lstStyle/>
          <a:p>
            <a:pPr algn="ctr" fontAlgn="base" latinLnBrk="0">
              <a:spcBef>
                <a:spcPts val="400"/>
              </a:spcBef>
              <a:defRPr/>
            </a:pPr>
            <a:r>
              <a:rPr lang="ko-KR" altLang="en-US" sz="700" b="1" kern="0" dirty="0">
                <a:solidFill>
                  <a:prstClr val="black"/>
                </a:solidFill>
                <a:latin typeface="+mn-ea"/>
              </a:rPr>
              <a:t>업무절차 정의서</a:t>
            </a:r>
          </a:p>
        </p:txBody>
      </p:sp>
      <p:pic>
        <p:nvPicPr>
          <p:cNvPr id="427" name="그림 426"/>
          <p:cNvPicPr preferRelativeResize="0">
            <a:picLocks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014071" y="4483821"/>
            <a:ext cx="818375" cy="429733"/>
          </a:xfrm>
          <a:prstGeom prst="rect">
            <a:avLst/>
          </a:prstGeom>
        </p:spPr>
      </p:pic>
      <p:sp>
        <p:nvSpPr>
          <p:cNvPr id="433" name="AutoShape 53"/>
          <p:cNvSpPr>
            <a:spLocks noChangeArrowheads="1"/>
          </p:cNvSpPr>
          <p:nvPr/>
        </p:nvSpPr>
        <p:spPr bwMode="auto">
          <a:xfrm>
            <a:off x="5946212" y="3702024"/>
            <a:ext cx="943071" cy="591284"/>
          </a:xfrm>
          <a:prstGeom prst="roundRect">
            <a:avLst>
              <a:gd name="adj" fmla="val 3181"/>
            </a:avLst>
          </a:prstGeom>
          <a:solidFill>
            <a:srgbClr val="F0F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fontAlgn="base" latinLnBrk="0">
              <a:lnSpc>
                <a:spcPct val="120000"/>
              </a:lnSpc>
              <a:spcBef>
                <a:spcPct val="40000"/>
              </a:spcBef>
              <a:defRPr/>
            </a:pPr>
            <a:endParaRPr lang="ko-KR" altLang="ko-KR" sz="800" b="1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34" name="Rectangle 14"/>
          <p:cNvSpPr>
            <a:spLocks noChangeArrowheads="1"/>
          </p:cNvSpPr>
          <p:nvPr/>
        </p:nvSpPr>
        <p:spPr bwMode="auto">
          <a:xfrm>
            <a:off x="5877674" y="3012192"/>
            <a:ext cx="1043593" cy="21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987" tIns="45712" rIns="35994" bIns="45712" anchor="ctr"/>
          <a:lstStyle/>
          <a:p>
            <a:pPr algn="ctr" fontAlgn="base" latinLnBrk="0">
              <a:spcBef>
                <a:spcPts val="400"/>
              </a:spcBef>
              <a:defRPr/>
            </a:pPr>
            <a:r>
              <a:rPr lang="ko-KR" altLang="en-US" sz="700" b="1" kern="0" dirty="0">
                <a:solidFill>
                  <a:prstClr val="black"/>
                </a:solidFill>
                <a:latin typeface="+mn-ea"/>
              </a:rPr>
              <a:t>업무 계층구조</a:t>
            </a:r>
          </a:p>
        </p:txBody>
      </p:sp>
      <p:pic>
        <p:nvPicPr>
          <p:cNvPr id="432" name="그림 431"/>
          <p:cNvPicPr preferRelativeResize="0">
            <a:picLocks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014070" y="3190116"/>
            <a:ext cx="817913" cy="429733"/>
          </a:xfrm>
          <a:prstGeom prst="rect">
            <a:avLst/>
          </a:prstGeom>
        </p:spPr>
      </p:pic>
      <p:grpSp>
        <p:nvGrpSpPr>
          <p:cNvPr id="6" name="그룹 439"/>
          <p:cNvGrpSpPr/>
          <p:nvPr/>
        </p:nvGrpSpPr>
        <p:grpSpPr>
          <a:xfrm>
            <a:off x="6899120" y="2414145"/>
            <a:ext cx="1224000" cy="1205700"/>
            <a:chOff x="3525243" y="3075811"/>
            <a:chExt cx="1414447" cy="973191"/>
          </a:xfrm>
          <a:solidFill>
            <a:schemeClr val="bg1">
              <a:lumMod val="85000"/>
            </a:schemeClr>
          </a:solidFill>
        </p:grpSpPr>
        <p:sp>
          <p:nvSpPr>
            <p:cNvPr id="441" name="AutoShape 53"/>
            <p:cNvSpPr>
              <a:spLocks noChangeArrowheads="1"/>
            </p:cNvSpPr>
            <p:nvPr/>
          </p:nvSpPr>
          <p:spPr bwMode="auto">
            <a:xfrm>
              <a:off x="3546840" y="3075811"/>
              <a:ext cx="1369863" cy="973191"/>
            </a:xfrm>
            <a:prstGeom prst="roundRect">
              <a:avLst>
                <a:gd name="adj" fmla="val 3181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xtLst/>
          </p:spPr>
          <p:txBody>
            <a:bodyPr wrap="none" anchor="ctr"/>
            <a:lstStyle/>
            <a:p>
              <a:pPr algn="ctr" fontAlgn="base" latinLnBrk="0">
                <a:lnSpc>
                  <a:spcPct val="120000"/>
                </a:lnSpc>
                <a:spcBef>
                  <a:spcPct val="40000"/>
                </a:spcBef>
                <a:defRPr/>
              </a:pPr>
              <a:endParaRPr lang="ko-KR" altLang="ko-KR" sz="8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442" name="Rectangle 14"/>
            <p:cNvSpPr>
              <a:spLocks noChangeArrowheads="1"/>
            </p:cNvSpPr>
            <p:nvPr/>
          </p:nvSpPr>
          <p:spPr bwMode="auto">
            <a:xfrm>
              <a:off x="3525243" y="3076332"/>
              <a:ext cx="1414447" cy="2306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1987" tIns="45712" rIns="35994" bIns="45712" anchor="ctr"/>
            <a:lstStyle/>
            <a:p>
              <a:pPr algn="ctr" fontAlgn="base" latinLnBrk="0">
                <a:spcBef>
                  <a:spcPts val="400"/>
                </a:spcBef>
                <a:defRPr/>
              </a:pPr>
              <a:r>
                <a:rPr lang="ko-KR" altLang="en-US" sz="800" b="1" kern="0" dirty="0">
                  <a:solidFill>
                    <a:prstClr val="black"/>
                  </a:solidFill>
                  <a:latin typeface="+mn-ea"/>
                </a:rPr>
                <a:t>업무절차 계층구조 설계</a:t>
              </a:r>
            </a:p>
          </p:txBody>
        </p:sp>
      </p:grpSp>
      <p:grpSp>
        <p:nvGrpSpPr>
          <p:cNvPr id="7" name="그룹 442"/>
          <p:cNvGrpSpPr/>
          <p:nvPr/>
        </p:nvGrpSpPr>
        <p:grpSpPr>
          <a:xfrm>
            <a:off x="6893024" y="3693551"/>
            <a:ext cx="1224000" cy="1229912"/>
            <a:chOff x="3518198" y="3075812"/>
            <a:chExt cx="1414447" cy="967818"/>
          </a:xfrm>
        </p:grpSpPr>
        <p:sp>
          <p:nvSpPr>
            <p:cNvPr id="444" name="AutoShape 53"/>
            <p:cNvSpPr>
              <a:spLocks noChangeArrowheads="1"/>
            </p:cNvSpPr>
            <p:nvPr/>
          </p:nvSpPr>
          <p:spPr bwMode="auto">
            <a:xfrm>
              <a:off x="3546841" y="3075812"/>
              <a:ext cx="1369863" cy="967818"/>
            </a:xfrm>
            <a:prstGeom prst="roundRect">
              <a:avLst>
                <a:gd name="adj" fmla="val 3181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xtLst/>
          </p:spPr>
          <p:txBody>
            <a:bodyPr wrap="none" anchor="ctr"/>
            <a:lstStyle/>
            <a:p>
              <a:pPr algn="ctr" fontAlgn="base" latinLnBrk="0">
                <a:lnSpc>
                  <a:spcPct val="120000"/>
                </a:lnSpc>
                <a:spcBef>
                  <a:spcPct val="40000"/>
                </a:spcBef>
                <a:defRPr/>
              </a:pPr>
              <a:endParaRPr lang="ko-KR" altLang="ko-KR" sz="8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445" name="Rectangle 14"/>
            <p:cNvSpPr>
              <a:spLocks noChangeArrowheads="1"/>
            </p:cNvSpPr>
            <p:nvPr/>
          </p:nvSpPr>
          <p:spPr bwMode="auto">
            <a:xfrm>
              <a:off x="3518198" y="3082162"/>
              <a:ext cx="1414447" cy="2306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1987" tIns="45712" rIns="35994" bIns="45712" anchor="ctr"/>
            <a:lstStyle/>
            <a:p>
              <a:pPr algn="ctr" fontAlgn="base" latinLnBrk="0">
                <a:spcBef>
                  <a:spcPts val="400"/>
                </a:spcBef>
                <a:defRPr/>
              </a:pPr>
              <a:r>
                <a:rPr lang="ko-KR" altLang="en-US" sz="800" b="1" kern="0" dirty="0">
                  <a:solidFill>
                    <a:prstClr val="black"/>
                  </a:solidFill>
                  <a:latin typeface="+mn-ea"/>
                </a:rPr>
                <a:t>표준 템플릿 설계</a:t>
              </a:r>
            </a:p>
          </p:txBody>
        </p:sp>
      </p:grpSp>
      <p:grpSp>
        <p:nvGrpSpPr>
          <p:cNvPr id="8" name="그룹 446"/>
          <p:cNvGrpSpPr/>
          <p:nvPr/>
        </p:nvGrpSpPr>
        <p:grpSpPr>
          <a:xfrm>
            <a:off x="8117447" y="2412239"/>
            <a:ext cx="1244382" cy="1195512"/>
            <a:chOff x="4875852" y="3075812"/>
            <a:chExt cx="1244382" cy="1195512"/>
          </a:xfrm>
        </p:grpSpPr>
        <p:sp>
          <p:nvSpPr>
            <p:cNvPr id="448" name="AutoShape 53"/>
            <p:cNvSpPr>
              <a:spLocks noChangeArrowheads="1"/>
            </p:cNvSpPr>
            <p:nvPr/>
          </p:nvSpPr>
          <p:spPr bwMode="auto">
            <a:xfrm>
              <a:off x="4896234" y="3075812"/>
              <a:ext cx="1224000" cy="1195512"/>
            </a:xfrm>
            <a:prstGeom prst="roundRect">
              <a:avLst>
                <a:gd name="adj" fmla="val 3181"/>
              </a:avLst>
            </a:prstGeom>
            <a:solidFill>
              <a:schemeClr val="accent6">
                <a:lumMod val="40000"/>
                <a:lumOff val="60000"/>
              </a:schemeClr>
            </a:solidFill>
            <a:ln w="3175">
              <a:solidFill>
                <a:schemeClr val="accent6">
                  <a:lumMod val="60000"/>
                  <a:lumOff val="40000"/>
                </a:schemeClr>
              </a:solidFill>
            </a:ln>
            <a:extLst/>
          </p:spPr>
          <p:txBody>
            <a:bodyPr wrap="none" anchor="ctr"/>
            <a:lstStyle/>
            <a:p>
              <a:pPr algn="ctr" fontAlgn="base" latinLnBrk="0">
                <a:lnSpc>
                  <a:spcPct val="120000"/>
                </a:lnSpc>
                <a:spcBef>
                  <a:spcPct val="40000"/>
                </a:spcBef>
                <a:defRPr/>
              </a:pPr>
              <a:endParaRPr lang="ko-KR" altLang="ko-KR" sz="8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449" name="Rectangle 14"/>
            <p:cNvSpPr>
              <a:spLocks noChangeArrowheads="1"/>
            </p:cNvSpPr>
            <p:nvPr/>
          </p:nvSpPr>
          <p:spPr bwMode="auto">
            <a:xfrm>
              <a:off x="4875852" y="3124496"/>
              <a:ext cx="1216057" cy="2306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1987" tIns="45712" rIns="35994" bIns="45712" anchor="ctr"/>
            <a:lstStyle/>
            <a:p>
              <a:pPr algn="ctr" fontAlgn="base" latinLnBrk="0">
                <a:defRPr/>
              </a:pPr>
              <a:r>
                <a:rPr lang="ko-KR" altLang="en-US" sz="800" b="1" kern="0" dirty="0">
                  <a:solidFill>
                    <a:prstClr val="black"/>
                  </a:solidFill>
                  <a:latin typeface="+mn-ea"/>
                </a:rPr>
                <a:t>업무절차 모델링</a:t>
              </a:r>
              <a:endParaRPr lang="en-US" altLang="ko-KR" sz="800" b="1" kern="0" dirty="0">
                <a:solidFill>
                  <a:prstClr val="black"/>
                </a:solidFill>
                <a:latin typeface="+mn-ea"/>
              </a:endParaRPr>
            </a:p>
            <a:p>
              <a:pPr algn="ctr" fontAlgn="base" latinLnBrk="0">
                <a:defRPr/>
              </a:pPr>
              <a:r>
                <a:rPr lang="en-US" altLang="ko-KR" sz="800" b="1" kern="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ko-KR" altLang="en-US" sz="800" b="1" kern="0" dirty="0">
                  <a:solidFill>
                    <a:prstClr val="black"/>
                  </a:solidFill>
                  <a:latin typeface="+mn-ea"/>
                </a:rPr>
                <a:t>도식화</a:t>
              </a:r>
              <a:r>
                <a:rPr lang="en-US" altLang="ko-KR" sz="800" b="1" kern="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ko-KR" altLang="en-US" sz="800" b="1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9" name="그룹 449"/>
          <p:cNvGrpSpPr/>
          <p:nvPr/>
        </p:nvGrpSpPr>
        <p:grpSpPr>
          <a:xfrm>
            <a:off x="8137782" y="3696113"/>
            <a:ext cx="1231154" cy="1233886"/>
            <a:chOff x="4896187" y="4032206"/>
            <a:chExt cx="1231154" cy="915495"/>
          </a:xfrm>
        </p:grpSpPr>
        <p:sp>
          <p:nvSpPr>
            <p:cNvPr id="451" name="AutoShape 53"/>
            <p:cNvSpPr>
              <a:spLocks noChangeArrowheads="1"/>
            </p:cNvSpPr>
            <p:nvPr/>
          </p:nvSpPr>
          <p:spPr bwMode="auto">
            <a:xfrm>
              <a:off x="4896234" y="4032206"/>
              <a:ext cx="1224000" cy="915495"/>
            </a:xfrm>
            <a:prstGeom prst="roundRect">
              <a:avLst>
                <a:gd name="adj" fmla="val 3181"/>
              </a:avLst>
            </a:prstGeom>
            <a:solidFill>
              <a:schemeClr val="accent6">
                <a:lumMod val="40000"/>
                <a:lumOff val="60000"/>
              </a:schemeClr>
            </a:solidFill>
            <a:ln w="3175">
              <a:solidFill>
                <a:schemeClr val="accent6">
                  <a:lumMod val="60000"/>
                  <a:lumOff val="40000"/>
                </a:schemeClr>
              </a:solidFill>
            </a:ln>
            <a:extLst/>
          </p:spPr>
          <p:txBody>
            <a:bodyPr wrap="none" anchor="ctr"/>
            <a:lstStyle/>
            <a:p>
              <a:pPr algn="ctr" fontAlgn="base" latinLnBrk="0">
                <a:lnSpc>
                  <a:spcPct val="120000"/>
                </a:lnSpc>
                <a:spcBef>
                  <a:spcPct val="40000"/>
                </a:spcBef>
                <a:defRPr/>
              </a:pPr>
              <a:endParaRPr lang="ko-KR" altLang="ko-KR" sz="8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452" name="Rectangle 14"/>
            <p:cNvSpPr>
              <a:spLocks noChangeArrowheads="1"/>
            </p:cNvSpPr>
            <p:nvPr/>
          </p:nvSpPr>
          <p:spPr bwMode="auto">
            <a:xfrm>
              <a:off x="4896187" y="4088732"/>
              <a:ext cx="1231154" cy="2306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1987" tIns="45712" rIns="35994" bIns="45712" anchor="ctr"/>
            <a:lstStyle/>
            <a:p>
              <a:pPr algn="ctr" fontAlgn="base" latinLnBrk="0">
                <a:defRPr/>
              </a:pPr>
              <a:r>
                <a:rPr lang="ko-KR" altLang="en-US" sz="800" b="1" kern="0" dirty="0">
                  <a:solidFill>
                    <a:prstClr val="black"/>
                  </a:solidFill>
                  <a:latin typeface="+mn-ea"/>
                </a:rPr>
                <a:t>업무절차 모델링</a:t>
              </a:r>
              <a:endParaRPr lang="en-US" altLang="ko-KR" sz="800" b="1" kern="0" dirty="0">
                <a:solidFill>
                  <a:prstClr val="black"/>
                </a:solidFill>
                <a:latin typeface="+mn-ea"/>
              </a:endParaRPr>
            </a:p>
            <a:p>
              <a:pPr algn="ctr" fontAlgn="base" latinLnBrk="0">
                <a:defRPr/>
              </a:pPr>
              <a:r>
                <a:rPr lang="en-US" altLang="ko-KR" sz="800" b="1" kern="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ko-KR" altLang="en-US" sz="800" b="1" kern="0" dirty="0">
                  <a:solidFill>
                    <a:prstClr val="black"/>
                  </a:solidFill>
                  <a:latin typeface="+mn-ea"/>
                </a:rPr>
                <a:t>속성 등록</a:t>
              </a:r>
              <a:r>
                <a:rPr lang="en-US" altLang="ko-KR" sz="800" b="1" kern="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ko-KR" altLang="en-US" sz="800" b="1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0" name="그룹 452"/>
          <p:cNvGrpSpPr/>
          <p:nvPr/>
        </p:nvGrpSpPr>
        <p:grpSpPr>
          <a:xfrm>
            <a:off x="8180744" y="2754175"/>
            <a:ext cx="1148138" cy="818841"/>
            <a:chOff x="4840067" y="3411652"/>
            <a:chExt cx="1148138" cy="818841"/>
          </a:xfrm>
        </p:grpSpPr>
        <p:pic>
          <p:nvPicPr>
            <p:cNvPr id="454" name="그림 453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0067" y="3411652"/>
              <a:ext cx="853417" cy="515801"/>
            </a:xfrm>
            <a:prstGeom prst="rect">
              <a:avLst/>
            </a:prstGeom>
          </p:spPr>
        </p:pic>
        <p:pic>
          <p:nvPicPr>
            <p:cNvPr id="455" name="그림 454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35370" y="3570676"/>
              <a:ext cx="853417" cy="515801"/>
            </a:xfrm>
            <a:prstGeom prst="rect">
              <a:avLst/>
            </a:prstGeom>
          </p:spPr>
        </p:pic>
        <p:pic>
          <p:nvPicPr>
            <p:cNvPr id="456" name="그림 45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34788" y="3714692"/>
              <a:ext cx="853417" cy="515801"/>
            </a:xfrm>
            <a:prstGeom prst="rect">
              <a:avLst/>
            </a:prstGeom>
          </p:spPr>
        </p:pic>
      </p:grpSp>
      <p:pic>
        <p:nvPicPr>
          <p:cNvPr id="458" name="그림 457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42" t="32778" r="57929" b="10590"/>
          <a:stretch/>
        </p:blipFill>
        <p:spPr>
          <a:xfrm>
            <a:off x="7650459" y="2698048"/>
            <a:ext cx="407064" cy="814758"/>
          </a:xfrm>
          <a:prstGeom prst="rect">
            <a:avLst/>
          </a:prstGeom>
        </p:spPr>
      </p:pic>
      <p:pic>
        <p:nvPicPr>
          <p:cNvPr id="459" name="그림 45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969224" y="2681084"/>
            <a:ext cx="614286" cy="871598"/>
          </a:xfrm>
          <a:prstGeom prst="rect">
            <a:avLst/>
          </a:prstGeom>
        </p:spPr>
      </p:pic>
      <p:pic>
        <p:nvPicPr>
          <p:cNvPr id="460" name="그림 459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226544" y="4165466"/>
            <a:ext cx="1082530" cy="702298"/>
          </a:xfrm>
          <a:prstGeom prst="rect">
            <a:avLst/>
          </a:prstGeom>
        </p:spPr>
      </p:pic>
      <p:grpSp>
        <p:nvGrpSpPr>
          <p:cNvPr id="11" name="그룹 17"/>
          <p:cNvGrpSpPr/>
          <p:nvPr/>
        </p:nvGrpSpPr>
        <p:grpSpPr>
          <a:xfrm>
            <a:off x="1079448" y="1953408"/>
            <a:ext cx="4593632" cy="3004377"/>
            <a:chOff x="1079448" y="1953408"/>
            <a:chExt cx="4593632" cy="3004377"/>
          </a:xfrm>
        </p:grpSpPr>
        <p:cxnSp>
          <p:nvCxnSpPr>
            <p:cNvPr id="195" name="꺾인 연결선 194"/>
            <p:cNvCxnSpPr>
              <a:stCxn id="199" idx="2"/>
              <a:endCxn id="263" idx="0"/>
            </p:cNvCxnSpPr>
            <p:nvPr/>
          </p:nvCxnSpPr>
          <p:spPr>
            <a:xfrm rot="5400000">
              <a:off x="2694712" y="1644795"/>
              <a:ext cx="171844" cy="1191262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꺾인 연결선 195"/>
            <p:cNvCxnSpPr>
              <a:stCxn id="199" idx="2"/>
              <a:endCxn id="206" idx="0"/>
            </p:cNvCxnSpPr>
            <p:nvPr/>
          </p:nvCxnSpPr>
          <p:spPr>
            <a:xfrm rot="16200000" flipH="1">
              <a:off x="3582151" y="1948618"/>
              <a:ext cx="171844" cy="583616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꺾인 연결선 196"/>
            <p:cNvCxnSpPr>
              <a:stCxn id="199" idx="2"/>
              <a:endCxn id="338" idx="0"/>
            </p:cNvCxnSpPr>
            <p:nvPr/>
          </p:nvCxnSpPr>
          <p:spPr>
            <a:xfrm rot="16200000" flipH="1">
              <a:off x="4192499" y="1338270"/>
              <a:ext cx="171844" cy="1804312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9" name="Rectangle 43"/>
            <p:cNvSpPr>
              <a:spLocks noChangeArrowheads="1"/>
            </p:cNvSpPr>
            <p:nvPr/>
          </p:nvSpPr>
          <p:spPr bwMode="auto">
            <a:xfrm>
              <a:off x="2591288" y="1953408"/>
              <a:ext cx="1569953" cy="20109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75000"/>
              </a:scheme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85725" indent="-85725"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1000" b="1" kern="0" dirty="0">
                  <a:solidFill>
                    <a:schemeClr val="bg1"/>
                  </a:solidFill>
                  <a:latin typeface="+mn-ea"/>
                </a:rPr>
                <a:t>통합경영정보</a:t>
              </a:r>
              <a:endParaRPr lang="en-US" altLang="ko-KR" sz="1000" b="1" kern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2" name="그룹 335"/>
            <p:cNvGrpSpPr/>
            <p:nvPr/>
          </p:nvGrpSpPr>
          <p:grpSpPr>
            <a:xfrm>
              <a:off x="4524381" y="4371504"/>
              <a:ext cx="1091180" cy="579742"/>
              <a:chOff x="7483831" y="5469677"/>
              <a:chExt cx="1768441" cy="830278"/>
            </a:xfrm>
          </p:grpSpPr>
          <p:sp>
            <p:nvSpPr>
              <p:cNvPr id="361" name="자유형 360"/>
              <p:cNvSpPr/>
              <p:nvPr/>
            </p:nvSpPr>
            <p:spPr>
              <a:xfrm>
                <a:off x="7483832" y="5469677"/>
                <a:ext cx="1768440" cy="185472"/>
              </a:xfrm>
              <a:custGeom>
                <a:avLst/>
                <a:gdLst>
                  <a:gd name="connsiteX0" fmla="*/ 160866 w 1921933"/>
                  <a:gd name="connsiteY0" fmla="*/ 0 h 177800"/>
                  <a:gd name="connsiteX1" fmla="*/ 0 w 1921933"/>
                  <a:gd name="connsiteY1" fmla="*/ 169333 h 177800"/>
                  <a:gd name="connsiteX2" fmla="*/ 1921933 w 1921933"/>
                  <a:gd name="connsiteY2" fmla="*/ 177800 h 177800"/>
                  <a:gd name="connsiteX3" fmla="*/ 482600 w 1921933"/>
                  <a:gd name="connsiteY3" fmla="*/ 16933 h 177800"/>
                  <a:gd name="connsiteX4" fmla="*/ 160866 w 1921933"/>
                  <a:gd name="connsiteY4" fmla="*/ 0 h 177800"/>
                  <a:gd name="connsiteX0" fmla="*/ 262466 w 1921933"/>
                  <a:gd name="connsiteY0" fmla="*/ 1 h 160867"/>
                  <a:gd name="connsiteX1" fmla="*/ 0 w 1921933"/>
                  <a:gd name="connsiteY1" fmla="*/ 152400 h 160867"/>
                  <a:gd name="connsiteX2" fmla="*/ 1921933 w 1921933"/>
                  <a:gd name="connsiteY2" fmla="*/ 160867 h 160867"/>
                  <a:gd name="connsiteX3" fmla="*/ 482600 w 1921933"/>
                  <a:gd name="connsiteY3" fmla="*/ 0 h 160867"/>
                  <a:gd name="connsiteX4" fmla="*/ 262466 w 1921933"/>
                  <a:gd name="connsiteY4" fmla="*/ 1 h 160867"/>
                  <a:gd name="connsiteX0" fmla="*/ 262466 w 1921933"/>
                  <a:gd name="connsiteY0" fmla="*/ 8468 h 169334"/>
                  <a:gd name="connsiteX1" fmla="*/ 0 w 1921933"/>
                  <a:gd name="connsiteY1" fmla="*/ 160867 h 169334"/>
                  <a:gd name="connsiteX2" fmla="*/ 1921933 w 1921933"/>
                  <a:gd name="connsiteY2" fmla="*/ 169334 h 169334"/>
                  <a:gd name="connsiteX3" fmla="*/ 660400 w 1921933"/>
                  <a:gd name="connsiteY3" fmla="*/ 0 h 169334"/>
                  <a:gd name="connsiteX4" fmla="*/ 262466 w 1921933"/>
                  <a:gd name="connsiteY4" fmla="*/ 8468 h 169334"/>
                  <a:gd name="connsiteX0" fmla="*/ 262466 w 1515533"/>
                  <a:gd name="connsiteY0" fmla="*/ 8468 h 177801"/>
                  <a:gd name="connsiteX1" fmla="*/ 0 w 1515533"/>
                  <a:gd name="connsiteY1" fmla="*/ 160867 h 177801"/>
                  <a:gd name="connsiteX2" fmla="*/ 1515533 w 1515533"/>
                  <a:gd name="connsiteY2" fmla="*/ 177801 h 177801"/>
                  <a:gd name="connsiteX3" fmla="*/ 660400 w 1515533"/>
                  <a:gd name="connsiteY3" fmla="*/ 0 h 177801"/>
                  <a:gd name="connsiteX4" fmla="*/ 262466 w 1515533"/>
                  <a:gd name="connsiteY4" fmla="*/ 8468 h 177801"/>
                  <a:gd name="connsiteX0" fmla="*/ 393095 w 1515533"/>
                  <a:gd name="connsiteY0" fmla="*/ 8468 h 177801"/>
                  <a:gd name="connsiteX1" fmla="*/ 0 w 1515533"/>
                  <a:gd name="connsiteY1" fmla="*/ 160867 h 177801"/>
                  <a:gd name="connsiteX2" fmla="*/ 1515533 w 1515533"/>
                  <a:gd name="connsiteY2" fmla="*/ 177801 h 177801"/>
                  <a:gd name="connsiteX3" fmla="*/ 660400 w 1515533"/>
                  <a:gd name="connsiteY3" fmla="*/ 0 h 177801"/>
                  <a:gd name="connsiteX4" fmla="*/ 393095 w 1515533"/>
                  <a:gd name="connsiteY4" fmla="*/ 8468 h 177801"/>
                  <a:gd name="connsiteX0" fmla="*/ 153609 w 1276047"/>
                  <a:gd name="connsiteY0" fmla="*/ 8468 h 182639"/>
                  <a:gd name="connsiteX1" fmla="*/ 0 w 1276047"/>
                  <a:gd name="connsiteY1" fmla="*/ 182639 h 182639"/>
                  <a:gd name="connsiteX2" fmla="*/ 1276047 w 1276047"/>
                  <a:gd name="connsiteY2" fmla="*/ 177801 h 182639"/>
                  <a:gd name="connsiteX3" fmla="*/ 420914 w 1276047"/>
                  <a:gd name="connsiteY3" fmla="*/ 0 h 182639"/>
                  <a:gd name="connsiteX4" fmla="*/ 153609 w 1276047"/>
                  <a:gd name="connsiteY4" fmla="*/ 8468 h 182639"/>
                  <a:gd name="connsiteX0" fmla="*/ 0 w 1122438"/>
                  <a:gd name="connsiteY0" fmla="*/ 8468 h 193524"/>
                  <a:gd name="connsiteX1" fmla="*/ 151191 w 1122438"/>
                  <a:gd name="connsiteY1" fmla="*/ 193524 h 193524"/>
                  <a:gd name="connsiteX2" fmla="*/ 1122438 w 1122438"/>
                  <a:gd name="connsiteY2" fmla="*/ 177801 h 193524"/>
                  <a:gd name="connsiteX3" fmla="*/ 267305 w 1122438"/>
                  <a:gd name="connsiteY3" fmla="*/ 0 h 193524"/>
                  <a:gd name="connsiteX4" fmla="*/ 0 w 1122438"/>
                  <a:gd name="connsiteY4" fmla="*/ 8468 h 193524"/>
                  <a:gd name="connsiteX0" fmla="*/ 0 w 1122438"/>
                  <a:gd name="connsiteY0" fmla="*/ 0 h 185056"/>
                  <a:gd name="connsiteX1" fmla="*/ 151191 w 1122438"/>
                  <a:gd name="connsiteY1" fmla="*/ 185056 h 185056"/>
                  <a:gd name="connsiteX2" fmla="*/ 1122438 w 1122438"/>
                  <a:gd name="connsiteY2" fmla="*/ 169333 h 185056"/>
                  <a:gd name="connsiteX3" fmla="*/ 463248 w 1122438"/>
                  <a:gd name="connsiteY3" fmla="*/ 13303 h 185056"/>
                  <a:gd name="connsiteX4" fmla="*/ 0 w 1122438"/>
                  <a:gd name="connsiteY4" fmla="*/ 0 h 185056"/>
                  <a:gd name="connsiteX0" fmla="*/ 12095 w 971247"/>
                  <a:gd name="connsiteY0" fmla="*/ 0 h 174170"/>
                  <a:gd name="connsiteX1" fmla="*/ 0 w 971247"/>
                  <a:gd name="connsiteY1" fmla="*/ 174170 h 174170"/>
                  <a:gd name="connsiteX2" fmla="*/ 971247 w 971247"/>
                  <a:gd name="connsiteY2" fmla="*/ 158447 h 174170"/>
                  <a:gd name="connsiteX3" fmla="*/ 312057 w 971247"/>
                  <a:gd name="connsiteY3" fmla="*/ 2417 h 174170"/>
                  <a:gd name="connsiteX4" fmla="*/ 12095 w 971247"/>
                  <a:gd name="connsiteY4" fmla="*/ 0 h 174170"/>
                  <a:gd name="connsiteX0" fmla="*/ 12095 w 971247"/>
                  <a:gd name="connsiteY0" fmla="*/ 0 h 174170"/>
                  <a:gd name="connsiteX1" fmla="*/ 0 w 971247"/>
                  <a:gd name="connsiteY1" fmla="*/ 174170 h 174170"/>
                  <a:gd name="connsiteX2" fmla="*/ 971247 w 971247"/>
                  <a:gd name="connsiteY2" fmla="*/ 158447 h 174170"/>
                  <a:gd name="connsiteX3" fmla="*/ 693057 w 971247"/>
                  <a:gd name="connsiteY3" fmla="*/ 2417 h 174170"/>
                  <a:gd name="connsiteX4" fmla="*/ 12095 w 971247"/>
                  <a:gd name="connsiteY4" fmla="*/ 0 h 174170"/>
                  <a:gd name="connsiteX0" fmla="*/ 403980 w 971247"/>
                  <a:gd name="connsiteY0" fmla="*/ 0 h 185056"/>
                  <a:gd name="connsiteX1" fmla="*/ 0 w 971247"/>
                  <a:gd name="connsiteY1" fmla="*/ 185056 h 185056"/>
                  <a:gd name="connsiteX2" fmla="*/ 971247 w 971247"/>
                  <a:gd name="connsiteY2" fmla="*/ 169333 h 185056"/>
                  <a:gd name="connsiteX3" fmla="*/ 693057 w 971247"/>
                  <a:gd name="connsiteY3" fmla="*/ 13303 h 185056"/>
                  <a:gd name="connsiteX4" fmla="*/ 403980 w 971247"/>
                  <a:gd name="connsiteY4" fmla="*/ 0 h 18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247" h="185056">
                    <a:moveTo>
                      <a:pt x="403980" y="0"/>
                    </a:moveTo>
                    <a:lnTo>
                      <a:pt x="0" y="185056"/>
                    </a:lnTo>
                    <a:lnTo>
                      <a:pt x="971247" y="169333"/>
                    </a:lnTo>
                    <a:lnTo>
                      <a:pt x="693057" y="13303"/>
                    </a:lnTo>
                    <a:lnTo>
                      <a:pt x="403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3"/>
                  </a:gs>
                </a:gsLst>
                <a:lin ang="5400000" scaled="0"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2" name="직사각형 361"/>
              <p:cNvSpPr/>
              <p:nvPr/>
            </p:nvSpPr>
            <p:spPr>
              <a:xfrm>
                <a:off x="7483831" y="5676865"/>
                <a:ext cx="1761754" cy="62309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>
                  <a:latin typeface="+mn-ea"/>
                </a:endParaRPr>
              </a:p>
            </p:txBody>
          </p:sp>
          <p:grpSp>
            <p:nvGrpSpPr>
              <p:cNvPr id="13" name="그룹 362"/>
              <p:cNvGrpSpPr/>
              <p:nvPr/>
            </p:nvGrpSpPr>
            <p:grpSpPr>
              <a:xfrm>
                <a:off x="7634587" y="5752132"/>
                <a:ext cx="1471769" cy="508030"/>
                <a:chOff x="9910561" y="3465668"/>
                <a:chExt cx="1519666" cy="1289532"/>
              </a:xfrm>
            </p:grpSpPr>
            <p:sp>
              <p:nvSpPr>
                <p:cNvPr id="364" name="Rectangle 78"/>
                <p:cNvSpPr>
                  <a:spLocks noChangeArrowheads="1"/>
                </p:cNvSpPr>
                <p:nvPr/>
              </p:nvSpPr>
              <p:spPr bwMode="auto">
                <a:xfrm>
                  <a:off x="11261595" y="3465668"/>
                  <a:ext cx="168632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65" name="AutoShape 79"/>
                <p:cNvSpPr>
                  <a:spLocks noChangeArrowheads="1"/>
                </p:cNvSpPr>
                <p:nvPr/>
              </p:nvSpPr>
              <p:spPr bwMode="auto">
                <a:xfrm flipH="1">
                  <a:off x="10995081" y="3465668"/>
                  <a:ext cx="168631" cy="235875"/>
                </a:xfrm>
                <a:prstGeom prst="diamond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66" name="Rectangle 80"/>
                <p:cNvSpPr>
                  <a:spLocks noChangeArrowheads="1"/>
                </p:cNvSpPr>
                <p:nvPr/>
              </p:nvSpPr>
              <p:spPr bwMode="auto">
                <a:xfrm>
                  <a:off x="10716170" y="3465668"/>
                  <a:ext cx="168631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67" name="Rectangle 83"/>
                <p:cNvSpPr>
                  <a:spLocks noChangeArrowheads="1"/>
                </p:cNvSpPr>
                <p:nvPr/>
              </p:nvSpPr>
              <p:spPr bwMode="auto">
                <a:xfrm>
                  <a:off x="10999723" y="3819253"/>
                  <a:ext cx="168631" cy="231877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68" name="Rectangle 85"/>
                <p:cNvSpPr>
                  <a:spLocks noChangeArrowheads="1"/>
                </p:cNvSpPr>
                <p:nvPr/>
              </p:nvSpPr>
              <p:spPr bwMode="auto">
                <a:xfrm>
                  <a:off x="11003470" y="4174771"/>
                  <a:ext cx="168631" cy="235875"/>
                </a:xfrm>
                <a:prstGeom prst="rect">
                  <a:avLst/>
                </a:prstGeom>
                <a:solidFill>
                  <a:srgbClr val="FFFF00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69" name="Rectangle 86"/>
                <p:cNvSpPr>
                  <a:spLocks noChangeArrowheads="1"/>
                </p:cNvSpPr>
                <p:nvPr/>
              </p:nvSpPr>
              <p:spPr bwMode="auto">
                <a:xfrm>
                  <a:off x="11007120" y="4523323"/>
                  <a:ext cx="168631" cy="231877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70" name="AutoShape 89"/>
                <p:cNvSpPr>
                  <a:spLocks noChangeArrowheads="1"/>
                </p:cNvSpPr>
                <p:nvPr/>
              </p:nvSpPr>
              <p:spPr bwMode="auto">
                <a:xfrm flipH="1">
                  <a:off x="10441206" y="3465668"/>
                  <a:ext cx="165536" cy="235875"/>
                </a:xfrm>
                <a:prstGeom prst="diamond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71" name="Rectangle 90"/>
                <p:cNvSpPr>
                  <a:spLocks noChangeArrowheads="1"/>
                </p:cNvSpPr>
                <p:nvPr/>
              </p:nvSpPr>
              <p:spPr bwMode="auto">
                <a:xfrm>
                  <a:off x="10195222" y="3465668"/>
                  <a:ext cx="168631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72" name="Rectangle 91"/>
                <p:cNvSpPr>
                  <a:spLocks noChangeArrowheads="1"/>
                </p:cNvSpPr>
                <p:nvPr/>
              </p:nvSpPr>
              <p:spPr bwMode="auto">
                <a:xfrm>
                  <a:off x="9910561" y="3465668"/>
                  <a:ext cx="168631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73" name="Rectangle 92"/>
                <p:cNvSpPr>
                  <a:spLocks noChangeArrowheads="1"/>
                </p:cNvSpPr>
                <p:nvPr/>
              </p:nvSpPr>
              <p:spPr bwMode="auto">
                <a:xfrm>
                  <a:off x="10437218" y="3812245"/>
                  <a:ext cx="170178" cy="239873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74" name="Rectangle 93"/>
                <p:cNvSpPr>
                  <a:spLocks noChangeArrowheads="1"/>
                </p:cNvSpPr>
                <p:nvPr/>
              </p:nvSpPr>
              <p:spPr bwMode="auto">
                <a:xfrm>
                  <a:off x="10434778" y="4179341"/>
                  <a:ext cx="171725" cy="235875"/>
                </a:xfrm>
                <a:prstGeom prst="rect">
                  <a:avLst/>
                </a:prstGeom>
                <a:solidFill>
                  <a:srgbClr val="FFFF00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375" name="Rectangle 94"/>
                <p:cNvSpPr>
                  <a:spLocks noChangeArrowheads="1"/>
                </p:cNvSpPr>
                <p:nvPr/>
              </p:nvSpPr>
              <p:spPr bwMode="auto">
                <a:xfrm>
                  <a:off x="10117868" y="4179341"/>
                  <a:ext cx="170178" cy="235875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cxnSp>
              <p:nvCxnSpPr>
                <p:cNvPr id="376" name="직선 연결선 375"/>
                <p:cNvCxnSpPr>
                  <a:stCxn id="370" idx="2"/>
                  <a:endCxn id="373" idx="0"/>
                </p:cNvCxnSpPr>
                <p:nvPr/>
              </p:nvCxnSpPr>
              <p:spPr>
                <a:xfrm flipH="1">
                  <a:off x="10522307" y="3696008"/>
                  <a:ext cx="1667" cy="121772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직선 화살표 연결선 376"/>
                <p:cNvCxnSpPr>
                  <a:stCxn id="373" idx="2"/>
                  <a:endCxn id="374" idx="0"/>
                </p:cNvCxnSpPr>
                <p:nvPr/>
              </p:nvCxnSpPr>
              <p:spPr>
                <a:xfrm flipH="1">
                  <a:off x="10520641" y="4045757"/>
                  <a:ext cx="1666" cy="139945"/>
                </a:xfrm>
                <a:prstGeom prst="straightConnector1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직선 연결선 377"/>
                <p:cNvCxnSpPr>
                  <a:stCxn id="375" idx="3"/>
                  <a:endCxn id="374" idx="1"/>
                </p:cNvCxnSpPr>
                <p:nvPr/>
              </p:nvCxnSpPr>
              <p:spPr>
                <a:xfrm>
                  <a:off x="10288046" y="4297279"/>
                  <a:ext cx="146732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직선 연결선 378"/>
                <p:cNvCxnSpPr>
                  <a:stCxn id="368" idx="2"/>
                  <a:endCxn id="369" idx="0"/>
                </p:cNvCxnSpPr>
                <p:nvPr/>
              </p:nvCxnSpPr>
              <p:spPr>
                <a:xfrm>
                  <a:off x="11087786" y="4405012"/>
                  <a:ext cx="3650" cy="123945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0" name="직선 연결선 379"/>
                <p:cNvCxnSpPr>
                  <a:stCxn id="367" idx="2"/>
                  <a:endCxn id="368" idx="0"/>
                </p:cNvCxnSpPr>
                <p:nvPr/>
              </p:nvCxnSpPr>
              <p:spPr>
                <a:xfrm>
                  <a:off x="11084039" y="4044948"/>
                  <a:ext cx="3747" cy="136005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직선 연결선 380"/>
                <p:cNvCxnSpPr>
                  <a:stCxn id="365" idx="2"/>
                  <a:endCxn id="367" idx="0"/>
                </p:cNvCxnSpPr>
                <p:nvPr/>
              </p:nvCxnSpPr>
              <p:spPr>
                <a:xfrm>
                  <a:off x="11079396" y="3695658"/>
                  <a:ext cx="4643" cy="129481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직선 연결선 381"/>
                <p:cNvCxnSpPr>
                  <a:stCxn id="372" idx="3"/>
                  <a:endCxn id="371" idx="1"/>
                </p:cNvCxnSpPr>
                <p:nvPr/>
              </p:nvCxnSpPr>
              <p:spPr>
                <a:xfrm>
                  <a:off x="10079192" y="3583606"/>
                  <a:ext cx="116030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직선 연결선 382"/>
                <p:cNvCxnSpPr>
                  <a:stCxn id="371" idx="3"/>
                  <a:endCxn id="370" idx="3"/>
                </p:cNvCxnSpPr>
                <p:nvPr/>
              </p:nvCxnSpPr>
              <p:spPr>
                <a:xfrm>
                  <a:off x="10363853" y="3583606"/>
                  <a:ext cx="77353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4" name="직선 연결선 383"/>
                <p:cNvCxnSpPr>
                  <a:stCxn id="370" idx="1"/>
                  <a:endCxn id="366" idx="1"/>
                </p:cNvCxnSpPr>
                <p:nvPr/>
              </p:nvCxnSpPr>
              <p:spPr>
                <a:xfrm>
                  <a:off x="10606742" y="3583606"/>
                  <a:ext cx="109428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직선 연결선 384"/>
                <p:cNvCxnSpPr>
                  <a:stCxn id="366" idx="3"/>
                  <a:endCxn id="365" idx="3"/>
                </p:cNvCxnSpPr>
                <p:nvPr/>
              </p:nvCxnSpPr>
              <p:spPr>
                <a:xfrm>
                  <a:off x="10884801" y="3583606"/>
                  <a:ext cx="110280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직선 연결선 385"/>
                <p:cNvCxnSpPr>
                  <a:stCxn id="365" idx="1"/>
                  <a:endCxn id="364" idx="1"/>
                </p:cNvCxnSpPr>
                <p:nvPr/>
              </p:nvCxnSpPr>
              <p:spPr>
                <a:xfrm>
                  <a:off x="11163712" y="3583606"/>
                  <a:ext cx="97883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38" name="Rectangle 43"/>
            <p:cNvSpPr>
              <a:spLocks noChangeArrowheads="1"/>
            </p:cNvSpPr>
            <p:nvPr/>
          </p:nvSpPr>
          <p:spPr bwMode="auto">
            <a:xfrm>
              <a:off x="4758778" y="2326348"/>
              <a:ext cx="843597" cy="186459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60000"/>
                <a:lumOff val="40000"/>
              </a:scheme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square" lIns="0" tIns="36000" rIns="72000" bIns="36000" anchor="ctr"/>
            <a:lstStyle/>
            <a:p>
              <a:pPr marL="85725" indent="-85725"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900" b="1" kern="0" dirty="0">
                  <a:solidFill>
                    <a:schemeClr val="bg1"/>
                  </a:solidFill>
                  <a:latin typeface="+mn-ea"/>
                </a:rPr>
                <a:t>기금지원관리</a:t>
              </a:r>
              <a:endParaRPr lang="en-US" altLang="ko-KR" sz="900" b="1" kern="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9" name="Rectangle 43"/>
            <p:cNvSpPr>
              <a:spLocks noChangeArrowheads="1"/>
            </p:cNvSpPr>
            <p:nvPr/>
          </p:nvSpPr>
          <p:spPr bwMode="auto">
            <a:xfrm>
              <a:off x="4779565" y="2638968"/>
              <a:ext cx="16215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지급관리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40" name="Rectangle 43"/>
            <p:cNvSpPr>
              <a:spLocks noChangeArrowheads="1"/>
            </p:cNvSpPr>
            <p:nvPr/>
          </p:nvSpPr>
          <p:spPr bwMode="auto">
            <a:xfrm>
              <a:off x="4999309" y="2638968"/>
              <a:ext cx="16215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집행관리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41" name="Rectangle 43"/>
            <p:cNvSpPr>
              <a:spLocks noChangeArrowheads="1"/>
            </p:cNvSpPr>
            <p:nvPr/>
          </p:nvSpPr>
          <p:spPr bwMode="auto">
            <a:xfrm>
              <a:off x="5219054" y="2638968"/>
              <a:ext cx="16215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사후관리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42" name="Rectangle 43"/>
            <p:cNvSpPr>
              <a:spLocks noChangeArrowheads="1"/>
            </p:cNvSpPr>
            <p:nvPr/>
          </p:nvSpPr>
          <p:spPr bwMode="auto">
            <a:xfrm>
              <a:off x="5438838" y="2638968"/>
              <a:ext cx="16215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lnSpc>
                  <a:spcPct val="90000"/>
                </a:lnSpc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600" kern="0" dirty="0">
                  <a:latin typeface="+mn-ea"/>
                </a:rPr>
                <a:t>직접지원관리</a:t>
              </a:r>
              <a:endParaRPr lang="en-US" altLang="ko-KR" sz="600" kern="0" dirty="0">
                <a:latin typeface="+mn-ea"/>
              </a:endParaRPr>
            </a:p>
          </p:txBody>
        </p:sp>
        <p:sp>
          <p:nvSpPr>
            <p:cNvPr id="343" name="Rectangle 43"/>
            <p:cNvSpPr>
              <a:spLocks noChangeArrowheads="1"/>
            </p:cNvSpPr>
            <p:nvPr/>
          </p:nvSpPr>
          <p:spPr bwMode="auto">
            <a:xfrm>
              <a:off x="4800763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lnSpcReduction="10000"/>
            </a:bodyPr>
            <a:lstStyle/>
            <a:p>
              <a:pPr algn="ctr" eaLnBrk="0" fontAlgn="base" latinLnBrk="0" hangingPunct="0">
                <a:lnSpc>
                  <a:spcPct val="80000"/>
                </a:lnSpc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solidFill>
                    <a:sysClr val="windowText" lastClr="000000"/>
                  </a:solidFill>
                  <a:latin typeface="+mn-ea"/>
                </a:rPr>
                <a:t>집행계획작성</a:t>
              </a:r>
              <a:endParaRPr lang="en-US" altLang="ko-KR" sz="7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344" name="Rectangle 43"/>
            <p:cNvSpPr>
              <a:spLocks noChangeArrowheads="1"/>
            </p:cNvSpPr>
            <p:nvPr/>
          </p:nvSpPr>
          <p:spPr bwMode="auto">
            <a:xfrm>
              <a:off x="5027450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fontScale="92500" lnSpcReduction="10000"/>
            </a:bodyPr>
            <a:lstStyle/>
            <a:p>
              <a:pPr algn="ctr" eaLnBrk="0" fontAlgn="base" latinLnBrk="0" hangingPunct="0">
                <a:lnSpc>
                  <a:spcPct val="80000"/>
                </a:lnSpc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600" kern="0" dirty="0">
                  <a:solidFill>
                    <a:sysClr val="windowText" lastClr="000000"/>
                  </a:solidFill>
                  <a:latin typeface="+mn-ea"/>
                </a:rPr>
                <a:t>지원금지급관리</a:t>
              </a:r>
              <a:endParaRPr lang="en-US" altLang="ko-KR" sz="6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345" name="Rectangle 43"/>
            <p:cNvSpPr>
              <a:spLocks noChangeArrowheads="1"/>
            </p:cNvSpPr>
            <p:nvPr/>
          </p:nvSpPr>
          <p:spPr bwMode="auto">
            <a:xfrm>
              <a:off x="5254137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latin typeface="+mn-ea"/>
                </a:rPr>
                <a:t>연중평가관리</a:t>
              </a:r>
              <a:endParaRPr lang="en-US" altLang="ko-KR" sz="500" kern="0" dirty="0">
                <a:latin typeface="+mn-ea"/>
              </a:endParaRPr>
            </a:p>
          </p:txBody>
        </p:sp>
        <p:sp>
          <p:nvSpPr>
            <p:cNvPr id="346" name="Rectangle 43"/>
            <p:cNvSpPr>
              <a:spLocks noChangeArrowheads="1"/>
            </p:cNvSpPr>
            <p:nvPr/>
          </p:nvSpPr>
          <p:spPr bwMode="auto">
            <a:xfrm>
              <a:off x="5480824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latin typeface="+mn-ea"/>
                </a:rPr>
                <a:t>정산관리지원</a:t>
              </a:r>
              <a:endParaRPr lang="en-US" altLang="ko-KR" sz="500" kern="0" dirty="0">
                <a:latin typeface="+mn-ea"/>
              </a:endParaRPr>
            </a:p>
          </p:txBody>
        </p:sp>
        <p:sp>
          <p:nvSpPr>
            <p:cNvPr id="347" name="Rectangle 43"/>
            <p:cNvSpPr>
              <a:spLocks noChangeArrowheads="1"/>
            </p:cNvSpPr>
            <p:nvPr/>
          </p:nvSpPr>
          <p:spPr bwMode="auto">
            <a:xfrm>
              <a:off x="4518001" y="3959482"/>
              <a:ext cx="297368" cy="413132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지원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계획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입력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48" name="Rectangle 43"/>
            <p:cNvSpPr>
              <a:spLocks noChangeArrowheads="1"/>
            </p:cNvSpPr>
            <p:nvPr/>
          </p:nvSpPr>
          <p:spPr bwMode="auto">
            <a:xfrm>
              <a:off x="5375712" y="3959430"/>
              <a:ext cx="297368" cy="412075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800" kern="0" dirty="0">
                  <a:latin typeface="+mn-ea"/>
                </a:rPr>
                <a:t>…</a:t>
              </a:r>
            </a:p>
          </p:txBody>
        </p:sp>
        <p:sp>
          <p:nvSpPr>
            <p:cNvPr id="349" name="Rectangle 43"/>
            <p:cNvSpPr>
              <a:spLocks noChangeArrowheads="1"/>
            </p:cNvSpPr>
            <p:nvPr/>
          </p:nvSpPr>
          <p:spPr bwMode="auto">
            <a:xfrm>
              <a:off x="4946856" y="3959482"/>
              <a:ext cx="297368" cy="413132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600" kern="0" dirty="0">
                  <a:latin typeface="+mn-ea"/>
                </a:rPr>
                <a:t>보조금</a:t>
              </a:r>
              <a:r>
                <a:rPr lang="en-US" altLang="ko-KR" sz="600" kern="0" dirty="0">
                  <a:latin typeface="+mn-ea"/>
                </a:rPr>
                <a:t/>
              </a:r>
              <a:br>
                <a:rPr lang="en-US" altLang="ko-KR" sz="600" kern="0" dirty="0">
                  <a:latin typeface="+mn-ea"/>
                </a:rPr>
              </a:br>
              <a:r>
                <a:rPr lang="ko-KR" altLang="en-US" sz="600" kern="0" dirty="0">
                  <a:latin typeface="+mn-ea"/>
                </a:rPr>
                <a:t>집행</a:t>
              </a:r>
              <a:r>
                <a:rPr lang="en-US" altLang="ko-KR" sz="600" kern="0" dirty="0">
                  <a:latin typeface="+mn-ea"/>
                </a:rPr>
                <a:t/>
              </a:r>
              <a:br>
                <a:rPr lang="en-US" altLang="ko-KR" sz="600" kern="0" dirty="0">
                  <a:latin typeface="+mn-ea"/>
                </a:rPr>
              </a:br>
              <a:r>
                <a:rPr lang="ko-KR" altLang="en-US" sz="600" kern="0" dirty="0">
                  <a:latin typeface="+mn-ea"/>
                </a:rPr>
                <a:t>계획</a:t>
              </a:r>
              <a:r>
                <a:rPr lang="en-US" altLang="ko-KR" sz="600" kern="0" dirty="0">
                  <a:latin typeface="+mn-ea"/>
                </a:rPr>
                <a:t/>
              </a:r>
              <a:br>
                <a:rPr lang="en-US" altLang="ko-KR" sz="600" kern="0" dirty="0">
                  <a:latin typeface="+mn-ea"/>
                </a:rPr>
              </a:br>
              <a:r>
                <a:rPr lang="ko-KR" altLang="en-US" sz="600" kern="0" dirty="0">
                  <a:latin typeface="+mn-ea"/>
                </a:rPr>
                <a:t>작성</a:t>
              </a:r>
              <a:endParaRPr lang="en-US" altLang="ko-KR" sz="600" kern="0" dirty="0">
                <a:latin typeface="+mn-ea"/>
              </a:endParaRPr>
            </a:p>
          </p:txBody>
        </p:sp>
        <p:cxnSp>
          <p:nvCxnSpPr>
            <p:cNvPr id="350" name="꺾인 연결선 349"/>
            <p:cNvCxnSpPr>
              <a:stCxn id="339" idx="0"/>
              <a:endCxn id="338" idx="2"/>
            </p:cNvCxnSpPr>
            <p:nvPr/>
          </p:nvCxnSpPr>
          <p:spPr>
            <a:xfrm rot="5400000" flipH="1" flipV="1">
              <a:off x="4957530" y="2415921"/>
              <a:ext cx="126161" cy="319934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꺾인 연결선 350"/>
            <p:cNvCxnSpPr>
              <a:stCxn id="340" idx="0"/>
              <a:endCxn id="338" idx="2"/>
            </p:cNvCxnSpPr>
            <p:nvPr/>
          </p:nvCxnSpPr>
          <p:spPr>
            <a:xfrm rot="5400000" flipH="1" flipV="1">
              <a:off x="5067402" y="2525793"/>
              <a:ext cx="126161" cy="100190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꺾인 연결선 351"/>
            <p:cNvCxnSpPr>
              <a:stCxn id="341" idx="0"/>
              <a:endCxn id="338" idx="2"/>
            </p:cNvCxnSpPr>
            <p:nvPr/>
          </p:nvCxnSpPr>
          <p:spPr>
            <a:xfrm rot="16200000" flipV="1">
              <a:off x="5177275" y="2516110"/>
              <a:ext cx="126161" cy="119555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꺾인 연결선 352"/>
            <p:cNvCxnSpPr>
              <a:stCxn id="342" idx="0"/>
              <a:endCxn id="338" idx="2"/>
            </p:cNvCxnSpPr>
            <p:nvPr/>
          </p:nvCxnSpPr>
          <p:spPr>
            <a:xfrm rot="16200000" flipV="1">
              <a:off x="5287167" y="2406218"/>
              <a:ext cx="126161" cy="33933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꺾인 연결선 353"/>
            <p:cNvCxnSpPr>
              <a:stCxn id="343" idx="0"/>
              <a:endCxn id="339" idx="2"/>
            </p:cNvCxnSpPr>
            <p:nvPr/>
          </p:nvCxnSpPr>
          <p:spPr>
            <a:xfrm rot="16200000" flipV="1">
              <a:off x="4819814" y="3216576"/>
              <a:ext cx="104233" cy="22574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꺾인 연결선 354"/>
            <p:cNvCxnSpPr>
              <a:stCxn id="344" idx="0"/>
              <a:endCxn id="339" idx="2"/>
            </p:cNvCxnSpPr>
            <p:nvPr/>
          </p:nvCxnSpPr>
          <p:spPr>
            <a:xfrm rot="16200000" flipV="1">
              <a:off x="4933158" y="3103232"/>
              <a:ext cx="104233" cy="249261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꺾인 연결선 355"/>
            <p:cNvCxnSpPr>
              <a:stCxn id="345" idx="0"/>
              <a:endCxn id="339" idx="2"/>
            </p:cNvCxnSpPr>
            <p:nvPr/>
          </p:nvCxnSpPr>
          <p:spPr>
            <a:xfrm rot="16200000" flipV="1">
              <a:off x="5046501" y="2989889"/>
              <a:ext cx="104233" cy="475948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꺾인 연결선 356"/>
            <p:cNvCxnSpPr>
              <a:stCxn id="346" idx="0"/>
              <a:endCxn id="339" idx="2"/>
            </p:cNvCxnSpPr>
            <p:nvPr/>
          </p:nvCxnSpPr>
          <p:spPr>
            <a:xfrm rot="16200000" flipV="1">
              <a:off x="5159845" y="2876545"/>
              <a:ext cx="104233" cy="702635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꺾인 연결선 357"/>
            <p:cNvCxnSpPr>
              <a:stCxn id="347" idx="0"/>
              <a:endCxn id="343" idx="2"/>
            </p:cNvCxnSpPr>
            <p:nvPr/>
          </p:nvCxnSpPr>
          <p:spPr>
            <a:xfrm rot="5400000" flipH="1" flipV="1">
              <a:off x="4703589" y="3779854"/>
              <a:ext cx="142725" cy="216532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꺾인 연결선 358"/>
            <p:cNvCxnSpPr>
              <a:stCxn id="349" idx="0"/>
              <a:endCxn id="343" idx="2"/>
            </p:cNvCxnSpPr>
            <p:nvPr/>
          </p:nvCxnSpPr>
          <p:spPr>
            <a:xfrm rot="16200000" flipV="1">
              <a:off x="4918017" y="3781958"/>
              <a:ext cx="142725" cy="212323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꺾인 연결선 359"/>
            <p:cNvCxnSpPr>
              <a:stCxn id="348" idx="0"/>
              <a:endCxn id="343" idx="2"/>
            </p:cNvCxnSpPr>
            <p:nvPr/>
          </p:nvCxnSpPr>
          <p:spPr>
            <a:xfrm rot="16200000" flipV="1">
              <a:off x="5132471" y="3567504"/>
              <a:ext cx="142673" cy="64117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그룹 260"/>
            <p:cNvGrpSpPr/>
            <p:nvPr/>
          </p:nvGrpSpPr>
          <p:grpSpPr>
            <a:xfrm>
              <a:off x="1456950" y="4385663"/>
              <a:ext cx="1104395" cy="572122"/>
              <a:chOff x="2055544" y="5489955"/>
              <a:chExt cx="1789857" cy="819365"/>
            </a:xfrm>
          </p:grpSpPr>
          <p:sp>
            <p:nvSpPr>
              <p:cNvPr id="309" name="자유형 308"/>
              <p:cNvSpPr/>
              <p:nvPr/>
            </p:nvSpPr>
            <p:spPr>
              <a:xfrm>
                <a:off x="2055544" y="5489955"/>
                <a:ext cx="1789857" cy="176106"/>
              </a:xfrm>
              <a:custGeom>
                <a:avLst/>
                <a:gdLst>
                  <a:gd name="connsiteX0" fmla="*/ 160866 w 1921933"/>
                  <a:gd name="connsiteY0" fmla="*/ 0 h 177800"/>
                  <a:gd name="connsiteX1" fmla="*/ 0 w 1921933"/>
                  <a:gd name="connsiteY1" fmla="*/ 169333 h 177800"/>
                  <a:gd name="connsiteX2" fmla="*/ 1921933 w 1921933"/>
                  <a:gd name="connsiteY2" fmla="*/ 177800 h 177800"/>
                  <a:gd name="connsiteX3" fmla="*/ 482600 w 1921933"/>
                  <a:gd name="connsiteY3" fmla="*/ 16933 h 177800"/>
                  <a:gd name="connsiteX4" fmla="*/ 160866 w 1921933"/>
                  <a:gd name="connsiteY4" fmla="*/ 0 h 177800"/>
                  <a:gd name="connsiteX0" fmla="*/ 262466 w 1921933"/>
                  <a:gd name="connsiteY0" fmla="*/ 1 h 160867"/>
                  <a:gd name="connsiteX1" fmla="*/ 0 w 1921933"/>
                  <a:gd name="connsiteY1" fmla="*/ 152400 h 160867"/>
                  <a:gd name="connsiteX2" fmla="*/ 1921933 w 1921933"/>
                  <a:gd name="connsiteY2" fmla="*/ 160867 h 160867"/>
                  <a:gd name="connsiteX3" fmla="*/ 482600 w 1921933"/>
                  <a:gd name="connsiteY3" fmla="*/ 0 h 160867"/>
                  <a:gd name="connsiteX4" fmla="*/ 262466 w 1921933"/>
                  <a:gd name="connsiteY4" fmla="*/ 1 h 160867"/>
                  <a:gd name="connsiteX0" fmla="*/ 262466 w 1921933"/>
                  <a:gd name="connsiteY0" fmla="*/ 8468 h 169334"/>
                  <a:gd name="connsiteX1" fmla="*/ 0 w 1921933"/>
                  <a:gd name="connsiteY1" fmla="*/ 160867 h 169334"/>
                  <a:gd name="connsiteX2" fmla="*/ 1921933 w 1921933"/>
                  <a:gd name="connsiteY2" fmla="*/ 169334 h 169334"/>
                  <a:gd name="connsiteX3" fmla="*/ 660400 w 1921933"/>
                  <a:gd name="connsiteY3" fmla="*/ 0 h 169334"/>
                  <a:gd name="connsiteX4" fmla="*/ 262466 w 1921933"/>
                  <a:gd name="connsiteY4" fmla="*/ 8468 h 169334"/>
                  <a:gd name="connsiteX0" fmla="*/ 262466 w 1515533"/>
                  <a:gd name="connsiteY0" fmla="*/ 8468 h 177801"/>
                  <a:gd name="connsiteX1" fmla="*/ 0 w 1515533"/>
                  <a:gd name="connsiteY1" fmla="*/ 160867 h 177801"/>
                  <a:gd name="connsiteX2" fmla="*/ 1515533 w 1515533"/>
                  <a:gd name="connsiteY2" fmla="*/ 177801 h 177801"/>
                  <a:gd name="connsiteX3" fmla="*/ 660400 w 1515533"/>
                  <a:gd name="connsiteY3" fmla="*/ 0 h 177801"/>
                  <a:gd name="connsiteX4" fmla="*/ 262466 w 1515533"/>
                  <a:gd name="connsiteY4" fmla="*/ 8468 h 177801"/>
                  <a:gd name="connsiteX0" fmla="*/ 393095 w 1515533"/>
                  <a:gd name="connsiteY0" fmla="*/ 8468 h 177801"/>
                  <a:gd name="connsiteX1" fmla="*/ 0 w 1515533"/>
                  <a:gd name="connsiteY1" fmla="*/ 160867 h 177801"/>
                  <a:gd name="connsiteX2" fmla="*/ 1515533 w 1515533"/>
                  <a:gd name="connsiteY2" fmla="*/ 177801 h 177801"/>
                  <a:gd name="connsiteX3" fmla="*/ 660400 w 1515533"/>
                  <a:gd name="connsiteY3" fmla="*/ 0 h 177801"/>
                  <a:gd name="connsiteX4" fmla="*/ 393095 w 1515533"/>
                  <a:gd name="connsiteY4" fmla="*/ 8468 h 177801"/>
                  <a:gd name="connsiteX0" fmla="*/ 153609 w 1276047"/>
                  <a:gd name="connsiteY0" fmla="*/ 8468 h 182639"/>
                  <a:gd name="connsiteX1" fmla="*/ 0 w 1276047"/>
                  <a:gd name="connsiteY1" fmla="*/ 182639 h 182639"/>
                  <a:gd name="connsiteX2" fmla="*/ 1276047 w 1276047"/>
                  <a:gd name="connsiteY2" fmla="*/ 177801 h 182639"/>
                  <a:gd name="connsiteX3" fmla="*/ 420914 w 1276047"/>
                  <a:gd name="connsiteY3" fmla="*/ 0 h 182639"/>
                  <a:gd name="connsiteX4" fmla="*/ 153609 w 1276047"/>
                  <a:gd name="connsiteY4" fmla="*/ 8468 h 182639"/>
                  <a:gd name="connsiteX0" fmla="*/ 0 w 1122438"/>
                  <a:gd name="connsiteY0" fmla="*/ 8468 h 193524"/>
                  <a:gd name="connsiteX1" fmla="*/ 151191 w 1122438"/>
                  <a:gd name="connsiteY1" fmla="*/ 193524 h 193524"/>
                  <a:gd name="connsiteX2" fmla="*/ 1122438 w 1122438"/>
                  <a:gd name="connsiteY2" fmla="*/ 177801 h 193524"/>
                  <a:gd name="connsiteX3" fmla="*/ 267305 w 1122438"/>
                  <a:gd name="connsiteY3" fmla="*/ 0 h 193524"/>
                  <a:gd name="connsiteX4" fmla="*/ 0 w 1122438"/>
                  <a:gd name="connsiteY4" fmla="*/ 8468 h 193524"/>
                  <a:gd name="connsiteX0" fmla="*/ 0 w 1122438"/>
                  <a:gd name="connsiteY0" fmla="*/ 0 h 185056"/>
                  <a:gd name="connsiteX1" fmla="*/ 151191 w 1122438"/>
                  <a:gd name="connsiteY1" fmla="*/ 185056 h 185056"/>
                  <a:gd name="connsiteX2" fmla="*/ 1122438 w 1122438"/>
                  <a:gd name="connsiteY2" fmla="*/ 169333 h 185056"/>
                  <a:gd name="connsiteX3" fmla="*/ 463248 w 1122438"/>
                  <a:gd name="connsiteY3" fmla="*/ 13303 h 185056"/>
                  <a:gd name="connsiteX4" fmla="*/ 0 w 1122438"/>
                  <a:gd name="connsiteY4" fmla="*/ 0 h 185056"/>
                  <a:gd name="connsiteX0" fmla="*/ 12095 w 971247"/>
                  <a:gd name="connsiteY0" fmla="*/ 0 h 174170"/>
                  <a:gd name="connsiteX1" fmla="*/ 0 w 971247"/>
                  <a:gd name="connsiteY1" fmla="*/ 174170 h 174170"/>
                  <a:gd name="connsiteX2" fmla="*/ 971247 w 971247"/>
                  <a:gd name="connsiteY2" fmla="*/ 158447 h 174170"/>
                  <a:gd name="connsiteX3" fmla="*/ 312057 w 971247"/>
                  <a:gd name="connsiteY3" fmla="*/ 2417 h 174170"/>
                  <a:gd name="connsiteX4" fmla="*/ 12095 w 971247"/>
                  <a:gd name="connsiteY4" fmla="*/ 0 h 174170"/>
                  <a:gd name="connsiteX0" fmla="*/ 12095 w 971247"/>
                  <a:gd name="connsiteY0" fmla="*/ 0 h 174170"/>
                  <a:gd name="connsiteX1" fmla="*/ 0 w 971247"/>
                  <a:gd name="connsiteY1" fmla="*/ 174170 h 174170"/>
                  <a:gd name="connsiteX2" fmla="*/ 971247 w 971247"/>
                  <a:gd name="connsiteY2" fmla="*/ 158447 h 174170"/>
                  <a:gd name="connsiteX3" fmla="*/ 693057 w 971247"/>
                  <a:gd name="connsiteY3" fmla="*/ 2417 h 174170"/>
                  <a:gd name="connsiteX4" fmla="*/ 12095 w 971247"/>
                  <a:gd name="connsiteY4" fmla="*/ 0 h 174170"/>
                  <a:gd name="connsiteX0" fmla="*/ 403980 w 971247"/>
                  <a:gd name="connsiteY0" fmla="*/ 0 h 185056"/>
                  <a:gd name="connsiteX1" fmla="*/ 0 w 971247"/>
                  <a:gd name="connsiteY1" fmla="*/ 185056 h 185056"/>
                  <a:gd name="connsiteX2" fmla="*/ 971247 w 971247"/>
                  <a:gd name="connsiteY2" fmla="*/ 169333 h 185056"/>
                  <a:gd name="connsiteX3" fmla="*/ 693057 w 971247"/>
                  <a:gd name="connsiteY3" fmla="*/ 13303 h 185056"/>
                  <a:gd name="connsiteX4" fmla="*/ 403980 w 971247"/>
                  <a:gd name="connsiteY4" fmla="*/ 0 h 18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247" h="185056">
                    <a:moveTo>
                      <a:pt x="403980" y="0"/>
                    </a:moveTo>
                    <a:lnTo>
                      <a:pt x="0" y="185056"/>
                    </a:lnTo>
                    <a:lnTo>
                      <a:pt x="971247" y="169333"/>
                    </a:lnTo>
                    <a:lnTo>
                      <a:pt x="693057" y="13303"/>
                    </a:lnTo>
                    <a:lnTo>
                      <a:pt x="403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3"/>
                  </a:gs>
                </a:gsLst>
                <a:lin ang="5400000" scaled="0"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5" name="그룹 309"/>
              <p:cNvGrpSpPr/>
              <p:nvPr/>
            </p:nvGrpSpPr>
            <p:grpSpPr>
              <a:xfrm>
                <a:off x="2055546" y="5686230"/>
                <a:ext cx="1761754" cy="623090"/>
                <a:chOff x="2055546" y="5686230"/>
                <a:chExt cx="1761754" cy="623090"/>
              </a:xfrm>
            </p:grpSpPr>
            <p:sp>
              <p:nvSpPr>
                <p:cNvPr id="311" name="직사각형 310"/>
                <p:cNvSpPr/>
                <p:nvPr/>
              </p:nvSpPr>
              <p:spPr>
                <a:xfrm>
                  <a:off x="2055546" y="5686230"/>
                  <a:ext cx="1761754" cy="62309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 dirty="0">
                    <a:latin typeface="+mn-ea"/>
                  </a:endParaRPr>
                </a:p>
              </p:txBody>
            </p:sp>
            <p:grpSp>
              <p:nvGrpSpPr>
                <p:cNvPr id="16" name="그룹 314"/>
                <p:cNvGrpSpPr/>
                <p:nvPr/>
              </p:nvGrpSpPr>
              <p:grpSpPr>
                <a:xfrm>
                  <a:off x="2206302" y="5761497"/>
                  <a:ext cx="1471769" cy="508030"/>
                  <a:chOff x="9910561" y="3465668"/>
                  <a:chExt cx="1519666" cy="1289532"/>
                </a:xfrm>
              </p:grpSpPr>
              <p:sp>
                <p:nvSpPr>
                  <p:cNvPr id="313" name="Rectangle 78"/>
                  <p:cNvSpPr>
                    <a:spLocks noChangeArrowheads="1"/>
                  </p:cNvSpPr>
                  <p:nvPr/>
                </p:nvSpPr>
                <p:spPr bwMode="auto">
                  <a:xfrm>
                    <a:off x="11261595" y="3465668"/>
                    <a:ext cx="168632" cy="235875"/>
                  </a:xfrm>
                  <a:prstGeom prst="rect">
                    <a:avLst/>
                  </a:prstGeom>
                  <a:solidFill>
                    <a:schemeClr val="accent4">
                      <a:lumMod val="60000"/>
                      <a:lumOff val="40000"/>
                    </a:schemeClr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14" name="AutoShape 79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10995081" y="3465668"/>
                    <a:ext cx="168631" cy="235875"/>
                  </a:xfrm>
                  <a:prstGeom prst="diamond">
                    <a:avLst/>
                  </a:prstGeom>
                  <a:solidFill>
                    <a:srgbClr val="FFFFFF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15" name="Rectangle 80"/>
                  <p:cNvSpPr>
                    <a:spLocks noChangeArrowheads="1"/>
                  </p:cNvSpPr>
                  <p:nvPr/>
                </p:nvSpPr>
                <p:spPr bwMode="auto">
                  <a:xfrm>
                    <a:off x="10716170" y="3465668"/>
                    <a:ext cx="168631" cy="235875"/>
                  </a:xfrm>
                  <a:prstGeom prst="rect">
                    <a:avLst/>
                  </a:prstGeom>
                  <a:solidFill>
                    <a:schemeClr val="accent4">
                      <a:lumMod val="60000"/>
                      <a:lumOff val="40000"/>
                    </a:schemeClr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16" name="Rectangle 83"/>
                  <p:cNvSpPr>
                    <a:spLocks noChangeArrowheads="1"/>
                  </p:cNvSpPr>
                  <p:nvPr/>
                </p:nvSpPr>
                <p:spPr bwMode="auto">
                  <a:xfrm>
                    <a:off x="10999723" y="3819253"/>
                    <a:ext cx="168631" cy="231877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17" name="Rectangle 85"/>
                  <p:cNvSpPr>
                    <a:spLocks noChangeArrowheads="1"/>
                  </p:cNvSpPr>
                  <p:nvPr/>
                </p:nvSpPr>
                <p:spPr bwMode="auto">
                  <a:xfrm>
                    <a:off x="11003470" y="4174771"/>
                    <a:ext cx="168631" cy="235875"/>
                  </a:xfrm>
                  <a:prstGeom prst="rect">
                    <a:avLst/>
                  </a:prstGeom>
                  <a:solidFill>
                    <a:srgbClr val="FFFF00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18" name="Rectangle 86"/>
                  <p:cNvSpPr>
                    <a:spLocks noChangeArrowheads="1"/>
                  </p:cNvSpPr>
                  <p:nvPr/>
                </p:nvSpPr>
                <p:spPr bwMode="auto">
                  <a:xfrm>
                    <a:off x="11007120" y="4523323"/>
                    <a:ext cx="168631" cy="231877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19" name="AutoShape 89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10441206" y="3465668"/>
                    <a:ext cx="165536" cy="235875"/>
                  </a:xfrm>
                  <a:prstGeom prst="diamond">
                    <a:avLst/>
                  </a:prstGeom>
                  <a:solidFill>
                    <a:srgbClr val="FFFFFF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20" name="Rectangle 90"/>
                  <p:cNvSpPr>
                    <a:spLocks noChangeArrowheads="1"/>
                  </p:cNvSpPr>
                  <p:nvPr/>
                </p:nvSpPr>
                <p:spPr bwMode="auto">
                  <a:xfrm>
                    <a:off x="10195222" y="3465668"/>
                    <a:ext cx="168631" cy="235875"/>
                  </a:xfrm>
                  <a:prstGeom prst="rect">
                    <a:avLst/>
                  </a:prstGeom>
                  <a:solidFill>
                    <a:schemeClr val="accent4">
                      <a:lumMod val="60000"/>
                      <a:lumOff val="40000"/>
                    </a:schemeClr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21" name="Rectangle 91"/>
                  <p:cNvSpPr>
                    <a:spLocks noChangeArrowheads="1"/>
                  </p:cNvSpPr>
                  <p:nvPr/>
                </p:nvSpPr>
                <p:spPr bwMode="auto">
                  <a:xfrm>
                    <a:off x="9910561" y="3465668"/>
                    <a:ext cx="168631" cy="235875"/>
                  </a:xfrm>
                  <a:prstGeom prst="rect">
                    <a:avLst/>
                  </a:prstGeom>
                  <a:solidFill>
                    <a:schemeClr val="accent4">
                      <a:lumMod val="60000"/>
                      <a:lumOff val="40000"/>
                    </a:schemeClr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22" name="Rectangle 92"/>
                  <p:cNvSpPr>
                    <a:spLocks noChangeArrowheads="1"/>
                  </p:cNvSpPr>
                  <p:nvPr/>
                </p:nvSpPr>
                <p:spPr bwMode="auto">
                  <a:xfrm>
                    <a:off x="10437218" y="3812245"/>
                    <a:ext cx="170178" cy="239873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23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10434778" y="4179341"/>
                    <a:ext cx="171725" cy="235875"/>
                  </a:xfrm>
                  <a:prstGeom prst="rect">
                    <a:avLst/>
                  </a:prstGeom>
                  <a:solidFill>
                    <a:srgbClr val="FFFF00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sp>
                <p:nvSpPr>
                  <p:cNvPr id="324" name="Rectangle 94"/>
                  <p:cNvSpPr>
                    <a:spLocks noChangeArrowheads="1"/>
                  </p:cNvSpPr>
                  <p:nvPr/>
                </p:nvSpPr>
                <p:spPr bwMode="auto">
                  <a:xfrm>
                    <a:off x="10117868" y="4179341"/>
                    <a:ext cx="170178" cy="235875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chemeClr val="bg1">
                        <a:lumMod val="50000"/>
                      </a:schemeClr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ko-KR" altLang="ko-KR" sz="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</a:endParaRPr>
                  </a:p>
                </p:txBody>
              </p:sp>
              <p:cxnSp>
                <p:nvCxnSpPr>
                  <p:cNvPr id="325" name="직선 연결선 324"/>
                  <p:cNvCxnSpPr>
                    <a:stCxn id="319" idx="2"/>
                    <a:endCxn id="322" idx="0"/>
                  </p:cNvCxnSpPr>
                  <p:nvPr/>
                </p:nvCxnSpPr>
                <p:spPr>
                  <a:xfrm flipH="1">
                    <a:off x="10522307" y="3696008"/>
                    <a:ext cx="1667" cy="121772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6" name="직선 화살표 연결선 325"/>
                  <p:cNvCxnSpPr>
                    <a:stCxn id="322" idx="2"/>
                    <a:endCxn id="323" idx="0"/>
                  </p:cNvCxnSpPr>
                  <p:nvPr/>
                </p:nvCxnSpPr>
                <p:spPr>
                  <a:xfrm flipH="1">
                    <a:off x="10520641" y="4045757"/>
                    <a:ext cx="1666" cy="139945"/>
                  </a:xfrm>
                  <a:prstGeom prst="straightConnector1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7" name="직선 연결선 326"/>
                  <p:cNvCxnSpPr>
                    <a:stCxn id="324" idx="3"/>
                    <a:endCxn id="323" idx="1"/>
                  </p:cNvCxnSpPr>
                  <p:nvPr/>
                </p:nvCxnSpPr>
                <p:spPr>
                  <a:xfrm>
                    <a:off x="10288046" y="4297279"/>
                    <a:ext cx="146732" cy="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8" name="직선 연결선 327"/>
                  <p:cNvCxnSpPr>
                    <a:stCxn id="317" idx="2"/>
                    <a:endCxn id="318" idx="0"/>
                  </p:cNvCxnSpPr>
                  <p:nvPr/>
                </p:nvCxnSpPr>
                <p:spPr>
                  <a:xfrm>
                    <a:off x="11087786" y="4405012"/>
                    <a:ext cx="3650" cy="12394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9" name="직선 연결선 328"/>
                  <p:cNvCxnSpPr>
                    <a:stCxn id="316" idx="2"/>
                    <a:endCxn id="317" idx="0"/>
                  </p:cNvCxnSpPr>
                  <p:nvPr/>
                </p:nvCxnSpPr>
                <p:spPr>
                  <a:xfrm>
                    <a:off x="11084039" y="4044948"/>
                    <a:ext cx="3747" cy="136005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0" name="직선 연결선 329"/>
                  <p:cNvCxnSpPr>
                    <a:stCxn id="314" idx="2"/>
                    <a:endCxn id="316" idx="0"/>
                  </p:cNvCxnSpPr>
                  <p:nvPr/>
                </p:nvCxnSpPr>
                <p:spPr>
                  <a:xfrm>
                    <a:off x="11079396" y="3695658"/>
                    <a:ext cx="4643" cy="129481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1" name="직선 연결선 330"/>
                  <p:cNvCxnSpPr>
                    <a:stCxn id="321" idx="3"/>
                    <a:endCxn id="320" idx="1"/>
                  </p:cNvCxnSpPr>
                  <p:nvPr/>
                </p:nvCxnSpPr>
                <p:spPr>
                  <a:xfrm>
                    <a:off x="10079192" y="3583606"/>
                    <a:ext cx="116030" cy="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2" name="직선 연결선 331"/>
                  <p:cNvCxnSpPr>
                    <a:stCxn id="320" idx="3"/>
                    <a:endCxn id="319" idx="3"/>
                  </p:cNvCxnSpPr>
                  <p:nvPr/>
                </p:nvCxnSpPr>
                <p:spPr>
                  <a:xfrm>
                    <a:off x="10363853" y="3583606"/>
                    <a:ext cx="77353" cy="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3" name="직선 연결선 332"/>
                  <p:cNvCxnSpPr>
                    <a:stCxn id="319" idx="1"/>
                    <a:endCxn id="315" idx="1"/>
                  </p:cNvCxnSpPr>
                  <p:nvPr/>
                </p:nvCxnSpPr>
                <p:spPr>
                  <a:xfrm>
                    <a:off x="10606742" y="3583606"/>
                    <a:ext cx="109428" cy="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4" name="직선 연결선 333"/>
                  <p:cNvCxnSpPr>
                    <a:stCxn id="315" idx="3"/>
                    <a:endCxn id="314" idx="3"/>
                  </p:cNvCxnSpPr>
                  <p:nvPr/>
                </p:nvCxnSpPr>
                <p:spPr>
                  <a:xfrm>
                    <a:off x="10884801" y="3583606"/>
                    <a:ext cx="110280" cy="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5" name="직선 연결선 334"/>
                  <p:cNvCxnSpPr>
                    <a:stCxn id="314" idx="1"/>
                    <a:endCxn id="313" idx="1"/>
                  </p:cNvCxnSpPr>
                  <p:nvPr/>
                </p:nvCxnSpPr>
                <p:spPr>
                  <a:xfrm>
                    <a:off x="11163712" y="3583606"/>
                    <a:ext cx="97883" cy="0"/>
                  </a:xfrm>
                  <a:prstGeom prst="line">
                    <a:avLst/>
                  </a:prstGeom>
                  <a:ln w="3175">
                    <a:solidFill>
                      <a:schemeClr val="bg1">
                        <a:lumMod val="50000"/>
                      </a:schemeClr>
                    </a:solidFill>
                    <a:tailEnd type="non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sp>
          <p:nvSpPr>
            <p:cNvPr id="263" name="Rectangle 43"/>
            <p:cNvSpPr>
              <a:spLocks noChangeArrowheads="1"/>
            </p:cNvSpPr>
            <p:nvPr/>
          </p:nvSpPr>
          <p:spPr bwMode="auto">
            <a:xfrm>
              <a:off x="1568157" y="2326348"/>
              <a:ext cx="1233691" cy="186459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60000"/>
                <a:lumOff val="40000"/>
              </a:scheme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85725" indent="-85725"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900" b="1" kern="0" dirty="0">
                  <a:solidFill>
                    <a:schemeClr val="bg1"/>
                  </a:solidFill>
                  <a:latin typeface="+mn-ea"/>
                </a:rPr>
                <a:t>통합재무정보</a:t>
              </a:r>
              <a:endParaRPr lang="en-US" altLang="ko-KR" sz="900" b="1" kern="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64" name="Rectangle 43"/>
            <p:cNvSpPr>
              <a:spLocks noChangeArrowheads="1"/>
            </p:cNvSpPr>
            <p:nvPr/>
          </p:nvSpPr>
          <p:spPr bwMode="auto">
            <a:xfrm>
              <a:off x="1116283" y="3959482"/>
              <a:ext cx="312192" cy="413132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작성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요청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65" name="Rectangle 43"/>
            <p:cNvSpPr>
              <a:spLocks noChangeArrowheads="1"/>
            </p:cNvSpPr>
            <p:nvPr/>
          </p:nvSpPr>
          <p:spPr bwMode="auto">
            <a:xfrm>
              <a:off x="1519622" y="3959482"/>
              <a:ext cx="312192" cy="413132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사업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계획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작성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66" name="Rectangle 43"/>
            <p:cNvSpPr>
              <a:spLocks noChangeArrowheads="1"/>
            </p:cNvSpPr>
            <p:nvPr/>
          </p:nvSpPr>
          <p:spPr bwMode="auto">
            <a:xfrm>
              <a:off x="1922961" y="3959429"/>
              <a:ext cx="311824" cy="412075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사업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계획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취합</a:t>
              </a:r>
              <a:endParaRPr lang="en-US" altLang="ko-KR" sz="700" kern="0" dirty="0">
                <a:latin typeface="+mn-ea"/>
              </a:endParaRPr>
            </a:p>
          </p:txBody>
        </p:sp>
        <p:cxnSp>
          <p:nvCxnSpPr>
            <p:cNvPr id="267" name="꺾인 연결선 266"/>
            <p:cNvCxnSpPr>
              <a:stCxn id="263" idx="2"/>
              <a:endCxn id="298" idx="0"/>
            </p:cNvCxnSpPr>
            <p:nvPr/>
          </p:nvCxnSpPr>
          <p:spPr>
            <a:xfrm rot="5400000">
              <a:off x="1609550" y="2063514"/>
              <a:ext cx="126161" cy="1024747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꺾인 연결선 267"/>
            <p:cNvCxnSpPr>
              <a:stCxn id="263" idx="2"/>
              <a:endCxn id="299" idx="0"/>
            </p:cNvCxnSpPr>
            <p:nvPr/>
          </p:nvCxnSpPr>
          <p:spPr>
            <a:xfrm rot="5400000">
              <a:off x="1711424" y="2165388"/>
              <a:ext cx="126161" cy="82099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꺾인 연결선 268"/>
            <p:cNvCxnSpPr>
              <a:stCxn id="263" idx="2"/>
              <a:endCxn id="300" idx="0"/>
            </p:cNvCxnSpPr>
            <p:nvPr/>
          </p:nvCxnSpPr>
          <p:spPr>
            <a:xfrm rot="5400000">
              <a:off x="1813297" y="2267261"/>
              <a:ext cx="126161" cy="617252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꺾인 연결선 269"/>
            <p:cNvCxnSpPr>
              <a:stCxn id="263" idx="2"/>
              <a:endCxn id="301" idx="0"/>
            </p:cNvCxnSpPr>
            <p:nvPr/>
          </p:nvCxnSpPr>
          <p:spPr>
            <a:xfrm rot="5400000">
              <a:off x="1915171" y="2369135"/>
              <a:ext cx="126161" cy="413504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꺾인 연결선 270"/>
            <p:cNvCxnSpPr>
              <a:stCxn id="263" idx="2"/>
              <a:endCxn id="302" idx="0"/>
            </p:cNvCxnSpPr>
            <p:nvPr/>
          </p:nvCxnSpPr>
          <p:spPr>
            <a:xfrm rot="5400000">
              <a:off x="2017045" y="2471009"/>
              <a:ext cx="126161" cy="209757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꺾인 연결선 271"/>
            <p:cNvCxnSpPr>
              <a:stCxn id="263" idx="2"/>
              <a:endCxn id="303" idx="0"/>
            </p:cNvCxnSpPr>
            <p:nvPr/>
          </p:nvCxnSpPr>
          <p:spPr>
            <a:xfrm rot="5400000">
              <a:off x="2118919" y="2572883"/>
              <a:ext cx="126161" cy="600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꺾인 연결선 272"/>
            <p:cNvCxnSpPr>
              <a:stCxn id="263" idx="2"/>
              <a:endCxn id="304" idx="0"/>
            </p:cNvCxnSpPr>
            <p:nvPr/>
          </p:nvCxnSpPr>
          <p:spPr>
            <a:xfrm rot="16200000" flipH="1">
              <a:off x="2220792" y="2477018"/>
              <a:ext cx="126161" cy="197738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꺾인 연결선 273"/>
            <p:cNvCxnSpPr>
              <a:stCxn id="263" idx="2"/>
              <a:endCxn id="305" idx="0"/>
            </p:cNvCxnSpPr>
            <p:nvPr/>
          </p:nvCxnSpPr>
          <p:spPr>
            <a:xfrm rot="16200000" flipH="1">
              <a:off x="2322666" y="2375144"/>
              <a:ext cx="126161" cy="401486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꺾인 연결선 274"/>
            <p:cNvCxnSpPr>
              <a:stCxn id="263" idx="2"/>
              <a:endCxn id="306" idx="0"/>
            </p:cNvCxnSpPr>
            <p:nvPr/>
          </p:nvCxnSpPr>
          <p:spPr>
            <a:xfrm rot="16200000" flipH="1">
              <a:off x="2424540" y="2273270"/>
              <a:ext cx="126161" cy="605234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꺾인 연결선 275"/>
            <p:cNvCxnSpPr>
              <a:stCxn id="284" idx="0"/>
              <a:endCxn id="298" idx="2"/>
            </p:cNvCxnSpPr>
            <p:nvPr/>
          </p:nvCxnSpPr>
          <p:spPr>
            <a:xfrm rot="16200000" flipV="1">
              <a:off x="1449590" y="2886413"/>
              <a:ext cx="104233" cy="68289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꺾인 연결선 276"/>
            <p:cNvCxnSpPr>
              <a:stCxn id="283" idx="0"/>
              <a:endCxn id="298" idx="2"/>
            </p:cNvCxnSpPr>
            <p:nvPr/>
          </p:nvCxnSpPr>
          <p:spPr>
            <a:xfrm rot="16200000" flipV="1">
              <a:off x="1294678" y="3041325"/>
              <a:ext cx="104233" cy="373076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꺾인 연결선 277"/>
            <p:cNvCxnSpPr>
              <a:stCxn id="282" idx="0"/>
              <a:endCxn id="298" idx="2"/>
            </p:cNvCxnSpPr>
            <p:nvPr/>
          </p:nvCxnSpPr>
          <p:spPr>
            <a:xfrm rot="16200000" flipV="1">
              <a:off x="1139767" y="3196236"/>
              <a:ext cx="104233" cy="63254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꺾인 연결선 278"/>
            <p:cNvCxnSpPr>
              <a:stCxn id="264" idx="0"/>
              <a:endCxn id="282" idx="2"/>
            </p:cNvCxnSpPr>
            <p:nvPr/>
          </p:nvCxnSpPr>
          <p:spPr>
            <a:xfrm rot="16200000" flipV="1">
              <a:off x="1176583" y="3863685"/>
              <a:ext cx="142725" cy="4886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꺾인 연결선 279"/>
            <p:cNvCxnSpPr>
              <a:stCxn id="265" idx="0"/>
              <a:endCxn id="282" idx="2"/>
            </p:cNvCxnSpPr>
            <p:nvPr/>
          </p:nvCxnSpPr>
          <p:spPr>
            <a:xfrm rot="16200000" flipV="1">
              <a:off x="1378252" y="3662016"/>
              <a:ext cx="142725" cy="452208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꺾인 연결선 280"/>
            <p:cNvCxnSpPr>
              <a:stCxn id="266" idx="0"/>
              <a:endCxn id="282" idx="2"/>
            </p:cNvCxnSpPr>
            <p:nvPr/>
          </p:nvCxnSpPr>
          <p:spPr>
            <a:xfrm rot="16200000" flipV="1">
              <a:off x="1579856" y="3460411"/>
              <a:ext cx="142672" cy="855363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Rectangle 43"/>
            <p:cNvSpPr>
              <a:spLocks noChangeArrowheads="1"/>
            </p:cNvSpPr>
            <p:nvPr/>
          </p:nvSpPr>
          <p:spPr bwMode="auto">
            <a:xfrm>
              <a:off x="1142235" y="3279979"/>
              <a:ext cx="162549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solidFill>
                    <a:sysClr val="windowText" lastClr="000000"/>
                  </a:solidFill>
                  <a:latin typeface="+mn-ea"/>
                </a:rPr>
                <a:t>중기사업계획</a:t>
              </a:r>
              <a:endParaRPr lang="en-US" altLang="ko-KR" sz="5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283" name="Rectangle 43"/>
            <p:cNvSpPr>
              <a:spLocks noChangeArrowheads="1"/>
            </p:cNvSpPr>
            <p:nvPr/>
          </p:nvSpPr>
          <p:spPr bwMode="auto">
            <a:xfrm>
              <a:off x="1452057" y="3279979"/>
              <a:ext cx="162549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lnSpcReduction="10000"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800" kern="0" dirty="0">
                  <a:solidFill>
                    <a:sysClr val="windowText" lastClr="000000"/>
                  </a:solidFill>
                  <a:latin typeface="+mn-ea"/>
                </a:rPr>
                <a:t>예산편성</a:t>
              </a:r>
              <a:endParaRPr lang="en-US" altLang="ko-KR" sz="8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284" name="Rectangle 43"/>
            <p:cNvSpPr>
              <a:spLocks noChangeArrowheads="1"/>
            </p:cNvSpPr>
            <p:nvPr/>
          </p:nvSpPr>
          <p:spPr bwMode="auto">
            <a:xfrm>
              <a:off x="1761880" y="3279979"/>
              <a:ext cx="162549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lnSpcReduction="10000"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800" kern="0" dirty="0">
                  <a:solidFill>
                    <a:sysClr val="windowText" lastClr="000000"/>
                  </a:solidFill>
                  <a:latin typeface="+mn-ea"/>
                </a:rPr>
                <a:t>예산집행</a:t>
              </a:r>
              <a:endParaRPr lang="en-US" altLang="ko-KR" sz="8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285" name="Rectangle 43"/>
            <p:cNvSpPr>
              <a:spLocks noChangeArrowheads="1"/>
            </p:cNvSpPr>
            <p:nvPr/>
          </p:nvSpPr>
          <p:spPr bwMode="auto">
            <a:xfrm>
              <a:off x="2071704" y="3279979"/>
              <a:ext cx="162549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lnSpcReduction="10000"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800" kern="0" dirty="0">
                  <a:solidFill>
                    <a:sysClr val="windowText" lastClr="000000"/>
                  </a:solidFill>
                  <a:latin typeface="+mn-ea"/>
                </a:rPr>
                <a:t>예산변경</a:t>
              </a:r>
              <a:endParaRPr lang="en-US" altLang="ko-KR" sz="8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cxnSp>
          <p:nvCxnSpPr>
            <p:cNvPr id="286" name="꺾인 연결선 285"/>
            <p:cNvCxnSpPr>
              <a:stCxn id="263" idx="2"/>
              <a:endCxn id="307" idx="0"/>
            </p:cNvCxnSpPr>
            <p:nvPr/>
          </p:nvCxnSpPr>
          <p:spPr>
            <a:xfrm rot="16200000" flipH="1">
              <a:off x="2526413" y="2171396"/>
              <a:ext cx="126161" cy="808981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8" name="Rectangle 43"/>
            <p:cNvSpPr>
              <a:spLocks noChangeArrowheads="1"/>
            </p:cNvSpPr>
            <p:nvPr/>
          </p:nvSpPr>
          <p:spPr bwMode="auto">
            <a:xfrm>
              <a:off x="1079448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예산관리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99" name="Rectangle 43"/>
            <p:cNvSpPr>
              <a:spLocks noChangeArrowheads="1"/>
            </p:cNvSpPr>
            <p:nvPr/>
          </p:nvSpPr>
          <p:spPr bwMode="auto">
            <a:xfrm>
              <a:off x="1283196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수입관리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00" name="Rectangle 43"/>
            <p:cNvSpPr>
              <a:spLocks noChangeArrowheads="1"/>
            </p:cNvSpPr>
            <p:nvPr/>
          </p:nvSpPr>
          <p:spPr bwMode="auto">
            <a:xfrm>
              <a:off x="1486943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지출관리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01" name="Rectangle 43"/>
            <p:cNvSpPr>
              <a:spLocks noChangeArrowheads="1"/>
            </p:cNvSpPr>
            <p:nvPr/>
          </p:nvSpPr>
          <p:spPr bwMode="auto">
            <a:xfrm>
              <a:off x="1690691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결산관리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02" name="Rectangle 43"/>
            <p:cNvSpPr>
              <a:spLocks noChangeArrowheads="1"/>
            </p:cNvSpPr>
            <p:nvPr/>
          </p:nvSpPr>
          <p:spPr bwMode="auto">
            <a:xfrm>
              <a:off x="1894438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세무관리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03" name="Rectangle 43"/>
            <p:cNvSpPr>
              <a:spLocks noChangeArrowheads="1"/>
            </p:cNvSpPr>
            <p:nvPr/>
          </p:nvSpPr>
          <p:spPr bwMode="auto">
            <a:xfrm>
              <a:off x="2098186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lvl="0"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600" kern="0" spc="-150" dirty="0">
                  <a:latin typeface="+mn-ea"/>
                </a:rPr>
                <a:t>부가금관리</a:t>
              </a:r>
              <a:endParaRPr lang="en-US" altLang="ko-KR" sz="600" kern="0" spc="-150" dirty="0">
                <a:latin typeface="+mn-ea"/>
              </a:endParaRPr>
            </a:p>
          </p:txBody>
        </p:sp>
        <p:sp>
          <p:nvSpPr>
            <p:cNvPr id="304" name="Rectangle 43"/>
            <p:cNvSpPr>
              <a:spLocks noChangeArrowheads="1"/>
            </p:cNvSpPr>
            <p:nvPr/>
          </p:nvSpPr>
          <p:spPr bwMode="auto">
            <a:xfrm>
              <a:off x="2301933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자금관리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05" name="Rectangle 43"/>
            <p:cNvSpPr>
              <a:spLocks noChangeArrowheads="1"/>
            </p:cNvSpPr>
            <p:nvPr/>
          </p:nvSpPr>
          <p:spPr bwMode="auto">
            <a:xfrm>
              <a:off x="2505681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융자관리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06" name="Rectangle 43"/>
            <p:cNvSpPr>
              <a:spLocks noChangeArrowheads="1"/>
            </p:cNvSpPr>
            <p:nvPr/>
          </p:nvSpPr>
          <p:spPr bwMode="auto">
            <a:xfrm>
              <a:off x="2709429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spc="-150" dirty="0">
                  <a:latin typeface="+mn-ea"/>
                </a:rPr>
                <a:t>관리손익</a:t>
              </a:r>
              <a:endParaRPr lang="en-US" altLang="ko-KR" sz="700" kern="0" spc="-150" dirty="0">
                <a:latin typeface="+mn-ea"/>
              </a:endParaRPr>
            </a:p>
          </p:txBody>
        </p:sp>
        <p:sp>
          <p:nvSpPr>
            <p:cNvPr id="307" name="Rectangle 43"/>
            <p:cNvSpPr>
              <a:spLocks noChangeArrowheads="1"/>
            </p:cNvSpPr>
            <p:nvPr/>
          </p:nvSpPr>
          <p:spPr bwMode="auto">
            <a:xfrm>
              <a:off x="2913176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관재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308" name="Rectangle 43"/>
            <p:cNvSpPr>
              <a:spLocks noChangeArrowheads="1"/>
            </p:cNvSpPr>
            <p:nvPr/>
          </p:nvSpPr>
          <p:spPr bwMode="auto">
            <a:xfrm>
              <a:off x="3116925" y="2638968"/>
              <a:ext cx="16161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계약관리</a:t>
              </a:r>
              <a:endParaRPr lang="en-US" altLang="ko-KR" sz="700" kern="0" dirty="0">
                <a:latin typeface="+mn-ea"/>
              </a:endParaRPr>
            </a:p>
          </p:txBody>
        </p:sp>
        <p:cxnSp>
          <p:nvCxnSpPr>
            <p:cNvPr id="288" name="꺾인 연결선 287"/>
            <p:cNvCxnSpPr>
              <a:stCxn id="263" idx="2"/>
              <a:endCxn id="308" idx="0"/>
            </p:cNvCxnSpPr>
            <p:nvPr/>
          </p:nvCxnSpPr>
          <p:spPr>
            <a:xfrm rot="16200000" flipH="1">
              <a:off x="2628288" y="2069522"/>
              <a:ext cx="126161" cy="1012730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Rectangle 43"/>
            <p:cNvSpPr>
              <a:spLocks noChangeArrowheads="1"/>
            </p:cNvSpPr>
            <p:nvPr/>
          </p:nvSpPr>
          <p:spPr bwMode="auto">
            <a:xfrm>
              <a:off x="2378732" y="3279979"/>
              <a:ext cx="162549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400" kern="0" dirty="0">
                  <a:solidFill>
                    <a:sysClr val="windowText" lastClr="000000"/>
                  </a:solidFill>
                  <a:latin typeface="+mn-ea"/>
                </a:rPr>
                <a:t>예산절감</a:t>
              </a:r>
              <a:r>
                <a:rPr lang="en-US" altLang="ko-KR" sz="40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40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en-US" altLang="ko-KR" sz="400" kern="0" dirty="0">
                  <a:solidFill>
                    <a:sysClr val="windowText" lastClr="000000"/>
                  </a:solidFill>
                  <a:latin typeface="+mn-ea"/>
                </a:rPr>
                <a:t>·</a:t>
              </a:r>
              <a:br>
                <a:rPr lang="en-US" altLang="ko-KR" sz="40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400" kern="0" dirty="0">
                  <a:solidFill>
                    <a:sysClr val="windowText" lastClr="000000"/>
                  </a:solidFill>
                  <a:latin typeface="+mn-ea"/>
                </a:rPr>
                <a:t>이월</a:t>
              </a:r>
              <a:endParaRPr lang="en-US" altLang="ko-KR" sz="4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290" name="Rectangle 43"/>
            <p:cNvSpPr>
              <a:spLocks noChangeArrowheads="1"/>
            </p:cNvSpPr>
            <p:nvPr/>
          </p:nvSpPr>
          <p:spPr bwMode="auto">
            <a:xfrm>
              <a:off x="2688554" y="3279979"/>
              <a:ext cx="162549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solidFill>
                    <a:sysClr val="windowText" lastClr="000000"/>
                  </a:solidFill>
                  <a:latin typeface="+mn-ea"/>
                </a:rPr>
                <a:t>예산종합평가</a:t>
              </a:r>
              <a:endParaRPr lang="en-US" altLang="ko-KR" sz="5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cxnSp>
          <p:nvCxnSpPr>
            <p:cNvPr id="291" name="꺾인 연결선 290"/>
            <p:cNvCxnSpPr>
              <a:stCxn id="285" idx="0"/>
              <a:endCxn id="298" idx="2"/>
            </p:cNvCxnSpPr>
            <p:nvPr/>
          </p:nvCxnSpPr>
          <p:spPr>
            <a:xfrm rot="16200000" flipV="1">
              <a:off x="1604502" y="2731501"/>
              <a:ext cx="104233" cy="992723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꺾인 연결선 291"/>
            <p:cNvCxnSpPr>
              <a:stCxn id="289" idx="0"/>
              <a:endCxn id="298" idx="2"/>
            </p:cNvCxnSpPr>
            <p:nvPr/>
          </p:nvCxnSpPr>
          <p:spPr>
            <a:xfrm rot="16200000" flipV="1">
              <a:off x="1758016" y="2577987"/>
              <a:ext cx="104233" cy="1299751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꺾인 연결선 292"/>
            <p:cNvCxnSpPr>
              <a:stCxn id="290" idx="0"/>
              <a:endCxn id="298" idx="2"/>
            </p:cNvCxnSpPr>
            <p:nvPr/>
          </p:nvCxnSpPr>
          <p:spPr>
            <a:xfrm rot="16200000" flipV="1">
              <a:off x="1912927" y="2423076"/>
              <a:ext cx="104233" cy="1609573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4" name="Rectangle 43"/>
            <p:cNvSpPr>
              <a:spLocks noChangeArrowheads="1"/>
            </p:cNvSpPr>
            <p:nvPr/>
          </p:nvSpPr>
          <p:spPr bwMode="auto">
            <a:xfrm>
              <a:off x="2325933" y="3961114"/>
              <a:ext cx="312192" cy="413132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사업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계획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승인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95" name="Rectangle 43"/>
            <p:cNvSpPr>
              <a:spLocks noChangeArrowheads="1"/>
            </p:cNvSpPr>
            <p:nvPr/>
          </p:nvSpPr>
          <p:spPr bwMode="auto">
            <a:xfrm>
              <a:off x="2729272" y="3961062"/>
              <a:ext cx="311824" cy="412075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사업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계획</a:t>
              </a:r>
              <a:r>
                <a:rPr lang="en-US" altLang="ko-KR" sz="700" kern="0" dirty="0">
                  <a:latin typeface="+mn-ea"/>
                </a:rPr>
                <a:t/>
              </a:r>
              <a:br>
                <a:rPr lang="en-US" altLang="ko-KR" sz="700" kern="0" dirty="0">
                  <a:latin typeface="+mn-ea"/>
                </a:rPr>
              </a:br>
              <a:r>
                <a:rPr lang="ko-KR" altLang="en-US" sz="700" kern="0" dirty="0">
                  <a:latin typeface="+mn-ea"/>
                </a:rPr>
                <a:t>등록</a:t>
              </a:r>
              <a:endParaRPr lang="en-US" altLang="ko-KR" sz="700" kern="0" dirty="0">
                <a:latin typeface="+mn-ea"/>
              </a:endParaRPr>
            </a:p>
          </p:txBody>
        </p:sp>
        <p:cxnSp>
          <p:nvCxnSpPr>
            <p:cNvPr id="296" name="꺾인 연결선 295"/>
            <p:cNvCxnSpPr>
              <a:stCxn id="294" idx="0"/>
              <a:endCxn id="282" idx="2"/>
            </p:cNvCxnSpPr>
            <p:nvPr/>
          </p:nvCxnSpPr>
          <p:spPr>
            <a:xfrm rot="16200000" flipV="1">
              <a:off x="1780592" y="3259676"/>
              <a:ext cx="144357" cy="125851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꺾인 연결선 296"/>
            <p:cNvCxnSpPr>
              <a:stCxn id="295" idx="0"/>
              <a:endCxn id="282" idx="2"/>
            </p:cNvCxnSpPr>
            <p:nvPr/>
          </p:nvCxnSpPr>
          <p:spPr>
            <a:xfrm rot="16200000" flipV="1">
              <a:off x="1982195" y="3058073"/>
              <a:ext cx="144305" cy="1661674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그룹 203"/>
            <p:cNvGrpSpPr/>
            <p:nvPr/>
          </p:nvGrpSpPr>
          <p:grpSpPr>
            <a:xfrm>
              <a:off x="3107529" y="4399720"/>
              <a:ext cx="1106808" cy="549263"/>
              <a:chOff x="4643921" y="5510084"/>
              <a:chExt cx="1793770" cy="786627"/>
            </a:xfrm>
          </p:grpSpPr>
          <p:sp>
            <p:nvSpPr>
              <p:cNvPr id="235" name="자유형 234"/>
              <p:cNvSpPr/>
              <p:nvPr/>
            </p:nvSpPr>
            <p:spPr>
              <a:xfrm>
                <a:off x="4643921" y="5510084"/>
                <a:ext cx="1793770" cy="136898"/>
              </a:xfrm>
              <a:custGeom>
                <a:avLst/>
                <a:gdLst>
                  <a:gd name="connsiteX0" fmla="*/ 160866 w 1921933"/>
                  <a:gd name="connsiteY0" fmla="*/ 0 h 177800"/>
                  <a:gd name="connsiteX1" fmla="*/ 0 w 1921933"/>
                  <a:gd name="connsiteY1" fmla="*/ 169333 h 177800"/>
                  <a:gd name="connsiteX2" fmla="*/ 1921933 w 1921933"/>
                  <a:gd name="connsiteY2" fmla="*/ 177800 h 177800"/>
                  <a:gd name="connsiteX3" fmla="*/ 482600 w 1921933"/>
                  <a:gd name="connsiteY3" fmla="*/ 16933 h 177800"/>
                  <a:gd name="connsiteX4" fmla="*/ 160866 w 1921933"/>
                  <a:gd name="connsiteY4" fmla="*/ 0 h 177800"/>
                  <a:gd name="connsiteX0" fmla="*/ 262466 w 1921933"/>
                  <a:gd name="connsiteY0" fmla="*/ 1 h 160867"/>
                  <a:gd name="connsiteX1" fmla="*/ 0 w 1921933"/>
                  <a:gd name="connsiteY1" fmla="*/ 152400 h 160867"/>
                  <a:gd name="connsiteX2" fmla="*/ 1921933 w 1921933"/>
                  <a:gd name="connsiteY2" fmla="*/ 160867 h 160867"/>
                  <a:gd name="connsiteX3" fmla="*/ 482600 w 1921933"/>
                  <a:gd name="connsiteY3" fmla="*/ 0 h 160867"/>
                  <a:gd name="connsiteX4" fmla="*/ 262466 w 1921933"/>
                  <a:gd name="connsiteY4" fmla="*/ 1 h 160867"/>
                  <a:gd name="connsiteX0" fmla="*/ 262466 w 1921933"/>
                  <a:gd name="connsiteY0" fmla="*/ 8468 h 169334"/>
                  <a:gd name="connsiteX1" fmla="*/ 0 w 1921933"/>
                  <a:gd name="connsiteY1" fmla="*/ 160867 h 169334"/>
                  <a:gd name="connsiteX2" fmla="*/ 1921933 w 1921933"/>
                  <a:gd name="connsiteY2" fmla="*/ 169334 h 169334"/>
                  <a:gd name="connsiteX3" fmla="*/ 660400 w 1921933"/>
                  <a:gd name="connsiteY3" fmla="*/ 0 h 169334"/>
                  <a:gd name="connsiteX4" fmla="*/ 262466 w 1921933"/>
                  <a:gd name="connsiteY4" fmla="*/ 8468 h 169334"/>
                  <a:gd name="connsiteX0" fmla="*/ 262466 w 1515533"/>
                  <a:gd name="connsiteY0" fmla="*/ 8468 h 177801"/>
                  <a:gd name="connsiteX1" fmla="*/ 0 w 1515533"/>
                  <a:gd name="connsiteY1" fmla="*/ 160867 h 177801"/>
                  <a:gd name="connsiteX2" fmla="*/ 1515533 w 1515533"/>
                  <a:gd name="connsiteY2" fmla="*/ 177801 h 177801"/>
                  <a:gd name="connsiteX3" fmla="*/ 660400 w 1515533"/>
                  <a:gd name="connsiteY3" fmla="*/ 0 h 177801"/>
                  <a:gd name="connsiteX4" fmla="*/ 262466 w 1515533"/>
                  <a:gd name="connsiteY4" fmla="*/ 8468 h 177801"/>
                  <a:gd name="connsiteX0" fmla="*/ 393095 w 1515533"/>
                  <a:gd name="connsiteY0" fmla="*/ 8468 h 177801"/>
                  <a:gd name="connsiteX1" fmla="*/ 0 w 1515533"/>
                  <a:gd name="connsiteY1" fmla="*/ 160867 h 177801"/>
                  <a:gd name="connsiteX2" fmla="*/ 1515533 w 1515533"/>
                  <a:gd name="connsiteY2" fmla="*/ 177801 h 177801"/>
                  <a:gd name="connsiteX3" fmla="*/ 660400 w 1515533"/>
                  <a:gd name="connsiteY3" fmla="*/ 0 h 177801"/>
                  <a:gd name="connsiteX4" fmla="*/ 393095 w 1515533"/>
                  <a:gd name="connsiteY4" fmla="*/ 8468 h 177801"/>
                  <a:gd name="connsiteX0" fmla="*/ 153609 w 1276047"/>
                  <a:gd name="connsiteY0" fmla="*/ 8468 h 182639"/>
                  <a:gd name="connsiteX1" fmla="*/ 0 w 1276047"/>
                  <a:gd name="connsiteY1" fmla="*/ 182639 h 182639"/>
                  <a:gd name="connsiteX2" fmla="*/ 1276047 w 1276047"/>
                  <a:gd name="connsiteY2" fmla="*/ 177801 h 182639"/>
                  <a:gd name="connsiteX3" fmla="*/ 420914 w 1276047"/>
                  <a:gd name="connsiteY3" fmla="*/ 0 h 182639"/>
                  <a:gd name="connsiteX4" fmla="*/ 153609 w 1276047"/>
                  <a:gd name="connsiteY4" fmla="*/ 8468 h 182639"/>
                  <a:gd name="connsiteX0" fmla="*/ 0 w 1122438"/>
                  <a:gd name="connsiteY0" fmla="*/ 8468 h 193524"/>
                  <a:gd name="connsiteX1" fmla="*/ 151191 w 1122438"/>
                  <a:gd name="connsiteY1" fmla="*/ 193524 h 193524"/>
                  <a:gd name="connsiteX2" fmla="*/ 1122438 w 1122438"/>
                  <a:gd name="connsiteY2" fmla="*/ 177801 h 193524"/>
                  <a:gd name="connsiteX3" fmla="*/ 267305 w 1122438"/>
                  <a:gd name="connsiteY3" fmla="*/ 0 h 193524"/>
                  <a:gd name="connsiteX4" fmla="*/ 0 w 1122438"/>
                  <a:gd name="connsiteY4" fmla="*/ 8468 h 193524"/>
                  <a:gd name="connsiteX0" fmla="*/ 0 w 1122438"/>
                  <a:gd name="connsiteY0" fmla="*/ 0 h 185056"/>
                  <a:gd name="connsiteX1" fmla="*/ 151191 w 1122438"/>
                  <a:gd name="connsiteY1" fmla="*/ 185056 h 185056"/>
                  <a:gd name="connsiteX2" fmla="*/ 1122438 w 1122438"/>
                  <a:gd name="connsiteY2" fmla="*/ 169333 h 185056"/>
                  <a:gd name="connsiteX3" fmla="*/ 463248 w 1122438"/>
                  <a:gd name="connsiteY3" fmla="*/ 13303 h 185056"/>
                  <a:gd name="connsiteX4" fmla="*/ 0 w 1122438"/>
                  <a:gd name="connsiteY4" fmla="*/ 0 h 185056"/>
                  <a:gd name="connsiteX0" fmla="*/ 12095 w 971247"/>
                  <a:gd name="connsiteY0" fmla="*/ 0 h 174170"/>
                  <a:gd name="connsiteX1" fmla="*/ 0 w 971247"/>
                  <a:gd name="connsiteY1" fmla="*/ 174170 h 174170"/>
                  <a:gd name="connsiteX2" fmla="*/ 971247 w 971247"/>
                  <a:gd name="connsiteY2" fmla="*/ 158447 h 174170"/>
                  <a:gd name="connsiteX3" fmla="*/ 312057 w 971247"/>
                  <a:gd name="connsiteY3" fmla="*/ 2417 h 174170"/>
                  <a:gd name="connsiteX4" fmla="*/ 12095 w 971247"/>
                  <a:gd name="connsiteY4" fmla="*/ 0 h 174170"/>
                  <a:gd name="connsiteX0" fmla="*/ 12095 w 971247"/>
                  <a:gd name="connsiteY0" fmla="*/ 0 h 174170"/>
                  <a:gd name="connsiteX1" fmla="*/ 0 w 971247"/>
                  <a:gd name="connsiteY1" fmla="*/ 174170 h 174170"/>
                  <a:gd name="connsiteX2" fmla="*/ 971247 w 971247"/>
                  <a:gd name="connsiteY2" fmla="*/ 158447 h 174170"/>
                  <a:gd name="connsiteX3" fmla="*/ 693057 w 971247"/>
                  <a:gd name="connsiteY3" fmla="*/ 2417 h 174170"/>
                  <a:gd name="connsiteX4" fmla="*/ 12095 w 971247"/>
                  <a:gd name="connsiteY4" fmla="*/ 0 h 174170"/>
                  <a:gd name="connsiteX0" fmla="*/ 403980 w 971247"/>
                  <a:gd name="connsiteY0" fmla="*/ 0 h 185056"/>
                  <a:gd name="connsiteX1" fmla="*/ 0 w 971247"/>
                  <a:gd name="connsiteY1" fmla="*/ 185056 h 185056"/>
                  <a:gd name="connsiteX2" fmla="*/ 971247 w 971247"/>
                  <a:gd name="connsiteY2" fmla="*/ 169333 h 185056"/>
                  <a:gd name="connsiteX3" fmla="*/ 693057 w 971247"/>
                  <a:gd name="connsiteY3" fmla="*/ 13303 h 185056"/>
                  <a:gd name="connsiteX4" fmla="*/ 403980 w 971247"/>
                  <a:gd name="connsiteY4" fmla="*/ 0 h 18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247" h="185056">
                    <a:moveTo>
                      <a:pt x="403980" y="0"/>
                    </a:moveTo>
                    <a:lnTo>
                      <a:pt x="0" y="185056"/>
                    </a:lnTo>
                    <a:lnTo>
                      <a:pt x="971247" y="169333"/>
                    </a:lnTo>
                    <a:lnTo>
                      <a:pt x="693057" y="13303"/>
                    </a:lnTo>
                    <a:lnTo>
                      <a:pt x="403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3"/>
                  </a:gs>
                </a:gsLst>
                <a:lin ang="5400000" scaled="0"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6" name="직사각형 235"/>
              <p:cNvSpPr/>
              <p:nvPr/>
            </p:nvSpPr>
            <p:spPr>
              <a:xfrm>
                <a:off x="4647834" y="5673621"/>
                <a:ext cx="1761754" cy="62309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>
                  <a:latin typeface="+mn-ea"/>
                </a:endParaRPr>
              </a:p>
            </p:txBody>
          </p:sp>
          <p:grpSp>
            <p:nvGrpSpPr>
              <p:cNvPr id="18" name="그룹 314"/>
              <p:cNvGrpSpPr/>
              <p:nvPr/>
            </p:nvGrpSpPr>
            <p:grpSpPr>
              <a:xfrm>
                <a:off x="4798590" y="5748888"/>
                <a:ext cx="1471769" cy="508030"/>
                <a:chOff x="9910561" y="3465668"/>
                <a:chExt cx="1519666" cy="1289532"/>
              </a:xfrm>
            </p:grpSpPr>
            <p:sp>
              <p:nvSpPr>
                <p:cNvPr id="238" name="Rectangle 78"/>
                <p:cNvSpPr>
                  <a:spLocks noChangeArrowheads="1"/>
                </p:cNvSpPr>
                <p:nvPr/>
              </p:nvSpPr>
              <p:spPr bwMode="auto">
                <a:xfrm>
                  <a:off x="11261595" y="3465668"/>
                  <a:ext cx="168632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39" name="AutoShape 79"/>
                <p:cNvSpPr>
                  <a:spLocks noChangeArrowheads="1"/>
                </p:cNvSpPr>
                <p:nvPr/>
              </p:nvSpPr>
              <p:spPr bwMode="auto">
                <a:xfrm flipH="1">
                  <a:off x="10995081" y="3465668"/>
                  <a:ext cx="168631" cy="235875"/>
                </a:xfrm>
                <a:prstGeom prst="diamond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0" name="Rectangle 80"/>
                <p:cNvSpPr>
                  <a:spLocks noChangeArrowheads="1"/>
                </p:cNvSpPr>
                <p:nvPr/>
              </p:nvSpPr>
              <p:spPr bwMode="auto">
                <a:xfrm>
                  <a:off x="10716170" y="3465668"/>
                  <a:ext cx="168631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1" name="Rectangle 83"/>
                <p:cNvSpPr>
                  <a:spLocks noChangeArrowheads="1"/>
                </p:cNvSpPr>
                <p:nvPr/>
              </p:nvSpPr>
              <p:spPr bwMode="auto">
                <a:xfrm>
                  <a:off x="10999723" y="3819253"/>
                  <a:ext cx="168631" cy="231877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2" name="Rectangle 85"/>
                <p:cNvSpPr>
                  <a:spLocks noChangeArrowheads="1"/>
                </p:cNvSpPr>
                <p:nvPr/>
              </p:nvSpPr>
              <p:spPr bwMode="auto">
                <a:xfrm>
                  <a:off x="11003470" y="4174771"/>
                  <a:ext cx="168631" cy="235875"/>
                </a:xfrm>
                <a:prstGeom prst="rect">
                  <a:avLst/>
                </a:prstGeom>
                <a:solidFill>
                  <a:srgbClr val="FFFF00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3" name="Rectangle 86"/>
                <p:cNvSpPr>
                  <a:spLocks noChangeArrowheads="1"/>
                </p:cNvSpPr>
                <p:nvPr/>
              </p:nvSpPr>
              <p:spPr bwMode="auto">
                <a:xfrm>
                  <a:off x="11007120" y="4523323"/>
                  <a:ext cx="168631" cy="231877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4" name="AutoShape 89"/>
                <p:cNvSpPr>
                  <a:spLocks noChangeArrowheads="1"/>
                </p:cNvSpPr>
                <p:nvPr/>
              </p:nvSpPr>
              <p:spPr bwMode="auto">
                <a:xfrm flipH="1">
                  <a:off x="10441206" y="3465668"/>
                  <a:ext cx="165536" cy="235875"/>
                </a:xfrm>
                <a:prstGeom prst="diamond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5" name="Rectangle 90"/>
                <p:cNvSpPr>
                  <a:spLocks noChangeArrowheads="1"/>
                </p:cNvSpPr>
                <p:nvPr/>
              </p:nvSpPr>
              <p:spPr bwMode="auto">
                <a:xfrm>
                  <a:off x="10195222" y="3465668"/>
                  <a:ext cx="168631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6" name="Rectangle 91"/>
                <p:cNvSpPr>
                  <a:spLocks noChangeArrowheads="1"/>
                </p:cNvSpPr>
                <p:nvPr/>
              </p:nvSpPr>
              <p:spPr bwMode="auto">
                <a:xfrm>
                  <a:off x="9910561" y="3465668"/>
                  <a:ext cx="168631" cy="235875"/>
                </a:xfrm>
                <a:prstGeom prst="rect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7" name="Rectangle 92"/>
                <p:cNvSpPr>
                  <a:spLocks noChangeArrowheads="1"/>
                </p:cNvSpPr>
                <p:nvPr/>
              </p:nvSpPr>
              <p:spPr bwMode="auto">
                <a:xfrm>
                  <a:off x="10437218" y="3812245"/>
                  <a:ext cx="170178" cy="239873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8" name="Rectangle 93"/>
                <p:cNvSpPr>
                  <a:spLocks noChangeArrowheads="1"/>
                </p:cNvSpPr>
                <p:nvPr/>
              </p:nvSpPr>
              <p:spPr bwMode="auto">
                <a:xfrm>
                  <a:off x="10434778" y="4179341"/>
                  <a:ext cx="171725" cy="235875"/>
                </a:xfrm>
                <a:prstGeom prst="rect">
                  <a:avLst/>
                </a:prstGeom>
                <a:solidFill>
                  <a:srgbClr val="FFFF00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sp>
              <p:nvSpPr>
                <p:cNvPr id="249" name="Rectangle 94"/>
                <p:cNvSpPr>
                  <a:spLocks noChangeArrowheads="1"/>
                </p:cNvSpPr>
                <p:nvPr/>
              </p:nvSpPr>
              <p:spPr bwMode="auto">
                <a:xfrm>
                  <a:off x="10117868" y="4179341"/>
                  <a:ext cx="170178" cy="235875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</a:endParaRPr>
                </a:p>
              </p:txBody>
            </p:sp>
            <p:cxnSp>
              <p:nvCxnSpPr>
                <p:cNvPr id="250" name="직선 연결선 249"/>
                <p:cNvCxnSpPr>
                  <a:stCxn id="244" idx="2"/>
                  <a:endCxn id="247" idx="0"/>
                </p:cNvCxnSpPr>
                <p:nvPr/>
              </p:nvCxnSpPr>
              <p:spPr>
                <a:xfrm flipH="1">
                  <a:off x="10522307" y="3696008"/>
                  <a:ext cx="1667" cy="121772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직선 화살표 연결선 250"/>
                <p:cNvCxnSpPr>
                  <a:stCxn id="247" idx="2"/>
                  <a:endCxn id="248" idx="0"/>
                </p:cNvCxnSpPr>
                <p:nvPr/>
              </p:nvCxnSpPr>
              <p:spPr>
                <a:xfrm flipH="1">
                  <a:off x="10520641" y="4045757"/>
                  <a:ext cx="1666" cy="139945"/>
                </a:xfrm>
                <a:prstGeom prst="straightConnector1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2" name="직선 연결선 251"/>
                <p:cNvCxnSpPr>
                  <a:stCxn id="249" idx="3"/>
                  <a:endCxn id="248" idx="1"/>
                </p:cNvCxnSpPr>
                <p:nvPr/>
              </p:nvCxnSpPr>
              <p:spPr>
                <a:xfrm>
                  <a:off x="10288046" y="4297279"/>
                  <a:ext cx="146732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직선 연결선 252"/>
                <p:cNvCxnSpPr>
                  <a:stCxn id="242" idx="2"/>
                  <a:endCxn id="243" idx="0"/>
                </p:cNvCxnSpPr>
                <p:nvPr/>
              </p:nvCxnSpPr>
              <p:spPr>
                <a:xfrm>
                  <a:off x="11087786" y="4405012"/>
                  <a:ext cx="3650" cy="123945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직선 연결선 253"/>
                <p:cNvCxnSpPr>
                  <a:stCxn id="241" idx="2"/>
                  <a:endCxn id="242" idx="0"/>
                </p:cNvCxnSpPr>
                <p:nvPr/>
              </p:nvCxnSpPr>
              <p:spPr>
                <a:xfrm>
                  <a:off x="11084039" y="4044948"/>
                  <a:ext cx="3747" cy="136005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직선 연결선 254"/>
                <p:cNvCxnSpPr>
                  <a:stCxn id="239" idx="2"/>
                  <a:endCxn id="241" idx="0"/>
                </p:cNvCxnSpPr>
                <p:nvPr/>
              </p:nvCxnSpPr>
              <p:spPr>
                <a:xfrm>
                  <a:off x="11079396" y="3695658"/>
                  <a:ext cx="4643" cy="129481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직선 연결선 255"/>
                <p:cNvCxnSpPr>
                  <a:stCxn id="246" idx="3"/>
                  <a:endCxn id="245" idx="1"/>
                </p:cNvCxnSpPr>
                <p:nvPr/>
              </p:nvCxnSpPr>
              <p:spPr>
                <a:xfrm>
                  <a:off x="10079192" y="3583606"/>
                  <a:ext cx="116030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직선 연결선 256"/>
                <p:cNvCxnSpPr>
                  <a:stCxn id="245" idx="3"/>
                  <a:endCxn id="244" idx="3"/>
                </p:cNvCxnSpPr>
                <p:nvPr/>
              </p:nvCxnSpPr>
              <p:spPr>
                <a:xfrm>
                  <a:off x="10363853" y="3583606"/>
                  <a:ext cx="77353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직선 연결선 257"/>
                <p:cNvCxnSpPr>
                  <a:stCxn id="244" idx="1"/>
                  <a:endCxn id="240" idx="1"/>
                </p:cNvCxnSpPr>
                <p:nvPr/>
              </p:nvCxnSpPr>
              <p:spPr>
                <a:xfrm>
                  <a:off x="10606742" y="3583606"/>
                  <a:ext cx="109428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직선 연결선 258"/>
                <p:cNvCxnSpPr>
                  <a:stCxn id="240" idx="3"/>
                  <a:endCxn id="239" idx="3"/>
                </p:cNvCxnSpPr>
                <p:nvPr/>
              </p:nvCxnSpPr>
              <p:spPr>
                <a:xfrm>
                  <a:off x="10884801" y="3583606"/>
                  <a:ext cx="110280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" name="직선 연결선 259"/>
                <p:cNvCxnSpPr>
                  <a:stCxn id="239" idx="1"/>
                  <a:endCxn id="238" idx="1"/>
                </p:cNvCxnSpPr>
                <p:nvPr/>
              </p:nvCxnSpPr>
              <p:spPr>
                <a:xfrm>
                  <a:off x="11163712" y="3583606"/>
                  <a:ext cx="97883" cy="0"/>
                </a:xfrm>
                <a:prstGeom prst="line">
                  <a:avLst/>
                </a:prstGeom>
                <a:ln w="3175">
                  <a:solidFill>
                    <a:schemeClr val="bg1">
                      <a:lumMod val="50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6" name="Rectangle 43"/>
            <p:cNvSpPr>
              <a:spLocks noChangeArrowheads="1"/>
            </p:cNvSpPr>
            <p:nvPr/>
          </p:nvSpPr>
          <p:spPr bwMode="auto">
            <a:xfrm>
              <a:off x="3343468" y="2326348"/>
              <a:ext cx="1232825" cy="186459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60000"/>
                <a:lumOff val="40000"/>
              </a:schemeClr>
            </a:solidFill>
            <a:ln w="12700" algn="ctr">
              <a:noFill/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85725" indent="-85725"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900" b="1" kern="0" dirty="0">
                  <a:solidFill>
                    <a:schemeClr val="bg1"/>
                  </a:solidFill>
                  <a:latin typeface="+mn-ea"/>
                </a:rPr>
                <a:t>인적자원관리</a:t>
              </a:r>
              <a:endParaRPr lang="en-US" altLang="ko-KR" sz="900" b="1" kern="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7" name="Rectangle 43"/>
            <p:cNvSpPr>
              <a:spLocks noChangeArrowheads="1"/>
            </p:cNvSpPr>
            <p:nvPr/>
          </p:nvSpPr>
          <p:spPr bwMode="auto">
            <a:xfrm>
              <a:off x="3342475" y="2638968"/>
              <a:ext cx="16253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인사관리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08" name="Rectangle 43"/>
            <p:cNvSpPr>
              <a:spLocks noChangeArrowheads="1"/>
            </p:cNvSpPr>
            <p:nvPr/>
          </p:nvSpPr>
          <p:spPr bwMode="auto">
            <a:xfrm>
              <a:off x="3564060" y="2638968"/>
              <a:ext cx="16253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700" kern="0" dirty="0">
                  <a:latin typeface="+mn-ea"/>
                </a:rPr>
                <a:t>CDP</a:t>
              </a:r>
            </a:p>
          </p:txBody>
        </p:sp>
        <p:sp>
          <p:nvSpPr>
            <p:cNvPr id="209" name="Rectangle 43"/>
            <p:cNvSpPr>
              <a:spLocks noChangeArrowheads="1"/>
            </p:cNvSpPr>
            <p:nvPr/>
          </p:nvSpPr>
          <p:spPr bwMode="auto">
            <a:xfrm>
              <a:off x="3785645" y="2638968"/>
              <a:ext cx="16253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평가관리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10" name="Rectangle 43"/>
            <p:cNvSpPr>
              <a:spLocks noChangeArrowheads="1"/>
            </p:cNvSpPr>
            <p:nvPr/>
          </p:nvSpPr>
          <p:spPr bwMode="auto">
            <a:xfrm>
              <a:off x="4007228" y="2638968"/>
              <a:ext cx="16253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교육관리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11" name="Rectangle 43"/>
            <p:cNvSpPr>
              <a:spLocks noChangeArrowheads="1"/>
            </p:cNvSpPr>
            <p:nvPr/>
          </p:nvSpPr>
          <p:spPr bwMode="auto">
            <a:xfrm>
              <a:off x="4228813" y="2638968"/>
              <a:ext cx="16253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보상관리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12" name="Rectangle 43"/>
            <p:cNvSpPr>
              <a:spLocks noChangeArrowheads="1"/>
            </p:cNvSpPr>
            <p:nvPr/>
          </p:nvSpPr>
          <p:spPr bwMode="auto">
            <a:xfrm>
              <a:off x="4450400" y="2638968"/>
              <a:ext cx="162536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복리후생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13" name="Rectangle 43"/>
            <p:cNvSpPr>
              <a:spLocks noChangeArrowheads="1"/>
            </p:cNvSpPr>
            <p:nvPr/>
          </p:nvSpPr>
          <p:spPr bwMode="auto">
            <a:xfrm>
              <a:off x="3381458" y="3279979"/>
              <a:ext cx="16347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fontScale="92500" lnSpcReduction="10000"/>
            </a:bodyPr>
            <a:lstStyle/>
            <a:p>
              <a:pPr algn="ctr" eaLnBrk="0" fontAlgn="base" latinLnBrk="0" hangingPunct="0">
                <a:lnSpc>
                  <a:spcPct val="90000"/>
                </a:lnSpc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600" kern="0" dirty="0">
                  <a:solidFill>
                    <a:sysClr val="windowText" lastClr="000000"/>
                  </a:solidFill>
                  <a:latin typeface="+mn-ea"/>
                </a:rPr>
                <a:t>조직정원관리</a:t>
              </a:r>
              <a:endParaRPr lang="en-US" altLang="ko-KR" sz="6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214" name="Rectangle 43"/>
            <p:cNvSpPr>
              <a:spLocks noChangeArrowheads="1"/>
            </p:cNvSpPr>
            <p:nvPr/>
          </p:nvSpPr>
          <p:spPr bwMode="auto">
            <a:xfrm>
              <a:off x="3613161" y="3279979"/>
              <a:ext cx="16347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lnSpcReduction="10000"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800" kern="0" dirty="0">
                  <a:latin typeface="+mn-ea"/>
                </a:rPr>
                <a:t>채용관리</a:t>
              </a:r>
              <a:endParaRPr lang="en-US" altLang="ko-KR" sz="800" kern="0" dirty="0">
                <a:latin typeface="+mn-ea"/>
              </a:endParaRPr>
            </a:p>
          </p:txBody>
        </p:sp>
        <p:sp>
          <p:nvSpPr>
            <p:cNvPr id="215" name="Rectangle 43"/>
            <p:cNvSpPr>
              <a:spLocks noChangeArrowheads="1"/>
            </p:cNvSpPr>
            <p:nvPr/>
          </p:nvSpPr>
          <p:spPr bwMode="auto">
            <a:xfrm>
              <a:off x="3844864" y="3279979"/>
              <a:ext cx="16347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solidFill>
                    <a:sysClr val="windowText" lastClr="000000"/>
                  </a:solidFill>
                  <a:latin typeface="+mn-ea"/>
                </a:rPr>
                <a:t>인적정보관리</a:t>
              </a:r>
              <a:endParaRPr lang="en-US" altLang="ko-KR" sz="5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216" name="Rectangle 43"/>
            <p:cNvSpPr>
              <a:spLocks noChangeArrowheads="1"/>
            </p:cNvSpPr>
            <p:nvPr/>
          </p:nvSpPr>
          <p:spPr bwMode="auto">
            <a:xfrm>
              <a:off x="4076567" y="3279979"/>
              <a:ext cx="16347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solidFill>
                    <a:sysClr val="windowText" lastClr="000000"/>
                  </a:solidFill>
                  <a:latin typeface="+mn-ea"/>
                </a:rPr>
                <a:t>직위공모관리</a:t>
              </a:r>
              <a:endParaRPr lang="en-US" altLang="ko-KR" sz="5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217" name="Rectangle 43"/>
            <p:cNvSpPr>
              <a:spLocks noChangeArrowheads="1"/>
            </p:cNvSpPr>
            <p:nvPr/>
          </p:nvSpPr>
          <p:spPr bwMode="auto">
            <a:xfrm>
              <a:off x="3249356" y="3959482"/>
              <a:ext cx="313599" cy="413132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조직</a:t>
              </a:r>
              <a:endParaRPr lang="en-US" altLang="ko-KR" sz="700" kern="0" dirty="0">
                <a:latin typeface="+mn-ea"/>
              </a:endParaRP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정보</a:t>
              </a:r>
              <a:endParaRPr lang="en-US" altLang="ko-KR" sz="700" kern="0" dirty="0">
                <a:latin typeface="+mn-ea"/>
              </a:endParaRP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등록</a:t>
              </a:r>
              <a:endParaRPr lang="en-US" altLang="ko-KR" sz="700" kern="0" dirty="0">
                <a:latin typeface="+mn-ea"/>
              </a:endParaRPr>
            </a:p>
          </p:txBody>
        </p:sp>
        <p:sp>
          <p:nvSpPr>
            <p:cNvPr id="218" name="Rectangle 43"/>
            <p:cNvSpPr>
              <a:spLocks noChangeArrowheads="1"/>
            </p:cNvSpPr>
            <p:nvPr/>
          </p:nvSpPr>
          <p:spPr bwMode="auto">
            <a:xfrm>
              <a:off x="4095404" y="3959430"/>
              <a:ext cx="313599" cy="412075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800" kern="0" dirty="0">
                  <a:latin typeface="+mn-ea"/>
                </a:rPr>
                <a:t>…</a:t>
              </a:r>
            </a:p>
          </p:txBody>
        </p:sp>
        <p:sp>
          <p:nvSpPr>
            <p:cNvPr id="219" name="Rectangle 43"/>
            <p:cNvSpPr>
              <a:spLocks noChangeArrowheads="1"/>
            </p:cNvSpPr>
            <p:nvPr/>
          </p:nvSpPr>
          <p:spPr bwMode="auto">
            <a:xfrm>
              <a:off x="3672380" y="3959482"/>
              <a:ext cx="313599" cy="413132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전결</a:t>
              </a:r>
              <a:endParaRPr lang="en-US" altLang="ko-KR" sz="700" kern="0" dirty="0">
                <a:latin typeface="+mn-ea"/>
              </a:endParaRP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규정</a:t>
              </a:r>
              <a:endParaRPr lang="en-US" altLang="ko-KR" sz="700" kern="0" dirty="0">
                <a:latin typeface="+mn-ea"/>
              </a:endParaRPr>
            </a:p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latin typeface="+mn-ea"/>
                </a:rPr>
                <a:t>반영</a:t>
              </a:r>
              <a:endParaRPr lang="en-US" altLang="ko-KR" sz="700" kern="0" dirty="0">
                <a:latin typeface="+mn-ea"/>
              </a:endParaRPr>
            </a:p>
          </p:txBody>
        </p:sp>
        <p:cxnSp>
          <p:nvCxnSpPr>
            <p:cNvPr id="220" name="꺾인 연결선 219"/>
            <p:cNvCxnSpPr>
              <a:stCxn id="206" idx="2"/>
              <a:endCxn id="207" idx="0"/>
            </p:cNvCxnSpPr>
            <p:nvPr/>
          </p:nvCxnSpPr>
          <p:spPr>
            <a:xfrm rot="5400000">
              <a:off x="3628732" y="2307818"/>
              <a:ext cx="126161" cy="536138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꺾인 연결선 220"/>
            <p:cNvCxnSpPr>
              <a:stCxn id="206" idx="2"/>
              <a:endCxn id="208" idx="0"/>
            </p:cNvCxnSpPr>
            <p:nvPr/>
          </p:nvCxnSpPr>
          <p:spPr>
            <a:xfrm rot="5400000">
              <a:off x="3739525" y="2418611"/>
              <a:ext cx="126161" cy="314553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꺾인 연결선 221"/>
            <p:cNvCxnSpPr>
              <a:stCxn id="206" idx="2"/>
              <a:endCxn id="209" idx="0"/>
            </p:cNvCxnSpPr>
            <p:nvPr/>
          </p:nvCxnSpPr>
          <p:spPr>
            <a:xfrm rot="5400000">
              <a:off x="3850317" y="2529403"/>
              <a:ext cx="126161" cy="92968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꺾인 연결선 222"/>
            <p:cNvCxnSpPr>
              <a:stCxn id="206" idx="2"/>
              <a:endCxn id="210" idx="0"/>
            </p:cNvCxnSpPr>
            <p:nvPr/>
          </p:nvCxnSpPr>
          <p:spPr>
            <a:xfrm rot="16200000" flipH="1">
              <a:off x="3961108" y="2511579"/>
              <a:ext cx="126161" cy="128615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꺾인 연결선 223"/>
            <p:cNvCxnSpPr>
              <a:stCxn id="206" idx="2"/>
              <a:endCxn id="211" idx="0"/>
            </p:cNvCxnSpPr>
            <p:nvPr/>
          </p:nvCxnSpPr>
          <p:spPr>
            <a:xfrm rot="16200000" flipH="1">
              <a:off x="4071901" y="2400787"/>
              <a:ext cx="126161" cy="350200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꺾인 연결선 224"/>
            <p:cNvCxnSpPr>
              <a:stCxn id="206" idx="2"/>
              <a:endCxn id="212" idx="0"/>
            </p:cNvCxnSpPr>
            <p:nvPr/>
          </p:nvCxnSpPr>
          <p:spPr>
            <a:xfrm rot="16200000" flipH="1">
              <a:off x="4182694" y="2289993"/>
              <a:ext cx="126161" cy="571787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꺾인 연결선 225"/>
            <p:cNvCxnSpPr>
              <a:stCxn id="213" idx="0"/>
              <a:endCxn id="207" idx="2"/>
            </p:cNvCxnSpPr>
            <p:nvPr/>
          </p:nvCxnSpPr>
          <p:spPr>
            <a:xfrm rot="16200000" flipV="1">
              <a:off x="3391354" y="3208136"/>
              <a:ext cx="104233" cy="39453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꺾인 연결선 226"/>
            <p:cNvCxnSpPr>
              <a:stCxn id="207" idx="2"/>
              <a:endCxn id="214" idx="0"/>
            </p:cNvCxnSpPr>
            <p:nvPr/>
          </p:nvCxnSpPr>
          <p:spPr>
            <a:xfrm rot="16200000" flipH="1">
              <a:off x="3507205" y="3092284"/>
              <a:ext cx="104233" cy="271156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꺾인 연결선 227"/>
            <p:cNvCxnSpPr>
              <a:stCxn id="207" idx="2"/>
              <a:endCxn id="215" idx="0"/>
            </p:cNvCxnSpPr>
            <p:nvPr/>
          </p:nvCxnSpPr>
          <p:spPr>
            <a:xfrm rot="16200000" flipH="1">
              <a:off x="3623056" y="2976432"/>
              <a:ext cx="104233" cy="502859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꺾인 연결선 228"/>
            <p:cNvCxnSpPr>
              <a:stCxn id="207" idx="2"/>
              <a:endCxn id="216" idx="0"/>
            </p:cNvCxnSpPr>
            <p:nvPr/>
          </p:nvCxnSpPr>
          <p:spPr>
            <a:xfrm rot="16200000" flipH="1">
              <a:off x="3738908" y="2860581"/>
              <a:ext cx="104233" cy="734562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꺾인 연결선 229"/>
            <p:cNvCxnSpPr>
              <a:stCxn id="213" idx="2"/>
              <a:endCxn id="217" idx="0"/>
            </p:cNvCxnSpPr>
            <p:nvPr/>
          </p:nvCxnSpPr>
          <p:spPr>
            <a:xfrm rot="5400000">
              <a:off x="3363314" y="3859599"/>
              <a:ext cx="142725" cy="57040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꺾인 연결선 230"/>
            <p:cNvCxnSpPr>
              <a:stCxn id="213" idx="2"/>
              <a:endCxn id="219" idx="0"/>
            </p:cNvCxnSpPr>
            <p:nvPr/>
          </p:nvCxnSpPr>
          <p:spPr>
            <a:xfrm rot="16200000" flipH="1">
              <a:off x="3574826" y="3705127"/>
              <a:ext cx="142725" cy="365984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꺾인 연결선 231"/>
            <p:cNvCxnSpPr>
              <a:stCxn id="213" idx="2"/>
              <a:endCxn id="218" idx="0"/>
            </p:cNvCxnSpPr>
            <p:nvPr/>
          </p:nvCxnSpPr>
          <p:spPr>
            <a:xfrm rot="16200000" flipH="1">
              <a:off x="3786364" y="3493589"/>
              <a:ext cx="142673" cy="789008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Rectangle 43"/>
            <p:cNvSpPr>
              <a:spLocks noChangeArrowheads="1"/>
            </p:cNvSpPr>
            <p:nvPr/>
          </p:nvSpPr>
          <p:spPr bwMode="auto">
            <a:xfrm>
              <a:off x="4308270" y="3279979"/>
              <a:ext cx="16347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vert="eaVert" wrap="squar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800" kern="0" dirty="0">
                  <a:solidFill>
                    <a:sysClr val="windowText" lastClr="000000"/>
                  </a:solidFill>
                  <a:latin typeface="+mn-ea"/>
                </a:rPr>
                <a:t>……</a:t>
              </a:r>
            </a:p>
          </p:txBody>
        </p:sp>
        <p:cxnSp>
          <p:nvCxnSpPr>
            <p:cNvPr id="234" name="꺾인 연결선 233"/>
            <p:cNvCxnSpPr>
              <a:stCxn id="207" idx="2"/>
              <a:endCxn id="233" idx="0"/>
            </p:cNvCxnSpPr>
            <p:nvPr/>
          </p:nvCxnSpPr>
          <p:spPr>
            <a:xfrm rot="16200000" flipH="1">
              <a:off x="3854759" y="2744729"/>
              <a:ext cx="104233" cy="966265"/>
            </a:xfrm>
            <a:prstGeom prst="bentConnector3">
              <a:avLst>
                <a:gd name="adj1" fmla="val 50000"/>
              </a:avLst>
            </a:prstGeom>
            <a:ln w="3175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1" name="Rectangle 43"/>
            <p:cNvSpPr>
              <a:spLocks noChangeArrowheads="1"/>
            </p:cNvSpPr>
            <p:nvPr/>
          </p:nvSpPr>
          <p:spPr bwMode="auto">
            <a:xfrm>
              <a:off x="4800763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lnSpcReduction="10000"/>
            </a:bodyPr>
            <a:lstStyle/>
            <a:p>
              <a:pPr algn="ctr" eaLnBrk="0" fontAlgn="base" latinLnBrk="0" hangingPunct="0">
                <a:lnSpc>
                  <a:spcPct val="80000"/>
                </a:lnSpc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700" kern="0" dirty="0">
                  <a:solidFill>
                    <a:sysClr val="windowText" lastClr="000000"/>
                  </a:solidFill>
                  <a:latin typeface="+mn-ea"/>
                </a:rPr>
                <a:t>집행계획작성</a:t>
              </a:r>
              <a:endParaRPr lang="en-US" altLang="ko-KR" sz="7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2" name="Rectangle 43"/>
            <p:cNvSpPr>
              <a:spLocks noChangeArrowheads="1"/>
            </p:cNvSpPr>
            <p:nvPr/>
          </p:nvSpPr>
          <p:spPr bwMode="auto">
            <a:xfrm>
              <a:off x="5027450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 fontScale="92500" lnSpcReduction="10000"/>
            </a:bodyPr>
            <a:lstStyle/>
            <a:p>
              <a:pPr algn="ctr" eaLnBrk="0" fontAlgn="base" latinLnBrk="0" hangingPunct="0">
                <a:lnSpc>
                  <a:spcPct val="80000"/>
                </a:lnSpc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600" kern="0" dirty="0">
                  <a:solidFill>
                    <a:sysClr val="windowText" lastClr="000000"/>
                  </a:solidFill>
                  <a:latin typeface="+mn-ea"/>
                </a:rPr>
                <a:t>지원금지급관리</a:t>
              </a:r>
              <a:endParaRPr lang="en-US" altLang="ko-KR" sz="6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3" name="Rectangle 43"/>
            <p:cNvSpPr>
              <a:spLocks noChangeArrowheads="1"/>
            </p:cNvSpPr>
            <p:nvPr/>
          </p:nvSpPr>
          <p:spPr bwMode="auto">
            <a:xfrm>
              <a:off x="5254137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latin typeface="+mn-ea"/>
                </a:rPr>
                <a:t>연중평가관리</a:t>
              </a:r>
              <a:endParaRPr lang="en-US" altLang="ko-KR" sz="500" kern="0" dirty="0">
                <a:latin typeface="+mn-ea"/>
              </a:endParaRPr>
            </a:p>
          </p:txBody>
        </p:sp>
        <p:sp>
          <p:nvSpPr>
            <p:cNvPr id="464" name="Rectangle 43"/>
            <p:cNvSpPr>
              <a:spLocks noChangeArrowheads="1"/>
            </p:cNvSpPr>
            <p:nvPr/>
          </p:nvSpPr>
          <p:spPr bwMode="auto">
            <a:xfrm>
              <a:off x="5480824" y="3279979"/>
              <a:ext cx="164908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latin typeface="+mn-ea"/>
                </a:rPr>
                <a:t>정산관리지원</a:t>
              </a:r>
              <a:endParaRPr lang="en-US" altLang="ko-KR" sz="500" kern="0" dirty="0">
                <a:latin typeface="+mn-ea"/>
              </a:endParaRPr>
            </a:p>
          </p:txBody>
        </p:sp>
        <p:sp>
          <p:nvSpPr>
            <p:cNvPr id="465" name="Rectangle 43"/>
            <p:cNvSpPr>
              <a:spLocks noChangeArrowheads="1"/>
            </p:cNvSpPr>
            <p:nvPr/>
          </p:nvSpPr>
          <p:spPr bwMode="auto">
            <a:xfrm>
              <a:off x="4076567" y="3279979"/>
              <a:ext cx="16347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>
              <a:norm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ko-KR" altLang="en-US" sz="500" kern="0" dirty="0">
                  <a:solidFill>
                    <a:sysClr val="windowText" lastClr="000000"/>
                  </a:solidFill>
                  <a:latin typeface="+mn-ea"/>
                </a:rPr>
                <a:t>직위공모관리</a:t>
              </a:r>
              <a:endParaRPr lang="en-US" altLang="ko-KR" sz="5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6" name="Rectangle 43"/>
            <p:cNvSpPr>
              <a:spLocks noChangeArrowheads="1"/>
            </p:cNvSpPr>
            <p:nvPr/>
          </p:nvSpPr>
          <p:spPr bwMode="auto">
            <a:xfrm>
              <a:off x="4308270" y="3279979"/>
              <a:ext cx="163475" cy="53677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chemeClr val="accent6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</p:spPr>
          <p:txBody>
            <a:bodyPr vert="eaVert" wrap="square" lIns="72000" tIns="36000" rIns="72000" bIns="36000" anchor="ctr">
              <a:noAutofit/>
            </a:bodyPr>
            <a:lstStyle/>
            <a:p>
              <a:pPr algn="ctr" eaLnBrk="0" fontAlgn="base" latinLnBrk="0" hangingPunct="0">
                <a:spcAft>
                  <a:spcPct val="0"/>
                </a:spcAft>
                <a:buClr>
                  <a:prstClr val="black"/>
                </a:buClr>
                <a:buSzPct val="90000"/>
              </a:pPr>
              <a:r>
                <a:rPr lang="en-US" altLang="ko-KR" sz="800" kern="0" dirty="0">
                  <a:solidFill>
                    <a:sysClr val="windowText" lastClr="000000"/>
                  </a:solidFill>
                  <a:latin typeface="+mn-ea"/>
                </a:rPr>
                <a:t>……</a:t>
              </a:r>
            </a:p>
          </p:txBody>
        </p:sp>
      </p:grpSp>
      <p:sp>
        <p:nvSpPr>
          <p:cNvPr id="467" name="오각형 466"/>
          <p:cNvSpPr/>
          <p:nvPr/>
        </p:nvSpPr>
        <p:spPr>
          <a:xfrm>
            <a:off x="5939454" y="1972223"/>
            <a:ext cx="966270" cy="378401"/>
          </a:xfrm>
          <a:prstGeom prst="homePlate">
            <a:avLst>
              <a:gd name="adj" fmla="val 22694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0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  <a:t>업무절차 정의</a:t>
            </a:r>
            <a:r>
              <a:rPr lang="en-US" altLang="ko-KR" sz="10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  <a:t/>
            </a:r>
            <a:br>
              <a:rPr lang="en-US" altLang="ko-KR" sz="10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</a:br>
            <a:r>
              <a:rPr lang="en-US" altLang="ko-KR" sz="800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  <a:t>(Process Define)</a:t>
            </a:r>
            <a:endParaRPr lang="ko-KR" altLang="en-US" sz="800" dirty="0"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68" name="오각형 467"/>
          <p:cNvSpPr/>
          <p:nvPr/>
        </p:nvSpPr>
        <p:spPr>
          <a:xfrm>
            <a:off x="6926832" y="1970479"/>
            <a:ext cx="1176398" cy="378401"/>
          </a:xfrm>
          <a:prstGeom prst="homePlate">
            <a:avLst>
              <a:gd name="adj" fmla="val 18667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0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  <a:t>업무절차 설계</a:t>
            </a:r>
            <a:r>
              <a:rPr lang="en-US" altLang="ko-KR" sz="10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  <a:t/>
            </a:r>
            <a:br>
              <a:rPr lang="en-US" altLang="ko-KR" sz="10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</a:br>
            <a:r>
              <a:rPr lang="en-US" altLang="ko-KR" sz="800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5400000" scaled="0"/>
                </a:gradFill>
                <a:latin typeface="+mn-ea"/>
              </a:rPr>
              <a:t>(Process Design)</a:t>
            </a:r>
            <a:endParaRPr lang="ko-KR" altLang="en-US" sz="800" dirty="0"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70" name="오각형 469"/>
          <p:cNvSpPr/>
          <p:nvPr/>
        </p:nvSpPr>
        <p:spPr>
          <a:xfrm>
            <a:off x="8137830" y="1970479"/>
            <a:ext cx="1231106" cy="378401"/>
          </a:xfrm>
          <a:prstGeom prst="homePlate">
            <a:avLst>
              <a:gd name="adj" fmla="val 18667"/>
            </a:avLst>
          </a:prstGeom>
          <a:solidFill>
            <a:schemeClr val="accent6">
              <a:lumMod val="40000"/>
              <a:lumOff val="60000"/>
            </a:schemeClr>
          </a:solidFill>
          <a:ln w="3175"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업무절차 모델링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(Process Modeling)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4" name="Rectangle 14"/>
          <p:cNvSpPr>
            <a:spLocks noChangeArrowheads="1"/>
          </p:cNvSpPr>
          <p:nvPr/>
        </p:nvSpPr>
        <p:spPr bwMode="auto">
          <a:xfrm>
            <a:off x="5896921" y="3675504"/>
            <a:ext cx="1004385" cy="191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987" tIns="45712" rIns="35994" bIns="45712" anchor="ctr"/>
          <a:lstStyle/>
          <a:p>
            <a:pPr algn="ctr" fontAlgn="base" latinLnBrk="0">
              <a:spcBef>
                <a:spcPts val="400"/>
              </a:spcBef>
              <a:defRPr/>
            </a:pPr>
            <a:r>
              <a:rPr lang="ko-KR" altLang="en-US" sz="700" b="1" kern="0" dirty="0">
                <a:solidFill>
                  <a:prstClr val="black"/>
                </a:solidFill>
                <a:latin typeface="+mn-ea"/>
              </a:rPr>
              <a:t>업무절차 </a:t>
            </a:r>
            <a:r>
              <a:rPr lang="en-US" altLang="ko-KR" sz="700" b="1" kern="0" dirty="0">
                <a:solidFill>
                  <a:prstClr val="black"/>
                </a:solidFill>
                <a:latin typeface="+mn-ea"/>
              </a:rPr>
              <a:t>Map </a:t>
            </a:r>
            <a:endParaRPr lang="ko-KR" altLang="en-US" sz="700" b="1" kern="0" dirty="0">
              <a:solidFill>
                <a:prstClr val="black"/>
              </a:solidFill>
              <a:latin typeface="+mn-ea"/>
            </a:endParaRPr>
          </a:p>
        </p:txBody>
      </p:sp>
      <p:pic>
        <p:nvPicPr>
          <p:cNvPr id="422" name="그림 421"/>
          <p:cNvPicPr preferRelativeResize="0">
            <a:picLocks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014071" y="3849618"/>
            <a:ext cx="817914" cy="419179"/>
          </a:xfrm>
          <a:prstGeom prst="rect">
            <a:avLst/>
          </a:prstGeom>
        </p:spPr>
      </p:pic>
      <p:pic>
        <p:nvPicPr>
          <p:cNvPr id="457" name="그림 456"/>
          <p:cNvPicPr>
            <a:picLocks noChangeAspect="1"/>
          </p:cNvPicPr>
          <p:nvPr/>
        </p:nvPicPr>
        <p:blipFill rotWithShape="1">
          <a:blip r:embed="rId3" cstate="print"/>
          <a:srcRect b="25441"/>
          <a:stretch/>
        </p:blipFill>
        <p:spPr>
          <a:xfrm>
            <a:off x="6973898" y="3952789"/>
            <a:ext cx="1083625" cy="8748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8446461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fontAlgn="ctr">
              <a:spcBef>
                <a:spcPct val="0"/>
              </a:spcBef>
            </a:pP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프로세스 상시 모니터링을 통해 개선의 시사점을 도출하고 현업에서 </a:t>
            </a:r>
            <a:r>
              <a:rPr lang="ko-KR" altLang="en-US" dirty="0">
                <a:latin typeface="+mn-ea"/>
                <a:cs typeface="Arial" charset="0"/>
              </a:rPr>
              <a:t>필요로 하는 표준화가 이뤄지고 표준이 준수되는지 </a:t>
            </a:r>
            <a:r>
              <a:rPr lang="ko-KR" altLang="en-US" dirty="0" err="1">
                <a:latin typeface="+mn-ea"/>
                <a:cs typeface="Arial" charset="0"/>
              </a:rPr>
              <a:t>모니터링함</a:t>
            </a:r>
            <a:endParaRPr lang="ko-KR" altLang="en-US" dirty="0">
              <a:latin typeface="+mn-ea"/>
              <a:cs typeface="Arial" charset="0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Ⅳ.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목표모델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3.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 업무프로세스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3.5 </a:t>
            </a:r>
            <a:r>
              <a:rPr lang="ko-KR" altLang="en-US" dirty="0">
                <a:solidFill>
                  <a:prstClr val="black"/>
                </a:solidFill>
              </a:rPr>
              <a:t>경영정보기반 프로세스 </a:t>
            </a:r>
            <a:r>
              <a:rPr lang="ko-KR" altLang="en-US" dirty="0" err="1">
                <a:solidFill>
                  <a:prstClr val="black"/>
                </a:solidFill>
              </a:rPr>
              <a:t>거버넌스</a:t>
            </a:r>
            <a:r>
              <a:rPr lang="ko-KR" altLang="en-US" dirty="0">
                <a:solidFill>
                  <a:prstClr val="black"/>
                </a:solidFill>
              </a:rPr>
              <a:t> 정립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7" name="Rectangle 198"/>
          <p:cNvSpPr>
            <a:spLocks noChangeArrowheads="1"/>
          </p:cNvSpPr>
          <p:nvPr/>
        </p:nvSpPr>
        <p:spPr bwMode="gray">
          <a:xfrm>
            <a:off x="452438" y="5085184"/>
            <a:ext cx="5310187" cy="1259992"/>
          </a:xfrm>
          <a:prstGeom prst="rect">
            <a:avLst/>
          </a:prstGeom>
          <a:solidFill>
            <a:schemeClr val="bg1"/>
          </a:solidFill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8" name="Rectangle 199"/>
          <p:cNvSpPr>
            <a:spLocks noChangeArrowheads="1"/>
          </p:cNvSpPr>
          <p:nvPr/>
        </p:nvSpPr>
        <p:spPr bwMode="gray">
          <a:xfrm>
            <a:off x="5897563" y="5085184"/>
            <a:ext cx="3509962" cy="1259992"/>
          </a:xfrm>
          <a:prstGeom prst="rect">
            <a:avLst/>
          </a:prstGeom>
          <a:noFill/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12" name="Oval 203"/>
          <p:cNvSpPr>
            <a:spLocks noChangeArrowheads="1"/>
          </p:cNvSpPr>
          <p:nvPr/>
        </p:nvSpPr>
        <p:spPr bwMode="gray">
          <a:xfrm>
            <a:off x="3152774" y="2847692"/>
            <a:ext cx="5249727" cy="1157662"/>
          </a:xfrm>
          <a:prstGeom prst="ellipse">
            <a:avLst/>
          </a:prstGeom>
          <a:noFill/>
          <a:ln w="7620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13" name="AutoShape 204"/>
          <p:cNvSpPr>
            <a:spLocks noChangeArrowheads="1"/>
          </p:cNvSpPr>
          <p:nvPr/>
        </p:nvSpPr>
        <p:spPr bwMode="gray">
          <a:xfrm>
            <a:off x="2613025" y="3437635"/>
            <a:ext cx="977900" cy="351405"/>
          </a:xfrm>
          <a:prstGeom prst="can">
            <a:avLst>
              <a:gd name="adj" fmla="val 25000"/>
            </a:avLst>
          </a:prstGeom>
          <a:solidFill>
            <a:srgbClr val="DDDDDD"/>
          </a:solidFill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14" name="Rectangle 205"/>
          <p:cNvSpPr>
            <a:spLocks noChangeArrowheads="1"/>
          </p:cNvSpPr>
          <p:nvPr/>
        </p:nvSpPr>
        <p:spPr bwMode="gray">
          <a:xfrm>
            <a:off x="2701925" y="3237716"/>
            <a:ext cx="376238" cy="221018"/>
          </a:xfrm>
          <a:prstGeom prst="rect">
            <a:avLst/>
          </a:prstGeom>
          <a:solidFill>
            <a:schemeClr val="bg1"/>
          </a:solidFill>
          <a:ln w="9525">
            <a:solidFill>
              <a:srgbClr val="000080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lIns="18000" tIns="18000" rIns="18000" bIns="180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15" name="Text Box 206"/>
          <p:cNvSpPr txBox="1">
            <a:spLocks noChangeArrowheads="1"/>
          </p:cNvSpPr>
          <p:nvPr/>
        </p:nvSpPr>
        <p:spPr bwMode="gray">
          <a:xfrm>
            <a:off x="2727325" y="3290281"/>
            <a:ext cx="323850" cy="159462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hangingPunct="1">
              <a:spcBef>
                <a:spcPct val="50000"/>
              </a:spcBef>
              <a:buClrTx/>
              <a:buFont typeface="Wingdings" pitchFamily="2" charset="2"/>
              <a:buNone/>
            </a:pPr>
            <a:r>
              <a:rPr kumimoji="1" lang="ko-KR" altLang="en-US" sz="800" b="1" i="1">
                <a:solidFill>
                  <a:schemeClr val="accent2"/>
                </a:solidFill>
                <a:latin typeface="+mn-ea"/>
                <a:ea typeface="+mn-ea"/>
              </a:rPr>
              <a:t>지표 </a:t>
            </a:r>
          </a:p>
        </p:txBody>
      </p:sp>
      <p:grpSp>
        <p:nvGrpSpPr>
          <p:cNvPr id="3" name="Group 207"/>
          <p:cNvGrpSpPr>
            <a:grpSpLocks/>
          </p:cNvGrpSpPr>
          <p:nvPr/>
        </p:nvGrpSpPr>
        <p:grpSpPr bwMode="auto">
          <a:xfrm>
            <a:off x="3100388" y="3217384"/>
            <a:ext cx="376237" cy="260866"/>
            <a:chOff x="2298" y="3296"/>
            <a:chExt cx="397" cy="307"/>
          </a:xfrm>
        </p:grpSpPr>
        <p:sp>
          <p:nvSpPr>
            <p:cNvPr id="17" name="Rectangle 208"/>
            <p:cNvSpPr>
              <a:spLocks noChangeArrowheads="1"/>
            </p:cNvSpPr>
            <p:nvPr/>
          </p:nvSpPr>
          <p:spPr bwMode="gray">
            <a:xfrm>
              <a:off x="2298" y="3320"/>
              <a:ext cx="397" cy="2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80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lIns="18000" tIns="18000" rIns="18000" bIns="18000" anchor="ctr">
              <a:spAutoFit/>
            </a:bodyPr>
            <a:lstStyle>
              <a:lvl1pPr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1pPr>
              <a:lvl2pPr marL="742950" indent="-28575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2pPr>
              <a:lvl3pPr marL="11430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3pPr>
              <a:lvl4pPr marL="16002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4pPr>
              <a:lvl5pPr marL="20574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+mn-ea"/>
                <a:ea typeface="+mn-ea"/>
              </a:endParaRPr>
            </a:p>
          </p:txBody>
        </p:sp>
        <p:grpSp>
          <p:nvGrpSpPr>
            <p:cNvPr id="5" name="Group 209"/>
            <p:cNvGrpSpPr>
              <a:grpSpLocks/>
            </p:cNvGrpSpPr>
            <p:nvPr/>
          </p:nvGrpSpPr>
          <p:grpSpPr bwMode="auto">
            <a:xfrm>
              <a:off x="2406" y="3296"/>
              <a:ext cx="72" cy="307"/>
              <a:chOff x="1470" y="3012"/>
              <a:chExt cx="72" cy="307"/>
            </a:xfrm>
          </p:grpSpPr>
          <p:sp>
            <p:nvSpPr>
              <p:cNvPr id="19" name="AutoShape 210"/>
              <p:cNvSpPr>
                <a:spLocks noChangeArrowheads="1"/>
              </p:cNvSpPr>
              <p:nvPr/>
            </p:nvSpPr>
            <p:spPr bwMode="gray">
              <a:xfrm>
                <a:off x="1504" y="3054"/>
                <a:ext cx="38" cy="265"/>
              </a:xfrm>
              <a:prstGeom prst="foldedCorner">
                <a:avLst>
                  <a:gd name="adj" fmla="val 12500"/>
                </a:avLst>
              </a:prstGeom>
              <a:solidFill>
                <a:schemeClr val="bg1"/>
              </a:solidFill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8000" tIns="18000" rIns="18000" bIns="18000" anchor="ctr">
                <a:spAutoFit/>
              </a:bodyPr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eaLnBrk="1" hangingPunct="1"/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20" name="AutoShape 211"/>
              <p:cNvSpPr>
                <a:spLocks noChangeArrowheads="1"/>
              </p:cNvSpPr>
              <p:nvPr/>
            </p:nvSpPr>
            <p:spPr bwMode="gray">
              <a:xfrm>
                <a:off x="1485" y="3035"/>
                <a:ext cx="38" cy="265"/>
              </a:xfrm>
              <a:prstGeom prst="foldedCorner">
                <a:avLst>
                  <a:gd name="adj" fmla="val 12500"/>
                </a:avLst>
              </a:prstGeom>
              <a:solidFill>
                <a:schemeClr val="bg1"/>
              </a:solidFill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8000" tIns="18000" rIns="18000" bIns="18000" anchor="ctr">
                <a:spAutoFit/>
              </a:bodyPr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eaLnBrk="1" hangingPunct="1"/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21" name="AutoShape 212"/>
              <p:cNvSpPr>
                <a:spLocks noChangeArrowheads="1"/>
              </p:cNvSpPr>
              <p:nvPr/>
            </p:nvSpPr>
            <p:spPr bwMode="gray">
              <a:xfrm>
                <a:off x="1470" y="3012"/>
                <a:ext cx="38" cy="265"/>
              </a:xfrm>
              <a:prstGeom prst="foldedCorner">
                <a:avLst>
                  <a:gd name="adj" fmla="val 12500"/>
                </a:avLst>
              </a:prstGeom>
              <a:solidFill>
                <a:schemeClr val="bg1"/>
              </a:solidFill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18000" tIns="18000" rIns="18000" bIns="18000" anchor="ctr">
                <a:spAutoFit/>
              </a:bodyPr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eaLnBrk="1" hangingPunct="1"/>
                <a:endParaRPr lang="ko-KR" altLang="en-US">
                  <a:latin typeface="+mn-ea"/>
                  <a:ea typeface="+mn-ea"/>
                </a:endParaRPr>
              </a:p>
            </p:txBody>
          </p:sp>
        </p:grpSp>
      </p:grpSp>
      <p:sp>
        <p:nvSpPr>
          <p:cNvPr id="22" name="Rectangle 213"/>
          <p:cNvSpPr>
            <a:spLocks noChangeArrowheads="1"/>
          </p:cNvSpPr>
          <p:nvPr/>
        </p:nvSpPr>
        <p:spPr bwMode="gray">
          <a:xfrm>
            <a:off x="2701925" y="2949585"/>
            <a:ext cx="376238" cy="221018"/>
          </a:xfrm>
          <a:prstGeom prst="rect">
            <a:avLst/>
          </a:prstGeom>
          <a:solidFill>
            <a:schemeClr val="bg1"/>
          </a:solidFill>
          <a:ln w="9525">
            <a:solidFill>
              <a:srgbClr val="000080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lIns="18000" tIns="18000" rIns="18000" bIns="18000" anchor="ctr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23" name="Text Box 214"/>
          <p:cNvSpPr txBox="1">
            <a:spLocks noChangeArrowheads="1"/>
          </p:cNvSpPr>
          <p:nvPr/>
        </p:nvSpPr>
        <p:spPr bwMode="gray">
          <a:xfrm>
            <a:off x="2730500" y="2936268"/>
            <a:ext cx="103188" cy="2524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hangingPunct="1">
              <a:lnSpc>
                <a:spcPct val="80000"/>
              </a:lnSpc>
              <a:spcBef>
                <a:spcPct val="50000"/>
              </a:spcBef>
              <a:buClrTx/>
              <a:buFontTx/>
              <a:buNone/>
            </a:pPr>
            <a:r>
              <a:rPr kumimoji="1" lang="en-US" altLang="ko-KR" sz="300">
                <a:solidFill>
                  <a:schemeClr val="accent2"/>
                </a:solidFill>
                <a:latin typeface="+mn-ea"/>
                <a:ea typeface="+mn-ea"/>
              </a:rPr>
              <a:t>L0</a:t>
            </a:r>
          </a:p>
          <a:p>
            <a:pPr algn="ctr" eaLnBrk="1" fontAlgn="ctr" hangingPunct="1">
              <a:lnSpc>
                <a:spcPct val="80000"/>
              </a:lnSpc>
              <a:spcBef>
                <a:spcPct val="50000"/>
              </a:spcBef>
              <a:buClrTx/>
              <a:buFontTx/>
              <a:buNone/>
            </a:pPr>
            <a:r>
              <a:rPr kumimoji="1" lang="en-US" altLang="ko-KR" sz="300">
                <a:solidFill>
                  <a:schemeClr val="accent2"/>
                </a:solidFill>
                <a:latin typeface="+mn-ea"/>
                <a:ea typeface="+mn-ea"/>
              </a:rPr>
              <a:t>L1</a:t>
            </a:r>
          </a:p>
          <a:p>
            <a:pPr algn="ctr" eaLnBrk="1" fontAlgn="ctr" hangingPunct="1">
              <a:lnSpc>
                <a:spcPct val="80000"/>
              </a:lnSpc>
              <a:spcBef>
                <a:spcPct val="50000"/>
              </a:spcBef>
              <a:buClrTx/>
              <a:buFontTx/>
              <a:buNone/>
            </a:pPr>
            <a:r>
              <a:rPr kumimoji="1" lang="en-US" altLang="ko-KR" sz="300">
                <a:solidFill>
                  <a:schemeClr val="accent2"/>
                </a:solidFill>
                <a:latin typeface="+mn-ea"/>
                <a:ea typeface="+mn-ea"/>
              </a:rPr>
              <a:t>L2</a:t>
            </a:r>
          </a:p>
          <a:p>
            <a:pPr algn="ctr" eaLnBrk="1" fontAlgn="ctr" hangingPunct="1">
              <a:lnSpc>
                <a:spcPct val="80000"/>
              </a:lnSpc>
              <a:spcBef>
                <a:spcPct val="50000"/>
              </a:spcBef>
              <a:buClrTx/>
              <a:buFontTx/>
              <a:buNone/>
            </a:pPr>
            <a:r>
              <a:rPr kumimoji="1" lang="en-US" altLang="ko-KR" sz="300">
                <a:solidFill>
                  <a:schemeClr val="accent2"/>
                </a:solidFill>
                <a:latin typeface="+mn-ea"/>
                <a:ea typeface="+mn-ea"/>
              </a:rPr>
              <a:t>L3</a:t>
            </a:r>
          </a:p>
        </p:txBody>
      </p:sp>
      <p:grpSp>
        <p:nvGrpSpPr>
          <p:cNvPr id="9" name="Group 215"/>
          <p:cNvGrpSpPr>
            <a:grpSpLocks/>
          </p:cNvGrpSpPr>
          <p:nvPr/>
        </p:nvGrpSpPr>
        <p:grpSpPr bwMode="auto">
          <a:xfrm>
            <a:off x="2833688" y="2945793"/>
            <a:ext cx="219075" cy="230188"/>
            <a:chOff x="962" y="3011"/>
            <a:chExt cx="287" cy="272"/>
          </a:xfrm>
        </p:grpSpPr>
        <p:grpSp>
          <p:nvGrpSpPr>
            <p:cNvPr id="10" name="Group 216"/>
            <p:cNvGrpSpPr>
              <a:grpSpLocks/>
            </p:cNvGrpSpPr>
            <p:nvPr/>
          </p:nvGrpSpPr>
          <p:grpSpPr bwMode="auto">
            <a:xfrm>
              <a:off x="962" y="3011"/>
              <a:ext cx="287" cy="51"/>
              <a:chOff x="370" y="1962"/>
              <a:chExt cx="2240" cy="396"/>
            </a:xfrm>
          </p:grpSpPr>
          <p:sp>
            <p:nvSpPr>
              <p:cNvPr id="38" name="AutoShape 217"/>
              <p:cNvSpPr>
                <a:spLocks noChangeArrowheads="1"/>
              </p:cNvSpPr>
              <p:nvPr/>
            </p:nvSpPr>
            <p:spPr bwMode="gray">
              <a:xfrm>
                <a:off x="370" y="1962"/>
                <a:ext cx="879" cy="396"/>
              </a:xfrm>
              <a:prstGeom prst="homePlate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9" name="AutoShape 218"/>
              <p:cNvSpPr>
                <a:spLocks noChangeArrowheads="1"/>
              </p:cNvSpPr>
              <p:nvPr/>
            </p:nvSpPr>
            <p:spPr bwMode="gray">
              <a:xfrm>
                <a:off x="1050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0" name="AutoShape 219"/>
              <p:cNvSpPr>
                <a:spLocks noChangeArrowheads="1"/>
              </p:cNvSpPr>
              <p:nvPr/>
            </p:nvSpPr>
            <p:spPr bwMode="gray">
              <a:xfrm>
                <a:off x="1731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1" name="Group 220"/>
            <p:cNvGrpSpPr>
              <a:grpSpLocks/>
            </p:cNvGrpSpPr>
            <p:nvPr/>
          </p:nvGrpSpPr>
          <p:grpSpPr bwMode="auto">
            <a:xfrm>
              <a:off x="962" y="3157"/>
              <a:ext cx="287" cy="52"/>
              <a:chOff x="370" y="1962"/>
              <a:chExt cx="2240" cy="396"/>
            </a:xfrm>
          </p:grpSpPr>
          <p:sp>
            <p:nvSpPr>
              <p:cNvPr id="35" name="AutoShape 221"/>
              <p:cNvSpPr>
                <a:spLocks noChangeArrowheads="1"/>
              </p:cNvSpPr>
              <p:nvPr/>
            </p:nvSpPr>
            <p:spPr bwMode="gray">
              <a:xfrm>
                <a:off x="370" y="1962"/>
                <a:ext cx="879" cy="396"/>
              </a:xfrm>
              <a:prstGeom prst="homePlate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6" name="AutoShape 222"/>
              <p:cNvSpPr>
                <a:spLocks noChangeArrowheads="1"/>
              </p:cNvSpPr>
              <p:nvPr/>
            </p:nvSpPr>
            <p:spPr bwMode="gray">
              <a:xfrm>
                <a:off x="1050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7" name="AutoShape 223"/>
              <p:cNvSpPr>
                <a:spLocks noChangeArrowheads="1"/>
              </p:cNvSpPr>
              <p:nvPr/>
            </p:nvSpPr>
            <p:spPr bwMode="gray">
              <a:xfrm>
                <a:off x="1731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6" name="Group 224"/>
            <p:cNvGrpSpPr>
              <a:grpSpLocks/>
            </p:cNvGrpSpPr>
            <p:nvPr/>
          </p:nvGrpSpPr>
          <p:grpSpPr bwMode="auto">
            <a:xfrm>
              <a:off x="962" y="3232"/>
              <a:ext cx="287" cy="51"/>
              <a:chOff x="370" y="1962"/>
              <a:chExt cx="2240" cy="396"/>
            </a:xfrm>
          </p:grpSpPr>
          <p:sp>
            <p:nvSpPr>
              <p:cNvPr id="32" name="AutoShape 225"/>
              <p:cNvSpPr>
                <a:spLocks noChangeArrowheads="1"/>
              </p:cNvSpPr>
              <p:nvPr/>
            </p:nvSpPr>
            <p:spPr bwMode="gray">
              <a:xfrm>
                <a:off x="370" y="1962"/>
                <a:ext cx="879" cy="396"/>
              </a:xfrm>
              <a:prstGeom prst="homePlate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3" name="AutoShape 226"/>
              <p:cNvSpPr>
                <a:spLocks noChangeArrowheads="1"/>
              </p:cNvSpPr>
              <p:nvPr/>
            </p:nvSpPr>
            <p:spPr bwMode="gray">
              <a:xfrm>
                <a:off x="1050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4" name="AutoShape 227"/>
              <p:cNvSpPr>
                <a:spLocks noChangeArrowheads="1"/>
              </p:cNvSpPr>
              <p:nvPr/>
            </p:nvSpPr>
            <p:spPr bwMode="gray">
              <a:xfrm>
                <a:off x="1731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18" name="Group 228"/>
            <p:cNvGrpSpPr>
              <a:grpSpLocks/>
            </p:cNvGrpSpPr>
            <p:nvPr/>
          </p:nvGrpSpPr>
          <p:grpSpPr bwMode="auto">
            <a:xfrm>
              <a:off x="962" y="3084"/>
              <a:ext cx="287" cy="52"/>
              <a:chOff x="370" y="1962"/>
              <a:chExt cx="2240" cy="396"/>
            </a:xfrm>
          </p:grpSpPr>
          <p:sp>
            <p:nvSpPr>
              <p:cNvPr id="29" name="AutoShape 229"/>
              <p:cNvSpPr>
                <a:spLocks noChangeArrowheads="1"/>
              </p:cNvSpPr>
              <p:nvPr/>
            </p:nvSpPr>
            <p:spPr bwMode="gray">
              <a:xfrm>
                <a:off x="370" y="1962"/>
                <a:ext cx="879" cy="396"/>
              </a:xfrm>
              <a:prstGeom prst="homePlate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0" name="AutoShape 230"/>
              <p:cNvSpPr>
                <a:spLocks noChangeArrowheads="1"/>
              </p:cNvSpPr>
              <p:nvPr/>
            </p:nvSpPr>
            <p:spPr bwMode="gray">
              <a:xfrm>
                <a:off x="1050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1" name="AutoShape 231"/>
              <p:cNvSpPr>
                <a:spLocks noChangeArrowheads="1"/>
              </p:cNvSpPr>
              <p:nvPr/>
            </p:nvSpPr>
            <p:spPr bwMode="gray">
              <a:xfrm>
                <a:off x="1731" y="1962"/>
                <a:ext cx="879" cy="396"/>
              </a:xfrm>
              <a:prstGeom prst="chevron">
                <a:avLst>
                  <a:gd name="adj" fmla="val 55492"/>
                </a:avLst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</p:grpSp>
      </p:grpSp>
      <p:grpSp>
        <p:nvGrpSpPr>
          <p:cNvPr id="24" name="Group 232"/>
          <p:cNvGrpSpPr>
            <a:grpSpLocks/>
          </p:cNvGrpSpPr>
          <p:nvPr/>
        </p:nvGrpSpPr>
        <p:grpSpPr bwMode="auto">
          <a:xfrm>
            <a:off x="3100388" y="2949444"/>
            <a:ext cx="376237" cy="221293"/>
            <a:chOff x="2298" y="1845"/>
            <a:chExt cx="397" cy="262"/>
          </a:xfrm>
        </p:grpSpPr>
        <p:sp>
          <p:nvSpPr>
            <p:cNvPr id="42" name="Rectangle 233"/>
            <p:cNvSpPr>
              <a:spLocks noChangeArrowheads="1"/>
            </p:cNvSpPr>
            <p:nvPr/>
          </p:nvSpPr>
          <p:spPr bwMode="gray">
            <a:xfrm>
              <a:off x="2298" y="1845"/>
              <a:ext cx="397" cy="2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80"/>
              </a:solidFill>
              <a:miter lim="800000"/>
              <a:headEnd/>
              <a:tailEnd/>
            </a:ln>
            <a:effectLst>
              <a:outerShdw dist="35921" dir="2700000" algn="ctr" rotWithShape="0">
                <a:schemeClr val="bg2"/>
              </a:outerShdw>
            </a:effectLst>
          </p:spPr>
          <p:txBody>
            <a:bodyPr lIns="18000" tIns="18000" rIns="18000" bIns="18000" anchor="ctr">
              <a:spAutoFit/>
            </a:bodyPr>
            <a:lstStyle>
              <a:lvl1pPr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1pPr>
              <a:lvl2pPr marL="742950" indent="-28575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2pPr>
              <a:lvl3pPr marL="11430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3pPr>
              <a:lvl4pPr marL="16002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4pPr>
              <a:lvl5pPr marL="20574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+mn-ea"/>
                <a:ea typeface="+mn-ea"/>
              </a:endParaRPr>
            </a:p>
          </p:txBody>
        </p:sp>
        <p:grpSp>
          <p:nvGrpSpPr>
            <p:cNvPr id="25" name="Group 234"/>
            <p:cNvGrpSpPr>
              <a:grpSpLocks/>
            </p:cNvGrpSpPr>
            <p:nvPr/>
          </p:nvGrpSpPr>
          <p:grpSpPr bwMode="auto">
            <a:xfrm>
              <a:off x="2355" y="1891"/>
              <a:ext cx="283" cy="170"/>
              <a:chOff x="2409" y="3385"/>
              <a:chExt cx="456" cy="216"/>
            </a:xfrm>
          </p:grpSpPr>
          <p:sp>
            <p:nvSpPr>
              <p:cNvPr id="44" name="Rectangle 235"/>
              <p:cNvSpPr>
                <a:spLocks noChangeArrowheads="1"/>
              </p:cNvSpPr>
              <p:nvPr/>
            </p:nvSpPr>
            <p:spPr bwMode="gray">
              <a:xfrm>
                <a:off x="2409" y="3385"/>
                <a:ext cx="113" cy="51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5" name="Rectangle 236"/>
              <p:cNvSpPr>
                <a:spLocks noChangeArrowheads="1"/>
              </p:cNvSpPr>
              <p:nvPr/>
            </p:nvSpPr>
            <p:spPr bwMode="gray">
              <a:xfrm>
                <a:off x="2409" y="3464"/>
                <a:ext cx="113" cy="52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6" name="AutoShape 237"/>
              <p:cNvSpPr>
                <a:spLocks noChangeArrowheads="1"/>
              </p:cNvSpPr>
              <p:nvPr/>
            </p:nvSpPr>
            <p:spPr bwMode="gray">
              <a:xfrm>
                <a:off x="2581" y="3464"/>
                <a:ext cx="113" cy="51"/>
              </a:xfrm>
              <a:prstGeom prst="diamond">
                <a:avLst/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7" name="Rectangle 238"/>
              <p:cNvSpPr>
                <a:spLocks noChangeArrowheads="1"/>
              </p:cNvSpPr>
              <p:nvPr/>
            </p:nvSpPr>
            <p:spPr bwMode="gray">
              <a:xfrm>
                <a:off x="2581" y="3549"/>
                <a:ext cx="113" cy="52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AutoShape 239"/>
              <p:cNvCxnSpPr>
                <a:cxnSpLocks noChangeShapeType="1"/>
                <a:stCxn id="44" idx="2"/>
                <a:endCxn id="45" idx="0"/>
              </p:cNvCxnSpPr>
              <p:nvPr/>
            </p:nvCxnSpPr>
            <p:spPr bwMode="gray">
              <a:xfrm rot="5400000">
                <a:off x="2452" y="3450"/>
                <a:ext cx="28" cy="0"/>
              </a:xfrm>
              <a:prstGeom prst="straightConnector1">
                <a:avLst/>
              </a:prstGeom>
              <a:noFill/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9" name="AutoShape 240"/>
              <p:cNvCxnSpPr>
                <a:cxnSpLocks noChangeShapeType="1"/>
                <a:stCxn id="46" idx="1"/>
                <a:endCxn id="45" idx="3"/>
              </p:cNvCxnSpPr>
              <p:nvPr/>
            </p:nvCxnSpPr>
            <p:spPr bwMode="gray">
              <a:xfrm rot="10800000">
                <a:off x="2522" y="3490"/>
                <a:ext cx="59" cy="0"/>
              </a:xfrm>
              <a:prstGeom prst="straightConnector1">
                <a:avLst/>
              </a:prstGeom>
              <a:noFill/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50" name="Rectangle 241"/>
              <p:cNvSpPr>
                <a:spLocks noChangeArrowheads="1"/>
              </p:cNvSpPr>
              <p:nvPr/>
            </p:nvSpPr>
            <p:spPr bwMode="gray">
              <a:xfrm>
                <a:off x="2752" y="3464"/>
                <a:ext cx="113" cy="52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1" name="AutoShape 242"/>
              <p:cNvCxnSpPr>
                <a:cxnSpLocks noChangeShapeType="1"/>
                <a:stCxn id="50" idx="1"/>
                <a:endCxn id="46" idx="3"/>
              </p:cNvCxnSpPr>
              <p:nvPr/>
            </p:nvCxnSpPr>
            <p:spPr bwMode="gray">
              <a:xfrm rot="10800000">
                <a:off x="2694" y="3490"/>
                <a:ext cx="58" cy="0"/>
              </a:xfrm>
              <a:prstGeom prst="straightConnector1">
                <a:avLst/>
              </a:prstGeom>
              <a:noFill/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2" name="AutoShape 243"/>
              <p:cNvCxnSpPr>
                <a:cxnSpLocks noChangeShapeType="1"/>
                <a:stCxn id="47" idx="0"/>
                <a:endCxn id="46" idx="2"/>
              </p:cNvCxnSpPr>
              <p:nvPr/>
            </p:nvCxnSpPr>
            <p:spPr bwMode="gray">
              <a:xfrm rot="-5400000">
                <a:off x="2621" y="3532"/>
                <a:ext cx="34" cy="0"/>
              </a:xfrm>
              <a:prstGeom prst="straightConnector1">
                <a:avLst/>
              </a:prstGeom>
              <a:noFill/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53" name="Rectangle 244"/>
              <p:cNvSpPr>
                <a:spLocks noChangeArrowheads="1"/>
              </p:cNvSpPr>
              <p:nvPr/>
            </p:nvSpPr>
            <p:spPr bwMode="gray">
              <a:xfrm>
                <a:off x="2751" y="3549"/>
                <a:ext cx="113" cy="52"/>
              </a:xfrm>
              <a:prstGeom prst="rect">
                <a:avLst/>
              </a:prstGeom>
              <a:solidFill>
                <a:schemeClr val="bg1"/>
              </a:solidFill>
              <a:ln w="9525" algn="ctr">
                <a:solidFill>
                  <a:srgbClr val="00008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90000" tIns="18000" rIns="90000" bIns="18000" anchor="ctr"/>
              <a:lstStyle>
                <a:lvl1pPr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1pPr>
                <a:lvl2pPr marL="742950" indent="-28575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2pPr>
                <a:lvl3pPr marL="11430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3pPr>
                <a:lvl4pPr marL="16002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4pPr>
                <a:lvl5pPr marL="2057400" indent="-228600" eaLnBrk="0" hangingPunct="0"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1"/>
                  </a:buClr>
                  <a:buFont typeface="Wingdings" pitchFamily="2" charset="2"/>
                  <a:buChar char="§"/>
                  <a:defRPr sz="1200">
                    <a:solidFill>
                      <a:schemeClr val="tx1"/>
                    </a:solidFill>
                    <a:latin typeface="돋움" pitchFamily="50" charset="-127"/>
                    <a:ea typeface="돋움" pitchFamily="50" charset="-127"/>
                  </a:defRPr>
                </a:lvl9pPr>
              </a:lstStyle>
              <a:p>
                <a:pPr algn="ctr" eaLnBrk="1" fontAlgn="ctr" hangingPunct="1">
                  <a:buClrTx/>
                  <a:buFontTx/>
                  <a:buNone/>
                </a:pPr>
                <a:endParaRPr kumimoji="1" lang="en-US" altLang="ko-KR" sz="500" b="1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4" name="AutoShape 245"/>
              <p:cNvCxnSpPr>
                <a:cxnSpLocks noChangeShapeType="1"/>
                <a:stCxn id="53" idx="1"/>
                <a:endCxn id="47" idx="3"/>
              </p:cNvCxnSpPr>
              <p:nvPr/>
            </p:nvCxnSpPr>
            <p:spPr bwMode="gray">
              <a:xfrm rot="10800000">
                <a:off x="2694" y="3575"/>
                <a:ext cx="57" cy="0"/>
              </a:xfrm>
              <a:prstGeom prst="straightConnector1">
                <a:avLst/>
              </a:prstGeom>
              <a:noFill/>
              <a:ln w="6350">
                <a:solidFill>
                  <a:srgbClr val="000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55" name="Text Box 246"/>
          <p:cNvSpPr txBox="1">
            <a:spLocks noChangeArrowheads="1"/>
          </p:cNvSpPr>
          <p:nvPr/>
        </p:nvSpPr>
        <p:spPr bwMode="gray">
          <a:xfrm>
            <a:off x="2670287" y="3563331"/>
            <a:ext cx="850677" cy="1902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hangingPunct="1">
              <a:buClrTx/>
              <a:buFontTx/>
              <a:buNone/>
            </a:pPr>
            <a:r>
              <a:rPr kumimoji="1" lang="ko-KR" altLang="en-US" sz="1000" b="1">
                <a:latin typeface="+mn-ea"/>
                <a:ea typeface="+mn-ea"/>
              </a:rPr>
              <a:t>프로세스 자산</a:t>
            </a:r>
          </a:p>
        </p:txBody>
      </p:sp>
      <p:sp>
        <p:nvSpPr>
          <p:cNvPr id="60" name="Rectangle 251"/>
          <p:cNvSpPr>
            <a:spLocks noChangeArrowheads="1"/>
          </p:cNvSpPr>
          <p:nvPr/>
        </p:nvSpPr>
        <p:spPr bwMode="gray">
          <a:xfrm>
            <a:off x="2992438" y="2891818"/>
            <a:ext cx="179387" cy="134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61" name="Rectangle 252"/>
          <p:cNvSpPr>
            <a:spLocks noChangeArrowheads="1"/>
          </p:cNvSpPr>
          <p:nvPr/>
        </p:nvSpPr>
        <p:spPr bwMode="gray">
          <a:xfrm>
            <a:off x="5672138" y="3060791"/>
            <a:ext cx="179387" cy="134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62" name="AutoShape 253"/>
          <p:cNvSpPr>
            <a:spLocks noChangeArrowheads="1"/>
          </p:cNvSpPr>
          <p:nvPr/>
        </p:nvSpPr>
        <p:spPr bwMode="gray">
          <a:xfrm>
            <a:off x="4584502" y="2475004"/>
            <a:ext cx="1439862" cy="450850"/>
          </a:xfrm>
          <a:prstGeom prst="homePlate">
            <a:avLst>
              <a:gd name="adj" fmla="val 44711"/>
            </a:avLst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endParaRPr lang="ko-KR" altLang="en-US" sz="14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AutoShape 254"/>
          <p:cNvSpPr>
            <a:spLocks noChangeArrowheads="1"/>
          </p:cNvSpPr>
          <p:nvPr/>
        </p:nvSpPr>
        <p:spPr bwMode="gray">
          <a:xfrm flipH="1">
            <a:off x="3741081" y="3815264"/>
            <a:ext cx="1439862" cy="450850"/>
          </a:xfrm>
          <a:prstGeom prst="homePlate">
            <a:avLst>
              <a:gd name="adj" fmla="val 44711"/>
            </a:avLst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endParaRPr lang="ko-KR" altLang="en-US" sz="14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64" name="AutoShape 255"/>
          <p:cNvSpPr>
            <a:spLocks noChangeArrowheads="1"/>
          </p:cNvSpPr>
          <p:nvPr/>
        </p:nvSpPr>
        <p:spPr bwMode="gray">
          <a:xfrm>
            <a:off x="5058582" y="2006674"/>
            <a:ext cx="1125538" cy="630238"/>
          </a:xfrm>
          <a:prstGeom prst="downArrowCallout">
            <a:avLst>
              <a:gd name="adj1" fmla="val 8318"/>
              <a:gd name="adj2" fmla="val 22043"/>
              <a:gd name="adj3" fmla="val 17630"/>
              <a:gd name="adj4" fmla="val 66667"/>
            </a:avLst>
          </a:prstGeom>
          <a:solidFill>
            <a:srgbClr val="DDDDDD"/>
          </a:solidFill>
          <a:ln w="9525" algn="ctr">
            <a:solidFill>
              <a:srgbClr val="4D4D4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hangingPunct="1">
              <a:buClrTx/>
              <a:buFontTx/>
              <a:buNone/>
            </a:pPr>
            <a:r>
              <a:rPr kumimoji="1" lang="ko-KR" altLang="en-US">
                <a:latin typeface="+mn-ea"/>
                <a:ea typeface="+mn-ea"/>
              </a:rPr>
              <a:t>표준 준수</a:t>
            </a:r>
          </a:p>
          <a:p>
            <a:pPr algn="ctr" eaLnBrk="1" fontAlgn="ctr" hangingPunct="1">
              <a:buClrTx/>
              <a:buFontTx/>
              <a:buNone/>
            </a:pPr>
            <a:r>
              <a:rPr kumimoji="1" lang="ko-KR" altLang="en-US">
                <a:latin typeface="+mn-ea"/>
                <a:ea typeface="+mn-ea"/>
              </a:rPr>
              <a:t>모니터링</a:t>
            </a:r>
            <a:endParaRPr kumimoji="1" lang="ko-KR" altLang="en-US" sz="1000" b="1">
              <a:latin typeface="+mn-ea"/>
              <a:ea typeface="+mn-ea"/>
            </a:endParaRPr>
          </a:p>
        </p:txBody>
      </p:sp>
      <p:grpSp>
        <p:nvGrpSpPr>
          <p:cNvPr id="26" name="Group 256"/>
          <p:cNvGrpSpPr>
            <a:grpSpLocks/>
          </p:cNvGrpSpPr>
          <p:nvPr/>
        </p:nvGrpSpPr>
        <p:grpSpPr bwMode="auto">
          <a:xfrm>
            <a:off x="6043738" y="1888175"/>
            <a:ext cx="430212" cy="496887"/>
            <a:chOff x="2997" y="2830"/>
            <a:chExt cx="798" cy="966"/>
          </a:xfrm>
        </p:grpSpPr>
        <p:sp>
          <p:nvSpPr>
            <p:cNvPr id="66" name="Freeform 257"/>
            <p:cNvSpPr>
              <a:spLocks/>
            </p:cNvSpPr>
            <p:nvPr/>
          </p:nvSpPr>
          <p:spPr bwMode="gray">
            <a:xfrm>
              <a:off x="3503" y="3450"/>
              <a:ext cx="292" cy="346"/>
            </a:xfrm>
            <a:custGeom>
              <a:avLst/>
              <a:gdLst>
                <a:gd name="T0" fmla="*/ 121 w 640"/>
                <a:gd name="T1" fmla="*/ 100 h 759"/>
                <a:gd name="T2" fmla="*/ 100 w 640"/>
                <a:gd name="T3" fmla="*/ 98 h 759"/>
                <a:gd name="T4" fmla="*/ 83 w 640"/>
                <a:gd name="T5" fmla="*/ 90 h 759"/>
                <a:gd name="T6" fmla="*/ 71 w 640"/>
                <a:gd name="T7" fmla="*/ 81 h 759"/>
                <a:gd name="T8" fmla="*/ 63 w 640"/>
                <a:gd name="T9" fmla="*/ 69 h 759"/>
                <a:gd name="T10" fmla="*/ 58 w 640"/>
                <a:gd name="T11" fmla="*/ 58 h 759"/>
                <a:gd name="T12" fmla="*/ 55 w 640"/>
                <a:gd name="T13" fmla="*/ 48 h 759"/>
                <a:gd name="T14" fmla="*/ 53 w 640"/>
                <a:gd name="T15" fmla="*/ 41 h 759"/>
                <a:gd name="T16" fmla="*/ 53 w 640"/>
                <a:gd name="T17" fmla="*/ 39 h 759"/>
                <a:gd name="T18" fmla="*/ 59 w 640"/>
                <a:gd name="T19" fmla="*/ 26 h 759"/>
                <a:gd name="T20" fmla="*/ 58 w 640"/>
                <a:gd name="T21" fmla="*/ 16 h 759"/>
                <a:gd name="T22" fmla="*/ 52 w 640"/>
                <a:gd name="T23" fmla="*/ 10 h 759"/>
                <a:gd name="T24" fmla="*/ 45 w 640"/>
                <a:gd name="T25" fmla="*/ 5 h 759"/>
                <a:gd name="T26" fmla="*/ 36 w 640"/>
                <a:gd name="T27" fmla="*/ 2 h 759"/>
                <a:gd name="T28" fmla="*/ 28 w 640"/>
                <a:gd name="T29" fmla="*/ 0 h 759"/>
                <a:gd name="T30" fmla="*/ 22 w 640"/>
                <a:gd name="T31" fmla="*/ 0 h 759"/>
                <a:gd name="T32" fmla="*/ 20 w 640"/>
                <a:gd name="T33" fmla="*/ 0 h 759"/>
                <a:gd name="T34" fmla="*/ 0 w 640"/>
                <a:gd name="T35" fmla="*/ 16 h 759"/>
                <a:gd name="T36" fmla="*/ 1 w 640"/>
                <a:gd name="T37" fmla="*/ 22 h 759"/>
                <a:gd name="T38" fmla="*/ 2 w 640"/>
                <a:gd name="T39" fmla="*/ 28 h 759"/>
                <a:gd name="T40" fmla="*/ 4 w 640"/>
                <a:gd name="T41" fmla="*/ 35 h 759"/>
                <a:gd name="T42" fmla="*/ 7 w 640"/>
                <a:gd name="T43" fmla="*/ 41 h 759"/>
                <a:gd name="T44" fmla="*/ 10 w 640"/>
                <a:gd name="T45" fmla="*/ 46 h 759"/>
                <a:gd name="T46" fmla="*/ 15 w 640"/>
                <a:gd name="T47" fmla="*/ 50 h 759"/>
                <a:gd name="T48" fmla="*/ 20 w 640"/>
                <a:gd name="T49" fmla="*/ 53 h 759"/>
                <a:gd name="T50" fmla="*/ 26 w 640"/>
                <a:gd name="T51" fmla="*/ 55 h 759"/>
                <a:gd name="T52" fmla="*/ 28 w 640"/>
                <a:gd name="T53" fmla="*/ 57 h 759"/>
                <a:gd name="T54" fmla="*/ 31 w 640"/>
                <a:gd name="T55" fmla="*/ 61 h 759"/>
                <a:gd name="T56" fmla="*/ 37 w 640"/>
                <a:gd name="T57" fmla="*/ 67 h 759"/>
                <a:gd name="T58" fmla="*/ 45 w 640"/>
                <a:gd name="T59" fmla="*/ 75 h 759"/>
                <a:gd name="T60" fmla="*/ 52 w 640"/>
                <a:gd name="T61" fmla="*/ 84 h 759"/>
                <a:gd name="T62" fmla="*/ 59 w 640"/>
                <a:gd name="T63" fmla="*/ 95 h 759"/>
                <a:gd name="T64" fmla="*/ 66 w 640"/>
                <a:gd name="T65" fmla="*/ 106 h 759"/>
                <a:gd name="T66" fmla="*/ 72 w 640"/>
                <a:gd name="T67" fmla="*/ 116 h 759"/>
                <a:gd name="T68" fmla="*/ 73 w 640"/>
                <a:gd name="T69" fmla="*/ 139 h 759"/>
                <a:gd name="T70" fmla="*/ 229 w 640"/>
                <a:gd name="T71" fmla="*/ 346 h 759"/>
                <a:gd name="T72" fmla="*/ 292 w 640"/>
                <a:gd name="T73" fmla="*/ 346 h 759"/>
                <a:gd name="T74" fmla="*/ 121 w 640"/>
                <a:gd name="T75" fmla="*/ 100 h 75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40" h="759">
                  <a:moveTo>
                    <a:pt x="266" y="220"/>
                  </a:moveTo>
                  <a:lnTo>
                    <a:pt x="219" y="214"/>
                  </a:lnTo>
                  <a:lnTo>
                    <a:pt x="182" y="198"/>
                  </a:lnTo>
                  <a:lnTo>
                    <a:pt x="156" y="177"/>
                  </a:lnTo>
                  <a:lnTo>
                    <a:pt x="138" y="152"/>
                  </a:lnTo>
                  <a:lnTo>
                    <a:pt x="127" y="128"/>
                  </a:lnTo>
                  <a:lnTo>
                    <a:pt x="121" y="106"/>
                  </a:lnTo>
                  <a:lnTo>
                    <a:pt x="117" y="91"/>
                  </a:lnTo>
                  <a:lnTo>
                    <a:pt x="117" y="85"/>
                  </a:lnTo>
                  <a:lnTo>
                    <a:pt x="129" y="57"/>
                  </a:lnTo>
                  <a:lnTo>
                    <a:pt x="127" y="36"/>
                  </a:lnTo>
                  <a:lnTo>
                    <a:pt x="115" y="21"/>
                  </a:lnTo>
                  <a:lnTo>
                    <a:pt x="99" y="10"/>
                  </a:lnTo>
                  <a:lnTo>
                    <a:pt x="79" y="5"/>
                  </a:lnTo>
                  <a:lnTo>
                    <a:pt x="61" y="1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0" y="36"/>
                  </a:lnTo>
                  <a:lnTo>
                    <a:pt x="2" y="48"/>
                  </a:lnTo>
                  <a:lnTo>
                    <a:pt x="5" y="62"/>
                  </a:lnTo>
                  <a:lnTo>
                    <a:pt x="9" y="76"/>
                  </a:lnTo>
                  <a:lnTo>
                    <a:pt x="15" y="89"/>
                  </a:lnTo>
                  <a:lnTo>
                    <a:pt x="23" y="100"/>
                  </a:lnTo>
                  <a:lnTo>
                    <a:pt x="32" y="109"/>
                  </a:lnTo>
                  <a:lnTo>
                    <a:pt x="44" y="116"/>
                  </a:lnTo>
                  <a:lnTo>
                    <a:pt x="58" y="121"/>
                  </a:lnTo>
                  <a:lnTo>
                    <a:pt x="61" y="124"/>
                  </a:lnTo>
                  <a:lnTo>
                    <a:pt x="69" y="134"/>
                  </a:lnTo>
                  <a:lnTo>
                    <a:pt x="82" y="147"/>
                  </a:lnTo>
                  <a:lnTo>
                    <a:pt x="98" y="165"/>
                  </a:lnTo>
                  <a:lnTo>
                    <a:pt x="114" y="185"/>
                  </a:lnTo>
                  <a:lnTo>
                    <a:pt x="130" y="209"/>
                  </a:lnTo>
                  <a:lnTo>
                    <a:pt x="145" y="232"/>
                  </a:lnTo>
                  <a:lnTo>
                    <a:pt x="157" y="255"/>
                  </a:lnTo>
                  <a:lnTo>
                    <a:pt x="161" y="304"/>
                  </a:lnTo>
                  <a:lnTo>
                    <a:pt x="502" y="759"/>
                  </a:lnTo>
                  <a:lnTo>
                    <a:pt x="640" y="759"/>
                  </a:lnTo>
                  <a:lnTo>
                    <a:pt x="266" y="220"/>
                  </a:ln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67" name="Freeform 258"/>
            <p:cNvSpPr>
              <a:spLocks/>
            </p:cNvSpPr>
            <p:nvPr/>
          </p:nvSpPr>
          <p:spPr bwMode="gray">
            <a:xfrm>
              <a:off x="3478" y="3465"/>
              <a:ext cx="255" cy="331"/>
            </a:xfrm>
            <a:custGeom>
              <a:avLst/>
              <a:gdLst>
                <a:gd name="T0" fmla="*/ 98 w 559"/>
                <a:gd name="T1" fmla="*/ 100 h 723"/>
                <a:gd name="T2" fmla="*/ 92 w 559"/>
                <a:gd name="T3" fmla="*/ 90 h 723"/>
                <a:gd name="T4" fmla="*/ 85 w 559"/>
                <a:gd name="T5" fmla="*/ 79 h 723"/>
                <a:gd name="T6" fmla="*/ 78 w 559"/>
                <a:gd name="T7" fmla="*/ 68 h 723"/>
                <a:gd name="T8" fmla="*/ 71 w 559"/>
                <a:gd name="T9" fmla="*/ 59 h 723"/>
                <a:gd name="T10" fmla="*/ 63 w 559"/>
                <a:gd name="T11" fmla="*/ 51 h 723"/>
                <a:gd name="T12" fmla="*/ 57 w 559"/>
                <a:gd name="T13" fmla="*/ 45 h 723"/>
                <a:gd name="T14" fmla="*/ 54 w 559"/>
                <a:gd name="T15" fmla="*/ 40 h 723"/>
                <a:gd name="T16" fmla="*/ 52 w 559"/>
                <a:gd name="T17" fmla="*/ 39 h 723"/>
                <a:gd name="T18" fmla="*/ 46 w 559"/>
                <a:gd name="T19" fmla="*/ 37 h 723"/>
                <a:gd name="T20" fmla="*/ 41 w 559"/>
                <a:gd name="T21" fmla="*/ 33 h 723"/>
                <a:gd name="T22" fmla="*/ 36 w 559"/>
                <a:gd name="T23" fmla="*/ 29 h 723"/>
                <a:gd name="T24" fmla="*/ 33 w 559"/>
                <a:gd name="T25" fmla="*/ 24 h 723"/>
                <a:gd name="T26" fmla="*/ 30 w 559"/>
                <a:gd name="T27" fmla="*/ 18 h 723"/>
                <a:gd name="T28" fmla="*/ 28 w 559"/>
                <a:gd name="T29" fmla="*/ 12 h 723"/>
                <a:gd name="T30" fmla="*/ 27 w 559"/>
                <a:gd name="T31" fmla="*/ 5 h 723"/>
                <a:gd name="T32" fmla="*/ 26 w 559"/>
                <a:gd name="T33" fmla="*/ 0 h 723"/>
                <a:gd name="T34" fmla="*/ 14 w 559"/>
                <a:gd name="T35" fmla="*/ 10 h 723"/>
                <a:gd name="T36" fmla="*/ 5 w 559"/>
                <a:gd name="T37" fmla="*/ 19 h 723"/>
                <a:gd name="T38" fmla="*/ 0 w 559"/>
                <a:gd name="T39" fmla="*/ 28 h 723"/>
                <a:gd name="T40" fmla="*/ 0 w 559"/>
                <a:gd name="T41" fmla="*/ 35 h 723"/>
                <a:gd name="T42" fmla="*/ 2 w 559"/>
                <a:gd name="T43" fmla="*/ 41 h 723"/>
                <a:gd name="T44" fmla="*/ 6 w 559"/>
                <a:gd name="T45" fmla="*/ 46 h 723"/>
                <a:gd name="T46" fmla="*/ 10 w 559"/>
                <a:gd name="T47" fmla="*/ 49 h 723"/>
                <a:gd name="T48" fmla="*/ 13 w 559"/>
                <a:gd name="T49" fmla="*/ 52 h 723"/>
                <a:gd name="T50" fmla="*/ 15 w 559"/>
                <a:gd name="T51" fmla="*/ 52 h 723"/>
                <a:gd name="T52" fmla="*/ 32 w 559"/>
                <a:gd name="T53" fmla="*/ 60 h 723"/>
                <a:gd name="T54" fmla="*/ 43 w 559"/>
                <a:gd name="T55" fmla="*/ 72 h 723"/>
                <a:gd name="T56" fmla="*/ 48 w 559"/>
                <a:gd name="T57" fmla="*/ 87 h 723"/>
                <a:gd name="T58" fmla="*/ 51 w 559"/>
                <a:gd name="T59" fmla="*/ 104 h 723"/>
                <a:gd name="T60" fmla="*/ 50 w 559"/>
                <a:gd name="T61" fmla="*/ 120 h 723"/>
                <a:gd name="T62" fmla="*/ 48 w 559"/>
                <a:gd name="T63" fmla="*/ 134 h 723"/>
                <a:gd name="T64" fmla="*/ 46 w 559"/>
                <a:gd name="T65" fmla="*/ 143 h 723"/>
                <a:gd name="T66" fmla="*/ 45 w 559"/>
                <a:gd name="T67" fmla="*/ 147 h 723"/>
                <a:gd name="T68" fmla="*/ 158 w 559"/>
                <a:gd name="T69" fmla="*/ 331 h 723"/>
                <a:gd name="T70" fmla="*/ 255 w 559"/>
                <a:gd name="T71" fmla="*/ 331 h 723"/>
                <a:gd name="T72" fmla="*/ 99 w 559"/>
                <a:gd name="T73" fmla="*/ 123 h 723"/>
                <a:gd name="T74" fmla="*/ 98 w 559"/>
                <a:gd name="T75" fmla="*/ 100 h 72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59" h="723">
                  <a:moveTo>
                    <a:pt x="214" y="219"/>
                  </a:moveTo>
                  <a:lnTo>
                    <a:pt x="202" y="196"/>
                  </a:lnTo>
                  <a:lnTo>
                    <a:pt x="187" y="173"/>
                  </a:lnTo>
                  <a:lnTo>
                    <a:pt x="171" y="149"/>
                  </a:lnTo>
                  <a:lnTo>
                    <a:pt x="155" y="129"/>
                  </a:lnTo>
                  <a:lnTo>
                    <a:pt x="139" y="111"/>
                  </a:lnTo>
                  <a:lnTo>
                    <a:pt x="126" y="98"/>
                  </a:lnTo>
                  <a:lnTo>
                    <a:pt x="118" y="88"/>
                  </a:lnTo>
                  <a:lnTo>
                    <a:pt x="115" y="85"/>
                  </a:lnTo>
                  <a:lnTo>
                    <a:pt x="101" y="80"/>
                  </a:lnTo>
                  <a:lnTo>
                    <a:pt x="89" y="73"/>
                  </a:lnTo>
                  <a:lnTo>
                    <a:pt x="80" y="64"/>
                  </a:lnTo>
                  <a:lnTo>
                    <a:pt x="72" y="53"/>
                  </a:lnTo>
                  <a:lnTo>
                    <a:pt x="66" y="40"/>
                  </a:lnTo>
                  <a:lnTo>
                    <a:pt x="62" y="26"/>
                  </a:lnTo>
                  <a:lnTo>
                    <a:pt x="59" y="12"/>
                  </a:lnTo>
                  <a:lnTo>
                    <a:pt x="57" y="0"/>
                  </a:lnTo>
                  <a:lnTo>
                    <a:pt x="30" y="22"/>
                  </a:lnTo>
                  <a:lnTo>
                    <a:pt x="11" y="42"/>
                  </a:lnTo>
                  <a:lnTo>
                    <a:pt x="0" y="61"/>
                  </a:lnTo>
                  <a:lnTo>
                    <a:pt x="0" y="77"/>
                  </a:lnTo>
                  <a:lnTo>
                    <a:pt x="5" y="90"/>
                  </a:lnTo>
                  <a:lnTo>
                    <a:pt x="13" y="100"/>
                  </a:lnTo>
                  <a:lnTo>
                    <a:pt x="21" y="108"/>
                  </a:lnTo>
                  <a:lnTo>
                    <a:pt x="28" y="113"/>
                  </a:lnTo>
                  <a:lnTo>
                    <a:pt x="32" y="114"/>
                  </a:lnTo>
                  <a:lnTo>
                    <a:pt x="70" y="131"/>
                  </a:lnTo>
                  <a:lnTo>
                    <a:pt x="94" y="158"/>
                  </a:lnTo>
                  <a:lnTo>
                    <a:pt x="106" y="191"/>
                  </a:lnTo>
                  <a:lnTo>
                    <a:pt x="111" y="228"/>
                  </a:lnTo>
                  <a:lnTo>
                    <a:pt x="110" y="262"/>
                  </a:lnTo>
                  <a:lnTo>
                    <a:pt x="105" y="292"/>
                  </a:lnTo>
                  <a:lnTo>
                    <a:pt x="101" y="313"/>
                  </a:lnTo>
                  <a:lnTo>
                    <a:pt x="98" y="321"/>
                  </a:lnTo>
                  <a:lnTo>
                    <a:pt x="347" y="723"/>
                  </a:lnTo>
                  <a:lnTo>
                    <a:pt x="559" y="723"/>
                  </a:lnTo>
                  <a:lnTo>
                    <a:pt x="218" y="268"/>
                  </a:lnTo>
                  <a:lnTo>
                    <a:pt x="214" y="219"/>
                  </a:ln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68" name="Freeform 259"/>
            <p:cNvSpPr>
              <a:spLocks/>
            </p:cNvSpPr>
            <p:nvPr/>
          </p:nvSpPr>
          <p:spPr bwMode="gray">
            <a:xfrm>
              <a:off x="2997" y="2830"/>
              <a:ext cx="679" cy="700"/>
            </a:xfrm>
            <a:custGeom>
              <a:avLst/>
              <a:gdLst>
                <a:gd name="T0" fmla="*/ 1 w 1485"/>
                <a:gd name="T1" fmla="*/ 386 h 1529"/>
                <a:gd name="T2" fmla="*/ 15 w 1485"/>
                <a:gd name="T3" fmla="*/ 454 h 1529"/>
                <a:gd name="T4" fmla="*/ 41 w 1485"/>
                <a:gd name="T5" fmla="*/ 517 h 1529"/>
                <a:gd name="T6" fmla="*/ 77 w 1485"/>
                <a:gd name="T7" fmla="*/ 573 h 1529"/>
                <a:gd name="T8" fmla="*/ 123 w 1485"/>
                <a:gd name="T9" fmla="*/ 620 h 1529"/>
                <a:gd name="T10" fmla="*/ 178 w 1485"/>
                <a:gd name="T11" fmla="*/ 658 h 1529"/>
                <a:gd name="T12" fmla="*/ 239 w 1485"/>
                <a:gd name="T13" fmla="*/ 684 h 1529"/>
                <a:gd name="T14" fmla="*/ 305 w 1485"/>
                <a:gd name="T15" fmla="*/ 699 h 1529"/>
                <a:gd name="T16" fmla="*/ 374 w 1485"/>
                <a:gd name="T17" fmla="*/ 699 h 1529"/>
                <a:gd name="T18" fmla="*/ 440 w 1485"/>
                <a:gd name="T19" fmla="*/ 684 h 1529"/>
                <a:gd name="T20" fmla="*/ 502 w 1485"/>
                <a:gd name="T21" fmla="*/ 658 h 1529"/>
                <a:gd name="T22" fmla="*/ 555 w 1485"/>
                <a:gd name="T23" fmla="*/ 620 h 1529"/>
                <a:gd name="T24" fmla="*/ 602 w 1485"/>
                <a:gd name="T25" fmla="*/ 573 h 1529"/>
                <a:gd name="T26" fmla="*/ 638 w 1485"/>
                <a:gd name="T27" fmla="*/ 517 h 1529"/>
                <a:gd name="T28" fmla="*/ 664 w 1485"/>
                <a:gd name="T29" fmla="*/ 454 h 1529"/>
                <a:gd name="T30" fmla="*/ 678 w 1485"/>
                <a:gd name="T31" fmla="*/ 386 h 1529"/>
                <a:gd name="T32" fmla="*/ 678 w 1485"/>
                <a:gd name="T33" fmla="*/ 314 h 1529"/>
                <a:gd name="T34" fmla="*/ 664 w 1485"/>
                <a:gd name="T35" fmla="*/ 246 h 1529"/>
                <a:gd name="T36" fmla="*/ 638 w 1485"/>
                <a:gd name="T37" fmla="*/ 183 h 1529"/>
                <a:gd name="T38" fmla="*/ 602 w 1485"/>
                <a:gd name="T39" fmla="*/ 128 h 1529"/>
                <a:gd name="T40" fmla="*/ 555 w 1485"/>
                <a:gd name="T41" fmla="*/ 80 h 1529"/>
                <a:gd name="T42" fmla="*/ 502 w 1485"/>
                <a:gd name="T43" fmla="*/ 42 h 1529"/>
                <a:gd name="T44" fmla="*/ 440 w 1485"/>
                <a:gd name="T45" fmla="*/ 16 h 1529"/>
                <a:gd name="T46" fmla="*/ 374 w 1485"/>
                <a:gd name="T47" fmla="*/ 1 h 1529"/>
                <a:gd name="T48" fmla="*/ 305 w 1485"/>
                <a:gd name="T49" fmla="*/ 1 h 1529"/>
                <a:gd name="T50" fmla="*/ 239 w 1485"/>
                <a:gd name="T51" fmla="*/ 16 h 1529"/>
                <a:gd name="T52" fmla="*/ 178 w 1485"/>
                <a:gd name="T53" fmla="*/ 42 h 1529"/>
                <a:gd name="T54" fmla="*/ 123 w 1485"/>
                <a:gd name="T55" fmla="*/ 80 h 1529"/>
                <a:gd name="T56" fmla="*/ 77 w 1485"/>
                <a:gd name="T57" fmla="*/ 128 h 1529"/>
                <a:gd name="T58" fmla="*/ 41 w 1485"/>
                <a:gd name="T59" fmla="*/ 183 h 1529"/>
                <a:gd name="T60" fmla="*/ 15 w 1485"/>
                <a:gd name="T61" fmla="*/ 246 h 1529"/>
                <a:gd name="T62" fmla="*/ 1 w 1485"/>
                <a:gd name="T63" fmla="*/ 314 h 15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85" h="1529">
                  <a:moveTo>
                    <a:pt x="0" y="765"/>
                  </a:moveTo>
                  <a:lnTo>
                    <a:pt x="3" y="843"/>
                  </a:lnTo>
                  <a:lnTo>
                    <a:pt x="15" y="919"/>
                  </a:lnTo>
                  <a:lnTo>
                    <a:pt x="33" y="991"/>
                  </a:lnTo>
                  <a:lnTo>
                    <a:pt x="58" y="1062"/>
                  </a:lnTo>
                  <a:lnTo>
                    <a:pt x="89" y="1129"/>
                  </a:lnTo>
                  <a:lnTo>
                    <a:pt x="126" y="1192"/>
                  </a:lnTo>
                  <a:lnTo>
                    <a:pt x="169" y="1251"/>
                  </a:lnTo>
                  <a:lnTo>
                    <a:pt x="217" y="1305"/>
                  </a:lnTo>
                  <a:lnTo>
                    <a:pt x="270" y="1354"/>
                  </a:lnTo>
                  <a:lnTo>
                    <a:pt x="327" y="1398"/>
                  </a:lnTo>
                  <a:lnTo>
                    <a:pt x="389" y="1437"/>
                  </a:lnTo>
                  <a:lnTo>
                    <a:pt x="454" y="1469"/>
                  </a:lnTo>
                  <a:lnTo>
                    <a:pt x="522" y="1495"/>
                  </a:lnTo>
                  <a:lnTo>
                    <a:pt x="593" y="1513"/>
                  </a:lnTo>
                  <a:lnTo>
                    <a:pt x="667" y="1526"/>
                  </a:lnTo>
                  <a:lnTo>
                    <a:pt x="743" y="1529"/>
                  </a:lnTo>
                  <a:lnTo>
                    <a:pt x="819" y="1526"/>
                  </a:lnTo>
                  <a:lnTo>
                    <a:pt x="893" y="1513"/>
                  </a:lnTo>
                  <a:lnTo>
                    <a:pt x="963" y="1495"/>
                  </a:lnTo>
                  <a:lnTo>
                    <a:pt x="1031" y="1469"/>
                  </a:lnTo>
                  <a:lnTo>
                    <a:pt x="1097" y="1437"/>
                  </a:lnTo>
                  <a:lnTo>
                    <a:pt x="1158" y="1398"/>
                  </a:lnTo>
                  <a:lnTo>
                    <a:pt x="1214" y="1354"/>
                  </a:lnTo>
                  <a:lnTo>
                    <a:pt x="1267" y="1305"/>
                  </a:lnTo>
                  <a:lnTo>
                    <a:pt x="1316" y="1251"/>
                  </a:lnTo>
                  <a:lnTo>
                    <a:pt x="1358" y="1192"/>
                  </a:lnTo>
                  <a:lnTo>
                    <a:pt x="1395" y="1129"/>
                  </a:lnTo>
                  <a:lnTo>
                    <a:pt x="1426" y="1062"/>
                  </a:lnTo>
                  <a:lnTo>
                    <a:pt x="1452" y="991"/>
                  </a:lnTo>
                  <a:lnTo>
                    <a:pt x="1470" y="919"/>
                  </a:lnTo>
                  <a:lnTo>
                    <a:pt x="1482" y="843"/>
                  </a:lnTo>
                  <a:lnTo>
                    <a:pt x="1485" y="765"/>
                  </a:lnTo>
                  <a:lnTo>
                    <a:pt x="1482" y="686"/>
                  </a:lnTo>
                  <a:lnTo>
                    <a:pt x="1470" y="610"/>
                  </a:lnTo>
                  <a:lnTo>
                    <a:pt x="1452" y="537"/>
                  </a:lnTo>
                  <a:lnTo>
                    <a:pt x="1426" y="466"/>
                  </a:lnTo>
                  <a:lnTo>
                    <a:pt x="1395" y="400"/>
                  </a:lnTo>
                  <a:lnTo>
                    <a:pt x="1358" y="337"/>
                  </a:lnTo>
                  <a:lnTo>
                    <a:pt x="1316" y="279"/>
                  </a:lnTo>
                  <a:lnTo>
                    <a:pt x="1267" y="223"/>
                  </a:lnTo>
                  <a:lnTo>
                    <a:pt x="1214" y="175"/>
                  </a:lnTo>
                  <a:lnTo>
                    <a:pt x="1158" y="130"/>
                  </a:lnTo>
                  <a:lnTo>
                    <a:pt x="1097" y="92"/>
                  </a:lnTo>
                  <a:lnTo>
                    <a:pt x="1031" y="60"/>
                  </a:lnTo>
                  <a:lnTo>
                    <a:pt x="963" y="34"/>
                  </a:lnTo>
                  <a:lnTo>
                    <a:pt x="893" y="15"/>
                  </a:lnTo>
                  <a:lnTo>
                    <a:pt x="819" y="3"/>
                  </a:lnTo>
                  <a:lnTo>
                    <a:pt x="743" y="0"/>
                  </a:lnTo>
                  <a:lnTo>
                    <a:pt x="667" y="3"/>
                  </a:lnTo>
                  <a:lnTo>
                    <a:pt x="593" y="15"/>
                  </a:lnTo>
                  <a:lnTo>
                    <a:pt x="522" y="34"/>
                  </a:lnTo>
                  <a:lnTo>
                    <a:pt x="454" y="60"/>
                  </a:lnTo>
                  <a:lnTo>
                    <a:pt x="389" y="92"/>
                  </a:lnTo>
                  <a:lnTo>
                    <a:pt x="327" y="130"/>
                  </a:lnTo>
                  <a:lnTo>
                    <a:pt x="270" y="175"/>
                  </a:lnTo>
                  <a:lnTo>
                    <a:pt x="217" y="223"/>
                  </a:lnTo>
                  <a:lnTo>
                    <a:pt x="169" y="279"/>
                  </a:lnTo>
                  <a:lnTo>
                    <a:pt x="126" y="337"/>
                  </a:lnTo>
                  <a:lnTo>
                    <a:pt x="89" y="400"/>
                  </a:lnTo>
                  <a:lnTo>
                    <a:pt x="58" y="466"/>
                  </a:lnTo>
                  <a:lnTo>
                    <a:pt x="33" y="537"/>
                  </a:lnTo>
                  <a:lnTo>
                    <a:pt x="15" y="610"/>
                  </a:lnTo>
                  <a:lnTo>
                    <a:pt x="3" y="686"/>
                  </a:lnTo>
                  <a:lnTo>
                    <a:pt x="0" y="765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69" name="Freeform 260"/>
            <p:cNvSpPr>
              <a:spLocks/>
            </p:cNvSpPr>
            <p:nvPr/>
          </p:nvSpPr>
          <p:spPr bwMode="gray">
            <a:xfrm>
              <a:off x="2999" y="2864"/>
              <a:ext cx="657" cy="669"/>
            </a:xfrm>
            <a:custGeom>
              <a:avLst/>
              <a:gdLst>
                <a:gd name="T0" fmla="*/ 1 w 1438"/>
                <a:gd name="T1" fmla="*/ 365 h 1460"/>
                <a:gd name="T2" fmla="*/ 15 w 1438"/>
                <a:gd name="T3" fmla="*/ 431 h 1460"/>
                <a:gd name="T4" fmla="*/ 39 w 1438"/>
                <a:gd name="T5" fmla="*/ 492 h 1460"/>
                <a:gd name="T6" fmla="*/ 75 w 1438"/>
                <a:gd name="T7" fmla="*/ 546 h 1460"/>
                <a:gd name="T8" fmla="*/ 120 w 1438"/>
                <a:gd name="T9" fmla="*/ 592 h 1460"/>
                <a:gd name="T10" fmla="*/ 172 w 1438"/>
                <a:gd name="T11" fmla="*/ 628 h 1460"/>
                <a:gd name="T12" fmla="*/ 231 w 1438"/>
                <a:gd name="T13" fmla="*/ 654 h 1460"/>
                <a:gd name="T14" fmla="*/ 295 w 1438"/>
                <a:gd name="T15" fmla="*/ 668 h 1460"/>
                <a:gd name="T16" fmla="*/ 362 w 1438"/>
                <a:gd name="T17" fmla="*/ 668 h 1460"/>
                <a:gd name="T18" fmla="*/ 426 w 1438"/>
                <a:gd name="T19" fmla="*/ 654 h 1460"/>
                <a:gd name="T20" fmla="*/ 485 w 1438"/>
                <a:gd name="T21" fmla="*/ 628 h 1460"/>
                <a:gd name="T22" fmla="*/ 538 w 1438"/>
                <a:gd name="T23" fmla="*/ 592 h 1460"/>
                <a:gd name="T24" fmla="*/ 582 w 1438"/>
                <a:gd name="T25" fmla="*/ 546 h 1460"/>
                <a:gd name="T26" fmla="*/ 618 w 1438"/>
                <a:gd name="T27" fmla="*/ 492 h 1460"/>
                <a:gd name="T28" fmla="*/ 642 w 1438"/>
                <a:gd name="T29" fmla="*/ 431 h 1460"/>
                <a:gd name="T30" fmla="*/ 656 w 1438"/>
                <a:gd name="T31" fmla="*/ 365 h 1460"/>
                <a:gd name="T32" fmla="*/ 656 w 1438"/>
                <a:gd name="T33" fmla="*/ 296 h 1460"/>
                <a:gd name="T34" fmla="*/ 642 w 1438"/>
                <a:gd name="T35" fmla="*/ 230 h 1460"/>
                <a:gd name="T36" fmla="*/ 618 w 1438"/>
                <a:gd name="T37" fmla="*/ 171 h 1460"/>
                <a:gd name="T38" fmla="*/ 582 w 1438"/>
                <a:gd name="T39" fmla="*/ 118 h 1460"/>
                <a:gd name="T40" fmla="*/ 538 w 1438"/>
                <a:gd name="T41" fmla="*/ 74 h 1460"/>
                <a:gd name="T42" fmla="*/ 485 w 1438"/>
                <a:gd name="T43" fmla="*/ 39 h 1460"/>
                <a:gd name="T44" fmla="*/ 426 w 1438"/>
                <a:gd name="T45" fmla="*/ 14 h 1460"/>
                <a:gd name="T46" fmla="*/ 362 w 1438"/>
                <a:gd name="T47" fmla="*/ 1 h 1460"/>
                <a:gd name="T48" fmla="*/ 295 w 1438"/>
                <a:gd name="T49" fmla="*/ 1 h 1460"/>
                <a:gd name="T50" fmla="*/ 231 w 1438"/>
                <a:gd name="T51" fmla="*/ 14 h 1460"/>
                <a:gd name="T52" fmla="*/ 172 w 1438"/>
                <a:gd name="T53" fmla="*/ 39 h 1460"/>
                <a:gd name="T54" fmla="*/ 120 w 1438"/>
                <a:gd name="T55" fmla="*/ 74 h 1460"/>
                <a:gd name="T56" fmla="*/ 75 w 1438"/>
                <a:gd name="T57" fmla="*/ 118 h 1460"/>
                <a:gd name="T58" fmla="*/ 39 w 1438"/>
                <a:gd name="T59" fmla="*/ 171 h 1460"/>
                <a:gd name="T60" fmla="*/ 15 w 1438"/>
                <a:gd name="T61" fmla="*/ 230 h 1460"/>
                <a:gd name="T62" fmla="*/ 1 w 1438"/>
                <a:gd name="T63" fmla="*/ 296 h 1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38" h="1460">
                  <a:moveTo>
                    <a:pt x="0" y="721"/>
                  </a:moveTo>
                  <a:lnTo>
                    <a:pt x="3" y="797"/>
                  </a:lnTo>
                  <a:lnTo>
                    <a:pt x="15" y="869"/>
                  </a:lnTo>
                  <a:lnTo>
                    <a:pt x="32" y="941"/>
                  </a:lnTo>
                  <a:lnTo>
                    <a:pt x="56" y="1009"/>
                  </a:lnTo>
                  <a:lnTo>
                    <a:pt x="86" y="1073"/>
                  </a:lnTo>
                  <a:lnTo>
                    <a:pt x="122" y="1134"/>
                  </a:lnTo>
                  <a:lnTo>
                    <a:pt x="164" y="1191"/>
                  </a:lnTo>
                  <a:lnTo>
                    <a:pt x="211" y="1244"/>
                  </a:lnTo>
                  <a:lnTo>
                    <a:pt x="262" y="1291"/>
                  </a:lnTo>
                  <a:lnTo>
                    <a:pt x="317" y="1333"/>
                  </a:lnTo>
                  <a:lnTo>
                    <a:pt x="376" y="1370"/>
                  </a:lnTo>
                  <a:lnTo>
                    <a:pt x="439" y="1401"/>
                  </a:lnTo>
                  <a:lnTo>
                    <a:pt x="505" y="1427"/>
                  </a:lnTo>
                  <a:lnTo>
                    <a:pt x="574" y="1445"/>
                  </a:lnTo>
                  <a:lnTo>
                    <a:pt x="645" y="1457"/>
                  </a:lnTo>
                  <a:lnTo>
                    <a:pt x="719" y="1460"/>
                  </a:lnTo>
                  <a:lnTo>
                    <a:pt x="793" y="1457"/>
                  </a:lnTo>
                  <a:lnTo>
                    <a:pt x="864" y="1445"/>
                  </a:lnTo>
                  <a:lnTo>
                    <a:pt x="932" y="1427"/>
                  </a:lnTo>
                  <a:lnTo>
                    <a:pt x="999" y="1401"/>
                  </a:lnTo>
                  <a:lnTo>
                    <a:pt x="1061" y="1370"/>
                  </a:lnTo>
                  <a:lnTo>
                    <a:pt x="1121" y="1333"/>
                  </a:lnTo>
                  <a:lnTo>
                    <a:pt x="1177" y="1291"/>
                  </a:lnTo>
                  <a:lnTo>
                    <a:pt x="1227" y="1244"/>
                  </a:lnTo>
                  <a:lnTo>
                    <a:pt x="1273" y="1191"/>
                  </a:lnTo>
                  <a:lnTo>
                    <a:pt x="1315" y="1134"/>
                  </a:lnTo>
                  <a:lnTo>
                    <a:pt x="1352" y="1073"/>
                  </a:lnTo>
                  <a:lnTo>
                    <a:pt x="1382" y="1009"/>
                  </a:lnTo>
                  <a:lnTo>
                    <a:pt x="1406" y="941"/>
                  </a:lnTo>
                  <a:lnTo>
                    <a:pt x="1423" y="869"/>
                  </a:lnTo>
                  <a:lnTo>
                    <a:pt x="1435" y="797"/>
                  </a:lnTo>
                  <a:lnTo>
                    <a:pt x="1438" y="721"/>
                  </a:lnTo>
                  <a:lnTo>
                    <a:pt x="1435" y="645"/>
                  </a:lnTo>
                  <a:lnTo>
                    <a:pt x="1423" y="572"/>
                  </a:lnTo>
                  <a:lnTo>
                    <a:pt x="1406" y="502"/>
                  </a:lnTo>
                  <a:lnTo>
                    <a:pt x="1382" y="435"/>
                  </a:lnTo>
                  <a:lnTo>
                    <a:pt x="1352" y="373"/>
                  </a:lnTo>
                  <a:lnTo>
                    <a:pt x="1315" y="313"/>
                  </a:lnTo>
                  <a:lnTo>
                    <a:pt x="1273" y="258"/>
                  </a:lnTo>
                  <a:lnTo>
                    <a:pt x="1227" y="207"/>
                  </a:lnTo>
                  <a:lnTo>
                    <a:pt x="1177" y="161"/>
                  </a:lnTo>
                  <a:lnTo>
                    <a:pt x="1121" y="120"/>
                  </a:lnTo>
                  <a:lnTo>
                    <a:pt x="1061" y="85"/>
                  </a:lnTo>
                  <a:lnTo>
                    <a:pt x="999" y="55"/>
                  </a:lnTo>
                  <a:lnTo>
                    <a:pt x="932" y="31"/>
                  </a:lnTo>
                  <a:lnTo>
                    <a:pt x="864" y="14"/>
                  </a:lnTo>
                  <a:lnTo>
                    <a:pt x="793" y="3"/>
                  </a:lnTo>
                  <a:lnTo>
                    <a:pt x="719" y="0"/>
                  </a:lnTo>
                  <a:lnTo>
                    <a:pt x="645" y="3"/>
                  </a:lnTo>
                  <a:lnTo>
                    <a:pt x="574" y="14"/>
                  </a:lnTo>
                  <a:lnTo>
                    <a:pt x="505" y="31"/>
                  </a:lnTo>
                  <a:lnTo>
                    <a:pt x="439" y="55"/>
                  </a:lnTo>
                  <a:lnTo>
                    <a:pt x="376" y="85"/>
                  </a:lnTo>
                  <a:lnTo>
                    <a:pt x="317" y="120"/>
                  </a:lnTo>
                  <a:lnTo>
                    <a:pt x="262" y="161"/>
                  </a:lnTo>
                  <a:lnTo>
                    <a:pt x="211" y="207"/>
                  </a:lnTo>
                  <a:lnTo>
                    <a:pt x="164" y="258"/>
                  </a:lnTo>
                  <a:lnTo>
                    <a:pt x="122" y="313"/>
                  </a:lnTo>
                  <a:lnTo>
                    <a:pt x="86" y="373"/>
                  </a:lnTo>
                  <a:lnTo>
                    <a:pt x="56" y="435"/>
                  </a:lnTo>
                  <a:lnTo>
                    <a:pt x="32" y="502"/>
                  </a:lnTo>
                  <a:lnTo>
                    <a:pt x="15" y="572"/>
                  </a:lnTo>
                  <a:lnTo>
                    <a:pt x="3" y="645"/>
                  </a:lnTo>
                  <a:lnTo>
                    <a:pt x="0" y="721"/>
                  </a:ln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0" name="Freeform 261"/>
            <p:cNvSpPr>
              <a:spLocks/>
            </p:cNvSpPr>
            <p:nvPr/>
          </p:nvSpPr>
          <p:spPr bwMode="gray">
            <a:xfrm>
              <a:off x="3041" y="2922"/>
              <a:ext cx="548" cy="573"/>
            </a:xfrm>
            <a:custGeom>
              <a:avLst/>
              <a:gdLst>
                <a:gd name="T0" fmla="*/ 522 w 1200"/>
                <a:gd name="T1" fmla="*/ 183 h 1254"/>
                <a:gd name="T2" fmla="*/ 540 w 1200"/>
                <a:gd name="T3" fmla="*/ 238 h 1254"/>
                <a:gd name="T4" fmla="*/ 548 w 1200"/>
                <a:gd name="T5" fmla="*/ 294 h 1254"/>
                <a:gd name="T6" fmla="*/ 545 w 1200"/>
                <a:gd name="T7" fmla="*/ 349 h 1254"/>
                <a:gd name="T8" fmla="*/ 533 w 1200"/>
                <a:gd name="T9" fmla="*/ 401 h 1254"/>
                <a:gd name="T10" fmla="*/ 511 w 1200"/>
                <a:gd name="T11" fmla="*/ 448 h 1254"/>
                <a:gd name="T12" fmla="*/ 479 w 1200"/>
                <a:gd name="T13" fmla="*/ 492 h 1254"/>
                <a:gd name="T14" fmla="*/ 439 w 1200"/>
                <a:gd name="T15" fmla="*/ 527 h 1254"/>
                <a:gd name="T16" fmla="*/ 404 w 1200"/>
                <a:gd name="T17" fmla="*/ 548 h 1254"/>
                <a:gd name="T18" fmla="*/ 379 w 1200"/>
                <a:gd name="T19" fmla="*/ 558 h 1254"/>
                <a:gd name="T20" fmla="*/ 353 w 1200"/>
                <a:gd name="T21" fmla="*/ 566 h 1254"/>
                <a:gd name="T22" fmla="*/ 327 w 1200"/>
                <a:gd name="T23" fmla="*/ 571 h 1254"/>
                <a:gd name="T24" fmla="*/ 300 w 1200"/>
                <a:gd name="T25" fmla="*/ 573 h 1254"/>
                <a:gd name="T26" fmla="*/ 274 w 1200"/>
                <a:gd name="T27" fmla="*/ 572 h 1254"/>
                <a:gd name="T28" fmla="*/ 248 w 1200"/>
                <a:gd name="T29" fmla="*/ 569 h 1254"/>
                <a:gd name="T30" fmla="*/ 221 w 1200"/>
                <a:gd name="T31" fmla="*/ 563 h 1254"/>
                <a:gd name="T32" fmla="*/ 196 w 1200"/>
                <a:gd name="T33" fmla="*/ 555 h 1254"/>
                <a:gd name="T34" fmla="*/ 171 w 1200"/>
                <a:gd name="T35" fmla="*/ 544 h 1254"/>
                <a:gd name="T36" fmla="*/ 147 w 1200"/>
                <a:gd name="T37" fmla="*/ 531 h 1254"/>
                <a:gd name="T38" fmla="*/ 124 w 1200"/>
                <a:gd name="T39" fmla="*/ 515 h 1254"/>
                <a:gd name="T40" fmla="*/ 103 w 1200"/>
                <a:gd name="T41" fmla="*/ 497 h 1254"/>
                <a:gd name="T42" fmla="*/ 82 w 1200"/>
                <a:gd name="T43" fmla="*/ 477 h 1254"/>
                <a:gd name="T44" fmla="*/ 64 w 1200"/>
                <a:gd name="T45" fmla="*/ 454 h 1254"/>
                <a:gd name="T46" fmla="*/ 47 w 1200"/>
                <a:gd name="T47" fmla="*/ 430 h 1254"/>
                <a:gd name="T48" fmla="*/ 26 w 1200"/>
                <a:gd name="T49" fmla="*/ 390 h 1254"/>
                <a:gd name="T50" fmla="*/ 8 w 1200"/>
                <a:gd name="T51" fmla="*/ 335 h 1254"/>
                <a:gd name="T52" fmla="*/ 0 w 1200"/>
                <a:gd name="T53" fmla="*/ 280 h 1254"/>
                <a:gd name="T54" fmla="*/ 3 w 1200"/>
                <a:gd name="T55" fmla="*/ 225 h 1254"/>
                <a:gd name="T56" fmla="*/ 16 w 1200"/>
                <a:gd name="T57" fmla="*/ 173 h 1254"/>
                <a:gd name="T58" fmla="*/ 37 w 1200"/>
                <a:gd name="T59" fmla="*/ 125 h 1254"/>
                <a:gd name="T60" fmla="*/ 69 w 1200"/>
                <a:gd name="T61" fmla="*/ 82 h 1254"/>
                <a:gd name="T62" fmla="*/ 110 w 1200"/>
                <a:gd name="T63" fmla="*/ 47 h 1254"/>
                <a:gd name="T64" fmla="*/ 145 w 1200"/>
                <a:gd name="T65" fmla="*/ 26 h 1254"/>
                <a:gd name="T66" fmla="*/ 170 w 1200"/>
                <a:gd name="T67" fmla="*/ 15 h 1254"/>
                <a:gd name="T68" fmla="*/ 196 w 1200"/>
                <a:gd name="T69" fmla="*/ 7 h 1254"/>
                <a:gd name="T70" fmla="*/ 221 w 1200"/>
                <a:gd name="T71" fmla="*/ 2 h 1254"/>
                <a:gd name="T72" fmla="*/ 248 w 1200"/>
                <a:gd name="T73" fmla="*/ 0 h 1254"/>
                <a:gd name="T74" fmla="*/ 275 w 1200"/>
                <a:gd name="T75" fmla="*/ 1 h 1254"/>
                <a:gd name="T76" fmla="*/ 301 w 1200"/>
                <a:gd name="T77" fmla="*/ 4 h 1254"/>
                <a:gd name="T78" fmla="*/ 327 w 1200"/>
                <a:gd name="T79" fmla="*/ 10 h 1254"/>
                <a:gd name="T80" fmla="*/ 352 w 1200"/>
                <a:gd name="T81" fmla="*/ 19 h 1254"/>
                <a:gd name="T82" fmla="*/ 378 w 1200"/>
                <a:gd name="T83" fmla="*/ 30 h 1254"/>
                <a:gd name="T84" fmla="*/ 401 w 1200"/>
                <a:gd name="T85" fmla="*/ 43 h 1254"/>
                <a:gd name="T86" fmla="*/ 424 w 1200"/>
                <a:gd name="T87" fmla="*/ 58 h 1254"/>
                <a:gd name="T88" fmla="*/ 445 w 1200"/>
                <a:gd name="T89" fmla="*/ 76 h 1254"/>
                <a:gd name="T90" fmla="*/ 466 w 1200"/>
                <a:gd name="T91" fmla="*/ 97 h 1254"/>
                <a:gd name="T92" fmla="*/ 484 w 1200"/>
                <a:gd name="T93" fmla="*/ 119 h 1254"/>
                <a:gd name="T94" fmla="*/ 501 w 1200"/>
                <a:gd name="T95" fmla="*/ 143 h 125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00" h="1254">
                  <a:moveTo>
                    <a:pt x="1113" y="342"/>
                  </a:moveTo>
                  <a:lnTo>
                    <a:pt x="1142" y="401"/>
                  </a:lnTo>
                  <a:lnTo>
                    <a:pt x="1165" y="461"/>
                  </a:lnTo>
                  <a:lnTo>
                    <a:pt x="1183" y="521"/>
                  </a:lnTo>
                  <a:lnTo>
                    <a:pt x="1194" y="582"/>
                  </a:lnTo>
                  <a:lnTo>
                    <a:pt x="1200" y="643"/>
                  </a:lnTo>
                  <a:lnTo>
                    <a:pt x="1200" y="703"/>
                  </a:lnTo>
                  <a:lnTo>
                    <a:pt x="1194" y="763"/>
                  </a:lnTo>
                  <a:lnTo>
                    <a:pt x="1183" y="820"/>
                  </a:lnTo>
                  <a:lnTo>
                    <a:pt x="1167" y="877"/>
                  </a:lnTo>
                  <a:lnTo>
                    <a:pt x="1145" y="931"/>
                  </a:lnTo>
                  <a:lnTo>
                    <a:pt x="1118" y="981"/>
                  </a:lnTo>
                  <a:lnTo>
                    <a:pt x="1086" y="1031"/>
                  </a:lnTo>
                  <a:lnTo>
                    <a:pt x="1049" y="1076"/>
                  </a:lnTo>
                  <a:lnTo>
                    <a:pt x="1007" y="1116"/>
                  </a:lnTo>
                  <a:lnTo>
                    <a:pt x="961" y="1153"/>
                  </a:lnTo>
                  <a:lnTo>
                    <a:pt x="911" y="1185"/>
                  </a:lnTo>
                  <a:lnTo>
                    <a:pt x="884" y="1199"/>
                  </a:lnTo>
                  <a:lnTo>
                    <a:pt x="856" y="1212"/>
                  </a:lnTo>
                  <a:lnTo>
                    <a:pt x="829" y="1222"/>
                  </a:lnTo>
                  <a:lnTo>
                    <a:pt x="801" y="1231"/>
                  </a:lnTo>
                  <a:lnTo>
                    <a:pt x="772" y="1239"/>
                  </a:lnTo>
                  <a:lnTo>
                    <a:pt x="744" y="1245"/>
                  </a:lnTo>
                  <a:lnTo>
                    <a:pt x="716" y="1250"/>
                  </a:lnTo>
                  <a:lnTo>
                    <a:pt x="686" y="1252"/>
                  </a:lnTo>
                  <a:lnTo>
                    <a:pt x="657" y="1254"/>
                  </a:lnTo>
                  <a:lnTo>
                    <a:pt x="628" y="1254"/>
                  </a:lnTo>
                  <a:lnTo>
                    <a:pt x="599" y="1252"/>
                  </a:lnTo>
                  <a:lnTo>
                    <a:pt x="571" y="1250"/>
                  </a:lnTo>
                  <a:lnTo>
                    <a:pt x="542" y="1245"/>
                  </a:lnTo>
                  <a:lnTo>
                    <a:pt x="513" y="1239"/>
                  </a:lnTo>
                  <a:lnTo>
                    <a:pt x="485" y="1233"/>
                  </a:lnTo>
                  <a:lnTo>
                    <a:pt x="457" y="1223"/>
                  </a:lnTo>
                  <a:lnTo>
                    <a:pt x="429" y="1214"/>
                  </a:lnTo>
                  <a:lnTo>
                    <a:pt x="401" y="1203"/>
                  </a:lnTo>
                  <a:lnTo>
                    <a:pt x="375" y="1190"/>
                  </a:lnTo>
                  <a:lnTo>
                    <a:pt x="348" y="1176"/>
                  </a:lnTo>
                  <a:lnTo>
                    <a:pt x="322" y="1161"/>
                  </a:lnTo>
                  <a:lnTo>
                    <a:pt x="296" y="1144"/>
                  </a:lnTo>
                  <a:lnTo>
                    <a:pt x="272" y="1127"/>
                  </a:lnTo>
                  <a:lnTo>
                    <a:pt x="248" y="1107"/>
                  </a:lnTo>
                  <a:lnTo>
                    <a:pt x="225" y="1087"/>
                  </a:lnTo>
                  <a:lnTo>
                    <a:pt x="202" y="1066"/>
                  </a:lnTo>
                  <a:lnTo>
                    <a:pt x="180" y="1043"/>
                  </a:lnTo>
                  <a:lnTo>
                    <a:pt x="159" y="1019"/>
                  </a:lnTo>
                  <a:lnTo>
                    <a:pt x="140" y="994"/>
                  </a:lnTo>
                  <a:lnTo>
                    <a:pt x="121" y="968"/>
                  </a:lnTo>
                  <a:lnTo>
                    <a:pt x="103" y="941"/>
                  </a:lnTo>
                  <a:lnTo>
                    <a:pt x="87" y="912"/>
                  </a:lnTo>
                  <a:lnTo>
                    <a:pt x="58" y="854"/>
                  </a:lnTo>
                  <a:lnTo>
                    <a:pt x="35" y="795"/>
                  </a:lnTo>
                  <a:lnTo>
                    <a:pt x="17" y="734"/>
                  </a:lnTo>
                  <a:lnTo>
                    <a:pt x="6" y="673"/>
                  </a:lnTo>
                  <a:lnTo>
                    <a:pt x="0" y="613"/>
                  </a:lnTo>
                  <a:lnTo>
                    <a:pt x="0" y="552"/>
                  </a:lnTo>
                  <a:lnTo>
                    <a:pt x="6" y="493"/>
                  </a:lnTo>
                  <a:lnTo>
                    <a:pt x="17" y="434"/>
                  </a:lnTo>
                  <a:lnTo>
                    <a:pt x="34" y="378"/>
                  </a:lnTo>
                  <a:lnTo>
                    <a:pt x="56" y="324"/>
                  </a:lnTo>
                  <a:lnTo>
                    <a:pt x="82" y="273"/>
                  </a:lnTo>
                  <a:lnTo>
                    <a:pt x="114" y="225"/>
                  </a:lnTo>
                  <a:lnTo>
                    <a:pt x="151" y="180"/>
                  </a:lnTo>
                  <a:lnTo>
                    <a:pt x="193" y="138"/>
                  </a:lnTo>
                  <a:lnTo>
                    <a:pt x="240" y="102"/>
                  </a:lnTo>
                  <a:lnTo>
                    <a:pt x="291" y="69"/>
                  </a:lnTo>
                  <a:lnTo>
                    <a:pt x="317" y="56"/>
                  </a:lnTo>
                  <a:lnTo>
                    <a:pt x="345" y="43"/>
                  </a:lnTo>
                  <a:lnTo>
                    <a:pt x="372" y="33"/>
                  </a:lnTo>
                  <a:lnTo>
                    <a:pt x="400" y="23"/>
                  </a:lnTo>
                  <a:lnTo>
                    <a:pt x="429" y="15"/>
                  </a:lnTo>
                  <a:lnTo>
                    <a:pt x="457" y="9"/>
                  </a:lnTo>
                  <a:lnTo>
                    <a:pt x="485" y="5"/>
                  </a:lnTo>
                  <a:lnTo>
                    <a:pt x="514" y="3"/>
                  </a:lnTo>
                  <a:lnTo>
                    <a:pt x="543" y="0"/>
                  </a:lnTo>
                  <a:lnTo>
                    <a:pt x="573" y="0"/>
                  </a:lnTo>
                  <a:lnTo>
                    <a:pt x="602" y="3"/>
                  </a:lnTo>
                  <a:lnTo>
                    <a:pt x="631" y="5"/>
                  </a:lnTo>
                  <a:lnTo>
                    <a:pt x="659" y="9"/>
                  </a:lnTo>
                  <a:lnTo>
                    <a:pt x="687" y="15"/>
                  </a:lnTo>
                  <a:lnTo>
                    <a:pt x="716" y="22"/>
                  </a:lnTo>
                  <a:lnTo>
                    <a:pt x="744" y="31"/>
                  </a:lnTo>
                  <a:lnTo>
                    <a:pt x="771" y="41"/>
                  </a:lnTo>
                  <a:lnTo>
                    <a:pt x="799" y="52"/>
                  </a:lnTo>
                  <a:lnTo>
                    <a:pt x="827" y="65"/>
                  </a:lnTo>
                  <a:lnTo>
                    <a:pt x="852" y="79"/>
                  </a:lnTo>
                  <a:lnTo>
                    <a:pt x="878" y="94"/>
                  </a:lnTo>
                  <a:lnTo>
                    <a:pt x="904" y="111"/>
                  </a:lnTo>
                  <a:lnTo>
                    <a:pt x="928" y="128"/>
                  </a:lnTo>
                  <a:lnTo>
                    <a:pt x="952" y="148"/>
                  </a:lnTo>
                  <a:lnTo>
                    <a:pt x="975" y="167"/>
                  </a:lnTo>
                  <a:lnTo>
                    <a:pt x="998" y="189"/>
                  </a:lnTo>
                  <a:lnTo>
                    <a:pt x="1020" y="212"/>
                  </a:lnTo>
                  <a:lnTo>
                    <a:pt x="1041" y="235"/>
                  </a:lnTo>
                  <a:lnTo>
                    <a:pt x="1060" y="261"/>
                  </a:lnTo>
                  <a:lnTo>
                    <a:pt x="1079" y="287"/>
                  </a:lnTo>
                  <a:lnTo>
                    <a:pt x="1097" y="314"/>
                  </a:lnTo>
                  <a:lnTo>
                    <a:pt x="1113" y="342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1" name="Freeform 262"/>
            <p:cNvSpPr>
              <a:spLocks/>
            </p:cNvSpPr>
            <p:nvPr/>
          </p:nvSpPr>
          <p:spPr bwMode="gray">
            <a:xfrm>
              <a:off x="3059" y="2904"/>
              <a:ext cx="548" cy="574"/>
            </a:xfrm>
            <a:custGeom>
              <a:avLst/>
              <a:gdLst>
                <a:gd name="T0" fmla="*/ 521 w 1199"/>
                <a:gd name="T1" fmla="*/ 184 h 1254"/>
                <a:gd name="T2" fmla="*/ 540 w 1199"/>
                <a:gd name="T3" fmla="*/ 238 h 1254"/>
                <a:gd name="T4" fmla="*/ 548 w 1199"/>
                <a:gd name="T5" fmla="*/ 294 h 1254"/>
                <a:gd name="T6" fmla="*/ 545 w 1199"/>
                <a:gd name="T7" fmla="*/ 349 h 1254"/>
                <a:gd name="T8" fmla="*/ 533 w 1199"/>
                <a:gd name="T9" fmla="*/ 401 h 1254"/>
                <a:gd name="T10" fmla="*/ 511 w 1199"/>
                <a:gd name="T11" fmla="*/ 449 h 1254"/>
                <a:gd name="T12" fmla="*/ 479 w 1199"/>
                <a:gd name="T13" fmla="*/ 493 h 1254"/>
                <a:gd name="T14" fmla="*/ 439 w 1199"/>
                <a:gd name="T15" fmla="*/ 528 h 1254"/>
                <a:gd name="T16" fmla="*/ 404 w 1199"/>
                <a:gd name="T17" fmla="*/ 549 h 1254"/>
                <a:gd name="T18" fmla="*/ 378 w 1199"/>
                <a:gd name="T19" fmla="*/ 559 h 1254"/>
                <a:gd name="T20" fmla="*/ 353 w 1199"/>
                <a:gd name="T21" fmla="*/ 567 h 1254"/>
                <a:gd name="T22" fmla="*/ 327 w 1199"/>
                <a:gd name="T23" fmla="*/ 572 h 1254"/>
                <a:gd name="T24" fmla="*/ 300 w 1199"/>
                <a:gd name="T25" fmla="*/ 574 h 1254"/>
                <a:gd name="T26" fmla="*/ 274 w 1199"/>
                <a:gd name="T27" fmla="*/ 573 h 1254"/>
                <a:gd name="T28" fmla="*/ 247 w 1199"/>
                <a:gd name="T29" fmla="*/ 570 h 1254"/>
                <a:gd name="T30" fmla="*/ 221 w 1199"/>
                <a:gd name="T31" fmla="*/ 563 h 1254"/>
                <a:gd name="T32" fmla="*/ 196 w 1199"/>
                <a:gd name="T33" fmla="*/ 555 h 1254"/>
                <a:gd name="T34" fmla="*/ 171 w 1199"/>
                <a:gd name="T35" fmla="*/ 544 h 1254"/>
                <a:gd name="T36" fmla="*/ 147 w 1199"/>
                <a:gd name="T37" fmla="*/ 531 h 1254"/>
                <a:gd name="T38" fmla="*/ 124 w 1199"/>
                <a:gd name="T39" fmla="*/ 515 h 1254"/>
                <a:gd name="T40" fmla="*/ 102 w 1199"/>
                <a:gd name="T41" fmla="*/ 497 h 1254"/>
                <a:gd name="T42" fmla="*/ 82 w 1199"/>
                <a:gd name="T43" fmla="*/ 477 h 1254"/>
                <a:gd name="T44" fmla="*/ 64 w 1199"/>
                <a:gd name="T45" fmla="*/ 455 h 1254"/>
                <a:gd name="T46" fmla="*/ 47 w 1199"/>
                <a:gd name="T47" fmla="*/ 430 h 1254"/>
                <a:gd name="T48" fmla="*/ 27 w 1199"/>
                <a:gd name="T49" fmla="*/ 390 h 1254"/>
                <a:gd name="T50" fmla="*/ 8 w 1199"/>
                <a:gd name="T51" fmla="*/ 336 h 1254"/>
                <a:gd name="T52" fmla="*/ 0 w 1199"/>
                <a:gd name="T53" fmla="*/ 280 h 1254"/>
                <a:gd name="T54" fmla="*/ 3 w 1199"/>
                <a:gd name="T55" fmla="*/ 225 h 1254"/>
                <a:gd name="T56" fmla="*/ 16 w 1199"/>
                <a:gd name="T57" fmla="*/ 173 h 1254"/>
                <a:gd name="T58" fmla="*/ 37 w 1199"/>
                <a:gd name="T59" fmla="*/ 125 h 1254"/>
                <a:gd name="T60" fmla="*/ 69 w 1199"/>
                <a:gd name="T61" fmla="*/ 82 h 1254"/>
                <a:gd name="T62" fmla="*/ 109 w 1199"/>
                <a:gd name="T63" fmla="*/ 47 h 1254"/>
                <a:gd name="T64" fmla="*/ 144 w 1199"/>
                <a:gd name="T65" fmla="*/ 26 h 1254"/>
                <a:gd name="T66" fmla="*/ 170 w 1199"/>
                <a:gd name="T67" fmla="*/ 15 h 1254"/>
                <a:gd name="T68" fmla="*/ 196 w 1199"/>
                <a:gd name="T69" fmla="*/ 7 h 1254"/>
                <a:gd name="T70" fmla="*/ 221 w 1199"/>
                <a:gd name="T71" fmla="*/ 2 h 1254"/>
                <a:gd name="T72" fmla="*/ 248 w 1199"/>
                <a:gd name="T73" fmla="*/ 0 h 1254"/>
                <a:gd name="T74" fmla="*/ 275 w 1199"/>
                <a:gd name="T75" fmla="*/ 1 h 1254"/>
                <a:gd name="T76" fmla="*/ 301 w 1199"/>
                <a:gd name="T77" fmla="*/ 4 h 1254"/>
                <a:gd name="T78" fmla="*/ 327 w 1199"/>
                <a:gd name="T79" fmla="*/ 10 h 1254"/>
                <a:gd name="T80" fmla="*/ 352 w 1199"/>
                <a:gd name="T81" fmla="*/ 19 h 1254"/>
                <a:gd name="T82" fmla="*/ 378 w 1199"/>
                <a:gd name="T83" fmla="*/ 30 h 1254"/>
                <a:gd name="T84" fmla="*/ 401 w 1199"/>
                <a:gd name="T85" fmla="*/ 43 h 1254"/>
                <a:gd name="T86" fmla="*/ 424 w 1199"/>
                <a:gd name="T87" fmla="*/ 59 h 1254"/>
                <a:gd name="T88" fmla="*/ 446 w 1199"/>
                <a:gd name="T89" fmla="*/ 76 h 1254"/>
                <a:gd name="T90" fmla="*/ 466 w 1199"/>
                <a:gd name="T91" fmla="*/ 97 h 1254"/>
                <a:gd name="T92" fmla="*/ 484 w 1199"/>
                <a:gd name="T93" fmla="*/ 119 h 1254"/>
                <a:gd name="T94" fmla="*/ 501 w 1199"/>
                <a:gd name="T95" fmla="*/ 144 h 125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99" h="1254">
                  <a:moveTo>
                    <a:pt x="1113" y="342"/>
                  </a:moveTo>
                  <a:lnTo>
                    <a:pt x="1141" y="401"/>
                  </a:lnTo>
                  <a:lnTo>
                    <a:pt x="1164" y="461"/>
                  </a:lnTo>
                  <a:lnTo>
                    <a:pt x="1182" y="521"/>
                  </a:lnTo>
                  <a:lnTo>
                    <a:pt x="1193" y="582"/>
                  </a:lnTo>
                  <a:lnTo>
                    <a:pt x="1199" y="643"/>
                  </a:lnTo>
                  <a:lnTo>
                    <a:pt x="1199" y="703"/>
                  </a:lnTo>
                  <a:lnTo>
                    <a:pt x="1193" y="763"/>
                  </a:lnTo>
                  <a:lnTo>
                    <a:pt x="1182" y="820"/>
                  </a:lnTo>
                  <a:lnTo>
                    <a:pt x="1166" y="877"/>
                  </a:lnTo>
                  <a:lnTo>
                    <a:pt x="1144" y="931"/>
                  </a:lnTo>
                  <a:lnTo>
                    <a:pt x="1117" y="981"/>
                  </a:lnTo>
                  <a:lnTo>
                    <a:pt x="1085" y="1031"/>
                  </a:lnTo>
                  <a:lnTo>
                    <a:pt x="1048" y="1076"/>
                  </a:lnTo>
                  <a:lnTo>
                    <a:pt x="1006" y="1116"/>
                  </a:lnTo>
                  <a:lnTo>
                    <a:pt x="960" y="1153"/>
                  </a:lnTo>
                  <a:lnTo>
                    <a:pt x="910" y="1185"/>
                  </a:lnTo>
                  <a:lnTo>
                    <a:pt x="883" y="1199"/>
                  </a:lnTo>
                  <a:lnTo>
                    <a:pt x="856" y="1212"/>
                  </a:lnTo>
                  <a:lnTo>
                    <a:pt x="828" y="1222"/>
                  </a:lnTo>
                  <a:lnTo>
                    <a:pt x="800" y="1231"/>
                  </a:lnTo>
                  <a:lnTo>
                    <a:pt x="773" y="1239"/>
                  </a:lnTo>
                  <a:lnTo>
                    <a:pt x="744" y="1245"/>
                  </a:lnTo>
                  <a:lnTo>
                    <a:pt x="715" y="1250"/>
                  </a:lnTo>
                  <a:lnTo>
                    <a:pt x="686" y="1252"/>
                  </a:lnTo>
                  <a:lnTo>
                    <a:pt x="657" y="1254"/>
                  </a:lnTo>
                  <a:lnTo>
                    <a:pt x="628" y="1253"/>
                  </a:lnTo>
                  <a:lnTo>
                    <a:pt x="600" y="1252"/>
                  </a:lnTo>
                  <a:lnTo>
                    <a:pt x="570" y="1250"/>
                  </a:lnTo>
                  <a:lnTo>
                    <a:pt x="541" y="1245"/>
                  </a:lnTo>
                  <a:lnTo>
                    <a:pt x="513" y="1239"/>
                  </a:lnTo>
                  <a:lnTo>
                    <a:pt x="484" y="1231"/>
                  </a:lnTo>
                  <a:lnTo>
                    <a:pt x="457" y="1223"/>
                  </a:lnTo>
                  <a:lnTo>
                    <a:pt x="429" y="1213"/>
                  </a:lnTo>
                  <a:lnTo>
                    <a:pt x="401" y="1201"/>
                  </a:lnTo>
                  <a:lnTo>
                    <a:pt x="374" y="1189"/>
                  </a:lnTo>
                  <a:lnTo>
                    <a:pt x="347" y="1175"/>
                  </a:lnTo>
                  <a:lnTo>
                    <a:pt x="322" y="1160"/>
                  </a:lnTo>
                  <a:lnTo>
                    <a:pt x="297" y="1144"/>
                  </a:lnTo>
                  <a:lnTo>
                    <a:pt x="271" y="1125"/>
                  </a:lnTo>
                  <a:lnTo>
                    <a:pt x="248" y="1107"/>
                  </a:lnTo>
                  <a:lnTo>
                    <a:pt x="224" y="1086"/>
                  </a:lnTo>
                  <a:lnTo>
                    <a:pt x="202" y="1064"/>
                  </a:lnTo>
                  <a:lnTo>
                    <a:pt x="180" y="1043"/>
                  </a:lnTo>
                  <a:lnTo>
                    <a:pt x="159" y="1018"/>
                  </a:lnTo>
                  <a:lnTo>
                    <a:pt x="140" y="993"/>
                  </a:lnTo>
                  <a:lnTo>
                    <a:pt x="121" y="967"/>
                  </a:lnTo>
                  <a:lnTo>
                    <a:pt x="103" y="940"/>
                  </a:lnTo>
                  <a:lnTo>
                    <a:pt x="87" y="911"/>
                  </a:lnTo>
                  <a:lnTo>
                    <a:pt x="58" y="852"/>
                  </a:lnTo>
                  <a:lnTo>
                    <a:pt x="35" y="794"/>
                  </a:lnTo>
                  <a:lnTo>
                    <a:pt x="18" y="733"/>
                  </a:lnTo>
                  <a:lnTo>
                    <a:pt x="6" y="673"/>
                  </a:lnTo>
                  <a:lnTo>
                    <a:pt x="0" y="612"/>
                  </a:lnTo>
                  <a:lnTo>
                    <a:pt x="0" y="552"/>
                  </a:lnTo>
                  <a:lnTo>
                    <a:pt x="6" y="492"/>
                  </a:lnTo>
                  <a:lnTo>
                    <a:pt x="18" y="434"/>
                  </a:lnTo>
                  <a:lnTo>
                    <a:pt x="34" y="378"/>
                  </a:lnTo>
                  <a:lnTo>
                    <a:pt x="56" y="324"/>
                  </a:lnTo>
                  <a:lnTo>
                    <a:pt x="82" y="272"/>
                  </a:lnTo>
                  <a:lnTo>
                    <a:pt x="114" y="224"/>
                  </a:lnTo>
                  <a:lnTo>
                    <a:pt x="151" y="179"/>
                  </a:lnTo>
                  <a:lnTo>
                    <a:pt x="193" y="138"/>
                  </a:lnTo>
                  <a:lnTo>
                    <a:pt x="239" y="102"/>
                  </a:lnTo>
                  <a:lnTo>
                    <a:pt x="290" y="69"/>
                  </a:lnTo>
                  <a:lnTo>
                    <a:pt x="316" y="56"/>
                  </a:lnTo>
                  <a:lnTo>
                    <a:pt x="344" y="43"/>
                  </a:lnTo>
                  <a:lnTo>
                    <a:pt x="371" y="33"/>
                  </a:lnTo>
                  <a:lnTo>
                    <a:pt x="399" y="23"/>
                  </a:lnTo>
                  <a:lnTo>
                    <a:pt x="428" y="15"/>
                  </a:lnTo>
                  <a:lnTo>
                    <a:pt x="457" y="9"/>
                  </a:lnTo>
                  <a:lnTo>
                    <a:pt x="484" y="5"/>
                  </a:lnTo>
                  <a:lnTo>
                    <a:pt x="514" y="3"/>
                  </a:lnTo>
                  <a:lnTo>
                    <a:pt x="543" y="0"/>
                  </a:lnTo>
                  <a:lnTo>
                    <a:pt x="572" y="0"/>
                  </a:lnTo>
                  <a:lnTo>
                    <a:pt x="601" y="3"/>
                  </a:lnTo>
                  <a:lnTo>
                    <a:pt x="630" y="5"/>
                  </a:lnTo>
                  <a:lnTo>
                    <a:pt x="658" y="9"/>
                  </a:lnTo>
                  <a:lnTo>
                    <a:pt x="687" y="15"/>
                  </a:lnTo>
                  <a:lnTo>
                    <a:pt x="715" y="22"/>
                  </a:lnTo>
                  <a:lnTo>
                    <a:pt x="744" y="31"/>
                  </a:lnTo>
                  <a:lnTo>
                    <a:pt x="771" y="41"/>
                  </a:lnTo>
                  <a:lnTo>
                    <a:pt x="799" y="52"/>
                  </a:lnTo>
                  <a:lnTo>
                    <a:pt x="826" y="65"/>
                  </a:lnTo>
                  <a:lnTo>
                    <a:pt x="852" y="79"/>
                  </a:lnTo>
                  <a:lnTo>
                    <a:pt x="877" y="94"/>
                  </a:lnTo>
                  <a:lnTo>
                    <a:pt x="903" y="111"/>
                  </a:lnTo>
                  <a:lnTo>
                    <a:pt x="928" y="128"/>
                  </a:lnTo>
                  <a:lnTo>
                    <a:pt x="952" y="148"/>
                  </a:lnTo>
                  <a:lnTo>
                    <a:pt x="975" y="167"/>
                  </a:lnTo>
                  <a:lnTo>
                    <a:pt x="997" y="189"/>
                  </a:lnTo>
                  <a:lnTo>
                    <a:pt x="1019" y="212"/>
                  </a:lnTo>
                  <a:lnTo>
                    <a:pt x="1040" y="235"/>
                  </a:lnTo>
                  <a:lnTo>
                    <a:pt x="1060" y="261"/>
                  </a:lnTo>
                  <a:lnTo>
                    <a:pt x="1078" y="287"/>
                  </a:lnTo>
                  <a:lnTo>
                    <a:pt x="1096" y="314"/>
                  </a:lnTo>
                  <a:lnTo>
                    <a:pt x="1113" y="34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2" name="Freeform 263"/>
            <p:cNvSpPr>
              <a:spLocks/>
            </p:cNvSpPr>
            <p:nvPr/>
          </p:nvSpPr>
          <p:spPr bwMode="gray">
            <a:xfrm>
              <a:off x="3436" y="2966"/>
              <a:ext cx="145" cy="406"/>
            </a:xfrm>
            <a:custGeom>
              <a:avLst/>
              <a:gdLst>
                <a:gd name="T0" fmla="*/ 19 w 315"/>
                <a:gd name="T1" fmla="*/ 0 h 888"/>
                <a:gd name="T2" fmla="*/ 22 w 315"/>
                <a:gd name="T3" fmla="*/ 2 h 888"/>
                <a:gd name="T4" fmla="*/ 28 w 315"/>
                <a:gd name="T5" fmla="*/ 6 h 888"/>
                <a:gd name="T6" fmla="*/ 38 w 315"/>
                <a:gd name="T7" fmla="*/ 14 h 888"/>
                <a:gd name="T8" fmla="*/ 51 w 315"/>
                <a:gd name="T9" fmla="*/ 26 h 888"/>
                <a:gd name="T10" fmla="*/ 65 w 315"/>
                <a:gd name="T11" fmla="*/ 40 h 888"/>
                <a:gd name="T12" fmla="*/ 81 w 315"/>
                <a:gd name="T13" fmla="*/ 58 h 888"/>
                <a:gd name="T14" fmla="*/ 96 w 315"/>
                <a:gd name="T15" fmla="*/ 79 h 888"/>
                <a:gd name="T16" fmla="*/ 111 w 315"/>
                <a:gd name="T17" fmla="*/ 102 h 888"/>
                <a:gd name="T18" fmla="*/ 124 w 315"/>
                <a:gd name="T19" fmla="*/ 129 h 888"/>
                <a:gd name="T20" fmla="*/ 134 w 315"/>
                <a:gd name="T21" fmla="*/ 159 h 888"/>
                <a:gd name="T22" fmla="*/ 142 w 315"/>
                <a:gd name="T23" fmla="*/ 193 h 888"/>
                <a:gd name="T24" fmla="*/ 145 w 315"/>
                <a:gd name="T25" fmla="*/ 229 h 888"/>
                <a:gd name="T26" fmla="*/ 144 w 315"/>
                <a:gd name="T27" fmla="*/ 269 h 888"/>
                <a:gd name="T28" fmla="*/ 136 w 315"/>
                <a:gd name="T29" fmla="*/ 311 h 888"/>
                <a:gd name="T30" fmla="*/ 121 w 315"/>
                <a:gd name="T31" fmla="*/ 357 h 888"/>
                <a:gd name="T32" fmla="*/ 99 w 315"/>
                <a:gd name="T33" fmla="*/ 406 h 888"/>
                <a:gd name="T34" fmla="*/ 99 w 315"/>
                <a:gd name="T35" fmla="*/ 405 h 888"/>
                <a:gd name="T36" fmla="*/ 99 w 315"/>
                <a:gd name="T37" fmla="*/ 402 h 888"/>
                <a:gd name="T38" fmla="*/ 96 w 315"/>
                <a:gd name="T39" fmla="*/ 398 h 888"/>
                <a:gd name="T40" fmla="*/ 93 w 315"/>
                <a:gd name="T41" fmla="*/ 392 h 888"/>
                <a:gd name="T42" fmla="*/ 88 w 315"/>
                <a:gd name="T43" fmla="*/ 387 h 888"/>
                <a:gd name="T44" fmla="*/ 82 w 315"/>
                <a:gd name="T45" fmla="*/ 382 h 888"/>
                <a:gd name="T46" fmla="*/ 73 w 315"/>
                <a:gd name="T47" fmla="*/ 378 h 888"/>
                <a:gd name="T48" fmla="*/ 61 w 315"/>
                <a:gd name="T49" fmla="*/ 375 h 888"/>
                <a:gd name="T50" fmla="*/ 63 w 315"/>
                <a:gd name="T51" fmla="*/ 374 h 888"/>
                <a:gd name="T52" fmla="*/ 66 w 315"/>
                <a:gd name="T53" fmla="*/ 367 h 888"/>
                <a:gd name="T54" fmla="*/ 71 w 315"/>
                <a:gd name="T55" fmla="*/ 357 h 888"/>
                <a:gd name="T56" fmla="*/ 77 w 315"/>
                <a:gd name="T57" fmla="*/ 343 h 888"/>
                <a:gd name="T58" fmla="*/ 82 w 315"/>
                <a:gd name="T59" fmla="*/ 326 h 888"/>
                <a:gd name="T60" fmla="*/ 88 w 315"/>
                <a:gd name="T61" fmla="*/ 306 h 888"/>
                <a:gd name="T62" fmla="*/ 93 w 315"/>
                <a:gd name="T63" fmla="*/ 284 h 888"/>
                <a:gd name="T64" fmla="*/ 97 w 315"/>
                <a:gd name="T65" fmla="*/ 260 h 888"/>
                <a:gd name="T66" fmla="*/ 98 w 315"/>
                <a:gd name="T67" fmla="*/ 233 h 888"/>
                <a:gd name="T68" fmla="*/ 97 w 315"/>
                <a:gd name="T69" fmla="*/ 204 h 888"/>
                <a:gd name="T70" fmla="*/ 92 w 315"/>
                <a:gd name="T71" fmla="*/ 175 h 888"/>
                <a:gd name="T72" fmla="*/ 84 w 315"/>
                <a:gd name="T73" fmla="*/ 144 h 888"/>
                <a:gd name="T74" fmla="*/ 71 w 315"/>
                <a:gd name="T75" fmla="*/ 112 h 888"/>
                <a:gd name="T76" fmla="*/ 53 w 315"/>
                <a:gd name="T77" fmla="*/ 80 h 888"/>
                <a:gd name="T78" fmla="*/ 29 w 315"/>
                <a:gd name="T79" fmla="*/ 48 h 888"/>
                <a:gd name="T80" fmla="*/ 0 w 315"/>
                <a:gd name="T81" fmla="*/ 16 h 888"/>
                <a:gd name="T82" fmla="*/ 19 w 315"/>
                <a:gd name="T83" fmla="*/ 0 h 8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15" h="888">
                  <a:moveTo>
                    <a:pt x="41" y="0"/>
                  </a:moveTo>
                  <a:lnTo>
                    <a:pt x="47" y="4"/>
                  </a:lnTo>
                  <a:lnTo>
                    <a:pt x="61" y="14"/>
                  </a:lnTo>
                  <a:lnTo>
                    <a:pt x="83" y="31"/>
                  </a:lnTo>
                  <a:lnTo>
                    <a:pt x="110" y="57"/>
                  </a:lnTo>
                  <a:lnTo>
                    <a:pt x="142" y="88"/>
                  </a:lnTo>
                  <a:lnTo>
                    <a:pt x="176" y="126"/>
                  </a:lnTo>
                  <a:lnTo>
                    <a:pt x="209" y="172"/>
                  </a:lnTo>
                  <a:lnTo>
                    <a:pt x="242" y="224"/>
                  </a:lnTo>
                  <a:lnTo>
                    <a:pt x="269" y="282"/>
                  </a:lnTo>
                  <a:lnTo>
                    <a:pt x="292" y="348"/>
                  </a:lnTo>
                  <a:lnTo>
                    <a:pt x="308" y="422"/>
                  </a:lnTo>
                  <a:lnTo>
                    <a:pt x="315" y="501"/>
                  </a:lnTo>
                  <a:lnTo>
                    <a:pt x="312" y="588"/>
                  </a:lnTo>
                  <a:lnTo>
                    <a:pt x="295" y="681"/>
                  </a:lnTo>
                  <a:lnTo>
                    <a:pt x="263" y="781"/>
                  </a:lnTo>
                  <a:lnTo>
                    <a:pt x="216" y="888"/>
                  </a:lnTo>
                  <a:lnTo>
                    <a:pt x="216" y="886"/>
                  </a:lnTo>
                  <a:lnTo>
                    <a:pt x="214" y="879"/>
                  </a:lnTo>
                  <a:lnTo>
                    <a:pt x="209" y="870"/>
                  </a:lnTo>
                  <a:lnTo>
                    <a:pt x="202" y="858"/>
                  </a:lnTo>
                  <a:lnTo>
                    <a:pt x="192" y="847"/>
                  </a:lnTo>
                  <a:lnTo>
                    <a:pt x="178" y="835"/>
                  </a:lnTo>
                  <a:lnTo>
                    <a:pt x="159" y="827"/>
                  </a:lnTo>
                  <a:lnTo>
                    <a:pt x="133" y="821"/>
                  </a:lnTo>
                  <a:lnTo>
                    <a:pt x="136" y="817"/>
                  </a:lnTo>
                  <a:lnTo>
                    <a:pt x="144" y="803"/>
                  </a:lnTo>
                  <a:lnTo>
                    <a:pt x="154" y="781"/>
                  </a:lnTo>
                  <a:lnTo>
                    <a:pt x="167" y="751"/>
                  </a:lnTo>
                  <a:lnTo>
                    <a:pt x="179" y="714"/>
                  </a:lnTo>
                  <a:lnTo>
                    <a:pt x="192" y="670"/>
                  </a:lnTo>
                  <a:lnTo>
                    <a:pt x="202" y="622"/>
                  </a:lnTo>
                  <a:lnTo>
                    <a:pt x="210" y="568"/>
                  </a:lnTo>
                  <a:lnTo>
                    <a:pt x="213" y="509"/>
                  </a:lnTo>
                  <a:lnTo>
                    <a:pt x="210" y="447"/>
                  </a:lnTo>
                  <a:lnTo>
                    <a:pt x="200" y="383"/>
                  </a:lnTo>
                  <a:lnTo>
                    <a:pt x="182" y="315"/>
                  </a:lnTo>
                  <a:lnTo>
                    <a:pt x="154" y="245"/>
                  </a:lnTo>
                  <a:lnTo>
                    <a:pt x="115" y="175"/>
                  </a:lnTo>
                  <a:lnTo>
                    <a:pt x="64" y="104"/>
                  </a:lnTo>
                  <a:lnTo>
                    <a:pt x="0" y="3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3" name="Freeform 264"/>
            <p:cNvSpPr>
              <a:spLocks/>
            </p:cNvSpPr>
            <p:nvPr/>
          </p:nvSpPr>
          <p:spPr bwMode="gray">
            <a:xfrm>
              <a:off x="3061" y="3246"/>
              <a:ext cx="330" cy="242"/>
            </a:xfrm>
            <a:custGeom>
              <a:avLst/>
              <a:gdLst>
                <a:gd name="T0" fmla="*/ 0 w 723"/>
                <a:gd name="T1" fmla="*/ 0 h 526"/>
                <a:gd name="T2" fmla="*/ 0 w 723"/>
                <a:gd name="T3" fmla="*/ 3 h 526"/>
                <a:gd name="T4" fmla="*/ 3 w 723"/>
                <a:gd name="T5" fmla="*/ 11 h 526"/>
                <a:gd name="T6" fmla="*/ 6 w 723"/>
                <a:gd name="T7" fmla="*/ 24 h 526"/>
                <a:gd name="T8" fmla="*/ 11 w 723"/>
                <a:gd name="T9" fmla="*/ 40 h 526"/>
                <a:gd name="T10" fmla="*/ 19 w 723"/>
                <a:gd name="T11" fmla="*/ 60 h 526"/>
                <a:gd name="T12" fmla="*/ 29 w 723"/>
                <a:gd name="T13" fmla="*/ 81 h 526"/>
                <a:gd name="T14" fmla="*/ 42 w 723"/>
                <a:gd name="T15" fmla="*/ 104 h 526"/>
                <a:gd name="T16" fmla="*/ 58 w 723"/>
                <a:gd name="T17" fmla="*/ 127 h 526"/>
                <a:gd name="T18" fmla="*/ 77 w 723"/>
                <a:gd name="T19" fmla="*/ 151 h 526"/>
                <a:gd name="T20" fmla="*/ 100 w 723"/>
                <a:gd name="T21" fmla="*/ 173 h 526"/>
                <a:gd name="T22" fmla="*/ 126 w 723"/>
                <a:gd name="T23" fmla="*/ 193 h 526"/>
                <a:gd name="T24" fmla="*/ 157 w 723"/>
                <a:gd name="T25" fmla="*/ 211 h 526"/>
                <a:gd name="T26" fmla="*/ 193 w 723"/>
                <a:gd name="T27" fmla="*/ 225 h 526"/>
                <a:gd name="T28" fmla="*/ 234 w 723"/>
                <a:gd name="T29" fmla="*/ 235 h 526"/>
                <a:gd name="T30" fmla="*/ 279 w 723"/>
                <a:gd name="T31" fmla="*/ 239 h 526"/>
                <a:gd name="T32" fmla="*/ 330 w 723"/>
                <a:gd name="T33" fmla="*/ 238 h 526"/>
                <a:gd name="T34" fmla="*/ 327 w 723"/>
                <a:gd name="T35" fmla="*/ 239 h 526"/>
                <a:gd name="T36" fmla="*/ 318 w 723"/>
                <a:gd name="T37" fmla="*/ 240 h 526"/>
                <a:gd name="T38" fmla="*/ 304 w 723"/>
                <a:gd name="T39" fmla="*/ 242 h 526"/>
                <a:gd name="T40" fmla="*/ 286 w 723"/>
                <a:gd name="T41" fmla="*/ 242 h 526"/>
                <a:gd name="T42" fmla="*/ 264 w 723"/>
                <a:gd name="T43" fmla="*/ 242 h 526"/>
                <a:gd name="T44" fmla="*/ 239 w 723"/>
                <a:gd name="T45" fmla="*/ 240 h 526"/>
                <a:gd name="T46" fmla="*/ 213 w 723"/>
                <a:gd name="T47" fmla="*/ 236 h 526"/>
                <a:gd name="T48" fmla="*/ 185 w 723"/>
                <a:gd name="T49" fmla="*/ 229 h 526"/>
                <a:gd name="T50" fmla="*/ 156 w 723"/>
                <a:gd name="T51" fmla="*/ 219 h 526"/>
                <a:gd name="T52" fmla="*/ 127 w 723"/>
                <a:gd name="T53" fmla="*/ 204 h 526"/>
                <a:gd name="T54" fmla="*/ 100 w 723"/>
                <a:gd name="T55" fmla="*/ 185 h 526"/>
                <a:gd name="T56" fmla="*/ 73 w 723"/>
                <a:gd name="T57" fmla="*/ 161 h 526"/>
                <a:gd name="T58" fmla="*/ 50 w 723"/>
                <a:gd name="T59" fmla="*/ 131 h 526"/>
                <a:gd name="T60" fmla="*/ 29 w 723"/>
                <a:gd name="T61" fmla="*/ 94 h 526"/>
                <a:gd name="T62" fmla="*/ 12 w 723"/>
                <a:gd name="T63" fmla="*/ 51 h 526"/>
                <a:gd name="T64" fmla="*/ 0 w 723"/>
                <a:gd name="T65" fmla="*/ 0 h 5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23" h="526">
                  <a:moveTo>
                    <a:pt x="0" y="0"/>
                  </a:moveTo>
                  <a:lnTo>
                    <a:pt x="1" y="7"/>
                  </a:lnTo>
                  <a:lnTo>
                    <a:pt x="6" y="24"/>
                  </a:lnTo>
                  <a:lnTo>
                    <a:pt x="13" y="52"/>
                  </a:lnTo>
                  <a:lnTo>
                    <a:pt x="24" y="87"/>
                  </a:lnTo>
                  <a:lnTo>
                    <a:pt x="41" y="130"/>
                  </a:lnTo>
                  <a:lnTo>
                    <a:pt x="63" y="177"/>
                  </a:lnTo>
                  <a:lnTo>
                    <a:pt x="91" y="227"/>
                  </a:lnTo>
                  <a:lnTo>
                    <a:pt x="126" y="277"/>
                  </a:lnTo>
                  <a:lnTo>
                    <a:pt x="168" y="328"/>
                  </a:lnTo>
                  <a:lnTo>
                    <a:pt x="218" y="376"/>
                  </a:lnTo>
                  <a:lnTo>
                    <a:pt x="277" y="420"/>
                  </a:lnTo>
                  <a:lnTo>
                    <a:pt x="345" y="458"/>
                  </a:lnTo>
                  <a:lnTo>
                    <a:pt x="423" y="488"/>
                  </a:lnTo>
                  <a:lnTo>
                    <a:pt x="512" y="510"/>
                  </a:lnTo>
                  <a:lnTo>
                    <a:pt x="611" y="520"/>
                  </a:lnTo>
                  <a:lnTo>
                    <a:pt x="723" y="518"/>
                  </a:lnTo>
                  <a:lnTo>
                    <a:pt x="716" y="519"/>
                  </a:lnTo>
                  <a:lnTo>
                    <a:pt x="696" y="522"/>
                  </a:lnTo>
                  <a:lnTo>
                    <a:pt x="666" y="525"/>
                  </a:lnTo>
                  <a:lnTo>
                    <a:pt x="626" y="526"/>
                  </a:lnTo>
                  <a:lnTo>
                    <a:pt x="579" y="526"/>
                  </a:lnTo>
                  <a:lnTo>
                    <a:pt x="524" y="522"/>
                  </a:lnTo>
                  <a:lnTo>
                    <a:pt x="466" y="513"/>
                  </a:lnTo>
                  <a:lnTo>
                    <a:pt x="405" y="497"/>
                  </a:lnTo>
                  <a:lnTo>
                    <a:pt x="341" y="475"/>
                  </a:lnTo>
                  <a:lnTo>
                    <a:pt x="279" y="443"/>
                  </a:lnTo>
                  <a:lnTo>
                    <a:pt x="218" y="402"/>
                  </a:lnTo>
                  <a:lnTo>
                    <a:pt x="161" y="350"/>
                  </a:lnTo>
                  <a:lnTo>
                    <a:pt x="109" y="284"/>
                  </a:lnTo>
                  <a:lnTo>
                    <a:pt x="63" y="205"/>
                  </a:lnTo>
                  <a:lnTo>
                    <a:pt x="26" y="1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4" name="Freeform 265"/>
            <p:cNvSpPr>
              <a:spLocks/>
            </p:cNvSpPr>
            <p:nvPr/>
          </p:nvSpPr>
          <p:spPr bwMode="gray">
            <a:xfrm>
              <a:off x="3225" y="2847"/>
              <a:ext cx="425" cy="241"/>
            </a:xfrm>
            <a:custGeom>
              <a:avLst/>
              <a:gdLst>
                <a:gd name="T0" fmla="*/ 1 w 930"/>
                <a:gd name="T1" fmla="*/ 19 h 526"/>
                <a:gd name="T2" fmla="*/ 7 w 930"/>
                <a:gd name="T3" fmla="*/ 17 h 526"/>
                <a:gd name="T4" fmla="*/ 21 w 930"/>
                <a:gd name="T5" fmla="*/ 14 h 526"/>
                <a:gd name="T6" fmla="*/ 38 w 930"/>
                <a:gd name="T7" fmla="*/ 11 h 526"/>
                <a:gd name="T8" fmla="*/ 61 w 930"/>
                <a:gd name="T9" fmla="*/ 9 h 526"/>
                <a:gd name="T10" fmla="*/ 88 w 930"/>
                <a:gd name="T11" fmla="*/ 7 h 526"/>
                <a:gd name="T12" fmla="*/ 117 w 930"/>
                <a:gd name="T13" fmla="*/ 8 h 526"/>
                <a:gd name="T14" fmla="*/ 150 w 930"/>
                <a:gd name="T15" fmla="*/ 11 h 526"/>
                <a:gd name="T16" fmla="*/ 184 w 930"/>
                <a:gd name="T17" fmla="*/ 17 h 526"/>
                <a:gd name="T18" fmla="*/ 219 w 930"/>
                <a:gd name="T19" fmla="*/ 27 h 526"/>
                <a:gd name="T20" fmla="*/ 255 w 930"/>
                <a:gd name="T21" fmla="*/ 42 h 526"/>
                <a:gd name="T22" fmla="*/ 290 w 930"/>
                <a:gd name="T23" fmla="*/ 63 h 526"/>
                <a:gd name="T24" fmla="*/ 324 w 930"/>
                <a:gd name="T25" fmla="*/ 89 h 526"/>
                <a:gd name="T26" fmla="*/ 356 w 930"/>
                <a:gd name="T27" fmla="*/ 123 h 526"/>
                <a:gd name="T28" fmla="*/ 386 w 930"/>
                <a:gd name="T29" fmla="*/ 164 h 526"/>
                <a:gd name="T30" fmla="*/ 413 w 930"/>
                <a:gd name="T31" fmla="*/ 213 h 526"/>
                <a:gd name="T32" fmla="*/ 425 w 930"/>
                <a:gd name="T33" fmla="*/ 240 h 526"/>
                <a:gd name="T34" fmla="*/ 423 w 930"/>
                <a:gd name="T35" fmla="*/ 233 h 526"/>
                <a:gd name="T36" fmla="*/ 419 w 930"/>
                <a:gd name="T37" fmla="*/ 220 h 526"/>
                <a:gd name="T38" fmla="*/ 413 w 930"/>
                <a:gd name="T39" fmla="*/ 203 h 526"/>
                <a:gd name="T40" fmla="*/ 403 w 930"/>
                <a:gd name="T41" fmla="*/ 181 h 526"/>
                <a:gd name="T42" fmla="*/ 390 w 930"/>
                <a:gd name="T43" fmla="*/ 157 h 526"/>
                <a:gd name="T44" fmla="*/ 375 w 930"/>
                <a:gd name="T45" fmla="*/ 131 h 526"/>
                <a:gd name="T46" fmla="*/ 355 w 930"/>
                <a:gd name="T47" fmla="*/ 105 h 526"/>
                <a:gd name="T48" fmla="*/ 332 w 930"/>
                <a:gd name="T49" fmla="*/ 80 h 526"/>
                <a:gd name="T50" fmla="*/ 304 w 930"/>
                <a:gd name="T51" fmla="*/ 56 h 526"/>
                <a:gd name="T52" fmla="*/ 272 w 930"/>
                <a:gd name="T53" fmla="*/ 35 h 526"/>
                <a:gd name="T54" fmla="*/ 234 w 930"/>
                <a:gd name="T55" fmla="*/ 18 h 526"/>
                <a:gd name="T56" fmla="*/ 192 w 930"/>
                <a:gd name="T57" fmla="*/ 6 h 526"/>
                <a:gd name="T58" fmla="*/ 145 w 930"/>
                <a:gd name="T59" fmla="*/ 0 h 526"/>
                <a:gd name="T60" fmla="*/ 92 w 930"/>
                <a:gd name="T61" fmla="*/ 1 h 526"/>
                <a:gd name="T62" fmla="*/ 32 w 930"/>
                <a:gd name="T63" fmla="*/ 11 h 5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30" h="526">
                  <a:moveTo>
                    <a:pt x="0" y="41"/>
                  </a:moveTo>
                  <a:lnTo>
                    <a:pt x="3" y="41"/>
                  </a:lnTo>
                  <a:lnTo>
                    <a:pt x="8" y="39"/>
                  </a:lnTo>
                  <a:lnTo>
                    <a:pt x="16" y="37"/>
                  </a:lnTo>
                  <a:lnTo>
                    <a:pt x="29" y="34"/>
                  </a:lnTo>
                  <a:lnTo>
                    <a:pt x="45" y="31"/>
                  </a:lnTo>
                  <a:lnTo>
                    <a:pt x="64" y="28"/>
                  </a:lnTo>
                  <a:lnTo>
                    <a:pt x="84" y="25"/>
                  </a:lnTo>
                  <a:lnTo>
                    <a:pt x="107" y="22"/>
                  </a:lnTo>
                  <a:lnTo>
                    <a:pt x="134" y="19"/>
                  </a:lnTo>
                  <a:lnTo>
                    <a:pt x="162" y="17"/>
                  </a:lnTo>
                  <a:lnTo>
                    <a:pt x="192" y="16"/>
                  </a:lnTo>
                  <a:lnTo>
                    <a:pt x="224" y="16"/>
                  </a:lnTo>
                  <a:lnTo>
                    <a:pt x="257" y="17"/>
                  </a:lnTo>
                  <a:lnTo>
                    <a:pt x="292" y="19"/>
                  </a:lnTo>
                  <a:lnTo>
                    <a:pt x="328" y="24"/>
                  </a:lnTo>
                  <a:lnTo>
                    <a:pt x="364" y="30"/>
                  </a:lnTo>
                  <a:lnTo>
                    <a:pt x="402" y="37"/>
                  </a:lnTo>
                  <a:lnTo>
                    <a:pt x="441" y="47"/>
                  </a:lnTo>
                  <a:lnTo>
                    <a:pt x="480" y="60"/>
                  </a:lnTo>
                  <a:lnTo>
                    <a:pt x="518" y="75"/>
                  </a:lnTo>
                  <a:lnTo>
                    <a:pt x="557" y="92"/>
                  </a:lnTo>
                  <a:lnTo>
                    <a:pt x="596" y="113"/>
                  </a:lnTo>
                  <a:lnTo>
                    <a:pt x="634" y="137"/>
                  </a:lnTo>
                  <a:lnTo>
                    <a:pt x="672" y="165"/>
                  </a:lnTo>
                  <a:lnTo>
                    <a:pt x="709" y="195"/>
                  </a:lnTo>
                  <a:lnTo>
                    <a:pt x="745" y="229"/>
                  </a:lnTo>
                  <a:lnTo>
                    <a:pt x="779" y="268"/>
                  </a:lnTo>
                  <a:lnTo>
                    <a:pt x="813" y="311"/>
                  </a:lnTo>
                  <a:lnTo>
                    <a:pt x="845" y="358"/>
                  </a:lnTo>
                  <a:lnTo>
                    <a:pt x="876" y="409"/>
                  </a:lnTo>
                  <a:lnTo>
                    <a:pt x="904" y="465"/>
                  </a:lnTo>
                  <a:lnTo>
                    <a:pt x="930" y="526"/>
                  </a:lnTo>
                  <a:lnTo>
                    <a:pt x="930" y="524"/>
                  </a:lnTo>
                  <a:lnTo>
                    <a:pt x="928" y="518"/>
                  </a:lnTo>
                  <a:lnTo>
                    <a:pt x="926" y="509"/>
                  </a:lnTo>
                  <a:lnTo>
                    <a:pt x="922" y="496"/>
                  </a:lnTo>
                  <a:lnTo>
                    <a:pt x="916" y="481"/>
                  </a:lnTo>
                  <a:lnTo>
                    <a:pt x="911" y="463"/>
                  </a:lnTo>
                  <a:lnTo>
                    <a:pt x="903" y="442"/>
                  </a:lnTo>
                  <a:lnTo>
                    <a:pt x="892" y="420"/>
                  </a:lnTo>
                  <a:lnTo>
                    <a:pt x="882" y="396"/>
                  </a:lnTo>
                  <a:lnTo>
                    <a:pt x="869" y="370"/>
                  </a:lnTo>
                  <a:lnTo>
                    <a:pt x="854" y="343"/>
                  </a:lnTo>
                  <a:lnTo>
                    <a:pt x="838" y="315"/>
                  </a:lnTo>
                  <a:lnTo>
                    <a:pt x="820" y="287"/>
                  </a:lnTo>
                  <a:lnTo>
                    <a:pt x="800" y="259"/>
                  </a:lnTo>
                  <a:lnTo>
                    <a:pt x="777" y="230"/>
                  </a:lnTo>
                  <a:lnTo>
                    <a:pt x="753" y="203"/>
                  </a:lnTo>
                  <a:lnTo>
                    <a:pt x="726" y="175"/>
                  </a:lnTo>
                  <a:lnTo>
                    <a:pt x="696" y="148"/>
                  </a:lnTo>
                  <a:lnTo>
                    <a:pt x="665" y="123"/>
                  </a:lnTo>
                  <a:lnTo>
                    <a:pt x="632" y="99"/>
                  </a:lnTo>
                  <a:lnTo>
                    <a:pt x="595" y="77"/>
                  </a:lnTo>
                  <a:lnTo>
                    <a:pt x="556" y="57"/>
                  </a:lnTo>
                  <a:lnTo>
                    <a:pt x="513" y="40"/>
                  </a:lnTo>
                  <a:lnTo>
                    <a:pt x="469" y="25"/>
                  </a:lnTo>
                  <a:lnTo>
                    <a:pt x="421" y="14"/>
                  </a:lnTo>
                  <a:lnTo>
                    <a:pt x="370" y="6"/>
                  </a:lnTo>
                  <a:lnTo>
                    <a:pt x="317" y="1"/>
                  </a:lnTo>
                  <a:lnTo>
                    <a:pt x="261" y="0"/>
                  </a:lnTo>
                  <a:lnTo>
                    <a:pt x="201" y="3"/>
                  </a:lnTo>
                  <a:lnTo>
                    <a:pt x="137" y="11"/>
                  </a:lnTo>
                  <a:lnTo>
                    <a:pt x="71" y="24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5" name="Freeform 266"/>
            <p:cNvSpPr>
              <a:spLocks/>
            </p:cNvSpPr>
            <p:nvPr/>
          </p:nvSpPr>
          <p:spPr bwMode="gray">
            <a:xfrm>
              <a:off x="3536" y="3615"/>
              <a:ext cx="145" cy="176"/>
            </a:xfrm>
            <a:custGeom>
              <a:avLst/>
              <a:gdLst>
                <a:gd name="T0" fmla="*/ 0 w 316"/>
                <a:gd name="T1" fmla="*/ 9 h 387"/>
                <a:gd name="T2" fmla="*/ 109 w 316"/>
                <a:gd name="T3" fmla="*/ 173 h 387"/>
                <a:gd name="T4" fmla="*/ 145 w 316"/>
                <a:gd name="T5" fmla="*/ 176 h 387"/>
                <a:gd name="T6" fmla="*/ 29 w 316"/>
                <a:gd name="T7" fmla="*/ 0 h 387"/>
                <a:gd name="T8" fmla="*/ 28 w 316"/>
                <a:gd name="T9" fmla="*/ 0 h 387"/>
                <a:gd name="T10" fmla="*/ 26 w 316"/>
                <a:gd name="T11" fmla="*/ 1 h 387"/>
                <a:gd name="T12" fmla="*/ 23 w 316"/>
                <a:gd name="T13" fmla="*/ 2 h 387"/>
                <a:gd name="T14" fmla="*/ 19 w 316"/>
                <a:gd name="T15" fmla="*/ 4 h 387"/>
                <a:gd name="T16" fmla="*/ 14 w 316"/>
                <a:gd name="T17" fmla="*/ 5 h 387"/>
                <a:gd name="T18" fmla="*/ 9 w 316"/>
                <a:gd name="T19" fmla="*/ 7 h 387"/>
                <a:gd name="T20" fmla="*/ 4 w 316"/>
                <a:gd name="T21" fmla="*/ 8 h 387"/>
                <a:gd name="T22" fmla="*/ 0 w 316"/>
                <a:gd name="T23" fmla="*/ 9 h 3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6" h="387">
                  <a:moveTo>
                    <a:pt x="0" y="19"/>
                  </a:moveTo>
                  <a:lnTo>
                    <a:pt x="237" y="381"/>
                  </a:lnTo>
                  <a:lnTo>
                    <a:pt x="316" y="387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57" y="2"/>
                  </a:lnTo>
                  <a:lnTo>
                    <a:pt x="50" y="4"/>
                  </a:lnTo>
                  <a:lnTo>
                    <a:pt x="41" y="8"/>
                  </a:lnTo>
                  <a:lnTo>
                    <a:pt x="31" y="11"/>
                  </a:lnTo>
                  <a:lnTo>
                    <a:pt x="20" y="15"/>
                  </a:lnTo>
                  <a:lnTo>
                    <a:pt x="9" y="17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6" name="Freeform 267"/>
            <p:cNvSpPr>
              <a:spLocks/>
            </p:cNvSpPr>
            <p:nvPr/>
          </p:nvSpPr>
          <p:spPr bwMode="gray">
            <a:xfrm>
              <a:off x="3023" y="3286"/>
              <a:ext cx="375" cy="235"/>
            </a:xfrm>
            <a:custGeom>
              <a:avLst/>
              <a:gdLst>
                <a:gd name="T0" fmla="*/ 0 w 822"/>
                <a:gd name="T1" fmla="*/ 1 h 512"/>
                <a:gd name="T2" fmla="*/ 2 w 822"/>
                <a:gd name="T3" fmla="*/ 6 h 512"/>
                <a:gd name="T4" fmla="*/ 5 w 822"/>
                <a:gd name="T5" fmla="*/ 17 h 512"/>
                <a:gd name="T6" fmla="*/ 11 w 822"/>
                <a:gd name="T7" fmla="*/ 31 h 512"/>
                <a:gd name="T8" fmla="*/ 19 w 822"/>
                <a:gd name="T9" fmla="*/ 49 h 512"/>
                <a:gd name="T10" fmla="*/ 31 w 822"/>
                <a:gd name="T11" fmla="*/ 68 h 512"/>
                <a:gd name="T12" fmla="*/ 45 w 822"/>
                <a:gd name="T13" fmla="*/ 90 h 512"/>
                <a:gd name="T14" fmla="*/ 62 w 822"/>
                <a:gd name="T15" fmla="*/ 113 h 512"/>
                <a:gd name="T16" fmla="*/ 83 w 822"/>
                <a:gd name="T17" fmla="*/ 135 h 512"/>
                <a:gd name="T18" fmla="*/ 107 w 822"/>
                <a:gd name="T19" fmla="*/ 157 h 512"/>
                <a:gd name="T20" fmla="*/ 135 w 822"/>
                <a:gd name="T21" fmla="*/ 177 h 512"/>
                <a:gd name="T22" fmla="*/ 167 w 822"/>
                <a:gd name="T23" fmla="*/ 195 h 512"/>
                <a:gd name="T24" fmla="*/ 205 w 822"/>
                <a:gd name="T25" fmla="*/ 211 h 512"/>
                <a:gd name="T26" fmla="*/ 247 w 822"/>
                <a:gd name="T27" fmla="*/ 222 h 512"/>
                <a:gd name="T28" fmla="*/ 294 w 822"/>
                <a:gd name="T29" fmla="*/ 228 h 512"/>
                <a:gd name="T30" fmla="*/ 346 w 822"/>
                <a:gd name="T31" fmla="*/ 229 h 512"/>
                <a:gd name="T32" fmla="*/ 374 w 822"/>
                <a:gd name="T33" fmla="*/ 228 h 512"/>
                <a:gd name="T34" fmla="*/ 368 w 822"/>
                <a:gd name="T35" fmla="*/ 229 h 512"/>
                <a:gd name="T36" fmla="*/ 356 w 822"/>
                <a:gd name="T37" fmla="*/ 231 h 512"/>
                <a:gd name="T38" fmla="*/ 339 w 822"/>
                <a:gd name="T39" fmla="*/ 233 h 512"/>
                <a:gd name="T40" fmla="*/ 319 w 822"/>
                <a:gd name="T41" fmla="*/ 235 h 512"/>
                <a:gd name="T42" fmla="*/ 295 w 822"/>
                <a:gd name="T43" fmla="*/ 235 h 512"/>
                <a:gd name="T44" fmla="*/ 268 w 822"/>
                <a:gd name="T45" fmla="*/ 233 h 512"/>
                <a:gd name="T46" fmla="*/ 239 w 822"/>
                <a:gd name="T47" fmla="*/ 229 h 512"/>
                <a:gd name="T48" fmla="*/ 208 w 822"/>
                <a:gd name="T49" fmla="*/ 222 h 512"/>
                <a:gd name="T50" fmla="*/ 177 w 822"/>
                <a:gd name="T51" fmla="*/ 211 h 512"/>
                <a:gd name="T52" fmla="*/ 146 w 822"/>
                <a:gd name="T53" fmla="*/ 195 h 512"/>
                <a:gd name="T54" fmla="*/ 115 w 822"/>
                <a:gd name="T55" fmla="*/ 174 h 512"/>
                <a:gd name="T56" fmla="*/ 85 w 822"/>
                <a:gd name="T57" fmla="*/ 148 h 512"/>
                <a:gd name="T58" fmla="*/ 57 w 822"/>
                <a:gd name="T59" fmla="*/ 115 h 512"/>
                <a:gd name="T60" fmla="*/ 31 w 822"/>
                <a:gd name="T61" fmla="*/ 75 h 512"/>
                <a:gd name="T62" fmla="*/ 10 w 822"/>
                <a:gd name="T63" fmla="*/ 27 h 5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22" h="512">
                  <a:moveTo>
                    <a:pt x="0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4" y="14"/>
                  </a:lnTo>
                  <a:lnTo>
                    <a:pt x="8" y="25"/>
                  </a:lnTo>
                  <a:lnTo>
                    <a:pt x="11" y="36"/>
                  </a:lnTo>
                  <a:lnTo>
                    <a:pt x="17" y="51"/>
                  </a:lnTo>
                  <a:lnTo>
                    <a:pt x="24" y="67"/>
                  </a:lnTo>
                  <a:lnTo>
                    <a:pt x="33" y="86"/>
                  </a:lnTo>
                  <a:lnTo>
                    <a:pt x="42" y="106"/>
                  </a:lnTo>
                  <a:lnTo>
                    <a:pt x="54" y="127"/>
                  </a:lnTo>
                  <a:lnTo>
                    <a:pt x="67" y="149"/>
                  </a:lnTo>
                  <a:lnTo>
                    <a:pt x="82" y="173"/>
                  </a:lnTo>
                  <a:lnTo>
                    <a:pt x="98" y="196"/>
                  </a:lnTo>
                  <a:lnTo>
                    <a:pt x="115" y="220"/>
                  </a:lnTo>
                  <a:lnTo>
                    <a:pt x="135" y="246"/>
                  </a:lnTo>
                  <a:lnTo>
                    <a:pt x="157" y="270"/>
                  </a:lnTo>
                  <a:lnTo>
                    <a:pt x="181" y="294"/>
                  </a:lnTo>
                  <a:lnTo>
                    <a:pt x="206" y="318"/>
                  </a:lnTo>
                  <a:lnTo>
                    <a:pt x="234" y="342"/>
                  </a:lnTo>
                  <a:lnTo>
                    <a:pt x="264" y="364"/>
                  </a:lnTo>
                  <a:lnTo>
                    <a:pt x="296" y="386"/>
                  </a:lnTo>
                  <a:lnTo>
                    <a:pt x="331" y="407"/>
                  </a:lnTo>
                  <a:lnTo>
                    <a:pt x="367" y="425"/>
                  </a:lnTo>
                  <a:lnTo>
                    <a:pt x="408" y="443"/>
                  </a:lnTo>
                  <a:lnTo>
                    <a:pt x="449" y="459"/>
                  </a:lnTo>
                  <a:lnTo>
                    <a:pt x="494" y="471"/>
                  </a:lnTo>
                  <a:lnTo>
                    <a:pt x="542" y="483"/>
                  </a:lnTo>
                  <a:lnTo>
                    <a:pt x="592" y="491"/>
                  </a:lnTo>
                  <a:lnTo>
                    <a:pt x="645" y="497"/>
                  </a:lnTo>
                  <a:lnTo>
                    <a:pt x="701" y="500"/>
                  </a:lnTo>
                  <a:lnTo>
                    <a:pt x="759" y="499"/>
                  </a:lnTo>
                  <a:lnTo>
                    <a:pt x="822" y="496"/>
                  </a:lnTo>
                  <a:lnTo>
                    <a:pt x="819" y="496"/>
                  </a:lnTo>
                  <a:lnTo>
                    <a:pt x="815" y="497"/>
                  </a:lnTo>
                  <a:lnTo>
                    <a:pt x="807" y="499"/>
                  </a:lnTo>
                  <a:lnTo>
                    <a:pt x="795" y="501"/>
                  </a:lnTo>
                  <a:lnTo>
                    <a:pt x="781" y="504"/>
                  </a:lnTo>
                  <a:lnTo>
                    <a:pt x="764" y="506"/>
                  </a:lnTo>
                  <a:lnTo>
                    <a:pt x="744" y="508"/>
                  </a:lnTo>
                  <a:lnTo>
                    <a:pt x="724" y="511"/>
                  </a:lnTo>
                  <a:lnTo>
                    <a:pt x="699" y="512"/>
                  </a:lnTo>
                  <a:lnTo>
                    <a:pt x="674" y="512"/>
                  </a:lnTo>
                  <a:lnTo>
                    <a:pt x="646" y="512"/>
                  </a:lnTo>
                  <a:lnTo>
                    <a:pt x="618" y="511"/>
                  </a:lnTo>
                  <a:lnTo>
                    <a:pt x="588" y="508"/>
                  </a:lnTo>
                  <a:lnTo>
                    <a:pt x="557" y="505"/>
                  </a:lnTo>
                  <a:lnTo>
                    <a:pt x="524" y="500"/>
                  </a:lnTo>
                  <a:lnTo>
                    <a:pt x="491" y="493"/>
                  </a:lnTo>
                  <a:lnTo>
                    <a:pt x="457" y="484"/>
                  </a:lnTo>
                  <a:lnTo>
                    <a:pt x="423" y="473"/>
                  </a:lnTo>
                  <a:lnTo>
                    <a:pt x="388" y="460"/>
                  </a:lnTo>
                  <a:lnTo>
                    <a:pt x="354" y="444"/>
                  </a:lnTo>
                  <a:lnTo>
                    <a:pt x="319" y="425"/>
                  </a:lnTo>
                  <a:lnTo>
                    <a:pt x="285" y="405"/>
                  </a:lnTo>
                  <a:lnTo>
                    <a:pt x="251" y="380"/>
                  </a:lnTo>
                  <a:lnTo>
                    <a:pt x="218" y="353"/>
                  </a:lnTo>
                  <a:lnTo>
                    <a:pt x="187" y="323"/>
                  </a:lnTo>
                  <a:lnTo>
                    <a:pt x="154" y="288"/>
                  </a:lnTo>
                  <a:lnTo>
                    <a:pt x="125" y="250"/>
                  </a:lnTo>
                  <a:lnTo>
                    <a:pt x="97" y="209"/>
                  </a:lnTo>
                  <a:lnTo>
                    <a:pt x="69" y="164"/>
                  </a:lnTo>
                  <a:lnTo>
                    <a:pt x="44" y="113"/>
                  </a:lnTo>
                  <a:lnTo>
                    <a:pt x="21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7" name="Freeform 268"/>
            <p:cNvSpPr>
              <a:spLocks/>
            </p:cNvSpPr>
            <p:nvPr/>
          </p:nvSpPr>
          <p:spPr bwMode="gray">
            <a:xfrm>
              <a:off x="3351" y="2892"/>
              <a:ext cx="272" cy="442"/>
            </a:xfrm>
            <a:custGeom>
              <a:avLst/>
              <a:gdLst>
                <a:gd name="T0" fmla="*/ 1 w 596"/>
                <a:gd name="T1" fmla="*/ 0 h 969"/>
                <a:gd name="T2" fmla="*/ 9 w 596"/>
                <a:gd name="T3" fmla="*/ 2 h 969"/>
                <a:gd name="T4" fmla="*/ 23 w 596"/>
                <a:gd name="T5" fmla="*/ 6 h 969"/>
                <a:gd name="T6" fmla="*/ 43 w 596"/>
                <a:gd name="T7" fmla="*/ 13 h 969"/>
                <a:gd name="T8" fmla="*/ 67 w 596"/>
                <a:gd name="T9" fmla="*/ 23 h 969"/>
                <a:gd name="T10" fmla="*/ 94 w 596"/>
                <a:gd name="T11" fmla="*/ 36 h 969"/>
                <a:gd name="T12" fmla="*/ 123 w 596"/>
                <a:gd name="T13" fmla="*/ 52 h 969"/>
                <a:gd name="T14" fmla="*/ 152 w 596"/>
                <a:gd name="T15" fmla="*/ 73 h 969"/>
                <a:gd name="T16" fmla="*/ 180 w 596"/>
                <a:gd name="T17" fmla="*/ 97 h 969"/>
                <a:gd name="T18" fmla="*/ 206 w 596"/>
                <a:gd name="T19" fmla="*/ 126 h 969"/>
                <a:gd name="T20" fmla="*/ 229 w 596"/>
                <a:gd name="T21" fmla="*/ 159 h 969"/>
                <a:gd name="T22" fmla="*/ 247 w 596"/>
                <a:gd name="T23" fmla="*/ 198 h 969"/>
                <a:gd name="T24" fmla="*/ 260 w 596"/>
                <a:gd name="T25" fmla="*/ 241 h 969"/>
                <a:gd name="T26" fmla="*/ 265 w 596"/>
                <a:gd name="T27" fmla="*/ 291 h 969"/>
                <a:gd name="T28" fmla="*/ 262 w 596"/>
                <a:gd name="T29" fmla="*/ 347 h 969"/>
                <a:gd name="T30" fmla="*/ 249 w 596"/>
                <a:gd name="T31" fmla="*/ 408 h 969"/>
                <a:gd name="T32" fmla="*/ 240 w 596"/>
                <a:gd name="T33" fmla="*/ 441 h 969"/>
                <a:gd name="T34" fmla="*/ 243 w 596"/>
                <a:gd name="T35" fmla="*/ 433 h 969"/>
                <a:gd name="T36" fmla="*/ 248 w 596"/>
                <a:gd name="T37" fmla="*/ 419 h 969"/>
                <a:gd name="T38" fmla="*/ 255 w 596"/>
                <a:gd name="T39" fmla="*/ 398 h 969"/>
                <a:gd name="T40" fmla="*/ 262 w 596"/>
                <a:gd name="T41" fmla="*/ 373 h 969"/>
                <a:gd name="T42" fmla="*/ 267 w 596"/>
                <a:gd name="T43" fmla="*/ 343 h 969"/>
                <a:gd name="T44" fmla="*/ 271 w 596"/>
                <a:gd name="T45" fmla="*/ 310 h 969"/>
                <a:gd name="T46" fmla="*/ 272 w 596"/>
                <a:gd name="T47" fmla="*/ 275 h 969"/>
                <a:gd name="T48" fmla="*/ 267 w 596"/>
                <a:gd name="T49" fmla="*/ 237 h 969"/>
                <a:gd name="T50" fmla="*/ 259 w 596"/>
                <a:gd name="T51" fmla="*/ 199 h 969"/>
                <a:gd name="T52" fmla="*/ 244 w 596"/>
                <a:gd name="T53" fmla="*/ 162 h 969"/>
                <a:gd name="T54" fmla="*/ 221 w 596"/>
                <a:gd name="T55" fmla="*/ 126 h 969"/>
                <a:gd name="T56" fmla="*/ 190 w 596"/>
                <a:gd name="T57" fmla="*/ 92 h 969"/>
                <a:gd name="T58" fmla="*/ 150 w 596"/>
                <a:gd name="T59" fmla="*/ 60 h 969"/>
                <a:gd name="T60" fmla="*/ 99 w 596"/>
                <a:gd name="T61" fmla="*/ 32 h 969"/>
                <a:gd name="T62" fmla="*/ 36 w 596"/>
                <a:gd name="T63" fmla="*/ 10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6" h="969">
                  <a:moveTo>
                    <a:pt x="0" y="0"/>
                  </a:moveTo>
                  <a:lnTo>
                    <a:pt x="2" y="0"/>
                  </a:lnTo>
                  <a:lnTo>
                    <a:pt x="9" y="3"/>
                  </a:lnTo>
                  <a:lnTo>
                    <a:pt x="19" y="5"/>
                  </a:lnTo>
                  <a:lnTo>
                    <a:pt x="33" y="10"/>
                  </a:lnTo>
                  <a:lnTo>
                    <a:pt x="51" y="14"/>
                  </a:lnTo>
                  <a:lnTo>
                    <a:pt x="71" y="21"/>
                  </a:lnTo>
                  <a:lnTo>
                    <a:pt x="94" y="29"/>
                  </a:lnTo>
                  <a:lnTo>
                    <a:pt x="120" y="40"/>
                  </a:lnTo>
                  <a:lnTo>
                    <a:pt x="147" y="51"/>
                  </a:lnTo>
                  <a:lnTo>
                    <a:pt x="176" y="64"/>
                  </a:lnTo>
                  <a:lnTo>
                    <a:pt x="206" y="79"/>
                  </a:lnTo>
                  <a:lnTo>
                    <a:pt x="237" y="96"/>
                  </a:lnTo>
                  <a:lnTo>
                    <a:pt x="270" y="114"/>
                  </a:lnTo>
                  <a:lnTo>
                    <a:pt x="301" y="136"/>
                  </a:lnTo>
                  <a:lnTo>
                    <a:pt x="333" y="159"/>
                  </a:lnTo>
                  <a:lnTo>
                    <a:pt x="364" y="185"/>
                  </a:lnTo>
                  <a:lnTo>
                    <a:pt x="394" y="212"/>
                  </a:lnTo>
                  <a:lnTo>
                    <a:pt x="424" y="242"/>
                  </a:lnTo>
                  <a:lnTo>
                    <a:pt x="452" y="276"/>
                  </a:lnTo>
                  <a:lnTo>
                    <a:pt x="478" y="310"/>
                  </a:lnTo>
                  <a:lnTo>
                    <a:pt x="501" y="349"/>
                  </a:lnTo>
                  <a:lnTo>
                    <a:pt x="523" y="390"/>
                  </a:lnTo>
                  <a:lnTo>
                    <a:pt x="542" y="434"/>
                  </a:lnTo>
                  <a:lnTo>
                    <a:pt x="557" y="480"/>
                  </a:lnTo>
                  <a:lnTo>
                    <a:pt x="569" y="529"/>
                  </a:lnTo>
                  <a:lnTo>
                    <a:pt x="577" y="582"/>
                  </a:lnTo>
                  <a:lnTo>
                    <a:pt x="581" y="638"/>
                  </a:lnTo>
                  <a:lnTo>
                    <a:pt x="580" y="697"/>
                  </a:lnTo>
                  <a:lnTo>
                    <a:pt x="574" y="761"/>
                  </a:lnTo>
                  <a:lnTo>
                    <a:pt x="563" y="826"/>
                  </a:lnTo>
                  <a:lnTo>
                    <a:pt x="546" y="895"/>
                  </a:lnTo>
                  <a:lnTo>
                    <a:pt x="524" y="969"/>
                  </a:lnTo>
                  <a:lnTo>
                    <a:pt x="525" y="967"/>
                  </a:lnTo>
                  <a:lnTo>
                    <a:pt x="528" y="960"/>
                  </a:lnTo>
                  <a:lnTo>
                    <a:pt x="532" y="949"/>
                  </a:lnTo>
                  <a:lnTo>
                    <a:pt x="538" y="936"/>
                  </a:lnTo>
                  <a:lnTo>
                    <a:pt x="544" y="918"/>
                  </a:lnTo>
                  <a:lnTo>
                    <a:pt x="551" y="896"/>
                  </a:lnTo>
                  <a:lnTo>
                    <a:pt x="559" y="873"/>
                  </a:lnTo>
                  <a:lnTo>
                    <a:pt x="566" y="846"/>
                  </a:lnTo>
                  <a:lnTo>
                    <a:pt x="574" y="817"/>
                  </a:lnTo>
                  <a:lnTo>
                    <a:pt x="580" y="785"/>
                  </a:lnTo>
                  <a:lnTo>
                    <a:pt x="585" y="751"/>
                  </a:lnTo>
                  <a:lnTo>
                    <a:pt x="590" y="716"/>
                  </a:lnTo>
                  <a:lnTo>
                    <a:pt x="593" y="679"/>
                  </a:lnTo>
                  <a:lnTo>
                    <a:pt x="596" y="641"/>
                  </a:lnTo>
                  <a:lnTo>
                    <a:pt x="595" y="602"/>
                  </a:lnTo>
                  <a:lnTo>
                    <a:pt x="592" y="560"/>
                  </a:lnTo>
                  <a:lnTo>
                    <a:pt x="586" y="520"/>
                  </a:lnTo>
                  <a:lnTo>
                    <a:pt x="578" y="478"/>
                  </a:lnTo>
                  <a:lnTo>
                    <a:pt x="568" y="437"/>
                  </a:lnTo>
                  <a:lnTo>
                    <a:pt x="553" y="395"/>
                  </a:lnTo>
                  <a:lnTo>
                    <a:pt x="535" y="355"/>
                  </a:lnTo>
                  <a:lnTo>
                    <a:pt x="512" y="315"/>
                  </a:lnTo>
                  <a:lnTo>
                    <a:pt x="485" y="276"/>
                  </a:lnTo>
                  <a:lnTo>
                    <a:pt x="453" y="238"/>
                  </a:lnTo>
                  <a:lnTo>
                    <a:pt x="417" y="201"/>
                  </a:lnTo>
                  <a:lnTo>
                    <a:pt x="376" y="165"/>
                  </a:lnTo>
                  <a:lnTo>
                    <a:pt x="328" y="132"/>
                  </a:lnTo>
                  <a:lnTo>
                    <a:pt x="275" y="101"/>
                  </a:lnTo>
                  <a:lnTo>
                    <a:pt x="217" y="71"/>
                  </a:lnTo>
                  <a:lnTo>
                    <a:pt x="151" y="44"/>
                  </a:lnTo>
                  <a:lnTo>
                    <a:pt x="79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78" name="Freeform 269"/>
            <p:cNvSpPr>
              <a:spLocks/>
            </p:cNvSpPr>
            <p:nvPr/>
          </p:nvSpPr>
          <p:spPr bwMode="gray">
            <a:xfrm>
              <a:off x="3602" y="3571"/>
              <a:ext cx="173" cy="218"/>
            </a:xfrm>
            <a:custGeom>
              <a:avLst/>
              <a:gdLst>
                <a:gd name="T0" fmla="*/ 0 w 376"/>
                <a:gd name="T1" fmla="*/ 14 h 478"/>
                <a:gd name="T2" fmla="*/ 149 w 376"/>
                <a:gd name="T3" fmla="*/ 218 h 478"/>
                <a:gd name="T4" fmla="*/ 173 w 376"/>
                <a:gd name="T5" fmla="*/ 218 h 478"/>
                <a:gd name="T6" fmla="*/ 15 w 376"/>
                <a:gd name="T7" fmla="*/ 0 h 478"/>
                <a:gd name="T8" fmla="*/ 14 w 376"/>
                <a:gd name="T9" fmla="*/ 2 h 478"/>
                <a:gd name="T10" fmla="*/ 12 w 376"/>
                <a:gd name="T11" fmla="*/ 6 h 478"/>
                <a:gd name="T12" fmla="*/ 7 w 376"/>
                <a:gd name="T13" fmla="*/ 10 h 478"/>
                <a:gd name="T14" fmla="*/ 0 w 376"/>
                <a:gd name="T15" fmla="*/ 14 h 4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6" h="478">
                  <a:moveTo>
                    <a:pt x="0" y="30"/>
                  </a:moveTo>
                  <a:lnTo>
                    <a:pt x="323" y="478"/>
                  </a:lnTo>
                  <a:lnTo>
                    <a:pt x="376" y="478"/>
                  </a:lnTo>
                  <a:lnTo>
                    <a:pt x="33" y="0"/>
                  </a:lnTo>
                  <a:lnTo>
                    <a:pt x="31" y="4"/>
                  </a:lnTo>
                  <a:lnTo>
                    <a:pt x="25" y="13"/>
                  </a:lnTo>
                  <a:lnTo>
                    <a:pt x="15" y="22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</p:grpSp>
      <p:sp>
        <p:nvSpPr>
          <p:cNvPr id="79" name="AutoShape 271"/>
          <p:cNvSpPr>
            <a:spLocks noChangeArrowheads="1"/>
          </p:cNvSpPr>
          <p:nvPr/>
        </p:nvSpPr>
        <p:spPr bwMode="gray">
          <a:xfrm flipV="1">
            <a:off x="3643617" y="4309483"/>
            <a:ext cx="1125538" cy="630237"/>
          </a:xfrm>
          <a:prstGeom prst="downArrowCallout">
            <a:avLst>
              <a:gd name="adj1" fmla="val 8318"/>
              <a:gd name="adj2" fmla="val 22043"/>
              <a:gd name="adj3" fmla="val 17630"/>
              <a:gd name="adj4" fmla="val 66667"/>
            </a:avLst>
          </a:prstGeom>
          <a:solidFill>
            <a:srgbClr val="DDDDDD"/>
          </a:solidFill>
          <a:ln w="9525" algn="ctr">
            <a:solidFill>
              <a:srgbClr val="4D4D4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hangingPunct="1">
              <a:buClrTx/>
              <a:buFontTx/>
              <a:buNone/>
            </a:pPr>
            <a:endParaRPr kumimoji="1" lang="en-US" altLang="ko-KR">
              <a:latin typeface="+mn-ea"/>
              <a:ea typeface="+mn-ea"/>
            </a:endParaRPr>
          </a:p>
        </p:txBody>
      </p:sp>
      <p:sp>
        <p:nvSpPr>
          <p:cNvPr id="80" name="Rectangle 272"/>
          <p:cNvSpPr>
            <a:spLocks noChangeArrowheads="1"/>
          </p:cNvSpPr>
          <p:nvPr/>
        </p:nvSpPr>
        <p:spPr bwMode="gray">
          <a:xfrm>
            <a:off x="3886553" y="4535485"/>
            <a:ext cx="706407" cy="405683"/>
          </a:xfrm>
          <a:prstGeom prst="rect">
            <a:avLst/>
          </a:prstGeom>
          <a:solidFill>
            <a:srgbClr val="DDDD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fontAlgn="ctr" hangingPunct="1">
              <a:buClrTx/>
              <a:buFontTx/>
              <a:buNone/>
            </a:pPr>
            <a:r>
              <a:rPr kumimoji="1" lang="ko-KR" altLang="en-US" dirty="0">
                <a:latin typeface="+mn-ea"/>
                <a:ea typeface="+mn-ea"/>
              </a:rPr>
              <a:t>표준 준수</a:t>
            </a:r>
          </a:p>
          <a:p>
            <a:pPr eaLnBrk="1" fontAlgn="ctr" hangingPunct="1">
              <a:buClrTx/>
              <a:buFontTx/>
              <a:buNone/>
            </a:pPr>
            <a:r>
              <a:rPr kumimoji="1" lang="ko-KR" altLang="en-US" dirty="0">
                <a:latin typeface="+mn-ea"/>
                <a:ea typeface="+mn-ea"/>
              </a:rPr>
              <a:t>모니터링</a:t>
            </a:r>
          </a:p>
        </p:txBody>
      </p:sp>
      <p:sp>
        <p:nvSpPr>
          <p:cNvPr id="81" name="AutoShape 274"/>
          <p:cNvSpPr>
            <a:spLocks noChangeArrowheads="1"/>
          </p:cNvSpPr>
          <p:nvPr/>
        </p:nvSpPr>
        <p:spPr bwMode="gray">
          <a:xfrm rot="5400000" flipV="1">
            <a:off x="1739900" y="2729893"/>
            <a:ext cx="425450" cy="1377950"/>
          </a:xfrm>
          <a:prstGeom prst="downArrowCallout">
            <a:avLst>
              <a:gd name="adj1" fmla="val 10454"/>
              <a:gd name="adj2" fmla="val 33958"/>
              <a:gd name="adj3" fmla="val 30604"/>
              <a:gd name="adj4" fmla="val 82153"/>
            </a:avLst>
          </a:prstGeom>
          <a:solidFill>
            <a:srgbClr val="DDDDDD"/>
          </a:solidFill>
          <a:ln w="9525" algn="ctr">
            <a:solidFill>
              <a:srgbClr val="4D4D4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lIns="18000" tIns="18000" rIns="18000" bIns="18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hangingPunct="1">
              <a:spcBef>
                <a:spcPct val="50000"/>
              </a:spcBef>
              <a:buClrTx/>
              <a:buFontTx/>
              <a:buNone/>
            </a:pPr>
            <a:endParaRPr kumimoji="1" lang="en-US" altLang="ko-KR">
              <a:latin typeface="+mn-ea"/>
              <a:ea typeface="+mn-ea"/>
            </a:endParaRPr>
          </a:p>
        </p:txBody>
      </p:sp>
      <p:sp>
        <p:nvSpPr>
          <p:cNvPr id="82" name="Text Box 275"/>
          <p:cNvSpPr txBox="1">
            <a:spLocks noChangeArrowheads="1"/>
          </p:cNvSpPr>
          <p:nvPr/>
        </p:nvSpPr>
        <p:spPr bwMode="gray">
          <a:xfrm>
            <a:off x="1263650" y="3296631"/>
            <a:ext cx="1169988" cy="2210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eaLnBrk="1" fontAlgn="ctr" hangingPunct="1">
              <a:spcBef>
                <a:spcPct val="50000"/>
              </a:spcBef>
              <a:buClrTx/>
              <a:buFontTx/>
              <a:buNone/>
            </a:pPr>
            <a:r>
              <a:rPr kumimoji="1" lang="ko-KR" altLang="en-US">
                <a:latin typeface="+mn-ea"/>
                <a:ea typeface="+mn-ea"/>
              </a:rPr>
              <a:t>표준화 및 공유</a:t>
            </a:r>
          </a:p>
        </p:txBody>
      </p:sp>
      <p:grpSp>
        <p:nvGrpSpPr>
          <p:cNvPr id="27" name="Group 276"/>
          <p:cNvGrpSpPr>
            <a:grpSpLocks/>
          </p:cNvGrpSpPr>
          <p:nvPr/>
        </p:nvGrpSpPr>
        <p:grpSpPr bwMode="auto">
          <a:xfrm>
            <a:off x="1082675" y="2823556"/>
            <a:ext cx="585788" cy="438150"/>
            <a:chOff x="682" y="1621"/>
            <a:chExt cx="935" cy="511"/>
          </a:xfrm>
        </p:grpSpPr>
        <p:sp>
          <p:nvSpPr>
            <p:cNvPr id="84" name="AutoShape 277"/>
            <p:cNvSpPr>
              <a:spLocks noChangeArrowheads="1"/>
            </p:cNvSpPr>
            <p:nvPr/>
          </p:nvSpPr>
          <p:spPr bwMode="gray">
            <a:xfrm>
              <a:off x="682" y="1621"/>
              <a:ext cx="935" cy="511"/>
            </a:xfrm>
            <a:prstGeom prst="foldedCorner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rgbClr val="4D4D4D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8000" tIns="18000" rIns="18000" bIns="18000" anchor="ctr"/>
            <a:lstStyle>
              <a:lvl1pPr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1pPr>
              <a:lvl2pPr marL="742950" indent="-28575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2pPr>
              <a:lvl3pPr marL="11430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3pPr>
              <a:lvl4pPr marL="16002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4pPr>
              <a:lvl5pPr marL="2057400" indent="-228600" eaLnBrk="0" hangingPunct="0"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1"/>
                </a:buClr>
                <a:buFont typeface="Wingdings" pitchFamily="2" charset="2"/>
                <a:buChar char="§"/>
                <a:defRPr sz="1200">
                  <a:solidFill>
                    <a:schemeClr val="tx1"/>
                  </a:solidFill>
                  <a:latin typeface="돋움" pitchFamily="50" charset="-127"/>
                  <a:ea typeface="돋움" pitchFamily="50" charset="-127"/>
                </a:defRPr>
              </a:lvl9pPr>
            </a:lstStyle>
            <a:p>
              <a:pPr eaLnBrk="1" hangingPunct="1"/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85" name="Line 278"/>
            <p:cNvSpPr>
              <a:spLocks noChangeShapeType="1"/>
            </p:cNvSpPr>
            <p:nvPr/>
          </p:nvSpPr>
          <p:spPr bwMode="gray">
            <a:xfrm>
              <a:off x="739" y="2071"/>
              <a:ext cx="744" cy="0"/>
            </a:xfrm>
            <a:prstGeom prst="line">
              <a:avLst/>
            </a:prstGeom>
            <a:noFill/>
            <a:ln w="9525">
              <a:solidFill>
                <a:srgbClr val="4D4D4D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tIns="18000" rIns="18000" bIns="18000" anchor="ctr">
              <a:spAutoFit/>
            </a:bodyPr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86" name="Freeform 279"/>
            <p:cNvSpPr>
              <a:spLocks/>
            </p:cNvSpPr>
            <p:nvPr/>
          </p:nvSpPr>
          <p:spPr bwMode="gray">
            <a:xfrm>
              <a:off x="739" y="1762"/>
              <a:ext cx="744" cy="292"/>
            </a:xfrm>
            <a:custGeom>
              <a:avLst/>
              <a:gdLst>
                <a:gd name="T0" fmla="*/ 0 w 4430"/>
                <a:gd name="T1" fmla="*/ 292 h 2081"/>
                <a:gd name="T2" fmla="*/ 157 w 4430"/>
                <a:gd name="T3" fmla="*/ 267 h 2081"/>
                <a:gd name="T4" fmla="*/ 241 w 4430"/>
                <a:gd name="T5" fmla="*/ 198 h 2081"/>
                <a:gd name="T6" fmla="*/ 299 w 4430"/>
                <a:gd name="T7" fmla="*/ 55 h 2081"/>
                <a:gd name="T8" fmla="*/ 373 w 4430"/>
                <a:gd name="T9" fmla="*/ 0 h 2081"/>
                <a:gd name="T10" fmla="*/ 448 w 4430"/>
                <a:gd name="T11" fmla="*/ 54 h 2081"/>
                <a:gd name="T12" fmla="*/ 504 w 4430"/>
                <a:gd name="T13" fmla="*/ 198 h 2081"/>
                <a:gd name="T14" fmla="*/ 589 w 4430"/>
                <a:gd name="T15" fmla="*/ 267 h 2081"/>
                <a:gd name="T16" fmla="*/ 744 w 4430"/>
                <a:gd name="T17" fmla="*/ 291 h 20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0" h="2081">
                  <a:moveTo>
                    <a:pt x="0" y="2081"/>
                  </a:moveTo>
                  <a:cubicBezTo>
                    <a:pt x="156" y="2051"/>
                    <a:pt x="696" y="2018"/>
                    <a:pt x="935" y="1906"/>
                  </a:cubicBezTo>
                  <a:cubicBezTo>
                    <a:pt x="1174" y="1794"/>
                    <a:pt x="1296" y="1663"/>
                    <a:pt x="1437" y="1411"/>
                  </a:cubicBezTo>
                  <a:cubicBezTo>
                    <a:pt x="1578" y="1159"/>
                    <a:pt x="1649" y="627"/>
                    <a:pt x="1779" y="392"/>
                  </a:cubicBezTo>
                  <a:cubicBezTo>
                    <a:pt x="1909" y="157"/>
                    <a:pt x="2070" y="2"/>
                    <a:pt x="2218" y="1"/>
                  </a:cubicBezTo>
                  <a:cubicBezTo>
                    <a:pt x="2366" y="0"/>
                    <a:pt x="2535" y="150"/>
                    <a:pt x="2665" y="385"/>
                  </a:cubicBezTo>
                  <a:cubicBezTo>
                    <a:pt x="2795" y="620"/>
                    <a:pt x="2859" y="1158"/>
                    <a:pt x="3000" y="1411"/>
                  </a:cubicBezTo>
                  <a:cubicBezTo>
                    <a:pt x="3141" y="1664"/>
                    <a:pt x="3271" y="1795"/>
                    <a:pt x="3509" y="1906"/>
                  </a:cubicBezTo>
                  <a:cubicBezTo>
                    <a:pt x="3747" y="2017"/>
                    <a:pt x="4238" y="2039"/>
                    <a:pt x="4430" y="2074"/>
                  </a:cubicBezTo>
                </a:path>
              </a:pathLst>
            </a:custGeom>
            <a:solidFill>
              <a:schemeClr val="bg1"/>
            </a:solidFill>
            <a:ln w="12700" cap="rnd" cmpd="sng">
              <a:solidFill>
                <a:schemeClr val="tx1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87" name="Freeform 280"/>
            <p:cNvSpPr>
              <a:spLocks/>
            </p:cNvSpPr>
            <p:nvPr/>
          </p:nvSpPr>
          <p:spPr bwMode="gray">
            <a:xfrm>
              <a:off x="925" y="1678"/>
              <a:ext cx="579" cy="376"/>
            </a:xfrm>
            <a:custGeom>
              <a:avLst/>
              <a:gdLst>
                <a:gd name="T0" fmla="*/ 0 w 4430"/>
                <a:gd name="T1" fmla="*/ 376 h 2081"/>
                <a:gd name="T2" fmla="*/ 122 w 4430"/>
                <a:gd name="T3" fmla="*/ 344 h 2081"/>
                <a:gd name="T4" fmla="*/ 188 w 4430"/>
                <a:gd name="T5" fmla="*/ 255 h 2081"/>
                <a:gd name="T6" fmla="*/ 233 w 4430"/>
                <a:gd name="T7" fmla="*/ 71 h 2081"/>
                <a:gd name="T8" fmla="*/ 290 w 4430"/>
                <a:gd name="T9" fmla="*/ 0 h 2081"/>
                <a:gd name="T10" fmla="*/ 348 w 4430"/>
                <a:gd name="T11" fmla="*/ 70 h 2081"/>
                <a:gd name="T12" fmla="*/ 392 w 4430"/>
                <a:gd name="T13" fmla="*/ 255 h 2081"/>
                <a:gd name="T14" fmla="*/ 459 w 4430"/>
                <a:gd name="T15" fmla="*/ 344 h 2081"/>
                <a:gd name="T16" fmla="*/ 579 w 4430"/>
                <a:gd name="T17" fmla="*/ 375 h 20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0" h="2081">
                  <a:moveTo>
                    <a:pt x="0" y="2081"/>
                  </a:moveTo>
                  <a:cubicBezTo>
                    <a:pt x="156" y="2051"/>
                    <a:pt x="696" y="2018"/>
                    <a:pt x="935" y="1906"/>
                  </a:cubicBezTo>
                  <a:cubicBezTo>
                    <a:pt x="1174" y="1794"/>
                    <a:pt x="1296" y="1663"/>
                    <a:pt x="1437" y="1411"/>
                  </a:cubicBezTo>
                  <a:cubicBezTo>
                    <a:pt x="1578" y="1159"/>
                    <a:pt x="1649" y="627"/>
                    <a:pt x="1779" y="392"/>
                  </a:cubicBezTo>
                  <a:cubicBezTo>
                    <a:pt x="1909" y="157"/>
                    <a:pt x="2070" y="2"/>
                    <a:pt x="2218" y="1"/>
                  </a:cubicBezTo>
                  <a:cubicBezTo>
                    <a:pt x="2366" y="0"/>
                    <a:pt x="2535" y="150"/>
                    <a:pt x="2665" y="385"/>
                  </a:cubicBezTo>
                  <a:cubicBezTo>
                    <a:pt x="2795" y="620"/>
                    <a:pt x="2859" y="1158"/>
                    <a:pt x="3000" y="1411"/>
                  </a:cubicBezTo>
                  <a:cubicBezTo>
                    <a:pt x="3141" y="1664"/>
                    <a:pt x="3271" y="1795"/>
                    <a:pt x="3509" y="1906"/>
                  </a:cubicBezTo>
                  <a:cubicBezTo>
                    <a:pt x="3747" y="2017"/>
                    <a:pt x="4238" y="2039"/>
                    <a:pt x="4430" y="2074"/>
                  </a:cubicBezTo>
                </a:path>
              </a:pathLst>
            </a:custGeom>
            <a:solidFill>
              <a:schemeClr val="bg1"/>
            </a:solidFill>
            <a:ln w="127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88" name="Line 281"/>
            <p:cNvSpPr>
              <a:spLocks noChangeShapeType="1"/>
            </p:cNvSpPr>
            <p:nvPr/>
          </p:nvSpPr>
          <p:spPr bwMode="gray">
            <a:xfrm>
              <a:off x="1111" y="1762"/>
              <a:ext cx="0" cy="313"/>
            </a:xfrm>
            <a:prstGeom prst="line">
              <a:avLst/>
            </a:prstGeom>
            <a:noFill/>
            <a:ln w="12700">
              <a:solidFill>
                <a:srgbClr val="4D4D4D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tIns="18000" rIns="18000" bIns="18000" anchor="ctr">
              <a:spAutoFit/>
            </a:bodyPr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89" name="Line 282"/>
            <p:cNvSpPr>
              <a:spLocks noChangeShapeType="1"/>
            </p:cNvSpPr>
            <p:nvPr/>
          </p:nvSpPr>
          <p:spPr bwMode="gray">
            <a:xfrm>
              <a:off x="1215" y="1678"/>
              <a:ext cx="0" cy="397"/>
            </a:xfrm>
            <a:prstGeom prst="line">
              <a:avLst/>
            </a:prstGeom>
            <a:noFill/>
            <a:ln w="12700">
              <a:solidFill>
                <a:srgbClr val="4D4D4D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tIns="18000" rIns="18000" bIns="18000" anchor="ctr">
              <a:spAutoFit/>
            </a:bodyPr>
            <a:lstStyle/>
            <a:p>
              <a:endParaRPr lang="ko-KR" altLang="en-US">
                <a:latin typeface="+mn-ea"/>
              </a:endParaRPr>
            </a:p>
          </p:txBody>
        </p:sp>
      </p:grpSp>
      <p:sp>
        <p:nvSpPr>
          <p:cNvPr id="90" name="Text Box 283"/>
          <p:cNvSpPr txBox="1">
            <a:spLocks noChangeArrowheads="1"/>
          </p:cNvSpPr>
          <p:nvPr/>
        </p:nvSpPr>
        <p:spPr bwMode="gray">
          <a:xfrm>
            <a:off x="4674989" y="2594066"/>
            <a:ext cx="1169988" cy="26942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>
            <a:defPPr>
              <a:defRPr lang="ko-KR"/>
            </a:defPPr>
            <a:lvl1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sz="1400" b="1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ko-KR" altLang="en-US" dirty="0"/>
              <a:t>표준 준수</a:t>
            </a:r>
          </a:p>
        </p:txBody>
      </p:sp>
      <p:sp>
        <p:nvSpPr>
          <p:cNvPr id="91" name="Text Box 284"/>
          <p:cNvSpPr txBox="1">
            <a:spLocks noChangeArrowheads="1"/>
          </p:cNvSpPr>
          <p:nvPr/>
        </p:nvSpPr>
        <p:spPr bwMode="gray">
          <a:xfrm>
            <a:off x="3938051" y="3768800"/>
            <a:ext cx="1169988" cy="52796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>
            <a:defPPr>
              <a:defRPr lang="ko-KR"/>
            </a:defPPr>
            <a:lvl1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sz="1400" b="1">
                <a:solidFill>
                  <a:schemeClr val="bg1"/>
                </a:solidFill>
                <a:latin typeface="+mn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dirty="0"/>
              <a:t>프로세스 표준화</a:t>
            </a:r>
          </a:p>
        </p:txBody>
      </p:sp>
      <p:sp>
        <p:nvSpPr>
          <p:cNvPr id="94" name="Rectangle 287"/>
          <p:cNvSpPr>
            <a:spLocks noChangeArrowheads="1"/>
          </p:cNvSpPr>
          <p:nvPr/>
        </p:nvSpPr>
        <p:spPr bwMode="gray">
          <a:xfrm>
            <a:off x="452438" y="1772784"/>
            <a:ext cx="8956675" cy="3249184"/>
          </a:xfrm>
          <a:prstGeom prst="rect">
            <a:avLst/>
          </a:prstGeom>
          <a:noFill/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endParaRPr lang="ko-KR" altLang="en-US">
              <a:latin typeface="+mn-ea"/>
              <a:ea typeface="+mn-ea"/>
            </a:endParaRPr>
          </a:p>
        </p:txBody>
      </p:sp>
      <p:sp>
        <p:nvSpPr>
          <p:cNvPr id="98" name="AutoShape 291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6713722" y="5810839"/>
            <a:ext cx="2343734" cy="323850"/>
          </a:xfrm>
          <a:prstGeom prst="bevel">
            <a:avLst>
              <a:gd name="adj" fmla="val 8824"/>
            </a:avLst>
          </a:prstGeom>
          <a:solidFill>
            <a:schemeClr val="bg1"/>
          </a:solidFill>
          <a:ln>
            <a:noFill/>
          </a:ln>
          <a:effectLst/>
          <a:extLst/>
        </p:spPr>
        <p:txBody>
          <a:bodyPr wrap="none" lIns="54000" tIns="18000" rIns="54000" bIns="18000" anchor="ctr"/>
          <a:lstStyle/>
          <a:p>
            <a:pPr algn="ctr" fontAlgn="ctr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kern="0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en-US" sz="1200" b="1" kern="0">
                <a:solidFill>
                  <a:srgbClr val="000000"/>
                </a:solidFill>
                <a:latin typeface="+mn-ea"/>
              </a:rPr>
              <a:t>표준 준수 모니터링</a:t>
            </a:r>
          </a:p>
        </p:txBody>
      </p:sp>
      <p:sp>
        <p:nvSpPr>
          <p:cNvPr id="100" name="AutoShape 293"/>
          <p:cNvSpPr>
            <a:spLocks noChangeAspect="1" noChangeArrowheads="1"/>
          </p:cNvSpPr>
          <p:nvPr/>
        </p:nvSpPr>
        <p:spPr bwMode="gray">
          <a:xfrm>
            <a:off x="6346825" y="5812427"/>
            <a:ext cx="352425" cy="312737"/>
          </a:xfrm>
          <a:prstGeom prst="bevel">
            <a:avLst>
              <a:gd name="adj" fmla="val 12500"/>
            </a:avLst>
          </a:prstGeom>
          <a:solidFill>
            <a:srgbClr val="4B7DB4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5</a:t>
            </a:r>
          </a:p>
        </p:txBody>
      </p:sp>
      <p:grpSp>
        <p:nvGrpSpPr>
          <p:cNvPr id="28" name="Group 294"/>
          <p:cNvGrpSpPr>
            <a:grpSpLocks/>
          </p:cNvGrpSpPr>
          <p:nvPr/>
        </p:nvGrpSpPr>
        <p:grpSpPr bwMode="auto">
          <a:xfrm>
            <a:off x="4594796" y="4410622"/>
            <a:ext cx="430212" cy="496887"/>
            <a:chOff x="2997" y="2830"/>
            <a:chExt cx="798" cy="966"/>
          </a:xfrm>
        </p:grpSpPr>
        <p:sp>
          <p:nvSpPr>
            <p:cNvPr id="102" name="Freeform 295"/>
            <p:cNvSpPr>
              <a:spLocks/>
            </p:cNvSpPr>
            <p:nvPr/>
          </p:nvSpPr>
          <p:spPr bwMode="gray">
            <a:xfrm>
              <a:off x="3503" y="3450"/>
              <a:ext cx="292" cy="346"/>
            </a:xfrm>
            <a:custGeom>
              <a:avLst/>
              <a:gdLst>
                <a:gd name="T0" fmla="*/ 121 w 640"/>
                <a:gd name="T1" fmla="*/ 100 h 759"/>
                <a:gd name="T2" fmla="*/ 100 w 640"/>
                <a:gd name="T3" fmla="*/ 98 h 759"/>
                <a:gd name="T4" fmla="*/ 83 w 640"/>
                <a:gd name="T5" fmla="*/ 90 h 759"/>
                <a:gd name="T6" fmla="*/ 71 w 640"/>
                <a:gd name="T7" fmla="*/ 81 h 759"/>
                <a:gd name="T8" fmla="*/ 63 w 640"/>
                <a:gd name="T9" fmla="*/ 69 h 759"/>
                <a:gd name="T10" fmla="*/ 58 w 640"/>
                <a:gd name="T11" fmla="*/ 58 h 759"/>
                <a:gd name="T12" fmla="*/ 55 w 640"/>
                <a:gd name="T13" fmla="*/ 48 h 759"/>
                <a:gd name="T14" fmla="*/ 53 w 640"/>
                <a:gd name="T15" fmla="*/ 41 h 759"/>
                <a:gd name="T16" fmla="*/ 53 w 640"/>
                <a:gd name="T17" fmla="*/ 39 h 759"/>
                <a:gd name="T18" fmla="*/ 59 w 640"/>
                <a:gd name="T19" fmla="*/ 26 h 759"/>
                <a:gd name="T20" fmla="*/ 58 w 640"/>
                <a:gd name="T21" fmla="*/ 16 h 759"/>
                <a:gd name="T22" fmla="*/ 52 w 640"/>
                <a:gd name="T23" fmla="*/ 10 h 759"/>
                <a:gd name="T24" fmla="*/ 45 w 640"/>
                <a:gd name="T25" fmla="*/ 5 h 759"/>
                <a:gd name="T26" fmla="*/ 36 w 640"/>
                <a:gd name="T27" fmla="*/ 2 h 759"/>
                <a:gd name="T28" fmla="*/ 28 w 640"/>
                <a:gd name="T29" fmla="*/ 0 h 759"/>
                <a:gd name="T30" fmla="*/ 22 w 640"/>
                <a:gd name="T31" fmla="*/ 0 h 759"/>
                <a:gd name="T32" fmla="*/ 20 w 640"/>
                <a:gd name="T33" fmla="*/ 0 h 759"/>
                <a:gd name="T34" fmla="*/ 0 w 640"/>
                <a:gd name="T35" fmla="*/ 16 h 759"/>
                <a:gd name="T36" fmla="*/ 1 w 640"/>
                <a:gd name="T37" fmla="*/ 22 h 759"/>
                <a:gd name="T38" fmla="*/ 2 w 640"/>
                <a:gd name="T39" fmla="*/ 28 h 759"/>
                <a:gd name="T40" fmla="*/ 4 w 640"/>
                <a:gd name="T41" fmla="*/ 35 h 759"/>
                <a:gd name="T42" fmla="*/ 7 w 640"/>
                <a:gd name="T43" fmla="*/ 41 h 759"/>
                <a:gd name="T44" fmla="*/ 10 w 640"/>
                <a:gd name="T45" fmla="*/ 46 h 759"/>
                <a:gd name="T46" fmla="*/ 15 w 640"/>
                <a:gd name="T47" fmla="*/ 50 h 759"/>
                <a:gd name="T48" fmla="*/ 20 w 640"/>
                <a:gd name="T49" fmla="*/ 53 h 759"/>
                <a:gd name="T50" fmla="*/ 26 w 640"/>
                <a:gd name="T51" fmla="*/ 55 h 759"/>
                <a:gd name="T52" fmla="*/ 28 w 640"/>
                <a:gd name="T53" fmla="*/ 57 h 759"/>
                <a:gd name="T54" fmla="*/ 31 w 640"/>
                <a:gd name="T55" fmla="*/ 61 h 759"/>
                <a:gd name="T56" fmla="*/ 37 w 640"/>
                <a:gd name="T57" fmla="*/ 67 h 759"/>
                <a:gd name="T58" fmla="*/ 45 w 640"/>
                <a:gd name="T59" fmla="*/ 75 h 759"/>
                <a:gd name="T60" fmla="*/ 52 w 640"/>
                <a:gd name="T61" fmla="*/ 84 h 759"/>
                <a:gd name="T62" fmla="*/ 59 w 640"/>
                <a:gd name="T63" fmla="*/ 95 h 759"/>
                <a:gd name="T64" fmla="*/ 66 w 640"/>
                <a:gd name="T65" fmla="*/ 106 h 759"/>
                <a:gd name="T66" fmla="*/ 72 w 640"/>
                <a:gd name="T67" fmla="*/ 116 h 759"/>
                <a:gd name="T68" fmla="*/ 73 w 640"/>
                <a:gd name="T69" fmla="*/ 139 h 759"/>
                <a:gd name="T70" fmla="*/ 229 w 640"/>
                <a:gd name="T71" fmla="*/ 346 h 759"/>
                <a:gd name="T72" fmla="*/ 292 w 640"/>
                <a:gd name="T73" fmla="*/ 346 h 759"/>
                <a:gd name="T74" fmla="*/ 121 w 640"/>
                <a:gd name="T75" fmla="*/ 100 h 75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40" h="759">
                  <a:moveTo>
                    <a:pt x="266" y="220"/>
                  </a:moveTo>
                  <a:lnTo>
                    <a:pt x="219" y="214"/>
                  </a:lnTo>
                  <a:lnTo>
                    <a:pt x="182" y="198"/>
                  </a:lnTo>
                  <a:lnTo>
                    <a:pt x="156" y="177"/>
                  </a:lnTo>
                  <a:lnTo>
                    <a:pt x="138" y="152"/>
                  </a:lnTo>
                  <a:lnTo>
                    <a:pt x="127" y="128"/>
                  </a:lnTo>
                  <a:lnTo>
                    <a:pt x="121" y="106"/>
                  </a:lnTo>
                  <a:lnTo>
                    <a:pt x="117" y="91"/>
                  </a:lnTo>
                  <a:lnTo>
                    <a:pt x="117" y="85"/>
                  </a:lnTo>
                  <a:lnTo>
                    <a:pt x="129" y="57"/>
                  </a:lnTo>
                  <a:lnTo>
                    <a:pt x="127" y="36"/>
                  </a:lnTo>
                  <a:lnTo>
                    <a:pt x="115" y="21"/>
                  </a:lnTo>
                  <a:lnTo>
                    <a:pt x="99" y="10"/>
                  </a:lnTo>
                  <a:lnTo>
                    <a:pt x="79" y="5"/>
                  </a:lnTo>
                  <a:lnTo>
                    <a:pt x="61" y="1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0" y="36"/>
                  </a:lnTo>
                  <a:lnTo>
                    <a:pt x="2" y="48"/>
                  </a:lnTo>
                  <a:lnTo>
                    <a:pt x="5" y="62"/>
                  </a:lnTo>
                  <a:lnTo>
                    <a:pt x="9" y="76"/>
                  </a:lnTo>
                  <a:lnTo>
                    <a:pt x="15" y="89"/>
                  </a:lnTo>
                  <a:lnTo>
                    <a:pt x="23" y="100"/>
                  </a:lnTo>
                  <a:lnTo>
                    <a:pt x="32" y="109"/>
                  </a:lnTo>
                  <a:lnTo>
                    <a:pt x="44" y="116"/>
                  </a:lnTo>
                  <a:lnTo>
                    <a:pt x="58" y="121"/>
                  </a:lnTo>
                  <a:lnTo>
                    <a:pt x="61" y="124"/>
                  </a:lnTo>
                  <a:lnTo>
                    <a:pt x="69" y="134"/>
                  </a:lnTo>
                  <a:lnTo>
                    <a:pt x="82" y="147"/>
                  </a:lnTo>
                  <a:lnTo>
                    <a:pt x="98" y="165"/>
                  </a:lnTo>
                  <a:lnTo>
                    <a:pt x="114" y="185"/>
                  </a:lnTo>
                  <a:lnTo>
                    <a:pt x="130" y="209"/>
                  </a:lnTo>
                  <a:lnTo>
                    <a:pt x="145" y="232"/>
                  </a:lnTo>
                  <a:lnTo>
                    <a:pt x="157" y="255"/>
                  </a:lnTo>
                  <a:lnTo>
                    <a:pt x="161" y="304"/>
                  </a:lnTo>
                  <a:lnTo>
                    <a:pt x="502" y="759"/>
                  </a:lnTo>
                  <a:lnTo>
                    <a:pt x="640" y="759"/>
                  </a:lnTo>
                  <a:lnTo>
                    <a:pt x="266" y="220"/>
                  </a:ln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03" name="Freeform 296"/>
            <p:cNvSpPr>
              <a:spLocks/>
            </p:cNvSpPr>
            <p:nvPr/>
          </p:nvSpPr>
          <p:spPr bwMode="gray">
            <a:xfrm>
              <a:off x="3478" y="3465"/>
              <a:ext cx="255" cy="331"/>
            </a:xfrm>
            <a:custGeom>
              <a:avLst/>
              <a:gdLst>
                <a:gd name="T0" fmla="*/ 98 w 559"/>
                <a:gd name="T1" fmla="*/ 100 h 723"/>
                <a:gd name="T2" fmla="*/ 92 w 559"/>
                <a:gd name="T3" fmla="*/ 90 h 723"/>
                <a:gd name="T4" fmla="*/ 85 w 559"/>
                <a:gd name="T5" fmla="*/ 79 h 723"/>
                <a:gd name="T6" fmla="*/ 78 w 559"/>
                <a:gd name="T7" fmla="*/ 68 h 723"/>
                <a:gd name="T8" fmla="*/ 71 w 559"/>
                <a:gd name="T9" fmla="*/ 59 h 723"/>
                <a:gd name="T10" fmla="*/ 63 w 559"/>
                <a:gd name="T11" fmla="*/ 51 h 723"/>
                <a:gd name="T12" fmla="*/ 57 w 559"/>
                <a:gd name="T13" fmla="*/ 45 h 723"/>
                <a:gd name="T14" fmla="*/ 54 w 559"/>
                <a:gd name="T15" fmla="*/ 40 h 723"/>
                <a:gd name="T16" fmla="*/ 52 w 559"/>
                <a:gd name="T17" fmla="*/ 39 h 723"/>
                <a:gd name="T18" fmla="*/ 46 w 559"/>
                <a:gd name="T19" fmla="*/ 37 h 723"/>
                <a:gd name="T20" fmla="*/ 41 w 559"/>
                <a:gd name="T21" fmla="*/ 33 h 723"/>
                <a:gd name="T22" fmla="*/ 36 w 559"/>
                <a:gd name="T23" fmla="*/ 29 h 723"/>
                <a:gd name="T24" fmla="*/ 33 w 559"/>
                <a:gd name="T25" fmla="*/ 24 h 723"/>
                <a:gd name="T26" fmla="*/ 30 w 559"/>
                <a:gd name="T27" fmla="*/ 18 h 723"/>
                <a:gd name="T28" fmla="*/ 28 w 559"/>
                <a:gd name="T29" fmla="*/ 12 h 723"/>
                <a:gd name="T30" fmla="*/ 27 w 559"/>
                <a:gd name="T31" fmla="*/ 5 h 723"/>
                <a:gd name="T32" fmla="*/ 26 w 559"/>
                <a:gd name="T33" fmla="*/ 0 h 723"/>
                <a:gd name="T34" fmla="*/ 14 w 559"/>
                <a:gd name="T35" fmla="*/ 10 h 723"/>
                <a:gd name="T36" fmla="*/ 5 w 559"/>
                <a:gd name="T37" fmla="*/ 19 h 723"/>
                <a:gd name="T38" fmla="*/ 0 w 559"/>
                <a:gd name="T39" fmla="*/ 28 h 723"/>
                <a:gd name="T40" fmla="*/ 0 w 559"/>
                <a:gd name="T41" fmla="*/ 35 h 723"/>
                <a:gd name="T42" fmla="*/ 2 w 559"/>
                <a:gd name="T43" fmla="*/ 41 h 723"/>
                <a:gd name="T44" fmla="*/ 6 w 559"/>
                <a:gd name="T45" fmla="*/ 46 h 723"/>
                <a:gd name="T46" fmla="*/ 10 w 559"/>
                <a:gd name="T47" fmla="*/ 49 h 723"/>
                <a:gd name="T48" fmla="*/ 13 w 559"/>
                <a:gd name="T49" fmla="*/ 52 h 723"/>
                <a:gd name="T50" fmla="*/ 15 w 559"/>
                <a:gd name="T51" fmla="*/ 52 h 723"/>
                <a:gd name="T52" fmla="*/ 32 w 559"/>
                <a:gd name="T53" fmla="*/ 60 h 723"/>
                <a:gd name="T54" fmla="*/ 43 w 559"/>
                <a:gd name="T55" fmla="*/ 72 h 723"/>
                <a:gd name="T56" fmla="*/ 48 w 559"/>
                <a:gd name="T57" fmla="*/ 87 h 723"/>
                <a:gd name="T58" fmla="*/ 51 w 559"/>
                <a:gd name="T59" fmla="*/ 104 h 723"/>
                <a:gd name="T60" fmla="*/ 50 w 559"/>
                <a:gd name="T61" fmla="*/ 120 h 723"/>
                <a:gd name="T62" fmla="*/ 48 w 559"/>
                <a:gd name="T63" fmla="*/ 134 h 723"/>
                <a:gd name="T64" fmla="*/ 46 w 559"/>
                <a:gd name="T65" fmla="*/ 143 h 723"/>
                <a:gd name="T66" fmla="*/ 45 w 559"/>
                <a:gd name="T67" fmla="*/ 147 h 723"/>
                <a:gd name="T68" fmla="*/ 158 w 559"/>
                <a:gd name="T69" fmla="*/ 331 h 723"/>
                <a:gd name="T70" fmla="*/ 255 w 559"/>
                <a:gd name="T71" fmla="*/ 331 h 723"/>
                <a:gd name="T72" fmla="*/ 99 w 559"/>
                <a:gd name="T73" fmla="*/ 123 h 723"/>
                <a:gd name="T74" fmla="*/ 98 w 559"/>
                <a:gd name="T75" fmla="*/ 100 h 72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59" h="723">
                  <a:moveTo>
                    <a:pt x="214" y="219"/>
                  </a:moveTo>
                  <a:lnTo>
                    <a:pt x="202" y="196"/>
                  </a:lnTo>
                  <a:lnTo>
                    <a:pt x="187" y="173"/>
                  </a:lnTo>
                  <a:lnTo>
                    <a:pt x="171" y="149"/>
                  </a:lnTo>
                  <a:lnTo>
                    <a:pt x="155" y="129"/>
                  </a:lnTo>
                  <a:lnTo>
                    <a:pt x="139" y="111"/>
                  </a:lnTo>
                  <a:lnTo>
                    <a:pt x="126" y="98"/>
                  </a:lnTo>
                  <a:lnTo>
                    <a:pt x="118" y="88"/>
                  </a:lnTo>
                  <a:lnTo>
                    <a:pt x="115" y="85"/>
                  </a:lnTo>
                  <a:lnTo>
                    <a:pt x="101" y="80"/>
                  </a:lnTo>
                  <a:lnTo>
                    <a:pt x="89" y="73"/>
                  </a:lnTo>
                  <a:lnTo>
                    <a:pt x="80" y="64"/>
                  </a:lnTo>
                  <a:lnTo>
                    <a:pt x="72" y="53"/>
                  </a:lnTo>
                  <a:lnTo>
                    <a:pt x="66" y="40"/>
                  </a:lnTo>
                  <a:lnTo>
                    <a:pt x="62" y="26"/>
                  </a:lnTo>
                  <a:lnTo>
                    <a:pt x="59" y="12"/>
                  </a:lnTo>
                  <a:lnTo>
                    <a:pt x="57" y="0"/>
                  </a:lnTo>
                  <a:lnTo>
                    <a:pt x="30" y="22"/>
                  </a:lnTo>
                  <a:lnTo>
                    <a:pt x="11" y="42"/>
                  </a:lnTo>
                  <a:lnTo>
                    <a:pt x="0" y="61"/>
                  </a:lnTo>
                  <a:lnTo>
                    <a:pt x="0" y="77"/>
                  </a:lnTo>
                  <a:lnTo>
                    <a:pt x="5" y="90"/>
                  </a:lnTo>
                  <a:lnTo>
                    <a:pt x="13" y="100"/>
                  </a:lnTo>
                  <a:lnTo>
                    <a:pt x="21" y="108"/>
                  </a:lnTo>
                  <a:lnTo>
                    <a:pt x="28" y="113"/>
                  </a:lnTo>
                  <a:lnTo>
                    <a:pt x="32" y="114"/>
                  </a:lnTo>
                  <a:lnTo>
                    <a:pt x="70" y="131"/>
                  </a:lnTo>
                  <a:lnTo>
                    <a:pt x="94" y="158"/>
                  </a:lnTo>
                  <a:lnTo>
                    <a:pt x="106" y="191"/>
                  </a:lnTo>
                  <a:lnTo>
                    <a:pt x="111" y="228"/>
                  </a:lnTo>
                  <a:lnTo>
                    <a:pt x="110" y="262"/>
                  </a:lnTo>
                  <a:lnTo>
                    <a:pt x="105" y="292"/>
                  </a:lnTo>
                  <a:lnTo>
                    <a:pt x="101" y="313"/>
                  </a:lnTo>
                  <a:lnTo>
                    <a:pt x="98" y="321"/>
                  </a:lnTo>
                  <a:lnTo>
                    <a:pt x="347" y="723"/>
                  </a:lnTo>
                  <a:lnTo>
                    <a:pt x="559" y="723"/>
                  </a:lnTo>
                  <a:lnTo>
                    <a:pt x="218" y="268"/>
                  </a:lnTo>
                  <a:lnTo>
                    <a:pt x="214" y="219"/>
                  </a:ln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04" name="Freeform 297"/>
            <p:cNvSpPr>
              <a:spLocks/>
            </p:cNvSpPr>
            <p:nvPr/>
          </p:nvSpPr>
          <p:spPr bwMode="gray">
            <a:xfrm>
              <a:off x="2997" y="2830"/>
              <a:ext cx="679" cy="700"/>
            </a:xfrm>
            <a:custGeom>
              <a:avLst/>
              <a:gdLst>
                <a:gd name="T0" fmla="*/ 1 w 1485"/>
                <a:gd name="T1" fmla="*/ 386 h 1529"/>
                <a:gd name="T2" fmla="*/ 15 w 1485"/>
                <a:gd name="T3" fmla="*/ 454 h 1529"/>
                <a:gd name="T4" fmla="*/ 41 w 1485"/>
                <a:gd name="T5" fmla="*/ 517 h 1529"/>
                <a:gd name="T6" fmla="*/ 77 w 1485"/>
                <a:gd name="T7" fmla="*/ 573 h 1529"/>
                <a:gd name="T8" fmla="*/ 123 w 1485"/>
                <a:gd name="T9" fmla="*/ 620 h 1529"/>
                <a:gd name="T10" fmla="*/ 178 w 1485"/>
                <a:gd name="T11" fmla="*/ 658 h 1529"/>
                <a:gd name="T12" fmla="*/ 239 w 1485"/>
                <a:gd name="T13" fmla="*/ 684 h 1529"/>
                <a:gd name="T14" fmla="*/ 305 w 1485"/>
                <a:gd name="T15" fmla="*/ 699 h 1529"/>
                <a:gd name="T16" fmla="*/ 374 w 1485"/>
                <a:gd name="T17" fmla="*/ 699 h 1529"/>
                <a:gd name="T18" fmla="*/ 440 w 1485"/>
                <a:gd name="T19" fmla="*/ 684 h 1529"/>
                <a:gd name="T20" fmla="*/ 502 w 1485"/>
                <a:gd name="T21" fmla="*/ 658 h 1529"/>
                <a:gd name="T22" fmla="*/ 555 w 1485"/>
                <a:gd name="T23" fmla="*/ 620 h 1529"/>
                <a:gd name="T24" fmla="*/ 602 w 1485"/>
                <a:gd name="T25" fmla="*/ 573 h 1529"/>
                <a:gd name="T26" fmla="*/ 638 w 1485"/>
                <a:gd name="T27" fmla="*/ 517 h 1529"/>
                <a:gd name="T28" fmla="*/ 664 w 1485"/>
                <a:gd name="T29" fmla="*/ 454 h 1529"/>
                <a:gd name="T30" fmla="*/ 678 w 1485"/>
                <a:gd name="T31" fmla="*/ 386 h 1529"/>
                <a:gd name="T32" fmla="*/ 678 w 1485"/>
                <a:gd name="T33" fmla="*/ 314 h 1529"/>
                <a:gd name="T34" fmla="*/ 664 w 1485"/>
                <a:gd name="T35" fmla="*/ 246 h 1529"/>
                <a:gd name="T36" fmla="*/ 638 w 1485"/>
                <a:gd name="T37" fmla="*/ 183 h 1529"/>
                <a:gd name="T38" fmla="*/ 602 w 1485"/>
                <a:gd name="T39" fmla="*/ 128 h 1529"/>
                <a:gd name="T40" fmla="*/ 555 w 1485"/>
                <a:gd name="T41" fmla="*/ 80 h 1529"/>
                <a:gd name="T42" fmla="*/ 502 w 1485"/>
                <a:gd name="T43" fmla="*/ 42 h 1529"/>
                <a:gd name="T44" fmla="*/ 440 w 1485"/>
                <a:gd name="T45" fmla="*/ 16 h 1529"/>
                <a:gd name="T46" fmla="*/ 374 w 1485"/>
                <a:gd name="T47" fmla="*/ 1 h 1529"/>
                <a:gd name="T48" fmla="*/ 305 w 1485"/>
                <a:gd name="T49" fmla="*/ 1 h 1529"/>
                <a:gd name="T50" fmla="*/ 239 w 1485"/>
                <a:gd name="T51" fmla="*/ 16 h 1529"/>
                <a:gd name="T52" fmla="*/ 178 w 1485"/>
                <a:gd name="T53" fmla="*/ 42 h 1529"/>
                <a:gd name="T54" fmla="*/ 123 w 1485"/>
                <a:gd name="T55" fmla="*/ 80 h 1529"/>
                <a:gd name="T56" fmla="*/ 77 w 1485"/>
                <a:gd name="T57" fmla="*/ 128 h 1529"/>
                <a:gd name="T58" fmla="*/ 41 w 1485"/>
                <a:gd name="T59" fmla="*/ 183 h 1529"/>
                <a:gd name="T60" fmla="*/ 15 w 1485"/>
                <a:gd name="T61" fmla="*/ 246 h 1529"/>
                <a:gd name="T62" fmla="*/ 1 w 1485"/>
                <a:gd name="T63" fmla="*/ 314 h 15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85" h="1529">
                  <a:moveTo>
                    <a:pt x="0" y="765"/>
                  </a:moveTo>
                  <a:lnTo>
                    <a:pt x="3" y="843"/>
                  </a:lnTo>
                  <a:lnTo>
                    <a:pt x="15" y="919"/>
                  </a:lnTo>
                  <a:lnTo>
                    <a:pt x="33" y="991"/>
                  </a:lnTo>
                  <a:lnTo>
                    <a:pt x="58" y="1062"/>
                  </a:lnTo>
                  <a:lnTo>
                    <a:pt x="89" y="1129"/>
                  </a:lnTo>
                  <a:lnTo>
                    <a:pt x="126" y="1192"/>
                  </a:lnTo>
                  <a:lnTo>
                    <a:pt x="169" y="1251"/>
                  </a:lnTo>
                  <a:lnTo>
                    <a:pt x="217" y="1305"/>
                  </a:lnTo>
                  <a:lnTo>
                    <a:pt x="270" y="1354"/>
                  </a:lnTo>
                  <a:lnTo>
                    <a:pt x="327" y="1398"/>
                  </a:lnTo>
                  <a:lnTo>
                    <a:pt x="389" y="1437"/>
                  </a:lnTo>
                  <a:lnTo>
                    <a:pt x="454" y="1469"/>
                  </a:lnTo>
                  <a:lnTo>
                    <a:pt x="522" y="1495"/>
                  </a:lnTo>
                  <a:lnTo>
                    <a:pt x="593" y="1513"/>
                  </a:lnTo>
                  <a:lnTo>
                    <a:pt x="667" y="1526"/>
                  </a:lnTo>
                  <a:lnTo>
                    <a:pt x="743" y="1529"/>
                  </a:lnTo>
                  <a:lnTo>
                    <a:pt x="819" y="1526"/>
                  </a:lnTo>
                  <a:lnTo>
                    <a:pt x="893" y="1513"/>
                  </a:lnTo>
                  <a:lnTo>
                    <a:pt x="963" y="1495"/>
                  </a:lnTo>
                  <a:lnTo>
                    <a:pt x="1031" y="1469"/>
                  </a:lnTo>
                  <a:lnTo>
                    <a:pt x="1097" y="1437"/>
                  </a:lnTo>
                  <a:lnTo>
                    <a:pt x="1158" y="1398"/>
                  </a:lnTo>
                  <a:lnTo>
                    <a:pt x="1214" y="1354"/>
                  </a:lnTo>
                  <a:lnTo>
                    <a:pt x="1267" y="1305"/>
                  </a:lnTo>
                  <a:lnTo>
                    <a:pt x="1316" y="1251"/>
                  </a:lnTo>
                  <a:lnTo>
                    <a:pt x="1358" y="1192"/>
                  </a:lnTo>
                  <a:lnTo>
                    <a:pt x="1395" y="1129"/>
                  </a:lnTo>
                  <a:lnTo>
                    <a:pt x="1426" y="1062"/>
                  </a:lnTo>
                  <a:lnTo>
                    <a:pt x="1452" y="991"/>
                  </a:lnTo>
                  <a:lnTo>
                    <a:pt x="1470" y="919"/>
                  </a:lnTo>
                  <a:lnTo>
                    <a:pt x="1482" y="843"/>
                  </a:lnTo>
                  <a:lnTo>
                    <a:pt x="1485" y="765"/>
                  </a:lnTo>
                  <a:lnTo>
                    <a:pt x="1482" y="686"/>
                  </a:lnTo>
                  <a:lnTo>
                    <a:pt x="1470" y="610"/>
                  </a:lnTo>
                  <a:lnTo>
                    <a:pt x="1452" y="537"/>
                  </a:lnTo>
                  <a:lnTo>
                    <a:pt x="1426" y="466"/>
                  </a:lnTo>
                  <a:lnTo>
                    <a:pt x="1395" y="400"/>
                  </a:lnTo>
                  <a:lnTo>
                    <a:pt x="1358" y="337"/>
                  </a:lnTo>
                  <a:lnTo>
                    <a:pt x="1316" y="279"/>
                  </a:lnTo>
                  <a:lnTo>
                    <a:pt x="1267" y="223"/>
                  </a:lnTo>
                  <a:lnTo>
                    <a:pt x="1214" y="175"/>
                  </a:lnTo>
                  <a:lnTo>
                    <a:pt x="1158" y="130"/>
                  </a:lnTo>
                  <a:lnTo>
                    <a:pt x="1097" y="92"/>
                  </a:lnTo>
                  <a:lnTo>
                    <a:pt x="1031" y="60"/>
                  </a:lnTo>
                  <a:lnTo>
                    <a:pt x="963" y="34"/>
                  </a:lnTo>
                  <a:lnTo>
                    <a:pt x="893" y="15"/>
                  </a:lnTo>
                  <a:lnTo>
                    <a:pt x="819" y="3"/>
                  </a:lnTo>
                  <a:lnTo>
                    <a:pt x="743" y="0"/>
                  </a:lnTo>
                  <a:lnTo>
                    <a:pt x="667" y="3"/>
                  </a:lnTo>
                  <a:lnTo>
                    <a:pt x="593" y="15"/>
                  </a:lnTo>
                  <a:lnTo>
                    <a:pt x="522" y="34"/>
                  </a:lnTo>
                  <a:lnTo>
                    <a:pt x="454" y="60"/>
                  </a:lnTo>
                  <a:lnTo>
                    <a:pt x="389" y="92"/>
                  </a:lnTo>
                  <a:lnTo>
                    <a:pt x="327" y="130"/>
                  </a:lnTo>
                  <a:lnTo>
                    <a:pt x="270" y="175"/>
                  </a:lnTo>
                  <a:lnTo>
                    <a:pt x="217" y="223"/>
                  </a:lnTo>
                  <a:lnTo>
                    <a:pt x="169" y="279"/>
                  </a:lnTo>
                  <a:lnTo>
                    <a:pt x="126" y="337"/>
                  </a:lnTo>
                  <a:lnTo>
                    <a:pt x="89" y="400"/>
                  </a:lnTo>
                  <a:lnTo>
                    <a:pt x="58" y="466"/>
                  </a:lnTo>
                  <a:lnTo>
                    <a:pt x="33" y="537"/>
                  </a:lnTo>
                  <a:lnTo>
                    <a:pt x="15" y="610"/>
                  </a:lnTo>
                  <a:lnTo>
                    <a:pt x="3" y="686"/>
                  </a:lnTo>
                  <a:lnTo>
                    <a:pt x="0" y="765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05" name="Freeform 298"/>
            <p:cNvSpPr>
              <a:spLocks/>
            </p:cNvSpPr>
            <p:nvPr/>
          </p:nvSpPr>
          <p:spPr bwMode="gray">
            <a:xfrm>
              <a:off x="2999" y="2864"/>
              <a:ext cx="657" cy="669"/>
            </a:xfrm>
            <a:custGeom>
              <a:avLst/>
              <a:gdLst>
                <a:gd name="T0" fmla="*/ 1 w 1438"/>
                <a:gd name="T1" fmla="*/ 365 h 1460"/>
                <a:gd name="T2" fmla="*/ 15 w 1438"/>
                <a:gd name="T3" fmla="*/ 431 h 1460"/>
                <a:gd name="T4" fmla="*/ 39 w 1438"/>
                <a:gd name="T5" fmla="*/ 492 h 1460"/>
                <a:gd name="T6" fmla="*/ 75 w 1438"/>
                <a:gd name="T7" fmla="*/ 546 h 1460"/>
                <a:gd name="T8" fmla="*/ 120 w 1438"/>
                <a:gd name="T9" fmla="*/ 592 h 1460"/>
                <a:gd name="T10" fmla="*/ 172 w 1438"/>
                <a:gd name="T11" fmla="*/ 628 h 1460"/>
                <a:gd name="T12" fmla="*/ 231 w 1438"/>
                <a:gd name="T13" fmla="*/ 654 h 1460"/>
                <a:gd name="T14" fmla="*/ 295 w 1438"/>
                <a:gd name="T15" fmla="*/ 668 h 1460"/>
                <a:gd name="T16" fmla="*/ 362 w 1438"/>
                <a:gd name="T17" fmla="*/ 668 h 1460"/>
                <a:gd name="T18" fmla="*/ 426 w 1438"/>
                <a:gd name="T19" fmla="*/ 654 h 1460"/>
                <a:gd name="T20" fmla="*/ 485 w 1438"/>
                <a:gd name="T21" fmla="*/ 628 h 1460"/>
                <a:gd name="T22" fmla="*/ 538 w 1438"/>
                <a:gd name="T23" fmla="*/ 592 h 1460"/>
                <a:gd name="T24" fmla="*/ 582 w 1438"/>
                <a:gd name="T25" fmla="*/ 546 h 1460"/>
                <a:gd name="T26" fmla="*/ 618 w 1438"/>
                <a:gd name="T27" fmla="*/ 492 h 1460"/>
                <a:gd name="T28" fmla="*/ 642 w 1438"/>
                <a:gd name="T29" fmla="*/ 431 h 1460"/>
                <a:gd name="T30" fmla="*/ 656 w 1438"/>
                <a:gd name="T31" fmla="*/ 365 h 1460"/>
                <a:gd name="T32" fmla="*/ 656 w 1438"/>
                <a:gd name="T33" fmla="*/ 296 h 1460"/>
                <a:gd name="T34" fmla="*/ 642 w 1438"/>
                <a:gd name="T35" fmla="*/ 230 h 1460"/>
                <a:gd name="T36" fmla="*/ 618 w 1438"/>
                <a:gd name="T37" fmla="*/ 171 h 1460"/>
                <a:gd name="T38" fmla="*/ 582 w 1438"/>
                <a:gd name="T39" fmla="*/ 118 h 1460"/>
                <a:gd name="T40" fmla="*/ 538 w 1438"/>
                <a:gd name="T41" fmla="*/ 74 h 1460"/>
                <a:gd name="T42" fmla="*/ 485 w 1438"/>
                <a:gd name="T43" fmla="*/ 39 h 1460"/>
                <a:gd name="T44" fmla="*/ 426 w 1438"/>
                <a:gd name="T45" fmla="*/ 14 h 1460"/>
                <a:gd name="T46" fmla="*/ 362 w 1438"/>
                <a:gd name="T47" fmla="*/ 1 h 1460"/>
                <a:gd name="T48" fmla="*/ 295 w 1438"/>
                <a:gd name="T49" fmla="*/ 1 h 1460"/>
                <a:gd name="T50" fmla="*/ 231 w 1438"/>
                <a:gd name="T51" fmla="*/ 14 h 1460"/>
                <a:gd name="T52" fmla="*/ 172 w 1438"/>
                <a:gd name="T53" fmla="*/ 39 h 1460"/>
                <a:gd name="T54" fmla="*/ 120 w 1438"/>
                <a:gd name="T55" fmla="*/ 74 h 1460"/>
                <a:gd name="T56" fmla="*/ 75 w 1438"/>
                <a:gd name="T57" fmla="*/ 118 h 1460"/>
                <a:gd name="T58" fmla="*/ 39 w 1438"/>
                <a:gd name="T59" fmla="*/ 171 h 1460"/>
                <a:gd name="T60" fmla="*/ 15 w 1438"/>
                <a:gd name="T61" fmla="*/ 230 h 1460"/>
                <a:gd name="T62" fmla="*/ 1 w 1438"/>
                <a:gd name="T63" fmla="*/ 296 h 1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38" h="1460">
                  <a:moveTo>
                    <a:pt x="0" y="721"/>
                  </a:moveTo>
                  <a:lnTo>
                    <a:pt x="3" y="797"/>
                  </a:lnTo>
                  <a:lnTo>
                    <a:pt x="15" y="869"/>
                  </a:lnTo>
                  <a:lnTo>
                    <a:pt x="32" y="941"/>
                  </a:lnTo>
                  <a:lnTo>
                    <a:pt x="56" y="1009"/>
                  </a:lnTo>
                  <a:lnTo>
                    <a:pt x="86" y="1073"/>
                  </a:lnTo>
                  <a:lnTo>
                    <a:pt x="122" y="1134"/>
                  </a:lnTo>
                  <a:lnTo>
                    <a:pt x="164" y="1191"/>
                  </a:lnTo>
                  <a:lnTo>
                    <a:pt x="211" y="1244"/>
                  </a:lnTo>
                  <a:lnTo>
                    <a:pt x="262" y="1291"/>
                  </a:lnTo>
                  <a:lnTo>
                    <a:pt x="317" y="1333"/>
                  </a:lnTo>
                  <a:lnTo>
                    <a:pt x="376" y="1370"/>
                  </a:lnTo>
                  <a:lnTo>
                    <a:pt x="439" y="1401"/>
                  </a:lnTo>
                  <a:lnTo>
                    <a:pt x="505" y="1427"/>
                  </a:lnTo>
                  <a:lnTo>
                    <a:pt x="574" y="1445"/>
                  </a:lnTo>
                  <a:lnTo>
                    <a:pt x="645" y="1457"/>
                  </a:lnTo>
                  <a:lnTo>
                    <a:pt x="719" y="1460"/>
                  </a:lnTo>
                  <a:lnTo>
                    <a:pt x="793" y="1457"/>
                  </a:lnTo>
                  <a:lnTo>
                    <a:pt x="864" y="1445"/>
                  </a:lnTo>
                  <a:lnTo>
                    <a:pt x="932" y="1427"/>
                  </a:lnTo>
                  <a:lnTo>
                    <a:pt x="999" y="1401"/>
                  </a:lnTo>
                  <a:lnTo>
                    <a:pt x="1061" y="1370"/>
                  </a:lnTo>
                  <a:lnTo>
                    <a:pt x="1121" y="1333"/>
                  </a:lnTo>
                  <a:lnTo>
                    <a:pt x="1177" y="1291"/>
                  </a:lnTo>
                  <a:lnTo>
                    <a:pt x="1227" y="1244"/>
                  </a:lnTo>
                  <a:lnTo>
                    <a:pt x="1273" y="1191"/>
                  </a:lnTo>
                  <a:lnTo>
                    <a:pt x="1315" y="1134"/>
                  </a:lnTo>
                  <a:lnTo>
                    <a:pt x="1352" y="1073"/>
                  </a:lnTo>
                  <a:lnTo>
                    <a:pt x="1382" y="1009"/>
                  </a:lnTo>
                  <a:lnTo>
                    <a:pt x="1406" y="941"/>
                  </a:lnTo>
                  <a:lnTo>
                    <a:pt x="1423" y="869"/>
                  </a:lnTo>
                  <a:lnTo>
                    <a:pt x="1435" y="797"/>
                  </a:lnTo>
                  <a:lnTo>
                    <a:pt x="1438" y="721"/>
                  </a:lnTo>
                  <a:lnTo>
                    <a:pt x="1435" y="645"/>
                  </a:lnTo>
                  <a:lnTo>
                    <a:pt x="1423" y="572"/>
                  </a:lnTo>
                  <a:lnTo>
                    <a:pt x="1406" y="502"/>
                  </a:lnTo>
                  <a:lnTo>
                    <a:pt x="1382" y="435"/>
                  </a:lnTo>
                  <a:lnTo>
                    <a:pt x="1352" y="373"/>
                  </a:lnTo>
                  <a:lnTo>
                    <a:pt x="1315" y="313"/>
                  </a:lnTo>
                  <a:lnTo>
                    <a:pt x="1273" y="258"/>
                  </a:lnTo>
                  <a:lnTo>
                    <a:pt x="1227" y="207"/>
                  </a:lnTo>
                  <a:lnTo>
                    <a:pt x="1177" y="161"/>
                  </a:lnTo>
                  <a:lnTo>
                    <a:pt x="1121" y="120"/>
                  </a:lnTo>
                  <a:lnTo>
                    <a:pt x="1061" y="85"/>
                  </a:lnTo>
                  <a:lnTo>
                    <a:pt x="999" y="55"/>
                  </a:lnTo>
                  <a:lnTo>
                    <a:pt x="932" y="31"/>
                  </a:lnTo>
                  <a:lnTo>
                    <a:pt x="864" y="14"/>
                  </a:lnTo>
                  <a:lnTo>
                    <a:pt x="793" y="3"/>
                  </a:lnTo>
                  <a:lnTo>
                    <a:pt x="719" y="0"/>
                  </a:lnTo>
                  <a:lnTo>
                    <a:pt x="645" y="3"/>
                  </a:lnTo>
                  <a:lnTo>
                    <a:pt x="574" y="14"/>
                  </a:lnTo>
                  <a:lnTo>
                    <a:pt x="505" y="31"/>
                  </a:lnTo>
                  <a:lnTo>
                    <a:pt x="439" y="55"/>
                  </a:lnTo>
                  <a:lnTo>
                    <a:pt x="376" y="85"/>
                  </a:lnTo>
                  <a:lnTo>
                    <a:pt x="317" y="120"/>
                  </a:lnTo>
                  <a:lnTo>
                    <a:pt x="262" y="161"/>
                  </a:lnTo>
                  <a:lnTo>
                    <a:pt x="211" y="207"/>
                  </a:lnTo>
                  <a:lnTo>
                    <a:pt x="164" y="258"/>
                  </a:lnTo>
                  <a:lnTo>
                    <a:pt x="122" y="313"/>
                  </a:lnTo>
                  <a:lnTo>
                    <a:pt x="86" y="373"/>
                  </a:lnTo>
                  <a:lnTo>
                    <a:pt x="56" y="435"/>
                  </a:lnTo>
                  <a:lnTo>
                    <a:pt x="32" y="502"/>
                  </a:lnTo>
                  <a:lnTo>
                    <a:pt x="15" y="572"/>
                  </a:lnTo>
                  <a:lnTo>
                    <a:pt x="3" y="645"/>
                  </a:lnTo>
                  <a:lnTo>
                    <a:pt x="0" y="721"/>
                  </a:ln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06" name="Freeform 299"/>
            <p:cNvSpPr>
              <a:spLocks/>
            </p:cNvSpPr>
            <p:nvPr/>
          </p:nvSpPr>
          <p:spPr bwMode="gray">
            <a:xfrm>
              <a:off x="3041" y="2922"/>
              <a:ext cx="548" cy="573"/>
            </a:xfrm>
            <a:custGeom>
              <a:avLst/>
              <a:gdLst>
                <a:gd name="T0" fmla="*/ 522 w 1200"/>
                <a:gd name="T1" fmla="*/ 183 h 1254"/>
                <a:gd name="T2" fmla="*/ 540 w 1200"/>
                <a:gd name="T3" fmla="*/ 238 h 1254"/>
                <a:gd name="T4" fmla="*/ 548 w 1200"/>
                <a:gd name="T5" fmla="*/ 294 h 1254"/>
                <a:gd name="T6" fmla="*/ 545 w 1200"/>
                <a:gd name="T7" fmla="*/ 349 h 1254"/>
                <a:gd name="T8" fmla="*/ 533 w 1200"/>
                <a:gd name="T9" fmla="*/ 401 h 1254"/>
                <a:gd name="T10" fmla="*/ 511 w 1200"/>
                <a:gd name="T11" fmla="*/ 448 h 1254"/>
                <a:gd name="T12" fmla="*/ 479 w 1200"/>
                <a:gd name="T13" fmla="*/ 492 h 1254"/>
                <a:gd name="T14" fmla="*/ 439 w 1200"/>
                <a:gd name="T15" fmla="*/ 527 h 1254"/>
                <a:gd name="T16" fmla="*/ 404 w 1200"/>
                <a:gd name="T17" fmla="*/ 548 h 1254"/>
                <a:gd name="T18" fmla="*/ 379 w 1200"/>
                <a:gd name="T19" fmla="*/ 558 h 1254"/>
                <a:gd name="T20" fmla="*/ 353 w 1200"/>
                <a:gd name="T21" fmla="*/ 566 h 1254"/>
                <a:gd name="T22" fmla="*/ 327 w 1200"/>
                <a:gd name="T23" fmla="*/ 571 h 1254"/>
                <a:gd name="T24" fmla="*/ 300 w 1200"/>
                <a:gd name="T25" fmla="*/ 573 h 1254"/>
                <a:gd name="T26" fmla="*/ 274 w 1200"/>
                <a:gd name="T27" fmla="*/ 572 h 1254"/>
                <a:gd name="T28" fmla="*/ 248 w 1200"/>
                <a:gd name="T29" fmla="*/ 569 h 1254"/>
                <a:gd name="T30" fmla="*/ 221 w 1200"/>
                <a:gd name="T31" fmla="*/ 563 h 1254"/>
                <a:gd name="T32" fmla="*/ 196 w 1200"/>
                <a:gd name="T33" fmla="*/ 555 h 1254"/>
                <a:gd name="T34" fmla="*/ 171 w 1200"/>
                <a:gd name="T35" fmla="*/ 544 h 1254"/>
                <a:gd name="T36" fmla="*/ 147 w 1200"/>
                <a:gd name="T37" fmla="*/ 531 h 1254"/>
                <a:gd name="T38" fmla="*/ 124 w 1200"/>
                <a:gd name="T39" fmla="*/ 515 h 1254"/>
                <a:gd name="T40" fmla="*/ 103 w 1200"/>
                <a:gd name="T41" fmla="*/ 497 h 1254"/>
                <a:gd name="T42" fmla="*/ 82 w 1200"/>
                <a:gd name="T43" fmla="*/ 477 h 1254"/>
                <a:gd name="T44" fmla="*/ 64 w 1200"/>
                <a:gd name="T45" fmla="*/ 454 h 1254"/>
                <a:gd name="T46" fmla="*/ 47 w 1200"/>
                <a:gd name="T47" fmla="*/ 430 h 1254"/>
                <a:gd name="T48" fmla="*/ 26 w 1200"/>
                <a:gd name="T49" fmla="*/ 390 h 1254"/>
                <a:gd name="T50" fmla="*/ 8 w 1200"/>
                <a:gd name="T51" fmla="*/ 335 h 1254"/>
                <a:gd name="T52" fmla="*/ 0 w 1200"/>
                <a:gd name="T53" fmla="*/ 280 h 1254"/>
                <a:gd name="T54" fmla="*/ 3 w 1200"/>
                <a:gd name="T55" fmla="*/ 225 h 1254"/>
                <a:gd name="T56" fmla="*/ 16 w 1200"/>
                <a:gd name="T57" fmla="*/ 173 h 1254"/>
                <a:gd name="T58" fmla="*/ 37 w 1200"/>
                <a:gd name="T59" fmla="*/ 125 h 1254"/>
                <a:gd name="T60" fmla="*/ 69 w 1200"/>
                <a:gd name="T61" fmla="*/ 82 h 1254"/>
                <a:gd name="T62" fmla="*/ 110 w 1200"/>
                <a:gd name="T63" fmla="*/ 47 h 1254"/>
                <a:gd name="T64" fmla="*/ 145 w 1200"/>
                <a:gd name="T65" fmla="*/ 26 h 1254"/>
                <a:gd name="T66" fmla="*/ 170 w 1200"/>
                <a:gd name="T67" fmla="*/ 15 h 1254"/>
                <a:gd name="T68" fmla="*/ 196 w 1200"/>
                <a:gd name="T69" fmla="*/ 7 h 1254"/>
                <a:gd name="T70" fmla="*/ 221 w 1200"/>
                <a:gd name="T71" fmla="*/ 2 h 1254"/>
                <a:gd name="T72" fmla="*/ 248 w 1200"/>
                <a:gd name="T73" fmla="*/ 0 h 1254"/>
                <a:gd name="T74" fmla="*/ 275 w 1200"/>
                <a:gd name="T75" fmla="*/ 1 h 1254"/>
                <a:gd name="T76" fmla="*/ 301 w 1200"/>
                <a:gd name="T77" fmla="*/ 4 h 1254"/>
                <a:gd name="T78" fmla="*/ 327 w 1200"/>
                <a:gd name="T79" fmla="*/ 10 h 1254"/>
                <a:gd name="T80" fmla="*/ 352 w 1200"/>
                <a:gd name="T81" fmla="*/ 19 h 1254"/>
                <a:gd name="T82" fmla="*/ 378 w 1200"/>
                <a:gd name="T83" fmla="*/ 30 h 1254"/>
                <a:gd name="T84" fmla="*/ 401 w 1200"/>
                <a:gd name="T85" fmla="*/ 43 h 1254"/>
                <a:gd name="T86" fmla="*/ 424 w 1200"/>
                <a:gd name="T87" fmla="*/ 58 h 1254"/>
                <a:gd name="T88" fmla="*/ 445 w 1200"/>
                <a:gd name="T89" fmla="*/ 76 h 1254"/>
                <a:gd name="T90" fmla="*/ 466 w 1200"/>
                <a:gd name="T91" fmla="*/ 97 h 1254"/>
                <a:gd name="T92" fmla="*/ 484 w 1200"/>
                <a:gd name="T93" fmla="*/ 119 h 1254"/>
                <a:gd name="T94" fmla="*/ 501 w 1200"/>
                <a:gd name="T95" fmla="*/ 143 h 125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00" h="1254">
                  <a:moveTo>
                    <a:pt x="1113" y="342"/>
                  </a:moveTo>
                  <a:lnTo>
                    <a:pt x="1142" y="401"/>
                  </a:lnTo>
                  <a:lnTo>
                    <a:pt x="1165" y="461"/>
                  </a:lnTo>
                  <a:lnTo>
                    <a:pt x="1183" y="521"/>
                  </a:lnTo>
                  <a:lnTo>
                    <a:pt x="1194" y="582"/>
                  </a:lnTo>
                  <a:lnTo>
                    <a:pt x="1200" y="643"/>
                  </a:lnTo>
                  <a:lnTo>
                    <a:pt x="1200" y="703"/>
                  </a:lnTo>
                  <a:lnTo>
                    <a:pt x="1194" y="763"/>
                  </a:lnTo>
                  <a:lnTo>
                    <a:pt x="1183" y="820"/>
                  </a:lnTo>
                  <a:lnTo>
                    <a:pt x="1167" y="877"/>
                  </a:lnTo>
                  <a:lnTo>
                    <a:pt x="1145" y="931"/>
                  </a:lnTo>
                  <a:lnTo>
                    <a:pt x="1118" y="981"/>
                  </a:lnTo>
                  <a:lnTo>
                    <a:pt x="1086" y="1031"/>
                  </a:lnTo>
                  <a:lnTo>
                    <a:pt x="1049" y="1076"/>
                  </a:lnTo>
                  <a:lnTo>
                    <a:pt x="1007" y="1116"/>
                  </a:lnTo>
                  <a:lnTo>
                    <a:pt x="961" y="1153"/>
                  </a:lnTo>
                  <a:lnTo>
                    <a:pt x="911" y="1185"/>
                  </a:lnTo>
                  <a:lnTo>
                    <a:pt x="884" y="1199"/>
                  </a:lnTo>
                  <a:lnTo>
                    <a:pt x="856" y="1212"/>
                  </a:lnTo>
                  <a:lnTo>
                    <a:pt x="829" y="1222"/>
                  </a:lnTo>
                  <a:lnTo>
                    <a:pt x="801" y="1231"/>
                  </a:lnTo>
                  <a:lnTo>
                    <a:pt x="772" y="1239"/>
                  </a:lnTo>
                  <a:lnTo>
                    <a:pt x="744" y="1245"/>
                  </a:lnTo>
                  <a:lnTo>
                    <a:pt x="716" y="1250"/>
                  </a:lnTo>
                  <a:lnTo>
                    <a:pt x="686" y="1252"/>
                  </a:lnTo>
                  <a:lnTo>
                    <a:pt x="657" y="1254"/>
                  </a:lnTo>
                  <a:lnTo>
                    <a:pt x="628" y="1254"/>
                  </a:lnTo>
                  <a:lnTo>
                    <a:pt x="599" y="1252"/>
                  </a:lnTo>
                  <a:lnTo>
                    <a:pt x="571" y="1250"/>
                  </a:lnTo>
                  <a:lnTo>
                    <a:pt x="542" y="1245"/>
                  </a:lnTo>
                  <a:lnTo>
                    <a:pt x="513" y="1239"/>
                  </a:lnTo>
                  <a:lnTo>
                    <a:pt x="485" y="1233"/>
                  </a:lnTo>
                  <a:lnTo>
                    <a:pt x="457" y="1223"/>
                  </a:lnTo>
                  <a:lnTo>
                    <a:pt x="429" y="1214"/>
                  </a:lnTo>
                  <a:lnTo>
                    <a:pt x="401" y="1203"/>
                  </a:lnTo>
                  <a:lnTo>
                    <a:pt x="375" y="1190"/>
                  </a:lnTo>
                  <a:lnTo>
                    <a:pt x="348" y="1176"/>
                  </a:lnTo>
                  <a:lnTo>
                    <a:pt x="322" y="1161"/>
                  </a:lnTo>
                  <a:lnTo>
                    <a:pt x="296" y="1144"/>
                  </a:lnTo>
                  <a:lnTo>
                    <a:pt x="272" y="1127"/>
                  </a:lnTo>
                  <a:lnTo>
                    <a:pt x="248" y="1107"/>
                  </a:lnTo>
                  <a:lnTo>
                    <a:pt x="225" y="1087"/>
                  </a:lnTo>
                  <a:lnTo>
                    <a:pt x="202" y="1066"/>
                  </a:lnTo>
                  <a:lnTo>
                    <a:pt x="180" y="1043"/>
                  </a:lnTo>
                  <a:lnTo>
                    <a:pt x="159" y="1019"/>
                  </a:lnTo>
                  <a:lnTo>
                    <a:pt x="140" y="994"/>
                  </a:lnTo>
                  <a:lnTo>
                    <a:pt x="121" y="968"/>
                  </a:lnTo>
                  <a:lnTo>
                    <a:pt x="103" y="941"/>
                  </a:lnTo>
                  <a:lnTo>
                    <a:pt x="87" y="912"/>
                  </a:lnTo>
                  <a:lnTo>
                    <a:pt x="58" y="854"/>
                  </a:lnTo>
                  <a:lnTo>
                    <a:pt x="35" y="795"/>
                  </a:lnTo>
                  <a:lnTo>
                    <a:pt x="17" y="734"/>
                  </a:lnTo>
                  <a:lnTo>
                    <a:pt x="6" y="673"/>
                  </a:lnTo>
                  <a:lnTo>
                    <a:pt x="0" y="613"/>
                  </a:lnTo>
                  <a:lnTo>
                    <a:pt x="0" y="552"/>
                  </a:lnTo>
                  <a:lnTo>
                    <a:pt x="6" y="493"/>
                  </a:lnTo>
                  <a:lnTo>
                    <a:pt x="17" y="434"/>
                  </a:lnTo>
                  <a:lnTo>
                    <a:pt x="34" y="378"/>
                  </a:lnTo>
                  <a:lnTo>
                    <a:pt x="56" y="324"/>
                  </a:lnTo>
                  <a:lnTo>
                    <a:pt x="82" y="273"/>
                  </a:lnTo>
                  <a:lnTo>
                    <a:pt x="114" y="225"/>
                  </a:lnTo>
                  <a:lnTo>
                    <a:pt x="151" y="180"/>
                  </a:lnTo>
                  <a:lnTo>
                    <a:pt x="193" y="138"/>
                  </a:lnTo>
                  <a:lnTo>
                    <a:pt x="240" y="102"/>
                  </a:lnTo>
                  <a:lnTo>
                    <a:pt x="291" y="69"/>
                  </a:lnTo>
                  <a:lnTo>
                    <a:pt x="317" y="56"/>
                  </a:lnTo>
                  <a:lnTo>
                    <a:pt x="345" y="43"/>
                  </a:lnTo>
                  <a:lnTo>
                    <a:pt x="372" y="33"/>
                  </a:lnTo>
                  <a:lnTo>
                    <a:pt x="400" y="23"/>
                  </a:lnTo>
                  <a:lnTo>
                    <a:pt x="429" y="15"/>
                  </a:lnTo>
                  <a:lnTo>
                    <a:pt x="457" y="9"/>
                  </a:lnTo>
                  <a:lnTo>
                    <a:pt x="485" y="5"/>
                  </a:lnTo>
                  <a:lnTo>
                    <a:pt x="514" y="3"/>
                  </a:lnTo>
                  <a:lnTo>
                    <a:pt x="543" y="0"/>
                  </a:lnTo>
                  <a:lnTo>
                    <a:pt x="573" y="0"/>
                  </a:lnTo>
                  <a:lnTo>
                    <a:pt x="602" y="3"/>
                  </a:lnTo>
                  <a:lnTo>
                    <a:pt x="631" y="5"/>
                  </a:lnTo>
                  <a:lnTo>
                    <a:pt x="659" y="9"/>
                  </a:lnTo>
                  <a:lnTo>
                    <a:pt x="687" y="15"/>
                  </a:lnTo>
                  <a:lnTo>
                    <a:pt x="716" y="22"/>
                  </a:lnTo>
                  <a:lnTo>
                    <a:pt x="744" y="31"/>
                  </a:lnTo>
                  <a:lnTo>
                    <a:pt x="771" y="41"/>
                  </a:lnTo>
                  <a:lnTo>
                    <a:pt x="799" y="52"/>
                  </a:lnTo>
                  <a:lnTo>
                    <a:pt x="827" y="65"/>
                  </a:lnTo>
                  <a:lnTo>
                    <a:pt x="852" y="79"/>
                  </a:lnTo>
                  <a:lnTo>
                    <a:pt x="878" y="94"/>
                  </a:lnTo>
                  <a:lnTo>
                    <a:pt x="904" y="111"/>
                  </a:lnTo>
                  <a:lnTo>
                    <a:pt x="928" y="128"/>
                  </a:lnTo>
                  <a:lnTo>
                    <a:pt x="952" y="148"/>
                  </a:lnTo>
                  <a:lnTo>
                    <a:pt x="975" y="167"/>
                  </a:lnTo>
                  <a:lnTo>
                    <a:pt x="998" y="189"/>
                  </a:lnTo>
                  <a:lnTo>
                    <a:pt x="1020" y="212"/>
                  </a:lnTo>
                  <a:lnTo>
                    <a:pt x="1041" y="235"/>
                  </a:lnTo>
                  <a:lnTo>
                    <a:pt x="1060" y="261"/>
                  </a:lnTo>
                  <a:lnTo>
                    <a:pt x="1079" y="287"/>
                  </a:lnTo>
                  <a:lnTo>
                    <a:pt x="1097" y="314"/>
                  </a:lnTo>
                  <a:lnTo>
                    <a:pt x="1113" y="342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07" name="Freeform 300"/>
            <p:cNvSpPr>
              <a:spLocks/>
            </p:cNvSpPr>
            <p:nvPr/>
          </p:nvSpPr>
          <p:spPr bwMode="gray">
            <a:xfrm>
              <a:off x="3059" y="2904"/>
              <a:ext cx="548" cy="574"/>
            </a:xfrm>
            <a:custGeom>
              <a:avLst/>
              <a:gdLst>
                <a:gd name="T0" fmla="*/ 521 w 1199"/>
                <a:gd name="T1" fmla="*/ 184 h 1254"/>
                <a:gd name="T2" fmla="*/ 540 w 1199"/>
                <a:gd name="T3" fmla="*/ 238 h 1254"/>
                <a:gd name="T4" fmla="*/ 548 w 1199"/>
                <a:gd name="T5" fmla="*/ 294 h 1254"/>
                <a:gd name="T6" fmla="*/ 545 w 1199"/>
                <a:gd name="T7" fmla="*/ 349 h 1254"/>
                <a:gd name="T8" fmla="*/ 533 w 1199"/>
                <a:gd name="T9" fmla="*/ 401 h 1254"/>
                <a:gd name="T10" fmla="*/ 511 w 1199"/>
                <a:gd name="T11" fmla="*/ 449 h 1254"/>
                <a:gd name="T12" fmla="*/ 479 w 1199"/>
                <a:gd name="T13" fmla="*/ 493 h 1254"/>
                <a:gd name="T14" fmla="*/ 439 w 1199"/>
                <a:gd name="T15" fmla="*/ 528 h 1254"/>
                <a:gd name="T16" fmla="*/ 404 w 1199"/>
                <a:gd name="T17" fmla="*/ 549 h 1254"/>
                <a:gd name="T18" fmla="*/ 378 w 1199"/>
                <a:gd name="T19" fmla="*/ 559 h 1254"/>
                <a:gd name="T20" fmla="*/ 353 w 1199"/>
                <a:gd name="T21" fmla="*/ 567 h 1254"/>
                <a:gd name="T22" fmla="*/ 327 w 1199"/>
                <a:gd name="T23" fmla="*/ 572 h 1254"/>
                <a:gd name="T24" fmla="*/ 300 w 1199"/>
                <a:gd name="T25" fmla="*/ 574 h 1254"/>
                <a:gd name="T26" fmla="*/ 274 w 1199"/>
                <a:gd name="T27" fmla="*/ 573 h 1254"/>
                <a:gd name="T28" fmla="*/ 247 w 1199"/>
                <a:gd name="T29" fmla="*/ 570 h 1254"/>
                <a:gd name="T30" fmla="*/ 221 w 1199"/>
                <a:gd name="T31" fmla="*/ 563 h 1254"/>
                <a:gd name="T32" fmla="*/ 196 w 1199"/>
                <a:gd name="T33" fmla="*/ 555 h 1254"/>
                <a:gd name="T34" fmla="*/ 171 w 1199"/>
                <a:gd name="T35" fmla="*/ 544 h 1254"/>
                <a:gd name="T36" fmla="*/ 147 w 1199"/>
                <a:gd name="T37" fmla="*/ 531 h 1254"/>
                <a:gd name="T38" fmla="*/ 124 w 1199"/>
                <a:gd name="T39" fmla="*/ 515 h 1254"/>
                <a:gd name="T40" fmla="*/ 102 w 1199"/>
                <a:gd name="T41" fmla="*/ 497 h 1254"/>
                <a:gd name="T42" fmla="*/ 82 w 1199"/>
                <a:gd name="T43" fmla="*/ 477 h 1254"/>
                <a:gd name="T44" fmla="*/ 64 w 1199"/>
                <a:gd name="T45" fmla="*/ 455 h 1254"/>
                <a:gd name="T46" fmla="*/ 47 w 1199"/>
                <a:gd name="T47" fmla="*/ 430 h 1254"/>
                <a:gd name="T48" fmla="*/ 27 w 1199"/>
                <a:gd name="T49" fmla="*/ 390 h 1254"/>
                <a:gd name="T50" fmla="*/ 8 w 1199"/>
                <a:gd name="T51" fmla="*/ 336 h 1254"/>
                <a:gd name="T52" fmla="*/ 0 w 1199"/>
                <a:gd name="T53" fmla="*/ 280 h 1254"/>
                <a:gd name="T54" fmla="*/ 3 w 1199"/>
                <a:gd name="T55" fmla="*/ 225 h 1254"/>
                <a:gd name="T56" fmla="*/ 16 w 1199"/>
                <a:gd name="T57" fmla="*/ 173 h 1254"/>
                <a:gd name="T58" fmla="*/ 37 w 1199"/>
                <a:gd name="T59" fmla="*/ 125 h 1254"/>
                <a:gd name="T60" fmla="*/ 69 w 1199"/>
                <a:gd name="T61" fmla="*/ 82 h 1254"/>
                <a:gd name="T62" fmla="*/ 109 w 1199"/>
                <a:gd name="T63" fmla="*/ 47 h 1254"/>
                <a:gd name="T64" fmla="*/ 144 w 1199"/>
                <a:gd name="T65" fmla="*/ 26 h 1254"/>
                <a:gd name="T66" fmla="*/ 170 w 1199"/>
                <a:gd name="T67" fmla="*/ 15 h 1254"/>
                <a:gd name="T68" fmla="*/ 196 w 1199"/>
                <a:gd name="T69" fmla="*/ 7 h 1254"/>
                <a:gd name="T70" fmla="*/ 221 w 1199"/>
                <a:gd name="T71" fmla="*/ 2 h 1254"/>
                <a:gd name="T72" fmla="*/ 248 w 1199"/>
                <a:gd name="T73" fmla="*/ 0 h 1254"/>
                <a:gd name="T74" fmla="*/ 275 w 1199"/>
                <a:gd name="T75" fmla="*/ 1 h 1254"/>
                <a:gd name="T76" fmla="*/ 301 w 1199"/>
                <a:gd name="T77" fmla="*/ 4 h 1254"/>
                <a:gd name="T78" fmla="*/ 327 w 1199"/>
                <a:gd name="T79" fmla="*/ 10 h 1254"/>
                <a:gd name="T80" fmla="*/ 352 w 1199"/>
                <a:gd name="T81" fmla="*/ 19 h 1254"/>
                <a:gd name="T82" fmla="*/ 378 w 1199"/>
                <a:gd name="T83" fmla="*/ 30 h 1254"/>
                <a:gd name="T84" fmla="*/ 401 w 1199"/>
                <a:gd name="T85" fmla="*/ 43 h 1254"/>
                <a:gd name="T86" fmla="*/ 424 w 1199"/>
                <a:gd name="T87" fmla="*/ 59 h 1254"/>
                <a:gd name="T88" fmla="*/ 446 w 1199"/>
                <a:gd name="T89" fmla="*/ 76 h 1254"/>
                <a:gd name="T90" fmla="*/ 466 w 1199"/>
                <a:gd name="T91" fmla="*/ 97 h 1254"/>
                <a:gd name="T92" fmla="*/ 484 w 1199"/>
                <a:gd name="T93" fmla="*/ 119 h 1254"/>
                <a:gd name="T94" fmla="*/ 501 w 1199"/>
                <a:gd name="T95" fmla="*/ 144 h 125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99" h="1254">
                  <a:moveTo>
                    <a:pt x="1113" y="342"/>
                  </a:moveTo>
                  <a:lnTo>
                    <a:pt x="1141" y="401"/>
                  </a:lnTo>
                  <a:lnTo>
                    <a:pt x="1164" y="461"/>
                  </a:lnTo>
                  <a:lnTo>
                    <a:pt x="1182" y="521"/>
                  </a:lnTo>
                  <a:lnTo>
                    <a:pt x="1193" y="582"/>
                  </a:lnTo>
                  <a:lnTo>
                    <a:pt x="1199" y="643"/>
                  </a:lnTo>
                  <a:lnTo>
                    <a:pt x="1199" y="703"/>
                  </a:lnTo>
                  <a:lnTo>
                    <a:pt x="1193" y="763"/>
                  </a:lnTo>
                  <a:lnTo>
                    <a:pt x="1182" y="820"/>
                  </a:lnTo>
                  <a:lnTo>
                    <a:pt x="1166" y="877"/>
                  </a:lnTo>
                  <a:lnTo>
                    <a:pt x="1144" y="931"/>
                  </a:lnTo>
                  <a:lnTo>
                    <a:pt x="1117" y="981"/>
                  </a:lnTo>
                  <a:lnTo>
                    <a:pt x="1085" y="1031"/>
                  </a:lnTo>
                  <a:lnTo>
                    <a:pt x="1048" y="1076"/>
                  </a:lnTo>
                  <a:lnTo>
                    <a:pt x="1006" y="1116"/>
                  </a:lnTo>
                  <a:lnTo>
                    <a:pt x="960" y="1153"/>
                  </a:lnTo>
                  <a:lnTo>
                    <a:pt x="910" y="1185"/>
                  </a:lnTo>
                  <a:lnTo>
                    <a:pt x="883" y="1199"/>
                  </a:lnTo>
                  <a:lnTo>
                    <a:pt x="856" y="1212"/>
                  </a:lnTo>
                  <a:lnTo>
                    <a:pt x="828" y="1222"/>
                  </a:lnTo>
                  <a:lnTo>
                    <a:pt x="800" y="1231"/>
                  </a:lnTo>
                  <a:lnTo>
                    <a:pt x="773" y="1239"/>
                  </a:lnTo>
                  <a:lnTo>
                    <a:pt x="744" y="1245"/>
                  </a:lnTo>
                  <a:lnTo>
                    <a:pt x="715" y="1250"/>
                  </a:lnTo>
                  <a:lnTo>
                    <a:pt x="686" y="1252"/>
                  </a:lnTo>
                  <a:lnTo>
                    <a:pt x="657" y="1254"/>
                  </a:lnTo>
                  <a:lnTo>
                    <a:pt x="628" y="1253"/>
                  </a:lnTo>
                  <a:lnTo>
                    <a:pt x="600" y="1252"/>
                  </a:lnTo>
                  <a:lnTo>
                    <a:pt x="570" y="1250"/>
                  </a:lnTo>
                  <a:lnTo>
                    <a:pt x="541" y="1245"/>
                  </a:lnTo>
                  <a:lnTo>
                    <a:pt x="513" y="1239"/>
                  </a:lnTo>
                  <a:lnTo>
                    <a:pt x="484" y="1231"/>
                  </a:lnTo>
                  <a:lnTo>
                    <a:pt x="457" y="1223"/>
                  </a:lnTo>
                  <a:lnTo>
                    <a:pt x="429" y="1213"/>
                  </a:lnTo>
                  <a:lnTo>
                    <a:pt x="401" y="1201"/>
                  </a:lnTo>
                  <a:lnTo>
                    <a:pt x="374" y="1189"/>
                  </a:lnTo>
                  <a:lnTo>
                    <a:pt x="347" y="1175"/>
                  </a:lnTo>
                  <a:lnTo>
                    <a:pt x="322" y="1160"/>
                  </a:lnTo>
                  <a:lnTo>
                    <a:pt x="297" y="1144"/>
                  </a:lnTo>
                  <a:lnTo>
                    <a:pt x="271" y="1125"/>
                  </a:lnTo>
                  <a:lnTo>
                    <a:pt x="248" y="1107"/>
                  </a:lnTo>
                  <a:lnTo>
                    <a:pt x="224" y="1086"/>
                  </a:lnTo>
                  <a:lnTo>
                    <a:pt x="202" y="1064"/>
                  </a:lnTo>
                  <a:lnTo>
                    <a:pt x="180" y="1043"/>
                  </a:lnTo>
                  <a:lnTo>
                    <a:pt x="159" y="1018"/>
                  </a:lnTo>
                  <a:lnTo>
                    <a:pt x="140" y="993"/>
                  </a:lnTo>
                  <a:lnTo>
                    <a:pt x="121" y="967"/>
                  </a:lnTo>
                  <a:lnTo>
                    <a:pt x="103" y="940"/>
                  </a:lnTo>
                  <a:lnTo>
                    <a:pt x="87" y="911"/>
                  </a:lnTo>
                  <a:lnTo>
                    <a:pt x="58" y="852"/>
                  </a:lnTo>
                  <a:lnTo>
                    <a:pt x="35" y="794"/>
                  </a:lnTo>
                  <a:lnTo>
                    <a:pt x="18" y="733"/>
                  </a:lnTo>
                  <a:lnTo>
                    <a:pt x="6" y="673"/>
                  </a:lnTo>
                  <a:lnTo>
                    <a:pt x="0" y="612"/>
                  </a:lnTo>
                  <a:lnTo>
                    <a:pt x="0" y="552"/>
                  </a:lnTo>
                  <a:lnTo>
                    <a:pt x="6" y="492"/>
                  </a:lnTo>
                  <a:lnTo>
                    <a:pt x="18" y="434"/>
                  </a:lnTo>
                  <a:lnTo>
                    <a:pt x="34" y="378"/>
                  </a:lnTo>
                  <a:lnTo>
                    <a:pt x="56" y="324"/>
                  </a:lnTo>
                  <a:lnTo>
                    <a:pt x="82" y="272"/>
                  </a:lnTo>
                  <a:lnTo>
                    <a:pt x="114" y="224"/>
                  </a:lnTo>
                  <a:lnTo>
                    <a:pt x="151" y="179"/>
                  </a:lnTo>
                  <a:lnTo>
                    <a:pt x="193" y="138"/>
                  </a:lnTo>
                  <a:lnTo>
                    <a:pt x="239" y="102"/>
                  </a:lnTo>
                  <a:lnTo>
                    <a:pt x="290" y="69"/>
                  </a:lnTo>
                  <a:lnTo>
                    <a:pt x="316" y="56"/>
                  </a:lnTo>
                  <a:lnTo>
                    <a:pt x="344" y="43"/>
                  </a:lnTo>
                  <a:lnTo>
                    <a:pt x="371" y="33"/>
                  </a:lnTo>
                  <a:lnTo>
                    <a:pt x="399" y="23"/>
                  </a:lnTo>
                  <a:lnTo>
                    <a:pt x="428" y="15"/>
                  </a:lnTo>
                  <a:lnTo>
                    <a:pt x="457" y="9"/>
                  </a:lnTo>
                  <a:lnTo>
                    <a:pt x="484" y="5"/>
                  </a:lnTo>
                  <a:lnTo>
                    <a:pt x="514" y="3"/>
                  </a:lnTo>
                  <a:lnTo>
                    <a:pt x="543" y="0"/>
                  </a:lnTo>
                  <a:lnTo>
                    <a:pt x="572" y="0"/>
                  </a:lnTo>
                  <a:lnTo>
                    <a:pt x="601" y="3"/>
                  </a:lnTo>
                  <a:lnTo>
                    <a:pt x="630" y="5"/>
                  </a:lnTo>
                  <a:lnTo>
                    <a:pt x="658" y="9"/>
                  </a:lnTo>
                  <a:lnTo>
                    <a:pt x="687" y="15"/>
                  </a:lnTo>
                  <a:lnTo>
                    <a:pt x="715" y="22"/>
                  </a:lnTo>
                  <a:lnTo>
                    <a:pt x="744" y="31"/>
                  </a:lnTo>
                  <a:lnTo>
                    <a:pt x="771" y="41"/>
                  </a:lnTo>
                  <a:lnTo>
                    <a:pt x="799" y="52"/>
                  </a:lnTo>
                  <a:lnTo>
                    <a:pt x="826" y="65"/>
                  </a:lnTo>
                  <a:lnTo>
                    <a:pt x="852" y="79"/>
                  </a:lnTo>
                  <a:lnTo>
                    <a:pt x="877" y="94"/>
                  </a:lnTo>
                  <a:lnTo>
                    <a:pt x="903" y="111"/>
                  </a:lnTo>
                  <a:lnTo>
                    <a:pt x="928" y="128"/>
                  </a:lnTo>
                  <a:lnTo>
                    <a:pt x="952" y="148"/>
                  </a:lnTo>
                  <a:lnTo>
                    <a:pt x="975" y="167"/>
                  </a:lnTo>
                  <a:lnTo>
                    <a:pt x="997" y="189"/>
                  </a:lnTo>
                  <a:lnTo>
                    <a:pt x="1019" y="212"/>
                  </a:lnTo>
                  <a:lnTo>
                    <a:pt x="1040" y="235"/>
                  </a:lnTo>
                  <a:lnTo>
                    <a:pt x="1060" y="261"/>
                  </a:lnTo>
                  <a:lnTo>
                    <a:pt x="1078" y="287"/>
                  </a:lnTo>
                  <a:lnTo>
                    <a:pt x="1096" y="314"/>
                  </a:lnTo>
                  <a:lnTo>
                    <a:pt x="1113" y="34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08" name="Freeform 301"/>
            <p:cNvSpPr>
              <a:spLocks/>
            </p:cNvSpPr>
            <p:nvPr/>
          </p:nvSpPr>
          <p:spPr bwMode="gray">
            <a:xfrm>
              <a:off x="3436" y="2966"/>
              <a:ext cx="145" cy="406"/>
            </a:xfrm>
            <a:custGeom>
              <a:avLst/>
              <a:gdLst>
                <a:gd name="T0" fmla="*/ 19 w 315"/>
                <a:gd name="T1" fmla="*/ 0 h 888"/>
                <a:gd name="T2" fmla="*/ 22 w 315"/>
                <a:gd name="T3" fmla="*/ 2 h 888"/>
                <a:gd name="T4" fmla="*/ 28 w 315"/>
                <a:gd name="T5" fmla="*/ 6 h 888"/>
                <a:gd name="T6" fmla="*/ 38 w 315"/>
                <a:gd name="T7" fmla="*/ 14 h 888"/>
                <a:gd name="T8" fmla="*/ 51 w 315"/>
                <a:gd name="T9" fmla="*/ 26 h 888"/>
                <a:gd name="T10" fmla="*/ 65 w 315"/>
                <a:gd name="T11" fmla="*/ 40 h 888"/>
                <a:gd name="T12" fmla="*/ 81 w 315"/>
                <a:gd name="T13" fmla="*/ 58 h 888"/>
                <a:gd name="T14" fmla="*/ 96 w 315"/>
                <a:gd name="T15" fmla="*/ 79 h 888"/>
                <a:gd name="T16" fmla="*/ 111 w 315"/>
                <a:gd name="T17" fmla="*/ 102 h 888"/>
                <a:gd name="T18" fmla="*/ 124 w 315"/>
                <a:gd name="T19" fmla="*/ 129 h 888"/>
                <a:gd name="T20" fmla="*/ 134 w 315"/>
                <a:gd name="T21" fmla="*/ 159 h 888"/>
                <a:gd name="T22" fmla="*/ 142 w 315"/>
                <a:gd name="T23" fmla="*/ 193 h 888"/>
                <a:gd name="T24" fmla="*/ 145 w 315"/>
                <a:gd name="T25" fmla="*/ 229 h 888"/>
                <a:gd name="T26" fmla="*/ 144 w 315"/>
                <a:gd name="T27" fmla="*/ 269 h 888"/>
                <a:gd name="T28" fmla="*/ 136 w 315"/>
                <a:gd name="T29" fmla="*/ 311 h 888"/>
                <a:gd name="T30" fmla="*/ 121 w 315"/>
                <a:gd name="T31" fmla="*/ 357 h 888"/>
                <a:gd name="T32" fmla="*/ 99 w 315"/>
                <a:gd name="T33" fmla="*/ 406 h 888"/>
                <a:gd name="T34" fmla="*/ 99 w 315"/>
                <a:gd name="T35" fmla="*/ 405 h 888"/>
                <a:gd name="T36" fmla="*/ 99 w 315"/>
                <a:gd name="T37" fmla="*/ 402 h 888"/>
                <a:gd name="T38" fmla="*/ 96 w 315"/>
                <a:gd name="T39" fmla="*/ 398 h 888"/>
                <a:gd name="T40" fmla="*/ 93 w 315"/>
                <a:gd name="T41" fmla="*/ 392 h 888"/>
                <a:gd name="T42" fmla="*/ 88 w 315"/>
                <a:gd name="T43" fmla="*/ 387 h 888"/>
                <a:gd name="T44" fmla="*/ 82 w 315"/>
                <a:gd name="T45" fmla="*/ 382 h 888"/>
                <a:gd name="T46" fmla="*/ 73 w 315"/>
                <a:gd name="T47" fmla="*/ 378 h 888"/>
                <a:gd name="T48" fmla="*/ 61 w 315"/>
                <a:gd name="T49" fmla="*/ 375 h 888"/>
                <a:gd name="T50" fmla="*/ 63 w 315"/>
                <a:gd name="T51" fmla="*/ 374 h 888"/>
                <a:gd name="T52" fmla="*/ 66 w 315"/>
                <a:gd name="T53" fmla="*/ 367 h 888"/>
                <a:gd name="T54" fmla="*/ 71 w 315"/>
                <a:gd name="T55" fmla="*/ 357 h 888"/>
                <a:gd name="T56" fmla="*/ 77 w 315"/>
                <a:gd name="T57" fmla="*/ 343 h 888"/>
                <a:gd name="T58" fmla="*/ 82 w 315"/>
                <a:gd name="T59" fmla="*/ 326 h 888"/>
                <a:gd name="T60" fmla="*/ 88 w 315"/>
                <a:gd name="T61" fmla="*/ 306 h 888"/>
                <a:gd name="T62" fmla="*/ 93 w 315"/>
                <a:gd name="T63" fmla="*/ 284 h 888"/>
                <a:gd name="T64" fmla="*/ 97 w 315"/>
                <a:gd name="T65" fmla="*/ 260 h 888"/>
                <a:gd name="T66" fmla="*/ 98 w 315"/>
                <a:gd name="T67" fmla="*/ 233 h 888"/>
                <a:gd name="T68" fmla="*/ 97 w 315"/>
                <a:gd name="T69" fmla="*/ 204 h 888"/>
                <a:gd name="T70" fmla="*/ 92 w 315"/>
                <a:gd name="T71" fmla="*/ 175 h 888"/>
                <a:gd name="T72" fmla="*/ 84 w 315"/>
                <a:gd name="T73" fmla="*/ 144 h 888"/>
                <a:gd name="T74" fmla="*/ 71 w 315"/>
                <a:gd name="T75" fmla="*/ 112 h 888"/>
                <a:gd name="T76" fmla="*/ 53 w 315"/>
                <a:gd name="T77" fmla="*/ 80 h 888"/>
                <a:gd name="T78" fmla="*/ 29 w 315"/>
                <a:gd name="T79" fmla="*/ 48 h 888"/>
                <a:gd name="T80" fmla="*/ 0 w 315"/>
                <a:gd name="T81" fmla="*/ 16 h 888"/>
                <a:gd name="T82" fmla="*/ 19 w 315"/>
                <a:gd name="T83" fmla="*/ 0 h 8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15" h="888">
                  <a:moveTo>
                    <a:pt x="41" y="0"/>
                  </a:moveTo>
                  <a:lnTo>
                    <a:pt x="47" y="4"/>
                  </a:lnTo>
                  <a:lnTo>
                    <a:pt x="61" y="14"/>
                  </a:lnTo>
                  <a:lnTo>
                    <a:pt x="83" y="31"/>
                  </a:lnTo>
                  <a:lnTo>
                    <a:pt x="110" y="57"/>
                  </a:lnTo>
                  <a:lnTo>
                    <a:pt x="142" y="88"/>
                  </a:lnTo>
                  <a:lnTo>
                    <a:pt x="176" y="126"/>
                  </a:lnTo>
                  <a:lnTo>
                    <a:pt x="209" y="172"/>
                  </a:lnTo>
                  <a:lnTo>
                    <a:pt x="242" y="224"/>
                  </a:lnTo>
                  <a:lnTo>
                    <a:pt x="269" y="282"/>
                  </a:lnTo>
                  <a:lnTo>
                    <a:pt x="292" y="348"/>
                  </a:lnTo>
                  <a:lnTo>
                    <a:pt x="308" y="422"/>
                  </a:lnTo>
                  <a:lnTo>
                    <a:pt x="315" y="501"/>
                  </a:lnTo>
                  <a:lnTo>
                    <a:pt x="312" y="588"/>
                  </a:lnTo>
                  <a:lnTo>
                    <a:pt x="295" y="681"/>
                  </a:lnTo>
                  <a:lnTo>
                    <a:pt x="263" y="781"/>
                  </a:lnTo>
                  <a:lnTo>
                    <a:pt x="216" y="888"/>
                  </a:lnTo>
                  <a:lnTo>
                    <a:pt x="216" y="886"/>
                  </a:lnTo>
                  <a:lnTo>
                    <a:pt x="214" y="879"/>
                  </a:lnTo>
                  <a:lnTo>
                    <a:pt x="209" y="870"/>
                  </a:lnTo>
                  <a:lnTo>
                    <a:pt x="202" y="858"/>
                  </a:lnTo>
                  <a:lnTo>
                    <a:pt x="192" y="847"/>
                  </a:lnTo>
                  <a:lnTo>
                    <a:pt x="178" y="835"/>
                  </a:lnTo>
                  <a:lnTo>
                    <a:pt x="159" y="827"/>
                  </a:lnTo>
                  <a:lnTo>
                    <a:pt x="133" y="821"/>
                  </a:lnTo>
                  <a:lnTo>
                    <a:pt x="136" y="817"/>
                  </a:lnTo>
                  <a:lnTo>
                    <a:pt x="144" y="803"/>
                  </a:lnTo>
                  <a:lnTo>
                    <a:pt x="154" y="781"/>
                  </a:lnTo>
                  <a:lnTo>
                    <a:pt x="167" y="751"/>
                  </a:lnTo>
                  <a:lnTo>
                    <a:pt x="179" y="714"/>
                  </a:lnTo>
                  <a:lnTo>
                    <a:pt x="192" y="670"/>
                  </a:lnTo>
                  <a:lnTo>
                    <a:pt x="202" y="622"/>
                  </a:lnTo>
                  <a:lnTo>
                    <a:pt x="210" y="568"/>
                  </a:lnTo>
                  <a:lnTo>
                    <a:pt x="213" y="509"/>
                  </a:lnTo>
                  <a:lnTo>
                    <a:pt x="210" y="447"/>
                  </a:lnTo>
                  <a:lnTo>
                    <a:pt x="200" y="383"/>
                  </a:lnTo>
                  <a:lnTo>
                    <a:pt x="182" y="315"/>
                  </a:lnTo>
                  <a:lnTo>
                    <a:pt x="154" y="245"/>
                  </a:lnTo>
                  <a:lnTo>
                    <a:pt x="115" y="175"/>
                  </a:lnTo>
                  <a:lnTo>
                    <a:pt x="64" y="104"/>
                  </a:lnTo>
                  <a:lnTo>
                    <a:pt x="0" y="3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09" name="Freeform 302"/>
            <p:cNvSpPr>
              <a:spLocks/>
            </p:cNvSpPr>
            <p:nvPr/>
          </p:nvSpPr>
          <p:spPr bwMode="gray">
            <a:xfrm>
              <a:off x="3061" y="3246"/>
              <a:ext cx="330" cy="242"/>
            </a:xfrm>
            <a:custGeom>
              <a:avLst/>
              <a:gdLst>
                <a:gd name="T0" fmla="*/ 0 w 723"/>
                <a:gd name="T1" fmla="*/ 0 h 526"/>
                <a:gd name="T2" fmla="*/ 0 w 723"/>
                <a:gd name="T3" fmla="*/ 3 h 526"/>
                <a:gd name="T4" fmla="*/ 3 w 723"/>
                <a:gd name="T5" fmla="*/ 11 h 526"/>
                <a:gd name="T6" fmla="*/ 6 w 723"/>
                <a:gd name="T7" fmla="*/ 24 h 526"/>
                <a:gd name="T8" fmla="*/ 11 w 723"/>
                <a:gd name="T9" fmla="*/ 40 h 526"/>
                <a:gd name="T10" fmla="*/ 19 w 723"/>
                <a:gd name="T11" fmla="*/ 60 h 526"/>
                <a:gd name="T12" fmla="*/ 29 w 723"/>
                <a:gd name="T13" fmla="*/ 81 h 526"/>
                <a:gd name="T14" fmla="*/ 42 w 723"/>
                <a:gd name="T15" fmla="*/ 104 h 526"/>
                <a:gd name="T16" fmla="*/ 58 w 723"/>
                <a:gd name="T17" fmla="*/ 127 h 526"/>
                <a:gd name="T18" fmla="*/ 77 w 723"/>
                <a:gd name="T19" fmla="*/ 151 h 526"/>
                <a:gd name="T20" fmla="*/ 100 w 723"/>
                <a:gd name="T21" fmla="*/ 173 h 526"/>
                <a:gd name="T22" fmla="*/ 126 w 723"/>
                <a:gd name="T23" fmla="*/ 193 h 526"/>
                <a:gd name="T24" fmla="*/ 157 w 723"/>
                <a:gd name="T25" fmla="*/ 211 h 526"/>
                <a:gd name="T26" fmla="*/ 193 w 723"/>
                <a:gd name="T27" fmla="*/ 225 h 526"/>
                <a:gd name="T28" fmla="*/ 234 w 723"/>
                <a:gd name="T29" fmla="*/ 235 h 526"/>
                <a:gd name="T30" fmla="*/ 279 w 723"/>
                <a:gd name="T31" fmla="*/ 239 h 526"/>
                <a:gd name="T32" fmla="*/ 330 w 723"/>
                <a:gd name="T33" fmla="*/ 238 h 526"/>
                <a:gd name="T34" fmla="*/ 327 w 723"/>
                <a:gd name="T35" fmla="*/ 239 h 526"/>
                <a:gd name="T36" fmla="*/ 318 w 723"/>
                <a:gd name="T37" fmla="*/ 240 h 526"/>
                <a:gd name="T38" fmla="*/ 304 w 723"/>
                <a:gd name="T39" fmla="*/ 242 h 526"/>
                <a:gd name="T40" fmla="*/ 286 w 723"/>
                <a:gd name="T41" fmla="*/ 242 h 526"/>
                <a:gd name="T42" fmla="*/ 264 w 723"/>
                <a:gd name="T43" fmla="*/ 242 h 526"/>
                <a:gd name="T44" fmla="*/ 239 w 723"/>
                <a:gd name="T45" fmla="*/ 240 h 526"/>
                <a:gd name="T46" fmla="*/ 213 w 723"/>
                <a:gd name="T47" fmla="*/ 236 h 526"/>
                <a:gd name="T48" fmla="*/ 185 w 723"/>
                <a:gd name="T49" fmla="*/ 229 h 526"/>
                <a:gd name="T50" fmla="*/ 156 w 723"/>
                <a:gd name="T51" fmla="*/ 219 h 526"/>
                <a:gd name="T52" fmla="*/ 127 w 723"/>
                <a:gd name="T53" fmla="*/ 204 h 526"/>
                <a:gd name="T54" fmla="*/ 100 w 723"/>
                <a:gd name="T55" fmla="*/ 185 h 526"/>
                <a:gd name="T56" fmla="*/ 73 w 723"/>
                <a:gd name="T57" fmla="*/ 161 h 526"/>
                <a:gd name="T58" fmla="*/ 50 w 723"/>
                <a:gd name="T59" fmla="*/ 131 h 526"/>
                <a:gd name="T60" fmla="*/ 29 w 723"/>
                <a:gd name="T61" fmla="*/ 94 h 526"/>
                <a:gd name="T62" fmla="*/ 12 w 723"/>
                <a:gd name="T63" fmla="*/ 51 h 526"/>
                <a:gd name="T64" fmla="*/ 0 w 723"/>
                <a:gd name="T65" fmla="*/ 0 h 5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23" h="526">
                  <a:moveTo>
                    <a:pt x="0" y="0"/>
                  </a:moveTo>
                  <a:lnTo>
                    <a:pt x="1" y="7"/>
                  </a:lnTo>
                  <a:lnTo>
                    <a:pt x="6" y="24"/>
                  </a:lnTo>
                  <a:lnTo>
                    <a:pt x="13" y="52"/>
                  </a:lnTo>
                  <a:lnTo>
                    <a:pt x="24" y="87"/>
                  </a:lnTo>
                  <a:lnTo>
                    <a:pt x="41" y="130"/>
                  </a:lnTo>
                  <a:lnTo>
                    <a:pt x="63" y="177"/>
                  </a:lnTo>
                  <a:lnTo>
                    <a:pt x="91" y="227"/>
                  </a:lnTo>
                  <a:lnTo>
                    <a:pt x="126" y="277"/>
                  </a:lnTo>
                  <a:lnTo>
                    <a:pt x="168" y="328"/>
                  </a:lnTo>
                  <a:lnTo>
                    <a:pt x="218" y="376"/>
                  </a:lnTo>
                  <a:lnTo>
                    <a:pt x="277" y="420"/>
                  </a:lnTo>
                  <a:lnTo>
                    <a:pt x="345" y="458"/>
                  </a:lnTo>
                  <a:lnTo>
                    <a:pt x="423" y="488"/>
                  </a:lnTo>
                  <a:lnTo>
                    <a:pt x="512" y="510"/>
                  </a:lnTo>
                  <a:lnTo>
                    <a:pt x="611" y="520"/>
                  </a:lnTo>
                  <a:lnTo>
                    <a:pt x="723" y="518"/>
                  </a:lnTo>
                  <a:lnTo>
                    <a:pt x="716" y="519"/>
                  </a:lnTo>
                  <a:lnTo>
                    <a:pt x="696" y="522"/>
                  </a:lnTo>
                  <a:lnTo>
                    <a:pt x="666" y="525"/>
                  </a:lnTo>
                  <a:lnTo>
                    <a:pt x="626" y="526"/>
                  </a:lnTo>
                  <a:lnTo>
                    <a:pt x="579" y="526"/>
                  </a:lnTo>
                  <a:lnTo>
                    <a:pt x="524" y="522"/>
                  </a:lnTo>
                  <a:lnTo>
                    <a:pt x="466" y="513"/>
                  </a:lnTo>
                  <a:lnTo>
                    <a:pt x="405" y="497"/>
                  </a:lnTo>
                  <a:lnTo>
                    <a:pt x="341" y="475"/>
                  </a:lnTo>
                  <a:lnTo>
                    <a:pt x="279" y="443"/>
                  </a:lnTo>
                  <a:lnTo>
                    <a:pt x="218" y="402"/>
                  </a:lnTo>
                  <a:lnTo>
                    <a:pt x="161" y="350"/>
                  </a:lnTo>
                  <a:lnTo>
                    <a:pt x="109" y="284"/>
                  </a:lnTo>
                  <a:lnTo>
                    <a:pt x="63" y="205"/>
                  </a:lnTo>
                  <a:lnTo>
                    <a:pt x="26" y="1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10" name="Freeform 303"/>
            <p:cNvSpPr>
              <a:spLocks/>
            </p:cNvSpPr>
            <p:nvPr/>
          </p:nvSpPr>
          <p:spPr bwMode="gray">
            <a:xfrm>
              <a:off x="3225" y="2847"/>
              <a:ext cx="425" cy="241"/>
            </a:xfrm>
            <a:custGeom>
              <a:avLst/>
              <a:gdLst>
                <a:gd name="T0" fmla="*/ 1 w 930"/>
                <a:gd name="T1" fmla="*/ 19 h 526"/>
                <a:gd name="T2" fmla="*/ 7 w 930"/>
                <a:gd name="T3" fmla="*/ 17 h 526"/>
                <a:gd name="T4" fmla="*/ 21 w 930"/>
                <a:gd name="T5" fmla="*/ 14 h 526"/>
                <a:gd name="T6" fmla="*/ 38 w 930"/>
                <a:gd name="T7" fmla="*/ 11 h 526"/>
                <a:gd name="T8" fmla="*/ 61 w 930"/>
                <a:gd name="T9" fmla="*/ 9 h 526"/>
                <a:gd name="T10" fmla="*/ 88 w 930"/>
                <a:gd name="T11" fmla="*/ 7 h 526"/>
                <a:gd name="T12" fmla="*/ 117 w 930"/>
                <a:gd name="T13" fmla="*/ 8 h 526"/>
                <a:gd name="T14" fmla="*/ 150 w 930"/>
                <a:gd name="T15" fmla="*/ 11 h 526"/>
                <a:gd name="T16" fmla="*/ 184 w 930"/>
                <a:gd name="T17" fmla="*/ 17 h 526"/>
                <a:gd name="T18" fmla="*/ 219 w 930"/>
                <a:gd name="T19" fmla="*/ 27 h 526"/>
                <a:gd name="T20" fmla="*/ 255 w 930"/>
                <a:gd name="T21" fmla="*/ 42 h 526"/>
                <a:gd name="T22" fmla="*/ 290 w 930"/>
                <a:gd name="T23" fmla="*/ 63 h 526"/>
                <a:gd name="T24" fmla="*/ 324 w 930"/>
                <a:gd name="T25" fmla="*/ 89 h 526"/>
                <a:gd name="T26" fmla="*/ 356 w 930"/>
                <a:gd name="T27" fmla="*/ 123 h 526"/>
                <a:gd name="T28" fmla="*/ 386 w 930"/>
                <a:gd name="T29" fmla="*/ 164 h 526"/>
                <a:gd name="T30" fmla="*/ 413 w 930"/>
                <a:gd name="T31" fmla="*/ 213 h 526"/>
                <a:gd name="T32" fmla="*/ 425 w 930"/>
                <a:gd name="T33" fmla="*/ 240 h 526"/>
                <a:gd name="T34" fmla="*/ 423 w 930"/>
                <a:gd name="T35" fmla="*/ 233 h 526"/>
                <a:gd name="T36" fmla="*/ 419 w 930"/>
                <a:gd name="T37" fmla="*/ 220 h 526"/>
                <a:gd name="T38" fmla="*/ 413 w 930"/>
                <a:gd name="T39" fmla="*/ 203 h 526"/>
                <a:gd name="T40" fmla="*/ 403 w 930"/>
                <a:gd name="T41" fmla="*/ 181 h 526"/>
                <a:gd name="T42" fmla="*/ 390 w 930"/>
                <a:gd name="T43" fmla="*/ 157 h 526"/>
                <a:gd name="T44" fmla="*/ 375 w 930"/>
                <a:gd name="T45" fmla="*/ 131 h 526"/>
                <a:gd name="T46" fmla="*/ 355 w 930"/>
                <a:gd name="T47" fmla="*/ 105 h 526"/>
                <a:gd name="T48" fmla="*/ 332 w 930"/>
                <a:gd name="T49" fmla="*/ 80 h 526"/>
                <a:gd name="T50" fmla="*/ 304 w 930"/>
                <a:gd name="T51" fmla="*/ 56 h 526"/>
                <a:gd name="T52" fmla="*/ 272 w 930"/>
                <a:gd name="T53" fmla="*/ 35 h 526"/>
                <a:gd name="T54" fmla="*/ 234 w 930"/>
                <a:gd name="T55" fmla="*/ 18 h 526"/>
                <a:gd name="T56" fmla="*/ 192 w 930"/>
                <a:gd name="T57" fmla="*/ 6 h 526"/>
                <a:gd name="T58" fmla="*/ 145 w 930"/>
                <a:gd name="T59" fmla="*/ 0 h 526"/>
                <a:gd name="T60" fmla="*/ 92 w 930"/>
                <a:gd name="T61" fmla="*/ 1 h 526"/>
                <a:gd name="T62" fmla="*/ 32 w 930"/>
                <a:gd name="T63" fmla="*/ 11 h 5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30" h="526">
                  <a:moveTo>
                    <a:pt x="0" y="41"/>
                  </a:moveTo>
                  <a:lnTo>
                    <a:pt x="3" y="41"/>
                  </a:lnTo>
                  <a:lnTo>
                    <a:pt x="8" y="39"/>
                  </a:lnTo>
                  <a:lnTo>
                    <a:pt x="16" y="37"/>
                  </a:lnTo>
                  <a:lnTo>
                    <a:pt x="29" y="34"/>
                  </a:lnTo>
                  <a:lnTo>
                    <a:pt x="45" y="31"/>
                  </a:lnTo>
                  <a:lnTo>
                    <a:pt x="64" y="28"/>
                  </a:lnTo>
                  <a:lnTo>
                    <a:pt x="84" y="25"/>
                  </a:lnTo>
                  <a:lnTo>
                    <a:pt x="107" y="22"/>
                  </a:lnTo>
                  <a:lnTo>
                    <a:pt x="134" y="19"/>
                  </a:lnTo>
                  <a:lnTo>
                    <a:pt x="162" y="17"/>
                  </a:lnTo>
                  <a:lnTo>
                    <a:pt x="192" y="16"/>
                  </a:lnTo>
                  <a:lnTo>
                    <a:pt x="224" y="16"/>
                  </a:lnTo>
                  <a:lnTo>
                    <a:pt x="257" y="17"/>
                  </a:lnTo>
                  <a:lnTo>
                    <a:pt x="292" y="19"/>
                  </a:lnTo>
                  <a:lnTo>
                    <a:pt x="328" y="24"/>
                  </a:lnTo>
                  <a:lnTo>
                    <a:pt x="364" y="30"/>
                  </a:lnTo>
                  <a:lnTo>
                    <a:pt x="402" y="37"/>
                  </a:lnTo>
                  <a:lnTo>
                    <a:pt x="441" y="47"/>
                  </a:lnTo>
                  <a:lnTo>
                    <a:pt x="480" y="60"/>
                  </a:lnTo>
                  <a:lnTo>
                    <a:pt x="518" y="75"/>
                  </a:lnTo>
                  <a:lnTo>
                    <a:pt x="557" y="92"/>
                  </a:lnTo>
                  <a:lnTo>
                    <a:pt x="596" y="113"/>
                  </a:lnTo>
                  <a:lnTo>
                    <a:pt x="634" y="137"/>
                  </a:lnTo>
                  <a:lnTo>
                    <a:pt x="672" y="165"/>
                  </a:lnTo>
                  <a:lnTo>
                    <a:pt x="709" y="195"/>
                  </a:lnTo>
                  <a:lnTo>
                    <a:pt x="745" y="229"/>
                  </a:lnTo>
                  <a:lnTo>
                    <a:pt x="779" y="268"/>
                  </a:lnTo>
                  <a:lnTo>
                    <a:pt x="813" y="311"/>
                  </a:lnTo>
                  <a:lnTo>
                    <a:pt x="845" y="358"/>
                  </a:lnTo>
                  <a:lnTo>
                    <a:pt x="876" y="409"/>
                  </a:lnTo>
                  <a:lnTo>
                    <a:pt x="904" y="465"/>
                  </a:lnTo>
                  <a:lnTo>
                    <a:pt x="930" y="526"/>
                  </a:lnTo>
                  <a:lnTo>
                    <a:pt x="930" y="524"/>
                  </a:lnTo>
                  <a:lnTo>
                    <a:pt x="928" y="518"/>
                  </a:lnTo>
                  <a:lnTo>
                    <a:pt x="926" y="509"/>
                  </a:lnTo>
                  <a:lnTo>
                    <a:pt x="922" y="496"/>
                  </a:lnTo>
                  <a:lnTo>
                    <a:pt x="916" y="481"/>
                  </a:lnTo>
                  <a:lnTo>
                    <a:pt x="911" y="463"/>
                  </a:lnTo>
                  <a:lnTo>
                    <a:pt x="903" y="442"/>
                  </a:lnTo>
                  <a:lnTo>
                    <a:pt x="892" y="420"/>
                  </a:lnTo>
                  <a:lnTo>
                    <a:pt x="882" y="396"/>
                  </a:lnTo>
                  <a:lnTo>
                    <a:pt x="869" y="370"/>
                  </a:lnTo>
                  <a:lnTo>
                    <a:pt x="854" y="343"/>
                  </a:lnTo>
                  <a:lnTo>
                    <a:pt x="838" y="315"/>
                  </a:lnTo>
                  <a:lnTo>
                    <a:pt x="820" y="287"/>
                  </a:lnTo>
                  <a:lnTo>
                    <a:pt x="800" y="259"/>
                  </a:lnTo>
                  <a:lnTo>
                    <a:pt x="777" y="230"/>
                  </a:lnTo>
                  <a:lnTo>
                    <a:pt x="753" y="203"/>
                  </a:lnTo>
                  <a:lnTo>
                    <a:pt x="726" y="175"/>
                  </a:lnTo>
                  <a:lnTo>
                    <a:pt x="696" y="148"/>
                  </a:lnTo>
                  <a:lnTo>
                    <a:pt x="665" y="123"/>
                  </a:lnTo>
                  <a:lnTo>
                    <a:pt x="632" y="99"/>
                  </a:lnTo>
                  <a:lnTo>
                    <a:pt x="595" y="77"/>
                  </a:lnTo>
                  <a:lnTo>
                    <a:pt x="556" y="57"/>
                  </a:lnTo>
                  <a:lnTo>
                    <a:pt x="513" y="40"/>
                  </a:lnTo>
                  <a:lnTo>
                    <a:pt x="469" y="25"/>
                  </a:lnTo>
                  <a:lnTo>
                    <a:pt x="421" y="14"/>
                  </a:lnTo>
                  <a:lnTo>
                    <a:pt x="370" y="6"/>
                  </a:lnTo>
                  <a:lnTo>
                    <a:pt x="317" y="1"/>
                  </a:lnTo>
                  <a:lnTo>
                    <a:pt x="261" y="0"/>
                  </a:lnTo>
                  <a:lnTo>
                    <a:pt x="201" y="3"/>
                  </a:lnTo>
                  <a:lnTo>
                    <a:pt x="137" y="11"/>
                  </a:lnTo>
                  <a:lnTo>
                    <a:pt x="71" y="24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11" name="Freeform 304"/>
            <p:cNvSpPr>
              <a:spLocks/>
            </p:cNvSpPr>
            <p:nvPr/>
          </p:nvSpPr>
          <p:spPr bwMode="gray">
            <a:xfrm>
              <a:off x="3536" y="3615"/>
              <a:ext cx="145" cy="176"/>
            </a:xfrm>
            <a:custGeom>
              <a:avLst/>
              <a:gdLst>
                <a:gd name="T0" fmla="*/ 0 w 316"/>
                <a:gd name="T1" fmla="*/ 9 h 387"/>
                <a:gd name="T2" fmla="*/ 109 w 316"/>
                <a:gd name="T3" fmla="*/ 173 h 387"/>
                <a:gd name="T4" fmla="*/ 145 w 316"/>
                <a:gd name="T5" fmla="*/ 176 h 387"/>
                <a:gd name="T6" fmla="*/ 29 w 316"/>
                <a:gd name="T7" fmla="*/ 0 h 387"/>
                <a:gd name="T8" fmla="*/ 28 w 316"/>
                <a:gd name="T9" fmla="*/ 0 h 387"/>
                <a:gd name="T10" fmla="*/ 26 w 316"/>
                <a:gd name="T11" fmla="*/ 1 h 387"/>
                <a:gd name="T12" fmla="*/ 23 w 316"/>
                <a:gd name="T13" fmla="*/ 2 h 387"/>
                <a:gd name="T14" fmla="*/ 19 w 316"/>
                <a:gd name="T15" fmla="*/ 4 h 387"/>
                <a:gd name="T16" fmla="*/ 14 w 316"/>
                <a:gd name="T17" fmla="*/ 5 h 387"/>
                <a:gd name="T18" fmla="*/ 9 w 316"/>
                <a:gd name="T19" fmla="*/ 7 h 387"/>
                <a:gd name="T20" fmla="*/ 4 w 316"/>
                <a:gd name="T21" fmla="*/ 8 h 387"/>
                <a:gd name="T22" fmla="*/ 0 w 316"/>
                <a:gd name="T23" fmla="*/ 9 h 3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6" h="387">
                  <a:moveTo>
                    <a:pt x="0" y="19"/>
                  </a:moveTo>
                  <a:lnTo>
                    <a:pt x="237" y="381"/>
                  </a:lnTo>
                  <a:lnTo>
                    <a:pt x="316" y="387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57" y="2"/>
                  </a:lnTo>
                  <a:lnTo>
                    <a:pt x="50" y="4"/>
                  </a:lnTo>
                  <a:lnTo>
                    <a:pt x="41" y="8"/>
                  </a:lnTo>
                  <a:lnTo>
                    <a:pt x="31" y="11"/>
                  </a:lnTo>
                  <a:lnTo>
                    <a:pt x="20" y="15"/>
                  </a:lnTo>
                  <a:lnTo>
                    <a:pt x="9" y="17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12" name="Freeform 305"/>
            <p:cNvSpPr>
              <a:spLocks/>
            </p:cNvSpPr>
            <p:nvPr/>
          </p:nvSpPr>
          <p:spPr bwMode="gray">
            <a:xfrm>
              <a:off x="3023" y="3286"/>
              <a:ext cx="375" cy="235"/>
            </a:xfrm>
            <a:custGeom>
              <a:avLst/>
              <a:gdLst>
                <a:gd name="T0" fmla="*/ 0 w 822"/>
                <a:gd name="T1" fmla="*/ 1 h 512"/>
                <a:gd name="T2" fmla="*/ 2 w 822"/>
                <a:gd name="T3" fmla="*/ 6 h 512"/>
                <a:gd name="T4" fmla="*/ 5 w 822"/>
                <a:gd name="T5" fmla="*/ 17 h 512"/>
                <a:gd name="T6" fmla="*/ 11 w 822"/>
                <a:gd name="T7" fmla="*/ 31 h 512"/>
                <a:gd name="T8" fmla="*/ 19 w 822"/>
                <a:gd name="T9" fmla="*/ 49 h 512"/>
                <a:gd name="T10" fmla="*/ 31 w 822"/>
                <a:gd name="T11" fmla="*/ 68 h 512"/>
                <a:gd name="T12" fmla="*/ 45 w 822"/>
                <a:gd name="T13" fmla="*/ 90 h 512"/>
                <a:gd name="T14" fmla="*/ 62 w 822"/>
                <a:gd name="T15" fmla="*/ 113 h 512"/>
                <a:gd name="T16" fmla="*/ 83 w 822"/>
                <a:gd name="T17" fmla="*/ 135 h 512"/>
                <a:gd name="T18" fmla="*/ 107 w 822"/>
                <a:gd name="T19" fmla="*/ 157 h 512"/>
                <a:gd name="T20" fmla="*/ 135 w 822"/>
                <a:gd name="T21" fmla="*/ 177 h 512"/>
                <a:gd name="T22" fmla="*/ 167 w 822"/>
                <a:gd name="T23" fmla="*/ 195 h 512"/>
                <a:gd name="T24" fmla="*/ 205 w 822"/>
                <a:gd name="T25" fmla="*/ 211 h 512"/>
                <a:gd name="T26" fmla="*/ 247 w 822"/>
                <a:gd name="T27" fmla="*/ 222 h 512"/>
                <a:gd name="T28" fmla="*/ 294 w 822"/>
                <a:gd name="T29" fmla="*/ 228 h 512"/>
                <a:gd name="T30" fmla="*/ 346 w 822"/>
                <a:gd name="T31" fmla="*/ 229 h 512"/>
                <a:gd name="T32" fmla="*/ 374 w 822"/>
                <a:gd name="T33" fmla="*/ 228 h 512"/>
                <a:gd name="T34" fmla="*/ 368 w 822"/>
                <a:gd name="T35" fmla="*/ 229 h 512"/>
                <a:gd name="T36" fmla="*/ 356 w 822"/>
                <a:gd name="T37" fmla="*/ 231 h 512"/>
                <a:gd name="T38" fmla="*/ 339 w 822"/>
                <a:gd name="T39" fmla="*/ 233 h 512"/>
                <a:gd name="T40" fmla="*/ 319 w 822"/>
                <a:gd name="T41" fmla="*/ 235 h 512"/>
                <a:gd name="T42" fmla="*/ 295 w 822"/>
                <a:gd name="T43" fmla="*/ 235 h 512"/>
                <a:gd name="T44" fmla="*/ 268 w 822"/>
                <a:gd name="T45" fmla="*/ 233 h 512"/>
                <a:gd name="T46" fmla="*/ 239 w 822"/>
                <a:gd name="T47" fmla="*/ 229 h 512"/>
                <a:gd name="T48" fmla="*/ 208 w 822"/>
                <a:gd name="T49" fmla="*/ 222 h 512"/>
                <a:gd name="T50" fmla="*/ 177 w 822"/>
                <a:gd name="T51" fmla="*/ 211 h 512"/>
                <a:gd name="T52" fmla="*/ 146 w 822"/>
                <a:gd name="T53" fmla="*/ 195 h 512"/>
                <a:gd name="T54" fmla="*/ 115 w 822"/>
                <a:gd name="T55" fmla="*/ 174 h 512"/>
                <a:gd name="T56" fmla="*/ 85 w 822"/>
                <a:gd name="T57" fmla="*/ 148 h 512"/>
                <a:gd name="T58" fmla="*/ 57 w 822"/>
                <a:gd name="T59" fmla="*/ 115 h 512"/>
                <a:gd name="T60" fmla="*/ 31 w 822"/>
                <a:gd name="T61" fmla="*/ 75 h 512"/>
                <a:gd name="T62" fmla="*/ 10 w 822"/>
                <a:gd name="T63" fmla="*/ 27 h 5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22" h="512">
                  <a:moveTo>
                    <a:pt x="0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4" y="14"/>
                  </a:lnTo>
                  <a:lnTo>
                    <a:pt x="8" y="25"/>
                  </a:lnTo>
                  <a:lnTo>
                    <a:pt x="11" y="36"/>
                  </a:lnTo>
                  <a:lnTo>
                    <a:pt x="17" y="51"/>
                  </a:lnTo>
                  <a:lnTo>
                    <a:pt x="24" y="67"/>
                  </a:lnTo>
                  <a:lnTo>
                    <a:pt x="33" y="86"/>
                  </a:lnTo>
                  <a:lnTo>
                    <a:pt x="42" y="106"/>
                  </a:lnTo>
                  <a:lnTo>
                    <a:pt x="54" y="127"/>
                  </a:lnTo>
                  <a:lnTo>
                    <a:pt x="67" y="149"/>
                  </a:lnTo>
                  <a:lnTo>
                    <a:pt x="82" y="173"/>
                  </a:lnTo>
                  <a:lnTo>
                    <a:pt x="98" y="196"/>
                  </a:lnTo>
                  <a:lnTo>
                    <a:pt x="115" y="220"/>
                  </a:lnTo>
                  <a:lnTo>
                    <a:pt x="135" y="246"/>
                  </a:lnTo>
                  <a:lnTo>
                    <a:pt x="157" y="270"/>
                  </a:lnTo>
                  <a:lnTo>
                    <a:pt x="181" y="294"/>
                  </a:lnTo>
                  <a:lnTo>
                    <a:pt x="206" y="318"/>
                  </a:lnTo>
                  <a:lnTo>
                    <a:pt x="234" y="342"/>
                  </a:lnTo>
                  <a:lnTo>
                    <a:pt x="264" y="364"/>
                  </a:lnTo>
                  <a:lnTo>
                    <a:pt x="296" y="386"/>
                  </a:lnTo>
                  <a:lnTo>
                    <a:pt x="331" y="407"/>
                  </a:lnTo>
                  <a:lnTo>
                    <a:pt x="367" y="425"/>
                  </a:lnTo>
                  <a:lnTo>
                    <a:pt x="408" y="443"/>
                  </a:lnTo>
                  <a:lnTo>
                    <a:pt x="449" y="459"/>
                  </a:lnTo>
                  <a:lnTo>
                    <a:pt x="494" y="471"/>
                  </a:lnTo>
                  <a:lnTo>
                    <a:pt x="542" y="483"/>
                  </a:lnTo>
                  <a:lnTo>
                    <a:pt x="592" y="491"/>
                  </a:lnTo>
                  <a:lnTo>
                    <a:pt x="645" y="497"/>
                  </a:lnTo>
                  <a:lnTo>
                    <a:pt x="701" y="500"/>
                  </a:lnTo>
                  <a:lnTo>
                    <a:pt x="759" y="499"/>
                  </a:lnTo>
                  <a:lnTo>
                    <a:pt x="822" y="496"/>
                  </a:lnTo>
                  <a:lnTo>
                    <a:pt x="819" y="496"/>
                  </a:lnTo>
                  <a:lnTo>
                    <a:pt x="815" y="497"/>
                  </a:lnTo>
                  <a:lnTo>
                    <a:pt x="807" y="499"/>
                  </a:lnTo>
                  <a:lnTo>
                    <a:pt x="795" y="501"/>
                  </a:lnTo>
                  <a:lnTo>
                    <a:pt x="781" y="504"/>
                  </a:lnTo>
                  <a:lnTo>
                    <a:pt x="764" y="506"/>
                  </a:lnTo>
                  <a:lnTo>
                    <a:pt x="744" y="508"/>
                  </a:lnTo>
                  <a:lnTo>
                    <a:pt x="724" y="511"/>
                  </a:lnTo>
                  <a:lnTo>
                    <a:pt x="699" y="512"/>
                  </a:lnTo>
                  <a:lnTo>
                    <a:pt x="674" y="512"/>
                  </a:lnTo>
                  <a:lnTo>
                    <a:pt x="646" y="512"/>
                  </a:lnTo>
                  <a:lnTo>
                    <a:pt x="618" y="511"/>
                  </a:lnTo>
                  <a:lnTo>
                    <a:pt x="588" y="508"/>
                  </a:lnTo>
                  <a:lnTo>
                    <a:pt x="557" y="505"/>
                  </a:lnTo>
                  <a:lnTo>
                    <a:pt x="524" y="500"/>
                  </a:lnTo>
                  <a:lnTo>
                    <a:pt x="491" y="493"/>
                  </a:lnTo>
                  <a:lnTo>
                    <a:pt x="457" y="484"/>
                  </a:lnTo>
                  <a:lnTo>
                    <a:pt x="423" y="473"/>
                  </a:lnTo>
                  <a:lnTo>
                    <a:pt x="388" y="460"/>
                  </a:lnTo>
                  <a:lnTo>
                    <a:pt x="354" y="444"/>
                  </a:lnTo>
                  <a:lnTo>
                    <a:pt x="319" y="425"/>
                  </a:lnTo>
                  <a:lnTo>
                    <a:pt x="285" y="405"/>
                  </a:lnTo>
                  <a:lnTo>
                    <a:pt x="251" y="380"/>
                  </a:lnTo>
                  <a:lnTo>
                    <a:pt x="218" y="353"/>
                  </a:lnTo>
                  <a:lnTo>
                    <a:pt x="187" y="323"/>
                  </a:lnTo>
                  <a:lnTo>
                    <a:pt x="154" y="288"/>
                  </a:lnTo>
                  <a:lnTo>
                    <a:pt x="125" y="250"/>
                  </a:lnTo>
                  <a:lnTo>
                    <a:pt x="97" y="209"/>
                  </a:lnTo>
                  <a:lnTo>
                    <a:pt x="69" y="164"/>
                  </a:lnTo>
                  <a:lnTo>
                    <a:pt x="44" y="113"/>
                  </a:lnTo>
                  <a:lnTo>
                    <a:pt x="21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13" name="Freeform 306"/>
            <p:cNvSpPr>
              <a:spLocks/>
            </p:cNvSpPr>
            <p:nvPr/>
          </p:nvSpPr>
          <p:spPr bwMode="gray">
            <a:xfrm>
              <a:off x="3351" y="2892"/>
              <a:ext cx="272" cy="442"/>
            </a:xfrm>
            <a:custGeom>
              <a:avLst/>
              <a:gdLst>
                <a:gd name="T0" fmla="*/ 1 w 596"/>
                <a:gd name="T1" fmla="*/ 0 h 969"/>
                <a:gd name="T2" fmla="*/ 9 w 596"/>
                <a:gd name="T3" fmla="*/ 2 h 969"/>
                <a:gd name="T4" fmla="*/ 23 w 596"/>
                <a:gd name="T5" fmla="*/ 6 h 969"/>
                <a:gd name="T6" fmla="*/ 43 w 596"/>
                <a:gd name="T7" fmla="*/ 13 h 969"/>
                <a:gd name="T8" fmla="*/ 67 w 596"/>
                <a:gd name="T9" fmla="*/ 23 h 969"/>
                <a:gd name="T10" fmla="*/ 94 w 596"/>
                <a:gd name="T11" fmla="*/ 36 h 969"/>
                <a:gd name="T12" fmla="*/ 123 w 596"/>
                <a:gd name="T13" fmla="*/ 52 h 969"/>
                <a:gd name="T14" fmla="*/ 152 w 596"/>
                <a:gd name="T15" fmla="*/ 73 h 969"/>
                <a:gd name="T16" fmla="*/ 180 w 596"/>
                <a:gd name="T17" fmla="*/ 97 h 969"/>
                <a:gd name="T18" fmla="*/ 206 w 596"/>
                <a:gd name="T19" fmla="*/ 126 h 969"/>
                <a:gd name="T20" fmla="*/ 229 w 596"/>
                <a:gd name="T21" fmla="*/ 159 h 969"/>
                <a:gd name="T22" fmla="*/ 247 w 596"/>
                <a:gd name="T23" fmla="*/ 198 h 969"/>
                <a:gd name="T24" fmla="*/ 260 w 596"/>
                <a:gd name="T25" fmla="*/ 241 h 969"/>
                <a:gd name="T26" fmla="*/ 265 w 596"/>
                <a:gd name="T27" fmla="*/ 291 h 969"/>
                <a:gd name="T28" fmla="*/ 262 w 596"/>
                <a:gd name="T29" fmla="*/ 347 h 969"/>
                <a:gd name="T30" fmla="*/ 249 w 596"/>
                <a:gd name="T31" fmla="*/ 408 h 969"/>
                <a:gd name="T32" fmla="*/ 240 w 596"/>
                <a:gd name="T33" fmla="*/ 441 h 969"/>
                <a:gd name="T34" fmla="*/ 243 w 596"/>
                <a:gd name="T35" fmla="*/ 433 h 969"/>
                <a:gd name="T36" fmla="*/ 248 w 596"/>
                <a:gd name="T37" fmla="*/ 419 h 969"/>
                <a:gd name="T38" fmla="*/ 255 w 596"/>
                <a:gd name="T39" fmla="*/ 398 h 969"/>
                <a:gd name="T40" fmla="*/ 262 w 596"/>
                <a:gd name="T41" fmla="*/ 373 h 969"/>
                <a:gd name="T42" fmla="*/ 267 w 596"/>
                <a:gd name="T43" fmla="*/ 343 h 969"/>
                <a:gd name="T44" fmla="*/ 271 w 596"/>
                <a:gd name="T45" fmla="*/ 310 h 969"/>
                <a:gd name="T46" fmla="*/ 272 w 596"/>
                <a:gd name="T47" fmla="*/ 275 h 969"/>
                <a:gd name="T48" fmla="*/ 267 w 596"/>
                <a:gd name="T49" fmla="*/ 237 h 969"/>
                <a:gd name="T50" fmla="*/ 259 w 596"/>
                <a:gd name="T51" fmla="*/ 199 h 969"/>
                <a:gd name="T52" fmla="*/ 244 w 596"/>
                <a:gd name="T53" fmla="*/ 162 h 969"/>
                <a:gd name="T54" fmla="*/ 221 w 596"/>
                <a:gd name="T55" fmla="*/ 126 h 969"/>
                <a:gd name="T56" fmla="*/ 190 w 596"/>
                <a:gd name="T57" fmla="*/ 92 h 969"/>
                <a:gd name="T58" fmla="*/ 150 w 596"/>
                <a:gd name="T59" fmla="*/ 60 h 969"/>
                <a:gd name="T60" fmla="*/ 99 w 596"/>
                <a:gd name="T61" fmla="*/ 32 h 969"/>
                <a:gd name="T62" fmla="*/ 36 w 596"/>
                <a:gd name="T63" fmla="*/ 10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6" h="969">
                  <a:moveTo>
                    <a:pt x="0" y="0"/>
                  </a:moveTo>
                  <a:lnTo>
                    <a:pt x="2" y="0"/>
                  </a:lnTo>
                  <a:lnTo>
                    <a:pt x="9" y="3"/>
                  </a:lnTo>
                  <a:lnTo>
                    <a:pt x="19" y="5"/>
                  </a:lnTo>
                  <a:lnTo>
                    <a:pt x="33" y="10"/>
                  </a:lnTo>
                  <a:lnTo>
                    <a:pt x="51" y="14"/>
                  </a:lnTo>
                  <a:lnTo>
                    <a:pt x="71" y="21"/>
                  </a:lnTo>
                  <a:lnTo>
                    <a:pt x="94" y="29"/>
                  </a:lnTo>
                  <a:lnTo>
                    <a:pt x="120" y="40"/>
                  </a:lnTo>
                  <a:lnTo>
                    <a:pt x="147" y="51"/>
                  </a:lnTo>
                  <a:lnTo>
                    <a:pt x="176" y="64"/>
                  </a:lnTo>
                  <a:lnTo>
                    <a:pt x="206" y="79"/>
                  </a:lnTo>
                  <a:lnTo>
                    <a:pt x="237" y="96"/>
                  </a:lnTo>
                  <a:lnTo>
                    <a:pt x="270" y="114"/>
                  </a:lnTo>
                  <a:lnTo>
                    <a:pt x="301" y="136"/>
                  </a:lnTo>
                  <a:lnTo>
                    <a:pt x="333" y="159"/>
                  </a:lnTo>
                  <a:lnTo>
                    <a:pt x="364" y="185"/>
                  </a:lnTo>
                  <a:lnTo>
                    <a:pt x="394" y="212"/>
                  </a:lnTo>
                  <a:lnTo>
                    <a:pt x="424" y="242"/>
                  </a:lnTo>
                  <a:lnTo>
                    <a:pt x="452" y="276"/>
                  </a:lnTo>
                  <a:lnTo>
                    <a:pt x="478" y="310"/>
                  </a:lnTo>
                  <a:lnTo>
                    <a:pt x="501" y="349"/>
                  </a:lnTo>
                  <a:lnTo>
                    <a:pt x="523" y="390"/>
                  </a:lnTo>
                  <a:lnTo>
                    <a:pt x="542" y="434"/>
                  </a:lnTo>
                  <a:lnTo>
                    <a:pt x="557" y="480"/>
                  </a:lnTo>
                  <a:lnTo>
                    <a:pt x="569" y="529"/>
                  </a:lnTo>
                  <a:lnTo>
                    <a:pt x="577" y="582"/>
                  </a:lnTo>
                  <a:lnTo>
                    <a:pt x="581" y="638"/>
                  </a:lnTo>
                  <a:lnTo>
                    <a:pt x="580" y="697"/>
                  </a:lnTo>
                  <a:lnTo>
                    <a:pt x="574" y="761"/>
                  </a:lnTo>
                  <a:lnTo>
                    <a:pt x="563" y="826"/>
                  </a:lnTo>
                  <a:lnTo>
                    <a:pt x="546" y="895"/>
                  </a:lnTo>
                  <a:lnTo>
                    <a:pt x="524" y="969"/>
                  </a:lnTo>
                  <a:lnTo>
                    <a:pt x="525" y="967"/>
                  </a:lnTo>
                  <a:lnTo>
                    <a:pt x="528" y="960"/>
                  </a:lnTo>
                  <a:lnTo>
                    <a:pt x="532" y="949"/>
                  </a:lnTo>
                  <a:lnTo>
                    <a:pt x="538" y="936"/>
                  </a:lnTo>
                  <a:lnTo>
                    <a:pt x="544" y="918"/>
                  </a:lnTo>
                  <a:lnTo>
                    <a:pt x="551" y="896"/>
                  </a:lnTo>
                  <a:lnTo>
                    <a:pt x="559" y="873"/>
                  </a:lnTo>
                  <a:lnTo>
                    <a:pt x="566" y="846"/>
                  </a:lnTo>
                  <a:lnTo>
                    <a:pt x="574" y="817"/>
                  </a:lnTo>
                  <a:lnTo>
                    <a:pt x="580" y="785"/>
                  </a:lnTo>
                  <a:lnTo>
                    <a:pt x="585" y="751"/>
                  </a:lnTo>
                  <a:lnTo>
                    <a:pt x="590" y="716"/>
                  </a:lnTo>
                  <a:lnTo>
                    <a:pt x="593" y="679"/>
                  </a:lnTo>
                  <a:lnTo>
                    <a:pt x="596" y="641"/>
                  </a:lnTo>
                  <a:lnTo>
                    <a:pt x="595" y="602"/>
                  </a:lnTo>
                  <a:lnTo>
                    <a:pt x="592" y="560"/>
                  </a:lnTo>
                  <a:lnTo>
                    <a:pt x="586" y="520"/>
                  </a:lnTo>
                  <a:lnTo>
                    <a:pt x="578" y="478"/>
                  </a:lnTo>
                  <a:lnTo>
                    <a:pt x="568" y="437"/>
                  </a:lnTo>
                  <a:lnTo>
                    <a:pt x="553" y="395"/>
                  </a:lnTo>
                  <a:lnTo>
                    <a:pt x="535" y="355"/>
                  </a:lnTo>
                  <a:lnTo>
                    <a:pt x="512" y="315"/>
                  </a:lnTo>
                  <a:lnTo>
                    <a:pt x="485" y="276"/>
                  </a:lnTo>
                  <a:lnTo>
                    <a:pt x="453" y="238"/>
                  </a:lnTo>
                  <a:lnTo>
                    <a:pt x="417" y="201"/>
                  </a:lnTo>
                  <a:lnTo>
                    <a:pt x="376" y="165"/>
                  </a:lnTo>
                  <a:lnTo>
                    <a:pt x="328" y="132"/>
                  </a:lnTo>
                  <a:lnTo>
                    <a:pt x="275" y="101"/>
                  </a:lnTo>
                  <a:lnTo>
                    <a:pt x="217" y="71"/>
                  </a:lnTo>
                  <a:lnTo>
                    <a:pt x="151" y="44"/>
                  </a:lnTo>
                  <a:lnTo>
                    <a:pt x="79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  <p:sp>
          <p:nvSpPr>
            <p:cNvPr id="114" name="Freeform 307"/>
            <p:cNvSpPr>
              <a:spLocks/>
            </p:cNvSpPr>
            <p:nvPr/>
          </p:nvSpPr>
          <p:spPr bwMode="gray">
            <a:xfrm>
              <a:off x="3602" y="3571"/>
              <a:ext cx="173" cy="218"/>
            </a:xfrm>
            <a:custGeom>
              <a:avLst/>
              <a:gdLst>
                <a:gd name="T0" fmla="*/ 0 w 376"/>
                <a:gd name="T1" fmla="*/ 14 h 478"/>
                <a:gd name="T2" fmla="*/ 149 w 376"/>
                <a:gd name="T3" fmla="*/ 218 h 478"/>
                <a:gd name="T4" fmla="*/ 173 w 376"/>
                <a:gd name="T5" fmla="*/ 218 h 478"/>
                <a:gd name="T6" fmla="*/ 15 w 376"/>
                <a:gd name="T7" fmla="*/ 0 h 478"/>
                <a:gd name="T8" fmla="*/ 14 w 376"/>
                <a:gd name="T9" fmla="*/ 2 h 478"/>
                <a:gd name="T10" fmla="*/ 12 w 376"/>
                <a:gd name="T11" fmla="*/ 6 h 478"/>
                <a:gd name="T12" fmla="*/ 7 w 376"/>
                <a:gd name="T13" fmla="*/ 10 h 478"/>
                <a:gd name="T14" fmla="*/ 0 w 376"/>
                <a:gd name="T15" fmla="*/ 14 h 4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6" h="478">
                  <a:moveTo>
                    <a:pt x="0" y="30"/>
                  </a:moveTo>
                  <a:lnTo>
                    <a:pt x="323" y="478"/>
                  </a:lnTo>
                  <a:lnTo>
                    <a:pt x="376" y="478"/>
                  </a:lnTo>
                  <a:lnTo>
                    <a:pt x="33" y="0"/>
                  </a:lnTo>
                  <a:lnTo>
                    <a:pt x="31" y="4"/>
                  </a:lnTo>
                  <a:lnTo>
                    <a:pt x="25" y="13"/>
                  </a:lnTo>
                  <a:lnTo>
                    <a:pt x="15" y="22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+mn-ea"/>
              </a:endParaRPr>
            </a:p>
          </p:txBody>
        </p:sp>
      </p:grpSp>
      <p:sp>
        <p:nvSpPr>
          <p:cNvPr id="115" name="Text Box 308"/>
          <p:cNvSpPr txBox="1">
            <a:spLocks noChangeArrowheads="1"/>
          </p:cNvSpPr>
          <p:nvPr/>
        </p:nvSpPr>
        <p:spPr bwMode="auto">
          <a:xfrm>
            <a:off x="6409428" y="2006674"/>
            <a:ext cx="293606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777777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45720" rIns="4572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ko-KR" altLang="en-US" dirty="0">
                <a:latin typeface="+mn-ea"/>
                <a:ea typeface="+mn-ea"/>
              </a:rPr>
              <a:t>프로세스 표준 미 준수 인지 및 사후 조치</a:t>
            </a:r>
          </a:p>
        </p:txBody>
      </p:sp>
      <p:sp>
        <p:nvSpPr>
          <p:cNvPr id="116" name="Text Box 309"/>
          <p:cNvSpPr txBox="1">
            <a:spLocks noChangeArrowheads="1"/>
          </p:cNvSpPr>
          <p:nvPr/>
        </p:nvSpPr>
        <p:spPr bwMode="auto">
          <a:xfrm>
            <a:off x="4878251" y="4610653"/>
            <a:ext cx="35242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777777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45720" rIns="4572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eaLnBrk="1" hangingPunct="1"/>
            <a:r>
              <a:rPr lang="ko-KR" altLang="en-US" dirty="0">
                <a:latin typeface="+mn-ea"/>
                <a:ea typeface="+mn-ea"/>
              </a:rPr>
              <a:t>프로세스 표준에 대한 현업 만족도 및 사후 조치</a:t>
            </a:r>
          </a:p>
        </p:txBody>
      </p:sp>
      <p:sp>
        <p:nvSpPr>
          <p:cNvPr id="6" name="타원 5"/>
          <p:cNvSpPr/>
          <p:nvPr/>
        </p:nvSpPr>
        <p:spPr>
          <a:xfrm>
            <a:off x="7257256" y="2708920"/>
            <a:ext cx="1266111" cy="842304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27" name="타원 126"/>
          <p:cNvSpPr/>
          <p:nvPr/>
        </p:nvSpPr>
        <p:spPr>
          <a:xfrm>
            <a:off x="6064681" y="3566421"/>
            <a:ext cx="1266111" cy="842304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20" name="Text Box 191"/>
          <p:cNvSpPr txBox="1">
            <a:spLocks noChangeArrowheads="1"/>
          </p:cNvSpPr>
          <p:nvPr/>
        </p:nvSpPr>
        <p:spPr bwMode="auto">
          <a:xfrm>
            <a:off x="6033120" y="4214493"/>
            <a:ext cx="1349945" cy="19563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square" lIns="18000" tIns="18000" rIns="18000" bIns="18000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5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실무자</a:t>
            </a:r>
            <a:endParaRPr kumimoji="1" lang="en-US" altLang="ko-KR" sz="11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pic>
        <p:nvPicPr>
          <p:cNvPr id="121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5228" y="3644937"/>
            <a:ext cx="283925" cy="4922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5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6219" y="2768226"/>
            <a:ext cx="308409" cy="534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" name="Text Box 191"/>
          <p:cNvSpPr txBox="1">
            <a:spLocks noChangeArrowheads="1"/>
          </p:cNvSpPr>
          <p:nvPr/>
        </p:nvSpPr>
        <p:spPr bwMode="auto">
          <a:xfrm>
            <a:off x="7185248" y="3372040"/>
            <a:ext cx="1349945" cy="19563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square" lIns="18000" tIns="18000" rIns="18000" bIns="18000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5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60000"/>
              <a:buFont typeface="Wingdings" pitchFamily="2" charset="2"/>
              <a:buNone/>
              <a:tabLst/>
              <a:defRPr/>
            </a:pP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팀 단위 부서</a:t>
            </a:r>
            <a:endParaRPr kumimoji="1" lang="en-US" altLang="ko-KR" sz="11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626164" y="5162767"/>
            <a:ext cx="1224000" cy="288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400" b="1" dirty="0">
                <a:solidFill>
                  <a:schemeClr val="bg1"/>
                </a:solidFill>
                <a:latin typeface="+mn-ea"/>
              </a:rPr>
              <a:t>주요 내용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5957487" y="5162767"/>
            <a:ext cx="1224000" cy="288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400" b="1" dirty="0">
                <a:solidFill>
                  <a:schemeClr val="bg1"/>
                </a:solidFill>
                <a:latin typeface="+mn-ea"/>
              </a:rPr>
              <a:t>추진영역</a:t>
            </a:r>
          </a:p>
        </p:txBody>
      </p:sp>
      <p:sp>
        <p:nvSpPr>
          <p:cNvPr id="134" name="Text Box 289"/>
          <p:cNvSpPr txBox="1">
            <a:spLocks noChangeArrowheads="1"/>
          </p:cNvSpPr>
          <p:nvPr/>
        </p:nvSpPr>
        <p:spPr bwMode="gray">
          <a:xfrm>
            <a:off x="658738" y="5610029"/>
            <a:ext cx="5086350" cy="6272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>
            <a:spAutoFit/>
          </a:bodyPr>
          <a:lstStyle>
            <a:defPPr>
              <a:defRPr lang="ko-KR"/>
            </a:defPPr>
            <a:lvl1pPr marL="177800" marR="0" lvl="0" indent="-177800" fontAlgn="ctr" latinLnBrk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 kumimoji="1" sz="1200" b="1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defRPr>
            </a:lvl1pPr>
            <a:lvl2pPr marL="742950" indent="-285750" eaLnBrk="0" hangingPunct="0">
              <a:defRPr sz="1200"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latin typeface="돋움" pitchFamily="50" charset="-127"/>
                <a:ea typeface="돋움" pitchFamily="50" charset="-127"/>
              </a:defRPr>
            </a:lvl9pPr>
          </a:lstStyle>
          <a:p>
            <a:r>
              <a:rPr lang="ko-KR" altLang="en-US" dirty="0"/>
              <a:t>프로세스 수행자는 표준에 기반한 업무 수행으로 일관된 서비스를 이용</a:t>
            </a:r>
          </a:p>
          <a:p>
            <a:r>
              <a:rPr lang="ko-KR" altLang="en-US" dirty="0"/>
              <a:t>프로세스 표준 준수 모니터링 방안을 수립하여 표준 준수 여부에 대한 관리를 도입함</a:t>
            </a:r>
          </a:p>
        </p:txBody>
      </p:sp>
      <p:sp>
        <p:nvSpPr>
          <p:cNvPr id="124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dirty="0">
                <a:latin typeface="+mn-ea"/>
                <a:ea typeface="+mn-ea"/>
              </a:rPr>
              <a:t>3.5.4 </a:t>
            </a:r>
            <a:r>
              <a:rPr lang="ko-KR" altLang="en-US" dirty="0">
                <a:latin typeface="+mn-ea"/>
                <a:ea typeface="+mn-ea"/>
              </a:rPr>
              <a:t>프로세스 거버넌스 추진과제 정의 </a:t>
            </a:r>
            <a:r>
              <a:rPr lang="en-US" altLang="ko-KR" dirty="0">
                <a:latin typeface="+mn-ea"/>
                <a:ea typeface="+mn-ea"/>
              </a:rPr>
              <a:t/>
            </a:r>
            <a:br>
              <a:rPr lang="en-US" altLang="ko-KR" dirty="0">
                <a:latin typeface="+mn-ea"/>
                <a:ea typeface="+mn-ea"/>
              </a:rPr>
            </a:br>
            <a:r>
              <a:rPr lang="en-US" altLang="ko-KR" dirty="0">
                <a:latin typeface="+mn-ea"/>
                <a:ea typeface="+mn-ea"/>
              </a:rPr>
              <a:t>3.5.4.2 </a:t>
            </a:r>
            <a:r>
              <a:rPr lang="ko-KR" altLang="en-US" dirty="0">
                <a:latin typeface="+mn-ea"/>
                <a:ea typeface="+mn-ea"/>
              </a:rPr>
              <a:t>적용 </a:t>
            </a:r>
            <a:r>
              <a:rPr lang="en-US" altLang="ko-KR" dirty="0">
                <a:latin typeface="+mn-ea"/>
                <a:ea typeface="+mn-ea"/>
              </a:rPr>
              <a:t>&gt; </a:t>
            </a:r>
            <a:r>
              <a:rPr lang="ko-KR" altLang="en-US" dirty="0">
                <a:latin typeface="+mn-ea"/>
                <a:ea typeface="+mn-ea"/>
              </a:rPr>
              <a:t>표준 준수 및 모니터링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3552357" y="1458408"/>
            <a:ext cx="2768795" cy="288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latin typeface="+mn-ea"/>
              </a:rPr>
              <a:t>프로세스 표준 준수 및 모니터링</a:t>
            </a:r>
          </a:p>
        </p:txBody>
      </p:sp>
    </p:spTree>
    <p:extLst>
      <p:ext uri="{BB962C8B-B14F-4D97-AF65-F5344CB8AC3E}">
        <p14:creationId xmlns:p14="http://schemas.microsoft.com/office/powerpoint/2010/main" val="3292334218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289032" cy="623391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 algn="l" defTabSz="7600950" eaLnBrk="0" fontAlgn="t" hangingPunct="0">
              <a:spcBef>
                <a:spcPct val="100000"/>
              </a:spcBef>
              <a:spcAft>
                <a:spcPct val="0"/>
              </a:spcAft>
              <a:buClr>
                <a:srgbClr val="000000"/>
              </a:buClr>
              <a:buSzPct val="100000"/>
              <a:defRPr/>
            </a:pP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프로세스 개선사항 발굴 부터 표준 프로세스 변경</a:t>
            </a:r>
            <a:r>
              <a:rPr lang="en-US" altLang="ko-KR" kern="0" dirty="0">
                <a:solidFill>
                  <a:srgbClr val="000000"/>
                </a:solidFill>
                <a:latin typeface="+mn-ea"/>
              </a:rPr>
              <a:t>/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심의</a:t>
            </a:r>
            <a:r>
              <a:rPr lang="en-US" altLang="ko-KR" kern="0" dirty="0">
                <a:solidFill>
                  <a:srgbClr val="000000"/>
                </a:solidFill>
                <a:latin typeface="+mn-ea"/>
              </a:rPr>
              <a:t>/</a:t>
            </a:r>
            <a:r>
              <a:rPr lang="ko-KR" altLang="en-US" kern="0" dirty="0">
                <a:solidFill>
                  <a:srgbClr val="000000"/>
                </a:solidFill>
                <a:latin typeface="+mn-ea"/>
              </a:rPr>
              <a:t>공지에 이르는 프로세스 변경 절차를 정의 하고 이에 대한 변경 활동을 체계화함 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Ⅳ.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목표모델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  <a:latin typeface="+mn-ea"/>
                <a:ea typeface="+mn-ea"/>
              </a:rPr>
              <a:t>3. </a:t>
            </a:r>
            <a:r>
              <a:rPr lang="ko-KR" altLang="en-US" dirty="0">
                <a:solidFill>
                  <a:prstClr val="black"/>
                </a:solidFill>
                <a:latin typeface="+mn-ea"/>
                <a:ea typeface="+mn-ea"/>
              </a:rPr>
              <a:t>목표 업무프로세스 설계</a:t>
            </a:r>
            <a:endParaRPr lang="en-US" altLang="ko-KR" dirty="0">
              <a:solidFill>
                <a:prstClr val="black"/>
              </a:solidFill>
              <a:latin typeface="+mn-ea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3.5 </a:t>
            </a:r>
            <a:r>
              <a:rPr lang="ko-KR" altLang="en-US" dirty="0">
                <a:solidFill>
                  <a:prstClr val="black"/>
                </a:solidFill>
              </a:rPr>
              <a:t>경영정보기반 프로세스 </a:t>
            </a:r>
            <a:r>
              <a:rPr lang="ko-KR" altLang="en-US" dirty="0" err="1">
                <a:solidFill>
                  <a:prstClr val="black"/>
                </a:solidFill>
              </a:rPr>
              <a:t>거버넌스</a:t>
            </a:r>
            <a:r>
              <a:rPr lang="ko-KR" altLang="en-US" dirty="0">
                <a:solidFill>
                  <a:prstClr val="black"/>
                </a:solidFill>
              </a:rPr>
              <a:t> 정립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79" name="Text Box 37"/>
          <p:cNvSpPr txBox="1">
            <a:spLocks noChangeArrowheads="1"/>
          </p:cNvSpPr>
          <p:nvPr/>
        </p:nvSpPr>
        <p:spPr bwMode="gray">
          <a:xfrm>
            <a:off x="958594" y="2041497"/>
            <a:ext cx="462262" cy="277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8080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80975" marR="0" lvl="0" indent="-18097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1" lang="ko-KR" altLang="en-US" sz="12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역할자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80" name="Rectangle 38"/>
          <p:cNvSpPr>
            <a:spLocks noChangeArrowheads="1"/>
          </p:cNvSpPr>
          <p:nvPr/>
        </p:nvSpPr>
        <p:spPr bwMode="auto">
          <a:xfrm>
            <a:off x="3433620" y="1868530"/>
            <a:ext cx="1794230" cy="37029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anchor="ctr" anchorCtr="1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 개선 이슈 요청</a:t>
            </a:r>
            <a: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처리</a:t>
            </a:r>
          </a:p>
        </p:txBody>
      </p:sp>
      <p:sp>
        <p:nvSpPr>
          <p:cNvPr id="81" name="Rectangle 148"/>
          <p:cNvSpPr>
            <a:spLocks noChangeArrowheads="1"/>
          </p:cNvSpPr>
          <p:nvPr/>
        </p:nvSpPr>
        <p:spPr bwMode="auto">
          <a:xfrm>
            <a:off x="407988" y="2345403"/>
            <a:ext cx="1132462" cy="422692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운영총괄</a:t>
            </a:r>
            <a:endParaRPr lang="en-US" altLang="ko-KR" sz="12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Rectangle 150"/>
          <p:cNvSpPr>
            <a:spLocks noChangeArrowheads="1"/>
          </p:cNvSpPr>
          <p:nvPr/>
        </p:nvSpPr>
        <p:spPr bwMode="auto">
          <a:xfrm>
            <a:off x="415986" y="2849402"/>
            <a:ext cx="1132462" cy="77903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팀 단위부서</a:t>
            </a: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/>
            </a:r>
            <a:br>
              <a:rPr lang="en-US" altLang="ko-KR" sz="1200" b="1" dirty="0">
                <a:solidFill>
                  <a:schemeClr val="bg1"/>
                </a:solidFill>
                <a:latin typeface="+mn-ea"/>
              </a:rPr>
            </a:b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1000" b="1" dirty="0">
                <a:solidFill>
                  <a:schemeClr val="bg1"/>
                </a:solidFill>
                <a:latin typeface="+mn-ea"/>
              </a:rPr>
              <a:t>팀장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&amp; </a:t>
            </a:r>
            <a:r>
              <a:rPr lang="ko-KR" altLang="en-US" sz="1000" b="1" dirty="0">
                <a:solidFill>
                  <a:schemeClr val="bg1"/>
                </a:solidFill>
                <a:latin typeface="+mn-ea"/>
              </a:rPr>
              <a:t>변경관리위원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)</a:t>
            </a:r>
            <a:endParaRPr lang="en-US" altLang="ko-KR" sz="12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Rectangle 161"/>
          <p:cNvSpPr>
            <a:spLocks noChangeArrowheads="1"/>
          </p:cNvSpPr>
          <p:nvPr/>
        </p:nvSpPr>
        <p:spPr bwMode="auto">
          <a:xfrm>
            <a:off x="415986" y="4592782"/>
            <a:ext cx="1132462" cy="347923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현장 등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전사 직원</a:t>
            </a:r>
          </a:p>
        </p:txBody>
      </p:sp>
      <p:sp>
        <p:nvSpPr>
          <p:cNvPr id="86" name="Rectangle 44"/>
          <p:cNvSpPr>
            <a:spLocks noChangeArrowheads="1"/>
          </p:cNvSpPr>
          <p:nvPr/>
        </p:nvSpPr>
        <p:spPr bwMode="blackWhite">
          <a:xfrm>
            <a:off x="1645419" y="2344940"/>
            <a:ext cx="1579389" cy="422692"/>
          </a:xfrm>
          <a:prstGeom prst="rect">
            <a:avLst/>
          </a:prstGeom>
          <a:solidFill>
            <a:srgbClr val="F8F8F8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36000" tIns="36000" rIns="3600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77800" marR="0" lvl="0" indent="-17780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lang="ko-KR" altLang="en-US" sz="1050" b="1" kern="0" dirty="0">
                <a:solidFill>
                  <a:srgbClr val="000000"/>
                </a:solidFill>
                <a:latin typeface="+mn-ea"/>
                <a:ea typeface="+mn-ea"/>
              </a:rPr>
              <a:t>전사 </a:t>
            </a: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부서의 변경관리 책임자</a:t>
            </a:r>
          </a:p>
        </p:txBody>
      </p:sp>
      <p:sp>
        <p:nvSpPr>
          <p:cNvPr id="87" name="Rectangle 45"/>
          <p:cNvSpPr>
            <a:spLocks noChangeArrowheads="1"/>
          </p:cNvSpPr>
          <p:nvPr/>
        </p:nvSpPr>
        <p:spPr bwMode="blackWhite">
          <a:xfrm>
            <a:off x="1645419" y="2854410"/>
            <a:ext cx="1579389" cy="371904"/>
          </a:xfrm>
          <a:prstGeom prst="rect">
            <a:avLst/>
          </a:prstGeom>
          <a:solidFill>
            <a:srgbClr val="F8F8F8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36000" tIns="36000" rIns="3600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77800" marR="0" lvl="0" indent="-17780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팀 단위 부서 내 변경관리위원 </a:t>
            </a:r>
            <a:endParaRPr kumimoji="0" lang="ko-KR" altLang="en-US" sz="9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88" name="Rectangle 46"/>
          <p:cNvSpPr>
            <a:spLocks noChangeArrowheads="1"/>
          </p:cNvSpPr>
          <p:nvPr/>
        </p:nvSpPr>
        <p:spPr bwMode="blackWhite">
          <a:xfrm>
            <a:off x="1645419" y="3258072"/>
            <a:ext cx="1579389" cy="369546"/>
          </a:xfrm>
          <a:prstGeom prst="rect">
            <a:avLst/>
          </a:prstGeom>
          <a:solidFill>
            <a:srgbClr val="F8F8F8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36000" tIns="36000" rIns="3600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lvl="0" fontAlgn="base" latinLnBrk="0">
              <a:spcBef>
                <a:spcPct val="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lang="ko-KR" altLang="en-US" sz="1050" b="1" kern="0" dirty="0">
                <a:solidFill>
                  <a:srgbClr val="000000"/>
                </a:solidFill>
                <a:latin typeface="+mn-ea"/>
                <a:ea typeface="+mn-ea"/>
              </a:rPr>
              <a:t>프로세스 책임자</a:t>
            </a:r>
            <a:r>
              <a:rPr lang="en-US" altLang="ko-KR" sz="1050" b="1" kern="0" dirty="0">
                <a:solidFill>
                  <a:srgbClr val="000000"/>
                </a:solidFill>
                <a:latin typeface="+mn-ea"/>
                <a:ea typeface="+mn-ea"/>
              </a:rPr>
              <a:t/>
            </a:r>
            <a:br>
              <a:rPr lang="en-US" altLang="ko-KR" sz="1050" b="1" kern="0" dirty="0">
                <a:solidFill>
                  <a:srgbClr val="000000"/>
                </a:solidFill>
                <a:latin typeface="+mn-ea"/>
                <a:ea typeface="+mn-ea"/>
              </a:rPr>
            </a:br>
            <a:r>
              <a:rPr lang="en-US" altLang="ko-KR" sz="1050" b="1" kern="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z="1050" b="1" kern="0" dirty="0">
                <a:solidFill>
                  <a:srgbClr val="000000"/>
                </a:solidFill>
                <a:latin typeface="+mn-ea"/>
                <a:ea typeface="+mn-ea"/>
              </a:rPr>
              <a:t>팀장</a:t>
            </a:r>
            <a:r>
              <a:rPr lang="en-US" altLang="ko-KR" sz="1050" b="1" kern="0" dirty="0">
                <a:solidFill>
                  <a:srgbClr val="000000"/>
                </a:solidFill>
                <a:latin typeface="+mn-ea"/>
                <a:ea typeface="+mn-ea"/>
              </a:rPr>
              <a:t>)</a:t>
            </a:r>
            <a:endParaRPr lang="ko-KR" altLang="en-US" sz="900" kern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90" name="Rectangle 48"/>
          <p:cNvSpPr>
            <a:spLocks noChangeArrowheads="1"/>
          </p:cNvSpPr>
          <p:nvPr/>
        </p:nvSpPr>
        <p:spPr bwMode="blackWhite">
          <a:xfrm>
            <a:off x="1645419" y="4589558"/>
            <a:ext cx="1579389" cy="351147"/>
          </a:xfrm>
          <a:prstGeom prst="rect">
            <a:avLst/>
          </a:prstGeom>
          <a:solidFill>
            <a:srgbClr val="F8F8F8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36000" tIns="36000" rIns="3600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77800" marR="0" lvl="0" indent="-17780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이슈</a:t>
            </a: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개선 </a:t>
            </a:r>
            <a:r>
              <a:rPr kumimoji="0" lang="ko-KR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요청자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91" name="Rectangle 49"/>
          <p:cNvSpPr>
            <a:spLocks noChangeArrowheads="1"/>
          </p:cNvSpPr>
          <p:nvPr/>
        </p:nvSpPr>
        <p:spPr bwMode="blackWhite">
          <a:xfrm>
            <a:off x="3432020" y="2336438"/>
            <a:ext cx="1796312" cy="422692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변경관리위원회</a:t>
            </a:r>
            <a: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소집 및 안건 </a:t>
            </a:r>
            <a:r>
              <a:rPr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협의</a:t>
            </a:r>
            <a:endParaRPr kumimoji="0" lang="ko-KR" altLang="en-US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92" name="Rectangle 50"/>
          <p:cNvSpPr>
            <a:spLocks noChangeArrowheads="1"/>
          </p:cNvSpPr>
          <p:nvPr/>
        </p:nvSpPr>
        <p:spPr bwMode="blackWhite">
          <a:xfrm>
            <a:off x="3432020" y="2846259"/>
            <a:ext cx="1796312" cy="371904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변경관리위원회 </a:t>
            </a:r>
            <a: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협의 진행</a:t>
            </a:r>
          </a:p>
        </p:txBody>
      </p:sp>
      <p:sp>
        <p:nvSpPr>
          <p:cNvPr id="93" name="Rectangle 51"/>
          <p:cNvSpPr>
            <a:spLocks noChangeArrowheads="1"/>
          </p:cNvSpPr>
          <p:nvPr/>
        </p:nvSpPr>
        <p:spPr bwMode="blackWhite">
          <a:xfrm>
            <a:off x="3432020" y="3258886"/>
            <a:ext cx="1796312" cy="369546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ko-KR" altLang="en-US" sz="1050" kern="0" dirty="0">
                <a:solidFill>
                  <a:srgbClr val="000000"/>
                </a:solidFill>
                <a:latin typeface="+mn-ea"/>
              </a:rPr>
              <a:t>변경이슈</a:t>
            </a:r>
            <a:r>
              <a:rPr lang="en-US" altLang="ko-KR" sz="1050" kern="0" dirty="0">
                <a:solidFill>
                  <a:srgbClr val="000000"/>
                </a:solidFill>
                <a:latin typeface="+mn-ea"/>
              </a:rPr>
              <a:t/>
            </a:r>
            <a:br>
              <a:rPr lang="en-US" altLang="ko-KR" sz="1050" kern="0" dirty="0">
                <a:solidFill>
                  <a:srgbClr val="000000"/>
                </a:solidFill>
                <a:latin typeface="+mn-ea"/>
              </a:rPr>
            </a:br>
            <a:r>
              <a:rPr lang="ko-KR" altLang="en-US" sz="1050" kern="0" dirty="0">
                <a:solidFill>
                  <a:srgbClr val="000000"/>
                </a:solidFill>
                <a:latin typeface="+mn-ea"/>
              </a:rPr>
              <a:t>접수 및 안건 제시</a:t>
            </a:r>
          </a:p>
        </p:txBody>
      </p:sp>
      <p:sp>
        <p:nvSpPr>
          <p:cNvPr id="94" name="Rectangle 52"/>
          <p:cNvSpPr>
            <a:spLocks noChangeArrowheads="1"/>
          </p:cNvSpPr>
          <p:nvPr/>
        </p:nvSpPr>
        <p:spPr bwMode="blackWhite">
          <a:xfrm>
            <a:off x="3432020" y="3683290"/>
            <a:ext cx="1796312" cy="422692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ko-KR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-</a:t>
            </a:r>
          </a:p>
        </p:txBody>
      </p:sp>
      <p:sp>
        <p:nvSpPr>
          <p:cNvPr id="95" name="Rectangle 53"/>
          <p:cNvSpPr>
            <a:spLocks noChangeArrowheads="1"/>
          </p:cNvSpPr>
          <p:nvPr/>
        </p:nvSpPr>
        <p:spPr bwMode="blackWhite">
          <a:xfrm>
            <a:off x="3432020" y="4581407"/>
            <a:ext cx="1796312" cy="351147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모니터링</a:t>
            </a:r>
          </a:p>
        </p:txBody>
      </p:sp>
      <p:sp>
        <p:nvSpPr>
          <p:cNvPr id="97" name="Rectangle 161"/>
          <p:cNvSpPr>
            <a:spLocks noChangeArrowheads="1"/>
          </p:cNvSpPr>
          <p:nvPr/>
        </p:nvSpPr>
        <p:spPr bwMode="auto">
          <a:xfrm>
            <a:off x="415986" y="3693419"/>
            <a:ext cx="1132462" cy="815981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실무자</a:t>
            </a:r>
            <a:endParaRPr lang="en-US" altLang="ko-KR" sz="12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8" name="Rectangle 56"/>
          <p:cNvSpPr>
            <a:spLocks noChangeArrowheads="1"/>
          </p:cNvSpPr>
          <p:nvPr/>
        </p:nvSpPr>
        <p:spPr bwMode="blackWhite">
          <a:xfrm>
            <a:off x="1645419" y="3693420"/>
            <a:ext cx="1579389" cy="815980"/>
          </a:xfrm>
          <a:prstGeom prst="rect">
            <a:avLst/>
          </a:prstGeom>
          <a:solidFill>
            <a:srgbClr val="F8F8F8"/>
          </a:solidFill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36000" tIns="36000" rIns="36000" bIns="36000" anchor="ctr"/>
          <a:lstStyle/>
          <a:p>
            <a:pPr marL="177800" lvl="0" indent="-177800" eaLnBrk="0" fontAlgn="base" latinLnBrk="0" hangingPunct="0">
              <a:spcBef>
                <a:spcPct val="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lang="ko-KR" altLang="en-US" sz="1050" b="1" kern="0" dirty="0">
                <a:solidFill>
                  <a:srgbClr val="000000"/>
                </a:solidFill>
                <a:latin typeface="+mn-ea"/>
              </a:rPr>
              <a:t>현장 프로세스 오너 및 변경 사안별 프로세스변경 실무자</a:t>
            </a:r>
          </a:p>
        </p:txBody>
      </p:sp>
      <p:sp>
        <p:nvSpPr>
          <p:cNvPr id="99" name="Rectangle 57"/>
          <p:cNvSpPr>
            <a:spLocks noChangeArrowheads="1"/>
          </p:cNvSpPr>
          <p:nvPr/>
        </p:nvSpPr>
        <p:spPr bwMode="blackWhite">
          <a:xfrm>
            <a:off x="3432020" y="4149359"/>
            <a:ext cx="1796312" cy="351147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모니터링</a:t>
            </a:r>
            <a:endParaRPr kumimoji="0" lang="en-US" altLang="ko-KR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27" name="Rectangle 60"/>
          <p:cNvSpPr>
            <a:spLocks noChangeArrowheads="1"/>
          </p:cNvSpPr>
          <p:nvPr/>
        </p:nvSpPr>
        <p:spPr bwMode="auto">
          <a:xfrm>
            <a:off x="5576842" y="1868530"/>
            <a:ext cx="1794230" cy="37029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anchor="ctr" anchorCtr="1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</a:rPr>
              <a:t>프로세스 표준화관리</a:t>
            </a:r>
          </a:p>
        </p:txBody>
      </p:sp>
      <p:sp>
        <p:nvSpPr>
          <p:cNvPr id="128" name="Rectangle 61"/>
          <p:cNvSpPr>
            <a:spLocks noChangeArrowheads="1"/>
          </p:cNvSpPr>
          <p:nvPr/>
        </p:nvSpPr>
        <p:spPr bwMode="blackWhite">
          <a:xfrm>
            <a:off x="5573643" y="2336438"/>
            <a:ext cx="1796311" cy="422692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lvl="0" indent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프로세스표준화 추진 </a:t>
            </a:r>
            <a:r>
              <a:rPr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  <a:t>/ </a:t>
            </a:r>
            <a:br>
              <a:rPr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</a:br>
            <a:r>
              <a:rPr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프로세스 분류관리</a:t>
            </a:r>
          </a:p>
        </p:txBody>
      </p:sp>
      <p:sp>
        <p:nvSpPr>
          <p:cNvPr id="129" name="Rectangle 62"/>
          <p:cNvSpPr>
            <a:spLocks noChangeArrowheads="1"/>
          </p:cNvSpPr>
          <p:nvPr/>
        </p:nvSpPr>
        <p:spPr bwMode="blackWhite">
          <a:xfrm>
            <a:off x="5573643" y="3264710"/>
            <a:ext cx="1796311" cy="361400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프로세스표준화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수행안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 제시</a:t>
            </a:r>
          </a:p>
        </p:txBody>
      </p:sp>
      <p:sp>
        <p:nvSpPr>
          <p:cNvPr id="131" name="Rectangle 64"/>
          <p:cNvSpPr>
            <a:spLocks noChangeArrowheads="1"/>
          </p:cNvSpPr>
          <p:nvPr/>
        </p:nvSpPr>
        <p:spPr bwMode="blackWhite">
          <a:xfrm>
            <a:off x="5573643" y="3691904"/>
            <a:ext cx="1796311" cy="422692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lvl="0" indent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1000" kern="0" dirty="0">
                <a:solidFill>
                  <a:srgbClr val="000000"/>
                </a:solidFill>
                <a:latin typeface="+mn-ea"/>
                <a:ea typeface="+mn-ea"/>
              </a:rPr>
              <a:t>프로세스표준화 </a:t>
            </a:r>
            <a:r>
              <a:rPr lang="ko-KR" altLang="en-US" sz="1000" kern="0" dirty="0" err="1">
                <a:solidFill>
                  <a:srgbClr val="000000"/>
                </a:solidFill>
                <a:latin typeface="+mn-ea"/>
                <a:ea typeface="+mn-ea"/>
              </a:rPr>
              <a:t>수행안</a:t>
            </a:r>
            <a:endParaRPr lang="en-US" altLang="ko-KR" sz="1000" kern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0" lvl="0" indent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1000" kern="0" dirty="0">
                <a:solidFill>
                  <a:srgbClr val="000000"/>
                </a:solidFill>
                <a:latin typeface="+mn-ea"/>
                <a:ea typeface="+mn-ea"/>
              </a:rPr>
              <a:t> 제시 및 검토요청</a:t>
            </a:r>
          </a:p>
        </p:txBody>
      </p:sp>
      <p:sp>
        <p:nvSpPr>
          <p:cNvPr id="132" name="Rectangle 65"/>
          <p:cNvSpPr>
            <a:spLocks noChangeArrowheads="1"/>
          </p:cNvSpPr>
          <p:nvPr/>
        </p:nvSpPr>
        <p:spPr bwMode="blackWhite">
          <a:xfrm>
            <a:off x="5573643" y="4590021"/>
            <a:ext cx="1796311" cy="351147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ko-KR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-</a:t>
            </a:r>
          </a:p>
        </p:txBody>
      </p:sp>
      <p:sp>
        <p:nvSpPr>
          <p:cNvPr id="133" name="Rectangle 66"/>
          <p:cNvSpPr>
            <a:spLocks noChangeArrowheads="1"/>
          </p:cNvSpPr>
          <p:nvPr/>
        </p:nvSpPr>
        <p:spPr bwMode="blackWhite">
          <a:xfrm>
            <a:off x="5573643" y="4149359"/>
            <a:ext cx="1796311" cy="351147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-</a:t>
            </a:r>
          </a:p>
        </p:txBody>
      </p:sp>
      <p:cxnSp>
        <p:nvCxnSpPr>
          <p:cNvPr id="134" name="AutoShape 67"/>
          <p:cNvCxnSpPr>
            <a:cxnSpLocks noChangeShapeType="1"/>
            <a:stCxn id="129" idx="2"/>
            <a:endCxn id="131" idx="0"/>
          </p:cNvCxnSpPr>
          <p:nvPr/>
        </p:nvCxnSpPr>
        <p:spPr bwMode="gray">
          <a:xfrm>
            <a:off x="6471799" y="3626110"/>
            <a:ext cx="0" cy="65794"/>
          </a:xfrm>
          <a:prstGeom prst="straightConnector1">
            <a:avLst/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5" name="AutoShape 68"/>
          <p:cNvCxnSpPr>
            <a:cxnSpLocks noChangeShapeType="1"/>
            <a:stCxn id="131" idx="3"/>
            <a:endCxn id="256" idx="3"/>
          </p:cNvCxnSpPr>
          <p:nvPr/>
        </p:nvCxnSpPr>
        <p:spPr bwMode="gray">
          <a:xfrm flipH="1" flipV="1">
            <a:off x="7365412" y="3032978"/>
            <a:ext cx="4542" cy="870272"/>
          </a:xfrm>
          <a:prstGeom prst="curvedConnector3">
            <a:avLst>
              <a:gd name="adj1" fmla="val -5033025"/>
            </a:avLst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12" name="Rectangle 81"/>
          <p:cNvSpPr>
            <a:spLocks noChangeArrowheads="1"/>
          </p:cNvSpPr>
          <p:nvPr/>
        </p:nvSpPr>
        <p:spPr bwMode="auto">
          <a:xfrm>
            <a:off x="7693192" y="1868530"/>
            <a:ext cx="1794230" cy="370292"/>
          </a:xfrm>
          <a:prstGeom prst="rect">
            <a:avLst/>
          </a:prstGeom>
          <a:solidFill>
            <a:schemeClr val="accent6">
              <a:lumMod val="75000"/>
            </a:schemeClr>
          </a:solidFill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anchor="ctr" anchorCtr="1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</a:rPr>
              <a:t>프로세스 공지</a:t>
            </a:r>
            <a:r>
              <a:rPr kumimoji="0" lang="en-US" altLang="ko-KR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</a:rPr>
              <a:t>/</a:t>
            </a:r>
            <a:r>
              <a:rPr kumimoji="0" lang="ko-KR" altLang="en-US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</a:rPr>
              <a:t>교육</a:t>
            </a:r>
          </a:p>
        </p:txBody>
      </p:sp>
      <p:sp>
        <p:nvSpPr>
          <p:cNvPr id="113" name="Rectangle 82"/>
          <p:cNvSpPr>
            <a:spLocks noChangeArrowheads="1"/>
          </p:cNvSpPr>
          <p:nvPr/>
        </p:nvSpPr>
        <p:spPr bwMode="blackWhite">
          <a:xfrm>
            <a:off x="7693192" y="2336438"/>
            <a:ext cx="1796312" cy="422692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개선 프로세스</a:t>
            </a:r>
            <a:r>
              <a:rPr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  <a:t/>
            </a:r>
            <a:br>
              <a:rPr lang="en-US" altLang="ko-KR" sz="1050" kern="0" dirty="0">
                <a:solidFill>
                  <a:srgbClr val="000000"/>
                </a:solidFill>
                <a:latin typeface="+mn-ea"/>
                <a:ea typeface="+mn-ea"/>
              </a:rPr>
            </a:br>
            <a:r>
              <a:rPr lang="ko-KR" altLang="en-US" sz="1050" kern="0" dirty="0">
                <a:solidFill>
                  <a:srgbClr val="000000"/>
                </a:solidFill>
                <a:latin typeface="+mn-ea"/>
                <a:ea typeface="+mn-ea"/>
              </a:rPr>
              <a:t>결과 공고</a:t>
            </a:r>
            <a:endParaRPr kumimoji="0" lang="ko-KR" altLang="en-US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14" name="Rectangle 83"/>
          <p:cNvSpPr>
            <a:spLocks noChangeArrowheads="1"/>
          </p:cNvSpPr>
          <p:nvPr/>
        </p:nvSpPr>
        <p:spPr bwMode="blackWhite">
          <a:xfrm>
            <a:off x="7693192" y="2846259"/>
            <a:ext cx="1796312" cy="371904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-</a:t>
            </a:r>
            <a:endParaRPr kumimoji="0" lang="ko-KR" altLang="en-US" sz="105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15" name="Rectangle 84"/>
          <p:cNvSpPr>
            <a:spLocks noChangeArrowheads="1"/>
          </p:cNvSpPr>
          <p:nvPr/>
        </p:nvSpPr>
        <p:spPr bwMode="blackWhite">
          <a:xfrm>
            <a:off x="7693192" y="3683290"/>
            <a:ext cx="1796312" cy="422692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ko-KR" sz="105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-</a:t>
            </a:r>
          </a:p>
        </p:txBody>
      </p:sp>
      <p:sp>
        <p:nvSpPr>
          <p:cNvPr id="116" name="Rectangle 85"/>
          <p:cNvSpPr>
            <a:spLocks noChangeArrowheads="1"/>
          </p:cNvSpPr>
          <p:nvPr/>
        </p:nvSpPr>
        <p:spPr bwMode="blackWhite">
          <a:xfrm>
            <a:off x="7693192" y="4581407"/>
            <a:ext cx="1796312" cy="351147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프로세스</a:t>
            </a:r>
            <a: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/>
            </a:r>
            <a:b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</a:b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변경 사항 확인</a:t>
            </a:r>
          </a:p>
        </p:txBody>
      </p:sp>
      <p:sp>
        <p:nvSpPr>
          <p:cNvPr id="117" name="Rectangle 86"/>
          <p:cNvSpPr>
            <a:spLocks noChangeArrowheads="1"/>
          </p:cNvSpPr>
          <p:nvPr/>
        </p:nvSpPr>
        <p:spPr bwMode="blackWhite">
          <a:xfrm>
            <a:off x="7693192" y="4149359"/>
            <a:ext cx="1796312" cy="351147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팀 별 공지</a:t>
            </a:r>
          </a:p>
        </p:txBody>
      </p:sp>
      <p:sp>
        <p:nvSpPr>
          <p:cNvPr id="118" name="Line 87"/>
          <p:cNvSpPr>
            <a:spLocks noChangeShapeType="1"/>
          </p:cNvSpPr>
          <p:nvPr/>
        </p:nvSpPr>
        <p:spPr bwMode="gray">
          <a:xfrm>
            <a:off x="418148" y="1920308"/>
            <a:ext cx="2816820" cy="370292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rIns="0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9" name="Text Box 88"/>
          <p:cNvSpPr txBox="1">
            <a:spLocks noChangeArrowheads="1"/>
          </p:cNvSpPr>
          <p:nvPr/>
        </p:nvSpPr>
        <p:spPr bwMode="gray">
          <a:xfrm>
            <a:off x="2396194" y="1908349"/>
            <a:ext cx="670200" cy="277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8080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>
            <a:lvl1pPr marL="180975" indent="-180975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180975" marR="0" lvl="0" indent="-18097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변경 활동</a:t>
            </a:r>
          </a:p>
        </p:txBody>
      </p:sp>
      <p:sp>
        <p:nvSpPr>
          <p:cNvPr id="120" name="Rectangle 89"/>
          <p:cNvSpPr>
            <a:spLocks noChangeArrowheads="1"/>
          </p:cNvSpPr>
          <p:nvPr/>
        </p:nvSpPr>
        <p:spPr bwMode="blackWhite">
          <a:xfrm>
            <a:off x="7702788" y="3264709"/>
            <a:ext cx="1784633" cy="369546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R="0" lvl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공지 </a:t>
            </a:r>
            <a: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/ </a:t>
            </a: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교육</a:t>
            </a:r>
          </a:p>
        </p:txBody>
      </p:sp>
      <p:cxnSp>
        <p:nvCxnSpPr>
          <p:cNvPr id="121" name="AutoShape 90"/>
          <p:cNvCxnSpPr>
            <a:cxnSpLocks noChangeShapeType="1"/>
            <a:stCxn id="120" idx="2"/>
            <a:endCxn id="117" idx="0"/>
          </p:cNvCxnSpPr>
          <p:nvPr/>
        </p:nvCxnSpPr>
        <p:spPr bwMode="gray">
          <a:xfrm flipH="1">
            <a:off x="8591348" y="3634255"/>
            <a:ext cx="3757" cy="515104"/>
          </a:xfrm>
          <a:prstGeom prst="straightConnector1">
            <a:avLst/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2" name="AutoShape 91"/>
          <p:cNvCxnSpPr>
            <a:cxnSpLocks noChangeShapeType="1"/>
            <a:endCxn id="116" idx="0"/>
          </p:cNvCxnSpPr>
          <p:nvPr/>
        </p:nvCxnSpPr>
        <p:spPr bwMode="gray">
          <a:xfrm>
            <a:off x="8591348" y="4419499"/>
            <a:ext cx="0" cy="161908"/>
          </a:xfrm>
          <a:prstGeom prst="straightConnector1">
            <a:avLst/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" name="AutoShape 93"/>
          <p:cNvCxnSpPr>
            <a:cxnSpLocks noChangeShapeType="1"/>
            <a:stCxn id="99" idx="3"/>
            <a:endCxn id="93" idx="3"/>
          </p:cNvCxnSpPr>
          <p:nvPr/>
        </p:nvCxnSpPr>
        <p:spPr bwMode="gray">
          <a:xfrm flipV="1">
            <a:off x="5228332" y="3443659"/>
            <a:ext cx="12700" cy="881274"/>
          </a:xfrm>
          <a:prstGeom prst="curvedConnector3">
            <a:avLst>
              <a:gd name="adj1" fmla="val 1620000"/>
            </a:avLst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8" name="Rectangle 157"/>
          <p:cNvSpPr>
            <a:spLocks noChangeArrowheads="1"/>
          </p:cNvSpPr>
          <p:nvPr/>
        </p:nvSpPr>
        <p:spPr bwMode="gray">
          <a:xfrm>
            <a:off x="415925" y="5078030"/>
            <a:ext cx="5310188" cy="1303298"/>
          </a:xfrm>
          <a:prstGeom prst="rect">
            <a:avLst/>
          </a:prstGeom>
          <a:solidFill>
            <a:srgbClr val="FFFFFF"/>
          </a:solidFill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39" name="Rectangle 158"/>
          <p:cNvSpPr>
            <a:spLocks noChangeArrowheads="1"/>
          </p:cNvSpPr>
          <p:nvPr/>
        </p:nvSpPr>
        <p:spPr bwMode="gray">
          <a:xfrm>
            <a:off x="5861050" y="5078030"/>
            <a:ext cx="3629025" cy="1303298"/>
          </a:xfrm>
          <a:prstGeom prst="rect">
            <a:avLst/>
          </a:prstGeom>
          <a:noFill/>
          <a:ln w="9525">
            <a:solidFill>
              <a:srgbClr val="4D4D4D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 anchor="ctr">
            <a:noAutofit/>
          </a:bodyPr>
          <a:lstStyle>
            <a:lvl1pPr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ko-KR" alt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42" name="AutoShape 162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6824663" y="5508079"/>
            <a:ext cx="2304801" cy="323850"/>
          </a:xfrm>
          <a:prstGeom prst="bevel">
            <a:avLst>
              <a:gd name="adj" fmla="val 8824"/>
            </a:avLst>
          </a:prstGeom>
          <a:solidFill>
            <a:schemeClr val="bg1"/>
          </a:solidFill>
          <a:ln>
            <a:noFill/>
          </a:ln>
          <a:effectLst/>
          <a:extLst/>
        </p:spPr>
        <p:txBody>
          <a:bodyPr wrap="none" lIns="54000" tIns="18000" rIns="54000" bIns="18000" anchor="ctr"/>
          <a:lstStyle/>
          <a:p>
            <a:pPr algn="ctr" fontAlgn="ctr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solidFill>
                  <a:srgbClr val="000000"/>
                </a:solidFill>
                <a:latin typeface="+mn-ea"/>
              </a:rPr>
              <a:t>프로세스 변경관리</a:t>
            </a:r>
          </a:p>
        </p:txBody>
      </p:sp>
      <p:sp>
        <p:nvSpPr>
          <p:cNvPr id="143" name="AutoShape 163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6824663" y="5958929"/>
            <a:ext cx="2304801" cy="323850"/>
          </a:xfrm>
          <a:prstGeom prst="bevel">
            <a:avLst>
              <a:gd name="adj" fmla="val 8824"/>
            </a:avLst>
          </a:prstGeom>
          <a:solidFill>
            <a:schemeClr val="bg1"/>
          </a:solidFill>
          <a:ln>
            <a:noFill/>
          </a:ln>
          <a:effectLst/>
          <a:extLst/>
        </p:spPr>
        <p:txBody>
          <a:bodyPr wrap="none" lIns="54000" tIns="18000" rIns="54000" bIns="18000" anchor="ctr"/>
          <a:lstStyle/>
          <a:p>
            <a:pPr algn="ctr" fontAlgn="ctr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solidFill>
                  <a:srgbClr val="000000"/>
                </a:solidFill>
                <a:latin typeface="+mn-ea"/>
              </a:rPr>
              <a:t>지속적 프로세스 개선체계 구축</a:t>
            </a:r>
          </a:p>
        </p:txBody>
      </p:sp>
      <p:sp>
        <p:nvSpPr>
          <p:cNvPr id="144" name="AutoShape 164"/>
          <p:cNvSpPr>
            <a:spLocks noChangeAspect="1" noChangeArrowheads="1"/>
          </p:cNvSpPr>
          <p:nvPr/>
        </p:nvSpPr>
        <p:spPr bwMode="gray">
          <a:xfrm>
            <a:off x="6485496" y="5508079"/>
            <a:ext cx="352425" cy="312738"/>
          </a:xfrm>
          <a:prstGeom prst="bevel">
            <a:avLst>
              <a:gd name="adj" fmla="val 12500"/>
            </a:avLst>
          </a:prstGeom>
          <a:solidFill>
            <a:srgbClr val="4B7DB4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6</a:t>
            </a:r>
          </a:p>
        </p:txBody>
      </p:sp>
      <p:sp>
        <p:nvSpPr>
          <p:cNvPr id="145" name="AutoShape 165"/>
          <p:cNvSpPr>
            <a:spLocks noChangeAspect="1" noChangeArrowheads="1"/>
          </p:cNvSpPr>
          <p:nvPr/>
        </p:nvSpPr>
        <p:spPr bwMode="gray">
          <a:xfrm>
            <a:off x="6485496" y="5960517"/>
            <a:ext cx="352425" cy="312737"/>
          </a:xfrm>
          <a:prstGeom prst="bevel">
            <a:avLst>
              <a:gd name="adj" fmla="val 12500"/>
            </a:avLst>
          </a:prstGeom>
          <a:solidFill>
            <a:srgbClr val="4B7DB4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square" lIns="72000" tIns="36000" rIns="72000" bIns="3600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7</a:t>
            </a:r>
          </a:p>
        </p:txBody>
      </p:sp>
      <p:sp>
        <p:nvSpPr>
          <p:cNvPr id="146" name="Text Box 166"/>
          <p:cNvSpPr txBox="1">
            <a:spLocks noChangeArrowheads="1"/>
          </p:cNvSpPr>
          <p:nvPr/>
        </p:nvSpPr>
        <p:spPr bwMode="gray">
          <a:xfrm>
            <a:off x="560388" y="5445224"/>
            <a:ext cx="5175250" cy="8858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4D4D4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tIns="18000" rIns="18000" bIns="18000">
            <a:spAutoFit/>
          </a:bodyPr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lvl="0" eaLnBrk="1" fontAlgn="ctr" latinLnBrk="0" hangingPunct="1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프로세스 표준의 최신성 유지</a:t>
            </a:r>
          </a:p>
          <a:p>
            <a:pPr lvl="0" eaLnBrk="1" fontAlgn="ctr" latinLnBrk="0" hangingPunct="1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프로세스 변경 및 심의 절차 체계화로 표준 프로세스 품질 검증</a:t>
            </a:r>
          </a:p>
          <a:p>
            <a:pPr lvl="0" eaLnBrk="1" fontAlgn="ctr" latinLnBrk="0" hangingPunct="1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프로세스 변경에 대한 신속한 전사 공유</a:t>
            </a:r>
          </a:p>
          <a:p>
            <a:pPr lvl="0" eaLnBrk="1" fontAlgn="ctr" latinLnBrk="0" hangingPunct="1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/>
            </a:pPr>
            <a:r>
              <a:rPr kumimoji="1" lang="ko-KR" altLang="en-US" b="1" kern="0" dirty="0">
                <a:solidFill>
                  <a:srgbClr val="000000"/>
                </a:solidFill>
                <a:latin typeface="+mn-ea"/>
                <a:ea typeface="+mn-ea"/>
              </a:rPr>
              <a:t>낭비와 복잡성 제거를 통한 프로세스 최적화 및 비용 절감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76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dirty="0">
                <a:latin typeface="+mn-ea"/>
                <a:ea typeface="+mn-ea"/>
              </a:rPr>
              <a:t>3.5.4 </a:t>
            </a:r>
            <a:r>
              <a:rPr lang="ko-KR" altLang="en-US" dirty="0">
                <a:latin typeface="+mn-ea"/>
                <a:ea typeface="+mn-ea"/>
              </a:rPr>
              <a:t>프로세스 거버넌스 추진과제 정의 </a:t>
            </a:r>
            <a:r>
              <a:rPr lang="en-US" altLang="ko-KR" dirty="0">
                <a:latin typeface="+mn-ea"/>
                <a:ea typeface="+mn-ea"/>
              </a:rPr>
              <a:t/>
            </a:r>
            <a:br>
              <a:rPr lang="en-US" altLang="ko-KR" dirty="0">
                <a:latin typeface="+mn-ea"/>
                <a:ea typeface="+mn-ea"/>
              </a:rPr>
            </a:br>
            <a:r>
              <a:rPr lang="en-US" altLang="ko-KR" dirty="0">
                <a:latin typeface="+mn-ea"/>
                <a:ea typeface="+mn-ea"/>
              </a:rPr>
              <a:t>3.5.4.2 </a:t>
            </a:r>
            <a:r>
              <a:rPr lang="ko-KR" altLang="en-US" dirty="0">
                <a:latin typeface="+mn-ea"/>
                <a:ea typeface="+mn-ea"/>
              </a:rPr>
              <a:t>환류 </a:t>
            </a:r>
            <a:r>
              <a:rPr lang="en-US" altLang="ko-KR" dirty="0">
                <a:latin typeface="+mn-ea"/>
                <a:ea typeface="+mn-ea"/>
              </a:rPr>
              <a:t>&gt; </a:t>
            </a:r>
            <a:r>
              <a:rPr lang="ko-KR" altLang="en-US" dirty="0">
                <a:latin typeface="+mn-ea"/>
                <a:ea typeface="+mn-ea"/>
              </a:rPr>
              <a:t>변경관리 및 지속적 개선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503744" y="5165472"/>
            <a:ext cx="936000" cy="216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>
                <a:solidFill>
                  <a:schemeClr val="bg1"/>
                </a:solidFill>
                <a:latin typeface="+mn-ea"/>
              </a:rPr>
              <a:t>주요 내용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6024720" y="5165472"/>
            <a:ext cx="936000" cy="216000"/>
          </a:xfrm>
          <a:prstGeom prst="rect">
            <a:avLst/>
          </a:prstGeom>
          <a:solidFill>
            <a:srgbClr val="4B7DB4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>
                <a:solidFill>
                  <a:schemeClr val="bg1"/>
                </a:solidFill>
                <a:latin typeface="+mn-ea"/>
              </a:rPr>
              <a:t>추진영역</a:t>
            </a:r>
          </a:p>
        </p:txBody>
      </p:sp>
      <p:cxnSp>
        <p:nvCxnSpPr>
          <p:cNvPr id="228" name="AutoShape 93"/>
          <p:cNvCxnSpPr>
            <a:cxnSpLocks noChangeShapeType="1"/>
            <a:stCxn id="95" idx="3"/>
            <a:endCxn id="93" idx="3"/>
          </p:cNvCxnSpPr>
          <p:nvPr/>
        </p:nvCxnSpPr>
        <p:spPr bwMode="gray">
          <a:xfrm flipV="1">
            <a:off x="5228332" y="3443659"/>
            <a:ext cx="12700" cy="1313322"/>
          </a:xfrm>
          <a:prstGeom prst="curvedConnector3">
            <a:avLst>
              <a:gd name="adj1" fmla="val 1800000"/>
            </a:avLst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31" name="AutoShape 93"/>
          <p:cNvCxnSpPr>
            <a:cxnSpLocks noChangeShapeType="1"/>
            <a:stCxn id="92" idx="3"/>
            <a:endCxn id="91" idx="3"/>
          </p:cNvCxnSpPr>
          <p:nvPr/>
        </p:nvCxnSpPr>
        <p:spPr bwMode="gray">
          <a:xfrm flipV="1">
            <a:off x="5228332" y="2547784"/>
            <a:ext cx="12700" cy="484427"/>
          </a:xfrm>
          <a:prstGeom prst="curvedConnector3">
            <a:avLst>
              <a:gd name="adj1" fmla="val 1800000"/>
            </a:avLst>
          </a:prstGeom>
          <a:noFill/>
          <a:ln w="9525">
            <a:solidFill>
              <a:srgbClr val="80808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32" name="AutoShape 93"/>
          <p:cNvCxnSpPr>
            <a:cxnSpLocks noChangeShapeType="1"/>
            <a:stCxn id="93" idx="1"/>
            <a:endCxn id="91" idx="1"/>
          </p:cNvCxnSpPr>
          <p:nvPr/>
        </p:nvCxnSpPr>
        <p:spPr bwMode="gray">
          <a:xfrm rot="10800000">
            <a:off x="3432020" y="2547785"/>
            <a:ext cx="12700" cy="895875"/>
          </a:xfrm>
          <a:prstGeom prst="curvedConnector3">
            <a:avLst>
              <a:gd name="adj1" fmla="val 840000"/>
            </a:avLst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56" name="Rectangle 62"/>
          <p:cNvSpPr>
            <a:spLocks noChangeArrowheads="1"/>
          </p:cNvSpPr>
          <p:nvPr/>
        </p:nvSpPr>
        <p:spPr bwMode="blackWhite">
          <a:xfrm>
            <a:off x="5569101" y="2851125"/>
            <a:ext cx="1796311" cy="363706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36000" rIns="0" bIns="36000" anchor="ctr"/>
          <a:lstStyle>
            <a:lvl1pPr marL="177800" indent="-1778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1pPr>
            <a:lvl2pPr marL="742950" indent="-28575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2pPr>
            <a:lvl3pPr marL="11430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3pPr>
            <a:lvl4pPr marL="16002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4pPr>
            <a:lvl5pPr marL="2057400" indent="-228600" eaLnBrk="0" hangingPunct="0"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§"/>
              <a:defRPr sz="1200">
                <a:solidFill>
                  <a:schemeClr val="tx1"/>
                </a:solidFill>
                <a:latin typeface="돋움" pitchFamily="50" charset="-127"/>
                <a:ea typeface="돋움" pitchFamily="50" charset="-127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표준 프로세스 승인</a:t>
            </a:r>
          </a:p>
        </p:txBody>
      </p:sp>
      <p:sp>
        <p:nvSpPr>
          <p:cNvPr id="1028" name="타원 1027"/>
          <p:cNvSpPr/>
          <p:nvPr/>
        </p:nvSpPr>
        <p:spPr>
          <a:xfrm>
            <a:off x="5305274" y="3555733"/>
            <a:ext cx="180000" cy="180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tx1"/>
                </a:solidFill>
              </a:rPr>
              <a:t>1</a:t>
            </a:r>
            <a:endParaRPr lang="ko-KR" altLang="en-US" sz="1100" b="1" dirty="0">
              <a:solidFill>
                <a:schemeClr val="tx1"/>
              </a:solidFill>
            </a:endParaRPr>
          </a:p>
        </p:txBody>
      </p:sp>
      <p:sp>
        <p:nvSpPr>
          <p:cNvPr id="257" name="타원 256"/>
          <p:cNvSpPr/>
          <p:nvPr/>
        </p:nvSpPr>
        <p:spPr>
          <a:xfrm>
            <a:off x="3512840" y="3289418"/>
            <a:ext cx="180000" cy="180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tx1"/>
                </a:solidFill>
              </a:rPr>
              <a:t>2</a:t>
            </a:r>
            <a:endParaRPr lang="ko-KR" altLang="en-US" sz="1100" b="1" dirty="0">
              <a:solidFill>
                <a:schemeClr val="tx1"/>
              </a:solidFill>
            </a:endParaRPr>
          </a:p>
        </p:txBody>
      </p:sp>
      <p:sp>
        <p:nvSpPr>
          <p:cNvPr id="258" name="타원 257"/>
          <p:cNvSpPr/>
          <p:nvPr/>
        </p:nvSpPr>
        <p:spPr>
          <a:xfrm>
            <a:off x="5231943" y="2697855"/>
            <a:ext cx="180000" cy="180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tx1"/>
                </a:solidFill>
              </a:rPr>
              <a:t>3</a:t>
            </a:r>
            <a:endParaRPr lang="ko-KR" altLang="en-US" sz="1100" b="1" dirty="0">
              <a:solidFill>
                <a:schemeClr val="tx1"/>
              </a:solidFill>
            </a:endParaRPr>
          </a:p>
        </p:txBody>
      </p:sp>
      <p:sp>
        <p:nvSpPr>
          <p:cNvPr id="259" name="타원 258"/>
          <p:cNvSpPr/>
          <p:nvPr/>
        </p:nvSpPr>
        <p:spPr>
          <a:xfrm>
            <a:off x="5587218" y="2377500"/>
            <a:ext cx="180000" cy="180000"/>
          </a:xfrm>
          <a:prstGeom prst="ellipse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1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0" name="타원 259"/>
          <p:cNvSpPr/>
          <p:nvPr/>
        </p:nvSpPr>
        <p:spPr>
          <a:xfrm>
            <a:off x="5549845" y="3252455"/>
            <a:ext cx="180000" cy="180000"/>
          </a:xfrm>
          <a:prstGeom prst="ellipse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2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1" name="타원 260"/>
          <p:cNvSpPr/>
          <p:nvPr/>
        </p:nvSpPr>
        <p:spPr>
          <a:xfrm>
            <a:off x="5565088" y="3692613"/>
            <a:ext cx="180000" cy="180000"/>
          </a:xfrm>
          <a:prstGeom prst="ellipse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3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2" name="타원 261"/>
          <p:cNvSpPr/>
          <p:nvPr/>
        </p:nvSpPr>
        <p:spPr>
          <a:xfrm>
            <a:off x="7113240" y="2932097"/>
            <a:ext cx="180000" cy="180000"/>
          </a:xfrm>
          <a:prstGeom prst="ellipse">
            <a:avLst/>
          </a:prstGeom>
          <a:solidFill>
            <a:schemeClr val="accent6">
              <a:lumMod val="60000"/>
              <a:lumOff val="4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4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3" name="타원 262"/>
          <p:cNvSpPr/>
          <p:nvPr/>
        </p:nvSpPr>
        <p:spPr>
          <a:xfrm>
            <a:off x="7905328" y="2372425"/>
            <a:ext cx="180000" cy="1800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1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4" name="타원 263"/>
          <p:cNvSpPr/>
          <p:nvPr/>
        </p:nvSpPr>
        <p:spPr>
          <a:xfrm>
            <a:off x="7905328" y="3309583"/>
            <a:ext cx="180000" cy="1800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2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5" name="타원 264"/>
          <p:cNvSpPr/>
          <p:nvPr/>
        </p:nvSpPr>
        <p:spPr>
          <a:xfrm>
            <a:off x="7905328" y="4200925"/>
            <a:ext cx="180000" cy="1800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3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6" name="타원 265"/>
          <p:cNvSpPr/>
          <p:nvPr/>
        </p:nvSpPr>
        <p:spPr>
          <a:xfrm>
            <a:off x="7905328" y="4607951"/>
            <a:ext cx="180000" cy="1800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</a:rPr>
              <a:t>4</a:t>
            </a:r>
            <a:endParaRPr lang="ko-KR" altLang="en-US" sz="1100" b="1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="" xmlns:a16="http://schemas.microsoft.com/office/drawing/2014/main" id="{624397E9-46E2-4954-949B-5E750E6498DE}"/>
              </a:ext>
            </a:extLst>
          </p:cNvPr>
          <p:cNvSpPr/>
          <p:nvPr/>
        </p:nvSpPr>
        <p:spPr bwMode="auto">
          <a:xfrm>
            <a:off x="2731295" y="1458408"/>
            <a:ext cx="4634118" cy="288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 anchor="ctr"/>
          <a:lstStyle/>
          <a:p>
            <a:pPr algn="ctr" fontAlgn="base" latinLnBrk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dirty="0">
                <a:latin typeface="+mn-ea"/>
              </a:rPr>
              <a:t>프로세스 변경관리 및 지속적인 개선을 위한 </a:t>
            </a:r>
            <a:r>
              <a:rPr lang="ko-KR" altLang="en-US" sz="1200" b="1" dirty="0" err="1">
                <a:latin typeface="+mn-ea"/>
              </a:rPr>
              <a:t>환류체계</a:t>
            </a:r>
            <a:endParaRPr lang="ko-KR" altLang="en-US" sz="1200" b="1" dirty="0">
              <a:latin typeface="+mn-ea"/>
            </a:endParaRPr>
          </a:p>
        </p:txBody>
      </p:sp>
      <p:cxnSp>
        <p:nvCxnSpPr>
          <p:cNvPr id="67" name="AutoShape 68">
            <a:extLst>
              <a:ext uri="{FF2B5EF4-FFF2-40B4-BE49-F238E27FC236}">
                <a16:creationId xmlns="" xmlns:a16="http://schemas.microsoft.com/office/drawing/2014/main" id="{2A4B61E9-493C-4B56-B0C1-7FA17A2210B0}"/>
              </a:ext>
            </a:extLst>
          </p:cNvPr>
          <p:cNvCxnSpPr>
            <a:cxnSpLocks noChangeShapeType="1"/>
            <a:stCxn id="128" idx="3"/>
            <a:endCxn id="129" idx="3"/>
          </p:cNvCxnSpPr>
          <p:nvPr/>
        </p:nvCxnSpPr>
        <p:spPr bwMode="gray">
          <a:xfrm>
            <a:off x="7369954" y="2547784"/>
            <a:ext cx="12700" cy="897626"/>
          </a:xfrm>
          <a:prstGeom prst="curvedConnector3">
            <a:avLst>
              <a:gd name="adj1" fmla="val 1800000"/>
            </a:avLst>
          </a:prstGeom>
          <a:noFill/>
          <a:ln w="9525">
            <a:solidFill>
              <a:srgbClr val="80808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1095926161"/>
      </p:ext>
    </p:extLst>
  </p:cSld>
  <p:clrMapOvr>
    <a:masterClrMapping/>
  </p:clrMapOvr>
</p:sld>
</file>

<file path=ppt/theme/theme1.xml><?xml version="1.0" encoding="utf-8"?>
<a:theme xmlns:a="http://schemas.openxmlformats.org/drawingml/2006/main" name="blank">
  <a:themeElements>
    <a:clrScheme name="사용자 지정 1">
      <a:dk1>
        <a:sysClr val="windowText" lastClr="000000"/>
      </a:dk1>
      <a:lt1>
        <a:sysClr val="window" lastClr="FFFFFF"/>
      </a:lt1>
      <a:dk2>
        <a:srgbClr val="508CD2"/>
      </a:dk2>
      <a:lt2>
        <a:srgbClr val="4678B4"/>
      </a:lt2>
      <a:accent1>
        <a:srgbClr val="7DAFFA"/>
      </a:accent1>
      <a:accent2>
        <a:srgbClr val="BEDCFF"/>
      </a:accent2>
      <a:accent3>
        <a:srgbClr val="E6F0FF"/>
      </a:accent3>
      <a:accent4>
        <a:srgbClr val="85B692"/>
      </a:accent4>
      <a:accent5>
        <a:srgbClr val="6B94E2"/>
      </a:accent5>
      <a:accent6>
        <a:srgbClr val="819BAB"/>
      </a:accent6>
      <a:hlink>
        <a:srgbClr val="7C0808"/>
      </a:hlink>
      <a:folHlink>
        <a:srgbClr val="0D356F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 w="6350">
          <a:solidFill>
            <a:schemeClr val="tx1"/>
          </a:solidFill>
        </a:ln>
      </a:spPr>
      <a:bodyPr rtlCol="0" anchor="ctr"/>
      <a:lstStyle>
        <a:defPPr algn="ctr">
          <a:defRPr sz="140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200" dirty="0" err="1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3F0D996D5B674C4386830A6AB0E50984" ma:contentTypeVersion="0" ma:contentTypeDescription="새 문서를 만듭니다." ma:contentTypeScope="" ma:versionID="a166825e3373d96581aa46038a4cd794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dd8f6c9257034a6ffde9c3b3e5e5b894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EE596667-FA45-4F74-9119-1A6024EAD1C8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BD0F89B1-6918-4E93-BEE7-D22E1D86D6BD}">
  <ds:schemaRefs>
    <ds:schemaRef ds:uri="http://purl.org/dc/terms/"/>
    <ds:schemaRef ds:uri="http://schemas.microsoft.com/office/2006/metadata/properties"/>
    <ds:schemaRef ds:uri="http://purl.org/dc/elements/1.1/"/>
    <ds:schemaRef ds:uri="http://schemas.microsoft.com/office/2006/documentManagement/types"/>
    <ds:schemaRef ds:uri="http://schemas.openxmlformats.org/package/2006/metadata/core-properties"/>
    <ds:schemaRef ds:uri="http://www.w3.org/XML/1998/namespace"/>
    <ds:schemaRef ds:uri="http://schemas.microsoft.com/office/infopath/2007/PartnerControls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74A00E14-E36D-45A2-BDFD-A782D62A324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  <ds:schemaRef ds:uri="http://schemas.microsoft.com/office/infopath/2007/PartnerControl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30262</TotalTime>
  <Words>47723</Words>
  <Application>Microsoft Office PowerPoint</Application>
  <PresentationFormat>A4 용지(210x297mm)</PresentationFormat>
  <Paragraphs>14690</Paragraphs>
  <Slides>282</Slides>
  <Notes>32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282</vt:i4>
      </vt:variant>
    </vt:vector>
  </HeadingPairs>
  <TitlesOfParts>
    <vt:vector size="290" baseType="lpstr">
      <vt:lpstr>Arial Unicode MS</vt:lpstr>
      <vt:lpstr>굴림</vt:lpstr>
      <vt:lpstr>돋움</vt:lpstr>
      <vt:lpstr>맑은 고딕</vt:lpstr>
      <vt:lpstr>Arial</vt:lpstr>
      <vt:lpstr>Times New Roman</vt:lpstr>
      <vt:lpstr>Wingdings</vt:lpstr>
      <vt:lpstr>blank</vt:lpstr>
      <vt:lpstr>PowerPoint 프레젠테이션</vt:lpstr>
      <vt:lpstr>3.1 개요 3.1.1 목표 업무프로세스 설계절차 </vt:lpstr>
      <vt:lpstr>3.1.2 사용 양식 및 다이어그램 정의</vt:lpstr>
      <vt:lpstr>3.2 통합재무 업무프로세스 개선 3.2.1 통합재무 업무기능 정의 (1/14)</vt:lpstr>
      <vt:lpstr>3.2.1 통합재무 업무기능 정의 (2/14)</vt:lpstr>
      <vt:lpstr>3.2.1 통합재무 업무기능 정의 (3/14)</vt:lpstr>
      <vt:lpstr>3.2.1 통합재무 업무기능 정의 (4/14)</vt:lpstr>
      <vt:lpstr>3.2.1 통합재무 업무기능 정의 (5/14)</vt:lpstr>
      <vt:lpstr>3.2.1 통합재무 업무기능 정의 (6/14)</vt:lpstr>
      <vt:lpstr>3.2.1 통합재무 업무기능 정의 (7/14)</vt:lpstr>
      <vt:lpstr>3.2.1 통합재무 업무기능 정의 (8/14)</vt:lpstr>
      <vt:lpstr>3.2.1 통합재무 업무기능 정의 (9/14)</vt:lpstr>
      <vt:lpstr>3.2.1 통합재무 업무기능 정의 (10/14)</vt:lpstr>
      <vt:lpstr>3.2.1 통합재무 업무기능 정의 (11/14)</vt:lpstr>
      <vt:lpstr>3.2.1 통합재무 업무기능 정의 (12/14)</vt:lpstr>
      <vt:lpstr>3.2.1 통합재무 업무기능 정의 (13/14)</vt:lpstr>
      <vt:lpstr>3.2.1 통합재무 업무기능 정의 (14/14)</vt:lpstr>
      <vt:lpstr>3.2.2 통합재무 업무프로세스 맵 정의 3.2.2.1 중기사업계획 (1/2)</vt:lpstr>
      <vt:lpstr>3.2.2.1 중기사업계획 (1/2)</vt:lpstr>
      <vt:lpstr>3.2.2.2 예산편성 (1/6)</vt:lpstr>
      <vt:lpstr>3.2.2.2 예산편성 (2/6)</vt:lpstr>
      <vt:lpstr>3.2.2.2 예산편성 (3/6)</vt:lpstr>
      <vt:lpstr>3.2.2.2 예산편성 (4/6)</vt:lpstr>
      <vt:lpstr>3.2.2.2 예산편성 (5/6)</vt:lpstr>
      <vt:lpstr>3.2.2.2 예산편성 (6/6)</vt:lpstr>
      <vt:lpstr>3.2.2.3 예산집행 (1/2)</vt:lpstr>
      <vt:lpstr>3.2.2.3 예산집행 (2/2)</vt:lpstr>
      <vt:lpstr>3.2.2.4 예산변경 (1/3)</vt:lpstr>
      <vt:lpstr>3.2.2.4 예산변경 (2/3)</vt:lpstr>
      <vt:lpstr>3.2.2.4 예산변경 (3/3)</vt:lpstr>
      <vt:lpstr>3.2.2.5 예산절감·이월 (1/4)</vt:lpstr>
      <vt:lpstr>3.2.2.5 예산절감·이월 (2/4)</vt:lpstr>
      <vt:lpstr>3.2.2.5 예산절감·이월 (3/4)</vt:lpstr>
      <vt:lpstr>3.2.2.5 예산절감·이월 (4/4)</vt:lpstr>
      <vt:lpstr>3.2.2.6 예산종합평가 (1/3)</vt:lpstr>
      <vt:lpstr>3.2.2.6 예산종합평가 (2/3)</vt:lpstr>
      <vt:lpstr>3.2.2.6 예산종합평가 (3/3)</vt:lpstr>
      <vt:lpstr>3.2.2.7 수입관리 (1/12)</vt:lpstr>
      <vt:lpstr>3.2.2.7 수입관리 (2/12)</vt:lpstr>
      <vt:lpstr>3.2.2.7 수입관리 (3/12)</vt:lpstr>
      <vt:lpstr>3.2.2.7 수입관리 (4/12)</vt:lpstr>
      <vt:lpstr>3.2.2.7 수입관리 (5/12)</vt:lpstr>
      <vt:lpstr>3.2.2.7 수입관리 (6/12)</vt:lpstr>
      <vt:lpstr>3.2.2.7 수입관리 (7/12)</vt:lpstr>
      <vt:lpstr>3.2.2.7 수입관리 (8/12)</vt:lpstr>
      <vt:lpstr>3.2.2.7 수입관리 (9/12)</vt:lpstr>
      <vt:lpstr>3.2.2.7 수입관리 (10/12)</vt:lpstr>
      <vt:lpstr>3.2.2.7 수입관리 (11/12)</vt:lpstr>
      <vt:lpstr>3.2.2.7 수입관리 (12/12)</vt:lpstr>
      <vt:lpstr>3.2.2.8 지출관리 (1/6)</vt:lpstr>
      <vt:lpstr>3.2.2.8 지출관리 (2/6)</vt:lpstr>
      <vt:lpstr>3.2.2.8 지출관리 (3/6)</vt:lpstr>
      <vt:lpstr>3.2.2.8 지출관리 (4/6)</vt:lpstr>
      <vt:lpstr>3.2.2.8 지출관리 (5/6)</vt:lpstr>
      <vt:lpstr>3.2.2.8 지출관리 (6/6)</vt:lpstr>
      <vt:lpstr>3.2.2.9 월결산(법인회계) (1/2)</vt:lpstr>
      <vt:lpstr>3.2.2.9 월결산(법인회계) (2/2)</vt:lpstr>
      <vt:lpstr>3.2.2.10 월결산(기금회계) (1/2)</vt:lpstr>
      <vt:lpstr>3.2.2.10 월결산(기금회계) (2/2)</vt:lpstr>
      <vt:lpstr>3.2.2.11 연결산(법인회계) (1/4)</vt:lpstr>
      <vt:lpstr>3.2.2.11 연결산(법인회계) (2/4)</vt:lpstr>
      <vt:lpstr>3.2.2.11 연결산(법인회계) (3/4)</vt:lpstr>
      <vt:lpstr>3.2.2.11 연결산(법인회계) (4/4)</vt:lpstr>
      <vt:lpstr>3.2.2.12 연결산(기금회계) (1/4)</vt:lpstr>
      <vt:lpstr>3.2.2.12 연결산(기금회계) (2/4)</vt:lpstr>
      <vt:lpstr>3.2.2.12 연결산(기금회계) (3/4)</vt:lpstr>
      <vt:lpstr>3.2.2.12 연결산(기금회계) (4/4)</vt:lpstr>
      <vt:lpstr>3.2.2.13 세무관리 (1/3)</vt:lpstr>
      <vt:lpstr>3.2.2.13 세무관리 (2/3)</vt:lpstr>
      <vt:lpstr>3.2.2.13 세무관리 (3/3)</vt:lpstr>
      <vt:lpstr>3.2.2.14 자금수급계획 (1/2)</vt:lpstr>
      <vt:lpstr>3.2.2.14 자금수급계획 (2/2)</vt:lpstr>
      <vt:lpstr>3.2.2.15 자금배정 (1/2)</vt:lpstr>
      <vt:lpstr>3.2.2.15 자금배정 (2/2)</vt:lpstr>
      <vt:lpstr>3.2.2.16 금융상품관리 (1/3)</vt:lpstr>
      <vt:lpstr>3.2.2.16 금융상품관리 (2/3)</vt:lpstr>
      <vt:lpstr>3.2.2.16 금융상품관리 (3/3)</vt:lpstr>
      <vt:lpstr>3.2.2.17 부가금관리 (1/2)</vt:lpstr>
      <vt:lpstr>3.2.2.17 부가금관리 (2/2)</vt:lpstr>
      <vt:lpstr>3.2.2.18 융자관리 (1/6)</vt:lpstr>
      <vt:lpstr>3.2.2.18 융자관리 (2/6)</vt:lpstr>
      <vt:lpstr>3.2.2.18 융자관리 (3/6)</vt:lpstr>
      <vt:lpstr>3.2.2.18 융자관리 (4/6)</vt:lpstr>
      <vt:lpstr>3.2.2.18 융자관리 (5/6)</vt:lpstr>
      <vt:lpstr>3.2.2.18 융자관리 (6/6)</vt:lpstr>
      <vt:lpstr>3.2.2.19 자산관리 (1/2)</vt:lpstr>
      <vt:lpstr>3.2.2.19 자산관리 (2/2)</vt:lpstr>
      <vt:lpstr>3.2.2.20 재물조사 (1/2)</vt:lpstr>
      <vt:lpstr>3.2.2.20 재물조사 (2/2)</vt:lpstr>
      <vt:lpstr>3.2.2.21 경륜/경정 (1/4)</vt:lpstr>
      <vt:lpstr>3.2.2.21 경륜/경정 (2/4)</vt:lpstr>
      <vt:lpstr>3.2.2.21 경륜/경정 (3/4)</vt:lpstr>
      <vt:lpstr>3.2.2.21 경륜/경정 (4/4)</vt:lpstr>
      <vt:lpstr>3.2.2.22 골프장 (1/2)</vt:lpstr>
      <vt:lpstr>3.2.2.22 골프장 (2/2)</vt:lpstr>
      <vt:lpstr>3.2.2.23 기금 구분회계 (1/7)</vt:lpstr>
      <vt:lpstr>3.2.2.23 기금 구분회계 (2/7)</vt:lpstr>
      <vt:lpstr>3.2.2.23 기금 구분회계 (3/7)</vt:lpstr>
      <vt:lpstr>3.2.2.23 기금 구분회계 (4/7)</vt:lpstr>
      <vt:lpstr>3.2.2.23 기금 구분회계 (5/7)</vt:lpstr>
      <vt:lpstr>3.2.2.23 기금 구분회계 (6/7)</vt:lpstr>
      <vt:lpstr>3.2.2.23 기금 구분회계 (7/7)</vt:lpstr>
      <vt:lpstr>3.2.2.24 계약관리 (1/5)</vt:lpstr>
      <vt:lpstr>3.2.2.24 계약관리 (2/5)</vt:lpstr>
      <vt:lpstr>3.2.2.24 계약관리 (3/5)</vt:lpstr>
      <vt:lpstr>3.2.2.24 계약관리 (4/5)</vt:lpstr>
      <vt:lpstr>3.2.2.24 계약관리 (5/5)</vt:lpstr>
      <vt:lpstr>3.3 인적자원관리 3.3.1 인적자원관리 업무기능 정의 (1/16)</vt:lpstr>
      <vt:lpstr>3.3.1 인적자원관리 업무기능 정의 (2/16)</vt:lpstr>
      <vt:lpstr>3.3.1 인적자원관리 업무기능 정의 (3/16)</vt:lpstr>
      <vt:lpstr>3.3.1 인적자원관리 업무기능 정의 (4/16)</vt:lpstr>
      <vt:lpstr>3.3.1 인적자원관리 업무기능 정의 (5/16)</vt:lpstr>
      <vt:lpstr>3.3.1 인적자원관리 업무기능 정의 (6/16)</vt:lpstr>
      <vt:lpstr>3.3.1 인적자원관리 업무기능 정의 (7/16)</vt:lpstr>
      <vt:lpstr>3.3.1 인적자원관리 업무기능 정의 (8/16)</vt:lpstr>
      <vt:lpstr>3.3.1 인적자원관리 업무기능 정의 (9/16)</vt:lpstr>
      <vt:lpstr>3.3.1 인적자원관리 업무기능 정의 (10/16)</vt:lpstr>
      <vt:lpstr>3.3.1 인적자원관리 업무기능 정의 (11/16)</vt:lpstr>
      <vt:lpstr>3.3.1 인적자원관리 업무기능 정의 (12/16)</vt:lpstr>
      <vt:lpstr>3.3.1 인적자원관리 업무기능 정의 (13/16)</vt:lpstr>
      <vt:lpstr>3.3.1 인적자원관리 업무기능 정의 (14/16)</vt:lpstr>
      <vt:lpstr>3.3.1 인적자원관리 업무기능 정의 (15/16)</vt:lpstr>
      <vt:lpstr>3.3.1 인적자원관리 업무기능 정의 (16/16)</vt:lpstr>
      <vt:lpstr>3.3.2 인적자원관리 업무프로세스 맵 3.3.2.1 조직/정원관리 (1/3)</vt:lpstr>
      <vt:lpstr>3.3.2.1 조직/정원관리 (2/3)</vt:lpstr>
      <vt:lpstr>3.3.2.1 조직/정원관리 (3/3)</vt:lpstr>
      <vt:lpstr>3.3.2.2 채용관리 (1/11)</vt:lpstr>
      <vt:lpstr>3.3.2.2 채용관리 (2/11)</vt:lpstr>
      <vt:lpstr>3.3.2.2 채용관리 (3/11)</vt:lpstr>
      <vt:lpstr>3.3.2.2 채용관리 (4/11)</vt:lpstr>
      <vt:lpstr>3.3.2.2 채용관리 (5/11)</vt:lpstr>
      <vt:lpstr>3.3.2.2 채용관리 (6/11)</vt:lpstr>
      <vt:lpstr>3.3.2.2 채용관리 (7/11)</vt:lpstr>
      <vt:lpstr>3.3.2.2 채용관리 (8/11)</vt:lpstr>
      <vt:lpstr>3.3.2.2 채용관리 (9/11)</vt:lpstr>
      <vt:lpstr>3.3.2.2 채용관리 (10/11)</vt:lpstr>
      <vt:lpstr>3.3.2.2 채용관리 (11/11)</vt:lpstr>
      <vt:lpstr>3.3.2.3 인적정보관리 (1/2)</vt:lpstr>
      <vt:lpstr>3.3.2.3 인적정보관리 (2/2)</vt:lpstr>
      <vt:lpstr>3.3.2.4 직위공모관리 (1/3)</vt:lpstr>
      <vt:lpstr>3.3.2.4 직위공모관리 (2/3)</vt:lpstr>
      <vt:lpstr>3.3.2.4 직위공모관리 (3/3)</vt:lpstr>
      <vt:lpstr>3.3.2.5 발령관리 (1/4)</vt:lpstr>
      <vt:lpstr>3.3.2.5 발령관리 (2/4)</vt:lpstr>
      <vt:lpstr>3.3.2.5 발령관리 (3/4)</vt:lpstr>
      <vt:lpstr>3.3.2.5 채용관리 (4/4)</vt:lpstr>
      <vt:lpstr>3.3.2.6 상벌관리 (1/5)</vt:lpstr>
      <vt:lpstr>3.3.2.6 상벌관리 (2/5)</vt:lpstr>
      <vt:lpstr>3.3.2.6 상벌관리 (3/5)</vt:lpstr>
      <vt:lpstr>3.3.2.6 상벌관리 (4/5)</vt:lpstr>
      <vt:lpstr>3.3.2.6 상벌관리 (5/5)</vt:lpstr>
      <vt:lpstr>3.3.2.7 근태관리 (1/18)</vt:lpstr>
      <vt:lpstr>3.3.2.7 근태관리 (2/18)</vt:lpstr>
      <vt:lpstr>3.3.2.7 근태관리 (3/18)</vt:lpstr>
      <vt:lpstr>3.3.2.7 근태관리 (4/18)</vt:lpstr>
      <vt:lpstr>3.3.2.7 근태관리 (5/18)</vt:lpstr>
      <vt:lpstr>3.3.2.7 근태관리 (6/18)</vt:lpstr>
      <vt:lpstr>3.3.2.7 근태관리 (7/18)</vt:lpstr>
      <vt:lpstr>3.3.2.7 근태관리 (8/18)</vt:lpstr>
      <vt:lpstr>3.3.2.7 근태관리 (9/18)</vt:lpstr>
      <vt:lpstr>3.3.2.7 근태관리 (10/18)</vt:lpstr>
      <vt:lpstr>3.3.2.7 근태관리 (11/18)</vt:lpstr>
      <vt:lpstr>3.3.2.7 근태관리 (12/18)</vt:lpstr>
      <vt:lpstr>3.3.2.7 근태관리 (13/18)</vt:lpstr>
      <vt:lpstr>3.3.2.7 근태관리 (14/18)</vt:lpstr>
      <vt:lpstr>3.3.2.7 근태관리 (15/18)</vt:lpstr>
      <vt:lpstr>3.3.2.7 근태관리 (16/18)</vt:lpstr>
      <vt:lpstr>3.3.2.7 근태관리 (17/18)</vt:lpstr>
      <vt:lpstr>3.3.2.7 근태관리 (18/18)</vt:lpstr>
      <vt:lpstr>3.3.2.8 제증명관리 (1/2)</vt:lpstr>
      <vt:lpstr>3.3.2.8 제증명관리 (2/2)</vt:lpstr>
      <vt:lpstr>3.3.2.9 직무관리 (1/2)</vt:lpstr>
      <vt:lpstr>3.3.2.9 직무관리 (2/2)</vt:lpstr>
      <vt:lpstr>3.3.2.10 역량관리 (1/2)</vt:lpstr>
      <vt:lpstr>3.3.2.10 역량관리 (2/2)</vt:lpstr>
      <vt:lpstr>3.3.2.11 경력관리 (1/3)</vt:lpstr>
      <vt:lpstr>3.3.2.11 경력관리 (2/3)</vt:lpstr>
      <vt:lpstr>3.3.2.11 경력관리 (3/3)</vt:lpstr>
      <vt:lpstr>3.3.2.12 역량평가관리 (1/5)</vt:lpstr>
      <vt:lpstr>3.3.2.12 역량평가관리 (2/5)</vt:lpstr>
      <vt:lpstr>3.3.2.12 역량평가관리 (3/5)</vt:lpstr>
      <vt:lpstr>3.3.2.12 역량평가관리 (4/5)</vt:lpstr>
      <vt:lpstr>3.3.2.12 역량평가관리 (5/5)</vt:lpstr>
      <vt:lpstr>3.3.2.13 성과급관리 (1/2)</vt:lpstr>
      <vt:lpstr>3.3.2.13 성과급관리 (2/2)</vt:lpstr>
      <vt:lpstr>3.3.2.14 교육과정관리 (1/5)</vt:lpstr>
      <vt:lpstr>3.3.2.14 교육과정관리 (2/5)</vt:lpstr>
      <vt:lpstr>3.3.2.14 교육과정관리 (3/5)</vt:lpstr>
      <vt:lpstr>3.3.2.14 교육과정관리 (4/5)</vt:lpstr>
      <vt:lpstr>3.3.2.14 교육과정관리 (5/5)</vt:lpstr>
      <vt:lpstr>3.3.2.15 교육신청결과관리 (1/10)</vt:lpstr>
      <vt:lpstr>3.3.2.15 교육신청결과관리 (2/10)</vt:lpstr>
      <vt:lpstr>3.3.2.15 교육신청결과관리 (3/10)</vt:lpstr>
      <vt:lpstr>3.3.2.15 교육신청결과관리 (4/10)</vt:lpstr>
      <vt:lpstr>3.3.2.15 교육신청결과관리 (5/10)</vt:lpstr>
      <vt:lpstr>3.3.2.15 교육신청결과관리 (6/10)</vt:lpstr>
      <vt:lpstr>3.3.2.15 교육신청결과관리 (7/10)</vt:lpstr>
      <vt:lpstr>3.3.2.15 교육신청결과관리 (8/10)</vt:lpstr>
      <vt:lpstr>3.3.2.15 교육신청결과관리 (9/10)</vt:lpstr>
      <vt:lpstr>3.3.2.15 교육신청결과관리 (10/10)</vt:lpstr>
      <vt:lpstr>3.3.2.16 급여관리 (1/5)</vt:lpstr>
      <vt:lpstr>3.3.2.16 급여관리 (2/5)</vt:lpstr>
      <vt:lpstr>3.3.2.16 급여관리 (3/5)</vt:lpstr>
      <vt:lpstr>3.3.2.16 급여관리 (4/5)</vt:lpstr>
      <vt:lpstr>3.3.2.16 급여관리 (5/5)</vt:lpstr>
      <vt:lpstr>3.3.2.17 현물관리 (1/2)</vt:lpstr>
      <vt:lpstr>3.3.2.17 현물관리 (2/2)</vt:lpstr>
      <vt:lpstr>3.3.2.18 소급관리 (1/2)</vt:lpstr>
      <vt:lpstr>3.3.2.18 소급관리 (2/2)</vt:lpstr>
      <vt:lpstr>3.3.2.19 퇴직금관리 (1/2)</vt:lpstr>
      <vt:lpstr>3.3.2.19 퇴직금관리 (2/2)</vt:lpstr>
      <vt:lpstr>3.3.2.20 퇴직연금관리 (1/2)</vt:lpstr>
      <vt:lpstr>3.3.2.20 퇴직연금관리 (2/2)</vt:lpstr>
      <vt:lpstr>3.3.2.21 연말정산관리 (1/3)</vt:lpstr>
      <vt:lpstr>3.3.2.21 연말정산관리 (2/3)</vt:lpstr>
      <vt:lpstr>3.3.2.21 연말정산관리 (3/3)</vt:lpstr>
      <vt:lpstr>3.3.2.22 인상시뮬레이션관리 (1/2)</vt:lpstr>
      <vt:lpstr>3.3.2.22 인상시뮬레이션관리 (2/2)</vt:lpstr>
      <vt:lpstr>3.3.2.23 사회보험관리 (1/6)</vt:lpstr>
      <vt:lpstr>3.3.2.23 사회보험관리 (2/6)</vt:lpstr>
      <vt:lpstr>3.3.2.23 사회보험관리 (3/6)</vt:lpstr>
      <vt:lpstr>3.3.2.23 사회보험관리 (4/6)</vt:lpstr>
      <vt:lpstr>3.3.2.23 사회보험관리 (5/6)</vt:lpstr>
      <vt:lpstr>3.3.2.23 사회보험관리 (6/6)</vt:lpstr>
      <vt:lpstr>3.3.2.24 경조사관리 (1/2)</vt:lpstr>
      <vt:lpstr>3.3.2.24 경조사관리 (2/2)</vt:lpstr>
      <vt:lpstr>3.3.2.25 고교생자녀학자금관리 (1/2)</vt:lpstr>
      <vt:lpstr>3.3.2.25 고교생자녀학자금관리 (2/2)</vt:lpstr>
      <vt:lpstr>3.3.2.26 대출금관리 (1/2)</vt:lpstr>
      <vt:lpstr>3.3.2.26 대출금관리 (2/2)</vt:lpstr>
      <vt:lpstr>3.3.2.27 공제회관리 (1/2)</vt:lpstr>
      <vt:lpstr>3.3.2.27 공제회관리 (2/2)</vt:lpstr>
      <vt:lpstr>3.3.2.28 결재관리 (1/2)</vt:lpstr>
      <vt:lpstr>3.3.2.28 결재관리 (2/2)</vt:lpstr>
      <vt:lpstr>3.4 기금지원관리 업무프로세스 개선 3.4.1 기금지원관리 업무기능 정의 (1/6)</vt:lpstr>
      <vt:lpstr>3.4.1 기금지원 업무기능 정의 (2/6)</vt:lpstr>
      <vt:lpstr>3.4.1 기금지원 업무기능 정의 (3/6)</vt:lpstr>
      <vt:lpstr>3.4.1 기금지원 업무기능 정의 (4/6)</vt:lpstr>
      <vt:lpstr>3.4.1 기금지원 업무기능 정의 (5/6)</vt:lpstr>
      <vt:lpstr>3.4.1 기금지원 업무기능 정의 (6/6)</vt:lpstr>
      <vt:lpstr>3.4.2 기금지원 업무프로세스 맵 3.4.2.1 지급관리&gt;집행계획 작성 (1/2)</vt:lpstr>
      <vt:lpstr>3.4.2.1 지급관리&gt;집행계획 작성 (2/2)</vt:lpstr>
      <vt:lpstr>3.4.2.2 지급관리&gt;지원금지급관리 (1/2)</vt:lpstr>
      <vt:lpstr>3.4.2.2 지급관리&gt;지원금지급관리 (2/2)</vt:lpstr>
      <vt:lpstr>3.4.2.3 집행관리&gt;중요재산등록지원 (1/4)</vt:lpstr>
      <vt:lpstr>3.4.2.3 집행관리&gt;중요재산등록지원 (2/4)</vt:lpstr>
      <vt:lpstr>3.4.2.3 집행관리&gt;중요재산등록지원 (3/4)</vt:lpstr>
      <vt:lpstr>3.4.2.3 집행관리&gt;중요재산등록지원 (4/4)</vt:lpstr>
      <vt:lpstr>3.4.2.4 집행관리&gt;현장점검관리 (1/2)</vt:lpstr>
      <vt:lpstr>3.4.2.4 집행관리&gt;현장점검관리 (2/2)</vt:lpstr>
      <vt:lpstr>3.4.2.5 집행관리&gt;연중평가관리 (1/6)</vt:lpstr>
      <vt:lpstr>3.4.2.5 집행관리&gt;연중평가관리 (2/6)</vt:lpstr>
      <vt:lpstr>3.4.2.5 집행관리&gt;연중평가관리 (3/6)</vt:lpstr>
      <vt:lpstr>3.4.2.5 집행관리&gt;연중평가관리 (4/6)</vt:lpstr>
      <vt:lpstr>3.4.2.5 집행관리&gt;연중평가관리 (5/6)</vt:lpstr>
      <vt:lpstr>3.4.2.5 집행관리&gt;연중평가관리 (6/6)</vt:lpstr>
      <vt:lpstr>3.4.2.6 집행관리&gt;정산관리지원 (1/4)</vt:lpstr>
      <vt:lpstr>3.4.2.6 집행관리&gt;정산관리지원 (2/4)</vt:lpstr>
      <vt:lpstr>3.4.2.6 집행관리&gt;정산관리지원 (3/4)</vt:lpstr>
      <vt:lpstr>3.4.2.6 집행관리&gt;정산관리지원 (4/4)</vt:lpstr>
      <vt:lpstr>3.4.2.7 사후관리&gt;반납관리 (1/6)</vt:lpstr>
      <vt:lpstr>3.4.2.7 사후관리&gt;반납관리 (2/6)</vt:lpstr>
      <vt:lpstr>3.4.2.7 사후관리&gt;반납관리 (3/6)</vt:lpstr>
      <vt:lpstr>3.4.2.7 사후관리&gt;반납관리 (4/6)</vt:lpstr>
      <vt:lpstr>3.4.2.7 사후관리&gt;반납관리 (5/6)</vt:lpstr>
      <vt:lpstr>3.4.2.7 사후관리&gt;반납관리 (6/6)</vt:lpstr>
      <vt:lpstr>3.4.2.8 사후관리&gt;성과평가 (1/5)</vt:lpstr>
      <vt:lpstr>3.4.2.8 사후관리&gt;성과평가 (2/5)</vt:lpstr>
      <vt:lpstr>3.4.2.8 사후관리&gt;성과평가 (3/5)</vt:lpstr>
      <vt:lpstr>3.4.2.8 사후관리&gt;성과평가 (4/5)</vt:lpstr>
      <vt:lpstr>3.4.2.8 사후관리&gt;성과평가 (5/5)</vt:lpstr>
      <vt:lpstr>3.4.2.9 직접지원관리&gt;신체육인복지지원 (1/4)</vt:lpstr>
      <vt:lpstr>3.4.2.9 직접지원관리&gt;신체육인복지지원 (2/4)</vt:lpstr>
      <vt:lpstr>3.4.2.9 직접지원관리&gt;신체육인복지지원 (3/4)</vt:lpstr>
      <vt:lpstr>3.4.2.9 직접지원관리&gt;신체육인복지지원 (4/4)</vt:lpstr>
      <vt:lpstr>3.5.1 개요 </vt:lpstr>
      <vt:lpstr>3.5.2 프로세스 거버넌스 추진영역 도출 </vt:lpstr>
      <vt:lpstr>3.5.3 프로세스 거버넌스 추진과제 도출</vt:lpstr>
      <vt:lpstr>3.5.4 프로세스 거버넌스 추진과제 정의  3.5.4.1 표준화 &gt; 오너십 부여와 역할정립</vt:lpstr>
      <vt:lpstr>3.5.4 프로세스 거버넌스 추진과제 정의  3.5.4.1 표준화 &gt; 분류체계 수립 및 표준화</vt:lpstr>
      <vt:lpstr>3.5.4 프로세스 거버넌스 추진과제 정의  3.5.4.2 적용 &gt; 표준 준수 및 모니터링</vt:lpstr>
      <vt:lpstr>3.5.4 프로세스 거버넌스 추진과제 정의  3.5.4.2 환류 &gt; 변경관리 및 지속적 개선</vt:lpstr>
    </vt:vector>
  </TitlesOfParts>
  <Company>.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SDS</dc:creator>
  <cp:lastModifiedBy>plushome</cp:lastModifiedBy>
  <cp:revision>2436</cp:revision>
  <cp:lastPrinted>2018-12-20T06:32:58Z</cp:lastPrinted>
  <dcterms:created xsi:type="dcterms:W3CDTF">2013-11-13T01:08:07Z</dcterms:created>
  <dcterms:modified xsi:type="dcterms:W3CDTF">2019-08-07T02:14:15Z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0x0101003F0D996D5B674C4386830A6AB0E50984</vt:lpwstr>
  </property>
  <property fmtid="{D5CDD505-2E9C-101B-9397-08002B2CF9AE}" pid="3" name="DeliveryID">
    <vt:lpwstr>244b6fc4-4b4e-4117-b7bb-efd330097824</vt:lpwstr>
  </property>
  <property fmtid="{D5CDD505-2E9C-101B-9397-08002B2CF9AE}" pid="4" name="NSCPROP_SA">
    <vt:lpwstr>D:\블록체인\템플릿예시_PowerPoint.pptx</vt:lpwstr>
  </property>
  <property fmtid="{5C58129F-E5B8-477A-9B38-B3E54BFA04C8}" pid="2">
    <vt:lpwstr>EA5DF722F2DDC2B5142607E7171F90C7D4A6F050E5311B308FB269B1E25EFBC7</vt:lpwstr>
  </property>
</Properties>
</file>