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14"/>
  </p:notesMasterIdLst>
  <p:handoutMasterIdLst>
    <p:handoutMasterId r:id="rId15"/>
  </p:handoutMasterIdLst>
  <p:sldIdLst>
    <p:sldId id="283" r:id="rId5"/>
    <p:sldId id="344" r:id="rId6"/>
    <p:sldId id="287" r:id="rId7"/>
    <p:sldId id="348" r:id="rId8"/>
    <p:sldId id="352" r:id="rId9"/>
    <p:sldId id="350" r:id="rId10"/>
    <p:sldId id="353" r:id="rId11"/>
    <p:sldId id="354" r:id="rId12"/>
    <p:sldId id="355" r:id="rId13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022" userDrawn="1">
          <p15:clr>
            <a:srgbClr val="A4A3A4"/>
          </p15:clr>
        </p15:guide>
        <p15:guide id="2" orient="horz" pos="4201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orient="horz" pos="3339">
          <p15:clr>
            <a:srgbClr val="A4A3A4"/>
          </p15:clr>
        </p15:guide>
        <p15:guide id="7" orient="horz" pos="3271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13" pos="217" userDrawn="1">
          <p15:clr>
            <a:srgbClr val="A4A3A4"/>
          </p15:clr>
        </p15:guide>
        <p15:guide id="16" pos="6000">
          <p15:clr>
            <a:srgbClr val="A4A3A4"/>
          </p15:clr>
        </p15:guide>
        <p15:guide id="17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355A87"/>
    <a:srgbClr val="508CD2"/>
    <a:srgbClr val="233C5A"/>
    <a:srgbClr val="219BFF"/>
    <a:srgbClr val="C1E3FF"/>
    <a:srgbClr val="027BF4"/>
    <a:srgbClr val="01458C"/>
    <a:srgbClr val="B1CFFC"/>
    <a:srgbClr val="BED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33" autoAdjust="0"/>
    <p:restoredTop sz="94699" autoAdjust="0"/>
  </p:normalViewPr>
  <p:slideViewPr>
    <p:cSldViewPr>
      <p:cViewPr varScale="1">
        <p:scale>
          <a:sx n="84" d="100"/>
          <a:sy n="84" d="100"/>
        </p:scale>
        <p:origin x="-96" y="-564"/>
      </p:cViewPr>
      <p:guideLst>
        <p:guide orient="horz" pos="3022"/>
        <p:guide orient="horz" pos="1979"/>
        <p:guide orient="horz" pos="527"/>
        <p:guide orient="horz" pos="3974"/>
        <p:guide orient="horz" pos="981"/>
        <p:guide orient="horz" pos="3339"/>
        <p:guide orient="horz" pos="3271"/>
        <p:guide orient="horz" pos="1207"/>
        <p:guide pos="3120"/>
        <p:guide pos="217"/>
        <p:guide pos="60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5006"/>
    </p:cViewPr>
  </p:sorterViewPr>
  <p:notesViewPr>
    <p:cSldViewPr showGuides="1">
      <p:cViewPr varScale="1">
        <p:scale>
          <a:sx n="78" d="100"/>
          <a:sy n="78" d="100"/>
        </p:scale>
        <p:origin x="-3954" y="-84"/>
      </p:cViewPr>
      <p:guideLst>
        <p:guide orient="horz" pos="3127"/>
        <p:guide pos="2142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2018-12-20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10D8B3E8-78D5-42AF-92B2-138AC5B36093}" type="datetimeFigureOut">
              <a:rPr lang="ko-KR" altLang="en-US" smtClean="0"/>
              <a:pPr/>
              <a:t>2018-12-20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90" tIns="45846" rIns="91690" bIns="4584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131" y="4715154"/>
            <a:ext cx="5439415" cy="4466987"/>
          </a:xfrm>
          <a:prstGeom prst="rect">
            <a:avLst/>
          </a:prstGeom>
        </p:spPr>
        <p:txBody>
          <a:bodyPr vert="horz" lIns="91690" tIns="45846" rIns="91690" bIns="45846" rtlCol="0"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4525963"/>
          </a:xfrm>
        </p:spPr>
        <p:txBody>
          <a:bodyPr>
            <a:normAutofit/>
          </a:bodyPr>
          <a:lstStyle>
            <a:lvl1pPr marL="400050" indent="-400050">
              <a:lnSpc>
                <a:spcPct val="120000"/>
              </a:lnSpc>
              <a:buFont typeface="+mj-lt"/>
              <a:buAutoNum type="romanUcPeriod"/>
              <a:defRPr sz="1800" b="1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defRPr sz="1800" b="1">
                <a:solidFill>
                  <a:srgbClr val="00B0F0"/>
                </a:solidFill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6824603" y="908720"/>
            <a:ext cx="2187634" cy="1958589"/>
            <a:chOff x="6824603" y="908720"/>
            <a:chExt cx="2187634" cy="1958589"/>
          </a:xfrm>
          <a:solidFill>
            <a:srgbClr val="00437A"/>
          </a:solidFill>
        </p:grpSpPr>
        <p:grpSp>
          <p:nvGrpSpPr>
            <p:cNvPr id="18" name="그룹 17"/>
            <p:cNvGrpSpPr/>
            <p:nvPr/>
          </p:nvGrpSpPr>
          <p:grpSpPr>
            <a:xfrm>
              <a:off x="6825208" y="908720"/>
              <a:ext cx="2187029" cy="230399"/>
              <a:chOff x="7185248" y="1123952"/>
              <a:chExt cx="2187029" cy="230399"/>
            </a:xfrm>
            <a:grpFill/>
          </p:grpSpPr>
          <p:sp>
            <p:nvSpPr>
              <p:cNvPr id="23" name="직사각형 22"/>
              <p:cNvSpPr/>
              <p:nvPr/>
            </p:nvSpPr>
            <p:spPr bwMode="auto">
              <a:xfrm rot="5400000">
                <a:off x="8215185" y="94758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 rot="5400000">
                <a:off x="7139787" y="1178937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 rot="5400000">
                <a:off x="9196865" y="1178938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6824603" y="2636912"/>
              <a:ext cx="2186617" cy="230397"/>
              <a:chOff x="7184643" y="2780929"/>
              <a:chExt cx="2186617" cy="230397"/>
            </a:xfrm>
            <a:grpFill/>
          </p:grpSpPr>
          <p:sp>
            <p:nvSpPr>
              <p:cNvPr id="20" name="직사각형 19"/>
              <p:cNvSpPr/>
              <p:nvPr/>
            </p:nvSpPr>
            <p:spPr bwMode="auto">
              <a:xfrm rot="16200000">
                <a:off x="8214443" y="1855251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 bwMode="auto">
              <a:xfrm rot="16200000">
                <a:off x="9195848" y="2826391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 rot="16200000">
                <a:off x="7139182" y="2826390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3930843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>
              <a:buNone/>
              <a:defRPr lang="ko-KR" alt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>
                <a:latin typeface="맑은 고딕" pitchFamily="50" charset="-127"/>
                <a:ea typeface="맑은 고딕" pitchFamily="50" charset="-127"/>
              </a:defRPr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>
                <a:latin typeface="맑은 고딕" pitchFamily="50" charset="-127"/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2039984" y="6502766"/>
            <a:ext cx="2170358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2018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VTW, 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5273" y="6567155"/>
            <a:ext cx="53545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Ⅱ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5" name="Picture 11" descr="C:\Users\yslee\Desktop\VTW LOGO\VTW LOGO Img file\vtw-logo4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65003" y="6525368"/>
            <a:ext cx="1159997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 descr="C:\Users\bokeum\Desktop\CI(JPEG용)\CI_국영문조합_좌우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488" y="6489368"/>
            <a:ext cx="1688382" cy="28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00589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DFF48F6-0499-4B03-AA7D-07684E6940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590675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방향성 수립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현황 및 요건분석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목표모델 설계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이행계획 수립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6969224" y="16758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3600" b="1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  <a:endParaRPr lang="en-US" altLang="ko-KR" sz="3600" b="1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Ⅰ. </a:t>
            </a:r>
            <a:r>
              <a:rPr lang="ko-KR" altLang="en-US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사업의 개요</a:t>
            </a:r>
            <a:endParaRPr lang="en-US" altLang="ko-KR" sz="2400" b="1" spc="-300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텍스트 개체 틀 4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590675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1. </a:t>
            </a:r>
            <a:r>
              <a:rPr lang="ko-KR" altLang="en-US" dirty="0" smtClean="0">
                <a:solidFill>
                  <a:srgbClr val="00437A"/>
                </a:solidFill>
              </a:rPr>
              <a:t>사업의 </a:t>
            </a:r>
            <a:r>
              <a:rPr lang="ko-KR" altLang="en-US" dirty="0">
                <a:solidFill>
                  <a:srgbClr val="00437A"/>
                </a:solidFill>
              </a:rPr>
              <a:t>소개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2.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배경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3.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범위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4.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절차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5.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일정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6.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조직</a:t>
            </a:r>
            <a:endParaRPr lang="en-US" altLang="ko-KR" dirty="0" smtClean="0">
              <a:solidFill>
                <a:srgbClr val="00437A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방향성 수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립</a:t>
            </a:r>
            <a:endParaRPr lang="en-US" altLang="ko-KR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현황 및 요건분석</a:t>
            </a:r>
            <a:endParaRPr lang="en-US" altLang="ko-KR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목표모델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이행계획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66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사업의 소개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사업의 소개</a:t>
            </a:r>
            <a:endParaRPr lang="en-US" altLang="ko-KR" dirty="0" smtClean="0"/>
          </a:p>
        </p:txBody>
      </p:sp>
      <p:sp>
        <p:nvSpPr>
          <p:cNvPr id="31" name="Rectangle 50"/>
          <p:cNvSpPr>
            <a:spLocks noChangeArrowheads="1"/>
          </p:cNvSpPr>
          <p:nvPr/>
        </p:nvSpPr>
        <p:spPr bwMode="auto">
          <a:xfrm>
            <a:off x="344489" y="980728"/>
            <a:ext cx="9073008" cy="5233785"/>
          </a:xfrm>
          <a:prstGeom prst="rect">
            <a:avLst/>
          </a:prstGeom>
          <a:noFill/>
          <a:ln w="76200">
            <a:solidFill>
              <a:srgbClr val="4678B4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lIns="54000" tIns="0" rIns="54000" bIns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Char char="•"/>
              <a:tabLst/>
              <a:defRPr/>
            </a:pP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갈매기형 수장 55"/>
          <p:cNvSpPr/>
          <p:nvPr/>
        </p:nvSpPr>
        <p:spPr bwMode="auto">
          <a:xfrm>
            <a:off x="456761" y="1269596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사업명</a:t>
            </a:r>
          </a:p>
        </p:txBody>
      </p:sp>
      <p:sp>
        <p:nvSpPr>
          <p:cNvPr id="57" name="갈매기형 수장 56"/>
          <p:cNvSpPr/>
          <p:nvPr/>
        </p:nvSpPr>
        <p:spPr bwMode="auto">
          <a:xfrm>
            <a:off x="456761" y="2432510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사업기간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b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참여인력</a:t>
            </a:r>
          </a:p>
        </p:txBody>
      </p:sp>
      <p:sp>
        <p:nvSpPr>
          <p:cNvPr id="60" name="갈매기형 수장 59"/>
          <p:cNvSpPr/>
          <p:nvPr/>
        </p:nvSpPr>
        <p:spPr bwMode="auto">
          <a:xfrm>
            <a:off x="456761" y="3581224"/>
            <a:ext cx="1108167" cy="2368891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주요내용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1680898" y="1268760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z="2000" b="1" dirty="0" smtClean="0">
                <a:latin typeface="맑은 고딕" pitchFamily="50" charset="-127"/>
                <a:ea typeface="맑은 고딕" pitchFamily="50" charset="-127"/>
              </a:rPr>
              <a:t>차세대 경영정보시스템 구축 </a:t>
            </a:r>
            <a:r>
              <a:rPr lang="en-US" altLang="ko-KR" sz="2000" b="1" dirty="0" smtClean="0">
                <a:latin typeface="맑은 고딕" pitchFamily="50" charset="-127"/>
                <a:ea typeface="맑은 고딕" pitchFamily="50" charset="-127"/>
              </a:rPr>
              <a:t>BPR/ISMP </a:t>
            </a:r>
            <a:r>
              <a:rPr lang="ko-KR" altLang="en-US" sz="2000" b="1" dirty="0" smtClean="0">
                <a:latin typeface="맑은 고딕" pitchFamily="50" charset="-127"/>
                <a:ea typeface="맑은 고딕" pitchFamily="50" charset="-127"/>
              </a:rPr>
              <a:t>수립 컨설팅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1680898" y="2431674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2018.6.25 ~ 12.21(6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개월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) / VTW 9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, C&amp;F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시스템 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err="1" smtClean="0">
                <a:latin typeface="맑은 고딕" pitchFamily="50" charset="-127"/>
                <a:ea typeface="맑은 고딕" pitchFamily="50" charset="-127"/>
              </a:rPr>
              <a:t>코니언정보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명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1666869" y="3594587"/>
            <a:ext cx="7606611" cy="235552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차세대 경영정보시스템 구축 업무프로세스 재설계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(BPR)</a:t>
            </a: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차세대 경영정보시스템 구축 마스터플랜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(ISMP)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수립</a:t>
            </a: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차세대 경영정보시스템 구축 사업계획서 및 제안요청서 작성</a:t>
            </a: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공단 정보시스템 구축 방법론 및 표준 아키텍처 설계</a:t>
            </a:r>
          </a:p>
        </p:txBody>
      </p:sp>
    </p:spTree>
    <p:extLst>
      <p:ext uri="{BB962C8B-B14F-4D97-AF65-F5344CB8AC3E}">
        <p14:creationId xmlns:p14="http://schemas.microsoft.com/office/powerpoint/2010/main" xmlns="" val="2465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사업추진 배경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사업추진 배경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국민체육진흥공단은 </a:t>
            </a:r>
            <a:r>
              <a:rPr lang="ko-KR" altLang="en-US" sz="1600" dirty="0" smtClean="0"/>
              <a:t>경영정보의 </a:t>
            </a:r>
            <a:r>
              <a:rPr lang="ko-KR" altLang="en-US" sz="1600" dirty="0"/>
              <a:t>업무 </a:t>
            </a:r>
            <a:r>
              <a:rPr lang="ko-KR" altLang="en-US" sz="1600" dirty="0" smtClean="0"/>
              <a:t>프로세스를 재정립하고 노후화된 </a:t>
            </a:r>
            <a:r>
              <a:rPr lang="ko-KR" altLang="en-US" sz="1600" dirty="0"/>
              <a:t>경영정보시스템을 전면 개편하여 </a:t>
            </a:r>
            <a:r>
              <a:rPr lang="ko-KR" altLang="en-US" sz="1600" dirty="0" smtClean="0"/>
              <a:t>차세대 </a:t>
            </a:r>
            <a:r>
              <a:rPr lang="ko-KR" altLang="en-US" sz="1600" dirty="0"/>
              <a:t>경영정보시스템 구축을 위한 </a:t>
            </a:r>
            <a:r>
              <a:rPr lang="ko-KR" altLang="en-US" sz="1600" dirty="0" smtClean="0"/>
              <a:t>마스터플랜을 </a:t>
            </a:r>
            <a:r>
              <a:rPr lang="ko-KR" altLang="en-US" sz="1600" dirty="0"/>
              <a:t>수립하고자 함</a:t>
            </a: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6200000" flipH="1" flipV="1">
            <a:off x="4817953" y="-401903"/>
            <a:ext cx="196126" cy="4238249"/>
          </a:xfrm>
          <a:prstGeom prst="rect">
            <a:avLst/>
          </a:prstGeom>
        </p:spPr>
      </p:pic>
      <p:sp>
        <p:nvSpPr>
          <p:cNvPr id="62" name="Rectangle 39"/>
          <p:cNvSpPr>
            <a:spLocks noChangeArrowheads="1"/>
          </p:cNvSpPr>
          <p:nvPr/>
        </p:nvSpPr>
        <p:spPr bwMode="auto">
          <a:xfrm>
            <a:off x="1100572" y="1629395"/>
            <a:ext cx="8348932" cy="429846"/>
          </a:xfrm>
          <a:prstGeom prst="rect">
            <a:avLst/>
          </a:prstGeom>
          <a:noFill/>
          <a:extLst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000" b="1" u="sng" kern="0" dirty="0">
                <a:latin typeface="맑은 고딕" pitchFamily="50" charset="-127"/>
                <a:ea typeface="맑은 고딕" pitchFamily="50" charset="-127"/>
              </a:rPr>
              <a:t>차세대 경영정보시스템 구축 </a:t>
            </a:r>
            <a:r>
              <a:rPr lang="en-US" altLang="ko-KR" sz="2000" b="1" u="sng" kern="0" dirty="0">
                <a:latin typeface="맑은 고딕" pitchFamily="50" charset="-127"/>
                <a:ea typeface="맑은 고딕" pitchFamily="50" charset="-127"/>
              </a:rPr>
              <a:t>BPR/ISMP </a:t>
            </a:r>
            <a:r>
              <a:rPr lang="ko-KR" altLang="en-US" sz="2000" b="1" u="sng" kern="0" dirty="0">
                <a:latin typeface="맑은 고딕" pitchFamily="50" charset="-127"/>
                <a:ea typeface="맑은 고딕" pitchFamily="50" charset="-127"/>
              </a:rPr>
              <a:t>수립</a:t>
            </a:r>
          </a:p>
        </p:txBody>
      </p:sp>
      <p:sp>
        <p:nvSpPr>
          <p:cNvPr id="63" name="Rectangle 7"/>
          <p:cNvSpPr>
            <a:spLocks noChangeArrowheads="1"/>
          </p:cNvSpPr>
          <p:nvPr/>
        </p:nvSpPr>
        <p:spPr bwMode="auto">
          <a:xfrm>
            <a:off x="488504" y="1622266"/>
            <a:ext cx="559398" cy="482386"/>
          </a:xfrm>
          <a:prstGeom prst="rect">
            <a:avLst/>
          </a:prstGeom>
          <a:solidFill>
            <a:srgbClr val="B1CFFC"/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목표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488504" y="2148378"/>
            <a:ext cx="559398" cy="1930837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목</a:t>
            </a: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적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Rectangle 7"/>
          <p:cNvSpPr>
            <a:spLocks noChangeArrowheads="1"/>
          </p:cNvSpPr>
          <p:nvPr/>
        </p:nvSpPr>
        <p:spPr bwMode="auto">
          <a:xfrm>
            <a:off x="488504" y="4122941"/>
            <a:ext cx="559398" cy="211437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lang="ko-KR" altLang="en-US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배경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Rectangle 76"/>
          <p:cNvSpPr>
            <a:spLocks noChangeArrowheads="1"/>
          </p:cNvSpPr>
          <p:nvPr/>
        </p:nvSpPr>
        <p:spPr bwMode="auto">
          <a:xfrm>
            <a:off x="1141511" y="4717951"/>
            <a:ext cx="4059499" cy="151936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공단 </a:t>
            </a:r>
            <a:r>
              <a:rPr lang="ko-KR" altLang="en-US" sz="1200" dirty="0" err="1">
                <a:latin typeface="맑은 고딕" pitchFamily="50" charset="-127"/>
                <a:ea typeface="맑은 고딕" pitchFamily="50" charset="-127"/>
              </a:rPr>
              <a:t>정보화전략계획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(ISP)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수립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(‘17.4)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을 통한 차세대 경영정보시스템 구축 필요성 제기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내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외부 연계의 다변화 및 고객의 요구사항에 신속한 대응 미흡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Rectangle 76"/>
          <p:cNvSpPr>
            <a:spLocks noChangeArrowheads="1"/>
          </p:cNvSpPr>
          <p:nvPr/>
        </p:nvSpPr>
        <p:spPr bwMode="auto">
          <a:xfrm>
            <a:off x="5281820" y="4717951"/>
            <a:ext cx="4040419" cy="14913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경영정보시스템은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구축 이후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10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년이 경과된 업무시스템으로 노후화에 따른 정비 필요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사용자의 다양한 요구사항을 수용 가능한 최적화된 차세대 경영정보시스템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구축 방안 필요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차 산업혁명 기술 혹은 최신기술의 도입 고려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1141512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업무처리의 효율화를 위한 해결방안 요구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5281820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노후화된 시스템의 업무지원 한계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Rectangle 76"/>
          <p:cNvSpPr>
            <a:spLocks noChangeArrowheads="1"/>
          </p:cNvSpPr>
          <p:nvPr/>
        </p:nvSpPr>
        <p:spPr bwMode="auto">
          <a:xfrm>
            <a:off x="1110773" y="2165587"/>
            <a:ext cx="8306723" cy="17674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76"/>
          <p:cNvSpPr>
            <a:spLocks noChangeArrowheads="1"/>
          </p:cNvSpPr>
          <p:nvPr/>
        </p:nvSpPr>
        <p:spPr bwMode="auto">
          <a:xfrm>
            <a:off x="1175566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 공단의 경영정보 업무 프로세스 표준화를 통한 변화에 대응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1175566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지속적인 업무혁신 </a:t>
            </a: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기반 마련 </a:t>
            </a: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필요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Rectangle 76"/>
          <p:cNvSpPr>
            <a:spLocks noChangeArrowheads="1"/>
          </p:cNvSpPr>
          <p:nvPr/>
        </p:nvSpPr>
        <p:spPr bwMode="auto">
          <a:xfrm>
            <a:off x="3948891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대 내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외 환경변화 및 공단의 경영전략에 따라 적극적으로 대처 가능한 모델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3948891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경영정보 관리체계 </a:t>
            </a: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모델 필요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Rectangle 76"/>
          <p:cNvSpPr>
            <a:spLocks noChangeArrowheads="1"/>
          </p:cNvSpPr>
          <p:nvPr/>
        </p:nvSpPr>
        <p:spPr bwMode="auto">
          <a:xfrm>
            <a:off x="6722215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노후화된 경영정보시스템의 전면개편을 위한 정보화 마스터 플랜 수립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6722215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차세대 경영정보시스템 구축 정보화 마스터플랜 수립 필요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오른쪽 중괄호 79"/>
          <p:cNvSpPr/>
          <p:nvPr/>
        </p:nvSpPr>
        <p:spPr>
          <a:xfrm rot="16200000">
            <a:off x="4979393" y="18232"/>
            <a:ext cx="555854" cy="8241487"/>
          </a:xfrm>
          <a:prstGeom prst="rightBrace">
            <a:avLst>
              <a:gd name="adj1" fmla="val 51290"/>
              <a:gd name="adj2" fmla="val 50000"/>
            </a:avLst>
          </a:prstGeom>
          <a:gradFill flip="none" rotWithShape="1">
            <a:gsLst>
              <a:gs pos="0">
                <a:srgbClr val="B1CFFC">
                  <a:alpha val="20000"/>
                </a:srgbClr>
              </a:gs>
              <a:gs pos="50000">
                <a:srgbClr val="BEDCFF"/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970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사업추진 범위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사업추진 범위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사업의 범위는 차세대 경영정보시스템 업무재설계</a:t>
            </a:r>
            <a:r>
              <a:rPr lang="en-US" altLang="ko-KR" sz="1600" dirty="0"/>
              <a:t>, </a:t>
            </a:r>
            <a:r>
              <a:rPr lang="ko-KR" altLang="en-US" sz="1600" dirty="0"/>
              <a:t>차세대 경영정보시스템 마스터플랜 수립</a:t>
            </a:r>
            <a:r>
              <a:rPr lang="en-US" altLang="ko-KR" sz="1600" dirty="0"/>
              <a:t>, </a:t>
            </a:r>
            <a:r>
              <a:rPr lang="ko-KR" altLang="en-US" sz="1600" dirty="0"/>
              <a:t>차세대 경영정보시스템 사업계획 수립의 영역에 </a:t>
            </a:r>
            <a:r>
              <a:rPr lang="ko-KR" altLang="en-US" sz="1600" dirty="0" smtClean="0"/>
              <a:t>해당되며 하부 </a:t>
            </a:r>
            <a:r>
              <a:rPr lang="en-US" altLang="ko-KR" sz="1600" dirty="0" smtClean="0"/>
              <a:t>14</a:t>
            </a:r>
            <a:r>
              <a:rPr lang="ko-KR" altLang="en-US" sz="1600" dirty="0" smtClean="0"/>
              <a:t>개 업무로 구성됨</a:t>
            </a:r>
            <a:endParaRPr lang="ko-KR" altLang="en-US" sz="1600" dirty="0"/>
          </a:p>
        </p:txBody>
      </p:sp>
      <p:grpSp>
        <p:nvGrpSpPr>
          <p:cNvPr id="6" name="그룹 5"/>
          <p:cNvGrpSpPr/>
          <p:nvPr/>
        </p:nvGrpSpPr>
        <p:grpSpPr>
          <a:xfrm>
            <a:off x="6465168" y="1656245"/>
            <a:ext cx="2838734" cy="4509049"/>
            <a:chOff x="6665485" y="1656245"/>
            <a:chExt cx="2838734" cy="4509049"/>
          </a:xfrm>
        </p:grpSpPr>
        <p:sp>
          <p:nvSpPr>
            <p:cNvPr id="46" name="양쪽 모서리가 둥근 사각형 45"/>
            <p:cNvSpPr/>
            <p:nvPr/>
          </p:nvSpPr>
          <p:spPr>
            <a:xfrm flipV="1">
              <a:off x="6687798" y="2306636"/>
              <a:ext cx="2753335" cy="3858658"/>
            </a:xfrm>
            <a:prstGeom prst="round2SameRect">
              <a:avLst>
                <a:gd name="adj1" fmla="val 6613"/>
                <a:gd name="adj2" fmla="val 0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6667528" y="1656245"/>
              <a:ext cx="2795551" cy="591530"/>
            </a:xfrm>
            <a:prstGeom prst="roundRect">
              <a:avLst>
                <a:gd name="adj" fmla="val 8276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6916" y="2538439"/>
              <a:ext cx="1971600" cy="91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anchor="ctr"/>
            <a:lstStyle>
              <a:defPPr>
                <a:defRPr lang="ko-KR"/>
              </a:defPPr>
              <a:lvl1pPr marL="152400" indent="-152400" latinLnBrk="0">
                <a:lnSpc>
                  <a:spcPct val="110000"/>
                </a:lnSpc>
                <a:spcBef>
                  <a:spcPts val="300"/>
                </a:spcBef>
                <a:buClr>
                  <a:srgbClr val="94B9D0"/>
                </a:buClr>
                <a:buSzPct val="80000"/>
                <a:buFont typeface="Wingdings" pitchFamily="2" charset="2"/>
                <a:buChar char="£"/>
                <a:defRPr kumimoji="1" sz="1400" b="1" kern="0" spc="-6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</a:lstStyle>
            <a:p>
              <a:r>
                <a:rPr lang="ko-KR" altLang="en-US" sz="1300" dirty="0">
                  <a:latin typeface="맑은 고딕" pitchFamily="50" charset="-127"/>
                  <a:ea typeface="맑은 고딕" pitchFamily="50" charset="-127"/>
                </a:rPr>
                <a:t>차세대 </a:t>
              </a:r>
              <a:r>
                <a:rPr lang="ko-KR" altLang="en-US" sz="1300" dirty="0" smtClean="0">
                  <a:latin typeface="맑은 고딕" pitchFamily="50" charset="-127"/>
                  <a:ea typeface="맑은 고딕" pitchFamily="50" charset="-127"/>
                </a:rPr>
                <a:t> 경영정보시스템  </a:t>
              </a:r>
              <a:r>
                <a:rPr lang="ko-KR" altLang="en-US" sz="1300" dirty="0">
                  <a:latin typeface="맑은 고딕" pitchFamily="50" charset="-127"/>
                  <a:ea typeface="맑은 고딕" pitchFamily="50" charset="-127"/>
                </a:rPr>
                <a:t>구축을 위한 구체적인 이행계획 수립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7352901" y="1704966"/>
              <a:ext cx="215131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차세대 경영정보시스템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사업계획 수립</a:t>
              </a:r>
            </a:p>
          </p:txBody>
        </p:sp>
        <p:grpSp>
          <p:nvGrpSpPr>
            <p:cNvPr id="50" name="그룹 105"/>
            <p:cNvGrpSpPr/>
            <p:nvPr/>
          </p:nvGrpSpPr>
          <p:grpSpPr>
            <a:xfrm>
              <a:off x="6665485" y="1710655"/>
              <a:ext cx="703179" cy="430886"/>
              <a:chOff x="2000672" y="4456608"/>
              <a:chExt cx="576983" cy="176062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2000672" y="4456608"/>
                <a:ext cx="501547" cy="176062"/>
              </a:xfrm>
              <a:prstGeom prst="rect">
                <a:avLst/>
              </a:prstGeom>
              <a:noFill/>
              <a:effectLst>
                <a:reflection blurRad="508000" stA="52000" endA="300" endPos="8000" dir="5400000" sy="-100000" algn="bl" rotWithShape="0"/>
              </a:effectLst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r" latinLnBrk="0"/>
                <a:r>
                  <a:rPr lang="en-US" altLang="ko-KR" sz="2800" dirty="0">
                    <a:solidFill>
                      <a:prstClr val="white">
                        <a:lumMod val="65000"/>
                      </a:prstClr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0</a:t>
                </a:r>
                <a:r>
                  <a:rPr lang="en-US" altLang="ko-KR" sz="2800" dirty="0">
                    <a:solidFill>
                      <a:srgbClr val="FFFFFF"/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3</a:t>
                </a:r>
                <a:endParaRPr lang="ko-KR" altLang="en-US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2" name="직선 연결선 51"/>
              <p:cNvCxnSpPr/>
              <p:nvPr/>
            </p:nvCxnSpPr>
            <p:spPr>
              <a:xfrm flipV="1">
                <a:off x="2577655" y="4469284"/>
                <a:ext cx="0" cy="16134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3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3443" y="2734263"/>
              <a:ext cx="650530" cy="677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직사각형 76"/>
            <p:cNvSpPr/>
            <p:nvPr/>
          </p:nvSpPr>
          <p:spPr bwMode="auto">
            <a:xfrm>
              <a:off x="6894465" y="3553340"/>
              <a:ext cx="2340000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차세대 경영정보시스템 구축을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위한 중장기 로드맵 제시</a:t>
              </a:r>
            </a:p>
          </p:txBody>
        </p:sp>
        <p:sp>
          <p:nvSpPr>
            <p:cNvPr id="78" name="직사각형 77"/>
            <p:cNvSpPr/>
            <p:nvPr/>
          </p:nvSpPr>
          <p:spPr bwMode="auto">
            <a:xfrm>
              <a:off x="6894465" y="4215054"/>
              <a:ext cx="2340000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단계별 구축 이행을 위한 </a:t>
              </a: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경제성분석</a:t>
              </a:r>
              <a:r>
                <a:rPr lang="en-US" altLang="ko-KR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이행계획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수립</a:t>
              </a:r>
            </a:p>
          </p:txBody>
        </p:sp>
        <p:sp>
          <p:nvSpPr>
            <p:cNvPr id="81" name="직사각형 80"/>
            <p:cNvSpPr/>
            <p:nvPr/>
          </p:nvSpPr>
          <p:spPr bwMode="auto">
            <a:xfrm>
              <a:off x="6894465" y="4876768"/>
              <a:ext cx="2340000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공단 정보시스템 구축 방법론 및 표준 </a:t>
              </a: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아키텍처 수립</a:t>
              </a:r>
              <a:endPara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 bwMode="auto">
            <a:xfrm>
              <a:off x="6894465" y="5538483"/>
              <a:ext cx="2340000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차세대 정보시스템 구축 사업계획서 및 제안요청서 작성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85494" y="1656245"/>
            <a:ext cx="2711322" cy="4509059"/>
            <a:chOff x="416321" y="1656245"/>
            <a:chExt cx="2711322" cy="4509059"/>
          </a:xfrm>
        </p:grpSpPr>
        <p:sp>
          <p:nvSpPr>
            <p:cNvPr id="34" name="양쪽 모서리가 둥근 사각형 33"/>
            <p:cNvSpPr/>
            <p:nvPr/>
          </p:nvSpPr>
          <p:spPr>
            <a:xfrm flipV="1">
              <a:off x="436590" y="2306646"/>
              <a:ext cx="2644035" cy="3858658"/>
            </a:xfrm>
            <a:prstGeom prst="round2SameRect">
              <a:avLst>
                <a:gd name="adj1" fmla="val 6613"/>
                <a:gd name="adj2" fmla="val 0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416321" y="1656245"/>
              <a:ext cx="2684575" cy="591532"/>
            </a:xfrm>
            <a:prstGeom prst="roundRect">
              <a:avLst>
                <a:gd name="adj" fmla="val 8276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5795" y="2587929"/>
              <a:ext cx="2011848" cy="817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anchor="ctr"/>
            <a:lstStyle>
              <a:defPPr>
                <a:defRPr lang="ko-KR"/>
              </a:defPPr>
              <a:lvl1pPr marL="180975" indent="-180975" latinLnBrk="0">
                <a:spcBef>
                  <a:spcPts val="600"/>
                </a:spcBef>
                <a:buClr>
                  <a:srgbClr val="94B9D0"/>
                </a:buClr>
                <a:buSzPct val="80000"/>
                <a:buFont typeface="Wingdings" pitchFamily="2" charset="2"/>
                <a:buChar char="£"/>
                <a:defRPr kumimoji="1" sz="120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</a:lstStyle>
            <a:p>
              <a:pPr marL="152400" indent="-152400">
                <a:lnSpc>
                  <a:spcPct val="110000"/>
                </a:lnSpc>
                <a:spcBef>
                  <a:spcPts val="300"/>
                </a:spcBef>
              </a:pPr>
              <a:r>
                <a:rPr lang="ko-KR" altLang="en-US" sz="1300" b="1" kern="0" spc="-60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맑은 고딕" pitchFamily="50" charset="-127"/>
                  <a:ea typeface="맑은 고딕" pitchFamily="50" charset="-127"/>
                </a:rPr>
                <a:t>최적화된 </a:t>
              </a:r>
              <a:r>
                <a:rPr lang="ko-KR" altLang="en-US" sz="1300" b="1" kern="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맑은 고딕" pitchFamily="50" charset="-127"/>
                  <a:ea typeface="맑은 고딕" pitchFamily="50" charset="-127"/>
                </a:rPr>
                <a:t>업무 </a:t>
              </a:r>
              <a:r>
                <a:rPr lang="ko-KR" altLang="en-US" sz="1300" b="1" kern="0" spc="-60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맑은 고딕" pitchFamily="50" charset="-127"/>
                  <a:ea typeface="맑은 고딕" pitchFamily="50" charset="-127"/>
                </a:rPr>
                <a:t>프로세스  및 개선계획 수립을 </a:t>
              </a:r>
              <a:r>
                <a:rPr lang="ko-KR" altLang="en-US" sz="1300" b="1" kern="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맑은 고딕" pitchFamily="50" charset="-127"/>
                  <a:ea typeface="맑은 고딕" pitchFamily="50" charset="-127"/>
                </a:rPr>
                <a:t>통한 업무 효율성 극대화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100011" y="1724554"/>
              <a:ext cx="2027632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차세대 </a:t>
              </a:r>
              <a:r>
                <a:rPr lang="ko-KR" altLang="en-US" sz="1400" b="1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경영정보시스템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업무재설계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8" name="그룹 55"/>
            <p:cNvGrpSpPr/>
            <p:nvPr/>
          </p:nvGrpSpPr>
          <p:grpSpPr>
            <a:xfrm>
              <a:off x="486724" y="1723956"/>
              <a:ext cx="620100" cy="430888"/>
              <a:chOff x="1836492" y="4462047"/>
              <a:chExt cx="650488" cy="176063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1836492" y="4462047"/>
                <a:ext cx="650488" cy="176063"/>
              </a:xfrm>
              <a:prstGeom prst="rect">
                <a:avLst/>
              </a:prstGeom>
              <a:noFill/>
              <a:effectLst>
                <a:reflection blurRad="508000" stA="52000" endA="300" endPos="8000" dir="5400000" sy="-100000" algn="bl" rotWithShape="0"/>
              </a:effectLst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r" latinLnBrk="0"/>
                <a:r>
                  <a:rPr lang="en-US" altLang="ko-KR" sz="2800" dirty="0">
                    <a:solidFill>
                      <a:prstClr val="white">
                        <a:lumMod val="65000"/>
                      </a:prstClr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0</a:t>
                </a:r>
                <a:r>
                  <a:rPr lang="en-US" altLang="ko-KR" sz="2800" dirty="0">
                    <a:solidFill>
                      <a:srgbClr val="FFFFFF"/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1</a:t>
                </a:r>
                <a:endParaRPr lang="ko-KR" altLang="en-US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0" name="직선 연결선 39"/>
              <p:cNvCxnSpPr/>
              <p:nvPr/>
            </p:nvCxnSpPr>
            <p:spPr>
              <a:xfrm flipV="1">
                <a:off x="2479835" y="4474723"/>
                <a:ext cx="0" cy="16134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37172" y="2768457"/>
              <a:ext cx="692364" cy="524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직사각형 41"/>
            <p:cNvSpPr/>
            <p:nvPr/>
          </p:nvSpPr>
          <p:spPr bwMode="auto">
            <a:xfrm>
              <a:off x="588607" y="3553339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선행사업 및 </a:t>
              </a: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선진사례 분석을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통한 방향성 정립</a:t>
              </a: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588607" y="4076625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업무 프로세스 현황 분석</a:t>
              </a:r>
            </a:p>
          </p:txBody>
        </p:sp>
        <p:sp>
          <p:nvSpPr>
            <p:cNvPr id="44" name="직사각형 43"/>
            <p:cNvSpPr/>
            <p:nvPr/>
          </p:nvSpPr>
          <p:spPr bwMode="auto">
            <a:xfrm>
              <a:off x="588607" y="4599911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업무요건 분석 및 사용자 요구사항 도출</a:t>
              </a:r>
            </a:p>
          </p:txBody>
        </p:sp>
        <p:sp>
          <p:nvSpPr>
            <p:cNvPr id="45" name="직사각형 44"/>
            <p:cNvSpPr/>
            <p:nvPr/>
          </p:nvSpPr>
          <p:spPr bwMode="auto">
            <a:xfrm>
              <a:off x="588607" y="5123197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미래 업무 프로세스 설계</a:t>
              </a:r>
            </a:p>
          </p:txBody>
        </p:sp>
        <p:sp>
          <p:nvSpPr>
            <p:cNvPr id="90" name="직사각형 89"/>
            <p:cNvSpPr/>
            <p:nvPr/>
          </p:nvSpPr>
          <p:spPr bwMode="auto">
            <a:xfrm>
              <a:off x="588607" y="5646483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업무 목표모델 및 개선과제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460709" y="1656245"/>
            <a:ext cx="2840565" cy="4509059"/>
            <a:chOff x="3531814" y="1656245"/>
            <a:chExt cx="2840565" cy="4509059"/>
          </a:xfrm>
        </p:grpSpPr>
        <p:sp>
          <p:nvSpPr>
            <p:cNvPr id="54" name="양쪽 모서리가 둥근 사각형 53"/>
            <p:cNvSpPr/>
            <p:nvPr/>
          </p:nvSpPr>
          <p:spPr>
            <a:xfrm flipV="1">
              <a:off x="3552084" y="2306646"/>
              <a:ext cx="2712283" cy="3858658"/>
            </a:xfrm>
            <a:prstGeom prst="round2SameRect">
              <a:avLst>
                <a:gd name="adj1" fmla="val 6613"/>
                <a:gd name="adj2" fmla="val 0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3531814" y="1656245"/>
              <a:ext cx="2753869" cy="591532"/>
            </a:xfrm>
            <a:prstGeom prst="roundRect">
              <a:avLst>
                <a:gd name="adj" fmla="val 8276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224130" y="2551863"/>
              <a:ext cx="2134696" cy="88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anchor="ctr"/>
            <a:lstStyle>
              <a:defPPr>
                <a:defRPr lang="ko-KR"/>
              </a:defPPr>
              <a:lvl1pPr marL="152400" indent="-152400" latinLnBrk="0">
                <a:lnSpc>
                  <a:spcPct val="110000"/>
                </a:lnSpc>
                <a:spcBef>
                  <a:spcPts val="300"/>
                </a:spcBef>
                <a:buClr>
                  <a:srgbClr val="94B9D0"/>
                </a:buClr>
                <a:buSzPct val="80000"/>
                <a:buFont typeface="Wingdings" pitchFamily="2" charset="2"/>
                <a:buChar char="£"/>
                <a:defRPr kumimoji="1" sz="1100" kern="0" spc="-6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414F5D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</a:lstStyle>
            <a:p>
              <a:r>
                <a:rPr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지능형 정보기술 </a:t>
              </a:r>
              <a:r>
                <a:rPr lang="ko-KR" altLang="en-US" sz="1300" b="1" dirty="0">
                  <a:latin typeface="맑은 고딕" pitchFamily="50" charset="-127"/>
                  <a:ea typeface="맑은 고딕" pitchFamily="50" charset="-127"/>
                </a:rPr>
                <a:t>기반의 정보시스템 설계를 통한 혁신적 서비스 제공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091633" y="1724555"/>
              <a:ext cx="2280746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차세대 경영정보시스템 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마스터플랜 수립</a:t>
              </a:r>
            </a:p>
          </p:txBody>
        </p:sp>
        <p:grpSp>
          <p:nvGrpSpPr>
            <p:cNvPr id="58" name="그룹 130"/>
            <p:cNvGrpSpPr/>
            <p:nvPr/>
          </p:nvGrpSpPr>
          <p:grpSpPr>
            <a:xfrm>
              <a:off x="3539612" y="1723974"/>
              <a:ext cx="672526" cy="430886"/>
              <a:chOff x="2000672" y="4462050"/>
              <a:chExt cx="551832" cy="176062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2000672" y="4462050"/>
                <a:ext cx="501547" cy="176062"/>
              </a:xfrm>
              <a:prstGeom prst="rect">
                <a:avLst/>
              </a:prstGeom>
              <a:noFill/>
              <a:effectLst>
                <a:reflection blurRad="508000" stA="52000" endA="300" endPos="8000" dir="5400000" sy="-100000" algn="bl" rotWithShape="0"/>
              </a:effectLst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r" latinLnBrk="0"/>
                <a:r>
                  <a:rPr lang="en-US" altLang="ko-KR" sz="2800" dirty="0">
                    <a:solidFill>
                      <a:prstClr val="white">
                        <a:lumMod val="65000"/>
                      </a:prstClr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0</a:t>
                </a:r>
                <a:r>
                  <a:rPr lang="en-US" altLang="ko-KR" sz="2800" dirty="0">
                    <a:solidFill>
                      <a:srgbClr val="FFFFFF"/>
                    </a:solidFill>
                    <a:effectLst>
                      <a:reflection blurRad="6350" stA="30000" endPos="20000" dir="5400000" sy="-100000" algn="bl" rotWithShape="0"/>
                    </a:effectLst>
                    <a:latin typeface="맑은 고딕" pitchFamily="50" charset="-127"/>
                    <a:ea typeface="맑은 고딕" pitchFamily="50" charset="-127"/>
                  </a:rPr>
                  <a:t>2</a:t>
                </a:r>
                <a:endParaRPr lang="ko-KR" altLang="en-US" sz="2800" dirty="0">
                  <a:solidFill>
                    <a:srgbClr val="FFFFFF"/>
                  </a:solidFill>
                  <a:effectLst>
                    <a:reflection blurRad="6350" stA="30000" endPos="20000" dir="5400000" sy="-100000" algn="bl" rotWithShape="0"/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60" name="직선 연결선 59"/>
              <p:cNvCxnSpPr/>
              <p:nvPr/>
            </p:nvCxnSpPr>
            <p:spPr>
              <a:xfrm flipV="1">
                <a:off x="2552504" y="4474723"/>
                <a:ext cx="0" cy="16134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619063" y="2691781"/>
              <a:ext cx="640022" cy="6433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직사각형 71"/>
            <p:cNvSpPr/>
            <p:nvPr/>
          </p:nvSpPr>
          <p:spPr bwMode="auto">
            <a:xfrm>
              <a:off x="3738225" y="3553340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선행사업 및 </a:t>
              </a: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선진사례 분석을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통한 방향성 정립</a:t>
              </a:r>
            </a:p>
          </p:txBody>
        </p:sp>
        <p:sp>
          <p:nvSpPr>
            <p:cNvPr id="74" name="직사각형 73"/>
            <p:cNvSpPr/>
            <p:nvPr/>
          </p:nvSpPr>
          <p:spPr bwMode="auto">
            <a:xfrm>
              <a:off x="3738225" y="4076626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>
                <a:buSzPct val="80000"/>
              </a:pP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정보시스템 현황 분석</a:t>
              </a:r>
            </a:p>
          </p:txBody>
        </p:sp>
        <p:sp>
          <p:nvSpPr>
            <p:cNvPr id="75" name="직사각형 74"/>
            <p:cNvSpPr/>
            <p:nvPr/>
          </p:nvSpPr>
          <p:spPr bwMode="auto">
            <a:xfrm>
              <a:off x="3738225" y="4599912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latinLnBrk="0"/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정보기술 요건 분석</a:t>
              </a:r>
              <a:r>
                <a:rPr lang="en-US" altLang="ko-KR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비기능</a:t>
              </a:r>
              <a:r>
                <a:rPr lang="en-US" altLang="ko-KR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 bwMode="auto">
            <a:xfrm>
              <a:off x="3738225" y="5123198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 latinLnBrk="0">
                <a:buSzPct val="80000"/>
              </a:pP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정보시스템 아키텍처 정의</a:t>
              </a:r>
            </a:p>
          </p:txBody>
        </p:sp>
        <p:sp>
          <p:nvSpPr>
            <p:cNvPr id="95" name="직사각형 94"/>
            <p:cNvSpPr/>
            <p:nvPr/>
          </p:nvSpPr>
          <p:spPr bwMode="auto">
            <a:xfrm>
              <a:off x="3738225" y="5646483"/>
              <a:ext cx="2340000" cy="43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 latinLnBrk="0">
                <a:buSzPct val="80000"/>
              </a:pP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차세대 정보시스템 요건기술서 </a:t>
              </a:r>
              <a:endParaRPr lang="en-US" altLang="ko-KR" sz="12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>
                <a:buSzPct val="80000"/>
              </a:pPr>
              <a:r>
                <a:rPr lang="ko-KR" altLang="en-US" sz="120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작성 </a:t>
              </a:r>
              <a:r>
                <a: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및 검토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86158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사업추진 절차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사업추진 절차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사업은 수행사의 </a:t>
            </a:r>
            <a:r>
              <a:rPr lang="en-US" altLang="ko-KR" sz="1600" dirty="0"/>
              <a:t>BPR/ISMP</a:t>
            </a:r>
            <a:r>
              <a:rPr lang="ko-KR" altLang="en-US" sz="1600" dirty="0"/>
              <a:t>를 결합한 통합방법론을 기반으로 차세대 경영정보시스템의 요구사항 및 환경</a:t>
            </a:r>
            <a:r>
              <a:rPr lang="en-US" altLang="ko-KR" sz="1600" dirty="0"/>
              <a:t>, </a:t>
            </a:r>
            <a:r>
              <a:rPr lang="ko-KR" altLang="en-US" sz="1600" dirty="0"/>
              <a:t>최신의 업무기법과 정보기술 변화 동향을 </a:t>
            </a:r>
            <a:r>
              <a:rPr lang="ko-KR" altLang="en-US" sz="1600" dirty="0" smtClean="0"/>
              <a:t>고려하고 </a:t>
            </a:r>
            <a:r>
              <a:rPr lang="ko-KR" altLang="en-US" sz="1600" dirty="0" err="1"/>
              <a:t>테일러링하여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사업을 추진함</a:t>
            </a:r>
            <a:endParaRPr lang="ko-KR" altLang="en-US" sz="1600" dirty="0"/>
          </a:p>
        </p:txBody>
      </p:sp>
      <p:sp>
        <p:nvSpPr>
          <p:cNvPr id="145" name="Rectangle 201"/>
          <p:cNvSpPr>
            <a:spLocks noChangeArrowheads="1"/>
          </p:cNvSpPr>
          <p:nvPr/>
        </p:nvSpPr>
        <p:spPr bwMode="auto">
          <a:xfrm rot="16200000" flipH="1">
            <a:off x="113042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Rectangle 201"/>
          <p:cNvSpPr>
            <a:spLocks noChangeArrowheads="1"/>
          </p:cNvSpPr>
          <p:nvPr/>
        </p:nvSpPr>
        <p:spPr bwMode="auto">
          <a:xfrm flipH="1" flipV="1">
            <a:off x="461888" y="5107797"/>
            <a:ext cx="2829569" cy="1110889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7" name="Rectangle 49"/>
          <p:cNvSpPr>
            <a:spLocks noChangeArrowheads="1"/>
          </p:cNvSpPr>
          <p:nvPr/>
        </p:nvSpPr>
        <p:spPr bwMode="auto">
          <a:xfrm>
            <a:off x="610078" y="485160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Total Consulting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방법론</a:t>
            </a:r>
          </a:p>
        </p:txBody>
      </p:sp>
      <p:sp>
        <p:nvSpPr>
          <p:cNvPr id="142" name="Rectangle 201"/>
          <p:cNvSpPr>
            <a:spLocks noChangeArrowheads="1"/>
          </p:cNvSpPr>
          <p:nvPr/>
        </p:nvSpPr>
        <p:spPr bwMode="auto">
          <a:xfrm rot="5400000">
            <a:off x="421928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Rectangle 201"/>
          <p:cNvSpPr>
            <a:spLocks noChangeArrowheads="1"/>
          </p:cNvSpPr>
          <p:nvPr/>
        </p:nvSpPr>
        <p:spPr bwMode="auto">
          <a:xfrm flipV="1">
            <a:off x="3533331" y="5107797"/>
            <a:ext cx="2837573" cy="1110888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4" name="Rectangle 49"/>
          <p:cNvSpPr>
            <a:spLocks noChangeArrowheads="1"/>
          </p:cNvSpPr>
          <p:nvPr/>
        </p:nvSpPr>
        <p:spPr bwMode="auto">
          <a:xfrm flipH="1">
            <a:off x="3774786" y="4851602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검증된 방법론</a:t>
            </a:r>
          </a:p>
        </p:txBody>
      </p:sp>
      <p:sp>
        <p:nvSpPr>
          <p:cNvPr id="139" name="Rectangle 201"/>
          <p:cNvSpPr>
            <a:spLocks noChangeArrowheads="1"/>
          </p:cNvSpPr>
          <p:nvPr/>
        </p:nvSpPr>
        <p:spPr bwMode="auto">
          <a:xfrm rot="5400000">
            <a:off x="7247271" y="4025525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Rectangle 201"/>
          <p:cNvSpPr>
            <a:spLocks noChangeArrowheads="1"/>
          </p:cNvSpPr>
          <p:nvPr/>
        </p:nvSpPr>
        <p:spPr bwMode="auto">
          <a:xfrm flipV="1">
            <a:off x="6561321" y="5085137"/>
            <a:ext cx="2793129" cy="1080166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1" name="Rectangle 49"/>
          <p:cNvSpPr>
            <a:spLocks noChangeArrowheads="1"/>
          </p:cNvSpPr>
          <p:nvPr/>
        </p:nvSpPr>
        <p:spPr bwMode="auto">
          <a:xfrm flipH="1">
            <a:off x="6842102" y="482894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실효성 있는 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방향</a:t>
            </a:r>
            <a:endParaRPr kumimoji="1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한쪽 모서리가 둥근 사각형 171"/>
          <p:cNvSpPr/>
          <p:nvPr/>
        </p:nvSpPr>
        <p:spPr>
          <a:xfrm flipH="1">
            <a:off x="596627" y="5169812"/>
            <a:ext cx="2654043" cy="99549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차세대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경영정보시스템의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요구사항 및 환경</a:t>
            </a:r>
            <a:r>
              <a:rPr lang="en-US" altLang="ko-KR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최신의 업무기법과 정보기술 변화 동향을 고려하여 </a:t>
            </a:r>
            <a:r>
              <a:rPr lang="ko-KR" altLang="en-US" sz="1000" spc="-50" dirty="0" err="1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수행사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고유의 </a:t>
            </a:r>
            <a:r>
              <a:rPr lang="en-US" altLang="ko-KR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BPR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방법론을 적용하여 테일러링</a:t>
            </a:r>
          </a:p>
        </p:txBody>
      </p:sp>
      <p:sp>
        <p:nvSpPr>
          <p:cNvPr id="149" name="한쪽 모서리가 둥근 사각형 171"/>
          <p:cNvSpPr/>
          <p:nvPr/>
        </p:nvSpPr>
        <p:spPr>
          <a:xfrm flipH="1">
            <a:off x="3660301" y="5140461"/>
            <a:ext cx="2661551" cy="99549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타 부처 유사사례 및 다양한 공공기관 </a:t>
            </a:r>
            <a: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BPR/ISP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사업에 적용하여 성공적인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수행</a:t>
            </a:r>
            <a:endParaRPr lang="en-US" altLang="ko-KR" sz="1000" spc="-5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수행사의 </a:t>
            </a:r>
            <a: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BPR/ISMP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사업에서 검증된 방법론 기준 사업추진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한쪽 모서리가 둥근 사각형 171"/>
          <p:cNvSpPr/>
          <p:nvPr/>
        </p:nvSpPr>
        <p:spPr>
          <a:xfrm flipH="1">
            <a:off x="6637684" y="5135084"/>
            <a:ext cx="2693089" cy="96796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유사사업 수행 경험으로 인해 축적된 </a:t>
            </a:r>
            <a: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Know-how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를 활용하여 사업의 위험요소를 최소화하고</a:t>
            </a:r>
            <a:r>
              <a:rPr lang="en-US" altLang="ko-KR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현실적인 목표모델 및 구체적인 이행계획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수립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AutoShape 292"/>
          <p:cNvSpPr>
            <a:spLocks noChangeArrowheads="1"/>
          </p:cNvSpPr>
          <p:nvPr/>
        </p:nvSpPr>
        <p:spPr bwMode="auto">
          <a:xfrm>
            <a:off x="473841" y="1694315"/>
            <a:ext cx="692407" cy="2967450"/>
          </a:xfrm>
          <a:prstGeom prst="roundRect">
            <a:avLst>
              <a:gd name="adj" fmla="val 3481"/>
            </a:avLst>
          </a:prstGeom>
          <a:pattFill prst="wdUpDiag">
            <a:fgClr>
              <a:srgbClr val="F8F8F8"/>
            </a:fgClr>
            <a:bgClr>
              <a:srgbClr val="F0F0F0"/>
            </a:bgClr>
          </a:patt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lvl="1" indent="-142875" algn="ctr" defTabSz="762000" eaLnBrk="0" hangingPunct="0">
              <a:lnSpc>
                <a:spcPct val="90000"/>
              </a:lnSpc>
              <a:buClr>
                <a:srgbClr val="000000"/>
              </a:buClr>
              <a:tabLst>
                <a:tab pos="5648325" algn="l"/>
              </a:tabLst>
            </a:pPr>
            <a:endParaRPr lang="ko-KR" altLang="en-US" sz="1300" dirty="0">
              <a:solidFill>
                <a:srgbClr val="4D4D4D"/>
              </a:solidFill>
              <a:latin typeface="맑은 고딕" pitchFamily="50" charset="-127"/>
              <a:ea typeface="맑은 고딕" pitchFamily="50" charset="-127"/>
              <a:sym typeface="Gill Sans"/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431635" y="2616277"/>
            <a:ext cx="396941" cy="1038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brightRoom" dir="tl"/>
            </a:scene3d>
            <a:sp3d extrusionH="57150" contourW="38100"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</a:rPr>
              <a:t>통</a:t>
            </a:r>
            <a:endParaRPr lang="en-US" altLang="ko-KR" sz="1500" dirty="0">
              <a:solidFill>
                <a:srgbClr val="336699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</a:rPr>
              <a:t>합</a:t>
            </a:r>
            <a:endParaRPr lang="en-US" altLang="ko-KR" sz="1500" dirty="0">
              <a:solidFill>
                <a:srgbClr val="336699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</a:rPr>
              <a:t>방</a:t>
            </a:r>
            <a:endParaRPr lang="en-US" altLang="ko-KR" sz="1500" dirty="0">
              <a:solidFill>
                <a:srgbClr val="336699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</a:rPr>
              <a:t>법</a:t>
            </a:r>
            <a:endParaRPr lang="en-US" altLang="ko-KR" sz="1500" dirty="0">
              <a:solidFill>
                <a:srgbClr val="336699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 err="1">
                <a:solidFill>
                  <a:srgbClr val="336699"/>
                </a:solidFill>
                <a:latin typeface="맑은 고딕" pitchFamily="50" charset="-127"/>
                <a:ea typeface="맑은 고딕" pitchFamily="50" charset="-127"/>
              </a:rPr>
              <a:t>론</a:t>
            </a:r>
            <a:endParaRPr lang="en-US" altLang="ko-KR" sz="1500" dirty="0" err="1">
              <a:solidFill>
                <a:srgbClr val="33669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" name="모서리가 둥근 직사각형 152"/>
          <p:cNvSpPr/>
          <p:nvPr/>
        </p:nvSpPr>
        <p:spPr bwMode="auto">
          <a:xfrm>
            <a:off x="907504" y="1827027"/>
            <a:ext cx="229072" cy="1334540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>
              <a:defRPr/>
            </a:pPr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B</a:t>
            </a:r>
          </a:p>
          <a:p>
            <a:pPr marL="185738" indent="-185738" algn="ctr" defTabSz="1330325" eaLnBrk="0" latinLnBrk="0" hangingPunct="0">
              <a:defRPr/>
            </a:pPr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P</a:t>
            </a:r>
          </a:p>
          <a:p>
            <a:pPr marL="185738" indent="-185738" algn="ctr" defTabSz="1330325" eaLnBrk="0" latinLnBrk="0" hangingPunct="0">
              <a:defRPr/>
            </a:pPr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R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 bwMode="auto">
          <a:xfrm>
            <a:off x="907504" y="3255787"/>
            <a:ext cx="229072" cy="1334540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/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I</a:t>
            </a:r>
          </a:p>
          <a:p>
            <a:pPr marL="185738" indent="-185738" algn="ctr" defTabSz="1330325" eaLnBrk="0" latinLnBrk="0" hangingPunct="0"/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S</a:t>
            </a:r>
          </a:p>
          <a:p>
            <a:pPr marL="185738" indent="-185738" algn="ctr" defTabSz="1330325" eaLnBrk="0" latinLnBrk="0" hangingPunct="0"/>
            <a:r>
              <a:rPr lang="en-US" altLang="ko-KR" sz="1000" kern="0" spc="-70" dirty="0">
                <a:latin typeface="맑은 고딕" pitchFamily="50" charset="-127"/>
                <a:ea typeface="맑은 고딕" pitchFamily="50" charset="-127"/>
              </a:rPr>
              <a:t>M</a:t>
            </a:r>
          </a:p>
          <a:p>
            <a:pPr marL="185738" indent="-185738" algn="ctr" defTabSz="1330325" eaLnBrk="0" latinLnBrk="0" hangingPunct="0"/>
            <a:r>
              <a:rPr lang="en-US" altLang="ko-KR" sz="1200" kern="0" spc="-70" dirty="0">
                <a:latin typeface="맑은 고딕" pitchFamily="50" charset="-127"/>
                <a:ea typeface="맑은 고딕" pitchFamily="50" charset="-127"/>
              </a:rPr>
              <a:t>P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AutoShape 72"/>
          <p:cNvSpPr>
            <a:spLocks noChangeArrowheads="1"/>
          </p:cNvSpPr>
          <p:nvPr/>
        </p:nvSpPr>
        <p:spPr bwMode="auto">
          <a:xfrm>
            <a:off x="1166249" y="1715747"/>
            <a:ext cx="2151297" cy="535546"/>
          </a:xfrm>
          <a:prstGeom prst="chevron">
            <a:avLst>
              <a:gd name="adj" fmla="val 36803"/>
            </a:avLst>
          </a:prstGeom>
          <a:solidFill>
            <a:srgbClr val="C1E3FF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방향성 수립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6" name="AutoShape 72"/>
          <p:cNvSpPr>
            <a:spLocks noChangeArrowheads="1"/>
          </p:cNvSpPr>
          <p:nvPr/>
        </p:nvSpPr>
        <p:spPr bwMode="auto">
          <a:xfrm>
            <a:off x="3279443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508CD2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현황 및 요건 분석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AutoShape 72"/>
          <p:cNvSpPr>
            <a:spLocks noChangeArrowheads="1"/>
          </p:cNvSpPr>
          <p:nvPr/>
        </p:nvSpPr>
        <p:spPr bwMode="auto">
          <a:xfrm>
            <a:off x="5312760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01458C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목표모델 설계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AutoShape 72"/>
          <p:cNvSpPr>
            <a:spLocks noChangeArrowheads="1"/>
          </p:cNvSpPr>
          <p:nvPr/>
        </p:nvSpPr>
        <p:spPr bwMode="auto">
          <a:xfrm>
            <a:off x="7346076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233C5A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>
              <a:defRPr/>
            </a:pPr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이행계획 수립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1321661" y="2401581"/>
            <a:ext cx="1767557" cy="2153899"/>
            <a:chOff x="330455" y="2328166"/>
            <a:chExt cx="1738034" cy="2730346"/>
          </a:xfrm>
        </p:grpSpPr>
        <p:sp>
          <p:nvSpPr>
            <p:cNvPr id="160" name="직사각형 159"/>
            <p:cNvSpPr/>
            <p:nvPr/>
          </p:nvSpPr>
          <p:spPr bwMode="auto">
            <a:xfrm>
              <a:off x="330455" y="2328166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정책환경분석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 bwMode="auto">
            <a:xfrm>
              <a:off x="330455" y="2872867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최신기술동향분석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직사각형 161"/>
            <p:cNvSpPr/>
            <p:nvPr/>
          </p:nvSpPr>
          <p:spPr bwMode="auto">
            <a:xfrm>
              <a:off x="330455" y="3465544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유관 법제도 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직사각형 162"/>
            <p:cNvSpPr/>
            <p:nvPr/>
          </p:nvSpPr>
          <p:spPr bwMode="auto">
            <a:xfrm>
              <a:off x="330455" y="401024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선진사례 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직사각형 163"/>
            <p:cNvSpPr/>
            <p:nvPr/>
          </p:nvSpPr>
          <p:spPr bwMode="auto">
            <a:xfrm>
              <a:off x="330455" y="4602922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추진 방향성 수립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65" name="그룹 14"/>
          <p:cNvGrpSpPr/>
          <p:nvPr/>
        </p:nvGrpSpPr>
        <p:grpSpPr>
          <a:xfrm>
            <a:off x="3374498" y="2401581"/>
            <a:ext cx="1767558" cy="2153899"/>
            <a:chOff x="2437280" y="2364125"/>
            <a:chExt cx="1738034" cy="2730346"/>
          </a:xfrm>
        </p:grpSpPr>
        <p:sp>
          <p:nvSpPr>
            <p:cNvPr id="166" name="직사각형 165"/>
            <p:cNvSpPr/>
            <p:nvPr/>
          </p:nvSpPr>
          <p:spPr bwMode="auto">
            <a:xfrm>
              <a:off x="2437280" y="2364125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업무 및 정보화 현황분석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 bwMode="auto">
            <a:xfrm>
              <a:off x="2437280" y="290882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요구사항 수집분석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데이터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직사각형 168"/>
            <p:cNvSpPr/>
            <p:nvPr/>
          </p:nvSpPr>
          <p:spPr bwMode="auto">
            <a:xfrm>
              <a:off x="2437280" y="4046205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인프라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 bwMode="auto">
            <a:xfrm>
              <a:off x="2437280" y="4638881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시사점 및 개선기회종합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1" name="그룹 65"/>
          <p:cNvGrpSpPr/>
          <p:nvPr/>
        </p:nvGrpSpPr>
        <p:grpSpPr>
          <a:xfrm>
            <a:off x="5374762" y="2398251"/>
            <a:ext cx="1767558" cy="1686353"/>
            <a:chOff x="2437280" y="2364125"/>
            <a:chExt cx="1738034" cy="2137670"/>
          </a:xfrm>
        </p:grpSpPr>
        <p:sp>
          <p:nvSpPr>
            <p:cNvPr id="172" name="직사각형 171"/>
            <p:cNvSpPr/>
            <p:nvPr/>
          </p:nvSpPr>
          <p:spPr bwMode="auto">
            <a:xfrm>
              <a:off x="2437280" y="2364125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목표모델 체계정의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3" name="직사각형 172"/>
            <p:cNvSpPr/>
            <p:nvPr/>
          </p:nvSpPr>
          <p:spPr bwMode="auto">
            <a:xfrm>
              <a:off x="2437280" y="290882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개선과제 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업무 프로세스 재설계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5" name="직사각형 174"/>
            <p:cNvSpPr/>
            <p:nvPr/>
          </p:nvSpPr>
          <p:spPr bwMode="auto">
            <a:xfrm>
              <a:off x="2437280" y="4046205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아키텍처 설계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2210922" y="2732939"/>
            <a:ext cx="3" cy="1472020"/>
            <a:chOff x="2238354" y="2857497"/>
            <a:chExt cx="3" cy="1472020"/>
          </a:xfrm>
        </p:grpSpPr>
        <p:cxnSp>
          <p:nvCxnSpPr>
            <p:cNvPr id="177" name="직선 화살표 연결선 176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직선 화살표 연결선 177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직선 화살표 연결선 178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직선 화살표 연결선 179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1" name="그룹 180"/>
          <p:cNvGrpSpPr/>
          <p:nvPr/>
        </p:nvGrpSpPr>
        <p:grpSpPr>
          <a:xfrm>
            <a:off x="4282623" y="2732939"/>
            <a:ext cx="3" cy="1472020"/>
            <a:chOff x="2238354" y="2857497"/>
            <a:chExt cx="3" cy="1472020"/>
          </a:xfrm>
        </p:grpSpPr>
        <p:cxnSp>
          <p:nvCxnSpPr>
            <p:cNvPr id="182" name="직선 화살표 연결선 181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3" name="직선 화살표 연결선 182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직선 화살표 연결선 183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직선 화살표 연결선 184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6" name="그룹 185"/>
          <p:cNvGrpSpPr/>
          <p:nvPr/>
        </p:nvGrpSpPr>
        <p:grpSpPr>
          <a:xfrm>
            <a:off x="6211452" y="2732939"/>
            <a:ext cx="3" cy="1000131"/>
            <a:chOff x="2238354" y="2857497"/>
            <a:chExt cx="3" cy="1000131"/>
          </a:xfrm>
        </p:grpSpPr>
        <p:cxnSp>
          <p:nvCxnSpPr>
            <p:cNvPr id="187" name="직선 화살표 연결선 186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8" name="직선 화살표 연결선 187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9" name="직선 화살표 연결선 188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90" name="그룹 14"/>
          <p:cNvGrpSpPr/>
          <p:nvPr/>
        </p:nvGrpSpPr>
        <p:grpSpPr>
          <a:xfrm>
            <a:off x="7425769" y="2375749"/>
            <a:ext cx="1847711" cy="2286016"/>
            <a:chOff x="2437280" y="2364125"/>
            <a:chExt cx="1738034" cy="2730346"/>
          </a:xfrm>
        </p:grpSpPr>
        <p:sp>
          <p:nvSpPr>
            <p:cNvPr id="191" name="직사각형 190"/>
            <p:cNvSpPr/>
            <p:nvPr/>
          </p:nvSpPr>
          <p:spPr bwMode="auto">
            <a:xfrm>
              <a:off x="2437280" y="2364125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algn="ctr" latinLnBrk="0"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kumimoji="1" lang="ko-KR" altLang="en-US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이행과제 및 단계별 </a:t>
              </a:r>
              <a:r>
                <a:rPr kumimoji="1" lang="en-US" altLang="ko-KR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kumimoji="1" lang="en-US" altLang="ko-KR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ko-KR" altLang="en-US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로드맵 정의</a:t>
              </a:r>
              <a:endParaRPr kumimoji="1" lang="en-US" altLang="ko-KR" sz="1000" kern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2" name="직사각형 191"/>
            <p:cNvSpPr/>
            <p:nvPr/>
          </p:nvSpPr>
          <p:spPr bwMode="auto">
            <a:xfrm>
              <a:off x="2437280" y="290882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비용 및 기대효과 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3" name="직사각형 192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차세대 정보시스템 요건기술서 작성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4" name="직사각형 193"/>
            <p:cNvSpPr/>
            <p:nvPr/>
          </p:nvSpPr>
          <p:spPr bwMode="auto">
            <a:xfrm>
              <a:off x="2437280" y="4046205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kumimoji="1" lang="ko-KR" altLang="en-US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사업계획서 및 </a:t>
              </a:r>
              <a:r>
                <a:rPr kumimoji="1" lang="en-US" altLang="ko-KR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kumimoji="1" lang="en-US" altLang="ko-KR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ko-KR" altLang="en-US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제안요청서 작성</a:t>
              </a:r>
              <a:endParaRPr kumimoji="1" lang="en-US" altLang="ko-KR" sz="1000" kern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5" name="직사각형 194"/>
            <p:cNvSpPr/>
            <p:nvPr/>
          </p:nvSpPr>
          <p:spPr bwMode="auto">
            <a:xfrm>
              <a:off x="2437280" y="4638881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kumimoji="1" lang="ko-KR" altLang="en-US" sz="1000" kern="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정보시스템구축방법론 및 표준아키텍처 제시</a:t>
              </a:r>
              <a:endParaRPr kumimoji="1" lang="en-US" altLang="ko-KR" sz="1000" kern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96" name="직선 화살표 연결선 195"/>
          <p:cNvCxnSpPr/>
          <p:nvPr/>
        </p:nvCxnSpPr>
        <p:spPr bwMode="auto">
          <a:xfrm rot="16200000" flipH="1">
            <a:off x="8225806" y="2790288"/>
            <a:ext cx="114698" cy="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7" name="직선 화살표 연결선 196"/>
          <p:cNvCxnSpPr/>
          <p:nvPr/>
        </p:nvCxnSpPr>
        <p:spPr bwMode="auto">
          <a:xfrm rot="16200000" flipH="1">
            <a:off x="8225806" y="3290354"/>
            <a:ext cx="114698" cy="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8" name="직선 화살표 연결선 197"/>
          <p:cNvCxnSpPr/>
          <p:nvPr/>
        </p:nvCxnSpPr>
        <p:spPr bwMode="auto">
          <a:xfrm rot="16200000" flipH="1">
            <a:off x="8225806" y="3747159"/>
            <a:ext cx="114698" cy="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9" name="직선 화살표 연결선 198"/>
          <p:cNvCxnSpPr/>
          <p:nvPr/>
        </p:nvCxnSpPr>
        <p:spPr bwMode="auto">
          <a:xfrm rot="16200000" flipH="1">
            <a:off x="8225804" y="4247225"/>
            <a:ext cx="114698" cy="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xmlns="" val="279163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45016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사업추진 일정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5. </a:t>
            </a:r>
            <a:r>
              <a:rPr lang="ko-KR" altLang="en-US" dirty="0" smtClean="0"/>
              <a:t>사업추진 일정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본 사업은 사업착수 이후 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개월 일정이며 방향성수립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현황 및 정보시스템 요건분석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목표모델설계 및 마스터플랜 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이행계획 수립의 일정으로 진행됨</a:t>
            </a:r>
            <a:endParaRPr lang="ko-KR" altLang="en-US" sz="1600" dirty="0"/>
          </a:p>
        </p:txBody>
      </p:sp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42765293"/>
              </p:ext>
            </p:extLst>
          </p:nvPr>
        </p:nvGraphicFramePr>
        <p:xfrm>
          <a:off x="669033" y="1628800"/>
          <a:ext cx="8394156" cy="46085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4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7649"/>
                <a:gridCol w="8604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6044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674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300" b="1" kern="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       </a:t>
                      </a:r>
                    </a:p>
                  </a:txBody>
                  <a:tcPr marL="84406" marR="84406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7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8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9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11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12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39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사업관리 및 지원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3610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방향성 수립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008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현황</a:t>
                      </a: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요건 분석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+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목표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모델 설계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프로세스  재설계</a:t>
                      </a:r>
                      <a:endParaRPr kumimoji="1" lang="en-US" altLang="ko-KR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marL="3600" marR="36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정보화 </a:t>
                      </a:r>
                      <a: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마스터 플랜 수립</a:t>
                      </a:r>
                      <a:endParaRPr kumimoji="1" lang="en-US" altLang="ko-KR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9798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이행계획 수립</a:t>
                      </a:r>
                      <a:endParaRPr kumimoji="1" lang="ko-KR" altLang="en-US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75" name="Line 662"/>
          <p:cNvSpPr>
            <a:spLocks noChangeShapeType="1"/>
          </p:cNvSpPr>
          <p:nvPr/>
        </p:nvSpPr>
        <p:spPr bwMode="gray">
          <a:xfrm flipV="1">
            <a:off x="3814974" y="2370087"/>
            <a:ext cx="5091726" cy="8969"/>
          </a:xfrm>
          <a:prstGeom prst="line">
            <a:avLst/>
          </a:prstGeom>
          <a:noFill/>
          <a:ln w="25400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3693368" y="2333928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77" name="Text Box 59"/>
          <p:cNvSpPr txBox="1">
            <a:spLocks noChangeArrowheads="1"/>
          </p:cNvSpPr>
          <p:nvPr/>
        </p:nvSpPr>
        <p:spPr bwMode="auto">
          <a:xfrm>
            <a:off x="4104538" y="2187516"/>
            <a:ext cx="564183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착수보고</a:t>
            </a:r>
          </a:p>
        </p:txBody>
      </p:sp>
      <p:sp>
        <p:nvSpPr>
          <p:cNvPr id="78" name="Text Box 59"/>
          <p:cNvSpPr txBox="1">
            <a:spLocks noChangeArrowheads="1"/>
          </p:cNvSpPr>
          <p:nvPr/>
        </p:nvSpPr>
        <p:spPr bwMode="auto">
          <a:xfrm>
            <a:off x="6358402" y="2216200"/>
            <a:ext cx="658656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중간보고</a:t>
            </a:r>
            <a:endParaRPr lang="ko-KR" altLang="en-US" sz="10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Text Box 59"/>
          <p:cNvSpPr txBox="1">
            <a:spLocks noChangeArrowheads="1"/>
          </p:cNvSpPr>
          <p:nvPr/>
        </p:nvSpPr>
        <p:spPr bwMode="auto">
          <a:xfrm>
            <a:off x="8265464" y="2216200"/>
            <a:ext cx="658656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최종보고</a:t>
            </a:r>
          </a:p>
        </p:txBody>
      </p:sp>
      <p:grpSp>
        <p:nvGrpSpPr>
          <p:cNvPr id="81" name="그룹 81"/>
          <p:cNvGrpSpPr/>
          <p:nvPr/>
        </p:nvGrpSpPr>
        <p:grpSpPr>
          <a:xfrm>
            <a:off x="4044425" y="1967159"/>
            <a:ext cx="271183" cy="237705"/>
            <a:chOff x="3606443" y="1556792"/>
            <a:chExt cx="271183" cy="237705"/>
          </a:xfrm>
        </p:grpSpPr>
        <p:pic>
          <p:nvPicPr>
            <p:cNvPr id="82" name="Picture 4" descr="C:\Users\우성호\Desktop\223]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707904" y="1556792"/>
              <a:ext cx="169722" cy="237705"/>
            </a:xfrm>
            <a:prstGeom prst="rect">
              <a:avLst/>
            </a:prstGeom>
            <a:noFill/>
          </p:spPr>
        </p:pic>
        <p:pic>
          <p:nvPicPr>
            <p:cNvPr id="83" name="Picture 40" descr="Script Editor"/>
            <p:cNvPicPr>
              <a:picLocks noChangeAspect="1" noChangeArrowheads="1"/>
            </p:cNvPicPr>
            <p:nvPr/>
          </p:nvPicPr>
          <p:blipFill>
            <a:blip r:embed="rId3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606443" y="1627490"/>
              <a:ext cx="159749" cy="14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4" name="Text Box 59"/>
          <p:cNvSpPr txBox="1">
            <a:spLocks noChangeArrowheads="1"/>
          </p:cNvSpPr>
          <p:nvPr/>
        </p:nvSpPr>
        <p:spPr bwMode="auto">
          <a:xfrm>
            <a:off x="3019464" y="2229988"/>
            <a:ext cx="745912" cy="30777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환경 구축 </a:t>
            </a:r>
            <a:r>
              <a:rPr lang="en-US" altLang="ko-KR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계약</a:t>
            </a:r>
          </a:p>
        </p:txBody>
      </p:sp>
      <p:pic>
        <p:nvPicPr>
          <p:cNvPr id="85" name="Picture 117" descr="C:\Users\JJO\Desktop\꾀꼬리\coquette-part-3-icons-set\png\128x128\note_accep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39042" y="1944233"/>
            <a:ext cx="293952" cy="27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6" name="그룹 86"/>
          <p:cNvGrpSpPr/>
          <p:nvPr/>
        </p:nvGrpSpPr>
        <p:grpSpPr>
          <a:xfrm>
            <a:off x="3689644" y="2564907"/>
            <a:ext cx="5332316" cy="192368"/>
            <a:chOff x="3203849" y="2060848"/>
            <a:chExt cx="5394813" cy="192368"/>
          </a:xfrm>
        </p:grpSpPr>
        <p:sp>
          <p:nvSpPr>
            <p:cNvPr id="87" name="Text Box 1079"/>
            <p:cNvSpPr txBox="1">
              <a:spLocks noChangeArrowheads="1"/>
            </p:cNvSpPr>
            <p:nvPr/>
          </p:nvSpPr>
          <p:spPr bwMode="auto">
            <a:xfrm>
              <a:off x="3353584" y="2060848"/>
              <a:ext cx="285444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marL="0" marR="0" lvl="0" indent="-90488" defTabSz="593725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ct val="80000"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-7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sym typeface="Monotype Sorts"/>
                </a:rPr>
                <a:t>착수</a:t>
              </a:r>
            </a:p>
          </p:txBody>
        </p:sp>
        <p:sp>
          <p:nvSpPr>
            <p:cNvPr id="88" name="이등변 삼각형 87"/>
            <p:cNvSpPr/>
            <p:nvPr/>
          </p:nvSpPr>
          <p:spPr bwMode="auto">
            <a:xfrm rot="10800000" flipV="1">
              <a:off x="3203849" y="2096863"/>
              <a:ext cx="138875" cy="108000"/>
            </a:xfrm>
            <a:prstGeom prst="triangle">
              <a:avLst/>
            </a:prstGeom>
            <a:solidFill>
              <a:srgbClr val="C00000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  <p:sp>
          <p:nvSpPr>
            <p:cNvPr id="89" name="Text Box 1079"/>
            <p:cNvSpPr txBox="1">
              <a:spLocks noChangeArrowheads="1"/>
            </p:cNvSpPr>
            <p:nvPr/>
          </p:nvSpPr>
          <p:spPr bwMode="auto">
            <a:xfrm>
              <a:off x="8172400" y="2060848"/>
              <a:ext cx="285444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marL="0" marR="0" lvl="0" indent="-90488" defTabSz="593725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ct val="80000"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-7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sym typeface="Monotype Sorts"/>
                </a:rPr>
                <a:t>종료</a:t>
              </a:r>
              <a:endParaRPr kumimoji="1" lang="ko-KR" altLang="en-US" sz="1050" b="0" i="0" u="none" strike="noStrike" kern="0" cap="none" spc="-7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  <p:sp>
          <p:nvSpPr>
            <p:cNvPr id="90" name="이등변 삼각형 89"/>
            <p:cNvSpPr/>
            <p:nvPr/>
          </p:nvSpPr>
          <p:spPr bwMode="auto">
            <a:xfrm rot="10800000" flipV="1">
              <a:off x="8459787" y="2096863"/>
              <a:ext cx="138875" cy="108000"/>
            </a:xfrm>
            <a:prstGeom prst="triangle">
              <a:avLst/>
            </a:prstGeom>
            <a:solidFill>
              <a:srgbClr val="C00000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91" name="그룹 151"/>
          <p:cNvGrpSpPr/>
          <p:nvPr/>
        </p:nvGrpSpPr>
        <p:grpSpPr>
          <a:xfrm>
            <a:off x="3765376" y="3336847"/>
            <a:ext cx="982286" cy="90000"/>
            <a:chOff x="708283" y="1871012"/>
            <a:chExt cx="891215" cy="90000"/>
          </a:xfrm>
        </p:grpSpPr>
        <p:sp>
          <p:nvSpPr>
            <p:cNvPr id="92" name="Line 662"/>
            <p:cNvSpPr>
              <a:spLocks noChangeShapeType="1"/>
            </p:cNvSpPr>
            <p:nvPr/>
          </p:nvSpPr>
          <p:spPr bwMode="gray">
            <a:xfrm>
              <a:off x="798283" y="1916012"/>
              <a:ext cx="756211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3" name="타원 92"/>
            <p:cNvSpPr/>
            <p:nvPr/>
          </p:nvSpPr>
          <p:spPr>
            <a:xfrm>
              <a:off x="708283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94" name="타원 93"/>
            <p:cNvSpPr/>
            <p:nvPr/>
          </p:nvSpPr>
          <p:spPr>
            <a:xfrm>
              <a:off x="1509498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95" name="Text Box 59"/>
          <p:cNvSpPr txBox="1">
            <a:spLocks noChangeArrowheads="1"/>
          </p:cNvSpPr>
          <p:nvPr/>
        </p:nvSpPr>
        <p:spPr bwMode="auto">
          <a:xfrm>
            <a:off x="3235488" y="3140968"/>
            <a:ext cx="2345331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err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정보화전략</a:t>
            </a: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 검토 및 방향성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Line 662"/>
          <p:cNvSpPr>
            <a:spLocks noChangeShapeType="1"/>
          </p:cNvSpPr>
          <p:nvPr/>
        </p:nvSpPr>
        <p:spPr bwMode="gray">
          <a:xfrm flipV="1">
            <a:off x="4409364" y="3741887"/>
            <a:ext cx="598154" cy="0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4310169" y="3696887"/>
            <a:ext cx="99196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4990305" y="3696887"/>
            <a:ext cx="99196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9" name="Text Box 59"/>
          <p:cNvSpPr txBox="1">
            <a:spLocks noChangeArrowheads="1"/>
          </p:cNvSpPr>
          <p:nvPr/>
        </p:nvSpPr>
        <p:spPr bwMode="auto">
          <a:xfrm>
            <a:off x="3971951" y="3516904"/>
            <a:ext cx="128781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벤치마킹 분</a:t>
            </a:r>
            <a:r>
              <a:rPr lang="ko-KR" altLang="en-US" sz="11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석</a:t>
            </a:r>
          </a:p>
        </p:txBody>
      </p:sp>
      <p:sp>
        <p:nvSpPr>
          <p:cNvPr id="100" name="Text Box 59"/>
          <p:cNvSpPr txBox="1">
            <a:spLocks noChangeArrowheads="1"/>
          </p:cNvSpPr>
          <p:nvPr/>
        </p:nvSpPr>
        <p:spPr bwMode="auto">
          <a:xfrm>
            <a:off x="4088360" y="3933056"/>
            <a:ext cx="1379376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현행업무프로세스 </a:t>
            </a:r>
            <a:r>
              <a:rPr lang="en-US" altLang="ko-KR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분석 및 벤치마킹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Text Box 59"/>
          <p:cNvSpPr txBox="1">
            <a:spLocks noChangeArrowheads="1"/>
          </p:cNvSpPr>
          <p:nvPr/>
        </p:nvSpPr>
        <p:spPr bwMode="auto">
          <a:xfrm>
            <a:off x="5782957" y="3933056"/>
            <a:ext cx="1340963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업무개선과제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정의 및 설계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Line 662"/>
          <p:cNvSpPr>
            <a:spLocks noChangeShapeType="1"/>
          </p:cNvSpPr>
          <p:nvPr/>
        </p:nvSpPr>
        <p:spPr bwMode="gray">
          <a:xfrm>
            <a:off x="3837644" y="5090706"/>
            <a:ext cx="3877342" cy="0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3768804" y="5045706"/>
            <a:ext cx="99196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4" name="Text Box 59"/>
          <p:cNvSpPr txBox="1">
            <a:spLocks noChangeArrowheads="1"/>
          </p:cNvSpPr>
          <p:nvPr/>
        </p:nvSpPr>
        <p:spPr bwMode="auto">
          <a:xfrm>
            <a:off x="3735739" y="4653136"/>
            <a:ext cx="2142641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현황분석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요건 정의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7627976" y="50388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6" name="Text Box 59"/>
          <p:cNvSpPr txBox="1">
            <a:spLocks noChangeArrowheads="1"/>
          </p:cNvSpPr>
          <p:nvPr/>
        </p:nvSpPr>
        <p:spPr bwMode="auto">
          <a:xfrm>
            <a:off x="5899785" y="4660546"/>
            <a:ext cx="1440160" cy="32316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구조 및 상세기능 설계</a:t>
            </a:r>
            <a:endParaRPr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6016611" y="50457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8" name="Line 662"/>
          <p:cNvSpPr>
            <a:spLocks noChangeShapeType="1"/>
          </p:cNvSpPr>
          <p:nvPr/>
        </p:nvSpPr>
        <p:spPr bwMode="gray">
          <a:xfrm flipV="1">
            <a:off x="3826910" y="4325206"/>
            <a:ext cx="3080986" cy="1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6016611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0" name="타원 109"/>
          <p:cNvSpPr/>
          <p:nvPr/>
        </p:nvSpPr>
        <p:spPr>
          <a:xfrm>
            <a:off x="3765376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6835888" y="4280207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2" name="Text Box 59"/>
          <p:cNvSpPr txBox="1">
            <a:spLocks noChangeArrowheads="1"/>
          </p:cNvSpPr>
          <p:nvPr/>
        </p:nvSpPr>
        <p:spPr bwMode="auto">
          <a:xfrm>
            <a:off x="7138124" y="5736368"/>
            <a:ext cx="1713988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구축 방법론  및 표준아키텍처 도출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3" name="그룹 146"/>
          <p:cNvGrpSpPr/>
          <p:nvPr/>
        </p:nvGrpSpPr>
        <p:grpSpPr>
          <a:xfrm>
            <a:off x="7665389" y="6074996"/>
            <a:ext cx="938152" cy="90000"/>
            <a:chOff x="1325911" y="1779349"/>
            <a:chExt cx="851180" cy="90000"/>
          </a:xfrm>
        </p:grpSpPr>
        <p:sp>
          <p:nvSpPr>
            <p:cNvPr id="114" name="Line 662"/>
            <p:cNvSpPr>
              <a:spLocks noChangeShapeType="1"/>
            </p:cNvSpPr>
            <p:nvPr/>
          </p:nvSpPr>
          <p:spPr bwMode="gray">
            <a:xfrm flipV="1">
              <a:off x="1441785" y="1824349"/>
              <a:ext cx="633152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타원 114"/>
            <p:cNvSpPr/>
            <p:nvPr/>
          </p:nvSpPr>
          <p:spPr>
            <a:xfrm>
              <a:off x="132591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6" name="타원 115"/>
            <p:cNvSpPr/>
            <p:nvPr/>
          </p:nvSpPr>
          <p:spPr>
            <a:xfrm>
              <a:off x="208709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7201795" y="6330101"/>
            <a:ext cx="128781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Text Box 59"/>
          <p:cNvSpPr txBox="1">
            <a:spLocks noChangeArrowheads="1"/>
          </p:cNvSpPr>
          <p:nvPr/>
        </p:nvSpPr>
        <p:spPr bwMode="auto">
          <a:xfrm>
            <a:off x="6500286" y="5373216"/>
            <a:ext cx="2490486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이행계획수립</a:t>
            </a:r>
            <a:r>
              <a:rPr lang="en-US" altLang="ko-KR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사업계획서 및 </a:t>
            </a:r>
            <a:r>
              <a:rPr lang="en-US" altLang="ko-KR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RFP </a:t>
            </a: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작성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9" name="그룹 146"/>
          <p:cNvGrpSpPr/>
          <p:nvPr/>
        </p:nvGrpSpPr>
        <p:grpSpPr>
          <a:xfrm>
            <a:off x="7674894" y="5556684"/>
            <a:ext cx="936606" cy="90000"/>
            <a:chOff x="1334537" y="1779349"/>
            <a:chExt cx="849778" cy="90000"/>
          </a:xfrm>
        </p:grpSpPr>
        <p:sp>
          <p:nvSpPr>
            <p:cNvPr id="120" name="Line 662"/>
            <p:cNvSpPr>
              <a:spLocks noChangeShapeType="1"/>
            </p:cNvSpPr>
            <p:nvPr/>
          </p:nvSpPr>
          <p:spPr bwMode="gray">
            <a:xfrm flipV="1">
              <a:off x="1441788" y="1824349"/>
              <a:ext cx="648003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타원 120"/>
            <p:cNvSpPr/>
            <p:nvPr/>
          </p:nvSpPr>
          <p:spPr>
            <a:xfrm>
              <a:off x="1334537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2" name="타원 121"/>
            <p:cNvSpPr/>
            <p:nvPr/>
          </p:nvSpPr>
          <p:spPr>
            <a:xfrm>
              <a:off x="2094315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123" name="Text Box 59"/>
          <p:cNvSpPr txBox="1">
            <a:spLocks noChangeArrowheads="1"/>
          </p:cNvSpPr>
          <p:nvPr/>
        </p:nvSpPr>
        <p:spPr bwMode="auto">
          <a:xfrm>
            <a:off x="7454331" y="5479840"/>
            <a:ext cx="128781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8852112" y="233887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grpSp>
        <p:nvGrpSpPr>
          <p:cNvPr id="125" name="그룹 126"/>
          <p:cNvGrpSpPr/>
          <p:nvPr/>
        </p:nvGrpSpPr>
        <p:grpSpPr>
          <a:xfrm>
            <a:off x="6360611" y="1967159"/>
            <a:ext cx="271183" cy="237705"/>
            <a:chOff x="3606443" y="1556792"/>
            <a:chExt cx="271183" cy="237705"/>
          </a:xfrm>
        </p:grpSpPr>
        <p:pic>
          <p:nvPicPr>
            <p:cNvPr id="126" name="Picture 4" descr="C:\Users\우성호\Desktop\223]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707904" y="1556792"/>
              <a:ext cx="169722" cy="237705"/>
            </a:xfrm>
            <a:prstGeom prst="rect">
              <a:avLst/>
            </a:prstGeom>
            <a:noFill/>
          </p:spPr>
        </p:pic>
        <p:pic>
          <p:nvPicPr>
            <p:cNvPr id="127" name="Picture 40" descr="Script Editor"/>
            <p:cNvPicPr>
              <a:picLocks noChangeAspect="1" noChangeArrowheads="1"/>
            </p:cNvPicPr>
            <p:nvPr/>
          </p:nvPicPr>
          <p:blipFill>
            <a:blip r:embed="rId3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606443" y="1627490"/>
              <a:ext cx="159749" cy="14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8" name="그룹 129"/>
          <p:cNvGrpSpPr/>
          <p:nvPr/>
        </p:nvGrpSpPr>
        <p:grpSpPr>
          <a:xfrm>
            <a:off x="8302828" y="1967159"/>
            <a:ext cx="271183" cy="237705"/>
            <a:chOff x="3606443" y="1556792"/>
            <a:chExt cx="271183" cy="237705"/>
          </a:xfrm>
        </p:grpSpPr>
        <p:pic>
          <p:nvPicPr>
            <p:cNvPr id="129" name="Picture 4" descr="C:\Users\우성호\Desktop\223]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707904" y="1556792"/>
              <a:ext cx="169722" cy="237705"/>
            </a:xfrm>
            <a:prstGeom prst="rect">
              <a:avLst/>
            </a:prstGeom>
            <a:noFill/>
          </p:spPr>
        </p:pic>
        <p:pic>
          <p:nvPicPr>
            <p:cNvPr id="130" name="Picture 40" descr="Script Editor"/>
            <p:cNvPicPr>
              <a:picLocks noChangeAspect="1" noChangeArrowheads="1"/>
            </p:cNvPicPr>
            <p:nvPr/>
          </p:nvPicPr>
          <p:blipFill>
            <a:blip r:embed="rId3" cstate="print">
              <a:lum bright="10000" contrast="-10000"/>
            </a:blip>
            <a:srcRect/>
            <a:stretch>
              <a:fillRect/>
            </a:stretch>
          </p:blipFill>
          <p:spPr bwMode="auto">
            <a:xfrm>
              <a:off x="3606443" y="1627490"/>
              <a:ext cx="159749" cy="14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1" name="순서도: 판단 130"/>
          <p:cNvSpPr/>
          <p:nvPr/>
        </p:nvSpPr>
        <p:spPr bwMode="auto">
          <a:xfrm>
            <a:off x="4668721" y="2878724"/>
            <a:ext cx="141022" cy="151418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12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순서도: 판단 131"/>
          <p:cNvSpPr/>
          <p:nvPr/>
        </p:nvSpPr>
        <p:spPr bwMode="auto">
          <a:xfrm>
            <a:off x="5516199" y="2878724"/>
            <a:ext cx="141022" cy="151418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12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" name="순서도: 판단 132"/>
          <p:cNvSpPr/>
          <p:nvPr/>
        </p:nvSpPr>
        <p:spPr bwMode="auto">
          <a:xfrm>
            <a:off x="7250409" y="2878724"/>
            <a:ext cx="141022" cy="151418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12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4" name="순서도: 판단 133"/>
          <p:cNvSpPr/>
          <p:nvPr/>
        </p:nvSpPr>
        <p:spPr bwMode="auto">
          <a:xfrm>
            <a:off x="8116815" y="2878724"/>
            <a:ext cx="141022" cy="151418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12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5" name="순서도: 판단 134"/>
          <p:cNvSpPr/>
          <p:nvPr/>
        </p:nvSpPr>
        <p:spPr bwMode="auto">
          <a:xfrm>
            <a:off x="8612528" y="2878724"/>
            <a:ext cx="141022" cy="151418"/>
          </a:xfrm>
          <a:prstGeom prst="flowChartDecision">
            <a:avLst/>
          </a:prstGeom>
          <a:solidFill>
            <a:srgbClr val="FFFF00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12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6" name="Text Box 1079"/>
          <p:cNvSpPr txBox="1">
            <a:spLocks noChangeArrowheads="1"/>
          </p:cNvSpPr>
          <p:nvPr/>
        </p:nvSpPr>
        <p:spPr bwMode="auto">
          <a:xfrm>
            <a:off x="4809743" y="2848887"/>
            <a:ext cx="22122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1</a:t>
            </a: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차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137" name="Text Box 1079"/>
          <p:cNvSpPr txBox="1">
            <a:spLocks noChangeArrowheads="1"/>
          </p:cNvSpPr>
          <p:nvPr/>
        </p:nvSpPr>
        <p:spPr bwMode="auto">
          <a:xfrm>
            <a:off x="5678563" y="2848887"/>
            <a:ext cx="22122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2</a:t>
            </a: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차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138" name="Text Box 1079"/>
          <p:cNvSpPr txBox="1">
            <a:spLocks noChangeArrowheads="1"/>
          </p:cNvSpPr>
          <p:nvPr/>
        </p:nvSpPr>
        <p:spPr bwMode="auto">
          <a:xfrm>
            <a:off x="7391431" y="2848887"/>
            <a:ext cx="22122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3</a:t>
            </a: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차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00" name="Text Box 1079"/>
          <p:cNvSpPr txBox="1">
            <a:spLocks noChangeArrowheads="1"/>
          </p:cNvSpPr>
          <p:nvPr/>
        </p:nvSpPr>
        <p:spPr bwMode="auto">
          <a:xfrm>
            <a:off x="8266383" y="2848887"/>
            <a:ext cx="22122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4</a:t>
            </a: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차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01" name="Text Box 1079"/>
          <p:cNvSpPr txBox="1">
            <a:spLocks noChangeArrowheads="1"/>
          </p:cNvSpPr>
          <p:nvPr/>
        </p:nvSpPr>
        <p:spPr bwMode="auto">
          <a:xfrm>
            <a:off x="8763371" y="2848887"/>
            <a:ext cx="22122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5</a:t>
            </a: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차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02" name="이등변 삼각형 201"/>
          <p:cNvSpPr/>
          <p:nvPr/>
        </p:nvSpPr>
        <p:spPr bwMode="auto">
          <a:xfrm rot="10800000" flipV="1">
            <a:off x="4027577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03" name="이등변 삼각형 202"/>
          <p:cNvSpPr/>
          <p:nvPr/>
        </p:nvSpPr>
        <p:spPr bwMode="auto">
          <a:xfrm rot="10800000" flipV="1">
            <a:off x="6259824" y="2240880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04" name="이등변 삼각형 203"/>
          <p:cNvSpPr/>
          <p:nvPr/>
        </p:nvSpPr>
        <p:spPr bwMode="auto">
          <a:xfrm rot="10800000" flipV="1">
            <a:off x="8179777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grpSp>
        <p:nvGrpSpPr>
          <p:cNvPr id="205" name="그룹 154"/>
          <p:cNvGrpSpPr/>
          <p:nvPr/>
        </p:nvGrpSpPr>
        <p:grpSpPr>
          <a:xfrm>
            <a:off x="4291855" y="2516984"/>
            <a:ext cx="337617" cy="192368"/>
            <a:chOff x="3930768" y="2300960"/>
            <a:chExt cx="337617" cy="192368"/>
          </a:xfrm>
        </p:grpSpPr>
        <p:sp>
          <p:nvSpPr>
            <p:cNvPr id="206" name="타원 205"/>
            <p:cNvSpPr/>
            <p:nvPr/>
          </p:nvSpPr>
          <p:spPr bwMode="auto">
            <a:xfrm>
              <a:off x="3930768" y="2356544"/>
              <a:ext cx="109327" cy="961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/>
          </p:spPr>
          <p:txBody>
            <a:bodyPr wrap="none" lIns="36000" tIns="36000" rIns="36000" bIns="36000" rtlCol="0" anchor="ctr"/>
            <a:lstStyle/>
            <a:p>
              <a:pPr algn="ctr"/>
              <a:endParaRPr lang="ko-KR" altLang="en-US" sz="12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7" name="Text Box 1079"/>
            <p:cNvSpPr txBox="1">
              <a:spLocks noChangeArrowheads="1"/>
            </p:cNvSpPr>
            <p:nvPr/>
          </p:nvSpPr>
          <p:spPr bwMode="auto">
            <a:xfrm>
              <a:off x="4047163" y="2300960"/>
              <a:ext cx="221222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indent="-90488" defTabSz="593725" latinLnBrk="0">
                <a:spcBef>
                  <a:spcPts val="600"/>
                </a:spcBef>
                <a:buClr>
                  <a:srgbClr val="595959"/>
                </a:buClr>
                <a:buSzPct val="80000"/>
                <a:defRPr/>
              </a:pPr>
              <a:r>
                <a:rPr kumimoji="1" lang="en-US" altLang="ko-KR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1</a:t>
              </a:r>
              <a:r>
                <a:rPr kumimoji="1" lang="ko-KR" altLang="en-US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차</a:t>
              </a:r>
              <a:endParaRPr kumimoji="1" lang="ko-KR" altLang="en-US" sz="105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208" name="그룹 157"/>
          <p:cNvGrpSpPr/>
          <p:nvPr/>
        </p:nvGrpSpPr>
        <p:grpSpPr>
          <a:xfrm>
            <a:off x="6293263" y="2516984"/>
            <a:ext cx="337617" cy="192368"/>
            <a:chOff x="3930768" y="2300960"/>
            <a:chExt cx="337617" cy="192368"/>
          </a:xfrm>
        </p:grpSpPr>
        <p:sp>
          <p:nvSpPr>
            <p:cNvPr id="209" name="타원 208"/>
            <p:cNvSpPr/>
            <p:nvPr/>
          </p:nvSpPr>
          <p:spPr bwMode="auto">
            <a:xfrm>
              <a:off x="3930768" y="2356544"/>
              <a:ext cx="109327" cy="961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/>
          </p:spPr>
          <p:txBody>
            <a:bodyPr wrap="none" lIns="36000" tIns="36000" rIns="36000" bIns="36000" rtlCol="0" anchor="ctr"/>
            <a:lstStyle/>
            <a:p>
              <a:pPr algn="ctr"/>
              <a:endParaRPr lang="ko-KR" altLang="en-US" sz="12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0" name="Text Box 1079"/>
            <p:cNvSpPr txBox="1">
              <a:spLocks noChangeArrowheads="1"/>
            </p:cNvSpPr>
            <p:nvPr/>
          </p:nvSpPr>
          <p:spPr bwMode="auto">
            <a:xfrm>
              <a:off x="4047163" y="2300960"/>
              <a:ext cx="221222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indent="-90488" defTabSz="593725" latinLnBrk="0">
                <a:spcBef>
                  <a:spcPts val="600"/>
                </a:spcBef>
                <a:buClr>
                  <a:srgbClr val="595959"/>
                </a:buClr>
                <a:buSzPct val="80000"/>
                <a:defRPr/>
              </a:pPr>
              <a:r>
                <a:rPr kumimoji="1" lang="en-US" altLang="ko-KR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2</a:t>
              </a:r>
              <a:r>
                <a:rPr kumimoji="1" lang="ko-KR" altLang="en-US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차</a:t>
              </a:r>
              <a:endParaRPr kumimoji="1" lang="ko-KR" altLang="en-US" sz="105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211" name="그룹 160"/>
          <p:cNvGrpSpPr/>
          <p:nvPr/>
        </p:nvGrpSpPr>
        <p:grpSpPr>
          <a:xfrm>
            <a:off x="7995118" y="2516984"/>
            <a:ext cx="337617" cy="192368"/>
            <a:chOff x="3930768" y="2300960"/>
            <a:chExt cx="337617" cy="192368"/>
          </a:xfrm>
        </p:grpSpPr>
        <p:sp>
          <p:nvSpPr>
            <p:cNvPr id="212" name="타원 211"/>
            <p:cNvSpPr/>
            <p:nvPr/>
          </p:nvSpPr>
          <p:spPr bwMode="auto">
            <a:xfrm>
              <a:off x="3930768" y="2356544"/>
              <a:ext cx="109327" cy="961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/>
          </p:spPr>
          <p:txBody>
            <a:bodyPr wrap="none" lIns="36000" tIns="36000" rIns="36000" bIns="36000" rtlCol="0" anchor="ctr"/>
            <a:lstStyle/>
            <a:p>
              <a:pPr algn="ctr"/>
              <a:endParaRPr lang="ko-KR" altLang="en-US" sz="12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3" name="Text Box 1079"/>
            <p:cNvSpPr txBox="1">
              <a:spLocks noChangeArrowheads="1"/>
            </p:cNvSpPr>
            <p:nvPr/>
          </p:nvSpPr>
          <p:spPr bwMode="auto">
            <a:xfrm>
              <a:off x="4047163" y="2300960"/>
              <a:ext cx="221222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indent="-90488" defTabSz="593725" latinLnBrk="0">
                <a:spcBef>
                  <a:spcPts val="600"/>
                </a:spcBef>
                <a:buClr>
                  <a:srgbClr val="595959"/>
                </a:buClr>
                <a:buSzPct val="80000"/>
                <a:defRPr/>
              </a:pPr>
              <a:r>
                <a:rPr kumimoji="1" lang="en-US" altLang="ko-KR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3</a:t>
              </a:r>
              <a:r>
                <a:rPr kumimoji="1" lang="ko-KR" altLang="en-US" sz="105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차</a:t>
              </a:r>
              <a:endParaRPr kumimoji="1" lang="ko-KR" altLang="en-US" sz="105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sp>
        <p:nvSpPr>
          <p:cNvPr id="214" name="오각형 213"/>
          <p:cNvSpPr/>
          <p:nvPr/>
        </p:nvSpPr>
        <p:spPr bwMode="auto">
          <a:xfrm>
            <a:off x="4822224" y="4370206"/>
            <a:ext cx="114589" cy="144019"/>
          </a:xfrm>
          <a:prstGeom prst="homePlate">
            <a:avLst/>
          </a:prstGeom>
          <a:solidFill>
            <a:srgbClr val="F79646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오각형 214"/>
          <p:cNvSpPr/>
          <p:nvPr/>
        </p:nvSpPr>
        <p:spPr bwMode="auto">
          <a:xfrm>
            <a:off x="4822224" y="5135705"/>
            <a:ext cx="114589" cy="144019"/>
          </a:xfrm>
          <a:prstGeom prst="homePlate">
            <a:avLst/>
          </a:prstGeom>
          <a:solidFill>
            <a:srgbClr val="F79646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Text Box 1079"/>
          <p:cNvSpPr txBox="1">
            <a:spLocks noChangeArrowheads="1"/>
          </p:cNvSpPr>
          <p:nvPr/>
        </p:nvSpPr>
        <p:spPr bwMode="auto">
          <a:xfrm>
            <a:off x="4936813" y="4354654"/>
            <a:ext cx="57260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현업 미팅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17" name="Text Box 1079"/>
          <p:cNvSpPr txBox="1">
            <a:spLocks noChangeArrowheads="1"/>
          </p:cNvSpPr>
          <p:nvPr/>
        </p:nvSpPr>
        <p:spPr bwMode="auto">
          <a:xfrm>
            <a:off x="4936813" y="5121879"/>
            <a:ext cx="57260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현업 미팅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18" name="Text Box 1079"/>
          <p:cNvSpPr txBox="1">
            <a:spLocks noChangeArrowheads="1"/>
          </p:cNvSpPr>
          <p:nvPr/>
        </p:nvSpPr>
        <p:spPr bwMode="auto">
          <a:xfrm>
            <a:off x="3621360" y="2732579"/>
            <a:ext cx="268992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6/25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19" name="Text Box 1079"/>
          <p:cNvSpPr txBox="1">
            <a:spLocks noChangeArrowheads="1"/>
          </p:cNvSpPr>
          <p:nvPr/>
        </p:nvSpPr>
        <p:spPr bwMode="auto">
          <a:xfrm>
            <a:off x="8661920" y="2708923"/>
            <a:ext cx="333754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12/21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220" name="모서리가 둥근 직사각형 219"/>
          <p:cNvSpPr/>
          <p:nvPr/>
        </p:nvSpPr>
        <p:spPr bwMode="auto">
          <a:xfrm>
            <a:off x="7454331" y="1274277"/>
            <a:ext cx="2035173" cy="246851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ot"/>
          </a:ln>
          <a:effectLst/>
          <a:extLst/>
        </p:spPr>
        <p:txBody>
          <a:bodyPr wrap="none" lIns="36000" tIns="36000" rIns="36000" bIns="36000" rtlCol="0" anchor="ctr"/>
          <a:lstStyle/>
          <a:p>
            <a:pPr algn="ctr"/>
            <a:endParaRPr lang="ko-KR" altLang="en-US" sz="900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21" name="그룹 144"/>
          <p:cNvGrpSpPr/>
          <p:nvPr/>
        </p:nvGrpSpPr>
        <p:grpSpPr>
          <a:xfrm>
            <a:off x="8750822" y="1340768"/>
            <a:ext cx="676433" cy="180826"/>
            <a:chOff x="9183506" y="1570576"/>
            <a:chExt cx="676433" cy="180826"/>
          </a:xfrm>
        </p:grpSpPr>
        <p:sp>
          <p:nvSpPr>
            <p:cNvPr id="222" name="순서도: 판단 221"/>
            <p:cNvSpPr/>
            <p:nvPr/>
          </p:nvSpPr>
          <p:spPr bwMode="auto">
            <a:xfrm>
              <a:off x="9183506" y="1570576"/>
              <a:ext cx="141022" cy="151418"/>
            </a:xfrm>
            <a:prstGeom prst="flowChartDecision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  <a:extLst/>
          </p:spPr>
          <p:txBody>
            <a:bodyPr wrap="none" lIns="36000" tIns="36000" rIns="36000" bIns="36000" rtlCol="0" anchor="ctr"/>
            <a:lstStyle/>
            <a:p>
              <a:pPr algn="ctr"/>
              <a:endParaRPr lang="ko-KR" altLang="en-US" sz="9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3" name="Text Box 1079"/>
            <p:cNvSpPr txBox="1">
              <a:spLocks noChangeArrowheads="1"/>
            </p:cNvSpPr>
            <p:nvPr/>
          </p:nvSpPr>
          <p:spPr bwMode="auto">
            <a:xfrm>
              <a:off x="9324528" y="1582117"/>
              <a:ext cx="535411" cy="169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indent="-90488" defTabSz="593725" latinLnBrk="0">
                <a:spcBef>
                  <a:spcPts val="600"/>
                </a:spcBef>
                <a:buClr>
                  <a:srgbClr val="595959"/>
                </a:buClr>
                <a:buSzPct val="80000"/>
                <a:defRPr/>
              </a:pPr>
              <a:r>
                <a:rPr kumimoji="1" lang="en-US" altLang="ko-KR" sz="900" spc="-7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 </a:t>
              </a:r>
              <a:r>
                <a:rPr kumimoji="1" lang="en-US" altLang="ko-KR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: </a:t>
              </a:r>
              <a:r>
                <a:rPr kumimoji="1" lang="ko-KR" altLang="en-US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품질점검</a:t>
              </a:r>
              <a:endParaRPr kumimoji="1" lang="ko-KR" altLang="en-US" sz="9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224" name="그룹 150"/>
          <p:cNvGrpSpPr/>
          <p:nvPr/>
        </p:nvGrpSpPr>
        <p:grpSpPr>
          <a:xfrm>
            <a:off x="7552518" y="1348462"/>
            <a:ext cx="705653" cy="138499"/>
            <a:chOff x="9207476" y="1713667"/>
            <a:chExt cx="705653" cy="138499"/>
          </a:xfrm>
        </p:grpSpPr>
        <p:sp>
          <p:nvSpPr>
            <p:cNvPr id="225" name="Text Box 59"/>
            <p:cNvSpPr txBox="1">
              <a:spLocks noChangeArrowheads="1"/>
            </p:cNvSpPr>
            <p:nvPr/>
          </p:nvSpPr>
          <p:spPr bwMode="auto">
            <a:xfrm>
              <a:off x="9313944" y="1713667"/>
              <a:ext cx="599185" cy="1384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0" tIns="0" rIns="36000" bIns="0" anchor="ctr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>
              <a:lvl1pPr defTabSz="593725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593725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593725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593725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593725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5937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5937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5937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5937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0" hangingPunct="1"/>
              <a:r>
                <a:rPr lang="ko-KR" altLang="en-US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:  </a:t>
              </a:r>
              <a:r>
                <a:rPr lang="ko-KR" altLang="en-US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보고회</a:t>
              </a:r>
              <a:endParaRPr lang="ko-KR" altLang="en-US" sz="9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6" name="이등변 삼각형 225"/>
            <p:cNvSpPr/>
            <p:nvPr/>
          </p:nvSpPr>
          <p:spPr bwMode="auto">
            <a:xfrm rot="10800000" flipV="1">
              <a:off x="9207476" y="1731887"/>
              <a:ext cx="138875" cy="108000"/>
            </a:xfrm>
            <a:prstGeom prst="triangle">
              <a:avLst/>
            </a:prstGeom>
            <a:solidFill>
              <a:srgbClr val="00B0F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endPara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sp>
        <p:nvSpPr>
          <p:cNvPr id="227" name="Text Box 59"/>
          <p:cNvSpPr txBox="1">
            <a:spLocks noChangeArrowheads="1"/>
          </p:cNvSpPr>
          <p:nvPr/>
        </p:nvSpPr>
        <p:spPr bwMode="auto">
          <a:xfrm>
            <a:off x="7697842" y="1196752"/>
            <a:ext cx="393138" cy="1384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/>
            <a:r>
              <a:rPr lang="ko-KR" altLang="en-US" sz="9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9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범례</a:t>
            </a:r>
            <a:r>
              <a:rPr lang="en-US" altLang="ko-KR" sz="9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9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28" name="그룹 163"/>
          <p:cNvGrpSpPr/>
          <p:nvPr/>
        </p:nvGrpSpPr>
        <p:grpSpPr>
          <a:xfrm>
            <a:off x="8248177" y="1352309"/>
            <a:ext cx="407830" cy="169285"/>
            <a:chOff x="3930768" y="2312501"/>
            <a:chExt cx="407830" cy="169285"/>
          </a:xfrm>
        </p:grpSpPr>
        <p:sp>
          <p:nvSpPr>
            <p:cNvPr id="229" name="타원 228"/>
            <p:cNvSpPr/>
            <p:nvPr/>
          </p:nvSpPr>
          <p:spPr bwMode="auto">
            <a:xfrm>
              <a:off x="3930768" y="2356544"/>
              <a:ext cx="109327" cy="961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xtLst/>
          </p:spPr>
          <p:txBody>
            <a:bodyPr wrap="none" lIns="36000" tIns="36000" rIns="36000" bIns="36000" rtlCol="0" anchor="ctr"/>
            <a:lstStyle/>
            <a:p>
              <a:pPr algn="ctr"/>
              <a:endParaRPr lang="ko-KR" altLang="en-US" sz="9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0" name="Text Box 1079"/>
            <p:cNvSpPr txBox="1">
              <a:spLocks noChangeArrowheads="1"/>
            </p:cNvSpPr>
            <p:nvPr/>
          </p:nvSpPr>
          <p:spPr bwMode="auto">
            <a:xfrm>
              <a:off x="4047163" y="2312501"/>
              <a:ext cx="291435" cy="169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indent="-90488" defTabSz="593725" latinLnBrk="0">
                <a:spcBef>
                  <a:spcPts val="600"/>
                </a:spcBef>
                <a:buClr>
                  <a:srgbClr val="595959"/>
                </a:buClr>
                <a:buSzPct val="80000"/>
                <a:defRPr/>
              </a:pPr>
              <a:r>
                <a:rPr kumimoji="1" lang="en-US" altLang="ko-KR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: </a:t>
              </a:r>
              <a:r>
                <a:rPr kumimoji="1" lang="ko-KR" altLang="en-US" sz="900" spc="-7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itchFamily="50" charset="-127"/>
                  <a:ea typeface="맑은 고딕" pitchFamily="50" charset="-127"/>
                  <a:sym typeface="Monotype Sorts"/>
                </a:rPr>
                <a:t>자문</a:t>
              </a:r>
              <a:endParaRPr kumimoji="1" lang="ko-KR" altLang="en-US" sz="9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68269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45016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사업추진 조직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수행조직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6. </a:t>
            </a:r>
            <a:r>
              <a:rPr lang="ko-KR" altLang="en-US" dirty="0" smtClean="0"/>
              <a:t>사업추진 조직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사업수행 조직은 ㈜</a:t>
            </a:r>
            <a:r>
              <a:rPr lang="en-US" altLang="ko-KR" sz="1600" dirty="0" smtClean="0"/>
              <a:t>VTW</a:t>
            </a:r>
            <a:r>
              <a:rPr lang="ko-KR" altLang="en-US" sz="1600" dirty="0" smtClean="0"/>
              <a:t>가 주사업자이며 </a:t>
            </a:r>
            <a:r>
              <a:rPr lang="en-US" altLang="ko-KR" sz="1600" dirty="0" smtClean="0"/>
              <a:t>C&amp;F</a:t>
            </a:r>
            <a:r>
              <a:rPr lang="ko-KR" altLang="en-US" sz="1600" dirty="0" smtClean="0"/>
              <a:t>시스템과 </a:t>
            </a:r>
            <a:r>
              <a:rPr lang="ko-KR" altLang="en-US" sz="1600" dirty="0" err="1" smtClean="0"/>
              <a:t>코니언정보를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하도업체로</a:t>
            </a:r>
            <a:r>
              <a:rPr lang="ko-KR" altLang="en-US" sz="1600" dirty="0" smtClean="0"/>
              <a:t> 구성하여 공동으로 사업을 수행함</a:t>
            </a:r>
            <a:endParaRPr lang="ko-KR" altLang="en-US" sz="1600" dirty="0"/>
          </a:p>
        </p:txBody>
      </p:sp>
      <p:sp>
        <p:nvSpPr>
          <p:cNvPr id="144" name="직사각형 143"/>
          <p:cNvSpPr/>
          <p:nvPr/>
        </p:nvSpPr>
        <p:spPr>
          <a:xfrm>
            <a:off x="308484" y="1526434"/>
            <a:ext cx="9233457" cy="406391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marL="0" lvl="1" indent="-142875" algn="ctr" fontAlgn="base" latinLnBrk="0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tabLst>
                <a:tab pos="5648325" algn="l"/>
              </a:tabLst>
              <a:defRPr/>
            </a:pPr>
            <a:r>
              <a:rPr lang="ko-KR" altLang="en-US" sz="2000" kern="0" spc="-50" dirty="0" smtClean="0">
                <a:ln>
                  <a:solidFill>
                    <a:srgbClr val="4C5C6C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실무 추진 협의체 구성</a:t>
            </a:r>
            <a:endParaRPr lang="ko-KR" altLang="en-US" sz="2000" kern="0" spc="-50" dirty="0">
              <a:ln>
                <a:solidFill>
                  <a:srgbClr val="4C5C6C">
                    <a:alpha val="0"/>
                  </a:srgbClr>
                </a:solidFill>
              </a:ln>
              <a:solidFill>
                <a:prstClr val="white"/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162" name="Rectangle 309"/>
          <p:cNvSpPr>
            <a:spLocks noChangeArrowheads="1"/>
          </p:cNvSpPr>
          <p:nvPr/>
        </p:nvSpPr>
        <p:spPr bwMode="auto">
          <a:xfrm flipH="1">
            <a:off x="2865262" y="4800242"/>
            <a:ext cx="1811144" cy="100453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dirty="0">
              <a:ln>
                <a:solidFill>
                  <a:srgbClr val="2B79C2">
                    <a:alpha val="0"/>
                  </a:srgbClr>
                </a:solidFill>
              </a:ln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" name="직사각형 162"/>
          <p:cNvSpPr/>
          <p:nvPr/>
        </p:nvSpPr>
        <p:spPr bwMode="auto">
          <a:xfrm>
            <a:off x="7279100" y="3478474"/>
            <a:ext cx="1994380" cy="237501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</a:ln>
          <a:effectLst/>
          <a:ex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lvl="1" indent="-142875" algn="ctr" fontAlgn="base" latinLnBrk="0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tabLst>
                <a:tab pos="5648325" algn="l"/>
              </a:tabLst>
            </a:pPr>
            <a:endParaRPr kumimoji="1" lang="en-US" altLang="ko-KR" sz="10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0070C0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164" name="Rectangle 309"/>
          <p:cNvSpPr>
            <a:spLocks noChangeArrowheads="1"/>
          </p:cNvSpPr>
          <p:nvPr/>
        </p:nvSpPr>
        <p:spPr bwMode="auto">
          <a:xfrm flipH="1">
            <a:off x="7279100" y="3313300"/>
            <a:ext cx="1994380" cy="282869"/>
          </a:xfrm>
          <a:prstGeom prst="round2SameRect">
            <a:avLst/>
          </a:prstGeom>
          <a:solidFill>
            <a:srgbClr val="508CD2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영역별 자문</a:t>
            </a:r>
          </a:p>
        </p:txBody>
      </p:sp>
      <p:cxnSp>
        <p:nvCxnSpPr>
          <p:cNvPr id="165" name="직선 연결선 164"/>
          <p:cNvCxnSpPr>
            <a:stCxn id="187" idx="1"/>
          </p:cNvCxnSpPr>
          <p:nvPr/>
        </p:nvCxnSpPr>
        <p:spPr>
          <a:xfrm flipH="1">
            <a:off x="2425310" y="3629881"/>
            <a:ext cx="2500330" cy="31758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6" name="Rectangle 309"/>
          <p:cNvSpPr>
            <a:spLocks noChangeArrowheads="1"/>
          </p:cNvSpPr>
          <p:nvPr/>
        </p:nvSpPr>
        <p:spPr bwMode="auto">
          <a:xfrm flipH="1">
            <a:off x="747418" y="4528737"/>
            <a:ext cx="1885935" cy="304468"/>
          </a:xfrm>
          <a:prstGeom prst="round2DiagRect">
            <a:avLst/>
          </a:prstGeom>
          <a:solidFill>
            <a:srgbClr val="508CD2"/>
          </a:solidFill>
          <a:ln>
            <a:noFill/>
          </a:ln>
          <a:ex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재무회계</a:t>
            </a:r>
            <a:r>
              <a:rPr lang="en-US" altLang="ko-KR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계약</a:t>
            </a:r>
            <a:endParaRPr lang="ko-KR" altLang="en-US" sz="1300" b="1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7" name="그룹 65"/>
          <p:cNvGrpSpPr/>
          <p:nvPr/>
        </p:nvGrpSpPr>
        <p:grpSpPr>
          <a:xfrm>
            <a:off x="4925640" y="3233011"/>
            <a:ext cx="2143140" cy="883901"/>
            <a:chOff x="488504" y="4569273"/>
            <a:chExt cx="1756000" cy="772939"/>
          </a:xfrm>
        </p:grpSpPr>
        <p:sp>
          <p:nvSpPr>
            <p:cNvPr id="168" name="Rectangle 309"/>
            <p:cNvSpPr>
              <a:spLocks noChangeArrowheads="1"/>
            </p:cNvSpPr>
            <p:nvPr/>
          </p:nvSpPr>
          <p:spPr bwMode="auto">
            <a:xfrm flipH="1">
              <a:off x="488511" y="4569273"/>
              <a:ext cx="1755993" cy="260495"/>
            </a:xfrm>
            <a:prstGeom prst="round2SameRect">
              <a:avLst/>
            </a:prstGeom>
            <a:solidFill>
              <a:srgbClr val="40404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300" b="1" kern="0" dirty="0" smtClea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총괄지원</a:t>
              </a:r>
              <a:endPara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Rectangle 309"/>
            <p:cNvSpPr>
              <a:spLocks noChangeArrowheads="1"/>
            </p:cNvSpPr>
            <p:nvPr/>
          </p:nvSpPr>
          <p:spPr bwMode="auto">
            <a:xfrm flipH="1">
              <a:off x="488504" y="4819153"/>
              <a:ext cx="1755997" cy="5230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0" name="Rectangle 309"/>
          <p:cNvSpPr>
            <a:spLocks noChangeArrowheads="1"/>
          </p:cNvSpPr>
          <p:nvPr/>
        </p:nvSpPr>
        <p:spPr bwMode="auto">
          <a:xfrm flipH="1">
            <a:off x="5205122" y="4804647"/>
            <a:ext cx="1785950" cy="10726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dirty="0">
              <a:ln>
                <a:solidFill>
                  <a:srgbClr val="2B79C2">
                    <a:alpha val="0"/>
                  </a:srgbClr>
                </a:solidFill>
              </a:ln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1" name="직선 연결선 125"/>
          <p:cNvCxnSpPr/>
          <p:nvPr/>
        </p:nvCxnSpPr>
        <p:spPr>
          <a:xfrm rot="16200000" flipH="1">
            <a:off x="4266247" y="2814564"/>
            <a:ext cx="1197908" cy="2177678"/>
          </a:xfrm>
          <a:prstGeom prst="bentConnector3">
            <a:avLst>
              <a:gd name="adj1" fmla="val 77851"/>
            </a:avLst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2" name="TextBox 171"/>
          <p:cNvSpPr txBox="1"/>
          <p:nvPr/>
        </p:nvSpPr>
        <p:spPr bwMode="auto">
          <a:xfrm>
            <a:off x="5004488" y="3804515"/>
            <a:ext cx="1921416" cy="216287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송은경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300" dirty="0" err="1" smtClean="0">
                <a:latin typeface="맑은 고딕" pitchFamily="50" charset="-127"/>
                <a:ea typeface="맑은 고딕" pitchFamily="50" charset="-127"/>
              </a:rPr>
              <a:t>코니언정보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73" name="그룹 172"/>
          <p:cNvGrpSpPr/>
          <p:nvPr/>
        </p:nvGrpSpPr>
        <p:grpSpPr>
          <a:xfrm>
            <a:off x="704528" y="3233011"/>
            <a:ext cx="1785950" cy="884978"/>
            <a:chOff x="1523976" y="2571744"/>
            <a:chExt cx="1785950" cy="884978"/>
          </a:xfrm>
        </p:grpSpPr>
        <p:sp>
          <p:nvSpPr>
            <p:cNvPr id="174" name="Rectangle 309"/>
            <p:cNvSpPr>
              <a:spLocks noChangeArrowheads="1"/>
            </p:cNvSpPr>
            <p:nvPr/>
          </p:nvSpPr>
          <p:spPr bwMode="auto">
            <a:xfrm flipH="1">
              <a:off x="1523976" y="2571744"/>
              <a:ext cx="1785950" cy="298326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300" b="1" kern="0" dirty="0" smtClea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프로젝트 </a:t>
              </a:r>
              <a:r>
                <a:rPr lang="ko-KR" altLang="en-US" sz="1300" b="1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175" name="Rectangle 309"/>
            <p:cNvSpPr>
              <a:spLocks noChangeArrowheads="1"/>
            </p:cNvSpPr>
            <p:nvPr/>
          </p:nvSpPr>
          <p:spPr bwMode="auto">
            <a:xfrm flipH="1">
              <a:off x="1523976" y="2857496"/>
              <a:ext cx="1785950" cy="5992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6" name="TextBox 175"/>
            <p:cNvSpPr txBox="1"/>
            <p:nvPr/>
          </p:nvSpPr>
          <p:spPr bwMode="auto">
            <a:xfrm>
              <a:off x="1704857" y="3143248"/>
              <a:ext cx="1462193" cy="22002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dist="254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txBody>
            <a:bodyPr wrap="square" rtlCol="0" anchor="ctr">
              <a:noAutofit/>
            </a:bodyPr>
            <a:lstStyle>
              <a:defPPr>
                <a:defRPr lang="ko-KR"/>
              </a:defPPr>
              <a:lvl1pPr algn="ctr" defTabSz="913974" fontAlgn="auto" latinLnBrk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100" i="0" ker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fontAlgn="base">
                <a:spcBef>
                  <a:spcPct val="20000"/>
                </a:spcBef>
                <a:spcAft>
                  <a:spcPct val="0"/>
                </a:spcAft>
                <a:buClr>
                  <a:srgbClr val="663300"/>
                </a:buClr>
                <a:buSzPct val="70000"/>
                <a:buFont typeface="Wingdings 2" pitchFamily="18" charset="2"/>
                <a:buChar char=""/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2pPr>
              <a:lvl3pPr fontAlgn="base">
                <a:spcBef>
                  <a:spcPct val="20000"/>
                </a:spcBef>
                <a:spcAft>
                  <a:spcPct val="0"/>
                </a:spcAft>
                <a:buClr>
                  <a:srgbClr val="663300"/>
                </a:buClr>
                <a:buSzPct val="70000"/>
                <a:buFont typeface="Wingdings 2" pitchFamily="18" charset="2"/>
                <a:buChar char=""/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3pPr>
              <a:lvl4pPr fontAlgn="base">
                <a:spcBef>
                  <a:spcPct val="20000"/>
                </a:spcBef>
                <a:spcAft>
                  <a:spcPct val="0"/>
                </a:spcAft>
                <a:buClr>
                  <a:srgbClr val="663300"/>
                </a:buClr>
                <a:buSzPct val="70000"/>
                <a:buFont typeface="Wingdings 2" pitchFamily="18" charset="2"/>
                <a:buChar char=""/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4pPr>
              <a:lvl5pPr fontAlgn="base">
                <a:spcBef>
                  <a:spcPct val="20000"/>
                </a:spcBef>
                <a:spcAft>
                  <a:spcPct val="0"/>
                </a:spcAft>
                <a:buClr>
                  <a:srgbClr val="663300"/>
                </a:buClr>
                <a:buSzPct val="70000"/>
                <a:buFont typeface="Wingdings 2" pitchFamily="18" charset="2"/>
                <a:buChar char=""/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5pPr>
              <a:lvl6pPr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6pPr>
              <a:lvl7pPr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7pPr>
              <a:lvl8pPr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8pPr>
              <a:lvl9pPr>
                <a:defRPr kumimoji="1" sz="1100" i="1">
                  <a:solidFill>
                    <a:srgbClr val="292929"/>
                  </a:solidFill>
                  <a:latin typeface="Rix모던고딕 M" pitchFamily="18" charset="-127"/>
                  <a:ea typeface="Rix모던고딕 M" pitchFamily="18" charset="-127"/>
                </a:defRPr>
              </a:lvl9pPr>
            </a:lstStyle>
            <a:p>
              <a:r>
                <a:rPr lang="ko-KR" altLang="en-US" sz="1300" dirty="0" smtClean="0">
                  <a:latin typeface="맑은 고딕" pitchFamily="50" charset="-127"/>
                  <a:ea typeface="맑은 고딕" pitchFamily="50" charset="-127"/>
                </a:rPr>
                <a:t>김영대 </a:t>
              </a:r>
              <a:r>
                <a:rPr lang="en-US" altLang="ko-KR" sz="13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1300" dirty="0" err="1" smtClean="0">
                  <a:latin typeface="맑은 고딕" pitchFamily="50" charset="-127"/>
                  <a:ea typeface="맑은 고딕" pitchFamily="50" charset="-127"/>
                </a:rPr>
                <a:t>vtw</a:t>
              </a:r>
              <a:r>
                <a:rPr lang="en-US" altLang="ko-KR" sz="1300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3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7" name="Rectangle 316"/>
            <p:cNvSpPr>
              <a:spLocks noChangeArrowheads="1"/>
            </p:cNvSpPr>
            <p:nvPr/>
          </p:nvSpPr>
          <p:spPr bwMode="auto">
            <a:xfrm>
              <a:off x="1523976" y="2857496"/>
              <a:ext cx="1785950" cy="240703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36000" rIns="0" bIns="0" anchor="t">
              <a:spAutoFit/>
              <a:scene3d>
                <a:camera prst="orthographicFront"/>
                <a:lightRig rig="threePt" dir="t"/>
              </a:scene3d>
              <a:sp3d extrusionH="12700"/>
            </a:bodyPr>
            <a:lstStyle/>
            <a:p>
              <a:pPr algn="ctr" latinLnBrk="0">
                <a:lnSpc>
                  <a:spcPct val="110000"/>
                </a:lnSpc>
                <a:buClr>
                  <a:srgbClr val="787878"/>
                </a:buClr>
                <a:buSzPct val="80000"/>
              </a:pPr>
              <a:r>
                <a:rPr lang="ko-KR" altLang="en-US" sz="1300" spc="-7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사업관리</a:t>
              </a:r>
              <a:endParaRPr lang="ko-KR" altLang="en-US" sz="130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78" name="직선 연결선 125"/>
          <p:cNvCxnSpPr>
            <a:endCxn id="166" idx="3"/>
          </p:cNvCxnSpPr>
          <p:nvPr/>
        </p:nvCxnSpPr>
        <p:spPr>
          <a:xfrm rot="10800000" flipV="1">
            <a:off x="1690386" y="4233143"/>
            <a:ext cx="2100255" cy="295594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9" name="Rectangle 309"/>
          <p:cNvSpPr>
            <a:spLocks noChangeArrowheads="1"/>
          </p:cNvSpPr>
          <p:nvPr/>
        </p:nvSpPr>
        <p:spPr bwMode="auto">
          <a:xfrm flipH="1">
            <a:off x="2847668" y="4518895"/>
            <a:ext cx="1832345" cy="304468"/>
          </a:xfrm>
          <a:prstGeom prst="round2DiagRect">
            <a:avLst/>
          </a:prstGeom>
          <a:solidFill>
            <a:srgbClr val="508CD2"/>
          </a:solidFill>
          <a:ln>
            <a:noFill/>
          </a:ln>
          <a:ex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인사</a:t>
            </a:r>
            <a:r>
              <a:rPr lang="en-US" altLang="ko-KR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기금지원</a:t>
            </a:r>
            <a:endParaRPr lang="ko-KR" altLang="en-US" sz="1300" b="1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81" name="그룹 79"/>
          <p:cNvGrpSpPr/>
          <p:nvPr/>
        </p:nvGrpSpPr>
        <p:grpSpPr>
          <a:xfrm>
            <a:off x="7462449" y="4570919"/>
            <a:ext cx="1595006" cy="650159"/>
            <a:chOff x="5303200" y="2173652"/>
            <a:chExt cx="1296000" cy="650159"/>
          </a:xfrm>
        </p:grpSpPr>
        <p:sp>
          <p:nvSpPr>
            <p:cNvPr id="185" name="Rectangle 85"/>
            <p:cNvSpPr>
              <a:spLocks noChangeArrowheads="1"/>
            </p:cNvSpPr>
            <p:nvPr/>
          </p:nvSpPr>
          <p:spPr bwMode="auto">
            <a:xfrm>
              <a:off x="5303200" y="2173652"/>
              <a:ext cx="1296000" cy="22136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자문</a:t>
              </a:r>
              <a:r>
                <a:rPr lang="en-US" altLang="ko-KR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-</a:t>
              </a:r>
              <a:r>
                <a:rPr lang="ko-KR" altLang="en-US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회계</a:t>
              </a:r>
              <a:r>
                <a:rPr lang="en-US" altLang="ko-KR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인사전문</a:t>
              </a:r>
              <a:endParaRPr lang="ko-KR" altLang="en-US" sz="120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6" name="Rectangle 85"/>
            <p:cNvSpPr>
              <a:spLocks noChangeArrowheads="1"/>
            </p:cNvSpPr>
            <p:nvPr/>
          </p:nvSpPr>
          <p:spPr bwMode="auto">
            <a:xfrm>
              <a:off x="5303200" y="2437824"/>
              <a:ext cx="1296000" cy="38598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0" bIns="0" anchor="ctr"/>
            <a:lstStyle/>
            <a:p>
              <a:pPr algn="ctr" eaLnBrk="0" fontAlgn="base" latinLnBrk="0" hangingPunct="0">
                <a:spcBef>
                  <a:spcPts val="200"/>
                </a:spcBef>
                <a:spcAft>
                  <a:spcPct val="0"/>
                </a:spcAft>
                <a:buClr>
                  <a:srgbClr val="3493FF"/>
                </a:buClr>
                <a:buSzPct val="80000"/>
              </a:pPr>
              <a:r>
                <a:rPr lang="ko-KR" altLang="en-US" sz="13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최원산 </a:t>
              </a:r>
              <a:r>
                <a:rPr lang="en-US" altLang="ko-KR" sz="13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1300" kern="0" dirty="0" smtClean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C&amp;F)</a:t>
              </a:r>
              <a:endParaRPr lang="en-US" altLang="ko-KR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2" name="그룹 82"/>
          <p:cNvGrpSpPr/>
          <p:nvPr/>
        </p:nvGrpSpPr>
        <p:grpSpPr>
          <a:xfrm>
            <a:off x="7462449" y="3670489"/>
            <a:ext cx="1595006" cy="650159"/>
            <a:chOff x="5303200" y="2173652"/>
            <a:chExt cx="1296000" cy="650159"/>
          </a:xfrm>
        </p:grpSpPr>
        <p:sp>
          <p:nvSpPr>
            <p:cNvPr id="183" name="Rectangle 85"/>
            <p:cNvSpPr>
              <a:spLocks noChangeArrowheads="1"/>
            </p:cNvSpPr>
            <p:nvPr/>
          </p:nvSpPr>
          <p:spPr bwMode="auto">
            <a:xfrm>
              <a:off x="5303200" y="2173652"/>
              <a:ext cx="1296000" cy="22136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자문</a:t>
              </a:r>
              <a:r>
                <a:rPr lang="en-US" altLang="ko-KR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-QA, </a:t>
              </a:r>
              <a:r>
                <a:rPr lang="ko-KR" altLang="en-US" sz="1200" dirty="0" smtClean="0">
                  <a:ln>
                    <a:solidFill>
                      <a:srgbClr val="0070C0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회계자문</a:t>
              </a:r>
              <a:endParaRPr lang="ko-KR" altLang="en-US" sz="120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4" name="Rectangle 85"/>
            <p:cNvSpPr>
              <a:spLocks noChangeArrowheads="1"/>
            </p:cNvSpPr>
            <p:nvPr/>
          </p:nvSpPr>
          <p:spPr bwMode="auto">
            <a:xfrm>
              <a:off x="5303200" y="2437824"/>
              <a:ext cx="1296000" cy="38598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0" bIns="0" anchor="ctr"/>
            <a:lstStyle/>
            <a:p>
              <a:pPr algn="ctr" eaLnBrk="0" fontAlgn="base" latinLnBrk="0" hangingPunct="0">
                <a:spcBef>
                  <a:spcPts val="200"/>
                </a:spcBef>
                <a:spcAft>
                  <a:spcPct val="0"/>
                </a:spcAft>
                <a:buClr>
                  <a:srgbClr val="3493FF"/>
                </a:buClr>
                <a:buSzPct val="80000"/>
              </a:pPr>
              <a:r>
                <a:rPr lang="ko-KR" altLang="en-US" sz="13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선승한 </a:t>
              </a:r>
              <a:r>
                <a:rPr lang="en-US" altLang="ko-KR" sz="13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1300" kern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vtw</a:t>
              </a:r>
              <a:r>
                <a:rPr lang="en-US" altLang="ko-KR" sz="1300" b="1" spc="-100" dirty="0" smtClean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en-US" altLang="ko-KR" sz="1300" b="1" spc="-1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87" name="Rectangle 316"/>
          <p:cNvSpPr>
            <a:spLocks noChangeArrowheads="1"/>
          </p:cNvSpPr>
          <p:nvPr/>
        </p:nvSpPr>
        <p:spPr bwMode="auto">
          <a:xfrm>
            <a:off x="4925640" y="3518763"/>
            <a:ext cx="2143140" cy="222236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36000" rIns="0" bIns="0" anchor="t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 latinLnBrk="0">
              <a:lnSpc>
                <a:spcPct val="110000"/>
              </a:lnSpc>
              <a:buClr>
                <a:srgbClr val="787878"/>
              </a:buClr>
              <a:buSzPct val="80000"/>
            </a:pPr>
            <a:r>
              <a:rPr lang="ko-KR" altLang="en-US" sz="12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업무지원</a:t>
            </a:r>
            <a:r>
              <a:rPr lang="en-US" altLang="ko-KR" sz="12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아키텍처 총괄지원</a:t>
            </a:r>
            <a:endParaRPr lang="ko-KR" altLang="en-US" sz="1200" spc="-7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TextBox 187"/>
          <p:cNvSpPr txBox="1"/>
          <p:nvPr/>
        </p:nvSpPr>
        <p:spPr bwMode="auto">
          <a:xfrm>
            <a:off x="2990544" y="5124769"/>
            <a:ext cx="1528510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남성신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9" name="TextBox 188"/>
          <p:cNvSpPr txBox="1"/>
          <p:nvPr/>
        </p:nvSpPr>
        <p:spPr bwMode="auto">
          <a:xfrm>
            <a:off x="2990544" y="4876085"/>
            <a:ext cx="1528510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이덕희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0" name="TextBox 189"/>
          <p:cNvSpPr txBox="1"/>
          <p:nvPr/>
        </p:nvSpPr>
        <p:spPr bwMode="auto">
          <a:xfrm>
            <a:off x="2990544" y="5373454"/>
            <a:ext cx="1528510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김호영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(C&amp;F)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" name="TextBox 190"/>
          <p:cNvSpPr txBox="1"/>
          <p:nvPr/>
        </p:nvSpPr>
        <p:spPr bwMode="auto">
          <a:xfrm>
            <a:off x="5347998" y="5150545"/>
            <a:ext cx="1503477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최진민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TextBox 191"/>
          <p:cNvSpPr txBox="1"/>
          <p:nvPr/>
        </p:nvSpPr>
        <p:spPr bwMode="auto">
          <a:xfrm>
            <a:off x="5347998" y="4901861"/>
            <a:ext cx="1503477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이흥기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3" name="직선 연결선 125"/>
          <p:cNvCxnSpPr/>
          <p:nvPr/>
        </p:nvCxnSpPr>
        <p:spPr>
          <a:xfrm rot="16200000" flipV="1">
            <a:off x="3197309" y="3954940"/>
            <a:ext cx="1158109" cy="3"/>
          </a:xfrm>
          <a:prstGeom prst="straightConnector1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" name="Rectangle 309"/>
          <p:cNvSpPr>
            <a:spLocks noChangeArrowheads="1"/>
          </p:cNvSpPr>
          <p:nvPr/>
        </p:nvSpPr>
        <p:spPr bwMode="auto">
          <a:xfrm flipH="1">
            <a:off x="5205121" y="4517840"/>
            <a:ext cx="1785948" cy="304468"/>
          </a:xfrm>
          <a:prstGeom prst="round2DiagRect">
            <a:avLst/>
          </a:prstGeom>
          <a:solidFill>
            <a:srgbClr val="508CD2"/>
          </a:solidFill>
          <a:ln>
            <a:noFill/>
          </a:ln>
          <a:ex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r>
              <a:rPr lang="en-US" altLang="ko-KR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b="1" kern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인프라</a:t>
            </a:r>
            <a:endParaRPr lang="ko-KR" altLang="en-US" sz="1300" b="1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5" name="직선 연결선 125"/>
          <p:cNvCxnSpPr>
            <a:stCxn id="231" idx="3"/>
            <a:endCxn id="198" idx="2"/>
          </p:cNvCxnSpPr>
          <p:nvPr/>
        </p:nvCxnSpPr>
        <p:spPr>
          <a:xfrm rot="5400000" flipH="1" flipV="1">
            <a:off x="3682470" y="2625788"/>
            <a:ext cx="214314" cy="1"/>
          </a:xfrm>
          <a:prstGeom prst="straightConnector1">
            <a:avLst/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6" name="Rectangle 309"/>
          <p:cNvSpPr>
            <a:spLocks noChangeArrowheads="1"/>
          </p:cNvSpPr>
          <p:nvPr/>
        </p:nvSpPr>
        <p:spPr bwMode="auto">
          <a:xfrm flipH="1">
            <a:off x="2990544" y="1947127"/>
            <a:ext cx="1598167" cy="254074"/>
          </a:xfrm>
          <a:prstGeom prst="round2SameRect">
            <a:avLst/>
          </a:prstGeom>
          <a:solidFill>
            <a:srgbClr val="233C5A"/>
          </a:solidFill>
          <a:ln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3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7" name="직사각형 99"/>
          <p:cNvSpPr>
            <a:spLocks noChangeArrowheads="1"/>
          </p:cNvSpPr>
          <p:nvPr/>
        </p:nvSpPr>
        <p:spPr bwMode="auto">
          <a:xfrm>
            <a:off x="3355544" y="1990621"/>
            <a:ext cx="920884" cy="17082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 algn="ctr">
                <a:solidFill>
                  <a:srgbClr val="EAEAE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25400" dir="5400000" sy="50000" rotWithShape="0">
                    <a:srgbClr val="F8F8F8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사업총괄책임자</a:t>
            </a:r>
          </a:p>
        </p:txBody>
      </p:sp>
      <p:sp>
        <p:nvSpPr>
          <p:cNvPr id="198" name="Rectangle 310"/>
          <p:cNvSpPr>
            <a:spLocks noChangeArrowheads="1"/>
          </p:cNvSpPr>
          <p:nvPr/>
        </p:nvSpPr>
        <p:spPr bwMode="auto">
          <a:xfrm>
            <a:off x="2990544" y="2230521"/>
            <a:ext cx="1598167" cy="288110"/>
          </a:xfrm>
          <a:prstGeom prst="rect">
            <a:avLst/>
          </a:prstGeom>
          <a:solidFill>
            <a:srgbClr val="C0C0C0">
              <a:alpha val="27000"/>
            </a:srgb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rgbClr val="C0C0C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ko-KR" altLang="en-US" sz="1300" spc="-70" dirty="0"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199" name="Rectangle 58"/>
          <p:cNvSpPr>
            <a:spLocks noChangeArrowheads="1"/>
          </p:cNvSpPr>
          <p:nvPr/>
        </p:nvSpPr>
        <p:spPr bwMode="auto">
          <a:xfrm>
            <a:off x="3347734" y="2245543"/>
            <a:ext cx="875084" cy="20140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10000"/>
              </a:lnSpc>
              <a:buClr>
                <a:srgbClr val="787878"/>
              </a:buClr>
              <a:buSzPct val="80000"/>
            </a:pPr>
            <a:r>
              <a:rPr lang="ko-KR" altLang="en-US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이보근</a:t>
            </a:r>
            <a:r>
              <a:rPr lang="en-US" altLang="ko-KR" sz="130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spc="-7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spc="-7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1" name="Rectangle 309"/>
          <p:cNvSpPr>
            <a:spLocks noChangeArrowheads="1"/>
          </p:cNvSpPr>
          <p:nvPr/>
        </p:nvSpPr>
        <p:spPr bwMode="auto">
          <a:xfrm flipH="1">
            <a:off x="2990544" y="2732945"/>
            <a:ext cx="1598167" cy="254075"/>
          </a:xfrm>
          <a:prstGeom prst="round2SameRect">
            <a:avLst/>
          </a:prstGeom>
          <a:solidFill>
            <a:srgbClr val="508CD2"/>
          </a:solidFill>
          <a:ln>
            <a:noFill/>
          </a:ln>
          <a:ex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프로젝트매니저</a:t>
            </a:r>
          </a:p>
        </p:txBody>
      </p:sp>
      <p:sp>
        <p:nvSpPr>
          <p:cNvPr id="232" name="Rectangle 310"/>
          <p:cNvSpPr>
            <a:spLocks noChangeArrowheads="1"/>
          </p:cNvSpPr>
          <p:nvPr/>
        </p:nvSpPr>
        <p:spPr bwMode="auto">
          <a:xfrm>
            <a:off x="3004510" y="3010147"/>
            <a:ext cx="1598167" cy="285752"/>
          </a:xfrm>
          <a:prstGeom prst="rect">
            <a:avLst/>
          </a:prstGeom>
          <a:solidFill>
            <a:srgbClr val="C0C0C0">
              <a:alpha val="27000"/>
            </a:srgb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rgbClr val="C0C0C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ko-KR" altLang="en-US" sz="1300" spc="-70" dirty="0"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233" name="Rectangle 309"/>
          <p:cNvSpPr>
            <a:spLocks noChangeArrowheads="1"/>
          </p:cNvSpPr>
          <p:nvPr/>
        </p:nvSpPr>
        <p:spPr bwMode="auto">
          <a:xfrm flipH="1">
            <a:off x="750772" y="4804647"/>
            <a:ext cx="1882582" cy="100453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dirty="0">
              <a:ln>
                <a:solidFill>
                  <a:srgbClr val="2B79C2">
                    <a:alpha val="0"/>
                  </a:srgbClr>
                </a:solidFill>
              </a:ln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4" name="TextBox 233"/>
          <p:cNvSpPr txBox="1"/>
          <p:nvPr/>
        </p:nvSpPr>
        <p:spPr bwMode="auto">
          <a:xfrm>
            <a:off x="847405" y="5124769"/>
            <a:ext cx="1628434" cy="22101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전성덕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(C&amp;F)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5" name="TextBox 234"/>
          <p:cNvSpPr txBox="1"/>
          <p:nvPr/>
        </p:nvSpPr>
        <p:spPr bwMode="auto">
          <a:xfrm>
            <a:off x="847404" y="4876085"/>
            <a:ext cx="1628435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이재철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6" name="TextBox 235"/>
          <p:cNvSpPr txBox="1"/>
          <p:nvPr/>
        </p:nvSpPr>
        <p:spPr bwMode="auto">
          <a:xfrm>
            <a:off x="847404" y="5373454"/>
            <a:ext cx="1628435" cy="224551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dist="25400" dir="5400000" algn="t" rotWithShape="0">
              <a:schemeClr val="bg1">
                <a:lumMod val="65000"/>
                <a:alpha val="40000"/>
              </a:schemeClr>
            </a:outerShdw>
          </a:effectLst>
        </p:spPr>
        <p:txBody>
          <a:bodyPr wrap="square" lIns="18000" rIns="18000" rtlCol="0" anchor="ctr">
            <a:noAutofit/>
          </a:bodyPr>
          <a:lstStyle>
            <a:defPPr>
              <a:defRPr lang="ko-KR"/>
            </a:defPPr>
            <a:lvl1pPr algn="ctr" defTabSz="913974" fontAlgn="auto" latinLnBrk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i="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fontAlgn="base"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0000"/>
              <a:buFont typeface="Wingdings 2" pitchFamily="18" charset="2"/>
              <a:buChar char=""/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>
              <a:defRPr kumimoji="1" sz="1100" i="1">
                <a:solidFill>
                  <a:srgbClr val="292929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r>
              <a:rPr lang="ko-KR" altLang="en-US" sz="1300" dirty="0" err="1" smtClean="0">
                <a:latin typeface="맑은 고딕" pitchFamily="50" charset="-127"/>
                <a:ea typeface="맑은 고딕" pitchFamily="50" charset="-127"/>
              </a:rPr>
              <a:t>이복음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dirty="0" err="1" smtClean="0"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7" name="Rectangle 58"/>
          <p:cNvSpPr>
            <a:spLocks noChangeArrowheads="1"/>
          </p:cNvSpPr>
          <p:nvPr/>
        </p:nvSpPr>
        <p:spPr bwMode="auto">
          <a:xfrm>
            <a:off x="3061982" y="3036490"/>
            <a:ext cx="1439915" cy="20140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10000"/>
              </a:lnSpc>
              <a:buClr>
                <a:srgbClr val="787878"/>
              </a:buClr>
              <a:buSzPct val="80000"/>
            </a:pPr>
            <a:r>
              <a:rPr lang="ko-KR" altLang="en-US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장경애 </a:t>
            </a:r>
            <a:r>
              <a:rPr lang="en-US" altLang="ko-KR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300" spc="-7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vtw</a:t>
            </a:r>
            <a:r>
              <a:rPr lang="en-US" altLang="ko-KR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300" spc="-7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510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45016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사업추진 조직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실무협의체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6. </a:t>
            </a:r>
            <a:r>
              <a:rPr lang="ko-KR" altLang="en-US" dirty="0" smtClean="0"/>
              <a:t>사업추진 조직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정보기획팀장을 주축으로 사업책임자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업무책임자와 사업수행업체를 실무추진협의체로 구성하여 </a:t>
            </a:r>
            <a:r>
              <a:rPr lang="ko-KR" altLang="en-US" sz="1600" dirty="0" err="1" smtClean="0"/>
              <a:t>정보화기획팀과</a:t>
            </a:r>
            <a:r>
              <a:rPr lang="ko-KR" altLang="en-US" sz="1600" dirty="0" smtClean="0"/>
              <a:t> 업무팀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수행팀이</a:t>
            </a:r>
            <a:r>
              <a:rPr lang="ko-KR" altLang="en-US" sz="1600" dirty="0" smtClean="0"/>
              <a:t> 협업으로 사업을 수행함</a:t>
            </a:r>
            <a:endParaRPr lang="ko-KR" altLang="en-US" sz="1600" dirty="0"/>
          </a:p>
        </p:txBody>
      </p:sp>
      <p:cxnSp>
        <p:nvCxnSpPr>
          <p:cNvPr id="142" name="직선 연결선 141"/>
          <p:cNvCxnSpPr/>
          <p:nvPr/>
        </p:nvCxnSpPr>
        <p:spPr bwMode="auto">
          <a:xfrm>
            <a:off x="6753200" y="2841409"/>
            <a:ext cx="0" cy="378797"/>
          </a:xfrm>
          <a:prstGeom prst="line">
            <a:avLst/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cxnSp>
        <p:nvCxnSpPr>
          <p:cNvPr id="143" name="직선 연결선 142"/>
          <p:cNvCxnSpPr/>
          <p:nvPr/>
        </p:nvCxnSpPr>
        <p:spPr bwMode="auto">
          <a:xfrm>
            <a:off x="3224808" y="2841409"/>
            <a:ext cx="0" cy="378797"/>
          </a:xfrm>
          <a:prstGeom prst="line">
            <a:avLst/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sp>
        <p:nvSpPr>
          <p:cNvPr id="144" name="직사각형 143"/>
          <p:cNvSpPr/>
          <p:nvPr/>
        </p:nvSpPr>
        <p:spPr>
          <a:xfrm>
            <a:off x="308484" y="1447411"/>
            <a:ext cx="9233457" cy="406391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marL="0" lvl="1" indent="-142875" algn="ctr" fontAlgn="base" latinLnBrk="0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tabLst>
                <a:tab pos="5648325" algn="l"/>
              </a:tabLst>
              <a:defRPr/>
            </a:pPr>
            <a:r>
              <a:rPr lang="ko-KR" altLang="en-US" sz="2000" kern="0" spc="-50" dirty="0" smtClean="0">
                <a:ln>
                  <a:solidFill>
                    <a:srgbClr val="4C5C6C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실무 추진 협의체 구성</a:t>
            </a:r>
            <a:endParaRPr lang="ko-KR" altLang="en-US" sz="2000" kern="0" spc="-50" dirty="0">
              <a:ln>
                <a:solidFill>
                  <a:srgbClr val="4C5C6C">
                    <a:alpha val="0"/>
                  </a:srgbClr>
                </a:solidFill>
              </a:ln>
              <a:solidFill>
                <a:prstClr val="white"/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cxnSp>
        <p:nvCxnSpPr>
          <p:cNvPr id="145" name="직선 연결선 144"/>
          <p:cNvCxnSpPr/>
          <p:nvPr/>
        </p:nvCxnSpPr>
        <p:spPr bwMode="auto">
          <a:xfrm>
            <a:off x="4881919" y="2632132"/>
            <a:ext cx="0" cy="586195"/>
          </a:xfrm>
          <a:prstGeom prst="line">
            <a:avLst/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sp>
        <p:nvSpPr>
          <p:cNvPr id="146" name="AutoShape 36"/>
          <p:cNvSpPr>
            <a:spLocks noChangeArrowheads="1"/>
          </p:cNvSpPr>
          <p:nvPr/>
        </p:nvSpPr>
        <p:spPr bwMode="auto">
          <a:xfrm>
            <a:off x="4160912" y="1621784"/>
            <a:ext cx="1584000" cy="288000"/>
          </a:xfrm>
          <a:prstGeom prst="roundRect">
            <a:avLst>
              <a:gd name="adj" fmla="val 8810"/>
            </a:avLst>
          </a:prstGeom>
          <a:solidFill>
            <a:srgbClr val="233C5A"/>
          </a:solidFill>
          <a:ln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총괄책임자</a:t>
            </a:r>
            <a:endParaRPr kumimoji="0" lang="ko-KR" altLang="ko-KR" sz="1400" b="1" i="0" u="none" strike="noStrike" kern="0" cap="none" spc="0" normalizeH="0" baseline="0" noProof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7" name="Rectangle 39" descr="s10"/>
          <p:cNvSpPr>
            <a:spLocks noChangeArrowheads="1"/>
          </p:cNvSpPr>
          <p:nvPr/>
        </p:nvSpPr>
        <p:spPr bwMode="auto">
          <a:xfrm>
            <a:off x="5718441" y="1621784"/>
            <a:ext cx="962751" cy="286586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ysClr val="window" lastClr="FFFFFF">
                <a:lumMod val="85000"/>
              </a:sysClr>
            </a:solidFill>
            <a:round/>
            <a:headEnd/>
            <a:tailEnd/>
          </a:ln>
          <a:effectLst/>
        </p:spPr>
        <p:txBody>
          <a:bodyPr vert="horz" wrap="none" lIns="35994" tIns="35994" rIns="0" bIns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정보기획팀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장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8" name="꺾인 연결선 22"/>
          <p:cNvCxnSpPr>
            <a:cxnSpLocks noChangeShapeType="1"/>
          </p:cNvCxnSpPr>
          <p:nvPr/>
        </p:nvCxnSpPr>
        <p:spPr bwMode="auto">
          <a:xfrm>
            <a:off x="4880992" y="1909784"/>
            <a:ext cx="0" cy="155609"/>
          </a:xfrm>
          <a:prstGeom prst="straightConnector1">
            <a:avLst/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sp>
        <p:nvSpPr>
          <p:cNvPr id="150" name="Rectangle 39" descr="s10"/>
          <p:cNvSpPr>
            <a:spLocks noChangeArrowheads="1"/>
          </p:cNvSpPr>
          <p:nvPr/>
        </p:nvSpPr>
        <p:spPr bwMode="auto">
          <a:xfrm>
            <a:off x="5718441" y="2065393"/>
            <a:ext cx="962751" cy="286586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ysClr val="window" lastClr="FFFFFF">
                <a:lumMod val="85000"/>
              </a:sysClr>
            </a:solidFill>
            <a:round/>
            <a:headEnd/>
            <a:tailEnd/>
          </a:ln>
          <a:effectLst/>
        </p:spPr>
        <p:txBody>
          <a:bodyPr vert="horz" wrap="none" lIns="35994" tIns="35994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사업담당자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51" name="표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4225635"/>
              </p:ext>
            </p:extLst>
          </p:nvPr>
        </p:nvGraphicFramePr>
        <p:xfrm>
          <a:off x="371647" y="3021547"/>
          <a:ext cx="1925485" cy="3139231"/>
        </p:xfrm>
        <a:graphic>
          <a:graphicData uri="http://schemas.openxmlformats.org/drawingml/2006/table">
            <a:tbl>
              <a:tblPr firstRow="1" bandRow="1"/>
              <a:tblGrid>
                <a:gridCol w="215341"/>
                <a:gridCol w="739941"/>
                <a:gridCol w="970203"/>
              </a:tblGrid>
              <a:tr h="359019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통합재무</a:t>
                      </a:r>
                      <a:endParaRPr lang="ko-KR" altLang="en-US" sz="14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C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8932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전산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(PL)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정보기획팀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51101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예산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예산팀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사업전략팀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704185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재무관리팀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314466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자금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골프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부가금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자금운용팀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260242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융자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산업지원팀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22080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관재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총무팀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사업지원팀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표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77152161"/>
              </p:ext>
            </p:extLst>
          </p:nvPr>
        </p:nvGraphicFramePr>
        <p:xfrm>
          <a:off x="2359634" y="3044326"/>
          <a:ext cx="1851956" cy="3082558"/>
        </p:xfrm>
        <a:graphic>
          <a:graphicData uri="http://schemas.openxmlformats.org/drawingml/2006/table">
            <a:tbl>
              <a:tblPr firstRow="1" bandRow="1"/>
              <a:tblGrid>
                <a:gridCol w="222143"/>
                <a:gridCol w="693709"/>
                <a:gridCol w="936104"/>
              </a:tblGrid>
              <a:tr h="327532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인적자원</a:t>
                      </a:r>
                      <a:endParaRPr lang="ko-KR" altLang="en-US" sz="140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C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827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전산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(PL)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정보기획팀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93600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인사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교육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평가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인사팀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spc="-100" baseline="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사업기획팀</a:t>
                      </a:r>
                      <a:endParaRPr lang="en-US" altLang="ko-KR" sz="1000" b="0" kern="1200" spc="-100" baseline="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사업지원팀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936000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0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일용</a:t>
                      </a: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인사팀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spc="-100" baseline="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관리팀</a:t>
                      </a:r>
                      <a:endParaRPr lang="en-US" altLang="ko-KR" sz="1000" b="0" kern="1200" spc="-100" baseline="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사업지원팀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04000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급여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복리후생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상생노사팀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표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89953640"/>
              </p:ext>
            </p:extLst>
          </p:nvPr>
        </p:nvGraphicFramePr>
        <p:xfrm>
          <a:off x="4260079" y="3048106"/>
          <a:ext cx="1685062" cy="3079376"/>
        </p:xfrm>
        <a:graphic>
          <a:graphicData uri="http://schemas.openxmlformats.org/drawingml/2006/table">
            <a:tbl>
              <a:tblPr firstRow="1" bandRow="1"/>
              <a:tblGrid>
                <a:gridCol w="222143"/>
                <a:gridCol w="526815"/>
                <a:gridCol w="936104"/>
              </a:tblGrid>
              <a:tr h="190620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계약관리</a:t>
                      </a:r>
                      <a:endParaRPr lang="ko-KR" altLang="en-US" sz="140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C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0826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전산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(PL)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정보기획팀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2484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계약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총무팀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marR="0" indent="-85725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-100" baseline="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사업기획팀</a:t>
                      </a:r>
                      <a:endParaRPr lang="en-US" altLang="ko-KR" sz="1000" b="0" kern="1200" spc="-100" baseline="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사업지원팀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행정지원팀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표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21476302"/>
              </p:ext>
            </p:extLst>
          </p:nvPr>
        </p:nvGraphicFramePr>
        <p:xfrm>
          <a:off x="6002125" y="3048106"/>
          <a:ext cx="1727217" cy="3117198"/>
        </p:xfrm>
        <a:graphic>
          <a:graphicData uri="http://schemas.openxmlformats.org/drawingml/2006/table">
            <a:tbl>
              <a:tblPr firstRow="1" bandRow="1"/>
              <a:tblGrid>
                <a:gridCol w="222143"/>
                <a:gridCol w="559118"/>
                <a:gridCol w="945956"/>
              </a:tblGrid>
              <a:tr h="312310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기금지원</a:t>
                      </a:r>
                      <a:endParaRPr lang="ko-KR" altLang="en-US" sz="140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C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1744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전산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(PL)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정보기획팀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7912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지원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기금지원팀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79120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평가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기금평가팀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79120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</a:t>
                      </a:r>
                      <a: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정산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기금정산팀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기금환수팀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750084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체육인</a:t>
                      </a:r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복지</a:t>
                      </a:r>
                      <a:endParaRPr lang="ko-KR" altLang="en-US" sz="11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체육진흥팀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표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97043638"/>
              </p:ext>
            </p:extLst>
          </p:nvPr>
        </p:nvGraphicFramePr>
        <p:xfrm>
          <a:off x="7788472" y="3045579"/>
          <a:ext cx="1663111" cy="2334702"/>
        </p:xfrm>
        <a:graphic>
          <a:graphicData uri="http://schemas.openxmlformats.org/drawingml/2006/table">
            <a:tbl>
              <a:tblPr firstRow="1" bandRow="1"/>
              <a:tblGrid>
                <a:gridCol w="576064"/>
                <a:gridCol w="1087047"/>
              </a:tblGrid>
              <a:tr h="19062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 수행업체</a:t>
                      </a:r>
                      <a:endParaRPr lang="ko-KR" altLang="en-US" sz="140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C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0826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주관</a:t>
                      </a:r>
                      <a:endParaRPr lang="en-US" altLang="ko-KR" sz="1100" b="1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사업자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브이티더블유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8015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하도급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코니언정보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C&amp;F</a:t>
                      </a: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8015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자문</a:t>
                      </a:r>
                      <a:endParaRPr lang="en-US" altLang="ko-KR" sz="1100" b="1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100" b="1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에이에스피엔</a:t>
                      </a:r>
                      <a:endParaRPr lang="en-US" altLang="ko-KR" sz="1000" b="0" kern="1200" dirty="0" smtClea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 smtClea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시스템위즈</a:t>
                      </a:r>
                      <a:endParaRPr lang="ko-KR" altLang="en-US" sz="1000" b="0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0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cxnSp>
        <p:nvCxnSpPr>
          <p:cNvPr id="156" name="꺾인 연결선 155"/>
          <p:cNvCxnSpPr/>
          <p:nvPr/>
        </p:nvCxnSpPr>
        <p:spPr bwMode="auto">
          <a:xfrm rot="5400000">
            <a:off x="2645980" y="802105"/>
            <a:ext cx="840161" cy="3645682"/>
          </a:xfrm>
          <a:prstGeom prst="bentConnector3">
            <a:avLst>
              <a:gd name="adj1" fmla="val 74998"/>
            </a:avLst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cxnSp>
        <p:nvCxnSpPr>
          <p:cNvPr id="157" name="꺾인 연결선 156"/>
          <p:cNvCxnSpPr/>
          <p:nvPr/>
        </p:nvCxnSpPr>
        <p:spPr bwMode="auto">
          <a:xfrm rot="16200000" flipH="1">
            <a:off x="6246983" y="838874"/>
            <a:ext cx="864193" cy="3596175"/>
          </a:xfrm>
          <a:prstGeom prst="bentConnector3">
            <a:avLst>
              <a:gd name="adj1" fmla="val 72379"/>
            </a:avLst>
          </a:prstGeom>
          <a:noFill/>
          <a:ln w="9525" algn="ctr">
            <a:solidFill>
              <a:srgbClr val="4E7AA7"/>
            </a:solidFill>
            <a:round/>
            <a:headEnd/>
            <a:tailEnd/>
          </a:ln>
        </p:spPr>
      </p:cxnSp>
      <p:sp>
        <p:nvSpPr>
          <p:cNvPr id="158" name="직사각형 157"/>
          <p:cNvSpPr/>
          <p:nvPr/>
        </p:nvSpPr>
        <p:spPr>
          <a:xfrm>
            <a:off x="1354417" y="1621784"/>
            <a:ext cx="24746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실무추진협의체 운영 총괄</a:t>
            </a:r>
            <a:endParaRPr lang="ko-KR" altLang="en-US" sz="10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B0F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1354417" y="2053832"/>
            <a:ext cx="24746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사업팀과</a:t>
            </a:r>
            <a:r>
              <a:rPr lang="ko-KR" altLang="en-US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업무팀</a:t>
            </a:r>
            <a:r>
              <a:rPr lang="ko-KR" altLang="en-US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간 조율 및 협의 주관</a:t>
            </a:r>
            <a:endParaRPr lang="en-US" altLang="ko-KR" sz="10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B0F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04353" y="2480733"/>
            <a:ext cx="7391594" cy="274241"/>
          </a:xfrm>
          <a:prstGeom prst="rect">
            <a:avLst/>
          </a:prstGeom>
          <a:solidFill>
            <a:sysClr val="window" lastClr="FFFFFF"/>
          </a:solidFill>
          <a:ln w="6350">
            <a:noFill/>
            <a:prstDash val="sysDot"/>
          </a:ln>
        </p:spPr>
        <p:txBody>
          <a:bodyPr wrap="square" anchor="ctr" anchorCtr="0">
            <a:noAutofit/>
          </a:bodyPr>
          <a:lstStyle/>
          <a:p>
            <a:pPr marL="85725" marR="0" lvl="0" indent="-85725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인터뷰 및 설문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검토 등 회의 참여와 의견 개진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8337376" y="2696757"/>
            <a:ext cx="1237794" cy="274241"/>
          </a:xfrm>
          <a:prstGeom prst="rect">
            <a:avLst/>
          </a:prstGeom>
          <a:noFill/>
          <a:ln w="6350">
            <a:noFill/>
            <a:prstDash val="sysDot"/>
          </a:ln>
        </p:spPr>
        <p:txBody>
          <a:bodyPr wrap="square" anchor="ctr" anchorCtr="0">
            <a:noAutofit/>
          </a:bodyPr>
          <a:lstStyle/>
          <a:p>
            <a:pPr marL="85725" indent="-85725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개선방향정의</a:t>
            </a:r>
            <a:r>
              <a:rPr lang="en-US" altLang="ko-KR" sz="10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/ BPR/ISMP </a:t>
            </a:r>
            <a:r>
              <a:rPr lang="ko-KR" altLang="en-US" sz="10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수행</a:t>
            </a:r>
            <a:endParaRPr lang="ko-KR" altLang="en-US" sz="10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B0F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AutoShape 36"/>
          <p:cNvSpPr>
            <a:spLocks noChangeArrowheads="1"/>
          </p:cNvSpPr>
          <p:nvPr/>
        </p:nvSpPr>
        <p:spPr bwMode="auto">
          <a:xfrm>
            <a:off x="4160912" y="2065393"/>
            <a:ext cx="1584000" cy="288000"/>
          </a:xfrm>
          <a:prstGeom prst="roundRect">
            <a:avLst>
              <a:gd name="adj" fmla="val 8810"/>
            </a:avLst>
          </a:prstGeom>
          <a:solidFill>
            <a:srgbClr val="233C5A"/>
          </a:solidFill>
          <a:ln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사업책임자</a:t>
            </a:r>
            <a:endParaRPr kumimoji="0" lang="ko-KR" altLang="ko-KR" sz="1400" b="1" i="0" u="none" strike="noStrike" kern="0" cap="none" spc="0" normalizeH="0" baseline="0" noProof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74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사용자 지정 1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A00E14-E36D-45A2-BDFD-A782D62A3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596667-FA45-4F74-9119-1A6024EAD1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0F89B1-6918-4E93-BEE7-D22E1D86D6BD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17998</TotalTime>
  <Words>997</Words>
  <Application>Microsoft Office PowerPoint</Application>
  <PresentationFormat>A4 용지(210x297mm)</PresentationFormat>
  <Paragraphs>303</Paragraphs>
  <Slides>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blank</vt:lpstr>
      <vt:lpstr>슬라이드 1</vt:lpstr>
      <vt:lpstr>슬라이드 2</vt:lpstr>
      <vt:lpstr>1. 사업의 소개</vt:lpstr>
      <vt:lpstr>2. 사업추진 배경</vt:lpstr>
      <vt:lpstr>3. 사업추진 범위</vt:lpstr>
      <vt:lpstr>4. 사업추진 절차</vt:lpstr>
      <vt:lpstr>5. 사업추진 일정</vt:lpstr>
      <vt:lpstr>6. 사업추진 조직 &gt; 수행조직</vt:lpstr>
      <vt:lpstr>6. 사업추진 조직 &gt; 실무협의체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bokeum</cp:lastModifiedBy>
  <cp:revision>1140</cp:revision>
  <cp:lastPrinted>2018-07-18T01:34:22Z</cp:lastPrinted>
  <dcterms:created xsi:type="dcterms:W3CDTF">2013-11-13T01:08:07Z</dcterms:created>
  <dcterms:modified xsi:type="dcterms:W3CDTF">2018-12-20T08:00:03Z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D5CDD505-2E9C-101B-9397-08002B2CF9AE}" pid="3" name="DeliveryID">
    <vt:lpwstr>244b6fc4-4b4e-4117-b7bb-efd330097824</vt:lpwstr>
  </property>
  <property fmtid="{D5CDD505-2E9C-101B-9397-08002B2CF9AE}" pid="4" name="NSCPROP_SA">
    <vt:lpwstr>D:\블록체인\템플릿예시_PowerPoint.pptx</vt:lpwstr>
  </property>
  <property fmtid="{5C58129F-E5B8-477A-9B38-B3E54BFA04C8}" pid="2">
    <vt:lpwstr>EA5DF722F2DDC2B5142607E7171F90C7D4A6F050E5311B308FB269B1E25EFBC7</vt:lpwstr>
  </property>
</Properties>
</file>