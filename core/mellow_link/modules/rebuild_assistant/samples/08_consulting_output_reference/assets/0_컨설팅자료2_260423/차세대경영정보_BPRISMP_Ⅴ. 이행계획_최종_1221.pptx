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1" r:id="rId4"/>
  </p:sldMasterIdLst>
  <p:notesMasterIdLst>
    <p:notesMasterId r:id="rId227"/>
  </p:notesMasterIdLst>
  <p:handoutMasterIdLst>
    <p:handoutMasterId r:id="rId228"/>
  </p:handoutMasterIdLst>
  <p:sldIdLst>
    <p:sldId id="585" r:id="rId5"/>
    <p:sldId id="583" r:id="rId6"/>
    <p:sldId id="586" r:id="rId7"/>
    <p:sldId id="671" r:id="rId8"/>
    <p:sldId id="1426" r:id="rId9"/>
    <p:sldId id="1427" r:id="rId10"/>
    <p:sldId id="1428" r:id="rId11"/>
    <p:sldId id="1429" r:id="rId12"/>
    <p:sldId id="673" r:id="rId13"/>
    <p:sldId id="1424" r:id="rId14"/>
    <p:sldId id="1446" r:id="rId15"/>
    <p:sldId id="1451" r:id="rId16"/>
    <p:sldId id="1453" r:id="rId17"/>
    <p:sldId id="676" r:id="rId18"/>
    <p:sldId id="677" r:id="rId19"/>
    <p:sldId id="678" r:id="rId20"/>
    <p:sldId id="1454" r:id="rId21"/>
    <p:sldId id="681" r:id="rId22"/>
    <p:sldId id="1455" r:id="rId23"/>
    <p:sldId id="1456" r:id="rId24"/>
    <p:sldId id="1457" r:id="rId25"/>
    <p:sldId id="1458" r:id="rId26"/>
    <p:sldId id="1459" r:id="rId27"/>
    <p:sldId id="1460" r:id="rId28"/>
    <p:sldId id="1461" r:id="rId29"/>
    <p:sldId id="1462" r:id="rId30"/>
    <p:sldId id="1463" r:id="rId31"/>
    <p:sldId id="1464" r:id="rId32"/>
    <p:sldId id="1465" r:id="rId33"/>
    <p:sldId id="1466" r:id="rId34"/>
    <p:sldId id="1467" r:id="rId35"/>
    <p:sldId id="1468" r:id="rId36"/>
    <p:sldId id="1469" r:id="rId37"/>
    <p:sldId id="1470" r:id="rId38"/>
    <p:sldId id="1471" r:id="rId39"/>
    <p:sldId id="1472" r:id="rId40"/>
    <p:sldId id="1473" r:id="rId41"/>
    <p:sldId id="1474" r:id="rId42"/>
    <p:sldId id="1475" r:id="rId43"/>
    <p:sldId id="1476" r:id="rId44"/>
    <p:sldId id="1478" r:id="rId45"/>
    <p:sldId id="1479" r:id="rId46"/>
    <p:sldId id="1480" r:id="rId47"/>
    <p:sldId id="1481" r:id="rId48"/>
    <p:sldId id="1482" r:id="rId49"/>
    <p:sldId id="1483" r:id="rId50"/>
    <p:sldId id="1477" r:id="rId51"/>
    <p:sldId id="1484" r:id="rId52"/>
    <p:sldId id="1485" r:id="rId53"/>
    <p:sldId id="1486" r:id="rId54"/>
    <p:sldId id="1487" r:id="rId55"/>
    <p:sldId id="1488" r:id="rId56"/>
    <p:sldId id="1517" r:id="rId57"/>
    <p:sldId id="1518" r:id="rId58"/>
    <p:sldId id="1520" r:id="rId59"/>
    <p:sldId id="1519" r:id="rId60"/>
    <p:sldId id="1521" r:id="rId61"/>
    <p:sldId id="1522" r:id="rId62"/>
    <p:sldId id="1524" r:id="rId63"/>
    <p:sldId id="1525" r:id="rId64"/>
    <p:sldId id="1665" r:id="rId65"/>
    <p:sldId id="1666" r:id="rId66"/>
    <p:sldId id="1667" r:id="rId67"/>
    <p:sldId id="1668" r:id="rId68"/>
    <p:sldId id="1669" r:id="rId69"/>
    <p:sldId id="1670" r:id="rId70"/>
    <p:sldId id="1671" r:id="rId71"/>
    <p:sldId id="1677" r:id="rId72"/>
    <p:sldId id="1673" r:id="rId73"/>
    <p:sldId id="1674" r:id="rId74"/>
    <p:sldId id="1675" r:id="rId75"/>
    <p:sldId id="1676" r:id="rId76"/>
    <p:sldId id="1526" r:id="rId77"/>
    <p:sldId id="1527" r:id="rId78"/>
    <p:sldId id="1528" r:id="rId79"/>
    <p:sldId id="1529" r:id="rId80"/>
    <p:sldId id="1530" r:id="rId81"/>
    <p:sldId id="1531" r:id="rId82"/>
    <p:sldId id="1532" r:id="rId83"/>
    <p:sldId id="1533" r:id="rId84"/>
    <p:sldId id="1534" r:id="rId85"/>
    <p:sldId id="1535" r:id="rId86"/>
    <p:sldId id="1536" r:id="rId87"/>
    <p:sldId id="1537" r:id="rId88"/>
    <p:sldId id="1538" r:id="rId89"/>
    <p:sldId id="1539" r:id="rId90"/>
    <p:sldId id="1540" r:id="rId91"/>
    <p:sldId id="1541" r:id="rId92"/>
    <p:sldId id="1542" r:id="rId93"/>
    <p:sldId id="1543" r:id="rId94"/>
    <p:sldId id="1544" r:id="rId95"/>
    <p:sldId id="1545" r:id="rId96"/>
    <p:sldId id="1546" r:id="rId97"/>
    <p:sldId id="1547" r:id="rId98"/>
    <p:sldId id="1548" r:id="rId99"/>
    <p:sldId id="1549" r:id="rId100"/>
    <p:sldId id="1550" r:id="rId101"/>
    <p:sldId id="1551" r:id="rId102"/>
    <p:sldId id="1552" r:id="rId103"/>
    <p:sldId id="1553" r:id="rId104"/>
    <p:sldId id="1554" r:id="rId105"/>
    <p:sldId id="1555" r:id="rId106"/>
    <p:sldId id="1556" r:id="rId107"/>
    <p:sldId id="1557" r:id="rId108"/>
    <p:sldId id="1558" r:id="rId109"/>
    <p:sldId id="1559" r:id="rId110"/>
    <p:sldId id="1560" r:id="rId111"/>
    <p:sldId id="1561" r:id="rId112"/>
    <p:sldId id="1562" r:id="rId113"/>
    <p:sldId id="1563" r:id="rId114"/>
    <p:sldId id="1564" r:id="rId115"/>
    <p:sldId id="1565" r:id="rId116"/>
    <p:sldId id="1566" r:id="rId117"/>
    <p:sldId id="1567" r:id="rId118"/>
    <p:sldId id="1568" r:id="rId119"/>
    <p:sldId id="1569" r:id="rId120"/>
    <p:sldId id="1570" r:id="rId121"/>
    <p:sldId id="1571" r:id="rId122"/>
    <p:sldId id="1572" r:id="rId123"/>
    <p:sldId id="1573" r:id="rId124"/>
    <p:sldId id="1574" r:id="rId125"/>
    <p:sldId id="1575" r:id="rId126"/>
    <p:sldId id="1576" r:id="rId127"/>
    <p:sldId id="1577" r:id="rId128"/>
    <p:sldId id="1578" r:id="rId129"/>
    <p:sldId id="1579" r:id="rId130"/>
    <p:sldId id="1580" r:id="rId131"/>
    <p:sldId id="1581" r:id="rId132"/>
    <p:sldId id="1582" r:id="rId133"/>
    <p:sldId id="1583" r:id="rId134"/>
    <p:sldId id="1584" r:id="rId135"/>
    <p:sldId id="1585" r:id="rId136"/>
    <p:sldId id="1586" r:id="rId137"/>
    <p:sldId id="1587" r:id="rId138"/>
    <p:sldId id="1588" r:id="rId139"/>
    <p:sldId id="1589" r:id="rId140"/>
    <p:sldId id="1590" r:id="rId141"/>
    <p:sldId id="1591" r:id="rId142"/>
    <p:sldId id="1592" r:id="rId143"/>
    <p:sldId id="1593" r:id="rId144"/>
    <p:sldId id="1594" r:id="rId145"/>
    <p:sldId id="1595" r:id="rId146"/>
    <p:sldId id="1596" r:id="rId147"/>
    <p:sldId id="1597" r:id="rId148"/>
    <p:sldId id="1598" r:id="rId149"/>
    <p:sldId id="1599" r:id="rId150"/>
    <p:sldId id="1600" r:id="rId151"/>
    <p:sldId id="1601" r:id="rId152"/>
    <p:sldId id="1602" r:id="rId153"/>
    <p:sldId id="1603" r:id="rId154"/>
    <p:sldId id="1604" r:id="rId155"/>
    <p:sldId id="1605" r:id="rId156"/>
    <p:sldId id="1606" r:id="rId157"/>
    <p:sldId id="1607" r:id="rId158"/>
    <p:sldId id="1608" r:id="rId159"/>
    <p:sldId id="1609" r:id="rId160"/>
    <p:sldId id="1610" r:id="rId161"/>
    <p:sldId id="1611" r:id="rId162"/>
    <p:sldId id="1612" r:id="rId163"/>
    <p:sldId id="1613" r:id="rId164"/>
    <p:sldId id="1614" r:id="rId165"/>
    <p:sldId id="1615" r:id="rId166"/>
    <p:sldId id="1616" r:id="rId167"/>
    <p:sldId id="1617" r:id="rId168"/>
    <p:sldId id="1618" r:id="rId169"/>
    <p:sldId id="1619" r:id="rId170"/>
    <p:sldId id="1620" r:id="rId171"/>
    <p:sldId id="1621" r:id="rId172"/>
    <p:sldId id="1622" r:id="rId173"/>
    <p:sldId id="1623" r:id="rId174"/>
    <p:sldId id="1624" r:id="rId175"/>
    <p:sldId id="1625" r:id="rId176"/>
    <p:sldId id="1626" r:id="rId177"/>
    <p:sldId id="1639" r:id="rId178"/>
    <p:sldId id="1640" r:id="rId179"/>
    <p:sldId id="1641" r:id="rId180"/>
    <p:sldId id="1642" r:id="rId181"/>
    <p:sldId id="1643" r:id="rId182"/>
    <p:sldId id="1644" r:id="rId183"/>
    <p:sldId id="1645" r:id="rId184"/>
    <p:sldId id="1646" r:id="rId185"/>
    <p:sldId id="1647" r:id="rId186"/>
    <p:sldId id="1648" r:id="rId187"/>
    <p:sldId id="1649" r:id="rId188"/>
    <p:sldId id="1650" r:id="rId189"/>
    <p:sldId id="1651" r:id="rId190"/>
    <p:sldId id="1652" r:id="rId191"/>
    <p:sldId id="1653" r:id="rId192"/>
    <p:sldId id="1654" r:id="rId193"/>
    <p:sldId id="1655" r:id="rId194"/>
    <p:sldId id="1656" r:id="rId195"/>
    <p:sldId id="1657" r:id="rId196"/>
    <p:sldId id="1658" r:id="rId197"/>
    <p:sldId id="1659" r:id="rId198"/>
    <p:sldId id="1660" r:id="rId199"/>
    <p:sldId id="1661" r:id="rId200"/>
    <p:sldId id="1662" r:id="rId201"/>
    <p:sldId id="1663" r:id="rId202"/>
    <p:sldId id="1664" r:id="rId203"/>
    <p:sldId id="1523" r:id="rId204"/>
    <p:sldId id="1493" r:id="rId205"/>
    <p:sldId id="1494" r:id="rId206"/>
    <p:sldId id="1495" r:id="rId207"/>
    <p:sldId id="1496" r:id="rId208"/>
    <p:sldId id="1497" r:id="rId209"/>
    <p:sldId id="1498" r:id="rId210"/>
    <p:sldId id="1499" r:id="rId211"/>
    <p:sldId id="1500" r:id="rId212"/>
    <p:sldId id="1501" r:id="rId213"/>
    <p:sldId id="1502" r:id="rId214"/>
    <p:sldId id="1503" r:id="rId215"/>
    <p:sldId id="1504" r:id="rId216"/>
    <p:sldId id="1505" r:id="rId217"/>
    <p:sldId id="1506" r:id="rId218"/>
    <p:sldId id="1507" r:id="rId219"/>
    <p:sldId id="1508" r:id="rId220"/>
    <p:sldId id="1509" r:id="rId221"/>
    <p:sldId id="1510" r:id="rId222"/>
    <p:sldId id="1511" r:id="rId223"/>
    <p:sldId id="1512" r:id="rId224"/>
    <p:sldId id="1513" r:id="rId225"/>
    <p:sldId id="1514" r:id="rId226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3022" userDrawn="1">
          <p15:clr>
            <a:srgbClr val="A4A3A4"/>
          </p15:clr>
        </p15:guide>
        <p15:guide id="2" orient="horz" pos="4201" userDrawn="1">
          <p15:clr>
            <a:srgbClr val="A4A3A4"/>
          </p15:clr>
        </p15:guide>
        <p15:guide id="3" orient="horz" pos="550" userDrawn="1">
          <p15:clr>
            <a:srgbClr val="A4A3A4"/>
          </p15:clr>
        </p15:guide>
        <p15:guide id="4" orient="horz" pos="3974">
          <p15:clr>
            <a:srgbClr val="A4A3A4"/>
          </p15:clr>
        </p15:guide>
        <p15:guide id="5" orient="horz" pos="981" userDrawn="1">
          <p15:clr>
            <a:srgbClr val="A4A3A4"/>
          </p15:clr>
        </p15:guide>
        <p15:guide id="6" orient="horz" pos="3339">
          <p15:clr>
            <a:srgbClr val="A4A3A4"/>
          </p15:clr>
        </p15:guide>
        <p15:guide id="7" orient="horz" pos="3249" userDrawn="1">
          <p15:clr>
            <a:srgbClr val="A4A3A4"/>
          </p15:clr>
        </p15:guide>
        <p15:guide id="8" pos="3120" userDrawn="1">
          <p15:clr>
            <a:srgbClr val="A4A3A4"/>
          </p15:clr>
        </p15:guide>
        <p15:guide id="13" pos="172" userDrawn="1">
          <p15:clr>
            <a:srgbClr val="A4A3A4"/>
          </p15:clr>
        </p15:guide>
        <p15:guide id="16" pos="5978" userDrawn="1">
          <p15:clr>
            <a:srgbClr val="A4A3A4"/>
          </p15:clr>
        </p15:guide>
        <p15:guide id="17" orient="horz" pos="1253" userDrawn="1">
          <p15:clr>
            <a:srgbClr val="A4A3A4"/>
          </p15:clr>
        </p15:guide>
        <p15:guide id="18" orient="horz" pos="3158" userDrawn="1">
          <p15:clr>
            <a:srgbClr val="A4A3A4"/>
          </p15:clr>
        </p15:guide>
        <p15:guide id="19" orient="horz" pos="1434">
          <p15:clr>
            <a:srgbClr val="A4A3A4"/>
          </p15:clr>
        </p15:guide>
        <p15:guide id="20" orient="horz" pos="4065">
          <p15:clr>
            <a:srgbClr val="A4A3A4"/>
          </p15:clr>
        </p15:guide>
        <p15:guide id="21" orient="horz" pos="1071">
          <p15:clr>
            <a:srgbClr val="A4A3A4"/>
          </p15:clr>
        </p15:guide>
        <p15:guide id="22" orient="horz" pos="1026">
          <p15:clr>
            <a:srgbClr val="A4A3A4"/>
          </p15:clr>
        </p15:guide>
        <p15:guide id="23" orient="horz" pos="3430">
          <p15:clr>
            <a:srgbClr val="A4A3A4"/>
          </p15:clr>
        </p15:guide>
        <p15:guide id="24" orient="horz" pos="120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3127" userDrawn="1">
          <p15:clr>
            <a:srgbClr val="A4A3A4"/>
          </p15:clr>
        </p15:guide>
        <p15:guide id="2" pos="2142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B1CFFC"/>
    <a:srgbClr val="8EACD1"/>
    <a:srgbClr val="003058"/>
    <a:srgbClr val="508CD2"/>
    <a:srgbClr val="00437A"/>
    <a:srgbClr val="BFBFBF"/>
    <a:srgbClr val="01458C"/>
    <a:srgbClr val="404040"/>
    <a:srgbClr val="D9D9D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B4B98B0-60AC-42C2-AFA5-B58CD77FA1E5}" styleName="밝은 스타일 1 - 강조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3C2FFA5D-87B4-456A-9821-1D502468CF0F}" styleName="테마 스타일 1 - 강조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040" autoAdjust="0"/>
    <p:restoredTop sz="98295" autoAdjust="0"/>
  </p:normalViewPr>
  <p:slideViewPr>
    <p:cSldViewPr>
      <p:cViewPr>
        <p:scale>
          <a:sx n="75" d="100"/>
          <a:sy n="75" d="100"/>
        </p:scale>
        <p:origin x="-2438" y="-941"/>
      </p:cViewPr>
      <p:guideLst>
        <p:guide orient="horz" pos="3022"/>
        <p:guide orient="horz" pos="4201"/>
        <p:guide orient="horz" pos="550"/>
        <p:guide orient="horz" pos="3974"/>
        <p:guide orient="horz" pos="981"/>
        <p:guide orient="horz" pos="3339"/>
        <p:guide orient="horz" pos="3249"/>
        <p:guide orient="horz" pos="1253"/>
        <p:guide orient="horz" pos="3158"/>
        <p:guide orient="horz" pos="1434"/>
        <p:guide orient="horz" pos="4065"/>
        <p:guide orient="horz" pos="1071"/>
        <p:guide orient="horz" pos="1026"/>
        <p:guide orient="horz" pos="3430"/>
        <p:guide orient="horz" pos="1207"/>
        <p:guide pos="3120"/>
        <p:guide pos="172"/>
        <p:guide pos="5978"/>
      </p:guideLst>
    </p:cSldViewPr>
  </p:slideViewPr>
  <p:outlineViewPr>
    <p:cViewPr>
      <p:scale>
        <a:sx n="33" d="100"/>
        <a:sy n="33" d="100"/>
      </p:scale>
      <p:origin x="0" y="5376"/>
    </p:cViewPr>
  </p:outlineViewPr>
  <p:notesTextViewPr>
    <p:cViewPr>
      <p:scale>
        <a:sx n="33" d="100"/>
        <a:sy n="33" d="100"/>
      </p:scale>
      <p:origin x="0" y="0"/>
    </p:cViewPr>
  </p:notesTextViewPr>
  <p:sorterViewPr>
    <p:cViewPr>
      <p:scale>
        <a:sx n="200" d="100"/>
        <a:sy n="200" d="100"/>
      </p:scale>
      <p:origin x="0" y="5006"/>
    </p:cViewPr>
  </p:sorterViewPr>
  <p:notesViewPr>
    <p:cSldViewPr showGuides="1">
      <p:cViewPr varScale="1">
        <p:scale>
          <a:sx n="63" d="100"/>
          <a:sy n="63" d="100"/>
        </p:scale>
        <p:origin x="-3402" y="-132"/>
      </p:cViewPr>
      <p:guideLst>
        <p:guide orient="horz" pos="3127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26" Type="http://schemas.openxmlformats.org/officeDocument/2006/relationships/slide" Target="slides/slide22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149" Type="http://schemas.openxmlformats.org/officeDocument/2006/relationships/slide" Target="slides/slide145.xml"/><Relationship Id="rId5" Type="http://schemas.openxmlformats.org/officeDocument/2006/relationships/slide" Target="slides/slide1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181" Type="http://schemas.openxmlformats.org/officeDocument/2006/relationships/slide" Target="slides/slide177.xml"/><Relationship Id="rId216" Type="http://schemas.openxmlformats.org/officeDocument/2006/relationships/slide" Target="slides/slide212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134" Type="http://schemas.openxmlformats.org/officeDocument/2006/relationships/slide" Target="slides/slide130.xml"/><Relationship Id="rId139" Type="http://schemas.openxmlformats.org/officeDocument/2006/relationships/slide" Target="slides/slide13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55" Type="http://schemas.openxmlformats.org/officeDocument/2006/relationships/slide" Target="slides/slide151.xml"/><Relationship Id="rId171" Type="http://schemas.openxmlformats.org/officeDocument/2006/relationships/slide" Target="slides/slide167.xml"/><Relationship Id="rId176" Type="http://schemas.openxmlformats.org/officeDocument/2006/relationships/slide" Target="slides/slide172.xml"/><Relationship Id="rId192" Type="http://schemas.openxmlformats.org/officeDocument/2006/relationships/slide" Target="slides/slide188.xml"/><Relationship Id="rId197" Type="http://schemas.openxmlformats.org/officeDocument/2006/relationships/slide" Target="slides/slide193.xml"/><Relationship Id="rId206" Type="http://schemas.openxmlformats.org/officeDocument/2006/relationships/slide" Target="slides/slide202.xml"/><Relationship Id="rId227" Type="http://schemas.openxmlformats.org/officeDocument/2006/relationships/notesMaster" Target="notesMasters/notes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openxmlformats.org/officeDocument/2006/relationships/slide" Target="slides/slide120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45" Type="http://schemas.openxmlformats.org/officeDocument/2006/relationships/slide" Target="slides/slide141.xml"/><Relationship Id="rId161" Type="http://schemas.openxmlformats.org/officeDocument/2006/relationships/slide" Target="slides/slide157.xml"/><Relationship Id="rId166" Type="http://schemas.openxmlformats.org/officeDocument/2006/relationships/slide" Target="slides/slide162.xml"/><Relationship Id="rId182" Type="http://schemas.openxmlformats.org/officeDocument/2006/relationships/slide" Target="slides/slide178.xml"/><Relationship Id="rId187" Type="http://schemas.openxmlformats.org/officeDocument/2006/relationships/slide" Target="slides/slide183.xml"/><Relationship Id="rId217" Type="http://schemas.openxmlformats.org/officeDocument/2006/relationships/slide" Target="slides/slide213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12" Type="http://schemas.openxmlformats.org/officeDocument/2006/relationships/slide" Target="slides/slide208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35" Type="http://schemas.openxmlformats.org/officeDocument/2006/relationships/slide" Target="slides/slide131.xml"/><Relationship Id="rId151" Type="http://schemas.openxmlformats.org/officeDocument/2006/relationships/slide" Target="slides/slide147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2" Type="http://schemas.openxmlformats.org/officeDocument/2006/relationships/slide" Target="slides/slide198.xml"/><Relationship Id="rId207" Type="http://schemas.openxmlformats.org/officeDocument/2006/relationships/slide" Target="slides/slide203.xml"/><Relationship Id="rId223" Type="http://schemas.openxmlformats.org/officeDocument/2006/relationships/slide" Target="slides/slide219.xml"/><Relationship Id="rId228" Type="http://schemas.openxmlformats.org/officeDocument/2006/relationships/handoutMaster" Target="handoutMasters/handoutMaster1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141" Type="http://schemas.openxmlformats.org/officeDocument/2006/relationships/slide" Target="slides/slide137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3" Type="http://schemas.openxmlformats.org/officeDocument/2006/relationships/slide" Target="slides/slide209.xml"/><Relationship Id="rId218" Type="http://schemas.openxmlformats.org/officeDocument/2006/relationships/slide" Target="slides/slide214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slide" Target="slides/slide127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208" Type="http://schemas.openxmlformats.org/officeDocument/2006/relationships/slide" Target="slides/slide204.xml"/><Relationship Id="rId229" Type="http://schemas.openxmlformats.org/officeDocument/2006/relationships/presProps" Target="presProps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189" Type="http://schemas.openxmlformats.org/officeDocument/2006/relationships/slide" Target="slides/slide185.xml"/><Relationship Id="rId219" Type="http://schemas.openxmlformats.org/officeDocument/2006/relationships/slide" Target="slides/slide21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0" Type="http://schemas.openxmlformats.org/officeDocument/2006/relationships/viewProps" Target="viewProps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79" Type="http://schemas.openxmlformats.org/officeDocument/2006/relationships/slide" Target="slides/slide175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0" Type="http://schemas.openxmlformats.org/officeDocument/2006/relationships/slide" Target="slides/slide216.xml"/><Relationship Id="rId225" Type="http://schemas.openxmlformats.org/officeDocument/2006/relationships/slide" Target="slides/slide221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48" Type="http://schemas.openxmlformats.org/officeDocument/2006/relationships/slide" Target="slides/slide144.xml"/><Relationship Id="rId164" Type="http://schemas.openxmlformats.org/officeDocument/2006/relationships/slide" Target="slides/slide160.xml"/><Relationship Id="rId169" Type="http://schemas.openxmlformats.org/officeDocument/2006/relationships/slide" Target="slides/slide165.xml"/><Relationship Id="rId185" Type="http://schemas.openxmlformats.org/officeDocument/2006/relationships/slide" Target="slides/slide18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80" Type="http://schemas.openxmlformats.org/officeDocument/2006/relationships/slide" Target="slides/slide176.xml"/><Relationship Id="rId210" Type="http://schemas.openxmlformats.org/officeDocument/2006/relationships/slide" Target="slides/slide206.xml"/><Relationship Id="rId215" Type="http://schemas.openxmlformats.org/officeDocument/2006/relationships/slide" Target="slides/slide211.xml"/><Relationship Id="rId26" Type="http://schemas.openxmlformats.org/officeDocument/2006/relationships/slide" Target="slides/slide22.xml"/><Relationship Id="rId231" Type="http://schemas.openxmlformats.org/officeDocument/2006/relationships/theme" Target="theme/theme1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32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/>
            </a:lvl1pPr>
          </a:lstStyle>
          <a:p>
            <a:fld id="{BBE509C9-7006-4EEF-AE0A-F60A68CFABC4}" type="datetimeFigureOut">
              <a:rPr lang="ko-KR" altLang="en-US" smtClean="0"/>
              <a:pPr/>
              <a:t>2019-07-18</a:t>
            </a:fld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/>
            </a:lvl1pPr>
          </a:lstStyle>
          <a:p>
            <a:fld id="{FB5D320A-A8AF-4B3E-BD67-EE5ADA87D3BF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864253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997" y="0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/>
          <a:lstStyle>
            <a:lvl1pPr algn="r">
              <a:defRPr sz="1200"/>
            </a:lvl1pPr>
          </a:lstStyle>
          <a:p>
            <a:fld id="{10D8B3E8-78D5-42AF-92B2-138AC5B36093}" type="datetimeFigureOut">
              <a:rPr lang="ko-KR" altLang="en-US" smtClean="0"/>
              <a:pPr/>
              <a:t>2019-07-18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11200" y="744538"/>
            <a:ext cx="537527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690" tIns="45846" rIns="91690" bIns="45846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131" y="4715154"/>
            <a:ext cx="5439415" cy="4466987"/>
          </a:xfrm>
          <a:prstGeom prst="rect">
            <a:avLst/>
          </a:prstGeom>
        </p:spPr>
        <p:txBody>
          <a:bodyPr vert="horz" lIns="91690" tIns="45846" rIns="91690" bIns="45846" rtlCol="0"/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997" y="9428716"/>
            <a:ext cx="2946084" cy="496332"/>
          </a:xfrm>
          <a:prstGeom prst="rect">
            <a:avLst/>
          </a:prstGeom>
        </p:spPr>
        <p:txBody>
          <a:bodyPr vert="horz" lIns="91690" tIns="45846" rIns="91690" bIns="45846" rtlCol="0" anchor="b"/>
          <a:lstStyle>
            <a:lvl1pPr algn="r">
              <a:defRPr sz="1200"/>
            </a:lvl1pPr>
          </a:lstStyle>
          <a:p>
            <a:fld id="{EFB921B9-838A-44D3-89D5-5DB0505CE71D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45052705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944030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93887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292147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5524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67566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86693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866933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86693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412484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291464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900512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919894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3151497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9529113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126047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88668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47310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4481414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335028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84484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801354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562611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2196175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5648603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318963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382795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372246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455751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806176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17977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94315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7277313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897903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371561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623074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680636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788525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287615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6611662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B921B9-838A-44D3-89D5-5DB0505CE71D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99313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344488" y="861393"/>
            <a:ext cx="9180512" cy="623391"/>
          </a:xfrm>
        </p:spPr>
        <p:txBody>
          <a:bodyPr lIns="0" tIns="0" rIns="0" bIns="0" anchor="t" anchorCtr="0">
            <a:noAutofit/>
          </a:bodyPr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lang="ko-KR" altLang="en-US" sz="1600" b="1" kern="1200" cap="none" dirty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200800" cy="781320"/>
          </a:xfrm>
        </p:spPr>
        <p:txBody>
          <a:bodyPr lIns="0" anchor="ctr" anchorCtr="0">
            <a:normAutofit/>
          </a:bodyPr>
          <a:lstStyle>
            <a:lvl1pPr algn="l">
              <a:defRPr sz="2000" b="1" cap="none">
                <a:solidFill>
                  <a:schemeClr val="tx1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4520953" y="0"/>
            <a:ext cx="4994956" cy="782680"/>
          </a:xfrm>
        </p:spPr>
        <p:txBody>
          <a:bodyPr lIns="0" rIns="0" anchor="ctr">
            <a:noAutofit/>
          </a:bodyPr>
          <a:lstStyle>
            <a:lvl1pPr marL="0" indent="0" algn="r" defTabSz="914400" rtl="0" eaLnBrk="1" latinLnBrk="1" hangingPunct="1">
              <a:spcBef>
                <a:spcPts val="0"/>
              </a:spcBef>
              <a:buFont typeface="Arial" pitchFamily="34" charset="0"/>
              <a:buNone/>
              <a:defRPr lang="ko-KR" altLang="en-US" sz="1200" b="1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marL="0" lvl="0" indent="0" algn="r" defTabSz="914400" rtl="0" eaLnBrk="1" latinLnBrk="1" hangingPunct="1">
              <a:lnSpc>
                <a:spcPct val="100000"/>
              </a:lnSpc>
              <a:spcBef>
                <a:spcPts val="288"/>
              </a:spcBef>
              <a:buFont typeface="Arial" pitchFamily="34" charset="0"/>
              <a:buNone/>
            </a:pPr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1" name="그림 20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344488" y="6462713"/>
            <a:ext cx="612673" cy="325033"/>
          </a:xfrm>
          <a:prstGeom prst="rect">
            <a:avLst/>
          </a:prstGeom>
        </p:spPr>
      </p:pic>
      <p:sp>
        <p:nvSpPr>
          <p:cNvPr id="22" name="바닥글 개체 틀 5"/>
          <p:cNvSpPr txBox="1">
            <a:spLocks noGrp="1"/>
          </p:cNvSpPr>
          <p:nvPr userDrawn="1"/>
        </p:nvSpPr>
        <p:spPr bwMode="auto">
          <a:xfrm>
            <a:off x="906217" y="6557288"/>
            <a:ext cx="2170358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cs typeface="Arial" pitchFamily="34" charset="0"/>
              </a:rPr>
              <a:t>© 2018 VTW, All Right Reserved</a:t>
            </a:r>
          </a:p>
        </p:txBody>
      </p:sp>
      <p:pic>
        <p:nvPicPr>
          <p:cNvPr id="25" name="Picture 11" descr="C:\Users\yslee\Desktop\VTW LOGO\VTW LOGO Img file\vtw-logo4.gif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4191" y="6557288"/>
            <a:ext cx="1229519" cy="190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5273" y="6567155"/>
            <a:ext cx="53545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0000"/>
                </a:solidFill>
                <a:cs typeface="Times New Roman" panose="02020603050405020304" pitchFamily="18" charset="0"/>
              </a:rPr>
              <a:t>Ⅴ 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44488" y="0"/>
            <a:ext cx="7200800" cy="781320"/>
          </a:xfrm>
        </p:spPr>
        <p:txBody>
          <a:bodyPr lIns="0" anchor="ctr" anchorCtr="0">
            <a:normAutofit/>
          </a:bodyPr>
          <a:lstStyle>
            <a:lvl1pPr algn="l">
              <a:defRPr sz="2000" b="1" cap="none">
                <a:solidFill>
                  <a:schemeClr val="tx1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27" name="내용 개체 틀 26"/>
          <p:cNvSpPr>
            <a:spLocks noGrp="1"/>
          </p:cNvSpPr>
          <p:nvPr>
            <p:ph sz="quarter" idx="13"/>
          </p:nvPr>
        </p:nvSpPr>
        <p:spPr>
          <a:xfrm>
            <a:off x="4304929" y="0"/>
            <a:ext cx="5210980" cy="782680"/>
          </a:xfrm>
        </p:spPr>
        <p:txBody>
          <a:bodyPr lIns="0" rIns="0" anchor="ctr">
            <a:noAutofit/>
          </a:bodyPr>
          <a:lstStyle>
            <a:lvl1pPr marL="0" indent="0" algn="r" defTabSz="914400" rtl="0" eaLnBrk="1" latinLnBrk="1" hangingPunct="1">
              <a:spcBef>
                <a:spcPts val="0"/>
              </a:spcBef>
              <a:buFont typeface="Arial" pitchFamily="34" charset="0"/>
              <a:buNone/>
              <a:defRPr lang="ko-KR" altLang="en-US" sz="1200" b="1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marL="0" lvl="0" indent="0" algn="r" defTabSz="914400" rtl="0" eaLnBrk="1" latinLnBrk="1" hangingPunct="1">
              <a:lnSpc>
                <a:spcPct val="100000"/>
              </a:lnSpc>
              <a:spcBef>
                <a:spcPts val="288"/>
              </a:spcBef>
              <a:buFont typeface="Arial" pitchFamily="34" charset="0"/>
              <a:buNone/>
            </a:pPr>
            <a:r>
              <a:rPr lang="ko-KR" altLang="en-US" dirty="0"/>
              <a:t>마스터 텍스트 스타일을 편집합니다</a:t>
            </a:r>
          </a:p>
        </p:txBody>
      </p:sp>
      <p:sp>
        <p:nvSpPr>
          <p:cNvPr id="13" name="Line 23"/>
          <p:cNvSpPr>
            <a:spLocks noChangeShapeType="1"/>
          </p:cNvSpPr>
          <p:nvPr userDrawn="1"/>
        </p:nvSpPr>
        <p:spPr bwMode="auto">
          <a:xfrm>
            <a:off x="344488" y="795338"/>
            <a:ext cx="9180512" cy="0"/>
          </a:xfrm>
          <a:prstGeom prst="line">
            <a:avLst/>
          </a:prstGeom>
          <a:noFill/>
          <a:ln w="31750">
            <a:gradFill flip="none" rotWithShape="1">
              <a:gsLst>
                <a:gs pos="0">
                  <a:srgbClr val="FFC000"/>
                </a:gs>
                <a:gs pos="18000">
                  <a:srgbClr val="1B587C">
                    <a:lumMod val="60000"/>
                    <a:lumOff val="40000"/>
                  </a:srgbClr>
                </a:gs>
                <a:gs pos="8000">
                  <a:srgbClr val="1B587C">
                    <a:lumMod val="60000"/>
                    <a:lumOff val="40000"/>
                  </a:srgbClr>
                </a:gs>
                <a:gs pos="28000">
                  <a:srgbClr val="14425D"/>
                </a:gs>
                <a:gs pos="7000">
                  <a:srgbClr val="FFC000"/>
                </a:gs>
                <a:gs pos="46000">
                  <a:srgbClr val="1B587C">
                    <a:lumMod val="75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Line 23"/>
          <p:cNvSpPr>
            <a:spLocks noChangeShapeType="1"/>
          </p:cNvSpPr>
          <p:nvPr userDrawn="1"/>
        </p:nvSpPr>
        <p:spPr bwMode="auto">
          <a:xfrm>
            <a:off x="344488" y="6427788"/>
            <a:ext cx="9180512" cy="0"/>
          </a:xfrm>
          <a:prstGeom prst="line">
            <a:avLst/>
          </a:prstGeom>
          <a:noFill/>
          <a:ln w="6350">
            <a:solidFill>
              <a:sysClr val="windowText" lastClr="000000">
                <a:lumMod val="75000"/>
                <a:lumOff val="25000"/>
              </a:sys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1" name="그림 20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344488" y="6462713"/>
            <a:ext cx="612673" cy="325033"/>
          </a:xfrm>
          <a:prstGeom prst="rect">
            <a:avLst/>
          </a:prstGeom>
        </p:spPr>
      </p:pic>
      <p:sp>
        <p:nvSpPr>
          <p:cNvPr id="22" name="바닥글 개체 틀 5"/>
          <p:cNvSpPr txBox="1">
            <a:spLocks noGrp="1"/>
          </p:cNvSpPr>
          <p:nvPr userDrawn="1"/>
        </p:nvSpPr>
        <p:spPr bwMode="auto">
          <a:xfrm>
            <a:off x="906217" y="6557288"/>
            <a:ext cx="2170358" cy="244476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anchor="b"/>
          <a:lstStyle/>
          <a:p>
            <a:pPr>
              <a:defRPr/>
            </a:pPr>
            <a:r>
              <a:rPr kumimoji="1" lang="en-US" altLang="ko-KR" sz="800" b="1" i="1" dirty="0">
                <a:solidFill>
                  <a:prstClr val="black">
                    <a:lumMod val="50000"/>
                    <a:lumOff val="50000"/>
                  </a:prstClr>
                </a:solidFill>
                <a:cs typeface="Arial" pitchFamily="34" charset="0"/>
              </a:rPr>
              <a:t>© 2018 VTW, All Right Reserved</a:t>
            </a:r>
          </a:p>
        </p:txBody>
      </p:sp>
      <p:pic>
        <p:nvPicPr>
          <p:cNvPr id="25" name="Picture 11" descr="C:\Users\yslee\Desktop\VTW LOGO\VTW LOGO Img file\vtw-logo4.gif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4191" y="6557288"/>
            <a:ext cx="1229519" cy="190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Text Box 72"/>
          <p:cNvSpPr txBox="1">
            <a:spLocks noChangeArrowheads="1"/>
          </p:cNvSpPr>
          <p:nvPr userDrawn="1"/>
        </p:nvSpPr>
        <p:spPr bwMode="auto">
          <a:xfrm>
            <a:off x="4685273" y="6567155"/>
            <a:ext cx="53545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54000" rIns="5400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dirty="0">
                <a:solidFill>
                  <a:srgbClr val="000000"/>
                </a:solidFill>
                <a:cs typeface="Times New Roman" panose="02020603050405020304" pitchFamily="18" charset="0"/>
              </a:rPr>
              <a:t>Ⅴ - </a:t>
            </a:r>
            <a:fld id="{1617468F-D50F-46BD-AB0C-23FE001B05EB}" type="slidenum">
              <a:rPr kumimoji="1" lang="en-US" altLang="ko-KR" sz="1000" smtClean="0">
                <a:solidFill>
                  <a:srgbClr val="000000"/>
                </a:solidFill>
                <a:cs typeface="Times New Roman" panose="02020603050405020304" pitchFamily="18" charset="0"/>
              </a:rPr>
              <a:pPr algn="ctr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kumimoji="1" lang="en-US" altLang="ko-KR" sz="1000" dirty="0">
              <a:solidFill>
                <a:srgbClr val="00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5896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목차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776536" y="798612"/>
            <a:ext cx="5760640" cy="4525963"/>
          </a:xfrm>
        </p:spPr>
        <p:txBody>
          <a:bodyPr>
            <a:normAutofit/>
          </a:bodyPr>
          <a:lstStyle>
            <a:lvl1pPr marL="400050" indent="-400050">
              <a:lnSpc>
                <a:spcPct val="120000"/>
              </a:lnSpc>
              <a:buFont typeface="+mj-lt"/>
              <a:buAutoNum type="romanUcPeriod"/>
              <a:defRPr sz="1800" b="1">
                <a:solidFill>
                  <a:srgbClr val="00437A"/>
                </a:solidFill>
                <a:latin typeface="맑은 고딕" pitchFamily="50" charset="-127"/>
                <a:ea typeface="맑은 고딕" pitchFamily="50" charset="-127"/>
              </a:defRPr>
            </a:lvl1pPr>
            <a:lvl2pPr>
              <a:defRPr sz="1800" b="1">
                <a:solidFill>
                  <a:srgbClr val="00B0F0"/>
                </a:solidFill>
              </a:defRPr>
            </a:lvl2pPr>
            <a:lvl3pPr>
              <a:defRPr sz="1800" b="1">
                <a:solidFill>
                  <a:srgbClr val="00B0F0"/>
                </a:solidFill>
              </a:defRPr>
            </a:lvl3pPr>
            <a:lvl4pPr>
              <a:defRPr sz="1800" b="1">
                <a:solidFill>
                  <a:srgbClr val="00B0F0"/>
                </a:solidFill>
              </a:defRPr>
            </a:lvl4pPr>
            <a:lvl5pPr>
              <a:defRPr sz="1800" b="1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</p:txBody>
      </p:sp>
      <p:grpSp>
        <p:nvGrpSpPr>
          <p:cNvPr id="2" name="그룹 16"/>
          <p:cNvGrpSpPr/>
          <p:nvPr userDrawn="1"/>
        </p:nvGrpSpPr>
        <p:grpSpPr>
          <a:xfrm>
            <a:off x="6824603" y="908720"/>
            <a:ext cx="2187634" cy="1958589"/>
            <a:chOff x="6824603" y="908720"/>
            <a:chExt cx="2187634" cy="1958589"/>
          </a:xfrm>
          <a:solidFill>
            <a:srgbClr val="00437A"/>
          </a:solidFill>
        </p:grpSpPr>
        <p:grpSp>
          <p:nvGrpSpPr>
            <p:cNvPr id="4" name="그룹 17"/>
            <p:cNvGrpSpPr/>
            <p:nvPr/>
          </p:nvGrpSpPr>
          <p:grpSpPr>
            <a:xfrm>
              <a:off x="6825208" y="908720"/>
              <a:ext cx="2187029" cy="230399"/>
              <a:chOff x="7185248" y="1123952"/>
              <a:chExt cx="2187029" cy="230399"/>
            </a:xfrm>
            <a:grpFill/>
          </p:grpSpPr>
          <p:sp>
            <p:nvSpPr>
              <p:cNvPr id="23" name="직사각형 22"/>
              <p:cNvSpPr/>
              <p:nvPr/>
            </p:nvSpPr>
            <p:spPr bwMode="auto">
              <a:xfrm rot="5400000">
                <a:off x="8215185" y="94758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  <p:sp>
            <p:nvSpPr>
              <p:cNvPr id="24" name="직사각형 23"/>
              <p:cNvSpPr/>
              <p:nvPr/>
            </p:nvSpPr>
            <p:spPr bwMode="auto">
              <a:xfrm rot="5400000">
                <a:off x="7139787" y="1178937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  <p:sp>
            <p:nvSpPr>
              <p:cNvPr id="25" name="직사각형 24"/>
              <p:cNvSpPr/>
              <p:nvPr/>
            </p:nvSpPr>
            <p:spPr bwMode="auto">
              <a:xfrm rot="5400000">
                <a:off x="9196865" y="1178938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</p:grpSp>
        <p:grpSp>
          <p:nvGrpSpPr>
            <p:cNvPr id="5" name="그룹 18"/>
            <p:cNvGrpSpPr/>
            <p:nvPr/>
          </p:nvGrpSpPr>
          <p:grpSpPr>
            <a:xfrm>
              <a:off x="6824603" y="2636912"/>
              <a:ext cx="2186617" cy="230397"/>
              <a:chOff x="7184643" y="2780929"/>
              <a:chExt cx="2186617" cy="230397"/>
            </a:xfrm>
            <a:grpFill/>
          </p:grpSpPr>
          <p:sp>
            <p:nvSpPr>
              <p:cNvPr id="20" name="직사각형 19"/>
              <p:cNvSpPr/>
              <p:nvPr/>
            </p:nvSpPr>
            <p:spPr bwMode="auto">
              <a:xfrm rot="16200000">
                <a:off x="8214443" y="1855251"/>
                <a:ext cx="126881" cy="2185270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  <p:sp>
            <p:nvSpPr>
              <p:cNvPr id="21" name="직사각형 20"/>
              <p:cNvSpPr/>
              <p:nvPr/>
            </p:nvSpPr>
            <p:spPr bwMode="auto">
              <a:xfrm rot="16200000">
                <a:off x="9195848" y="2826391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  <p:sp>
            <p:nvSpPr>
              <p:cNvPr id="22" name="직사각형 21"/>
              <p:cNvSpPr/>
              <p:nvPr/>
            </p:nvSpPr>
            <p:spPr bwMode="auto">
              <a:xfrm rot="16200000">
                <a:off x="7139182" y="2826390"/>
                <a:ext cx="220874" cy="129951"/>
              </a:xfrm>
              <a:prstGeom prst="rect">
                <a:avLst/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/>
                  <a:ea typeface="맑은 고딕" pitchFamily="50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08437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장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6214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600201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1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FF48F6-0499-4B03-AA7D-07684E694064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00" r:id="rId1"/>
    <p:sldLayoutId id="2147483902" r:id="rId2"/>
    <p:sldLayoutId id="2147483901" r:id="rId3"/>
    <p:sldLayoutId id="2147483903" r:id="rId4"/>
  </p:sldLayoutIdLst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26" Type="http://schemas.openxmlformats.org/officeDocument/2006/relationships/tags" Target="../tags/tag26.xml"/><Relationship Id="rId3" Type="http://schemas.openxmlformats.org/officeDocument/2006/relationships/tags" Target="../tags/tag3.xml"/><Relationship Id="rId21" Type="http://schemas.openxmlformats.org/officeDocument/2006/relationships/tags" Target="../tags/tag21.xml"/><Relationship Id="rId34" Type="http://schemas.openxmlformats.org/officeDocument/2006/relationships/tags" Target="../tags/tag34.xml"/><Relationship Id="rId7" Type="http://schemas.openxmlformats.org/officeDocument/2006/relationships/tags" Target="../tags/tag7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0" Type="http://schemas.openxmlformats.org/officeDocument/2006/relationships/tags" Target="../tags/tag20.xml"/><Relationship Id="rId29" Type="http://schemas.openxmlformats.org/officeDocument/2006/relationships/tags" Target="../tags/tag29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24" Type="http://schemas.openxmlformats.org/officeDocument/2006/relationships/tags" Target="../tags/tag24.xml"/><Relationship Id="rId32" Type="http://schemas.openxmlformats.org/officeDocument/2006/relationships/tags" Target="../tags/tag32.xml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10" Type="http://schemas.openxmlformats.org/officeDocument/2006/relationships/tags" Target="../tags/tag10.xml"/><Relationship Id="rId19" Type="http://schemas.openxmlformats.org/officeDocument/2006/relationships/tags" Target="../tags/tag19.xml"/><Relationship Id="rId31" Type="http://schemas.openxmlformats.org/officeDocument/2006/relationships/tags" Target="../tags/tag31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tags" Target="../tags/tag42.xml"/><Relationship Id="rId13" Type="http://schemas.openxmlformats.org/officeDocument/2006/relationships/tags" Target="../tags/tag47.xml"/><Relationship Id="rId18" Type="http://schemas.openxmlformats.org/officeDocument/2006/relationships/tags" Target="../tags/tag52.xml"/><Relationship Id="rId3" Type="http://schemas.openxmlformats.org/officeDocument/2006/relationships/tags" Target="../tags/tag37.xml"/><Relationship Id="rId21" Type="http://schemas.openxmlformats.org/officeDocument/2006/relationships/tags" Target="../tags/tag55.xml"/><Relationship Id="rId7" Type="http://schemas.openxmlformats.org/officeDocument/2006/relationships/tags" Target="../tags/tag41.xml"/><Relationship Id="rId12" Type="http://schemas.openxmlformats.org/officeDocument/2006/relationships/tags" Target="../tags/tag46.xml"/><Relationship Id="rId17" Type="http://schemas.openxmlformats.org/officeDocument/2006/relationships/tags" Target="../tags/tag51.xml"/><Relationship Id="rId2" Type="http://schemas.openxmlformats.org/officeDocument/2006/relationships/tags" Target="../tags/tag36.xml"/><Relationship Id="rId16" Type="http://schemas.openxmlformats.org/officeDocument/2006/relationships/tags" Target="../tags/tag50.xml"/><Relationship Id="rId20" Type="http://schemas.openxmlformats.org/officeDocument/2006/relationships/tags" Target="../tags/tag54.xml"/><Relationship Id="rId1" Type="http://schemas.openxmlformats.org/officeDocument/2006/relationships/tags" Target="../tags/tag35.xml"/><Relationship Id="rId6" Type="http://schemas.openxmlformats.org/officeDocument/2006/relationships/tags" Target="../tags/tag40.xml"/><Relationship Id="rId11" Type="http://schemas.openxmlformats.org/officeDocument/2006/relationships/tags" Target="../tags/tag45.xml"/><Relationship Id="rId24" Type="http://schemas.openxmlformats.org/officeDocument/2006/relationships/slideLayout" Target="../slideLayouts/slideLayout1.xml"/><Relationship Id="rId5" Type="http://schemas.openxmlformats.org/officeDocument/2006/relationships/tags" Target="../tags/tag39.xml"/><Relationship Id="rId15" Type="http://schemas.openxmlformats.org/officeDocument/2006/relationships/tags" Target="../tags/tag49.xml"/><Relationship Id="rId23" Type="http://schemas.openxmlformats.org/officeDocument/2006/relationships/tags" Target="../tags/tag57.xml"/><Relationship Id="rId10" Type="http://schemas.openxmlformats.org/officeDocument/2006/relationships/tags" Target="../tags/tag44.xml"/><Relationship Id="rId19" Type="http://schemas.openxmlformats.org/officeDocument/2006/relationships/tags" Target="../tags/tag53.xml"/><Relationship Id="rId4" Type="http://schemas.openxmlformats.org/officeDocument/2006/relationships/tags" Target="../tags/tag38.xml"/><Relationship Id="rId9" Type="http://schemas.openxmlformats.org/officeDocument/2006/relationships/tags" Target="../tags/tag43.xml"/><Relationship Id="rId14" Type="http://schemas.openxmlformats.org/officeDocument/2006/relationships/tags" Target="../tags/tag48.xml"/><Relationship Id="rId22" Type="http://schemas.openxmlformats.org/officeDocument/2006/relationships/tags" Target="../tags/tag56.xml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tags" Target="../tags/tag65.xml"/><Relationship Id="rId3" Type="http://schemas.openxmlformats.org/officeDocument/2006/relationships/tags" Target="../tags/tag60.xml"/><Relationship Id="rId7" Type="http://schemas.openxmlformats.org/officeDocument/2006/relationships/tags" Target="../tags/tag64.xml"/><Relationship Id="rId2" Type="http://schemas.openxmlformats.org/officeDocument/2006/relationships/tags" Target="../tags/tag59.xml"/><Relationship Id="rId1" Type="http://schemas.openxmlformats.org/officeDocument/2006/relationships/tags" Target="../tags/tag58.xml"/><Relationship Id="rId6" Type="http://schemas.openxmlformats.org/officeDocument/2006/relationships/tags" Target="../tags/tag63.xml"/><Relationship Id="rId11" Type="http://schemas.openxmlformats.org/officeDocument/2006/relationships/slideLayout" Target="../slideLayouts/slideLayout1.xml"/><Relationship Id="rId5" Type="http://schemas.openxmlformats.org/officeDocument/2006/relationships/tags" Target="../tags/tag62.xml"/><Relationship Id="rId10" Type="http://schemas.openxmlformats.org/officeDocument/2006/relationships/tags" Target="../tags/tag67.xml"/><Relationship Id="rId4" Type="http://schemas.openxmlformats.org/officeDocument/2006/relationships/tags" Target="../tags/tag61.xml"/><Relationship Id="rId9" Type="http://schemas.openxmlformats.org/officeDocument/2006/relationships/tags" Target="../tags/tag66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개요</a:t>
            </a:r>
            <a:endParaRPr lang="en-US" altLang="ko-KR" dirty="0"/>
          </a:p>
          <a:p>
            <a:pPr marL="457200" lvl="1" indent="0">
              <a:lnSpc>
                <a:spcPct val="150000"/>
              </a:lnSpc>
              <a:buNone/>
            </a:pPr>
            <a:r>
              <a:rPr lang="en-US" altLang="ko-KR" dirty="0">
                <a:solidFill>
                  <a:srgbClr val="00437A"/>
                </a:solidFill>
              </a:rPr>
              <a:t>1.1 </a:t>
            </a:r>
            <a:r>
              <a:rPr lang="ko-KR" altLang="en-US" dirty="0">
                <a:solidFill>
                  <a:srgbClr val="00437A"/>
                </a:solidFill>
              </a:rPr>
              <a:t>이행계획 수립 개요</a:t>
            </a:r>
            <a:endParaRPr lang="en-US" altLang="ko-KR" dirty="0"/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추진계획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비용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기대효과 분석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요건기술서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변화관리 방안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미래모델 수립 결과에 기반하여 이행과제를 도출하고 </a:t>
            </a:r>
            <a:r>
              <a:rPr lang="en-US" altLang="ko-KR" sz="1600" dirty="0"/>
              <a:t>『 </a:t>
            </a:r>
            <a:r>
              <a:rPr lang="ko-KR" altLang="en-US" sz="1600" dirty="0"/>
              <a:t>차세대 경영정보 시스템 구축 </a:t>
            </a:r>
            <a:r>
              <a:rPr lang="en-US" altLang="ko-KR" sz="1600" dirty="0"/>
              <a:t>』</a:t>
            </a:r>
            <a:r>
              <a:rPr lang="ko-KR" altLang="en-US" sz="1600" dirty="0"/>
              <a:t>을 위한 추진 로드맵을 수립한 후 소요되는 구축 비용을 상세 도출하며</a:t>
            </a:r>
            <a:r>
              <a:rPr lang="en-US" altLang="ko-KR" sz="1600" dirty="0"/>
              <a:t>,</a:t>
            </a:r>
            <a:r>
              <a:rPr lang="ko-KR" altLang="en-US" sz="1600" dirty="0"/>
              <a:t> 정량적</a:t>
            </a:r>
            <a:r>
              <a:rPr lang="en-US" altLang="ko-KR" sz="1600" dirty="0"/>
              <a:t>/</a:t>
            </a:r>
            <a:r>
              <a:rPr lang="ko-KR" altLang="en-US" sz="1600" dirty="0"/>
              <a:t>정성적 기대효과를 식별함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1.1 </a:t>
            </a:r>
            <a:r>
              <a:rPr lang="ko-KR" altLang="en-US" dirty="0"/>
              <a:t>이행계획 수립 개요 </a:t>
            </a:r>
            <a:r>
              <a:rPr lang="en-US" altLang="ko-KR" dirty="0"/>
              <a:t>&gt; </a:t>
            </a:r>
            <a:r>
              <a:rPr lang="ko-KR" altLang="en-US" dirty="0"/>
              <a:t>접근 방법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r>
              <a:rPr lang="en-US" altLang="ko-KR" dirty="0"/>
              <a:t>1. </a:t>
            </a:r>
            <a:r>
              <a:rPr lang="ko-KR" altLang="en-US" dirty="0"/>
              <a:t>개요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이행계획 수립 개요</a:t>
            </a:r>
            <a:endParaRPr lang="en-US" altLang="ko-KR" dirty="0"/>
          </a:p>
        </p:txBody>
      </p:sp>
      <p:sp>
        <p:nvSpPr>
          <p:cNvPr id="28" name="직사각형 27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이행계획 수립 접근방법</a:t>
            </a:r>
            <a:endParaRPr lang="en-US" altLang="ko-KR" sz="14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64" name="Rectangle 50"/>
          <p:cNvSpPr>
            <a:spLocks noChangeArrowheads="1"/>
          </p:cNvSpPr>
          <p:nvPr/>
        </p:nvSpPr>
        <p:spPr bwMode="auto">
          <a:xfrm>
            <a:off x="590367" y="3264094"/>
            <a:ext cx="8721269" cy="2965532"/>
          </a:xfrm>
          <a:prstGeom prst="rect">
            <a:avLst/>
          </a:prstGeom>
          <a:noFill/>
          <a:ln w="76200">
            <a:solidFill>
              <a:srgbClr val="4678B4">
                <a:lumMod val="40000"/>
                <a:lumOff val="60000"/>
              </a:srgbClr>
            </a:solidFill>
            <a:miter lim="800000"/>
            <a:headEnd/>
            <a:tailEnd/>
          </a:ln>
          <a:effectLst/>
        </p:spPr>
        <p:txBody>
          <a:bodyPr lIns="54000" tIns="0" rIns="54000" bIns="0" anchor="ctr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5" name="자유형 64"/>
          <p:cNvSpPr/>
          <p:nvPr/>
        </p:nvSpPr>
        <p:spPr>
          <a:xfrm>
            <a:off x="590367" y="2725152"/>
            <a:ext cx="8823030" cy="499513"/>
          </a:xfrm>
          <a:custGeom>
            <a:avLst/>
            <a:gdLst>
              <a:gd name="connsiteX0" fmla="*/ 5531223 w 8767482"/>
              <a:gd name="connsiteY0" fmla="*/ 0 h 493059"/>
              <a:gd name="connsiteX1" fmla="*/ 0 w 8767482"/>
              <a:gd name="connsiteY1" fmla="*/ 493059 h 493059"/>
              <a:gd name="connsiteX2" fmla="*/ 8767482 w 8767482"/>
              <a:gd name="connsiteY2" fmla="*/ 493059 h 493059"/>
              <a:gd name="connsiteX3" fmla="*/ 6615953 w 8767482"/>
              <a:gd name="connsiteY3" fmla="*/ 17930 h 493059"/>
              <a:gd name="connsiteX4" fmla="*/ 5531223 w 8767482"/>
              <a:gd name="connsiteY4" fmla="*/ 0 h 493059"/>
              <a:gd name="connsiteX0" fmla="*/ 5531223 w 8767482"/>
              <a:gd name="connsiteY0" fmla="*/ 6454 h 499513"/>
              <a:gd name="connsiteX1" fmla="*/ 0 w 8767482"/>
              <a:gd name="connsiteY1" fmla="*/ 499513 h 499513"/>
              <a:gd name="connsiteX2" fmla="*/ 8767482 w 8767482"/>
              <a:gd name="connsiteY2" fmla="*/ 499513 h 499513"/>
              <a:gd name="connsiteX3" fmla="*/ 7798577 w 8767482"/>
              <a:gd name="connsiteY3" fmla="*/ 0 h 499513"/>
              <a:gd name="connsiteX4" fmla="*/ 5531223 w 8767482"/>
              <a:gd name="connsiteY4" fmla="*/ 6454 h 499513"/>
              <a:gd name="connsiteX0" fmla="*/ 6067671 w 8767482"/>
              <a:gd name="connsiteY0" fmla="*/ 6454 h 499513"/>
              <a:gd name="connsiteX1" fmla="*/ 0 w 8767482"/>
              <a:gd name="connsiteY1" fmla="*/ 499513 h 499513"/>
              <a:gd name="connsiteX2" fmla="*/ 8767482 w 8767482"/>
              <a:gd name="connsiteY2" fmla="*/ 499513 h 499513"/>
              <a:gd name="connsiteX3" fmla="*/ 7798577 w 8767482"/>
              <a:gd name="connsiteY3" fmla="*/ 0 h 499513"/>
              <a:gd name="connsiteX4" fmla="*/ 6067671 w 8767482"/>
              <a:gd name="connsiteY4" fmla="*/ 6454 h 499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67482" h="499513">
                <a:moveTo>
                  <a:pt x="6067671" y="6454"/>
                </a:moveTo>
                <a:lnTo>
                  <a:pt x="0" y="499513"/>
                </a:lnTo>
                <a:lnTo>
                  <a:pt x="8767482" y="499513"/>
                </a:lnTo>
                <a:lnTo>
                  <a:pt x="7798577" y="0"/>
                </a:lnTo>
                <a:lnTo>
                  <a:pt x="6067671" y="6454"/>
                </a:lnTo>
                <a:close/>
              </a:path>
            </a:pathLst>
          </a:custGeom>
          <a:gradFill flip="none" rotWithShape="1">
            <a:gsLst>
              <a:gs pos="0">
                <a:srgbClr val="4678B4">
                  <a:lumMod val="60000"/>
                  <a:lumOff val="40000"/>
                  <a:tint val="66000"/>
                  <a:satMod val="160000"/>
                </a:srgbClr>
              </a:gs>
              <a:gs pos="50000">
                <a:srgbClr val="4678B4">
                  <a:lumMod val="60000"/>
                  <a:lumOff val="40000"/>
                  <a:tint val="44500"/>
                  <a:satMod val="160000"/>
                </a:srgbClr>
              </a:gs>
              <a:gs pos="100000">
                <a:srgbClr val="4678B4">
                  <a:lumMod val="60000"/>
                  <a:lumOff val="40000"/>
                  <a:tint val="23500"/>
                  <a:satMod val="160000"/>
                </a:srgbClr>
              </a:gs>
            </a:gsLst>
            <a:lin ang="5400000" scaled="1"/>
            <a:tileRect/>
          </a:gradFill>
          <a:ln w="6350" cap="flat" cmpd="sng">
            <a:noFill/>
            <a:prstDash val="dash"/>
            <a:round/>
            <a:headEnd type="none" w="med" len="med"/>
            <a:tailEnd type="none" w="med" len="med"/>
          </a:ln>
          <a:effectLst/>
        </p:spPr>
        <p:txBody>
          <a:bodyPr wrap="square" lIns="54000" tIns="0" rIns="54000" bIns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6" name="그룹 65"/>
          <p:cNvGrpSpPr/>
          <p:nvPr/>
        </p:nvGrpSpPr>
        <p:grpSpPr>
          <a:xfrm>
            <a:off x="1640632" y="2075963"/>
            <a:ext cx="6978471" cy="648000"/>
            <a:chOff x="2678599" y="2075963"/>
            <a:chExt cx="4719362" cy="648000"/>
          </a:xfrm>
        </p:grpSpPr>
        <p:sp>
          <p:nvSpPr>
            <p:cNvPr id="67" name="AutoShape 40"/>
            <p:cNvSpPr>
              <a:spLocks noChangeArrowheads="1"/>
            </p:cNvSpPr>
            <p:nvPr/>
          </p:nvSpPr>
          <p:spPr bwMode="auto">
            <a:xfrm>
              <a:off x="2678599" y="2075963"/>
              <a:ext cx="1144384" cy="648000"/>
            </a:xfrm>
            <a:prstGeom prst="homePlate">
              <a:avLst>
                <a:gd name="adj" fmla="val 32238"/>
              </a:avLst>
            </a:prstGeom>
            <a:solidFill>
              <a:sysClr val="window" lastClr="FFFFFF"/>
            </a:solidFill>
            <a:ln w="6350" algn="ctr">
              <a:solidFill>
                <a:sysClr val="windowText" lastClr="000000">
                  <a:lumMod val="65000"/>
                  <a:lumOff val="35000"/>
                </a:sysClr>
              </a:solidFill>
              <a:miter lim="800000"/>
              <a:headEnd/>
              <a:tailEnd/>
            </a:ln>
            <a:effectLst>
              <a:outerShdw blurRad="38100" dist="25400" dir="2700000" algn="tl" rotWithShape="0">
                <a:sysClr val="window" lastClr="FFFFFF">
                  <a:lumMod val="50000"/>
                </a:sysClr>
              </a:outerShdw>
            </a:effectLst>
          </p:spPr>
          <p:txBody>
            <a:bodyPr wrap="none"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300" b="1" kern="0" noProof="0" dirty="0">
                  <a:solidFill>
                    <a:sysClr val="windowText" lastClr="000000">
                      <a:lumMod val="65000"/>
                      <a:lumOff val="35000"/>
                    </a:sysClr>
                  </a:solidFill>
                  <a:latin typeface="맑은 고딕" pitchFamily="50" charset="-127"/>
                  <a:ea typeface="맑은 고딕" pitchFamily="50" charset="-127"/>
                </a:rPr>
                <a:t>환경분석</a:t>
              </a:r>
              <a:endParaRPr kumimoji="0" lang="ko-KR" altLang="en-US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>
                    <a:lumMod val="65000"/>
                    <a:lumOff val="3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AutoShape 42"/>
            <p:cNvSpPr>
              <a:spLocks noChangeArrowheads="1"/>
            </p:cNvSpPr>
            <p:nvPr/>
          </p:nvSpPr>
          <p:spPr bwMode="auto">
            <a:xfrm>
              <a:off x="4926773" y="2075963"/>
              <a:ext cx="1258023" cy="648000"/>
            </a:xfrm>
            <a:prstGeom prst="chevron">
              <a:avLst>
                <a:gd name="adj" fmla="val 31499"/>
              </a:avLst>
            </a:prstGeom>
            <a:solidFill>
              <a:sysClr val="window" lastClr="FFFFFF"/>
            </a:solidFill>
            <a:ln w="6350" algn="ctr">
              <a:solidFill>
                <a:sysClr val="windowText" lastClr="000000">
                  <a:lumMod val="65000"/>
                  <a:lumOff val="35000"/>
                </a:sysClr>
              </a:solidFill>
              <a:miter lim="800000"/>
              <a:headEnd/>
              <a:tailEnd/>
            </a:ln>
            <a:effectLst>
              <a:outerShdw blurRad="38100" dist="25400" dir="2700000" algn="tl" rotWithShape="0">
                <a:sysClr val="window" lastClr="FFFFFF">
                  <a:lumMod val="50000"/>
                </a:sysClr>
              </a:outerShdw>
            </a:effectLst>
          </p:spPr>
          <p:txBody>
            <a:bodyPr wrap="none"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65000"/>
                      <a:lumOff val="3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목표모델 설계</a:t>
              </a:r>
            </a:p>
          </p:txBody>
        </p:sp>
        <p:sp>
          <p:nvSpPr>
            <p:cNvPr id="69" name="AutoShape 43"/>
            <p:cNvSpPr>
              <a:spLocks noChangeArrowheads="1"/>
            </p:cNvSpPr>
            <p:nvPr/>
          </p:nvSpPr>
          <p:spPr bwMode="auto">
            <a:xfrm>
              <a:off x="6101961" y="2075963"/>
              <a:ext cx="1296000" cy="648000"/>
            </a:xfrm>
            <a:prstGeom prst="chevron">
              <a:avLst>
                <a:gd name="adj" fmla="val 31461"/>
              </a:avLst>
            </a:prstGeom>
            <a:solidFill>
              <a:srgbClr val="4678B4">
                <a:lumMod val="40000"/>
                <a:lumOff val="60000"/>
              </a:srgbClr>
            </a:solidFill>
            <a:ln w="6350" algn="ctr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sysClr val="windowText" lastClr="000000">
                  <a:lumMod val="50000"/>
                  <a:lumOff val="50000"/>
                </a:sysClr>
              </a:outerShdw>
            </a:effectLst>
          </p:spPr>
          <p:txBody>
            <a:bodyPr wrap="none" lIns="72000" tIns="0" rIns="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이행계획 수립</a:t>
              </a:r>
            </a:p>
          </p:txBody>
        </p:sp>
        <p:sp>
          <p:nvSpPr>
            <p:cNvPr id="70" name="AutoShape 41"/>
            <p:cNvSpPr>
              <a:spLocks noChangeArrowheads="1"/>
            </p:cNvSpPr>
            <p:nvPr/>
          </p:nvSpPr>
          <p:spPr bwMode="auto">
            <a:xfrm>
              <a:off x="3751587" y="2075963"/>
              <a:ext cx="1246585" cy="648000"/>
            </a:xfrm>
            <a:prstGeom prst="chevron">
              <a:avLst>
                <a:gd name="adj" fmla="val 31384"/>
              </a:avLst>
            </a:prstGeom>
            <a:solidFill>
              <a:sysClr val="window" lastClr="FFFFFF"/>
            </a:solidFill>
            <a:ln w="6350" algn="ctr">
              <a:solidFill>
                <a:sysClr val="windowText" lastClr="000000">
                  <a:lumMod val="65000"/>
                  <a:lumOff val="35000"/>
                </a:sysClr>
              </a:solidFill>
              <a:miter lim="800000"/>
              <a:headEnd/>
              <a:tailEnd/>
            </a:ln>
            <a:effectLst>
              <a:outerShdw blurRad="38100" dist="25400" dir="2700000" algn="tl" rotWithShape="0">
                <a:sysClr val="window" lastClr="FFFFFF">
                  <a:lumMod val="50000"/>
                </a:sysClr>
              </a:outerShdw>
            </a:effectLst>
          </p:spPr>
          <p:txBody>
            <a:bodyPr wrap="none" lIns="72000" tIns="72000" rIns="72000" bIns="72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65000"/>
                      <a:lumOff val="3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현황 및</a:t>
              </a:r>
              <a:r>
                <a:rPr kumimoji="0" lang="en-US" altLang="ko-KR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65000"/>
                      <a:lumOff val="3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0" lang="ko-KR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65000"/>
                      <a:lumOff val="35000"/>
                    </a:sysClr>
                  </a:solidFill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요건 분석</a:t>
              </a:r>
            </a:p>
          </p:txBody>
        </p:sp>
      </p:grpSp>
      <p:sp>
        <p:nvSpPr>
          <p:cNvPr id="71" name="Rectangle 51"/>
          <p:cNvSpPr>
            <a:spLocks noChangeArrowheads="1"/>
          </p:cNvSpPr>
          <p:nvPr/>
        </p:nvSpPr>
        <p:spPr bwMode="auto">
          <a:xfrm>
            <a:off x="1256681" y="3732146"/>
            <a:ext cx="1512168" cy="75608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>
            <a:outerShdw blurRad="50800" dist="25400" dir="2700000" algn="tl" rotWithShape="0">
              <a:sysClr val="windowText" lastClr="000000">
                <a:lumMod val="50000"/>
                <a:lumOff val="50000"/>
              </a:sysClr>
            </a:outerShdw>
          </a:effectLst>
        </p:spPr>
        <p:txBody>
          <a:bodyPr wrap="square" lIns="36000" tIns="36000" rIns="36000" bIns="36000" anchor="ctr" anchorCtr="1"/>
          <a:lstStyle/>
          <a:p>
            <a:pPr lvl="0" algn="ctr" latinLnBrk="0">
              <a:spcBef>
                <a:spcPts val="600"/>
              </a:spcBef>
              <a:defRPr/>
            </a:pPr>
            <a:r>
              <a:rPr lang="ko-KR" altLang="en-US" sz="11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추진계획 수립</a:t>
            </a:r>
          </a:p>
        </p:txBody>
      </p:sp>
      <p:cxnSp>
        <p:nvCxnSpPr>
          <p:cNvPr id="77" name="AutoShape 58"/>
          <p:cNvCxnSpPr>
            <a:cxnSpLocks noChangeShapeType="1"/>
            <a:stCxn id="71" idx="3"/>
            <a:endCxn id="84" idx="1"/>
          </p:cNvCxnSpPr>
          <p:nvPr/>
        </p:nvCxnSpPr>
        <p:spPr bwMode="auto">
          <a:xfrm>
            <a:off x="2768849" y="4110188"/>
            <a:ext cx="2400266" cy="0"/>
          </a:xfrm>
          <a:prstGeom prst="straightConnector1">
            <a:avLst/>
          </a:prstGeom>
          <a:noFill/>
          <a:ln w="6350">
            <a:solidFill>
              <a:sysClr val="windowText" lastClr="000000">
                <a:lumMod val="65000"/>
                <a:lumOff val="35000"/>
              </a:sysClr>
            </a:solidFill>
            <a:miter lim="800000"/>
            <a:headEnd/>
            <a:tailEnd type="triangle" w="med" len="med"/>
          </a:ln>
          <a:effectLst/>
        </p:spPr>
      </p:cxnSp>
      <p:sp>
        <p:nvSpPr>
          <p:cNvPr id="83" name="AutoShape 64"/>
          <p:cNvSpPr>
            <a:spLocks noChangeArrowheads="1"/>
          </p:cNvSpPr>
          <p:nvPr/>
        </p:nvSpPr>
        <p:spPr bwMode="auto">
          <a:xfrm>
            <a:off x="1256681" y="4884274"/>
            <a:ext cx="1548004" cy="864096"/>
          </a:xfrm>
          <a:prstGeom prst="wedgeRectCallout">
            <a:avLst>
              <a:gd name="adj1" fmla="val 19640"/>
              <a:gd name="adj2" fmla="val -97078"/>
            </a:avLst>
          </a:prstGeom>
          <a:solidFill>
            <a:sysClr val="window" lastClr="FFFFFF"/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</p:spPr>
        <p:txBody>
          <a:bodyPr lIns="54000" tIns="36000" rIns="54000" bIns="36000" anchor="ctr"/>
          <a:lstStyle/>
          <a:p>
            <a:pPr lvl="0" latinLnBrk="0">
              <a:spcBef>
                <a:spcPts val="600"/>
              </a:spcBef>
              <a:buClr>
                <a:sysClr val="windowText" lastClr="000000"/>
              </a:buClr>
              <a:buSzPct val="80000"/>
              <a:defRPr/>
            </a:pPr>
            <a:r>
              <a:rPr lang="ko-KR" altLang="en-US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이행과제 도출과 이에 따른 과제정의서를 도출하고 단계별 추진 로드맵을 수립함</a:t>
            </a:r>
          </a:p>
        </p:txBody>
      </p:sp>
      <p:sp>
        <p:nvSpPr>
          <p:cNvPr id="84" name="Rectangle 51"/>
          <p:cNvSpPr>
            <a:spLocks noChangeArrowheads="1"/>
          </p:cNvSpPr>
          <p:nvPr/>
        </p:nvSpPr>
        <p:spPr bwMode="auto">
          <a:xfrm>
            <a:off x="5169115" y="3732146"/>
            <a:ext cx="1512168" cy="75608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>
            <a:outerShdw blurRad="50800" dist="25400" dir="2700000" algn="tl" rotWithShape="0">
              <a:sysClr val="windowText" lastClr="000000">
                <a:lumMod val="50000"/>
                <a:lumOff val="50000"/>
              </a:sysClr>
            </a:outerShdw>
          </a:effectLst>
        </p:spPr>
        <p:txBody>
          <a:bodyPr wrap="square" lIns="36000" tIns="36000" rIns="36000" bIns="36000" anchor="ctr" anchorCtr="1"/>
          <a:lstStyle/>
          <a:p>
            <a:pPr lvl="0" algn="ctr" latinLnBrk="0">
              <a:spcBef>
                <a:spcPts val="600"/>
              </a:spcBef>
              <a:defRPr/>
            </a:pPr>
            <a:r>
              <a:rPr lang="ko-KR" altLang="en-US" sz="11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기대효과 분석</a:t>
            </a:r>
          </a:p>
        </p:txBody>
      </p:sp>
      <p:sp>
        <p:nvSpPr>
          <p:cNvPr id="85" name="Rectangle 51"/>
          <p:cNvSpPr>
            <a:spLocks noChangeArrowheads="1"/>
          </p:cNvSpPr>
          <p:nvPr/>
        </p:nvSpPr>
        <p:spPr bwMode="auto">
          <a:xfrm>
            <a:off x="7125333" y="3732146"/>
            <a:ext cx="1512000" cy="75608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>
            <a:outerShdw blurRad="50800" dist="25400" dir="2700000" algn="tl" rotWithShape="0">
              <a:sysClr val="windowText" lastClr="000000">
                <a:lumMod val="50000"/>
                <a:lumOff val="50000"/>
              </a:sysClr>
            </a:outerShdw>
          </a:effectLst>
        </p:spPr>
        <p:txBody>
          <a:bodyPr wrap="square" lIns="36000" tIns="36000" rIns="36000" bIns="36000" anchor="ctr" anchorCtr="1"/>
          <a:lstStyle/>
          <a:p>
            <a:pPr lvl="0" algn="ctr" latinLnBrk="0">
              <a:spcBef>
                <a:spcPts val="600"/>
              </a:spcBef>
              <a:defRPr/>
            </a:pPr>
            <a:r>
              <a:rPr lang="ko-KR" altLang="en-US" sz="11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변화관리 방안 수립</a:t>
            </a:r>
            <a:endParaRPr lang="en-US" altLang="ko-KR" sz="1100" b="1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6" name="AutoShape 58"/>
          <p:cNvCxnSpPr>
            <a:cxnSpLocks noChangeShapeType="1"/>
            <a:stCxn id="84" idx="3"/>
            <a:endCxn id="85" idx="1"/>
          </p:cNvCxnSpPr>
          <p:nvPr/>
        </p:nvCxnSpPr>
        <p:spPr bwMode="auto">
          <a:xfrm>
            <a:off x="6681283" y="4110188"/>
            <a:ext cx="444050" cy="0"/>
          </a:xfrm>
          <a:prstGeom prst="straightConnector1">
            <a:avLst/>
          </a:prstGeom>
          <a:noFill/>
          <a:ln w="6350">
            <a:solidFill>
              <a:sysClr val="windowText" lastClr="000000">
                <a:lumMod val="65000"/>
                <a:lumOff val="35000"/>
              </a:sysClr>
            </a:solidFill>
            <a:miter lim="800000"/>
            <a:headEnd/>
            <a:tailEnd type="triangle" w="med" len="med"/>
          </a:ln>
          <a:effectLst/>
        </p:spPr>
      </p:cxnSp>
      <p:sp>
        <p:nvSpPr>
          <p:cNvPr id="87" name="AutoShape 64"/>
          <p:cNvSpPr>
            <a:spLocks noChangeArrowheads="1"/>
          </p:cNvSpPr>
          <p:nvPr/>
        </p:nvSpPr>
        <p:spPr bwMode="auto">
          <a:xfrm>
            <a:off x="5217121" y="4884274"/>
            <a:ext cx="1512000" cy="864096"/>
          </a:xfrm>
          <a:prstGeom prst="wedgeRectCallout">
            <a:avLst>
              <a:gd name="adj1" fmla="val 19640"/>
              <a:gd name="adj2" fmla="val -97078"/>
            </a:avLst>
          </a:prstGeom>
          <a:solidFill>
            <a:sysClr val="window" lastClr="FFFFFF"/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</p:spPr>
        <p:txBody>
          <a:bodyPr lIns="54000" tIns="36000" rIns="54000" bIns="36000" anchor="ctr"/>
          <a:lstStyle/>
          <a:p>
            <a:pPr lvl="0" latinLnBrk="0">
              <a:spcBef>
                <a:spcPts val="600"/>
              </a:spcBef>
              <a:buClr>
                <a:sysClr val="windowText" lastClr="000000"/>
              </a:buClr>
              <a:buSzPct val="80000"/>
              <a:defRPr/>
            </a:pPr>
            <a:r>
              <a:rPr lang="ko-KR" altLang="en-US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시스템 구축에 따라 정량적 기대효과 및 정성적 기대효과를 정의함 </a:t>
            </a:r>
          </a:p>
        </p:txBody>
      </p:sp>
      <p:sp>
        <p:nvSpPr>
          <p:cNvPr id="88" name="AutoShape 64"/>
          <p:cNvSpPr>
            <a:spLocks noChangeArrowheads="1"/>
          </p:cNvSpPr>
          <p:nvPr/>
        </p:nvSpPr>
        <p:spPr bwMode="auto">
          <a:xfrm>
            <a:off x="7107103" y="4884274"/>
            <a:ext cx="1512000" cy="864096"/>
          </a:xfrm>
          <a:prstGeom prst="wedgeRectCallout">
            <a:avLst>
              <a:gd name="adj1" fmla="val 19640"/>
              <a:gd name="adj2" fmla="val -97078"/>
            </a:avLst>
          </a:prstGeom>
          <a:solidFill>
            <a:sysClr val="window" lastClr="FFFFFF"/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</p:spPr>
        <p:txBody>
          <a:bodyPr lIns="54000" tIns="36000" rIns="54000" bIns="36000" anchor="ctr"/>
          <a:lstStyle/>
          <a:p>
            <a:pPr lvl="0" latinLnBrk="0">
              <a:spcBef>
                <a:spcPts val="600"/>
              </a:spcBef>
              <a:buClr>
                <a:sysClr val="windowText" lastClr="000000"/>
              </a:buClr>
              <a:buSzPct val="80000"/>
              <a:defRPr/>
            </a:pPr>
            <a:r>
              <a:rPr lang="ko-KR" altLang="en-US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사업 추진에 따른 위험 및 변화에 대한 저항감을 최소화하여 사용자가 새로운 </a:t>
            </a:r>
            <a:r>
              <a:rPr lang="en-US" altLang="ko-KR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IT </a:t>
            </a:r>
            <a:r>
              <a:rPr lang="ko-KR" altLang="en-US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환경에 적응할 수 있도록 하는 방안 수립</a:t>
            </a:r>
          </a:p>
        </p:txBody>
      </p:sp>
      <p:sp>
        <p:nvSpPr>
          <p:cNvPr id="89" name="Rectangle 51"/>
          <p:cNvSpPr>
            <a:spLocks noChangeArrowheads="1"/>
          </p:cNvSpPr>
          <p:nvPr/>
        </p:nvSpPr>
        <p:spPr bwMode="auto">
          <a:xfrm>
            <a:off x="3212898" y="3732146"/>
            <a:ext cx="1512168" cy="756084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>
            <a:outerShdw blurRad="50800" dist="25400" dir="2700000" algn="tl" rotWithShape="0">
              <a:sysClr val="windowText" lastClr="000000">
                <a:lumMod val="50000"/>
                <a:lumOff val="50000"/>
              </a:sysClr>
            </a:outerShdw>
          </a:effectLst>
        </p:spPr>
        <p:txBody>
          <a:bodyPr wrap="square" lIns="36000" tIns="36000" rIns="36000" bIns="36000" anchor="ctr" anchorCtr="1"/>
          <a:lstStyle/>
          <a:p>
            <a:pPr lvl="0" algn="ctr" latinLnBrk="0">
              <a:spcBef>
                <a:spcPts val="600"/>
              </a:spcBef>
              <a:defRPr/>
            </a:pPr>
            <a:r>
              <a:rPr lang="ko-KR" altLang="en-US" sz="1100" b="1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비용 계획 수립</a:t>
            </a:r>
          </a:p>
        </p:txBody>
      </p:sp>
      <p:sp>
        <p:nvSpPr>
          <p:cNvPr id="90" name="AutoShape 64"/>
          <p:cNvSpPr>
            <a:spLocks noChangeArrowheads="1"/>
          </p:cNvSpPr>
          <p:nvPr/>
        </p:nvSpPr>
        <p:spPr bwMode="auto">
          <a:xfrm>
            <a:off x="3236901" y="4884274"/>
            <a:ext cx="1512000" cy="864096"/>
          </a:xfrm>
          <a:prstGeom prst="wedgeRectCallout">
            <a:avLst>
              <a:gd name="adj1" fmla="val 19640"/>
              <a:gd name="adj2" fmla="val -97078"/>
            </a:avLst>
          </a:prstGeom>
          <a:solidFill>
            <a:sysClr val="window" lastClr="FFFFFF"/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miter lim="800000"/>
            <a:headEnd/>
            <a:tailEnd/>
          </a:ln>
          <a:effectLst/>
        </p:spPr>
        <p:txBody>
          <a:bodyPr lIns="54000" tIns="36000" rIns="54000" bIns="36000" anchor="ctr"/>
          <a:lstStyle/>
          <a:p>
            <a:pPr lvl="0" latinLnBrk="0">
              <a:spcBef>
                <a:spcPts val="600"/>
              </a:spcBef>
              <a:buClr>
                <a:sysClr val="windowText" lastClr="000000"/>
              </a:buClr>
              <a:buSzPct val="80000"/>
              <a:defRPr/>
            </a:pPr>
            <a:r>
              <a:rPr lang="ko-KR" altLang="en-US" sz="900" b="1" kern="0" dirty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맑은 고딕" pitchFamily="50" charset="-127"/>
                <a:ea typeface="맑은 고딕" pitchFamily="50" charset="-127"/>
              </a:rPr>
              <a:t>이행과제별 추진단계에 따른 구성요소별 소요자원을 도출하여 로드맵에 따른 연도별 및 전체 비용계획을 수립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추진 계획 수립</a:t>
            </a:r>
            <a:r>
              <a:rPr lang="en-US" altLang="ko-KR" dirty="0">
                <a:solidFill>
                  <a:schemeClr val="bg1">
                    <a:lumMod val="65000"/>
                  </a:schemeClr>
                </a:solidFill>
              </a:rPr>
              <a:t/>
            </a:r>
            <a:br>
              <a:rPr lang="en-US" altLang="ko-KR" dirty="0">
                <a:solidFill>
                  <a:schemeClr val="bg1">
                    <a:lumMod val="65000"/>
                  </a:schemeClr>
                </a:solidFill>
              </a:rPr>
            </a:b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2.2 </a:t>
            </a:r>
            <a:r>
              <a:rPr lang="ko-KR" altLang="en-US" dirty="0"/>
              <a:t>과제별 이행 추진단계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2.3 </a:t>
            </a:r>
            <a:r>
              <a:rPr lang="ko-KR" altLang="en-US" dirty="0"/>
              <a:t>추진 로드맵 정의</a:t>
            </a:r>
            <a:endParaRPr lang="en-US" altLang="ko-KR" dirty="0"/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비용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기대효과 분석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요건기술서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변화관리 방안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sz="1600" dirty="0"/>
              <a:t>이행과제를 도출하기 위해 미래모델 개선과제 및 개선 세부과제에서 정의한 주요 내용을 기준으로 세부 추진 내용을 정의하고 이행과제 대상을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 </a:t>
            </a:r>
            <a:r>
              <a:rPr lang="ko-KR" altLang="en-US" dirty="0"/>
              <a:t>추진 계획 수립 </a:t>
            </a:r>
            <a:r>
              <a:rPr lang="en-US" altLang="ko-KR" dirty="0"/>
              <a:t>&gt; 2.1 </a:t>
            </a:r>
            <a:r>
              <a:rPr lang="ko-KR" altLang="en-US" dirty="0"/>
              <a:t>이행과제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2.1.1 </a:t>
            </a:r>
            <a:r>
              <a:rPr lang="ko-KR" altLang="en-US" dirty="0"/>
              <a:t>이행과제 도출 </a:t>
            </a:r>
            <a:r>
              <a:rPr lang="en-US" altLang="ko-KR" dirty="0"/>
              <a:t>(1/5)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123" name="그룹 122"/>
          <p:cNvGrpSpPr/>
          <p:nvPr/>
        </p:nvGrpSpPr>
        <p:grpSpPr>
          <a:xfrm>
            <a:off x="2333899" y="1513231"/>
            <a:ext cx="2160000" cy="329005"/>
            <a:chOff x="2144688" y="1513231"/>
            <a:chExt cx="2160000" cy="329005"/>
          </a:xfrm>
        </p:grpSpPr>
        <p:sp>
          <p:nvSpPr>
            <p:cNvPr id="61" name="Text Box 4"/>
            <p:cNvSpPr txBox="1">
              <a:spLocks noChangeArrowheads="1"/>
            </p:cNvSpPr>
            <p:nvPr/>
          </p:nvSpPr>
          <p:spPr bwMode="auto">
            <a:xfrm>
              <a:off x="2774244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세부과제</a:t>
              </a:r>
            </a:p>
          </p:txBody>
        </p:sp>
        <p:sp>
          <p:nvSpPr>
            <p:cNvPr id="62" name="Line 5"/>
            <p:cNvSpPr>
              <a:spLocks noChangeShapeType="1"/>
            </p:cNvSpPr>
            <p:nvPr/>
          </p:nvSpPr>
          <p:spPr bwMode="auto">
            <a:xfrm>
              <a:off x="2144688" y="1842236"/>
              <a:ext cx="2160000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63" name="그룹 47"/>
          <p:cNvGrpSpPr>
            <a:grpSpLocks/>
          </p:cNvGrpSpPr>
          <p:nvPr/>
        </p:nvGrpSpPr>
        <p:grpSpPr bwMode="auto">
          <a:xfrm>
            <a:off x="6841121" y="1527446"/>
            <a:ext cx="1906587" cy="318577"/>
            <a:chOff x="7545836" y="2024545"/>
            <a:chExt cx="1907161" cy="318795"/>
          </a:xfrm>
        </p:grpSpPr>
        <p:sp>
          <p:nvSpPr>
            <p:cNvPr id="64" name="Text Box 4"/>
            <p:cNvSpPr txBox="1">
              <a:spLocks noChangeArrowheads="1"/>
            </p:cNvSpPr>
            <p:nvPr/>
          </p:nvSpPr>
          <p:spPr bwMode="auto">
            <a:xfrm>
              <a:off x="7780437" y="2024545"/>
              <a:ext cx="1427196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추진 내용</a:t>
              </a:r>
            </a:p>
          </p:txBody>
        </p:sp>
        <p:sp>
          <p:nvSpPr>
            <p:cNvPr id="65" name="Line 5"/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122" name="그룹 121"/>
          <p:cNvGrpSpPr/>
          <p:nvPr/>
        </p:nvGrpSpPr>
        <p:grpSpPr>
          <a:xfrm>
            <a:off x="531036" y="1513231"/>
            <a:ext cx="975658" cy="329005"/>
            <a:chOff x="691543" y="1513231"/>
            <a:chExt cx="975658" cy="329005"/>
          </a:xfrm>
        </p:grpSpPr>
        <p:sp>
          <p:nvSpPr>
            <p:cNvPr id="66" name="Text Box 4"/>
            <p:cNvSpPr txBox="1">
              <a:spLocks noChangeArrowheads="1"/>
            </p:cNvSpPr>
            <p:nvPr/>
          </p:nvSpPr>
          <p:spPr bwMode="auto">
            <a:xfrm>
              <a:off x="728928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개선과제</a:t>
              </a:r>
            </a:p>
          </p:txBody>
        </p:sp>
        <p:sp>
          <p:nvSpPr>
            <p:cNvPr id="67" name="Line 5"/>
            <p:cNvSpPr>
              <a:spLocks noChangeShapeType="1"/>
            </p:cNvSpPr>
            <p:nvPr/>
          </p:nvSpPr>
          <p:spPr bwMode="auto">
            <a:xfrm>
              <a:off x="691543" y="1842236"/>
              <a:ext cx="97565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75" name="Rectangle 5"/>
          <p:cNvSpPr>
            <a:spLocks noChangeArrowheads="1"/>
          </p:cNvSpPr>
          <p:nvPr/>
        </p:nvSpPr>
        <p:spPr bwMode="auto">
          <a:xfrm>
            <a:off x="301111" y="2088944"/>
            <a:ext cx="4857163" cy="1504346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7" name="AutoShape 550" descr="박스1"/>
          <p:cNvSpPr>
            <a:spLocks noChangeArrowheads="1"/>
          </p:cNvSpPr>
          <p:nvPr/>
        </p:nvSpPr>
        <p:spPr bwMode="auto">
          <a:xfrm>
            <a:off x="1628120" y="211777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기준정보 개선대상 도출</a:t>
            </a:r>
          </a:p>
        </p:txBody>
      </p:sp>
      <p:sp>
        <p:nvSpPr>
          <p:cNvPr id="78" name="AutoShape 550" descr="박스1"/>
          <p:cNvSpPr>
            <a:spLocks noChangeArrowheads="1"/>
          </p:cNvSpPr>
          <p:nvPr/>
        </p:nvSpPr>
        <p:spPr bwMode="auto">
          <a:xfrm>
            <a:off x="1628120" y="2414076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인사코드 체계 개선</a:t>
            </a:r>
          </a:p>
        </p:txBody>
      </p:sp>
      <p:sp>
        <p:nvSpPr>
          <p:cNvPr id="112" name="AutoShape 550" descr="박스1"/>
          <p:cNvSpPr>
            <a:spLocks noChangeArrowheads="1"/>
          </p:cNvSpPr>
          <p:nvPr/>
        </p:nvSpPr>
        <p:spPr bwMode="auto">
          <a:xfrm>
            <a:off x="1628476" y="2710379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예산코드 및 과목체계 개선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27392" y="2117773"/>
            <a:ext cx="1200906" cy="1419211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업무 기준정보</a:t>
            </a:r>
            <a: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/>
            </a:r>
            <a:br>
              <a:rPr kumimoji="0" lang="en-US" altLang="ko-KR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</a:b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체계 마련</a:t>
            </a:r>
          </a:p>
        </p:txBody>
      </p:sp>
      <p:sp>
        <p:nvSpPr>
          <p:cNvPr id="128" name="Rectangle 5"/>
          <p:cNvSpPr>
            <a:spLocks noChangeArrowheads="1"/>
          </p:cNvSpPr>
          <p:nvPr/>
        </p:nvSpPr>
        <p:spPr bwMode="auto">
          <a:xfrm>
            <a:off x="293746" y="3721027"/>
            <a:ext cx="4857163" cy="1225410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132" name="AutoShape 550" descr="박스1"/>
          <p:cNvSpPr>
            <a:spLocks noChangeArrowheads="1"/>
          </p:cNvSpPr>
          <p:nvPr/>
        </p:nvSpPr>
        <p:spPr bwMode="auto">
          <a:xfrm>
            <a:off x="1620755" y="3762258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예산편성 업무 효율화</a:t>
            </a:r>
          </a:p>
        </p:txBody>
      </p:sp>
      <p:sp>
        <p:nvSpPr>
          <p:cNvPr id="133" name="AutoShape 550" descr="박스1"/>
          <p:cNvSpPr>
            <a:spLocks noChangeArrowheads="1"/>
          </p:cNvSpPr>
          <p:nvPr/>
        </p:nvSpPr>
        <p:spPr bwMode="auto">
          <a:xfrm>
            <a:off x="1620755" y="4056389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전사 차원의 월결산 도입</a:t>
            </a:r>
          </a:p>
        </p:txBody>
      </p:sp>
      <p:sp>
        <p:nvSpPr>
          <p:cNvPr id="134" name="AutoShape 550" descr="박스1"/>
          <p:cNvSpPr>
            <a:spLocks noChangeArrowheads="1"/>
          </p:cNvSpPr>
          <p:nvPr/>
        </p:nvSpPr>
        <p:spPr bwMode="auto">
          <a:xfrm>
            <a:off x="1621111" y="435052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회계 모니터링 강화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19493" y="3762258"/>
            <a:ext cx="1200906" cy="1116393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lang="ko-KR" altLang="en-US" sz="1100" b="1" kern="0" dirty="0">
                <a:latin typeface="+mn-ea"/>
              </a:rPr>
              <a:t>예산</a:t>
            </a:r>
            <a:r>
              <a:rPr lang="en-US" altLang="ko-KR" sz="1100" b="1" kern="0" dirty="0">
                <a:latin typeface="+mn-ea"/>
              </a:rPr>
              <a:t>/</a:t>
            </a:r>
            <a:r>
              <a:rPr lang="ko-KR" altLang="en-US" sz="1100" b="1" kern="0" dirty="0">
                <a:latin typeface="+mn-ea"/>
              </a:rPr>
              <a:t>회계 구조개선 및 관리강화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</p:txBody>
      </p:sp>
      <p:sp>
        <p:nvSpPr>
          <p:cNvPr id="135" name="AutoShape 550" descr="박스1"/>
          <p:cNvSpPr>
            <a:spLocks noChangeArrowheads="1"/>
          </p:cNvSpPr>
          <p:nvPr/>
        </p:nvSpPr>
        <p:spPr bwMode="auto">
          <a:xfrm>
            <a:off x="1621111" y="4644651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내부관리손익 도입</a:t>
            </a:r>
          </a:p>
        </p:txBody>
      </p:sp>
      <p:cxnSp>
        <p:nvCxnSpPr>
          <p:cNvPr id="60" name="직선 화살표 연결선 59"/>
          <p:cNvCxnSpPr>
            <a:cxnSpLocks/>
            <a:stCxn id="77" idx="3"/>
            <a:endCxn id="85" idx="1"/>
          </p:cNvCxnSpPr>
          <p:nvPr/>
        </p:nvCxnSpPr>
        <p:spPr bwMode="auto">
          <a:xfrm flipV="1">
            <a:off x="5067234" y="2226417"/>
            <a:ext cx="854079" cy="835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sp>
        <p:nvSpPr>
          <p:cNvPr id="58" name="AutoShape 550" descr="박스1">
            <a:extLst>
              <a:ext uri="{FF2B5EF4-FFF2-40B4-BE49-F238E27FC236}">
                <a16:creationId xmlns:a16="http://schemas.microsoft.com/office/drawing/2014/main" xmlns="" id="{92037CD7-71FD-4215-A5C9-7100A6E67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3006682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자산 기준정보 체계 개선</a:t>
            </a:r>
          </a:p>
        </p:txBody>
      </p:sp>
      <p:sp>
        <p:nvSpPr>
          <p:cNvPr id="59" name="AutoShape 550" descr="박스1">
            <a:extLst>
              <a:ext uri="{FF2B5EF4-FFF2-40B4-BE49-F238E27FC236}">
                <a16:creationId xmlns:a16="http://schemas.microsoft.com/office/drawing/2014/main" xmlns="" id="{83EBECD6-97A6-4F83-A011-0B5DBB786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3302984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기준정보 통합방안 마련</a:t>
            </a:r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xmlns="" id="{E47BC73C-109C-442A-B365-FD3CD9470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746" y="5085184"/>
            <a:ext cx="4857163" cy="969827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3" name="AutoShape 550" descr="박스1">
            <a:extLst>
              <a:ext uri="{FF2B5EF4-FFF2-40B4-BE49-F238E27FC236}">
                <a16:creationId xmlns:a16="http://schemas.microsoft.com/office/drawing/2014/main" xmlns="" id="{54F04050-ED3D-47B8-BB58-83AD9FBAB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755" y="5137084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계약요청 절차 정보화</a:t>
            </a:r>
          </a:p>
        </p:txBody>
      </p:sp>
      <p:sp>
        <p:nvSpPr>
          <p:cNvPr id="74" name="AutoShape 550" descr="박스1">
            <a:extLst>
              <a:ext uri="{FF2B5EF4-FFF2-40B4-BE49-F238E27FC236}">
                <a16:creationId xmlns:a16="http://schemas.microsoft.com/office/drawing/2014/main" xmlns="" id="{CE2599A8-D3B1-42C2-A70C-32BF55016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755" y="5438306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계약정보 등록 간소화</a:t>
            </a:r>
          </a:p>
        </p:txBody>
      </p:sp>
      <p:sp>
        <p:nvSpPr>
          <p:cNvPr id="76" name="AutoShape 550" descr="박스1">
            <a:extLst>
              <a:ext uri="{FF2B5EF4-FFF2-40B4-BE49-F238E27FC236}">
                <a16:creationId xmlns:a16="http://schemas.microsoft.com/office/drawing/2014/main" xmlns="" id="{E94C83B9-1576-4B92-83C9-3A8E9CCF3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1111" y="5739527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검사</a:t>
            </a:r>
            <a:r>
              <a:rPr lang="en-US" altLang="ko-KR" sz="1000" kern="0" dirty="0">
                <a:solidFill>
                  <a:sysClr val="windowText" lastClr="000000"/>
                </a:solidFill>
                <a:latin typeface="+mn-ea"/>
              </a:rPr>
              <a:t>/</a:t>
            </a: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검수 절차 정보화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EA4F2C6E-B243-430A-A09B-8362D7D74306}"/>
              </a:ext>
            </a:extLst>
          </p:cNvPr>
          <p:cNvSpPr txBox="1"/>
          <p:nvPr/>
        </p:nvSpPr>
        <p:spPr>
          <a:xfrm>
            <a:off x="419493" y="5137084"/>
            <a:ext cx="1200906" cy="836443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계약 및 자산관리 업무 효율화</a:t>
            </a:r>
          </a:p>
        </p:txBody>
      </p:sp>
      <p:sp>
        <p:nvSpPr>
          <p:cNvPr id="79" name="AutoShape 550" descr="박스1">
            <a:extLst>
              <a:ext uri="{FF2B5EF4-FFF2-40B4-BE49-F238E27FC236}">
                <a16:creationId xmlns:a16="http://schemas.microsoft.com/office/drawing/2014/main" xmlns="" id="{3225198D-08D1-4600-907C-210EE4A1E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488378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 포털 구축</a:t>
            </a:r>
          </a:p>
        </p:txBody>
      </p:sp>
      <p:sp>
        <p:nvSpPr>
          <p:cNvPr id="80" name="AutoShape 550" descr="박스1">
            <a:extLst>
              <a:ext uri="{FF2B5EF4-FFF2-40B4-BE49-F238E27FC236}">
                <a16:creationId xmlns:a16="http://schemas.microsoft.com/office/drawing/2014/main" xmlns="" id="{01DDB0D1-25E2-4F19-A3E9-B5A85152C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449296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모바일 서비스 지원기반 마련</a:t>
            </a:r>
          </a:p>
        </p:txBody>
      </p:sp>
      <p:sp>
        <p:nvSpPr>
          <p:cNvPr id="81" name="AutoShape 550" descr="박스1">
            <a:extLst>
              <a:ext uri="{FF2B5EF4-FFF2-40B4-BE49-F238E27FC236}">
                <a16:creationId xmlns:a16="http://schemas.microsoft.com/office/drawing/2014/main" xmlns="" id="{A1152C97-1BBF-4612-A68B-020C5FBBC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968837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의사결정 통계시스템 구축</a:t>
            </a:r>
          </a:p>
        </p:txBody>
      </p:sp>
      <p:sp>
        <p:nvSpPr>
          <p:cNvPr id="82" name="AutoShape 550" descr="박스1">
            <a:extLst>
              <a:ext uri="{FF2B5EF4-FFF2-40B4-BE49-F238E27FC236}">
                <a16:creationId xmlns:a16="http://schemas.microsoft.com/office/drawing/2014/main" xmlns="" id="{10767535-FE16-48BD-B1E7-67274564A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007919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기금지원관리시스템 구축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83" name="AutoShape 550" descr="박스1">
            <a:extLst>
              <a:ext uri="{FF2B5EF4-FFF2-40B4-BE49-F238E27FC236}">
                <a16:creationId xmlns:a16="http://schemas.microsoft.com/office/drawing/2014/main" xmlns="" id="{7E9BDB4B-0533-45A1-B86F-32882FAAF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929755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연계 표준 프레임워크 구축</a:t>
            </a:r>
          </a:p>
        </p:txBody>
      </p:sp>
      <p:sp>
        <p:nvSpPr>
          <p:cNvPr id="84" name="AutoShape 550" descr="박스1">
            <a:extLst>
              <a:ext uri="{FF2B5EF4-FFF2-40B4-BE49-F238E27FC236}">
                <a16:creationId xmlns:a16="http://schemas.microsoft.com/office/drawing/2014/main" xmlns="" id="{E94A0262-8499-4ACB-AE25-85C72372E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527460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인적자원관리시스템 구축</a:t>
            </a:r>
          </a:p>
        </p:txBody>
      </p:sp>
      <p:sp>
        <p:nvSpPr>
          <p:cNvPr id="85" name="AutoShape 550" descr="박스1">
            <a:extLst>
              <a:ext uri="{FF2B5EF4-FFF2-40B4-BE49-F238E27FC236}">
                <a16:creationId xmlns:a16="http://schemas.microsoft.com/office/drawing/2014/main" xmlns="" id="{E4199F39-19EE-4AAC-B999-0ED28B7FA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047001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통합재무정보시스템 구축</a:t>
            </a:r>
          </a:p>
        </p:txBody>
      </p:sp>
      <p:sp>
        <p:nvSpPr>
          <p:cNvPr id="87" name="AutoShape 550" descr="박스1">
            <a:extLst>
              <a:ext uri="{FF2B5EF4-FFF2-40B4-BE49-F238E27FC236}">
                <a16:creationId xmlns:a16="http://schemas.microsoft.com/office/drawing/2014/main" xmlns="" id="{B45C6569-4347-4C06-B6EA-CF245BCA3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410214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메타데이터관리시스템 구축</a:t>
            </a:r>
          </a:p>
        </p:txBody>
      </p:sp>
      <p:sp>
        <p:nvSpPr>
          <p:cNvPr id="88" name="AutoShape 550" descr="박스1">
            <a:extLst>
              <a:ext uri="{FF2B5EF4-FFF2-40B4-BE49-F238E27FC236}">
                <a16:creationId xmlns:a16="http://schemas.microsoft.com/office/drawing/2014/main" xmlns="" id="{2FF21A31-9943-4A05-A8C9-24B97BD5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890672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데이터품질관리시스템 구축</a:t>
            </a: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xmlns="" id="{EAECB3E1-FF03-4465-93AE-32FDBA8D0919}"/>
              </a:ext>
            </a:extLst>
          </p:cNvPr>
          <p:cNvCxnSpPr>
            <a:cxnSpLocks/>
            <a:stCxn id="77" idx="3"/>
            <a:endCxn id="84" idx="1"/>
          </p:cNvCxnSpPr>
          <p:nvPr/>
        </p:nvCxnSpPr>
        <p:spPr bwMode="auto">
          <a:xfrm>
            <a:off x="5067234" y="2234773"/>
            <a:ext cx="854079" cy="472103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96" name="직선 화살표 연결선 95">
            <a:extLst>
              <a:ext uri="{FF2B5EF4-FFF2-40B4-BE49-F238E27FC236}">
                <a16:creationId xmlns:a16="http://schemas.microsoft.com/office/drawing/2014/main" xmlns="" id="{0CFC9B51-BD6E-4760-8900-0E3611E6B84F}"/>
              </a:ext>
            </a:extLst>
          </p:cNvPr>
          <p:cNvCxnSpPr>
            <a:cxnSpLocks/>
          </p:cNvCxnSpPr>
          <p:nvPr/>
        </p:nvCxnSpPr>
        <p:spPr bwMode="auto">
          <a:xfrm>
            <a:off x="5067234" y="2216373"/>
            <a:ext cx="854079" cy="84579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97" name="직선 화살표 연결선 96">
            <a:extLst>
              <a:ext uri="{FF2B5EF4-FFF2-40B4-BE49-F238E27FC236}">
                <a16:creationId xmlns:a16="http://schemas.microsoft.com/office/drawing/2014/main" xmlns="" id="{1BC458F9-C41F-4B47-8B7B-D932F6E2773B}"/>
              </a:ext>
            </a:extLst>
          </p:cNvPr>
          <p:cNvCxnSpPr>
            <a:cxnSpLocks/>
            <a:stCxn id="78" idx="3"/>
            <a:endCxn id="84" idx="1"/>
          </p:cNvCxnSpPr>
          <p:nvPr/>
        </p:nvCxnSpPr>
        <p:spPr bwMode="auto">
          <a:xfrm>
            <a:off x="5067234" y="2531076"/>
            <a:ext cx="854079" cy="17580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xmlns="" id="{825A3D4C-3C88-48B3-B2DF-38CDAE361A13}"/>
              </a:ext>
            </a:extLst>
          </p:cNvPr>
          <p:cNvCxnSpPr>
            <a:cxnSpLocks/>
            <a:stCxn id="112" idx="3"/>
            <a:endCxn id="85" idx="1"/>
          </p:cNvCxnSpPr>
          <p:nvPr/>
        </p:nvCxnSpPr>
        <p:spPr bwMode="auto">
          <a:xfrm flipV="1">
            <a:off x="5067590" y="2226417"/>
            <a:ext cx="853723" cy="60096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99" name="직선 화살표 연결선 98">
            <a:extLst>
              <a:ext uri="{FF2B5EF4-FFF2-40B4-BE49-F238E27FC236}">
                <a16:creationId xmlns:a16="http://schemas.microsoft.com/office/drawing/2014/main" xmlns="" id="{1598BC09-F3C7-4642-8309-9D5205C9902D}"/>
              </a:ext>
            </a:extLst>
          </p:cNvPr>
          <p:cNvCxnSpPr>
            <a:cxnSpLocks/>
            <a:stCxn id="58" idx="3"/>
            <a:endCxn id="85" idx="1"/>
          </p:cNvCxnSpPr>
          <p:nvPr/>
        </p:nvCxnSpPr>
        <p:spPr bwMode="auto">
          <a:xfrm flipV="1">
            <a:off x="5067234" y="2226417"/>
            <a:ext cx="854079" cy="89726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xmlns="" id="{561B8A9D-2DA9-4BB1-BC0E-50EA795E8587}"/>
              </a:ext>
            </a:extLst>
          </p:cNvPr>
          <p:cNvCxnSpPr>
            <a:cxnSpLocks/>
            <a:stCxn id="59" idx="3"/>
            <a:endCxn id="85" idx="1"/>
          </p:cNvCxnSpPr>
          <p:nvPr/>
        </p:nvCxnSpPr>
        <p:spPr bwMode="auto">
          <a:xfrm flipV="1">
            <a:off x="5067590" y="2226417"/>
            <a:ext cx="853723" cy="119356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xmlns="" id="{ADF17A5E-5A12-40B3-B88B-73905FA62BCA}"/>
              </a:ext>
            </a:extLst>
          </p:cNvPr>
          <p:cNvCxnSpPr>
            <a:cxnSpLocks/>
            <a:endCxn id="84" idx="1"/>
          </p:cNvCxnSpPr>
          <p:nvPr/>
        </p:nvCxnSpPr>
        <p:spPr bwMode="auto">
          <a:xfrm flipV="1">
            <a:off x="5074243" y="2706876"/>
            <a:ext cx="847070" cy="72146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xmlns="" id="{4A049F45-BC57-46AA-A85F-1E888F315383}"/>
              </a:ext>
            </a:extLst>
          </p:cNvPr>
          <p:cNvCxnSpPr>
            <a:cxnSpLocks/>
            <a:stCxn id="59" idx="3"/>
            <a:endCxn id="82" idx="1"/>
          </p:cNvCxnSpPr>
          <p:nvPr/>
        </p:nvCxnSpPr>
        <p:spPr bwMode="auto">
          <a:xfrm flipV="1">
            <a:off x="5067590" y="3187335"/>
            <a:ext cx="853723" cy="23264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xmlns="" id="{0404A155-F2F7-46E8-BA97-57DB57B63BD3}"/>
              </a:ext>
            </a:extLst>
          </p:cNvPr>
          <p:cNvCxnSpPr>
            <a:cxnSpLocks/>
            <a:stCxn id="132" idx="3"/>
            <a:endCxn id="85" idx="1"/>
          </p:cNvCxnSpPr>
          <p:nvPr/>
        </p:nvCxnSpPr>
        <p:spPr bwMode="auto">
          <a:xfrm flipV="1">
            <a:off x="5059869" y="2226417"/>
            <a:ext cx="861444" cy="165284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xmlns="" id="{34E994AB-413E-4B7D-9DED-298025DE7618}"/>
              </a:ext>
            </a:extLst>
          </p:cNvPr>
          <p:cNvCxnSpPr>
            <a:cxnSpLocks/>
            <a:stCxn id="133" idx="3"/>
            <a:endCxn id="85" idx="1"/>
          </p:cNvCxnSpPr>
          <p:nvPr/>
        </p:nvCxnSpPr>
        <p:spPr bwMode="auto">
          <a:xfrm flipV="1">
            <a:off x="5059869" y="2226417"/>
            <a:ext cx="861444" cy="194697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xmlns="" id="{251753FC-77B0-447B-86C0-DF9018C10DD4}"/>
              </a:ext>
            </a:extLst>
          </p:cNvPr>
          <p:cNvCxnSpPr>
            <a:cxnSpLocks/>
            <a:stCxn id="134" idx="3"/>
            <a:endCxn id="85" idx="1"/>
          </p:cNvCxnSpPr>
          <p:nvPr/>
        </p:nvCxnSpPr>
        <p:spPr bwMode="auto">
          <a:xfrm flipV="1">
            <a:off x="5060225" y="2226417"/>
            <a:ext cx="861088" cy="2241103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xmlns="" id="{E7CF2975-0CD3-4430-8444-17BC0FCE27C8}"/>
              </a:ext>
            </a:extLst>
          </p:cNvPr>
          <p:cNvCxnSpPr>
            <a:cxnSpLocks/>
            <a:stCxn id="135" idx="3"/>
            <a:endCxn id="85" idx="1"/>
          </p:cNvCxnSpPr>
          <p:nvPr/>
        </p:nvCxnSpPr>
        <p:spPr bwMode="auto">
          <a:xfrm flipV="1">
            <a:off x="5060225" y="2226417"/>
            <a:ext cx="861088" cy="253523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7" name="직선 화살표 연결선 126">
            <a:extLst>
              <a:ext uri="{FF2B5EF4-FFF2-40B4-BE49-F238E27FC236}">
                <a16:creationId xmlns:a16="http://schemas.microsoft.com/office/drawing/2014/main" xmlns="" id="{BAB84ADC-62E7-4ACF-94A6-BEC6C3ACDE93}"/>
              </a:ext>
            </a:extLst>
          </p:cNvPr>
          <p:cNvCxnSpPr>
            <a:cxnSpLocks/>
            <a:stCxn id="73" idx="3"/>
            <a:endCxn id="85" idx="1"/>
          </p:cNvCxnSpPr>
          <p:nvPr/>
        </p:nvCxnSpPr>
        <p:spPr bwMode="auto">
          <a:xfrm flipV="1">
            <a:off x="5059869" y="2226417"/>
            <a:ext cx="861444" cy="302766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9" name="직선 화살표 연결선 128">
            <a:extLst>
              <a:ext uri="{FF2B5EF4-FFF2-40B4-BE49-F238E27FC236}">
                <a16:creationId xmlns:a16="http://schemas.microsoft.com/office/drawing/2014/main" xmlns="" id="{6035CD46-5312-47DB-A6A5-06E9E28526CD}"/>
              </a:ext>
            </a:extLst>
          </p:cNvPr>
          <p:cNvCxnSpPr>
            <a:cxnSpLocks/>
            <a:stCxn id="74" idx="3"/>
            <a:endCxn id="85" idx="1"/>
          </p:cNvCxnSpPr>
          <p:nvPr/>
        </p:nvCxnSpPr>
        <p:spPr bwMode="auto">
          <a:xfrm flipV="1">
            <a:off x="5059869" y="2226417"/>
            <a:ext cx="861444" cy="332888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30" name="직선 화살표 연결선 129">
            <a:extLst>
              <a:ext uri="{FF2B5EF4-FFF2-40B4-BE49-F238E27FC236}">
                <a16:creationId xmlns:a16="http://schemas.microsoft.com/office/drawing/2014/main" xmlns="" id="{8380B687-C308-4A89-9914-ABA682E5220A}"/>
              </a:ext>
            </a:extLst>
          </p:cNvPr>
          <p:cNvCxnSpPr>
            <a:cxnSpLocks/>
            <a:stCxn id="76" idx="3"/>
            <a:endCxn id="85" idx="1"/>
          </p:cNvCxnSpPr>
          <p:nvPr/>
        </p:nvCxnSpPr>
        <p:spPr bwMode="auto">
          <a:xfrm flipV="1">
            <a:off x="5060225" y="2226417"/>
            <a:ext cx="861088" cy="363011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이행과제를 도출하기 위해 미래모델 개선과제 및 개선 세부과제에서 정의한 주요 내용을 기준으로 세부 추진 내용을 정의하고 이행과제 대상을 정의함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2.1.1 </a:t>
            </a:r>
            <a:r>
              <a:rPr lang="ko-KR" altLang="en-US" dirty="0"/>
              <a:t>이행과제 도출 </a:t>
            </a:r>
            <a:r>
              <a:rPr lang="en-US" altLang="ko-KR" dirty="0"/>
              <a:t>(2/5)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123" name="그룹 122"/>
          <p:cNvGrpSpPr/>
          <p:nvPr/>
        </p:nvGrpSpPr>
        <p:grpSpPr>
          <a:xfrm>
            <a:off x="2333899" y="1513231"/>
            <a:ext cx="2160000" cy="329005"/>
            <a:chOff x="2144688" y="1513231"/>
            <a:chExt cx="2160000" cy="329005"/>
          </a:xfrm>
        </p:grpSpPr>
        <p:sp>
          <p:nvSpPr>
            <p:cNvPr id="61" name="Text Box 4"/>
            <p:cNvSpPr txBox="1">
              <a:spLocks noChangeArrowheads="1"/>
            </p:cNvSpPr>
            <p:nvPr/>
          </p:nvSpPr>
          <p:spPr bwMode="auto">
            <a:xfrm>
              <a:off x="2774244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세부과제</a:t>
              </a:r>
            </a:p>
          </p:txBody>
        </p:sp>
        <p:sp>
          <p:nvSpPr>
            <p:cNvPr id="62" name="Line 5"/>
            <p:cNvSpPr>
              <a:spLocks noChangeShapeType="1"/>
            </p:cNvSpPr>
            <p:nvPr/>
          </p:nvSpPr>
          <p:spPr bwMode="auto">
            <a:xfrm>
              <a:off x="2144688" y="1842236"/>
              <a:ext cx="2160000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63" name="그룹 47"/>
          <p:cNvGrpSpPr>
            <a:grpSpLocks/>
          </p:cNvGrpSpPr>
          <p:nvPr/>
        </p:nvGrpSpPr>
        <p:grpSpPr bwMode="auto">
          <a:xfrm>
            <a:off x="6841121" y="1527446"/>
            <a:ext cx="1906587" cy="318577"/>
            <a:chOff x="7545836" y="2024545"/>
            <a:chExt cx="1907161" cy="318795"/>
          </a:xfrm>
        </p:grpSpPr>
        <p:sp>
          <p:nvSpPr>
            <p:cNvPr id="64" name="Text Box 4"/>
            <p:cNvSpPr txBox="1">
              <a:spLocks noChangeArrowheads="1"/>
            </p:cNvSpPr>
            <p:nvPr/>
          </p:nvSpPr>
          <p:spPr bwMode="auto">
            <a:xfrm>
              <a:off x="7780437" y="2024545"/>
              <a:ext cx="1427196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추진 내용</a:t>
              </a:r>
            </a:p>
          </p:txBody>
        </p:sp>
        <p:sp>
          <p:nvSpPr>
            <p:cNvPr id="65" name="Line 5"/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122" name="그룹 121"/>
          <p:cNvGrpSpPr/>
          <p:nvPr/>
        </p:nvGrpSpPr>
        <p:grpSpPr>
          <a:xfrm>
            <a:off x="531036" y="1513231"/>
            <a:ext cx="975658" cy="329005"/>
            <a:chOff x="691543" y="1513231"/>
            <a:chExt cx="975658" cy="329005"/>
          </a:xfrm>
        </p:grpSpPr>
        <p:sp>
          <p:nvSpPr>
            <p:cNvPr id="66" name="Text Box 4"/>
            <p:cNvSpPr txBox="1">
              <a:spLocks noChangeArrowheads="1"/>
            </p:cNvSpPr>
            <p:nvPr/>
          </p:nvSpPr>
          <p:spPr bwMode="auto">
            <a:xfrm>
              <a:off x="728928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개선과제</a:t>
              </a:r>
            </a:p>
          </p:txBody>
        </p:sp>
        <p:sp>
          <p:nvSpPr>
            <p:cNvPr id="67" name="Line 5"/>
            <p:cNvSpPr>
              <a:spLocks noChangeShapeType="1"/>
            </p:cNvSpPr>
            <p:nvPr/>
          </p:nvSpPr>
          <p:spPr bwMode="auto">
            <a:xfrm>
              <a:off x="691543" y="1842236"/>
              <a:ext cx="97565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69" name="Rectangle 5">
            <a:extLst>
              <a:ext uri="{FF2B5EF4-FFF2-40B4-BE49-F238E27FC236}">
                <a16:creationId xmlns:a16="http://schemas.microsoft.com/office/drawing/2014/main" xmlns="" id="{CB9998FD-B2E6-4DBA-90B0-5478305D6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1988840"/>
            <a:ext cx="4857163" cy="1368000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3" name="AutoShape 550" descr="박스1">
            <a:extLst>
              <a:ext uri="{FF2B5EF4-FFF2-40B4-BE49-F238E27FC236}">
                <a16:creationId xmlns:a16="http://schemas.microsoft.com/office/drawing/2014/main" xmlns="" id="{DC6CCBDB-BAFA-4B65-BB07-E299FDB07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04074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체육인복지지원단체 직접 신청접수 채널</a:t>
            </a:r>
          </a:p>
        </p:txBody>
      </p:sp>
      <p:sp>
        <p:nvSpPr>
          <p:cNvPr id="74" name="AutoShape 550" descr="박스1">
            <a:extLst>
              <a:ext uri="{FF2B5EF4-FFF2-40B4-BE49-F238E27FC236}">
                <a16:creationId xmlns:a16="http://schemas.microsoft.com/office/drawing/2014/main" xmlns="" id="{C10C636F-DF32-42C6-81D3-DB40CE7B8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30361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기금정산 및 환수 업무 효율화</a:t>
            </a:r>
          </a:p>
        </p:txBody>
      </p:sp>
      <p:sp>
        <p:nvSpPr>
          <p:cNvPr id="76" name="AutoShape 550" descr="박스1">
            <a:extLst>
              <a:ext uri="{FF2B5EF4-FFF2-40B4-BE49-F238E27FC236}">
                <a16:creationId xmlns:a16="http://schemas.microsoft.com/office/drawing/2014/main" xmlns="" id="{9096A6C5-9D08-4B31-B320-C7F96C2A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2566486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현장평가결과 환류업무 개선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83C74C9C-07FC-4514-B602-6C9C91E881A0}"/>
              </a:ext>
            </a:extLst>
          </p:cNvPr>
          <p:cNvSpPr txBox="1"/>
          <p:nvPr/>
        </p:nvSpPr>
        <p:spPr>
          <a:xfrm>
            <a:off x="426858" y="2040739"/>
            <a:ext cx="1200906" cy="1285495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소통을 통한 기금지원 업무강화</a:t>
            </a:r>
          </a:p>
        </p:txBody>
      </p:sp>
      <p:sp>
        <p:nvSpPr>
          <p:cNvPr id="79" name="AutoShape 550" descr="박스1">
            <a:extLst>
              <a:ext uri="{FF2B5EF4-FFF2-40B4-BE49-F238E27FC236}">
                <a16:creationId xmlns:a16="http://schemas.microsoft.com/office/drawing/2014/main" xmlns="" id="{4F126CAB-19D3-460C-AB29-5C0712034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82936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다양한 채널 적용 대상 기금지원 업무</a:t>
            </a:r>
          </a:p>
        </p:txBody>
      </p:sp>
      <p:sp>
        <p:nvSpPr>
          <p:cNvPr id="80" name="AutoShape 550" descr="박스1">
            <a:extLst>
              <a:ext uri="{FF2B5EF4-FFF2-40B4-BE49-F238E27FC236}">
                <a16:creationId xmlns:a16="http://schemas.microsoft.com/office/drawing/2014/main" xmlns="" id="{9939578F-DBDC-48C7-B764-0A1C53BE5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3092234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기금지원 소통 위한 홈페이지 개선</a:t>
            </a: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xmlns="" id="{92E6443B-07E7-4B0E-9FDD-94C16FAA6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3388361"/>
            <a:ext cx="4857163" cy="1120760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82" name="AutoShape 550" descr="박스1">
            <a:extLst>
              <a:ext uri="{FF2B5EF4-FFF2-40B4-BE49-F238E27FC236}">
                <a16:creationId xmlns:a16="http://schemas.microsoft.com/office/drawing/2014/main" xmlns="" id="{57B4DB39-24CA-480C-B9C7-E68BCC1D6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344026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일반</a:t>
            </a:r>
            <a:r>
              <a:rPr lang="en-US" altLang="ko-KR" sz="1000" kern="0" dirty="0">
                <a:solidFill>
                  <a:sysClr val="windowText" lastClr="000000"/>
                </a:solidFill>
                <a:latin typeface="+mn-ea"/>
              </a:rPr>
              <a:t>/</a:t>
            </a: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일용직의 인적자원 통합관리 서비스</a:t>
            </a:r>
          </a:p>
        </p:txBody>
      </p:sp>
      <p:sp>
        <p:nvSpPr>
          <p:cNvPr id="83" name="AutoShape 550" descr="박스1">
            <a:extLst>
              <a:ext uri="{FF2B5EF4-FFF2-40B4-BE49-F238E27FC236}">
                <a16:creationId xmlns:a16="http://schemas.microsoft.com/office/drawing/2014/main" xmlns="" id="{6AE33C68-2025-4B10-BFB6-3F8F5CF36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3698054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업무처리 룰 기반 서비스 개선</a:t>
            </a:r>
          </a:p>
        </p:txBody>
      </p:sp>
      <p:sp>
        <p:nvSpPr>
          <p:cNvPr id="84" name="AutoShape 550" descr="박스1">
            <a:extLst>
              <a:ext uri="{FF2B5EF4-FFF2-40B4-BE49-F238E27FC236}">
                <a16:creationId xmlns:a16="http://schemas.microsoft.com/office/drawing/2014/main" xmlns="" id="{D8A2B2C0-1D27-46DF-8675-828CBE357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3955848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정보이력 기반 조회 및 확인 서비스 개선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xmlns="" id="{28DB21E4-796D-46C8-B876-5FB436E5F064}"/>
              </a:ext>
            </a:extLst>
          </p:cNvPr>
          <p:cNvSpPr txBox="1"/>
          <p:nvPr/>
        </p:nvSpPr>
        <p:spPr>
          <a:xfrm>
            <a:off x="426858" y="3440259"/>
            <a:ext cx="1200906" cy="1007383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일용직 통합 및 변화대응 인적자원관리</a:t>
            </a:r>
          </a:p>
        </p:txBody>
      </p:sp>
      <p:sp>
        <p:nvSpPr>
          <p:cNvPr id="86" name="AutoShape 550" descr="박스1">
            <a:extLst>
              <a:ext uri="{FF2B5EF4-FFF2-40B4-BE49-F238E27FC236}">
                <a16:creationId xmlns:a16="http://schemas.microsoft.com/office/drawing/2014/main" xmlns="" id="{970CDCF7-39C1-49E8-A06C-85ED500E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213642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en-US" altLang="ko-KR" sz="1000" kern="0" dirty="0">
                <a:solidFill>
                  <a:sysClr val="windowText" lastClr="000000"/>
                </a:solidFill>
                <a:latin typeface="+mn-ea"/>
              </a:rPr>
              <a:t>CDP </a:t>
            </a: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용역과제 수행 방안</a:t>
            </a:r>
          </a:p>
        </p:txBody>
      </p:sp>
      <p:sp>
        <p:nvSpPr>
          <p:cNvPr id="88" name="Rectangle 5">
            <a:extLst>
              <a:ext uri="{FF2B5EF4-FFF2-40B4-BE49-F238E27FC236}">
                <a16:creationId xmlns:a16="http://schemas.microsoft.com/office/drawing/2014/main" xmlns="" id="{E7E85AFD-6F30-4EF8-8F1A-CAC614AE8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4542909"/>
            <a:ext cx="4857163" cy="1872000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89" name="AutoShape 550" descr="박스1">
            <a:extLst>
              <a:ext uri="{FF2B5EF4-FFF2-40B4-BE49-F238E27FC236}">
                <a16:creationId xmlns:a16="http://schemas.microsoft.com/office/drawing/2014/main" xmlns="" id="{6C8191F8-4C55-459C-A08E-D7B8760FC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594809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동적메뉴 구성체계</a:t>
            </a:r>
          </a:p>
        </p:txBody>
      </p:sp>
      <p:sp>
        <p:nvSpPr>
          <p:cNvPr id="90" name="AutoShape 550" descr="박스1">
            <a:extLst>
              <a:ext uri="{FF2B5EF4-FFF2-40B4-BE49-F238E27FC236}">
                <a16:creationId xmlns:a16="http://schemas.microsoft.com/office/drawing/2014/main" xmlns="" id="{62E63E3A-753A-4BE2-B1BE-87BC095AF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854597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메뉴그룹 체계</a:t>
            </a:r>
          </a:p>
        </p:txBody>
      </p:sp>
      <p:sp>
        <p:nvSpPr>
          <p:cNvPr id="91" name="AutoShape 550" descr="박스1">
            <a:extLst>
              <a:ext uri="{FF2B5EF4-FFF2-40B4-BE49-F238E27FC236}">
                <a16:creationId xmlns:a16="http://schemas.microsoft.com/office/drawing/2014/main" xmlns="" id="{CB888232-468D-43C7-927F-FEE2CA1A7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5114385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en-US" altLang="ko-KR" sz="1000" kern="0" dirty="0">
                <a:solidFill>
                  <a:sysClr val="windowText" lastClr="000000"/>
                </a:solidFill>
                <a:latin typeface="+mn-ea"/>
              </a:rPr>
              <a:t>UI </a:t>
            </a: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설계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xmlns="" id="{80521D8F-E9BC-4086-98E4-917A37B8BABD}"/>
              </a:ext>
            </a:extLst>
          </p:cNvPr>
          <p:cNvSpPr txBox="1"/>
          <p:nvPr/>
        </p:nvSpPr>
        <p:spPr>
          <a:xfrm>
            <a:off x="426858" y="4594808"/>
            <a:ext cx="1200906" cy="1792730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경영정보</a:t>
            </a: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포털</a:t>
            </a:r>
          </a:p>
        </p:txBody>
      </p:sp>
      <p:sp>
        <p:nvSpPr>
          <p:cNvPr id="93" name="AutoShape 550" descr="박스1">
            <a:extLst>
              <a:ext uri="{FF2B5EF4-FFF2-40B4-BE49-F238E27FC236}">
                <a16:creationId xmlns:a16="http://schemas.microsoft.com/office/drawing/2014/main" xmlns="" id="{A8C2F96B-FA4A-4D39-A7A9-5F75B2089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537417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개인화 서비스</a:t>
            </a:r>
          </a:p>
        </p:txBody>
      </p:sp>
      <p:sp>
        <p:nvSpPr>
          <p:cNvPr id="94" name="AutoShape 550" descr="박스1">
            <a:extLst>
              <a:ext uri="{FF2B5EF4-FFF2-40B4-BE49-F238E27FC236}">
                <a16:creationId xmlns:a16="http://schemas.microsoft.com/office/drawing/2014/main" xmlns="" id="{E6E31CEB-DF64-4245-9C34-A74BD5D84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5633961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통합인증 체계</a:t>
            </a:r>
          </a:p>
        </p:txBody>
      </p:sp>
      <p:sp>
        <p:nvSpPr>
          <p:cNvPr id="95" name="AutoShape 550" descr="박스1">
            <a:extLst>
              <a:ext uri="{FF2B5EF4-FFF2-40B4-BE49-F238E27FC236}">
                <a16:creationId xmlns:a16="http://schemas.microsoft.com/office/drawing/2014/main" xmlns="" id="{82A2752D-849C-4AC0-9AAC-74457145D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5893749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가이드형 도움말 구축</a:t>
            </a:r>
          </a:p>
        </p:txBody>
      </p:sp>
      <p:sp>
        <p:nvSpPr>
          <p:cNvPr id="96" name="AutoShape 550" descr="박스1">
            <a:extLst>
              <a:ext uri="{FF2B5EF4-FFF2-40B4-BE49-F238E27FC236}">
                <a16:creationId xmlns:a16="http://schemas.microsoft.com/office/drawing/2014/main" xmlns="" id="{C2FA663B-5D70-4217-A7D5-67CB21891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6153538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포털 단계적 구축 방안</a:t>
            </a:r>
          </a:p>
        </p:txBody>
      </p:sp>
      <p:sp>
        <p:nvSpPr>
          <p:cNvPr id="97" name="AutoShape 550" descr="박스1">
            <a:extLst>
              <a:ext uri="{FF2B5EF4-FFF2-40B4-BE49-F238E27FC236}">
                <a16:creationId xmlns:a16="http://schemas.microsoft.com/office/drawing/2014/main" xmlns="" id="{1E5CA4A5-237F-4762-9EFC-161999448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488378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 포털 구축</a:t>
            </a:r>
          </a:p>
        </p:txBody>
      </p:sp>
      <p:sp>
        <p:nvSpPr>
          <p:cNvPr id="98" name="AutoShape 550" descr="박스1">
            <a:extLst>
              <a:ext uri="{FF2B5EF4-FFF2-40B4-BE49-F238E27FC236}">
                <a16:creationId xmlns:a16="http://schemas.microsoft.com/office/drawing/2014/main" xmlns="" id="{38C29943-2C02-4C79-BC80-26089234F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449296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모바일 서비스 지원기반 마련</a:t>
            </a:r>
          </a:p>
        </p:txBody>
      </p:sp>
      <p:sp>
        <p:nvSpPr>
          <p:cNvPr id="99" name="AutoShape 550" descr="박스1">
            <a:extLst>
              <a:ext uri="{FF2B5EF4-FFF2-40B4-BE49-F238E27FC236}">
                <a16:creationId xmlns:a16="http://schemas.microsoft.com/office/drawing/2014/main" xmlns="" id="{9FB4D465-2719-49CF-88FB-477359630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968837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의사결정 통계시스템 구축</a:t>
            </a:r>
          </a:p>
        </p:txBody>
      </p:sp>
      <p:sp>
        <p:nvSpPr>
          <p:cNvPr id="100" name="AutoShape 550" descr="박스1">
            <a:extLst>
              <a:ext uri="{FF2B5EF4-FFF2-40B4-BE49-F238E27FC236}">
                <a16:creationId xmlns:a16="http://schemas.microsoft.com/office/drawing/2014/main" xmlns="" id="{A9F457E9-B301-4E89-AF7C-4AD0A4062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007919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기금지원관리시스템 구축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01" name="AutoShape 550" descr="박스1">
            <a:extLst>
              <a:ext uri="{FF2B5EF4-FFF2-40B4-BE49-F238E27FC236}">
                <a16:creationId xmlns:a16="http://schemas.microsoft.com/office/drawing/2014/main" xmlns="" id="{3793FEA1-9545-42DD-A7B5-8CED771A8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929755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연계 표준 프레임워크 구축</a:t>
            </a:r>
          </a:p>
        </p:txBody>
      </p:sp>
      <p:sp>
        <p:nvSpPr>
          <p:cNvPr id="102" name="AutoShape 550" descr="박스1">
            <a:extLst>
              <a:ext uri="{FF2B5EF4-FFF2-40B4-BE49-F238E27FC236}">
                <a16:creationId xmlns:a16="http://schemas.microsoft.com/office/drawing/2014/main" xmlns="" id="{9DF99590-F74C-44BD-B2B9-CD0056368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527460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인적자원관리시스템 구축</a:t>
            </a:r>
          </a:p>
        </p:txBody>
      </p:sp>
      <p:sp>
        <p:nvSpPr>
          <p:cNvPr id="103" name="AutoShape 550" descr="박스1">
            <a:extLst>
              <a:ext uri="{FF2B5EF4-FFF2-40B4-BE49-F238E27FC236}">
                <a16:creationId xmlns:a16="http://schemas.microsoft.com/office/drawing/2014/main" xmlns="" id="{C5BA63A6-C1DE-4F5D-8EB5-31352E5DA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047001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통합재무정보시스템 구축</a:t>
            </a:r>
          </a:p>
        </p:txBody>
      </p:sp>
      <p:sp>
        <p:nvSpPr>
          <p:cNvPr id="105" name="AutoShape 550" descr="박스1">
            <a:extLst>
              <a:ext uri="{FF2B5EF4-FFF2-40B4-BE49-F238E27FC236}">
                <a16:creationId xmlns:a16="http://schemas.microsoft.com/office/drawing/2014/main" xmlns="" id="{75E13EB7-6BB7-4782-9180-93B80B482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410214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메타데이터관리시스템 구축</a:t>
            </a:r>
          </a:p>
        </p:txBody>
      </p:sp>
      <p:sp>
        <p:nvSpPr>
          <p:cNvPr id="106" name="AutoShape 550" descr="박스1">
            <a:extLst>
              <a:ext uri="{FF2B5EF4-FFF2-40B4-BE49-F238E27FC236}">
                <a16:creationId xmlns:a16="http://schemas.microsoft.com/office/drawing/2014/main" xmlns="" id="{55A31CB8-8F54-4F29-9473-2F678A163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890672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데이터품질관리시스템 구축</a:t>
            </a:r>
          </a:p>
        </p:txBody>
      </p: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xmlns="" id="{413FC9C4-467A-44D5-99FB-814971676892}"/>
              </a:ext>
            </a:extLst>
          </p:cNvPr>
          <p:cNvCxnSpPr>
            <a:cxnSpLocks/>
            <a:stCxn id="73" idx="3"/>
            <a:endCxn id="100" idx="1"/>
          </p:cNvCxnSpPr>
          <p:nvPr/>
        </p:nvCxnSpPr>
        <p:spPr bwMode="auto">
          <a:xfrm>
            <a:off x="5067234" y="2157740"/>
            <a:ext cx="854079" cy="102959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xmlns="" id="{3A03A249-C086-4196-AA6D-21323273A151}"/>
              </a:ext>
            </a:extLst>
          </p:cNvPr>
          <p:cNvCxnSpPr>
            <a:cxnSpLocks/>
            <a:stCxn id="74" idx="3"/>
            <a:endCxn id="100" idx="1"/>
          </p:cNvCxnSpPr>
          <p:nvPr/>
        </p:nvCxnSpPr>
        <p:spPr bwMode="auto">
          <a:xfrm>
            <a:off x="5067234" y="2420613"/>
            <a:ext cx="854079" cy="76672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xmlns="" id="{EA8F627B-F866-48C8-BC0B-95AF7398B737}"/>
              </a:ext>
            </a:extLst>
          </p:cNvPr>
          <p:cNvCxnSpPr>
            <a:cxnSpLocks/>
            <a:stCxn id="76" idx="3"/>
            <a:endCxn id="100" idx="1"/>
          </p:cNvCxnSpPr>
          <p:nvPr/>
        </p:nvCxnSpPr>
        <p:spPr bwMode="auto">
          <a:xfrm>
            <a:off x="5067590" y="2683486"/>
            <a:ext cx="853723" cy="50384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xmlns="" id="{CF8F77C4-BC63-46DC-BFF2-4E4F22686AF6}"/>
              </a:ext>
            </a:extLst>
          </p:cNvPr>
          <p:cNvCxnSpPr>
            <a:cxnSpLocks/>
            <a:stCxn id="79" idx="3"/>
            <a:endCxn id="100" idx="1"/>
          </p:cNvCxnSpPr>
          <p:nvPr/>
        </p:nvCxnSpPr>
        <p:spPr bwMode="auto">
          <a:xfrm>
            <a:off x="5067234" y="2946360"/>
            <a:ext cx="854079" cy="24097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xmlns="" id="{6FA5BC0A-2D99-4D33-92B7-6D1FD4844060}"/>
              </a:ext>
            </a:extLst>
          </p:cNvPr>
          <p:cNvCxnSpPr>
            <a:cxnSpLocks/>
            <a:stCxn id="80" idx="3"/>
            <a:endCxn id="100" idx="1"/>
          </p:cNvCxnSpPr>
          <p:nvPr/>
        </p:nvCxnSpPr>
        <p:spPr bwMode="auto">
          <a:xfrm flipV="1">
            <a:off x="5067590" y="3187335"/>
            <a:ext cx="853723" cy="2189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xmlns="" id="{A57E872A-01DD-4964-9B78-8CEB3B3200CF}"/>
              </a:ext>
            </a:extLst>
          </p:cNvPr>
          <p:cNvCxnSpPr>
            <a:cxnSpLocks/>
            <a:stCxn id="82" idx="3"/>
            <a:endCxn id="102" idx="1"/>
          </p:cNvCxnSpPr>
          <p:nvPr/>
        </p:nvCxnSpPr>
        <p:spPr bwMode="auto">
          <a:xfrm flipV="1">
            <a:off x="5067234" y="2706876"/>
            <a:ext cx="854079" cy="85038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xmlns="" id="{168BE718-B693-48F7-9F89-45E411486C3F}"/>
              </a:ext>
            </a:extLst>
          </p:cNvPr>
          <p:cNvCxnSpPr>
            <a:cxnSpLocks/>
            <a:stCxn id="83" idx="3"/>
            <a:endCxn id="102" idx="1"/>
          </p:cNvCxnSpPr>
          <p:nvPr/>
        </p:nvCxnSpPr>
        <p:spPr bwMode="auto">
          <a:xfrm flipV="1">
            <a:off x="5067234" y="2706876"/>
            <a:ext cx="854079" cy="110817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xmlns="" id="{3E7ABEAB-704B-4C5F-9359-042F7616B9D1}"/>
              </a:ext>
            </a:extLst>
          </p:cNvPr>
          <p:cNvCxnSpPr>
            <a:cxnSpLocks/>
            <a:stCxn id="84" idx="3"/>
            <a:endCxn id="102" idx="1"/>
          </p:cNvCxnSpPr>
          <p:nvPr/>
        </p:nvCxnSpPr>
        <p:spPr bwMode="auto">
          <a:xfrm flipV="1">
            <a:off x="5067590" y="2706876"/>
            <a:ext cx="853723" cy="136597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xmlns="" id="{7588842A-3AB7-44AB-919F-C3D47C3FBC9F}"/>
              </a:ext>
            </a:extLst>
          </p:cNvPr>
          <p:cNvCxnSpPr>
            <a:cxnSpLocks/>
            <a:endCxn id="97" idx="1"/>
          </p:cNvCxnSpPr>
          <p:nvPr/>
        </p:nvCxnSpPr>
        <p:spPr bwMode="auto">
          <a:xfrm flipV="1">
            <a:off x="5067234" y="3667794"/>
            <a:ext cx="854079" cy="105735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5" name="직선 화살표 연결선 124">
            <a:extLst>
              <a:ext uri="{FF2B5EF4-FFF2-40B4-BE49-F238E27FC236}">
                <a16:creationId xmlns:a16="http://schemas.microsoft.com/office/drawing/2014/main" xmlns="" id="{266B1D81-6D75-4989-8B5F-88C5A196F03C}"/>
              </a:ext>
            </a:extLst>
          </p:cNvPr>
          <p:cNvCxnSpPr>
            <a:cxnSpLocks/>
            <a:endCxn id="97" idx="1"/>
          </p:cNvCxnSpPr>
          <p:nvPr/>
        </p:nvCxnSpPr>
        <p:spPr bwMode="auto">
          <a:xfrm flipV="1">
            <a:off x="5067234" y="3667794"/>
            <a:ext cx="854079" cy="130049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9" name="직선 화살표 연결선 128">
            <a:extLst>
              <a:ext uri="{FF2B5EF4-FFF2-40B4-BE49-F238E27FC236}">
                <a16:creationId xmlns:a16="http://schemas.microsoft.com/office/drawing/2014/main" xmlns="" id="{9BB25970-18B8-4536-8B50-5E56AC4E813D}"/>
              </a:ext>
            </a:extLst>
          </p:cNvPr>
          <p:cNvCxnSpPr>
            <a:cxnSpLocks/>
            <a:stCxn id="91" idx="3"/>
            <a:endCxn id="97" idx="1"/>
          </p:cNvCxnSpPr>
          <p:nvPr/>
        </p:nvCxnSpPr>
        <p:spPr bwMode="auto">
          <a:xfrm flipV="1">
            <a:off x="5067590" y="3667794"/>
            <a:ext cx="853723" cy="156359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36" name="직선 화살표 연결선 135">
            <a:extLst>
              <a:ext uri="{FF2B5EF4-FFF2-40B4-BE49-F238E27FC236}">
                <a16:creationId xmlns:a16="http://schemas.microsoft.com/office/drawing/2014/main" xmlns="" id="{AF26E35A-DC85-4E95-821B-A6A3FEF8FE39}"/>
              </a:ext>
            </a:extLst>
          </p:cNvPr>
          <p:cNvCxnSpPr>
            <a:cxnSpLocks/>
            <a:stCxn id="93" idx="3"/>
            <a:endCxn id="97" idx="1"/>
          </p:cNvCxnSpPr>
          <p:nvPr/>
        </p:nvCxnSpPr>
        <p:spPr bwMode="auto">
          <a:xfrm flipV="1">
            <a:off x="5067234" y="3667794"/>
            <a:ext cx="854079" cy="182337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xmlns="" id="{F1B79645-D804-4DC6-8662-624D290F7936}"/>
              </a:ext>
            </a:extLst>
          </p:cNvPr>
          <p:cNvCxnSpPr>
            <a:cxnSpLocks/>
            <a:stCxn id="94" idx="3"/>
            <a:endCxn id="97" idx="1"/>
          </p:cNvCxnSpPr>
          <p:nvPr/>
        </p:nvCxnSpPr>
        <p:spPr bwMode="auto">
          <a:xfrm flipV="1">
            <a:off x="5067590" y="3667794"/>
            <a:ext cx="853723" cy="208316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49" name="직선 화살표 연결선 148">
            <a:extLst>
              <a:ext uri="{FF2B5EF4-FFF2-40B4-BE49-F238E27FC236}">
                <a16:creationId xmlns:a16="http://schemas.microsoft.com/office/drawing/2014/main" xmlns="" id="{37450053-3308-4D33-A54D-7A83C22324BA}"/>
              </a:ext>
            </a:extLst>
          </p:cNvPr>
          <p:cNvCxnSpPr>
            <a:cxnSpLocks/>
            <a:stCxn id="95" idx="3"/>
            <a:endCxn id="97" idx="1"/>
          </p:cNvCxnSpPr>
          <p:nvPr/>
        </p:nvCxnSpPr>
        <p:spPr bwMode="auto">
          <a:xfrm flipV="1">
            <a:off x="5067234" y="3667794"/>
            <a:ext cx="854079" cy="234295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xmlns="" id="{7573CC7A-F265-454F-9F3C-698DB577B1D0}"/>
              </a:ext>
            </a:extLst>
          </p:cNvPr>
          <p:cNvCxnSpPr>
            <a:cxnSpLocks/>
            <a:stCxn id="96" idx="3"/>
            <a:endCxn id="97" idx="1"/>
          </p:cNvCxnSpPr>
          <p:nvPr/>
        </p:nvCxnSpPr>
        <p:spPr bwMode="auto">
          <a:xfrm flipV="1">
            <a:off x="5067590" y="3667794"/>
            <a:ext cx="853723" cy="260274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xmlns="" id="{0322FE74-2332-43D5-8175-F6C4421DAE34}"/>
              </a:ext>
            </a:extLst>
          </p:cNvPr>
          <p:cNvCxnSpPr>
            <a:cxnSpLocks/>
            <a:endCxn id="102" idx="1"/>
          </p:cNvCxnSpPr>
          <p:nvPr/>
        </p:nvCxnSpPr>
        <p:spPr bwMode="auto">
          <a:xfrm flipV="1">
            <a:off x="5067234" y="2706876"/>
            <a:ext cx="854079" cy="162376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01932203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이행과제를 도출하기 위해 미래모델 개선과제 및 개선 세부과제에서 정의한 주요 내용을 기준으로 세부 추진 내용을 정의하고 이행과제 대상을 정의함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2.1.1 </a:t>
            </a:r>
            <a:r>
              <a:rPr lang="ko-KR" altLang="en-US" dirty="0"/>
              <a:t>이행과제 도출 </a:t>
            </a:r>
            <a:r>
              <a:rPr lang="en-US" altLang="ko-KR" dirty="0"/>
              <a:t>(3/5)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123" name="그룹 122"/>
          <p:cNvGrpSpPr/>
          <p:nvPr/>
        </p:nvGrpSpPr>
        <p:grpSpPr>
          <a:xfrm>
            <a:off x="2333899" y="1513231"/>
            <a:ext cx="2160000" cy="329005"/>
            <a:chOff x="2144688" y="1513231"/>
            <a:chExt cx="2160000" cy="329005"/>
          </a:xfrm>
        </p:grpSpPr>
        <p:sp>
          <p:nvSpPr>
            <p:cNvPr id="61" name="Text Box 4"/>
            <p:cNvSpPr txBox="1">
              <a:spLocks noChangeArrowheads="1"/>
            </p:cNvSpPr>
            <p:nvPr/>
          </p:nvSpPr>
          <p:spPr bwMode="auto">
            <a:xfrm>
              <a:off x="2774244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세부과제</a:t>
              </a:r>
            </a:p>
          </p:txBody>
        </p:sp>
        <p:sp>
          <p:nvSpPr>
            <p:cNvPr id="62" name="Line 5"/>
            <p:cNvSpPr>
              <a:spLocks noChangeShapeType="1"/>
            </p:cNvSpPr>
            <p:nvPr/>
          </p:nvSpPr>
          <p:spPr bwMode="auto">
            <a:xfrm>
              <a:off x="2144688" y="1842236"/>
              <a:ext cx="2160000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63" name="그룹 47"/>
          <p:cNvGrpSpPr>
            <a:grpSpLocks/>
          </p:cNvGrpSpPr>
          <p:nvPr/>
        </p:nvGrpSpPr>
        <p:grpSpPr bwMode="auto">
          <a:xfrm>
            <a:off x="6841121" y="1527446"/>
            <a:ext cx="1906587" cy="318577"/>
            <a:chOff x="7545836" y="2024545"/>
            <a:chExt cx="1907161" cy="318795"/>
          </a:xfrm>
        </p:grpSpPr>
        <p:sp>
          <p:nvSpPr>
            <p:cNvPr id="64" name="Text Box 4"/>
            <p:cNvSpPr txBox="1">
              <a:spLocks noChangeArrowheads="1"/>
            </p:cNvSpPr>
            <p:nvPr/>
          </p:nvSpPr>
          <p:spPr bwMode="auto">
            <a:xfrm>
              <a:off x="7780437" y="2024545"/>
              <a:ext cx="1427196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추진 내용</a:t>
              </a:r>
            </a:p>
          </p:txBody>
        </p:sp>
        <p:sp>
          <p:nvSpPr>
            <p:cNvPr id="65" name="Line 5"/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122" name="그룹 121"/>
          <p:cNvGrpSpPr/>
          <p:nvPr/>
        </p:nvGrpSpPr>
        <p:grpSpPr>
          <a:xfrm>
            <a:off x="531036" y="1513231"/>
            <a:ext cx="975658" cy="329005"/>
            <a:chOff x="691543" y="1513231"/>
            <a:chExt cx="975658" cy="329005"/>
          </a:xfrm>
        </p:grpSpPr>
        <p:sp>
          <p:nvSpPr>
            <p:cNvPr id="66" name="Text Box 4"/>
            <p:cNvSpPr txBox="1">
              <a:spLocks noChangeArrowheads="1"/>
            </p:cNvSpPr>
            <p:nvPr/>
          </p:nvSpPr>
          <p:spPr bwMode="auto">
            <a:xfrm>
              <a:off x="728928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개선과제</a:t>
              </a:r>
            </a:p>
          </p:txBody>
        </p:sp>
        <p:sp>
          <p:nvSpPr>
            <p:cNvPr id="67" name="Line 5"/>
            <p:cNvSpPr>
              <a:spLocks noChangeShapeType="1"/>
            </p:cNvSpPr>
            <p:nvPr/>
          </p:nvSpPr>
          <p:spPr bwMode="auto">
            <a:xfrm>
              <a:off x="691543" y="1842236"/>
              <a:ext cx="97565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69" name="Rectangle 5">
            <a:extLst>
              <a:ext uri="{FF2B5EF4-FFF2-40B4-BE49-F238E27FC236}">
                <a16:creationId xmlns:a16="http://schemas.microsoft.com/office/drawing/2014/main" xmlns="" id="{CB9998FD-B2E6-4DBA-90B0-5478305D6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1988840"/>
            <a:ext cx="4857163" cy="865648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3" name="AutoShape 550" descr="박스1">
            <a:extLst>
              <a:ext uri="{FF2B5EF4-FFF2-40B4-BE49-F238E27FC236}">
                <a16:creationId xmlns:a16="http://schemas.microsoft.com/office/drawing/2014/main" xmlns="" id="{DC6CCBDB-BAFA-4B65-BB07-E299FDB07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04074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통합재무정보시스템 구축</a:t>
            </a:r>
          </a:p>
        </p:txBody>
      </p:sp>
      <p:sp>
        <p:nvSpPr>
          <p:cNvPr id="74" name="AutoShape 550" descr="박스1">
            <a:extLst>
              <a:ext uri="{FF2B5EF4-FFF2-40B4-BE49-F238E27FC236}">
                <a16:creationId xmlns:a16="http://schemas.microsoft.com/office/drawing/2014/main" xmlns="" id="{C10C636F-DF32-42C6-81D3-DB40CE7B8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30361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인적자원관리시스템 구축</a:t>
            </a:r>
          </a:p>
        </p:txBody>
      </p:sp>
      <p:sp>
        <p:nvSpPr>
          <p:cNvPr id="76" name="AutoShape 550" descr="박스1">
            <a:extLst>
              <a:ext uri="{FF2B5EF4-FFF2-40B4-BE49-F238E27FC236}">
                <a16:creationId xmlns:a16="http://schemas.microsoft.com/office/drawing/2014/main" xmlns="" id="{9096A6C5-9D08-4B31-B320-C7F96C2A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2566486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기금지원관리시스템 구축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83C74C9C-07FC-4514-B602-6C9C91E881A0}"/>
              </a:ext>
            </a:extLst>
          </p:cNvPr>
          <p:cNvSpPr txBox="1"/>
          <p:nvPr/>
        </p:nvSpPr>
        <p:spPr>
          <a:xfrm>
            <a:off x="426858" y="2040739"/>
            <a:ext cx="1200906" cy="759747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경영정보</a:t>
            </a: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통합시스템</a:t>
            </a: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구축</a:t>
            </a: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xmlns="" id="{92E6443B-07E7-4B0E-9FDD-94C16FAA6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2883416"/>
            <a:ext cx="4857163" cy="865648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82" name="AutoShape 550" descr="박스1">
            <a:extLst>
              <a:ext uri="{FF2B5EF4-FFF2-40B4-BE49-F238E27FC236}">
                <a16:creationId xmlns:a16="http://schemas.microsoft.com/office/drawing/2014/main" xmlns="" id="{57B4DB39-24CA-480C-B9C7-E68BCC1D6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935315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필요정보 식별</a:t>
            </a:r>
          </a:p>
        </p:txBody>
      </p:sp>
      <p:sp>
        <p:nvSpPr>
          <p:cNvPr id="83" name="AutoShape 550" descr="박스1">
            <a:extLst>
              <a:ext uri="{FF2B5EF4-FFF2-40B4-BE49-F238E27FC236}">
                <a16:creationId xmlns:a16="http://schemas.microsoft.com/office/drawing/2014/main" xmlns="" id="{6AE33C68-2025-4B10-BFB6-3F8F5CF36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3193109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통계 시스템 구현 방안</a:t>
            </a:r>
          </a:p>
        </p:txBody>
      </p:sp>
      <p:sp>
        <p:nvSpPr>
          <p:cNvPr id="84" name="AutoShape 550" descr="박스1">
            <a:extLst>
              <a:ext uri="{FF2B5EF4-FFF2-40B4-BE49-F238E27FC236}">
                <a16:creationId xmlns:a16="http://schemas.microsoft.com/office/drawing/2014/main" xmlns="" id="{D8A2B2C0-1D27-46DF-8675-828CBE357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345090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통계시스템 고도화 방안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xmlns="" id="{28DB21E4-796D-46C8-B876-5FB436E5F064}"/>
              </a:ext>
            </a:extLst>
          </p:cNvPr>
          <p:cNvSpPr txBox="1"/>
          <p:nvPr/>
        </p:nvSpPr>
        <p:spPr>
          <a:xfrm>
            <a:off x="426858" y="2935314"/>
            <a:ext cx="1200906" cy="749589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의사결정지원</a:t>
            </a: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lang="ko-KR" altLang="en-US" sz="1100" b="1" kern="0" dirty="0">
                <a:latin typeface="+mn-ea"/>
              </a:rPr>
              <a:t>통계시스템</a:t>
            </a:r>
            <a:endParaRPr lang="en-US" altLang="ko-KR" sz="1100" b="1" kern="0" dirty="0"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구축</a:t>
            </a:r>
          </a:p>
        </p:txBody>
      </p:sp>
      <p:sp>
        <p:nvSpPr>
          <p:cNvPr id="88" name="Rectangle 5">
            <a:extLst>
              <a:ext uri="{FF2B5EF4-FFF2-40B4-BE49-F238E27FC236}">
                <a16:creationId xmlns:a16="http://schemas.microsoft.com/office/drawing/2014/main" xmlns="" id="{E7E85AFD-6F30-4EF8-8F1A-CAC614AE8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4442192"/>
            <a:ext cx="4857163" cy="858471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89" name="AutoShape 550" descr="박스1">
            <a:extLst>
              <a:ext uri="{FF2B5EF4-FFF2-40B4-BE49-F238E27FC236}">
                <a16:creationId xmlns:a16="http://schemas.microsoft.com/office/drawing/2014/main" xmlns="" id="{6C8191F8-4C55-459C-A08E-D7B8760FC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494092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모델</a:t>
            </a:r>
            <a:r>
              <a:rPr lang="en-US" altLang="ko-KR" sz="1000" kern="0" dirty="0">
                <a:solidFill>
                  <a:sysClr val="windowText" lastClr="000000"/>
                </a:solidFill>
                <a:latin typeface="+mn-ea"/>
              </a:rPr>
              <a:t>/</a:t>
            </a: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표준관리체계 마련</a:t>
            </a:r>
          </a:p>
        </p:txBody>
      </p:sp>
      <p:sp>
        <p:nvSpPr>
          <p:cNvPr id="90" name="AutoShape 550" descr="박스1">
            <a:extLst>
              <a:ext uri="{FF2B5EF4-FFF2-40B4-BE49-F238E27FC236}">
                <a16:creationId xmlns:a16="http://schemas.microsoft.com/office/drawing/2014/main" xmlns="" id="{62E63E3A-753A-4BE2-B1BE-87BC095AF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75388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메타데이터관리시스템 구축</a:t>
            </a:r>
          </a:p>
        </p:txBody>
      </p:sp>
      <p:sp>
        <p:nvSpPr>
          <p:cNvPr id="91" name="AutoShape 550" descr="박스1">
            <a:extLst>
              <a:ext uri="{FF2B5EF4-FFF2-40B4-BE49-F238E27FC236}">
                <a16:creationId xmlns:a16="http://schemas.microsoft.com/office/drawing/2014/main" xmlns="" id="{CB888232-468D-43C7-927F-FEE2CA1A7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5013668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데이터품질관리시스템 구축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xmlns="" id="{80521D8F-E9BC-4086-98E4-917A37B8BABD}"/>
              </a:ext>
            </a:extLst>
          </p:cNvPr>
          <p:cNvSpPr txBox="1"/>
          <p:nvPr/>
        </p:nvSpPr>
        <p:spPr>
          <a:xfrm>
            <a:off x="426858" y="4494091"/>
            <a:ext cx="1200906" cy="753577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데이터관리체계 지원 시스템 구축</a:t>
            </a:r>
          </a:p>
        </p:txBody>
      </p:sp>
      <p:sp>
        <p:nvSpPr>
          <p:cNvPr id="58" name="Rectangle 5">
            <a:extLst>
              <a:ext uri="{FF2B5EF4-FFF2-40B4-BE49-F238E27FC236}">
                <a16:creationId xmlns:a16="http://schemas.microsoft.com/office/drawing/2014/main" xmlns="" id="{DFB60F1B-05EA-42ED-A7B8-1F94E5CCF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3790462"/>
            <a:ext cx="4857163" cy="615440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59" name="AutoShape 550" descr="박스1">
            <a:extLst>
              <a:ext uri="{FF2B5EF4-FFF2-40B4-BE49-F238E27FC236}">
                <a16:creationId xmlns:a16="http://schemas.microsoft.com/office/drawing/2014/main" xmlns="" id="{E407AA0F-947A-4C32-A671-1334D4B98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3842361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모바일 서비스 대상 업무 선정</a:t>
            </a:r>
          </a:p>
        </p:txBody>
      </p:sp>
      <p:sp>
        <p:nvSpPr>
          <p:cNvPr id="68" name="AutoShape 550" descr="박스1">
            <a:extLst>
              <a:ext uri="{FF2B5EF4-FFF2-40B4-BE49-F238E27FC236}">
                <a16:creationId xmlns:a16="http://schemas.microsoft.com/office/drawing/2014/main" xmlns="" id="{6D3DBCE7-8E81-41A6-AC07-FEEA10E19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4100155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모바일 서비스 구현 방안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xmlns="" id="{337613AA-FE95-439B-B5E0-7AEB09993393}"/>
              </a:ext>
            </a:extLst>
          </p:cNvPr>
          <p:cNvSpPr txBox="1"/>
          <p:nvPr/>
        </p:nvSpPr>
        <p:spPr>
          <a:xfrm>
            <a:off x="426858" y="3842360"/>
            <a:ext cx="1200906" cy="491795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모바일 서비스</a:t>
            </a:r>
            <a:endParaRPr kumimoji="0" lang="en-US" altLang="ko-KR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lang="ko-KR" altLang="en-US" sz="1100" b="1" kern="0" dirty="0">
                <a:latin typeface="+mn-ea"/>
              </a:rPr>
              <a:t>지원기반 마련</a:t>
            </a:r>
            <a:endParaRPr kumimoji="0" lang="ko-KR" altLang="en-US" sz="1100" b="1" i="0" u="none" strike="noStrike" kern="0" cap="none" spc="0" normalizeH="0" baseline="0" noProof="0" dirty="0">
              <a:ln>
                <a:noFill/>
              </a:ln>
              <a:uLnTx/>
              <a:uFillTx/>
              <a:latin typeface="+mn-ea"/>
            </a:endParaRPr>
          </a:p>
        </p:txBody>
      </p:sp>
      <p:sp>
        <p:nvSpPr>
          <p:cNvPr id="75" name="Rectangle 5">
            <a:extLst>
              <a:ext uri="{FF2B5EF4-FFF2-40B4-BE49-F238E27FC236}">
                <a16:creationId xmlns:a16="http://schemas.microsoft.com/office/drawing/2014/main" xmlns="" id="{EDCA8243-19EA-4EA0-9F75-D043EF2EC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5352562"/>
            <a:ext cx="4857163" cy="858471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7" name="AutoShape 550" descr="박스1">
            <a:extLst>
              <a:ext uri="{FF2B5EF4-FFF2-40B4-BE49-F238E27FC236}">
                <a16:creationId xmlns:a16="http://schemas.microsoft.com/office/drawing/2014/main" xmlns="" id="{08B3AD24-058F-4192-AA4E-FE4935CE8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5404462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통합연계 대상 식별</a:t>
            </a:r>
          </a:p>
        </p:txBody>
      </p:sp>
      <p:sp>
        <p:nvSpPr>
          <p:cNvPr id="78" name="AutoShape 550" descr="박스1">
            <a:extLst>
              <a:ext uri="{FF2B5EF4-FFF2-40B4-BE49-F238E27FC236}">
                <a16:creationId xmlns:a16="http://schemas.microsoft.com/office/drawing/2014/main" xmlns="" id="{EB959F06-7D07-4421-8300-E3E4E831D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566425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통합정보 연계 방안 수립</a:t>
            </a:r>
          </a:p>
        </p:txBody>
      </p:sp>
      <p:sp>
        <p:nvSpPr>
          <p:cNvPr id="87" name="AutoShape 550" descr="박스1">
            <a:extLst>
              <a:ext uri="{FF2B5EF4-FFF2-40B4-BE49-F238E27FC236}">
                <a16:creationId xmlns:a16="http://schemas.microsoft.com/office/drawing/2014/main" xmlns="" id="{7F200BFA-CF02-40AD-9A4B-36F45F98E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5924038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연계 표준 프레임워크 구축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xmlns="" id="{3243BC93-FC78-484A-A097-66FE04654D92}"/>
              </a:ext>
            </a:extLst>
          </p:cNvPr>
          <p:cNvSpPr txBox="1"/>
          <p:nvPr/>
        </p:nvSpPr>
        <p:spPr>
          <a:xfrm>
            <a:off x="426858" y="5404461"/>
            <a:ext cx="1200906" cy="753577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연계통합관리체계 마련</a:t>
            </a:r>
          </a:p>
        </p:txBody>
      </p: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xmlns="" id="{58D0C7F3-929D-49F9-92B5-170AA52530E7}"/>
              </a:ext>
            </a:extLst>
          </p:cNvPr>
          <p:cNvCxnSpPr>
            <a:cxnSpLocks/>
            <a:stCxn id="73" idx="3"/>
            <a:endCxn id="105" idx="1"/>
          </p:cNvCxnSpPr>
          <p:nvPr/>
        </p:nvCxnSpPr>
        <p:spPr bwMode="auto">
          <a:xfrm>
            <a:off x="5067234" y="2157740"/>
            <a:ext cx="854079" cy="6867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sp>
        <p:nvSpPr>
          <p:cNvPr id="99" name="AutoShape 550" descr="박스1">
            <a:extLst>
              <a:ext uri="{FF2B5EF4-FFF2-40B4-BE49-F238E27FC236}">
                <a16:creationId xmlns:a16="http://schemas.microsoft.com/office/drawing/2014/main" xmlns="" id="{5310464B-5ECC-4F82-A1BE-E82286B5F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488378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 포털 구축</a:t>
            </a:r>
          </a:p>
        </p:txBody>
      </p:sp>
      <p:sp>
        <p:nvSpPr>
          <p:cNvPr id="100" name="AutoShape 550" descr="박스1">
            <a:extLst>
              <a:ext uri="{FF2B5EF4-FFF2-40B4-BE49-F238E27FC236}">
                <a16:creationId xmlns:a16="http://schemas.microsoft.com/office/drawing/2014/main" xmlns="" id="{CC61F936-3C5C-4847-80B1-E90FC17ED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449296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모바일 서비스 지원기반 마련</a:t>
            </a:r>
          </a:p>
        </p:txBody>
      </p:sp>
      <p:sp>
        <p:nvSpPr>
          <p:cNvPr id="101" name="AutoShape 550" descr="박스1">
            <a:extLst>
              <a:ext uri="{FF2B5EF4-FFF2-40B4-BE49-F238E27FC236}">
                <a16:creationId xmlns:a16="http://schemas.microsoft.com/office/drawing/2014/main" xmlns="" id="{FF167494-E240-4C6B-9DC6-D82DBB5BF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968837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의사결정 통계시스템 구축</a:t>
            </a:r>
          </a:p>
        </p:txBody>
      </p:sp>
      <p:sp>
        <p:nvSpPr>
          <p:cNvPr id="102" name="AutoShape 550" descr="박스1">
            <a:extLst>
              <a:ext uri="{FF2B5EF4-FFF2-40B4-BE49-F238E27FC236}">
                <a16:creationId xmlns:a16="http://schemas.microsoft.com/office/drawing/2014/main" xmlns="" id="{6EF4D75F-B37A-45AE-ACA0-20A1D933A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007919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기금지원관리시스템 구축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03" name="AutoShape 550" descr="박스1">
            <a:extLst>
              <a:ext uri="{FF2B5EF4-FFF2-40B4-BE49-F238E27FC236}">
                <a16:creationId xmlns:a16="http://schemas.microsoft.com/office/drawing/2014/main" xmlns="" id="{2C8B6509-4FB6-4A52-B168-F4304BBC8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929755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연계 표준 프레임워크 구축</a:t>
            </a:r>
          </a:p>
        </p:txBody>
      </p:sp>
      <p:sp>
        <p:nvSpPr>
          <p:cNvPr id="104" name="AutoShape 550" descr="박스1">
            <a:extLst>
              <a:ext uri="{FF2B5EF4-FFF2-40B4-BE49-F238E27FC236}">
                <a16:creationId xmlns:a16="http://schemas.microsoft.com/office/drawing/2014/main" xmlns="" id="{40A106E7-0485-4FFE-BA96-34B0728FF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527460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인적자원관리시스템 구축</a:t>
            </a:r>
          </a:p>
        </p:txBody>
      </p:sp>
      <p:sp>
        <p:nvSpPr>
          <p:cNvPr id="105" name="AutoShape 550" descr="박스1">
            <a:extLst>
              <a:ext uri="{FF2B5EF4-FFF2-40B4-BE49-F238E27FC236}">
                <a16:creationId xmlns:a16="http://schemas.microsoft.com/office/drawing/2014/main" xmlns="" id="{EC1ED83C-0596-4FF4-8C3B-7A5F58E7A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047001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통합재무정보시스템 구축</a:t>
            </a:r>
          </a:p>
        </p:txBody>
      </p:sp>
      <p:sp>
        <p:nvSpPr>
          <p:cNvPr id="107" name="AutoShape 550" descr="박스1">
            <a:extLst>
              <a:ext uri="{FF2B5EF4-FFF2-40B4-BE49-F238E27FC236}">
                <a16:creationId xmlns:a16="http://schemas.microsoft.com/office/drawing/2014/main" xmlns="" id="{1D9C2095-8335-479E-BD35-BAA2F4C30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410214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메타데이터관리시스템 구축</a:t>
            </a:r>
          </a:p>
        </p:txBody>
      </p:sp>
      <p:sp>
        <p:nvSpPr>
          <p:cNvPr id="108" name="AutoShape 550" descr="박스1">
            <a:extLst>
              <a:ext uri="{FF2B5EF4-FFF2-40B4-BE49-F238E27FC236}">
                <a16:creationId xmlns:a16="http://schemas.microsoft.com/office/drawing/2014/main" xmlns="" id="{16B4AA52-C816-4A0D-9430-CBC72C188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890672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데이터품질관리시스템 구축</a:t>
            </a:r>
          </a:p>
        </p:txBody>
      </p: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xmlns="" id="{0B11FF08-8480-4201-A17D-F490F14E1486}"/>
              </a:ext>
            </a:extLst>
          </p:cNvPr>
          <p:cNvCxnSpPr>
            <a:cxnSpLocks/>
            <a:stCxn id="74" idx="3"/>
            <a:endCxn id="104" idx="1"/>
          </p:cNvCxnSpPr>
          <p:nvPr/>
        </p:nvCxnSpPr>
        <p:spPr bwMode="auto">
          <a:xfrm>
            <a:off x="5067234" y="2420613"/>
            <a:ext cx="854079" cy="286263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0" name="직선 화살표 연결선 109">
            <a:extLst>
              <a:ext uri="{FF2B5EF4-FFF2-40B4-BE49-F238E27FC236}">
                <a16:creationId xmlns:a16="http://schemas.microsoft.com/office/drawing/2014/main" xmlns="" id="{66ECCA8C-54FA-4F2D-8BB3-A55219038B5D}"/>
              </a:ext>
            </a:extLst>
          </p:cNvPr>
          <p:cNvCxnSpPr>
            <a:cxnSpLocks/>
            <a:stCxn id="76" idx="3"/>
            <a:endCxn id="102" idx="1"/>
          </p:cNvCxnSpPr>
          <p:nvPr/>
        </p:nvCxnSpPr>
        <p:spPr bwMode="auto">
          <a:xfrm>
            <a:off x="5067590" y="2683486"/>
            <a:ext cx="853723" cy="50384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xmlns="" id="{94C29E71-5EAB-4150-A7A4-42B34809A5AC}"/>
              </a:ext>
            </a:extLst>
          </p:cNvPr>
          <p:cNvCxnSpPr>
            <a:cxnSpLocks/>
            <a:stCxn id="82" idx="3"/>
            <a:endCxn id="101" idx="1"/>
          </p:cNvCxnSpPr>
          <p:nvPr/>
        </p:nvCxnSpPr>
        <p:spPr bwMode="auto">
          <a:xfrm>
            <a:off x="5067234" y="3052315"/>
            <a:ext cx="854079" cy="109593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xmlns="" id="{4D5349B3-9869-4C03-8036-C2BB3E382FDB}"/>
              </a:ext>
            </a:extLst>
          </p:cNvPr>
          <p:cNvCxnSpPr>
            <a:cxnSpLocks/>
            <a:stCxn id="83" idx="3"/>
            <a:endCxn id="101" idx="1"/>
          </p:cNvCxnSpPr>
          <p:nvPr/>
        </p:nvCxnSpPr>
        <p:spPr bwMode="auto">
          <a:xfrm>
            <a:off x="5067234" y="3310109"/>
            <a:ext cx="854079" cy="83814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xmlns="" id="{3960003A-EE79-40F6-BE47-0770118CF1D9}"/>
              </a:ext>
            </a:extLst>
          </p:cNvPr>
          <p:cNvCxnSpPr>
            <a:cxnSpLocks/>
            <a:stCxn id="84" idx="3"/>
            <a:endCxn id="101" idx="1"/>
          </p:cNvCxnSpPr>
          <p:nvPr/>
        </p:nvCxnSpPr>
        <p:spPr bwMode="auto">
          <a:xfrm>
            <a:off x="5067590" y="3567903"/>
            <a:ext cx="853723" cy="58035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xmlns="" id="{9E768957-8913-4315-9D2A-705C9FD6D930}"/>
              </a:ext>
            </a:extLst>
          </p:cNvPr>
          <p:cNvCxnSpPr>
            <a:cxnSpLocks/>
            <a:stCxn id="59" idx="3"/>
            <a:endCxn id="100" idx="1"/>
          </p:cNvCxnSpPr>
          <p:nvPr/>
        </p:nvCxnSpPr>
        <p:spPr bwMode="auto">
          <a:xfrm>
            <a:off x="5067234" y="3959361"/>
            <a:ext cx="854079" cy="66935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xmlns="" id="{C7789530-F7F3-4DCF-818B-57BD10F62D29}"/>
              </a:ext>
            </a:extLst>
          </p:cNvPr>
          <p:cNvCxnSpPr>
            <a:cxnSpLocks/>
            <a:stCxn id="68" idx="3"/>
            <a:endCxn id="100" idx="1"/>
          </p:cNvCxnSpPr>
          <p:nvPr/>
        </p:nvCxnSpPr>
        <p:spPr bwMode="auto">
          <a:xfrm>
            <a:off x="5067234" y="4217155"/>
            <a:ext cx="854079" cy="41155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xmlns="" id="{842E590D-127E-47B8-806E-8C720ECE2DAB}"/>
              </a:ext>
            </a:extLst>
          </p:cNvPr>
          <p:cNvCxnSpPr>
            <a:cxnSpLocks/>
            <a:stCxn id="89" idx="3"/>
            <a:endCxn id="107" idx="1"/>
          </p:cNvCxnSpPr>
          <p:nvPr/>
        </p:nvCxnSpPr>
        <p:spPr bwMode="auto">
          <a:xfrm>
            <a:off x="5067234" y="4611092"/>
            <a:ext cx="854079" cy="97853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7" name="직선 화살표 연결선 116">
            <a:extLst>
              <a:ext uri="{FF2B5EF4-FFF2-40B4-BE49-F238E27FC236}">
                <a16:creationId xmlns:a16="http://schemas.microsoft.com/office/drawing/2014/main" xmlns="" id="{A3A34B85-DB77-40BD-914B-406484D4EE42}"/>
              </a:ext>
            </a:extLst>
          </p:cNvPr>
          <p:cNvCxnSpPr>
            <a:cxnSpLocks/>
            <a:stCxn id="90" idx="3"/>
            <a:endCxn id="107" idx="1"/>
          </p:cNvCxnSpPr>
          <p:nvPr/>
        </p:nvCxnSpPr>
        <p:spPr bwMode="auto">
          <a:xfrm>
            <a:off x="5067234" y="4870880"/>
            <a:ext cx="854079" cy="71875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xmlns="" id="{0B1204D8-CE6C-4A2B-8BBB-33C0D026FD9E}"/>
              </a:ext>
            </a:extLst>
          </p:cNvPr>
          <p:cNvCxnSpPr>
            <a:cxnSpLocks/>
            <a:endCxn id="108" idx="1"/>
          </p:cNvCxnSpPr>
          <p:nvPr/>
        </p:nvCxnSpPr>
        <p:spPr bwMode="auto">
          <a:xfrm>
            <a:off x="5067234" y="5157788"/>
            <a:ext cx="854079" cy="91230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xmlns="" id="{9DBF3987-E771-4D89-A66B-1E195CC9B872}"/>
              </a:ext>
            </a:extLst>
          </p:cNvPr>
          <p:cNvCxnSpPr>
            <a:cxnSpLocks/>
            <a:stCxn id="89" idx="3"/>
            <a:endCxn id="108" idx="1"/>
          </p:cNvCxnSpPr>
          <p:nvPr/>
        </p:nvCxnSpPr>
        <p:spPr bwMode="auto">
          <a:xfrm>
            <a:off x="5067234" y="4611092"/>
            <a:ext cx="854079" cy="145899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xmlns="" id="{63E42CFB-6AA0-4C08-96AC-6E2B793B4C9E}"/>
              </a:ext>
            </a:extLst>
          </p:cNvPr>
          <p:cNvCxnSpPr>
            <a:cxnSpLocks/>
            <a:stCxn id="77" idx="3"/>
            <a:endCxn id="103" idx="1"/>
          </p:cNvCxnSpPr>
          <p:nvPr/>
        </p:nvCxnSpPr>
        <p:spPr bwMode="auto">
          <a:xfrm flipV="1">
            <a:off x="5067234" y="5109171"/>
            <a:ext cx="854079" cy="41229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1" name="직선 화살표 연결선 120">
            <a:extLst>
              <a:ext uri="{FF2B5EF4-FFF2-40B4-BE49-F238E27FC236}">
                <a16:creationId xmlns:a16="http://schemas.microsoft.com/office/drawing/2014/main" xmlns="" id="{EF7F0F29-30BC-4E28-B3C7-52AD1B95C556}"/>
              </a:ext>
            </a:extLst>
          </p:cNvPr>
          <p:cNvCxnSpPr>
            <a:cxnSpLocks/>
            <a:stCxn id="78" idx="3"/>
            <a:endCxn id="103" idx="1"/>
          </p:cNvCxnSpPr>
          <p:nvPr/>
        </p:nvCxnSpPr>
        <p:spPr bwMode="auto">
          <a:xfrm flipV="1">
            <a:off x="5067234" y="5109171"/>
            <a:ext cx="854079" cy="67207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xmlns="" id="{26B11ECC-CC70-478F-A2BE-4AE6D4DEB9CF}"/>
              </a:ext>
            </a:extLst>
          </p:cNvPr>
          <p:cNvCxnSpPr>
            <a:cxnSpLocks/>
            <a:stCxn id="87" idx="3"/>
            <a:endCxn id="103" idx="1"/>
          </p:cNvCxnSpPr>
          <p:nvPr/>
        </p:nvCxnSpPr>
        <p:spPr bwMode="auto">
          <a:xfrm flipV="1">
            <a:off x="5067590" y="5109171"/>
            <a:ext cx="853723" cy="93186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7132364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이행과제를 도출하기 위해 미래모델 개선과제 및 개선 세부과제에서 정의한 주요 내용을 기준으로 세부 추진 내용을 정의하고 이행과제 대상을 정의함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2.1.1 </a:t>
            </a:r>
            <a:r>
              <a:rPr lang="ko-KR" altLang="en-US" dirty="0"/>
              <a:t>이행과제 도출 </a:t>
            </a:r>
            <a:r>
              <a:rPr lang="en-US" altLang="ko-KR" dirty="0"/>
              <a:t>(4/5)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123" name="그룹 122"/>
          <p:cNvGrpSpPr/>
          <p:nvPr/>
        </p:nvGrpSpPr>
        <p:grpSpPr>
          <a:xfrm>
            <a:off x="2333899" y="1513231"/>
            <a:ext cx="2160000" cy="329005"/>
            <a:chOff x="2144688" y="1513231"/>
            <a:chExt cx="2160000" cy="329005"/>
          </a:xfrm>
        </p:grpSpPr>
        <p:sp>
          <p:nvSpPr>
            <p:cNvPr id="61" name="Text Box 4"/>
            <p:cNvSpPr txBox="1">
              <a:spLocks noChangeArrowheads="1"/>
            </p:cNvSpPr>
            <p:nvPr/>
          </p:nvSpPr>
          <p:spPr bwMode="auto">
            <a:xfrm>
              <a:off x="2774244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세부과제</a:t>
              </a:r>
            </a:p>
          </p:txBody>
        </p:sp>
        <p:sp>
          <p:nvSpPr>
            <p:cNvPr id="62" name="Line 5"/>
            <p:cNvSpPr>
              <a:spLocks noChangeShapeType="1"/>
            </p:cNvSpPr>
            <p:nvPr/>
          </p:nvSpPr>
          <p:spPr bwMode="auto">
            <a:xfrm>
              <a:off x="2144688" y="1842236"/>
              <a:ext cx="2160000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63" name="그룹 47"/>
          <p:cNvGrpSpPr>
            <a:grpSpLocks/>
          </p:cNvGrpSpPr>
          <p:nvPr/>
        </p:nvGrpSpPr>
        <p:grpSpPr bwMode="auto">
          <a:xfrm>
            <a:off x="6841121" y="1527446"/>
            <a:ext cx="1906587" cy="318577"/>
            <a:chOff x="7545836" y="2024545"/>
            <a:chExt cx="1907161" cy="318795"/>
          </a:xfrm>
        </p:grpSpPr>
        <p:sp>
          <p:nvSpPr>
            <p:cNvPr id="64" name="Text Box 4"/>
            <p:cNvSpPr txBox="1">
              <a:spLocks noChangeArrowheads="1"/>
            </p:cNvSpPr>
            <p:nvPr/>
          </p:nvSpPr>
          <p:spPr bwMode="auto">
            <a:xfrm>
              <a:off x="7780437" y="2024545"/>
              <a:ext cx="1427196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추진 내용</a:t>
              </a:r>
            </a:p>
          </p:txBody>
        </p:sp>
        <p:sp>
          <p:nvSpPr>
            <p:cNvPr id="65" name="Line 5"/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122" name="그룹 121"/>
          <p:cNvGrpSpPr/>
          <p:nvPr/>
        </p:nvGrpSpPr>
        <p:grpSpPr>
          <a:xfrm>
            <a:off x="531036" y="1513231"/>
            <a:ext cx="975658" cy="329005"/>
            <a:chOff x="691543" y="1513231"/>
            <a:chExt cx="975658" cy="329005"/>
          </a:xfrm>
        </p:grpSpPr>
        <p:sp>
          <p:nvSpPr>
            <p:cNvPr id="66" name="Text Box 4"/>
            <p:cNvSpPr txBox="1">
              <a:spLocks noChangeArrowheads="1"/>
            </p:cNvSpPr>
            <p:nvPr/>
          </p:nvSpPr>
          <p:spPr bwMode="auto">
            <a:xfrm>
              <a:off x="728928" y="1513231"/>
              <a:ext cx="900889" cy="315984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non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개선과제</a:t>
              </a:r>
            </a:p>
          </p:txBody>
        </p:sp>
        <p:sp>
          <p:nvSpPr>
            <p:cNvPr id="67" name="Line 5"/>
            <p:cNvSpPr>
              <a:spLocks noChangeShapeType="1"/>
            </p:cNvSpPr>
            <p:nvPr/>
          </p:nvSpPr>
          <p:spPr bwMode="auto">
            <a:xfrm>
              <a:off x="691543" y="1842236"/>
              <a:ext cx="97565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69" name="Rectangle 5">
            <a:extLst>
              <a:ext uri="{FF2B5EF4-FFF2-40B4-BE49-F238E27FC236}">
                <a16:creationId xmlns:a16="http://schemas.microsoft.com/office/drawing/2014/main" xmlns="" id="{CB9998FD-B2E6-4DBA-90B0-5478305D6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111" y="1988840"/>
            <a:ext cx="4857163" cy="865648"/>
          </a:xfrm>
          <a:prstGeom prst="rect">
            <a:avLst/>
          </a:prstGeom>
          <a:pattFill prst="dkUpDiag">
            <a:fgClr>
              <a:srgbClr val="EAEAEA"/>
            </a:fgClr>
            <a:bgClr>
              <a:srgbClr val="FFFFFF"/>
            </a:bgClr>
          </a:pattFill>
          <a:ln w="6350" algn="ctr">
            <a:solidFill>
              <a:sysClr val="window" lastClr="FFFFFF">
                <a:lumMod val="85000"/>
              </a:sysClr>
            </a:solidFill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cs typeface="굴림" pitchFamily="50" charset="-127"/>
            </a:endParaRPr>
          </a:p>
        </p:txBody>
      </p:sp>
      <p:sp>
        <p:nvSpPr>
          <p:cNvPr id="73" name="AutoShape 550" descr="박스1">
            <a:extLst>
              <a:ext uri="{FF2B5EF4-FFF2-40B4-BE49-F238E27FC236}">
                <a16:creationId xmlns:a16="http://schemas.microsoft.com/office/drawing/2014/main" xmlns="" id="{DC6CCBDB-BAFA-4B65-BB07-E299FDB07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040740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표준 아키텍처 수립 및 적용 방안 마련</a:t>
            </a:r>
          </a:p>
        </p:txBody>
      </p:sp>
      <p:sp>
        <p:nvSpPr>
          <p:cNvPr id="74" name="AutoShape 550" descr="박스1">
            <a:extLst>
              <a:ext uri="{FF2B5EF4-FFF2-40B4-BE49-F238E27FC236}">
                <a16:creationId xmlns:a16="http://schemas.microsoft.com/office/drawing/2014/main" xmlns="" id="{C10C636F-DF32-42C6-81D3-DB40CE7B8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120" y="2303613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개발 표준 프레임워크 도입 방안 마련</a:t>
            </a:r>
          </a:p>
        </p:txBody>
      </p:sp>
      <p:sp>
        <p:nvSpPr>
          <p:cNvPr id="76" name="AutoShape 550" descr="박스1">
            <a:extLst>
              <a:ext uri="{FF2B5EF4-FFF2-40B4-BE49-F238E27FC236}">
                <a16:creationId xmlns:a16="http://schemas.microsoft.com/office/drawing/2014/main" xmlns="" id="{9096A6C5-9D08-4B31-B320-C7F96C2A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476" y="2566486"/>
            <a:ext cx="3439114" cy="234000"/>
          </a:xfrm>
          <a:prstGeom prst="rect">
            <a:avLst/>
          </a:prstGeom>
          <a:solidFill>
            <a:srgbClr val="DAE4F0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18000" rIns="18000" bIns="18000" numCol="1" rtlCol="0" anchor="ctr" anchorCtr="0" compatLnSpc="1">
            <a:prstTxWarp prst="textNoShape">
              <a:avLst/>
            </a:prstTxWarp>
          </a:bodyPr>
          <a:lstStyle/>
          <a:p>
            <a:pPr algn="ctr" latinLnBrk="0">
              <a:defRPr/>
            </a:pPr>
            <a:r>
              <a:rPr lang="ko-KR" altLang="en-US" sz="1000" kern="0" dirty="0">
                <a:solidFill>
                  <a:sysClr val="windowText" lastClr="000000"/>
                </a:solidFill>
                <a:latin typeface="+mn-ea"/>
              </a:rPr>
              <a:t>정보시스템 구축 방법론 수립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83C74C9C-07FC-4514-B602-6C9C91E881A0}"/>
              </a:ext>
            </a:extLst>
          </p:cNvPr>
          <p:cNvSpPr txBox="1"/>
          <p:nvPr/>
        </p:nvSpPr>
        <p:spPr>
          <a:xfrm>
            <a:off x="426858" y="2040739"/>
            <a:ext cx="1200906" cy="759747"/>
          </a:xfrm>
          <a:prstGeom prst="rect">
            <a:avLst/>
          </a:prstGeom>
          <a:solidFill>
            <a:srgbClr val="BFBFBF"/>
          </a:solidFill>
          <a:ln>
            <a:noFill/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Pct val="90000"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</a:rPr>
              <a:t>공통기반 통합플랫폼 구축</a:t>
            </a:r>
          </a:p>
        </p:txBody>
      </p:sp>
      <p:sp>
        <p:nvSpPr>
          <p:cNvPr id="70" name="AutoShape 550" descr="박스1">
            <a:extLst>
              <a:ext uri="{FF2B5EF4-FFF2-40B4-BE49-F238E27FC236}">
                <a16:creationId xmlns:a16="http://schemas.microsoft.com/office/drawing/2014/main" xmlns="" id="{12FBC494-96E8-43B2-9F19-CB28FDD79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488378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 포털 구축</a:t>
            </a:r>
          </a:p>
        </p:txBody>
      </p:sp>
      <p:sp>
        <p:nvSpPr>
          <p:cNvPr id="79" name="AutoShape 550" descr="박스1">
            <a:extLst>
              <a:ext uri="{FF2B5EF4-FFF2-40B4-BE49-F238E27FC236}">
                <a16:creationId xmlns:a16="http://schemas.microsoft.com/office/drawing/2014/main" xmlns="" id="{284CB0E5-78B0-40BB-80A8-649D929C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449296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모바일 서비스 지원기반 마련</a:t>
            </a:r>
          </a:p>
        </p:txBody>
      </p:sp>
      <p:sp>
        <p:nvSpPr>
          <p:cNvPr id="80" name="AutoShape 550" descr="박스1">
            <a:extLst>
              <a:ext uri="{FF2B5EF4-FFF2-40B4-BE49-F238E27FC236}">
                <a16:creationId xmlns:a16="http://schemas.microsoft.com/office/drawing/2014/main" xmlns="" id="{A12BA6B9-3058-41AF-AA70-C836AB5B1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968837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의사결정 통계시스템 구축</a:t>
            </a:r>
          </a:p>
        </p:txBody>
      </p:sp>
      <p:sp>
        <p:nvSpPr>
          <p:cNvPr id="86" name="AutoShape 550" descr="박스1">
            <a:extLst>
              <a:ext uri="{FF2B5EF4-FFF2-40B4-BE49-F238E27FC236}">
                <a16:creationId xmlns:a16="http://schemas.microsoft.com/office/drawing/2014/main" xmlns="" id="{025F08AF-B6C2-47E8-8E00-7F9818B01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3007919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기금지원관리시스템 구축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93" name="AutoShape 550" descr="박스1">
            <a:extLst>
              <a:ext uri="{FF2B5EF4-FFF2-40B4-BE49-F238E27FC236}">
                <a16:creationId xmlns:a16="http://schemas.microsoft.com/office/drawing/2014/main" xmlns="" id="{C3EDC6A0-187A-4EE0-B589-919575508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4929755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연계 표준 프레임워크 구축</a:t>
            </a:r>
          </a:p>
        </p:txBody>
      </p:sp>
      <p:sp>
        <p:nvSpPr>
          <p:cNvPr id="94" name="AutoShape 550" descr="박스1">
            <a:extLst>
              <a:ext uri="{FF2B5EF4-FFF2-40B4-BE49-F238E27FC236}">
                <a16:creationId xmlns:a16="http://schemas.microsoft.com/office/drawing/2014/main" xmlns="" id="{98E3C2CA-4D19-40ED-96A7-518041EE3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527460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인적자원관리시스템 구축</a:t>
            </a:r>
          </a:p>
        </p:txBody>
      </p:sp>
      <p:sp>
        <p:nvSpPr>
          <p:cNvPr id="95" name="AutoShape 550" descr="박스1">
            <a:extLst>
              <a:ext uri="{FF2B5EF4-FFF2-40B4-BE49-F238E27FC236}">
                <a16:creationId xmlns:a16="http://schemas.microsoft.com/office/drawing/2014/main" xmlns="" id="{65DAF97F-6372-4F64-9E77-D4ED2D74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2047001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통합재무정보시스템 구축</a:t>
            </a:r>
          </a:p>
        </p:txBody>
      </p:sp>
      <p:sp>
        <p:nvSpPr>
          <p:cNvPr id="98" name="AutoShape 550" descr="박스1">
            <a:extLst>
              <a:ext uri="{FF2B5EF4-FFF2-40B4-BE49-F238E27FC236}">
                <a16:creationId xmlns:a16="http://schemas.microsoft.com/office/drawing/2014/main" xmlns="" id="{9F3B6986-964C-4ABA-A905-12E4AB634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410214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메타데이터관리시스템 구축</a:t>
            </a:r>
          </a:p>
        </p:txBody>
      </p:sp>
      <p:sp>
        <p:nvSpPr>
          <p:cNvPr id="99" name="AutoShape 550" descr="박스1">
            <a:extLst>
              <a:ext uri="{FF2B5EF4-FFF2-40B4-BE49-F238E27FC236}">
                <a16:creationId xmlns:a16="http://schemas.microsoft.com/office/drawing/2014/main" xmlns="" id="{83550B0A-484B-4CCD-B013-45D1BF443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13" y="5890672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데이터품질관리시스템 구축</a:t>
            </a:r>
          </a:p>
        </p:txBody>
      </p:sp>
      <p:cxnSp>
        <p:nvCxnSpPr>
          <p:cNvPr id="100" name="직선 화살표 연결선 99">
            <a:extLst>
              <a:ext uri="{FF2B5EF4-FFF2-40B4-BE49-F238E27FC236}">
                <a16:creationId xmlns:a16="http://schemas.microsoft.com/office/drawing/2014/main" xmlns="" id="{DE409D22-FD06-4DD2-8B44-BFB164491A34}"/>
              </a:ext>
            </a:extLst>
          </p:cNvPr>
          <p:cNvCxnSpPr>
            <a:cxnSpLocks/>
            <a:stCxn id="73" idx="3"/>
            <a:endCxn id="95" idx="1"/>
          </p:cNvCxnSpPr>
          <p:nvPr/>
        </p:nvCxnSpPr>
        <p:spPr bwMode="auto">
          <a:xfrm>
            <a:off x="5067234" y="2157740"/>
            <a:ext cx="854079" cy="6867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xmlns="" id="{913BA0DB-00AD-43EA-8412-952F0E2B56B7}"/>
              </a:ext>
            </a:extLst>
          </p:cNvPr>
          <p:cNvCxnSpPr>
            <a:cxnSpLocks/>
            <a:stCxn id="73" idx="3"/>
            <a:endCxn id="94" idx="1"/>
          </p:cNvCxnSpPr>
          <p:nvPr/>
        </p:nvCxnSpPr>
        <p:spPr bwMode="auto">
          <a:xfrm>
            <a:off x="5067234" y="2157740"/>
            <a:ext cx="854079" cy="54913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xmlns="" id="{ABE00C06-F390-4633-8355-C8491518248A}"/>
              </a:ext>
            </a:extLst>
          </p:cNvPr>
          <p:cNvCxnSpPr>
            <a:cxnSpLocks/>
            <a:stCxn id="73" idx="3"/>
            <a:endCxn id="86" idx="1"/>
          </p:cNvCxnSpPr>
          <p:nvPr/>
        </p:nvCxnSpPr>
        <p:spPr bwMode="auto">
          <a:xfrm>
            <a:off x="5067234" y="2157740"/>
            <a:ext cx="854079" cy="102959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xmlns="" id="{58E0C8FC-054C-4EF0-AFCB-4B9F1FBBDF49}"/>
              </a:ext>
            </a:extLst>
          </p:cNvPr>
          <p:cNvCxnSpPr>
            <a:cxnSpLocks/>
            <a:stCxn id="74" idx="3"/>
            <a:endCxn id="94" idx="1"/>
          </p:cNvCxnSpPr>
          <p:nvPr/>
        </p:nvCxnSpPr>
        <p:spPr bwMode="auto">
          <a:xfrm>
            <a:off x="5067234" y="2420613"/>
            <a:ext cx="854079" cy="286263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xmlns="" id="{312BBF4A-2D69-4748-B0BA-F0BED7AF3B22}"/>
              </a:ext>
            </a:extLst>
          </p:cNvPr>
          <p:cNvCxnSpPr>
            <a:cxnSpLocks/>
            <a:stCxn id="76" idx="3"/>
            <a:endCxn id="95" idx="1"/>
          </p:cNvCxnSpPr>
          <p:nvPr/>
        </p:nvCxnSpPr>
        <p:spPr bwMode="auto">
          <a:xfrm flipV="1">
            <a:off x="5067590" y="2226417"/>
            <a:ext cx="853723" cy="45706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xmlns="" id="{61605CDD-88CC-4DC1-AD08-CB9A5CB166A3}"/>
              </a:ext>
            </a:extLst>
          </p:cNvPr>
          <p:cNvCxnSpPr>
            <a:cxnSpLocks/>
            <a:stCxn id="74" idx="3"/>
            <a:endCxn id="95" idx="1"/>
          </p:cNvCxnSpPr>
          <p:nvPr/>
        </p:nvCxnSpPr>
        <p:spPr bwMode="auto">
          <a:xfrm flipV="1">
            <a:off x="5067234" y="2226417"/>
            <a:ext cx="854079" cy="19419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xmlns="" id="{16274C44-EA49-459F-AB2A-0041ABB503B5}"/>
              </a:ext>
            </a:extLst>
          </p:cNvPr>
          <p:cNvCxnSpPr>
            <a:cxnSpLocks/>
            <a:stCxn id="74" idx="3"/>
            <a:endCxn id="86" idx="1"/>
          </p:cNvCxnSpPr>
          <p:nvPr/>
        </p:nvCxnSpPr>
        <p:spPr bwMode="auto">
          <a:xfrm>
            <a:off x="5067234" y="2420613"/>
            <a:ext cx="854079" cy="76672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7" name="직선 화살표 연결선 106">
            <a:extLst>
              <a:ext uri="{FF2B5EF4-FFF2-40B4-BE49-F238E27FC236}">
                <a16:creationId xmlns:a16="http://schemas.microsoft.com/office/drawing/2014/main" xmlns="" id="{85E8441C-106A-4F6E-8F63-6741D51919F2}"/>
              </a:ext>
            </a:extLst>
          </p:cNvPr>
          <p:cNvCxnSpPr>
            <a:cxnSpLocks/>
            <a:endCxn id="86" idx="1"/>
          </p:cNvCxnSpPr>
          <p:nvPr/>
        </p:nvCxnSpPr>
        <p:spPr bwMode="auto">
          <a:xfrm>
            <a:off x="5067234" y="2683486"/>
            <a:ext cx="854079" cy="50384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xmlns="" id="{A3A9BFAB-17BF-41F3-8851-F1A27C78D999}"/>
              </a:ext>
            </a:extLst>
          </p:cNvPr>
          <p:cNvCxnSpPr>
            <a:cxnSpLocks/>
            <a:stCxn id="76" idx="3"/>
            <a:endCxn id="94" idx="1"/>
          </p:cNvCxnSpPr>
          <p:nvPr/>
        </p:nvCxnSpPr>
        <p:spPr bwMode="auto">
          <a:xfrm>
            <a:off x="5067590" y="2683486"/>
            <a:ext cx="853723" cy="2339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xmlns="" id="{CF40ECA1-ABD4-4B95-B2EE-905115E6D09C}"/>
              </a:ext>
            </a:extLst>
          </p:cNvPr>
          <p:cNvCxnSpPr>
            <a:cxnSpLocks/>
            <a:stCxn id="73" idx="3"/>
            <a:endCxn id="70" idx="1"/>
          </p:cNvCxnSpPr>
          <p:nvPr/>
        </p:nvCxnSpPr>
        <p:spPr bwMode="auto">
          <a:xfrm>
            <a:off x="5067234" y="2157740"/>
            <a:ext cx="854079" cy="151005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xmlns="" id="{5CCC2239-D06A-402F-8EED-8CF1A9C76B16}"/>
              </a:ext>
            </a:extLst>
          </p:cNvPr>
          <p:cNvCxnSpPr>
            <a:cxnSpLocks/>
            <a:stCxn id="73" idx="3"/>
            <a:endCxn id="80" idx="1"/>
          </p:cNvCxnSpPr>
          <p:nvPr/>
        </p:nvCxnSpPr>
        <p:spPr bwMode="auto">
          <a:xfrm>
            <a:off x="5067234" y="2157740"/>
            <a:ext cx="854079" cy="1990513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xmlns="" id="{960B2214-1AD2-44B1-9296-BC780628AC15}"/>
              </a:ext>
            </a:extLst>
          </p:cNvPr>
          <p:cNvCxnSpPr>
            <a:cxnSpLocks/>
            <a:endCxn id="79" idx="1"/>
          </p:cNvCxnSpPr>
          <p:nvPr/>
        </p:nvCxnSpPr>
        <p:spPr bwMode="auto">
          <a:xfrm>
            <a:off x="5067234" y="2157740"/>
            <a:ext cx="854079" cy="2470972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xmlns="" id="{F37455F8-513B-48D8-A8D3-B816728CD5B7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 bwMode="auto">
          <a:xfrm>
            <a:off x="5067234" y="2157740"/>
            <a:ext cx="854079" cy="295143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xmlns="" id="{00FBFC7D-7721-4E4D-9C78-01589B6EE595}"/>
              </a:ext>
            </a:extLst>
          </p:cNvPr>
          <p:cNvCxnSpPr>
            <a:cxnSpLocks/>
            <a:stCxn id="74" idx="3"/>
            <a:endCxn id="70" idx="1"/>
          </p:cNvCxnSpPr>
          <p:nvPr/>
        </p:nvCxnSpPr>
        <p:spPr bwMode="auto">
          <a:xfrm>
            <a:off x="5067234" y="2420613"/>
            <a:ext cx="854079" cy="124718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xmlns="" id="{C3FCC89A-267B-4E0E-BBF0-8817E9FABD0B}"/>
              </a:ext>
            </a:extLst>
          </p:cNvPr>
          <p:cNvCxnSpPr>
            <a:cxnSpLocks/>
            <a:stCxn id="74" idx="3"/>
            <a:endCxn id="80" idx="1"/>
          </p:cNvCxnSpPr>
          <p:nvPr/>
        </p:nvCxnSpPr>
        <p:spPr bwMode="auto">
          <a:xfrm>
            <a:off x="5067234" y="2420613"/>
            <a:ext cx="854079" cy="172764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xmlns="" id="{77FD4FB1-C73A-4FCA-8E85-7B44A16EA023}"/>
              </a:ext>
            </a:extLst>
          </p:cNvPr>
          <p:cNvCxnSpPr>
            <a:cxnSpLocks/>
            <a:stCxn id="74" idx="3"/>
            <a:endCxn id="79" idx="1"/>
          </p:cNvCxnSpPr>
          <p:nvPr/>
        </p:nvCxnSpPr>
        <p:spPr bwMode="auto">
          <a:xfrm>
            <a:off x="5067234" y="2420613"/>
            <a:ext cx="854079" cy="220809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xmlns="" id="{5F22AD96-1D61-4E1C-85C8-A1B5DE950EBA}"/>
              </a:ext>
            </a:extLst>
          </p:cNvPr>
          <p:cNvCxnSpPr>
            <a:cxnSpLocks/>
            <a:stCxn id="74" idx="3"/>
            <a:endCxn id="93" idx="1"/>
          </p:cNvCxnSpPr>
          <p:nvPr/>
        </p:nvCxnSpPr>
        <p:spPr bwMode="auto">
          <a:xfrm>
            <a:off x="5067234" y="2420613"/>
            <a:ext cx="854079" cy="268855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xmlns="" id="{424DBC5B-49C8-4DD4-9BD3-2524582FFE25}"/>
              </a:ext>
            </a:extLst>
          </p:cNvPr>
          <p:cNvCxnSpPr>
            <a:cxnSpLocks/>
            <a:endCxn id="86" idx="1"/>
          </p:cNvCxnSpPr>
          <p:nvPr/>
        </p:nvCxnSpPr>
        <p:spPr bwMode="auto">
          <a:xfrm>
            <a:off x="5067234" y="2683486"/>
            <a:ext cx="854079" cy="50384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xmlns="" id="{10305B34-DEE5-406B-8EFC-5DF4BFA307B6}"/>
              </a:ext>
            </a:extLst>
          </p:cNvPr>
          <p:cNvCxnSpPr>
            <a:cxnSpLocks/>
            <a:stCxn id="76" idx="3"/>
            <a:endCxn id="70" idx="1"/>
          </p:cNvCxnSpPr>
          <p:nvPr/>
        </p:nvCxnSpPr>
        <p:spPr bwMode="auto">
          <a:xfrm>
            <a:off x="5067590" y="2683486"/>
            <a:ext cx="853723" cy="98430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xmlns="" id="{F298B9F3-2D6D-4327-89C3-AD161F47FE54}"/>
              </a:ext>
            </a:extLst>
          </p:cNvPr>
          <p:cNvCxnSpPr>
            <a:cxnSpLocks/>
            <a:endCxn id="80" idx="1"/>
          </p:cNvCxnSpPr>
          <p:nvPr/>
        </p:nvCxnSpPr>
        <p:spPr bwMode="auto">
          <a:xfrm>
            <a:off x="5067234" y="2683486"/>
            <a:ext cx="854079" cy="146476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xmlns="" id="{62BDA071-54C9-41F1-B283-18CAA4A54574}"/>
              </a:ext>
            </a:extLst>
          </p:cNvPr>
          <p:cNvCxnSpPr>
            <a:cxnSpLocks/>
            <a:stCxn id="76" idx="3"/>
            <a:endCxn id="79" idx="1"/>
          </p:cNvCxnSpPr>
          <p:nvPr/>
        </p:nvCxnSpPr>
        <p:spPr bwMode="auto">
          <a:xfrm>
            <a:off x="5067590" y="2683486"/>
            <a:ext cx="853723" cy="194522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3" name="직선 화살표 연결선 82">
            <a:extLst>
              <a:ext uri="{FF2B5EF4-FFF2-40B4-BE49-F238E27FC236}">
                <a16:creationId xmlns:a16="http://schemas.microsoft.com/office/drawing/2014/main" xmlns="" id="{89686CCF-A4E4-4D38-89D7-9908B9FAD16B}"/>
              </a:ext>
            </a:extLst>
          </p:cNvPr>
          <p:cNvCxnSpPr>
            <a:cxnSpLocks/>
            <a:stCxn id="76" idx="3"/>
            <a:endCxn id="93" idx="1"/>
          </p:cNvCxnSpPr>
          <p:nvPr/>
        </p:nvCxnSpPr>
        <p:spPr bwMode="auto">
          <a:xfrm>
            <a:off x="5067590" y="2683486"/>
            <a:ext cx="853723" cy="2425685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xmlns="" id="{D00F4122-9D9A-42A6-A740-0D70E0CAE9C4}"/>
              </a:ext>
            </a:extLst>
          </p:cNvPr>
          <p:cNvCxnSpPr>
            <a:cxnSpLocks/>
            <a:stCxn id="76" idx="3"/>
            <a:endCxn id="98" idx="1"/>
          </p:cNvCxnSpPr>
          <p:nvPr/>
        </p:nvCxnSpPr>
        <p:spPr bwMode="auto">
          <a:xfrm>
            <a:off x="5067590" y="2683486"/>
            <a:ext cx="853723" cy="290614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xmlns="" id="{459A30C3-0D07-42CB-816C-496E9C24A388}"/>
              </a:ext>
            </a:extLst>
          </p:cNvPr>
          <p:cNvCxnSpPr>
            <a:cxnSpLocks/>
            <a:endCxn id="99" idx="1"/>
          </p:cNvCxnSpPr>
          <p:nvPr/>
        </p:nvCxnSpPr>
        <p:spPr bwMode="auto">
          <a:xfrm>
            <a:off x="5067234" y="2675624"/>
            <a:ext cx="854079" cy="3394464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52323245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algn="just" latinLnBrk="0"/>
            <a:r>
              <a:rPr lang="ko-KR" altLang="en-US" dirty="0"/>
              <a:t>이행과제를 도출하기 위해 미래모델 개선과제 및 개선 세부과제에서 정의한 주요 내용을 기준으로 세부 추진 내용을 정의하고 이행과제 대상을 정의함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2.1.1 </a:t>
            </a:r>
            <a:r>
              <a:rPr lang="ko-KR" altLang="en-US" dirty="0"/>
              <a:t>이행과제 도출 </a:t>
            </a:r>
            <a:r>
              <a:rPr lang="en-US" altLang="ko-KR" dirty="0"/>
              <a:t>(5/5)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63" name="그룹 47"/>
          <p:cNvGrpSpPr>
            <a:grpSpLocks/>
          </p:cNvGrpSpPr>
          <p:nvPr/>
        </p:nvGrpSpPr>
        <p:grpSpPr bwMode="auto">
          <a:xfrm>
            <a:off x="1552328" y="1527446"/>
            <a:ext cx="1906587" cy="318577"/>
            <a:chOff x="7545836" y="2024545"/>
            <a:chExt cx="1907161" cy="318795"/>
          </a:xfrm>
        </p:grpSpPr>
        <p:sp>
          <p:nvSpPr>
            <p:cNvPr id="64" name="Text Box 4"/>
            <p:cNvSpPr txBox="1">
              <a:spLocks noChangeArrowheads="1"/>
            </p:cNvSpPr>
            <p:nvPr/>
          </p:nvSpPr>
          <p:spPr bwMode="auto">
            <a:xfrm>
              <a:off x="7780437" y="2024545"/>
              <a:ext cx="1427196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추진 내용</a:t>
              </a:r>
            </a:p>
          </p:txBody>
        </p:sp>
        <p:sp>
          <p:nvSpPr>
            <p:cNvPr id="65" name="Line 5"/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70" name="AutoShape 550" descr="박스1">
            <a:extLst>
              <a:ext uri="{FF2B5EF4-FFF2-40B4-BE49-F238E27FC236}">
                <a16:creationId xmlns:a16="http://schemas.microsoft.com/office/drawing/2014/main" xmlns="" id="{12FBC494-96E8-43B2-9F19-CB28FDD79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3488378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 포털 구축</a:t>
            </a:r>
          </a:p>
        </p:txBody>
      </p:sp>
      <p:sp>
        <p:nvSpPr>
          <p:cNvPr id="79" name="AutoShape 550" descr="박스1">
            <a:extLst>
              <a:ext uri="{FF2B5EF4-FFF2-40B4-BE49-F238E27FC236}">
                <a16:creationId xmlns:a16="http://schemas.microsoft.com/office/drawing/2014/main" xmlns="" id="{284CB0E5-78B0-40BB-80A8-649D929C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4449296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모바일 서비스 지원기반 마련</a:t>
            </a:r>
          </a:p>
        </p:txBody>
      </p:sp>
      <p:sp>
        <p:nvSpPr>
          <p:cNvPr id="80" name="AutoShape 550" descr="박스1">
            <a:extLst>
              <a:ext uri="{FF2B5EF4-FFF2-40B4-BE49-F238E27FC236}">
                <a16:creationId xmlns:a16="http://schemas.microsoft.com/office/drawing/2014/main" xmlns="" id="{A12BA6B9-3058-41AF-AA70-C836AB5B1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3968837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의사결정 통계시스템 구축</a:t>
            </a:r>
          </a:p>
        </p:txBody>
      </p:sp>
      <p:sp>
        <p:nvSpPr>
          <p:cNvPr id="86" name="AutoShape 550" descr="박스1">
            <a:extLst>
              <a:ext uri="{FF2B5EF4-FFF2-40B4-BE49-F238E27FC236}">
                <a16:creationId xmlns:a16="http://schemas.microsoft.com/office/drawing/2014/main" xmlns="" id="{025F08AF-B6C2-47E8-8E00-7F9818B01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3007919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 b="1" kern="0" dirty="0">
                <a:solidFill>
                  <a:sysClr val="window" lastClr="FFFFFF"/>
                </a:solidFill>
                <a:latin typeface="+mn-ea"/>
              </a:rPr>
              <a:t>기금지원관리시스템 구축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93" name="AutoShape 550" descr="박스1">
            <a:extLst>
              <a:ext uri="{FF2B5EF4-FFF2-40B4-BE49-F238E27FC236}">
                <a16:creationId xmlns:a16="http://schemas.microsoft.com/office/drawing/2014/main" xmlns="" id="{C3EDC6A0-187A-4EE0-B589-919575508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4929755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연계 표준 프레임워크 구축</a:t>
            </a:r>
          </a:p>
        </p:txBody>
      </p:sp>
      <p:sp>
        <p:nvSpPr>
          <p:cNvPr id="94" name="AutoShape 550" descr="박스1">
            <a:extLst>
              <a:ext uri="{FF2B5EF4-FFF2-40B4-BE49-F238E27FC236}">
                <a16:creationId xmlns:a16="http://schemas.microsoft.com/office/drawing/2014/main" xmlns="" id="{98E3C2CA-4D19-40ED-96A7-518041EE3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2527460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인적자원관리시스템 구축</a:t>
            </a:r>
          </a:p>
        </p:txBody>
      </p:sp>
      <p:sp>
        <p:nvSpPr>
          <p:cNvPr id="95" name="AutoShape 550" descr="박스1">
            <a:extLst>
              <a:ext uri="{FF2B5EF4-FFF2-40B4-BE49-F238E27FC236}">
                <a16:creationId xmlns:a16="http://schemas.microsoft.com/office/drawing/2014/main" xmlns="" id="{65DAF97F-6372-4F64-9E77-D4ED2D74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2047001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통합재무정보시스템 구축</a:t>
            </a:r>
          </a:p>
        </p:txBody>
      </p:sp>
      <p:sp>
        <p:nvSpPr>
          <p:cNvPr id="98" name="AutoShape 550" descr="박스1">
            <a:extLst>
              <a:ext uri="{FF2B5EF4-FFF2-40B4-BE49-F238E27FC236}">
                <a16:creationId xmlns:a16="http://schemas.microsoft.com/office/drawing/2014/main" xmlns="" id="{9F3B6986-964C-4ABA-A905-12E4AB634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5410214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메타데이터관리시스템 구축</a:t>
            </a:r>
          </a:p>
        </p:txBody>
      </p:sp>
      <p:sp>
        <p:nvSpPr>
          <p:cNvPr id="99" name="AutoShape 550" descr="박스1">
            <a:extLst>
              <a:ext uri="{FF2B5EF4-FFF2-40B4-BE49-F238E27FC236}">
                <a16:creationId xmlns:a16="http://schemas.microsoft.com/office/drawing/2014/main" xmlns="" id="{83550B0A-484B-4CCD-B013-45D1BF443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520" y="5890672"/>
            <a:ext cx="3594596" cy="358832"/>
          </a:xfrm>
          <a:prstGeom prst="rect">
            <a:avLst/>
          </a:prstGeom>
          <a:solidFill>
            <a:srgbClr val="508CD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데이터품질관리시스템 구축</a:t>
            </a:r>
          </a:p>
        </p:txBody>
      </p:sp>
      <p:grpSp>
        <p:nvGrpSpPr>
          <p:cNvPr id="38" name="그룹 47">
            <a:extLst>
              <a:ext uri="{FF2B5EF4-FFF2-40B4-BE49-F238E27FC236}">
                <a16:creationId xmlns:a16="http://schemas.microsoft.com/office/drawing/2014/main" xmlns="" id="{9150D6EA-64A3-4F65-B144-ED7FE22A2881}"/>
              </a:ext>
            </a:extLst>
          </p:cNvPr>
          <p:cNvGrpSpPr>
            <a:grpSpLocks/>
          </p:cNvGrpSpPr>
          <p:nvPr/>
        </p:nvGrpSpPr>
        <p:grpSpPr bwMode="auto">
          <a:xfrm>
            <a:off x="6880026" y="1534492"/>
            <a:ext cx="1906587" cy="315984"/>
            <a:chOff x="7545836" y="2031593"/>
            <a:chExt cx="1907161" cy="316200"/>
          </a:xfrm>
        </p:grpSpPr>
        <p:sp>
          <p:nvSpPr>
            <p:cNvPr id="39" name="Text Box 4">
              <a:extLst>
                <a:ext uri="{FF2B5EF4-FFF2-40B4-BE49-F238E27FC236}">
                  <a16:creationId xmlns:a16="http://schemas.microsoft.com/office/drawing/2014/main" xmlns="" id="{238D0146-D7D6-459C-9471-43141D42D9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42663" y="2031593"/>
              <a:ext cx="1726907" cy="316200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buClr>
                  <a:srgbClr val="008400"/>
                </a:buClr>
                <a:buNone/>
              </a:pPr>
              <a:r>
                <a:rPr lang="ko-KR" altLang="en-US" sz="1400" b="1" dirty="0">
                  <a:latin typeface="+mn-ea"/>
                </a:rPr>
                <a:t>이행과제</a:t>
              </a:r>
            </a:p>
          </p:txBody>
        </p:sp>
        <p:sp>
          <p:nvSpPr>
            <p:cNvPr id="40" name="Line 5">
              <a:extLst>
                <a:ext uri="{FF2B5EF4-FFF2-40B4-BE49-F238E27FC236}">
                  <a16:creationId xmlns:a16="http://schemas.microsoft.com/office/drawing/2014/main" xmlns="" id="{7253D8AC-CEB1-4635-9A56-2386D39D3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5836" y="2343340"/>
              <a:ext cx="1907161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b="1" kern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41" name="AutoShape 550" descr="박스1">
            <a:extLst>
              <a:ext uri="{FF2B5EF4-FFF2-40B4-BE49-F238E27FC236}">
                <a16:creationId xmlns:a16="http://schemas.microsoft.com/office/drawing/2014/main" xmlns="" id="{56695185-1F55-4D5E-8B64-EB15C605B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2146" y="4137566"/>
            <a:ext cx="2970741" cy="635694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모바일 서비스 채널 확대</a:t>
            </a: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" name="AutoShape 550" descr="박스1">
            <a:extLst>
              <a:ext uri="{FF2B5EF4-FFF2-40B4-BE49-F238E27FC236}">
                <a16:creationId xmlns:a16="http://schemas.microsoft.com/office/drawing/2014/main" xmlns="" id="{80A8AF87-8725-451E-B6C8-22FB47CB3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2146" y="3099207"/>
            <a:ext cx="2970741" cy="635694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경영정보통합시스템</a:t>
            </a:r>
            <a:r>
              <a:rPr lang="en-US" altLang="ko-KR" sz="1400" b="1" kern="0" dirty="0">
                <a:solidFill>
                  <a:sysClr val="window" lastClr="FFFFFF"/>
                </a:solidFill>
                <a:latin typeface="+mn-ea"/>
              </a:rPr>
              <a:t>, </a:t>
            </a: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통계</a:t>
            </a:r>
            <a:r>
              <a:rPr lang="en-US" altLang="ko-KR" sz="1400" b="1" kern="0" dirty="0">
                <a:solidFill>
                  <a:sysClr val="window" lastClr="FFFFFF"/>
                </a:solidFill>
                <a:latin typeface="+mn-ea"/>
              </a:rPr>
              <a:t>, </a:t>
            </a: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연계 고도화</a:t>
            </a:r>
            <a:endParaRPr lang="en-US" altLang="ko-KR" sz="1400" b="1" kern="0" dirty="0">
              <a:solidFill>
                <a:sysClr val="window" lastClr="FFFFFF"/>
              </a:solidFill>
              <a:latin typeface="+mn-ea"/>
            </a:endParaRPr>
          </a:p>
        </p:txBody>
      </p:sp>
      <p:sp>
        <p:nvSpPr>
          <p:cNvPr id="47" name="AutoShape 550" descr="박스1">
            <a:extLst>
              <a:ext uri="{FF2B5EF4-FFF2-40B4-BE49-F238E27FC236}">
                <a16:creationId xmlns:a16="http://schemas.microsoft.com/office/drawing/2014/main" xmlns="" id="{61BA731E-9AFB-4906-B7AC-9A81508A7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2146" y="2060848"/>
            <a:ext cx="2970741" cy="635694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경영정보통합시스템 기반 구축 </a:t>
            </a:r>
            <a:endParaRPr kumimoji="0" lang="en-US" altLang="ko-KR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xmlns="" id="{85997CC9-402D-44D7-8B74-E7FB2031A565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 bwMode="auto">
          <a:xfrm>
            <a:off x="4227116" y="2226417"/>
            <a:ext cx="2045030" cy="15227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xmlns="" id="{7F835FBB-CA66-4218-8C70-3CFCB0D54E4E}"/>
              </a:ext>
            </a:extLst>
          </p:cNvPr>
          <p:cNvCxnSpPr>
            <a:cxnSpLocks/>
            <a:stCxn id="94" idx="3"/>
            <a:endCxn id="47" idx="1"/>
          </p:cNvCxnSpPr>
          <p:nvPr/>
        </p:nvCxnSpPr>
        <p:spPr bwMode="auto">
          <a:xfrm flipV="1">
            <a:off x="4227116" y="2378695"/>
            <a:ext cx="2045030" cy="328181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xmlns="" id="{DF386A8C-3826-4F55-8E02-056EF7E561F8}"/>
              </a:ext>
            </a:extLst>
          </p:cNvPr>
          <p:cNvCxnSpPr>
            <a:cxnSpLocks/>
            <a:stCxn id="86" idx="3"/>
            <a:endCxn id="46" idx="1"/>
          </p:cNvCxnSpPr>
          <p:nvPr/>
        </p:nvCxnSpPr>
        <p:spPr bwMode="auto">
          <a:xfrm>
            <a:off x="4227116" y="3187335"/>
            <a:ext cx="2045030" cy="22971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xmlns="" id="{45A2033A-0533-4123-BFA3-D103C468625B}"/>
              </a:ext>
            </a:extLst>
          </p:cNvPr>
          <p:cNvCxnSpPr>
            <a:cxnSpLocks/>
            <a:stCxn id="70" idx="3"/>
            <a:endCxn id="46" idx="1"/>
          </p:cNvCxnSpPr>
          <p:nvPr/>
        </p:nvCxnSpPr>
        <p:spPr bwMode="auto">
          <a:xfrm flipV="1">
            <a:off x="4227116" y="3417054"/>
            <a:ext cx="2045030" cy="250740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xmlns="" id="{10585B7D-1068-45BF-B760-9307612CE75D}"/>
              </a:ext>
            </a:extLst>
          </p:cNvPr>
          <p:cNvCxnSpPr>
            <a:cxnSpLocks/>
            <a:stCxn id="80" idx="3"/>
            <a:endCxn id="46" idx="1"/>
          </p:cNvCxnSpPr>
          <p:nvPr/>
        </p:nvCxnSpPr>
        <p:spPr bwMode="auto">
          <a:xfrm flipV="1">
            <a:off x="4227116" y="3417054"/>
            <a:ext cx="2045030" cy="73119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xmlns="" id="{4979F1A8-A037-4C08-A560-1E53998084DE}"/>
              </a:ext>
            </a:extLst>
          </p:cNvPr>
          <p:cNvCxnSpPr>
            <a:cxnSpLocks/>
            <a:stCxn id="79" idx="3"/>
            <a:endCxn id="41" idx="1"/>
          </p:cNvCxnSpPr>
          <p:nvPr/>
        </p:nvCxnSpPr>
        <p:spPr bwMode="auto">
          <a:xfrm flipV="1">
            <a:off x="4227116" y="4455413"/>
            <a:ext cx="2045030" cy="173299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xmlns="" id="{84FEC938-F855-433F-B815-1178B60E292E}"/>
              </a:ext>
            </a:extLst>
          </p:cNvPr>
          <p:cNvCxnSpPr>
            <a:cxnSpLocks/>
            <a:stCxn id="93" idx="3"/>
            <a:endCxn id="46" idx="1"/>
          </p:cNvCxnSpPr>
          <p:nvPr/>
        </p:nvCxnSpPr>
        <p:spPr bwMode="auto">
          <a:xfrm flipV="1">
            <a:off x="4227116" y="3417054"/>
            <a:ext cx="2045030" cy="1692117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sp>
        <p:nvSpPr>
          <p:cNvPr id="81" name="AutoShape 550" descr="박스1">
            <a:extLst>
              <a:ext uri="{FF2B5EF4-FFF2-40B4-BE49-F238E27FC236}">
                <a16:creationId xmlns:a16="http://schemas.microsoft.com/office/drawing/2014/main" xmlns="" id="{04E40462-4908-4A3C-9232-A5129DD85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2146" y="5175925"/>
            <a:ext cx="2970741" cy="635694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18000" tIns="36000" rIns="18000" bIns="18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’18</a:t>
            </a:r>
            <a:r>
              <a: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</a:rPr>
              <a:t>년도 현행 구축 사업 추진</a:t>
            </a:r>
          </a:p>
        </p:txBody>
      </p: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xmlns="" id="{C688EF03-3619-44A0-B0A5-9F136F1D65C4}"/>
              </a:ext>
            </a:extLst>
          </p:cNvPr>
          <p:cNvCxnSpPr>
            <a:cxnSpLocks/>
            <a:stCxn id="98" idx="3"/>
            <a:endCxn id="81" idx="1"/>
          </p:cNvCxnSpPr>
          <p:nvPr/>
        </p:nvCxnSpPr>
        <p:spPr bwMode="auto">
          <a:xfrm flipV="1">
            <a:off x="4227116" y="5493772"/>
            <a:ext cx="2045030" cy="95858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3" name="직선 화살표 연결선 82">
            <a:extLst>
              <a:ext uri="{FF2B5EF4-FFF2-40B4-BE49-F238E27FC236}">
                <a16:creationId xmlns:a16="http://schemas.microsoft.com/office/drawing/2014/main" xmlns="" id="{AC94066E-85E3-4ABB-9A14-FE3CF3B8D44C}"/>
              </a:ext>
            </a:extLst>
          </p:cNvPr>
          <p:cNvCxnSpPr>
            <a:cxnSpLocks/>
            <a:stCxn id="99" idx="3"/>
            <a:endCxn id="81" idx="1"/>
          </p:cNvCxnSpPr>
          <p:nvPr/>
        </p:nvCxnSpPr>
        <p:spPr bwMode="auto">
          <a:xfrm flipV="1">
            <a:off x="4227116" y="5493772"/>
            <a:ext cx="2045030" cy="57631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xmlns="" id="{8FA2B55E-D183-4057-9C6C-82CB751C5DC8}"/>
              </a:ext>
            </a:extLst>
          </p:cNvPr>
          <p:cNvCxnSpPr>
            <a:cxnSpLocks/>
            <a:stCxn id="93" idx="3"/>
            <a:endCxn id="47" idx="1"/>
          </p:cNvCxnSpPr>
          <p:nvPr/>
        </p:nvCxnSpPr>
        <p:spPr bwMode="auto">
          <a:xfrm flipV="1">
            <a:off x="4227116" y="2378695"/>
            <a:ext cx="2045030" cy="2730476"/>
          </a:xfrm>
          <a:prstGeom prst="straightConnector1">
            <a:avLst/>
          </a:prstGeom>
          <a:solidFill>
            <a:srgbClr val="FBB779"/>
          </a:solidFill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oval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51471602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2.1.2 </a:t>
            </a:r>
            <a:r>
              <a:rPr lang="ko-KR" altLang="en-US" dirty="0"/>
              <a:t>이행과제 정의 종합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xmlns="" id="{A996E3CD-DF24-45D0-BEEC-DBD138CCD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901450"/>
              </p:ext>
            </p:extLst>
          </p:nvPr>
        </p:nvGraphicFramePr>
        <p:xfrm>
          <a:off x="348871" y="988162"/>
          <a:ext cx="9136380" cy="53279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32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64738">
                  <a:extLst>
                    <a:ext uri="{9D8B030D-6E8A-4147-A177-3AD203B41FA5}">
                      <a16:colId xmlns:a16="http://schemas.microsoft.com/office/drawing/2014/main" xmlns="" val="495227927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xmlns="" val="664219012"/>
                    </a:ext>
                  </a:extLst>
                </a:gridCol>
                <a:gridCol w="152032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44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75017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이행과제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추진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76044">
                <a:tc rowSpan="3"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경영정보통합시스템 기반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통합재무정보시스템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예산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회계 구조개선 및 관리강화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계약 및 자산관리 업무 효율화를 위한 통합재무정보시스템을 구축함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76044">
                <a:tc vMerge="1">
                  <a:txBody>
                    <a:bodyPr/>
                    <a:lstStyle/>
                    <a:p>
                      <a:pPr algn="ctr" rtl="0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인적자원관리시스템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일반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일용직의 인적자원 통합관리 서비스 제공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업무처리 룰 기반 서비스 개선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정보이력 기반 조회 및 확인 서비스 개선 등을 위한 인적자원관리시스템을 구축함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67204475"/>
                  </a:ext>
                </a:extLst>
              </a:tr>
              <a:tr h="476044">
                <a:tc vMerge="1">
                  <a:txBody>
                    <a:bodyPr/>
                    <a:lstStyle/>
                    <a:p>
                      <a:pPr algn="ctr" rtl="0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표준 프레임워크 구축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수입결의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지출결의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전표의 인터페이스 테이블 구축을 통해 화면을 통합하여 업무의 간소화를 실현함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76879302"/>
                  </a:ext>
                </a:extLst>
              </a:tr>
              <a:tr h="476044">
                <a:tc rowSpan="4"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경영정보통합시스템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고도화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기금지원관리시스템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기금정산 및 환수 업무</a:t>
                      </a:r>
                      <a:r>
                        <a:rPr kumimoji="1" lang="en-US" altLang="ko-KR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효율화</a:t>
                      </a:r>
                      <a:r>
                        <a:rPr kumimoji="1" lang="en-US" altLang="ko-KR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현장평가결과 환류업무 개선</a:t>
                      </a:r>
                      <a:r>
                        <a:rPr kumimoji="1" lang="en-US" altLang="ko-KR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체육인복지지원단체 직접 신청</a:t>
                      </a:r>
                      <a:r>
                        <a:rPr kumimoji="1" lang="en-US" altLang="ko-KR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1" lang="ko-KR" altLang="en-US" sz="1000" kern="0" baseline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접수 채널 제공 등을 위한 기금지원관리시스템을 구축함</a:t>
                      </a:r>
                      <a:endParaRPr kumimoji="1" lang="ko-KR" altLang="en-US" sz="1000" kern="0" noProof="0" dirty="0">
                        <a:solidFill>
                          <a:prstClr val="black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83791880"/>
                  </a:ext>
                </a:extLst>
              </a:tr>
              <a:tr h="476044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경영정보 포털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차세대 경영정보시스템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(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통합재무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인적자원관리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</a:rPr>
                        <a:t>기금지원관리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+mn-ea"/>
                        </a:rPr>
                        <a:t>)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</a:rPr>
                        <a:t>의 사용자 단일창구 일원화 </a:t>
                      </a:r>
                      <a:r>
                        <a:rPr kumimoji="1" lang="en-US" altLang="ko-KR" sz="1000" kern="0" baseline="0" dirty="0">
                          <a:solidFill>
                            <a:prstClr val="black"/>
                          </a:solidFill>
                          <a:latin typeface="+mn-ea"/>
                        </a:rPr>
                        <a:t>  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</a:rPr>
                        <a:t>제공을 위한 경영정보 포털을 구축함</a:t>
                      </a:r>
                      <a:endParaRPr kumimoji="1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8586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의사결정 통계시스템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정기적 데이터 집계를 수행하여 사용자에게 통계정보를 제공하기 위해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통계시스템을 운영계와 분리하여 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Legacy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데이터를 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ODS, DW, DM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의 형태로 재구성하여 통계서비스를 제공하고 데이터 분석의 기반을 마련함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63845878"/>
                  </a:ext>
                </a:extLst>
              </a:tr>
              <a:tr h="476044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표준 프레임워크 구축 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(2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0" lvl="0" indent="-857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lt"/>
                          <a:ea typeface="+mn-ea"/>
                          <a:cs typeface="+mn-cs"/>
                        </a:rPr>
                        <a:t>차세대 경영정보시스템의 정보연계 표준화 및 간소화를 위하여 연계관리 프로세스 자동화하고 외부자료 연계항목 확대 및 표준 기술 기반으로 연계 구조 개선을 추진함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76044"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서비스 채널 확대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서비스 지원기반 마련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lvl="0" indent="-93663" algn="l" defTabSz="979488" rtl="0" eaLnBrk="1" fontAlgn="auto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업무 담당자들이 언제 어디서나 경영정보시스템에 접근하여 필요한 서비스를 제공받을 수 있는 모바일 서비스 지원 기반을 마련함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76044"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’18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년도 현행 구축 사업 추진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메타데이터관리시스템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lvl="0" indent="-93663" defTabSz="979488" eaLnBrk="1" fontAlgn="auto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차세대 경영정보시스템의 표준 용어 및 도메인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DB</a:t>
                      </a: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정보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데이터 모델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데이터 분류체계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어플리케이션 정보 등을 메타데이터로 구축하여 관리함</a:t>
                      </a:r>
                      <a:endParaRPr kumimoji="1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82890525"/>
                  </a:ext>
                </a:extLst>
              </a:tr>
              <a:tr h="476044">
                <a:tc vMerge="1">
                  <a:txBody>
                    <a:bodyPr/>
                    <a:lstStyle/>
                    <a:p>
                      <a:pPr algn="ctr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 latinLnBrk="0"/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데이터품질관리시스템 구축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3663" marR="0" lvl="0" indent="-93663" defTabSz="979488" eaLnBrk="1" fontAlgn="auto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차세대 경영정보시스템의 데이터 품질 제고를 위한 국민체육진흥공단 데이터 품질관리 체계의 업무지원을 위해 데이터품질관리시스템을 구축함</a:t>
                      </a:r>
                      <a:endParaRPr kumimoji="1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540956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7992888" cy="781320"/>
          </a:xfrm>
        </p:spPr>
        <p:txBody>
          <a:bodyPr>
            <a:noAutofit/>
          </a:bodyPr>
          <a:lstStyle/>
          <a:p>
            <a:r>
              <a:rPr lang="en-US" altLang="ko-KR" dirty="0"/>
              <a:t>2.1.3 </a:t>
            </a:r>
            <a:r>
              <a:rPr lang="ko-KR" altLang="en-US" dirty="0"/>
              <a:t>이행과제 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35" name="그룹 34"/>
          <p:cNvGrpSpPr/>
          <p:nvPr/>
        </p:nvGrpSpPr>
        <p:grpSpPr>
          <a:xfrm>
            <a:off x="344487" y="1525487"/>
            <a:ext cx="5221218" cy="648000"/>
            <a:chOff x="344487" y="1525487"/>
            <a:chExt cx="5221218" cy="648000"/>
          </a:xfrm>
        </p:grpSpPr>
        <p:sp>
          <p:nvSpPr>
            <p:cNvPr id="7" name="직사각형 5">
              <a:extLst>
                <a:ext uri="{FF2B5EF4-FFF2-40B4-BE49-F238E27FC236}">
                  <a16:creationId xmlns:a16="http://schemas.microsoft.com/office/drawing/2014/main" xmlns="" id="{351A5119-8F20-4053-884C-8723485CD878}"/>
                </a:ext>
              </a:extLst>
            </p:cNvPr>
            <p:cNvSpPr/>
            <p:nvPr/>
          </p:nvSpPr>
          <p:spPr>
            <a:xfrm>
              <a:off x="344487" y="1525487"/>
              <a:ext cx="978682" cy="648000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추진과제정의</a:t>
              </a:r>
            </a:p>
          </p:txBody>
        </p:sp>
        <p:sp>
          <p:nvSpPr>
            <p:cNvPr id="8" name="직사각형 6">
              <a:extLst>
                <a:ext uri="{FF2B5EF4-FFF2-40B4-BE49-F238E27FC236}">
                  <a16:creationId xmlns:a16="http://schemas.microsoft.com/office/drawing/2014/main" xmlns="" id="{102266F8-1A8E-406D-859D-C4FC388B7705}"/>
                </a:ext>
              </a:extLst>
            </p:cNvPr>
            <p:cNvSpPr/>
            <p:nvPr/>
          </p:nvSpPr>
          <p:spPr>
            <a:xfrm>
              <a:off x="1323168" y="1525487"/>
              <a:ext cx="4242537" cy="6480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indent="-177800">
                <a:lnSpc>
                  <a:spcPct val="110000"/>
                </a:lnSpc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통합재무정보시스템 구축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인적자원관리시스템 구축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내부 시스템 인터페이스 테이블 구축을 통한 경영정보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통합시스템  기반 구축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A8BF712D-7B84-46DF-AD95-69D0DD7D85B2}"/>
              </a:ext>
            </a:extLst>
          </p:cNvPr>
          <p:cNvSpPr/>
          <p:nvPr/>
        </p:nvSpPr>
        <p:spPr>
          <a:xfrm>
            <a:off x="344487" y="1049065"/>
            <a:ext cx="978681" cy="37285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과제명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36FE381F-817A-42CF-BF1B-3E13CBBAAA4B}"/>
              </a:ext>
            </a:extLst>
          </p:cNvPr>
          <p:cNvSpPr/>
          <p:nvPr/>
        </p:nvSpPr>
        <p:spPr>
          <a:xfrm>
            <a:off x="1323170" y="1049065"/>
            <a:ext cx="8192739" cy="37285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경영정보통합시스템 기반 구축</a:t>
            </a:r>
            <a:endParaRPr lang="ko-KR" altLang="en-US" sz="1200" b="1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6" name="그룹 35"/>
          <p:cNvGrpSpPr/>
          <p:nvPr/>
        </p:nvGrpSpPr>
        <p:grpSpPr>
          <a:xfrm>
            <a:off x="344487" y="2239479"/>
            <a:ext cx="5221218" cy="1224000"/>
            <a:chOff x="344487" y="2238091"/>
            <a:chExt cx="5221218" cy="122400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xmlns="" id="{88067CC1-0198-42F4-8E37-5D61D210DAC0}"/>
                </a:ext>
              </a:extLst>
            </p:cNvPr>
            <p:cNvSpPr/>
            <p:nvPr/>
          </p:nvSpPr>
          <p:spPr>
            <a:xfrm>
              <a:off x="344487" y="2238091"/>
              <a:ext cx="978681" cy="1224000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개선방안</a:t>
              </a: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xmlns="" id="{A9BE80A9-135F-4650-8783-BC605C629F99}"/>
                </a:ext>
              </a:extLst>
            </p:cNvPr>
            <p:cNvSpPr/>
            <p:nvPr/>
          </p:nvSpPr>
          <p:spPr>
            <a:xfrm>
              <a:off x="1323168" y="2238091"/>
              <a:ext cx="4242537" cy="12240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indent="-177800">
                <a:lnSpc>
                  <a:spcPct val="110000"/>
                </a:lnSpc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예산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/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회계 구조개선 및 관리강화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계약 및 자산관리 업무 효율화를 위한 통합재무정보시스템 구축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lnSpc>
                  <a:spcPct val="110000"/>
                </a:lnSpc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일반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/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일용직의 인적자원 통합관리 서비스 제공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업무처리 룰 기반 서비스 개선 등을 위한 인적자원관리시스템 구축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lnSpc>
                  <a:spcPct val="110000"/>
                </a:lnSpc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수입결의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지출결의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전표의 인터페이스 테이블 구축을 통해 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화면을 통합하여 업무 간소화 실현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344487" y="3529471"/>
            <a:ext cx="5221218" cy="1440000"/>
            <a:chOff x="344487" y="3526695"/>
            <a:chExt cx="5221218" cy="1476000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xmlns="" id="{F2E63760-542B-4BE6-8E1F-EDF6769CDEFD}"/>
                </a:ext>
              </a:extLst>
            </p:cNvPr>
            <p:cNvSpPr/>
            <p:nvPr/>
          </p:nvSpPr>
          <p:spPr>
            <a:xfrm>
              <a:off x="344487" y="3526695"/>
              <a:ext cx="978681" cy="1476000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기대 효과</a:t>
              </a: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xmlns="" id="{C264E296-E489-4D9C-8C6D-C3363CA6FCE9}"/>
                </a:ext>
              </a:extLst>
            </p:cNvPr>
            <p:cNvSpPr/>
            <p:nvPr/>
          </p:nvSpPr>
          <p:spPr>
            <a:xfrm>
              <a:off x="1323168" y="3526695"/>
              <a:ext cx="4242537" cy="14760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예산편성 산출기초 정형화로 예산편성 오류 방지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균형 있는 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예산배분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다양한 산출내역 분석 시뮬레이션 가능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첨부파일이 아닌 시스템을 통한 정보 공유로 계약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/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관재 업무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효율성 증가</a:t>
              </a:r>
            </a:p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인사제도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정책의 변동에 따른 유지보수 절차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기간 및 범위의 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/>
              </a:r>
              <a:b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</a:b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최소화가 가능하여 시스템 관리에 용이</a:t>
              </a:r>
              <a:endParaRPr lang="ko-KR" altLang="en-US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연계로 작성되는 징수요구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/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지출요구 화면 및 전표 자동분개 화면 통합으로 업무 효율화 개선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344487" y="5035464"/>
            <a:ext cx="5221218" cy="1269818"/>
            <a:chOff x="344487" y="5067300"/>
            <a:chExt cx="5221218" cy="1237981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xmlns="" id="{B3E4041A-3BDB-4AA1-9AEF-8DF21A4C0376}"/>
                </a:ext>
              </a:extLst>
            </p:cNvPr>
            <p:cNvSpPr/>
            <p:nvPr/>
          </p:nvSpPr>
          <p:spPr>
            <a:xfrm>
              <a:off x="344487" y="5067300"/>
              <a:ext cx="978682" cy="1237981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고려사항</a:t>
              </a: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xmlns="" id="{62C771C5-6F57-40C0-839B-D819904E6B94}"/>
                </a:ext>
              </a:extLst>
            </p:cNvPr>
            <p:cNvSpPr/>
            <p:nvPr/>
          </p:nvSpPr>
          <p:spPr>
            <a:xfrm>
              <a:off x="1323168" y="5067300"/>
              <a:ext cx="4242537" cy="1237981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lvl="0" indent="-177800">
                <a:buFont typeface="Wingdings" pitchFamily="2" charset="2"/>
                <a:buChar char="§"/>
                <a:defRPr/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공단 공통코드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예산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자산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, 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인사코드 등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)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 통합 관리 마련 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예산편성 지침의 일부 개정과 월 결산과 회계 모니터링 관련 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제도의 일부 개정 필요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lvl="0" indent="-177800">
                <a:buFont typeface="Wingdings" pitchFamily="2" charset="2"/>
                <a:buChar char="§"/>
                <a:defRPr/>
              </a:pP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일반직과 일용직의 프로세스 통합에 따른 일용직 사용 권한 조정</a:t>
              </a:r>
              <a:r>
                <a:rPr kumimoji="1" lang="en-US" altLang="ko-KR" sz="1050" kern="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ko-KR" altLang="en-US" sz="1050" kern="0" dirty="0">
                  <a:solidFill>
                    <a:prstClr val="black"/>
                  </a:solidFill>
                  <a:latin typeface="+mn-ea"/>
                </a:rPr>
                <a:t>필요</a:t>
              </a:r>
              <a:endParaRPr lang="en-US" altLang="ko-KR" sz="1050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marL="177800" indent="-177800">
                <a:buFont typeface="Wingdings" pitchFamily="2" charset="2"/>
                <a:buChar char="§"/>
                <a:defRPr/>
              </a:pPr>
              <a:r>
                <a:rPr lang="ko-KR" altLang="en-US" sz="1050" dirty="0">
                  <a:latin typeface="+mn-ea"/>
                </a:rPr>
                <a:t>타 시스템에서 공통 인터페이스 테이블에 정보를 넣어 줄 수 있는 여건이 되는 지 고려 </a:t>
              </a: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xmlns="" id="{CED03AB7-39B8-44BD-9276-B82686E05B7C}"/>
              </a:ext>
            </a:extLst>
          </p:cNvPr>
          <p:cNvSpPr/>
          <p:nvPr/>
        </p:nvSpPr>
        <p:spPr>
          <a:xfrm>
            <a:off x="5731401" y="2807240"/>
            <a:ext cx="3758104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과제유형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xmlns="" id="{81DF6292-C547-46C9-B0B6-C53D24891398}"/>
              </a:ext>
            </a:extLst>
          </p:cNvPr>
          <p:cNvSpPr/>
          <p:nvPr/>
        </p:nvSpPr>
        <p:spPr>
          <a:xfrm>
            <a:off x="5731401" y="3127028"/>
            <a:ext cx="3758104" cy="720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xmlns="" id="{BC5317A0-E901-4A77-919D-315CF6DD3B5C}"/>
              </a:ext>
            </a:extLst>
          </p:cNvPr>
          <p:cNvSpPr/>
          <p:nvPr/>
        </p:nvSpPr>
        <p:spPr>
          <a:xfrm>
            <a:off x="5731400" y="1525487"/>
            <a:ext cx="589752" cy="1228544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수행주체</a:t>
            </a:r>
            <a:endParaRPr kumimoji="1" lang="en-US" altLang="ko-KR" sz="1400" b="1" kern="0" dirty="0"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xmlns="" id="{ACAC9A2C-6D34-4496-BDF0-7078E671DCFA}"/>
              </a:ext>
            </a:extLst>
          </p:cNvPr>
          <p:cNvSpPr/>
          <p:nvPr/>
        </p:nvSpPr>
        <p:spPr>
          <a:xfrm>
            <a:off x="6321153" y="1525487"/>
            <a:ext cx="3168352" cy="1228544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주관부서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정보기획팀</a:t>
            </a:r>
            <a:endParaRPr lang="en-US" altLang="ko-KR" sz="12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협조부서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-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통합재무 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 err="1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예산팀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재무관리팀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               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자금운용팀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총무팀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-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인적자원 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전략기획팀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인사팀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               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상생노사팀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xmlns="" id="{69BADDE2-210F-4078-9956-253EB679794B}"/>
              </a:ext>
            </a:extLst>
          </p:cNvPr>
          <p:cNvSpPr/>
          <p:nvPr/>
        </p:nvSpPr>
        <p:spPr>
          <a:xfrm>
            <a:off x="5731400" y="3908228"/>
            <a:ext cx="3758675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추진일정계획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xmlns="" id="{8302AA79-E20F-4AD6-91C3-720C76F00C73}"/>
              </a:ext>
            </a:extLst>
          </p:cNvPr>
          <p:cNvSpPr/>
          <p:nvPr/>
        </p:nvSpPr>
        <p:spPr>
          <a:xfrm>
            <a:off x="5731400" y="4231117"/>
            <a:ext cx="3758675" cy="487449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2019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년 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04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월 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~ 2020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년 </a:t>
            </a:r>
            <a:r>
              <a:rPr lang="en-US" altLang="ko-KR" sz="1100" kern="0" dirty="0">
                <a:latin typeface="맑은 고딕"/>
                <a:ea typeface="맑은 고딕" panose="020B0503020000020004" pitchFamily="50" charset="-127"/>
              </a:rPr>
              <a:t>01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월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(10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개월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xmlns="" id="{B0994C07-8390-4AB2-8AB8-094C299E36B7}"/>
              </a:ext>
            </a:extLst>
          </p:cNvPr>
          <p:cNvSpPr/>
          <p:nvPr/>
        </p:nvSpPr>
        <p:spPr>
          <a:xfrm>
            <a:off x="5731401" y="4719004"/>
            <a:ext cx="3758674" cy="792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xmlns="" id="{4C7EC4B6-AE4E-4B5A-A7E7-6902BB3A0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3807230"/>
              </p:ext>
            </p:extLst>
          </p:nvPr>
        </p:nvGraphicFramePr>
        <p:xfrm>
          <a:off x="5945070" y="4863019"/>
          <a:ext cx="3390968" cy="526748"/>
        </p:xfrm>
        <a:graphic>
          <a:graphicData uri="http://schemas.openxmlformats.org/drawingml/2006/table">
            <a:tbl>
              <a:tblPr/>
              <a:tblGrid>
                <a:gridCol w="847742">
                  <a:extLst>
                    <a:ext uri="{9D8B030D-6E8A-4147-A177-3AD203B41FA5}">
                      <a16:colId xmlns:a16="http://schemas.microsoft.com/office/drawing/2014/main" xmlns="" val="2572436112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2018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2019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2020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2021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xmlns="" id="{14FB4434-FF2F-4FD5-8C7E-EBE1C5C51680}"/>
              </a:ext>
            </a:extLst>
          </p:cNvPr>
          <p:cNvSpPr/>
          <p:nvPr/>
        </p:nvSpPr>
        <p:spPr>
          <a:xfrm>
            <a:off x="5731400" y="5563268"/>
            <a:ext cx="1052464" cy="730187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소요 비용</a:t>
            </a:r>
            <a:endParaRPr kumimoji="1" lang="en-US" altLang="ko-KR" sz="1400" b="1" kern="0" dirty="0">
              <a:latin typeface="+mn-ea"/>
            </a:endParaRPr>
          </a:p>
          <a:p>
            <a:pPr algn="ctr" latinLnBrk="0">
              <a:spcBef>
                <a:spcPct val="0"/>
              </a:spcBef>
            </a:pPr>
            <a:r>
              <a:rPr kumimoji="1" lang="en-US" altLang="ko-KR" sz="1400" b="1" kern="0" dirty="0">
                <a:latin typeface="+mn-ea"/>
              </a:rPr>
              <a:t>(VAT </a:t>
            </a:r>
            <a:r>
              <a:rPr kumimoji="1" lang="ko-KR" altLang="en-US" sz="1400" b="1" kern="0" dirty="0">
                <a:latin typeface="+mn-ea"/>
              </a:rPr>
              <a:t>포함</a:t>
            </a:r>
            <a:r>
              <a:rPr kumimoji="1" lang="en-US" altLang="ko-KR" sz="1400" b="1" kern="0" dirty="0">
                <a:latin typeface="+mn-ea"/>
              </a:rPr>
              <a:t>)</a:t>
            </a:r>
            <a:endParaRPr kumimoji="1" lang="ko-KR" altLang="en-US" sz="1400" b="1" kern="0" dirty="0"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xmlns="" id="{46BC1EFB-9828-49B6-8E81-21E3F19B50C9}"/>
              </a:ext>
            </a:extLst>
          </p:cNvPr>
          <p:cNvSpPr/>
          <p:nvPr/>
        </p:nvSpPr>
        <p:spPr>
          <a:xfrm>
            <a:off x="6783864" y="5563268"/>
            <a:ext cx="2706211" cy="730187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금액 </a:t>
            </a:r>
            <a:r>
              <a:rPr lang="en-US" altLang="ko-KR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1,765,060</a:t>
            </a:r>
            <a:endParaRPr lang="en-US" altLang="ko-KR" sz="1200" b="0" kern="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xmlns="" id="{88B38C3C-B0F2-4AE6-87B5-29ADED4FCCAD}"/>
              </a:ext>
            </a:extLst>
          </p:cNvPr>
          <p:cNvSpPr txBox="1"/>
          <p:nvPr/>
        </p:nvSpPr>
        <p:spPr>
          <a:xfrm>
            <a:off x="7881371" y="5581307"/>
            <a:ext cx="16081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천원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부가세포함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xmlns="" id="{9165183F-DEC6-4CB8-B3D0-4939CBEECA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0848611"/>
              </p:ext>
            </p:extLst>
          </p:nvPr>
        </p:nvGraphicFramePr>
        <p:xfrm>
          <a:off x="5930534" y="3219958"/>
          <a:ext cx="3390969" cy="526748"/>
        </p:xfrm>
        <a:graphic>
          <a:graphicData uri="http://schemas.openxmlformats.org/drawingml/2006/table">
            <a:tbl>
              <a:tblPr/>
              <a:tblGrid>
                <a:gridCol w="113032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시스템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컨설팅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인프라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70904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>
          <a:xfrm>
            <a:off x="344488" y="0"/>
            <a:ext cx="7992888" cy="781320"/>
          </a:xfrm>
        </p:spPr>
        <p:txBody>
          <a:bodyPr>
            <a:noAutofit/>
          </a:bodyPr>
          <a:lstStyle/>
          <a:p>
            <a:r>
              <a:rPr lang="en-US" altLang="ko-KR" dirty="0"/>
              <a:t>2.1.3 </a:t>
            </a:r>
            <a:r>
              <a:rPr lang="ko-KR" altLang="en-US" dirty="0"/>
              <a:t>이행과제 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sp>
        <p:nvSpPr>
          <p:cNvPr id="7" name="직사각형 5">
            <a:extLst>
              <a:ext uri="{FF2B5EF4-FFF2-40B4-BE49-F238E27FC236}">
                <a16:creationId xmlns:a16="http://schemas.microsoft.com/office/drawing/2014/main" xmlns="" id="{351A5119-8F20-4053-884C-8723485CD878}"/>
              </a:ext>
            </a:extLst>
          </p:cNvPr>
          <p:cNvSpPr/>
          <p:nvPr/>
        </p:nvSpPr>
        <p:spPr>
          <a:xfrm>
            <a:off x="344487" y="1525487"/>
            <a:ext cx="978682" cy="540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추진과제정의</a:t>
            </a:r>
          </a:p>
        </p:txBody>
      </p:sp>
      <p:sp>
        <p:nvSpPr>
          <p:cNvPr id="8" name="직사각형 6">
            <a:extLst>
              <a:ext uri="{FF2B5EF4-FFF2-40B4-BE49-F238E27FC236}">
                <a16:creationId xmlns:a16="http://schemas.microsoft.com/office/drawing/2014/main" xmlns="" id="{102266F8-1A8E-406D-859D-C4FC388B7705}"/>
              </a:ext>
            </a:extLst>
          </p:cNvPr>
          <p:cNvSpPr/>
          <p:nvPr/>
        </p:nvSpPr>
        <p:spPr>
          <a:xfrm>
            <a:off x="1323168" y="1525487"/>
            <a:ext cx="4242537" cy="540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기금지원관리시스템 구축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경영정보 포털 구축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의사결정 통계시스템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구축과 연계 고도화를 통한 경영정보통합시스템 고도화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A8BF712D-7B84-46DF-AD95-69D0DD7D85B2}"/>
              </a:ext>
            </a:extLst>
          </p:cNvPr>
          <p:cNvSpPr/>
          <p:nvPr/>
        </p:nvSpPr>
        <p:spPr>
          <a:xfrm>
            <a:off x="344487" y="1049065"/>
            <a:ext cx="978681" cy="37285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과제명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36FE381F-817A-42CF-BF1B-3E13CBBAAA4B}"/>
              </a:ext>
            </a:extLst>
          </p:cNvPr>
          <p:cNvSpPr/>
          <p:nvPr/>
        </p:nvSpPr>
        <p:spPr>
          <a:xfrm>
            <a:off x="1323170" y="1049065"/>
            <a:ext cx="8192739" cy="37285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경영정보통합시스템</a:t>
            </a:r>
            <a:r>
              <a:rPr lang="en-US" altLang="ko-KR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, </a:t>
            </a: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통계</a:t>
            </a:r>
            <a:r>
              <a:rPr lang="en-US" altLang="ko-KR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, </a:t>
            </a: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연계 고도화</a:t>
            </a:r>
            <a:endParaRPr lang="ko-KR" altLang="en-US" sz="1200" b="1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xmlns="" id="{88067CC1-0198-42F4-8E37-5D61D210DAC0}"/>
              </a:ext>
            </a:extLst>
          </p:cNvPr>
          <p:cNvSpPr/>
          <p:nvPr/>
        </p:nvSpPr>
        <p:spPr>
          <a:xfrm>
            <a:off x="344487" y="2137158"/>
            <a:ext cx="978681" cy="1440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개선방안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xmlns="" id="{A9BE80A9-135F-4650-8783-BC605C629F99}"/>
              </a:ext>
            </a:extLst>
          </p:cNvPr>
          <p:cNvSpPr/>
          <p:nvPr/>
        </p:nvSpPr>
        <p:spPr>
          <a:xfrm>
            <a:off x="1323168" y="2137158"/>
            <a:ext cx="4242537" cy="1440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기금정산 및 환수 업무 효율화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현장평가결과 환류업무 개선 등을 위한 기금지원관리시스템을 구축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차세대 경영정보시스템의 사용자 단일창구 일원화 제공을 위한 경영정보 포털 구축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데이터 집계 기반 통계정보 구축 및 솔루션 도입을 통한 통계서비스를 제공하고 데이터 분석 기반을 마련</a:t>
            </a:r>
          </a:p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검증된 기술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(ESB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솔루션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)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기반으로 내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.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외부 연계 체계를 표준화하고 통합하여 연계 기능의 효율성 및 확장성 확보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xmlns="" id="{F2E63760-542B-4BE6-8E1F-EDF6769CDEFD}"/>
              </a:ext>
            </a:extLst>
          </p:cNvPr>
          <p:cNvSpPr/>
          <p:nvPr/>
        </p:nvSpPr>
        <p:spPr>
          <a:xfrm>
            <a:off x="344487" y="3648829"/>
            <a:ext cx="978681" cy="1296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기대 효과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xmlns="" id="{C264E296-E489-4D9C-8C6D-C3363CA6FCE9}"/>
              </a:ext>
            </a:extLst>
          </p:cNvPr>
          <p:cNvSpPr/>
          <p:nvPr/>
        </p:nvSpPr>
        <p:spPr>
          <a:xfrm>
            <a:off x="1323168" y="3648829"/>
            <a:ext cx="4242537" cy="1296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dirty="0">
                <a:latin typeface="+mn-ea"/>
              </a:rPr>
              <a:t>기금관리업무 전과정의 정보화로 오프라인 문서유통을 줄이고</a:t>
            </a:r>
            <a:r>
              <a:rPr lang="en-US" altLang="ko-KR" sz="1050" dirty="0">
                <a:latin typeface="+mn-ea"/>
              </a:rPr>
              <a:t>, </a:t>
            </a:r>
            <a:r>
              <a:rPr lang="ko-KR" altLang="en-US" sz="1050" dirty="0">
                <a:latin typeface="+mn-ea"/>
              </a:rPr>
              <a:t>업무팀 간 정보 단절을 해결 </a:t>
            </a:r>
          </a:p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dirty="0">
                <a:latin typeface="+mn-ea"/>
              </a:rPr>
              <a:t>차세대 경영정보시스템의 업무처리를 위한 단일창구 마련 및 동적메뉴 구성체계와 개인화 서비스를 통한 업무처리 효율성 강화</a:t>
            </a:r>
            <a:endParaRPr lang="en-US" altLang="ko-KR" sz="1050" dirty="0">
              <a:latin typeface="+mn-ea"/>
            </a:endParaRPr>
          </a:p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dirty="0">
                <a:latin typeface="+mn-ea"/>
              </a:rPr>
              <a:t>경영 통계 정보를 종합적으로 관리하여 업무담당자의 통계 </a:t>
            </a:r>
            <a:r>
              <a:rPr lang="en-US" altLang="ko-KR" sz="1050" dirty="0">
                <a:latin typeface="+mn-ea"/>
              </a:rPr>
              <a:t/>
            </a:r>
            <a:br>
              <a:rPr lang="en-US" altLang="ko-KR" sz="1050" dirty="0">
                <a:latin typeface="+mn-ea"/>
              </a:rPr>
            </a:br>
            <a:r>
              <a:rPr lang="ko-KR" altLang="en-US" sz="1050" dirty="0">
                <a:latin typeface="+mn-ea"/>
              </a:rPr>
              <a:t>정보 접근성 제고 및 업무 효과성 기여</a:t>
            </a:r>
            <a:endParaRPr lang="en-US" altLang="ko-KR" sz="1050" dirty="0">
              <a:latin typeface="+mn-ea"/>
            </a:endParaRPr>
          </a:p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dirty="0">
                <a:latin typeface="+mn-ea"/>
              </a:rPr>
              <a:t>표준화 솔루션 기반 구축 시 향후 연계기관이나 시스템의 추가 및 변경 시 설정 변경만으로 처리 가능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B3E4041A-3BDB-4AA1-9AEF-8DF21A4C0376}"/>
              </a:ext>
            </a:extLst>
          </p:cNvPr>
          <p:cNvSpPr/>
          <p:nvPr/>
        </p:nvSpPr>
        <p:spPr>
          <a:xfrm>
            <a:off x="344487" y="5016500"/>
            <a:ext cx="978682" cy="1288781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고려사항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xmlns="" id="{62C771C5-6F57-40C0-839B-D819904E6B94}"/>
              </a:ext>
            </a:extLst>
          </p:cNvPr>
          <p:cNvSpPr/>
          <p:nvPr/>
        </p:nvSpPr>
        <p:spPr>
          <a:xfrm>
            <a:off x="1323168" y="5016500"/>
            <a:ext cx="4242537" cy="1288781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기금정산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환수 등에 대한 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e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나라도움과 연계가 되지 않는 정보에 대하여는 단기적으로 필요정보 등록 하도록 하고 장기적으로 정보연계 필요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1450" lvl="0" indent="-171450" defTabSz="1330325">
              <a:buFont typeface="Wingdings" panose="05000000000000000000" pitchFamily="2" charset="2"/>
              <a:buChar char="§"/>
              <a:defRPr/>
            </a:pPr>
            <a:r>
              <a:rPr kumimoji="1" lang="ko-KR" altLang="en-US" sz="1050" kern="0" dirty="0">
                <a:solidFill>
                  <a:prstClr val="black"/>
                </a:solidFill>
                <a:latin typeface="+mn-ea"/>
              </a:rPr>
              <a:t>정보시스템의 업무채널 일원화</a:t>
            </a:r>
            <a:r>
              <a:rPr kumimoji="1" lang="en-US" altLang="ko-KR" sz="1050" kern="0" dirty="0">
                <a:solidFill>
                  <a:prstClr val="black"/>
                </a:solidFill>
                <a:latin typeface="+mn-ea"/>
              </a:rPr>
              <a:t>, UI/UX </a:t>
            </a:r>
            <a:r>
              <a:rPr kumimoji="1" lang="ko-KR" altLang="en-US" sz="1050" kern="0" dirty="0">
                <a:solidFill>
                  <a:prstClr val="black"/>
                </a:solidFill>
                <a:latin typeface="+mn-ea"/>
              </a:rPr>
              <a:t>표준</a:t>
            </a:r>
            <a:r>
              <a:rPr kumimoji="1" lang="en-US" altLang="ko-KR" sz="1050" kern="0" dirty="0">
                <a:solidFill>
                  <a:prstClr val="black"/>
                </a:solidFill>
                <a:latin typeface="+mn-ea"/>
              </a:rPr>
              <a:t>, </a:t>
            </a:r>
            <a:r>
              <a:rPr kumimoji="1" lang="ko-KR" altLang="en-US" sz="1050" kern="0" dirty="0">
                <a:solidFill>
                  <a:prstClr val="black"/>
                </a:solidFill>
                <a:latin typeface="+mn-ea"/>
              </a:rPr>
              <a:t>사용자 통합관리 체계를 위한 정보시스템 운영 규정지침 필요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통계 데이터의 적시성 및 지속성을 위한 지속적인 관리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/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운영 고려 필요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1450" indent="-171450" defTabSz="1330325">
              <a:buFont typeface="Wingdings" panose="05000000000000000000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공단 업무 규모 및 예산범위를 고려한 적절한 연계솔루션 선택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xmlns="" id="{4C7EC4B6-AE4E-4B5A-A7E7-6902BB3A0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0511085"/>
              </p:ext>
            </p:extLst>
          </p:nvPr>
        </p:nvGraphicFramePr>
        <p:xfrm>
          <a:off x="5889104" y="4859624"/>
          <a:ext cx="3390968" cy="526748"/>
        </p:xfrm>
        <a:graphic>
          <a:graphicData uri="http://schemas.openxmlformats.org/drawingml/2006/table">
            <a:tbl>
              <a:tblPr/>
              <a:tblGrid>
                <a:gridCol w="847742">
                  <a:extLst>
                    <a:ext uri="{9D8B030D-6E8A-4147-A177-3AD203B41FA5}">
                      <a16:colId xmlns:a16="http://schemas.microsoft.com/office/drawing/2014/main" xmlns="" val="2572436112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2018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2019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2020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2021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xmlns="" id="{14FB4434-FF2F-4FD5-8C7E-EBE1C5C51680}"/>
              </a:ext>
            </a:extLst>
          </p:cNvPr>
          <p:cNvSpPr/>
          <p:nvPr/>
        </p:nvSpPr>
        <p:spPr>
          <a:xfrm>
            <a:off x="5731400" y="5563268"/>
            <a:ext cx="1052464" cy="730187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소요 비용</a:t>
            </a:r>
            <a:endParaRPr kumimoji="1" lang="en-US" altLang="ko-KR" sz="1400" b="1" kern="0" dirty="0">
              <a:latin typeface="+mn-ea"/>
            </a:endParaRPr>
          </a:p>
          <a:p>
            <a:pPr algn="ctr" latinLnBrk="0">
              <a:spcBef>
                <a:spcPct val="0"/>
              </a:spcBef>
            </a:pPr>
            <a:r>
              <a:rPr kumimoji="1" lang="en-US" altLang="ko-KR" sz="1400" b="1" kern="0" dirty="0">
                <a:latin typeface="+mn-ea"/>
              </a:rPr>
              <a:t>(VAT </a:t>
            </a:r>
            <a:r>
              <a:rPr kumimoji="1" lang="ko-KR" altLang="en-US" sz="1400" b="1" kern="0" dirty="0">
                <a:latin typeface="+mn-ea"/>
              </a:rPr>
              <a:t>포함</a:t>
            </a:r>
            <a:r>
              <a:rPr kumimoji="1" lang="en-US" altLang="ko-KR" sz="1400" b="1" kern="0" dirty="0">
                <a:latin typeface="+mn-ea"/>
              </a:rPr>
              <a:t>)</a:t>
            </a:r>
            <a:endParaRPr kumimoji="1" lang="ko-KR" altLang="en-US" sz="1400" b="1" kern="0" dirty="0"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xmlns="" id="{46BC1EFB-9828-49B6-8E81-21E3F19B50C9}"/>
              </a:ext>
            </a:extLst>
          </p:cNvPr>
          <p:cNvSpPr/>
          <p:nvPr/>
        </p:nvSpPr>
        <p:spPr>
          <a:xfrm>
            <a:off x="6783864" y="5563268"/>
            <a:ext cx="2706211" cy="730187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금액 </a:t>
            </a:r>
            <a:r>
              <a:rPr lang="en-US" altLang="ko-KR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en-US" altLang="ko-KR" sz="120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1,495,985</a:t>
            </a:r>
            <a:endParaRPr lang="en-US" altLang="ko-KR" sz="1200" b="0" kern="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xmlns="" id="{9CCA13AA-9922-4F32-974C-184975F2D4D8}"/>
              </a:ext>
            </a:extLst>
          </p:cNvPr>
          <p:cNvSpPr/>
          <p:nvPr/>
        </p:nvSpPr>
        <p:spPr>
          <a:xfrm>
            <a:off x="5731401" y="2807240"/>
            <a:ext cx="3758104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과제유형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xmlns="" id="{76309F86-62BA-4641-A4F2-22AB47F35247}"/>
              </a:ext>
            </a:extLst>
          </p:cNvPr>
          <p:cNvSpPr/>
          <p:nvPr/>
        </p:nvSpPr>
        <p:spPr>
          <a:xfrm>
            <a:off x="5731401" y="3127028"/>
            <a:ext cx="3758104" cy="720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xmlns="" id="{6BBE79FC-1973-4F84-8231-4AF583ADD890}"/>
              </a:ext>
            </a:extLst>
          </p:cNvPr>
          <p:cNvSpPr/>
          <p:nvPr/>
        </p:nvSpPr>
        <p:spPr>
          <a:xfrm>
            <a:off x="5731400" y="1525487"/>
            <a:ext cx="589752" cy="1228544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수행주체</a:t>
            </a:r>
            <a:endParaRPr kumimoji="1" lang="en-US" altLang="ko-KR" sz="1400" b="1" kern="0" dirty="0"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xmlns="" id="{E6EEB174-86FB-4436-B967-00717A70C15D}"/>
              </a:ext>
            </a:extLst>
          </p:cNvPr>
          <p:cNvSpPr/>
          <p:nvPr/>
        </p:nvSpPr>
        <p:spPr>
          <a:xfrm>
            <a:off x="6321153" y="1525487"/>
            <a:ext cx="3168352" cy="1228544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주관부서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정보기획팀</a:t>
            </a:r>
            <a:endParaRPr lang="en-US" altLang="ko-KR" sz="12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협조부서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-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기금지원 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기금지원팀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기금환수팀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               기금평가팀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기금정산팀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               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체육진흥팀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-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통합재무 관련 팀</a:t>
            </a:r>
            <a:r>
              <a:rPr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인적자원 관련 팀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xmlns="" id="{A353F3B0-278F-4B55-A827-1CCC826B5141}"/>
              </a:ext>
            </a:extLst>
          </p:cNvPr>
          <p:cNvSpPr/>
          <p:nvPr/>
        </p:nvSpPr>
        <p:spPr>
          <a:xfrm>
            <a:off x="5731400" y="3908228"/>
            <a:ext cx="3758675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추진일정계획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xmlns="" id="{B20B5A16-96B1-49BB-B2BD-E8A15F6EB4BE}"/>
              </a:ext>
            </a:extLst>
          </p:cNvPr>
          <p:cNvSpPr/>
          <p:nvPr/>
        </p:nvSpPr>
        <p:spPr>
          <a:xfrm>
            <a:off x="5731400" y="4231117"/>
            <a:ext cx="3758675" cy="487449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2020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년 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04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월 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~ 2020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년 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09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월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(</a:t>
            </a:r>
            <a:r>
              <a:rPr lang="en-US" altLang="ko-KR" sz="1100" kern="0" dirty="0">
                <a:latin typeface="맑은 고딕"/>
                <a:ea typeface="맑은 고딕" panose="020B0503020000020004" pitchFamily="50" charset="-127"/>
              </a:rPr>
              <a:t>6</a:t>
            </a:r>
            <a:r>
              <a:rPr lang="ko-KR" altLang="en-US" sz="1100" b="0" kern="0" dirty="0">
                <a:latin typeface="맑은 고딕"/>
                <a:ea typeface="맑은 고딕" panose="020B0503020000020004" pitchFamily="50" charset="-127"/>
              </a:rPr>
              <a:t>개월</a:t>
            </a:r>
            <a:r>
              <a:rPr lang="en-US" altLang="ko-KR" sz="1100" b="0" kern="0" dirty="0"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xmlns="" id="{9FAFB749-FC9C-4AC1-BA92-DC1B7AEF3FE0}"/>
              </a:ext>
            </a:extLst>
          </p:cNvPr>
          <p:cNvSpPr/>
          <p:nvPr/>
        </p:nvSpPr>
        <p:spPr>
          <a:xfrm>
            <a:off x="5731401" y="4719004"/>
            <a:ext cx="3758674" cy="792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xmlns="" id="{FE4FD65E-08EC-4449-BFBA-17F655043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499258"/>
              </p:ext>
            </p:extLst>
          </p:nvPr>
        </p:nvGraphicFramePr>
        <p:xfrm>
          <a:off x="5930534" y="3219958"/>
          <a:ext cx="3390969" cy="526748"/>
        </p:xfrm>
        <a:graphic>
          <a:graphicData uri="http://schemas.openxmlformats.org/drawingml/2006/table">
            <a:tbl>
              <a:tblPr/>
              <a:tblGrid>
                <a:gridCol w="113032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시스템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컨설팅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인프라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xmlns="" id="{855F4742-687B-4AA8-8409-C411F4419196}"/>
              </a:ext>
            </a:extLst>
          </p:cNvPr>
          <p:cNvSpPr txBox="1"/>
          <p:nvPr/>
        </p:nvSpPr>
        <p:spPr>
          <a:xfrm>
            <a:off x="7881371" y="5581307"/>
            <a:ext cx="16081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천원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부가세포함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2362587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2.1.3 </a:t>
            </a:r>
            <a:r>
              <a:rPr lang="ko-KR" altLang="en-US" dirty="0"/>
              <a:t>이행과제 정의서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sp>
        <p:nvSpPr>
          <p:cNvPr id="7" name="직사각형 5">
            <a:extLst>
              <a:ext uri="{FF2B5EF4-FFF2-40B4-BE49-F238E27FC236}">
                <a16:creationId xmlns:a16="http://schemas.microsoft.com/office/drawing/2014/main" xmlns="" id="{351A5119-8F20-4053-884C-8723485CD878}"/>
              </a:ext>
            </a:extLst>
          </p:cNvPr>
          <p:cNvSpPr/>
          <p:nvPr/>
        </p:nvSpPr>
        <p:spPr>
          <a:xfrm>
            <a:off x="344487" y="1525487"/>
            <a:ext cx="978682" cy="720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추진과제정의</a:t>
            </a:r>
          </a:p>
        </p:txBody>
      </p:sp>
      <p:sp>
        <p:nvSpPr>
          <p:cNvPr id="8" name="직사각형 6">
            <a:extLst>
              <a:ext uri="{FF2B5EF4-FFF2-40B4-BE49-F238E27FC236}">
                <a16:creationId xmlns:a16="http://schemas.microsoft.com/office/drawing/2014/main" xmlns="" id="{102266F8-1A8E-406D-859D-C4FC388B7705}"/>
              </a:ext>
            </a:extLst>
          </p:cNvPr>
          <p:cNvSpPr/>
          <p:nvPr/>
        </p:nvSpPr>
        <p:spPr>
          <a:xfrm>
            <a:off x="1323168" y="1525487"/>
            <a:ext cx="4242537" cy="720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1450" indent="-171450" defTabSz="1330325">
              <a:lnSpc>
                <a:spcPct val="110000"/>
              </a:lnSpc>
              <a:buFont typeface="Wingdings" panose="05000000000000000000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국민체육진흥공단의 모바일 서비스 지원 기반을 마련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A8BF712D-7B84-46DF-AD95-69D0DD7D85B2}"/>
              </a:ext>
            </a:extLst>
          </p:cNvPr>
          <p:cNvSpPr/>
          <p:nvPr/>
        </p:nvSpPr>
        <p:spPr>
          <a:xfrm>
            <a:off x="344487" y="1049065"/>
            <a:ext cx="978681" cy="37285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과제명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36FE381F-817A-42CF-BF1B-3E13CBBAAA4B}"/>
              </a:ext>
            </a:extLst>
          </p:cNvPr>
          <p:cNvSpPr/>
          <p:nvPr/>
        </p:nvSpPr>
        <p:spPr>
          <a:xfrm>
            <a:off x="1323170" y="1049065"/>
            <a:ext cx="8192739" cy="37285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모바일 서비스 채널 확대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xmlns="" id="{88067CC1-0198-42F4-8E37-5D61D210DAC0}"/>
              </a:ext>
            </a:extLst>
          </p:cNvPr>
          <p:cNvSpPr/>
          <p:nvPr/>
        </p:nvSpPr>
        <p:spPr>
          <a:xfrm>
            <a:off x="344487" y="2300192"/>
            <a:ext cx="978681" cy="1188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개선방안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xmlns="" id="{A9BE80A9-135F-4650-8783-BC605C629F99}"/>
              </a:ext>
            </a:extLst>
          </p:cNvPr>
          <p:cNvSpPr/>
          <p:nvPr/>
        </p:nvSpPr>
        <p:spPr>
          <a:xfrm>
            <a:off x="1323168" y="2300192"/>
            <a:ext cx="4242537" cy="1188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업무 담당자들이 장소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시간에 구애받지 않고 경영정보시스템에 접근하여 필요한 서비스를 제공받을 수 있는 모바일 서비스 지원 기반을 마련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xmlns="" id="{F2E63760-542B-4BE6-8E1F-EDF6769CDEFD}"/>
              </a:ext>
            </a:extLst>
          </p:cNvPr>
          <p:cNvSpPr/>
          <p:nvPr/>
        </p:nvSpPr>
        <p:spPr>
          <a:xfrm>
            <a:off x="344487" y="3542897"/>
            <a:ext cx="978681" cy="158400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기대 효과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xmlns="" id="{C264E296-E489-4D9C-8C6D-C3363CA6FCE9}"/>
              </a:ext>
            </a:extLst>
          </p:cNvPr>
          <p:cNvSpPr/>
          <p:nvPr/>
        </p:nvSpPr>
        <p:spPr>
          <a:xfrm>
            <a:off x="1323168" y="3542897"/>
            <a:ext cx="4242537" cy="158400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언제 어디서나 모바일을 통한 업무 수행이 가능하게 되어 업무 편의성 증대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7800" indent="-177800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현장에서 필요로 하는 정보를 모바일지원시스템을 통해 현장에서 바로 조회가 가능함으로 현장조사 업무 효율화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B3E4041A-3BDB-4AA1-9AEF-8DF21A4C0376}"/>
              </a:ext>
            </a:extLst>
          </p:cNvPr>
          <p:cNvSpPr/>
          <p:nvPr/>
        </p:nvSpPr>
        <p:spPr>
          <a:xfrm>
            <a:off x="344487" y="5181601"/>
            <a:ext cx="978682" cy="112368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고려사항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xmlns="" id="{62C771C5-6F57-40C0-839B-D819904E6B94}"/>
              </a:ext>
            </a:extLst>
          </p:cNvPr>
          <p:cNvSpPr/>
          <p:nvPr/>
        </p:nvSpPr>
        <p:spPr>
          <a:xfrm>
            <a:off x="1323168" y="5181601"/>
            <a:ext cx="4242537" cy="112368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내부업무망과 연계되는 서비스 구축을 위해 국가정보원과 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/>
            </a:r>
            <a:b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</a:b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사전협의 필요</a:t>
            </a:r>
          </a:p>
          <a:p>
            <a:pPr marL="177800" indent="-177800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무선네트워크를 금지하는 등의 공단 보안지침 수정 필요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xmlns="" id="{4C7EC4B6-AE4E-4B5A-A7E7-6902BB3A0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833457"/>
              </p:ext>
            </p:extLst>
          </p:nvPr>
        </p:nvGraphicFramePr>
        <p:xfrm>
          <a:off x="5945071" y="4833967"/>
          <a:ext cx="3390968" cy="526748"/>
        </p:xfrm>
        <a:graphic>
          <a:graphicData uri="http://schemas.openxmlformats.org/drawingml/2006/table">
            <a:tbl>
              <a:tblPr/>
              <a:tblGrid>
                <a:gridCol w="847742">
                  <a:extLst>
                    <a:ext uri="{9D8B030D-6E8A-4147-A177-3AD203B41FA5}">
                      <a16:colId xmlns:a16="http://schemas.microsoft.com/office/drawing/2014/main" xmlns="" val="2572436112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2018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2019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2020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2021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xmlns="" id="{14FB4434-FF2F-4FD5-8C7E-EBE1C5C51680}"/>
              </a:ext>
            </a:extLst>
          </p:cNvPr>
          <p:cNvSpPr/>
          <p:nvPr/>
        </p:nvSpPr>
        <p:spPr>
          <a:xfrm>
            <a:off x="5731400" y="5563268"/>
            <a:ext cx="1052464" cy="730187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소요 비용</a:t>
            </a:r>
            <a:endParaRPr kumimoji="1" lang="en-US" altLang="ko-KR" sz="1400" b="1" kern="0" dirty="0">
              <a:latin typeface="+mn-ea"/>
            </a:endParaRPr>
          </a:p>
          <a:p>
            <a:pPr algn="ctr" latinLnBrk="0">
              <a:spcBef>
                <a:spcPct val="0"/>
              </a:spcBef>
            </a:pPr>
            <a:r>
              <a:rPr kumimoji="1" lang="en-US" altLang="ko-KR" sz="1400" b="1" kern="0" dirty="0">
                <a:latin typeface="+mn-ea"/>
              </a:rPr>
              <a:t>(VAT </a:t>
            </a:r>
            <a:r>
              <a:rPr kumimoji="1" lang="ko-KR" altLang="en-US" sz="1400" b="1" kern="0" dirty="0">
                <a:latin typeface="+mn-ea"/>
              </a:rPr>
              <a:t>포함</a:t>
            </a:r>
            <a:r>
              <a:rPr kumimoji="1" lang="en-US" altLang="ko-KR" sz="1400" b="1" kern="0" dirty="0">
                <a:latin typeface="+mn-ea"/>
              </a:rPr>
              <a:t>)</a:t>
            </a:r>
            <a:endParaRPr kumimoji="1" lang="ko-KR" altLang="en-US" sz="1400" b="1" kern="0" dirty="0"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xmlns="" id="{46BC1EFB-9828-49B6-8E81-21E3F19B50C9}"/>
              </a:ext>
            </a:extLst>
          </p:cNvPr>
          <p:cNvSpPr/>
          <p:nvPr/>
        </p:nvSpPr>
        <p:spPr>
          <a:xfrm>
            <a:off x="6783864" y="5563268"/>
            <a:ext cx="2706211" cy="730187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금액 </a:t>
            </a:r>
            <a:r>
              <a:rPr lang="en-US" altLang="ko-KR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829,510</a:t>
            </a:r>
            <a:endParaRPr lang="en-US" altLang="ko-KR" sz="1200" b="0" kern="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xmlns="" id="{9165183F-DEC6-4CB8-B3D0-4939CBEECA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213672"/>
              </p:ext>
            </p:extLst>
          </p:nvPr>
        </p:nvGraphicFramePr>
        <p:xfrm>
          <a:off x="5945070" y="3224179"/>
          <a:ext cx="3390969" cy="526748"/>
        </p:xfrm>
        <a:graphic>
          <a:graphicData uri="http://schemas.openxmlformats.org/drawingml/2006/table">
            <a:tbl>
              <a:tblPr/>
              <a:tblGrid>
                <a:gridCol w="113032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시스템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컨설팅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인프라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0" name="직사각형 29">
            <a:extLst>
              <a:ext uri="{FF2B5EF4-FFF2-40B4-BE49-F238E27FC236}">
                <a16:creationId xmlns:a16="http://schemas.microsoft.com/office/drawing/2014/main" xmlns="" id="{A9457E74-1D66-4A2C-8ADC-759139AA4D65}"/>
              </a:ext>
            </a:extLst>
          </p:cNvPr>
          <p:cNvSpPr/>
          <p:nvPr/>
        </p:nvSpPr>
        <p:spPr>
          <a:xfrm>
            <a:off x="5731401" y="2807240"/>
            <a:ext cx="3758104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과제유형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xmlns="" id="{F559E7C0-3EC1-4B21-82B5-C22D6FB1E7B3}"/>
              </a:ext>
            </a:extLst>
          </p:cNvPr>
          <p:cNvSpPr/>
          <p:nvPr/>
        </p:nvSpPr>
        <p:spPr>
          <a:xfrm>
            <a:off x="5731401" y="3127028"/>
            <a:ext cx="3758104" cy="720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xmlns="" id="{7F577976-B124-4780-A4F7-B218ADE10143}"/>
              </a:ext>
            </a:extLst>
          </p:cNvPr>
          <p:cNvSpPr/>
          <p:nvPr/>
        </p:nvSpPr>
        <p:spPr>
          <a:xfrm>
            <a:off x="5731400" y="1525487"/>
            <a:ext cx="589752" cy="1228544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수행주체</a:t>
            </a:r>
            <a:endParaRPr kumimoji="1" lang="en-US" altLang="ko-KR" sz="1400" b="1" kern="0" dirty="0"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xmlns="" id="{6FF5C30D-864D-41B3-A9AF-E0EF0E27D468}"/>
              </a:ext>
            </a:extLst>
          </p:cNvPr>
          <p:cNvSpPr/>
          <p:nvPr/>
        </p:nvSpPr>
        <p:spPr>
          <a:xfrm>
            <a:off x="6321153" y="1525487"/>
            <a:ext cx="3168352" cy="1228544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주관부서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정보기획팀</a:t>
            </a:r>
            <a:endParaRPr lang="en-US" altLang="ko-KR" sz="12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협조부서</a:t>
            </a:r>
            <a:endParaRPr lang="en-US" altLang="ko-KR" sz="120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  <a:p>
            <a:pPr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 -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인사팀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기금평가팀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xmlns="" id="{65C9F095-8D1E-4365-99A7-08182DAAD252}"/>
              </a:ext>
            </a:extLst>
          </p:cNvPr>
          <p:cNvSpPr/>
          <p:nvPr/>
        </p:nvSpPr>
        <p:spPr>
          <a:xfrm>
            <a:off x="5731400" y="3908228"/>
            <a:ext cx="3758675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추진일정계획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xmlns="" id="{21AAA67C-68C7-4CDA-A298-A7BAFFF6DAD1}"/>
              </a:ext>
            </a:extLst>
          </p:cNvPr>
          <p:cNvSpPr/>
          <p:nvPr/>
        </p:nvSpPr>
        <p:spPr>
          <a:xfrm>
            <a:off x="5731400" y="4231117"/>
            <a:ext cx="3758675" cy="487449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>
              <a:spcBef>
                <a:spcPts val="376"/>
              </a:spcBef>
              <a:buFont typeface="Wingdings" pitchFamily="2" charset="2"/>
              <a:buChar char="§"/>
              <a:defRPr/>
            </a:pPr>
            <a:r>
              <a:rPr lang="en-US" altLang="ko-KR" sz="1100" kern="0" dirty="0"/>
              <a:t>2022</a:t>
            </a:r>
            <a:r>
              <a:rPr lang="ko-KR" altLang="en-US" sz="1100" kern="0" dirty="0"/>
              <a:t>년 </a:t>
            </a:r>
            <a:r>
              <a:rPr lang="en-US" altLang="ko-KR" sz="1100" kern="0" dirty="0"/>
              <a:t>04</a:t>
            </a:r>
            <a:r>
              <a:rPr lang="ko-KR" altLang="en-US" sz="1100" kern="0" dirty="0"/>
              <a:t>월 </a:t>
            </a:r>
            <a:r>
              <a:rPr lang="en-US" altLang="ko-KR" sz="1100" kern="0" dirty="0"/>
              <a:t>~ 2022</a:t>
            </a:r>
            <a:r>
              <a:rPr lang="ko-KR" altLang="en-US" sz="1100" kern="0" dirty="0"/>
              <a:t>년 </a:t>
            </a:r>
            <a:r>
              <a:rPr lang="en-US" altLang="ko-KR" sz="1100" kern="0" dirty="0"/>
              <a:t>08</a:t>
            </a:r>
            <a:r>
              <a:rPr lang="ko-KR" altLang="en-US" sz="1100" kern="0" dirty="0"/>
              <a:t>월</a:t>
            </a:r>
            <a:r>
              <a:rPr lang="en-US" altLang="ko-KR" sz="1100" kern="0" dirty="0"/>
              <a:t>(4</a:t>
            </a:r>
            <a:r>
              <a:rPr lang="ko-KR" altLang="en-US" sz="1100" kern="0" dirty="0"/>
              <a:t>개월</a:t>
            </a:r>
            <a:r>
              <a:rPr lang="en-US" altLang="ko-KR" sz="1100" kern="0" dirty="0"/>
              <a:t>)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xmlns="" id="{DAD8FB1A-5F96-43FF-9D87-25B12548F09F}"/>
              </a:ext>
            </a:extLst>
          </p:cNvPr>
          <p:cNvSpPr/>
          <p:nvPr/>
        </p:nvSpPr>
        <p:spPr>
          <a:xfrm>
            <a:off x="5731401" y="4719004"/>
            <a:ext cx="3758674" cy="792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xmlns="" id="{8D8B6C87-0790-46AF-ACFD-51EAEDB7EED6}"/>
              </a:ext>
            </a:extLst>
          </p:cNvPr>
          <p:cNvSpPr txBox="1"/>
          <p:nvPr/>
        </p:nvSpPr>
        <p:spPr>
          <a:xfrm>
            <a:off x="7881371" y="5581307"/>
            <a:ext cx="16081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천원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부가세포함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2362587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fontAlgn="ctr" latinLnBrk="0"/>
            <a:r>
              <a:rPr lang="en-US" altLang="ko-KR" dirty="0"/>
              <a:t>2.1.3 </a:t>
            </a:r>
            <a:r>
              <a:rPr lang="ko-KR" altLang="en-US" dirty="0"/>
              <a:t>이행과제 정의서</a:t>
            </a:r>
            <a:endParaRPr lang="ko-KR" altLang="en-US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2.1 </a:t>
            </a:r>
            <a:r>
              <a:rPr lang="ko-KR" altLang="en-US" dirty="0"/>
              <a:t>이행과제 정의</a:t>
            </a:r>
            <a:endParaRPr lang="en-US" altLang="ko-KR" dirty="0"/>
          </a:p>
        </p:txBody>
      </p:sp>
      <p:grpSp>
        <p:nvGrpSpPr>
          <p:cNvPr id="36" name="그룹 35"/>
          <p:cNvGrpSpPr/>
          <p:nvPr/>
        </p:nvGrpSpPr>
        <p:grpSpPr>
          <a:xfrm>
            <a:off x="344487" y="1525487"/>
            <a:ext cx="5221218" cy="792000"/>
            <a:chOff x="344487" y="1525487"/>
            <a:chExt cx="5221218" cy="830570"/>
          </a:xfrm>
        </p:grpSpPr>
        <p:sp>
          <p:nvSpPr>
            <p:cNvPr id="7" name="직사각형 5">
              <a:extLst>
                <a:ext uri="{FF2B5EF4-FFF2-40B4-BE49-F238E27FC236}">
                  <a16:creationId xmlns:a16="http://schemas.microsoft.com/office/drawing/2014/main" xmlns="" id="{351A5119-8F20-4053-884C-8723485CD878}"/>
                </a:ext>
              </a:extLst>
            </p:cNvPr>
            <p:cNvSpPr/>
            <p:nvPr/>
          </p:nvSpPr>
          <p:spPr>
            <a:xfrm>
              <a:off x="344487" y="1525487"/>
              <a:ext cx="978682" cy="830570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추진과제정의</a:t>
              </a:r>
            </a:p>
          </p:txBody>
        </p:sp>
        <p:sp>
          <p:nvSpPr>
            <p:cNvPr id="8" name="직사각형 6">
              <a:extLst>
                <a:ext uri="{FF2B5EF4-FFF2-40B4-BE49-F238E27FC236}">
                  <a16:creationId xmlns:a16="http://schemas.microsoft.com/office/drawing/2014/main" xmlns="" id="{102266F8-1A8E-406D-859D-C4FC388B7705}"/>
                </a:ext>
              </a:extLst>
            </p:cNvPr>
            <p:cNvSpPr/>
            <p:nvPr/>
          </p:nvSpPr>
          <p:spPr>
            <a:xfrm>
              <a:off x="1323168" y="1525487"/>
              <a:ext cx="4242537" cy="83057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indent="-177800">
                <a:lnSpc>
                  <a:spcPct val="110000"/>
                </a:lnSpc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데이터품질관리체계를 강화하고 체계적인 품질관리 업무 지원을 위한 데이터 품질관리시스템과 메타데이터 시스템 구축 및 활용 방안 수립 </a:t>
              </a: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A8BF712D-7B84-46DF-AD95-69D0DD7D85B2}"/>
              </a:ext>
            </a:extLst>
          </p:cNvPr>
          <p:cNvSpPr/>
          <p:nvPr/>
        </p:nvSpPr>
        <p:spPr>
          <a:xfrm>
            <a:off x="344487" y="1049065"/>
            <a:ext cx="978681" cy="37285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과제명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36FE381F-817A-42CF-BF1B-3E13CBBAAA4B}"/>
              </a:ext>
            </a:extLst>
          </p:cNvPr>
          <p:cNvSpPr/>
          <p:nvPr/>
        </p:nvSpPr>
        <p:spPr>
          <a:xfrm>
            <a:off x="1323170" y="1049065"/>
            <a:ext cx="8192739" cy="37285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>
              <a:lnSpc>
                <a:spcPct val="110000"/>
              </a:lnSpc>
              <a:buFont typeface="Wingdings" pitchFamily="2" charset="2"/>
              <a:buChar char="§"/>
              <a:defRPr/>
            </a:pP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’</a:t>
            </a:r>
            <a:r>
              <a:rPr lang="en-US" altLang="ko-KR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18</a:t>
            </a:r>
            <a:r>
              <a:rPr lang="ko-KR" altLang="en-US" sz="1200" b="1" kern="0" dirty="0">
                <a:solidFill>
                  <a:sysClr val="windowText" lastClr="000000"/>
                </a:solidFill>
                <a:ea typeface="맑은 고딕" panose="020B0503020000020004" pitchFamily="50" charset="-127"/>
              </a:rPr>
              <a:t>년도 현행 구축 사업 추진</a:t>
            </a:r>
          </a:p>
        </p:txBody>
      </p:sp>
      <p:grpSp>
        <p:nvGrpSpPr>
          <p:cNvPr id="37" name="그룹 36"/>
          <p:cNvGrpSpPr/>
          <p:nvPr/>
        </p:nvGrpSpPr>
        <p:grpSpPr>
          <a:xfrm>
            <a:off x="344487" y="2386980"/>
            <a:ext cx="5221218" cy="1728000"/>
            <a:chOff x="344487" y="2464618"/>
            <a:chExt cx="5221218" cy="164751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xmlns="" id="{88067CC1-0198-42F4-8E37-5D61D210DAC0}"/>
                </a:ext>
              </a:extLst>
            </p:cNvPr>
            <p:cNvSpPr/>
            <p:nvPr/>
          </p:nvSpPr>
          <p:spPr>
            <a:xfrm>
              <a:off x="344487" y="2464618"/>
              <a:ext cx="978681" cy="1647510"/>
            </a:xfrm>
            <a:prstGeom prst="rect">
              <a:avLst/>
            </a:prstGeom>
            <a:solidFill>
              <a:srgbClr val="B1CFFC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72000" tIns="48397" rIns="72000" bIns="48397" anchor="ctr"/>
            <a:lstStyle/>
            <a:p>
              <a:pPr algn="ctr" latinLnBrk="0">
                <a:spcBef>
                  <a:spcPct val="0"/>
                </a:spcBef>
              </a:pPr>
              <a:r>
                <a:rPr kumimoji="1" lang="ko-KR" altLang="en-US" sz="1400" b="1" kern="0" dirty="0">
                  <a:latin typeface="+mn-ea"/>
                </a:rPr>
                <a:t>개선방안</a:t>
              </a: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xmlns="" id="{A9BE80A9-135F-4650-8783-BC605C629F99}"/>
                </a:ext>
              </a:extLst>
            </p:cNvPr>
            <p:cNvSpPr/>
            <p:nvPr/>
          </p:nvSpPr>
          <p:spPr>
            <a:xfrm>
              <a:off x="1323168" y="2464618"/>
              <a:ext cx="4242537" cy="164751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00"/>
              </a:solidFill>
            </a:ln>
          </p:spPr>
          <p:txBody>
            <a:bodyPr rtlCol="0" anchor="ctr">
              <a:noAutofit/>
            </a:bodyPr>
            <a:lstStyle/>
            <a:p>
              <a:pPr marL="177800" indent="-177800">
                <a:lnSpc>
                  <a:spcPct val="110000"/>
                </a:lnSpc>
                <a:spcAft>
                  <a:spcPts val="600"/>
                </a:spcAft>
                <a:buSzPct val="90000"/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데이터 표준화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데이터 품질관리 프로세스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데이터 품질 조직 등 핵심적인 데이터 품질관리 영역 강화 방안 제시</a:t>
              </a:r>
            </a:p>
            <a:p>
              <a:pPr marL="177800" indent="-177800">
                <a:lnSpc>
                  <a:spcPct val="110000"/>
                </a:lnSpc>
                <a:spcAft>
                  <a:spcPts val="600"/>
                </a:spcAft>
                <a:buSzPct val="90000"/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수작업에 의해 이루어지고 있는 데이터 품질관리 업무를 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지원하기 위한 메타데이터관리시스템과 데이터품질관리시스템 구축 및 활용방안 제시</a:t>
              </a:r>
            </a:p>
            <a:p>
              <a:pPr marL="177800" indent="-177800">
                <a:lnSpc>
                  <a:spcPct val="110000"/>
                </a:lnSpc>
                <a:spcAft>
                  <a:spcPts val="600"/>
                </a:spcAft>
                <a:buSzPct val="90000"/>
                <a:buFont typeface="Wingdings" pitchFamily="2" charset="2"/>
                <a:buChar char="§"/>
                <a:defRPr/>
              </a:pP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목표 데이터품질관리 체계 및 데이터품질관리 도구를 활용하여 차세대 경영정보시스템 구축에 적용할 상세 데이터 표준화 수립 </a:t>
              </a:r>
              <a: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105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ko-KR" altLang="en-US" sz="1050" kern="0" dirty="0">
                  <a:solidFill>
                    <a:sysClr val="windowText" lastClr="000000"/>
                  </a:solidFill>
                  <a:latin typeface="+mn-ea"/>
                </a:rPr>
                <a:t>방안을 제시</a:t>
              </a: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xmlns="" id="{F2E63760-542B-4BE6-8E1F-EDF6769CDEFD}"/>
              </a:ext>
            </a:extLst>
          </p:cNvPr>
          <p:cNvSpPr/>
          <p:nvPr/>
        </p:nvSpPr>
        <p:spPr>
          <a:xfrm>
            <a:off x="344487" y="4220689"/>
            <a:ext cx="978681" cy="942810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기대 효과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xmlns="" id="{C264E296-E489-4D9C-8C6D-C3363CA6FCE9}"/>
              </a:ext>
            </a:extLst>
          </p:cNvPr>
          <p:cNvSpPr/>
          <p:nvPr/>
        </p:nvSpPr>
        <p:spPr>
          <a:xfrm>
            <a:off x="1323168" y="4220689"/>
            <a:ext cx="4242537" cy="942810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defTabSz="859536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데이터 모델 검토 절차에 의한 무결성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정합성 오류 등 오류 최소화 및 데이터의 신뢰성 제고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7800" indent="-177800" defTabSz="859536">
              <a:lnSpc>
                <a:spcPct val="110000"/>
              </a:lnSpc>
              <a:spcAft>
                <a:spcPts val="600"/>
              </a:spcAft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데이터관리체계 지원 시스템에 의한 품질진단 자동화 등 수작업 배제로 업무 효율화 및 사람에 의한 오류 최소화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B3E4041A-3BDB-4AA1-9AEF-8DF21A4C0376}"/>
              </a:ext>
            </a:extLst>
          </p:cNvPr>
          <p:cNvSpPr/>
          <p:nvPr/>
        </p:nvSpPr>
        <p:spPr>
          <a:xfrm>
            <a:off x="344487" y="5272059"/>
            <a:ext cx="978682" cy="1033221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고려사항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xmlns="" id="{62C771C5-6F57-40C0-839B-D819904E6B94}"/>
              </a:ext>
            </a:extLst>
          </p:cNvPr>
          <p:cNvSpPr/>
          <p:nvPr/>
        </p:nvSpPr>
        <p:spPr>
          <a:xfrm>
            <a:off x="1323168" y="5272059"/>
            <a:ext cx="4242537" cy="1033221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defTabSz="859536" fontAlgn="auto">
              <a:lnSpc>
                <a:spcPct val="110000"/>
              </a:lnSpc>
              <a:spcBef>
                <a:spcPts val="0"/>
              </a:spcBef>
              <a:spcAft>
                <a:spcPts val="600"/>
              </a:spcAft>
              <a:buClrTx/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데이터 품질에 대한 </a:t>
            </a:r>
            <a:r>
              <a:rPr lang="ko-KR" altLang="en-US" sz="1050" kern="0" dirty="0" err="1">
                <a:solidFill>
                  <a:sysClr val="windowText" lastClr="000000"/>
                </a:solidFill>
                <a:latin typeface="+mn-ea"/>
              </a:rPr>
              <a:t>스폰서쉽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 강화를 위한 상세화된 데이터 품질방침 수립 및 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+mn-ea"/>
              </a:rPr>
              <a:t>KSPO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정보화 업무지침 반영 개정 필요</a:t>
            </a:r>
            <a:endParaRPr lang="en-US" altLang="ko-KR" sz="1050" kern="0" dirty="0">
              <a:solidFill>
                <a:sysClr val="windowText" lastClr="000000"/>
              </a:solidFill>
              <a:latin typeface="+mn-ea"/>
            </a:endParaRPr>
          </a:p>
          <a:p>
            <a:pPr marL="177800" indent="-177800" defTabSz="859536" fontAlgn="auto">
              <a:lnSpc>
                <a:spcPct val="110000"/>
              </a:lnSpc>
              <a:spcBef>
                <a:spcPts val="0"/>
              </a:spcBef>
              <a:spcAft>
                <a:spcPts val="600"/>
              </a:spcAft>
              <a:buClrTx/>
              <a:buSzPct val="90000"/>
              <a:buFont typeface="Wingdings" pitchFamily="2" charset="2"/>
              <a:buChar char="§"/>
              <a:defRPr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+mn-ea"/>
              </a:rPr>
              <a:t>메타데이터시스템과 데이터품질관리시스템 연동을 통한 데이터 품질 자동 진단 및 모니터링 체계의 강화 필요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xmlns="" id="{4C7EC4B6-AE4E-4B5A-A7E7-6902BB3A0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3397485"/>
              </p:ext>
            </p:extLst>
          </p:nvPr>
        </p:nvGraphicFramePr>
        <p:xfrm>
          <a:off x="5933003" y="4855465"/>
          <a:ext cx="3390968" cy="526748"/>
        </p:xfrm>
        <a:graphic>
          <a:graphicData uri="http://schemas.openxmlformats.org/drawingml/2006/table">
            <a:tbl>
              <a:tblPr/>
              <a:tblGrid>
                <a:gridCol w="847742">
                  <a:extLst>
                    <a:ext uri="{9D8B030D-6E8A-4147-A177-3AD203B41FA5}">
                      <a16:colId xmlns:a16="http://schemas.microsoft.com/office/drawing/2014/main" xmlns="" val="2572436112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774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2018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2019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2020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+mn-ea"/>
                          <a:ea typeface="+mn-ea"/>
                        </a:rPr>
                        <a:t>2021</a:t>
                      </a:r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xmlns="" id="{14FB4434-FF2F-4FD5-8C7E-EBE1C5C51680}"/>
              </a:ext>
            </a:extLst>
          </p:cNvPr>
          <p:cNvSpPr/>
          <p:nvPr/>
        </p:nvSpPr>
        <p:spPr>
          <a:xfrm>
            <a:off x="5731400" y="5563268"/>
            <a:ext cx="1052464" cy="730187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소요 비용</a:t>
            </a:r>
            <a:endParaRPr kumimoji="1" lang="en-US" altLang="ko-KR" sz="1400" b="1" kern="0" dirty="0">
              <a:latin typeface="+mn-ea"/>
            </a:endParaRPr>
          </a:p>
          <a:p>
            <a:pPr algn="ctr" latinLnBrk="0">
              <a:spcBef>
                <a:spcPct val="0"/>
              </a:spcBef>
            </a:pPr>
            <a:r>
              <a:rPr kumimoji="1" lang="en-US" altLang="ko-KR" sz="1400" b="1" kern="0" dirty="0">
                <a:latin typeface="+mn-ea"/>
              </a:rPr>
              <a:t>(VAT </a:t>
            </a:r>
            <a:r>
              <a:rPr kumimoji="1" lang="ko-KR" altLang="en-US" sz="1400" b="1" kern="0" dirty="0">
                <a:latin typeface="+mn-ea"/>
              </a:rPr>
              <a:t>포함</a:t>
            </a:r>
            <a:r>
              <a:rPr kumimoji="1" lang="en-US" altLang="ko-KR" sz="1400" b="1" kern="0" dirty="0">
                <a:latin typeface="+mn-ea"/>
              </a:rPr>
              <a:t>)</a:t>
            </a:r>
            <a:endParaRPr kumimoji="1" lang="ko-KR" altLang="en-US" sz="1400" b="1" kern="0" dirty="0"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xmlns="" id="{46BC1EFB-9828-49B6-8E81-21E3F19B50C9}"/>
              </a:ext>
            </a:extLst>
          </p:cNvPr>
          <p:cNvSpPr/>
          <p:nvPr/>
        </p:nvSpPr>
        <p:spPr>
          <a:xfrm>
            <a:off x="6783864" y="5563268"/>
            <a:ext cx="2706211" cy="730187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>
              <a:spcBef>
                <a:spcPts val="376"/>
              </a:spcBef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금액 </a:t>
            </a:r>
            <a:r>
              <a:rPr lang="en-US" altLang="ko-KR" sz="1200" b="0" kern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en-US" altLang="ko-KR" sz="1200" dirty="0">
                <a:solidFill>
                  <a:srgbClr val="000000"/>
                </a:solidFill>
                <a:latin typeface="+mn-ea"/>
              </a:rPr>
              <a:t>227,480</a:t>
            </a:r>
            <a:endParaRPr lang="en-US" altLang="ko-KR" sz="1200" kern="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xmlns="" id="{9165183F-DEC6-4CB8-B3D0-4939CBEECA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00293"/>
              </p:ext>
            </p:extLst>
          </p:nvPr>
        </p:nvGraphicFramePr>
        <p:xfrm>
          <a:off x="5914968" y="3223654"/>
          <a:ext cx="3390969" cy="526748"/>
        </p:xfrm>
        <a:graphic>
          <a:graphicData uri="http://schemas.openxmlformats.org/drawingml/2006/table">
            <a:tbl>
              <a:tblPr/>
              <a:tblGrid>
                <a:gridCol w="113032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303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6766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  <a:ea typeface="맑은 고딕"/>
                          <a:cs typeface="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시스템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컨설팅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+mn-ea"/>
                          <a:ea typeface="+mn-ea"/>
                        </a:rPr>
                        <a:t>인프라 구축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F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8983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11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○</a:t>
                      </a:r>
                      <a:endParaRPr lang="ko-KR" altLang="en-US" sz="11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xmlns="" id="{4976E847-B71A-4A40-A8E3-2517DF85FB17}"/>
              </a:ext>
            </a:extLst>
          </p:cNvPr>
          <p:cNvSpPr/>
          <p:nvPr/>
        </p:nvSpPr>
        <p:spPr>
          <a:xfrm>
            <a:off x="5731401" y="2807240"/>
            <a:ext cx="3758104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과제유형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xmlns="" id="{2230615B-D5FC-40BB-8012-F4F74D154699}"/>
              </a:ext>
            </a:extLst>
          </p:cNvPr>
          <p:cNvSpPr/>
          <p:nvPr/>
        </p:nvSpPr>
        <p:spPr>
          <a:xfrm>
            <a:off x="5731401" y="3127028"/>
            <a:ext cx="3758104" cy="720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xmlns="" id="{A4D88E15-973A-4EDF-AF82-B366A7BBE39F}"/>
              </a:ext>
            </a:extLst>
          </p:cNvPr>
          <p:cNvSpPr/>
          <p:nvPr/>
        </p:nvSpPr>
        <p:spPr>
          <a:xfrm>
            <a:off x="5731400" y="1525487"/>
            <a:ext cx="589752" cy="1228544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수행주체</a:t>
            </a:r>
            <a:endParaRPr kumimoji="1" lang="en-US" altLang="ko-KR" sz="1400" b="1" kern="0" dirty="0"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xmlns="" id="{07D6326C-6BBE-4A9B-822A-8C1305F87155}"/>
              </a:ext>
            </a:extLst>
          </p:cNvPr>
          <p:cNvSpPr/>
          <p:nvPr/>
        </p:nvSpPr>
        <p:spPr>
          <a:xfrm>
            <a:off x="6321153" y="1525487"/>
            <a:ext cx="3168352" cy="1228544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77800" indent="-177800" eaLnBrk="1" fontAlgn="auto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주관부서</a:t>
            </a:r>
            <a:r>
              <a:rPr lang="en-US" altLang="ko-KR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lang="ko-KR" altLang="en-US" sz="1200" b="0" kern="0" dirty="0">
                <a:solidFill>
                  <a:sysClr val="windowText" lastClr="000000"/>
                </a:solidFill>
                <a:latin typeface="맑은 고딕"/>
                <a:ea typeface="맑은 고딕" panose="020B0503020000020004" pitchFamily="50" charset="-127"/>
              </a:rPr>
              <a:t>정보기획팀</a:t>
            </a:r>
            <a:endParaRPr lang="en-US" altLang="ko-KR" sz="1200" b="0" kern="0" dirty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xmlns="" id="{CA6CF087-B61F-43D2-8CBB-4E28D8B282DF}"/>
              </a:ext>
            </a:extLst>
          </p:cNvPr>
          <p:cNvSpPr/>
          <p:nvPr/>
        </p:nvSpPr>
        <p:spPr>
          <a:xfrm>
            <a:off x="5731400" y="3908228"/>
            <a:ext cx="3758675" cy="319788"/>
          </a:xfrm>
          <a:prstGeom prst="rect">
            <a:avLst/>
          </a:prstGeom>
          <a:solidFill>
            <a:srgbClr val="B1CFFC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72000" tIns="48397" rIns="72000" bIns="48397" anchor="ctr"/>
          <a:lstStyle/>
          <a:p>
            <a:pPr algn="ctr" latinLnBrk="0">
              <a:spcBef>
                <a:spcPct val="0"/>
              </a:spcBef>
            </a:pPr>
            <a:r>
              <a:rPr kumimoji="1" lang="ko-KR" altLang="en-US" sz="1400" b="1" kern="0" dirty="0">
                <a:latin typeface="+mn-ea"/>
              </a:rPr>
              <a:t>추진일정계획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xmlns="" id="{7168468C-4C14-4F5D-ADF5-0D35B645FB08}"/>
              </a:ext>
            </a:extLst>
          </p:cNvPr>
          <p:cNvSpPr/>
          <p:nvPr/>
        </p:nvSpPr>
        <p:spPr>
          <a:xfrm>
            <a:off x="5731400" y="4231117"/>
            <a:ext cx="3758675" cy="487449"/>
          </a:xfrm>
          <a:prstGeom prst="rect">
            <a:avLst/>
          </a:prstGeom>
          <a:solidFill>
            <a:schemeClr val="bg1"/>
          </a:solidFill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>
              <a:spcBef>
                <a:spcPts val="376"/>
              </a:spcBef>
              <a:buFont typeface="Wingdings" pitchFamily="2" charset="2"/>
              <a:buChar char="§"/>
              <a:defRPr/>
            </a:pPr>
            <a:r>
              <a:rPr lang="en-US" altLang="ko-KR" sz="1100" kern="0" dirty="0"/>
              <a:t>2018</a:t>
            </a:r>
            <a:r>
              <a:rPr lang="ko-KR" altLang="en-US" sz="1100" kern="0" dirty="0"/>
              <a:t>년 </a:t>
            </a:r>
            <a:r>
              <a:rPr lang="en-US" altLang="ko-KR" sz="1100" kern="0" dirty="0"/>
              <a:t>12</a:t>
            </a:r>
            <a:r>
              <a:rPr lang="ko-KR" altLang="en-US" sz="1100" kern="0" dirty="0"/>
              <a:t>월 </a:t>
            </a:r>
            <a:r>
              <a:rPr lang="en-US" altLang="ko-KR" sz="1100" kern="0" dirty="0"/>
              <a:t>~ 2019</a:t>
            </a:r>
            <a:r>
              <a:rPr lang="ko-KR" altLang="en-US" sz="1100" kern="0" dirty="0"/>
              <a:t>년 </a:t>
            </a:r>
            <a:r>
              <a:rPr lang="en-US" altLang="ko-KR" sz="1100" kern="0" dirty="0"/>
              <a:t>04</a:t>
            </a:r>
            <a:r>
              <a:rPr lang="ko-KR" altLang="en-US" sz="1100" kern="0" dirty="0"/>
              <a:t>월 </a:t>
            </a:r>
            <a:r>
              <a:rPr lang="en-US" altLang="ko-KR" sz="1100" kern="0" dirty="0"/>
              <a:t>(5</a:t>
            </a:r>
            <a:r>
              <a:rPr lang="ko-KR" altLang="en-US" sz="1100" kern="0" dirty="0"/>
              <a:t>개월</a:t>
            </a:r>
            <a:r>
              <a:rPr lang="en-US" altLang="ko-KR" sz="1100" kern="0" dirty="0"/>
              <a:t>)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xmlns="" id="{72AC4C8C-0275-4EEF-8BA5-1E2505ABE928}"/>
              </a:ext>
            </a:extLst>
          </p:cNvPr>
          <p:cNvSpPr/>
          <p:nvPr/>
        </p:nvSpPr>
        <p:spPr>
          <a:xfrm>
            <a:off x="5731401" y="4719004"/>
            <a:ext cx="3758674" cy="792000"/>
          </a:xfrm>
          <a:prstGeom prst="rect">
            <a:avLst/>
          </a:prstGeom>
          <a:noFill/>
          <a:ln>
            <a:solidFill>
              <a:srgbClr val="000000"/>
            </a:solidFill>
          </a:ln>
        </p:spPr>
        <p:txBody>
          <a:bodyPr rtlCol="0" anchor="ctr">
            <a:noAutofit/>
          </a:bodyPr>
          <a:lstStyle/>
          <a:p>
            <a:pPr marL="168625" indent="-168625" eaLnBrk="1" fontAlgn="auto" latinLnBrk="1" hangingPunct="1">
              <a:lnSpc>
                <a:spcPct val="100000"/>
              </a:lnSpc>
              <a:spcBef>
                <a:spcPts val="376"/>
              </a:spcBef>
              <a:spcAft>
                <a:spcPts val="0"/>
              </a:spcAft>
              <a:buClrTx/>
              <a:buFont typeface="Wingdings" pitchFamily="2" charset="2"/>
              <a:buChar char="§"/>
              <a:defRPr/>
            </a:pPr>
            <a:endParaRPr lang="en-US" altLang="ko-KR" sz="1100" b="0" kern="0">
              <a:solidFill>
                <a:sysClr val="windowText" lastClr="0000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xmlns="" id="{367EA01A-3712-4C71-8374-B7875AA11542}"/>
              </a:ext>
            </a:extLst>
          </p:cNvPr>
          <p:cNvSpPr txBox="1"/>
          <p:nvPr/>
        </p:nvSpPr>
        <p:spPr>
          <a:xfrm>
            <a:off x="7881371" y="5581307"/>
            <a:ext cx="16081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천원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부가세포함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2362587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업무효율화</a:t>
            </a:r>
            <a:r>
              <a:rPr lang="en-US" altLang="ko-KR" sz="1600" dirty="0"/>
              <a:t>, </a:t>
            </a:r>
            <a:r>
              <a:rPr lang="ko-KR" altLang="en-US" sz="1600" dirty="0"/>
              <a:t>고객만족도 및 </a:t>
            </a:r>
            <a:r>
              <a:rPr lang="ko-KR" altLang="en-US" sz="1600" dirty="0" err="1"/>
              <a:t>업무시급도에</a:t>
            </a:r>
            <a:r>
              <a:rPr lang="ko-KR" altLang="en-US" sz="1600" dirty="0"/>
              <a:t> 기초한 전략적 기대효과와 기술적 </a:t>
            </a:r>
            <a:r>
              <a:rPr lang="ko-KR" altLang="en-US" sz="1600" dirty="0" err="1"/>
              <a:t>구현성</a:t>
            </a:r>
            <a:r>
              <a:rPr lang="en-US" altLang="ko-KR" sz="1600" dirty="0"/>
              <a:t>, </a:t>
            </a:r>
            <a:r>
              <a:rPr lang="ko-KR" altLang="en-US" sz="1600" dirty="0"/>
              <a:t>추진 용이성에 기초한 실현 용이성의 두 가지 측면에서 평가함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2.2 </a:t>
            </a:r>
            <a:r>
              <a:rPr lang="ko-KR" altLang="en-US" dirty="0"/>
              <a:t>과제별 이행 추진단계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2.2.1 </a:t>
            </a:r>
            <a:r>
              <a:rPr lang="ko-KR" altLang="en-US" dirty="0"/>
              <a:t>이행과제 우선순위 평가요소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2.2 </a:t>
            </a:r>
            <a:r>
              <a:rPr lang="ko-KR" altLang="en-US" dirty="0"/>
              <a:t>과제별 이행 추진단계</a:t>
            </a:r>
            <a:endParaRPr lang="en-US" altLang="ko-KR" dirty="0"/>
          </a:p>
        </p:txBody>
      </p:sp>
      <p:sp>
        <p:nvSpPr>
          <p:cNvPr id="44" name="직사각형 43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이행과제 우선순위 평가요소</a:t>
            </a:r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75" name="직사각형 74"/>
          <p:cNvSpPr/>
          <p:nvPr/>
        </p:nvSpPr>
        <p:spPr bwMode="auto">
          <a:xfrm>
            <a:off x="4130479" y="2054730"/>
            <a:ext cx="2238052" cy="540000"/>
          </a:xfrm>
          <a:prstGeom prst="rect">
            <a:avLst/>
          </a:prstGeom>
          <a:solidFill>
            <a:srgbClr val="B1CFFC"/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rIns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100000"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  <a:ea typeface="+mn-ea"/>
              </a:rPr>
              <a:t>이행과제 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  <a:ea typeface="+mn-ea"/>
              </a:rPr>
              <a:t/>
            </a:r>
            <a:b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  <a:ea typeface="+mn-ea"/>
              </a:rPr>
            </a:b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uLnTx/>
                <a:uFillTx/>
                <a:latin typeface="+mn-ea"/>
                <a:ea typeface="+mn-ea"/>
              </a:rPr>
              <a:t>우선순위 평가요소</a:t>
            </a:r>
          </a:p>
        </p:txBody>
      </p:sp>
      <p:cxnSp>
        <p:nvCxnSpPr>
          <p:cNvPr id="76" name="꺾인 연결선 75"/>
          <p:cNvCxnSpPr>
            <a:stCxn id="75" idx="2"/>
            <a:endCxn id="82" idx="0"/>
          </p:cNvCxnSpPr>
          <p:nvPr/>
        </p:nvCxnSpPr>
        <p:spPr bwMode="auto">
          <a:xfrm rot="5400000">
            <a:off x="4011117" y="1766179"/>
            <a:ext cx="409839" cy="2066941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77" name="꺾인 연결선 76"/>
          <p:cNvCxnSpPr>
            <a:stCxn id="75" idx="2"/>
            <a:endCxn id="83" idx="0"/>
          </p:cNvCxnSpPr>
          <p:nvPr/>
        </p:nvCxnSpPr>
        <p:spPr bwMode="auto">
          <a:xfrm rot="16200000" flipH="1">
            <a:off x="6078058" y="1766178"/>
            <a:ext cx="409839" cy="2066942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sp>
        <p:nvSpPr>
          <p:cNvPr id="78" name="오각형 77"/>
          <p:cNvSpPr/>
          <p:nvPr/>
        </p:nvSpPr>
        <p:spPr bwMode="auto">
          <a:xfrm>
            <a:off x="526530" y="2944188"/>
            <a:ext cx="544714" cy="527534"/>
          </a:xfrm>
          <a:prstGeom prst="homePlate">
            <a:avLst>
              <a:gd name="adj" fmla="val 22957"/>
            </a:avLst>
          </a:prstGeom>
          <a:solidFill>
            <a:sysClr val="window" lastClr="FFFFFF">
              <a:lumMod val="95000"/>
            </a:sysClr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/>
        </p:spPr>
        <p:txBody>
          <a:bodyPr vert="horz" wrap="square" lIns="0" rIns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평가</a:t>
            </a:r>
            <a:endParaRPr kumimoji="0" lang="en-US" altLang="ko-KR" sz="1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영역</a:t>
            </a:r>
          </a:p>
        </p:txBody>
      </p:sp>
      <p:sp>
        <p:nvSpPr>
          <p:cNvPr id="79" name="오각형 78"/>
          <p:cNvSpPr/>
          <p:nvPr/>
        </p:nvSpPr>
        <p:spPr bwMode="auto">
          <a:xfrm>
            <a:off x="526530" y="4090944"/>
            <a:ext cx="544714" cy="527531"/>
          </a:xfrm>
          <a:prstGeom prst="homePlate">
            <a:avLst>
              <a:gd name="adj" fmla="val 22957"/>
            </a:avLst>
          </a:prstGeom>
          <a:solidFill>
            <a:sysClr val="window" lastClr="FFFFFF">
              <a:lumMod val="95000"/>
            </a:sysClr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/>
        </p:spPr>
        <p:txBody>
          <a:bodyPr vert="horz" wrap="square" lIns="0" rIns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평가</a:t>
            </a:r>
            <a:endParaRPr kumimoji="0" lang="en-US" altLang="ko-KR" sz="1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항목</a:t>
            </a:r>
          </a:p>
        </p:txBody>
      </p:sp>
      <p:sp>
        <p:nvSpPr>
          <p:cNvPr id="81" name="오각형 80"/>
          <p:cNvSpPr/>
          <p:nvPr/>
        </p:nvSpPr>
        <p:spPr bwMode="auto">
          <a:xfrm>
            <a:off x="526530" y="4818662"/>
            <a:ext cx="544714" cy="1354675"/>
          </a:xfrm>
          <a:prstGeom prst="homePlate">
            <a:avLst>
              <a:gd name="adj" fmla="val 21539"/>
            </a:avLst>
          </a:prstGeom>
          <a:solidFill>
            <a:sysClr val="window" lastClr="FFFFFF">
              <a:lumMod val="95000"/>
            </a:sysClr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/>
        </p:spPr>
        <p:txBody>
          <a:bodyPr vert="horz" wrap="square" lIns="0" rIns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내용</a:t>
            </a:r>
          </a:p>
        </p:txBody>
      </p:sp>
      <p:sp>
        <p:nvSpPr>
          <p:cNvPr id="82" name="직사각형 81"/>
          <p:cNvSpPr/>
          <p:nvPr/>
        </p:nvSpPr>
        <p:spPr bwMode="auto">
          <a:xfrm>
            <a:off x="2486058" y="3004570"/>
            <a:ext cx="1393013" cy="504000"/>
          </a:xfrm>
          <a:prstGeom prst="rect">
            <a:avLst/>
          </a:prstGeom>
          <a:solidFill>
            <a:srgbClr val="B1CFFC"/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wrap="square" lIns="0" rIns="0" anchor="ctr"/>
          <a:lstStyle/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</a:rPr>
              <a:t>전략적 기대효과</a:t>
            </a:r>
          </a:p>
        </p:txBody>
      </p:sp>
      <p:sp>
        <p:nvSpPr>
          <p:cNvPr id="83" name="직사각형 82"/>
          <p:cNvSpPr/>
          <p:nvPr/>
        </p:nvSpPr>
        <p:spPr bwMode="auto">
          <a:xfrm>
            <a:off x="6619941" y="3004570"/>
            <a:ext cx="1393013" cy="504000"/>
          </a:xfrm>
          <a:prstGeom prst="rect">
            <a:avLst/>
          </a:prstGeom>
          <a:solidFill>
            <a:srgbClr val="B1CFFC"/>
          </a:solidFill>
          <a:ln w="6350" algn="ctr">
            <a:solidFill>
              <a:sysClr val="window" lastClr="FFFFFF">
                <a:lumMod val="65000"/>
              </a:sysClr>
            </a:solidFill>
            <a:miter lim="800000"/>
            <a:headEnd/>
            <a:tailEnd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wrap="square" lIns="0" rIns="0" anchor="ctr"/>
          <a:lstStyle/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ea typeface="+mn-ea"/>
              </a:rPr>
              <a:t>실현 용이성</a:t>
            </a:r>
          </a:p>
        </p:txBody>
      </p:sp>
      <p:sp>
        <p:nvSpPr>
          <p:cNvPr id="84" name="직사각형 83"/>
          <p:cNvSpPr/>
          <p:nvPr/>
        </p:nvSpPr>
        <p:spPr bwMode="auto">
          <a:xfrm>
            <a:off x="2530443" y="4090943"/>
            <a:ext cx="1304242" cy="52753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lIns="0" tIns="36000" rIns="0" bIns="36000" anchor="ctr"/>
          <a:lstStyle/>
          <a:p>
            <a:pPr algn="ctr" defTabSz="1330325" fontAlgn="auto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200" b="1" kern="0" dirty="0">
                <a:latin typeface="+mn-ea"/>
                <a:ea typeface="+mn-ea"/>
              </a:rPr>
              <a:t>고객 만족도</a:t>
            </a:r>
          </a:p>
        </p:txBody>
      </p:sp>
      <p:sp>
        <p:nvSpPr>
          <p:cNvPr id="86" name="직사각형 85"/>
          <p:cNvSpPr/>
          <p:nvPr/>
        </p:nvSpPr>
        <p:spPr bwMode="auto">
          <a:xfrm>
            <a:off x="3908405" y="4090943"/>
            <a:ext cx="1304242" cy="52753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lIns="0" tIns="36000" rIns="0" bIns="36000" anchor="ctr"/>
          <a:lstStyle/>
          <a:p>
            <a:pPr algn="ctr" defTabSz="1330325" fontAlgn="auto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200" b="1" kern="0" dirty="0">
                <a:latin typeface="+mn-ea"/>
                <a:ea typeface="+mn-ea"/>
              </a:rPr>
              <a:t>업무 시급도</a:t>
            </a:r>
          </a:p>
        </p:txBody>
      </p:sp>
      <p:sp>
        <p:nvSpPr>
          <p:cNvPr id="87" name="직사각형 86"/>
          <p:cNvSpPr/>
          <p:nvPr/>
        </p:nvSpPr>
        <p:spPr bwMode="auto">
          <a:xfrm>
            <a:off x="1152482" y="4090943"/>
            <a:ext cx="1304242" cy="52753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lIns="0" tIns="36000" rIns="0" bIns="36000" anchor="ctr"/>
          <a:lstStyle/>
          <a:p>
            <a:pPr algn="ctr" defTabSz="1330325" fontAlgn="auto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200" b="1" kern="0" dirty="0">
                <a:latin typeface="+mn-ea"/>
                <a:ea typeface="+mn-ea"/>
              </a:rPr>
              <a:t>업무 효율화</a:t>
            </a:r>
          </a:p>
        </p:txBody>
      </p:sp>
      <p:sp>
        <p:nvSpPr>
          <p:cNvPr id="88" name="직사각형 87"/>
          <p:cNvSpPr/>
          <p:nvPr/>
        </p:nvSpPr>
        <p:spPr bwMode="auto">
          <a:xfrm>
            <a:off x="7339073" y="4090943"/>
            <a:ext cx="1304242" cy="52753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lIns="0" tIns="36000" rIns="0" bIns="36000" anchor="ctr"/>
          <a:lstStyle/>
          <a:p>
            <a:pPr algn="ctr" defTabSz="1330325" fontAlgn="auto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200" b="1" kern="0" dirty="0">
                <a:latin typeface="+mn-ea"/>
                <a:ea typeface="+mn-ea"/>
              </a:rPr>
              <a:t>추진 용이성</a:t>
            </a:r>
          </a:p>
        </p:txBody>
      </p:sp>
      <p:sp>
        <p:nvSpPr>
          <p:cNvPr id="89" name="직사각형 88"/>
          <p:cNvSpPr/>
          <p:nvPr/>
        </p:nvSpPr>
        <p:spPr bwMode="auto">
          <a:xfrm>
            <a:off x="5961112" y="4090943"/>
            <a:ext cx="1304242" cy="52753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lIns="0" tIns="36000" rIns="0" bIns="36000" anchor="ctr"/>
          <a:lstStyle/>
          <a:p>
            <a:pPr algn="ctr" defTabSz="1330325" fontAlgn="auto" latinLnBrk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1200" b="1" kern="0" dirty="0">
                <a:latin typeface="+mn-ea"/>
                <a:ea typeface="+mn-ea"/>
              </a:rPr>
              <a:t>기술적 구현성</a:t>
            </a:r>
          </a:p>
        </p:txBody>
      </p:sp>
      <p:sp>
        <p:nvSpPr>
          <p:cNvPr id="90" name="TextBox 89"/>
          <p:cNvSpPr txBox="1"/>
          <p:nvPr/>
        </p:nvSpPr>
        <p:spPr bwMode="auto">
          <a:xfrm>
            <a:off x="1152482" y="4818661"/>
            <a:ext cx="1304241" cy="135467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square" lIns="0" tIns="36000" rIns="0" bIns="36000" rtlCol="0">
            <a:noAutofit/>
          </a:bodyPr>
          <a:lstStyle/>
          <a:p>
            <a:pPr marL="88900" indent="-88900" defTabSz="708025" latinLnBrk="0">
              <a:spcBef>
                <a:spcPts val="4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1100" b="0" dirty="0">
                <a:latin typeface="+mn-ea"/>
                <a:ea typeface="+mn-ea"/>
              </a:rPr>
              <a:t>업무생산성 증대</a:t>
            </a:r>
            <a:r>
              <a:rPr lang="en-US" altLang="ko-KR" sz="1100" b="0" dirty="0">
                <a:latin typeface="+mn-ea"/>
                <a:ea typeface="+mn-ea"/>
              </a:rPr>
              <a:t>, </a:t>
            </a:r>
            <a:r>
              <a:rPr lang="ko-KR" altLang="en-US" sz="1100" b="0" dirty="0">
                <a:latin typeface="+mn-ea"/>
                <a:ea typeface="+mn-ea"/>
              </a:rPr>
              <a:t>업무처리기간 단축 및 관리비용 절감 등 업무 효율화 정도</a:t>
            </a:r>
          </a:p>
        </p:txBody>
      </p:sp>
      <p:sp>
        <p:nvSpPr>
          <p:cNvPr id="91" name="TextBox 90"/>
          <p:cNvSpPr txBox="1"/>
          <p:nvPr/>
        </p:nvSpPr>
        <p:spPr bwMode="auto">
          <a:xfrm>
            <a:off x="2530443" y="4818662"/>
            <a:ext cx="1304241" cy="135467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square" lIns="0" tIns="36000" rIns="0" bIns="36000" rtlCol="0">
            <a:noAutofit/>
          </a:bodyPr>
          <a:lstStyle/>
          <a:p>
            <a:pPr marL="88900" indent="-88900" defTabSz="708025" latinLnBrk="0">
              <a:spcBef>
                <a:spcPts val="4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1100" b="0" dirty="0">
                <a:latin typeface="+mn-ea"/>
                <a:ea typeface="+mn-ea"/>
              </a:rPr>
              <a:t>고객편의성 제고</a:t>
            </a:r>
            <a:r>
              <a:rPr lang="en-US" altLang="ko-KR" sz="1100" b="0" dirty="0">
                <a:latin typeface="+mn-ea"/>
                <a:ea typeface="+mn-ea"/>
              </a:rPr>
              <a:t>, </a:t>
            </a:r>
            <a:r>
              <a:rPr lang="ko-KR" altLang="en-US" sz="1100" b="0" dirty="0">
                <a:latin typeface="+mn-ea"/>
                <a:ea typeface="+mn-ea"/>
              </a:rPr>
              <a:t>고객 대응 역량 및 고객서비스의 질적 향상 등 고객만족도 제고 정도</a:t>
            </a:r>
          </a:p>
        </p:txBody>
      </p:sp>
      <p:sp>
        <p:nvSpPr>
          <p:cNvPr id="92" name="TextBox 91"/>
          <p:cNvSpPr txBox="1"/>
          <p:nvPr/>
        </p:nvSpPr>
        <p:spPr bwMode="auto">
          <a:xfrm>
            <a:off x="3908405" y="4818661"/>
            <a:ext cx="1304241" cy="135467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square" lIns="0" tIns="36000" rIns="0" bIns="36000" rtlCol="0">
            <a:noAutofit/>
          </a:bodyPr>
          <a:lstStyle/>
          <a:p>
            <a:pPr marL="88900" indent="-88900" defTabSz="708025" latinLnBrk="0">
              <a:spcBef>
                <a:spcPts val="4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1100" b="0" dirty="0">
                <a:latin typeface="+mn-ea"/>
                <a:ea typeface="+mn-ea"/>
              </a:rPr>
              <a:t>업무 이행의 시급성 및 전략적 목표지원 정도</a:t>
            </a:r>
          </a:p>
        </p:txBody>
      </p:sp>
      <p:sp>
        <p:nvSpPr>
          <p:cNvPr id="93" name="TextBox 92"/>
          <p:cNvSpPr txBox="1"/>
          <p:nvPr/>
        </p:nvSpPr>
        <p:spPr bwMode="auto">
          <a:xfrm>
            <a:off x="5961112" y="4818661"/>
            <a:ext cx="1304241" cy="135467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square" lIns="0" tIns="36000" rIns="0" bIns="36000" rtlCol="0">
            <a:noAutofit/>
          </a:bodyPr>
          <a:lstStyle/>
          <a:p>
            <a:pPr marL="88900" indent="-88900" defTabSz="708025" latinLnBrk="0">
              <a:spcBef>
                <a:spcPts val="4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1100" b="0" dirty="0">
                <a:latin typeface="+mn-ea"/>
                <a:ea typeface="+mn-ea"/>
              </a:rPr>
              <a:t>기술적 수준과 보유 역량을 고려한 개발 난이도 및 구현 가능 정도</a:t>
            </a:r>
          </a:p>
        </p:txBody>
      </p:sp>
      <p:sp>
        <p:nvSpPr>
          <p:cNvPr id="94" name="TextBox 93"/>
          <p:cNvSpPr txBox="1"/>
          <p:nvPr/>
        </p:nvSpPr>
        <p:spPr bwMode="auto">
          <a:xfrm>
            <a:off x="7339073" y="4818660"/>
            <a:ext cx="1304241" cy="135467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square" lIns="0" tIns="36000" rIns="0" bIns="36000" rtlCol="0">
            <a:noAutofit/>
          </a:bodyPr>
          <a:lstStyle/>
          <a:p>
            <a:pPr marL="88900" indent="-88900" defTabSz="708025" latinLnBrk="0">
              <a:spcBef>
                <a:spcPts val="400"/>
              </a:spcBef>
              <a:buClr>
                <a:prstClr val="black"/>
              </a:buClr>
              <a:buFont typeface="Arial" panose="020B0604020202020204" pitchFamily="34" charset="0"/>
              <a:buChar char="•"/>
            </a:pPr>
            <a:r>
              <a:rPr lang="ko-KR" altLang="en-US" sz="1100" b="0" dirty="0">
                <a:latin typeface="+mn-ea"/>
                <a:ea typeface="+mn-ea"/>
              </a:rPr>
              <a:t>이행과제 추진을 위한 자원의 정도 및 조직 수용도 관점에서의 용이성 정도</a:t>
            </a:r>
          </a:p>
        </p:txBody>
      </p:sp>
      <p:cxnSp>
        <p:nvCxnSpPr>
          <p:cNvPr id="95" name="꺾인 연결선 94"/>
          <p:cNvCxnSpPr>
            <a:stCxn id="82" idx="2"/>
            <a:endCxn id="87" idx="0"/>
          </p:cNvCxnSpPr>
          <p:nvPr/>
        </p:nvCxnSpPr>
        <p:spPr bwMode="auto">
          <a:xfrm rot="5400000">
            <a:off x="2202398" y="3110774"/>
            <a:ext cx="582373" cy="1377962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96" name="꺾인 연결선 95"/>
          <p:cNvCxnSpPr>
            <a:stCxn id="82" idx="2"/>
            <a:endCxn id="84" idx="0"/>
          </p:cNvCxnSpPr>
          <p:nvPr/>
        </p:nvCxnSpPr>
        <p:spPr bwMode="auto">
          <a:xfrm rot="5400000">
            <a:off x="2891379" y="3799755"/>
            <a:ext cx="582373" cy="1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97" name="꺾인 연결선 96"/>
          <p:cNvCxnSpPr>
            <a:stCxn id="82" idx="2"/>
            <a:endCxn id="86" idx="0"/>
          </p:cNvCxnSpPr>
          <p:nvPr/>
        </p:nvCxnSpPr>
        <p:spPr bwMode="auto">
          <a:xfrm rot="16200000" flipH="1">
            <a:off x="3580359" y="3110774"/>
            <a:ext cx="582373" cy="1377961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98" name="꺾인 연결선 97"/>
          <p:cNvCxnSpPr>
            <a:stCxn id="83" idx="2"/>
            <a:endCxn id="89" idx="0"/>
          </p:cNvCxnSpPr>
          <p:nvPr/>
        </p:nvCxnSpPr>
        <p:spPr bwMode="auto">
          <a:xfrm rot="5400000">
            <a:off x="6673655" y="3448149"/>
            <a:ext cx="582373" cy="703215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  <p:cxnSp>
        <p:nvCxnSpPr>
          <p:cNvPr id="99" name="꺾인 연결선 98"/>
          <p:cNvCxnSpPr>
            <a:stCxn id="83" idx="2"/>
            <a:endCxn id="88" idx="0"/>
          </p:cNvCxnSpPr>
          <p:nvPr/>
        </p:nvCxnSpPr>
        <p:spPr bwMode="auto">
          <a:xfrm rot="16200000" flipH="1">
            <a:off x="7362635" y="3462383"/>
            <a:ext cx="582373" cy="67474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round/>
            <a:headEnd type="none"/>
            <a:tailEnd type="none"/>
          </a:ln>
          <a:effectLst/>
        </p:spPr>
      </p:cxnSp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이행과제의 추진단계는 전략적 기대효과와 실현 용이성의 두 가지 측면에서 평가하며 각 평가항목별 가중치를 두어 변별력을 확보함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2.2.1 </a:t>
            </a:r>
            <a:r>
              <a:rPr lang="ko-KR" altLang="en-US" dirty="0"/>
              <a:t>이행과제 우선순위 평가요소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2.2 </a:t>
            </a:r>
            <a:r>
              <a:rPr lang="ko-KR" altLang="en-US" dirty="0"/>
              <a:t>과제별 이행 추진단계</a:t>
            </a:r>
            <a:endParaRPr lang="en-US" altLang="ko-KR" dirty="0"/>
          </a:p>
        </p:txBody>
      </p:sp>
      <p:graphicFrame>
        <p:nvGraphicFramePr>
          <p:cNvPr id="39" name="Group 1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791602"/>
              </p:ext>
            </p:extLst>
          </p:nvPr>
        </p:nvGraphicFramePr>
        <p:xfrm>
          <a:off x="347603" y="1531392"/>
          <a:ext cx="9180001" cy="4866937"/>
        </p:xfrm>
        <a:graphic>
          <a:graphicData uri="http://schemas.openxmlformats.org/drawingml/2006/table">
            <a:tbl>
              <a:tblPr/>
              <a:tblGrid>
                <a:gridCol w="102396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239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9337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392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8194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47993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863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평가영역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평가항목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세부평가항목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세부내용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평가기준</a:t>
                      </a: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22163">
                <a:tc rowSpan="7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전략적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기대효과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가중치 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60%)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업무 효율화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rowSpan="3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Franklin Gothic Medium"/>
                          <a:ea typeface="산돌고딕B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수행을 통해 직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간접적으로 창출되는 비용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효율 측면의 효과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인력 절감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90488" algn="l"/>
                        </a:tabLst>
                      </a:pP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프로젝트 수행을 통해 달성되는 직</a:t>
                      </a:r>
                      <a:r>
                        <a:rPr kumimoji="1" lang="en-US" altLang="ko-KR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간접 효과로 창출되는 인력 절감 효과 및 관리비용 절감 효과에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7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매우 높음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높음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보통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낮음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거의 영향 없음</a:t>
                      </a:r>
                    </a:p>
                  </a:txBody>
                  <a:tcPr marL="126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8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  <a:cs typeface="Arial" pitchFamily="34" charset="0"/>
                      </a:endParaRPr>
                    </a:p>
                  </a:txBody>
                  <a:tcPr marL="89999" marR="89999" marT="46799" marB="467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Optima" pitchFamily="2" charset="2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업무처리시간 감소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업무생산성 강화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역량 증대를 통한 업무처리 시간 감소효과에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8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  <a:cs typeface="Arial" pitchFamily="34" charset="0"/>
                      </a:endParaRPr>
                    </a:p>
                  </a:txBody>
                  <a:tcPr marL="89999" marR="89999" marT="46799" marB="467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Optima" pitchFamily="2" charset="2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업무량 감소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정보화 혁신 및 인프라 개선을 통한 절대적 업무량의 감소 효과에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2216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고객 만족도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수행을 통해 고객에게 제공되는 서비스 수준의 향상으로 인한 고객만족도 향상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고객서비스 향상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고객서비스의 품질 향상 및 접속채널 확대 등 서비스의 질적 향상에 기인한 고객서비스 향상에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221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  <a:cs typeface="Arial" pitchFamily="34" charset="0"/>
                      </a:endParaRP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Optima" pitchFamily="2" charset="2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고객대응 역량 강화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고객의 서비스 요청에 대하여 정확하고 신속하게 정보를 제공할 수 있음에 따른 고객 신뢰도 및 만족도 향상에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608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  <a:cs typeface="Arial" pitchFamily="34" charset="0"/>
                      </a:endParaRP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Optima" pitchFamily="2" charset="2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 편의성 제고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고객의 서비스 사용 편의성 증진에 따른 고객만족도 향상에 기여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2216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업무 시급도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수행을 통해 우선적 업무 수행 가능과 전략적인 목표의 지원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업무의 시급성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업무가 시급하게 처리되어야 하는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0483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실현용이성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(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가중치 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40%)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기술적 </a:t>
                      </a:r>
                      <a:r>
                        <a:rPr kumimoji="1" lang="ko-KR" alt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구현성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추진을 위한 기술적 성숙도와 추진역량 확보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기술의 성숙도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추진을 위한 기술적 성숙도와 관련역량 확보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용이성 매우 높음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용이성 높음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보통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용이성 낮음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1: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용이성 매우 낮음</a:t>
                      </a:r>
                    </a:p>
                  </a:txBody>
                  <a:tcPr marL="126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99464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itchFamily="34" charset="0"/>
                        </a:rPr>
                        <a:t>추진 용이성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itchFamily="34" charset="0"/>
                      </a:endParaRP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추진을 위해 직접적으로 영향을 받는 자원 및 조직의 수용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투자 비용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자원 수준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수행을 위하여 확보 가능한 자원의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6052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en-US" altLang="ko-KR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  <a:cs typeface="Arial" pitchFamily="34" charset="0"/>
                      </a:endParaRPr>
                    </a:p>
                  </a:txBody>
                  <a:tcPr marL="89999" marR="89999" marT="46799" marB="4679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Optima" pitchFamily="2" charset="2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조직 수용성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90488" marR="0" lvl="0" indent="-904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Pct val="100000"/>
                        <a:buFont typeface="Wingdings" panose="05000000000000000000" pitchFamily="2" charset="2"/>
                        <a:buChar char="§"/>
                        <a:tabLst>
                          <a:tab pos="190500" algn="l"/>
                        </a:tabLst>
                        <a:defRPr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과제 수행을 위한 조직의 범위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규모와 추진 및 수행할 수 있는 수준의 정도</a:t>
                      </a:r>
                    </a:p>
                  </a:txBody>
                  <a:tcPr marL="18000" marR="18000" marT="18000" marB="18000" anchor="ctr" horzOverflow="overflow">
                    <a:lnL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000000"/>
                        </a:buClr>
                        <a:buSzPct val="100000"/>
                        <a:buFont typeface="Wingdings" pitchFamily="2" charset="2"/>
                        <a:buNone/>
                        <a:tabLst>
                          <a:tab pos="190500" algn="l"/>
                        </a:tabLst>
                      </a:pPr>
                      <a:endParaRPr kumimoji="1" lang="ko-KR" altLang="en-US" sz="12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가는각진제목체" pitchFamily="18" charset="-127"/>
                        <a:ea typeface="가는각진제목체" pitchFamily="18" charset="-127"/>
                      </a:endParaRPr>
                    </a:p>
                  </a:txBody>
                  <a:tcPr marL="89999" marR="89999" marT="46799" marB="46799" anchor="ctr" horzOverflow="overflow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이행과제의 추진단계는 전략적 기대효과와 실현 용이성의 두 가지 측면에서 평가하며 각 평가항목별 가중치를 두어 변별력을 확보함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2.2.2 </a:t>
            </a:r>
            <a:r>
              <a:rPr lang="ko-KR" altLang="en-US" dirty="0"/>
              <a:t>이행과제 우선순위 평가 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2.2 </a:t>
            </a:r>
            <a:r>
              <a:rPr lang="ko-KR" altLang="en-US" dirty="0"/>
              <a:t>과제별 이행 추진단계</a:t>
            </a:r>
            <a:endParaRPr lang="en-US" altLang="ko-KR" dirty="0"/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6327858"/>
              </p:ext>
            </p:extLst>
          </p:nvPr>
        </p:nvGraphicFramePr>
        <p:xfrm>
          <a:off x="287720" y="1531391"/>
          <a:ext cx="9183122" cy="4777332"/>
        </p:xfrm>
        <a:graphic>
          <a:graphicData uri="http://schemas.openxmlformats.org/drawingml/2006/table">
            <a:tbl>
              <a:tblPr/>
              <a:tblGrid>
                <a:gridCol w="194175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830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31548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이행과제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전략적 기대효과</a:t>
                      </a:r>
                      <a:r>
                        <a:rPr lang="en-US" altLang="ko-KR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(60%)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실현용이성</a:t>
                      </a:r>
                      <a:r>
                        <a:rPr lang="en-US" altLang="ko-KR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(40%)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0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5A8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1548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업무 효율화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고객 만족도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업무 시급도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평균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가중치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pc="-150" baseline="0" dirty="0" err="1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기술적구현성</a:t>
                      </a:r>
                      <a:endParaRPr lang="ko-KR" altLang="en-US" sz="900" b="1" i="0" u="none" strike="noStrike" spc="-150" baseline="0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추진 용이성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평균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pc="-150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가중치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총점</a:t>
                      </a:r>
                      <a:endParaRPr 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36591">
                <a:tc>
                  <a:txBody>
                    <a:bodyPr/>
                    <a:lstStyle/>
                    <a:p>
                      <a:pPr marL="88900" indent="-88900" algn="l" fontAlgn="ctr" latinLnBrk="0"/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경영정보통합시스템   </a:t>
                      </a:r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기반 구축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4.7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21.2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36591">
                <a:tc>
                  <a:txBody>
                    <a:bodyPr/>
                    <a:lstStyle/>
                    <a:p>
                      <a:pPr marL="88900" marR="0" indent="-889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경영정보통합시스템</a:t>
                      </a:r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  <a:r>
                        <a:rPr lang="en-US" altLang="ko-KR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고도화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4.3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18.1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036591">
                <a:tc>
                  <a:txBody>
                    <a:bodyPr/>
                    <a:lstStyle/>
                    <a:p>
                      <a:pPr marL="88900" marR="0" indent="-889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3. </a:t>
                      </a:r>
                      <a:r>
                        <a:rPr lang="ko-KR" altLang="en-US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모바일 서비스 채널 </a:t>
                      </a: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확대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3.7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9.3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036591">
                <a:tc>
                  <a:txBody>
                    <a:bodyPr/>
                    <a:lstStyle/>
                    <a:p>
                      <a:pPr marL="88900" marR="0" indent="-889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4. ’18</a:t>
                      </a:r>
                      <a:r>
                        <a:rPr lang="ko-KR" altLang="en-US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년도 현행 구축 사업 </a:t>
                      </a: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200" b="0" i="0" u="none" strike="noStrike" kern="120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추진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4.8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18.1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830005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2.3 </a:t>
            </a:r>
            <a:r>
              <a:rPr lang="ko-KR" altLang="en-US" dirty="0"/>
              <a:t>추진 로드맵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2.3.1 </a:t>
            </a:r>
            <a:r>
              <a:rPr lang="ko-KR" altLang="en-US" dirty="0"/>
              <a:t>단계별 추진 로드맵 </a:t>
            </a:r>
            <a:r>
              <a:rPr lang="en-US" altLang="ko-KR" dirty="0"/>
              <a:t>&gt; </a:t>
            </a:r>
            <a:r>
              <a:rPr lang="ko-KR" altLang="en-US"/>
              <a:t>추진 단계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2.3 </a:t>
            </a:r>
            <a:r>
              <a:rPr lang="ko-KR" altLang="en-US" dirty="0"/>
              <a:t>추진 로드맵 정의</a:t>
            </a:r>
            <a:endParaRPr lang="en-US" altLang="ko-KR" dirty="0"/>
          </a:p>
        </p:txBody>
      </p:sp>
      <p:sp>
        <p:nvSpPr>
          <p:cNvPr id="56" name="텍스트 개체 틀 1">
            <a:extLst>
              <a:ext uri="{FF2B5EF4-FFF2-40B4-BE49-F238E27FC236}">
                <a16:creationId xmlns:a16="http://schemas.microsoft.com/office/drawing/2014/main" xmlns="" id="{7D0B6281-92E5-40AD-8850-A4C37EDD695B}"/>
              </a:ext>
            </a:extLst>
          </p:cNvPr>
          <p:cNvSpPr txBox="1">
            <a:spLocks/>
          </p:cNvSpPr>
          <p:nvPr/>
        </p:nvSpPr>
        <p:spPr>
          <a:xfrm>
            <a:off x="344488" y="861393"/>
            <a:ext cx="9180512" cy="62339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indent="0">
              <a:spcBef>
                <a:spcPct val="20000"/>
              </a:spcBef>
              <a:buFont typeface="Arial" pitchFamily="34" charset="0"/>
              <a:buNone/>
              <a:defRPr lang="ko-KR" altLang="en-US" sz="1600" b="1" cap="none" dirty="0">
                <a:latin typeface="+mn-ea"/>
                <a:ea typeface="+mj-ea"/>
                <a:cs typeface="+mj-cs"/>
              </a:defRPr>
            </a:lvl1pPr>
            <a:lvl2pPr indent="0">
              <a:spcBef>
                <a:spcPct val="20000"/>
              </a:spcBef>
              <a:buFont typeface="Arial" pitchFamily="34" charset="0"/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indent="0">
              <a:spcBef>
                <a:spcPct val="20000"/>
              </a:spcBef>
              <a:buFont typeface="Arial" pitchFamily="34" charset="0"/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indent="0">
              <a:spcBef>
                <a:spcPct val="20000"/>
              </a:spcBef>
              <a:buFont typeface="Arial" pitchFamily="34" charset="0"/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dirty="0"/>
              <a:t>단기적으로</a:t>
            </a:r>
            <a:r>
              <a:rPr lang="en-US" altLang="ko-KR" dirty="0"/>
              <a:t>(’19</a:t>
            </a:r>
            <a:r>
              <a:rPr lang="ko-KR" altLang="en-US" dirty="0"/>
              <a:t>년</a:t>
            </a:r>
            <a:r>
              <a:rPr lang="en-US" altLang="ko-KR" dirty="0"/>
              <a:t>) </a:t>
            </a:r>
            <a:r>
              <a:rPr lang="ko-KR" altLang="en-US" dirty="0"/>
              <a:t>경영정보통합시스템 기반을 구축하고</a:t>
            </a:r>
            <a:r>
              <a:rPr lang="en-US" altLang="ko-KR" dirty="0"/>
              <a:t>, ’20</a:t>
            </a:r>
            <a:r>
              <a:rPr lang="ko-KR" altLang="en-US" dirty="0"/>
              <a:t>년부터 경영정보통합시스템 고도화</a:t>
            </a:r>
            <a:r>
              <a:rPr lang="en-US" altLang="ko-KR" dirty="0"/>
              <a:t>, </a:t>
            </a:r>
            <a:r>
              <a:rPr lang="ko-KR" altLang="en-US" dirty="0"/>
              <a:t>서비스 채널 확대 등을 본격적으로 추진 함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xmlns="" id="{FB0BA614-3E80-46D1-BC8D-BF0646A40E70}"/>
              </a:ext>
            </a:extLst>
          </p:cNvPr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단계별 추진 방안</a:t>
            </a:r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xmlns="" id="{1886CAEF-2761-4175-94D5-CAD92623A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xmlns="" id="{C8895BC0-D667-43E7-A545-1F4F603C1579}"/>
              </a:ext>
            </a:extLst>
          </p:cNvPr>
          <p:cNvSpPr/>
          <p:nvPr/>
        </p:nvSpPr>
        <p:spPr bwMode="auto">
          <a:xfrm>
            <a:off x="3882783" y="1900447"/>
            <a:ext cx="2906157" cy="4302957"/>
          </a:xfrm>
          <a:prstGeom prst="rect">
            <a:avLst/>
          </a:prstGeom>
          <a:solidFill>
            <a:srgbClr val="EFF5FB"/>
          </a:solidFill>
          <a:ln w="9525" cap="flat" cmpd="sng" algn="ctr">
            <a:noFill/>
            <a:prstDash val="dash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 latinLnBrk="0">
              <a:spcBef>
                <a:spcPct val="0"/>
              </a:spcBef>
              <a:buFont typeface="Wingdings" pitchFamily="2" charset="2"/>
              <a:buNone/>
            </a:pPr>
            <a:endParaRPr lang="ko-KR" altLang="en-US" sz="1000" b="1" kern="0">
              <a:solidFill>
                <a:prstClr val="black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38" name="모서리가 둥근 직사각형 12">
            <a:extLst>
              <a:ext uri="{FF2B5EF4-FFF2-40B4-BE49-F238E27FC236}">
                <a16:creationId xmlns:a16="http://schemas.microsoft.com/office/drawing/2014/main" xmlns="" id="{1F3C35D7-A135-4844-8162-CD2EE3900B8E}"/>
              </a:ext>
            </a:extLst>
          </p:cNvPr>
          <p:cNvSpPr/>
          <p:nvPr/>
        </p:nvSpPr>
        <p:spPr bwMode="auto">
          <a:xfrm>
            <a:off x="408876" y="4542888"/>
            <a:ext cx="751895" cy="165749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600" b="1" kern="0">
                <a:solidFill>
                  <a:prstClr val="white"/>
                </a:solidFill>
                <a:latin typeface="+mn-ea"/>
                <a:sym typeface="Wingdings" pitchFamily="2" charset="2"/>
              </a:rPr>
              <a:t>주요</a:t>
            </a:r>
            <a:endParaRPr lang="en-US" altLang="ko-KR" sz="16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ko-KR" altLang="en-US" sz="16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활동</a:t>
            </a:r>
          </a:p>
        </p:txBody>
      </p:sp>
      <p:sp>
        <p:nvSpPr>
          <p:cNvPr id="39" name="모서리가 둥근 직사각형 23">
            <a:extLst>
              <a:ext uri="{FF2B5EF4-FFF2-40B4-BE49-F238E27FC236}">
                <a16:creationId xmlns:a16="http://schemas.microsoft.com/office/drawing/2014/main" xmlns="" id="{79E28291-91C5-4360-B462-E74423E8BC1F}"/>
              </a:ext>
            </a:extLst>
          </p:cNvPr>
          <p:cNvSpPr/>
          <p:nvPr/>
        </p:nvSpPr>
        <p:spPr bwMode="auto">
          <a:xfrm>
            <a:off x="413217" y="1958477"/>
            <a:ext cx="751895" cy="245852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6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목표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xmlns="" id="{7913E1C0-CD4E-416C-887D-0F42BEF552A2}"/>
              </a:ext>
            </a:extLst>
          </p:cNvPr>
          <p:cNvSpPr/>
          <p:nvPr/>
        </p:nvSpPr>
        <p:spPr>
          <a:xfrm>
            <a:off x="1320699" y="3877370"/>
            <a:ext cx="2534304" cy="5832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기반 구축 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(~’19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년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)</a:t>
            </a:r>
            <a:endParaRPr kumimoji="1" lang="ko-KR" altLang="en-US" sz="14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xmlns="" id="{1E852378-D18F-470A-BDFE-41653AAECD2C}"/>
              </a:ext>
            </a:extLst>
          </p:cNvPr>
          <p:cNvGrpSpPr/>
          <p:nvPr/>
        </p:nvGrpSpPr>
        <p:grpSpPr>
          <a:xfrm>
            <a:off x="1241203" y="2881512"/>
            <a:ext cx="8217470" cy="1663281"/>
            <a:chOff x="1324992" y="2780928"/>
            <a:chExt cx="8217470" cy="1663281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xmlns="" id="{33612340-854C-451D-98AF-3F216C31E076}"/>
                </a:ext>
              </a:extLst>
            </p:cNvPr>
            <p:cNvSpPr/>
            <p:nvPr/>
          </p:nvSpPr>
          <p:spPr bwMode="auto">
            <a:xfrm>
              <a:off x="1324992" y="4316413"/>
              <a:ext cx="2691904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xmlns="" id="{847EA13F-D267-4695-AD0C-3717FDC58DA9}"/>
                </a:ext>
              </a:extLst>
            </p:cNvPr>
            <p:cNvSpPr/>
            <p:nvPr/>
          </p:nvSpPr>
          <p:spPr bwMode="auto">
            <a:xfrm>
              <a:off x="4071000" y="3870111"/>
              <a:ext cx="2793894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xmlns="" id="{36EF9C21-E051-4F7F-BF87-B4A9D8757A3B}"/>
                </a:ext>
              </a:extLst>
            </p:cNvPr>
            <p:cNvSpPr/>
            <p:nvPr/>
          </p:nvSpPr>
          <p:spPr bwMode="auto">
            <a:xfrm>
              <a:off x="6821580" y="3429000"/>
              <a:ext cx="2663523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xmlns="" id="{BC853DC2-C070-453E-953A-E184C1047950}"/>
                </a:ext>
              </a:extLst>
            </p:cNvPr>
            <p:cNvSpPr/>
            <p:nvPr/>
          </p:nvSpPr>
          <p:spPr bwMode="auto">
            <a:xfrm rot="5400000">
              <a:off x="3765566" y="4093262"/>
              <a:ext cx="576002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xmlns="" id="{E2E189D6-A5F8-42EC-864B-D00380C191C3}"/>
                </a:ext>
              </a:extLst>
            </p:cNvPr>
            <p:cNvSpPr/>
            <p:nvPr/>
          </p:nvSpPr>
          <p:spPr bwMode="auto">
            <a:xfrm rot="5400000">
              <a:off x="6524850" y="3645058"/>
              <a:ext cx="558006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xmlns="" id="{79012610-9B97-4DD3-A205-D33A31581463}"/>
                </a:ext>
              </a:extLst>
            </p:cNvPr>
            <p:cNvSpPr/>
            <p:nvPr/>
          </p:nvSpPr>
          <p:spPr bwMode="auto">
            <a:xfrm rot="5400000">
              <a:off x="9147000" y="3174184"/>
              <a:ext cx="558006" cy="125891"/>
            </a:xfrm>
            <a:prstGeom prst="rect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sp>
          <p:nvSpPr>
            <p:cNvPr id="48" name="이등변 삼각형 47">
              <a:extLst>
                <a:ext uri="{FF2B5EF4-FFF2-40B4-BE49-F238E27FC236}">
                  <a16:creationId xmlns:a16="http://schemas.microsoft.com/office/drawing/2014/main" xmlns="" id="{634760D6-B00F-4237-82E0-EB441931F430}"/>
                </a:ext>
              </a:extLst>
            </p:cNvPr>
            <p:cNvSpPr/>
            <p:nvPr/>
          </p:nvSpPr>
          <p:spPr bwMode="auto">
            <a:xfrm>
              <a:off x="9309544" y="2780928"/>
              <a:ext cx="232918" cy="187037"/>
            </a:xfrm>
            <a:prstGeom prst="triangle">
              <a:avLst/>
            </a:prstGeom>
            <a:solidFill>
              <a:srgbClr val="57A5E1"/>
            </a:solidFill>
            <a:ln w="6350" cap="flat" cmpd="sng">
              <a:solidFill>
                <a:srgbClr val="57A5E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xmlns="" id="{E46D2260-C1AB-432B-B696-6AA4084E0C35}"/>
              </a:ext>
            </a:extLst>
          </p:cNvPr>
          <p:cNvSpPr/>
          <p:nvPr/>
        </p:nvSpPr>
        <p:spPr>
          <a:xfrm>
            <a:off x="3899167" y="3432052"/>
            <a:ext cx="2900927" cy="5832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,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통계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, 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연계 고도화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(~’20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년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)</a:t>
            </a:r>
            <a:endParaRPr kumimoji="1" lang="ko-KR" altLang="en-US" sz="14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xmlns="" id="{C7AE82E1-E82E-4634-9FDF-3BD72472A996}"/>
              </a:ext>
            </a:extLst>
          </p:cNvPr>
          <p:cNvSpPr/>
          <p:nvPr/>
        </p:nvSpPr>
        <p:spPr>
          <a:xfrm>
            <a:off x="6744964" y="2945048"/>
            <a:ext cx="2534304" cy="5832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모바일 서비스 </a:t>
            </a:r>
            <a:endParaRPr kumimoji="1" lang="en-US" altLang="ko-KR" sz="14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채널 확대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(~’21</a:t>
            </a:r>
            <a:r>
              <a:rPr kumimoji="1" lang="ko-KR" altLang="en-US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년</a:t>
            </a:r>
            <a:r>
              <a:rPr kumimoji="1" lang="en-US" altLang="ko-KR" sz="14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)</a:t>
            </a:r>
            <a:endParaRPr kumimoji="1" lang="ko-KR" altLang="en-US" sz="14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xmlns="" id="{8538B865-067C-48A6-88A5-61A0066A4894}"/>
              </a:ext>
            </a:extLst>
          </p:cNvPr>
          <p:cNvSpPr/>
          <p:nvPr/>
        </p:nvSpPr>
        <p:spPr>
          <a:xfrm>
            <a:off x="1288488" y="4688809"/>
            <a:ext cx="2517727" cy="1234713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업무기준정보 체계 개선</a:t>
            </a:r>
            <a:r>
              <a:rPr lang="en-US" altLang="ko-KR" sz="1100" b="1" dirty="0">
                <a:solidFill>
                  <a:srgbClr val="000000"/>
                </a:solidFill>
                <a:latin typeface="+mn-ea"/>
              </a:rPr>
              <a:t> </a:t>
            </a: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예산</a:t>
            </a:r>
            <a:r>
              <a:rPr lang="en-US" altLang="ko-KR" sz="1100" b="1" dirty="0">
                <a:solidFill>
                  <a:srgbClr val="000000"/>
                </a:solidFill>
                <a:latin typeface="+mn-ea"/>
              </a:rPr>
              <a:t>/</a:t>
            </a: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회계 구조개선 및  관리강화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계약 및 자산관리 업무  효율화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일용직 통합 및 변화대응 인적자원관리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내부정보 연계 서비스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xmlns="" id="{88D3578F-F4B2-48EF-B04B-C24F461A87B6}"/>
              </a:ext>
            </a:extLst>
          </p:cNvPr>
          <p:cNvSpPr/>
          <p:nvPr/>
        </p:nvSpPr>
        <p:spPr>
          <a:xfrm>
            <a:off x="4064325" y="4688809"/>
            <a:ext cx="2852919" cy="1234714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소통을 통한 기금지원   업무 강화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사용자 맞춤형 정보제공의 경영정보 포털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의사결정 지원을 위한 통계정보 서비스 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내</a:t>
            </a:r>
            <a:r>
              <a:rPr lang="en-US" altLang="ko-KR" sz="1100" b="1" dirty="0">
                <a:solidFill>
                  <a:srgbClr val="000000"/>
                </a:solidFill>
                <a:latin typeface="+mn-ea"/>
              </a:rPr>
              <a:t>·</a:t>
            </a: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외부 연계정보의 표준 체계 확보 및     연계통합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xmlns="" id="{87ED2EB0-9F36-4C01-8FFD-AE3CC11202C0}"/>
              </a:ext>
            </a:extLst>
          </p:cNvPr>
          <p:cNvSpPr/>
          <p:nvPr/>
        </p:nvSpPr>
        <p:spPr>
          <a:xfrm>
            <a:off x="6909239" y="4688809"/>
            <a:ext cx="2622624" cy="541605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t">
            <a:noAutofit/>
          </a:bodyPr>
          <a:lstStyle/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모바일 서비스 기반 업무 채널 확대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r>
              <a:rPr lang="ko-KR" altLang="en-US" sz="1100" b="1" dirty="0">
                <a:solidFill>
                  <a:srgbClr val="000000"/>
                </a:solidFill>
                <a:latin typeface="+mn-ea"/>
              </a:rPr>
              <a:t>모바일 서비스 지원기반 인프라 확대</a:t>
            </a: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  <a:p>
            <a:pPr marL="85725" indent="-85725">
              <a:lnSpc>
                <a:spcPct val="120000"/>
              </a:lnSpc>
              <a:buFont typeface="Arial" pitchFamily="34" charset="0"/>
              <a:buChar char="•"/>
            </a:pPr>
            <a:endParaRPr lang="en-US" altLang="ko-KR" sz="1100" b="1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xmlns="" id="{6F3CB4E2-6502-4CB8-89D7-6415C832F915}"/>
              </a:ext>
            </a:extLst>
          </p:cNvPr>
          <p:cNvSpPr/>
          <p:nvPr/>
        </p:nvSpPr>
        <p:spPr bwMode="auto">
          <a:xfrm rot="5400000">
            <a:off x="642140" y="5291097"/>
            <a:ext cx="1234713" cy="30137"/>
          </a:xfrm>
          <a:prstGeom prst="rect">
            <a:avLst/>
          </a:prstGeom>
          <a:solidFill>
            <a:srgbClr val="57A5E1"/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xmlns="" id="{C8D684B4-0C3F-437F-9EFE-3F870DED52F9}"/>
              </a:ext>
            </a:extLst>
          </p:cNvPr>
          <p:cNvSpPr/>
          <p:nvPr/>
        </p:nvSpPr>
        <p:spPr bwMode="auto">
          <a:xfrm rot="5400000">
            <a:off x="3480190" y="5291097"/>
            <a:ext cx="1234713" cy="30137"/>
          </a:xfrm>
          <a:prstGeom prst="rect">
            <a:avLst/>
          </a:prstGeom>
          <a:solidFill>
            <a:srgbClr val="57A5E1"/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xmlns="" id="{05575585-957E-4003-A356-86E0A47B57EE}"/>
              </a:ext>
            </a:extLst>
          </p:cNvPr>
          <p:cNvSpPr/>
          <p:nvPr/>
        </p:nvSpPr>
        <p:spPr bwMode="auto">
          <a:xfrm rot="5400000">
            <a:off x="6259015" y="5291097"/>
            <a:ext cx="1234713" cy="30137"/>
          </a:xfrm>
          <a:prstGeom prst="rect">
            <a:avLst/>
          </a:prstGeom>
          <a:solidFill>
            <a:srgbClr val="57A5E1"/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xmlns="" id="{CAADF15D-38A8-414F-8BF0-7886DF3CF625}"/>
              </a:ext>
            </a:extLst>
          </p:cNvPr>
          <p:cNvSpPr/>
          <p:nvPr/>
        </p:nvSpPr>
        <p:spPr bwMode="auto">
          <a:xfrm>
            <a:off x="1212637" y="1958477"/>
            <a:ext cx="2611095" cy="6421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r>
              <a:rPr lang="en-US" altLang="ko-KR" sz="1350" b="1" dirty="0">
                <a:latin typeface="+mn-ea"/>
              </a:rPr>
              <a:t>[1</a:t>
            </a:r>
            <a:r>
              <a:rPr lang="ko-KR" altLang="en-US" sz="1350" b="1" dirty="0">
                <a:latin typeface="+mn-ea"/>
              </a:rPr>
              <a:t>단계</a:t>
            </a:r>
            <a:r>
              <a:rPr lang="en-US" altLang="ko-KR" sz="1350" b="1" dirty="0">
                <a:latin typeface="+mn-ea"/>
              </a:rPr>
              <a:t>]</a:t>
            </a:r>
          </a:p>
          <a:p>
            <a:pPr algn="ctr"/>
            <a:r>
              <a:rPr lang="ko-KR" altLang="en-US" sz="1350" b="1" dirty="0">
                <a:latin typeface="+mn-ea"/>
              </a:rPr>
              <a:t>신뢰기반 경영정보 서비스 개시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xmlns="" id="{CBD7B764-7D16-4B4A-BA04-F55B6E05C66F}"/>
              </a:ext>
            </a:extLst>
          </p:cNvPr>
          <p:cNvSpPr/>
          <p:nvPr/>
        </p:nvSpPr>
        <p:spPr bwMode="auto">
          <a:xfrm>
            <a:off x="3936384" y="1958477"/>
            <a:ext cx="2787734" cy="642100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r>
              <a:rPr lang="en-US" altLang="ko-KR" sz="1350" b="1" dirty="0">
                <a:latin typeface="+mn-ea"/>
              </a:rPr>
              <a:t>[2</a:t>
            </a:r>
            <a:r>
              <a:rPr lang="ko-KR" altLang="en-US" sz="1350" b="1" dirty="0">
                <a:latin typeface="+mn-ea"/>
              </a:rPr>
              <a:t>단계</a:t>
            </a:r>
            <a:r>
              <a:rPr lang="en-US" altLang="ko-KR" sz="1350" b="1" dirty="0">
                <a:latin typeface="+mn-ea"/>
              </a:rPr>
              <a:t>]</a:t>
            </a:r>
          </a:p>
          <a:p>
            <a:pPr algn="ctr"/>
            <a:r>
              <a:rPr lang="ko-KR" altLang="en-US" sz="1350" b="1" dirty="0">
                <a:latin typeface="+mn-ea"/>
              </a:rPr>
              <a:t>소통 및 채널 확대를 통한 고도화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xmlns="" id="{7644F0B2-2E2F-4428-99FE-086793398C44}"/>
              </a:ext>
            </a:extLst>
          </p:cNvPr>
          <p:cNvSpPr/>
          <p:nvPr/>
        </p:nvSpPr>
        <p:spPr bwMode="auto">
          <a:xfrm>
            <a:off x="6834241" y="1958477"/>
            <a:ext cx="2534304" cy="6421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r>
              <a:rPr lang="en-US" altLang="ko-KR" sz="1350" b="1" dirty="0">
                <a:solidFill>
                  <a:schemeClr val="bg1"/>
                </a:solidFill>
                <a:latin typeface="+mn-ea"/>
              </a:rPr>
              <a:t>[3</a:t>
            </a:r>
            <a:r>
              <a:rPr lang="ko-KR" altLang="en-US" sz="1350" b="1" dirty="0">
                <a:solidFill>
                  <a:schemeClr val="bg1"/>
                </a:solidFill>
                <a:latin typeface="+mn-ea"/>
              </a:rPr>
              <a:t>단계</a:t>
            </a:r>
            <a:r>
              <a:rPr lang="en-US" altLang="ko-KR" sz="1350" b="1" dirty="0">
                <a:solidFill>
                  <a:schemeClr val="bg1"/>
                </a:solidFill>
                <a:latin typeface="+mn-ea"/>
              </a:rPr>
              <a:t>]</a:t>
            </a:r>
          </a:p>
          <a:p>
            <a:pPr algn="ctr"/>
            <a:r>
              <a:rPr lang="ko-KR" altLang="en-US" sz="1350" b="1" dirty="0">
                <a:solidFill>
                  <a:schemeClr val="bg1"/>
                </a:solidFill>
                <a:latin typeface="+mn-ea"/>
              </a:rPr>
              <a:t>일하는 방식의 스마트화</a:t>
            </a:r>
          </a:p>
        </p:txBody>
      </p:sp>
    </p:spTree>
    <p:extLst>
      <p:ext uri="{BB962C8B-B14F-4D97-AF65-F5344CB8AC3E}">
        <p14:creationId xmlns:p14="http://schemas.microsoft.com/office/powerpoint/2010/main" val="136350462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2.3 </a:t>
            </a:r>
            <a:r>
              <a:rPr lang="ko-KR" altLang="en-US" dirty="0"/>
              <a:t>추진 로드맵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2.3.1 </a:t>
            </a:r>
            <a:r>
              <a:rPr lang="ko-KR" altLang="en-US" dirty="0"/>
              <a:t>단계별 추진 로드맵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 </a:t>
            </a:r>
            <a:r>
              <a:rPr lang="ko-KR" altLang="en-US" dirty="0"/>
              <a:t>추진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2.3 </a:t>
            </a:r>
            <a:r>
              <a:rPr lang="ko-KR" altLang="en-US" dirty="0"/>
              <a:t>추진 로드맵 정의</a:t>
            </a:r>
            <a:endParaRPr lang="en-US" altLang="ko-KR" dirty="0"/>
          </a:p>
        </p:txBody>
      </p:sp>
      <p:pic>
        <p:nvPicPr>
          <p:cNvPr id="54" name="그림 53">
            <a:extLst>
              <a:ext uri="{FF2B5EF4-FFF2-40B4-BE49-F238E27FC236}">
                <a16:creationId xmlns:a16="http://schemas.microsoft.com/office/drawing/2014/main" xmlns="" id="{21C2C040-DBCF-4A0E-97E6-028CD8FBCAF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04754" y="966770"/>
            <a:ext cx="2138162" cy="874398"/>
          </a:xfrm>
          <a:prstGeom prst="rect">
            <a:avLst/>
          </a:prstGeom>
        </p:spPr>
      </p:pic>
      <p:graphicFrame>
        <p:nvGraphicFramePr>
          <p:cNvPr id="55" name="Group 6589">
            <a:extLst>
              <a:ext uri="{FF2B5EF4-FFF2-40B4-BE49-F238E27FC236}">
                <a16:creationId xmlns:a16="http://schemas.microsoft.com/office/drawing/2014/main" xmlns="" id="{98EB7AB6-A20B-4472-849A-88815FADE9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4006745"/>
              </p:ext>
            </p:extLst>
          </p:nvPr>
        </p:nvGraphicFramePr>
        <p:xfrm>
          <a:off x="1968500" y="1893862"/>
          <a:ext cx="7521579" cy="4535534"/>
        </p:xfrm>
        <a:graphic>
          <a:graphicData uri="http://schemas.openxmlformats.org/drawingml/2006/table">
            <a:tbl>
              <a:tblPr/>
              <a:tblGrid>
                <a:gridCol w="19286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363390898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77309735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63977516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8139205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3239758294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126504590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976610504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79083042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3003031893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3981509720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329046185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805708851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280845220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306412010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70763725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803883361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679177442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729911962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464885862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593417641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628340066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240762836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549992917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278205652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4173169008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528706946"/>
                    </a:ext>
                  </a:extLst>
                </a:gridCol>
                <a:gridCol w="192861">
                  <a:extLst>
                    <a:ext uri="{9D8B030D-6E8A-4147-A177-3AD203B41FA5}">
                      <a16:colId xmlns:a16="http://schemas.microsoft.com/office/drawing/2014/main" xmlns="" val="1974426479"/>
                    </a:ext>
                  </a:extLst>
                </a:gridCol>
              </a:tblGrid>
              <a:tr h="909434"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ko-KR" altLang="ko-KR" dirty="0"/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13050"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42786"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70264"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000" b="0" dirty="0"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lg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alpha val="50195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56" name="AutoShape 550" descr="박스1">
            <a:extLst>
              <a:ext uri="{FF2B5EF4-FFF2-40B4-BE49-F238E27FC236}">
                <a16:creationId xmlns:a16="http://schemas.microsoft.com/office/drawing/2014/main" xmlns="" id="{537D519E-EF49-49B9-B49E-418F9DFDC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014" y="4670580"/>
            <a:ext cx="1500700" cy="850994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모바일 서비스</a:t>
            </a:r>
            <a:b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</a:b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채널 확대</a:t>
            </a:r>
          </a:p>
        </p:txBody>
      </p:sp>
      <p:sp>
        <p:nvSpPr>
          <p:cNvPr id="57" name="AutoShape 550" descr="박스1">
            <a:extLst>
              <a:ext uri="{FF2B5EF4-FFF2-40B4-BE49-F238E27FC236}">
                <a16:creationId xmlns:a16="http://schemas.microsoft.com/office/drawing/2014/main" xmlns="" id="{13FFCBF1-7C17-4566-9C38-7F9C6D1D6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014" y="2846140"/>
            <a:ext cx="1500700" cy="1759227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경영정보통합</a:t>
            </a:r>
            <a:endParaRPr lang="en-US" altLang="ko-KR" sz="1400" b="1" kern="0" dirty="0">
              <a:solidFill>
                <a:sysClr val="window" lastClr="FFFFFF"/>
              </a:solidFill>
              <a:latin typeface="+mn-ea"/>
            </a:endParaRPr>
          </a:p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시스템</a:t>
            </a:r>
            <a:r>
              <a:rPr lang="en-US" altLang="ko-KR" sz="1400" b="1" kern="0" dirty="0">
                <a:solidFill>
                  <a:sysClr val="window" lastClr="FFFFFF"/>
                </a:solidFill>
                <a:latin typeface="+mn-ea"/>
              </a:rPr>
              <a:t>, </a:t>
            </a: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통계</a:t>
            </a:r>
            <a:r>
              <a:rPr lang="en-US" altLang="ko-KR" sz="1400" b="1" kern="0" dirty="0">
                <a:solidFill>
                  <a:sysClr val="window" lastClr="FFFFFF"/>
                </a:solidFill>
                <a:latin typeface="+mn-ea"/>
              </a:rPr>
              <a:t>, </a:t>
            </a: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연계 고도화</a:t>
            </a:r>
          </a:p>
        </p:txBody>
      </p:sp>
      <p:sp>
        <p:nvSpPr>
          <p:cNvPr id="58" name="AutoShape 550" descr="박스1">
            <a:extLst>
              <a:ext uri="{FF2B5EF4-FFF2-40B4-BE49-F238E27FC236}">
                <a16:creationId xmlns:a16="http://schemas.microsoft.com/office/drawing/2014/main" xmlns="" id="{5A4DF840-61A2-4CC5-89C0-E7476A561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014" y="1912721"/>
            <a:ext cx="1500700" cy="850931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경영정보통합</a:t>
            </a:r>
            <a:endParaRPr lang="en-US" altLang="ko-KR" sz="1400" b="1" kern="0" dirty="0">
              <a:solidFill>
                <a:sysClr val="window" lastClr="FFFFFF"/>
              </a:solidFill>
              <a:latin typeface="+mn-ea"/>
            </a:endParaRPr>
          </a:p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시스템 기반 구축</a:t>
            </a: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59" name="AutoShape 550" descr="박스1">
            <a:extLst>
              <a:ext uri="{FF2B5EF4-FFF2-40B4-BE49-F238E27FC236}">
                <a16:creationId xmlns:a16="http://schemas.microsoft.com/office/drawing/2014/main" xmlns="" id="{FB524749-2DF8-4C52-A56C-E3ED7366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014" y="5586786"/>
            <a:ext cx="1500700" cy="834226"/>
          </a:xfrm>
          <a:prstGeom prst="rect">
            <a:avLst/>
          </a:prstGeom>
          <a:solidFill>
            <a:srgbClr val="003058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36000" tIns="36000" rIns="36000" bIns="36000" numCol="1" rtlCol="0" anchor="ctr" anchorCtr="0" compatLnSpc="1">
            <a:prstTxWarp prst="textNoShape">
              <a:avLst/>
            </a:prstTxWarp>
          </a:bodyPr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’</a:t>
            </a:r>
            <a:r>
              <a:rPr lang="en-US" altLang="ko-KR" sz="1400" b="1" kern="0" dirty="0">
                <a:solidFill>
                  <a:sysClr val="window" lastClr="FFFFFF"/>
                </a:solidFill>
                <a:latin typeface="+mn-ea"/>
              </a:rPr>
              <a:t>18</a:t>
            </a:r>
            <a:r>
              <a:rPr lang="ko-KR" altLang="en-US" sz="1400" b="1" kern="0" dirty="0">
                <a:solidFill>
                  <a:sysClr val="window" lastClr="FFFFFF"/>
                </a:solidFill>
                <a:latin typeface="+mn-ea"/>
              </a:rPr>
              <a:t>년도 현행 구축 사업 추진</a:t>
            </a: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xmlns="" id="{1CC57035-9544-471D-98F0-A344F5DB546B}"/>
              </a:ext>
            </a:extLst>
          </p:cNvPr>
          <p:cNvGrpSpPr/>
          <p:nvPr/>
        </p:nvGrpSpPr>
        <p:grpSpPr>
          <a:xfrm>
            <a:off x="1969317" y="1104294"/>
            <a:ext cx="7526219" cy="766478"/>
            <a:chOff x="1969317" y="1104294"/>
            <a:chExt cx="7526219" cy="766478"/>
          </a:xfrm>
        </p:grpSpPr>
        <p:sp>
          <p:nvSpPr>
            <p:cNvPr id="61" name="AutoShape 5">
              <a:extLst>
                <a:ext uri="{FF2B5EF4-FFF2-40B4-BE49-F238E27FC236}">
                  <a16:creationId xmlns:a16="http://schemas.microsoft.com/office/drawing/2014/main" xmlns="" id="{5843F7F6-30B8-4076-BB63-EF5A4A6AB1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865241" y="1104294"/>
              <a:ext cx="2268000" cy="248969"/>
            </a:xfrm>
            <a:prstGeom prst="roundRect">
              <a:avLst>
                <a:gd name="adj" fmla="val 11443"/>
              </a:avLst>
            </a:prstGeom>
            <a:solidFill>
              <a:srgbClr val="00437A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r>
                <a:rPr lang="en-US" altLang="ko-KR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2</a:t>
              </a:r>
              <a:r>
                <a:rPr lang="ko-KR" altLang="en-US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단계</a:t>
              </a:r>
              <a:endParaRPr lang="en-US" altLang="ko-KR" sz="1200" b="1" kern="0" dirty="0">
                <a:solidFill>
                  <a:prstClr val="white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62" name="AutoShape 5">
              <a:extLst>
                <a:ext uri="{FF2B5EF4-FFF2-40B4-BE49-F238E27FC236}">
                  <a16:creationId xmlns:a16="http://schemas.microsoft.com/office/drawing/2014/main" xmlns="" id="{9E51C4C6-F201-4170-8FD7-EF49BB447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548501" y="1104294"/>
              <a:ext cx="2268000" cy="248969"/>
            </a:xfrm>
            <a:prstGeom prst="roundRect">
              <a:avLst>
                <a:gd name="adj" fmla="val 11443"/>
              </a:avLst>
            </a:prstGeom>
            <a:solidFill>
              <a:srgbClr val="00437A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1</a:t>
              </a:r>
              <a:r>
                <a:rPr lang="ko-KR" altLang="en-US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단계</a:t>
              </a:r>
              <a:endParaRPr lang="en-US" altLang="ko-KR" sz="1200" b="1" kern="0" dirty="0">
                <a:solidFill>
                  <a:prstClr val="white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63" name="AutoShape 38">
              <a:extLst>
                <a:ext uri="{FF2B5EF4-FFF2-40B4-BE49-F238E27FC236}">
                  <a16:creationId xmlns:a16="http://schemas.microsoft.com/office/drawing/2014/main" xmlns="" id="{43EAA883-9C4C-4726-B6ED-FE885746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50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  <a:buNone/>
                <a:defRPr/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1Q</a:t>
              </a:r>
            </a:p>
          </p:txBody>
        </p:sp>
        <p:sp>
          <p:nvSpPr>
            <p:cNvPr id="64" name="AutoShape 39">
              <a:extLst>
                <a:ext uri="{FF2B5EF4-FFF2-40B4-BE49-F238E27FC236}">
                  <a16:creationId xmlns:a16="http://schemas.microsoft.com/office/drawing/2014/main" xmlns="" id="{40209C4D-B266-4408-AF0E-3966C3B4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68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2Q</a:t>
              </a:r>
            </a:p>
          </p:txBody>
        </p:sp>
        <p:sp>
          <p:nvSpPr>
            <p:cNvPr id="65" name="AutoShape 40">
              <a:extLst>
                <a:ext uri="{FF2B5EF4-FFF2-40B4-BE49-F238E27FC236}">
                  <a16:creationId xmlns:a16="http://schemas.microsoft.com/office/drawing/2014/main" xmlns="" id="{70EB75CD-574F-4D31-8E3C-37516C1C9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87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3Q</a:t>
              </a:r>
            </a:p>
          </p:txBody>
        </p:sp>
        <p:sp>
          <p:nvSpPr>
            <p:cNvPr id="66" name="AutoShape 41">
              <a:extLst>
                <a:ext uri="{FF2B5EF4-FFF2-40B4-BE49-F238E27FC236}">
                  <a16:creationId xmlns:a16="http://schemas.microsoft.com/office/drawing/2014/main" xmlns="" id="{0BAAC0BB-3695-44F3-8116-37BC3CF1B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05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4Q</a:t>
              </a:r>
            </a:p>
          </p:txBody>
        </p:sp>
        <p:sp>
          <p:nvSpPr>
            <p:cNvPr id="67" name="AutoShape 5">
              <a:extLst>
                <a:ext uri="{FF2B5EF4-FFF2-40B4-BE49-F238E27FC236}">
                  <a16:creationId xmlns:a16="http://schemas.microsoft.com/office/drawing/2014/main" xmlns="" id="{31EF3BD5-019C-4FAF-9757-9CC596A60BE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548501" y="1376208"/>
              <a:ext cx="2304000" cy="252000"/>
            </a:xfrm>
            <a:prstGeom prst="homePlate">
              <a:avLst>
                <a:gd name="adj" fmla="val 26196"/>
              </a:avLst>
            </a:prstGeom>
            <a:solidFill>
              <a:srgbClr val="508CD2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2019</a:t>
              </a:r>
              <a:r>
                <a:rPr lang="ko-KR" altLang="en-US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년</a:t>
              </a:r>
              <a:endParaRPr lang="en-US" altLang="ko-KR" sz="1200" b="1" kern="0" dirty="0">
                <a:solidFill>
                  <a:schemeClr val="bg1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68" name="AutoShape 38">
              <a:extLst>
                <a:ext uri="{FF2B5EF4-FFF2-40B4-BE49-F238E27FC236}">
                  <a16:creationId xmlns:a16="http://schemas.microsoft.com/office/drawing/2014/main" xmlns="" id="{20794DCF-EFB1-4792-800E-C60204E32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24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  <a:buNone/>
                <a:defRPr/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1Q</a:t>
              </a:r>
            </a:p>
          </p:txBody>
        </p:sp>
        <p:sp>
          <p:nvSpPr>
            <p:cNvPr id="69" name="AutoShape 39">
              <a:extLst>
                <a:ext uri="{FF2B5EF4-FFF2-40B4-BE49-F238E27FC236}">
                  <a16:creationId xmlns:a16="http://schemas.microsoft.com/office/drawing/2014/main" xmlns="" id="{F3E00730-B822-44E0-818E-81927E378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442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2Q</a:t>
              </a:r>
            </a:p>
          </p:txBody>
        </p:sp>
        <p:sp>
          <p:nvSpPr>
            <p:cNvPr id="70" name="AutoShape 40">
              <a:extLst>
                <a:ext uri="{FF2B5EF4-FFF2-40B4-BE49-F238E27FC236}">
                  <a16:creationId xmlns:a16="http://schemas.microsoft.com/office/drawing/2014/main" xmlns="" id="{8E6FF152-3A1D-41AF-8F96-2BF651119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361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3Q</a:t>
              </a:r>
            </a:p>
          </p:txBody>
        </p:sp>
        <p:sp>
          <p:nvSpPr>
            <p:cNvPr id="71" name="AutoShape 41">
              <a:extLst>
                <a:ext uri="{FF2B5EF4-FFF2-40B4-BE49-F238E27FC236}">
                  <a16:creationId xmlns:a16="http://schemas.microsoft.com/office/drawing/2014/main" xmlns="" id="{163515E0-B6AF-4410-832D-DDE281ADF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279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4Q</a:t>
              </a:r>
            </a:p>
          </p:txBody>
        </p:sp>
        <p:sp>
          <p:nvSpPr>
            <p:cNvPr id="72" name="AutoShape 5">
              <a:extLst>
                <a:ext uri="{FF2B5EF4-FFF2-40B4-BE49-F238E27FC236}">
                  <a16:creationId xmlns:a16="http://schemas.microsoft.com/office/drawing/2014/main" xmlns="" id="{9859A57B-555C-4FF7-A7CF-1FE30E106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865241" y="1376208"/>
              <a:ext cx="2304000" cy="252000"/>
            </a:xfrm>
            <a:prstGeom prst="homePlate">
              <a:avLst>
                <a:gd name="adj" fmla="val 26196"/>
              </a:avLst>
            </a:prstGeom>
            <a:solidFill>
              <a:srgbClr val="508CD2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2020</a:t>
              </a:r>
              <a:r>
                <a:rPr lang="ko-KR" altLang="en-US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년</a:t>
              </a:r>
              <a:endParaRPr lang="en-US" altLang="ko-KR" sz="1200" b="1" kern="0" dirty="0">
                <a:solidFill>
                  <a:schemeClr val="bg1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73" name="AutoShape 38">
              <a:extLst>
                <a:ext uri="{FF2B5EF4-FFF2-40B4-BE49-F238E27FC236}">
                  <a16:creationId xmlns:a16="http://schemas.microsoft.com/office/drawing/2014/main" xmlns="" id="{4722DC5D-6073-4937-BB63-1442EC2F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98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  <a:buNone/>
                <a:defRPr/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1Q</a:t>
              </a:r>
            </a:p>
          </p:txBody>
        </p:sp>
        <p:sp>
          <p:nvSpPr>
            <p:cNvPr id="74" name="AutoShape 39">
              <a:extLst>
                <a:ext uri="{FF2B5EF4-FFF2-40B4-BE49-F238E27FC236}">
                  <a16:creationId xmlns:a16="http://schemas.microsoft.com/office/drawing/2014/main" xmlns="" id="{B0836859-B9E1-4E32-B33B-59CA6A91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16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2Q</a:t>
              </a:r>
            </a:p>
          </p:txBody>
        </p:sp>
        <p:sp>
          <p:nvSpPr>
            <p:cNvPr id="75" name="AutoShape 40">
              <a:extLst>
                <a:ext uri="{FF2B5EF4-FFF2-40B4-BE49-F238E27FC236}">
                  <a16:creationId xmlns:a16="http://schemas.microsoft.com/office/drawing/2014/main" xmlns="" id="{B8674C6E-CEF9-4C96-80AA-E7431AE05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352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3Q</a:t>
              </a:r>
            </a:p>
          </p:txBody>
        </p:sp>
        <p:sp>
          <p:nvSpPr>
            <p:cNvPr id="76" name="AutoShape 41">
              <a:extLst>
                <a:ext uri="{FF2B5EF4-FFF2-40B4-BE49-F238E27FC236}">
                  <a16:creationId xmlns:a16="http://schemas.microsoft.com/office/drawing/2014/main" xmlns="" id="{C66511D1-961C-4E2A-807E-6BA229585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9536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4Q</a:t>
              </a:r>
            </a:p>
          </p:txBody>
        </p:sp>
        <p:sp>
          <p:nvSpPr>
            <p:cNvPr id="77" name="AutoShape 5">
              <a:extLst>
                <a:ext uri="{FF2B5EF4-FFF2-40B4-BE49-F238E27FC236}">
                  <a16:creationId xmlns:a16="http://schemas.microsoft.com/office/drawing/2014/main" xmlns="" id="{A4058C1B-CD53-41B1-BF93-4D937567E2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81981" y="1376208"/>
              <a:ext cx="2304000" cy="252000"/>
            </a:xfrm>
            <a:prstGeom prst="homePlate">
              <a:avLst>
                <a:gd name="adj" fmla="val 26196"/>
              </a:avLst>
            </a:prstGeom>
            <a:solidFill>
              <a:srgbClr val="508CD2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2021</a:t>
              </a:r>
              <a:r>
                <a:rPr lang="ko-KR" altLang="en-US" sz="12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년</a:t>
              </a:r>
              <a:endParaRPr lang="en-US" altLang="ko-KR" sz="1200" b="1" kern="0" dirty="0">
                <a:solidFill>
                  <a:schemeClr val="bg1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78" name="AutoShape 38">
              <a:extLst>
                <a:ext uri="{FF2B5EF4-FFF2-40B4-BE49-F238E27FC236}">
                  <a16:creationId xmlns:a16="http://schemas.microsoft.com/office/drawing/2014/main" xmlns="" id="{F609EF42-2C84-48BF-9BB6-2BD35FBD6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317" y="1664210"/>
              <a:ext cx="576000" cy="206562"/>
            </a:xfrm>
            <a:prstGeom prst="homePlate">
              <a:avLst>
                <a:gd name="adj" fmla="val 36686"/>
              </a:avLst>
            </a:prstGeom>
            <a:solidFill>
              <a:schemeClr val="bg1">
                <a:lumMod val="95000"/>
              </a:schemeClr>
            </a:solidFill>
            <a:ln w="9525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/>
          </p:spPr>
          <p:txBody>
            <a:bodyPr wrap="none" lIns="54000" rIns="54000" anchor="ctr"/>
            <a:lstStyle>
              <a:defPPr>
                <a:defRPr lang="en-GB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buSzPct val="90000"/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5pPr>
              <a:lvl6pPr marL="22860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6pPr>
              <a:lvl7pPr marL="27432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7pPr>
              <a:lvl8pPr marL="32004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8pPr>
              <a:lvl9pPr marL="3657600" algn="l" defTabSz="914400" rtl="0" eaLnBrk="1" latinLnBrk="1" hangingPunct="1">
                <a:defRPr sz="3000" kern="1200">
                  <a:solidFill>
                    <a:schemeClr val="folHlink"/>
                  </a:solidFill>
                  <a:latin typeface="PwC_Logo" pitchFamily="2" charset="0"/>
                  <a:ea typeface="+mn-ea"/>
                  <a:cs typeface="Arial" charset="0"/>
                </a:defRPr>
              </a:lvl9pPr>
            </a:lstStyle>
            <a:p>
              <a:pPr algn="ctr" fontAlgn="auto">
                <a:lnSpc>
                  <a:spcPct val="90000"/>
                </a:lnSpc>
                <a:spcAft>
                  <a:spcPts val="0"/>
                </a:spcAft>
                <a:buNone/>
                <a:defRPr/>
              </a:pPr>
              <a:r>
                <a:rPr lang="en-US" altLang="ko-KR" sz="900" kern="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Arial" pitchFamily="34" charset="0"/>
                </a:rPr>
                <a:t>4Q</a:t>
              </a:r>
            </a:p>
          </p:txBody>
        </p:sp>
        <p:sp>
          <p:nvSpPr>
            <p:cNvPr id="79" name="AutoShape 5">
              <a:extLst>
                <a:ext uri="{FF2B5EF4-FFF2-40B4-BE49-F238E27FC236}">
                  <a16:creationId xmlns:a16="http://schemas.microsoft.com/office/drawing/2014/main" xmlns="" id="{004ABA6A-B20A-48F2-BA8F-775E00B63C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79611" y="1376208"/>
              <a:ext cx="573885" cy="233504"/>
            </a:xfrm>
            <a:prstGeom prst="homePlate">
              <a:avLst>
                <a:gd name="adj" fmla="val 26196"/>
              </a:avLst>
            </a:prstGeom>
            <a:solidFill>
              <a:srgbClr val="508CD2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1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2018</a:t>
              </a:r>
              <a:r>
                <a:rPr lang="ko-KR" altLang="en-US" sz="1100" b="1" kern="0" dirty="0">
                  <a:solidFill>
                    <a:schemeClr val="bg1"/>
                  </a:solidFill>
                  <a:latin typeface="+mn-ea"/>
                  <a:cs typeface="Arial" pitchFamily="34" charset="0"/>
                </a:rPr>
                <a:t>년</a:t>
              </a:r>
              <a:endParaRPr lang="en-US" altLang="ko-KR" sz="1100" b="1" kern="0" dirty="0">
                <a:solidFill>
                  <a:schemeClr val="bg1"/>
                </a:solidFill>
                <a:latin typeface="+mn-ea"/>
                <a:cs typeface="Arial" pitchFamily="34" charset="0"/>
              </a:endParaRPr>
            </a:p>
          </p:txBody>
        </p:sp>
        <p:sp>
          <p:nvSpPr>
            <p:cNvPr id="80" name="AutoShape 5">
              <a:extLst>
                <a:ext uri="{FF2B5EF4-FFF2-40B4-BE49-F238E27FC236}">
                  <a16:creationId xmlns:a16="http://schemas.microsoft.com/office/drawing/2014/main" xmlns="" id="{FB335AF7-DC05-44C8-BCF6-631F537466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81981" y="1104294"/>
              <a:ext cx="2268000" cy="248969"/>
            </a:xfrm>
            <a:prstGeom prst="roundRect">
              <a:avLst>
                <a:gd name="adj" fmla="val 11443"/>
              </a:avLst>
            </a:prstGeom>
            <a:solidFill>
              <a:srgbClr val="00437A"/>
            </a:solidFill>
            <a:ln w="6350" algn="ctr">
              <a:solidFill>
                <a:sysClr val="window" lastClr="FFFFFF">
                  <a:lumMod val="65000"/>
                </a:sysClr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en-US" altLang="ko-KR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3</a:t>
              </a:r>
              <a:r>
                <a:rPr lang="ko-KR" altLang="en-US" sz="1200" b="1" kern="0" dirty="0">
                  <a:solidFill>
                    <a:prstClr val="white"/>
                  </a:solidFill>
                  <a:latin typeface="+mn-ea"/>
                  <a:cs typeface="Arial" pitchFamily="34" charset="0"/>
                </a:rPr>
                <a:t>단계</a:t>
              </a:r>
              <a:endParaRPr lang="en-US" altLang="ko-KR" sz="1200" b="1" kern="0" dirty="0">
                <a:solidFill>
                  <a:prstClr val="white"/>
                </a:solidFill>
                <a:latin typeface="+mn-ea"/>
                <a:cs typeface="Arial" pitchFamily="34" charset="0"/>
              </a:endParaRPr>
            </a:p>
          </p:txBody>
        </p:sp>
      </p:grpSp>
      <p:sp>
        <p:nvSpPr>
          <p:cNvPr id="81" name="AutoShape 63">
            <a:extLst>
              <a:ext uri="{FF2B5EF4-FFF2-40B4-BE49-F238E27FC236}">
                <a16:creationId xmlns:a16="http://schemas.microsoft.com/office/drawing/2014/main" xmlns="" id="{B165747A-EA69-4032-815E-E44F6EBBA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3249" y="2326601"/>
            <a:ext cx="395038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latinLnBrk="1" hangingPunct="0">
              <a:lnSpc>
                <a:spcPct val="95000"/>
              </a:lnSpc>
              <a:buClr>
                <a:schemeClr val="tx1"/>
              </a:buClr>
              <a:buSzTx/>
              <a:buNone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사업준비</a:t>
            </a:r>
          </a:p>
        </p:txBody>
      </p:sp>
      <p:sp>
        <p:nvSpPr>
          <p:cNvPr id="82" name="AutoShape 63">
            <a:extLst>
              <a:ext uri="{FF2B5EF4-FFF2-40B4-BE49-F238E27FC236}">
                <a16:creationId xmlns:a16="http://schemas.microsoft.com/office/drawing/2014/main" xmlns="" id="{5CBADF5F-4254-485F-BBBD-74EB0F5DD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9087" y="2320505"/>
            <a:ext cx="1905559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latinLnBrk="1" hangingPunct="0">
              <a:lnSpc>
                <a:spcPct val="95000"/>
              </a:lnSpc>
              <a:buClr>
                <a:schemeClr val="tx1"/>
              </a:buClr>
              <a:buSzTx/>
              <a:buNone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시스템구축</a:t>
            </a:r>
          </a:p>
        </p:txBody>
      </p:sp>
      <p:sp>
        <p:nvSpPr>
          <p:cNvPr id="83" name="AutoShape 63">
            <a:extLst>
              <a:ext uri="{FF2B5EF4-FFF2-40B4-BE49-F238E27FC236}">
                <a16:creationId xmlns:a16="http://schemas.microsoft.com/office/drawing/2014/main" xmlns="" id="{4866ED33-E330-43C5-88FB-00B01E895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4832" y="2326211"/>
            <a:ext cx="402224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latinLnBrk="1" hangingPunct="0">
              <a:lnSpc>
                <a:spcPct val="95000"/>
              </a:lnSpc>
              <a:buClr>
                <a:schemeClr val="tx1"/>
              </a:buClr>
              <a:buSzTx/>
              <a:buNone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안정화</a:t>
            </a:r>
          </a:p>
        </p:txBody>
      </p:sp>
      <p:sp>
        <p:nvSpPr>
          <p:cNvPr id="84" name="Pentagon 13">
            <a:extLst>
              <a:ext uri="{FF2B5EF4-FFF2-40B4-BE49-F238E27FC236}">
                <a16:creationId xmlns:a16="http://schemas.microsoft.com/office/drawing/2014/main" xmlns="" id="{9D7DBCC8-4ADC-49E8-B55F-050DC09F5052}"/>
              </a:ext>
            </a:extLst>
          </p:cNvPr>
          <p:cNvSpPr/>
          <p:nvPr/>
        </p:nvSpPr>
        <p:spPr>
          <a:xfrm>
            <a:off x="2930768" y="2024947"/>
            <a:ext cx="2526288" cy="225973"/>
          </a:xfrm>
          <a:prstGeom prst="homePlate">
            <a:avLst>
              <a:gd name="adj" fmla="val 21739"/>
            </a:avLst>
          </a:prstGeom>
          <a:solidFill>
            <a:srgbClr val="000066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 통합재무정보 및</a:t>
            </a:r>
            <a:r>
              <a:rPr lang="en-US" altLang="ko-KR" sz="900" b="1" dirty="0">
                <a:solidFill>
                  <a:prstClr val="white"/>
                </a:solidFill>
                <a:latin typeface="+mn-ea"/>
              </a:rPr>
              <a:t> </a:t>
            </a:r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인적자원관리 시스템 구축</a:t>
            </a:r>
            <a:endParaRPr lang="en-US" sz="900" b="1" dirty="0" err="1">
              <a:solidFill>
                <a:prstClr val="white"/>
              </a:solidFill>
              <a:latin typeface="+mn-ea"/>
            </a:endParaRPr>
          </a:p>
        </p:txBody>
      </p:sp>
      <p:sp>
        <p:nvSpPr>
          <p:cNvPr id="85" name="AutoShape 63">
            <a:extLst>
              <a:ext uri="{FF2B5EF4-FFF2-40B4-BE49-F238E27FC236}">
                <a16:creationId xmlns:a16="http://schemas.microsoft.com/office/drawing/2014/main" xmlns="" id="{2F5C404D-046D-4D7D-89D0-25D86870B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5009" y="4164047"/>
            <a:ext cx="432047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사업준비</a:t>
            </a:r>
          </a:p>
        </p:txBody>
      </p:sp>
      <p:sp>
        <p:nvSpPr>
          <p:cNvPr id="86" name="AutoShape 63">
            <a:extLst>
              <a:ext uri="{FF2B5EF4-FFF2-40B4-BE49-F238E27FC236}">
                <a16:creationId xmlns:a16="http://schemas.microsoft.com/office/drawing/2014/main" xmlns="" id="{74B1C647-68EE-4AFD-AEE2-366615EA3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056" y="4157951"/>
            <a:ext cx="1142556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시스템 구축 및</a:t>
            </a:r>
            <a:endParaRPr kumimoji="1" lang="en-US" altLang="ko-KR" sz="900" dirty="0">
              <a:solidFill>
                <a:srgbClr val="000000"/>
              </a:solidFill>
              <a:latin typeface="+mn-ea"/>
            </a:endParaRPr>
          </a:p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솔루션 도입</a:t>
            </a:r>
          </a:p>
        </p:txBody>
      </p:sp>
      <p:sp>
        <p:nvSpPr>
          <p:cNvPr id="87" name="AutoShape 63">
            <a:extLst>
              <a:ext uri="{FF2B5EF4-FFF2-40B4-BE49-F238E27FC236}">
                <a16:creationId xmlns:a16="http://schemas.microsoft.com/office/drawing/2014/main" xmlns="" id="{5FB5D762-A07E-4FB0-8B37-427FAFB9A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992" y="4157951"/>
            <a:ext cx="397648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안정화</a:t>
            </a:r>
          </a:p>
        </p:txBody>
      </p:sp>
      <p:sp>
        <p:nvSpPr>
          <p:cNvPr id="88" name="AutoShape 63">
            <a:extLst>
              <a:ext uri="{FF2B5EF4-FFF2-40B4-BE49-F238E27FC236}">
                <a16:creationId xmlns:a16="http://schemas.microsoft.com/office/drawing/2014/main" xmlns="" id="{4678FEC1-172F-491D-9817-1241C12E2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0503" y="5037287"/>
            <a:ext cx="421762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사업준비</a:t>
            </a:r>
          </a:p>
        </p:txBody>
      </p:sp>
      <p:sp>
        <p:nvSpPr>
          <p:cNvPr id="89" name="AutoShape 63">
            <a:extLst>
              <a:ext uri="{FF2B5EF4-FFF2-40B4-BE49-F238E27FC236}">
                <a16:creationId xmlns:a16="http://schemas.microsoft.com/office/drawing/2014/main" xmlns="" id="{E210AA9F-E7AC-48D4-9A2F-91D045A76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4532" y="5037287"/>
            <a:ext cx="740520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시스템구축</a:t>
            </a:r>
            <a:endParaRPr kumimoji="1" lang="en-US" altLang="ko-KR" sz="90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90" name="AutoShape 63">
            <a:extLst>
              <a:ext uri="{FF2B5EF4-FFF2-40B4-BE49-F238E27FC236}">
                <a16:creationId xmlns:a16="http://schemas.microsoft.com/office/drawing/2014/main" xmlns="" id="{8796FB26-87AF-471D-92A2-F63E5DC59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776" y="5037287"/>
            <a:ext cx="397648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안정화</a:t>
            </a:r>
          </a:p>
        </p:txBody>
      </p:sp>
      <p:sp>
        <p:nvSpPr>
          <p:cNvPr id="91" name="Pentagon 13">
            <a:extLst>
              <a:ext uri="{FF2B5EF4-FFF2-40B4-BE49-F238E27FC236}">
                <a16:creationId xmlns:a16="http://schemas.microsoft.com/office/drawing/2014/main" xmlns="" id="{871EE0A9-A77C-4443-A3B5-9660A5F9F878}"/>
              </a:ext>
            </a:extLst>
          </p:cNvPr>
          <p:cNvSpPr/>
          <p:nvPr/>
        </p:nvSpPr>
        <p:spPr>
          <a:xfrm>
            <a:off x="5137741" y="3919765"/>
            <a:ext cx="1856899" cy="197071"/>
          </a:xfrm>
          <a:prstGeom prst="homePlate">
            <a:avLst>
              <a:gd name="adj" fmla="val 21739"/>
            </a:avLst>
          </a:prstGeom>
          <a:solidFill>
            <a:srgbClr val="000066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 통계</a:t>
            </a:r>
            <a:r>
              <a:rPr lang="en-US" altLang="ko-KR" sz="900" b="1" dirty="0">
                <a:solidFill>
                  <a:prstClr val="white"/>
                </a:solidFill>
                <a:latin typeface="+mn-ea"/>
              </a:rPr>
              <a:t>  </a:t>
            </a:r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구축 및 연계 솔루션 도입</a:t>
            </a:r>
            <a:endParaRPr lang="en-US" sz="900" b="1" dirty="0" err="1">
              <a:solidFill>
                <a:prstClr val="white"/>
              </a:solidFill>
              <a:latin typeface="+mn-ea"/>
            </a:endParaRPr>
          </a:p>
        </p:txBody>
      </p:sp>
      <p:sp>
        <p:nvSpPr>
          <p:cNvPr id="92" name="Oval 6">
            <a:extLst>
              <a:ext uri="{FF2B5EF4-FFF2-40B4-BE49-F238E27FC236}">
                <a16:creationId xmlns:a16="http://schemas.microsoft.com/office/drawing/2014/main" xmlns="" id="{E16D5B98-B0AE-461C-8FF1-DFE097848EE1}"/>
              </a:ext>
            </a:extLst>
          </p:cNvPr>
          <p:cNvSpPr/>
          <p:nvPr/>
        </p:nvSpPr>
        <p:spPr>
          <a:xfrm>
            <a:off x="5011467" y="3867736"/>
            <a:ext cx="295200" cy="295200"/>
          </a:xfrm>
          <a:prstGeom prst="ellipse">
            <a:avLst/>
          </a:prstGeom>
          <a:solidFill>
            <a:srgbClr val="000066"/>
          </a:solidFill>
          <a:ln w="9525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000" b="1" dirty="0">
                <a:solidFill>
                  <a:prstClr val="white"/>
                </a:solidFill>
                <a:latin typeface="+mn-ea"/>
              </a:rPr>
              <a:t>2-2</a:t>
            </a:r>
          </a:p>
        </p:txBody>
      </p:sp>
      <p:sp>
        <p:nvSpPr>
          <p:cNvPr id="93" name="Pentagon 13">
            <a:extLst>
              <a:ext uri="{FF2B5EF4-FFF2-40B4-BE49-F238E27FC236}">
                <a16:creationId xmlns:a16="http://schemas.microsoft.com/office/drawing/2014/main" xmlns="" id="{3A705136-B679-449E-B7BC-07E3C308FD96}"/>
              </a:ext>
            </a:extLst>
          </p:cNvPr>
          <p:cNvSpPr/>
          <p:nvPr/>
        </p:nvSpPr>
        <p:spPr>
          <a:xfrm>
            <a:off x="7458041" y="4765573"/>
            <a:ext cx="1476000" cy="197071"/>
          </a:xfrm>
          <a:prstGeom prst="homePlate">
            <a:avLst>
              <a:gd name="adj" fmla="val 21739"/>
            </a:avLst>
          </a:prstGeom>
          <a:solidFill>
            <a:srgbClr val="000066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 모바일 서비스</a:t>
            </a:r>
            <a:r>
              <a:rPr lang="en-US" altLang="ko-KR" sz="900" b="1" dirty="0">
                <a:solidFill>
                  <a:prstClr val="white"/>
                </a:solidFill>
                <a:latin typeface="+mn-ea"/>
              </a:rPr>
              <a:t> </a:t>
            </a:r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구축</a:t>
            </a:r>
            <a:endParaRPr lang="en-US" sz="900" b="1" dirty="0" err="1">
              <a:solidFill>
                <a:prstClr val="white"/>
              </a:solidFill>
              <a:latin typeface="+mn-ea"/>
            </a:endParaRPr>
          </a:p>
        </p:txBody>
      </p:sp>
      <p:sp>
        <p:nvSpPr>
          <p:cNvPr id="94" name="Oval 6">
            <a:extLst>
              <a:ext uri="{FF2B5EF4-FFF2-40B4-BE49-F238E27FC236}">
                <a16:creationId xmlns:a16="http://schemas.microsoft.com/office/drawing/2014/main" xmlns="" id="{F91B2CBF-F2D7-4BF5-B441-64698A491A0C}"/>
              </a:ext>
            </a:extLst>
          </p:cNvPr>
          <p:cNvSpPr/>
          <p:nvPr/>
        </p:nvSpPr>
        <p:spPr>
          <a:xfrm>
            <a:off x="7370792" y="4706856"/>
            <a:ext cx="295200" cy="295200"/>
          </a:xfrm>
          <a:prstGeom prst="ellipse">
            <a:avLst/>
          </a:prstGeom>
          <a:solidFill>
            <a:srgbClr val="000066"/>
          </a:solidFill>
          <a:ln w="9525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 dirty="0">
                <a:solidFill>
                  <a:prstClr val="white"/>
                </a:solidFill>
                <a:latin typeface="+mn-ea"/>
              </a:rPr>
              <a:t>3</a:t>
            </a:r>
          </a:p>
        </p:txBody>
      </p:sp>
      <p:sp>
        <p:nvSpPr>
          <p:cNvPr id="95" name="AutoShape 63">
            <a:extLst>
              <a:ext uri="{FF2B5EF4-FFF2-40B4-BE49-F238E27FC236}">
                <a16:creationId xmlns:a16="http://schemas.microsoft.com/office/drawing/2014/main" xmlns="" id="{96FDFAEE-6E24-4B58-AFBA-BF1F26188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9744" y="5964125"/>
            <a:ext cx="937072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chemeClr val="bg1">
              <a:lumMod val="7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latinLnBrk="1" hangingPunct="0">
              <a:lnSpc>
                <a:spcPct val="95000"/>
              </a:lnSpc>
              <a:buClr>
                <a:schemeClr val="tx1"/>
              </a:buClr>
              <a:buSzTx/>
              <a:buNone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솔루션도입</a:t>
            </a:r>
          </a:p>
        </p:txBody>
      </p:sp>
      <p:sp>
        <p:nvSpPr>
          <p:cNvPr id="96" name="AutoShape 63">
            <a:extLst>
              <a:ext uri="{FF2B5EF4-FFF2-40B4-BE49-F238E27FC236}">
                <a16:creationId xmlns:a16="http://schemas.microsoft.com/office/drawing/2014/main" xmlns="" id="{B48CA3B0-B3A7-417B-ADF2-CA1706C53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6976" y="5964125"/>
            <a:ext cx="397648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chemeClr val="bg1">
              <a:lumMod val="75000"/>
            </a:schemeClr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latinLnBrk="1" hangingPunct="0">
              <a:lnSpc>
                <a:spcPct val="95000"/>
              </a:lnSpc>
              <a:buClr>
                <a:schemeClr val="tx1"/>
              </a:buClr>
              <a:buSzTx/>
              <a:buNone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안정화</a:t>
            </a:r>
          </a:p>
        </p:txBody>
      </p:sp>
      <p:sp>
        <p:nvSpPr>
          <p:cNvPr id="97" name="Pentagon 13">
            <a:extLst>
              <a:ext uri="{FF2B5EF4-FFF2-40B4-BE49-F238E27FC236}">
                <a16:creationId xmlns:a16="http://schemas.microsoft.com/office/drawing/2014/main" xmlns="" id="{6A61AE0E-08F9-4988-A539-65E9D45DD392}"/>
              </a:ext>
            </a:extLst>
          </p:cNvPr>
          <p:cNvSpPr/>
          <p:nvPr/>
        </p:nvSpPr>
        <p:spPr>
          <a:xfrm>
            <a:off x="2360712" y="5636864"/>
            <a:ext cx="1342975" cy="277324"/>
          </a:xfrm>
          <a:prstGeom prst="homePlate">
            <a:avLst>
              <a:gd name="adj" fmla="val 21739"/>
            </a:avLst>
          </a:prstGeom>
          <a:solidFill>
            <a:schemeClr val="bg1">
              <a:lumMod val="65000"/>
            </a:schemeClr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prstClr val="black"/>
                </a:solidFill>
                <a:latin typeface="+mn-ea"/>
              </a:rPr>
              <a:t>메타 및 품질 </a:t>
            </a:r>
            <a:endParaRPr lang="en-US" altLang="ko-KR" sz="900" b="1" dirty="0">
              <a:solidFill>
                <a:prstClr val="black"/>
              </a:solidFill>
              <a:latin typeface="+mn-ea"/>
            </a:endParaRPr>
          </a:p>
          <a:p>
            <a:pPr algn="ctr"/>
            <a:r>
              <a:rPr lang="ko-KR" altLang="en-US" sz="900" b="1" dirty="0">
                <a:solidFill>
                  <a:prstClr val="black"/>
                </a:solidFill>
                <a:latin typeface="+mn-ea"/>
              </a:rPr>
              <a:t>솔루션 도입</a:t>
            </a:r>
            <a:endParaRPr lang="en-US" sz="900" b="1" dirty="0" err="1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8" name="AutoShape 63">
            <a:extLst>
              <a:ext uri="{FF2B5EF4-FFF2-40B4-BE49-F238E27FC236}">
                <a16:creationId xmlns:a16="http://schemas.microsoft.com/office/drawing/2014/main" xmlns="" id="{BF80BF2F-0EA4-47A2-BC23-AAE2723BF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5009" y="3310117"/>
            <a:ext cx="432047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사업준비</a:t>
            </a:r>
          </a:p>
        </p:txBody>
      </p:sp>
      <p:sp>
        <p:nvSpPr>
          <p:cNvPr id="149" name="AutoShape 63">
            <a:extLst>
              <a:ext uri="{FF2B5EF4-FFF2-40B4-BE49-F238E27FC236}">
                <a16:creationId xmlns:a16="http://schemas.microsoft.com/office/drawing/2014/main" xmlns="" id="{E2504F50-EB89-4494-8366-5C30CA84A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056" y="3304021"/>
            <a:ext cx="1142556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시스템 구축</a:t>
            </a:r>
          </a:p>
        </p:txBody>
      </p:sp>
      <p:sp>
        <p:nvSpPr>
          <p:cNvPr id="150" name="AutoShape 63">
            <a:extLst>
              <a:ext uri="{FF2B5EF4-FFF2-40B4-BE49-F238E27FC236}">
                <a16:creationId xmlns:a16="http://schemas.microsoft.com/office/drawing/2014/main" xmlns="" id="{49F929E0-AAAB-4A25-A9BC-0B34AA7BE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991" y="3304021"/>
            <a:ext cx="397649" cy="361118"/>
          </a:xfrm>
          <a:prstGeom prst="leftRightArrow">
            <a:avLst>
              <a:gd name="adj1" fmla="val 75760"/>
              <a:gd name="adj2" fmla="val 30212"/>
            </a:avLst>
          </a:prstGeom>
          <a:solidFill>
            <a:srgbClr val="E5EEF6"/>
          </a:solidFill>
          <a:ln w="3175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0" tIns="0" rIns="0" bIns="0" anchor="ctr"/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buSzPct val="90000"/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5pPr>
            <a:lvl6pPr marL="22860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6pPr>
            <a:lvl7pPr marL="27432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7pPr>
            <a:lvl8pPr marL="32004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8pPr>
            <a:lvl9pPr marL="3657600" algn="l" defTabSz="914400" rtl="0" eaLnBrk="1" latinLnBrk="1" hangingPunct="1">
              <a:defRPr sz="3000" kern="1200">
                <a:solidFill>
                  <a:schemeClr val="folHlink"/>
                </a:solidFill>
                <a:latin typeface="PwC_Logo" pitchFamily="2" charset="0"/>
                <a:ea typeface="+mn-ea"/>
                <a:cs typeface="Arial" charset="0"/>
              </a:defRPr>
            </a:lvl9pPr>
          </a:lstStyle>
          <a:p>
            <a:pPr algn="ctr" defTabSz="958850" eaLnBrk="0" hangingPunct="0">
              <a:lnSpc>
                <a:spcPct val="95000"/>
              </a:lnSpc>
              <a:buClr>
                <a:schemeClr val="tx1"/>
              </a:buClr>
              <a:buSzTx/>
            </a:pPr>
            <a:r>
              <a:rPr kumimoji="1" lang="ko-KR" altLang="en-US" sz="900" dirty="0">
                <a:solidFill>
                  <a:srgbClr val="000000"/>
                </a:solidFill>
                <a:latin typeface="+mn-ea"/>
              </a:rPr>
              <a:t>안정화</a:t>
            </a:r>
          </a:p>
        </p:txBody>
      </p:sp>
      <p:sp>
        <p:nvSpPr>
          <p:cNvPr id="151" name="Pentagon 13">
            <a:extLst>
              <a:ext uri="{FF2B5EF4-FFF2-40B4-BE49-F238E27FC236}">
                <a16:creationId xmlns:a16="http://schemas.microsoft.com/office/drawing/2014/main" xmlns="" id="{B5E39F38-0606-442E-B7DB-E47E914FAA3A}"/>
              </a:ext>
            </a:extLst>
          </p:cNvPr>
          <p:cNvSpPr/>
          <p:nvPr/>
        </p:nvSpPr>
        <p:spPr>
          <a:xfrm>
            <a:off x="5137741" y="3065835"/>
            <a:ext cx="1856899" cy="197071"/>
          </a:xfrm>
          <a:prstGeom prst="homePlate">
            <a:avLst>
              <a:gd name="adj" fmla="val 21739"/>
            </a:avLst>
          </a:prstGeom>
          <a:solidFill>
            <a:srgbClr val="000066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ko-KR" altLang="en-US" sz="900" b="1" dirty="0">
                <a:solidFill>
                  <a:prstClr val="white"/>
                </a:solidFill>
                <a:latin typeface="+mn-ea"/>
              </a:rPr>
              <a:t> 기금지원 및 포털 시스템 구축</a:t>
            </a:r>
            <a:endParaRPr lang="en-US" sz="900" b="1" dirty="0" err="1">
              <a:solidFill>
                <a:prstClr val="white"/>
              </a:solidFill>
              <a:latin typeface="+mn-ea"/>
            </a:endParaRPr>
          </a:p>
        </p:txBody>
      </p:sp>
      <p:sp>
        <p:nvSpPr>
          <p:cNvPr id="152" name="Oval 6">
            <a:extLst>
              <a:ext uri="{FF2B5EF4-FFF2-40B4-BE49-F238E27FC236}">
                <a16:creationId xmlns:a16="http://schemas.microsoft.com/office/drawing/2014/main" xmlns="" id="{0AC25123-2C5D-41C5-A69C-0F482180BCFE}"/>
              </a:ext>
            </a:extLst>
          </p:cNvPr>
          <p:cNvSpPr/>
          <p:nvPr/>
        </p:nvSpPr>
        <p:spPr>
          <a:xfrm>
            <a:off x="5011467" y="3013806"/>
            <a:ext cx="295200" cy="295200"/>
          </a:xfrm>
          <a:prstGeom prst="ellipse">
            <a:avLst/>
          </a:prstGeom>
          <a:solidFill>
            <a:srgbClr val="000066"/>
          </a:solidFill>
          <a:ln w="9525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900" b="1" dirty="0">
                <a:solidFill>
                  <a:prstClr val="white"/>
                </a:solidFill>
                <a:latin typeface="+mn-ea"/>
              </a:rPr>
              <a:t>2-1</a:t>
            </a:r>
          </a:p>
        </p:txBody>
      </p:sp>
      <p:sp>
        <p:nvSpPr>
          <p:cNvPr id="153" name="Oval 6">
            <a:extLst>
              <a:ext uri="{FF2B5EF4-FFF2-40B4-BE49-F238E27FC236}">
                <a16:creationId xmlns:a16="http://schemas.microsoft.com/office/drawing/2014/main" xmlns="" id="{D771F5D2-A717-4885-8571-D40F6E38B160}"/>
              </a:ext>
            </a:extLst>
          </p:cNvPr>
          <p:cNvSpPr/>
          <p:nvPr/>
        </p:nvSpPr>
        <p:spPr>
          <a:xfrm>
            <a:off x="2733249" y="1984804"/>
            <a:ext cx="295200" cy="295200"/>
          </a:xfrm>
          <a:prstGeom prst="ellipse">
            <a:avLst/>
          </a:prstGeom>
          <a:solidFill>
            <a:srgbClr val="000066"/>
          </a:solidFill>
          <a:ln w="9525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 dirty="0">
                <a:solidFill>
                  <a:prstClr val="white"/>
                </a:solidFill>
                <a:latin typeface="+mn-ea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추진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비용 계획 수립</a:t>
            </a:r>
            <a:r>
              <a:rPr lang="en-US" altLang="ko-KR" dirty="0">
                <a:solidFill>
                  <a:schemeClr val="bg1">
                    <a:lumMod val="65000"/>
                  </a:schemeClr>
                </a:solidFill>
              </a:rPr>
              <a:t/>
            </a:r>
            <a:br>
              <a:rPr lang="en-US" altLang="ko-KR" dirty="0">
                <a:solidFill>
                  <a:schemeClr val="bg1">
                    <a:lumMod val="65000"/>
                  </a:schemeClr>
                </a:solidFill>
              </a:rPr>
            </a:br>
            <a:r>
              <a:rPr lang="en-US" altLang="ko-KR" dirty="0"/>
              <a:t>3.1 </a:t>
            </a:r>
            <a:r>
              <a:rPr lang="ko-KR" altLang="en-US" dirty="0"/>
              <a:t>비용계획 수립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3.2 </a:t>
            </a:r>
            <a:r>
              <a:rPr lang="ko-KR" altLang="en-US" dirty="0"/>
              <a:t>비용계획 종합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기대효과 분석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요건기술서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변화관리 방안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 구축을 위한 이행과제에 대하여 구성요소 별 소요자원을 도출하고</a:t>
            </a:r>
            <a:r>
              <a:rPr lang="en-US" altLang="ko-KR" sz="1600" dirty="0"/>
              <a:t>, </a:t>
            </a:r>
            <a:r>
              <a:rPr lang="ko-KR" altLang="en-US" sz="1600" dirty="0"/>
              <a:t>이를 과제별 및 단계별로 매핑하여 정리함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3. </a:t>
            </a:r>
            <a:r>
              <a:rPr lang="ko-KR" altLang="en-US" dirty="0"/>
              <a:t>비용 계획 수립 </a:t>
            </a:r>
            <a:r>
              <a:rPr lang="en-US" altLang="ko-KR" dirty="0"/>
              <a:t>&gt; 3.1 </a:t>
            </a:r>
            <a:r>
              <a:rPr lang="ko-KR" altLang="en-US" dirty="0"/>
              <a:t>비용계획 수립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3.1.1 </a:t>
            </a:r>
            <a:r>
              <a:rPr lang="ko-KR" altLang="en-US" dirty="0"/>
              <a:t>비용계획 수립 접근 절차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3.1 </a:t>
            </a:r>
            <a:r>
              <a:rPr lang="ko-KR" altLang="en-US" dirty="0"/>
              <a:t>비용계획 수립 개요</a:t>
            </a:r>
            <a:endParaRPr lang="en-US" altLang="ko-KR" dirty="0"/>
          </a:p>
        </p:txBody>
      </p:sp>
      <p:sp>
        <p:nvSpPr>
          <p:cNvPr id="44" name="직사각형 43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소요 자원 계획 개요</a:t>
            </a:r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8" name="Rectangle 96"/>
          <p:cNvSpPr>
            <a:spLocks noChangeArrowheads="1"/>
          </p:cNvSpPr>
          <p:nvPr/>
        </p:nvSpPr>
        <p:spPr bwMode="gray">
          <a:xfrm>
            <a:off x="493850" y="2338103"/>
            <a:ext cx="2315866" cy="3827201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B2B2B2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>
              <a:buNone/>
            </a:pPr>
            <a:endParaRPr lang="ko-KR" altLang="en-US" sz="1800" kern="0" spc="-3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grpSp>
        <p:nvGrpSpPr>
          <p:cNvPr id="5" name="그룹 8"/>
          <p:cNvGrpSpPr/>
          <p:nvPr/>
        </p:nvGrpSpPr>
        <p:grpSpPr>
          <a:xfrm>
            <a:off x="868738" y="1917304"/>
            <a:ext cx="1566090" cy="283667"/>
            <a:chOff x="416496" y="1844824"/>
            <a:chExt cx="3330006" cy="292322"/>
          </a:xfrm>
        </p:grpSpPr>
        <p:sp>
          <p:nvSpPr>
            <p:cNvPr id="40" name="Text Box 4"/>
            <p:cNvSpPr txBox="1">
              <a:spLocks noChangeArrowheads="1"/>
            </p:cNvSpPr>
            <p:nvPr/>
          </p:nvSpPr>
          <p:spPr bwMode="auto">
            <a:xfrm>
              <a:off x="477621" y="1844824"/>
              <a:ext cx="3268881" cy="292322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본 사업 이행과제</a:t>
              </a:r>
              <a:endParaRPr lang="en-US" altLang="ko-KR" sz="12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1" name="Line 5"/>
            <p:cNvSpPr>
              <a:spLocks noChangeShapeType="1"/>
            </p:cNvSpPr>
            <p:nvPr/>
          </p:nvSpPr>
          <p:spPr bwMode="auto">
            <a:xfrm>
              <a:off x="416496" y="2127399"/>
              <a:ext cx="331236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6" name="그룹 8"/>
          <p:cNvGrpSpPr/>
          <p:nvPr/>
        </p:nvGrpSpPr>
        <p:grpSpPr>
          <a:xfrm>
            <a:off x="3504145" y="1917304"/>
            <a:ext cx="2401657" cy="283667"/>
            <a:chOff x="416496" y="1844824"/>
            <a:chExt cx="3330006" cy="292322"/>
          </a:xfrm>
        </p:grpSpPr>
        <p:sp>
          <p:nvSpPr>
            <p:cNvPr id="43" name="Text Box 4"/>
            <p:cNvSpPr txBox="1">
              <a:spLocks noChangeArrowheads="1"/>
            </p:cNvSpPr>
            <p:nvPr/>
          </p:nvSpPr>
          <p:spPr bwMode="auto">
            <a:xfrm>
              <a:off x="477622" y="1844824"/>
              <a:ext cx="3268880" cy="292322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구성 요소별 소요자원 도출</a:t>
              </a:r>
              <a:endParaRPr lang="en-US" altLang="ko-KR" sz="12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46" name="Line 5"/>
            <p:cNvSpPr>
              <a:spLocks noChangeShapeType="1"/>
            </p:cNvSpPr>
            <p:nvPr/>
          </p:nvSpPr>
          <p:spPr bwMode="auto">
            <a:xfrm>
              <a:off x="416496" y="2127399"/>
              <a:ext cx="331236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7" name="그룹 8"/>
          <p:cNvGrpSpPr/>
          <p:nvPr/>
        </p:nvGrpSpPr>
        <p:grpSpPr>
          <a:xfrm>
            <a:off x="6774759" y="1917304"/>
            <a:ext cx="2401657" cy="283667"/>
            <a:chOff x="416496" y="1844824"/>
            <a:chExt cx="3330006" cy="292322"/>
          </a:xfrm>
        </p:grpSpPr>
        <p:sp>
          <p:nvSpPr>
            <p:cNvPr id="48" name="Text Box 4"/>
            <p:cNvSpPr txBox="1">
              <a:spLocks noChangeArrowheads="1"/>
            </p:cNvSpPr>
            <p:nvPr/>
          </p:nvSpPr>
          <p:spPr bwMode="auto">
            <a:xfrm>
              <a:off x="477622" y="1844824"/>
              <a:ext cx="3268880" cy="292322"/>
            </a:xfrm>
            <a:prstGeom prst="rect">
              <a:avLst/>
            </a:prstGeom>
            <a:noFill/>
            <a:ln w="12700" algn="ctr">
              <a:noFill/>
              <a:miter lim="800000"/>
              <a:headEnd type="none" w="sm" len="sm"/>
              <a:tailEnd type="none" w="sm" len="sm"/>
            </a:ln>
          </p:spPr>
          <p:txBody>
            <a:bodyPr wrap="square" lIns="90488" tIns="44450" rIns="90488" bIns="44450">
              <a:spAutoFit/>
            </a:bodyPr>
            <a:lstStyle/>
            <a:p>
              <a:pPr algn="ctr" eaLnBrk="0" fontAlgn="t" latinLnBrk="0" hangingPunct="0">
                <a:lnSpc>
                  <a:spcPct val="105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과제별</a:t>
              </a:r>
              <a:r>
                <a:rPr lang="en-US" altLang="ko-KR" sz="1200" b="1" dirty="0">
                  <a:solidFill>
                    <a:srgbClr val="000000"/>
                  </a:solidFill>
                  <a:latin typeface="+mn-ea"/>
                </a:rPr>
                <a:t>/</a:t>
              </a: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단계별 소요자원 도출</a:t>
              </a:r>
            </a:p>
          </p:txBody>
        </p:sp>
        <p:sp>
          <p:nvSpPr>
            <p:cNvPr id="49" name="Line 5"/>
            <p:cNvSpPr>
              <a:spLocks noChangeShapeType="1"/>
            </p:cNvSpPr>
            <p:nvPr/>
          </p:nvSpPr>
          <p:spPr bwMode="auto">
            <a:xfrm>
              <a:off x="416496" y="2127399"/>
              <a:ext cx="3312368" cy="0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lIns="90000" tIns="43200" rIns="90000" bIns="4320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lang="ko-KR" altLang="en-US" sz="1800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</p:txBody>
        </p:sp>
      </p:grpSp>
      <p:sp>
        <p:nvSpPr>
          <p:cNvPr id="50" name="Rectangle 96"/>
          <p:cNvSpPr>
            <a:spLocks noChangeArrowheads="1"/>
          </p:cNvSpPr>
          <p:nvPr/>
        </p:nvSpPr>
        <p:spPr bwMode="gray">
          <a:xfrm>
            <a:off x="3265871" y="2338103"/>
            <a:ext cx="2865954" cy="3827201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B2B2B2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>
              <a:buNone/>
            </a:pPr>
            <a:endParaRPr lang="ko-KR" altLang="en-US" sz="1800" kern="0" spc="-3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51" name="Rectangle 96"/>
          <p:cNvSpPr>
            <a:spLocks noChangeArrowheads="1"/>
          </p:cNvSpPr>
          <p:nvPr/>
        </p:nvSpPr>
        <p:spPr bwMode="gray">
          <a:xfrm>
            <a:off x="6559449" y="2338103"/>
            <a:ext cx="2826401" cy="3827201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B2B2B2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>
              <a:buNone/>
            </a:pPr>
            <a:endParaRPr lang="ko-KR" altLang="en-US" sz="1800" kern="0" spc="-3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52" name="이등변 삼각형 51"/>
          <p:cNvSpPr/>
          <p:nvPr/>
        </p:nvSpPr>
        <p:spPr bwMode="auto">
          <a:xfrm rot="5400000">
            <a:off x="5298444" y="4086321"/>
            <a:ext cx="2130507" cy="21051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82550" algn="ctr" latinLnBrk="0">
              <a:spcBef>
                <a:spcPct val="50000"/>
              </a:spcBef>
              <a:buClr>
                <a:srgbClr val="006699"/>
              </a:buClr>
              <a:buNone/>
              <a:defRPr/>
            </a:pPr>
            <a:endParaRPr kumimoji="0" lang="ko-KR" altLang="en-US" sz="120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53" name="Rectangle 28"/>
          <p:cNvSpPr>
            <a:spLocks noChangeArrowheads="1"/>
          </p:cNvSpPr>
          <p:nvPr/>
        </p:nvSpPr>
        <p:spPr bwMode="auto">
          <a:xfrm>
            <a:off x="6665539" y="5468805"/>
            <a:ext cx="2611337" cy="489132"/>
          </a:xfrm>
          <a:prstGeom prst="rect">
            <a:avLst/>
          </a:prstGeom>
          <a:solidFill>
            <a:schemeClr val="accent2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36000" tIns="72000" rIns="36000" bIns="72000" anchor="ctr"/>
          <a:lstStyle/>
          <a:p>
            <a:pPr algn="ctr" latinLnBrk="0">
              <a:defRPr/>
            </a:pPr>
            <a:r>
              <a:rPr lang="en-US" altLang="ko-KR" sz="1200" b="1" kern="0" dirty="0">
                <a:latin typeface="+mn-ea"/>
              </a:rPr>
              <a:t>S/W </a:t>
            </a:r>
            <a:r>
              <a:rPr lang="ko-KR" altLang="en-US" sz="1200" b="1" kern="0" dirty="0">
                <a:latin typeface="+mn-ea"/>
              </a:rPr>
              <a:t>개발비용 및 도입장비</a:t>
            </a:r>
            <a:r>
              <a:rPr lang="en-US" altLang="ko-KR" sz="1200" b="1" kern="0" dirty="0">
                <a:latin typeface="+mn-ea"/>
              </a:rPr>
              <a:t/>
            </a:r>
            <a:br>
              <a:rPr lang="en-US" altLang="ko-KR" sz="1200" b="1" kern="0" dirty="0">
                <a:latin typeface="+mn-ea"/>
              </a:rPr>
            </a:br>
            <a:r>
              <a:rPr lang="en-US" altLang="ko-KR" sz="1200" b="1" kern="0" dirty="0">
                <a:latin typeface="+mn-ea"/>
              </a:rPr>
              <a:t>(H/W, S/W, </a:t>
            </a:r>
            <a:r>
              <a:rPr lang="ko-KR" altLang="en-US" sz="1200" b="1" kern="0" dirty="0">
                <a:latin typeface="+mn-ea"/>
              </a:rPr>
              <a:t>기타</a:t>
            </a:r>
            <a:r>
              <a:rPr lang="en-US" altLang="ko-KR" sz="1200" b="1" kern="0" dirty="0">
                <a:latin typeface="+mn-ea"/>
              </a:rPr>
              <a:t>)</a:t>
            </a:r>
            <a:r>
              <a:rPr lang="ko-KR" altLang="en-US" sz="1200" b="1" kern="0" dirty="0">
                <a:latin typeface="+mn-ea"/>
              </a:rPr>
              <a:t> 비용 산정</a:t>
            </a:r>
          </a:p>
        </p:txBody>
      </p:sp>
      <p:sp>
        <p:nvSpPr>
          <p:cNvPr id="54" name="Rectangle 28"/>
          <p:cNvSpPr>
            <a:spLocks noChangeArrowheads="1"/>
          </p:cNvSpPr>
          <p:nvPr/>
        </p:nvSpPr>
        <p:spPr bwMode="auto">
          <a:xfrm>
            <a:off x="6665539" y="4770045"/>
            <a:ext cx="2611337" cy="489132"/>
          </a:xfrm>
          <a:prstGeom prst="rect">
            <a:avLst/>
          </a:prstGeom>
          <a:solidFill>
            <a:schemeClr val="accent2"/>
          </a:solidFill>
          <a:ln w="12700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square" lIns="36000" tIns="72000" rIns="36000" bIns="72000"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ko-KR" altLang="en-US" sz="1200" b="1" kern="0" dirty="0">
                <a:latin typeface="+mn-ea"/>
              </a:rPr>
              <a:t>과제별</a:t>
            </a:r>
            <a:r>
              <a:rPr lang="en-US" altLang="ko-KR" sz="1200" b="1" kern="0" dirty="0">
                <a:latin typeface="+mn-ea"/>
              </a:rPr>
              <a:t>/</a:t>
            </a:r>
            <a:r>
              <a:rPr lang="ko-KR" altLang="en-US" sz="1200" b="1" kern="0" dirty="0">
                <a:latin typeface="+mn-ea"/>
              </a:rPr>
              <a:t>단계별 예산 총괄</a:t>
            </a:r>
            <a:endParaRPr lang="ko-KR" altLang="en-US" sz="1200" b="1" kern="0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55" name="이등변 삼각형 54"/>
          <p:cNvSpPr/>
          <p:nvPr/>
        </p:nvSpPr>
        <p:spPr bwMode="auto">
          <a:xfrm rot="10800000">
            <a:off x="6899372" y="4420687"/>
            <a:ext cx="2139709" cy="209605"/>
          </a:xfrm>
          <a:prstGeom prst="triangle">
            <a:avLst/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82550" algn="ctr" latinLnBrk="0">
              <a:spcBef>
                <a:spcPct val="50000"/>
              </a:spcBef>
              <a:buClr>
                <a:srgbClr val="006699"/>
              </a:buClr>
              <a:buNone/>
              <a:defRPr/>
            </a:pPr>
            <a:endParaRPr kumimoji="0" lang="ko-KR" altLang="en-US" sz="120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56" name="이등변 삼각형 55"/>
          <p:cNvSpPr/>
          <p:nvPr/>
        </p:nvSpPr>
        <p:spPr bwMode="auto">
          <a:xfrm rot="5400000">
            <a:off x="1990096" y="4086322"/>
            <a:ext cx="2130507" cy="21051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/>
          <a:lstStyle/>
          <a:p>
            <a:pPr marL="82550" algn="ctr" latinLnBrk="0">
              <a:spcBef>
                <a:spcPct val="50000"/>
              </a:spcBef>
              <a:buClr>
                <a:srgbClr val="006699"/>
              </a:buClr>
              <a:buNone/>
              <a:defRPr/>
            </a:pPr>
            <a:endParaRPr kumimoji="0" lang="ko-KR" altLang="en-US" sz="120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grpSp>
        <p:nvGrpSpPr>
          <p:cNvPr id="8" name="그룹 104"/>
          <p:cNvGrpSpPr/>
          <p:nvPr/>
        </p:nvGrpSpPr>
        <p:grpSpPr>
          <a:xfrm>
            <a:off x="3368824" y="2426854"/>
            <a:ext cx="2703854" cy="3666850"/>
            <a:chOff x="3944888" y="2426854"/>
            <a:chExt cx="2127790" cy="3666850"/>
          </a:xfrm>
        </p:grpSpPr>
        <p:sp>
          <p:nvSpPr>
            <p:cNvPr id="67" name="Rectangle 13"/>
            <p:cNvSpPr>
              <a:spLocks noChangeArrowheads="1"/>
            </p:cNvSpPr>
            <p:nvPr/>
          </p:nvSpPr>
          <p:spPr bwMode="auto">
            <a:xfrm>
              <a:off x="3944888" y="4312476"/>
              <a:ext cx="2127790" cy="8384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i="0" u="sng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H/W</a:t>
              </a:r>
              <a:r>
                <a:rPr kumimoji="0" lang="ko-KR" altLang="en-US" sz="1100" i="0" u="sng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도입 비용</a:t>
              </a:r>
              <a:endParaRPr kumimoji="0" lang="en-US" altLang="ko-KR" sz="1100" i="0" u="sng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900" kern="0" dirty="0">
                  <a:solidFill>
                    <a:sysClr val="windowText" lastClr="000000"/>
                  </a:solidFill>
                  <a:latin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신규 장비 도입을 위해 필요한  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/>
              </a:r>
              <a:b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</a:b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하드웨어 자원과 기존 시스템 보완을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/>
              </a:r>
              <a:b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</a:br>
              <a:r>
                <a:rPr kumimoji="0" lang="en-US" altLang="ko-KR" sz="900" b="0" i="0" u="none" strike="noStrike" kern="0" cap="none" spc="0" normalizeH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위해 필요한 자원</a:t>
              </a:r>
            </a:p>
          </p:txBody>
        </p:sp>
        <p:sp>
          <p:nvSpPr>
            <p:cNvPr id="68" name="Rectangle 13"/>
            <p:cNvSpPr>
              <a:spLocks noChangeArrowheads="1"/>
            </p:cNvSpPr>
            <p:nvPr/>
          </p:nvSpPr>
          <p:spPr bwMode="auto">
            <a:xfrm>
              <a:off x="3944888" y="5255286"/>
              <a:ext cx="2127790" cy="8384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100" u="sng" kern="0" dirty="0">
                  <a:solidFill>
                    <a:sysClr val="windowText" lastClr="000000"/>
                  </a:solidFill>
                  <a:latin typeface="+mn-ea"/>
                  <a:ea typeface="+mn-ea"/>
                </a:rPr>
                <a:t>S/W</a:t>
              </a:r>
              <a:r>
                <a:rPr lang="ko-KR" altLang="en-US" sz="1100" u="sng" kern="0" dirty="0">
                  <a:solidFill>
                    <a:sysClr val="windowText" lastClr="000000"/>
                  </a:solidFill>
                  <a:latin typeface="+mn-ea"/>
                  <a:ea typeface="+mn-ea"/>
                </a:rPr>
                <a:t> 도입 비용</a:t>
              </a:r>
              <a:endParaRPr lang="en-US" altLang="ko-KR" sz="1100" u="sng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신규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S/W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도입 및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Upgrade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시 필요한  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/>
              </a:r>
              <a:b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</a:b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소프트웨어 비용과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package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구입에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/>
              </a:r>
              <a:b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</a:b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필요한 자원</a:t>
              </a:r>
            </a:p>
          </p:txBody>
        </p:sp>
        <p:sp>
          <p:nvSpPr>
            <p:cNvPr id="69" name="Rectangle 13"/>
            <p:cNvSpPr>
              <a:spLocks noChangeArrowheads="1"/>
            </p:cNvSpPr>
            <p:nvPr/>
          </p:nvSpPr>
          <p:spPr bwMode="auto">
            <a:xfrm>
              <a:off x="3944888" y="2426854"/>
              <a:ext cx="2127790" cy="8384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100" u="sng" kern="0" dirty="0">
                  <a:solidFill>
                    <a:sysClr val="windowText" lastClr="000000"/>
                  </a:solidFill>
                  <a:latin typeface="+mn-ea"/>
                  <a:ea typeface="+mn-ea"/>
                </a:rPr>
                <a:t>응용 프로그램 개발 비용</a:t>
              </a:r>
              <a:endParaRPr lang="en-US" altLang="ko-KR" sz="1100" u="sng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시스템 개발에 필요한 </a:t>
              </a:r>
              <a:r>
                <a:rPr lang="ko-KR" altLang="en-US" sz="900" kern="0" dirty="0">
                  <a:solidFill>
                    <a:sysClr val="windowText" lastClr="000000"/>
                  </a:solidFill>
                  <a:latin typeface="+mn-ea"/>
                </a:rPr>
                <a:t>   </a:t>
              </a:r>
              <a:r>
                <a:rPr lang="en-US" altLang="ko-KR" sz="900" kern="0" dirty="0">
                  <a:solidFill>
                    <a:sysClr val="windowText" lastClr="000000"/>
                  </a:solidFill>
                  <a:latin typeface="+mn-ea"/>
                </a:rPr>
                <a:t/>
              </a:r>
              <a:br>
                <a:rPr lang="en-US" altLang="ko-KR" sz="900" kern="0" dirty="0">
                  <a:solidFill>
                    <a:sysClr val="windowText" lastClr="000000"/>
                  </a:solidFill>
                  <a:latin typeface="+mn-ea"/>
                </a:rPr>
              </a:br>
              <a:r>
                <a:rPr lang="en-US" altLang="ko-KR" sz="900" kern="0" dirty="0">
                  <a:solidFill>
                    <a:sysClr val="windowText" lastClr="000000"/>
                  </a:solidFill>
                  <a:latin typeface="+mn-ea"/>
                </a:rPr>
                <a:t> 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응용프로그램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(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인건비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)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개발 비용</a:t>
              </a:r>
            </a:p>
          </p:txBody>
        </p:sp>
        <p:sp>
          <p:nvSpPr>
            <p:cNvPr id="70" name="Rectangle 13"/>
            <p:cNvSpPr>
              <a:spLocks noChangeArrowheads="1"/>
            </p:cNvSpPr>
            <p:nvPr/>
          </p:nvSpPr>
          <p:spPr bwMode="auto">
            <a:xfrm>
              <a:off x="3944888" y="3369665"/>
              <a:ext cx="2127790" cy="8384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square" lIns="36000" tIns="36000" rIns="36000" bIns="360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100" u="sng" kern="0" dirty="0">
                  <a:solidFill>
                    <a:sysClr val="windowText" lastClr="000000"/>
                  </a:solidFill>
                  <a:latin typeface="+mn-ea"/>
                  <a:ea typeface="+mn-ea"/>
                </a:rPr>
                <a:t>컨설팅 비용</a:t>
              </a:r>
              <a:endParaRPr lang="en-US" altLang="ko-KR" sz="1100" u="sng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 객관적이고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,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최적화된 시스템 분석과   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/>
              </a:r>
              <a:b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</a:b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</a:t>
              </a:r>
              <a:r>
                <a:rPr kumimoji="0" lang="en-US" altLang="ko-KR" sz="900" b="0" i="0" u="none" strike="noStrike" kern="0" cap="none" spc="0" normalizeH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 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상세 설계를 위한 컨설팅 비용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(</a:t>
              </a: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필요 시</a:t>
              </a: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  <a:ea typeface="+mn-ea"/>
                </a:rPr>
                <a:t>)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</p:grpSp>
      <p:pic>
        <p:nvPicPr>
          <p:cNvPr id="71" name="그림 7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664501" y="2553062"/>
            <a:ext cx="2666257" cy="1505904"/>
          </a:xfrm>
          <a:prstGeom prst="rect">
            <a:avLst/>
          </a:prstGeom>
        </p:spPr>
      </p:pic>
      <p:sp>
        <p:nvSpPr>
          <p:cNvPr id="57" name="직사각형 56"/>
          <p:cNvSpPr/>
          <p:nvPr/>
        </p:nvSpPr>
        <p:spPr>
          <a:xfrm>
            <a:off x="538222" y="4443759"/>
            <a:ext cx="2227122" cy="674697"/>
          </a:xfrm>
          <a:prstGeom prst="rect">
            <a:avLst/>
          </a:prstGeom>
          <a:solidFill>
            <a:srgbClr val="B1CFFC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lnSpc>
                <a:spcPts val="800"/>
              </a:lnSpc>
              <a:buClr>
                <a:schemeClr val="tx1"/>
              </a:buClr>
              <a:buNone/>
            </a:pPr>
            <a:r>
              <a:rPr lang="ko-KR" altLang="en-US" sz="1050" dirty="0">
                <a:latin typeface="+mn-ea"/>
                <a:ea typeface="+mn-ea"/>
              </a:rPr>
              <a:t>모바일</a:t>
            </a:r>
            <a:r>
              <a:rPr lang="en-US" altLang="ko-KR" sz="1050" dirty="0">
                <a:latin typeface="+mn-ea"/>
                <a:ea typeface="+mn-ea"/>
              </a:rPr>
              <a:t> </a:t>
            </a:r>
            <a:r>
              <a:rPr lang="ko-KR" altLang="en-US" sz="1050" dirty="0">
                <a:latin typeface="+mn-ea"/>
                <a:ea typeface="+mn-ea"/>
              </a:rPr>
              <a:t>서비스 채널 확대</a:t>
            </a:r>
          </a:p>
        </p:txBody>
      </p:sp>
      <p:sp>
        <p:nvSpPr>
          <p:cNvPr id="58" name="직사각형 57"/>
          <p:cNvSpPr/>
          <p:nvPr/>
        </p:nvSpPr>
        <p:spPr>
          <a:xfrm>
            <a:off x="538222" y="5430485"/>
            <a:ext cx="2227122" cy="674697"/>
          </a:xfrm>
          <a:prstGeom prst="rect">
            <a:avLst/>
          </a:prstGeom>
          <a:solidFill>
            <a:srgbClr val="B1CFFC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lnSpc>
                <a:spcPts val="800"/>
              </a:lnSpc>
              <a:buClr>
                <a:schemeClr val="tx1"/>
              </a:buClr>
              <a:buNone/>
            </a:pPr>
            <a:r>
              <a:rPr lang="en-US" altLang="ko-KR" sz="1050" dirty="0">
                <a:latin typeface="+mn-ea"/>
                <a:ea typeface="+mn-ea"/>
              </a:rPr>
              <a:t>’18</a:t>
            </a:r>
            <a:r>
              <a:rPr lang="ko-KR" altLang="en-US" sz="1050" dirty="0">
                <a:latin typeface="+mn-ea"/>
                <a:ea typeface="+mn-ea"/>
              </a:rPr>
              <a:t>년도 현행 구축 사업 추진</a:t>
            </a:r>
          </a:p>
        </p:txBody>
      </p:sp>
      <p:sp>
        <p:nvSpPr>
          <p:cNvPr id="62" name="직사각형 61"/>
          <p:cNvSpPr/>
          <p:nvPr/>
        </p:nvSpPr>
        <p:spPr>
          <a:xfrm>
            <a:off x="538222" y="3457032"/>
            <a:ext cx="2227122" cy="674697"/>
          </a:xfrm>
          <a:prstGeom prst="rect">
            <a:avLst/>
          </a:prstGeom>
          <a:solidFill>
            <a:srgbClr val="B1CFFC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buClr>
                <a:schemeClr val="tx1"/>
              </a:buClr>
              <a:buNone/>
            </a:pPr>
            <a:r>
              <a:rPr lang="ko-KR" altLang="en-US" sz="1050" dirty="0">
                <a:latin typeface="+mn-ea"/>
                <a:ea typeface="+mn-ea"/>
              </a:rPr>
              <a:t>경영정보통합시스템</a:t>
            </a:r>
            <a:r>
              <a:rPr lang="en-US" altLang="ko-KR" sz="1050" dirty="0">
                <a:latin typeface="+mn-ea"/>
                <a:ea typeface="+mn-ea"/>
              </a:rPr>
              <a:t>, </a:t>
            </a:r>
            <a:r>
              <a:rPr lang="ko-KR" altLang="en-US" sz="1050" dirty="0">
                <a:latin typeface="+mn-ea"/>
                <a:ea typeface="+mn-ea"/>
              </a:rPr>
              <a:t>통계</a:t>
            </a:r>
            <a:r>
              <a:rPr lang="en-US" altLang="ko-KR" sz="1050" dirty="0">
                <a:latin typeface="+mn-ea"/>
                <a:ea typeface="+mn-ea"/>
              </a:rPr>
              <a:t>, </a:t>
            </a:r>
            <a:r>
              <a:rPr lang="ko-KR" altLang="en-US" sz="1050" dirty="0">
                <a:latin typeface="+mn-ea"/>
                <a:ea typeface="+mn-ea"/>
              </a:rPr>
              <a:t>연계 </a:t>
            </a:r>
            <a:endParaRPr lang="en-US" altLang="ko-KR" sz="1050" dirty="0">
              <a:latin typeface="+mn-ea"/>
              <a:ea typeface="+mn-ea"/>
            </a:endParaRPr>
          </a:p>
          <a:p>
            <a:pPr algn="ctr">
              <a:buClr>
                <a:schemeClr val="tx1"/>
              </a:buClr>
              <a:buNone/>
            </a:pPr>
            <a:r>
              <a:rPr lang="ko-KR" altLang="en-US" sz="1050" dirty="0">
                <a:latin typeface="+mn-ea"/>
                <a:ea typeface="+mn-ea"/>
              </a:rPr>
              <a:t>고도화</a:t>
            </a:r>
          </a:p>
        </p:txBody>
      </p:sp>
      <p:sp>
        <p:nvSpPr>
          <p:cNvPr id="72" name="직사각형 71"/>
          <p:cNvSpPr/>
          <p:nvPr/>
        </p:nvSpPr>
        <p:spPr>
          <a:xfrm>
            <a:off x="538222" y="2470305"/>
            <a:ext cx="2227122" cy="674697"/>
          </a:xfrm>
          <a:prstGeom prst="rect">
            <a:avLst/>
          </a:prstGeom>
          <a:solidFill>
            <a:srgbClr val="B1CFFC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72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ctr">
              <a:lnSpc>
                <a:spcPts val="800"/>
              </a:lnSpc>
              <a:buClr>
                <a:schemeClr val="tx1"/>
              </a:buClr>
              <a:buNone/>
            </a:pPr>
            <a:r>
              <a:rPr lang="ko-KR" altLang="en-US" sz="1050" dirty="0">
                <a:latin typeface="+mn-ea"/>
                <a:ea typeface="+mn-ea"/>
              </a:rPr>
              <a:t>경영정보통합시스템 기반 구축</a:t>
            </a:r>
          </a:p>
        </p:txBody>
      </p:sp>
    </p:spTree>
    <p:extLst>
      <p:ext uri="{BB962C8B-B14F-4D97-AF65-F5344CB8AC3E}">
        <p14:creationId xmlns:p14="http://schemas.microsoft.com/office/powerpoint/2010/main" val="387801222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3.2 </a:t>
            </a:r>
            <a:r>
              <a:rPr lang="ko-KR" altLang="en-US" dirty="0"/>
              <a:t>비용계획 종합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3.2.1 </a:t>
            </a:r>
            <a:r>
              <a:rPr lang="ko-KR" altLang="en-US" dirty="0"/>
              <a:t>과제별 예산 총괄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3.2 </a:t>
            </a:r>
            <a:r>
              <a:rPr lang="ko-KR" altLang="en-US" dirty="0"/>
              <a:t>비용계획 종합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985448" y="787564"/>
            <a:ext cx="540534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 eaLnBrk="1" hangingPunct="1">
              <a:lnSpc>
                <a:spcPct val="100000"/>
              </a:lnSpc>
              <a:spcBef>
                <a:spcPct val="20000"/>
              </a:spcBef>
              <a:buClr>
                <a:srgbClr val="000000"/>
              </a:buClr>
              <a:buSzPct val="100000"/>
              <a:buNone/>
            </a:pPr>
            <a:r>
              <a:rPr kumimoji="1" lang="en-US" altLang="ko-KR" sz="7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7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7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7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</a:t>
            </a:r>
            <a:r>
              <a:rPr kumimoji="1" lang="en-US" altLang="ko-KR" sz="7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kumimoji="1" lang="ko-KR" altLang="en-US" sz="7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텍스트 개체 틀 1"/>
          <p:cNvSpPr txBox="1">
            <a:spLocks/>
          </p:cNvSpPr>
          <p:nvPr/>
        </p:nvSpPr>
        <p:spPr bwMode="auto">
          <a:xfrm>
            <a:off x="325397" y="6242690"/>
            <a:ext cx="2683387" cy="2308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50" baseline="0">
                <a:solidFill>
                  <a:srgbClr val="000000"/>
                </a:solidFill>
                <a:latin typeface="+mn-ea"/>
                <a:ea typeface="+mn-ea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 spc="-50">
                <a:solidFill>
                  <a:srgbClr val="000000"/>
                </a:solidFill>
                <a:latin typeface="+mn-ea"/>
                <a:ea typeface="+mn-ea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 spc="-50">
                <a:solidFill>
                  <a:srgbClr val="000000"/>
                </a:solidFill>
                <a:latin typeface="+mn-ea"/>
                <a:ea typeface="+mn-ea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ko-KR" sz="900" b="0" kern="0" dirty="0"/>
              <a:t>※ </a:t>
            </a:r>
            <a:r>
              <a:rPr lang="ko-KR" altLang="en-US" sz="900" b="0" kern="0" dirty="0"/>
              <a:t>유지관리비용</a:t>
            </a:r>
            <a:r>
              <a:rPr lang="en-US" altLang="ko-KR" sz="900" b="0" kern="0" dirty="0"/>
              <a:t>, </a:t>
            </a:r>
            <a:r>
              <a:rPr lang="ko-KR" altLang="en-US" sz="900" b="0" kern="0" dirty="0"/>
              <a:t>운영비용 및 임대료는 별도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8B46EBA4-344E-4A32-8459-9F7455A435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0846785"/>
              </p:ext>
            </p:extLst>
          </p:nvPr>
        </p:nvGraphicFramePr>
        <p:xfrm>
          <a:off x="272479" y="969680"/>
          <a:ext cx="9206425" cy="5313780"/>
        </p:xfrm>
        <a:graphic>
          <a:graphicData uri="http://schemas.openxmlformats.org/drawingml/2006/table">
            <a:tbl>
              <a:tblPr/>
              <a:tblGrid>
                <a:gridCol w="432000">
                  <a:extLst>
                    <a:ext uri="{9D8B030D-6E8A-4147-A177-3AD203B41FA5}">
                      <a16:colId xmlns:a16="http://schemas.microsoft.com/office/drawing/2014/main" xmlns="" val="10333495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xmlns="" val="1295040706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xmlns="" val="205948937"/>
                    </a:ext>
                  </a:extLst>
                </a:gridCol>
                <a:gridCol w="1056485">
                  <a:extLst>
                    <a:ext uri="{9D8B030D-6E8A-4147-A177-3AD203B41FA5}">
                      <a16:colId xmlns:a16="http://schemas.microsoft.com/office/drawing/2014/main" xmlns="" val="583052950"/>
                    </a:ext>
                  </a:extLst>
                </a:gridCol>
                <a:gridCol w="1056485">
                  <a:extLst>
                    <a:ext uri="{9D8B030D-6E8A-4147-A177-3AD203B41FA5}">
                      <a16:colId xmlns:a16="http://schemas.microsoft.com/office/drawing/2014/main" xmlns="" val="1130535773"/>
                    </a:ext>
                  </a:extLst>
                </a:gridCol>
                <a:gridCol w="1056485">
                  <a:extLst>
                    <a:ext uri="{9D8B030D-6E8A-4147-A177-3AD203B41FA5}">
                      <a16:colId xmlns:a16="http://schemas.microsoft.com/office/drawing/2014/main" xmlns="" val="3560398214"/>
                    </a:ext>
                  </a:extLst>
                </a:gridCol>
                <a:gridCol w="1056485">
                  <a:extLst>
                    <a:ext uri="{9D8B030D-6E8A-4147-A177-3AD203B41FA5}">
                      <a16:colId xmlns:a16="http://schemas.microsoft.com/office/drawing/2014/main" xmlns="" val="727981526"/>
                    </a:ext>
                  </a:extLst>
                </a:gridCol>
                <a:gridCol w="1056485">
                  <a:extLst>
                    <a:ext uri="{9D8B030D-6E8A-4147-A177-3AD203B41FA5}">
                      <a16:colId xmlns:a16="http://schemas.microsoft.com/office/drawing/2014/main" xmlns="" val="1972252041"/>
                    </a:ext>
                  </a:extLst>
                </a:gridCol>
                <a:gridCol w="1332000">
                  <a:extLst>
                    <a:ext uri="{9D8B030D-6E8A-4147-A177-3AD203B41FA5}">
                      <a16:colId xmlns:a16="http://schemas.microsoft.com/office/drawing/2014/main" xmlns="" val="3027976031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No.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이행과제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 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557349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과제 명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비용 구분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2019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2020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FFFFFF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13777149"/>
                  </a:ext>
                </a:extLst>
              </a:tr>
              <a:tr h="136545"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경영정보통합  시스템 기반    구축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b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배치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1,567,600,000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1,765,060,000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375068759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156,760,000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962724466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1,724,360,000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62035629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비용</a:t>
                      </a:r>
                      <a:b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(UI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및 리포팅 툴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도입비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37,000,000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57662386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711922427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40,700,000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08365792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1,765,060,000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334846423"/>
                  </a:ext>
                </a:extLst>
              </a:tr>
              <a:tr h="136545">
                <a:tc rowSpan="1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1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경영정보통합시스템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통계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고도화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748,000,000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rowSpan="13"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1,495,985,000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890809264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74,800,000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68611658"/>
                  </a:ext>
                </a:extLst>
              </a:tr>
              <a:tr h="96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822,000,000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316090757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통계 고도화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DBMS-5TB)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152,714,000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23951669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15,271,400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50576909"/>
                  </a:ext>
                </a:extLst>
              </a:tr>
              <a:tr h="96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167,985,000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331582640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통계 고도화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(ETL/OLAP)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104,000,000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522089660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10,400,000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744544773"/>
                  </a:ext>
                </a:extLst>
              </a:tr>
              <a:tr h="96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114,400,000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136211617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고도화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(ESB)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356,000,000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1859141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35,600,000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061496001"/>
                  </a:ext>
                </a:extLst>
              </a:tr>
              <a:tr h="965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391,600,000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551689209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1,495,985,000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260858315"/>
                  </a:ext>
                </a:extLst>
              </a:tr>
              <a:tr h="136545"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서비스 채널 확대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 비용</a:t>
                      </a:r>
                      <a:b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서비스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144,600,000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rowSpan="7"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829,510,000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954005533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14,460,000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249463508"/>
                  </a:ext>
                </a:extLst>
              </a:tr>
              <a:tr h="86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159,060,000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63883194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인프라 도입 비용</a:t>
                      </a:r>
                      <a:b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서비스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609,500,000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74854770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60,950,000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905697751"/>
                  </a:ext>
                </a:extLst>
              </a:tr>
              <a:tr h="86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670,450,000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100542938"/>
                  </a:ext>
                </a:extLst>
              </a:tr>
              <a:tr h="89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829,510,000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062646855"/>
                  </a:ext>
                </a:extLst>
              </a:tr>
              <a:tr h="136545"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'18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년도 현행  구축 사업 추진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비용</a:t>
                      </a:r>
                      <a:b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메타데이터관리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167,300,000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227,480,000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439338257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16,730,000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214024769"/>
                  </a:ext>
                </a:extLst>
              </a:tr>
              <a:tr h="86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184,030,000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735966891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비용</a:t>
                      </a:r>
                      <a:b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데이터품질관리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 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39,500,000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579044030"/>
                  </a:ext>
                </a:extLst>
              </a:tr>
              <a:tr h="1365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3,950,000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75168411"/>
                  </a:ext>
                </a:extLst>
              </a:tr>
              <a:tr h="865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 포함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43,450,000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43342156"/>
                  </a:ext>
                </a:extLst>
              </a:tr>
              <a:tr h="899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227,480,000 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CE4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485464939"/>
                  </a:ext>
                </a:extLst>
              </a:tr>
              <a:tr h="149866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227,480,000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1,765,060,000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1,495,985,000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829,510,000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4,318,035,000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168556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27261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 (1</a:t>
            </a:r>
            <a:r>
              <a:rPr lang="ko-KR" altLang="en-US" dirty="0"/>
              <a:t>단계</a:t>
            </a:r>
            <a:r>
              <a:rPr lang="en-US" altLang="ko-KR" dirty="0"/>
              <a:t>) </a:t>
            </a:r>
            <a:r>
              <a:rPr lang="ko-KR" altLang="en-US" dirty="0"/>
              <a:t>경영정보통합시스템 기반 구축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3.3.1.1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통합재무정보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9381236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통합재무정보시스템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1,460,000,605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1,460,000,605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1,460,000,605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1,606,000,000</a:t>
                      </a: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5619047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통합재무정보시스템 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2,898.25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519,203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1.1309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0.94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0.91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0.94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0.97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1,327,273,277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1,327,273,277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132,727,327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1,460,000,605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146,000,061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1,606,000,000</a:t>
                      </a: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인적자원관리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921936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1,051,407,275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1,051,407,275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1,051,407,275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1,156,548,000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4083955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 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2,437.59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519,203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1.0343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0.88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0.91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0.94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0.97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955,824,796</a:t>
                      </a:r>
                    </a:p>
                  </a:txBody>
                  <a:tcPr marL="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955,824,796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95,582,480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1,051,407,275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105,140,728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1,156,548,000</a:t>
                      </a:r>
                      <a:endParaRPr lang="en-US" altLang="ko-KR" sz="1100" b="1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828701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배치 및 연계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928585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배치 및 연계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u="none" strike="noStrike" dirty="0">
                          <a:effectLst/>
                        </a:rPr>
                        <a:t>42,166,295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u="none" strike="noStrike" dirty="0">
                          <a:effectLst/>
                        </a:rPr>
                        <a:t>42,166,295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42,166,295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46,382,000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022262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배치 및 연계 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73.95 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519,203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1.2800 </a:t>
                      </a:r>
                    </a:p>
                  </a:txBody>
                  <a:tcPr marL="6920" marR="692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0.94 </a:t>
                      </a:r>
                    </a:p>
                  </a:txBody>
                  <a:tcPr marL="6920" marR="692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0.91 </a:t>
                      </a:r>
                    </a:p>
                  </a:txBody>
                  <a:tcPr marL="6920" marR="692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0.94 </a:t>
                      </a:r>
                    </a:p>
                  </a:txBody>
                  <a:tcPr marL="6920" marR="692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    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0.97 </a:t>
                      </a:r>
                    </a:p>
                  </a:txBody>
                  <a:tcPr marL="6920" marR="692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38,332,995 </a:t>
                      </a:r>
                    </a:p>
                  </a:txBody>
                  <a:tcPr marL="6920" marR="180000" marT="69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38,332,995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3,833,300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42,166,295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4,216,629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46,382,000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75768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A</a:t>
            </a:r>
            <a:r>
              <a:rPr lang="ko-KR" altLang="en-US" dirty="0"/>
              <a:t>社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6763000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경영정보통합시스템 기반 구축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 재무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배치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1,567,600,000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1,567,600,000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1,567,600,000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1,724,360,000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(1/2) 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718591"/>
              </p:ext>
            </p:extLst>
          </p:nvPr>
        </p:nvGraphicFramePr>
        <p:xfrm>
          <a:off x="352050" y="3293993"/>
          <a:ext cx="9163859" cy="29520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0000">
                <a:tc row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시스템 구축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13,300,000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133,000,000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61862538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13,300,000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239,400,000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35611972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260,000,000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1633523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12,553,946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324,000,000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9753242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10,028,229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409,500,000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8300677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20,800,000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90957360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158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1,386,700,000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7302191"/>
                  </a:ext>
                </a:extLst>
              </a:tr>
              <a:tr h="270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데이터 이관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13,300,000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53,200,000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5361343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 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83,200,000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73395410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136,400,000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9534354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9209CC15-2563-4CFA-825A-7D7CA08527D3}"/>
              </a:ext>
            </a:extLst>
          </p:cNvPr>
          <p:cNvSpPr/>
          <p:nvPr/>
        </p:nvSpPr>
        <p:spPr>
          <a:xfrm>
            <a:off x="8368342" y="3023374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9188691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A</a:t>
            </a:r>
            <a:r>
              <a:rPr lang="ko-KR" altLang="en-US" dirty="0"/>
              <a:t>社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982237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(2/2) ] </a:t>
            </a: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9102040"/>
              </p:ext>
            </p:extLst>
          </p:nvPr>
        </p:nvGraphicFramePr>
        <p:xfrm>
          <a:off x="352050" y="1340016"/>
          <a:ext cx="9163859" cy="18900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0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공통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20,498,220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13,300,000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13,300,000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16,005,383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10,400,000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4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44,500,000 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1,567,600,000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156,760,000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 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1,724,360,000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9209CC15-2563-4CFA-825A-7D7CA08527D3}"/>
              </a:ext>
            </a:extLst>
          </p:cNvPr>
          <p:cNvSpPr/>
          <p:nvPr/>
        </p:nvSpPr>
        <p:spPr>
          <a:xfrm>
            <a:off x="8368342" y="1069397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388706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B</a:t>
            </a:r>
            <a:r>
              <a:rPr lang="ko-KR" altLang="en-US" dirty="0"/>
              <a:t>社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486319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경영정보통합시스템 기반 구축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 재무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배치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2,502,000,000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2,502,000,000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2,502,000,000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2,752,200,000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0" name="Group 4994">
            <a:extLst>
              <a:ext uri="{FF2B5EF4-FFF2-40B4-BE49-F238E27FC236}">
                <a16:creationId xmlns:a16="http://schemas.microsoft.com/office/drawing/2014/main" xmlns="" id="{6FAB3E96-717B-49AE-A4FE-B5DE716BEE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411208"/>
              </p:ext>
            </p:extLst>
          </p:nvPr>
        </p:nvGraphicFramePr>
        <p:xfrm>
          <a:off x="352050" y="3254504"/>
          <a:ext cx="9163858" cy="308364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4000"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특급기술자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24.0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8.451,914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202,845,936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고급기술자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66.0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6,353,006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419,298,396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116.0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4,986,758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578,463,928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9832356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초급기술자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72.0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4,486,165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323,003,880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64466027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278.0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1,523,612,140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1,675,973,354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제경비의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639,917,098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직접인건비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3,839,502,592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할인 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1,337,502,592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8836961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2,502,000,000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89853153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250,200,000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53994385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최종 견적금액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2,752,200,000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258085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282838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3.3.1.3 S/W </a:t>
            </a:r>
            <a:r>
              <a:rPr lang="ko-KR" altLang="en-US" dirty="0"/>
              <a:t>개발비용 산정 </a:t>
            </a:r>
            <a:r>
              <a:rPr lang="en-US" altLang="ko-KR" dirty="0"/>
              <a:t>&gt; </a:t>
            </a:r>
            <a:r>
              <a:rPr lang="ko-KR" altLang="en-US" dirty="0"/>
              <a:t>종합 분석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076377"/>
              </p:ext>
            </p:extLst>
          </p:nvPr>
        </p:nvGraphicFramePr>
        <p:xfrm>
          <a:off x="337629" y="1340768"/>
          <a:ext cx="9151874" cy="4914434"/>
        </p:xfrm>
        <a:graphic>
          <a:graphicData uri="http://schemas.openxmlformats.org/drawingml/2006/table">
            <a:tbl>
              <a:tblPr/>
              <a:tblGrid>
                <a:gridCol w="72693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739994406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162900800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FP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통합재무정보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배치 및 연계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B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11647390"/>
                  </a:ext>
                </a:extLst>
              </a:tr>
              <a:tr h="216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상세규격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총기능</a:t>
                      </a:r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점수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2898.25</a:t>
                      </a:r>
                    </a:p>
                    <a:p>
                      <a:pPr marL="92075" indent="-92075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기능점수당 단가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519,203</a:t>
                      </a:r>
                    </a:p>
                    <a:p>
                      <a:pPr marL="92075" indent="-92075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보정 계수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indent="0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규모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1.1309</a:t>
                      </a:r>
                    </a:p>
                    <a:p>
                      <a:pPr marL="0" indent="0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복잡성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0.94</a:t>
                      </a:r>
                    </a:p>
                    <a:p>
                      <a:pPr marL="0" indent="0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성능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0.91</a:t>
                      </a:r>
                    </a:p>
                    <a:p>
                      <a:pPr marL="0" indent="0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다중 사이트 운영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0.94</a:t>
                      </a:r>
                    </a:p>
                    <a:p>
                      <a:pPr marL="0" indent="0" algn="l" rtl="0" fontAlgn="ctr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보안성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1,460,000,605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146,000,061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1,606,000,000</a:t>
                      </a:r>
                      <a:endParaRPr lang="en-US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2,437.59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1.0343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0.88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 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1,051,407,275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105,140,728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1,156,548,000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73.95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1.2800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 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42,166,295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4,216,629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46,382,000 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구축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158M/M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PM(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10.0M/M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18.0M/M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25.0M/M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40.0M/M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63.0M/M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디자인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12M/M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4.0M/M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DATA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8.0M/M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공통 구성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4M/M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3.0M/M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278 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24.0M/M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66.0M/M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116.0M/M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72.0M/M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제경비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기술료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3,839,502,592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할인 금액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1,337,502,592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사업대가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2,553,574,175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1,567,600,000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2,502,000,000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4734687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255,357,418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156,760,000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250,200,000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141735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 사업대가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2,808,930,000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1,724,360,000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2,752,200,000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27524365"/>
                  </a:ext>
                </a:extLst>
              </a:tr>
            </a:tbl>
          </a:graphicData>
        </a:graphic>
      </p:graphicFrame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개발비용 산정 종합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9DF87302-47C8-498F-9BD1-8358C5D67157}"/>
              </a:ext>
            </a:extLst>
          </p:cNvPr>
          <p:cNvSpPr/>
          <p:nvPr/>
        </p:nvSpPr>
        <p:spPr bwMode="auto">
          <a:xfrm>
            <a:off x="6113311" y="1271984"/>
            <a:ext cx="1720009" cy="5052002"/>
          </a:xfrm>
          <a:prstGeom prst="rect">
            <a:avLst/>
          </a:prstGeom>
          <a:solidFill>
            <a:srgbClr val="FF0000">
              <a:alpha val="3922"/>
            </a:srgbClr>
          </a:solidFill>
          <a:ln w="28575" algn="ctr">
            <a:solidFill>
              <a:srgbClr val="FF660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 algn="ctr" eaLnBrk="0" hangingPunct="0">
              <a:lnSpc>
                <a:spcPct val="105000"/>
              </a:lnSpc>
              <a:spcBef>
                <a:spcPct val="35000"/>
              </a:spcBef>
              <a:buClr>
                <a:srgbClr val="008400"/>
              </a:buClr>
              <a:buFontTx/>
              <a:buChar char="•"/>
            </a:pPr>
            <a:endParaRPr lang="ko-KR" altLang="en-US" sz="1200" b="1" dirty="0">
              <a:solidFill>
                <a:srgbClr val="000000"/>
              </a:solidFill>
            </a:endParaRPr>
          </a:p>
        </p:txBody>
      </p:sp>
      <p:sp>
        <p:nvSpPr>
          <p:cNvPr id="21" name="AutoShape 35">
            <a:extLst>
              <a:ext uri="{FF2B5EF4-FFF2-40B4-BE49-F238E27FC236}">
                <a16:creationId xmlns:a16="http://schemas.microsoft.com/office/drawing/2014/main" xmlns="" id="{04A6D982-39A6-40FE-B70E-54C4E0F3C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4723" y="997750"/>
            <a:ext cx="666960" cy="246968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lnSpc>
                <a:spcPct val="110000"/>
              </a:lnSpc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12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rgbClr val="00437A"/>
                </a:solidFill>
                <a:latin typeface="+mn-ea"/>
              </a:rPr>
              <a:t>권고안</a:t>
            </a:r>
          </a:p>
        </p:txBody>
      </p:sp>
    </p:spTree>
    <p:extLst>
      <p:ext uri="{BB962C8B-B14F-4D97-AF65-F5344CB8AC3E}">
        <p14:creationId xmlns:p14="http://schemas.microsoft.com/office/powerpoint/2010/main" val="34719868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3.3.1.4 </a:t>
            </a:r>
            <a:r>
              <a:rPr lang="ko-KR" altLang="en-US" dirty="0"/>
              <a:t>솔루션 도입비용 산정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1152CB37-F2B5-461A-9A1A-C77BEAEAB460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0" name="Group 4994">
            <a:extLst>
              <a:ext uri="{FF2B5EF4-FFF2-40B4-BE49-F238E27FC236}">
                <a16:creationId xmlns:a16="http://schemas.microsoft.com/office/drawing/2014/main" xmlns="" id="{FC9D9960-A688-4CFD-AD4D-7C509C85B5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996540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경영정보통합시스템 구축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indent="-171450" algn="l" rtl="0" fontAlgn="ctr">
                        <a:buFontTx/>
                        <a:buChar char="-"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솔루션 도입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37,000,000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37,000,000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37,000,000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40,700,000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1" name="텍스트 개체 틀 2">
            <a:extLst>
              <a:ext uri="{FF2B5EF4-FFF2-40B4-BE49-F238E27FC236}">
                <a16:creationId xmlns:a16="http://schemas.microsoft.com/office/drawing/2014/main" xmlns="" id="{0004715E-9539-40A7-83E6-5B6D9AB66AEB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솔루션 도입 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2" name="텍스트 개체 틀 2">
            <a:extLst>
              <a:ext uri="{FF2B5EF4-FFF2-40B4-BE49-F238E27FC236}">
                <a16:creationId xmlns:a16="http://schemas.microsoft.com/office/drawing/2014/main" xmlns="" id="{42D6ABC1-97CB-4832-B810-7C2746420993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솔루션 도입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6" name="Group 4994">
            <a:extLst>
              <a:ext uri="{FF2B5EF4-FFF2-40B4-BE49-F238E27FC236}">
                <a16:creationId xmlns:a16="http://schemas.microsoft.com/office/drawing/2014/main" xmlns="" id="{C03596CE-C85B-464A-B303-0DF3AA4F96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9690124"/>
              </p:ext>
            </p:extLst>
          </p:nvPr>
        </p:nvGraphicFramePr>
        <p:xfrm>
          <a:off x="352050" y="3284984"/>
          <a:ext cx="9163859" cy="18900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0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솔루션 도입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- UI TOOL(</a:t>
                      </a:r>
                      <a:r>
                        <a:rPr lang="en-US" sz="1000" b="0" i="0" u="none" strike="noStrike" dirty="0" err="1">
                          <a:effectLst/>
                          <a:latin typeface="+mn-ea"/>
                          <a:ea typeface="+mn-ea"/>
                        </a:rPr>
                        <a:t>nexacro</a:t>
                      </a:r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17)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85,000,000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25,000,000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 - Report Tool (Ai-Report 6)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34,000,000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12,000,000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 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40,700,000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063398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ko-KR" dirty="0"/>
              <a:t>3.3.2 (2</a:t>
            </a:r>
            <a:r>
              <a:rPr lang="ko-KR" altLang="en-US" dirty="0"/>
              <a:t>단계</a:t>
            </a:r>
            <a:r>
              <a:rPr lang="en-US" altLang="ko-KR" dirty="0"/>
              <a:t>) </a:t>
            </a:r>
            <a:r>
              <a:rPr lang="ko-KR" altLang="en-US" dirty="0"/>
              <a:t>경영정보통합시스템 고도화 및 통계</a:t>
            </a:r>
            <a:r>
              <a:rPr lang="en-US" altLang="ko-KR" dirty="0"/>
              <a:t>/</a:t>
            </a:r>
            <a:r>
              <a:rPr lang="ko-KR" altLang="en-US" dirty="0"/>
              <a:t>연계 솔루션 도입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3.3.2.1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기금지원관리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6B9F9F79-B726-4CBD-8DCF-75AAB3C11B3F}"/>
              </a:ext>
            </a:extLst>
          </p:cNvPr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7B9A5669-C7FA-4CAE-A5B3-1ED87B7131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4778711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기금지원관리시스템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1,233,977,749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1,233,977,749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1,233,977,749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1,357,375,000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69A63689-5486-42D0-A812-7DFED3B88403}"/>
              </a:ext>
            </a:extLst>
          </p:cNvPr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97D796A4-8B9E-4E9A-9E02-FD95813A0BB0}"/>
              </a:ext>
            </a:extLst>
          </p:cNvPr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F226E1BD-DA04-4CA0-A375-CDBF72F701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2820232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기금지원관리시스템 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2,712.23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519,203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1.0910 </a:t>
                      </a:r>
                    </a:p>
                  </a:txBody>
                  <a:tcPr marL="7161" marR="7161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0.88 </a:t>
                      </a:r>
                    </a:p>
                  </a:txBody>
                  <a:tcPr marL="7161" marR="7161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0.91 </a:t>
                      </a:r>
                    </a:p>
                  </a:txBody>
                  <a:tcPr marL="7161" marR="7161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0.94 </a:t>
                      </a:r>
                    </a:p>
                  </a:txBody>
                  <a:tcPr marL="7161" marR="7161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0.97 </a:t>
                      </a:r>
                    </a:p>
                  </a:txBody>
                  <a:tcPr marL="7161" marR="7161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1,121,797,954</a:t>
                      </a:r>
                    </a:p>
                  </a:txBody>
                  <a:tcPr marL="7161" marR="180000" marT="7161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1,121,797,954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112,179,795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1,233,977,749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123,397,775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1,357,375,000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170813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경영정보 포털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6B9F9F79-B726-4CBD-8DCF-75AAB3C11B3F}"/>
              </a:ext>
            </a:extLst>
          </p:cNvPr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7B9A5669-C7FA-4CAE-A5B3-1ED87B7131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34176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417,134,932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417,134,932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417,134,932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458,848,000</a:t>
                      </a: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69A63689-5486-42D0-A812-7DFED3B88403}"/>
              </a:ext>
            </a:extLst>
          </p:cNvPr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97D796A4-8B9E-4E9A-9E02-FD95813A0BB0}"/>
              </a:ext>
            </a:extLst>
          </p:cNvPr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F226E1BD-DA04-4CA0-A375-CDBF72F701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3612594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1,109.07</a:t>
                      </a:r>
                      <a:endParaRPr lang="en-US" sz="110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519,203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0.9019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0.88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0.91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0.94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0.97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379,213,575</a:t>
                      </a:r>
                    </a:p>
                  </a:txBody>
                  <a:tcPr marL="7113" marR="180000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379,213,575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37,921,357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417,134,932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41,713,493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458,848,000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115432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3.3.2.1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 </a:t>
            </a:r>
            <a:r>
              <a:rPr lang="en-US" altLang="ko-KR" dirty="0"/>
              <a:t>&gt;</a:t>
            </a:r>
            <a:r>
              <a:rPr lang="ko-KR" altLang="en-US" dirty="0"/>
              <a:t> 통계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6B9F9F79-B726-4CBD-8DCF-75AAB3C11B3F}"/>
              </a:ext>
            </a:extLst>
          </p:cNvPr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7B9A5669-C7FA-4CAE-A5B3-1ED87B7131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6006844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의사결정지원 통계시스템 구축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323,605,700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323,605,700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323,605,700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355,966,000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69A63689-5486-42D0-A812-7DFED3B88403}"/>
              </a:ext>
            </a:extLst>
          </p:cNvPr>
          <p:cNvSpPr txBox="1">
            <a:spLocks/>
          </p:cNvSpPr>
          <p:nvPr/>
        </p:nvSpPr>
        <p:spPr bwMode="auto">
          <a:xfrm>
            <a:off x="335544" y="2827036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97D796A4-8B9E-4E9A-9E02-FD95813A0BB0}"/>
              </a:ext>
            </a:extLst>
          </p:cNvPr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F226E1BD-DA04-4CA0-A375-CDBF72F701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01578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의사결정지원 통계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 구축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673.90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519,203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1.0780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0.94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0.91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0.94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          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0.97 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294,187,000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294,187,000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29,418,700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323,605,700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    </a:t>
                      </a:r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32,360,570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355,966,000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654894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A</a:t>
            </a:r>
            <a:r>
              <a:rPr lang="ko-KR" altLang="en-US" dirty="0"/>
              <a:t>社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6484136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경영정보통합시스템 고도화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기금지원관리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통계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748,000,000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748,000,000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748,000,000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822,000,000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(1/2) 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9626866"/>
              </p:ext>
            </p:extLst>
          </p:nvPr>
        </p:nvGraphicFramePr>
        <p:xfrm>
          <a:off x="352050" y="3293993"/>
          <a:ext cx="9163859" cy="29520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0000">
                <a:tc row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시스템 구축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6.0</a:t>
                      </a:r>
                    </a:p>
                  </a:txBody>
                  <a:tcPr marL="36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20,498,220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14,300,000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85,800,000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61862538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10.0 </a:t>
                      </a:r>
                    </a:p>
                  </a:txBody>
                  <a:tcPr marL="7620" marR="39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20,498,220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14,300,000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143,000,000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35611972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10.0 </a:t>
                      </a:r>
                    </a:p>
                  </a:txBody>
                  <a:tcPr marL="7620" marR="39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16,005,383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11,200,000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112,000,000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1633523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14.0 </a:t>
                      </a:r>
                    </a:p>
                  </a:txBody>
                  <a:tcPr marL="7620" marR="39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12,553,946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8,700,000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121,800,000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9753242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15.0 </a:t>
                      </a:r>
                    </a:p>
                  </a:txBody>
                  <a:tcPr marL="7620" marR="39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10,028,229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7,000,000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8300677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2.0 </a:t>
                      </a:r>
                    </a:p>
                  </a:txBody>
                  <a:tcPr marL="7620" marR="39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16,005,383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11,200,000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22,400,000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90957360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57.0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0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0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590,000,000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7302191"/>
                  </a:ext>
                </a:extLst>
              </a:tr>
              <a:tr h="270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데이터 이관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20,498,220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14,300,000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28,600,000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5361343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 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이행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16,005,383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11,200,000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33,600,000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73395410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5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9534354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9209CC15-2563-4CFA-825A-7D7CA08527D3}"/>
              </a:ext>
            </a:extLst>
          </p:cNvPr>
          <p:cNvSpPr/>
          <p:nvPr/>
        </p:nvSpPr>
        <p:spPr>
          <a:xfrm>
            <a:off x="8368342" y="3023374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6192245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A</a:t>
            </a:r>
            <a:r>
              <a:rPr lang="ko-KR" altLang="en-US" dirty="0"/>
              <a:t>社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982237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(2/2) ] </a:t>
            </a:r>
          </a:p>
        </p:txBody>
      </p:sp>
      <p:graphicFrame>
        <p:nvGraphicFramePr>
          <p:cNvPr id="14" name="Group 4994">
            <a:extLst>
              <a:ext uri="{FF2B5EF4-FFF2-40B4-BE49-F238E27FC236}">
                <a16:creationId xmlns:a16="http://schemas.microsoft.com/office/drawing/2014/main" xmlns="" id="{1DD3FB2E-EC92-43D2-B391-E4D8280ABC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0835832"/>
              </p:ext>
            </p:extLst>
          </p:nvPr>
        </p:nvGraphicFramePr>
        <p:xfrm>
          <a:off x="352050" y="1340016"/>
          <a:ext cx="9163859" cy="18900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0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공통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20,498,220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14,300,000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28,600,000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16,005,383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+mn-ea"/>
                          <a:ea typeface="+mn-ea"/>
                        </a:rPr>
                        <a:t>11,200,000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67,200,000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8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95,800,000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748,000,000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74,800,000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70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 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822,000,000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9209CC15-2563-4CFA-825A-7D7CA08527D3}"/>
              </a:ext>
            </a:extLst>
          </p:cNvPr>
          <p:cNvSpPr/>
          <p:nvPr/>
        </p:nvSpPr>
        <p:spPr>
          <a:xfrm>
            <a:off x="8368342" y="1069397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5216121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3.3.2.2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 &gt;</a:t>
            </a:r>
            <a:r>
              <a:rPr lang="ko-KR" altLang="en-US" dirty="0"/>
              <a:t> </a:t>
            </a:r>
            <a:r>
              <a:rPr lang="en-US" altLang="ko-KR" dirty="0"/>
              <a:t>B</a:t>
            </a:r>
            <a:r>
              <a:rPr lang="ko-KR" altLang="en-US" dirty="0"/>
              <a:t>社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5427668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경영정보통합시스템 고도화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기금지원관리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경영정보 포털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통계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1,071,000,000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1,071,000,000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1,071,000,000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1,178,100,000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0" name="Group 4994">
            <a:extLst>
              <a:ext uri="{FF2B5EF4-FFF2-40B4-BE49-F238E27FC236}">
                <a16:creationId xmlns:a16="http://schemas.microsoft.com/office/drawing/2014/main" xmlns="" id="{6FAB3E96-717B-49AE-A4FE-B5DE716BEE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5311323"/>
              </p:ext>
            </p:extLst>
          </p:nvPr>
        </p:nvGraphicFramePr>
        <p:xfrm>
          <a:off x="352050" y="3254504"/>
          <a:ext cx="9163858" cy="308364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4000"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특급기술자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8.451,914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67,615,312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고급기술자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32.0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6,353,006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203,296,192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53.0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4,986,758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264,298,174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9832356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초급기술자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26.0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4,486,165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116,640,290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64466027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119.0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651,849,968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717,034,964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제경비의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273,776,986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직접인건비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1,642,661,918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할인 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571,661,918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8836961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1,071,000,000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89853153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107,100,000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53994385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최종 견적금액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1,178,100,000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258085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529732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3.3.2.3 S/W </a:t>
            </a:r>
            <a:r>
              <a:rPr lang="ko-KR" altLang="en-US" dirty="0"/>
              <a:t>개발비용 산정 </a:t>
            </a:r>
            <a:r>
              <a:rPr lang="en-US" altLang="ko-KR" dirty="0"/>
              <a:t>&gt; </a:t>
            </a:r>
            <a:r>
              <a:rPr lang="ko-KR" altLang="en-US" dirty="0"/>
              <a:t>종합 분석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/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5" name="Group 49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135549"/>
              </p:ext>
            </p:extLst>
          </p:nvPr>
        </p:nvGraphicFramePr>
        <p:xfrm>
          <a:off x="337629" y="1340768"/>
          <a:ext cx="9151874" cy="4914434"/>
        </p:xfrm>
        <a:graphic>
          <a:graphicData uri="http://schemas.openxmlformats.org/drawingml/2006/table">
            <a:tbl>
              <a:tblPr/>
              <a:tblGrid>
                <a:gridCol w="72693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739994406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162900800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6849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FP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경영정보 포털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B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11647390"/>
                  </a:ext>
                </a:extLst>
              </a:tr>
              <a:tr h="216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상세규격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2,712.23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1.0910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0.88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1,233,977,749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123,397,775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1,357,375,000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1,109.07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0.9019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0.88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417,134,932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41,713,493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458,848,000 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673.90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1.0780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323,605,700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32,360,570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355,966,000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구축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57.0M/M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PM(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6.0M/M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10.0M/M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10.0M/M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14.0M/M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15.0M/M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디자인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데이터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DATA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3.0M/M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공통 구성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8.0M/M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6.0M/M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119.0M/M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8.0M/M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32.0M/M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53.0M/M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26.0M/M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제경비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기술료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1,642,661,918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할인 금액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571,661,918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사업대가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1,974,718,381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748,000,000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1,071,000,000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4734687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197,471,838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74,800,000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107,100,000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141735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 사업대가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2,172,189,000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822,000,000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1,178,100,000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27524365"/>
                  </a:ext>
                </a:extLst>
              </a:tr>
            </a:tbl>
          </a:graphicData>
        </a:graphic>
      </p:graphicFrame>
      <p:sp>
        <p:nvSpPr>
          <p:cNvPr id="18" name="텍스트 개체 틀 2"/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개발비용 산정 종합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9DF87302-47C8-498F-9BD1-8358C5D67157}"/>
              </a:ext>
            </a:extLst>
          </p:cNvPr>
          <p:cNvSpPr/>
          <p:nvPr/>
        </p:nvSpPr>
        <p:spPr bwMode="auto">
          <a:xfrm>
            <a:off x="6097694" y="1270106"/>
            <a:ext cx="1720009" cy="5052002"/>
          </a:xfrm>
          <a:prstGeom prst="rect">
            <a:avLst/>
          </a:prstGeom>
          <a:solidFill>
            <a:srgbClr val="FF0000">
              <a:alpha val="3922"/>
            </a:srgbClr>
          </a:solidFill>
          <a:ln w="28575" algn="ctr">
            <a:solidFill>
              <a:srgbClr val="FF660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 algn="ctr" eaLnBrk="0" hangingPunct="0">
              <a:lnSpc>
                <a:spcPct val="105000"/>
              </a:lnSpc>
              <a:spcBef>
                <a:spcPct val="35000"/>
              </a:spcBef>
              <a:buClr>
                <a:srgbClr val="008400"/>
              </a:buClr>
              <a:buFontTx/>
              <a:buChar char="•"/>
            </a:pPr>
            <a:endParaRPr lang="ko-KR" altLang="en-US" sz="1200" b="1" dirty="0">
              <a:solidFill>
                <a:srgbClr val="000000"/>
              </a:solidFill>
            </a:endParaRPr>
          </a:p>
        </p:txBody>
      </p:sp>
      <p:sp>
        <p:nvSpPr>
          <p:cNvPr id="21" name="AutoShape 35">
            <a:extLst>
              <a:ext uri="{FF2B5EF4-FFF2-40B4-BE49-F238E27FC236}">
                <a16:creationId xmlns:a16="http://schemas.microsoft.com/office/drawing/2014/main" xmlns="" id="{04A6D982-39A6-40FE-B70E-54C4E0F3C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4723" y="997750"/>
            <a:ext cx="666960" cy="246968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lnSpc>
                <a:spcPct val="110000"/>
              </a:lnSpc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12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rgbClr val="00437A"/>
                </a:solidFill>
                <a:latin typeface="+mn-ea"/>
              </a:rPr>
              <a:t>권고안</a:t>
            </a:r>
          </a:p>
        </p:txBody>
      </p:sp>
    </p:spTree>
    <p:extLst>
      <p:ext uri="{BB962C8B-B14F-4D97-AF65-F5344CB8AC3E}">
        <p14:creationId xmlns:p14="http://schemas.microsoft.com/office/powerpoint/2010/main" val="126797899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솔루션 도입 비용 </a:t>
            </a:r>
            <a:r>
              <a:rPr lang="en-US" altLang="ko-KR" dirty="0"/>
              <a:t>&gt; (</a:t>
            </a:r>
            <a:r>
              <a:rPr lang="ko-KR" altLang="en-US" dirty="0"/>
              <a:t>통계</a:t>
            </a:r>
            <a:r>
              <a:rPr lang="en-US" altLang="ko-KR" dirty="0"/>
              <a:t>) </a:t>
            </a:r>
            <a:r>
              <a:rPr lang="ko-KR" altLang="en-US" dirty="0"/>
              <a:t>분석</a:t>
            </a:r>
            <a:r>
              <a:rPr lang="en-US" altLang="ko-KR" dirty="0"/>
              <a:t>DBMS(1/2)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E155D5DF-2275-437A-890D-93CA0842407F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596FE934-AF12-4892-9E58-C056A8271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692552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및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의사결정지원 통계 시스템 구축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DBMS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152,714,000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152,714,000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152,714,000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effectLst/>
                          <a:latin typeface="+mn-ea"/>
                          <a:ea typeface="+mn-ea"/>
                        </a:rPr>
                        <a:t>167,985,000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795B891A-8F9D-408B-B60E-1DBDDFD50306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통계 솔루션 도입 산정내역</a:t>
            </a:r>
            <a:r>
              <a:rPr lang="en-US" altLang="ko-KR" kern="0" dirty="0"/>
              <a:t>(1/2)</a:t>
            </a:r>
            <a:r>
              <a:rPr lang="ko-KR" altLang="en-US" kern="0" dirty="0"/>
              <a:t>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69EF3F8B-34DE-43ED-A117-7BC9F30F0034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통계 솔루션 도입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052D9EEA-6868-44F0-812A-89C660E2ED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8177478"/>
              </p:ext>
            </p:extLst>
          </p:nvPr>
        </p:nvGraphicFramePr>
        <p:xfrm>
          <a:off x="352050" y="3254504"/>
          <a:ext cx="9138026" cy="2320800"/>
        </p:xfrm>
        <a:graphic>
          <a:graphicData uri="http://schemas.openxmlformats.org/drawingml/2006/table">
            <a:tbl>
              <a:tblPr/>
              <a:tblGrid>
                <a:gridCol w="10005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1035251168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</a:tblGrid>
              <a:tr h="13500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500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73606977"/>
                  </a:ext>
                </a:extLst>
              </a:tr>
              <a:tr h="1584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SW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u="none" strike="noStrike" dirty="0">
                          <a:effectLst/>
                        </a:rPr>
                        <a:t>Vertica Premium Edition SW E-LTU 1TB perpetual License</a:t>
                      </a:r>
                    </a:p>
                    <a:p>
                      <a:pPr marL="141288" indent="-141288" algn="l" fontAlgn="ctr">
                        <a:buFont typeface="Arial" panose="020B0604020202020204" pitchFamily="34" charset="0"/>
                        <a:buNone/>
                      </a:pPr>
                      <a:r>
                        <a:rPr lang="en-US" altLang="ko-KR" sz="1000" u="none" strike="noStrike" dirty="0">
                          <a:effectLst/>
                        </a:rPr>
                        <a:t> - Premium Edition SW E-LTU perpetual License</a:t>
                      </a:r>
                    </a:p>
                    <a:p>
                      <a:pPr marL="141288" indent="-141288" algn="l" fontAlgn="ctr">
                        <a:buFont typeface="Arial" panose="020B0604020202020204" pitchFamily="34" charset="0"/>
                        <a:buNone/>
                      </a:pPr>
                      <a:r>
                        <a:rPr lang="en-US" altLang="ko-KR" sz="1000" u="none" strike="noStrike" dirty="0">
                          <a:effectLst/>
                        </a:rPr>
                        <a:t> - Machine learning </a:t>
                      </a:r>
                      <a:r>
                        <a:rPr lang="ko-KR" altLang="en-US" sz="1000" u="none" strike="noStrike" dirty="0">
                          <a:effectLst/>
                        </a:rPr>
                        <a:t>기능 포함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u="none" strike="noStrike" dirty="0">
                          <a:effectLst/>
                        </a:rPr>
                        <a:t> - </a:t>
                      </a:r>
                      <a:r>
                        <a:rPr lang="ko-KR" altLang="en-US" sz="1000" u="none" strike="noStrike" dirty="0" err="1">
                          <a:effectLst/>
                        </a:rPr>
                        <a:t>개발계</a:t>
                      </a:r>
                      <a:r>
                        <a:rPr lang="ko-KR" altLang="en-US" sz="1000" u="none" strike="noStrike" dirty="0">
                          <a:effectLst/>
                        </a:rPr>
                        <a:t> 라이선스 무상제공 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u="none" strike="noStrike" dirty="0">
                          <a:effectLst/>
                        </a:rPr>
                        <a:t> - 1</a:t>
                      </a:r>
                      <a:r>
                        <a:rPr lang="ko-KR" altLang="en-US" sz="1000" u="none" strike="noStrike" dirty="0">
                          <a:effectLst/>
                        </a:rPr>
                        <a:t>년 무상유지보수 포함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5TB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40,476,000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202,380,000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12,142,800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60,714,000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(A)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60,714,000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106383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솔루션 도입 비용 </a:t>
            </a:r>
            <a:r>
              <a:rPr lang="en-US" altLang="ko-KR" dirty="0"/>
              <a:t>&gt; (</a:t>
            </a:r>
            <a:r>
              <a:rPr lang="ko-KR" altLang="en-US" dirty="0"/>
              <a:t>통계</a:t>
            </a:r>
            <a:r>
              <a:rPr lang="en-US" altLang="ko-KR" dirty="0"/>
              <a:t>) </a:t>
            </a:r>
            <a:r>
              <a:rPr lang="ko-KR" altLang="en-US" dirty="0"/>
              <a:t>분석</a:t>
            </a:r>
            <a:r>
              <a:rPr lang="en-US" altLang="ko-KR" dirty="0"/>
              <a:t>DBMS(2/2)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795B891A-8F9D-408B-B60E-1DBDDFD50306}"/>
              </a:ext>
            </a:extLst>
          </p:cNvPr>
          <p:cNvSpPr txBox="1">
            <a:spLocks/>
          </p:cNvSpPr>
          <p:nvPr/>
        </p:nvSpPr>
        <p:spPr bwMode="auto">
          <a:xfrm>
            <a:off x="335544" y="908720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통계 솔루션 도입 산정내역</a:t>
            </a:r>
            <a:r>
              <a:rPr lang="en-US" altLang="ko-KR" kern="0" dirty="0"/>
              <a:t>(2/2)</a:t>
            </a:r>
            <a:r>
              <a:rPr lang="ko-KR" altLang="en-US" kern="0" dirty="0"/>
              <a:t> </a:t>
            </a:r>
            <a:r>
              <a:rPr lang="en-US" altLang="ko-KR" kern="0" dirty="0"/>
              <a:t>] </a:t>
            </a: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052D9EEA-6868-44F0-812A-89C660E2ED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695908"/>
              </p:ext>
            </p:extLst>
          </p:nvPr>
        </p:nvGraphicFramePr>
        <p:xfrm>
          <a:off x="352050" y="1264180"/>
          <a:ext cx="9138026" cy="3884520"/>
        </p:xfrm>
        <a:graphic>
          <a:graphicData uri="http://schemas.openxmlformats.org/drawingml/2006/table">
            <a:tbl>
              <a:tblPr/>
              <a:tblGrid>
                <a:gridCol w="10005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1035251168"/>
                    </a:ext>
                  </a:extLst>
                </a:gridCol>
                <a:gridCol w="1224279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</a:tblGrid>
              <a:tr h="13500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5000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73606977"/>
                  </a:ext>
                </a:extLst>
              </a:tr>
              <a:tr h="234000">
                <a:tc rowSpan="1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HW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HPE DL360 G10</a:t>
                      </a:r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119,622,000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42036786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- 3.0GHz 12Core / 128GB Memory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60,078,000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03049912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영역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: 600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GB *2 (RAID 1)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5,220,000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03461149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Data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영역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: 1.2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TB * 6 = 7.2TB 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23,238,000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57514551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  (RAID50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Usable 4.4TB)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379611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Power supply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이중화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05907381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네트웍 이중화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(1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G NIC 1EA , 10G NIC 1EA)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4,821,000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80262581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네트웍 장비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29,824,741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11079687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- 10G 12port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이상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대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 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Private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망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18,714,752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15113814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-  1G 12port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이상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대 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 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Public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망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11,109,989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695686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(B)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92,000,000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75885077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(A+B)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+mn-ea"/>
                          <a:ea typeface="+mn-ea"/>
                        </a:rPr>
                        <a:t>152,714,000</a:t>
                      </a:r>
                      <a:endParaRPr lang="ko-KR" altLang="en-US" sz="11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41908358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+mn-ea"/>
                          <a:ea typeface="+mn-ea"/>
                        </a:rPr>
                        <a:t> 15,271,400</a:t>
                      </a:r>
                    </a:p>
                  </a:txBody>
                  <a:tcPr marL="36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74208938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최종 견적금액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</a:t>
                      </a:r>
                      <a:r>
                        <a:rPr lang="ko-KR" altLang="en-US" sz="11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>
                          <a:effectLst/>
                          <a:latin typeface="+mn-ea"/>
                          <a:ea typeface="+mn-ea"/>
                        </a:rPr>
                        <a:t>167,985,000 </a:t>
                      </a:r>
                    </a:p>
                  </a:txBody>
                  <a:tcPr marL="36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490405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312078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솔루션 도입 비용 </a:t>
            </a:r>
            <a:r>
              <a:rPr lang="en-US" altLang="ko-KR" dirty="0"/>
              <a:t>&gt; (</a:t>
            </a:r>
            <a:r>
              <a:rPr lang="ko-KR" altLang="en-US" dirty="0"/>
              <a:t>통계</a:t>
            </a:r>
            <a:r>
              <a:rPr lang="en-US" altLang="ko-KR" dirty="0"/>
              <a:t>) ETL/OLAP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E45DAF0C-83FF-4F21-A305-4EE911E1BC99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5F406C93-48E2-461A-B8FD-2D1492F01C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4634956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및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의사결정지원 통계 시스템 구축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ETL/OLAP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솔루션 도입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104,000,000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104,000,000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104,000,000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114,400,000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99578CE8-4142-4FCF-AE93-9E52A0828BBC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통계 솔루션 도입 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D0E3273E-199B-4E02-B90C-906C8AA20F10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통계 솔루션 도입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B39C457C-65AC-4A36-BAD6-C344BEDB1F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6342837"/>
              </p:ext>
            </p:extLst>
          </p:nvPr>
        </p:nvGraphicFramePr>
        <p:xfrm>
          <a:off x="352050" y="3254504"/>
          <a:ext cx="9163860" cy="29838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64364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26436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64364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264364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제안가</a:t>
                      </a:r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DC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4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분석도구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(1Server 4Core </a:t>
                      </a:r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WISE OLAPTM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GS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인증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300,000,000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20,000,000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93%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80,000,000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(A)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34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ETL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(server</a:t>
                      </a:r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기준</a:t>
                      </a:r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BTL Data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Integrator </a:t>
                      </a:r>
                    </a:p>
                    <a:p>
                      <a:pPr marL="88900" indent="-88900"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BTL DI Enterprise Server</a:t>
                      </a:r>
                    </a:p>
                    <a:p>
                      <a:pPr marL="88900" indent="-88900"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BTL SI Enterprise Client</a:t>
                      </a:r>
                    </a:p>
                    <a:p>
                      <a:pPr marL="88900" indent="-88900"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DB Connectivity</a:t>
                      </a:r>
                    </a:p>
                    <a:p>
                      <a:pPr marL="88900" indent="-88900"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File Connectivity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98,000,000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24,000,000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24,000,000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08807269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(B)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70369898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(A+B)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24732350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10,400,000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89651287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최종 견적 금액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114,400,000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497994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890440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3.3.2.4 </a:t>
            </a:r>
            <a:r>
              <a:rPr lang="ko-KR" altLang="en-US" dirty="0"/>
              <a:t>솔루션 도입 비용 </a:t>
            </a:r>
            <a:r>
              <a:rPr lang="en-US" altLang="ko-KR" dirty="0"/>
              <a:t>&gt; (</a:t>
            </a:r>
            <a:r>
              <a:rPr lang="ko-KR" altLang="en-US" dirty="0"/>
              <a:t>연계</a:t>
            </a:r>
            <a:r>
              <a:rPr lang="en-US" altLang="ko-KR" dirty="0"/>
              <a:t>) ESB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BEC6F1EB-D69A-45F7-A78D-9C6EDED81DAB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AFA12079-8FE6-4705-A78A-171EDFD62D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4932867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도입 및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구축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연계 표준 프레임워크 구축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단계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ESB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솔루션 도입 및 개발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356,000,000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356,000,000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356,000,000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391,600,000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5C0A2FE2-077F-4591-9CFB-599B2A8D93C0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연계 솔루션 도입 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F7DB5A5B-6648-4EB4-A620-112D17984AD6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연계 솔루션 도입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400E4199-0840-4BCF-ADA6-35F2C77AA9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16434"/>
              </p:ext>
            </p:extLst>
          </p:nvPr>
        </p:nvGraphicFramePr>
        <p:xfrm>
          <a:off x="352050" y="3254504"/>
          <a:ext cx="9163859" cy="3122160"/>
        </p:xfrm>
        <a:graphic>
          <a:graphicData uri="http://schemas.openxmlformats.org/drawingml/2006/table">
            <a:tbl>
              <a:tblPr/>
              <a:tblGrid>
                <a:gridCol w="78452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82713905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64919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064919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  <a:gridCol w="106491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품목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4000"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솔루션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ESB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연계 허브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내부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외부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8Core)</a:t>
                      </a: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 - MESIM Indigo ESB HUB v2.5, Enterprise</a:t>
                      </a:r>
                    </a:p>
                  </a:txBody>
                  <a:tcPr marL="36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Core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45,400,000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15,000,000 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240,000,000 </a:t>
                      </a:r>
                    </a:p>
                  </a:txBody>
                  <a:tcPr marL="72000" marR="180000" marT="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32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연계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Agent 5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MESIM Indigo ESB Adaptor</a:t>
                      </a:r>
                    </a:p>
                  </a:txBody>
                  <a:tcPr marL="36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19,500,000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10,000,000 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50,000,000 </a:t>
                      </a:r>
                    </a:p>
                  </a:txBody>
                  <a:tcPr marL="72000" marR="180000" marT="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066253"/>
                  </a:ext>
                </a:extLst>
              </a:tr>
              <a:tr h="32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연계서버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(HW)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DL380 Gen10 2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CPU : 2.6GHz, 2CPU/8Core, </a:t>
                      </a: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메모리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: 64GB, HDD : 300GB * 2ea</a:t>
                      </a:r>
                    </a:p>
                  </a:txBody>
                  <a:tcPr marL="36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96,400,000 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15,000,000 </a:t>
                      </a:r>
                    </a:p>
                  </a:txBody>
                  <a:tcPr marL="72000" marR="180000" marT="7200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30,000,000 </a:t>
                      </a:r>
                    </a:p>
                  </a:txBody>
                  <a:tcPr marL="72000" marR="180000" marT="0" marB="72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55574174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(A)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320,000,000</a:t>
                      </a:r>
                    </a:p>
                  </a:txBody>
                  <a:tcPr marL="36000" marR="180000" marT="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34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연계 개발비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fontAlgn="ctr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커스터마이징 개발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indent="0" algn="l" fontAlgn="ctr">
                        <a:buFont typeface="Arial" panose="020B0604020202020204" pitchFamily="34" charset="0"/>
                        <a:buNone/>
                      </a:pP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테스트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통합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안정화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36,000,000 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04847213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소계</a:t>
                      </a:r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(B)</a:t>
                      </a:r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85732732"/>
                  </a:ext>
                </a:extLst>
              </a:tr>
              <a:tr h="234000">
                <a:tc grid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(A+B)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356,000,000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95299416"/>
                  </a:ext>
                </a:extLst>
              </a:tr>
              <a:tr h="234000">
                <a:tc grid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35,600,000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07411817"/>
                  </a:ext>
                </a:extLst>
              </a:tr>
              <a:tr h="234000">
                <a:tc gridSpan="7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공급가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391,600,000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110656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071648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 (3</a:t>
            </a:r>
            <a:r>
              <a:rPr lang="ko-KR" altLang="en-US" dirty="0"/>
              <a:t>단계</a:t>
            </a:r>
            <a:r>
              <a:rPr lang="en-US" altLang="ko-KR" dirty="0"/>
              <a:t>) </a:t>
            </a:r>
            <a:r>
              <a:rPr lang="ko-KR" altLang="en-US" dirty="0"/>
              <a:t>모바일 서비스 채널 확대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3.3.3.1 </a:t>
            </a:r>
            <a:r>
              <a:rPr lang="ko-KR" altLang="en-US" dirty="0"/>
              <a:t>모바일 서비스</a:t>
            </a:r>
            <a:r>
              <a:rPr lang="en-US" altLang="ko-KR" dirty="0"/>
              <a:t>&gt; FP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6E023C96-D03E-4A2C-82C0-8FAEFFECA8E8}"/>
              </a:ext>
            </a:extLst>
          </p:cNvPr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935BEBF8-E9DA-4A5C-AC0D-B28B5B2EE0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0955623"/>
              </p:ext>
            </p:extLst>
          </p:nvPr>
        </p:nvGraphicFramePr>
        <p:xfrm>
          <a:off x="350096" y="1361006"/>
          <a:ext cx="9180000" cy="1332148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서비스 지원기반 마련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270,045,223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270,045,223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270,045,223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297,049,000</a:t>
                      </a:r>
                      <a:r>
                        <a:rPr lang="en-US" altLang="ko-KR" sz="1100" b="1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BF08B695-6A02-4AF6-BE58-B79010D8E893}"/>
              </a:ext>
            </a:extLst>
          </p:cNvPr>
          <p:cNvSpPr txBox="1">
            <a:spLocks/>
          </p:cNvSpPr>
          <p:nvPr/>
        </p:nvSpPr>
        <p:spPr bwMode="auto">
          <a:xfrm>
            <a:off x="335544" y="289904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FP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544BC01E-A86C-49E8-807A-BF78B42CF6C2}"/>
              </a:ext>
            </a:extLst>
          </p:cNvPr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FP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9" name="Group 4994">
            <a:extLst>
              <a:ext uri="{FF2B5EF4-FFF2-40B4-BE49-F238E27FC236}">
                <a16:creationId xmlns:a16="http://schemas.microsoft.com/office/drawing/2014/main" xmlns="" id="{E6F17EB6-A1C5-489F-A95A-63D665BCF5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2725835"/>
              </p:ext>
            </p:extLst>
          </p:nvPr>
        </p:nvGraphicFramePr>
        <p:xfrm>
          <a:off x="350096" y="3293993"/>
          <a:ext cx="9240173" cy="3042074"/>
        </p:xfrm>
        <a:graphic>
          <a:graphicData uri="http://schemas.openxmlformats.org/drawingml/2006/table">
            <a:tbl>
              <a:tblPr/>
              <a:tblGrid>
                <a:gridCol w="12600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13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1736896768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91527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총기능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점수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기능점수당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계수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8922262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복잡성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성능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다중사이트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보안성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서비스 지원기반 마련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515.7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519,203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1.2557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0.88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0.91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0.94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0.97 </a:t>
                      </a:r>
                    </a:p>
                  </a:txBody>
                  <a:tcPr marL="7113" marR="7113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100" b="1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245,495,657</a:t>
                      </a:r>
                    </a:p>
                  </a:txBody>
                  <a:tcPr marL="7113" marR="180000" marT="7113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보정 후 재개발 원가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245,495,657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직접 경비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5562613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이윤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24,549,566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564076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270,045,223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27,004,522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사업대가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297,049,000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168366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3.3.3.1 </a:t>
            </a:r>
            <a:r>
              <a:rPr lang="ko-KR" altLang="en-US" dirty="0"/>
              <a:t>모바일 서비스</a:t>
            </a:r>
            <a:r>
              <a:rPr lang="en-US" altLang="ko-KR" dirty="0"/>
              <a:t>&gt;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(A</a:t>
            </a:r>
            <a:r>
              <a:rPr lang="ko-KR" altLang="en-US" dirty="0"/>
              <a:t>社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FA632378-88FF-4F59-BA98-D6B9D50569EF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1" name="Group 4994">
            <a:extLst>
              <a:ext uri="{FF2B5EF4-FFF2-40B4-BE49-F238E27FC236}">
                <a16:creationId xmlns:a16="http://schemas.microsoft.com/office/drawing/2014/main" xmlns="" id="{FD1844CD-40D9-40DA-B943-6A37278166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5562435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모바일 서비스 지원기반 마련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144,600,000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144,600,000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144,600,000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159,000,000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2" name="텍스트 개체 틀 2">
            <a:extLst>
              <a:ext uri="{FF2B5EF4-FFF2-40B4-BE49-F238E27FC236}">
                <a16:creationId xmlns:a16="http://schemas.microsoft.com/office/drawing/2014/main" xmlns="" id="{99992322-6255-4D43-9E7B-2DE1A58800CB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 ] </a:t>
            </a:r>
          </a:p>
        </p:txBody>
      </p:sp>
      <p:sp>
        <p:nvSpPr>
          <p:cNvPr id="14" name="텍스트 개체 틀 2">
            <a:extLst>
              <a:ext uri="{FF2B5EF4-FFF2-40B4-BE49-F238E27FC236}">
                <a16:creationId xmlns:a16="http://schemas.microsoft.com/office/drawing/2014/main" xmlns="" id="{DC9CA4CC-BC18-449B-AAC2-FFBC59CC2212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5" name="Group 4994">
            <a:extLst>
              <a:ext uri="{FF2B5EF4-FFF2-40B4-BE49-F238E27FC236}">
                <a16:creationId xmlns:a16="http://schemas.microsoft.com/office/drawing/2014/main" xmlns="" id="{89C0D37D-3E07-4F67-BCAC-AC5E65891A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36849"/>
              </p:ext>
            </p:extLst>
          </p:nvPr>
        </p:nvGraphicFramePr>
        <p:xfrm>
          <a:off x="352050" y="3293993"/>
          <a:ext cx="9163859" cy="291960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31135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99364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3744861649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제안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6000"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시스템 구축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3.0</a:t>
                      </a:r>
                    </a:p>
                  </a:txBody>
                  <a:tcPr marL="72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14,300,000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42,900,000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61862538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2.0</a:t>
                      </a:r>
                    </a:p>
                  </a:txBody>
                  <a:tcPr marL="72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11,200,000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22,400,000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1633523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2.0</a:t>
                      </a:r>
                    </a:p>
                  </a:txBody>
                  <a:tcPr marL="72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12,553,946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8,700,000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17,400,000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9753242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2.0</a:t>
                      </a:r>
                    </a:p>
                  </a:txBody>
                  <a:tcPr marL="72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10,028,229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14,000,000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83006774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1.0</a:t>
                      </a:r>
                    </a:p>
                  </a:txBody>
                  <a:tcPr marL="72000" marR="39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sz="100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11,200,000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11,200,000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9095736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</a:p>
                  </a:txBody>
                  <a:tcPr marL="72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107,900,000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7302191"/>
                  </a:ext>
                </a:extLst>
              </a:tr>
              <a:tr h="216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시스템 공통 구성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72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14,300,000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14,300,000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5361343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72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11,200,000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22,400,000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7339541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72000" marR="762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36,700,000 </a:t>
                      </a:r>
                    </a:p>
                  </a:txBody>
                  <a:tcPr marL="72000" marR="108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9534354"/>
                  </a:ext>
                </a:extLst>
              </a:tr>
              <a:tr h="216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144,600,000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72278807"/>
                  </a:ext>
                </a:extLst>
              </a:tr>
              <a:tr h="216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14,460,000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69459068"/>
                  </a:ext>
                </a:extLst>
              </a:tr>
              <a:tr h="216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 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159,000,000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9060272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xmlns="" id="{FF0E0057-0E1A-4293-B4C9-A9D664DD5753}"/>
              </a:ext>
            </a:extLst>
          </p:cNvPr>
          <p:cNvSpPr/>
          <p:nvPr/>
        </p:nvSpPr>
        <p:spPr>
          <a:xfrm>
            <a:off x="8368342" y="3023374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2930370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3.3.3.1 </a:t>
            </a:r>
            <a:r>
              <a:rPr lang="ko-KR" altLang="en-US" dirty="0"/>
              <a:t>모바일 서비스</a:t>
            </a:r>
            <a:r>
              <a:rPr lang="en-US" altLang="ko-KR" dirty="0"/>
              <a:t>&gt; M/M </a:t>
            </a:r>
            <a:r>
              <a:rPr lang="ko-KR" altLang="en-US" dirty="0"/>
              <a:t>기반 </a:t>
            </a:r>
            <a:r>
              <a:rPr lang="en-US" altLang="ko-KR" dirty="0"/>
              <a:t>S/W </a:t>
            </a:r>
            <a:r>
              <a:rPr lang="ko-KR" altLang="en-US" dirty="0"/>
              <a:t>개발비용 산정</a:t>
            </a:r>
            <a:r>
              <a:rPr lang="en-US" altLang="ko-KR" dirty="0"/>
              <a:t>(B</a:t>
            </a:r>
            <a:r>
              <a:rPr lang="ko-KR" altLang="en-US" dirty="0"/>
              <a:t>社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xmlns="" id="{E2C18CDA-D8FB-42A2-938D-1FC2FDCA2119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7" name="Group 4994">
            <a:extLst>
              <a:ext uri="{FF2B5EF4-FFF2-40B4-BE49-F238E27FC236}">
                <a16:creationId xmlns:a16="http://schemas.microsoft.com/office/drawing/2014/main" xmlns="" id="{8D806FD7-7898-4040-91B8-44DF15E4AF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9489602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모바일 서비스 지원기반 마련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252,000,000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252,000,000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252,000,000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277,200,000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8" name="텍스트 개체 틀 2">
            <a:extLst>
              <a:ext uri="{FF2B5EF4-FFF2-40B4-BE49-F238E27FC236}">
                <a16:creationId xmlns:a16="http://schemas.microsoft.com/office/drawing/2014/main" xmlns="" id="{38948EFB-FE9A-4168-AAE5-3CDD9AFCE8AA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 </a:t>
            </a:r>
            <a:r>
              <a:rPr lang="en-US" altLang="ko-KR" kern="0" dirty="0"/>
              <a:t>] </a:t>
            </a:r>
          </a:p>
        </p:txBody>
      </p:sp>
      <p:sp>
        <p:nvSpPr>
          <p:cNvPr id="19" name="텍스트 개체 틀 2">
            <a:extLst>
              <a:ext uri="{FF2B5EF4-FFF2-40B4-BE49-F238E27FC236}">
                <a16:creationId xmlns:a16="http://schemas.microsoft.com/office/drawing/2014/main" xmlns="" id="{D00783C2-4DBC-409B-B313-402E4577839E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20" name="Group 4994">
            <a:extLst>
              <a:ext uri="{FF2B5EF4-FFF2-40B4-BE49-F238E27FC236}">
                <a16:creationId xmlns:a16="http://schemas.microsoft.com/office/drawing/2014/main" xmlns="" id="{DE9908EB-1D6C-4291-ACCE-6FD73E2ABE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6519301"/>
              </p:ext>
            </p:extLst>
          </p:nvPr>
        </p:nvGraphicFramePr>
        <p:xfrm>
          <a:off x="352050" y="3254504"/>
          <a:ext cx="9163858" cy="3083640"/>
        </p:xfrm>
        <a:graphic>
          <a:graphicData uri="http://schemas.openxmlformats.org/drawingml/2006/table">
            <a:tbl>
              <a:tblPr/>
              <a:tblGrid>
                <a:gridCol w="103185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82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85818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16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4000"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특급기술자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8.451,914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42,259,570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고급기술자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6,353,006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31,765,030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80878164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중급기술자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4,986,758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49,867,580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9832356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초급기술자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M/M</a:t>
                      </a:r>
                      <a:endParaRPr lang="en-US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4,486,165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35,889,320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64466027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+mn-ea"/>
                          <a:ea typeface="+mn-ea"/>
                        </a:rPr>
                        <a:t>계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000" b="1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159,781,500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78597472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175,759,650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제경비의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67,108,230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4993350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직접인건비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제경비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기술료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402,649,380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26926544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할인 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150,649,380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8836961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견적금액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252,000,000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89853153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25,200,000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53994385"/>
                  </a:ext>
                </a:extLst>
              </a:tr>
              <a:tr h="234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최종 견적금액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277,200,000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258085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860399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3.3.3.1 </a:t>
            </a:r>
            <a:r>
              <a:rPr lang="ko-KR" altLang="en-US" dirty="0"/>
              <a:t>모바일 서비스</a:t>
            </a:r>
            <a:r>
              <a:rPr lang="en-US" altLang="ko-KR" dirty="0"/>
              <a:t>&gt; S/W </a:t>
            </a:r>
            <a:r>
              <a:rPr lang="ko-KR" altLang="en-US" dirty="0"/>
              <a:t>개발비용 종합 분석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D990ECEF-DFD6-4B66-A8AD-DD6E76646A69}"/>
              </a:ext>
            </a:extLst>
          </p:cNvPr>
          <p:cNvSpPr/>
          <p:nvPr/>
        </p:nvSpPr>
        <p:spPr>
          <a:xfrm>
            <a:off x="8050045" y="1079158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10" name="Group 4994">
            <a:extLst>
              <a:ext uri="{FF2B5EF4-FFF2-40B4-BE49-F238E27FC236}">
                <a16:creationId xmlns:a16="http://schemas.microsoft.com/office/drawing/2014/main" xmlns="" id="{0DEB18D0-2005-4F81-9DE2-B95F41FE55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1970688"/>
              </p:ext>
            </p:extLst>
          </p:nvPr>
        </p:nvGraphicFramePr>
        <p:xfrm>
          <a:off x="337629" y="1340768"/>
          <a:ext cx="9150939" cy="4708694"/>
        </p:xfrm>
        <a:graphic>
          <a:graphicData uri="http://schemas.openxmlformats.org/drawingml/2006/table">
            <a:tbl>
              <a:tblPr/>
              <a:tblGrid>
                <a:gridCol w="72693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08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808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808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3303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FP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산정 방식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3037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A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B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社</a:t>
                      </a:r>
                      <a:endParaRPr lang="en-US" altLang="ko-KR" sz="1000" b="1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11647390"/>
                  </a:ext>
                </a:extLst>
              </a:tr>
              <a:tr h="216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상세규격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총기능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점수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515.7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기능점수당 단가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519,203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보정 계수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규모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1.2557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 복잡성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0.88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성능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0.91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다중사이트 운영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0.94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보안성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0.97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270,045,223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(10%) :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27,004,522</a:t>
                      </a:r>
                      <a:endParaRPr lang="en-US" altLang="ko-KR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marR="0" lvl="0" indent="-92075" algn="l" defTabSz="914400" rtl="0" eaLnBrk="1" fontAlgn="ctr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재개발 사업대가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부가세 포함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천원 단위 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절사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</a:t>
                      </a:r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297,049,000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 구축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10.0M/M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PM(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3.0M/M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디자인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1.0M/M 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공통 구성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3.0M/M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1.0M/M 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2.0M/M</a:t>
                      </a: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28.0M/M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5.0M/M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10.0M/M</a:t>
                      </a:r>
                    </a:p>
                    <a:p>
                      <a:pPr marL="0" indent="0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초급기술자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8.0M/M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직접인건비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제경비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기술료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: 402,649,380</a:t>
                      </a:r>
                    </a:p>
                    <a:p>
                      <a:pPr marL="92075" marR="0" lvl="0" indent="-92075" algn="l" defTabSz="914400" rtl="0" eaLnBrk="1" fontAlgn="ctr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할인 금액 </a:t>
                      </a:r>
                      <a:r>
                        <a:rPr lang="en-US" altLang="ko-K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en-US" altLang="ko-KR" sz="9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150,649,380</a:t>
                      </a: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1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Char char="§"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사업대가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270,045,223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144,600,000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252,000,000</a:t>
                      </a:r>
                      <a:endParaRPr lang="en-US" altLang="ko-KR" sz="1100" b="1" i="0" u="none" strike="noStrike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4734687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부가세</a:t>
                      </a:r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(10%)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27,004,522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14,460,000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25,200,000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1417355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 사업대가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297,049,000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159,000,000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277,200,000</a:t>
                      </a:r>
                    </a:p>
                  </a:txBody>
                  <a:tcPr marL="7620" marR="180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27524365"/>
                  </a:ext>
                </a:extLst>
              </a:tr>
            </a:tbl>
          </a:graphicData>
        </a:graphic>
      </p:graphicFrame>
      <p:sp>
        <p:nvSpPr>
          <p:cNvPr id="11" name="텍스트 개체 틀 2">
            <a:extLst>
              <a:ext uri="{FF2B5EF4-FFF2-40B4-BE49-F238E27FC236}">
                <a16:creationId xmlns:a16="http://schemas.microsoft.com/office/drawing/2014/main" xmlns="" id="{FCFB2D48-0C51-4FD6-8AC9-BE6287897509}"/>
              </a:ext>
            </a:extLst>
          </p:cNvPr>
          <p:cNvSpPr txBox="1">
            <a:spLocks/>
          </p:cNvSpPr>
          <p:nvPr/>
        </p:nvSpPr>
        <p:spPr bwMode="auto">
          <a:xfrm>
            <a:off x="335544" y="933430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개발비용 산정 종합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xmlns="" id="{C9BBFA86-3CF7-41DB-99ED-C0142343D836}"/>
              </a:ext>
            </a:extLst>
          </p:cNvPr>
          <p:cNvSpPr/>
          <p:nvPr/>
        </p:nvSpPr>
        <p:spPr bwMode="auto">
          <a:xfrm>
            <a:off x="3867245" y="1343146"/>
            <a:ext cx="2813947" cy="4759214"/>
          </a:xfrm>
          <a:prstGeom prst="rect">
            <a:avLst/>
          </a:prstGeom>
          <a:solidFill>
            <a:srgbClr val="FF0000">
              <a:alpha val="3922"/>
            </a:srgbClr>
          </a:solidFill>
          <a:ln w="28575" algn="ctr">
            <a:solidFill>
              <a:srgbClr val="FF660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 algn="ctr" eaLnBrk="0" hangingPunct="0">
              <a:lnSpc>
                <a:spcPct val="105000"/>
              </a:lnSpc>
              <a:spcBef>
                <a:spcPct val="35000"/>
              </a:spcBef>
              <a:buClr>
                <a:srgbClr val="008400"/>
              </a:buClr>
              <a:buFontTx/>
              <a:buChar char="•"/>
            </a:pPr>
            <a:endParaRPr lang="ko-KR" altLang="en-US" sz="1200" b="1" dirty="0">
              <a:solidFill>
                <a:srgbClr val="000000"/>
              </a:solidFill>
            </a:endParaRPr>
          </a:p>
        </p:txBody>
      </p:sp>
      <p:sp>
        <p:nvSpPr>
          <p:cNvPr id="14" name="AutoShape 35">
            <a:extLst>
              <a:ext uri="{FF2B5EF4-FFF2-40B4-BE49-F238E27FC236}">
                <a16:creationId xmlns:a16="http://schemas.microsoft.com/office/drawing/2014/main" xmlns="" id="{EF8FAF50-32CA-4514-B950-1D9E90770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5128" y="1025016"/>
            <a:ext cx="666960" cy="246968"/>
          </a:xfrm>
          <a:prstGeom prst="rect">
            <a:avLst/>
          </a:prstGeom>
          <a:noFill/>
          <a:effectLst>
            <a:glow rad="101600">
              <a:srgbClr val="E6E6E6">
                <a:alpha val="60000"/>
              </a:srgbClr>
            </a:glow>
          </a:effectLst>
          <a:extLst/>
        </p:spPr>
        <p:txBody>
          <a:bodyPr wrap="square" rtlCol="0" anchor="ctr">
            <a:noAutofit/>
          </a:bodyPr>
          <a:lstStyle/>
          <a:p>
            <a:pPr algn="ctr" fontAlgn="base">
              <a:lnSpc>
                <a:spcPct val="110000"/>
              </a:lnSpc>
              <a:spcAft>
                <a:spcPts val="120"/>
              </a:spcAft>
              <a:buClr>
                <a:srgbClr val="7F7F7F"/>
              </a:buClr>
              <a:buSzPct val="110000"/>
              <a:tabLst>
                <a:tab pos="628650" algn="l"/>
              </a:tabLst>
            </a:pPr>
            <a:r>
              <a:rPr lang="ko-KR" altLang="en-US" sz="1200" b="1" kern="0" dirty="0">
                <a:ln>
                  <a:solidFill>
                    <a:srgbClr val="808080">
                      <a:alpha val="0"/>
                    </a:srgbClr>
                  </a:solidFill>
                </a:ln>
                <a:solidFill>
                  <a:srgbClr val="00437A"/>
                </a:solidFill>
                <a:latin typeface="+mn-ea"/>
              </a:rPr>
              <a:t>권고안</a:t>
            </a:r>
          </a:p>
        </p:txBody>
      </p:sp>
    </p:spTree>
    <p:extLst>
      <p:ext uri="{BB962C8B-B14F-4D97-AF65-F5344CB8AC3E}">
        <p14:creationId xmlns:p14="http://schemas.microsoft.com/office/powerpoint/2010/main" val="35076612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3.3.3.2 </a:t>
            </a:r>
            <a:r>
              <a:rPr lang="ko-KR" altLang="en-US" dirty="0"/>
              <a:t>모바일 서비스</a:t>
            </a:r>
            <a:r>
              <a:rPr lang="en-US" altLang="ko-KR" dirty="0"/>
              <a:t>&gt; </a:t>
            </a:r>
            <a:r>
              <a:rPr lang="ko-KR" altLang="en-US" dirty="0"/>
              <a:t>인프라 도입 비용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xmlns="" id="{2F8008C5-EA87-4CED-A8BE-88256953E6DE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7" name="Group 4994">
            <a:extLst>
              <a:ext uri="{FF2B5EF4-FFF2-40B4-BE49-F238E27FC236}">
                <a16:creationId xmlns:a16="http://schemas.microsoft.com/office/drawing/2014/main" xmlns="" id="{E2A14D00-4C7E-4087-83C3-43001B61A3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327179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인프라 도입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모바일 서비스 지원기반 마련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인프라 도입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(HW, SW)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609,500,000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</a:rPr>
                        <a:t>609,500,000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609,500,000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i="0" u="none" strike="noStrike" dirty="0"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670,450,000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1617786E-8ABA-452A-944F-B163A1B4D788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모바일 인프라 도입 산정내역</a:t>
            </a:r>
            <a:r>
              <a:rPr lang="en-US" altLang="ko-KR" kern="0" dirty="0"/>
              <a:t>(1/2)</a:t>
            </a:r>
            <a:r>
              <a:rPr lang="ko-KR" altLang="en-US" kern="0" dirty="0"/>
              <a:t> </a:t>
            </a:r>
            <a:r>
              <a:rPr lang="en-US" altLang="ko-KR" kern="0" dirty="0"/>
              <a:t>] </a:t>
            </a:r>
          </a:p>
        </p:txBody>
      </p:sp>
      <p:sp>
        <p:nvSpPr>
          <p:cNvPr id="9" name="텍스트 개체 틀 2">
            <a:extLst>
              <a:ext uri="{FF2B5EF4-FFF2-40B4-BE49-F238E27FC236}">
                <a16:creationId xmlns:a16="http://schemas.microsoft.com/office/drawing/2014/main" xmlns="" id="{10FFCA1B-1161-4207-A246-F43E3D0BD70F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모바일 인프라 도입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graphicFrame>
        <p:nvGraphicFramePr>
          <p:cNvPr id="11" name="Group 4994">
            <a:extLst>
              <a:ext uri="{FF2B5EF4-FFF2-40B4-BE49-F238E27FC236}">
                <a16:creationId xmlns:a16="http://schemas.microsoft.com/office/drawing/2014/main" xmlns="" id="{34A2DDC7-84F2-4B9B-B0D3-57FE9ADB37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3398181"/>
              </p:ext>
            </p:extLst>
          </p:nvPr>
        </p:nvGraphicFramePr>
        <p:xfrm>
          <a:off x="352050" y="3276452"/>
          <a:ext cx="9163860" cy="2815640"/>
        </p:xfrm>
        <a:graphic>
          <a:graphicData uri="http://schemas.openxmlformats.org/drawingml/2006/table">
            <a:tbl>
              <a:tblPr/>
              <a:tblGrid>
                <a:gridCol w="10339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266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778784"/>
                    </a:ext>
                  </a:extLst>
                </a:gridCol>
                <a:gridCol w="347255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7884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25371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  <a:gridCol w="152537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상세 내역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23529">
                <a:tc rowSpan="4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HW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Storage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NAS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스토리지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Usable 4TB, NFS 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프로토콜 지원</a:t>
                      </a:r>
                      <a:endParaRPr lang="en-US" altLang="ko-KR" sz="1000" b="0" i="0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SSD (</a:t>
                      </a:r>
                      <a:r>
                        <a:rPr lang="ko-KR" altLang="en-US" sz="1000" b="0" i="0" u="none" strike="noStrike" dirty="0" err="1">
                          <a:effectLst/>
                          <a:latin typeface="+mn-ea"/>
                          <a:ea typeface="+mn-ea"/>
                        </a:rPr>
                        <a:t>내부용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2TB + </a:t>
                      </a:r>
                      <a:r>
                        <a:rPr lang="ko-KR" altLang="en-US" sz="1000" b="0" i="0" u="none" strike="noStrike" dirty="0" err="1">
                          <a:effectLst/>
                          <a:latin typeface="+mn-ea"/>
                          <a:ea typeface="+mn-ea"/>
                        </a:rPr>
                        <a:t>외부용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1.1TB + </a:t>
                      </a:r>
                      <a:r>
                        <a:rPr lang="ko-KR" altLang="en-US" sz="1000" b="0" i="0" u="none" strike="noStrike" dirty="0" err="1">
                          <a:effectLst/>
                          <a:latin typeface="+mn-ea"/>
                          <a:ea typeface="+mn-ea"/>
                        </a:rPr>
                        <a:t>여유률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0.9TB = 4TB)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- 16 Mem*4-</a:t>
                      </a:r>
                      <a:r>
                        <a:rPr lang="ko-KR" altLang="en-US" sz="1000" b="0" i="0" u="none" strike="noStrike" dirty="0">
                          <a:effectLst/>
                          <a:latin typeface="+mn-ea"/>
                          <a:ea typeface="+mn-ea"/>
                        </a:rPr>
                        <a:t>컨트롤러당 </a:t>
                      </a:r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10G 2 Port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36,000,000</a:t>
                      </a:r>
                    </a:p>
                  </a:txBody>
                  <a:tcPr marL="3600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 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1452948"/>
                  </a:ext>
                </a:extLst>
              </a:tr>
              <a:tr h="574037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VMI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용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L4</a:t>
                      </a: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로드밸런서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Citrix NetScaler MPX 5905 Standard Edition(1 Year HWM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포함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	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24,000,000</a:t>
                      </a:r>
                    </a:p>
                  </a:txBody>
                  <a:tcPr marL="3600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49378736"/>
                  </a:ext>
                </a:extLst>
              </a:tr>
              <a:tr h="574037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VMI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스위치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L3, 24x1GbE, 2xCombo, 2x 10GbE SFP+	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8,000,000</a:t>
                      </a:r>
                    </a:p>
                  </a:txBody>
                  <a:tcPr marL="3600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73256007"/>
                  </a:ext>
                </a:extLst>
              </a:tr>
              <a:tr h="574037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RACK + KVM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- 42U </a:t>
                      </a:r>
                      <a:r>
                        <a:rPr lang="ko-KR" alt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표준서버랙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KVM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모니터 콘솔	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6,500,000</a:t>
                      </a:r>
                    </a:p>
                  </a:txBody>
                  <a:tcPr marL="3600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124999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409285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3.3.3.2 </a:t>
            </a:r>
            <a:r>
              <a:rPr lang="ko-KR" altLang="en-US" dirty="0"/>
              <a:t>모바일 서비스</a:t>
            </a:r>
            <a:r>
              <a:rPr lang="en-US" altLang="ko-KR" dirty="0"/>
              <a:t>&gt; </a:t>
            </a:r>
            <a:r>
              <a:rPr lang="ko-KR" altLang="en-US" dirty="0"/>
              <a:t>인프라 도입 비용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1617786E-8ABA-452A-944F-B163A1B4D788}"/>
              </a:ext>
            </a:extLst>
          </p:cNvPr>
          <p:cNvSpPr txBox="1">
            <a:spLocks/>
          </p:cNvSpPr>
          <p:nvPr/>
        </p:nvSpPr>
        <p:spPr bwMode="auto">
          <a:xfrm>
            <a:off x="335544" y="1004302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</a:t>
            </a:r>
            <a:r>
              <a:rPr lang="ko-KR" altLang="en-US" kern="0" dirty="0"/>
              <a:t>모바일 인프라 도입 산정내역</a:t>
            </a:r>
            <a:r>
              <a:rPr lang="en-US" altLang="ko-KR" kern="0" dirty="0"/>
              <a:t>(2/2)</a:t>
            </a:r>
            <a:r>
              <a:rPr lang="ko-KR" altLang="en-US" kern="0" dirty="0"/>
              <a:t> </a:t>
            </a:r>
            <a:r>
              <a:rPr lang="en-US" altLang="ko-KR" kern="0" dirty="0"/>
              <a:t>] </a:t>
            </a:r>
          </a:p>
        </p:txBody>
      </p:sp>
      <p:graphicFrame>
        <p:nvGraphicFramePr>
          <p:cNvPr id="11" name="Group 4994">
            <a:extLst>
              <a:ext uri="{FF2B5EF4-FFF2-40B4-BE49-F238E27FC236}">
                <a16:creationId xmlns:a16="http://schemas.microsoft.com/office/drawing/2014/main" xmlns="" id="{34A2DDC7-84F2-4B9B-B0D3-57FE9ADB37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424481"/>
              </p:ext>
            </p:extLst>
          </p:nvPr>
        </p:nvGraphicFramePr>
        <p:xfrm>
          <a:off x="352050" y="1344540"/>
          <a:ext cx="9163860" cy="4536000"/>
        </p:xfrm>
        <a:graphic>
          <a:graphicData uri="http://schemas.openxmlformats.org/drawingml/2006/table">
            <a:tbl>
              <a:tblPr/>
              <a:tblGrid>
                <a:gridCol w="10339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266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778784"/>
                    </a:ext>
                  </a:extLst>
                </a:gridCol>
                <a:gridCol w="347255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7884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525371">
                  <a:extLst>
                    <a:ext uri="{9D8B030D-6E8A-4147-A177-3AD203B41FA5}">
                      <a16:colId xmlns:a16="http://schemas.microsoft.com/office/drawing/2014/main" xmlns="" val="2100968083"/>
                    </a:ext>
                  </a:extLst>
                </a:gridCol>
                <a:gridCol w="152537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상세 내역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공급합계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96000"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SW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Nubo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Software</a:t>
                      </a: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Nubo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Software(</a:t>
                      </a:r>
                      <a:r>
                        <a:rPr lang="ko-KR" alt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가상키패드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포함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250,000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250,000,000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98668277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모바일 백신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안드로이드 용 모바일 백신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연간 갱신 라이선스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35,000,000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53650706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MS OS</a:t>
                      </a: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WinSvrSTDCore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2016 SNGL OLP 2Lic NL CoreLic(AD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250,000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540684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MS DB</a:t>
                      </a: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SQLSvrStdCore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SNGL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LicSAPk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OLP 2Lic NL CoreLic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Qlfd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23402204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인사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연동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인사연동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S/W	</a:t>
                      </a: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33,000,000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14890083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Hypervisor</a:t>
                      </a: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Citrix </a:t>
                      </a:r>
                      <a:r>
                        <a:rPr lang="en-US" altLang="ko-KR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XenServer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- Standard Edition(Socket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0952357"/>
                  </a:ext>
                </a:extLst>
              </a:tr>
              <a:tr h="396000">
                <a:tc rowSpan="3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1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구축비</a:t>
                      </a:r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PM</a:t>
                      </a: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PM(M/M) -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61464133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구축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구축 및 커스터마이징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고급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1256740"/>
                  </a:ext>
                </a:extLst>
              </a:tr>
              <a:tr h="39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en-US" altLang="ko-KR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안정화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안정화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중급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620" marR="36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9,000,000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27,000,000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46483709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609,500,000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89853153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60,950,000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53994385"/>
                  </a:ext>
                </a:extLst>
              </a:tr>
              <a:tr h="234000"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최종 견적금액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670,450,000 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258085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356478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[BACK UP] </a:t>
            </a:r>
            <a:r>
              <a:rPr lang="ko-KR" altLang="en-US" dirty="0"/>
              <a:t>경력개발제도</a:t>
            </a:r>
            <a:r>
              <a:rPr lang="en-US" altLang="ko-KR" dirty="0"/>
              <a:t>(CDP) </a:t>
            </a:r>
            <a:r>
              <a:rPr lang="ko-KR" altLang="en-US" dirty="0"/>
              <a:t>개발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E1A2A70E-983F-4FF5-A692-4803CC3E2AE8}"/>
              </a:ext>
            </a:extLst>
          </p:cNvPr>
          <p:cNvSpPr/>
          <p:nvPr/>
        </p:nvSpPr>
        <p:spPr>
          <a:xfrm>
            <a:off x="8050045" y="1052736"/>
            <a:ext cx="153279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단위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 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부가세 포함</a:t>
            </a:r>
            <a:r>
              <a:rPr kumimoji="1" lang="en-US" altLang="ko-KR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graphicFrame>
        <p:nvGraphicFramePr>
          <p:cNvPr id="6" name="Group 4994">
            <a:extLst>
              <a:ext uri="{FF2B5EF4-FFF2-40B4-BE49-F238E27FC236}">
                <a16:creationId xmlns:a16="http://schemas.microsoft.com/office/drawing/2014/main" xmlns="" id="{B95E5CA6-9C9C-48CF-8556-2255C4EF5C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557358"/>
              </p:ext>
            </p:extLst>
          </p:nvPr>
        </p:nvGraphicFramePr>
        <p:xfrm>
          <a:off x="350096" y="1361006"/>
          <a:ext cx="9180000" cy="1431111"/>
        </p:xfrm>
        <a:graphic>
          <a:graphicData uri="http://schemas.openxmlformats.org/drawingml/2006/table">
            <a:tbl>
              <a:tblPr/>
              <a:tblGrid>
                <a:gridCol w="11998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1195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5986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1981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98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50106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3303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내역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r>
                        <a:rPr lang="en-US" altLang="ko-KR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개발구축비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경력개발제도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CDP)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281,232,751</a:t>
                      </a:r>
                    </a:p>
                  </a:txBody>
                  <a:tcPr marL="36000" marR="180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281,232,751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3037"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281,232,751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3037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10%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309,356,000</a:t>
                      </a:r>
                    </a:p>
                  </a:txBody>
                  <a:tcPr marL="9525" marR="180000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1CF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텍스트 개체 틀 2">
            <a:extLst>
              <a:ext uri="{FF2B5EF4-FFF2-40B4-BE49-F238E27FC236}">
                <a16:creationId xmlns:a16="http://schemas.microsoft.com/office/drawing/2014/main" xmlns="" id="{0851BD12-B8AA-48C9-9AB7-7502B27F45A3}"/>
              </a:ext>
            </a:extLst>
          </p:cNvPr>
          <p:cNvSpPr txBox="1">
            <a:spLocks/>
          </p:cNvSpPr>
          <p:nvPr/>
        </p:nvSpPr>
        <p:spPr bwMode="auto">
          <a:xfrm>
            <a:off x="335544" y="2936214"/>
            <a:ext cx="9429816" cy="313932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>
            <a:lvl1pPr marL="0" indent="0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600" b="1" spc="-1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55613" indent="-225425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684213" indent="-227013" algn="l" rtl="0" eaLnBrk="1" fontAlgn="base" latinLnBrk="0" hangingPunct="1"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defRPr kumimoji="1" sz="14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4041775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4pPr>
            <a:lvl5pPr marL="4271963" indent="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None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5pPr>
            <a:lvl6pPr marL="49577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6pPr>
            <a:lvl7pPr marL="54149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7pPr>
            <a:lvl8pPr marL="58721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8pPr>
            <a:lvl9pPr marL="6329363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000">
                <a:solidFill>
                  <a:schemeClr val="tx1"/>
                </a:solidFill>
                <a:latin typeface="굴림" pitchFamily="50" charset="-127"/>
                <a:ea typeface="가는각진제목체" pitchFamily="18" charset="-127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kern="0" dirty="0"/>
              <a:t>[ M/M </a:t>
            </a:r>
            <a:r>
              <a:rPr lang="ko-KR" altLang="en-US" kern="0" dirty="0"/>
              <a:t>기반 개발 </a:t>
            </a:r>
            <a:r>
              <a:rPr lang="ko-KR" altLang="en-US" kern="0" dirty="0" err="1"/>
              <a:t>구축비</a:t>
            </a:r>
            <a:r>
              <a:rPr lang="en-US" altLang="ko-KR" kern="0" dirty="0"/>
              <a:t> </a:t>
            </a:r>
            <a:r>
              <a:rPr lang="ko-KR" altLang="en-US" kern="0" dirty="0"/>
              <a:t>산정내역</a:t>
            </a:r>
            <a:r>
              <a:rPr lang="en-US" altLang="ko-KR" kern="0" dirty="0"/>
              <a:t>(1/2) ] </a:t>
            </a: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xmlns="" id="{09E9279D-CBCB-422C-BB56-01435CA75CB7}"/>
              </a:ext>
            </a:extLst>
          </p:cNvPr>
          <p:cNvSpPr txBox="1">
            <a:spLocks/>
          </p:cNvSpPr>
          <p:nvPr/>
        </p:nvSpPr>
        <p:spPr bwMode="auto">
          <a:xfrm>
            <a:off x="335544" y="950404"/>
            <a:ext cx="9429816" cy="338554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굴림" pitchFamily="50" charset="-127"/>
              <a:buNone/>
              <a:tabLst/>
              <a:defRPr/>
            </a:pP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[ M/M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기반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S/W </a:t>
            </a:r>
            <a:r>
              <a:rPr kumimoji="1" lang="ko-KR" altLang="en-US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개발 예산 총괄 </a:t>
            </a:r>
            <a:r>
              <a:rPr kumimoji="1" lang="en-US" altLang="ko-KR" sz="1600" b="1" i="0" u="none" strike="noStrike" kern="0" cap="none" spc="-5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]</a:t>
            </a:r>
            <a:endParaRPr kumimoji="1" lang="ko-KR" altLang="en-US" sz="1600" b="1" i="0" u="none" strike="noStrike" kern="0" cap="none" spc="-5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xmlns="" id="{5D7CBDCC-FA66-45FE-B6DD-FEF06C8F6F85}"/>
              </a:ext>
            </a:extLst>
          </p:cNvPr>
          <p:cNvSpPr/>
          <p:nvPr/>
        </p:nvSpPr>
        <p:spPr>
          <a:xfrm>
            <a:off x="8368342" y="3023374"/>
            <a:ext cx="121379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spcBef>
                <a:spcPct val="20000"/>
              </a:spcBef>
              <a:buClr>
                <a:srgbClr val="000000"/>
              </a:buClr>
              <a:buSzPct val="100000"/>
            </a:pPr>
            <a:r>
              <a:rPr kumimoji="1" lang="ko-KR" altLang="en-US" sz="1100" kern="0" spc="-5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제경비</a:t>
            </a:r>
            <a:r>
              <a:rPr kumimoji="1" lang="ko-KR" altLang="en-US" sz="1100" kern="0" spc="-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포함 금액</a:t>
            </a:r>
            <a:endParaRPr kumimoji="1" lang="en-US" altLang="ko-KR" sz="1100" kern="0" spc="-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1" name="Group 4994">
            <a:extLst>
              <a:ext uri="{FF2B5EF4-FFF2-40B4-BE49-F238E27FC236}">
                <a16:creationId xmlns:a16="http://schemas.microsoft.com/office/drawing/2014/main" xmlns="" id="{00B1F9DE-571D-4DBA-8AB9-4F84EE6A1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190071"/>
              </p:ext>
            </p:extLst>
          </p:nvPr>
        </p:nvGraphicFramePr>
        <p:xfrm>
          <a:off x="352049" y="3293993"/>
          <a:ext cx="9138024" cy="2752740"/>
        </p:xfrm>
        <a:graphic>
          <a:graphicData uri="http://schemas.openxmlformats.org/drawingml/2006/table">
            <a:tbl>
              <a:tblPr/>
              <a:tblGrid>
                <a:gridCol w="123296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619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32103">
                  <a:extLst>
                    <a:ext uri="{9D8B030D-6E8A-4147-A177-3AD203B41FA5}">
                      <a16:colId xmlns:a16="http://schemas.microsoft.com/office/drawing/2014/main" xmlns="" val="3721395499"/>
                    </a:ext>
                  </a:extLst>
                </a:gridCol>
                <a:gridCol w="118730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11871">
                  <a:extLst>
                    <a:ext uri="{9D8B030D-6E8A-4147-A177-3AD203B41FA5}">
                      <a16:colId xmlns:a16="http://schemas.microsoft.com/office/drawing/2014/main" xmlns="" val="3300844172"/>
                    </a:ext>
                  </a:extLst>
                </a:gridCol>
                <a:gridCol w="181187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품명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수량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</a:t>
                      </a:r>
                    </a:p>
                  </a:txBody>
                  <a:tcPr marL="32727" marR="327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소비자 단가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금액</a:t>
                      </a: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6000">
                <a:tc rowSpan="6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경력개발제도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(CDP)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구축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PM(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102,491,100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61862538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분석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설계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48,016,149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1633523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12,553,946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37,661,838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9753242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개발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10,028,229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20,056,458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83006774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디자인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16,005,383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32,010,766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90957360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240,236,311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7302191"/>
                  </a:ext>
                </a:extLst>
              </a:tr>
              <a:tr h="216000">
                <a:tc rowSpan="2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CDP</a:t>
                      </a:r>
                      <a:r>
                        <a:rPr lang="ko-KR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컨설팅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컨설팅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특급기술자</a:t>
                      </a:r>
                      <a:r>
                        <a:rPr lang="en-US" altLang="ko-KR" sz="1000" b="0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M/M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20,498,220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40,996,440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5361343"/>
                  </a:ext>
                </a:extLst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</a:p>
                  </a:txBody>
                  <a:tcPr marL="72000" marR="180000" marT="36000" marB="3600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40,996,440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9534354"/>
                  </a:ext>
                </a:extLst>
              </a:tr>
              <a:tr h="216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281,232,751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72278807"/>
                  </a:ext>
                </a:extLst>
              </a:tr>
              <a:tr h="216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(10%)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28,123,275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69459068"/>
                  </a:ext>
                </a:extLst>
              </a:tr>
              <a:tr h="216000"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견적 금액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천원 단위 </a:t>
                      </a:r>
                      <a:r>
                        <a:rPr lang="ko-KR" altLang="en-US" sz="11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절사</a:t>
                      </a:r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3127" marR="83127" marT="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309,356,000</a:t>
                      </a:r>
                    </a:p>
                  </a:txBody>
                  <a:tcPr marL="7620" marR="108000" marT="7620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5EF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90602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681531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소프트웨어 사업 대가 산정 방식에는 기능 점수</a:t>
            </a:r>
            <a:r>
              <a:rPr lang="en-US" altLang="ko-KR" sz="1600" dirty="0"/>
              <a:t>(Function Point) </a:t>
            </a:r>
            <a:r>
              <a:rPr lang="ko-KR" altLang="en-US" sz="1600" dirty="0"/>
              <a:t>산정 방식</a:t>
            </a:r>
            <a:r>
              <a:rPr lang="en-US" altLang="ko-KR" sz="1600" dirty="0"/>
              <a:t>, M/M </a:t>
            </a:r>
            <a:r>
              <a:rPr lang="ko-KR" altLang="en-US" sz="1600" dirty="0"/>
              <a:t>기준 산정 방식이 있으며</a:t>
            </a:r>
            <a:r>
              <a:rPr lang="en-US" altLang="ko-KR" sz="1600" dirty="0"/>
              <a:t>, </a:t>
            </a:r>
            <a:r>
              <a:rPr lang="ko-KR" altLang="en-US" sz="1600" dirty="0"/>
              <a:t>과제별 특성에 따라 두 가지 방식을 혼용하여 사용함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[BACK UP] S/W </a:t>
            </a:r>
            <a:r>
              <a:rPr lang="ko-KR" altLang="en-US" dirty="0"/>
              <a:t>개발비용 비용 산정 방식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79" name="직사각형 78"/>
          <p:cNvSpPr/>
          <p:nvPr/>
        </p:nvSpPr>
        <p:spPr>
          <a:xfrm>
            <a:off x="339546" y="1862283"/>
            <a:ext cx="4528242" cy="4450008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tlCol="0" anchor="t"/>
          <a:lstStyle/>
          <a:p>
            <a:pPr marR="0" lvl="0" algn="ctr" fontAlgn="base" latinLnBrk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endParaRPr lang="ko-KR" altLang="en-US" sz="1400" b="0" spc="-100" dirty="0">
              <a:ln>
                <a:solidFill>
                  <a:srgbClr val="006AB5">
                    <a:alpha val="0"/>
                  </a:srgbClr>
                </a:solidFill>
              </a:ln>
              <a:solidFill>
                <a:srgbClr val="4D4D4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/>
          <p:cNvSpPr/>
          <p:nvPr/>
        </p:nvSpPr>
        <p:spPr bwMode="auto">
          <a:xfrm>
            <a:off x="331788" y="1528880"/>
            <a:ext cx="4536000" cy="324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기능 점수 산정 방식</a:t>
            </a:r>
          </a:p>
        </p:txBody>
      </p:sp>
      <p:sp>
        <p:nvSpPr>
          <p:cNvPr id="95" name="직사각형 94"/>
          <p:cNvSpPr/>
          <p:nvPr/>
        </p:nvSpPr>
        <p:spPr>
          <a:xfrm>
            <a:off x="4997480" y="1852095"/>
            <a:ext cx="4527520" cy="44500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tlCol="0" anchor="t"/>
          <a:lstStyle/>
          <a:p>
            <a:pPr>
              <a:buClrTx/>
              <a:buNone/>
            </a:pPr>
            <a:endParaRPr lang="en-US" altLang="ko-KR" sz="900" b="0" spc="-100" dirty="0">
              <a:ln>
                <a:solidFill>
                  <a:srgbClr val="006AB5">
                    <a:alpha val="0"/>
                  </a:srgbClr>
                </a:solidFill>
              </a:ln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직사각형 95"/>
          <p:cNvSpPr/>
          <p:nvPr/>
        </p:nvSpPr>
        <p:spPr bwMode="auto">
          <a:xfrm>
            <a:off x="4989000" y="1518692"/>
            <a:ext cx="4535277" cy="324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M/M </a:t>
            </a: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기준 산정 방식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1)</a:t>
            </a:r>
          </a:p>
        </p:txBody>
      </p:sp>
      <p:sp>
        <p:nvSpPr>
          <p:cNvPr id="107" name="Text Box 75"/>
          <p:cNvSpPr txBox="1">
            <a:spLocks noChangeArrowheads="1"/>
          </p:cNvSpPr>
          <p:nvPr/>
        </p:nvSpPr>
        <p:spPr bwMode="auto">
          <a:xfrm>
            <a:off x="327479" y="1885978"/>
            <a:ext cx="4611184" cy="1733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88900" indent="-88900" latinLnBrk="0">
              <a:lnSpc>
                <a:spcPct val="105000"/>
              </a:lnSpc>
              <a:spcBef>
                <a:spcPts val="600"/>
              </a:spcBef>
              <a:buClr>
                <a:schemeClr val="tx1"/>
              </a:buClr>
              <a:buFont typeface="Wingdings" pitchFamily="2" charset="2"/>
              <a:buChar char="§"/>
            </a:pP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기능 점수</a:t>
            </a:r>
            <a:r>
              <a:rPr lang="en-US" altLang="ko-KR" sz="1100" dirty="0">
                <a:solidFill>
                  <a:srgbClr val="000000"/>
                </a:solidFill>
                <a:latin typeface="+mn-ea"/>
                <a:ea typeface="+mn-ea"/>
              </a:rPr>
              <a:t>(Function Point)</a:t>
            </a: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 방식</a:t>
            </a:r>
            <a:endParaRPr lang="en-US" altLang="ko-KR" sz="110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사용자 관점에서의 요구 기능을 정량적으로 산정하여 소프트웨어 규모를 측정하고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이를 바탕으로 소프트웨어 개발과 유지보수를 위한 비용과 자원 소요를 산정하는 방법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8900" marR="0" lvl="0" indent="-88900" algn="l" defTabSz="914400" rtl="0" eaLnBrk="1" fontAlgn="base" latinLnBrk="0" hangingPunct="1">
              <a:lnSpc>
                <a:spcPct val="105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1" lang="ko-KR" altLang="en-US" sz="110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기능 점수</a:t>
            </a:r>
            <a:r>
              <a:rPr kumimoji="1" lang="en-US" altLang="ko-KR" sz="110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 </a:t>
            </a:r>
            <a:r>
              <a:rPr kumimoji="1" lang="ko-KR" altLang="en-US" sz="110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  <a:cs typeface="+mn-cs"/>
              </a:rPr>
              <a:t>정의</a:t>
            </a:r>
            <a:endParaRPr lang="en-US" altLang="ko-KR" sz="110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 typeface="맑은 고딕" pitchFamily="50" charset="-127"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사용자 관점에서 측정된 소프트웨어 기능의 양으로서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사용자에게 제공되는 소프트웨어 기능의 규모를 측정하는 단위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8900" lvl="0" indent="-88900" latinLnBrk="0">
              <a:lnSpc>
                <a:spcPct val="105000"/>
              </a:lnSpc>
              <a:spcBef>
                <a:spcPts val="600"/>
              </a:spcBef>
              <a:buClr>
                <a:schemeClr val="tx1"/>
              </a:buClr>
              <a:buFont typeface="Wingdings" pitchFamily="2" charset="2"/>
              <a:buChar char="§"/>
              <a:defRPr/>
            </a:pP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기능 점수</a:t>
            </a:r>
            <a:r>
              <a:rPr lang="en-US" altLang="ko-KR" sz="110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구조</a:t>
            </a:r>
            <a:endParaRPr lang="en-US" altLang="ko-KR" sz="110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108" name="직사각형 107"/>
          <p:cNvSpPr/>
          <p:nvPr/>
        </p:nvSpPr>
        <p:spPr bwMode="auto">
          <a:xfrm>
            <a:off x="542933" y="4128227"/>
            <a:ext cx="793886" cy="335380"/>
          </a:xfrm>
          <a:prstGeom prst="rect">
            <a:avLst/>
          </a:prstGeom>
          <a:solidFill>
            <a:srgbClr val="4678B4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solidFill>
                  <a:schemeClr val="bg1"/>
                </a:solidFill>
                <a:latin typeface="+mn-ea"/>
                <a:ea typeface="+mn-ea"/>
              </a:rPr>
              <a:t>기능 점수</a:t>
            </a:r>
          </a:p>
        </p:txBody>
      </p:sp>
      <p:sp>
        <p:nvSpPr>
          <p:cNvPr id="109" name="직사각형 108"/>
          <p:cNvSpPr/>
          <p:nvPr/>
        </p:nvSpPr>
        <p:spPr bwMode="auto">
          <a:xfrm>
            <a:off x="1722421" y="3720227"/>
            <a:ext cx="985998" cy="335380"/>
          </a:xfrm>
          <a:prstGeom prst="rect">
            <a:avLst/>
          </a:prstGeom>
          <a:solidFill>
            <a:srgbClr val="8FAED3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solidFill>
                  <a:schemeClr val="tx1"/>
                </a:solidFill>
                <a:latin typeface="+mn-ea"/>
                <a:ea typeface="+mn-ea"/>
              </a:rPr>
              <a:t>데이터 기능</a:t>
            </a:r>
          </a:p>
        </p:txBody>
      </p:sp>
      <p:sp>
        <p:nvSpPr>
          <p:cNvPr id="110" name="직사각형 109"/>
          <p:cNvSpPr/>
          <p:nvPr/>
        </p:nvSpPr>
        <p:spPr bwMode="auto">
          <a:xfrm>
            <a:off x="1722421" y="4515696"/>
            <a:ext cx="985998" cy="335380"/>
          </a:xfrm>
          <a:prstGeom prst="rect">
            <a:avLst/>
          </a:prstGeom>
          <a:solidFill>
            <a:srgbClr val="8FAED3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solidFill>
                  <a:schemeClr val="tx1"/>
                </a:solidFill>
                <a:latin typeface="+mn-ea"/>
                <a:ea typeface="+mn-ea"/>
              </a:rPr>
              <a:t>트랜잭션 기능</a:t>
            </a:r>
          </a:p>
        </p:txBody>
      </p:sp>
      <p:sp>
        <p:nvSpPr>
          <p:cNvPr id="111" name="직사각형 110"/>
          <p:cNvSpPr/>
          <p:nvPr/>
        </p:nvSpPr>
        <p:spPr bwMode="auto">
          <a:xfrm>
            <a:off x="3207229" y="3639850"/>
            <a:ext cx="1472540" cy="204276"/>
          </a:xfrm>
          <a:prstGeom prst="rect">
            <a:avLst/>
          </a:prstGeom>
          <a:solidFill>
            <a:srgbClr val="DAE4F0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latin typeface="+mn-ea"/>
                <a:ea typeface="+mn-ea"/>
              </a:rPr>
              <a:t>내부논리파일 </a:t>
            </a:r>
            <a:r>
              <a:rPr lang="en-US" altLang="ko-KR" sz="1100" kern="0" dirty="0">
                <a:latin typeface="+mn-ea"/>
                <a:ea typeface="+mn-ea"/>
              </a:rPr>
              <a:t>(ILF)</a:t>
            </a:r>
            <a:endParaRPr lang="ko-KR" altLang="en-US" sz="1100" kern="0" dirty="0">
              <a:latin typeface="+mn-ea"/>
              <a:ea typeface="+mn-ea"/>
            </a:endParaRPr>
          </a:p>
        </p:txBody>
      </p:sp>
      <p:sp>
        <p:nvSpPr>
          <p:cNvPr id="112" name="직사각형 111"/>
          <p:cNvSpPr/>
          <p:nvPr/>
        </p:nvSpPr>
        <p:spPr bwMode="auto">
          <a:xfrm>
            <a:off x="3207229" y="4282210"/>
            <a:ext cx="1472540" cy="204276"/>
          </a:xfrm>
          <a:prstGeom prst="rect">
            <a:avLst/>
          </a:prstGeom>
          <a:solidFill>
            <a:srgbClr val="DAE4F0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latin typeface="+mn-ea"/>
                <a:ea typeface="+mn-ea"/>
              </a:rPr>
              <a:t>외부입력 </a:t>
            </a:r>
            <a:r>
              <a:rPr lang="en-US" altLang="ko-KR" sz="1100" kern="0" dirty="0">
                <a:latin typeface="+mn-ea"/>
                <a:ea typeface="+mn-ea"/>
              </a:rPr>
              <a:t>(EI)</a:t>
            </a:r>
            <a:endParaRPr lang="ko-KR" altLang="en-US" sz="1100" kern="0" dirty="0">
              <a:latin typeface="+mn-ea"/>
              <a:ea typeface="+mn-ea"/>
            </a:endParaRPr>
          </a:p>
        </p:txBody>
      </p:sp>
      <p:sp>
        <p:nvSpPr>
          <p:cNvPr id="113" name="직사각형 112"/>
          <p:cNvSpPr/>
          <p:nvPr/>
        </p:nvSpPr>
        <p:spPr bwMode="auto">
          <a:xfrm>
            <a:off x="3207229" y="4580511"/>
            <a:ext cx="1472540" cy="204276"/>
          </a:xfrm>
          <a:prstGeom prst="rect">
            <a:avLst/>
          </a:prstGeom>
          <a:solidFill>
            <a:srgbClr val="DAE4F0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latin typeface="+mn-ea"/>
                <a:ea typeface="+mn-ea"/>
              </a:rPr>
              <a:t>외부출력 </a:t>
            </a:r>
            <a:r>
              <a:rPr lang="en-US" altLang="ko-KR" sz="1100" kern="0" dirty="0">
                <a:latin typeface="+mn-ea"/>
                <a:ea typeface="+mn-ea"/>
              </a:rPr>
              <a:t>(EO)</a:t>
            </a:r>
            <a:endParaRPr lang="ko-KR" altLang="en-US" sz="1100" kern="0" dirty="0">
              <a:latin typeface="+mn-ea"/>
              <a:ea typeface="+mn-ea"/>
            </a:endParaRPr>
          </a:p>
        </p:txBody>
      </p:sp>
      <p:sp>
        <p:nvSpPr>
          <p:cNvPr id="114" name="직사각형 113"/>
          <p:cNvSpPr/>
          <p:nvPr/>
        </p:nvSpPr>
        <p:spPr bwMode="auto">
          <a:xfrm>
            <a:off x="3207229" y="4878812"/>
            <a:ext cx="1472540" cy="204276"/>
          </a:xfrm>
          <a:prstGeom prst="rect">
            <a:avLst/>
          </a:prstGeom>
          <a:solidFill>
            <a:srgbClr val="DAE4F0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latin typeface="+mn-ea"/>
                <a:ea typeface="+mn-ea"/>
              </a:rPr>
              <a:t>외부조회 </a:t>
            </a:r>
            <a:r>
              <a:rPr lang="en-US" altLang="ko-KR" sz="1100" kern="0" dirty="0">
                <a:latin typeface="+mn-ea"/>
                <a:ea typeface="+mn-ea"/>
              </a:rPr>
              <a:t>(EQ)</a:t>
            </a:r>
            <a:endParaRPr lang="ko-KR" altLang="en-US" sz="1100" kern="0" dirty="0">
              <a:latin typeface="+mn-ea"/>
              <a:ea typeface="+mn-ea"/>
            </a:endParaRPr>
          </a:p>
        </p:txBody>
      </p:sp>
      <p:sp>
        <p:nvSpPr>
          <p:cNvPr id="115" name="직사각형 114"/>
          <p:cNvSpPr/>
          <p:nvPr/>
        </p:nvSpPr>
        <p:spPr bwMode="auto">
          <a:xfrm>
            <a:off x="3207229" y="3917620"/>
            <a:ext cx="1472540" cy="204276"/>
          </a:xfrm>
          <a:prstGeom prst="rect">
            <a:avLst/>
          </a:prstGeom>
          <a:solidFill>
            <a:srgbClr val="DAE4F0"/>
          </a:solidFill>
          <a:ln w="63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05000"/>
              </a:lnSpc>
              <a:spcBef>
                <a:spcPts val="0"/>
              </a:spcBef>
              <a:buClr>
                <a:srgbClr val="008400"/>
              </a:buClr>
              <a:buNone/>
              <a:defRPr/>
            </a:pPr>
            <a:r>
              <a:rPr lang="ko-KR" altLang="en-US" sz="1100" kern="0" dirty="0">
                <a:latin typeface="+mn-ea"/>
                <a:ea typeface="+mn-ea"/>
              </a:rPr>
              <a:t>외부연계파일 </a:t>
            </a:r>
            <a:r>
              <a:rPr lang="en-US" altLang="ko-KR" sz="1100" kern="0" dirty="0">
                <a:latin typeface="+mn-ea"/>
                <a:ea typeface="+mn-ea"/>
              </a:rPr>
              <a:t>(EIF)</a:t>
            </a:r>
            <a:endParaRPr lang="ko-KR" altLang="en-US" sz="1100" kern="0" dirty="0">
              <a:latin typeface="+mn-ea"/>
              <a:ea typeface="+mn-ea"/>
            </a:endParaRPr>
          </a:p>
        </p:txBody>
      </p:sp>
      <p:cxnSp>
        <p:nvCxnSpPr>
          <p:cNvPr id="116" name="꺾인 연결선 115"/>
          <p:cNvCxnSpPr>
            <a:stCxn id="108" idx="3"/>
            <a:endCxn id="109" idx="1"/>
          </p:cNvCxnSpPr>
          <p:nvPr/>
        </p:nvCxnSpPr>
        <p:spPr bwMode="auto">
          <a:xfrm flipV="1">
            <a:off x="1336819" y="3887917"/>
            <a:ext cx="385602" cy="408000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꺾인 연결선 116"/>
          <p:cNvCxnSpPr>
            <a:stCxn id="108" idx="3"/>
            <a:endCxn id="110" idx="1"/>
          </p:cNvCxnSpPr>
          <p:nvPr/>
        </p:nvCxnSpPr>
        <p:spPr bwMode="auto">
          <a:xfrm>
            <a:off x="1336819" y="4295917"/>
            <a:ext cx="385602" cy="387469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꺾인 연결선 117"/>
          <p:cNvCxnSpPr>
            <a:stCxn id="109" idx="3"/>
            <a:endCxn id="111" idx="1"/>
          </p:cNvCxnSpPr>
          <p:nvPr/>
        </p:nvCxnSpPr>
        <p:spPr bwMode="auto">
          <a:xfrm flipV="1">
            <a:off x="2708419" y="3741988"/>
            <a:ext cx="498810" cy="145928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꺾인 연결선 118"/>
          <p:cNvCxnSpPr>
            <a:stCxn id="109" idx="3"/>
            <a:endCxn id="115" idx="1"/>
          </p:cNvCxnSpPr>
          <p:nvPr/>
        </p:nvCxnSpPr>
        <p:spPr bwMode="auto">
          <a:xfrm>
            <a:off x="2708419" y="3887917"/>
            <a:ext cx="498810" cy="131842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꺾인 연결선 119"/>
          <p:cNvCxnSpPr>
            <a:stCxn id="110" idx="3"/>
            <a:endCxn id="112" idx="1"/>
          </p:cNvCxnSpPr>
          <p:nvPr/>
        </p:nvCxnSpPr>
        <p:spPr bwMode="auto">
          <a:xfrm flipV="1">
            <a:off x="2708419" y="4384349"/>
            <a:ext cx="498810" cy="299037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꺾인 연결선 120"/>
          <p:cNvCxnSpPr>
            <a:stCxn id="110" idx="3"/>
            <a:endCxn id="113" idx="1"/>
          </p:cNvCxnSpPr>
          <p:nvPr/>
        </p:nvCxnSpPr>
        <p:spPr bwMode="auto">
          <a:xfrm flipV="1">
            <a:off x="2708419" y="4682650"/>
            <a:ext cx="498810" cy="736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2" name="꺾인 연결선 121"/>
          <p:cNvCxnSpPr>
            <a:stCxn id="110" idx="3"/>
            <a:endCxn id="114" idx="1"/>
          </p:cNvCxnSpPr>
          <p:nvPr/>
        </p:nvCxnSpPr>
        <p:spPr bwMode="auto">
          <a:xfrm>
            <a:off x="2708419" y="4683386"/>
            <a:ext cx="498810" cy="29756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9525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3" name="Text Box 75"/>
          <p:cNvSpPr txBox="1">
            <a:spLocks noChangeArrowheads="1"/>
          </p:cNvSpPr>
          <p:nvPr/>
        </p:nvSpPr>
        <p:spPr bwMode="auto">
          <a:xfrm>
            <a:off x="327479" y="5106025"/>
            <a:ext cx="4611184" cy="877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88900" indent="-88900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 typeface="Wingdings" pitchFamily="2" charset="2"/>
              <a:buChar char="§"/>
            </a:pP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산정 방법</a:t>
            </a:r>
            <a:endParaRPr lang="en-US" altLang="ko-KR" sz="110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총 비용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=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개발 원가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+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이윤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(5%) + </a:t>
            </a:r>
            <a:r>
              <a:rPr lang="ko-KR" altLang="en-US" sz="1000" b="0" dirty="0">
                <a:latin typeface="+mn-ea"/>
                <a:ea typeface="+mn-ea"/>
              </a:rPr>
              <a:t>부가세</a:t>
            </a:r>
            <a:r>
              <a:rPr lang="en-US" altLang="ko-KR" sz="1000" b="0" dirty="0">
                <a:latin typeface="+mn-ea"/>
                <a:ea typeface="+mn-ea"/>
              </a:rPr>
              <a:t>(10%)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 +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직접경비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산정불가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개발 원가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=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기능 점수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X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기능 점수당 단가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X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보정계수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규모 보정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연계복잡성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성능 보정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다중사이트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보정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보안성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보정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</a:p>
        </p:txBody>
      </p:sp>
      <p:sp>
        <p:nvSpPr>
          <p:cNvPr id="124" name="직사각형 123"/>
          <p:cNvSpPr/>
          <p:nvPr/>
        </p:nvSpPr>
        <p:spPr>
          <a:xfrm>
            <a:off x="309154" y="6004674"/>
            <a:ext cx="464384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ko-KR" sz="800" b="0" spc="-40" dirty="0">
                <a:latin typeface="맑은 고딕"/>
                <a:ea typeface="맑은 고딕"/>
              </a:rPr>
              <a:t>※ FP</a:t>
            </a:r>
            <a:r>
              <a:rPr lang="ko-KR" altLang="en-US" sz="800" b="0" spc="-40" dirty="0" err="1">
                <a:latin typeface="맑은 고딕"/>
                <a:ea typeface="맑은 고딕"/>
              </a:rPr>
              <a:t>산정시</a:t>
            </a:r>
            <a:r>
              <a:rPr lang="ko-KR" altLang="en-US" sz="800" b="0" spc="-40" dirty="0">
                <a:latin typeface="맑은 고딕"/>
                <a:ea typeface="맑은 고딕"/>
              </a:rPr>
              <a:t> 기능점수 단가에 </a:t>
            </a:r>
            <a:r>
              <a:rPr lang="ko-KR" altLang="en-US" sz="800" b="0" spc="-40" dirty="0" err="1">
                <a:latin typeface="맑은 고딕"/>
                <a:ea typeface="맑은 고딕"/>
              </a:rPr>
              <a:t>제경비</a:t>
            </a:r>
            <a:r>
              <a:rPr lang="ko-KR" altLang="en-US" sz="800" b="0" spc="-40" dirty="0">
                <a:latin typeface="맑은 고딕"/>
                <a:ea typeface="맑은 고딕"/>
              </a:rPr>
              <a:t> 및 </a:t>
            </a:r>
            <a:r>
              <a:rPr lang="ko-KR" altLang="en-US" sz="800" b="0" spc="-40" dirty="0" err="1">
                <a:latin typeface="맑은 고딕"/>
                <a:ea typeface="맑은 고딕"/>
              </a:rPr>
              <a:t>기술료에</a:t>
            </a:r>
            <a:r>
              <a:rPr lang="ko-KR" altLang="en-US" sz="800" b="0" spc="-40" dirty="0">
                <a:latin typeface="맑은 고딕"/>
                <a:ea typeface="맑은 고딕"/>
              </a:rPr>
              <a:t> 상응하는 항목이 반영되어 있어 별도로 </a:t>
            </a:r>
            <a:r>
              <a:rPr lang="en-US" altLang="ko-KR" sz="800" b="0" spc="-40" dirty="0">
                <a:latin typeface="맑은 고딕"/>
                <a:ea typeface="맑은 고딕"/>
              </a:rPr>
              <a:t/>
            </a:r>
            <a:br>
              <a:rPr lang="en-US" altLang="ko-KR" sz="800" b="0" spc="-40" dirty="0">
                <a:latin typeface="맑은 고딕"/>
                <a:ea typeface="맑은 고딕"/>
              </a:rPr>
            </a:br>
            <a:r>
              <a:rPr lang="en-US" altLang="ko-KR" sz="800" b="0" spc="-40" dirty="0">
                <a:latin typeface="맑은 고딕"/>
                <a:ea typeface="맑은 고딕"/>
              </a:rPr>
              <a:t>   </a:t>
            </a:r>
            <a:r>
              <a:rPr lang="ko-KR" altLang="en-US" sz="800" b="0" spc="-40" dirty="0">
                <a:latin typeface="맑은 고딕"/>
                <a:ea typeface="맑은 고딕"/>
              </a:rPr>
              <a:t>산정하지 않음</a:t>
            </a:r>
            <a:r>
              <a:rPr lang="en-US" altLang="ko-KR" sz="800" b="0" spc="-40" dirty="0">
                <a:latin typeface="맑은 고딕"/>
                <a:ea typeface="맑은 고딕"/>
              </a:rPr>
              <a:t>(2018</a:t>
            </a:r>
            <a:r>
              <a:rPr lang="ko-KR" altLang="en-US" sz="800" b="0" spc="-40" dirty="0">
                <a:latin typeface="맑은 고딕"/>
                <a:ea typeface="맑은 고딕"/>
              </a:rPr>
              <a:t>년도 </a:t>
            </a:r>
            <a:r>
              <a:rPr lang="en-US" altLang="ko-KR" sz="800" b="0" spc="-40" dirty="0">
                <a:latin typeface="맑은 고딕"/>
                <a:ea typeface="맑은 고딕"/>
              </a:rPr>
              <a:t>SW</a:t>
            </a:r>
            <a:r>
              <a:rPr lang="ko-KR" altLang="en-US" sz="800" b="0" spc="-40" dirty="0">
                <a:latin typeface="맑은 고딕"/>
                <a:ea typeface="맑은 고딕"/>
              </a:rPr>
              <a:t>사업 대가산정 가이드 개정판</a:t>
            </a:r>
            <a:r>
              <a:rPr lang="en-US" altLang="ko-KR" sz="800" b="0" spc="-40" dirty="0">
                <a:latin typeface="맑은 고딕"/>
                <a:ea typeface="맑은 고딕"/>
              </a:rPr>
              <a:t>, </a:t>
            </a:r>
            <a:r>
              <a:rPr lang="ko-KR" altLang="en-US" sz="800" b="0" spc="-40" dirty="0">
                <a:latin typeface="맑은 고딕"/>
                <a:ea typeface="맑은 고딕"/>
              </a:rPr>
              <a:t>기능점수</a:t>
            </a:r>
            <a:r>
              <a:rPr lang="en-US" altLang="ko-KR" sz="800" b="0" spc="-40" dirty="0">
                <a:latin typeface="맑은 고딕"/>
                <a:ea typeface="맑은 고딕"/>
              </a:rPr>
              <a:t> </a:t>
            </a:r>
            <a:r>
              <a:rPr lang="ko-KR" altLang="en-US" sz="800" b="0" spc="-40" dirty="0">
                <a:latin typeface="맑은 고딕"/>
                <a:ea typeface="맑은 고딕"/>
              </a:rPr>
              <a:t>방식에 의한 소프트웨어 개발비</a:t>
            </a:r>
            <a:r>
              <a:rPr lang="en-US" altLang="ko-KR" sz="800" b="0" spc="-40" dirty="0">
                <a:latin typeface="맑은 고딕"/>
                <a:ea typeface="맑은 고딕"/>
              </a:rPr>
              <a:t>)</a:t>
            </a:r>
            <a:endParaRPr lang="ko-KR" altLang="en-US" sz="1050" spc="-40" dirty="0"/>
          </a:p>
        </p:txBody>
      </p:sp>
      <p:sp>
        <p:nvSpPr>
          <p:cNvPr id="126" name="Text Box 75"/>
          <p:cNvSpPr txBox="1">
            <a:spLocks noChangeArrowheads="1"/>
          </p:cNvSpPr>
          <p:nvPr/>
        </p:nvSpPr>
        <p:spPr bwMode="auto">
          <a:xfrm>
            <a:off x="4981401" y="1885978"/>
            <a:ext cx="4611184" cy="23544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88900" indent="-88900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 typeface="Wingdings" pitchFamily="2" charset="2"/>
              <a:buChar char="§"/>
            </a:pPr>
            <a:r>
              <a:rPr lang="en-US" altLang="ko-KR" sz="1100" dirty="0">
                <a:solidFill>
                  <a:srgbClr val="000000"/>
                </a:solidFill>
                <a:latin typeface="+mn-ea"/>
                <a:ea typeface="+mn-ea"/>
              </a:rPr>
              <a:t>M/M </a:t>
            </a: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기준 산정 방식</a:t>
            </a:r>
            <a:endParaRPr lang="en-US" altLang="ko-KR" sz="110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엔지니어링 사업 대가의 기준을 준용하여 소프트웨어개발비를 산정하는 방식으로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투입인력의 직접인건비는 소프트웨어산업진흥법 시행령 제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16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조의 규정에 의한 </a:t>
            </a:r>
            <a:r>
              <a:rPr lang="ko-KR" altLang="en-US" sz="1000" b="0">
                <a:solidFill>
                  <a:srgbClr val="000000"/>
                </a:solidFill>
                <a:latin typeface="+mn-ea"/>
                <a:ea typeface="+mn-ea"/>
              </a:rPr>
              <a:t>소프트웨어기술자 </a:t>
            </a:r>
            <a:r>
              <a:rPr lang="ko-KR" altLang="en-US" sz="1000" b="0">
                <a:latin typeface="+mn-ea"/>
                <a:ea typeface="+mn-ea"/>
              </a:rPr>
              <a:t>등급별 평균임금</a:t>
            </a:r>
            <a:r>
              <a:rPr lang="ko-KR" altLang="en-US" sz="1000" b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적용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과거의 유사 소프트웨어 개발 사업의 투입인력 정도를 기초로 한 경험적 판단에 의해 사업대가를 산정하는 방식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Tx/>
              <a:buChar char="–"/>
            </a:pP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  <a:p>
            <a:pPr marL="88900" marR="0" lvl="0" indent="-8890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산정 방법 </a:t>
            </a:r>
            <a:r>
              <a:rPr lang="en-US" altLang="ko-KR" sz="110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100" dirty="0">
                <a:solidFill>
                  <a:srgbClr val="000000"/>
                </a:solidFill>
                <a:latin typeface="+mn-ea"/>
                <a:ea typeface="+mn-ea"/>
              </a:rPr>
              <a:t>이윤 제외</a:t>
            </a:r>
            <a:r>
              <a:rPr lang="en-US" altLang="ko-KR" sz="110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</a:p>
          <a:p>
            <a:pPr marL="268288" marR="0" lvl="1" indent="-90488" defTabSz="914400" eaLnBrk="1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Char char="–"/>
              <a:tabLst/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총 비용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=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직접인건비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+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제경비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*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+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기술료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*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+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직접경비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산정불가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)     </a:t>
            </a:r>
          </a:p>
          <a:p>
            <a:pPr marL="177800" marR="0" lvl="1" defTabSz="914400" eaLnBrk="1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None/>
              <a:tabLst/>
              <a:defRPr/>
            </a:pPr>
            <a:r>
              <a:rPr lang="en-US" altLang="ko-KR" sz="1000" b="0" dirty="0">
                <a:latin typeface="+mn-ea"/>
                <a:ea typeface="+mn-ea"/>
              </a:rPr>
              <a:t>              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+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부가세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en-US" altLang="ko-KR" sz="1000" b="0" dirty="0">
                <a:latin typeface="+mn-ea"/>
                <a:ea typeface="+mn-ea"/>
              </a:rPr>
              <a:t>10%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)</a:t>
            </a:r>
          </a:p>
          <a:p>
            <a:pPr marL="268288" marR="0" lvl="1" indent="-90488" defTabSz="914400" eaLnBrk="1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Char char="–"/>
              <a:tabLst/>
              <a:defRPr/>
            </a:pP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직접인건비 등급별 단가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graphicFrame>
        <p:nvGraphicFramePr>
          <p:cNvPr id="127" name="표 1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2056603"/>
              </p:ext>
            </p:extLst>
          </p:nvPr>
        </p:nvGraphicFramePr>
        <p:xfrm>
          <a:off x="5341252" y="4292604"/>
          <a:ext cx="3924436" cy="11173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221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6221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5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  평균 단가 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</a:t>
                      </a:r>
                      <a:r>
                        <a:rPr lang="en-US" altLang="ko-KR" sz="10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000" b="0" kern="1200" baseline="300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5000"/>
                        </a:lnSpc>
                        <a:spcBef>
                          <a:spcPts val="200"/>
                        </a:spcBef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특급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8.451,914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5000"/>
                        </a:lnSpc>
                        <a:spcBef>
                          <a:spcPts val="200"/>
                        </a:spcBef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고급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6,353,006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5000"/>
                        </a:lnSpc>
                        <a:spcBef>
                          <a:spcPts val="200"/>
                        </a:spcBef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중급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4,986,758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>
                        <a:lnSpc>
                          <a:spcPct val="105000"/>
                        </a:lnSpc>
                        <a:spcBef>
                          <a:spcPts val="200"/>
                        </a:spcBef>
                      </a:pPr>
                      <a:r>
                        <a:rPr lang="ko-KR" altLang="en-US" sz="1000" b="0" dirty="0">
                          <a:latin typeface="+mn-ea"/>
                          <a:ea typeface="+mn-ea"/>
                        </a:rPr>
                        <a:t>초급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dirty="0">
                          <a:effectLst/>
                          <a:latin typeface="+mn-ea"/>
                          <a:ea typeface="+mn-ea"/>
                        </a:rPr>
                        <a:t>4,486,165</a:t>
                      </a:r>
                    </a:p>
                  </a:txBody>
                  <a:tcPr marL="36000" marR="180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28" name="Text Box 75"/>
          <p:cNvSpPr txBox="1">
            <a:spLocks noChangeArrowheads="1"/>
          </p:cNvSpPr>
          <p:nvPr/>
        </p:nvSpPr>
        <p:spPr bwMode="auto">
          <a:xfrm>
            <a:off x="4981401" y="5566206"/>
            <a:ext cx="4611184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349250" lvl="1" indent="-171450" latinLnBrk="0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Font typeface="Arial" charset="0"/>
              <a:buChar char="•"/>
            </a:pP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제경비는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통상 직접인건비의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110~120%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를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기술료는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직접인건비와 </a:t>
            </a:r>
            <a:r>
              <a:rPr lang="ko-KR" altLang="en-US" sz="1000" b="0" dirty="0" err="1">
                <a:solidFill>
                  <a:srgbClr val="000000"/>
                </a:solidFill>
                <a:latin typeface="+mn-ea"/>
                <a:ea typeface="+mn-ea"/>
              </a:rPr>
              <a:t>제경비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 합의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20~40%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를 산정하며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, 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본 비용계획에서는 각각 </a:t>
            </a:r>
            <a:r>
              <a:rPr lang="en-US" altLang="ko-KR" sz="1000" b="0" dirty="0">
                <a:solidFill>
                  <a:srgbClr val="000000"/>
                </a:solidFill>
                <a:latin typeface="+mn-ea"/>
                <a:ea typeface="+mn-ea"/>
              </a:rPr>
              <a:t>110, 20%</a:t>
            </a:r>
            <a:r>
              <a:rPr lang="ko-KR" altLang="en-US" sz="1000" b="0" dirty="0">
                <a:solidFill>
                  <a:srgbClr val="000000"/>
                </a:solidFill>
                <a:latin typeface="+mn-ea"/>
                <a:ea typeface="+mn-ea"/>
              </a:rPr>
              <a:t>로 산정함</a:t>
            </a:r>
            <a:endParaRPr lang="en-US" altLang="ko-KR" sz="1000" b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129" name="Text Box 3"/>
          <p:cNvSpPr txBox="1">
            <a:spLocks noChangeArrowheads="1"/>
          </p:cNvSpPr>
          <p:nvPr/>
        </p:nvSpPr>
        <p:spPr bwMode="auto">
          <a:xfrm>
            <a:off x="4975078" y="6115084"/>
            <a:ext cx="4639869" cy="21544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>
              <a:lnSpc>
                <a:spcPct val="100000"/>
              </a:lnSpc>
              <a:spcBef>
                <a:spcPts val="0"/>
              </a:spcBef>
              <a:buNone/>
              <a:defRPr sz="800" b="0" spc="-40">
                <a:latin typeface="맑은 고딕"/>
                <a:ea typeface="맑은 고딕"/>
              </a:defRPr>
            </a:lvl1pPr>
          </a:lstStyle>
          <a:p>
            <a:r>
              <a:rPr lang="en-US" altLang="ko-KR" dirty="0"/>
              <a:t>1) 2018</a:t>
            </a:r>
            <a:r>
              <a:rPr lang="ko-KR" altLang="en-US" dirty="0"/>
              <a:t>년도 적용 </a:t>
            </a:r>
            <a:r>
              <a:rPr lang="en-US" altLang="ko-KR" dirty="0"/>
              <a:t>SW</a:t>
            </a:r>
            <a:r>
              <a:rPr lang="ko-KR" altLang="en-US" dirty="0"/>
              <a:t>기술자 평균임금</a:t>
            </a:r>
            <a:r>
              <a:rPr lang="en-US" altLang="ko-KR" dirty="0"/>
              <a:t>(2019</a:t>
            </a:r>
            <a:r>
              <a:rPr lang="ko-KR" altLang="en-US" dirty="0"/>
              <a:t>년 </a:t>
            </a:r>
            <a:r>
              <a:rPr lang="en-US" altLang="ko-KR" dirty="0"/>
              <a:t>8</a:t>
            </a:r>
            <a:r>
              <a:rPr lang="ko-KR" altLang="en-US" dirty="0"/>
              <a:t>월 </a:t>
            </a:r>
            <a:r>
              <a:rPr lang="en-US" altLang="ko-KR" dirty="0"/>
              <a:t>31</a:t>
            </a:r>
            <a:r>
              <a:rPr lang="ko-KR" altLang="en-US" dirty="0"/>
              <a:t>일까지 적용</a:t>
            </a:r>
            <a:r>
              <a:rPr lang="en-US" altLang="ko-KR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0" name="직사각형 229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투입공수에 의한 산정 방식</a:t>
            </a:r>
            <a:r>
              <a:rPr lang="en-US" altLang="ko-KR" sz="1400" b="1" kern="0" baseline="30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1)</a:t>
            </a: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>
                <a:latin typeface="+mn-ea"/>
              </a:rPr>
              <a:t>컨설팅 비용 산정은 과거의 유사 사업 투입인력 정도를 기초로 한 경험적 판단에 의해 사업대가를 산정하는 투입공수에 의한 방법을 활용하여 산정함</a:t>
            </a:r>
            <a:endParaRPr lang="ko-KR" altLang="en-US" sz="1600" dirty="0"/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[BACK UP] S/W </a:t>
            </a:r>
            <a:r>
              <a:rPr lang="ko-KR" altLang="en-US" dirty="0"/>
              <a:t>개발비용 비용 산정 방식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 </a:t>
            </a:r>
            <a:r>
              <a:rPr lang="ko-KR" altLang="en-US" dirty="0"/>
              <a:t>비용 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3.3 </a:t>
            </a:r>
            <a:r>
              <a:rPr lang="ko-KR" altLang="en-US" dirty="0"/>
              <a:t>과제별 소요비용 산정</a:t>
            </a:r>
            <a:endParaRPr lang="en-US" altLang="ko-KR" dirty="0"/>
          </a:p>
        </p:txBody>
      </p:sp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488992" y="6080596"/>
            <a:ext cx="4392000" cy="17884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eaLnBrk="0" latinLnBrk="0" hangingPunct="0">
              <a:spcBef>
                <a:spcPct val="20000"/>
              </a:spcBef>
              <a:buClr>
                <a:srgbClr val="006699"/>
              </a:buClr>
              <a:buNone/>
              <a:tabLst>
                <a:tab pos="190500" algn="r"/>
                <a:tab pos="292100" algn="l"/>
              </a:tabLst>
            </a:pPr>
            <a:r>
              <a:rPr lang="en-US" altLang="ko-KR" sz="800" i="1" spc="-30" dirty="0">
                <a:latin typeface="+mn-ea"/>
                <a:ea typeface="+mn-ea"/>
              </a:rPr>
              <a:t>1) </a:t>
            </a:r>
            <a:r>
              <a:rPr lang="ko-KR" altLang="en-US" sz="800" i="1" spc="-30" dirty="0">
                <a:latin typeface="+mn-ea"/>
                <a:ea typeface="+mn-ea"/>
              </a:rPr>
              <a:t>출처</a:t>
            </a:r>
            <a:r>
              <a:rPr lang="en-US" altLang="ko-KR" sz="800" i="1" spc="-30" dirty="0">
                <a:latin typeface="+mn-ea"/>
                <a:ea typeface="+mn-ea"/>
              </a:rPr>
              <a:t> : SW</a:t>
            </a:r>
            <a:r>
              <a:rPr lang="ko-KR" altLang="en-US" sz="800" i="1" spc="-30" dirty="0">
                <a:latin typeface="+mn-ea"/>
                <a:ea typeface="+mn-ea"/>
              </a:rPr>
              <a:t>사업 대가산정 가이드</a:t>
            </a:r>
            <a:r>
              <a:rPr lang="en-US" altLang="ko-KR" sz="800" i="1" spc="-30" dirty="0">
                <a:latin typeface="+mn-ea"/>
                <a:ea typeface="+mn-ea"/>
              </a:rPr>
              <a:t>(2018</a:t>
            </a:r>
            <a:r>
              <a:rPr lang="ko-KR" altLang="en-US" sz="800" i="1" spc="-30" dirty="0">
                <a:latin typeface="+mn-ea"/>
                <a:ea typeface="+mn-ea"/>
              </a:rPr>
              <a:t>년 개정판</a:t>
            </a:r>
            <a:r>
              <a:rPr lang="en-US" altLang="ko-KR" sz="800" i="1" spc="-30" dirty="0">
                <a:latin typeface="+mn-ea"/>
                <a:ea typeface="+mn-ea"/>
              </a:rPr>
              <a:t>), </a:t>
            </a:r>
            <a:r>
              <a:rPr lang="ko-KR" altLang="en-US" sz="800" i="1" spc="-30" dirty="0">
                <a:latin typeface="+mn-ea"/>
                <a:ea typeface="+mn-ea"/>
              </a:rPr>
              <a:t>한국소프트웨어산업협회</a:t>
            </a:r>
          </a:p>
        </p:txBody>
      </p:sp>
      <p:sp>
        <p:nvSpPr>
          <p:cNvPr id="9" name="직사각형 8"/>
          <p:cNvSpPr/>
          <p:nvPr/>
        </p:nvSpPr>
        <p:spPr>
          <a:xfrm>
            <a:off x="382588" y="1833012"/>
            <a:ext cx="9217024" cy="20774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8900" lvl="0" indent="-88900">
              <a:spcBef>
                <a:spcPts val="600"/>
              </a:spcBef>
              <a:buClr>
                <a:prstClr val="black"/>
              </a:buClr>
              <a:buFont typeface="Wingdings" pitchFamily="2" charset="2"/>
              <a:buChar char="§"/>
            </a:pPr>
            <a:r>
              <a:rPr lang="ko-KR" altLang="en-US" sz="1100" b="0" dirty="0">
                <a:latin typeface="+mn-ea"/>
                <a:ea typeface="+mn-ea"/>
              </a:rPr>
              <a:t>투입공수에 의한 산정 방식</a:t>
            </a:r>
            <a:endParaRPr lang="en-US" altLang="ko-KR" sz="1100" b="0" dirty="0">
              <a:latin typeface="+mn-ea"/>
              <a:ea typeface="+mn-ea"/>
            </a:endParaRPr>
          </a:p>
          <a:p>
            <a:pPr marL="268288" lvl="1" indent="-90488" latinLnBrk="0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FontTx/>
              <a:buChar char="–"/>
            </a:pPr>
            <a:r>
              <a:rPr lang="ko-KR" altLang="en-US" sz="1100" b="0" dirty="0">
                <a:latin typeface="+mn-ea"/>
                <a:ea typeface="+mn-ea"/>
              </a:rPr>
              <a:t>통상적으로 말하는 </a:t>
            </a:r>
            <a:r>
              <a:rPr lang="en-US" altLang="ko-KR" sz="1100" b="0" dirty="0">
                <a:latin typeface="+mn-ea"/>
                <a:ea typeface="+mn-ea"/>
              </a:rPr>
              <a:t>M/M(Man/Months)</a:t>
            </a:r>
            <a:r>
              <a:rPr lang="ko-KR" altLang="en-US" sz="1100" b="0" dirty="0">
                <a:latin typeface="+mn-ea"/>
                <a:ea typeface="+mn-ea"/>
              </a:rPr>
              <a:t>방식으로 엔지니어링기술진흥법 제</a:t>
            </a:r>
            <a:r>
              <a:rPr lang="en-US" altLang="ko-KR" sz="1100" b="0" dirty="0">
                <a:latin typeface="+mn-ea"/>
                <a:ea typeface="+mn-ea"/>
              </a:rPr>
              <a:t>10</a:t>
            </a:r>
            <a:r>
              <a:rPr lang="ko-KR" altLang="en-US" sz="1100" b="0" dirty="0">
                <a:latin typeface="+mn-ea"/>
                <a:ea typeface="+mn-ea"/>
              </a:rPr>
              <a:t>조의 규정에 의한 엔지니어링사업 대가의 기준을 준용하여 비용을 산정하는 방식</a:t>
            </a:r>
            <a:endParaRPr lang="en-US" altLang="ko-KR" sz="1100" b="0" dirty="0">
              <a:latin typeface="+mn-ea"/>
              <a:ea typeface="+mn-ea"/>
            </a:endParaRPr>
          </a:p>
          <a:p>
            <a:pPr marL="88900" lvl="0" indent="-88900">
              <a:spcBef>
                <a:spcPts val="600"/>
              </a:spcBef>
              <a:buClr>
                <a:prstClr val="black"/>
              </a:buClr>
              <a:buFont typeface="Wingdings" pitchFamily="2" charset="2"/>
              <a:buChar char="§"/>
              <a:defRPr/>
            </a:pPr>
            <a:r>
              <a:rPr lang="ko-KR" altLang="en-US" sz="1100" b="0" dirty="0">
                <a:latin typeface="+mn-ea"/>
                <a:ea typeface="+mn-ea"/>
              </a:rPr>
              <a:t>산정 방법</a:t>
            </a:r>
            <a:endParaRPr lang="en-US" altLang="ko-KR" sz="1100" b="0" dirty="0">
              <a:latin typeface="+mn-ea"/>
              <a:ea typeface="+mn-ea"/>
            </a:endParaRPr>
          </a:p>
          <a:p>
            <a:pPr marL="268288" lvl="1" indent="-90488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FontTx/>
              <a:buChar char="–"/>
            </a:pPr>
            <a:r>
              <a:rPr lang="ko-KR" altLang="en-US" sz="1100" b="0" dirty="0">
                <a:latin typeface="+mn-ea"/>
                <a:ea typeface="+mn-ea"/>
              </a:rPr>
              <a:t>총 비용 </a:t>
            </a:r>
            <a:r>
              <a:rPr lang="en-US" altLang="ko-KR" sz="1100" b="0" dirty="0">
                <a:latin typeface="+mn-ea"/>
                <a:ea typeface="+mn-ea"/>
              </a:rPr>
              <a:t>= </a:t>
            </a:r>
            <a:r>
              <a:rPr lang="ko-KR" altLang="en-US" sz="1100" b="0" dirty="0">
                <a:latin typeface="+mn-ea"/>
                <a:ea typeface="+mn-ea"/>
              </a:rPr>
              <a:t>직접인건비 </a:t>
            </a:r>
            <a:r>
              <a:rPr lang="en-US" altLang="ko-KR" sz="1100" b="0" dirty="0">
                <a:latin typeface="+mn-ea"/>
                <a:ea typeface="+mn-ea"/>
              </a:rPr>
              <a:t>+ </a:t>
            </a:r>
            <a:r>
              <a:rPr lang="ko-KR" altLang="en-US" sz="1100" b="0" dirty="0" err="1">
                <a:latin typeface="+mn-ea"/>
                <a:ea typeface="+mn-ea"/>
              </a:rPr>
              <a:t>제경비</a:t>
            </a:r>
            <a:r>
              <a:rPr lang="ko-KR" altLang="en-US" sz="1100" b="0" dirty="0">
                <a:latin typeface="+mn-ea"/>
                <a:ea typeface="+mn-ea"/>
              </a:rPr>
              <a:t> </a:t>
            </a:r>
            <a:r>
              <a:rPr lang="en-US" altLang="ko-KR" sz="1100" b="0" dirty="0">
                <a:latin typeface="+mn-ea"/>
                <a:ea typeface="+mn-ea"/>
              </a:rPr>
              <a:t>+ </a:t>
            </a:r>
            <a:r>
              <a:rPr lang="ko-KR" altLang="en-US" sz="1100" b="0" dirty="0" err="1">
                <a:latin typeface="+mn-ea"/>
                <a:ea typeface="+mn-ea"/>
              </a:rPr>
              <a:t>기술료</a:t>
            </a:r>
            <a:r>
              <a:rPr lang="ko-KR" altLang="en-US" sz="1100" b="0" dirty="0">
                <a:latin typeface="+mn-ea"/>
                <a:ea typeface="+mn-ea"/>
              </a:rPr>
              <a:t> </a:t>
            </a:r>
            <a:r>
              <a:rPr lang="en-US" altLang="ko-KR" sz="1100" b="0" dirty="0">
                <a:latin typeface="+mn-ea"/>
                <a:ea typeface="+mn-ea"/>
              </a:rPr>
              <a:t>+ </a:t>
            </a:r>
            <a:r>
              <a:rPr lang="ko-KR" altLang="en-US" sz="1100" b="0" dirty="0">
                <a:latin typeface="+mn-ea"/>
                <a:ea typeface="+mn-ea"/>
              </a:rPr>
              <a:t>직접경비</a:t>
            </a:r>
            <a:endParaRPr lang="en-US" altLang="ko-KR" sz="1100" b="0" dirty="0">
              <a:latin typeface="+mn-ea"/>
              <a:ea typeface="+mn-ea"/>
            </a:endParaRPr>
          </a:p>
          <a:p>
            <a:pPr marL="268288" lvl="1" indent="-90488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FontTx/>
              <a:buChar char="–"/>
            </a:pPr>
            <a:r>
              <a:rPr lang="ko-KR" altLang="en-US" sz="1100" b="0" dirty="0">
                <a:latin typeface="+mn-ea"/>
                <a:ea typeface="+mn-ea"/>
              </a:rPr>
              <a:t>공수 </a:t>
            </a:r>
            <a:r>
              <a:rPr lang="en-US" altLang="ko-KR" sz="1100" b="0" dirty="0">
                <a:latin typeface="+mn-ea"/>
                <a:ea typeface="+mn-ea"/>
              </a:rPr>
              <a:t>= ① </a:t>
            </a:r>
            <a:r>
              <a:rPr lang="ko-KR" altLang="en-US" sz="1100" b="0" dirty="0">
                <a:latin typeface="+mn-ea"/>
                <a:ea typeface="+mn-ea"/>
              </a:rPr>
              <a:t>직접인건비</a:t>
            </a:r>
            <a:r>
              <a:rPr lang="en-US" altLang="ko-KR" sz="1100" b="0" dirty="0">
                <a:latin typeface="+mn-ea"/>
                <a:ea typeface="+mn-ea"/>
              </a:rPr>
              <a:t>, </a:t>
            </a:r>
            <a:r>
              <a:rPr lang="ko-KR" altLang="en-US" sz="1100" b="0" dirty="0">
                <a:latin typeface="+mn-ea"/>
                <a:ea typeface="+mn-ea"/>
              </a:rPr>
              <a:t> </a:t>
            </a:r>
            <a:r>
              <a:rPr lang="en-US" altLang="ko-KR" sz="1100" b="0" dirty="0">
                <a:latin typeface="+mn-ea"/>
                <a:ea typeface="+mn-ea"/>
              </a:rPr>
              <a:t>② </a:t>
            </a:r>
            <a:r>
              <a:rPr lang="ko-KR" altLang="en-US" sz="1100" b="0" dirty="0" err="1">
                <a:latin typeface="+mn-ea"/>
                <a:ea typeface="+mn-ea"/>
              </a:rPr>
              <a:t>제경비</a:t>
            </a:r>
            <a:r>
              <a:rPr lang="ko-KR" altLang="en-US" sz="1100" b="0" dirty="0">
                <a:latin typeface="+mn-ea"/>
                <a:ea typeface="+mn-ea"/>
              </a:rPr>
              <a:t> </a:t>
            </a:r>
            <a:r>
              <a:rPr lang="en-US" altLang="ko-KR" sz="1100" b="0" dirty="0">
                <a:latin typeface="+mn-ea"/>
                <a:ea typeface="+mn-ea"/>
              </a:rPr>
              <a:t>= </a:t>
            </a:r>
            <a:r>
              <a:rPr lang="ko-KR" altLang="en-US" sz="1100" b="0" dirty="0">
                <a:latin typeface="+mn-ea"/>
                <a:ea typeface="+mn-ea"/>
              </a:rPr>
              <a:t>직접인건비의 </a:t>
            </a:r>
            <a:r>
              <a:rPr lang="en-US" altLang="ko-KR" sz="1100" b="0" dirty="0">
                <a:latin typeface="+mn-ea"/>
                <a:ea typeface="+mn-ea"/>
              </a:rPr>
              <a:t>110% ~ 120%, ③ </a:t>
            </a:r>
            <a:r>
              <a:rPr lang="ko-KR" altLang="en-US" sz="1100" b="0" dirty="0" err="1">
                <a:latin typeface="+mn-ea"/>
                <a:ea typeface="+mn-ea"/>
              </a:rPr>
              <a:t>기술료</a:t>
            </a:r>
            <a:r>
              <a:rPr lang="en-US" altLang="ko-KR" sz="1100" dirty="0">
                <a:latin typeface="+mn-ea"/>
                <a:ea typeface="+mn-ea"/>
              </a:rPr>
              <a:t> = (</a:t>
            </a:r>
            <a:r>
              <a:rPr lang="ko-KR" altLang="en-US" sz="1100" dirty="0">
                <a:latin typeface="+mn-ea"/>
                <a:ea typeface="+mn-ea"/>
              </a:rPr>
              <a:t>직접인건비 </a:t>
            </a:r>
            <a:r>
              <a:rPr lang="en-US" altLang="ko-KR" sz="1100" dirty="0">
                <a:latin typeface="+mn-ea"/>
                <a:ea typeface="+mn-ea"/>
              </a:rPr>
              <a:t>+</a:t>
            </a:r>
            <a:r>
              <a:rPr lang="ko-KR" altLang="en-US" sz="1100" dirty="0" err="1">
                <a:latin typeface="+mn-ea"/>
                <a:ea typeface="+mn-ea"/>
              </a:rPr>
              <a:t>제경비</a:t>
            </a:r>
            <a:r>
              <a:rPr lang="en-US" altLang="ko-KR" sz="1100" dirty="0">
                <a:latin typeface="+mn-ea"/>
                <a:ea typeface="+mn-ea"/>
              </a:rPr>
              <a:t>)</a:t>
            </a:r>
            <a:r>
              <a:rPr lang="ko-KR" altLang="en-US" sz="1100" dirty="0">
                <a:latin typeface="+mn-ea"/>
                <a:ea typeface="+mn-ea"/>
              </a:rPr>
              <a:t>의 </a:t>
            </a:r>
            <a:r>
              <a:rPr lang="en-US" altLang="ko-KR" sz="1100" dirty="0">
                <a:latin typeface="+mn-ea"/>
                <a:ea typeface="+mn-ea"/>
              </a:rPr>
              <a:t>20% ~ 40%, </a:t>
            </a:r>
            <a:r>
              <a:rPr lang="en-US" altLang="ko-KR" sz="1100" b="0" dirty="0">
                <a:latin typeface="+mn-ea"/>
                <a:ea typeface="+mn-ea"/>
              </a:rPr>
              <a:t>④ </a:t>
            </a:r>
            <a:r>
              <a:rPr lang="ko-KR" altLang="en-US" sz="1100" b="0" dirty="0">
                <a:latin typeface="+mn-ea"/>
                <a:ea typeface="+mn-ea"/>
              </a:rPr>
              <a:t>직접경비</a:t>
            </a:r>
            <a:endParaRPr lang="en-US" altLang="ko-KR" sz="1100" b="0" dirty="0">
              <a:latin typeface="+mn-ea"/>
              <a:ea typeface="+mn-ea"/>
            </a:endParaRPr>
          </a:p>
          <a:p>
            <a:pPr marL="268288" lvl="1" indent="-90488">
              <a:spcBef>
                <a:spcPts val="600"/>
              </a:spcBef>
              <a:buClr>
                <a:prstClr val="black"/>
              </a:buClr>
              <a:buFontTx/>
              <a:buChar char="–"/>
            </a:pPr>
            <a:r>
              <a:rPr lang="ko-KR" altLang="en-US" sz="1100" dirty="0">
                <a:latin typeface="+mn-ea"/>
                <a:ea typeface="+mn-ea"/>
              </a:rPr>
              <a:t>직접인건비 </a:t>
            </a:r>
            <a:r>
              <a:rPr lang="en-US" altLang="ko-KR" sz="1100" dirty="0">
                <a:latin typeface="+mn-ea"/>
                <a:ea typeface="+mn-ea"/>
              </a:rPr>
              <a:t>= Σ (</a:t>
            </a:r>
            <a:r>
              <a:rPr lang="ko-KR" altLang="en-US" sz="1100" dirty="0">
                <a:latin typeface="+mn-ea"/>
                <a:ea typeface="+mn-ea"/>
              </a:rPr>
              <a:t>컨설턴트 등급별 투입공수 </a:t>
            </a:r>
            <a:r>
              <a:rPr lang="en-US" altLang="ko-KR" sz="1100" dirty="0">
                <a:latin typeface="+mn-ea"/>
                <a:ea typeface="+mn-ea"/>
              </a:rPr>
              <a:t>× </a:t>
            </a:r>
            <a:r>
              <a:rPr lang="ko-KR" altLang="en-US" sz="1100" dirty="0">
                <a:latin typeface="+mn-ea"/>
                <a:ea typeface="+mn-ea"/>
              </a:rPr>
              <a:t>등급별 컨설턴트 평균임금</a:t>
            </a:r>
            <a:r>
              <a:rPr lang="en-US" altLang="ko-KR" sz="1100" dirty="0">
                <a:latin typeface="+mn-ea"/>
                <a:ea typeface="+mn-ea"/>
              </a:rPr>
              <a:t>)</a:t>
            </a:r>
          </a:p>
          <a:p>
            <a:pPr marL="268288" lvl="1" indent="-90488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FontTx/>
              <a:buChar char="–"/>
            </a:pPr>
            <a:r>
              <a:rPr lang="ko-KR" altLang="en-US" sz="1100" b="0" dirty="0">
                <a:latin typeface="+mn-ea"/>
                <a:ea typeface="+mn-ea"/>
              </a:rPr>
              <a:t>직접경비 </a:t>
            </a:r>
            <a:r>
              <a:rPr lang="en-US" altLang="ko-KR" sz="1100" b="0" dirty="0">
                <a:latin typeface="+mn-ea"/>
                <a:ea typeface="+mn-ea"/>
              </a:rPr>
              <a:t>= </a:t>
            </a:r>
            <a:r>
              <a:rPr lang="ko-KR" altLang="en-US" sz="1100" b="0" dirty="0">
                <a:latin typeface="+mn-ea"/>
                <a:ea typeface="+mn-ea"/>
              </a:rPr>
              <a:t>해당 사업에 소요되는 직접적인 비용을 의미하며</a:t>
            </a:r>
            <a:r>
              <a:rPr lang="en-US" altLang="ko-KR" sz="1100" b="0" dirty="0">
                <a:latin typeface="+mn-ea"/>
                <a:ea typeface="+mn-ea"/>
              </a:rPr>
              <a:t>, </a:t>
            </a:r>
            <a:r>
              <a:rPr lang="ko-KR" altLang="en-US" sz="1100" b="0" dirty="0">
                <a:latin typeface="+mn-ea"/>
                <a:ea typeface="+mn-ea"/>
              </a:rPr>
              <a:t>엔지니어링사업 대가기준에서 정한 직접경비 항목 이외의 </a:t>
            </a:r>
            <a:r>
              <a:rPr lang="en-US" altLang="ko-KR" sz="1100" b="0" dirty="0">
                <a:latin typeface="+mn-ea"/>
                <a:ea typeface="+mn-ea"/>
              </a:rPr>
              <a:t>SW</a:t>
            </a:r>
            <a:r>
              <a:rPr lang="ko-KR" altLang="en-US" sz="1100" b="0" dirty="0">
                <a:latin typeface="+mn-ea"/>
                <a:ea typeface="+mn-ea"/>
              </a:rPr>
              <a:t>사업의 특성을 반영하여 아래의 </a:t>
            </a:r>
            <a:r>
              <a:rPr lang="en-US" altLang="ko-KR" sz="1100" b="0" dirty="0">
                <a:latin typeface="+mn-ea"/>
                <a:ea typeface="+mn-ea"/>
              </a:rPr>
              <a:t>12</a:t>
            </a:r>
            <a:r>
              <a:rPr lang="ko-KR" altLang="en-US" sz="1100" b="0" dirty="0">
                <a:latin typeface="+mn-ea"/>
                <a:ea typeface="+mn-ea"/>
              </a:rPr>
              <a:t>개 항목이 추가적으로 해당될 수 있음</a:t>
            </a:r>
            <a:endParaRPr lang="en-US" altLang="ko-KR" sz="1100" b="0" dirty="0">
              <a:latin typeface="+mn-ea"/>
              <a:ea typeface="+mn-ea"/>
            </a:endParaRP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686296"/>
              </p:ext>
            </p:extLst>
          </p:nvPr>
        </p:nvGraphicFramePr>
        <p:xfrm>
          <a:off x="529420" y="4085580"/>
          <a:ext cx="8820000" cy="1353040"/>
        </p:xfrm>
        <a:graphic>
          <a:graphicData uri="http://schemas.openxmlformats.org/drawingml/2006/table">
            <a:tbl>
              <a:tblPr firstRow="1" bandRow="1"/>
              <a:tblGrid>
                <a:gridCol w="128032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53967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668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 항목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6612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lang="ko-KR" altLang="en-US" sz="1100" b="1" dirty="0">
                          <a:latin typeface="+mn-ea"/>
                          <a:ea typeface="+mn-ea"/>
                        </a:rPr>
                        <a:t>직접경비 항목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algn="l" fontAlgn="ctr" latinLnBrk="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사업에서 특별히 필요로 하는 컴퓨터시스템 사용료 및 소프트웨어 도구 사용료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l" fontAlgn="ctr" latinLnBrk="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선투자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후정산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사업으로 추진되는 사업의 경우 지급이자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발주자의 요구에 의한 특정기술 도입과 관련된 전문가 비용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 latinLnBrk="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사업에 직접 필요한 여비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특수자료비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제출문서의 인쇄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청사진비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자료조사비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기자재시험비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fontAlgn="ctr" latinLnBrk="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lang="ko-KR" alt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위탁비와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현장운영비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직접인건비에 포함되지 않는 보조요원의 급여와 현장사무실 임차료 및 운영비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모형제작비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 latinLnBrk="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그밖에 사업에 특별히 소요되는 직접비용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11" name="직사각형 10"/>
          <p:cNvSpPr/>
          <p:nvPr/>
        </p:nvSpPr>
        <p:spPr>
          <a:xfrm>
            <a:off x="529420" y="5517232"/>
            <a:ext cx="4953000" cy="221599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0" latinLnBrk="0" hangingPunct="0">
              <a:spcBef>
                <a:spcPct val="20000"/>
              </a:spcBef>
              <a:buClr>
                <a:srgbClr val="006699"/>
              </a:buClr>
              <a:buNone/>
              <a:tabLst>
                <a:tab pos="190500" algn="r"/>
                <a:tab pos="292100" algn="l"/>
              </a:tabLst>
            </a:pPr>
            <a:r>
              <a:rPr lang="en-US" altLang="ko-KR" sz="800" i="1" spc="-30" dirty="0">
                <a:latin typeface="+mn-ea"/>
                <a:ea typeface="+mn-ea"/>
              </a:rPr>
              <a:t>* </a:t>
            </a:r>
            <a:r>
              <a:rPr lang="ko-KR" altLang="en-US" sz="800" i="1" spc="-30" dirty="0">
                <a:latin typeface="+mn-ea"/>
                <a:ea typeface="+mn-ea"/>
              </a:rPr>
              <a:t>직접경비는 컨설팅 용역 수행 환경 및 수행 방식에 따라 상이하므로 본 예산 산정에서는 포함하지 않음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추진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비용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기대효과 분석</a:t>
            </a:r>
            <a:r>
              <a:rPr lang="en-US" altLang="ko-KR" dirty="0">
                <a:solidFill>
                  <a:schemeClr val="bg1">
                    <a:lumMod val="65000"/>
                  </a:schemeClr>
                </a:solidFill>
              </a:rPr>
              <a:t/>
            </a:r>
            <a:br>
              <a:rPr lang="en-US" altLang="ko-KR" dirty="0">
                <a:solidFill>
                  <a:schemeClr val="bg1">
                    <a:lumMod val="65000"/>
                  </a:schemeClr>
                </a:solidFill>
              </a:rPr>
            </a:br>
            <a:r>
              <a:rPr lang="en-US" altLang="ko-KR" dirty="0"/>
              <a:t>4.1 </a:t>
            </a:r>
            <a:r>
              <a:rPr lang="ko-KR" altLang="en-US" dirty="0"/>
              <a:t>기대효과 분석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4.2 </a:t>
            </a:r>
            <a:r>
              <a:rPr lang="ko-KR" altLang="en-US" dirty="0"/>
              <a:t>정성적 기대효과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4.3 </a:t>
            </a:r>
            <a:r>
              <a:rPr lang="ko-KR" altLang="en-US" dirty="0"/>
              <a:t>정량적 기대효과</a:t>
            </a:r>
            <a:endParaRPr lang="en-US" altLang="ko-KR" dirty="0"/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요건기술서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변화관리 방안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기대효과 분석은 무형의 가치 증대를 도출하는 정성적 기대효과와 차세대 경영정보시스템 구축에 따른  정보화율 및 수작업에 대한 업무 효율성 측면의 정량적 기대효과로 도출함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4.1 </a:t>
            </a:r>
            <a:r>
              <a:rPr lang="ko-KR" altLang="en-US" dirty="0"/>
              <a:t>기대효과 분석 개요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4.1 </a:t>
            </a:r>
            <a:r>
              <a:rPr lang="ko-KR" altLang="en-US" dirty="0"/>
              <a:t>기대효과 분석 개요</a:t>
            </a:r>
            <a:endParaRPr lang="en-US" altLang="ko-KR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xmlns="" id="{A8C9CEC9-A0DE-45D8-8523-D17616161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87" y="1844792"/>
            <a:ext cx="9171421" cy="4428524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xmlns="" id="{29D5252F-B8CC-41A3-8AFB-6E1CAE7C6832}"/>
              </a:ext>
            </a:extLst>
          </p:cNvPr>
          <p:cNvSpPr/>
          <p:nvPr/>
        </p:nvSpPr>
        <p:spPr bwMode="auto">
          <a:xfrm>
            <a:off x="344487" y="1592796"/>
            <a:ext cx="9171421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기대 효과 분석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Framework</a:t>
            </a:r>
          </a:p>
        </p:txBody>
      </p:sp>
      <p:cxnSp>
        <p:nvCxnSpPr>
          <p:cNvPr id="93" name="직선 연결선 92"/>
          <p:cNvCxnSpPr/>
          <p:nvPr/>
        </p:nvCxnSpPr>
        <p:spPr bwMode="auto">
          <a:xfrm>
            <a:off x="478691" y="2672476"/>
            <a:ext cx="8819393" cy="0"/>
          </a:xfrm>
          <a:prstGeom prst="line">
            <a:avLst/>
          </a:prstGeom>
          <a:solidFill>
            <a:srgbClr val="FBB779"/>
          </a:solidFill>
          <a:ln w="12700" cap="flat" cmpd="sng" algn="ctr">
            <a:solidFill>
              <a:sysClr val="windowText" lastClr="00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94" name="Rectangle 13"/>
          <p:cNvSpPr>
            <a:spLocks noChangeArrowheads="1"/>
          </p:cNvSpPr>
          <p:nvPr/>
        </p:nvSpPr>
        <p:spPr bwMode="auto">
          <a:xfrm>
            <a:off x="478691" y="1988840"/>
            <a:ext cx="1455715" cy="544246"/>
          </a:xfrm>
          <a:prstGeom prst="rect">
            <a:avLst/>
          </a:prstGeom>
          <a:solidFill>
            <a:srgbClr val="508CD2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wrap="square" lIns="90000" tIns="36000" rIns="90000" bIns="36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정성적 효과 </a:t>
            </a:r>
          </a:p>
        </p:txBody>
      </p:sp>
      <p:sp>
        <p:nvSpPr>
          <p:cNvPr id="95" name="Rectangle 13"/>
          <p:cNvSpPr>
            <a:spLocks noChangeArrowheads="1"/>
          </p:cNvSpPr>
          <p:nvPr/>
        </p:nvSpPr>
        <p:spPr bwMode="auto">
          <a:xfrm>
            <a:off x="478691" y="2799160"/>
            <a:ext cx="1455715" cy="3366142"/>
          </a:xfrm>
          <a:prstGeom prst="rect">
            <a:avLst/>
          </a:prstGeom>
          <a:solidFill>
            <a:srgbClr val="508CD2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wrap="square" lIns="90000" tIns="36000" rIns="90000" bIns="36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ea typeface="+mn-ea"/>
              </a:rPr>
              <a:t>정량적 효과 </a:t>
            </a:r>
          </a:p>
        </p:txBody>
      </p:sp>
      <p:sp>
        <p:nvSpPr>
          <p:cNvPr id="96" name="직사각형 13"/>
          <p:cNvSpPr>
            <a:spLocks noChangeArrowheads="1"/>
          </p:cNvSpPr>
          <p:nvPr/>
        </p:nvSpPr>
        <p:spPr bwMode="auto">
          <a:xfrm>
            <a:off x="4997038" y="2895565"/>
            <a:ext cx="4348450" cy="514767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100" b="0" dirty="0">
                <a:latin typeface="+mn-ea"/>
                <a:ea typeface="+mn-ea"/>
              </a:rPr>
              <a:t>기대효과 도출 대상의 산정대상을 정의함</a:t>
            </a:r>
            <a:endParaRPr lang="en-US" altLang="ko-KR" sz="1100" b="0" dirty="0">
              <a:latin typeface="+mn-ea"/>
              <a:ea typeface="+mn-ea"/>
            </a:endParaRPr>
          </a:p>
          <a:p>
            <a:pPr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b="0" dirty="0">
                <a:latin typeface="+mn-ea"/>
                <a:ea typeface="+mn-ea"/>
              </a:rPr>
              <a:t> - </a:t>
            </a:r>
            <a:r>
              <a:rPr lang="en-US" altLang="ko-KR" sz="1100" dirty="0">
                <a:latin typeface="+mn-ea"/>
              </a:rPr>
              <a:t>To</a:t>
            </a:r>
            <a:r>
              <a:rPr lang="en-US" altLang="ko-KR" sz="1100" b="0" dirty="0">
                <a:latin typeface="+mn-ea"/>
                <a:ea typeface="+mn-ea"/>
              </a:rPr>
              <a:t>-Be</a:t>
            </a:r>
            <a:r>
              <a:rPr lang="ko-KR" altLang="en-US" sz="1100" b="0" dirty="0">
                <a:latin typeface="+mn-ea"/>
                <a:ea typeface="+mn-ea"/>
              </a:rPr>
              <a:t> 업무 프로세스 대비 개선 현황</a:t>
            </a:r>
            <a:endParaRPr lang="en-US" altLang="ko-KR" sz="1100" dirty="0">
              <a:latin typeface="+mn-ea"/>
            </a:endParaRPr>
          </a:p>
          <a:p>
            <a:pPr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b="0" dirty="0">
                <a:latin typeface="+mn-ea"/>
                <a:ea typeface="+mn-ea"/>
              </a:rPr>
              <a:t> - </a:t>
            </a:r>
            <a:r>
              <a:rPr lang="ko-KR" altLang="en-US" sz="1100" b="0" dirty="0">
                <a:latin typeface="+mn-ea"/>
                <a:ea typeface="+mn-ea"/>
              </a:rPr>
              <a:t>도출 된 기능목록 대비 개선 현황</a:t>
            </a:r>
          </a:p>
        </p:txBody>
      </p:sp>
      <p:sp>
        <p:nvSpPr>
          <p:cNvPr id="97" name="직사각형 11"/>
          <p:cNvSpPr>
            <a:spLocks noChangeArrowheads="1"/>
          </p:cNvSpPr>
          <p:nvPr/>
        </p:nvSpPr>
        <p:spPr bwMode="auto">
          <a:xfrm>
            <a:off x="2056913" y="2799160"/>
            <a:ext cx="2817307" cy="734709"/>
          </a:xfrm>
          <a:prstGeom prst="rect">
            <a:avLst/>
          </a:prstGeom>
          <a:solidFill>
            <a:srgbClr val="B1CFFC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lIns="36000" tIns="36000" rIns="36000" bIns="36000" anchor="ctr"/>
          <a:lstStyle/>
          <a:p>
            <a:pPr marL="85725" marR="0" lvl="0" indent="-85725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정량적 산정 대상 도출</a:t>
            </a:r>
          </a:p>
        </p:txBody>
      </p:sp>
      <p:cxnSp>
        <p:nvCxnSpPr>
          <p:cNvPr id="98" name="AutoShape 2057"/>
          <p:cNvCxnSpPr>
            <a:cxnSpLocks noChangeShapeType="1"/>
            <a:stCxn id="97" idx="2"/>
            <a:endCxn id="100" idx="0"/>
          </p:cNvCxnSpPr>
          <p:nvPr/>
        </p:nvCxnSpPr>
        <p:spPr bwMode="auto">
          <a:xfrm>
            <a:off x="3465567" y="3533869"/>
            <a:ext cx="0" cy="399187"/>
          </a:xfrm>
          <a:prstGeom prst="straightConnector1">
            <a:avLst/>
          </a:prstGeom>
          <a:solidFill>
            <a:sysClr val="window" lastClr="FFFFFF">
              <a:lumMod val="9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 type="triangle" w="med" len="med"/>
          </a:ln>
          <a:effectLst/>
        </p:spPr>
      </p:cxnSp>
      <p:sp>
        <p:nvSpPr>
          <p:cNvPr id="99" name="직사각형 13"/>
          <p:cNvSpPr>
            <a:spLocks noChangeArrowheads="1"/>
          </p:cNvSpPr>
          <p:nvPr/>
        </p:nvSpPr>
        <p:spPr bwMode="auto">
          <a:xfrm>
            <a:off x="4997038" y="4149080"/>
            <a:ext cx="4348450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100" b="0" dirty="0">
                <a:latin typeface="+mn-ea"/>
                <a:ea typeface="+mn-ea"/>
              </a:rPr>
              <a:t>정량적 기대효과 대상의 항목 도출</a:t>
            </a:r>
            <a:endParaRPr lang="en-US" altLang="ko-KR" sz="1100" b="0" dirty="0">
              <a:latin typeface="+mn-ea"/>
              <a:ea typeface="+mn-ea"/>
            </a:endParaRPr>
          </a:p>
          <a:p>
            <a:pPr marL="182563" indent="-182563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dirty="0">
                <a:latin typeface="+mn-ea"/>
              </a:rPr>
              <a:t> - </a:t>
            </a:r>
            <a:r>
              <a:rPr lang="ko-KR" altLang="en-US" sz="1100" dirty="0">
                <a:latin typeface="+mn-ea"/>
              </a:rPr>
              <a:t>총 단위업무</a:t>
            </a:r>
            <a:r>
              <a:rPr lang="en-US" altLang="ko-KR" sz="1100" dirty="0">
                <a:latin typeface="+mn-ea"/>
              </a:rPr>
              <a:t>, </a:t>
            </a:r>
            <a:r>
              <a:rPr lang="ko-KR" altLang="en-US" sz="1100" dirty="0">
                <a:latin typeface="+mn-ea"/>
              </a:rPr>
              <a:t>신규</a:t>
            </a:r>
            <a:r>
              <a:rPr lang="en-US" altLang="ko-KR" sz="1100" dirty="0">
                <a:latin typeface="+mn-ea"/>
              </a:rPr>
              <a:t>/</a:t>
            </a:r>
            <a:r>
              <a:rPr lang="ko-KR" altLang="en-US" sz="1100" dirty="0">
                <a:latin typeface="+mn-ea"/>
              </a:rPr>
              <a:t>개선</a:t>
            </a:r>
            <a:r>
              <a:rPr lang="en-US" altLang="ko-KR" sz="1100" dirty="0">
                <a:latin typeface="+mn-ea"/>
              </a:rPr>
              <a:t>/</a:t>
            </a:r>
            <a:r>
              <a:rPr lang="ko-KR" altLang="en-US" sz="1100" dirty="0">
                <a:latin typeface="+mn-ea"/>
              </a:rPr>
              <a:t>현행유지 정보화 단위 업무 개수</a:t>
            </a:r>
            <a:r>
              <a:rPr lang="en-US" altLang="ko-KR" sz="1100" dirty="0">
                <a:latin typeface="+mn-ea"/>
              </a:rPr>
              <a:t>,  </a:t>
            </a:r>
            <a:r>
              <a:rPr lang="ko-KR" altLang="en-US" sz="1100" dirty="0">
                <a:latin typeface="+mn-ea"/>
              </a:rPr>
              <a:t>경영정보통합시스템화 현황 </a:t>
            </a:r>
            <a:endParaRPr lang="en-US" altLang="ko-KR" sz="1100" dirty="0">
              <a:latin typeface="+mn-ea"/>
            </a:endParaRPr>
          </a:p>
          <a:p>
            <a:pPr marL="182563" indent="-182563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b="0" dirty="0">
                <a:latin typeface="+mn-ea"/>
                <a:ea typeface="+mn-ea"/>
              </a:rPr>
              <a:t> - </a:t>
            </a:r>
            <a:r>
              <a:rPr lang="ko-KR" altLang="en-US" sz="1100" dirty="0">
                <a:latin typeface="+mn-ea"/>
              </a:rPr>
              <a:t>총 기능목록</a:t>
            </a:r>
            <a:r>
              <a:rPr lang="en-US" altLang="ko-KR" sz="1100" dirty="0">
                <a:latin typeface="+mn-ea"/>
              </a:rPr>
              <a:t>, </a:t>
            </a:r>
            <a:r>
              <a:rPr lang="ko-KR" altLang="en-US" sz="1100" dirty="0">
                <a:latin typeface="+mn-ea"/>
              </a:rPr>
              <a:t>신규</a:t>
            </a:r>
            <a:r>
              <a:rPr lang="en-US" altLang="ko-KR" sz="1100" dirty="0">
                <a:latin typeface="+mn-ea"/>
              </a:rPr>
              <a:t>/</a:t>
            </a:r>
            <a:r>
              <a:rPr lang="ko-KR" altLang="en-US" sz="1100" dirty="0">
                <a:latin typeface="+mn-ea"/>
              </a:rPr>
              <a:t>개선 기능 목록 현황</a:t>
            </a:r>
            <a:r>
              <a:rPr lang="en-US" altLang="ko-KR" sz="1100" dirty="0">
                <a:latin typeface="+mn-ea"/>
              </a:rPr>
              <a:t>, </a:t>
            </a:r>
            <a:r>
              <a:rPr lang="ko-KR" altLang="en-US" sz="1100" dirty="0">
                <a:latin typeface="+mn-ea"/>
              </a:rPr>
              <a:t>수작업 업무의 기능화 현황</a:t>
            </a:r>
            <a:endParaRPr lang="ko-KR" altLang="en-US" sz="1100" b="0" dirty="0">
              <a:latin typeface="+mn-ea"/>
              <a:ea typeface="+mn-ea"/>
            </a:endParaRPr>
          </a:p>
        </p:txBody>
      </p:sp>
      <p:sp>
        <p:nvSpPr>
          <p:cNvPr id="100" name="직사각형 11"/>
          <p:cNvSpPr>
            <a:spLocks noChangeArrowheads="1"/>
          </p:cNvSpPr>
          <p:nvPr/>
        </p:nvSpPr>
        <p:spPr bwMode="auto">
          <a:xfrm>
            <a:off x="2056913" y="3933056"/>
            <a:ext cx="2817307" cy="936104"/>
          </a:xfrm>
          <a:prstGeom prst="rect">
            <a:avLst/>
          </a:prstGeom>
          <a:solidFill>
            <a:srgbClr val="B1CFFC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lIns="36000" tIns="36000" rIns="36000" bIns="36000" anchor="ctr"/>
          <a:lstStyle/>
          <a:p>
            <a:pPr marL="85725" marR="0" lvl="0" indent="-85725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정량적 </a:t>
            </a:r>
            <a:r>
              <a:rPr lang="ko-KR" altLang="en-US" sz="1100" kern="0" dirty="0">
                <a:solidFill>
                  <a:srgbClr val="000000"/>
                </a:solidFill>
                <a:latin typeface="+mn-ea"/>
              </a:rPr>
              <a:t>기대효과 항목 도출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102" name="직사각형 11"/>
          <p:cNvSpPr>
            <a:spLocks noChangeArrowheads="1"/>
          </p:cNvSpPr>
          <p:nvPr/>
        </p:nvSpPr>
        <p:spPr bwMode="auto">
          <a:xfrm>
            <a:off x="2056913" y="5411927"/>
            <a:ext cx="2817307" cy="734709"/>
          </a:xfrm>
          <a:prstGeom prst="rect">
            <a:avLst/>
          </a:prstGeom>
          <a:solidFill>
            <a:srgbClr val="B1CFFC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lIns="36000" tIns="36000" rIns="36000" bIns="36000" anchor="ctr"/>
          <a:lstStyle/>
          <a:p>
            <a:pPr marL="85725" marR="0" lvl="0" indent="-85725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정량적 기대효과 산정</a:t>
            </a:r>
          </a:p>
        </p:txBody>
      </p:sp>
      <p:cxnSp>
        <p:nvCxnSpPr>
          <p:cNvPr id="103" name="AutoShape 2057"/>
          <p:cNvCxnSpPr>
            <a:cxnSpLocks noChangeShapeType="1"/>
            <a:stCxn id="100" idx="2"/>
            <a:endCxn id="102" idx="0"/>
          </p:cNvCxnSpPr>
          <p:nvPr/>
        </p:nvCxnSpPr>
        <p:spPr bwMode="auto">
          <a:xfrm>
            <a:off x="3465567" y="4869160"/>
            <a:ext cx="0" cy="542767"/>
          </a:xfrm>
          <a:prstGeom prst="straightConnector1">
            <a:avLst/>
          </a:prstGeom>
          <a:solidFill>
            <a:sysClr val="window" lastClr="FFFFFF">
              <a:lumMod val="95000"/>
            </a:sysClr>
          </a:solidFill>
          <a:ln w="6350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 type="triangle" w="med" len="med"/>
          </a:ln>
          <a:effectLst/>
        </p:spPr>
      </p:cxnSp>
      <p:sp>
        <p:nvSpPr>
          <p:cNvPr id="104" name="직사각형 13"/>
          <p:cNvSpPr>
            <a:spLocks noChangeArrowheads="1"/>
          </p:cNvSpPr>
          <p:nvPr/>
        </p:nvSpPr>
        <p:spPr bwMode="auto">
          <a:xfrm>
            <a:off x="4997038" y="5509612"/>
            <a:ext cx="4348450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100" b="0" dirty="0">
                <a:latin typeface="+mn-ea"/>
                <a:ea typeface="+mn-ea"/>
              </a:rPr>
              <a:t>정략적 기대효과의 정보화율 및 증가율 도출</a:t>
            </a:r>
            <a:endParaRPr lang="en-US" altLang="ko-KR" sz="1100" b="0" dirty="0">
              <a:latin typeface="+mn-ea"/>
              <a:ea typeface="+mn-ea"/>
            </a:endParaRPr>
          </a:p>
          <a:p>
            <a:pPr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dirty="0">
                <a:latin typeface="+mn-ea"/>
              </a:rPr>
              <a:t> - </a:t>
            </a:r>
            <a:r>
              <a:rPr lang="ko-KR" altLang="en-US" sz="1100" dirty="0">
                <a:latin typeface="+mn-ea"/>
              </a:rPr>
              <a:t>단위업무 대비 </a:t>
            </a:r>
            <a:r>
              <a:rPr lang="en-US" altLang="ko-KR" sz="1100" dirty="0">
                <a:latin typeface="+mn-ea"/>
              </a:rPr>
              <a:t>As-Is </a:t>
            </a:r>
            <a:r>
              <a:rPr lang="ko-KR" altLang="en-US" sz="1100" dirty="0">
                <a:latin typeface="+mn-ea"/>
              </a:rPr>
              <a:t>정보화율</a:t>
            </a:r>
            <a:r>
              <a:rPr lang="en-US" altLang="ko-KR" sz="1100" dirty="0">
                <a:latin typeface="+mn-ea"/>
              </a:rPr>
              <a:t>, To-Be </a:t>
            </a:r>
            <a:r>
              <a:rPr lang="ko-KR" altLang="en-US" sz="1100" dirty="0">
                <a:latin typeface="+mn-ea"/>
              </a:rPr>
              <a:t>정보화율</a:t>
            </a:r>
            <a:r>
              <a:rPr lang="en-US" altLang="ko-KR" sz="1100" dirty="0">
                <a:latin typeface="+mn-ea"/>
              </a:rPr>
              <a:t>/</a:t>
            </a:r>
            <a:r>
              <a:rPr lang="ko-KR" altLang="en-US" sz="1100" dirty="0">
                <a:latin typeface="+mn-ea"/>
              </a:rPr>
              <a:t>증가율</a:t>
            </a:r>
            <a:endParaRPr lang="en-US" altLang="ko-KR" sz="1100" dirty="0">
              <a:latin typeface="+mn-ea"/>
            </a:endParaRPr>
          </a:p>
          <a:p>
            <a:pPr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</a:pPr>
            <a:r>
              <a:rPr lang="en-US" altLang="ko-KR" sz="1100" b="0" dirty="0">
                <a:latin typeface="+mn-ea"/>
                <a:ea typeface="+mn-ea"/>
              </a:rPr>
              <a:t> - </a:t>
            </a:r>
            <a:r>
              <a:rPr lang="ko-KR" altLang="en-US" sz="1100" b="0" dirty="0">
                <a:latin typeface="+mn-ea"/>
                <a:ea typeface="+mn-ea"/>
              </a:rPr>
              <a:t>기능목록 대비 개선</a:t>
            </a:r>
            <a:r>
              <a:rPr lang="en-US" altLang="ko-KR" sz="1100" b="0" dirty="0">
                <a:latin typeface="+mn-ea"/>
                <a:ea typeface="+mn-ea"/>
              </a:rPr>
              <a:t>/</a:t>
            </a:r>
            <a:r>
              <a:rPr lang="ko-KR" altLang="en-US" sz="1100" b="0" dirty="0">
                <a:latin typeface="+mn-ea"/>
                <a:ea typeface="+mn-ea"/>
              </a:rPr>
              <a:t>신규 비율</a:t>
            </a:r>
            <a:r>
              <a:rPr lang="en-US" altLang="ko-KR" sz="1100" b="0" dirty="0">
                <a:latin typeface="+mn-ea"/>
                <a:ea typeface="+mn-ea"/>
              </a:rPr>
              <a:t>, </a:t>
            </a:r>
            <a:r>
              <a:rPr lang="ko-KR" altLang="en-US" sz="1100" b="0" dirty="0">
                <a:latin typeface="+mn-ea"/>
                <a:ea typeface="+mn-ea"/>
              </a:rPr>
              <a:t>수작업 업무의 정보화율</a:t>
            </a:r>
            <a:endParaRPr lang="en-US" altLang="ko-KR" sz="1100" b="0" dirty="0">
              <a:latin typeface="+mn-ea"/>
              <a:ea typeface="+mn-ea"/>
            </a:endParaRPr>
          </a:p>
        </p:txBody>
      </p:sp>
      <p:sp>
        <p:nvSpPr>
          <p:cNvPr id="107" name="직사각형 13"/>
          <p:cNvSpPr>
            <a:spLocks noChangeArrowheads="1"/>
          </p:cNvSpPr>
          <p:nvPr/>
        </p:nvSpPr>
        <p:spPr bwMode="auto">
          <a:xfrm>
            <a:off x="4997038" y="2028634"/>
            <a:ext cx="4348450" cy="464658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100" b="0" dirty="0">
                <a:latin typeface="+mn-ea"/>
                <a:ea typeface="+mn-ea"/>
              </a:rPr>
              <a:t>차세대 경영정보시스템 구축에 따른 기대효과</a:t>
            </a:r>
          </a:p>
        </p:txBody>
      </p:sp>
      <p:sp>
        <p:nvSpPr>
          <p:cNvPr id="108" name="직사각형 11"/>
          <p:cNvSpPr>
            <a:spLocks noChangeArrowheads="1"/>
          </p:cNvSpPr>
          <p:nvPr/>
        </p:nvSpPr>
        <p:spPr bwMode="auto">
          <a:xfrm>
            <a:off x="2056913" y="1988840"/>
            <a:ext cx="2817307" cy="544246"/>
          </a:xfrm>
          <a:prstGeom prst="rect">
            <a:avLst/>
          </a:prstGeom>
          <a:solidFill>
            <a:srgbClr val="B1CFFC"/>
          </a:solidFill>
          <a:ln w="25400" cap="flat" cmpd="sng" algn="ctr">
            <a:noFill/>
            <a:prstDash val="solid"/>
            <a:headEnd/>
            <a:tailEnd/>
          </a:ln>
          <a:effectLst/>
        </p:spPr>
        <p:txBody>
          <a:bodyPr lIns="36000" tIns="36000" rIns="36000" bIns="36000" anchor="ctr"/>
          <a:lstStyle/>
          <a:p>
            <a:pPr marL="85725" marR="0" lvl="0" indent="-85725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ea typeface="+mn-ea"/>
              </a:rPr>
              <a:t>정성적 기대효과 종합</a:t>
            </a:r>
          </a:p>
        </p:txBody>
      </p:sp>
    </p:spTree>
    <p:extLst>
      <p:ext uri="{BB962C8B-B14F-4D97-AF65-F5344CB8AC3E}">
        <p14:creationId xmlns:p14="http://schemas.microsoft.com/office/powerpoint/2010/main" val="92152303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 구축을 통한 정성적 기대효과는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4.2 </a:t>
            </a:r>
            <a:r>
              <a:rPr lang="ko-KR" altLang="en-US" dirty="0"/>
              <a:t>정성적 기대효과 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4.2 </a:t>
            </a:r>
            <a:r>
              <a:rPr lang="ko-KR" altLang="en-US" dirty="0"/>
              <a:t>정성적 기대효과</a:t>
            </a:r>
            <a:endParaRPr lang="en-US" altLang="ko-KR" dirty="0"/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662216"/>
              </p:ext>
            </p:extLst>
          </p:nvPr>
        </p:nvGraphicFramePr>
        <p:xfrm>
          <a:off x="345000" y="1556793"/>
          <a:ext cx="9180000" cy="47519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6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1724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33070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600"/>
                        </a:spcBef>
                      </a:pPr>
                      <a:r>
                        <a:rPr lang="ko-KR" altLang="en-US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이행과제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spcBef>
                          <a:spcPts val="600"/>
                        </a:spcBef>
                      </a:pPr>
                      <a:r>
                        <a:rPr lang="ko-KR" altLang="en-US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/>
                        </a:rPr>
                        <a:t>정성적 기대효과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42122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600"/>
                        </a:spcBef>
                      </a:pP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경영정보통합 시스템      기반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algn="l" fontAlgn="b" latinLnBrk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시스템별 기준정보 중복관리 최소화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기준정보 관리 및 운영에 대한 업무의 간소화 및 개별시스템에 내제된 기준정보 오류의 통합 모니터링 강화를 통한 기준정보 통합관리 기반 마련</a:t>
                      </a:r>
                      <a:endParaRPr lang="en-US" altLang="ko-KR" sz="1000" b="0" i="0" u="none" strike="noStrike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 algn="l" fontAlgn="b" latinLnBrk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통합된 기준정보를 활용한 시스템간 정보공유 확대와 시스템간 정보공유로 신속한 정보를 지원함으로써 유관 시스템간 정보공유 강화</a:t>
                      </a:r>
                      <a:endParaRPr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fontAlgn="b" latinLnBrk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anose="05000000000000000000" pitchFamily="2" charset="2"/>
                        <a:buChar char="§"/>
                      </a:pPr>
                      <a:r>
                        <a:rPr kumimoji="1" lang="ko-KR" altLang="en-US" sz="1000" kern="0" dirty="0">
                          <a:latin typeface="맑은 고딕" pitchFamily="50" charset="-127"/>
                          <a:ea typeface="+mn-ea"/>
                        </a:rPr>
                        <a:t>빈번한 기준정보 변동에 대응 가능한 정보 지원</a:t>
                      </a:r>
                      <a:r>
                        <a:rPr kumimoji="1" lang="en-US" altLang="ko-KR" sz="1000" kern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latin typeface="맑은 고딕" pitchFamily="50" charset="-127"/>
                          <a:ea typeface="+mn-ea"/>
                        </a:rPr>
                        <a:t>가독성 있는 코드체계의 재정의를 통한 업무처리 효율화</a:t>
                      </a:r>
                      <a:r>
                        <a:rPr kumimoji="1" lang="en-US" altLang="ko-KR" sz="1000" kern="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latin typeface="맑은 고딕" pitchFamily="50" charset="-127"/>
                          <a:ea typeface="+mn-ea"/>
                        </a:rPr>
                        <a:t>업무지원에 따른 유지보수 관리비용 절감을 통한 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기준정보의 변화에 대한 유연성을 강화함</a:t>
                      </a:r>
                      <a:endParaRPr kumimoji="0" lang="en-US" altLang="ko-KR" sz="10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fontAlgn="b" latinLnBrk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anose="05000000000000000000" pitchFamily="2" charset="2"/>
                        <a:buChar char="§"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예산편성 산출기초 정형화로 예산편성 오류 방지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균형 있는 예산배분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다양한 산출내역 분석 시뮬레이션 가능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 err="1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산출부기의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 유의미한 정보 관리로 재정사업의 효과적 관리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다양한 통계지원과 다차원 분석 및 업무 자동화로 확장 가능함으로써 예산편성 업무 효율화에 기여함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indent="-171450" algn="l" fontAlgn="b" latinLnBrk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Font typeface="Wingdings" panose="05000000000000000000" pitchFamily="2" charset="2"/>
                        <a:buChar char="§"/>
                      </a:pP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월 단위로 공단의 회계단위별 재무상황을 공식적으로 파악하여 공단 내 재무정보 이해관계자들에게 제공함으로써 다양한 이해관계자들에게 </a:t>
                      </a:r>
                      <a:r>
                        <a:rPr lang="ko-KR" altLang="en-US" sz="1000" dirty="0" err="1">
                          <a:latin typeface="맑은 고딕" pitchFamily="50" charset="-127"/>
                          <a:ea typeface="+mn-ea"/>
                        </a:rPr>
                        <a:t>니즈에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 부합하기 위한 전사차원의 월 결산 도입</a:t>
                      </a:r>
                      <a:endParaRPr lang="en-US" altLang="ko-KR" sz="1000" dirty="0"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수입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지출의 과정별 조회 및 확인이 필요한 사람에 의해 필요한 내용으로 이루어지도록 제반 업무와 기능을 강화함으로써 오류방지와 원활한 업무처리에 기여함</a:t>
                      </a:r>
                      <a:endParaRPr kumimoji="1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내부관리 목적의 사업 현황과 손익을 파악함으로써 투자사업의 회수 현황</a:t>
                      </a:r>
                      <a:r>
                        <a:rPr lang="en-US" altLang="ko-KR" sz="1000" dirty="0"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lang="ko-KR" altLang="en-US" sz="1000" dirty="0">
                          <a:latin typeface="맑은 고딕" pitchFamily="50" charset="-127"/>
                          <a:ea typeface="+mn-ea"/>
                        </a:rPr>
                        <a:t>사업목표 달성도를 모니터링하고 관련 대안을 마련하는 등의 기반을 제공함</a:t>
                      </a:r>
                      <a:endParaRPr lang="en-US" altLang="ko-KR" sz="1000" dirty="0"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계약요청 시 등록된 자산정보를 관재 등록에서 공유하고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자산 기준정보를</a:t>
                      </a:r>
                      <a:r>
                        <a:rPr kumimoji="1" lang="ko-KR" altLang="en-US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활용한 시스템간 자산정보를 공유함으로써 계약</a:t>
                      </a:r>
                      <a:r>
                        <a:rPr kumimoji="1" lang="en-US" altLang="ko-KR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관제간 정보공유를 강화함</a:t>
                      </a:r>
                      <a:endParaRPr kumimoji="1" lang="en-US" altLang="ko-KR" sz="1000" b="0" i="0" u="none" strike="noStrike" kern="0" cap="none" spc="0" normalizeH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첨부파일이 아닌 시스템을 통한 정보 공유로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자산정보에 대한 추가 확인 및 별도의 자산정보 등록이 불필요하고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계약요청에 대한 상태 추적으로 업무 효율성 증가함</a:t>
                      </a:r>
                      <a:endParaRPr kumimoji="1" lang="en-US" altLang="ko-KR" sz="1000" kern="0" noProof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지출과 상관없는 계약과 연계된 자산등록 절차 간소화로 중복된 자산 등록 개선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룰 관리를 통한 제도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</a:t>
                      </a:r>
                      <a:r>
                        <a:rPr kumimoji="1" lang="en-US" altLang="ko-KR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정책의 변동에 따른 유지보수 절차</a:t>
                      </a:r>
                      <a:r>
                        <a:rPr kumimoji="1" lang="en-US" altLang="ko-KR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기간 및 범위의 최소화 및 </a:t>
                      </a:r>
                      <a:r>
                        <a:rPr kumimoji="1" lang="ko-KR" altLang="en-US" sz="1000" kern="0" baseline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 변동사항의 미반영에 따른 시스템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1000" kern="0" dirty="0" err="1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미사용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 최소화에 기여함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 이력관리 체계를 구축함으로써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시점별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정보를 실시간으로 조회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다양한 정보 기반 직원 검색 기능 강화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이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력관리에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의한 권한 체계 강화함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일용직 통합관리를 통한 업무규정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적용 방식의 통합관리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업무담당자와 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IT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담당자의 통일된 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View,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시스템 확장성 및 유연성 확보 및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통합된 다양한 현황 정보의 실시간 조회가 가능함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kern="0" dirty="0">
                          <a:solidFill>
                            <a:sysClr val="windowText" lastClr="000000"/>
                          </a:solidFill>
                          <a:latin typeface="+mn-ea"/>
                        </a:rPr>
                        <a:t>연계로 작성되는 징수요구</a:t>
                      </a:r>
                      <a:r>
                        <a:rPr lang="en-US" altLang="ko-KR" sz="1000" kern="0" dirty="0">
                          <a:solidFill>
                            <a:sysClr val="windowText" lastClr="000000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00" kern="0" dirty="0">
                          <a:solidFill>
                            <a:sysClr val="windowText" lastClr="000000"/>
                          </a:solidFill>
                          <a:latin typeface="+mn-ea"/>
                        </a:rPr>
                        <a:t>지출요구 화면 및 전표 </a:t>
                      </a:r>
                      <a:r>
                        <a:rPr lang="ko-KR" altLang="en-US" sz="1000" kern="0" dirty="0" err="1">
                          <a:solidFill>
                            <a:sysClr val="windowText" lastClr="000000"/>
                          </a:solidFill>
                          <a:latin typeface="+mn-ea"/>
                        </a:rPr>
                        <a:t>자동분개</a:t>
                      </a:r>
                      <a:r>
                        <a:rPr lang="ko-KR" altLang="en-US" sz="1000" kern="0" dirty="0">
                          <a:solidFill>
                            <a:sysClr val="windowText" lastClr="000000"/>
                          </a:solidFill>
                          <a:latin typeface="+mn-ea"/>
                        </a:rPr>
                        <a:t> 화면 통합으로 업무 효율화 개선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364498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152303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 구축을 통한 정성적 기대효과는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4.2 </a:t>
            </a:r>
            <a:r>
              <a:rPr lang="ko-KR" altLang="en-US" dirty="0"/>
              <a:t>정성적 기대효과 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4.2 </a:t>
            </a:r>
            <a:r>
              <a:rPr lang="ko-KR" altLang="en-US" dirty="0"/>
              <a:t>정성적 기대효과</a:t>
            </a:r>
            <a:endParaRPr lang="en-US" altLang="ko-KR" dirty="0"/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9418477"/>
              </p:ext>
            </p:extLst>
          </p:nvPr>
        </p:nvGraphicFramePr>
        <p:xfrm>
          <a:off x="345000" y="1556793"/>
          <a:ext cx="9180000" cy="4788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6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1724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36379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>
                        <a:spcBef>
                          <a:spcPts val="600"/>
                        </a:spcBef>
                      </a:pPr>
                      <a:r>
                        <a:rPr lang="ko-KR" altLang="en-US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이행과제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spcBef>
                          <a:spcPts val="600"/>
                        </a:spcBef>
                      </a:pPr>
                      <a:r>
                        <a:rPr lang="ko-KR" altLang="en-US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/>
                        </a:rPr>
                        <a:t>정성적 기대효과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5695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600"/>
                        </a:spcBef>
                      </a:pP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경영정보통합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통계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연계</a:t>
                      </a: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고도화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기금관리업무 전과정의 정보화로 </a:t>
                      </a:r>
                      <a:r>
                        <a:rPr lang="ko-KR" altLang="en-US" sz="1000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기금업무 대부분 </a:t>
                      </a:r>
                      <a:r>
                        <a:rPr lang="en-US" altLang="ko-KR" sz="1000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Off-line </a:t>
                      </a:r>
                      <a:r>
                        <a:rPr lang="ko-KR" altLang="en-US" sz="100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문서 유통을 통한 중복업무처리 제거와 </a:t>
                      </a:r>
                      <a:r>
                        <a:rPr lang="en-US" altLang="ko-KR" sz="100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Paperless </a:t>
                      </a:r>
                      <a:r>
                        <a:rPr lang="ko-KR" altLang="en-US" sz="1000" kern="120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효과 극대화 및 </a:t>
                      </a:r>
                      <a:r>
                        <a:rPr lang="ko-KR" altLang="en-US" sz="1000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엑셀작업 등으로 </a:t>
                      </a:r>
                      <a:r>
                        <a:rPr lang="ko-KR" altLang="en-US" sz="1000" kern="1200" noProof="0" dirty="0" err="1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업무팀</a:t>
                      </a:r>
                      <a:r>
                        <a:rPr lang="ko-KR" altLang="en-US" sz="1000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간 정보 단절에서 정보화를 통한 정보공유체계 확립함 </a:t>
                      </a:r>
                      <a:endParaRPr lang="en-US" altLang="ko-KR" sz="1000" kern="1200" noProof="0" dirty="0">
                        <a:solidFill>
                          <a:schemeClr val="dk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lang="ko-KR" altLang="en-US" sz="1000" kern="1200" noProof="0" dirty="0">
                          <a:solidFill>
                            <a:schemeClr val="dk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기금지원의 다양한 소통채널로 유관기관과의 신속한 업무처리로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각종 신청서와 업무협의 등 수작업 처리 업무에서 홈페이지 등을 통한 정보화로 신속하고 정확하게 처리 할 수 있고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현장평가의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Mobile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적용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결과통보의 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SMS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와 </a:t>
                      </a:r>
                      <a:r>
                        <a:rPr kumimoji="1" lang="en-US" altLang="ko-KR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eMail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등 소통을 통한 체육인들의 서비스만족도 향상 시킴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포털을 통한 차세대 경영정보시스템의 업무처리를 위한 단일창구</a:t>
                      </a:r>
                      <a:r>
                        <a:rPr kumimoji="1" lang="en-US" altLang="ko-KR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동적메뉴 구성체계와 개인화 서비스를 통한 업무처리 효율성 강화에 기여함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포털 기반 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UI/UX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표준 적용을 통한 화면 구성 체계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업무처리시 필요한 도움말 서비스 체계를 제공함으로써 사용자의 </a:t>
                      </a:r>
                      <a:r>
                        <a:rPr kumimoji="1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사용성을</a:t>
                      </a:r>
                      <a:r>
                        <a:rPr kumimoji="1" lang="ko-KR" alt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</a:rPr>
                        <a:t> 강화함</a:t>
                      </a:r>
                      <a:endParaRPr kumimoji="1" lang="en-US" altLang="ko-KR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사용자의 메뉴그룹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메뉴접근 권한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화면접근 권한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기능 수행 권한에 대한 사용자 통합관리체계 마련함으로써 사용자 통합관리체계를 마련함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맑은 고딕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통합재무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계약관리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인적자원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기금지원 등 경영 통계 정보를 종합적으로 관리하여 업무담당자의 통계 정보 </a:t>
                      </a:r>
                      <a:r>
                        <a:rPr kumimoji="1" lang="ko-KR" altLang="en-US" sz="1000" kern="0" dirty="0" err="1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접근성을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 제고함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</a:rPr>
                        <a:t>부서별 업무담당자가 의사결정 관련 업무 수행 시 필요로 하는 통계분석 및 현황정보를 제공하여 업무 효과성 향상에 기여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표준화된 연계솔루션 기반으로 구축 시 향후 연계기관이나 시스템의 추가 및 변경 시 설정 변경만으로 처리 가능과 다양한 환경에도 안정성 확보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표준 연계시스템 운영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.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맑은 고딕" pitchFamily="50" charset="-127"/>
                          <a:ea typeface="+mn-ea"/>
                        </a:rPr>
                        <a:t>관리 환경 제공함</a:t>
                      </a:r>
                      <a:endParaRPr kumimoji="1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36449857"/>
                  </a:ext>
                </a:extLst>
              </a:tr>
              <a:tr h="79171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600"/>
                        </a:spcBef>
                      </a:pP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모바일 서비스 채널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이용자 입장에서 장소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(Anywhere), 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시간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(Anytime)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에 구애받지 않고 언제 어디서나 모바일을 통한 업무 수행이 가능하게 되어 업무 편의성 증대됨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현장에서 필요로 하는 정보를 모바일지원시스템을 통해 현장에서 바로 조회가 가능함으로 많은 필요서류를 지참하지 않고 현장 방문이 가능해지며</a:t>
                      </a:r>
                      <a:r>
                        <a:rPr kumimoji="1" lang="en-US" altLang="ko-KR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 현장 조사 내용을 사무실 복귀 후 재 작업할 필요가 없어짐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83849809"/>
                  </a:ext>
                </a:extLst>
              </a:tr>
              <a:tr h="87553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600"/>
                        </a:spcBef>
                      </a:pPr>
                      <a:r>
                        <a:rPr lang="en-US" altLang="ko-KR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’18</a:t>
                      </a:r>
                      <a:r>
                        <a:rPr lang="ko-KR" altLang="en-US" sz="11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년도 현행 구축 사업 추진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데이터 표준화에 의한 엄격한 관리</a:t>
                      </a:r>
                      <a:r>
                        <a:rPr kumimoji="1" lang="ko-KR" altLang="en-US" sz="1000" kern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로 일관된 시스템 구현</a:t>
                      </a:r>
                      <a:endParaRPr kumimoji="1" lang="en-US" altLang="ko-KR" sz="1000" kern="0" dirty="0">
                        <a:solidFill>
                          <a:prstClr val="black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데이터관리체계 지원 시스템에 의한 품질진단 자동화 등 수작업 배제로 업무 효율화 및 사람에 의한 오류 최소화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데이터베이스 설계부터 구현까지 품질관리체계 적용으로 산출물의 현행화 및 데이터 객체의 오류 발생 원천 차단</a:t>
                      </a:r>
                      <a:endParaRPr kumimoji="1" lang="en-US" altLang="ko-KR" sz="1000" kern="0" noProof="0" dirty="0">
                        <a:solidFill>
                          <a:prstClr val="black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  <a:defRPr/>
                      </a:pP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데이터 모델 검토 절차에 의한 무결성</a:t>
                      </a:r>
                      <a:r>
                        <a:rPr kumimoji="1" lang="en-US" altLang="ko-KR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kern="0" noProof="0" dirty="0">
                          <a:solidFill>
                            <a:prstClr val="black"/>
                          </a:solidFill>
                          <a:latin typeface="+mn-ea"/>
                          <a:ea typeface="+mn-ea"/>
                          <a:cs typeface="+mn-cs"/>
                        </a:rPr>
                        <a:t>정합성 오류 등 오류 최소화 및 데이터의 신뢰성 제고</a:t>
                      </a: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49782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835876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단위업무 </a:t>
            </a:r>
            <a:r>
              <a:rPr lang="en-US" altLang="ko-KR" dirty="0"/>
              <a:t>1,077</a:t>
            </a:r>
            <a:r>
              <a:rPr lang="ko-KR" altLang="en-US" dirty="0"/>
              <a:t>개 중 </a:t>
            </a:r>
            <a:r>
              <a:rPr lang="en-US" altLang="ko-KR" dirty="0"/>
              <a:t>To-Be </a:t>
            </a:r>
            <a:r>
              <a:rPr lang="ko-KR" altLang="en-US" dirty="0"/>
              <a:t>정보화</a:t>
            </a:r>
            <a:r>
              <a:rPr lang="en-US" altLang="ko-KR" dirty="0"/>
              <a:t>(817</a:t>
            </a:r>
            <a:r>
              <a:rPr lang="ko-KR" altLang="en-US" dirty="0"/>
              <a:t>개 단위업무</a:t>
            </a:r>
            <a:r>
              <a:rPr lang="en-US" altLang="ko-KR" dirty="0"/>
              <a:t>) 75.9% </a:t>
            </a:r>
            <a:r>
              <a:rPr lang="ko-KR" altLang="en-US" dirty="0"/>
              <a:t>달성과 경영정보통합시스템화의 </a:t>
            </a:r>
            <a:r>
              <a:rPr lang="en-US" altLang="ko-KR" dirty="0"/>
              <a:t>85.8% </a:t>
            </a:r>
            <a:r>
              <a:rPr lang="ko-KR" altLang="en-US" dirty="0"/>
              <a:t>기대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4.3 </a:t>
            </a:r>
            <a:r>
              <a:rPr lang="ko-KR" altLang="en-US" dirty="0"/>
              <a:t>정량적 기대효과 </a:t>
            </a:r>
            <a:r>
              <a:rPr lang="en-US" altLang="ko-KR" dirty="0"/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4.3 </a:t>
            </a:r>
            <a:r>
              <a:rPr lang="ko-KR" altLang="en-US" dirty="0"/>
              <a:t>정량적 기대효과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644DFB49-F804-4FF5-92CC-1BA973B27BD9}"/>
              </a:ext>
            </a:extLst>
          </p:cNvPr>
          <p:cNvSpPr/>
          <p:nvPr/>
        </p:nvSpPr>
        <p:spPr>
          <a:xfrm>
            <a:off x="254637" y="1438643"/>
            <a:ext cx="1730964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 단위업무 현황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xmlns="" id="{DA28E013-911A-4057-B1AF-1E4A0E45F3A5}"/>
              </a:ext>
            </a:extLst>
          </p:cNvPr>
          <p:cNvCxnSpPr/>
          <p:nvPr/>
        </p:nvCxnSpPr>
        <p:spPr>
          <a:xfrm>
            <a:off x="507831" y="1777275"/>
            <a:ext cx="43479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xmlns="" id="{7B8205F1-5B8A-47A9-8C08-ABFAEE3C335F}"/>
              </a:ext>
            </a:extLst>
          </p:cNvPr>
          <p:cNvCxnSpPr/>
          <p:nvPr/>
        </p:nvCxnSpPr>
        <p:spPr>
          <a:xfrm>
            <a:off x="507831" y="5662670"/>
            <a:ext cx="43479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xmlns="" id="{69B35494-2B94-4568-AB15-151E717428D4}"/>
              </a:ext>
            </a:extLst>
          </p:cNvPr>
          <p:cNvCxnSpPr>
            <a:cxnSpLocks/>
          </p:cNvCxnSpPr>
          <p:nvPr/>
        </p:nvCxnSpPr>
        <p:spPr>
          <a:xfrm rot="16200000">
            <a:off x="-1162068" y="3738926"/>
            <a:ext cx="388800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8EAF6E6E-DDB4-4759-80CA-3BF836E7F7D7}"/>
              </a:ext>
            </a:extLst>
          </p:cNvPr>
          <p:cNvSpPr/>
          <p:nvPr/>
        </p:nvSpPr>
        <p:spPr>
          <a:xfrm>
            <a:off x="299079" y="3354660"/>
            <a:ext cx="531944" cy="2248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총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단위업무 개수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1,077</a:t>
            </a:r>
            <a:endParaRPr kumimoji="1" lang="ko-KR" altLang="en-US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xmlns="" id="{ADD07A73-D5D3-48FB-B7E5-E607EE7CB7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064311"/>
              </p:ext>
            </p:extLst>
          </p:nvPr>
        </p:nvGraphicFramePr>
        <p:xfrm>
          <a:off x="2065427" y="1824290"/>
          <a:ext cx="2129663" cy="709946"/>
        </p:xfrm>
        <a:graphic>
          <a:graphicData uri="http://schemas.openxmlformats.org/drawingml/2006/table">
            <a:tbl>
              <a:tblPr/>
              <a:tblGrid>
                <a:gridCol w="1353865">
                  <a:extLst>
                    <a:ext uri="{9D8B030D-6E8A-4147-A177-3AD203B41FA5}">
                      <a16:colId xmlns:a16="http://schemas.microsoft.com/office/drawing/2014/main" xmlns="" val="1441575644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1964362843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3226787983"/>
                    </a:ext>
                  </a:extLst>
                </a:gridCol>
              </a:tblGrid>
              <a:tr h="16595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299</a:t>
                      </a:r>
                    </a:p>
                  </a:txBody>
                  <a:tcPr marL="72000" marR="72000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95058883"/>
                  </a:ext>
                </a:extLst>
              </a:tr>
              <a:tr h="16595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06605838"/>
                  </a:ext>
                </a:extLst>
              </a:tr>
              <a:tr h="16595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186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9645359"/>
                  </a:ext>
                </a:extLst>
              </a:tr>
              <a:tr h="186147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오프라인 단위업무</a:t>
                      </a:r>
                    </a:p>
                  </a:txBody>
                  <a:tcPr marL="64535" marR="64535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</a:t>
                      </a:r>
                    </a:p>
                  </a:txBody>
                  <a:tcPr marL="72720" marR="72720" marT="35644" marB="3564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993854046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xmlns="" id="{CF41E485-A835-4705-A206-2697502618D3}"/>
              </a:ext>
            </a:extLst>
          </p:cNvPr>
          <p:cNvSpPr/>
          <p:nvPr/>
        </p:nvSpPr>
        <p:spPr>
          <a:xfrm>
            <a:off x="2680416" y="1438643"/>
            <a:ext cx="1730964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</a:t>
            </a:r>
            <a:r>
              <a:rPr kumimoji="1" lang="en-US" altLang="ko-KR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 </a:t>
            </a: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단위업무 현황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xmlns="" id="{34A7ECE8-9BC0-400A-A259-800EC4F3B6A8}"/>
              </a:ext>
            </a:extLst>
          </p:cNvPr>
          <p:cNvCxnSpPr>
            <a:cxnSpLocks/>
          </p:cNvCxnSpPr>
          <p:nvPr/>
        </p:nvCxnSpPr>
        <p:spPr>
          <a:xfrm>
            <a:off x="1657086" y="1794926"/>
            <a:ext cx="408341" cy="3006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xmlns="" id="{00C959FC-8644-4BB4-8CD1-A99EB781F83E}"/>
              </a:ext>
            </a:extLst>
          </p:cNvPr>
          <p:cNvCxnSpPr>
            <a:cxnSpLocks/>
          </p:cNvCxnSpPr>
          <p:nvPr/>
        </p:nvCxnSpPr>
        <p:spPr>
          <a:xfrm flipV="1">
            <a:off x="1634970" y="2506560"/>
            <a:ext cx="430457" cy="49631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xmlns="" id="{A80CE5AC-C4C8-4D45-9725-18E99E5A6B6B}"/>
              </a:ext>
            </a:extLst>
          </p:cNvPr>
          <p:cNvCxnSpPr>
            <a:cxnSpLocks/>
          </p:cNvCxnSpPr>
          <p:nvPr/>
        </p:nvCxnSpPr>
        <p:spPr>
          <a:xfrm flipV="1">
            <a:off x="4195610" y="1727858"/>
            <a:ext cx="371772" cy="9643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xmlns="" id="{1A9D8E2F-18FD-4E93-9FC2-5441495631A0}"/>
              </a:ext>
            </a:extLst>
          </p:cNvPr>
          <p:cNvCxnSpPr>
            <a:cxnSpLocks/>
          </p:cNvCxnSpPr>
          <p:nvPr/>
        </p:nvCxnSpPr>
        <p:spPr>
          <a:xfrm>
            <a:off x="4190740" y="2330662"/>
            <a:ext cx="373900" cy="421211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xmlns="" id="{5BA0578F-46E6-4407-9722-7363041FF8B2}"/>
              </a:ext>
            </a:extLst>
          </p:cNvPr>
          <p:cNvCxnSpPr>
            <a:cxnSpLocks/>
          </p:cNvCxnSpPr>
          <p:nvPr/>
        </p:nvCxnSpPr>
        <p:spPr>
          <a:xfrm flipV="1">
            <a:off x="4564639" y="1727858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xmlns="" id="{B9C176CE-F0FB-49B1-A9E7-C96DED4E79D0}"/>
              </a:ext>
            </a:extLst>
          </p:cNvPr>
          <p:cNvCxnSpPr/>
          <p:nvPr/>
        </p:nvCxnSpPr>
        <p:spPr>
          <a:xfrm>
            <a:off x="4564640" y="2760942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xmlns="" id="{CD577B6C-7E93-4EC8-AF07-A182CD90FF27}"/>
              </a:ext>
            </a:extLst>
          </p:cNvPr>
          <p:cNvCxnSpPr>
            <a:cxnSpLocks/>
          </p:cNvCxnSpPr>
          <p:nvPr/>
        </p:nvCxnSpPr>
        <p:spPr>
          <a:xfrm rot="16200000">
            <a:off x="4132742" y="2254482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xmlns="" id="{CAF573BF-31CA-4EA8-A1B6-999E6AE0AB16}"/>
              </a:ext>
            </a:extLst>
          </p:cNvPr>
          <p:cNvSpPr/>
          <p:nvPr/>
        </p:nvSpPr>
        <p:spPr>
          <a:xfrm>
            <a:off x="4507437" y="2812703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xmlns="" id="{FCA4A6B4-A0D0-4387-B4EA-E10A68FC53BF}"/>
              </a:ext>
            </a:extLst>
          </p:cNvPr>
          <p:cNvSpPr/>
          <p:nvPr/>
        </p:nvSpPr>
        <p:spPr>
          <a:xfrm>
            <a:off x="4143069" y="2148281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76.3%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xmlns="" id="{C9D965E4-EA6F-480C-B077-52A35B9EC537}"/>
              </a:ext>
            </a:extLst>
          </p:cNvPr>
          <p:cNvCxnSpPr>
            <a:cxnSpLocks/>
          </p:cNvCxnSpPr>
          <p:nvPr/>
        </p:nvCxnSpPr>
        <p:spPr>
          <a:xfrm>
            <a:off x="4711398" y="2121505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xmlns="" id="{12BC47D6-2E5A-40F4-BF14-8C0DB1FEA7AB}"/>
              </a:ext>
            </a:extLst>
          </p:cNvPr>
          <p:cNvSpPr/>
          <p:nvPr/>
        </p:nvSpPr>
        <p:spPr bwMode="auto">
          <a:xfrm>
            <a:off x="4711918" y="2122721"/>
            <a:ext cx="353293" cy="63934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47.4%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xmlns="" id="{F111D061-07F6-4D3D-855F-6E975AB409BC}"/>
              </a:ext>
            </a:extLst>
          </p:cNvPr>
          <p:cNvSpPr/>
          <p:nvPr/>
        </p:nvSpPr>
        <p:spPr bwMode="auto">
          <a:xfrm>
            <a:off x="4711918" y="1727858"/>
            <a:ext cx="353293" cy="393647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28.8%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xmlns="" id="{DFDDAC2C-6F40-421C-9250-AAD52D60CD79}"/>
              </a:ext>
            </a:extLst>
          </p:cNvPr>
          <p:cNvCxnSpPr>
            <a:cxnSpLocks/>
          </p:cNvCxnSpPr>
          <p:nvPr/>
        </p:nvCxnSpPr>
        <p:spPr>
          <a:xfrm rot="16200000">
            <a:off x="4805998" y="2443634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xmlns="" id="{944295A8-6440-4C25-B61D-35C88014D148}"/>
              </a:ext>
            </a:extLst>
          </p:cNvPr>
          <p:cNvCxnSpPr>
            <a:cxnSpLocks/>
          </p:cNvCxnSpPr>
          <p:nvPr/>
        </p:nvCxnSpPr>
        <p:spPr>
          <a:xfrm rot="16200000">
            <a:off x="4922587" y="1927235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직사각형 25">
            <a:extLst>
              <a:ext uri="{FF2B5EF4-FFF2-40B4-BE49-F238E27FC236}">
                <a16:creationId xmlns:a16="http://schemas.microsoft.com/office/drawing/2014/main" xmlns="" id="{55B8AB7E-020E-42D9-926B-EA0D912F0F72}"/>
              </a:ext>
            </a:extLst>
          </p:cNvPr>
          <p:cNvSpPr/>
          <p:nvPr/>
        </p:nvSpPr>
        <p:spPr>
          <a:xfrm>
            <a:off x="5040958" y="1850538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xmlns="" id="{D3C8605B-00C3-4A5F-892F-3319F6F61535}"/>
              </a:ext>
            </a:extLst>
          </p:cNvPr>
          <p:cNvSpPr/>
          <p:nvPr/>
        </p:nvSpPr>
        <p:spPr>
          <a:xfrm>
            <a:off x="5024398" y="2346335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xmlns="" id="{2D1BD34B-6766-4591-BF5C-40779A7C37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0088236"/>
              </p:ext>
            </p:extLst>
          </p:nvPr>
        </p:nvGraphicFramePr>
        <p:xfrm>
          <a:off x="6117859" y="1824290"/>
          <a:ext cx="2129666" cy="701298"/>
        </p:xfrm>
        <a:graphic>
          <a:graphicData uri="http://schemas.openxmlformats.org/drawingml/2006/table">
            <a:tbl>
              <a:tblPr/>
              <a:tblGrid>
                <a:gridCol w="1380385">
                  <a:extLst>
                    <a:ext uri="{9D8B030D-6E8A-4147-A177-3AD203B41FA5}">
                      <a16:colId xmlns:a16="http://schemas.microsoft.com/office/drawing/2014/main" xmlns="" val="1639081027"/>
                    </a:ext>
                  </a:extLst>
                </a:gridCol>
                <a:gridCol w="322712">
                  <a:extLst>
                    <a:ext uri="{9D8B030D-6E8A-4147-A177-3AD203B41FA5}">
                      <a16:colId xmlns:a16="http://schemas.microsoft.com/office/drawing/2014/main" xmlns="" val="2663255770"/>
                    </a:ext>
                  </a:extLst>
                </a:gridCol>
                <a:gridCol w="426569">
                  <a:extLst>
                    <a:ext uri="{9D8B030D-6E8A-4147-A177-3AD203B41FA5}">
                      <a16:colId xmlns:a16="http://schemas.microsoft.com/office/drawing/2014/main" xmlns="" val="2767271824"/>
                    </a:ext>
                  </a:extLst>
                </a:gridCol>
              </a:tblGrid>
              <a:tr h="1710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254</a:t>
                      </a:r>
                    </a:p>
                  </a:txBody>
                  <a:tcPr marL="92354" marR="92354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78435367"/>
                  </a:ext>
                </a:extLst>
              </a:tr>
              <a:tr h="1710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90459876"/>
                  </a:ext>
                </a:extLst>
              </a:tr>
              <a:tr h="17104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42360343"/>
                  </a:ext>
                </a:extLst>
              </a:tr>
              <a:tr h="182733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타 시스템</a:t>
                      </a:r>
                    </a:p>
                  </a:txBody>
                  <a:tcPr marL="32268" marR="32268" marT="25163" marB="2516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</a:t>
                      </a:r>
                    </a:p>
                  </a:txBody>
                  <a:tcPr marL="32268" marR="108000" marT="31320" marB="3132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2268" marR="32268" marT="31633" marB="3163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081969918"/>
                  </a:ext>
                </a:extLst>
              </a:tr>
            </a:tbl>
          </a:graphicData>
        </a:graphic>
      </p:graphicFrame>
      <p:sp>
        <p:nvSpPr>
          <p:cNvPr id="29" name="직사각형 28">
            <a:extLst>
              <a:ext uri="{FF2B5EF4-FFF2-40B4-BE49-F238E27FC236}">
                <a16:creationId xmlns:a16="http://schemas.microsoft.com/office/drawing/2014/main" xmlns="" id="{C11B2E04-51AF-4830-A00C-7ECEEFDC9F38}"/>
              </a:ext>
            </a:extLst>
          </p:cNvPr>
          <p:cNvSpPr/>
          <p:nvPr/>
        </p:nvSpPr>
        <p:spPr>
          <a:xfrm>
            <a:off x="6635465" y="1438643"/>
            <a:ext cx="2094466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100" b="1" u="sng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경영정보통합시스템화 현황</a:t>
            </a:r>
            <a:endParaRPr kumimoji="1" lang="ko-KR" altLang="en-US" sz="1100" b="1" u="sng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xmlns="" id="{39F9D83B-6346-4885-AC94-CF07D7E415D6}"/>
              </a:ext>
            </a:extLst>
          </p:cNvPr>
          <p:cNvCxnSpPr>
            <a:cxnSpLocks/>
          </p:cNvCxnSpPr>
          <p:nvPr/>
        </p:nvCxnSpPr>
        <p:spPr>
          <a:xfrm flipV="1">
            <a:off x="8247525" y="1691476"/>
            <a:ext cx="352305" cy="13993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xmlns="" id="{1FAF9536-4AE7-411F-956F-5EB16B4FFA64}"/>
              </a:ext>
            </a:extLst>
          </p:cNvPr>
          <p:cNvCxnSpPr>
            <a:cxnSpLocks/>
          </p:cNvCxnSpPr>
          <p:nvPr/>
        </p:nvCxnSpPr>
        <p:spPr>
          <a:xfrm>
            <a:off x="8236083" y="2343237"/>
            <a:ext cx="361005" cy="372254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xmlns="" id="{4D40F75B-08F4-4614-9680-5AE61210C324}"/>
              </a:ext>
            </a:extLst>
          </p:cNvPr>
          <p:cNvCxnSpPr>
            <a:cxnSpLocks/>
          </p:cNvCxnSpPr>
          <p:nvPr/>
        </p:nvCxnSpPr>
        <p:spPr>
          <a:xfrm flipV="1">
            <a:off x="8597087" y="1691476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xmlns="" id="{FEAFC53A-5F08-484C-B059-7691471FBD52}"/>
              </a:ext>
            </a:extLst>
          </p:cNvPr>
          <p:cNvCxnSpPr/>
          <p:nvPr/>
        </p:nvCxnSpPr>
        <p:spPr>
          <a:xfrm>
            <a:off x="8597088" y="2724560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xmlns="" id="{228FBFAC-C96F-45A8-A471-A23ABDE4715F}"/>
              </a:ext>
            </a:extLst>
          </p:cNvPr>
          <p:cNvCxnSpPr>
            <a:cxnSpLocks/>
          </p:cNvCxnSpPr>
          <p:nvPr/>
        </p:nvCxnSpPr>
        <p:spPr>
          <a:xfrm rot="16200000">
            <a:off x="8165190" y="2218100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xmlns="" id="{CC6191D4-9532-47E8-A9D9-6F61B80D02E5}"/>
              </a:ext>
            </a:extLst>
          </p:cNvPr>
          <p:cNvSpPr/>
          <p:nvPr/>
        </p:nvSpPr>
        <p:spPr>
          <a:xfrm>
            <a:off x="8539885" y="2776321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xmlns="" id="{3B655CFE-EE38-42EC-9144-B42C89B885A4}"/>
              </a:ext>
            </a:extLst>
          </p:cNvPr>
          <p:cNvSpPr/>
          <p:nvPr/>
        </p:nvSpPr>
        <p:spPr>
          <a:xfrm>
            <a:off x="8175517" y="2111899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84.9%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xmlns="" id="{24226A53-2480-409B-B759-07E43B0D3CEE}"/>
              </a:ext>
            </a:extLst>
          </p:cNvPr>
          <p:cNvCxnSpPr>
            <a:cxnSpLocks/>
          </p:cNvCxnSpPr>
          <p:nvPr/>
        </p:nvCxnSpPr>
        <p:spPr>
          <a:xfrm>
            <a:off x="8743846" y="2085123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xmlns="" id="{00AE1897-4820-47EF-A1EB-602F1A568963}"/>
              </a:ext>
            </a:extLst>
          </p:cNvPr>
          <p:cNvSpPr/>
          <p:nvPr/>
        </p:nvSpPr>
        <p:spPr bwMode="auto">
          <a:xfrm>
            <a:off x="8744366" y="2086339"/>
            <a:ext cx="353293" cy="63934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47.2%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xmlns="" id="{C02A7821-8B14-4231-BBE0-E3AD5508FABC}"/>
              </a:ext>
            </a:extLst>
          </p:cNvPr>
          <p:cNvSpPr/>
          <p:nvPr/>
        </p:nvSpPr>
        <p:spPr bwMode="auto">
          <a:xfrm>
            <a:off x="8744366" y="1691476"/>
            <a:ext cx="353293" cy="393647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37.8%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xmlns="" id="{34B38BE5-B885-4F23-A69B-C2F503FDDFC4}"/>
              </a:ext>
            </a:extLst>
          </p:cNvPr>
          <p:cNvCxnSpPr>
            <a:cxnSpLocks/>
          </p:cNvCxnSpPr>
          <p:nvPr/>
        </p:nvCxnSpPr>
        <p:spPr>
          <a:xfrm rot="16200000">
            <a:off x="8838446" y="2407252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xmlns="" id="{D607A51F-F711-4598-92DD-D88BD9E09C0D}"/>
              </a:ext>
            </a:extLst>
          </p:cNvPr>
          <p:cNvCxnSpPr>
            <a:cxnSpLocks/>
          </p:cNvCxnSpPr>
          <p:nvPr/>
        </p:nvCxnSpPr>
        <p:spPr>
          <a:xfrm rot="16200000">
            <a:off x="8955035" y="1890853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xmlns="" id="{57F79174-2199-4CF2-B885-B6957350B3E3}"/>
              </a:ext>
            </a:extLst>
          </p:cNvPr>
          <p:cNvSpPr/>
          <p:nvPr/>
        </p:nvSpPr>
        <p:spPr>
          <a:xfrm>
            <a:off x="9073406" y="1814156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xmlns="" id="{01166C62-0EDF-4D53-88BF-69486112C4D3}"/>
              </a:ext>
            </a:extLst>
          </p:cNvPr>
          <p:cNvSpPr/>
          <p:nvPr/>
        </p:nvSpPr>
        <p:spPr>
          <a:xfrm>
            <a:off x="9056846" y="2309953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45" name="화살표: 오른쪽 44">
            <a:extLst>
              <a:ext uri="{FF2B5EF4-FFF2-40B4-BE49-F238E27FC236}">
                <a16:creationId xmlns:a16="http://schemas.microsoft.com/office/drawing/2014/main" xmlns="" id="{2DB3FC37-2633-4FEF-B62A-A52AB8E2E320}"/>
              </a:ext>
            </a:extLst>
          </p:cNvPr>
          <p:cNvSpPr/>
          <p:nvPr/>
        </p:nvSpPr>
        <p:spPr bwMode="auto">
          <a:xfrm>
            <a:off x="5589488" y="1878730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xmlns="" id="{B6528D43-8866-4E8F-87D1-7CF811A7D741}"/>
              </a:ext>
            </a:extLst>
          </p:cNvPr>
          <p:cNvSpPr/>
          <p:nvPr/>
        </p:nvSpPr>
        <p:spPr bwMode="auto">
          <a:xfrm>
            <a:off x="2055930" y="2550289"/>
            <a:ext cx="2139160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As-Is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(186) 47.4% → 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(299) 76.3%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28.8%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 기대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xmlns="" id="{9B0748AE-4511-4215-A475-C719137D7BC3}"/>
              </a:ext>
            </a:extLst>
          </p:cNvPr>
          <p:cNvSpPr/>
          <p:nvPr/>
        </p:nvSpPr>
        <p:spPr bwMode="auto">
          <a:xfrm>
            <a:off x="6133473" y="2552872"/>
            <a:ext cx="2139160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경영정보통합시스템화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(254)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84.9%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37.8%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기대</a:t>
            </a: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xmlns="" id="{565B49EA-3CBA-4B82-B17C-8C0215C59F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1379964"/>
              </p:ext>
            </p:extLst>
          </p:nvPr>
        </p:nvGraphicFramePr>
        <p:xfrm>
          <a:off x="2065427" y="3127666"/>
          <a:ext cx="2129663" cy="645152"/>
        </p:xfrm>
        <a:graphic>
          <a:graphicData uri="http://schemas.openxmlformats.org/drawingml/2006/table">
            <a:tbl>
              <a:tblPr/>
              <a:tblGrid>
                <a:gridCol w="1353865">
                  <a:extLst>
                    <a:ext uri="{9D8B030D-6E8A-4147-A177-3AD203B41FA5}">
                      <a16:colId xmlns:a16="http://schemas.microsoft.com/office/drawing/2014/main" xmlns="" val="1441575644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1964362843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3226787983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</a:t>
                      </a:r>
                    </a:p>
                  </a:txBody>
                  <a:tcPr marL="72000" marR="72000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95058883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06605838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270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9645359"/>
                  </a:ext>
                </a:extLst>
              </a:tr>
              <a:tr h="1762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오프라인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129</a:t>
                      </a:r>
                    </a:p>
                  </a:txBody>
                  <a:tcPr marL="72720" marR="72720" marT="35644" marB="3564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993854046"/>
                  </a:ext>
                </a:extLst>
              </a:tr>
            </a:tbl>
          </a:graphicData>
        </a:graphic>
      </p:graphicFrame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xmlns="" id="{9960F7FD-882A-416C-A6F7-3C825AFCBF60}"/>
              </a:ext>
            </a:extLst>
          </p:cNvPr>
          <p:cNvCxnSpPr>
            <a:cxnSpLocks/>
          </p:cNvCxnSpPr>
          <p:nvPr/>
        </p:nvCxnSpPr>
        <p:spPr>
          <a:xfrm>
            <a:off x="1634970" y="3081964"/>
            <a:ext cx="416531" cy="9447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xmlns="" id="{A0B0B913-73CB-49BD-89E0-1E3F2012B5A6}"/>
              </a:ext>
            </a:extLst>
          </p:cNvPr>
          <p:cNvCxnSpPr>
            <a:cxnSpLocks/>
          </p:cNvCxnSpPr>
          <p:nvPr/>
        </p:nvCxnSpPr>
        <p:spPr>
          <a:xfrm flipV="1">
            <a:off x="1658603" y="3817465"/>
            <a:ext cx="392898" cy="47652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xmlns="" id="{C65932F4-2206-438F-A8B6-93C2769691E3}"/>
              </a:ext>
            </a:extLst>
          </p:cNvPr>
          <p:cNvCxnSpPr>
            <a:cxnSpLocks/>
          </p:cNvCxnSpPr>
          <p:nvPr/>
        </p:nvCxnSpPr>
        <p:spPr>
          <a:xfrm flipV="1">
            <a:off x="4195610" y="3083585"/>
            <a:ext cx="371772" cy="55418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xmlns="" id="{24294A47-48F5-4275-93CA-9478C999A94A}"/>
              </a:ext>
            </a:extLst>
          </p:cNvPr>
          <p:cNvCxnSpPr>
            <a:cxnSpLocks/>
          </p:cNvCxnSpPr>
          <p:nvPr/>
        </p:nvCxnSpPr>
        <p:spPr>
          <a:xfrm>
            <a:off x="4187641" y="3573827"/>
            <a:ext cx="376999" cy="53377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xmlns="" id="{A73C0D19-858F-4805-A8EC-FCA1739C5B28}"/>
              </a:ext>
            </a:extLst>
          </p:cNvPr>
          <p:cNvCxnSpPr>
            <a:cxnSpLocks/>
          </p:cNvCxnSpPr>
          <p:nvPr/>
        </p:nvCxnSpPr>
        <p:spPr>
          <a:xfrm flipV="1">
            <a:off x="4564639" y="3083585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xmlns="" id="{AE09A54A-11E0-4C87-9EA0-BB19FD1098BD}"/>
              </a:ext>
            </a:extLst>
          </p:cNvPr>
          <p:cNvCxnSpPr/>
          <p:nvPr/>
        </p:nvCxnSpPr>
        <p:spPr>
          <a:xfrm>
            <a:off x="4564640" y="4116669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xmlns="" id="{8B7A8241-5256-4279-9D49-F2032BAC8777}"/>
              </a:ext>
            </a:extLst>
          </p:cNvPr>
          <p:cNvCxnSpPr>
            <a:cxnSpLocks/>
          </p:cNvCxnSpPr>
          <p:nvPr/>
        </p:nvCxnSpPr>
        <p:spPr>
          <a:xfrm rot="16200000">
            <a:off x="4132742" y="3610209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xmlns="" id="{06315030-B839-40C6-BCB9-84F373E035A1}"/>
              </a:ext>
            </a:extLst>
          </p:cNvPr>
          <p:cNvSpPr/>
          <p:nvPr/>
        </p:nvSpPr>
        <p:spPr>
          <a:xfrm>
            <a:off x="4507437" y="4131854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xmlns="" id="{D66EADDB-F187-4E4A-A1EC-A3A9961611A3}"/>
              </a:ext>
            </a:extLst>
          </p:cNvPr>
          <p:cNvSpPr/>
          <p:nvPr/>
        </p:nvSpPr>
        <p:spPr>
          <a:xfrm>
            <a:off x="4143069" y="3504008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74.6%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xmlns="" id="{E9CF1F9B-F421-490E-8126-833D770D464B}"/>
              </a:ext>
            </a:extLst>
          </p:cNvPr>
          <p:cNvCxnSpPr>
            <a:cxnSpLocks/>
          </p:cNvCxnSpPr>
          <p:nvPr/>
        </p:nvCxnSpPr>
        <p:spPr>
          <a:xfrm>
            <a:off x="4711398" y="3477232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xmlns="" id="{EF7B60EA-B0D5-4704-A55E-673000338991}"/>
              </a:ext>
            </a:extLst>
          </p:cNvPr>
          <p:cNvSpPr/>
          <p:nvPr/>
        </p:nvSpPr>
        <p:spPr bwMode="auto">
          <a:xfrm>
            <a:off x="4711918" y="3478448"/>
            <a:ext cx="353293" cy="63934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53.1%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xmlns="" id="{2EE4C0D6-482D-4F45-B4F6-CF4C1915693A}"/>
              </a:ext>
            </a:extLst>
          </p:cNvPr>
          <p:cNvSpPr/>
          <p:nvPr/>
        </p:nvSpPr>
        <p:spPr bwMode="auto">
          <a:xfrm>
            <a:off x="4711918" y="3083585"/>
            <a:ext cx="353293" cy="393647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21.5%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xmlns="" id="{94E79A14-5CDF-4C89-BB93-7BAC95B51D7D}"/>
              </a:ext>
            </a:extLst>
          </p:cNvPr>
          <p:cNvCxnSpPr>
            <a:cxnSpLocks/>
          </p:cNvCxnSpPr>
          <p:nvPr/>
        </p:nvCxnSpPr>
        <p:spPr>
          <a:xfrm rot="16200000">
            <a:off x="4805998" y="3799361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xmlns="" id="{90D6A0AD-CFCE-48ED-95BF-B3D04709A242}"/>
              </a:ext>
            </a:extLst>
          </p:cNvPr>
          <p:cNvCxnSpPr>
            <a:cxnSpLocks/>
          </p:cNvCxnSpPr>
          <p:nvPr/>
        </p:nvCxnSpPr>
        <p:spPr>
          <a:xfrm rot="16200000">
            <a:off x="4922587" y="3282962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xmlns="" id="{6BB7ED8F-BD4E-45BE-A45E-4AAA5A8CEA21}"/>
              </a:ext>
            </a:extLst>
          </p:cNvPr>
          <p:cNvSpPr/>
          <p:nvPr/>
        </p:nvSpPr>
        <p:spPr>
          <a:xfrm>
            <a:off x="5040958" y="3206265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xmlns="" id="{EB788ACE-3A52-4FDE-95AC-4821635E1241}"/>
              </a:ext>
            </a:extLst>
          </p:cNvPr>
          <p:cNvSpPr/>
          <p:nvPr/>
        </p:nvSpPr>
        <p:spPr>
          <a:xfrm>
            <a:off x="5024398" y="3702062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xmlns="" id="{A6250A84-F52A-4FD9-B49F-6439906FD4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7802147"/>
              </p:ext>
            </p:extLst>
          </p:nvPr>
        </p:nvGraphicFramePr>
        <p:xfrm>
          <a:off x="6117859" y="3116396"/>
          <a:ext cx="2129666" cy="636504"/>
        </p:xfrm>
        <a:graphic>
          <a:graphicData uri="http://schemas.openxmlformats.org/drawingml/2006/table">
            <a:tbl>
              <a:tblPr/>
              <a:tblGrid>
                <a:gridCol w="1380385">
                  <a:extLst>
                    <a:ext uri="{9D8B030D-6E8A-4147-A177-3AD203B41FA5}">
                      <a16:colId xmlns:a16="http://schemas.microsoft.com/office/drawing/2014/main" xmlns="" val="1639081027"/>
                    </a:ext>
                  </a:extLst>
                </a:gridCol>
                <a:gridCol w="322712">
                  <a:extLst>
                    <a:ext uri="{9D8B030D-6E8A-4147-A177-3AD203B41FA5}">
                      <a16:colId xmlns:a16="http://schemas.microsoft.com/office/drawing/2014/main" xmlns="" val="2663255770"/>
                    </a:ext>
                  </a:extLst>
                </a:gridCol>
                <a:gridCol w="426569">
                  <a:extLst>
                    <a:ext uri="{9D8B030D-6E8A-4147-A177-3AD203B41FA5}">
                      <a16:colId xmlns:a16="http://schemas.microsoft.com/office/drawing/2014/main" xmlns="" val="2767271824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352</a:t>
                      </a:r>
                    </a:p>
                  </a:txBody>
                  <a:tcPr marL="92354" marR="92354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78435367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90459876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243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42360343"/>
                  </a:ext>
                </a:extLst>
              </a:tr>
              <a:tr h="1676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타 시스템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32268" marR="108000" marT="31320" marB="3132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2268" marR="32268" marT="31633" marB="3163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081969918"/>
                  </a:ext>
                </a:extLst>
              </a:tr>
            </a:tbl>
          </a:graphicData>
        </a:graphic>
      </p:graphicFrame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xmlns="" id="{E3F2F0B6-8C0D-40C2-9BFA-3A91D464100A}"/>
              </a:ext>
            </a:extLst>
          </p:cNvPr>
          <p:cNvCxnSpPr>
            <a:cxnSpLocks/>
          </p:cNvCxnSpPr>
          <p:nvPr/>
        </p:nvCxnSpPr>
        <p:spPr>
          <a:xfrm flipV="1">
            <a:off x="8243352" y="3095971"/>
            <a:ext cx="356478" cy="6919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xmlns="" id="{F337909A-C989-43BE-82FE-BC5EE2A806D8}"/>
              </a:ext>
            </a:extLst>
          </p:cNvPr>
          <p:cNvCxnSpPr>
            <a:cxnSpLocks/>
          </p:cNvCxnSpPr>
          <p:nvPr/>
        </p:nvCxnSpPr>
        <p:spPr>
          <a:xfrm>
            <a:off x="8243352" y="3589919"/>
            <a:ext cx="353736" cy="481299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xmlns="" id="{7B07E453-68F5-4FA0-9FF7-B243AB7B2EF0}"/>
              </a:ext>
            </a:extLst>
          </p:cNvPr>
          <p:cNvCxnSpPr>
            <a:cxnSpLocks/>
          </p:cNvCxnSpPr>
          <p:nvPr/>
        </p:nvCxnSpPr>
        <p:spPr>
          <a:xfrm flipV="1">
            <a:off x="8597087" y="3095971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xmlns="" id="{1828C65A-6ED0-49F5-B82C-7DE9F9806673}"/>
              </a:ext>
            </a:extLst>
          </p:cNvPr>
          <p:cNvCxnSpPr/>
          <p:nvPr/>
        </p:nvCxnSpPr>
        <p:spPr>
          <a:xfrm>
            <a:off x="8597088" y="4080287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xmlns="" id="{B2DE7362-5860-40E8-B7D0-965EC54DB458}"/>
              </a:ext>
            </a:extLst>
          </p:cNvPr>
          <p:cNvCxnSpPr>
            <a:cxnSpLocks/>
          </p:cNvCxnSpPr>
          <p:nvPr/>
        </p:nvCxnSpPr>
        <p:spPr>
          <a:xfrm rot="16200000">
            <a:off x="8165190" y="3573827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xmlns="" id="{F4B87928-4C70-4893-A904-6B481B077807}"/>
              </a:ext>
            </a:extLst>
          </p:cNvPr>
          <p:cNvSpPr/>
          <p:nvPr/>
        </p:nvSpPr>
        <p:spPr>
          <a:xfrm>
            <a:off x="8539885" y="4132048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xmlns="" id="{81D46F6E-BA81-422B-8860-2AE2D21C3B9B}"/>
              </a:ext>
            </a:extLst>
          </p:cNvPr>
          <p:cNvSpPr/>
          <p:nvPr/>
        </p:nvSpPr>
        <p:spPr>
          <a:xfrm>
            <a:off x="8175517" y="3467626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92.9%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xmlns="" id="{4E9DACB0-6F00-49DD-AEDE-19A907529276}"/>
              </a:ext>
            </a:extLst>
          </p:cNvPr>
          <p:cNvCxnSpPr>
            <a:cxnSpLocks/>
          </p:cNvCxnSpPr>
          <p:nvPr/>
        </p:nvCxnSpPr>
        <p:spPr>
          <a:xfrm>
            <a:off x="8743846" y="3490380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xmlns="" id="{6339A02F-974F-4281-A85C-65A9C5973288}"/>
              </a:ext>
            </a:extLst>
          </p:cNvPr>
          <p:cNvSpPr/>
          <p:nvPr/>
        </p:nvSpPr>
        <p:spPr bwMode="auto">
          <a:xfrm>
            <a:off x="8744366" y="3442066"/>
            <a:ext cx="353293" cy="63934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64.1%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xmlns="" id="{1213976F-A957-4CD2-A0CD-F1A750C988F0}"/>
              </a:ext>
            </a:extLst>
          </p:cNvPr>
          <p:cNvSpPr/>
          <p:nvPr/>
        </p:nvSpPr>
        <p:spPr bwMode="auto">
          <a:xfrm>
            <a:off x="8744366" y="3095971"/>
            <a:ext cx="353293" cy="393647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28.8%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xmlns="" id="{331AB685-6F6B-45E0-9C26-F159849D7017}"/>
              </a:ext>
            </a:extLst>
          </p:cNvPr>
          <p:cNvCxnSpPr>
            <a:cxnSpLocks/>
          </p:cNvCxnSpPr>
          <p:nvPr/>
        </p:nvCxnSpPr>
        <p:spPr>
          <a:xfrm rot="16200000">
            <a:off x="8865034" y="3789567"/>
            <a:ext cx="57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xmlns="" id="{D38BD4F2-FCB0-442A-9568-2F30A375F975}"/>
              </a:ext>
            </a:extLst>
          </p:cNvPr>
          <p:cNvCxnSpPr>
            <a:cxnSpLocks/>
          </p:cNvCxnSpPr>
          <p:nvPr/>
        </p:nvCxnSpPr>
        <p:spPr>
          <a:xfrm rot="16200000">
            <a:off x="8955035" y="3295348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xmlns="" id="{3D2DC891-6BB2-4606-9F3D-7E3AD115B949}"/>
              </a:ext>
            </a:extLst>
          </p:cNvPr>
          <p:cNvSpPr/>
          <p:nvPr/>
        </p:nvSpPr>
        <p:spPr>
          <a:xfrm>
            <a:off x="9073406" y="3169883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xmlns="" id="{FFA380DA-BA83-46ED-B639-10C69B631EA7}"/>
              </a:ext>
            </a:extLst>
          </p:cNvPr>
          <p:cNvSpPr/>
          <p:nvPr/>
        </p:nvSpPr>
        <p:spPr>
          <a:xfrm>
            <a:off x="9056846" y="3665680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80" name="화살표: 오른쪽 79">
            <a:extLst>
              <a:ext uri="{FF2B5EF4-FFF2-40B4-BE49-F238E27FC236}">
                <a16:creationId xmlns:a16="http://schemas.microsoft.com/office/drawing/2014/main" xmlns="" id="{E3E0EF5F-6A6E-4C3E-BEEC-4FDF23052E9A}"/>
              </a:ext>
            </a:extLst>
          </p:cNvPr>
          <p:cNvSpPr/>
          <p:nvPr/>
        </p:nvSpPr>
        <p:spPr bwMode="auto">
          <a:xfrm>
            <a:off x="5589488" y="3234457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xmlns="" id="{D7B5018E-CF38-4A7E-8455-FCFB9067006C}"/>
              </a:ext>
            </a:extLst>
          </p:cNvPr>
          <p:cNvSpPr/>
          <p:nvPr/>
        </p:nvSpPr>
        <p:spPr bwMode="auto">
          <a:xfrm>
            <a:off x="2055930" y="3796438"/>
            <a:ext cx="2139159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As-Is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(270) 53.1% → 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(379) 74.6%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21.5%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 기대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xmlns="" id="{C53F5906-6B59-4703-A514-C6C3DC62DF0B}"/>
              </a:ext>
            </a:extLst>
          </p:cNvPr>
          <p:cNvSpPr/>
          <p:nvPr/>
        </p:nvSpPr>
        <p:spPr bwMode="auto">
          <a:xfrm>
            <a:off x="6125854" y="3777802"/>
            <a:ext cx="2139160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경영정보통합시스템화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(352)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92.9%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28.8%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기대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xmlns="" id="{5477F01F-CB21-455E-AE97-87DE8DB6CE53}"/>
              </a:ext>
            </a:extLst>
          </p:cNvPr>
          <p:cNvCxnSpPr>
            <a:cxnSpLocks/>
          </p:cNvCxnSpPr>
          <p:nvPr/>
        </p:nvCxnSpPr>
        <p:spPr>
          <a:xfrm flipV="1">
            <a:off x="2054837" y="3043244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모서리가 둥근 직사각형 23">
            <a:extLst>
              <a:ext uri="{FF2B5EF4-FFF2-40B4-BE49-F238E27FC236}">
                <a16:creationId xmlns:a16="http://schemas.microsoft.com/office/drawing/2014/main" xmlns="" id="{9D9C1024-BD84-493E-9CCA-48CBFD353806}"/>
              </a:ext>
            </a:extLst>
          </p:cNvPr>
          <p:cNvSpPr/>
          <p:nvPr/>
        </p:nvSpPr>
        <p:spPr bwMode="auto">
          <a:xfrm>
            <a:off x="899119" y="1769580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통합재무정보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(392)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5" name="모서리가 둥근 직사각형 23">
            <a:extLst>
              <a:ext uri="{FF2B5EF4-FFF2-40B4-BE49-F238E27FC236}">
                <a16:creationId xmlns:a16="http://schemas.microsoft.com/office/drawing/2014/main" xmlns="" id="{783B137D-C1F7-48D9-83CD-EDAC08EBABBA}"/>
              </a:ext>
            </a:extLst>
          </p:cNvPr>
          <p:cNvSpPr/>
          <p:nvPr/>
        </p:nvSpPr>
        <p:spPr bwMode="auto">
          <a:xfrm>
            <a:off x="892782" y="3081964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인적자원관리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(508)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6" name="모서리가 둥근 직사각형 23">
            <a:extLst>
              <a:ext uri="{FF2B5EF4-FFF2-40B4-BE49-F238E27FC236}">
                <a16:creationId xmlns:a16="http://schemas.microsoft.com/office/drawing/2014/main" xmlns="" id="{A90012AD-B3F5-4DC1-9735-9FA30169593F}"/>
              </a:ext>
            </a:extLst>
          </p:cNvPr>
          <p:cNvSpPr/>
          <p:nvPr/>
        </p:nvSpPr>
        <p:spPr bwMode="auto">
          <a:xfrm>
            <a:off x="898195" y="4394348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기금지원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(177)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xmlns="" id="{3804E6FC-8835-42F8-AF11-A825DA0F340F}"/>
              </a:ext>
            </a:extLst>
          </p:cNvPr>
          <p:cNvCxnSpPr>
            <a:cxnSpLocks/>
          </p:cNvCxnSpPr>
          <p:nvPr/>
        </p:nvCxnSpPr>
        <p:spPr>
          <a:xfrm flipV="1">
            <a:off x="2054837" y="4328730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xmlns="" id="{4C639599-5307-439D-91CD-3415F7B1C7AB}"/>
              </a:ext>
            </a:extLst>
          </p:cNvPr>
          <p:cNvCxnSpPr>
            <a:cxnSpLocks/>
          </p:cNvCxnSpPr>
          <p:nvPr/>
        </p:nvCxnSpPr>
        <p:spPr>
          <a:xfrm>
            <a:off x="1657086" y="4410432"/>
            <a:ext cx="384914" cy="80737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xmlns="" id="{EBE8E6A9-146D-4BEA-8B0C-7F51CB482602}"/>
              </a:ext>
            </a:extLst>
          </p:cNvPr>
          <p:cNvCxnSpPr>
            <a:cxnSpLocks/>
          </p:cNvCxnSpPr>
          <p:nvPr/>
        </p:nvCxnSpPr>
        <p:spPr>
          <a:xfrm flipV="1">
            <a:off x="1658603" y="5143470"/>
            <a:ext cx="392898" cy="47652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xmlns="" id="{CA637570-B969-40C7-BF6D-3C663DE3ECDE}"/>
              </a:ext>
            </a:extLst>
          </p:cNvPr>
          <p:cNvCxnSpPr>
            <a:cxnSpLocks/>
          </p:cNvCxnSpPr>
          <p:nvPr/>
        </p:nvCxnSpPr>
        <p:spPr>
          <a:xfrm flipV="1">
            <a:off x="4195610" y="4409590"/>
            <a:ext cx="371772" cy="55418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xmlns="" id="{ADFD1927-BE6F-4103-A29B-67869D11F2FE}"/>
              </a:ext>
            </a:extLst>
          </p:cNvPr>
          <p:cNvCxnSpPr>
            <a:cxnSpLocks/>
          </p:cNvCxnSpPr>
          <p:nvPr/>
        </p:nvCxnSpPr>
        <p:spPr>
          <a:xfrm>
            <a:off x="4187641" y="4899832"/>
            <a:ext cx="376999" cy="53377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xmlns="" id="{86BC8CB7-A150-4770-8A48-B15A1BDDE5D8}"/>
              </a:ext>
            </a:extLst>
          </p:cNvPr>
          <p:cNvCxnSpPr>
            <a:cxnSpLocks/>
          </p:cNvCxnSpPr>
          <p:nvPr/>
        </p:nvCxnSpPr>
        <p:spPr>
          <a:xfrm flipV="1">
            <a:off x="4564639" y="4409590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xmlns="" id="{724E7C5B-ED2B-4DE5-8AD2-E526A8BDA9B3}"/>
              </a:ext>
            </a:extLst>
          </p:cNvPr>
          <p:cNvCxnSpPr/>
          <p:nvPr/>
        </p:nvCxnSpPr>
        <p:spPr>
          <a:xfrm>
            <a:off x="4564640" y="5442674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xmlns="" id="{B28DACB7-157E-4E0A-BF02-07A3D832B098}"/>
              </a:ext>
            </a:extLst>
          </p:cNvPr>
          <p:cNvCxnSpPr>
            <a:cxnSpLocks/>
          </p:cNvCxnSpPr>
          <p:nvPr/>
        </p:nvCxnSpPr>
        <p:spPr>
          <a:xfrm rot="16200000">
            <a:off x="4132742" y="4936214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xmlns="" id="{1F5BC08D-2FF7-4678-9090-3D9EC6394647}"/>
              </a:ext>
            </a:extLst>
          </p:cNvPr>
          <p:cNvSpPr/>
          <p:nvPr/>
        </p:nvSpPr>
        <p:spPr>
          <a:xfrm>
            <a:off x="4507437" y="5463955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xmlns="" id="{C87F1B12-034E-4AE8-B420-86C85DEDD727}"/>
              </a:ext>
            </a:extLst>
          </p:cNvPr>
          <p:cNvSpPr/>
          <p:nvPr/>
        </p:nvSpPr>
        <p:spPr>
          <a:xfrm>
            <a:off x="4143069" y="4830013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78.5%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xmlns="" id="{7D16E3B7-100E-4ADE-9611-664B6DFE5FD7}"/>
              </a:ext>
            </a:extLst>
          </p:cNvPr>
          <p:cNvCxnSpPr>
            <a:cxnSpLocks/>
          </p:cNvCxnSpPr>
          <p:nvPr/>
        </p:nvCxnSpPr>
        <p:spPr>
          <a:xfrm>
            <a:off x="4711398" y="4803237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직사각형 97">
            <a:extLst>
              <a:ext uri="{FF2B5EF4-FFF2-40B4-BE49-F238E27FC236}">
                <a16:creationId xmlns:a16="http://schemas.microsoft.com/office/drawing/2014/main" xmlns="" id="{368DE9C5-71CA-4187-88BC-76D61D2F1E6E}"/>
              </a:ext>
            </a:extLst>
          </p:cNvPr>
          <p:cNvSpPr/>
          <p:nvPr/>
        </p:nvSpPr>
        <p:spPr bwMode="auto">
          <a:xfrm>
            <a:off x="4711918" y="4804453"/>
            <a:ext cx="353293" cy="63934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20.9%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xmlns="" id="{B7CE20E7-B7BC-4BED-B0B2-34897F758904}"/>
              </a:ext>
            </a:extLst>
          </p:cNvPr>
          <p:cNvSpPr/>
          <p:nvPr/>
        </p:nvSpPr>
        <p:spPr bwMode="auto">
          <a:xfrm>
            <a:off x="4711918" y="4409590"/>
            <a:ext cx="353293" cy="393647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57.6%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xmlns="" id="{C1453960-1A89-4DAE-8DB1-4C2F03A4A5EC}"/>
              </a:ext>
            </a:extLst>
          </p:cNvPr>
          <p:cNvCxnSpPr>
            <a:cxnSpLocks/>
          </p:cNvCxnSpPr>
          <p:nvPr/>
        </p:nvCxnSpPr>
        <p:spPr>
          <a:xfrm rot="16200000">
            <a:off x="4805998" y="5125366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xmlns="" id="{A9025435-3F64-4ACB-BA5C-A1BEF31953C6}"/>
              </a:ext>
            </a:extLst>
          </p:cNvPr>
          <p:cNvCxnSpPr>
            <a:cxnSpLocks/>
          </p:cNvCxnSpPr>
          <p:nvPr/>
        </p:nvCxnSpPr>
        <p:spPr>
          <a:xfrm rot="16200000">
            <a:off x="4922587" y="4608967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xmlns="" id="{8AC84DC5-6054-42D6-A663-0F82C573CF18}"/>
              </a:ext>
            </a:extLst>
          </p:cNvPr>
          <p:cNvSpPr/>
          <p:nvPr/>
        </p:nvSpPr>
        <p:spPr>
          <a:xfrm>
            <a:off x="5040958" y="4532270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xmlns="" id="{CF45C2B9-6090-4359-BD5C-703EEC47EEB2}"/>
              </a:ext>
            </a:extLst>
          </p:cNvPr>
          <p:cNvSpPr/>
          <p:nvPr/>
        </p:nvSpPr>
        <p:spPr>
          <a:xfrm>
            <a:off x="5024398" y="5028067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xmlns="" id="{9DEA5332-58E9-47A8-A524-DC33B53C2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4675054"/>
              </p:ext>
            </p:extLst>
          </p:nvPr>
        </p:nvGraphicFramePr>
        <p:xfrm>
          <a:off x="6117859" y="4442401"/>
          <a:ext cx="2129666" cy="636504"/>
        </p:xfrm>
        <a:graphic>
          <a:graphicData uri="http://schemas.openxmlformats.org/drawingml/2006/table">
            <a:tbl>
              <a:tblPr/>
              <a:tblGrid>
                <a:gridCol w="1380385">
                  <a:extLst>
                    <a:ext uri="{9D8B030D-6E8A-4147-A177-3AD203B41FA5}">
                      <a16:colId xmlns:a16="http://schemas.microsoft.com/office/drawing/2014/main" xmlns="" val="1639081027"/>
                    </a:ext>
                  </a:extLst>
                </a:gridCol>
                <a:gridCol w="322712">
                  <a:extLst>
                    <a:ext uri="{9D8B030D-6E8A-4147-A177-3AD203B41FA5}">
                      <a16:colId xmlns:a16="http://schemas.microsoft.com/office/drawing/2014/main" xmlns="" val="2663255770"/>
                    </a:ext>
                  </a:extLst>
                </a:gridCol>
                <a:gridCol w="426569">
                  <a:extLst>
                    <a:ext uri="{9D8B030D-6E8A-4147-A177-3AD203B41FA5}">
                      <a16:colId xmlns:a16="http://schemas.microsoft.com/office/drawing/2014/main" xmlns="" val="2767271824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</a:t>
                      </a:r>
                    </a:p>
                  </a:txBody>
                  <a:tcPr marL="92354" marR="92354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78435367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90459876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42360343"/>
                  </a:ext>
                </a:extLst>
              </a:tr>
              <a:tr h="1676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타 시스템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</a:t>
                      </a:r>
                    </a:p>
                  </a:txBody>
                  <a:tcPr marL="32268" marR="108000" marT="31320" marB="3132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2268" marR="32268" marT="31633" marB="3163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081969918"/>
                  </a:ext>
                </a:extLst>
              </a:tr>
            </a:tbl>
          </a:graphicData>
        </a:graphic>
      </p:graphicFrame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xmlns="" id="{92798226-FE45-4484-AC60-196C88E94E2E}"/>
              </a:ext>
            </a:extLst>
          </p:cNvPr>
          <p:cNvCxnSpPr>
            <a:cxnSpLocks/>
          </p:cNvCxnSpPr>
          <p:nvPr/>
        </p:nvCxnSpPr>
        <p:spPr>
          <a:xfrm flipV="1">
            <a:off x="8243352" y="4373208"/>
            <a:ext cx="356478" cy="69193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xmlns="" id="{B391A402-FD1E-4486-9248-721E19F067B5}"/>
              </a:ext>
            </a:extLst>
          </p:cNvPr>
          <p:cNvCxnSpPr>
            <a:cxnSpLocks/>
          </p:cNvCxnSpPr>
          <p:nvPr/>
        </p:nvCxnSpPr>
        <p:spPr>
          <a:xfrm>
            <a:off x="8243352" y="4915924"/>
            <a:ext cx="353736" cy="481299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xmlns="" id="{F9E5B160-6A35-4809-84E5-B89617263922}"/>
              </a:ext>
            </a:extLst>
          </p:cNvPr>
          <p:cNvCxnSpPr>
            <a:cxnSpLocks/>
          </p:cNvCxnSpPr>
          <p:nvPr/>
        </p:nvCxnSpPr>
        <p:spPr>
          <a:xfrm flipV="1">
            <a:off x="8597087" y="4373208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xmlns="" id="{6A3988C3-0B7C-4551-BA04-47F84C5C014E}"/>
              </a:ext>
            </a:extLst>
          </p:cNvPr>
          <p:cNvCxnSpPr/>
          <p:nvPr/>
        </p:nvCxnSpPr>
        <p:spPr>
          <a:xfrm>
            <a:off x="8597088" y="5406292"/>
            <a:ext cx="68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xmlns="" id="{467082B1-2A22-4425-9732-217616D226D6}"/>
              </a:ext>
            </a:extLst>
          </p:cNvPr>
          <p:cNvCxnSpPr>
            <a:cxnSpLocks/>
          </p:cNvCxnSpPr>
          <p:nvPr/>
        </p:nvCxnSpPr>
        <p:spPr>
          <a:xfrm rot="16200000">
            <a:off x="8165190" y="4899832"/>
            <a:ext cx="101329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xmlns="" id="{3DFE5688-F2AA-4CA8-A086-C21105286428}"/>
              </a:ext>
            </a:extLst>
          </p:cNvPr>
          <p:cNvSpPr/>
          <p:nvPr/>
        </p:nvSpPr>
        <p:spPr>
          <a:xfrm>
            <a:off x="8539885" y="5458053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xmlns="" id="{C6A9F196-7FFB-4AE4-8F7D-16BBA4E00BC2}"/>
              </a:ext>
            </a:extLst>
          </p:cNvPr>
          <p:cNvSpPr/>
          <p:nvPr/>
        </p:nvSpPr>
        <p:spPr>
          <a:xfrm>
            <a:off x="8175517" y="4793631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68.3%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xmlns="" id="{3CD6E4AB-30B6-4AB5-A896-70D76656A779}"/>
              </a:ext>
            </a:extLst>
          </p:cNvPr>
          <p:cNvCxnSpPr>
            <a:cxnSpLocks/>
          </p:cNvCxnSpPr>
          <p:nvPr/>
        </p:nvCxnSpPr>
        <p:spPr>
          <a:xfrm>
            <a:off x="8743846" y="5244632"/>
            <a:ext cx="537242" cy="106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직사각형 112">
            <a:extLst>
              <a:ext uri="{FF2B5EF4-FFF2-40B4-BE49-F238E27FC236}">
                <a16:creationId xmlns:a16="http://schemas.microsoft.com/office/drawing/2014/main" xmlns="" id="{795EDEDD-9794-441C-9969-BE2D2C2BD235}"/>
              </a:ext>
            </a:extLst>
          </p:cNvPr>
          <p:cNvSpPr/>
          <p:nvPr/>
        </p:nvSpPr>
        <p:spPr bwMode="auto">
          <a:xfrm>
            <a:off x="8744366" y="5252712"/>
            <a:ext cx="353293" cy="154700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4.3%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xmlns="" id="{0DBABB49-8F91-4EC6-A6DA-2B2F2B881901}"/>
              </a:ext>
            </a:extLst>
          </p:cNvPr>
          <p:cNvSpPr/>
          <p:nvPr/>
        </p:nvSpPr>
        <p:spPr bwMode="auto">
          <a:xfrm>
            <a:off x="8744366" y="4373208"/>
            <a:ext cx="353293" cy="878279"/>
          </a:xfrm>
          <a:prstGeom prst="rect">
            <a:avLst/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64.0%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xmlns="" id="{C05C5DAB-456F-499A-9B15-7141B439AB92}"/>
              </a:ext>
            </a:extLst>
          </p:cNvPr>
          <p:cNvCxnSpPr>
            <a:cxnSpLocks/>
          </p:cNvCxnSpPr>
          <p:nvPr/>
        </p:nvCxnSpPr>
        <p:spPr>
          <a:xfrm rot="16200000">
            <a:off x="9081034" y="5331572"/>
            <a:ext cx="14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xmlns="" id="{07418F55-F974-4E58-927E-202A3B1B967C}"/>
              </a:ext>
            </a:extLst>
          </p:cNvPr>
          <p:cNvCxnSpPr>
            <a:cxnSpLocks/>
          </p:cNvCxnSpPr>
          <p:nvPr/>
        </p:nvCxnSpPr>
        <p:spPr>
          <a:xfrm rot="16200000">
            <a:off x="8721035" y="4801202"/>
            <a:ext cx="864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직사각형 116">
            <a:extLst>
              <a:ext uri="{FF2B5EF4-FFF2-40B4-BE49-F238E27FC236}">
                <a16:creationId xmlns:a16="http://schemas.microsoft.com/office/drawing/2014/main" xmlns="" id="{CC22E607-50E3-4591-9716-B0383F2A06BF}"/>
              </a:ext>
            </a:extLst>
          </p:cNvPr>
          <p:cNvSpPr/>
          <p:nvPr/>
        </p:nvSpPr>
        <p:spPr>
          <a:xfrm>
            <a:off x="9073406" y="4717716"/>
            <a:ext cx="483585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xmlns="" id="{18A7E2E8-8F9A-4E3C-9187-3FACCE958023}"/>
              </a:ext>
            </a:extLst>
          </p:cNvPr>
          <p:cNvSpPr/>
          <p:nvPr/>
        </p:nvSpPr>
        <p:spPr>
          <a:xfrm>
            <a:off x="9083733" y="5238495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119" name="화살표: 오른쪽 118">
            <a:extLst>
              <a:ext uri="{FF2B5EF4-FFF2-40B4-BE49-F238E27FC236}">
                <a16:creationId xmlns:a16="http://schemas.microsoft.com/office/drawing/2014/main" xmlns="" id="{5BF46096-2F5A-4D02-93BE-8306944CB368}"/>
              </a:ext>
            </a:extLst>
          </p:cNvPr>
          <p:cNvSpPr/>
          <p:nvPr/>
        </p:nvSpPr>
        <p:spPr bwMode="auto">
          <a:xfrm>
            <a:off x="5589488" y="4560462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xmlns="" id="{DED50C52-150D-4201-A71E-DA4B7641D537}"/>
              </a:ext>
            </a:extLst>
          </p:cNvPr>
          <p:cNvSpPr/>
          <p:nvPr/>
        </p:nvSpPr>
        <p:spPr bwMode="auto">
          <a:xfrm>
            <a:off x="2055930" y="5122443"/>
            <a:ext cx="2139159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As-Is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(37) 20.9% → 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(139) 78.5%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57.6%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 기대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xmlns="" id="{1EF77C36-FDDA-4530-B191-C05D67596D83}"/>
              </a:ext>
            </a:extLst>
          </p:cNvPr>
          <p:cNvSpPr/>
          <p:nvPr/>
        </p:nvSpPr>
        <p:spPr bwMode="auto">
          <a:xfrm>
            <a:off x="6125854" y="5103807"/>
            <a:ext cx="2139160" cy="424842"/>
          </a:xfrm>
          <a:prstGeom prst="rect">
            <a:avLst/>
          </a:prstGeom>
          <a:solidFill>
            <a:schemeClr val="accent1">
              <a:lumMod val="50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경영정보통합시스템화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(95)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68.3%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달성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To-Be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정보화 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67.6%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증가</a:t>
            </a:r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기대</a:t>
            </a:r>
          </a:p>
        </p:txBody>
      </p: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xmlns="" id="{DC0AAB4A-B747-4E9A-9734-FBEC2026C11B}"/>
              </a:ext>
            </a:extLst>
          </p:cNvPr>
          <p:cNvCxnSpPr>
            <a:cxnSpLocks/>
          </p:cNvCxnSpPr>
          <p:nvPr/>
        </p:nvCxnSpPr>
        <p:spPr>
          <a:xfrm flipV="1">
            <a:off x="2054837" y="5618159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3" name="표 122">
            <a:extLst>
              <a:ext uri="{FF2B5EF4-FFF2-40B4-BE49-F238E27FC236}">
                <a16:creationId xmlns:a16="http://schemas.microsoft.com/office/drawing/2014/main" xmlns="" id="{47F3E398-8EB6-4C14-9E24-724AC3DF97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3306101"/>
              </p:ext>
            </p:extLst>
          </p:nvPr>
        </p:nvGraphicFramePr>
        <p:xfrm>
          <a:off x="2065427" y="4437547"/>
          <a:ext cx="2129663" cy="645152"/>
        </p:xfrm>
        <a:graphic>
          <a:graphicData uri="http://schemas.openxmlformats.org/drawingml/2006/table">
            <a:tbl>
              <a:tblPr/>
              <a:tblGrid>
                <a:gridCol w="1353865">
                  <a:extLst>
                    <a:ext uri="{9D8B030D-6E8A-4147-A177-3AD203B41FA5}">
                      <a16:colId xmlns:a16="http://schemas.microsoft.com/office/drawing/2014/main" xmlns="" val="1441575644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1964362843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3226787983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139</a:t>
                      </a:r>
                    </a:p>
                  </a:txBody>
                  <a:tcPr marL="72000" marR="72000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95058883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06605838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9645359"/>
                  </a:ext>
                </a:extLst>
              </a:tr>
              <a:tr h="1762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오프라인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</a:t>
                      </a:r>
                    </a:p>
                  </a:txBody>
                  <a:tcPr marL="72720" marR="72720" marT="35644" marB="3564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993854046"/>
                  </a:ext>
                </a:extLst>
              </a:tr>
            </a:tbl>
          </a:graphicData>
        </a:graphic>
      </p:graphicFrame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xmlns="" id="{27004702-5B29-4AAB-BB61-D4A395D78B9B}"/>
              </a:ext>
            </a:extLst>
          </p:cNvPr>
          <p:cNvCxnSpPr>
            <a:cxnSpLocks/>
          </p:cNvCxnSpPr>
          <p:nvPr/>
        </p:nvCxnSpPr>
        <p:spPr>
          <a:xfrm>
            <a:off x="4303885" y="5821099"/>
            <a:ext cx="111462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직사각형 124">
            <a:extLst>
              <a:ext uri="{FF2B5EF4-FFF2-40B4-BE49-F238E27FC236}">
                <a16:creationId xmlns:a16="http://schemas.microsoft.com/office/drawing/2014/main" xmlns="" id="{D889088F-467C-4804-B095-4274F59916D1}"/>
              </a:ext>
            </a:extLst>
          </p:cNvPr>
          <p:cNvSpPr/>
          <p:nvPr/>
        </p:nvSpPr>
        <p:spPr>
          <a:xfrm>
            <a:off x="4539152" y="5656260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75.9%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xmlns="" id="{70032CA4-146E-418D-A31E-8EA595B403D0}"/>
              </a:ext>
            </a:extLst>
          </p:cNvPr>
          <p:cNvCxnSpPr>
            <a:cxnSpLocks/>
          </p:cNvCxnSpPr>
          <p:nvPr/>
        </p:nvCxnSpPr>
        <p:spPr>
          <a:xfrm rot="5400000">
            <a:off x="4064038" y="5983475"/>
            <a:ext cx="488402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xmlns="" id="{74FAA6B5-1EE5-42FE-AE35-4F080E5DCF8C}"/>
              </a:ext>
            </a:extLst>
          </p:cNvPr>
          <p:cNvCxnSpPr>
            <a:cxnSpLocks/>
          </p:cNvCxnSpPr>
          <p:nvPr/>
        </p:nvCxnSpPr>
        <p:spPr>
          <a:xfrm>
            <a:off x="4324800" y="6181139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xmlns="" id="{3DFA20D8-2056-4129-8790-32F4117BB45D}"/>
              </a:ext>
            </a:extLst>
          </p:cNvPr>
          <p:cNvCxnSpPr>
            <a:cxnSpLocks/>
          </p:cNvCxnSpPr>
          <p:nvPr/>
        </p:nvCxnSpPr>
        <p:spPr>
          <a:xfrm>
            <a:off x="4994964" y="6186339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직사각형 128">
            <a:extLst>
              <a:ext uri="{FF2B5EF4-FFF2-40B4-BE49-F238E27FC236}">
                <a16:creationId xmlns:a16="http://schemas.microsoft.com/office/drawing/2014/main" xmlns="" id="{6A6119E0-BA65-4ED3-BC3B-849DBBA2FEF9}"/>
              </a:ext>
            </a:extLst>
          </p:cNvPr>
          <p:cNvSpPr/>
          <p:nvPr/>
        </p:nvSpPr>
        <p:spPr>
          <a:xfrm>
            <a:off x="4843667" y="6227747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xmlns="" id="{693E75F3-0F17-4F52-B115-8DC09D432B38}"/>
              </a:ext>
            </a:extLst>
          </p:cNvPr>
          <p:cNvSpPr/>
          <p:nvPr/>
        </p:nvSpPr>
        <p:spPr>
          <a:xfrm>
            <a:off x="4381349" y="6222748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graphicFrame>
        <p:nvGraphicFramePr>
          <p:cNvPr id="131" name="표 130">
            <a:extLst>
              <a:ext uri="{FF2B5EF4-FFF2-40B4-BE49-F238E27FC236}">
                <a16:creationId xmlns:a16="http://schemas.microsoft.com/office/drawing/2014/main" xmlns="" id="{2C4DE556-AAAA-4577-9792-6624E62BF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8283607"/>
              </p:ext>
            </p:extLst>
          </p:nvPr>
        </p:nvGraphicFramePr>
        <p:xfrm>
          <a:off x="6117859" y="5693731"/>
          <a:ext cx="2129666" cy="636504"/>
        </p:xfrm>
        <a:graphic>
          <a:graphicData uri="http://schemas.openxmlformats.org/drawingml/2006/table">
            <a:tbl>
              <a:tblPr/>
              <a:tblGrid>
                <a:gridCol w="1380385">
                  <a:extLst>
                    <a:ext uri="{9D8B030D-6E8A-4147-A177-3AD203B41FA5}">
                      <a16:colId xmlns:a16="http://schemas.microsoft.com/office/drawing/2014/main" xmlns="" val="1639081027"/>
                    </a:ext>
                  </a:extLst>
                </a:gridCol>
                <a:gridCol w="322712">
                  <a:extLst>
                    <a:ext uri="{9D8B030D-6E8A-4147-A177-3AD203B41FA5}">
                      <a16:colId xmlns:a16="http://schemas.microsoft.com/office/drawing/2014/main" xmlns="" val="2663255770"/>
                    </a:ext>
                  </a:extLst>
                </a:gridCol>
                <a:gridCol w="426569">
                  <a:extLst>
                    <a:ext uri="{9D8B030D-6E8A-4147-A177-3AD203B41FA5}">
                      <a16:colId xmlns:a16="http://schemas.microsoft.com/office/drawing/2014/main" xmlns="" val="2767271824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165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701</a:t>
                      </a:r>
                    </a:p>
                  </a:txBody>
                  <a:tcPr marL="92354" marR="92354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78435367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90459876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390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42360343"/>
                  </a:ext>
                </a:extLst>
              </a:tr>
              <a:tr h="16764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타 시스템</a:t>
                      </a:r>
                    </a:p>
                  </a:txBody>
                  <a:tcPr marL="32268" marR="32268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</a:t>
                      </a:r>
                    </a:p>
                  </a:txBody>
                  <a:tcPr marL="32268" marR="108000" marT="31320" marB="3132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2268" marR="32268" marT="31633" marB="31633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081969918"/>
                  </a:ext>
                </a:extLst>
              </a:tr>
            </a:tbl>
          </a:graphicData>
        </a:graphic>
      </p:graphicFrame>
      <p:sp>
        <p:nvSpPr>
          <p:cNvPr id="132" name="화살표: 오른쪽 131">
            <a:extLst>
              <a:ext uri="{FF2B5EF4-FFF2-40B4-BE49-F238E27FC236}">
                <a16:creationId xmlns:a16="http://schemas.microsoft.com/office/drawing/2014/main" xmlns="" id="{2EDFE5AA-786C-4E57-AE9A-C8710F5C48F8}"/>
              </a:ext>
            </a:extLst>
          </p:cNvPr>
          <p:cNvSpPr/>
          <p:nvPr/>
        </p:nvSpPr>
        <p:spPr bwMode="auto">
          <a:xfrm>
            <a:off x="5589488" y="5627299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xmlns="" id="{3834DDC7-1482-4C5A-8011-2F72F7A801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425547"/>
              </p:ext>
            </p:extLst>
          </p:nvPr>
        </p:nvGraphicFramePr>
        <p:xfrm>
          <a:off x="2065427" y="5711499"/>
          <a:ext cx="2129663" cy="645152"/>
        </p:xfrm>
        <a:graphic>
          <a:graphicData uri="http://schemas.openxmlformats.org/drawingml/2006/table">
            <a:tbl>
              <a:tblPr/>
              <a:tblGrid>
                <a:gridCol w="1353865">
                  <a:extLst>
                    <a:ext uri="{9D8B030D-6E8A-4147-A177-3AD203B41FA5}">
                      <a16:colId xmlns:a16="http://schemas.microsoft.com/office/drawing/2014/main" xmlns="" val="1441575644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1964362843"/>
                    </a:ext>
                  </a:extLst>
                </a:gridCol>
                <a:gridCol w="387899">
                  <a:extLst>
                    <a:ext uri="{9D8B030D-6E8A-4147-A177-3AD203B41FA5}">
                      <a16:colId xmlns:a16="http://schemas.microsoft.com/office/drawing/2014/main" xmlns="" val="3226787983"/>
                    </a:ext>
                  </a:extLst>
                </a:gridCol>
              </a:tblGrid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166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817</a:t>
                      </a:r>
                    </a:p>
                  </a:txBody>
                  <a:tcPr marL="72000" marR="72000" marT="45267" marB="45267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95058883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개선정보화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158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06605838"/>
                  </a:ext>
                </a:extLst>
              </a:tr>
              <a:tr h="154671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현행유지 정보화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493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9645359"/>
                  </a:ext>
                </a:extLst>
              </a:tr>
              <a:tr h="17620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오프라인 단위업무</a:t>
                      </a:r>
                    </a:p>
                  </a:txBody>
                  <a:tcPr marL="64535" marR="64535" marT="24524" marB="2452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260</a:t>
                      </a:r>
                    </a:p>
                  </a:txBody>
                  <a:tcPr marL="72720" marR="72720" marT="35644" marB="35644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993854046"/>
                  </a:ext>
                </a:extLst>
              </a:tr>
            </a:tbl>
          </a:graphicData>
        </a:graphic>
      </p:graphicFrame>
      <p:sp>
        <p:nvSpPr>
          <p:cNvPr id="134" name="모서리가 둥근 직사각형 23">
            <a:extLst>
              <a:ext uri="{FF2B5EF4-FFF2-40B4-BE49-F238E27FC236}">
                <a16:creationId xmlns:a16="http://schemas.microsoft.com/office/drawing/2014/main" xmlns="" id="{75F07A24-4857-41B9-86E4-BFED549B92B5}"/>
              </a:ext>
            </a:extLst>
          </p:cNvPr>
          <p:cNvSpPr/>
          <p:nvPr/>
        </p:nvSpPr>
        <p:spPr bwMode="auto">
          <a:xfrm>
            <a:off x="898195" y="5708423"/>
            <a:ext cx="751895" cy="65475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합계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(1,077)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xmlns="" id="{34E22B17-EC4E-45AC-B7FC-8819F58C5125}"/>
              </a:ext>
            </a:extLst>
          </p:cNvPr>
          <p:cNvCxnSpPr>
            <a:cxnSpLocks/>
          </p:cNvCxnSpPr>
          <p:nvPr/>
        </p:nvCxnSpPr>
        <p:spPr>
          <a:xfrm rot="5400000">
            <a:off x="5163697" y="5983475"/>
            <a:ext cx="488402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xmlns="" id="{FBDF8319-607C-48D2-8FFD-4C46F59EE421}"/>
              </a:ext>
            </a:extLst>
          </p:cNvPr>
          <p:cNvCxnSpPr>
            <a:cxnSpLocks/>
          </p:cNvCxnSpPr>
          <p:nvPr/>
        </p:nvCxnSpPr>
        <p:spPr>
          <a:xfrm rot="5400000">
            <a:off x="4824611" y="6091274"/>
            <a:ext cx="303259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직사각형 136">
            <a:extLst>
              <a:ext uri="{FF2B5EF4-FFF2-40B4-BE49-F238E27FC236}">
                <a16:creationId xmlns:a16="http://schemas.microsoft.com/office/drawing/2014/main" xmlns="" id="{5BBBDCE7-A611-42BC-A5ED-F5DA13596F1F}"/>
              </a:ext>
            </a:extLst>
          </p:cNvPr>
          <p:cNvSpPr/>
          <p:nvPr/>
        </p:nvSpPr>
        <p:spPr bwMode="auto">
          <a:xfrm>
            <a:off x="4303657" y="5863373"/>
            <a:ext cx="671464" cy="252000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45.8%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xmlns="" id="{03A2FB88-DFDE-4A14-94C4-BA22E5A4893D}"/>
              </a:ext>
            </a:extLst>
          </p:cNvPr>
          <p:cNvSpPr/>
          <p:nvPr/>
        </p:nvSpPr>
        <p:spPr bwMode="auto">
          <a:xfrm>
            <a:off x="4983789" y="5864069"/>
            <a:ext cx="427484" cy="252000"/>
          </a:xfrm>
          <a:prstGeom prst="rect">
            <a:avLst/>
          </a:prstGeom>
          <a:solidFill>
            <a:srgbClr val="FF9933"/>
          </a:solidFill>
          <a:ln w="6350" cap="flat" cmpd="sng" algn="ctr">
            <a:solidFill>
              <a:srgbClr val="FF993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30.1%</a:t>
            </a:r>
            <a:endParaRPr lang="ko-KR" altLang="en-US" sz="700" kern="0" dirty="0">
              <a:latin typeface="+mn-ea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xmlns="" id="{0726C84D-537D-49E0-8F63-E9A7560E1E20}"/>
              </a:ext>
            </a:extLst>
          </p:cNvPr>
          <p:cNvCxnSpPr>
            <a:cxnSpLocks/>
          </p:cNvCxnSpPr>
          <p:nvPr/>
        </p:nvCxnSpPr>
        <p:spPr>
          <a:xfrm>
            <a:off x="8457729" y="5821099"/>
            <a:ext cx="111462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xmlns="" id="{F4804626-6747-4902-AAE6-20FF4885A4F9}"/>
              </a:ext>
            </a:extLst>
          </p:cNvPr>
          <p:cNvSpPr/>
          <p:nvPr/>
        </p:nvSpPr>
        <p:spPr>
          <a:xfrm>
            <a:off x="8692996" y="5656260"/>
            <a:ext cx="643652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85.8%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xmlns="" id="{C07D123A-DC4B-407D-97CC-78EAA206F21C}"/>
              </a:ext>
            </a:extLst>
          </p:cNvPr>
          <p:cNvCxnSpPr>
            <a:cxnSpLocks/>
          </p:cNvCxnSpPr>
          <p:nvPr/>
        </p:nvCxnSpPr>
        <p:spPr>
          <a:xfrm rot="5400000">
            <a:off x="8217882" y="5983475"/>
            <a:ext cx="488402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xmlns="" id="{3D31A1B6-EEE4-4BB8-B1EA-2E37253AFF4B}"/>
              </a:ext>
            </a:extLst>
          </p:cNvPr>
          <p:cNvCxnSpPr>
            <a:cxnSpLocks/>
          </p:cNvCxnSpPr>
          <p:nvPr/>
        </p:nvCxnSpPr>
        <p:spPr>
          <a:xfrm>
            <a:off x="8478644" y="6181139"/>
            <a:ext cx="629177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xmlns="" id="{E3EB61CE-268B-4230-9B9A-52E2E9A8B959}"/>
              </a:ext>
            </a:extLst>
          </p:cNvPr>
          <p:cNvCxnSpPr>
            <a:cxnSpLocks/>
          </p:cNvCxnSpPr>
          <p:nvPr/>
        </p:nvCxnSpPr>
        <p:spPr>
          <a:xfrm>
            <a:off x="9148808" y="6186339"/>
            <a:ext cx="396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직사각형 143">
            <a:extLst>
              <a:ext uri="{FF2B5EF4-FFF2-40B4-BE49-F238E27FC236}">
                <a16:creationId xmlns:a16="http://schemas.microsoft.com/office/drawing/2014/main" xmlns="" id="{EEB4E4B7-D366-4591-B3AF-AE1FD1BE1BA8}"/>
              </a:ext>
            </a:extLst>
          </p:cNvPr>
          <p:cNvSpPr/>
          <p:nvPr/>
        </p:nvSpPr>
        <p:spPr>
          <a:xfrm>
            <a:off x="8997511" y="6227747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xmlns="" id="{93E36436-B0E0-4E73-B2C5-E148416A0D90}"/>
              </a:ext>
            </a:extLst>
          </p:cNvPr>
          <p:cNvSpPr/>
          <p:nvPr/>
        </p:nvSpPr>
        <p:spPr>
          <a:xfrm>
            <a:off x="8535193" y="6222748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xmlns="" id="{546F189C-6D24-4A57-BD97-D453DAA89EFB}"/>
              </a:ext>
            </a:extLst>
          </p:cNvPr>
          <p:cNvCxnSpPr>
            <a:cxnSpLocks/>
          </p:cNvCxnSpPr>
          <p:nvPr/>
        </p:nvCxnSpPr>
        <p:spPr>
          <a:xfrm rot="5400000">
            <a:off x="9317541" y="5983475"/>
            <a:ext cx="488402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xmlns="" id="{8DE2C8D0-3A73-47AF-96BA-7DDB8D170ACD}"/>
              </a:ext>
            </a:extLst>
          </p:cNvPr>
          <p:cNvCxnSpPr>
            <a:cxnSpLocks/>
          </p:cNvCxnSpPr>
          <p:nvPr/>
        </p:nvCxnSpPr>
        <p:spPr>
          <a:xfrm rot="5400000">
            <a:off x="8978455" y="6091274"/>
            <a:ext cx="303259" cy="14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직사각형 147">
            <a:extLst>
              <a:ext uri="{FF2B5EF4-FFF2-40B4-BE49-F238E27FC236}">
                <a16:creationId xmlns:a16="http://schemas.microsoft.com/office/drawing/2014/main" xmlns="" id="{99042C08-96FB-4F2B-BE43-660D2BE8FD87}"/>
              </a:ext>
            </a:extLst>
          </p:cNvPr>
          <p:cNvSpPr/>
          <p:nvPr/>
        </p:nvSpPr>
        <p:spPr bwMode="auto">
          <a:xfrm>
            <a:off x="8457501" y="5863373"/>
            <a:ext cx="671464" cy="252000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47.7%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xmlns="" id="{2D9C3D8C-ED4C-43BF-9202-6BAF159F3A81}"/>
              </a:ext>
            </a:extLst>
          </p:cNvPr>
          <p:cNvSpPr/>
          <p:nvPr/>
        </p:nvSpPr>
        <p:spPr bwMode="auto">
          <a:xfrm>
            <a:off x="9137633" y="5864069"/>
            <a:ext cx="427484" cy="252000"/>
          </a:xfrm>
          <a:prstGeom prst="rect">
            <a:avLst/>
          </a:prstGeom>
          <a:solidFill>
            <a:srgbClr val="FF9933"/>
          </a:solidFill>
          <a:ln w="6350" cap="flat" cmpd="sng" algn="ctr">
            <a:solidFill>
              <a:srgbClr val="FF993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kern="0" dirty="0">
                <a:latin typeface="+mn-ea"/>
              </a:rPr>
              <a:t>38.1%</a:t>
            </a:r>
            <a:endParaRPr lang="ko-KR" altLang="en-US" sz="700" kern="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9350975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경영정보통합시스템화의 단위업무 개수는 </a:t>
            </a:r>
            <a:r>
              <a:rPr lang="en-US" altLang="ko-KR" dirty="0"/>
              <a:t>817</a:t>
            </a:r>
            <a:r>
              <a:rPr lang="ko-KR" altLang="en-US" dirty="0"/>
              <a:t>개 달성과 </a:t>
            </a:r>
            <a:r>
              <a:rPr lang="en-US" altLang="ko-KR" dirty="0"/>
              <a:t>To-Be </a:t>
            </a:r>
            <a:r>
              <a:rPr lang="ko-KR" altLang="en-US" dirty="0"/>
              <a:t>정보화</a:t>
            </a:r>
            <a:r>
              <a:rPr lang="en-US" altLang="ko-KR" dirty="0"/>
              <a:t>(</a:t>
            </a:r>
            <a:r>
              <a:rPr lang="ko-KR" altLang="en-US" dirty="0"/>
              <a:t>신규</a:t>
            </a:r>
            <a:r>
              <a:rPr lang="en-US" altLang="ko-KR" dirty="0"/>
              <a:t>)</a:t>
            </a:r>
            <a:r>
              <a:rPr lang="ko-KR" altLang="en-US" dirty="0"/>
              <a:t> 증가의 주요 내용은  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4.3 </a:t>
            </a:r>
            <a:r>
              <a:rPr lang="ko-KR" altLang="en-US" dirty="0"/>
              <a:t>정량적 기대효과 </a:t>
            </a:r>
            <a:r>
              <a:rPr lang="en-US" altLang="ko-KR" dirty="0"/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4.3 </a:t>
            </a:r>
            <a:r>
              <a:rPr lang="ko-KR" altLang="en-US" dirty="0"/>
              <a:t>정량적 기대효과</a:t>
            </a:r>
            <a:endParaRPr lang="en-US" altLang="ko-KR" dirty="0"/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xmlns="" id="{DA28E013-911A-4057-B1AF-1E4A0E45F3A5}"/>
              </a:ext>
            </a:extLst>
          </p:cNvPr>
          <p:cNvCxnSpPr/>
          <p:nvPr/>
        </p:nvCxnSpPr>
        <p:spPr>
          <a:xfrm>
            <a:off x="525674" y="2187645"/>
            <a:ext cx="43479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xmlns="" id="{7B8205F1-5B8A-47A9-8C08-ABFAEE3C335F}"/>
              </a:ext>
            </a:extLst>
          </p:cNvPr>
          <p:cNvCxnSpPr/>
          <p:nvPr/>
        </p:nvCxnSpPr>
        <p:spPr>
          <a:xfrm>
            <a:off x="525674" y="6073040"/>
            <a:ext cx="43479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xmlns="" id="{69B35494-2B94-4568-AB15-151E717428D4}"/>
              </a:ext>
            </a:extLst>
          </p:cNvPr>
          <p:cNvCxnSpPr>
            <a:cxnSpLocks/>
          </p:cNvCxnSpPr>
          <p:nvPr/>
        </p:nvCxnSpPr>
        <p:spPr>
          <a:xfrm rot="16200000">
            <a:off x="-1144225" y="4149296"/>
            <a:ext cx="3888000" cy="0"/>
          </a:xfrm>
          <a:prstGeom prst="line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xmlns="" id="{8EAF6E6E-DDB4-4759-80CA-3BF836E7F7D7}"/>
              </a:ext>
            </a:extLst>
          </p:cNvPr>
          <p:cNvSpPr/>
          <p:nvPr/>
        </p:nvSpPr>
        <p:spPr>
          <a:xfrm>
            <a:off x="290325" y="3765030"/>
            <a:ext cx="585138" cy="2248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단위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업무의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개수</a:t>
            </a:r>
            <a:endParaRPr kumimoji="1" lang="en-US" altLang="ko-KR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(817)</a:t>
            </a:r>
            <a:endParaRPr kumimoji="1" lang="ko-KR" altLang="en-US" sz="9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xmlns="" id="{C11B2E04-51AF-4830-A00C-7ECEEFDC9F38}"/>
              </a:ext>
            </a:extLst>
          </p:cNvPr>
          <p:cNvSpPr/>
          <p:nvPr/>
        </p:nvSpPr>
        <p:spPr>
          <a:xfrm>
            <a:off x="776536" y="1818702"/>
            <a:ext cx="2779998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단위업무의 경영정보통합시스템화 현황</a:t>
            </a: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xmlns="" id="{5477F01F-CB21-455E-AE97-87DE8DB6CE53}"/>
              </a:ext>
            </a:extLst>
          </p:cNvPr>
          <p:cNvCxnSpPr>
            <a:cxnSpLocks/>
          </p:cNvCxnSpPr>
          <p:nvPr/>
        </p:nvCxnSpPr>
        <p:spPr>
          <a:xfrm flipV="1">
            <a:off x="2072680" y="3475916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모서리가 둥근 직사각형 23">
            <a:extLst>
              <a:ext uri="{FF2B5EF4-FFF2-40B4-BE49-F238E27FC236}">
                <a16:creationId xmlns:a16="http://schemas.microsoft.com/office/drawing/2014/main" xmlns="" id="{9D9C1024-BD84-493E-9CCA-48CBFD353806}"/>
              </a:ext>
            </a:extLst>
          </p:cNvPr>
          <p:cNvSpPr/>
          <p:nvPr/>
        </p:nvSpPr>
        <p:spPr bwMode="auto">
          <a:xfrm>
            <a:off x="916962" y="2179950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통합재무정보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(299)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5" name="모서리가 둥근 직사각형 23">
            <a:extLst>
              <a:ext uri="{FF2B5EF4-FFF2-40B4-BE49-F238E27FC236}">
                <a16:creationId xmlns:a16="http://schemas.microsoft.com/office/drawing/2014/main" xmlns="" id="{783B137D-C1F7-48D9-83CD-EDAC08EBABBA}"/>
              </a:ext>
            </a:extLst>
          </p:cNvPr>
          <p:cNvSpPr/>
          <p:nvPr/>
        </p:nvSpPr>
        <p:spPr bwMode="auto">
          <a:xfrm>
            <a:off x="910625" y="3492334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인적자원관리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(379)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6" name="모서리가 둥근 직사각형 23">
            <a:extLst>
              <a:ext uri="{FF2B5EF4-FFF2-40B4-BE49-F238E27FC236}">
                <a16:creationId xmlns:a16="http://schemas.microsoft.com/office/drawing/2014/main" xmlns="" id="{A90012AD-B3F5-4DC1-9735-9FA30169593F}"/>
              </a:ext>
            </a:extLst>
          </p:cNvPr>
          <p:cNvSpPr/>
          <p:nvPr/>
        </p:nvSpPr>
        <p:spPr bwMode="auto">
          <a:xfrm>
            <a:off x="916038" y="4804718"/>
            <a:ext cx="751895" cy="1270463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기금지원</a:t>
            </a:r>
            <a:endParaRPr lang="en-US" altLang="ko-KR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1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(139)</a:t>
            </a:r>
            <a:endParaRPr lang="ko-KR" altLang="en-US" sz="11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xmlns="" id="{3804E6FC-8835-42F8-AF11-A825DA0F340F}"/>
              </a:ext>
            </a:extLst>
          </p:cNvPr>
          <p:cNvCxnSpPr>
            <a:cxnSpLocks/>
          </p:cNvCxnSpPr>
          <p:nvPr/>
        </p:nvCxnSpPr>
        <p:spPr>
          <a:xfrm flipV="1">
            <a:off x="2072680" y="4812020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xmlns="" id="{DC0AAB4A-B747-4E9A-9734-FBEC2026C11B}"/>
              </a:ext>
            </a:extLst>
          </p:cNvPr>
          <p:cNvCxnSpPr>
            <a:cxnSpLocks/>
          </p:cNvCxnSpPr>
          <p:nvPr/>
        </p:nvCxnSpPr>
        <p:spPr>
          <a:xfrm flipV="1">
            <a:off x="2072680" y="6373894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xmlns="" id="{4C14BC86-B4DA-4DEA-B8DA-C89DCEFBDD42}"/>
              </a:ext>
            </a:extLst>
          </p:cNvPr>
          <p:cNvCxnSpPr>
            <a:cxnSpLocks/>
          </p:cNvCxnSpPr>
          <p:nvPr/>
        </p:nvCxnSpPr>
        <p:spPr>
          <a:xfrm flipV="1">
            <a:off x="2072680" y="2140290"/>
            <a:ext cx="726657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직사각형 150">
            <a:extLst>
              <a:ext uri="{FF2B5EF4-FFF2-40B4-BE49-F238E27FC236}">
                <a16:creationId xmlns:a16="http://schemas.microsoft.com/office/drawing/2014/main" xmlns="" id="{D802EA55-A819-4008-A5B1-B122E030D04B}"/>
              </a:ext>
            </a:extLst>
          </p:cNvPr>
          <p:cNvSpPr/>
          <p:nvPr/>
        </p:nvSpPr>
        <p:spPr>
          <a:xfrm>
            <a:off x="5457056" y="1818702"/>
            <a:ext cx="2779998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 </a:t>
            </a: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</a:t>
            </a:r>
            <a:r>
              <a:rPr kumimoji="1" lang="en-US" altLang="ko-KR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</a:t>
            </a: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신규</a:t>
            </a:r>
            <a:r>
              <a:rPr kumimoji="1" lang="en-US" altLang="ko-KR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) </a:t>
            </a:r>
            <a:r>
              <a:rPr kumimoji="1" lang="ko-KR" altLang="en-US" sz="11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주요 내용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xmlns="" id="{E5CA29DD-E1B2-4A60-9109-846551819E25}"/>
              </a:ext>
            </a:extLst>
          </p:cNvPr>
          <p:cNvCxnSpPr>
            <a:cxnSpLocks/>
          </p:cNvCxnSpPr>
          <p:nvPr/>
        </p:nvCxnSpPr>
        <p:spPr>
          <a:xfrm>
            <a:off x="2212565" y="2479064"/>
            <a:ext cx="1568248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xmlns="" id="{F78FB589-981F-4A89-9CEF-E1A0A070B2E7}"/>
              </a:ext>
            </a:extLst>
          </p:cNvPr>
          <p:cNvSpPr/>
          <p:nvPr/>
        </p:nvSpPr>
        <p:spPr>
          <a:xfrm>
            <a:off x="2330991" y="2315031"/>
            <a:ext cx="1379726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경영정보통합시스템화</a:t>
            </a: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(84.9%)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xmlns="" id="{96EF282F-8709-4F94-A3D3-F6DA0A0FBCC4}"/>
              </a:ext>
            </a:extLst>
          </p:cNvPr>
          <p:cNvCxnSpPr>
            <a:cxnSpLocks/>
          </p:cNvCxnSpPr>
          <p:nvPr/>
        </p:nvCxnSpPr>
        <p:spPr>
          <a:xfrm>
            <a:off x="2221757" y="2990856"/>
            <a:ext cx="837436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xmlns="" id="{CCA343CD-BF4E-43C7-8958-D01202BE0434}"/>
              </a:ext>
            </a:extLst>
          </p:cNvPr>
          <p:cNvCxnSpPr>
            <a:cxnSpLocks/>
          </p:cNvCxnSpPr>
          <p:nvPr/>
        </p:nvCxnSpPr>
        <p:spPr>
          <a:xfrm>
            <a:off x="3133879" y="2990856"/>
            <a:ext cx="637762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xmlns="" id="{0CF38714-BD99-492E-AA18-0A72F22C1E31}"/>
              </a:ext>
            </a:extLst>
          </p:cNvPr>
          <p:cNvSpPr/>
          <p:nvPr/>
        </p:nvSpPr>
        <p:spPr>
          <a:xfrm>
            <a:off x="3106448" y="3037284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xmlns="" id="{33A2FD45-DDAB-4C6C-BAF1-907FFF2C871F}"/>
              </a:ext>
            </a:extLst>
          </p:cNvPr>
          <p:cNvSpPr/>
          <p:nvPr/>
        </p:nvSpPr>
        <p:spPr>
          <a:xfrm>
            <a:off x="2429216" y="3037284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xmlns="" id="{2AE5532A-A74A-44C1-81EE-376D2C754D2E}"/>
              </a:ext>
            </a:extLst>
          </p:cNvPr>
          <p:cNvCxnSpPr>
            <a:cxnSpLocks/>
          </p:cNvCxnSpPr>
          <p:nvPr/>
        </p:nvCxnSpPr>
        <p:spPr>
          <a:xfrm rot="5400000">
            <a:off x="3517509" y="2740669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xmlns="" id="{99E8972A-08FB-40BF-A040-CA736B3B2695}"/>
              </a:ext>
            </a:extLst>
          </p:cNvPr>
          <p:cNvSpPr/>
          <p:nvPr/>
        </p:nvSpPr>
        <p:spPr bwMode="auto">
          <a:xfrm>
            <a:off x="2205362" y="2536847"/>
            <a:ext cx="893718" cy="40584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47.2%</a:t>
            </a:r>
          </a:p>
          <a:p>
            <a:pPr algn="ctr"/>
            <a:r>
              <a:rPr lang="en-US" altLang="ko-KR" sz="700" b="1" dirty="0">
                <a:latin typeface="+mn-ea"/>
              </a:rPr>
              <a:t>(141)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xmlns="" id="{4019AA38-2754-48E5-A3DF-DAE215F81F63}"/>
              </a:ext>
            </a:extLst>
          </p:cNvPr>
          <p:cNvSpPr/>
          <p:nvPr/>
        </p:nvSpPr>
        <p:spPr bwMode="auto">
          <a:xfrm>
            <a:off x="3116224" y="2537543"/>
            <a:ext cx="688467" cy="405848"/>
          </a:xfrm>
          <a:prstGeom prst="rect">
            <a:avLst/>
          </a:prstGeom>
          <a:solidFill>
            <a:srgbClr val="FF9933"/>
          </a:solidFill>
          <a:ln w="6350" cap="flat" cmpd="sng" algn="ctr">
            <a:solidFill>
              <a:srgbClr val="FF993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37.8%</a:t>
            </a:r>
          </a:p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(113)</a:t>
            </a:r>
            <a:endParaRPr lang="ko-KR" altLang="en-US" sz="700" b="1" kern="0" dirty="0"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xmlns="" id="{D2817438-3415-4FA5-8AFC-2FC9BE647FB6}"/>
              </a:ext>
            </a:extLst>
          </p:cNvPr>
          <p:cNvSpPr/>
          <p:nvPr/>
        </p:nvSpPr>
        <p:spPr bwMode="auto">
          <a:xfrm>
            <a:off x="1830601" y="2536847"/>
            <a:ext cx="344567" cy="40584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15.1%</a:t>
            </a:r>
          </a:p>
          <a:p>
            <a:pPr algn="ctr"/>
            <a:r>
              <a:rPr lang="en-US" altLang="ko-KR" sz="700" b="1" dirty="0">
                <a:latin typeface="+mn-ea"/>
              </a:rPr>
              <a:t>(45)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xmlns="" id="{136795A5-2A42-4264-ADA2-0B84ACEBDCFA}"/>
              </a:ext>
            </a:extLst>
          </p:cNvPr>
          <p:cNvCxnSpPr>
            <a:cxnSpLocks/>
          </p:cNvCxnSpPr>
          <p:nvPr/>
        </p:nvCxnSpPr>
        <p:spPr>
          <a:xfrm rot="5400000">
            <a:off x="2847166" y="2801916"/>
            <a:ext cx="504000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xmlns="" id="{ACACE3DD-7B65-45E9-BD41-9C889E2AA0E5}"/>
              </a:ext>
            </a:extLst>
          </p:cNvPr>
          <p:cNvCxnSpPr>
            <a:cxnSpLocks/>
          </p:cNvCxnSpPr>
          <p:nvPr/>
        </p:nvCxnSpPr>
        <p:spPr>
          <a:xfrm rot="5400000">
            <a:off x="1890070" y="2740669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xmlns="" id="{B2EFCA1E-36AD-4582-A312-0A2F393F9291}"/>
              </a:ext>
            </a:extLst>
          </p:cNvPr>
          <p:cNvCxnSpPr>
            <a:cxnSpLocks/>
          </p:cNvCxnSpPr>
          <p:nvPr/>
        </p:nvCxnSpPr>
        <p:spPr>
          <a:xfrm rot="5400000">
            <a:off x="1512541" y="2740669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xmlns="" id="{D9EF7862-BBEB-4277-B3C6-C8FF305B00EE}"/>
              </a:ext>
            </a:extLst>
          </p:cNvPr>
          <p:cNvCxnSpPr>
            <a:cxnSpLocks/>
          </p:cNvCxnSpPr>
          <p:nvPr/>
        </p:nvCxnSpPr>
        <p:spPr>
          <a:xfrm>
            <a:off x="1806458" y="2990856"/>
            <a:ext cx="360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직사각형 97">
            <a:extLst>
              <a:ext uri="{FF2B5EF4-FFF2-40B4-BE49-F238E27FC236}">
                <a16:creationId xmlns:a16="http://schemas.microsoft.com/office/drawing/2014/main" xmlns="" id="{92122AA9-9E85-4292-A39F-45B1900D7AD2}"/>
              </a:ext>
            </a:extLst>
          </p:cNvPr>
          <p:cNvSpPr/>
          <p:nvPr/>
        </p:nvSpPr>
        <p:spPr>
          <a:xfrm>
            <a:off x="1720486" y="3037284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타 시스템</a:t>
            </a:r>
            <a:endParaRPr kumimoji="1" lang="en-US" altLang="ko-KR" sz="6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xmlns="" id="{D456DF65-04B6-4DC5-B011-0476FCA6408C}"/>
              </a:ext>
            </a:extLst>
          </p:cNvPr>
          <p:cNvCxnSpPr>
            <a:cxnSpLocks/>
          </p:cNvCxnSpPr>
          <p:nvPr/>
        </p:nvCxnSpPr>
        <p:spPr>
          <a:xfrm>
            <a:off x="2212565" y="3794669"/>
            <a:ext cx="1568248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>
            <a:extLst>
              <a:ext uri="{FF2B5EF4-FFF2-40B4-BE49-F238E27FC236}">
                <a16:creationId xmlns:a16="http://schemas.microsoft.com/office/drawing/2014/main" xmlns="" id="{CDC2A3E0-CAC7-4B38-B305-C845DDA5E3A4}"/>
              </a:ext>
            </a:extLst>
          </p:cNvPr>
          <p:cNvSpPr/>
          <p:nvPr/>
        </p:nvSpPr>
        <p:spPr>
          <a:xfrm>
            <a:off x="2330991" y="3630636"/>
            <a:ext cx="1379726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경영정보통합시스템화</a:t>
            </a: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(92.9%)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xmlns="" id="{FF96AAF9-D219-4490-BFC2-46CF9ACC4117}"/>
              </a:ext>
            </a:extLst>
          </p:cNvPr>
          <p:cNvCxnSpPr>
            <a:cxnSpLocks/>
          </p:cNvCxnSpPr>
          <p:nvPr/>
        </p:nvCxnSpPr>
        <p:spPr>
          <a:xfrm>
            <a:off x="2212081" y="4306461"/>
            <a:ext cx="1044002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xmlns="" id="{7FC974FB-F246-44FD-9190-CE7A384423EB}"/>
              </a:ext>
            </a:extLst>
          </p:cNvPr>
          <p:cNvCxnSpPr>
            <a:cxnSpLocks/>
          </p:cNvCxnSpPr>
          <p:nvPr/>
        </p:nvCxnSpPr>
        <p:spPr>
          <a:xfrm>
            <a:off x="3294491" y="4306461"/>
            <a:ext cx="514528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xmlns="" id="{251E6486-CF3F-404E-AB0A-F8D1F66B6BEC}"/>
              </a:ext>
            </a:extLst>
          </p:cNvPr>
          <p:cNvSpPr/>
          <p:nvPr/>
        </p:nvSpPr>
        <p:spPr>
          <a:xfrm>
            <a:off x="3224808" y="4352889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xmlns="" id="{95004D19-B0AC-44C6-8CFC-BA3CA064D012}"/>
              </a:ext>
            </a:extLst>
          </p:cNvPr>
          <p:cNvSpPr/>
          <p:nvPr/>
        </p:nvSpPr>
        <p:spPr>
          <a:xfrm>
            <a:off x="2429216" y="4352889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xmlns="" id="{88C4B326-F8E2-4F2A-B7A9-0DBB75803BDA}"/>
              </a:ext>
            </a:extLst>
          </p:cNvPr>
          <p:cNvCxnSpPr>
            <a:cxnSpLocks/>
          </p:cNvCxnSpPr>
          <p:nvPr/>
        </p:nvCxnSpPr>
        <p:spPr>
          <a:xfrm rot="5400000">
            <a:off x="3517509" y="405627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직사각형 105">
            <a:extLst>
              <a:ext uri="{FF2B5EF4-FFF2-40B4-BE49-F238E27FC236}">
                <a16:creationId xmlns:a16="http://schemas.microsoft.com/office/drawing/2014/main" xmlns="" id="{8D0D588E-949C-4817-BB29-974C9E161AB3}"/>
              </a:ext>
            </a:extLst>
          </p:cNvPr>
          <p:cNvSpPr/>
          <p:nvPr/>
        </p:nvSpPr>
        <p:spPr bwMode="auto">
          <a:xfrm>
            <a:off x="2205361" y="3852452"/>
            <a:ext cx="1080629" cy="40584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64.1%</a:t>
            </a:r>
          </a:p>
          <a:p>
            <a:pPr algn="ctr"/>
            <a:r>
              <a:rPr lang="en-US" altLang="ko-KR" sz="700" b="1" dirty="0">
                <a:latin typeface="+mn-ea"/>
              </a:rPr>
              <a:t>(243)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xmlns="" id="{29A97AF1-84B6-48D9-8944-AAE02CFB5518}"/>
              </a:ext>
            </a:extLst>
          </p:cNvPr>
          <p:cNvSpPr/>
          <p:nvPr/>
        </p:nvSpPr>
        <p:spPr bwMode="auto">
          <a:xfrm>
            <a:off x="3297332" y="3853148"/>
            <a:ext cx="507359" cy="405848"/>
          </a:xfrm>
          <a:prstGeom prst="rect">
            <a:avLst/>
          </a:prstGeom>
          <a:solidFill>
            <a:srgbClr val="FF9933"/>
          </a:solidFill>
          <a:ln w="6350" cap="flat" cmpd="sng" algn="ctr">
            <a:solidFill>
              <a:srgbClr val="FF993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28.8%</a:t>
            </a:r>
          </a:p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(109)</a:t>
            </a:r>
            <a:endParaRPr lang="ko-KR" altLang="en-US" sz="700" b="1" kern="0" dirty="0"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xmlns="" id="{A27AA6CB-80D4-4B40-A67F-1678372C5065}"/>
              </a:ext>
            </a:extLst>
          </p:cNvPr>
          <p:cNvSpPr/>
          <p:nvPr/>
        </p:nvSpPr>
        <p:spPr bwMode="auto">
          <a:xfrm>
            <a:off x="1830601" y="3852452"/>
            <a:ext cx="344567" cy="40584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7.1%</a:t>
            </a:r>
          </a:p>
          <a:p>
            <a:pPr algn="ctr"/>
            <a:r>
              <a:rPr lang="en-US" altLang="ko-KR" sz="700" b="1" dirty="0">
                <a:latin typeface="+mn-ea"/>
              </a:rPr>
              <a:t>(27)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xmlns="" id="{BA60414A-3DA2-40B5-B60C-9A2981810F9B}"/>
              </a:ext>
            </a:extLst>
          </p:cNvPr>
          <p:cNvCxnSpPr>
            <a:cxnSpLocks/>
          </p:cNvCxnSpPr>
          <p:nvPr/>
        </p:nvCxnSpPr>
        <p:spPr>
          <a:xfrm rot="5400000">
            <a:off x="3039822" y="4117521"/>
            <a:ext cx="504000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xmlns="" id="{D14DEB0F-AB28-42B4-8C20-8557C0D2259B}"/>
              </a:ext>
            </a:extLst>
          </p:cNvPr>
          <p:cNvCxnSpPr>
            <a:cxnSpLocks/>
          </p:cNvCxnSpPr>
          <p:nvPr/>
        </p:nvCxnSpPr>
        <p:spPr>
          <a:xfrm rot="5400000">
            <a:off x="1890070" y="405627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xmlns="" id="{C5358BC3-79A3-472B-BC57-C89280CAA486}"/>
              </a:ext>
            </a:extLst>
          </p:cNvPr>
          <p:cNvCxnSpPr>
            <a:cxnSpLocks/>
          </p:cNvCxnSpPr>
          <p:nvPr/>
        </p:nvCxnSpPr>
        <p:spPr>
          <a:xfrm rot="5400000">
            <a:off x="1512541" y="405627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xmlns="" id="{F8190665-A3F4-4C48-8803-57B72B2C2B89}"/>
              </a:ext>
            </a:extLst>
          </p:cNvPr>
          <p:cNvCxnSpPr>
            <a:cxnSpLocks/>
          </p:cNvCxnSpPr>
          <p:nvPr/>
        </p:nvCxnSpPr>
        <p:spPr>
          <a:xfrm>
            <a:off x="1806458" y="4306461"/>
            <a:ext cx="360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xmlns="" id="{19965005-0EB2-4498-9CAF-D7A723D8FD64}"/>
              </a:ext>
            </a:extLst>
          </p:cNvPr>
          <p:cNvSpPr/>
          <p:nvPr/>
        </p:nvSpPr>
        <p:spPr>
          <a:xfrm>
            <a:off x="1720486" y="4352889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타 시스템</a:t>
            </a:r>
            <a:endParaRPr kumimoji="1" lang="en-US" altLang="ko-KR" sz="6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xmlns="" id="{5BC90CEC-22B3-4492-82F5-47CA2DD659BA}"/>
              </a:ext>
            </a:extLst>
          </p:cNvPr>
          <p:cNvCxnSpPr>
            <a:cxnSpLocks/>
          </p:cNvCxnSpPr>
          <p:nvPr/>
        </p:nvCxnSpPr>
        <p:spPr>
          <a:xfrm>
            <a:off x="2212565" y="5201889"/>
            <a:ext cx="1568248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직사각형 127">
            <a:extLst>
              <a:ext uri="{FF2B5EF4-FFF2-40B4-BE49-F238E27FC236}">
                <a16:creationId xmlns:a16="http://schemas.microsoft.com/office/drawing/2014/main" xmlns="" id="{A0031F72-B3AC-47D6-A99A-25B8DFA7BC67}"/>
              </a:ext>
            </a:extLst>
          </p:cNvPr>
          <p:cNvSpPr/>
          <p:nvPr/>
        </p:nvSpPr>
        <p:spPr>
          <a:xfrm>
            <a:off x="2330991" y="5037856"/>
            <a:ext cx="1379726" cy="1858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경영정보통합시스템화</a:t>
            </a:r>
            <a:r>
              <a:rPr kumimoji="1" lang="en-US" altLang="ko-KR" sz="7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(68.3%)</a:t>
            </a:r>
            <a:endParaRPr kumimoji="1" lang="ko-KR" altLang="en-US" sz="7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xmlns="" id="{40B82CBB-C933-4AB8-BF0A-5C679883945E}"/>
              </a:ext>
            </a:extLst>
          </p:cNvPr>
          <p:cNvCxnSpPr>
            <a:cxnSpLocks/>
          </p:cNvCxnSpPr>
          <p:nvPr/>
        </p:nvCxnSpPr>
        <p:spPr>
          <a:xfrm>
            <a:off x="2177157" y="5713681"/>
            <a:ext cx="332651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xmlns="" id="{15B6CB53-D7D9-4247-9840-C77535E9E6CF}"/>
              </a:ext>
            </a:extLst>
          </p:cNvPr>
          <p:cNvCxnSpPr>
            <a:cxnSpLocks/>
          </p:cNvCxnSpPr>
          <p:nvPr/>
        </p:nvCxnSpPr>
        <p:spPr>
          <a:xfrm>
            <a:off x="2514888" y="5713681"/>
            <a:ext cx="1275118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직사각형 130">
            <a:extLst>
              <a:ext uri="{FF2B5EF4-FFF2-40B4-BE49-F238E27FC236}">
                <a16:creationId xmlns:a16="http://schemas.microsoft.com/office/drawing/2014/main" xmlns="" id="{AACFE243-0C42-448A-9F25-B5351323C903}"/>
              </a:ext>
            </a:extLst>
          </p:cNvPr>
          <p:cNvSpPr/>
          <p:nvPr/>
        </p:nvSpPr>
        <p:spPr>
          <a:xfrm>
            <a:off x="2732815" y="5760109"/>
            <a:ext cx="708017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To-Be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 증가율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xmlns="" id="{607B5E2C-4DD7-4B05-A609-E2C60DEA0E25}"/>
              </a:ext>
            </a:extLst>
          </p:cNvPr>
          <p:cNvSpPr/>
          <p:nvPr/>
        </p:nvSpPr>
        <p:spPr>
          <a:xfrm>
            <a:off x="2072680" y="5760109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As-Is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xmlns="" id="{A15DCE0B-15A5-4AB7-B4E8-6A0CA03986AC}"/>
              </a:ext>
            </a:extLst>
          </p:cNvPr>
          <p:cNvCxnSpPr>
            <a:cxnSpLocks/>
          </p:cNvCxnSpPr>
          <p:nvPr/>
        </p:nvCxnSpPr>
        <p:spPr>
          <a:xfrm rot="5400000">
            <a:off x="3517509" y="546349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직사각형 133">
            <a:extLst>
              <a:ext uri="{FF2B5EF4-FFF2-40B4-BE49-F238E27FC236}">
                <a16:creationId xmlns:a16="http://schemas.microsoft.com/office/drawing/2014/main" xmlns="" id="{3C3AC3AB-5AE8-40DB-8076-7B3BB8F0EEB7}"/>
              </a:ext>
            </a:extLst>
          </p:cNvPr>
          <p:cNvSpPr/>
          <p:nvPr/>
        </p:nvSpPr>
        <p:spPr bwMode="auto">
          <a:xfrm>
            <a:off x="2205361" y="5259672"/>
            <a:ext cx="299351" cy="40584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4.3%</a:t>
            </a:r>
          </a:p>
          <a:p>
            <a:pPr algn="ctr"/>
            <a:r>
              <a:rPr lang="en-US" altLang="ko-KR" sz="700" b="1" dirty="0">
                <a:latin typeface="+mn-ea"/>
              </a:rPr>
              <a:t>(6)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xmlns="" id="{44CA56FC-D052-4A6B-95B1-475CFE8B0F76}"/>
              </a:ext>
            </a:extLst>
          </p:cNvPr>
          <p:cNvSpPr/>
          <p:nvPr/>
        </p:nvSpPr>
        <p:spPr bwMode="auto">
          <a:xfrm>
            <a:off x="2524434" y="5260368"/>
            <a:ext cx="1280257" cy="405848"/>
          </a:xfrm>
          <a:prstGeom prst="rect">
            <a:avLst/>
          </a:prstGeom>
          <a:solidFill>
            <a:srgbClr val="FF9933"/>
          </a:solidFill>
          <a:ln w="6350" cap="flat" cmpd="sng" algn="ctr">
            <a:solidFill>
              <a:srgbClr val="FF9933"/>
            </a:solidFill>
            <a:prstDash val="solid"/>
          </a:ln>
          <a:effectLst/>
          <a:ex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64.0%</a:t>
            </a:r>
          </a:p>
          <a:p>
            <a:pPr algn="ctr" latinLnBrk="0">
              <a:buSzPct val="80000"/>
            </a:pPr>
            <a:r>
              <a:rPr lang="en-US" altLang="ko-KR" sz="700" b="1" kern="0" dirty="0">
                <a:latin typeface="+mn-ea"/>
              </a:rPr>
              <a:t>(89)</a:t>
            </a:r>
            <a:endParaRPr lang="ko-KR" altLang="en-US" sz="700" b="1" kern="0" dirty="0">
              <a:latin typeface="+mn-ea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xmlns="" id="{AC9CF923-FB3B-4887-8E62-F2E41CF609E5}"/>
              </a:ext>
            </a:extLst>
          </p:cNvPr>
          <p:cNvSpPr/>
          <p:nvPr/>
        </p:nvSpPr>
        <p:spPr bwMode="auto">
          <a:xfrm>
            <a:off x="1830601" y="5259672"/>
            <a:ext cx="344567" cy="405849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lIns="0" tIns="36000" rIns="0" bIns="36000"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31.7%</a:t>
            </a:r>
          </a:p>
          <a:p>
            <a:pPr algn="ctr"/>
            <a:r>
              <a:rPr lang="en-US" altLang="ko-KR" sz="700" b="1" dirty="0">
                <a:latin typeface="+mn-ea"/>
              </a:rPr>
              <a:t>(44)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xmlns="" id="{2F0A3458-7C9E-4566-9079-12DCA89AE23A}"/>
              </a:ext>
            </a:extLst>
          </p:cNvPr>
          <p:cNvCxnSpPr>
            <a:cxnSpLocks/>
          </p:cNvCxnSpPr>
          <p:nvPr/>
        </p:nvCxnSpPr>
        <p:spPr>
          <a:xfrm rot="5400000">
            <a:off x="2262802" y="5524741"/>
            <a:ext cx="504000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xmlns="" id="{D6A32F66-C154-41CE-BB91-7ACA93FC3E09}"/>
              </a:ext>
            </a:extLst>
          </p:cNvPr>
          <p:cNvCxnSpPr>
            <a:cxnSpLocks/>
          </p:cNvCxnSpPr>
          <p:nvPr/>
        </p:nvCxnSpPr>
        <p:spPr>
          <a:xfrm rot="5400000">
            <a:off x="1890070" y="546349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xmlns="" id="{137DC109-D3C7-4146-80C3-2F5EF9A6C6A3}"/>
              </a:ext>
            </a:extLst>
          </p:cNvPr>
          <p:cNvCxnSpPr>
            <a:cxnSpLocks/>
          </p:cNvCxnSpPr>
          <p:nvPr/>
        </p:nvCxnSpPr>
        <p:spPr>
          <a:xfrm rot="5400000">
            <a:off x="1512541" y="5463494"/>
            <a:ext cx="590966" cy="172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xmlns="" id="{FB34A748-3D54-4FD9-8E11-907A9CE5F079}"/>
              </a:ext>
            </a:extLst>
          </p:cNvPr>
          <p:cNvCxnSpPr>
            <a:cxnSpLocks/>
          </p:cNvCxnSpPr>
          <p:nvPr/>
        </p:nvCxnSpPr>
        <p:spPr>
          <a:xfrm>
            <a:off x="1806458" y="5713681"/>
            <a:ext cx="360000" cy="0"/>
          </a:xfrm>
          <a:prstGeom prst="line">
            <a:avLst/>
          </a:prstGeom>
          <a:ln w="6350">
            <a:solidFill>
              <a:schemeClr val="tx1">
                <a:lumMod val="75000"/>
                <a:lumOff val="25000"/>
              </a:schemeClr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직사각형 140">
            <a:extLst>
              <a:ext uri="{FF2B5EF4-FFF2-40B4-BE49-F238E27FC236}">
                <a16:creationId xmlns:a16="http://schemas.microsoft.com/office/drawing/2014/main" xmlns="" id="{C4869DDC-BD9B-415C-AACF-4394D4004090}"/>
              </a:ext>
            </a:extLst>
          </p:cNvPr>
          <p:cNvSpPr/>
          <p:nvPr/>
        </p:nvSpPr>
        <p:spPr>
          <a:xfrm>
            <a:off x="1720486" y="5760109"/>
            <a:ext cx="531944" cy="1535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타 시스템</a:t>
            </a:r>
            <a:endParaRPr kumimoji="1" lang="en-US" altLang="ko-KR" sz="600" b="1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600" b="1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정보화율</a:t>
            </a:r>
          </a:p>
        </p:txBody>
      </p:sp>
      <p:sp>
        <p:nvSpPr>
          <p:cNvPr id="143" name="화살표: 오른쪽 142">
            <a:extLst>
              <a:ext uri="{FF2B5EF4-FFF2-40B4-BE49-F238E27FC236}">
                <a16:creationId xmlns:a16="http://schemas.microsoft.com/office/drawing/2014/main" xmlns="" id="{7018A165-5ACE-4DA8-BBAA-70BF6BAA4856}"/>
              </a:ext>
            </a:extLst>
          </p:cNvPr>
          <p:cNvSpPr/>
          <p:nvPr/>
        </p:nvSpPr>
        <p:spPr bwMode="auto">
          <a:xfrm>
            <a:off x="4016896" y="2404760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146" name="화살표: 오른쪽 145">
            <a:extLst>
              <a:ext uri="{FF2B5EF4-FFF2-40B4-BE49-F238E27FC236}">
                <a16:creationId xmlns:a16="http://schemas.microsoft.com/office/drawing/2014/main" xmlns="" id="{F6AFA86A-E1A8-4EDA-AAB6-A5ED21552244}"/>
              </a:ext>
            </a:extLst>
          </p:cNvPr>
          <p:cNvSpPr/>
          <p:nvPr/>
        </p:nvSpPr>
        <p:spPr bwMode="auto">
          <a:xfrm>
            <a:off x="4016896" y="3703992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148" name="화살표: 오른쪽 147">
            <a:extLst>
              <a:ext uri="{FF2B5EF4-FFF2-40B4-BE49-F238E27FC236}">
                <a16:creationId xmlns:a16="http://schemas.microsoft.com/office/drawing/2014/main" xmlns="" id="{39211A04-3966-44B1-83CC-533C3AFA3D60}"/>
              </a:ext>
            </a:extLst>
          </p:cNvPr>
          <p:cNvSpPr/>
          <p:nvPr/>
        </p:nvSpPr>
        <p:spPr bwMode="auto">
          <a:xfrm>
            <a:off x="4016896" y="5128715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149" name="직사각형 13">
            <a:extLst>
              <a:ext uri="{FF2B5EF4-FFF2-40B4-BE49-F238E27FC236}">
                <a16:creationId xmlns:a16="http://schemas.microsoft.com/office/drawing/2014/main" xmlns="" id="{AAED0637-34C9-4362-BA6C-D38DE76AA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4372" y="2554390"/>
            <a:ext cx="5091538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예산종합평가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성과관리대상사업등록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세세목성과속성</a:t>
            </a:r>
            <a:r>
              <a:rPr lang="ko-KR" altLang="en-US" sz="1000" dirty="0">
                <a:latin typeface="+mn-ea"/>
              </a:rPr>
              <a:t> 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예산조정평가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 err="1">
                <a:latin typeface="+mn-ea"/>
              </a:rPr>
              <a:t>월결산</a:t>
            </a:r>
            <a:r>
              <a:rPr lang="en-US" altLang="ko-KR" sz="1000" dirty="0">
                <a:latin typeface="+mn-ea"/>
              </a:rPr>
              <a:t>(</a:t>
            </a:r>
            <a:r>
              <a:rPr lang="ko-KR" altLang="en-US" sz="1000" dirty="0">
                <a:latin typeface="+mn-ea"/>
              </a:rPr>
              <a:t>기금회계</a:t>
            </a:r>
            <a:r>
              <a:rPr lang="en-US" altLang="ko-KR" sz="1000" dirty="0">
                <a:latin typeface="+mn-ea"/>
              </a:rPr>
              <a:t>)-</a:t>
            </a:r>
            <a:r>
              <a:rPr lang="ko-KR" altLang="en-US" sz="1000" dirty="0">
                <a:latin typeface="+mn-ea"/>
              </a:rPr>
              <a:t>일반전표 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승인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전표마감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조정분개</a:t>
            </a:r>
            <a:r>
              <a:rPr lang="ko-KR" altLang="en-US" sz="1000" dirty="0">
                <a:latin typeface="+mn-ea"/>
              </a:rPr>
              <a:t>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en-US" altLang="ko-KR" sz="1000" dirty="0">
                <a:latin typeface="+mn-ea"/>
              </a:rPr>
              <a:t>[</a:t>
            </a:r>
            <a:r>
              <a:rPr lang="ko-KR" altLang="en-US" sz="1000" dirty="0">
                <a:latin typeface="+mn-ea"/>
              </a:rPr>
              <a:t>내부관리손익</a:t>
            </a:r>
            <a:r>
              <a:rPr lang="en-US" altLang="ko-KR" sz="1000" dirty="0">
                <a:latin typeface="+mn-ea"/>
              </a:rPr>
              <a:t>] </a:t>
            </a:r>
            <a:r>
              <a:rPr lang="ko-KR" altLang="en-US" sz="1000" dirty="0">
                <a:latin typeface="+mn-ea"/>
              </a:rPr>
              <a:t>경륜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경정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사업별 손익계산서 집계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공통항목 안분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지점별 손익 기초자료 집계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정산비용 확정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en-US" altLang="ko-KR" sz="1000" dirty="0">
                <a:latin typeface="+mn-ea"/>
              </a:rPr>
              <a:t>[</a:t>
            </a:r>
            <a:r>
              <a:rPr lang="ko-KR" altLang="en-US" sz="1000" dirty="0">
                <a:latin typeface="+mn-ea"/>
              </a:rPr>
              <a:t>내부관리손익</a:t>
            </a:r>
            <a:r>
              <a:rPr lang="en-US" altLang="ko-KR" sz="1000" dirty="0">
                <a:latin typeface="+mn-ea"/>
              </a:rPr>
              <a:t>] </a:t>
            </a:r>
            <a:r>
              <a:rPr lang="ko-KR" altLang="en-US" sz="1000" dirty="0">
                <a:latin typeface="+mn-ea"/>
              </a:rPr>
              <a:t>골프장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골프사업장 인건비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경비 집계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손익계산서 작성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en-US" altLang="ko-KR" sz="1000" dirty="0">
                <a:latin typeface="+mn-ea"/>
              </a:rPr>
              <a:t>[</a:t>
            </a:r>
            <a:r>
              <a:rPr lang="ko-KR" altLang="en-US" sz="1000" dirty="0">
                <a:latin typeface="+mn-ea"/>
              </a:rPr>
              <a:t>내부관리손익</a:t>
            </a:r>
            <a:r>
              <a:rPr lang="en-US" altLang="ko-KR" sz="1000" dirty="0">
                <a:latin typeface="+mn-ea"/>
              </a:rPr>
              <a:t>] </a:t>
            </a:r>
            <a:r>
              <a:rPr lang="ko-KR" altLang="en-US" sz="1000" dirty="0">
                <a:latin typeface="+mn-ea"/>
              </a:rPr>
              <a:t>기금구분회계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기금회계 사업단위별 총수익과 총비용의 </a:t>
            </a:r>
            <a:r>
              <a:rPr lang="ko-KR" altLang="en-US" sz="1000" dirty="0" err="1">
                <a:latin typeface="+mn-ea"/>
              </a:rPr>
              <a:t>계정별</a:t>
            </a:r>
            <a:r>
              <a:rPr lang="ko-KR" altLang="en-US" sz="1000" dirty="0">
                <a:latin typeface="+mn-ea"/>
              </a:rPr>
              <a:t> 자료 집계 등</a:t>
            </a:r>
            <a:endParaRPr lang="en-US" altLang="ko-KR" sz="1000" dirty="0">
              <a:latin typeface="+mn-ea"/>
            </a:endParaRPr>
          </a:p>
        </p:txBody>
      </p:sp>
      <p:sp>
        <p:nvSpPr>
          <p:cNvPr id="152" name="직사각형 13">
            <a:extLst>
              <a:ext uri="{FF2B5EF4-FFF2-40B4-BE49-F238E27FC236}">
                <a16:creationId xmlns:a16="http://schemas.microsoft.com/office/drawing/2014/main" xmlns="" id="{83C702A7-4CB0-49C4-A002-AD80737A3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8161" y="3616856"/>
            <a:ext cx="4877327" cy="964272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조직</a:t>
            </a:r>
            <a:r>
              <a:rPr lang="en-US" altLang="ko-KR" sz="1000" b="0" dirty="0">
                <a:latin typeface="+mn-ea"/>
                <a:ea typeface="+mn-ea"/>
              </a:rPr>
              <a:t>/</a:t>
            </a:r>
            <a:r>
              <a:rPr lang="ko-KR" altLang="en-US" sz="1000" b="0" dirty="0">
                <a:latin typeface="+mn-ea"/>
                <a:ea typeface="+mn-ea"/>
              </a:rPr>
              <a:t>정원관리</a:t>
            </a:r>
            <a:r>
              <a:rPr lang="en-US" altLang="ko-KR" sz="1000" b="0" dirty="0">
                <a:latin typeface="+mn-ea"/>
                <a:ea typeface="+mn-ea"/>
              </a:rPr>
              <a:t>-</a:t>
            </a:r>
            <a:r>
              <a:rPr lang="ko-KR" altLang="en-US" sz="1000" b="0" dirty="0">
                <a:latin typeface="+mn-ea"/>
                <a:ea typeface="+mn-ea"/>
              </a:rPr>
              <a:t>조직변동이력</a:t>
            </a:r>
            <a:endParaRPr lang="en-US" altLang="ko-KR" sz="1000" b="0" dirty="0">
              <a:latin typeface="+mn-ea"/>
              <a:ea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급여관리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급여수식관리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b="0" dirty="0" err="1">
                <a:latin typeface="+mn-ea"/>
                <a:ea typeface="+mn-ea"/>
              </a:rPr>
              <a:t>인상시뮬레이션관리</a:t>
            </a:r>
            <a:r>
              <a:rPr lang="en-US" altLang="ko-KR" sz="1000" b="0" dirty="0">
                <a:latin typeface="+mn-ea"/>
                <a:ea typeface="+mn-ea"/>
              </a:rPr>
              <a:t>-</a:t>
            </a:r>
            <a:r>
              <a:rPr lang="ko-KR" altLang="en-US" sz="1000" b="0" dirty="0" err="1">
                <a:latin typeface="+mn-ea"/>
                <a:ea typeface="+mn-ea"/>
              </a:rPr>
              <a:t>총액인건비</a:t>
            </a:r>
            <a:r>
              <a:rPr lang="en-US" altLang="ko-KR" sz="1000" b="0" dirty="0">
                <a:latin typeface="+mn-ea"/>
                <a:ea typeface="+mn-ea"/>
              </a:rPr>
              <a:t>, </a:t>
            </a:r>
            <a:r>
              <a:rPr lang="ko-KR" altLang="en-US" sz="1000" b="0" dirty="0">
                <a:latin typeface="+mn-ea"/>
                <a:ea typeface="+mn-ea"/>
              </a:rPr>
              <a:t>차수</a:t>
            </a:r>
            <a:r>
              <a:rPr lang="en-US" altLang="ko-KR" sz="1000" b="0" dirty="0">
                <a:latin typeface="+mn-ea"/>
                <a:ea typeface="+mn-ea"/>
              </a:rPr>
              <a:t>, </a:t>
            </a:r>
            <a:r>
              <a:rPr lang="ko-KR" altLang="en-US" sz="1000" b="0" dirty="0" err="1">
                <a:latin typeface="+mn-ea"/>
                <a:ea typeface="+mn-ea"/>
              </a:rPr>
              <a:t>인상율</a:t>
            </a:r>
            <a:r>
              <a:rPr lang="en-US" altLang="ko-KR" sz="1000" b="0" dirty="0">
                <a:latin typeface="+mn-ea"/>
                <a:ea typeface="+mn-ea"/>
              </a:rPr>
              <a:t>, </a:t>
            </a:r>
            <a:r>
              <a:rPr lang="ko-KR" altLang="en-US" sz="1000" b="0" dirty="0">
                <a:latin typeface="+mn-ea"/>
                <a:ea typeface="+mn-ea"/>
              </a:rPr>
              <a:t>채용</a:t>
            </a:r>
            <a:r>
              <a:rPr lang="en-US" altLang="ko-KR" sz="1000" b="0" dirty="0">
                <a:latin typeface="+mn-ea"/>
                <a:ea typeface="+mn-ea"/>
              </a:rPr>
              <a:t>/</a:t>
            </a:r>
            <a:r>
              <a:rPr lang="ko-KR" altLang="en-US" sz="1000" b="0" dirty="0">
                <a:latin typeface="+mn-ea"/>
                <a:ea typeface="+mn-ea"/>
              </a:rPr>
              <a:t>승진 예상인원</a:t>
            </a:r>
            <a:r>
              <a:rPr lang="en-US" altLang="ko-KR" sz="1000" dirty="0">
                <a:latin typeface="+mn-ea"/>
              </a:rPr>
              <a:t> </a:t>
            </a:r>
            <a:r>
              <a:rPr lang="ko-KR" altLang="en-US" sz="1000" dirty="0">
                <a:latin typeface="+mn-ea"/>
              </a:rPr>
              <a:t>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계산결과 확인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총액인건비</a:t>
            </a:r>
            <a:r>
              <a:rPr lang="ko-KR" altLang="en-US" sz="1000" dirty="0">
                <a:latin typeface="+mn-ea"/>
              </a:rPr>
              <a:t> 비교 등</a:t>
            </a:r>
            <a:endParaRPr lang="en-US" altLang="ko-KR" sz="1000" b="0" dirty="0">
              <a:latin typeface="+mn-ea"/>
              <a:ea typeface="+mn-ea"/>
            </a:endParaRPr>
          </a:p>
        </p:txBody>
      </p:sp>
      <p:sp>
        <p:nvSpPr>
          <p:cNvPr id="154" name="직사각형 13">
            <a:extLst>
              <a:ext uri="{FF2B5EF4-FFF2-40B4-BE49-F238E27FC236}">
                <a16:creationId xmlns:a16="http://schemas.microsoft.com/office/drawing/2014/main" xmlns="" id="{E61E9F6E-21D4-4EA3-8C4E-AB0FA61E0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4372" y="5319880"/>
            <a:ext cx="5065704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ctr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집행계획작성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기금지원계획등록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통보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작성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검토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승인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중요재산등록지원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현장정보 등록요청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처분협의 요청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보완요청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현장점검관리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점검대상확정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현장조사결과작성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점검결과보고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시정명령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연중평가관리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평가편람 및 계획통보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월별 현장평가 실시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업체 공고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정산관리지원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이월처리내역 등록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정산결과확인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반납관리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반납요구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접수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반환독촉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독촉장 발부 등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성과평가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평가위원선정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해촉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위원회활동검토 등</a:t>
            </a:r>
            <a:endParaRPr lang="en-US" altLang="ko-KR" sz="1000" dirty="0"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xmlns="" id="{97F05EF8-CB20-4DBD-AF93-A093A5CE5DC4}"/>
              </a:ext>
            </a:extLst>
          </p:cNvPr>
          <p:cNvSpPr/>
          <p:nvPr/>
        </p:nvSpPr>
        <p:spPr bwMode="auto">
          <a:xfrm>
            <a:off x="3122003" y="2546780"/>
            <a:ext cx="681327" cy="389014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xmlns="" id="{E7A46569-9B67-4FF0-B368-150B829DEE2E}"/>
              </a:ext>
            </a:extLst>
          </p:cNvPr>
          <p:cNvSpPr/>
          <p:nvPr/>
        </p:nvSpPr>
        <p:spPr bwMode="auto">
          <a:xfrm>
            <a:off x="3315111" y="3867839"/>
            <a:ext cx="488219" cy="389014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xmlns="" id="{92D68982-D4C7-4F55-8389-A5F54EF1C722}"/>
              </a:ext>
            </a:extLst>
          </p:cNvPr>
          <p:cNvSpPr/>
          <p:nvPr/>
        </p:nvSpPr>
        <p:spPr bwMode="auto">
          <a:xfrm>
            <a:off x="2538351" y="5270116"/>
            <a:ext cx="1251655" cy="389014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81203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>
              <a:buSzPct val="80000"/>
              <a:defRPr/>
            </a:pP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신규 기능목록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(728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개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)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 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21.2% 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증가 기대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, 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수작업 업무는 신규정보화 중 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58.7%(427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개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)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증가 기대함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4.3 </a:t>
            </a:r>
            <a:r>
              <a:rPr lang="ko-KR" altLang="en-US" dirty="0"/>
              <a:t>정량적 기대효과 </a:t>
            </a:r>
            <a:r>
              <a:rPr lang="en-US" altLang="ko-KR" dirty="0"/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4.3 </a:t>
            </a:r>
            <a:r>
              <a:rPr lang="ko-KR" altLang="en-US" dirty="0"/>
              <a:t>정량적 기대효과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7CE232B5-3679-485C-AA9E-640F4A4029F0}"/>
              </a:ext>
            </a:extLst>
          </p:cNvPr>
          <p:cNvSpPr/>
          <p:nvPr/>
        </p:nvSpPr>
        <p:spPr>
          <a:xfrm>
            <a:off x="1491223" y="1513422"/>
            <a:ext cx="1300499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기능목록 현황</a:t>
            </a:r>
          </a:p>
        </p:txBody>
      </p:sp>
      <p:sp>
        <p:nvSpPr>
          <p:cNvPr id="6" name="모서리가 둥근 직사각형 23">
            <a:extLst>
              <a:ext uri="{FF2B5EF4-FFF2-40B4-BE49-F238E27FC236}">
                <a16:creationId xmlns:a16="http://schemas.microsoft.com/office/drawing/2014/main" xmlns="" id="{2921176B-7E7C-4DE1-AC7D-015F7E872E35}"/>
              </a:ext>
            </a:extLst>
          </p:cNvPr>
          <p:cNvSpPr/>
          <p:nvPr/>
        </p:nvSpPr>
        <p:spPr bwMode="auto">
          <a:xfrm>
            <a:off x="737466" y="1890378"/>
            <a:ext cx="806133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통합재무정보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(1,121)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7" name="모서리가 둥근 직사각형 23">
            <a:extLst>
              <a:ext uri="{FF2B5EF4-FFF2-40B4-BE49-F238E27FC236}">
                <a16:creationId xmlns:a16="http://schemas.microsoft.com/office/drawing/2014/main" xmlns="" id="{68214B6B-972C-4281-8ADB-EDDBF6336650}"/>
              </a:ext>
            </a:extLst>
          </p:cNvPr>
          <p:cNvSpPr/>
          <p:nvPr/>
        </p:nvSpPr>
        <p:spPr bwMode="auto">
          <a:xfrm>
            <a:off x="731129" y="2948184"/>
            <a:ext cx="806133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인적자원관리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(2,193)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" name="모서리가 둥근 직사각형 23">
            <a:extLst>
              <a:ext uri="{FF2B5EF4-FFF2-40B4-BE49-F238E27FC236}">
                <a16:creationId xmlns:a16="http://schemas.microsoft.com/office/drawing/2014/main" xmlns="" id="{03B4FD81-F13C-49EA-987A-598697E9C08B}"/>
              </a:ext>
            </a:extLst>
          </p:cNvPr>
          <p:cNvSpPr/>
          <p:nvPr/>
        </p:nvSpPr>
        <p:spPr bwMode="auto">
          <a:xfrm>
            <a:off x="736542" y="4005064"/>
            <a:ext cx="806133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기금지원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(126)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9" name="모서리가 둥근 직사각형 23">
            <a:extLst>
              <a:ext uri="{FF2B5EF4-FFF2-40B4-BE49-F238E27FC236}">
                <a16:creationId xmlns:a16="http://schemas.microsoft.com/office/drawing/2014/main" xmlns="" id="{D2F3FA87-ADC7-4BC5-B2CD-0101C1807318}"/>
              </a:ext>
            </a:extLst>
          </p:cNvPr>
          <p:cNvSpPr/>
          <p:nvPr/>
        </p:nvSpPr>
        <p:spPr bwMode="auto">
          <a:xfrm>
            <a:off x="736542" y="5229598"/>
            <a:ext cx="806133" cy="1007714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합계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(3,440)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0" name="모서리가 둥근 직사각형 23">
            <a:extLst>
              <a:ext uri="{FF2B5EF4-FFF2-40B4-BE49-F238E27FC236}">
                <a16:creationId xmlns:a16="http://schemas.microsoft.com/office/drawing/2014/main" xmlns="" id="{6EE31360-C06E-494C-A456-5E7448CE1B24}"/>
              </a:ext>
            </a:extLst>
          </p:cNvPr>
          <p:cNvSpPr/>
          <p:nvPr/>
        </p:nvSpPr>
        <p:spPr bwMode="auto">
          <a:xfrm>
            <a:off x="1647088" y="1890378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1" name="모서리가 둥근 직사각형 23">
            <a:extLst>
              <a:ext uri="{FF2B5EF4-FFF2-40B4-BE49-F238E27FC236}">
                <a16:creationId xmlns:a16="http://schemas.microsoft.com/office/drawing/2014/main" xmlns="" id="{08F4B55E-1017-4A9A-BB7A-BD8E040A94BB}"/>
              </a:ext>
            </a:extLst>
          </p:cNvPr>
          <p:cNvSpPr/>
          <p:nvPr/>
        </p:nvSpPr>
        <p:spPr bwMode="auto">
          <a:xfrm>
            <a:off x="1647088" y="2420888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2" name="모서리가 둥근 직사각형 23">
            <a:extLst>
              <a:ext uri="{FF2B5EF4-FFF2-40B4-BE49-F238E27FC236}">
                <a16:creationId xmlns:a16="http://schemas.microsoft.com/office/drawing/2014/main" xmlns="" id="{5A623148-4496-4A62-B7D8-C7B40559DCBF}"/>
              </a:ext>
            </a:extLst>
          </p:cNvPr>
          <p:cNvSpPr/>
          <p:nvPr/>
        </p:nvSpPr>
        <p:spPr bwMode="auto">
          <a:xfrm>
            <a:off x="1647088" y="2948184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3" name="모서리가 둥근 직사각형 23">
            <a:extLst>
              <a:ext uri="{FF2B5EF4-FFF2-40B4-BE49-F238E27FC236}">
                <a16:creationId xmlns:a16="http://schemas.microsoft.com/office/drawing/2014/main" xmlns="" id="{4B15ACE7-0D53-4DD3-A15A-BEAEA13195CE}"/>
              </a:ext>
            </a:extLst>
          </p:cNvPr>
          <p:cNvSpPr/>
          <p:nvPr/>
        </p:nvSpPr>
        <p:spPr bwMode="auto">
          <a:xfrm>
            <a:off x="1647088" y="3478100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4" name="모서리가 둥근 직사각형 23">
            <a:extLst>
              <a:ext uri="{FF2B5EF4-FFF2-40B4-BE49-F238E27FC236}">
                <a16:creationId xmlns:a16="http://schemas.microsoft.com/office/drawing/2014/main" xmlns="" id="{B492311A-896E-4FF7-9F82-D47481D67662}"/>
              </a:ext>
            </a:extLst>
          </p:cNvPr>
          <p:cNvSpPr/>
          <p:nvPr/>
        </p:nvSpPr>
        <p:spPr bwMode="auto">
          <a:xfrm>
            <a:off x="1647088" y="4005064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5" name="모서리가 둥근 직사각형 23">
            <a:extLst>
              <a:ext uri="{FF2B5EF4-FFF2-40B4-BE49-F238E27FC236}">
                <a16:creationId xmlns:a16="http://schemas.microsoft.com/office/drawing/2014/main" xmlns="" id="{92D84AAC-CEA5-4857-9F8A-DAD117052DD4}"/>
              </a:ext>
            </a:extLst>
          </p:cNvPr>
          <p:cNvSpPr/>
          <p:nvPr/>
        </p:nvSpPr>
        <p:spPr bwMode="auto">
          <a:xfrm>
            <a:off x="1647088" y="4534980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6" name="모서리가 둥근 직사각형 23">
            <a:extLst>
              <a:ext uri="{FF2B5EF4-FFF2-40B4-BE49-F238E27FC236}">
                <a16:creationId xmlns:a16="http://schemas.microsoft.com/office/drawing/2014/main" xmlns="" id="{B71ED327-1E4E-4627-A914-905858BB75EE}"/>
              </a:ext>
            </a:extLst>
          </p:cNvPr>
          <p:cNvSpPr/>
          <p:nvPr/>
        </p:nvSpPr>
        <p:spPr bwMode="auto">
          <a:xfrm>
            <a:off x="1647088" y="5229598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7" name="모서리가 둥근 직사각형 23">
            <a:extLst>
              <a:ext uri="{FF2B5EF4-FFF2-40B4-BE49-F238E27FC236}">
                <a16:creationId xmlns:a16="http://schemas.microsoft.com/office/drawing/2014/main" xmlns="" id="{4D23E453-BCE9-4B22-98E9-6182C9069E0A}"/>
              </a:ext>
            </a:extLst>
          </p:cNvPr>
          <p:cNvSpPr/>
          <p:nvPr/>
        </p:nvSpPr>
        <p:spPr bwMode="auto">
          <a:xfrm>
            <a:off x="1647088" y="5758228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8" name="모서리가 둥근 직사각형 23">
            <a:extLst>
              <a:ext uri="{FF2B5EF4-FFF2-40B4-BE49-F238E27FC236}">
                <a16:creationId xmlns:a16="http://schemas.microsoft.com/office/drawing/2014/main" xmlns="" id="{924F6D9F-F495-4F65-A951-00CCF9EE07A5}"/>
              </a:ext>
            </a:extLst>
          </p:cNvPr>
          <p:cNvSpPr/>
          <p:nvPr/>
        </p:nvSpPr>
        <p:spPr bwMode="auto">
          <a:xfrm>
            <a:off x="2529591" y="1890378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344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9" name="모서리가 둥근 직사각형 23">
            <a:extLst>
              <a:ext uri="{FF2B5EF4-FFF2-40B4-BE49-F238E27FC236}">
                <a16:creationId xmlns:a16="http://schemas.microsoft.com/office/drawing/2014/main" xmlns="" id="{FEA99303-E461-4B15-9A4A-C2C67C371890}"/>
              </a:ext>
            </a:extLst>
          </p:cNvPr>
          <p:cNvSpPr/>
          <p:nvPr/>
        </p:nvSpPr>
        <p:spPr bwMode="auto">
          <a:xfrm>
            <a:off x="2529591" y="2420888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777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0" name="모서리가 둥근 직사각형 23">
            <a:extLst>
              <a:ext uri="{FF2B5EF4-FFF2-40B4-BE49-F238E27FC236}">
                <a16:creationId xmlns:a16="http://schemas.microsoft.com/office/drawing/2014/main" xmlns="" id="{69119C0B-BEC9-4DD8-86AC-55A9ED57D505}"/>
              </a:ext>
            </a:extLst>
          </p:cNvPr>
          <p:cNvSpPr/>
          <p:nvPr/>
        </p:nvSpPr>
        <p:spPr bwMode="auto">
          <a:xfrm>
            <a:off x="2529591" y="2948184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275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1" name="모서리가 둥근 직사각형 23">
            <a:extLst>
              <a:ext uri="{FF2B5EF4-FFF2-40B4-BE49-F238E27FC236}">
                <a16:creationId xmlns:a16="http://schemas.microsoft.com/office/drawing/2014/main" xmlns="" id="{BD79068D-C600-4094-8C16-DC361ED94EBD}"/>
              </a:ext>
            </a:extLst>
          </p:cNvPr>
          <p:cNvSpPr/>
          <p:nvPr/>
        </p:nvSpPr>
        <p:spPr bwMode="auto">
          <a:xfrm>
            <a:off x="2529591" y="3478100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1,918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2" name="모서리가 둥근 직사각형 23">
            <a:extLst>
              <a:ext uri="{FF2B5EF4-FFF2-40B4-BE49-F238E27FC236}">
                <a16:creationId xmlns:a16="http://schemas.microsoft.com/office/drawing/2014/main" xmlns="" id="{8D257245-2830-4A86-A384-E996A3DD5ABD}"/>
              </a:ext>
            </a:extLst>
          </p:cNvPr>
          <p:cNvSpPr/>
          <p:nvPr/>
        </p:nvSpPr>
        <p:spPr bwMode="auto">
          <a:xfrm>
            <a:off x="2529591" y="4005064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109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3" name="모서리가 둥근 직사각형 23">
            <a:extLst>
              <a:ext uri="{FF2B5EF4-FFF2-40B4-BE49-F238E27FC236}">
                <a16:creationId xmlns:a16="http://schemas.microsoft.com/office/drawing/2014/main" xmlns="" id="{F8D91A91-EAE7-4ED8-9292-97DEB5A80FDC}"/>
              </a:ext>
            </a:extLst>
          </p:cNvPr>
          <p:cNvSpPr/>
          <p:nvPr/>
        </p:nvSpPr>
        <p:spPr bwMode="auto">
          <a:xfrm>
            <a:off x="2529591" y="4534980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17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4" name="모서리가 둥근 직사각형 23">
            <a:extLst>
              <a:ext uri="{FF2B5EF4-FFF2-40B4-BE49-F238E27FC236}">
                <a16:creationId xmlns:a16="http://schemas.microsoft.com/office/drawing/2014/main" xmlns="" id="{D827C28F-277B-4F60-A991-E5DBE4B0C53B}"/>
              </a:ext>
            </a:extLst>
          </p:cNvPr>
          <p:cNvSpPr/>
          <p:nvPr/>
        </p:nvSpPr>
        <p:spPr bwMode="auto">
          <a:xfrm>
            <a:off x="2529591" y="5229598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728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5" name="모서리가 둥근 직사각형 23">
            <a:extLst>
              <a:ext uri="{FF2B5EF4-FFF2-40B4-BE49-F238E27FC236}">
                <a16:creationId xmlns:a16="http://schemas.microsoft.com/office/drawing/2014/main" xmlns="" id="{D45AE141-4AAE-4CD3-A1A6-31728A742836}"/>
              </a:ext>
            </a:extLst>
          </p:cNvPr>
          <p:cNvSpPr/>
          <p:nvPr/>
        </p:nvSpPr>
        <p:spPr bwMode="auto">
          <a:xfrm>
            <a:off x="2529591" y="5758228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2,712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6" name="모서리가 둥근 직사각형 23">
            <a:extLst>
              <a:ext uri="{FF2B5EF4-FFF2-40B4-BE49-F238E27FC236}">
                <a16:creationId xmlns:a16="http://schemas.microsoft.com/office/drawing/2014/main" xmlns="" id="{44DC9978-BE4C-4891-8FFC-BEB89B2A3F4B}"/>
              </a:ext>
            </a:extLst>
          </p:cNvPr>
          <p:cNvSpPr/>
          <p:nvPr/>
        </p:nvSpPr>
        <p:spPr bwMode="auto">
          <a:xfrm>
            <a:off x="3635087" y="2081623"/>
            <a:ext cx="1371632" cy="626510"/>
          </a:xfrm>
          <a:prstGeom prst="roundRect">
            <a:avLst>
              <a:gd name="adj" fmla="val 0"/>
            </a:avLst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69.3%</a:t>
            </a:r>
          </a:p>
        </p:txBody>
      </p:sp>
      <p:sp>
        <p:nvSpPr>
          <p:cNvPr id="27" name="모서리가 둥근 직사각형 23">
            <a:extLst>
              <a:ext uri="{FF2B5EF4-FFF2-40B4-BE49-F238E27FC236}">
                <a16:creationId xmlns:a16="http://schemas.microsoft.com/office/drawing/2014/main" xmlns="" id="{D8DE7F9D-8A99-49B2-9BA0-6D0F273BEFF0}"/>
              </a:ext>
            </a:extLst>
          </p:cNvPr>
          <p:cNvSpPr/>
          <p:nvPr/>
        </p:nvSpPr>
        <p:spPr bwMode="auto">
          <a:xfrm>
            <a:off x="3635087" y="3139429"/>
            <a:ext cx="1587656" cy="626510"/>
          </a:xfrm>
          <a:prstGeom prst="roundRect">
            <a:avLst>
              <a:gd name="adj" fmla="val 0"/>
            </a:avLst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87.5%</a:t>
            </a:r>
            <a:endParaRPr lang="ko-KR" altLang="en-US" sz="1050" b="1" dirty="0">
              <a:latin typeface="+mn-ea"/>
              <a:sym typeface="Wingdings" pitchFamily="2" charset="2"/>
            </a:endParaRPr>
          </a:p>
        </p:txBody>
      </p:sp>
      <p:sp>
        <p:nvSpPr>
          <p:cNvPr id="28" name="모서리가 둥근 직사각형 23">
            <a:extLst>
              <a:ext uri="{FF2B5EF4-FFF2-40B4-BE49-F238E27FC236}">
                <a16:creationId xmlns:a16="http://schemas.microsoft.com/office/drawing/2014/main" xmlns="" id="{4406238D-50FE-411A-AEBA-3D1406313521}"/>
              </a:ext>
            </a:extLst>
          </p:cNvPr>
          <p:cNvSpPr/>
          <p:nvPr/>
        </p:nvSpPr>
        <p:spPr bwMode="auto">
          <a:xfrm>
            <a:off x="3635087" y="4196309"/>
            <a:ext cx="579545" cy="626510"/>
          </a:xfrm>
          <a:prstGeom prst="roundRect">
            <a:avLst>
              <a:gd name="adj" fmla="val 0"/>
            </a:avLst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13.5%</a:t>
            </a:r>
            <a:endParaRPr lang="ko-KR" altLang="en-US" sz="1050" b="1" dirty="0">
              <a:latin typeface="+mn-ea"/>
              <a:sym typeface="Wingdings" pitchFamily="2" charset="2"/>
            </a:endParaRPr>
          </a:p>
        </p:txBody>
      </p:sp>
      <p:sp>
        <p:nvSpPr>
          <p:cNvPr id="29" name="모서리가 둥근 직사각형 23">
            <a:extLst>
              <a:ext uri="{FF2B5EF4-FFF2-40B4-BE49-F238E27FC236}">
                <a16:creationId xmlns:a16="http://schemas.microsoft.com/office/drawing/2014/main" xmlns="" id="{EDFB51C3-D281-4C19-BE5D-0260FF60E391}"/>
              </a:ext>
            </a:extLst>
          </p:cNvPr>
          <p:cNvSpPr/>
          <p:nvPr/>
        </p:nvSpPr>
        <p:spPr bwMode="auto">
          <a:xfrm>
            <a:off x="3635087" y="5420843"/>
            <a:ext cx="1443640" cy="626510"/>
          </a:xfrm>
          <a:prstGeom prst="roundRect">
            <a:avLst>
              <a:gd name="adj" fmla="val 0"/>
            </a:avLst>
          </a:prstGeom>
          <a:solidFill>
            <a:schemeClr val="accent1">
              <a:lumMod val="75000"/>
            </a:schemeClr>
          </a:solidFill>
          <a:ln w="6350" cap="flat" cmpd="sng">
            <a:solidFill>
              <a:srgbClr val="57A5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78.8%</a:t>
            </a:r>
            <a:endParaRPr lang="ko-KR" altLang="en-US" sz="1050" b="1" dirty="0">
              <a:latin typeface="+mn-ea"/>
              <a:sym typeface="Wingdings" pitchFamily="2" charset="2"/>
            </a:endParaRPr>
          </a:p>
        </p:txBody>
      </p:sp>
      <p:sp>
        <p:nvSpPr>
          <p:cNvPr id="30" name="모서리가 둥근 직사각형 23">
            <a:extLst>
              <a:ext uri="{FF2B5EF4-FFF2-40B4-BE49-F238E27FC236}">
                <a16:creationId xmlns:a16="http://schemas.microsoft.com/office/drawing/2014/main" xmlns="" id="{851C98DD-8458-426B-B998-57B2B2F1784B}"/>
              </a:ext>
            </a:extLst>
          </p:cNvPr>
          <p:cNvSpPr/>
          <p:nvPr/>
        </p:nvSpPr>
        <p:spPr bwMode="auto">
          <a:xfrm>
            <a:off x="5006719" y="2081623"/>
            <a:ext cx="693527" cy="626510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1100" b="1" kern="0" dirty="0">
                <a:latin typeface="+mn-ea"/>
                <a:sym typeface="Wingdings" pitchFamily="2" charset="2"/>
              </a:rPr>
              <a:t>30.7%</a:t>
            </a:r>
            <a:endParaRPr lang="ko-KR" altLang="en-US" sz="1100" b="1" kern="0" dirty="0">
              <a:latin typeface="+mn-ea"/>
              <a:sym typeface="Wingdings" pitchFamily="2" charset="2"/>
            </a:endParaRPr>
          </a:p>
        </p:txBody>
      </p:sp>
      <p:sp>
        <p:nvSpPr>
          <p:cNvPr id="31" name="모서리가 둥근 직사각형 23">
            <a:extLst>
              <a:ext uri="{FF2B5EF4-FFF2-40B4-BE49-F238E27FC236}">
                <a16:creationId xmlns:a16="http://schemas.microsoft.com/office/drawing/2014/main" xmlns="" id="{7AD44318-3F40-4777-A6C3-1F0DB3D828EB}"/>
              </a:ext>
            </a:extLst>
          </p:cNvPr>
          <p:cNvSpPr/>
          <p:nvPr/>
        </p:nvSpPr>
        <p:spPr bwMode="auto">
          <a:xfrm>
            <a:off x="5222743" y="3139429"/>
            <a:ext cx="477503" cy="626510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1100" b="1" kern="0" dirty="0">
                <a:latin typeface="+mn-ea"/>
                <a:sym typeface="Wingdings" pitchFamily="2" charset="2"/>
              </a:rPr>
              <a:t>12.5%</a:t>
            </a:r>
            <a:endParaRPr lang="ko-KR" altLang="en-US" sz="1100" b="1" kern="0" dirty="0">
              <a:latin typeface="+mn-ea"/>
              <a:sym typeface="Wingdings" pitchFamily="2" charset="2"/>
            </a:endParaRPr>
          </a:p>
        </p:txBody>
      </p:sp>
      <p:sp>
        <p:nvSpPr>
          <p:cNvPr id="32" name="모서리가 둥근 직사각형 23">
            <a:extLst>
              <a:ext uri="{FF2B5EF4-FFF2-40B4-BE49-F238E27FC236}">
                <a16:creationId xmlns:a16="http://schemas.microsoft.com/office/drawing/2014/main" xmlns="" id="{2AAE58F3-0CFD-4BB8-84C5-CB9FE5C41E14}"/>
              </a:ext>
            </a:extLst>
          </p:cNvPr>
          <p:cNvSpPr/>
          <p:nvPr/>
        </p:nvSpPr>
        <p:spPr bwMode="auto">
          <a:xfrm>
            <a:off x="4214632" y="4196309"/>
            <a:ext cx="1485615" cy="626510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1100" b="1" kern="0" dirty="0">
                <a:latin typeface="+mn-ea"/>
                <a:sym typeface="Wingdings" pitchFamily="2" charset="2"/>
              </a:rPr>
              <a:t>86.5%</a:t>
            </a:r>
            <a:endParaRPr lang="ko-KR" altLang="en-US" sz="1100" b="1" kern="0" dirty="0">
              <a:latin typeface="+mn-ea"/>
              <a:sym typeface="Wingdings" pitchFamily="2" charset="2"/>
            </a:endParaRPr>
          </a:p>
        </p:txBody>
      </p:sp>
      <p:sp>
        <p:nvSpPr>
          <p:cNvPr id="33" name="모서리가 둥근 직사각형 23">
            <a:extLst>
              <a:ext uri="{FF2B5EF4-FFF2-40B4-BE49-F238E27FC236}">
                <a16:creationId xmlns:a16="http://schemas.microsoft.com/office/drawing/2014/main" xmlns="" id="{EA171EA7-5EA4-4AE2-B97C-64DE8CE6897F}"/>
              </a:ext>
            </a:extLst>
          </p:cNvPr>
          <p:cNvSpPr/>
          <p:nvPr/>
        </p:nvSpPr>
        <p:spPr bwMode="auto">
          <a:xfrm>
            <a:off x="5078727" y="5420843"/>
            <a:ext cx="621519" cy="626510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>
            <a:scene3d>
              <a:camera prst="orthographicFront"/>
              <a:lightRig rig="threePt" dir="t"/>
            </a:scene3d>
            <a:sp3d>
              <a:bevelT w="0" h="12700"/>
            </a:sp3d>
          </a:bodyPr>
          <a:lstStyle/>
          <a:p>
            <a:pPr algn="ctr" latinLnBrk="0">
              <a:buSzPct val="80000"/>
            </a:pPr>
            <a:r>
              <a:rPr lang="en-US" altLang="ko-KR" sz="1100" b="1" kern="0" dirty="0">
                <a:latin typeface="+mn-ea"/>
                <a:sym typeface="Wingdings" pitchFamily="2" charset="2"/>
              </a:rPr>
              <a:t>21.2%</a:t>
            </a:r>
            <a:endParaRPr lang="ko-KR" altLang="en-US" sz="1100" b="1" kern="0" dirty="0">
              <a:latin typeface="+mn-ea"/>
              <a:sym typeface="Wingdings" pitchFamily="2" charset="2"/>
            </a:endParaRP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xmlns="" id="{CD0D30C2-6BFE-4010-AAB3-5B57B82A75FC}"/>
              </a:ext>
            </a:extLst>
          </p:cNvPr>
          <p:cNvCxnSpPr>
            <a:cxnSpLocks/>
          </p:cNvCxnSpPr>
          <p:nvPr/>
        </p:nvCxnSpPr>
        <p:spPr>
          <a:xfrm flipV="1">
            <a:off x="416496" y="5115664"/>
            <a:ext cx="9111285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xmlns="" id="{2D87C6ED-EA16-4F94-BAB0-DED76DC69DD2}"/>
              </a:ext>
            </a:extLst>
          </p:cNvPr>
          <p:cNvSpPr/>
          <p:nvPr/>
        </p:nvSpPr>
        <p:spPr>
          <a:xfrm>
            <a:off x="6710863" y="1513422"/>
            <a:ext cx="2094466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b="1" u="sng">
                <a:solidFill>
                  <a:srgbClr val="000000"/>
                </a:solidFill>
                <a:latin typeface="+mn-ea"/>
                <a:sym typeface="Wingdings" pitchFamily="2" charset="2"/>
              </a:rPr>
              <a:t>수작업 업무의 정보화 현황</a:t>
            </a:r>
            <a:endParaRPr kumimoji="1" lang="ko-KR" altLang="en-US" sz="1200" b="1" u="sng" dirty="0">
              <a:solidFill>
                <a:srgbClr val="000000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xmlns="" id="{6F02E507-2FB1-464F-954C-A52A0409B131}"/>
              </a:ext>
            </a:extLst>
          </p:cNvPr>
          <p:cNvSpPr/>
          <p:nvPr/>
        </p:nvSpPr>
        <p:spPr bwMode="auto">
          <a:xfrm>
            <a:off x="5028543" y="2076487"/>
            <a:ext cx="679969" cy="626510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xmlns="" id="{3F295474-ED79-4846-BFF9-529F5918522D}"/>
              </a:ext>
            </a:extLst>
          </p:cNvPr>
          <p:cNvSpPr/>
          <p:nvPr/>
        </p:nvSpPr>
        <p:spPr bwMode="auto">
          <a:xfrm>
            <a:off x="4239760" y="4183976"/>
            <a:ext cx="1460486" cy="626510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xmlns="" id="{D5DA3D89-D5D2-40B1-B62B-71A92C458F23}"/>
              </a:ext>
            </a:extLst>
          </p:cNvPr>
          <p:cNvSpPr/>
          <p:nvPr/>
        </p:nvSpPr>
        <p:spPr bwMode="auto">
          <a:xfrm>
            <a:off x="5227805" y="3147455"/>
            <a:ext cx="472441" cy="626510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xmlns="" id="{7CCD27DE-52ED-4434-AA11-990E102B3ACE}"/>
              </a:ext>
            </a:extLst>
          </p:cNvPr>
          <p:cNvSpPr/>
          <p:nvPr/>
        </p:nvSpPr>
        <p:spPr bwMode="auto">
          <a:xfrm>
            <a:off x="5078727" y="5420200"/>
            <a:ext cx="629785" cy="626510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40" name="모서리가 둥근 직사각형 23">
            <a:extLst>
              <a:ext uri="{FF2B5EF4-FFF2-40B4-BE49-F238E27FC236}">
                <a16:creationId xmlns:a16="http://schemas.microsoft.com/office/drawing/2014/main" xmlns="" id="{F8E7B325-64E0-4D7F-B2CE-DC66733290A0}"/>
              </a:ext>
            </a:extLst>
          </p:cNvPr>
          <p:cNvSpPr/>
          <p:nvPr/>
        </p:nvSpPr>
        <p:spPr bwMode="auto">
          <a:xfrm>
            <a:off x="6378351" y="2081623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144000" tIns="36000" rIns="0" bIns="36000" rtlCol="0" anchor="ctr"/>
          <a:lstStyle/>
          <a:p>
            <a:r>
              <a:rPr lang="en-US" altLang="ko-KR" sz="1050" b="1" dirty="0">
                <a:latin typeface="+mn-ea"/>
                <a:sym typeface="Wingdings" pitchFamily="2" charset="2"/>
              </a:rPr>
              <a:t>344</a:t>
            </a:r>
          </a:p>
        </p:txBody>
      </p:sp>
      <p:sp>
        <p:nvSpPr>
          <p:cNvPr id="41" name="모서리가 둥근 직사각형 23">
            <a:extLst>
              <a:ext uri="{FF2B5EF4-FFF2-40B4-BE49-F238E27FC236}">
                <a16:creationId xmlns:a16="http://schemas.microsoft.com/office/drawing/2014/main" xmlns="" id="{361FD593-E649-445B-B449-BA1EDCA047CA}"/>
              </a:ext>
            </a:extLst>
          </p:cNvPr>
          <p:cNvSpPr/>
          <p:nvPr/>
        </p:nvSpPr>
        <p:spPr bwMode="auto">
          <a:xfrm>
            <a:off x="7815032" y="2081623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200" b="1" dirty="0">
                <a:latin typeface="+mn-ea"/>
                <a:sym typeface="Wingdings" pitchFamily="2" charset="2"/>
              </a:rPr>
              <a:t>45.1%</a:t>
            </a:r>
          </a:p>
        </p:txBody>
      </p:sp>
      <p:sp>
        <p:nvSpPr>
          <p:cNvPr id="42" name="모서리가 둥근 직사각형 23">
            <a:extLst>
              <a:ext uri="{FF2B5EF4-FFF2-40B4-BE49-F238E27FC236}">
                <a16:creationId xmlns:a16="http://schemas.microsoft.com/office/drawing/2014/main" xmlns="" id="{C997D300-CE13-4D9A-A43E-0250D4FE16EB}"/>
              </a:ext>
            </a:extLst>
          </p:cNvPr>
          <p:cNvSpPr/>
          <p:nvPr/>
        </p:nvSpPr>
        <p:spPr bwMode="auto">
          <a:xfrm>
            <a:off x="6378351" y="3114013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144000" tIns="36000" rIns="0" bIns="36000" rtlCol="0" anchor="ctr"/>
          <a:lstStyle/>
          <a:p>
            <a:r>
              <a:rPr lang="en-US" altLang="ko-KR" sz="1050" b="1" dirty="0">
                <a:latin typeface="+mn-ea"/>
                <a:sym typeface="Wingdings" pitchFamily="2" charset="2"/>
              </a:rPr>
              <a:t>275</a:t>
            </a:r>
          </a:p>
        </p:txBody>
      </p:sp>
      <p:sp>
        <p:nvSpPr>
          <p:cNvPr id="43" name="모서리가 둥근 직사각형 23">
            <a:extLst>
              <a:ext uri="{FF2B5EF4-FFF2-40B4-BE49-F238E27FC236}">
                <a16:creationId xmlns:a16="http://schemas.microsoft.com/office/drawing/2014/main" xmlns="" id="{2AD5D166-85A7-42B0-A462-ABA0552DD7B5}"/>
              </a:ext>
            </a:extLst>
          </p:cNvPr>
          <p:cNvSpPr/>
          <p:nvPr/>
        </p:nvSpPr>
        <p:spPr bwMode="auto">
          <a:xfrm>
            <a:off x="7815032" y="3114013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200" b="1" dirty="0">
                <a:latin typeface="+mn-ea"/>
                <a:sym typeface="Wingdings" pitchFamily="2" charset="2"/>
              </a:rPr>
              <a:t>82.9%</a:t>
            </a:r>
          </a:p>
        </p:txBody>
      </p:sp>
      <p:sp>
        <p:nvSpPr>
          <p:cNvPr id="44" name="모서리가 둥근 직사각형 23">
            <a:extLst>
              <a:ext uri="{FF2B5EF4-FFF2-40B4-BE49-F238E27FC236}">
                <a16:creationId xmlns:a16="http://schemas.microsoft.com/office/drawing/2014/main" xmlns="" id="{332C9F52-7442-45DF-94BC-EB706E0B6F5E}"/>
              </a:ext>
            </a:extLst>
          </p:cNvPr>
          <p:cNvSpPr/>
          <p:nvPr/>
        </p:nvSpPr>
        <p:spPr bwMode="auto">
          <a:xfrm>
            <a:off x="6378351" y="4183976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144000" tIns="36000" rIns="0" bIns="36000" rtlCol="0" anchor="ctr"/>
          <a:lstStyle/>
          <a:p>
            <a:r>
              <a:rPr lang="en-US" altLang="ko-KR" sz="1050" b="1" dirty="0">
                <a:latin typeface="+mn-ea"/>
                <a:sym typeface="Wingdings" pitchFamily="2" charset="2"/>
              </a:rPr>
              <a:t>109</a:t>
            </a:r>
          </a:p>
        </p:txBody>
      </p:sp>
      <p:sp>
        <p:nvSpPr>
          <p:cNvPr id="45" name="모서리가 둥근 직사각형 23">
            <a:extLst>
              <a:ext uri="{FF2B5EF4-FFF2-40B4-BE49-F238E27FC236}">
                <a16:creationId xmlns:a16="http://schemas.microsoft.com/office/drawing/2014/main" xmlns="" id="{2279E07D-AA90-468C-9851-10B013CEFCF9}"/>
              </a:ext>
            </a:extLst>
          </p:cNvPr>
          <p:cNvSpPr/>
          <p:nvPr/>
        </p:nvSpPr>
        <p:spPr bwMode="auto">
          <a:xfrm>
            <a:off x="7815032" y="4183976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200" b="1" dirty="0">
                <a:latin typeface="+mn-ea"/>
                <a:sym typeface="Wingdings" pitchFamily="2" charset="2"/>
              </a:rPr>
              <a:t>40.4%</a:t>
            </a:r>
          </a:p>
        </p:txBody>
      </p:sp>
      <p:sp>
        <p:nvSpPr>
          <p:cNvPr id="46" name="모서리가 둥근 직사각형 23">
            <a:extLst>
              <a:ext uri="{FF2B5EF4-FFF2-40B4-BE49-F238E27FC236}">
                <a16:creationId xmlns:a16="http://schemas.microsoft.com/office/drawing/2014/main" xmlns="" id="{B9EFBA78-EE28-400E-8F58-E9F3B1F33F4C}"/>
              </a:ext>
            </a:extLst>
          </p:cNvPr>
          <p:cNvSpPr/>
          <p:nvPr/>
        </p:nvSpPr>
        <p:spPr bwMode="auto">
          <a:xfrm>
            <a:off x="6378351" y="5414104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144000" tIns="36000" rIns="0" bIns="36000" rtlCol="0" anchor="ctr"/>
          <a:lstStyle/>
          <a:p>
            <a:r>
              <a:rPr lang="en-US" altLang="ko-KR" sz="1050" b="1" dirty="0">
                <a:latin typeface="+mn-ea"/>
                <a:sym typeface="Wingdings" pitchFamily="2" charset="2"/>
              </a:rPr>
              <a:t>728</a:t>
            </a:r>
          </a:p>
        </p:txBody>
      </p:sp>
      <p:sp>
        <p:nvSpPr>
          <p:cNvPr id="47" name="모서리가 둥근 직사각형 23">
            <a:extLst>
              <a:ext uri="{FF2B5EF4-FFF2-40B4-BE49-F238E27FC236}">
                <a16:creationId xmlns:a16="http://schemas.microsoft.com/office/drawing/2014/main" xmlns="" id="{B7AD2610-C064-4099-9FD7-A798F3E94E7D}"/>
              </a:ext>
            </a:extLst>
          </p:cNvPr>
          <p:cNvSpPr/>
          <p:nvPr/>
        </p:nvSpPr>
        <p:spPr bwMode="auto">
          <a:xfrm>
            <a:off x="7815032" y="5414104"/>
            <a:ext cx="1371632" cy="6265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200" b="1" dirty="0">
                <a:latin typeface="+mn-ea"/>
                <a:sym typeface="Wingdings" pitchFamily="2" charset="2"/>
              </a:rPr>
              <a:t>58.7%</a:t>
            </a:r>
          </a:p>
        </p:txBody>
      </p:sp>
      <p:sp>
        <p:nvSpPr>
          <p:cNvPr id="48" name="화살표: 오른쪽 47">
            <a:extLst>
              <a:ext uri="{FF2B5EF4-FFF2-40B4-BE49-F238E27FC236}">
                <a16:creationId xmlns:a16="http://schemas.microsoft.com/office/drawing/2014/main" xmlns="" id="{B09FFFD8-37A3-46FC-B614-723EF0F36D34}"/>
              </a:ext>
            </a:extLst>
          </p:cNvPr>
          <p:cNvSpPr/>
          <p:nvPr/>
        </p:nvSpPr>
        <p:spPr bwMode="auto">
          <a:xfrm>
            <a:off x="5842237" y="2108436"/>
            <a:ext cx="388619" cy="609110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>
              <a:latin typeface="+mn-ea"/>
            </a:endParaRPr>
          </a:p>
        </p:txBody>
      </p:sp>
      <p:sp>
        <p:nvSpPr>
          <p:cNvPr id="49" name="화살표: 오른쪽 48">
            <a:extLst>
              <a:ext uri="{FF2B5EF4-FFF2-40B4-BE49-F238E27FC236}">
                <a16:creationId xmlns:a16="http://schemas.microsoft.com/office/drawing/2014/main" xmlns="" id="{91DD9BE5-C733-46D9-A405-768015447111}"/>
              </a:ext>
            </a:extLst>
          </p:cNvPr>
          <p:cNvSpPr/>
          <p:nvPr/>
        </p:nvSpPr>
        <p:spPr bwMode="auto">
          <a:xfrm>
            <a:off x="5842237" y="3122712"/>
            <a:ext cx="388619" cy="609110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>
              <a:latin typeface="+mn-ea"/>
            </a:endParaRPr>
          </a:p>
        </p:txBody>
      </p:sp>
      <p:sp>
        <p:nvSpPr>
          <p:cNvPr id="50" name="화살표: 오른쪽 49">
            <a:extLst>
              <a:ext uri="{FF2B5EF4-FFF2-40B4-BE49-F238E27FC236}">
                <a16:creationId xmlns:a16="http://schemas.microsoft.com/office/drawing/2014/main" xmlns="" id="{E7C696D9-F560-475D-8BE2-68C90EAFA6D0}"/>
              </a:ext>
            </a:extLst>
          </p:cNvPr>
          <p:cNvSpPr/>
          <p:nvPr/>
        </p:nvSpPr>
        <p:spPr bwMode="auto">
          <a:xfrm>
            <a:off x="5842237" y="4187323"/>
            <a:ext cx="388619" cy="609110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>
              <a:latin typeface="+mn-ea"/>
            </a:endParaRPr>
          </a:p>
        </p:txBody>
      </p:sp>
      <p:sp>
        <p:nvSpPr>
          <p:cNvPr id="51" name="화살표: 오른쪽 50">
            <a:extLst>
              <a:ext uri="{FF2B5EF4-FFF2-40B4-BE49-F238E27FC236}">
                <a16:creationId xmlns:a16="http://schemas.microsoft.com/office/drawing/2014/main" xmlns="" id="{5419D2A9-FF4B-4B85-B29B-16AC204EBE0C}"/>
              </a:ext>
            </a:extLst>
          </p:cNvPr>
          <p:cNvSpPr/>
          <p:nvPr/>
        </p:nvSpPr>
        <p:spPr bwMode="auto">
          <a:xfrm>
            <a:off x="5842237" y="5434895"/>
            <a:ext cx="388619" cy="609110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350">
              <a:latin typeface="+mn-ea"/>
            </a:endParaRPr>
          </a:p>
        </p:txBody>
      </p:sp>
      <p:sp>
        <p:nvSpPr>
          <p:cNvPr id="52" name="모서리가 둥근 직사각형 23">
            <a:extLst>
              <a:ext uri="{FF2B5EF4-FFF2-40B4-BE49-F238E27FC236}">
                <a16:creationId xmlns:a16="http://schemas.microsoft.com/office/drawing/2014/main" xmlns="" id="{719E9B6D-938B-4A09-9A71-A6752B204559}"/>
              </a:ext>
            </a:extLst>
          </p:cNvPr>
          <p:cNvSpPr/>
          <p:nvPr/>
        </p:nvSpPr>
        <p:spPr bwMode="auto">
          <a:xfrm>
            <a:off x="6979738" y="2150613"/>
            <a:ext cx="732806" cy="488531"/>
          </a:xfrm>
          <a:prstGeom prst="roundRect">
            <a:avLst>
              <a:gd name="adj" fmla="val 0"/>
            </a:avLst>
          </a:prstGeom>
          <a:solidFill>
            <a:srgbClr val="FFFF00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155</a:t>
            </a:r>
          </a:p>
        </p:txBody>
      </p:sp>
      <p:sp>
        <p:nvSpPr>
          <p:cNvPr id="53" name="모서리가 둥근 직사각형 23">
            <a:extLst>
              <a:ext uri="{FF2B5EF4-FFF2-40B4-BE49-F238E27FC236}">
                <a16:creationId xmlns:a16="http://schemas.microsoft.com/office/drawing/2014/main" xmlns="" id="{C4D4B342-4105-43DC-BF84-102CB52C6837}"/>
              </a:ext>
            </a:extLst>
          </p:cNvPr>
          <p:cNvSpPr/>
          <p:nvPr/>
        </p:nvSpPr>
        <p:spPr bwMode="auto">
          <a:xfrm>
            <a:off x="6979738" y="3183003"/>
            <a:ext cx="732806" cy="488531"/>
          </a:xfrm>
          <a:prstGeom prst="roundRect">
            <a:avLst>
              <a:gd name="adj" fmla="val 0"/>
            </a:avLst>
          </a:prstGeom>
          <a:solidFill>
            <a:srgbClr val="FFFF00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228</a:t>
            </a:r>
          </a:p>
        </p:txBody>
      </p:sp>
      <p:sp>
        <p:nvSpPr>
          <p:cNvPr id="54" name="모서리가 둥근 직사각형 23">
            <a:extLst>
              <a:ext uri="{FF2B5EF4-FFF2-40B4-BE49-F238E27FC236}">
                <a16:creationId xmlns:a16="http://schemas.microsoft.com/office/drawing/2014/main" xmlns="" id="{2E23B4ED-3211-4ACC-8AD6-93C6CD43839B}"/>
              </a:ext>
            </a:extLst>
          </p:cNvPr>
          <p:cNvSpPr/>
          <p:nvPr/>
        </p:nvSpPr>
        <p:spPr bwMode="auto">
          <a:xfrm>
            <a:off x="6979738" y="4252966"/>
            <a:ext cx="732806" cy="488531"/>
          </a:xfrm>
          <a:prstGeom prst="roundRect">
            <a:avLst>
              <a:gd name="adj" fmla="val 0"/>
            </a:avLst>
          </a:prstGeom>
          <a:solidFill>
            <a:srgbClr val="FFFF00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44</a:t>
            </a:r>
          </a:p>
        </p:txBody>
      </p:sp>
      <p:sp>
        <p:nvSpPr>
          <p:cNvPr id="55" name="모서리가 둥근 직사각형 23">
            <a:extLst>
              <a:ext uri="{FF2B5EF4-FFF2-40B4-BE49-F238E27FC236}">
                <a16:creationId xmlns:a16="http://schemas.microsoft.com/office/drawing/2014/main" xmlns="" id="{1AFE3E65-0FE8-4057-95A9-57E7F2437D06}"/>
              </a:ext>
            </a:extLst>
          </p:cNvPr>
          <p:cNvSpPr/>
          <p:nvPr/>
        </p:nvSpPr>
        <p:spPr bwMode="auto">
          <a:xfrm>
            <a:off x="6979738" y="5483094"/>
            <a:ext cx="732806" cy="488531"/>
          </a:xfrm>
          <a:prstGeom prst="roundRect">
            <a:avLst>
              <a:gd name="adj" fmla="val 0"/>
            </a:avLst>
          </a:prstGeom>
          <a:solidFill>
            <a:srgbClr val="FFFF00"/>
          </a:solidFill>
          <a:ln w="63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36000" rIns="0" bIns="36000" rtlCol="0" anchor="ctr"/>
          <a:lstStyle/>
          <a:p>
            <a:pPr algn="ctr"/>
            <a:r>
              <a:rPr lang="en-US" altLang="ko-KR" sz="1050" b="1" dirty="0">
                <a:latin typeface="+mn-ea"/>
                <a:sym typeface="Wingdings" pitchFamily="2" charset="2"/>
              </a:rPr>
              <a:t>427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xmlns="" id="{929F44C7-A49F-4566-8BF3-FC1882BE9A0B}"/>
              </a:ext>
            </a:extLst>
          </p:cNvPr>
          <p:cNvSpPr/>
          <p:nvPr/>
        </p:nvSpPr>
        <p:spPr>
          <a:xfrm>
            <a:off x="4053780" y="1513422"/>
            <a:ext cx="1430549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기능목록의 비율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xmlns="" id="{EE6B93DE-D07B-4E3F-86D3-CB819BC57AB0}"/>
              </a:ext>
            </a:extLst>
          </p:cNvPr>
          <p:cNvGrpSpPr/>
          <p:nvPr/>
        </p:nvGrpSpPr>
        <p:grpSpPr>
          <a:xfrm>
            <a:off x="6660981" y="6195138"/>
            <a:ext cx="2708891" cy="200661"/>
            <a:chOff x="6660981" y="6195138"/>
            <a:chExt cx="2708891" cy="200661"/>
          </a:xfrm>
        </p:grpSpPr>
        <p:sp>
          <p:nvSpPr>
            <p:cNvPr id="58" name="모서리가 둥근 직사각형 23">
              <a:extLst>
                <a:ext uri="{FF2B5EF4-FFF2-40B4-BE49-F238E27FC236}">
                  <a16:creationId xmlns:a16="http://schemas.microsoft.com/office/drawing/2014/main" xmlns="" id="{FD3EFE3D-805A-4D2A-866D-2790123AB70D}"/>
                </a:ext>
              </a:extLst>
            </p:cNvPr>
            <p:cNvSpPr/>
            <p:nvPr/>
          </p:nvSpPr>
          <p:spPr bwMode="auto">
            <a:xfrm>
              <a:off x="7758096" y="6195603"/>
              <a:ext cx="217018" cy="181832"/>
            </a:xfrm>
            <a:prstGeom prst="roundRect">
              <a:avLst>
                <a:gd name="adj" fmla="val 0"/>
              </a:avLst>
            </a:prstGeom>
            <a:solidFill>
              <a:srgbClr val="FFFF00"/>
            </a:solidFill>
            <a:ln w="63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36000" rIns="0" bIns="36000" rtlCol="0" anchor="ctr"/>
            <a:lstStyle/>
            <a:p>
              <a:pPr algn="ctr"/>
              <a:endParaRPr lang="en-US" altLang="ko-KR" sz="1050" b="1" dirty="0">
                <a:latin typeface="+mn-ea"/>
                <a:sym typeface="Wingdings" pitchFamily="2" charset="2"/>
              </a:endParaRPr>
            </a:p>
          </p:txBody>
        </p:sp>
        <p:sp>
          <p:nvSpPr>
            <p:cNvPr id="59" name="모서리가 둥근 직사각형 23">
              <a:extLst>
                <a:ext uri="{FF2B5EF4-FFF2-40B4-BE49-F238E27FC236}">
                  <a16:creationId xmlns:a16="http://schemas.microsoft.com/office/drawing/2014/main" xmlns="" id="{10651EB3-BDB2-4ECF-A166-BD679A5B3F46}"/>
                </a:ext>
              </a:extLst>
            </p:cNvPr>
            <p:cNvSpPr/>
            <p:nvPr/>
          </p:nvSpPr>
          <p:spPr bwMode="auto">
            <a:xfrm>
              <a:off x="6660981" y="6195138"/>
              <a:ext cx="217018" cy="18183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144000" tIns="36000" rIns="0" bIns="36000" rtlCol="0" anchor="ctr"/>
            <a:lstStyle/>
            <a:p>
              <a:endParaRPr lang="en-US" altLang="ko-KR" sz="1050" b="1" dirty="0">
                <a:latin typeface="+mn-ea"/>
                <a:sym typeface="Wingdings" pitchFamily="2" charset="2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xmlns="" id="{7659C99C-5247-43E5-9818-C77755EFA609}"/>
                </a:ext>
              </a:extLst>
            </p:cNvPr>
            <p:cNvSpPr/>
            <p:nvPr/>
          </p:nvSpPr>
          <p:spPr>
            <a:xfrm>
              <a:off x="6825208" y="6195744"/>
              <a:ext cx="90281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 eaLnBrk="1" hangingPunct="1">
                <a:lnSpc>
                  <a:spcPct val="100000"/>
                </a:lnSpc>
                <a:spcBef>
                  <a:spcPct val="20000"/>
                </a:spcBef>
                <a:buClr>
                  <a:srgbClr val="000000"/>
                </a:buClr>
                <a:buSzPct val="100000"/>
                <a:buNone/>
              </a:pPr>
              <a:r>
                <a:rPr kumimoji="1" lang="ko-KR" altLang="en-US" sz="700" kern="0" spc="-50" dirty="0">
                  <a:latin typeface="+mn-ea"/>
                </a:rPr>
                <a:t>신규 기능목록 개수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xmlns="" id="{D374DEB5-F4A2-4F1E-8ADB-45D37A4320F0}"/>
                </a:ext>
              </a:extLst>
            </p:cNvPr>
            <p:cNvSpPr/>
            <p:nvPr/>
          </p:nvSpPr>
          <p:spPr>
            <a:xfrm>
              <a:off x="7915628" y="6195744"/>
              <a:ext cx="1454244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 eaLnBrk="1" hangingPunct="1">
                <a:lnSpc>
                  <a:spcPct val="100000"/>
                </a:lnSpc>
                <a:spcBef>
                  <a:spcPct val="20000"/>
                </a:spcBef>
                <a:buClr>
                  <a:srgbClr val="000000"/>
                </a:buClr>
                <a:buSzPct val="100000"/>
                <a:buNone/>
              </a:pPr>
              <a:r>
                <a:rPr kumimoji="1" lang="ko-KR" altLang="en-US" sz="700" kern="0" spc="-50" dirty="0">
                  <a:latin typeface="+mn-ea"/>
                </a:rPr>
                <a:t>수작업 업무 </a:t>
              </a:r>
              <a:r>
                <a:rPr kumimoji="1" lang="ko-KR" altLang="en-US" sz="700" kern="0" spc="-50">
                  <a:latin typeface="+mn-ea"/>
                </a:rPr>
                <a:t>정보화 기능목록 개수</a:t>
              </a:r>
              <a:endParaRPr kumimoji="1" lang="ko-KR" altLang="en-US" sz="700" kern="0" spc="-50" dirty="0">
                <a:latin typeface="+mn-ea"/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xmlns="" id="{B4A85950-A045-4273-99E7-4C3F52390B4D}"/>
              </a:ext>
            </a:extLst>
          </p:cNvPr>
          <p:cNvSpPr/>
          <p:nvPr/>
        </p:nvSpPr>
        <p:spPr>
          <a:xfrm>
            <a:off x="3810217" y="1852274"/>
            <a:ext cx="87235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 eaLnBrk="1" hangingPunct="1">
              <a:lnSpc>
                <a:spcPct val="100000"/>
              </a:lnSpc>
              <a:spcBef>
                <a:spcPct val="20000"/>
              </a:spcBef>
              <a:buClr>
                <a:srgbClr val="000000"/>
              </a:buClr>
              <a:buSzPct val="100000"/>
              <a:buNone/>
            </a:pPr>
            <a:r>
              <a:rPr kumimoji="1" lang="ko-KR" altLang="en-US" sz="900" kern="0" spc="-50" dirty="0">
                <a:latin typeface="+mn-ea"/>
              </a:rPr>
              <a:t>개선 기능목록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xmlns="" id="{F61E1BDD-C1C7-4AC8-88EF-091EAECDE864}"/>
              </a:ext>
            </a:extLst>
          </p:cNvPr>
          <p:cNvSpPr/>
          <p:nvPr/>
        </p:nvSpPr>
        <p:spPr>
          <a:xfrm>
            <a:off x="4948717" y="1852274"/>
            <a:ext cx="87235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 eaLnBrk="1" hangingPunct="1">
              <a:lnSpc>
                <a:spcPct val="100000"/>
              </a:lnSpc>
              <a:spcBef>
                <a:spcPct val="20000"/>
              </a:spcBef>
              <a:buClr>
                <a:srgbClr val="000000"/>
              </a:buClr>
              <a:buSzPct val="100000"/>
              <a:buNone/>
            </a:pPr>
            <a:r>
              <a:rPr kumimoji="1" lang="ko-KR" altLang="en-US" sz="900" kern="0" spc="-50" dirty="0">
                <a:latin typeface="+mn-ea"/>
              </a:rPr>
              <a:t>신규 기능목록</a:t>
            </a:r>
          </a:p>
        </p:txBody>
      </p:sp>
    </p:spTree>
    <p:extLst>
      <p:ext uri="{BB962C8B-B14F-4D97-AF65-F5344CB8AC3E}">
        <p14:creationId xmlns:p14="http://schemas.microsoft.com/office/powerpoint/2010/main" val="36158569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 latinLnBrk="0">
              <a:buSzPct val="80000"/>
              <a:defRPr/>
            </a:pP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신규 기능목록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(728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개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)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 </a:t>
            </a:r>
            <a:r>
              <a:rPr lang="en-US" altLang="ko-KR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21.2% </a:t>
            </a:r>
            <a:r>
              <a:rPr lang="ko-KR" altLang="en-US" kern="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증가 기대와 신규 기능의 주요 내용은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/>
              <a:t>4.3 </a:t>
            </a:r>
            <a:r>
              <a:rPr lang="ko-KR" altLang="en-US" dirty="0"/>
              <a:t>정량적 기대효과 </a:t>
            </a:r>
            <a:r>
              <a:rPr lang="en-US" altLang="ko-KR" dirty="0"/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 </a:t>
            </a:r>
            <a:r>
              <a:rPr lang="ko-KR" altLang="en-US" dirty="0"/>
              <a:t>기대효과 분석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4.3 </a:t>
            </a:r>
            <a:r>
              <a:rPr lang="ko-KR" altLang="en-US" dirty="0"/>
              <a:t>정량적 기대효과</a:t>
            </a:r>
            <a:endParaRPr lang="en-US" altLang="ko-KR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7CE232B5-3679-485C-AA9E-640F4A4029F0}"/>
              </a:ext>
            </a:extLst>
          </p:cNvPr>
          <p:cNvSpPr/>
          <p:nvPr/>
        </p:nvSpPr>
        <p:spPr>
          <a:xfrm>
            <a:off x="1491223" y="1340768"/>
            <a:ext cx="1300499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기능목록 현황</a:t>
            </a:r>
          </a:p>
        </p:txBody>
      </p:sp>
      <p:sp>
        <p:nvSpPr>
          <p:cNvPr id="6" name="모서리가 둥근 직사각형 23">
            <a:extLst>
              <a:ext uri="{FF2B5EF4-FFF2-40B4-BE49-F238E27FC236}">
                <a16:creationId xmlns:a16="http://schemas.microsoft.com/office/drawing/2014/main" xmlns="" id="{2921176B-7E7C-4DE1-AC7D-015F7E872E35}"/>
              </a:ext>
            </a:extLst>
          </p:cNvPr>
          <p:cNvSpPr/>
          <p:nvPr/>
        </p:nvSpPr>
        <p:spPr bwMode="auto">
          <a:xfrm>
            <a:off x="726990" y="1790022"/>
            <a:ext cx="827085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통합재무정보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(1,121)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7" name="모서리가 둥근 직사각형 23">
            <a:extLst>
              <a:ext uri="{FF2B5EF4-FFF2-40B4-BE49-F238E27FC236}">
                <a16:creationId xmlns:a16="http://schemas.microsoft.com/office/drawing/2014/main" xmlns="" id="{68214B6B-972C-4281-8ADB-EDDBF6336650}"/>
              </a:ext>
            </a:extLst>
          </p:cNvPr>
          <p:cNvSpPr/>
          <p:nvPr/>
        </p:nvSpPr>
        <p:spPr bwMode="auto">
          <a:xfrm>
            <a:off x="720653" y="3500120"/>
            <a:ext cx="827085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인적자원관리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(2,193)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8" name="모서리가 둥근 직사각형 23">
            <a:extLst>
              <a:ext uri="{FF2B5EF4-FFF2-40B4-BE49-F238E27FC236}">
                <a16:creationId xmlns:a16="http://schemas.microsoft.com/office/drawing/2014/main" xmlns="" id="{03B4FD81-F13C-49EA-987A-598697E9C08B}"/>
              </a:ext>
            </a:extLst>
          </p:cNvPr>
          <p:cNvSpPr/>
          <p:nvPr/>
        </p:nvSpPr>
        <p:spPr bwMode="auto">
          <a:xfrm>
            <a:off x="726066" y="5084296"/>
            <a:ext cx="827085" cy="1009000"/>
          </a:xfrm>
          <a:prstGeom prst="roundRect">
            <a:avLst>
              <a:gd name="adj" fmla="val 0"/>
            </a:avLst>
          </a:prstGeom>
          <a:solidFill>
            <a:srgbClr val="00458B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기금지원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(126)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0" name="모서리가 둥근 직사각형 23">
            <a:extLst>
              <a:ext uri="{FF2B5EF4-FFF2-40B4-BE49-F238E27FC236}">
                <a16:creationId xmlns:a16="http://schemas.microsoft.com/office/drawing/2014/main" xmlns="" id="{6EE31360-C06E-494C-A456-5E7448CE1B24}"/>
              </a:ext>
            </a:extLst>
          </p:cNvPr>
          <p:cNvSpPr/>
          <p:nvPr/>
        </p:nvSpPr>
        <p:spPr bwMode="auto">
          <a:xfrm>
            <a:off x="1647088" y="1790022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1" name="모서리가 둥근 직사각형 23">
            <a:extLst>
              <a:ext uri="{FF2B5EF4-FFF2-40B4-BE49-F238E27FC236}">
                <a16:creationId xmlns:a16="http://schemas.microsoft.com/office/drawing/2014/main" xmlns="" id="{08F4B55E-1017-4A9A-BB7A-BD8E040A94BB}"/>
              </a:ext>
            </a:extLst>
          </p:cNvPr>
          <p:cNvSpPr/>
          <p:nvPr/>
        </p:nvSpPr>
        <p:spPr bwMode="auto">
          <a:xfrm>
            <a:off x="1647088" y="2320532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2" name="모서리가 둥근 직사각형 23">
            <a:extLst>
              <a:ext uri="{FF2B5EF4-FFF2-40B4-BE49-F238E27FC236}">
                <a16:creationId xmlns:a16="http://schemas.microsoft.com/office/drawing/2014/main" xmlns="" id="{5A623148-4496-4A62-B7D8-C7B40559DCBF}"/>
              </a:ext>
            </a:extLst>
          </p:cNvPr>
          <p:cNvSpPr/>
          <p:nvPr/>
        </p:nvSpPr>
        <p:spPr bwMode="auto">
          <a:xfrm>
            <a:off x="1647088" y="3500120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3" name="모서리가 둥근 직사각형 23">
            <a:extLst>
              <a:ext uri="{FF2B5EF4-FFF2-40B4-BE49-F238E27FC236}">
                <a16:creationId xmlns:a16="http://schemas.microsoft.com/office/drawing/2014/main" xmlns="" id="{4B15ACE7-0D53-4DD3-A15A-BEAEA13195CE}"/>
              </a:ext>
            </a:extLst>
          </p:cNvPr>
          <p:cNvSpPr/>
          <p:nvPr/>
        </p:nvSpPr>
        <p:spPr bwMode="auto">
          <a:xfrm>
            <a:off x="1647088" y="4030036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4" name="모서리가 둥근 직사각형 23">
            <a:extLst>
              <a:ext uri="{FF2B5EF4-FFF2-40B4-BE49-F238E27FC236}">
                <a16:creationId xmlns:a16="http://schemas.microsoft.com/office/drawing/2014/main" xmlns="" id="{B492311A-896E-4FF7-9F82-D47481D67662}"/>
              </a:ext>
            </a:extLst>
          </p:cNvPr>
          <p:cNvSpPr/>
          <p:nvPr/>
        </p:nvSpPr>
        <p:spPr bwMode="auto">
          <a:xfrm>
            <a:off x="1647088" y="5084296"/>
            <a:ext cx="751895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신규</a:t>
            </a:r>
          </a:p>
        </p:txBody>
      </p:sp>
      <p:sp>
        <p:nvSpPr>
          <p:cNvPr id="15" name="모서리가 둥근 직사각형 23">
            <a:extLst>
              <a:ext uri="{FF2B5EF4-FFF2-40B4-BE49-F238E27FC236}">
                <a16:creationId xmlns:a16="http://schemas.microsoft.com/office/drawing/2014/main" xmlns="" id="{92D84AAC-CEA5-4857-9F8A-DAD117052DD4}"/>
              </a:ext>
            </a:extLst>
          </p:cNvPr>
          <p:cNvSpPr/>
          <p:nvPr/>
        </p:nvSpPr>
        <p:spPr bwMode="auto">
          <a:xfrm>
            <a:off x="1647088" y="5614212"/>
            <a:ext cx="751895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개선</a:t>
            </a:r>
            <a:endParaRPr lang="en-US" altLang="ko-KR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(As-Is)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8" name="모서리가 둥근 직사각형 23">
            <a:extLst>
              <a:ext uri="{FF2B5EF4-FFF2-40B4-BE49-F238E27FC236}">
                <a16:creationId xmlns:a16="http://schemas.microsoft.com/office/drawing/2014/main" xmlns="" id="{924F6D9F-F495-4F65-A951-00CCF9EE07A5}"/>
              </a:ext>
            </a:extLst>
          </p:cNvPr>
          <p:cNvSpPr/>
          <p:nvPr/>
        </p:nvSpPr>
        <p:spPr bwMode="auto">
          <a:xfrm>
            <a:off x="2529591" y="1790022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344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(30.7%)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19" name="모서리가 둥근 직사각형 23">
            <a:extLst>
              <a:ext uri="{FF2B5EF4-FFF2-40B4-BE49-F238E27FC236}">
                <a16:creationId xmlns:a16="http://schemas.microsoft.com/office/drawing/2014/main" xmlns="" id="{FEA99303-E461-4B15-9A4A-C2C67C371890}"/>
              </a:ext>
            </a:extLst>
          </p:cNvPr>
          <p:cNvSpPr/>
          <p:nvPr/>
        </p:nvSpPr>
        <p:spPr bwMode="auto">
          <a:xfrm>
            <a:off x="2529591" y="2320532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777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(69.3%)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0" name="모서리가 둥근 직사각형 23">
            <a:extLst>
              <a:ext uri="{FF2B5EF4-FFF2-40B4-BE49-F238E27FC236}">
                <a16:creationId xmlns:a16="http://schemas.microsoft.com/office/drawing/2014/main" xmlns="" id="{69119C0B-BEC9-4DD8-86AC-55A9ED57D505}"/>
              </a:ext>
            </a:extLst>
          </p:cNvPr>
          <p:cNvSpPr/>
          <p:nvPr/>
        </p:nvSpPr>
        <p:spPr bwMode="auto">
          <a:xfrm>
            <a:off x="2529591" y="3500120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275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(12.5%)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1" name="모서리가 둥근 직사각형 23">
            <a:extLst>
              <a:ext uri="{FF2B5EF4-FFF2-40B4-BE49-F238E27FC236}">
                <a16:creationId xmlns:a16="http://schemas.microsoft.com/office/drawing/2014/main" xmlns="" id="{BD79068D-C600-4094-8C16-DC361ED94EBD}"/>
              </a:ext>
            </a:extLst>
          </p:cNvPr>
          <p:cNvSpPr/>
          <p:nvPr/>
        </p:nvSpPr>
        <p:spPr bwMode="auto">
          <a:xfrm>
            <a:off x="2529591" y="4030036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1,918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(86.5%)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2" name="모서리가 둥근 직사각형 23">
            <a:extLst>
              <a:ext uri="{FF2B5EF4-FFF2-40B4-BE49-F238E27FC236}">
                <a16:creationId xmlns:a16="http://schemas.microsoft.com/office/drawing/2014/main" xmlns="" id="{8D257245-2830-4A86-A384-E996A3DD5ABD}"/>
              </a:ext>
            </a:extLst>
          </p:cNvPr>
          <p:cNvSpPr/>
          <p:nvPr/>
        </p:nvSpPr>
        <p:spPr bwMode="auto">
          <a:xfrm>
            <a:off x="2529591" y="5084296"/>
            <a:ext cx="974888" cy="479084"/>
          </a:xfrm>
          <a:prstGeom prst="roundRect">
            <a:avLst>
              <a:gd name="adj" fmla="val 0"/>
            </a:avLst>
          </a:prstGeom>
          <a:solidFill>
            <a:srgbClr val="FF9933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109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(86.5%)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sp>
        <p:nvSpPr>
          <p:cNvPr id="23" name="모서리가 둥근 직사각형 23">
            <a:extLst>
              <a:ext uri="{FF2B5EF4-FFF2-40B4-BE49-F238E27FC236}">
                <a16:creationId xmlns:a16="http://schemas.microsoft.com/office/drawing/2014/main" xmlns="" id="{F8D91A91-EAE7-4ED8-9292-97DEB5A80FDC}"/>
              </a:ext>
            </a:extLst>
          </p:cNvPr>
          <p:cNvSpPr/>
          <p:nvPr/>
        </p:nvSpPr>
        <p:spPr bwMode="auto">
          <a:xfrm>
            <a:off x="2529591" y="5614212"/>
            <a:ext cx="974888" cy="479084"/>
          </a:xfrm>
          <a:prstGeom prst="roundRect">
            <a:avLst>
              <a:gd name="adj" fmla="val 0"/>
            </a:avLst>
          </a:prstGeom>
          <a:solidFill>
            <a:srgbClr val="2377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17</a:t>
            </a:r>
          </a:p>
          <a:p>
            <a:pPr algn="ctr" latinLnBrk="0"/>
            <a:r>
              <a:rPr lang="en-US" altLang="ko-KR" sz="1200" b="1" kern="0" dirty="0">
                <a:solidFill>
                  <a:prstClr val="white"/>
                </a:solidFill>
                <a:latin typeface="+mn-ea"/>
                <a:sym typeface="Wingdings" pitchFamily="2" charset="2"/>
              </a:rPr>
              <a:t>(13.5%)</a:t>
            </a:r>
            <a:endParaRPr lang="ko-KR" altLang="en-US" sz="1200" b="1" kern="0" dirty="0">
              <a:solidFill>
                <a:prstClr val="white"/>
              </a:solidFill>
              <a:latin typeface="+mn-ea"/>
              <a:sym typeface="Wingdings" pitchFamily="2" charset="2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xmlns="" id="{F3430E4D-9CC5-4044-8012-0193450B81C8}"/>
              </a:ext>
            </a:extLst>
          </p:cNvPr>
          <p:cNvCxnSpPr>
            <a:cxnSpLocks/>
          </p:cNvCxnSpPr>
          <p:nvPr/>
        </p:nvCxnSpPr>
        <p:spPr>
          <a:xfrm flipV="1">
            <a:off x="704528" y="2983114"/>
            <a:ext cx="8792557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xmlns="" id="{4B54D1EA-D375-4531-9DBA-D3E4EEDA53A7}"/>
              </a:ext>
            </a:extLst>
          </p:cNvPr>
          <p:cNvCxnSpPr>
            <a:cxnSpLocks/>
          </p:cNvCxnSpPr>
          <p:nvPr/>
        </p:nvCxnSpPr>
        <p:spPr>
          <a:xfrm flipV="1">
            <a:off x="704528" y="4869160"/>
            <a:ext cx="8792557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xmlns="" id="{9AF4653A-10C9-4C3F-AFFE-6434BE776FDD}"/>
              </a:ext>
            </a:extLst>
          </p:cNvPr>
          <p:cNvCxnSpPr>
            <a:cxnSpLocks/>
          </p:cNvCxnSpPr>
          <p:nvPr/>
        </p:nvCxnSpPr>
        <p:spPr>
          <a:xfrm flipV="1">
            <a:off x="704528" y="1647488"/>
            <a:ext cx="8792557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화살표: 오른쪽 68">
            <a:extLst>
              <a:ext uri="{FF2B5EF4-FFF2-40B4-BE49-F238E27FC236}">
                <a16:creationId xmlns:a16="http://schemas.microsoft.com/office/drawing/2014/main" xmlns="" id="{34E74B75-54A1-4FD0-930B-6EC12A8435C6}"/>
              </a:ext>
            </a:extLst>
          </p:cNvPr>
          <p:cNvSpPr/>
          <p:nvPr/>
        </p:nvSpPr>
        <p:spPr bwMode="auto">
          <a:xfrm>
            <a:off x="3584848" y="1911958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71" name="화살표: 오른쪽 70">
            <a:extLst>
              <a:ext uri="{FF2B5EF4-FFF2-40B4-BE49-F238E27FC236}">
                <a16:creationId xmlns:a16="http://schemas.microsoft.com/office/drawing/2014/main" xmlns="" id="{A16DF6E9-88F7-4B19-B40C-AC5C8916C120}"/>
              </a:ext>
            </a:extLst>
          </p:cNvPr>
          <p:cNvSpPr/>
          <p:nvPr/>
        </p:nvSpPr>
        <p:spPr bwMode="auto">
          <a:xfrm>
            <a:off x="3584848" y="3565078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73" name="화살표: 오른쪽 72">
            <a:extLst>
              <a:ext uri="{FF2B5EF4-FFF2-40B4-BE49-F238E27FC236}">
                <a16:creationId xmlns:a16="http://schemas.microsoft.com/office/drawing/2014/main" xmlns="" id="{DD5427A0-52DA-4E15-BFC2-BE53CCDAC30B}"/>
              </a:ext>
            </a:extLst>
          </p:cNvPr>
          <p:cNvSpPr/>
          <p:nvPr/>
        </p:nvSpPr>
        <p:spPr bwMode="auto">
          <a:xfrm>
            <a:off x="3584848" y="5272731"/>
            <a:ext cx="388619" cy="735873"/>
          </a:xfrm>
          <a:prstGeom prst="rightArrow">
            <a:avLst/>
          </a:prstGeom>
          <a:solidFill>
            <a:srgbClr val="B1CFFC"/>
          </a:solidFill>
          <a:ln w="6350" cap="flat" cmpd="sng">
            <a:solidFill>
              <a:srgbClr val="B1CFFC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200"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xmlns="" id="{AE0BBDE9-A58B-4724-8E27-5722EEB87775}"/>
              </a:ext>
            </a:extLst>
          </p:cNvPr>
          <p:cNvSpPr/>
          <p:nvPr/>
        </p:nvSpPr>
        <p:spPr>
          <a:xfrm>
            <a:off x="6444980" y="1340768"/>
            <a:ext cx="1573604" cy="299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36000" bIns="3600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1200" b="1" u="sng" dirty="0">
                <a:solidFill>
                  <a:srgbClr val="000000"/>
                </a:solidFill>
                <a:latin typeface="+mn-ea"/>
                <a:sym typeface="Wingdings" pitchFamily="2" charset="2"/>
              </a:rPr>
              <a:t>신규 기능 주요 내용</a:t>
            </a:r>
          </a:p>
        </p:txBody>
      </p:sp>
      <p:sp>
        <p:nvSpPr>
          <p:cNvPr id="87" name="직사각형 13">
            <a:extLst>
              <a:ext uri="{FF2B5EF4-FFF2-40B4-BE49-F238E27FC236}">
                <a16:creationId xmlns:a16="http://schemas.microsoft.com/office/drawing/2014/main" xmlns="" id="{A2003B75-5294-422B-B823-D80A8543A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895" y="1732566"/>
            <a:ext cx="5499013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t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예산관리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기준정보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중기사업계획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편성준비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예산편성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예산종합평가 관리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결산관리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월결산</a:t>
            </a:r>
            <a:r>
              <a:rPr lang="en-US" altLang="ko-KR" sz="1000" dirty="0">
                <a:latin typeface="+mn-ea"/>
              </a:rPr>
              <a:t>(</a:t>
            </a:r>
            <a:r>
              <a:rPr lang="ko-KR" altLang="en-US" sz="1000" dirty="0">
                <a:latin typeface="+mn-ea"/>
              </a:rPr>
              <a:t>기금회계</a:t>
            </a:r>
            <a:r>
              <a:rPr lang="en-US" altLang="ko-KR" sz="1000" dirty="0">
                <a:latin typeface="+mn-ea"/>
              </a:rPr>
              <a:t>) </a:t>
            </a:r>
            <a:r>
              <a:rPr lang="ko-KR" altLang="en-US" sz="1000" dirty="0">
                <a:latin typeface="+mn-ea"/>
              </a:rPr>
              <a:t>관리 기능</a:t>
            </a:r>
            <a:r>
              <a:rPr lang="en-US" altLang="ko-KR" sz="1000" dirty="0">
                <a:latin typeface="+mn-ea"/>
              </a:rPr>
              <a:t> </a:t>
            </a: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자금관리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자금수급관리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내부관리손익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경륜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경정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골프장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기금구분회계의 내부관리손익 관리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계약관리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계약요청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검사검수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대금지급 관리</a:t>
            </a:r>
            <a:r>
              <a:rPr lang="en-US" altLang="ko-KR" sz="1000" dirty="0">
                <a:latin typeface="+mn-ea"/>
              </a:rPr>
              <a:t>  </a:t>
            </a:r>
            <a:r>
              <a:rPr lang="ko-KR" altLang="en-US" sz="1000" dirty="0">
                <a:latin typeface="+mn-ea"/>
              </a:rPr>
              <a:t>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관재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기준정보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자산관리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재물조사 관리 기능</a:t>
            </a:r>
            <a:endParaRPr lang="en-US" altLang="ko-KR" sz="1000" dirty="0">
              <a:latin typeface="+mn-ea"/>
            </a:endParaRPr>
          </a:p>
        </p:txBody>
      </p:sp>
      <p:sp>
        <p:nvSpPr>
          <p:cNvPr id="90" name="직사각형 13">
            <a:extLst>
              <a:ext uri="{FF2B5EF4-FFF2-40B4-BE49-F238E27FC236}">
                <a16:creationId xmlns:a16="http://schemas.microsoft.com/office/drawing/2014/main" xmlns="" id="{D08DCC07-8269-41E0-BFF1-0E63C8692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895" y="2996952"/>
            <a:ext cx="5499013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t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조직정원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조직이력 및 변경이력관리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근태관리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근태유형별 신청기준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연장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휴일근무한도관리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개인별 연장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휴일근무한도관리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출장신청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출장신청부서장승인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출장내역관리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출장보고서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직무관리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직무매핑맵관리의</a:t>
            </a:r>
            <a:r>
              <a:rPr lang="ko-KR" altLang="en-US" sz="1000" dirty="0">
                <a:latin typeface="+mn-ea"/>
              </a:rPr>
              <a:t> </a:t>
            </a:r>
            <a:r>
              <a:rPr lang="ko-KR" altLang="en-US" sz="1000" dirty="0" err="1">
                <a:latin typeface="+mn-ea"/>
              </a:rPr>
              <a:t>조직별</a:t>
            </a:r>
            <a:r>
              <a:rPr lang="ko-KR" altLang="en-US" sz="1000" dirty="0">
                <a:latin typeface="+mn-ea"/>
              </a:rPr>
              <a:t> 직무신청</a:t>
            </a:r>
            <a:r>
              <a:rPr lang="en-US" altLang="ko-KR" sz="1000" dirty="0">
                <a:latin typeface="+mn-ea"/>
              </a:rPr>
              <a:t> </a:t>
            </a:r>
            <a:r>
              <a:rPr lang="ko-KR" altLang="en-US" sz="1000" dirty="0">
                <a:latin typeface="+mn-ea"/>
              </a:rPr>
              <a:t>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역량평가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평가제외자관리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관찰노트관리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평가결과조정관리 기능</a:t>
            </a:r>
            <a:r>
              <a:rPr lang="en-US" altLang="ko-KR" sz="1000" dirty="0">
                <a:latin typeface="+mn-ea"/>
              </a:rPr>
              <a:t> </a:t>
            </a: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교육관리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교육과정수요조사관리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개설과정별설문지생성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교육대상자생성기준관리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교육설문등록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보상관리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 err="1">
                <a:latin typeface="+mn-ea"/>
              </a:rPr>
              <a:t>급여수식관리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급여유형별 일자관리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급여원장관리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미연동현물내역관리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퇴직금변경신청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인상시뮬레이션</a:t>
            </a:r>
            <a:r>
              <a:rPr lang="ko-KR" altLang="en-US" sz="1000" dirty="0">
                <a:latin typeface="+mn-ea"/>
              </a:rPr>
              <a:t>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복리후생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사회보험의 취득신고관리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고지내역관리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상실신고관리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endParaRPr lang="en-US" altLang="ko-KR" sz="1000" dirty="0">
              <a:latin typeface="+mn-ea"/>
            </a:endParaRPr>
          </a:p>
        </p:txBody>
      </p:sp>
      <p:sp>
        <p:nvSpPr>
          <p:cNvPr id="31" name="직사각형 13">
            <a:extLst>
              <a:ext uri="{FF2B5EF4-FFF2-40B4-BE49-F238E27FC236}">
                <a16:creationId xmlns:a16="http://schemas.microsoft.com/office/drawing/2014/main" xmlns="" id="{431ADA4C-0434-45C9-A25E-646DB9428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895" y="4869160"/>
            <a:ext cx="5499013" cy="544306"/>
          </a:xfrm>
          <a:prstGeom prst="rect">
            <a:avLst/>
          </a:prstGeom>
          <a:noFill/>
          <a:ln w="9525" algn="ctr">
            <a:noFill/>
            <a:round/>
            <a:headEnd/>
            <a:tailEnd/>
          </a:ln>
        </p:spPr>
        <p:txBody>
          <a:bodyPr lIns="36000" tIns="36000" rIns="36000" bIns="36000" anchor="t"/>
          <a:lstStyle/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기준정보관리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코드관리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사용자관리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보조금지원관리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기금대상자설정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기금지원계획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월별보조금집행계획</a:t>
            </a:r>
            <a:r>
              <a:rPr lang="en-US" altLang="ko-KR" sz="1000" dirty="0">
                <a:latin typeface="+mn-ea"/>
              </a:rPr>
              <a:t> </a:t>
            </a:r>
            <a:r>
              <a:rPr lang="ko-KR" altLang="en-US" sz="1000" dirty="0">
                <a:latin typeface="+mn-ea"/>
              </a:rPr>
              <a:t>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기금집행관리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중요재산업무협의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현장점검계획관리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현장점검결과처리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연중평가계획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시민모니터링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 err="1">
                <a:latin typeface="+mn-ea"/>
              </a:rPr>
              <a:t>고객만족도조사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이월처리현황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정산처리현황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사후관리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반납관리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강제징수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성과보고서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성과평가결과관리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위원회관리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평가위원구성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 dirty="0">
                <a:latin typeface="+mn-ea"/>
              </a:rPr>
              <a:t>선정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위원회활동관리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 err="1">
                <a:latin typeface="+mn-ea"/>
              </a:rPr>
              <a:t>신체육인복지지원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지원대상자관리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자격검토 등 기능</a:t>
            </a:r>
            <a:endParaRPr lang="en-US" altLang="ko-KR" sz="1000" dirty="0">
              <a:latin typeface="+mn-ea"/>
            </a:endParaRPr>
          </a:p>
          <a:p>
            <a:pPr marL="85725" indent="-85725" latinLnBrk="0">
              <a:spcBef>
                <a:spcPts val="300"/>
              </a:spcBef>
              <a:buClr>
                <a:prstClr val="black">
                  <a:lumMod val="50000"/>
                  <a:lumOff val="50000"/>
                </a:prstClr>
              </a:buClr>
              <a:buFont typeface="Wingdings" pitchFamily="2" charset="2"/>
              <a:buChar char="§"/>
            </a:pPr>
            <a:r>
              <a:rPr lang="ko-KR" altLang="en-US" sz="1000" dirty="0">
                <a:latin typeface="+mn-ea"/>
              </a:rPr>
              <a:t>홈페이지</a:t>
            </a:r>
            <a:r>
              <a:rPr lang="en-US" altLang="ko-KR" sz="1000" dirty="0">
                <a:latin typeface="+mn-ea"/>
              </a:rPr>
              <a:t>-</a:t>
            </a:r>
            <a:r>
              <a:rPr lang="ko-KR" altLang="en-US" sz="1000" dirty="0">
                <a:latin typeface="+mn-ea"/>
              </a:rPr>
              <a:t>사용자관리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체육복지지원금신청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기금평가</a:t>
            </a:r>
            <a:r>
              <a:rPr lang="en-US" altLang="ko-KR" sz="1000" dirty="0">
                <a:latin typeface="+mn-ea"/>
              </a:rPr>
              <a:t>, </a:t>
            </a:r>
            <a:r>
              <a:rPr lang="ko-KR" altLang="en-US" sz="1000" dirty="0">
                <a:latin typeface="+mn-ea"/>
              </a:rPr>
              <a:t>업무협의 및 조치사항 등 기능</a:t>
            </a:r>
            <a:r>
              <a:rPr lang="en-US" altLang="ko-KR" sz="1000" dirty="0">
                <a:latin typeface="+mn-ea"/>
              </a:rPr>
              <a:t> 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xmlns="" id="{BC186CA6-42CA-4548-BDC6-F7619FB2E710}"/>
              </a:ext>
            </a:extLst>
          </p:cNvPr>
          <p:cNvSpPr/>
          <p:nvPr/>
        </p:nvSpPr>
        <p:spPr bwMode="auto">
          <a:xfrm>
            <a:off x="2514154" y="1803978"/>
            <a:ext cx="997532" cy="470707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xmlns="" id="{74591BB7-27ED-49D4-A8CA-46086CB827E2}"/>
              </a:ext>
            </a:extLst>
          </p:cNvPr>
          <p:cNvSpPr/>
          <p:nvPr/>
        </p:nvSpPr>
        <p:spPr bwMode="auto">
          <a:xfrm>
            <a:off x="2515308" y="3501008"/>
            <a:ext cx="997532" cy="470707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xmlns="" id="{B2B2A93C-C1AA-4951-A67A-E40645E3C436}"/>
              </a:ext>
            </a:extLst>
          </p:cNvPr>
          <p:cNvSpPr/>
          <p:nvPr/>
        </p:nvSpPr>
        <p:spPr bwMode="auto">
          <a:xfrm>
            <a:off x="2515308" y="5085184"/>
            <a:ext cx="997532" cy="470707"/>
          </a:xfrm>
          <a:prstGeom prst="rect">
            <a:avLst/>
          </a:prstGeom>
          <a:noFill/>
          <a:ln w="19050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 rtlCol="0" anchor="ctr"/>
          <a:lstStyle/>
          <a:p>
            <a:pPr algn="ctr"/>
            <a:endParaRPr lang="ko-KR" altLang="en-US" sz="1400" b="1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6625624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추진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비용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기대효과 분석</a:t>
            </a:r>
            <a:endParaRPr lang="en-US" altLang="ko-KR" dirty="0"/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/>
              <a:t>요건기술서 정의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5.1 </a:t>
            </a:r>
            <a:r>
              <a:rPr lang="ko-KR" altLang="en-US" dirty="0"/>
              <a:t>요건기술서 정의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5.2 </a:t>
            </a:r>
            <a:r>
              <a:rPr lang="ko-KR" altLang="en-US" dirty="0"/>
              <a:t>요구사항 분류체계 및 </a:t>
            </a:r>
            <a:r>
              <a:rPr lang="en-US" altLang="ko-KR" dirty="0"/>
              <a:t>ID </a:t>
            </a:r>
            <a:r>
              <a:rPr lang="ko-KR" altLang="en-US" dirty="0"/>
              <a:t>부여 규칙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변화관리 방안 수립</a:t>
            </a:r>
            <a:endParaRPr lang="en-US" altLang="ko-KR" dirty="0"/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시스템 구축의 요건을 지속적이고 효과적으로 관리하기 위해 요구사항 분류 체계 및 </a:t>
            </a:r>
            <a:r>
              <a:rPr lang="en-US" altLang="ko-KR" dirty="0"/>
              <a:t>ID</a:t>
            </a:r>
            <a:r>
              <a:rPr lang="ko-KR" altLang="en-US" dirty="0"/>
              <a:t>부여 규칙을 정의하고 요건기술서를 작성함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 </a:t>
            </a:r>
            <a:r>
              <a:rPr kumimoji="1" lang="ko-KR" altLang="en-US" kern="0" dirty="0">
                <a:solidFill>
                  <a:prstClr val="black"/>
                </a:solidFill>
              </a:rPr>
              <a:t>요건기술서 정의</a:t>
            </a:r>
            <a:r>
              <a:rPr kumimoji="1" lang="en-US" altLang="ko-KR" kern="0" dirty="0">
                <a:solidFill>
                  <a:prstClr val="black"/>
                </a:solidFill>
              </a:rPr>
              <a:t> </a:t>
            </a:r>
            <a:br>
              <a:rPr kumimoji="1" lang="en-US" altLang="ko-KR" kern="0" dirty="0">
                <a:solidFill>
                  <a:prstClr val="black"/>
                </a:solidFill>
              </a:rPr>
            </a:br>
            <a:r>
              <a:rPr kumimoji="1" lang="en-US" altLang="ko-KR" kern="0" dirty="0">
                <a:solidFill>
                  <a:prstClr val="black"/>
                </a:solidFill>
              </a:rPr>
              <a:t>5.1 </a:t>
            </a:r>
            <a:r>
              <a:rPr kumimoji="1" lang="ko-KR" altLang="en-US" kern="0" dirty="0">
                <a:solidFill>
                  <a:prstClr val="black"/>
                </a:solidFill>
              </a:rPr>
              <a:t>요건기술서 정의 개요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</a:p>
          <a:p>
            <a:pPr>
              <a:spcBef>
                <a:spcPts val="288"/>
              </a:spcBef>
            </a:pPr>
            <a:r>
              <a:rPr lang="en-US" altLang="ko-KR" dirty="0"/>
              <a:t>5.1 </a:t>
            </a:r>
            <a:r>
              <a:rPr lang="ko-KR" altLang="en-US" dirty="0"/>
              <a:t>요건기술서 정의 개요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xmlns="" id="{B9CCFF9F-D826-4F53-A031-AAA0CDD8979D}"/>
              </a:ext>
            </a:extLst>
          </p:cNvPr>
          <p:cNvSpPr/>
          <p:nvPr/>
        </p:nvSpPr>
        <p:spPr bwMode="auto">
          <a:xfrm>
            <a:off x="350833" y="1650531"/>
            <a:ext cx="9174167" cy="324000"/>
          </a:xfrm>
          <a:prstGeom prst="rect">
            <a:avLst/>
          </a:prstGeom>
          <a:solidFill>
            <a:srgbClr val="233C5A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72000" tIns="72000" rIns="72000" bIns="72000"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요건기술서 정의 목적 및 절차</a:t>
            </a:r>
          </a:p>
        </p:txBody>
      </p:sp>
      <p:sp>
        <p:nvSpPr>
          <p:cNvPr id="194" name="Rectangle 4">
            <a:extLst>
              <a:ext uri="{FF2B5EF4-FFF2-40B4-BE49-F238E27FC236}">
                <a16:creationId xmlns:a16="http://schemas.microsoft.com/office/drawing/2014/main" xmlns="" id="{EE7531E9-E1A0-4046-9870-699013DB9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819" y="1974531"/>
            <a:ext cx="9174167" cy="439192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grpSp>
        <p:nvGrpSpPr>
          <p:cNvPr id="5" name="그룹 29"/>
          <p:cNvGrpSpPr/>
          <p:nvPr/>
        </p:nvGrpSpPr>
        <p:grpSpPr>
          <a:xfrm>
            <a:off x="541019" y="2117430"/>
            <a:ext cx="8783999" cy="792000"/>
            <a:chOff x="403292" y="2017963"/>
            <a:chExt cx="9164508" cy="619007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xmlns="" id="{4971C708-4330-43A6-BB03-2783B6E1B783}"/>
                </a:ext>
              </a:extLst>
            </p:cNvPr>
            <p:cNvSpPr/>
            <p:nvPr/>
          </p:nvSpPr>
          <p:spPr bwMode="auto">
            <a:xfrm>
              <a:off x="403292" y="2017964"/>
              <a:ext cx="1299214" cy="619006"/>
            </a:xfrm>
            <a:prstGeom prst="rect">
              <a:avLst/>
            </a:prstGeom>
            <a:solidFill>
              <a:srgbClr val="4678B4">
                <a:lumMod val="75000"/>
              </a:srgbClr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/>
          </p:spPr>
          <p:txBody>
            <a:bodyPr lIns="72000" tIns="72000" rIns="72000" bIns="72000" anchor="ctr"/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/>
                </a:rPr>
                <a:t>작성 목적</a:t>
              </a:r>
              <a:endPara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xmlns="" id="{03D717DA-DAB2-4F11-822E-C9036E77810B}"/>
                </a:ext>
              </a:extLst>
            </p:cNvPr>
            <p:cNvSpPr/>
            <p:nvPr/>
          </p:nvSpPr>
          <p:spPr bwMode="auto">
            <a:xfrm>
              <a:off x="1796764" y="2017963"/>
              <a:ext cx="7771036" cy="617924"/>
            </a:xfrm>
            <a:prstGeom prst="rect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</p:spPr>
          <p:txBody>
            <a:bodyPr lIns="108000" tIns="72000" rIns="36000" bIns="72000" rtlCol="0" anchor="ctr"/>
            <a:lstStyle/>
            <a:p>
              <a:pPr marL="93663" marR="0" lvl="0" indent="-93663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ko-KR" altLang="en-US" sz="1100" dirty="0">
                  <a:latin typeface="+mn-ea"/>
                </a:rPr>
                <a:t>시스템 구축의 요건을 지속적이고 효과적으로 관리하기 위해 요구사항 분류 및 </a:t>
              </a:r>
              <a:r>
                <a:rPr lang="en-US" altLang="ko-KR" sz="1100" dirty="0">
                  <a:latin typeface="+mn-ea"/>
                </a:rPr>
                <a:t>ID </a:t>
              </a:r>
              <a:r>
                <a:rPr lang="ko-KR" altLang="en-US" sz="1100" dirty="0">
                  <a:latin typeface="+mn-ea"/>
                </a:rPr>
                <a:t>부여 기준을 정의하고 기술서를 작성함</a:t>
              </a:r>
            </a:p>
          </p:txBody>
        </p:sp>
      </p:grpSp>
      <p:grpSp>
        <p:nvGrpSpPr>
          <p:cNvPr id="6" name="그룹 32"/>
          <p:cNvGrpSpPr/>
          <p:nvPr/>
        </p:nvGrpSpPr>
        <p:grpSpPr>
          <a:xfrm>
            <a:off x="541019" y="3020743"/>
            <a:ext cx="8783999" cy="972000"/>
            <a:chOff x="403292" y="2717523"/>
            <a:chExt cx="9164508" cy="864001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xmlns="" id="{25DA8CDC-D248-4210-99F3-77CF4E091E0D}"/>
                </a:ext>
              </a:extLst>
            </p:cNvPr>
            <p:cNvSpPr/>
            <p:nvPr/>
          </p:nvSpPr>
          <p:spPr bwMode="auto">
            <a:xfrm>
              <a:off x="403292" y="2717524"/>
              <a:ext cx="1299214" cy="864000"/>
            </a:xfrm>
            <a:prstGeom prst="rect">
              <a:avLst/>
            </a:prstGeom>
            <a:solidFill>
              <a:srgbClr val="4678B4">
                <a:lumMod val="75000"/>
              </a:srgbClr>
            </a:solidFill>
            <a:ln w="12699">
              <a:solidFill>
                <a:srgbClr val="000000">
                  <a:lumMod val="50000"/>
                  <a:lumOff val="50000"/>
                </a:srgbClr>
              </a:solidFill>
              <a:miter lim="800000"/>
              <a:headEnd/>
              <a:tailEnd/>
            </a:ln>
            <a:effectLst/>
          </p:spPr>
          <p:txBody>
            <a:bodyPr lIns="72000" tIns="72000" rIns="72000" bIns="72000" anchor="ctr"/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맑은 고딕" pitchFamily="50" charset="-127"/>
                  <a:ea typeface="맑은 고딕"/>
                </a:rPr>
                <a:t>수행 업무</a:t>
              </a:r>
              <a:endParaRPr lang="en-US" altLang="ko-KR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xmlns="" id="{DDBD85BD-0319-4CDD-81B5-C3CEFA468A52}"/>
                </a:ext>
              </a:extLst>
            </p:cNvPr>
            <p:cNvSpPr/>
            <p:nvPr/>
          </p:nvSpPr>
          <p:spPr bwMode="auto">
            <a:xfrm>
              <a:off x="1796764" y="2717523"/>
              <a:ext cx="7771036" cy="864000"/>
            </a:xfrm>
            <a:prstGeom prst="rect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</p:spPr>
          <p:txBody>
            <a:bodyPr lIns="108000" tIns="72000" rIns="36000" bIns="72000" rtlCol="0" anchor="ctr"/>
            <a:lstStyle/>
            <a:p>
              <a:pPr marL="88900" lvl="0" indent="-88900" defTabSz="1043056" latinLnBrk="0">
                <a:lnSpc>
                  <a:spcPct val="110000"/>
                </a:lnSpc>
                <a:spcBef>
                  <a:spcPts val="600"/>
                </a:spcBef>
                <a:buClr>
                  <a:srgbClr val="000000"/>
                </a:buClr>
                <a:buSzPct val="80000"/>
                <a:buFont typeface="Wingdings" pitchFamily="2" charset="2"/>
                <a:buChar char="§"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</a:rPr>
                <a:t>요건을 지속적이고 효과적으로 관리하기 위해 요구사항을 </a:t>
              </a:r>
              <a:r>
                <a:rPr lang="ko-KR" altLang="en-US" sz="1100" dirty="0"/>
                <a:t>시스템장비구성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기능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성능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인터페이스 등 </a:t>
              </a:r>
              <a:r>
                <a:rPr lang="en-US" altLang="ko-KR" sz="1100" dirty="0"/>
                <a:t>11</a:t>
              </a:r>
              <a:r>
                <a:rPr lang="ko-KR" altLang="en-US" sz="1100" dirty="0"/>
                <a:t>개의 요구사항으로 분류하고 각 요구사항별로 요구사항 </a:t>
              </a:r>
              <a:r>
                <a:rPr lang="en-US" altLang="ko-KR" sz="1100" dirty="0"/>
                <a:t>ID</a:t>
              </a:r>
              <a:r>
                <a:rPr lang="ko-KR" altLang="en-US" sz="1100" dirty="0"/>
                <a:t>를</a:t>
              </a:r>
              <a:r>
                <a:rPr lang="en-US" altLang="ko-KR" sz="1100" dirty="0"/>
                <a:t> </a:t>
              </a:r>
              <a:r>
                <a:rPr lang="ko-KR" altLang="en-US" sz="1100" dirty="0"/>
                <a:t>부여함</a:t>
              </a:r>
              <a:endParaRPr lang="en-US" altLang="ko-KR" sz="1100" dirty="0"/>
            </a:p>
            <a:p>
              <a:pPr marL="93663" indent="-93663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ko-KR" altLang="en-US" sz="1100" dirty="0">
                  <a:latin typeface="+mn-ea"/>
                </a:rPr>
                <a:t>제안요청서에 포함될 요건들에 대한 기술서를 작성함</a:t>
              </a:r>
              <a:endParaRPr lang="en-US" altLang="ko-KR" sz="1100" dirty="0">
                <a:latin typeface="+mn-ea"/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xmlns="" id="{25DA8CDC-D248-4210-99F3-77CF4E091E0D}"/>
              </a:ext>
            </a:extLst>
          </p:cNvPr>
          <p:cNvSpPr/>
          <p:nvPr/>
        </p:nvSpPr>
        <p:spPr bwMode="auto">
          <a:xfrm>
            <a:off x="541019" y="4293095"/>
            <a:ext cx="8784000" cy="1928335"/>
          </a:xfrm>
          <a:prstGeom prst="rect">
            <a:avLst/>
          </a:prstGeom>
          <a:solidFill>
            <a:sysClr val="window" lastClr="FFFFFF"/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/>
        </p:spPr>
        <p:txBody>
          <a:bodyPr lIns="72000" tIns="72000" rIns="72000" bIns="72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1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itchFamily="50" charset="-127"/>
              <a:ea typeface="맑은 고딕"/>
            </a:endParaRPr>
          </a:p>
        </p:txBody>
      </p:sp>
      <p:sp>
        <p:nvSpPr>
          <p:cNvPr id="41" name="다이아몬드 24"/>
          <p:cNvSpPr/>
          <p:nvPr/>
        </p:nvSpPr>
        <p:spPr bwMode="auto">
          <a:xfrm>
            <a:off x="4848454" y="5083350"/>
            <a:ext cx="319205" cy="505889"/>
          </a:xfrm>
          <a:custGeom>
            <a:avLst/>
            <a:gdLst/>
            <a:ahLst/>
            <a:cxnLst/>
            <a:rect l="l" t="t" r="r" b="b"/>
            <a:pathLst>
              <a:path w="138020" h="219074">
                <a:moveTo>
                  <a:pt x="28483" y="0"/>
                </a:moveTo>
                <a:lnTo>
                  <a:pt x="138020" y="109537"/>
                </a:lnTo>
                <a:lnTo>
                  <a:pt x="28483" y="219074"/>
                </a:lnTo>
                <a:lnTo>
                  <a:pt x="1" y="190592"/>
                </a:lnTo>
                <a:lnTo>
                  <a:pt x="81055" y="109538"/>
                </a:lnTo>
                <a:lnTo>
                  <a:pt x="0" y="28483"/>
                </a:lnTo>
                <a:close/>
              </a:path>
            </a:pathLst>
          </a:custGeom>
          <a:solidFill>
            <a:sysClr val="windowText" lastClr="000000">
              <a:lumMod val="50000"/>
              <a:lumOff val="50000"/>
            </a:sys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1043056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7" name="그룹 50"/>
          <p:cNvGrpSpPr/>
          <p:nvPr/>
        </p:nvGrpSpPr>
        <p:grpSpPr>
          <a:xfrm>
            <a:off x="898056" y="4653135"/>
            <a:ext cx="3478882" cy="1296145"/>
            <a:chOff x="635538" y="4397909"/>
            <a:chExt cx="1783944" cy="1421689"/>
          </a:xfrm>
        </p:grpSpPr>
        <p:sp>
          <p:nvSpPr>
            <p:cNvPr id="42" name="직사각형 41"/>
            <p:cNvSpPr/>
            <p:nvPr/>
          </p:nvSpPr>
          <p:spPr>
            <a:xfrm>
              <a:off x="635538" y="4397909"/>
              <a:ext cx="1778177" cy="470997"/>
            </a:xfrm>
            <a:prstGeom prst="rect">
              <a:avLst/>
            </a:prstGeom>
            <a:solidFill>
              <a:srgbClr val="508CD2">
                <a:lumMod val="20000"/>
                <a:lumOff val="80000"/>
              </a:srgbClr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0" tIns="0" rIns="0" bIns="0" rtlCol="0" anchor="ctr" anchorCtr="0"/>
            <a:lstStyle/>
            <a:p>
              <a:pPr marL="0" lvl="1" indent="-166189" algn="ctr" defTabSz="1043056">
                <a:lnSpc>
                  <a:spcPct val="110000"/>
                </a:lnSpc>
                <a:buClr>
                  <a:srgbClr val="3271AA"/>
                </a:buClr>
                <a:buSzPct val="140000"/>
                <a:tabLst>
                  <a:tab pos="5186857" algn="l"/>
                </a:tabLst>
                <a:defRPr/>
              </a:pPr>
              <a:r>
                <a:rPr lang="ko-KR" altLang="en-US" sz="1200" b="1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sym typeface="Monotype Sorts" pitchFamily="2" charset="2"/>
                </a:rPr>
                <a:t>요구사항 분류체계 및 </a:t>
              </a:r>
              <a:r>
                <a:rPr lang="en-US" altLang="ko-KR" sz="1200" b="1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sym typeface="Monotype Sorts" pitchFamily="2" charset="2"/>
                </a:rPr>
                <a:t>ID</a:t>
              </a:r>
              <a:r>
                <a:rPr lang="ko-KR" altLang="en-US" sz="1200" b="1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sym typeface="Monotype Sorts" pitchFamily="2" charset="2"/>
                </a:rPr>
                <a:t>부여 규칙</a:t>
              </a:r>
            </a:p>
          </p:txBody>
        </p:sp>
        <p:sp>
          <p:nvSpPr>
            <p:cNvPr id="47" name="Rectangle 121"/>
            <p:cNvSpPr>
              <a:spLocks noChangeArrowheads="1"/>
            </p:cNvSpPr>
            <p:nvPr/>
          </p:nvSpPr>
          <p:spPr bwMode="auto">
            <a:xfrm>
              <a:off x="659852" y="4983074"/>
              <a:ext cx="1759630" cy="836524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wrap="square" lIns="36000" tIns="36000" rIns="36000" bIns="36000"/>
            <a:lstStyle/>
            <a:p>
              <a:pPr marL="88900" marR="0" lvl="0" indent="-88900" defTabSz="1043056" eaLnBrk="1" fontAlgn="auto" latinLnBrk="0" hangingPunct="1">
                <a:lnSpc>
                  <a:spcPct val="11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Font typeface="Wingdings" pitchFamily="2" charset="2"/>
                <a:buChar char="§"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요건을 지속적이고 효과적으로 관리하기 </a:t>
              </a: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/>
                  <a:ea typeface="맑은 고딕"/>
                </a:rPr>
                <a:t>위해 요구사항을 </a:t>
              </a:r>
              <a:r>
                <a:rPr lang="ko-KR" altLang="en-US" sz="1100" dirty="0"/>
                <a:t>시스템장비구성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기능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성능</a:t>
              </a:r>
              <a:r>
                <a:rPr lang="en-US" altLang="ko-KR" sz="1100" dirty="0"/>
                <a:t>, </a:t>
              </a:r>
              <a:r>
                <a:rPr lang="ko-KR" altLang="en-US" sz="1100" dirty="0"/>
                <a:t>인터페이스 등 </a:t>
              </a:r>
              <a:r>
                <a:rPr lang="en-US" altLang="ko-KR" sz="1100" dirty="0"/>
                <a:t>11</a:t>
              </a:r>
              <a:r>
                <a:rPr lang="ko-KR" altLang="en-US" sz="1100" dirty="0"/>
                <a:t>개의 요구사항으로 분류함</a:t>
              </a:r>
              <a:endParaRPr lang="en-US" altLang="ko-KR" sz="1100" dirty="0"/>
            </a:p>
            <a:p>
              <a:pPr marL="88900" marR="0" lvl="0" indent="-88900" defTabSz="1043056" eaLnBrk="1" fontAlgn="auto" latinLnBrk="0" hangingPunct="1">
                <a:lnSpc>
                  <a:spcPct val="11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Font typeface="Wingdings" pitchFamily="2" charset="2"/>
                <a:buChar char="§"/>
                <a:tabLst/>
                <a:defRPr/>
              </a:pPr>
              <a:r>
                <a:rPr lang="ko-KR" altLang="en-US" sz="1100" dirty="0"/>
                <a:t>각 요구사항별로 </a:t>
              </a:r>
              <a:r>
                <a:rPr lang="en-US" altLang="ko-KR" sz="1100" dirty="0"/>
                <a:t>ID </a:t>
              </a:r>
              <a:r>
                <a:rPr lang="ko-KR" altLang="en-US" sz="1100" dirty="0"/>
                <a:t>부여 규칙을 정의함</a:t>
              </a:r>
            </a:p>
            <a:p>
              <a:pPr marL="88900" marR="0" lvl="0" indent="-88900" defTabSz="1043056" eaLnBrk="1" fontAlgn="auto" latinLnBrk="0" hangingPunct="1">
                <a:lnSpc>
                  <a:spcPct val="11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Font typeface="Wingdings" pitchFamily="2" charset="2"/>
                <a:buChar char="§"/>
                <a:tabLst/>
                <a:defRPr/>
              </a:pP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8" name="그룹 52"/>
          <p:cNvGrpSpPr/>
          <p:nvPr/>
        </p:nvGrpSpPr>
        <p:grpSpPr>
          <a:xfrm>
            <a:off x="5557283" y="4653135"/>
            <a:ext cx="3467635" cy="1296145"/>
            <a:chOff x="5202451" y="4397909"/>
            <a:chExt cx="1778177" cy="1421689"/>
          </a:xfrm>
        </p:grpSpPr>
        <p:sp>
          <p:nvSpPr>
            <p:cNvPr id="44" name="직사각형 43"/>
            <p:cNvSpPr/>
            <p:nvPr/>
          </p:nvSpPr>
          <p:spPr>
            <a:xfrm>
              <a:off x="5202451" y="4397909"/>
              <a:ext cx="1778177" cy="470997"/>
            </a:xfrm>
            <a:prstGeom prst="rect">
              <a:avLst/>
            </a:prstGeom>
            <a:solidFill>
              <a:srgbClr val="508CD2">
                <a:lumMod val="20000"/>
                <a:lumOff val="80000"/>
              </a:srgbClr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wrap="none" lIns="0" tIns="0" rIns="0" bIns="0" rtlCol="0" anchor="ctr" anchorCtr="0"/>
            <a:lstStyle/>
            <a:p>
              <a:pPr marL="0" lvl="1" indent="-166189" algn="ctr" defTabSz="1043056">
                <a:lnSpc>
                  <a:spcPct val="110000"/>
                </a:lnSpc>
                <a:buClr>
                  <a:srgbClr val="3271AA"/>
                </a:buClr>
                <a:buSzPct val="140000"/>
                <a:tabLst>
                  <a:tab pos="5186857" algn="l"/>
                </a:tabLst>
                <a:defRPr/>
              </a:pPr>
              <a:r>
                <a:rPr lang="ko-KR" altLang="en-US" sz="1200" b="1" kern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sym typeface="Monotype Sorts" pitchFamily="2" charset="2"/>
                </a:rPr>
                <a:t>요건기술서 작성</a:t>
              </a:r>
            </a:p>
          </p:txBody>
        </p:sp>
        <p:sp>
          <p:nvSpPr>
            <p:cNvPr id="49" name="Rectangle 121"/>
            <p:cNvSpPr>
              <a:spLocks noChangeArrowheads="1"/>
            </p:cNvSpPr>
            <p:nvPr/>
          </p:nvSpPr>
          <p:spPr bwMode="auto">
            <a:xfrm>
              <a:off x="5227480" y="4983074"/>
              <a:ext cx="1752941" cy="836524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wrap="square" lIns="36000" tIns="36000" rIns="36000" bIns="36000"/>
            <a:lstStyle/>
            <a:p>
              <a:pPr marL="88900" marR="0" lvl="0" indent="-88900" defTabSz="1043056" eaLnBrk="1" fontAlgn="auto" latinLnBrk="0" hangingPunct="1">
                <a:lnSpc>
                  <a:spcPct val="11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Font typeface="Wingdings" pitchFamily="2" charset="2"/>
                <a:buChar char="§"/>
                <a:tabLst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/>
                  <a:ea typeface="맑은 고딕"/>
                </a:rPr>
                <a:t>제안요청서에 포함될 요건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성능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보안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데이터 등 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11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개 영역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)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들에 대한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기술서를 작성함</a:t>
              </a:r>
              <a:endPara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  <a:p>
              <a:pPr marL="88900" indent="-88900" defTabSz="1043056" latinLnBrk="0">
                <a:lnSpc>
                  <a:spcPct val="110000"/>
                </a:lnSpc>
                <a:spcBef>
                  <a:spcPts val="600"/>
                </a:spcBef>
                <a:buClr>
                  <a:srgbClr val="000000"/>
                </a:buClr>
                <a:buSzPct val="80000"/>
                <a:buFont typeface="Wingdings" pitchFamily="2" charset="2"/>
                <a:buChar char="§"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</a:rPr>
                <a:t>요건기술서는 기능에 대한 상세 명세</a:t>
              </a: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/>
                  <a:ea typeface="맑은 고딕"/>
                </a:rPr>
                <a:t>를 포함함</a:t>
              </a:r>
              <a:endParaRPr lang="ko-KR" altLang="en-US" sz="1100" kern="0" dirty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6" name="직사각형 55">
            <a:extLst>
              <a:ext uri="{FF2B5EF4-FFF2-40B4-BE49-F238E27FC236}">
                <a16:creationId xmlns:a16="http://schemas.microsoft.com/office/drawing/2014/main" xmlns="" id="{25DA8CDC-D248-4210-99F3-77CF4E091E0D}"/>
              </a:ext>
            </a:extLst>
          </p:cNvPr>
          <p:cNvSpPr/>
          <p:nvPr/>
        </p:nvSpPr>
        <p:spPr bwMode="auto">
          <a:xfrm>
            <a:off x="541019" y="4104057"/>
            <a:ext cx="8784000" cy="333055"/>
          </a:xfrm>
          <a:prstGeom prst="rect">
            <a:avLst/>
          </a:prstGeom>
          <a:solidFill>
            <a:srgbClr val="4678B4">
              <a:lumMod val="75000"/>
            </a:srgbClr>
          </a:solidFill>
          <a:ln w="12699">
            <a:solidFill>
              <a:srgbClr val="000000">
                <a:lumMod val="50000"/>
                <a:lumOff val="50000"/>
              </a:srgbClr>
            </a:solidFill>
            <a:miter lim="800000"/>
            <a:headEnd/>
            <a:tailEnd/>
          </a:ln>
          <a:effectLst/>
        </p:spPr>
        <p:txBody>
          <a:bodyPr lIns="72000" tIns="72000" rIns="72000" bIns="72000" anchor="ctr"/>
          <a:lstStyle/>
          <a:p>
            <a:pPr marL="0" marR="0" lvl="0" indent="0" algn="ctr" defTabSz="914400" latinLnBrk="0">
              <a:buSzTx/>
              <a:tabLst/>
              <a:defRPr/>
            </a:pPr>
            <a:r>
              <a:rPr lang="ko-KR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itchFamily="50" charset="-127"/>
                <a:ea typeface="맑은 고딕"/>
              </a:rPr>
              <a:t>요건 기술서 작성 절차</a:t>
            </a:r>
          </a:p>
        </p:txBody>
      </p:sp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dirty="0"/>
              <a:t>요구사항은 시스템장비구성</a:t>
            </a:r>
            <a:r>
              <a:rPr lang="en-US" altLang="ko-KR" dirty="0"/>
              <a:t>, </a:t>
            </a:r>
            <a:r>
              <a:rPr lang="ko-KR" altLang="en-US" dirty="0"/>
              <a:t>기능</a:t>
            </a:r>
            <a:r>
              <a:rPr lang="en-US" altLang="ko-KR" dirty="0"/>
              <a:t>, </a:t>
            </a:r>
            <a:r>
              <a:rPr lang="ko-KR" altLang="en-US" dirty="0"/>
              <a:t>성능</a:t>
            </a:r>
            <a:r>
              <a:rPr lang="en-US" altLang="ko-KR" dirty="0"/>
              <a:t>, </a:t>
            </a:r>
            <a:r>
              <a:rPr lang="ko-KR" altLang="en-US" dirty="0"/>
              <a:t>인터페이스</a:t>
            </a:r>
            <a:r>
              <a:rPr lang="en-US" altLang="ko-KR" dirty="0"/>
              <a:t>, </a:t>
            </a:r>
            <a:r>
              <a:rPr lang="ko-KR" altLang="en-US" dirty="0"/>
              <a:t>데이터</a:t>
            </a:r>
            <a:r>
              <a:rPr lang="en-US" altLang="ko-KR" dirty="0"/>
              <a:t>, </a:t>
            </a:r>
            <a:r>
              <a:rPr lang="ko-KR" altLang="en-US" dirty="0"/>
              <a:t>테스트 등 </a:t>
            </a:r>
            <a:r>
              <a:rPr lang="en-US" altLang="ko-KR" dirty="0"/>
              <a:t>11</a:t>
            </a:r>
            <a:r>
              <a:rPr lang="ko-KR" altLang="en-US" dirty="0"/>
              <a:t>개의 요구사항으로 분류하며 각 요구사항별 </a:t>
            </a:r>
            <a:r>
              <a:rPr lang="en-US" altLang="ko-KR" dirty="0"/>
              <a:t>ID </a:t>
            </a:r>
            <a:r>
              <a:rPr lang="ko-KR" altLang="en-US" dirty="0"/>
              <a:t>부여 규칙을 정의함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 5.2 </a:t>
            </a:r>
            <a:r>
              <a:rPr lang="ko-KR" altLang="en-US" dirty="0"/>
              <a:t>요구사항 분류 체계 및 </a:t>
            </a:r>
            <a:r>
              <a:rPr lang="en-US" altLang="ko-KR" dirty="0"/>
              <a:t>ID</a:t>
            </a:r>
            <a:r>
              <a:rPr lang="ko-KR" altLang="en-US" dirty="0"/>
              <a:t>부여 규칙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5.2 </a:t>
            </a:r>
            <a:r>
              <a:rPr lang="ko-KR" altLang="en-US" dirty="0"/>
              <a:t>요구사항 분류 체계 및 </a:t>
            </a:r>
            <a:r>
              <a:rPr lang="en-US" altLang="ko-KR" dirty="0"/>
              <a:t>ID</a:t>
            </a:r>
            <a:r>
              <a:rPr lang="ko-KR" altLang="en-US" dirty="0"/>
              <a:t>부여 규칙</a:t>
            </a:r>
            <a:endParaRPr lang="en-US" altLang="ko-KR" dirty="0"/>
          </a:p>
        </p:txBody>
      </p:sp>
      <p:graphicFrame>
        <p:nvGraphicFramePr>
          <p:cNvPr id="33" name="Group 5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27768873"/>
              </p:ext>
            </p:extLst>
          </p:nvPr>
        </p:nvGraphicFramePr>
        <p:xfrm>
          <a:off x="350833" y="1650531"/>
          <a:ext cx="9180002" cy="4584041"/>
        </p:xfrm>
        <a:graphic>
          <a:graphicData uri="http://schemas.openxmlformats.org/drawingml/2006/table">
            <a:tbl>
              <a:tblPr/>
              <a:tblGrid>
                <a:gridCol w="244615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44615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66218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2550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72041"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9pPr>
                    </a:lstStyle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분류 체계</a:t>
                      </a:r>
                    </a:p>
                  </a:txBody>
                  <a:tcPr marL="72000" marR="72000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33C5A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>
                        <a:latin typeface="+mn-ea"/>
                        <a:ea typeface="+mn-ea"/>
                      </a:endParaRPr>
                    </a:p>
                  </a:txBody>
                  <a:tcPr marL="72000" marR="72000" marT="18000" marB="1800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맑은 고딕"/>
                          <a:cs typeface="Arial"/>
                        </a:defRPr>
                      </a:lvl9pPr>
                    </a:lstStyle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부여 규칙</a:t>
                      </a:r>
                      <a:endParaRPr kumimoji="0" lang="en-US" altLang="ko-KR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72000" marT="18000" marB="18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구분</a:t>
                      </a:r>
                    </a:p>
                  </a:txBody>
                  <a:tcPr marL="72000" marR="72000" marT="18000" marB="1800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시스템장비구성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(ECR)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Equipment Composition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1-3</a:t>
                      </a:r>
                      <a:r>
                        <a:rPr lang="en-US" altLang="ko-KR" sz="1000" kern="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kern="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34000">
                <a:tc rowSpan="8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기능요구사항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(SFR)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System Function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통합재무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SFR-A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06841779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인적자원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SFR-E-000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배치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)SFR-B-000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연계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)SFR-C-000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기금지원관리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SFR-F-000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포털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SFR-P-000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통계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SFR-S-000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23400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모바일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SFR-M-000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성능요구사항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(PER) 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Performance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PER-000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9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공통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625255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인터페이스요구사항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(SIR)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System Interface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SIR-000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07869811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(DAR)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Data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defTabSz="914400" rtl="0" eaLnBrk="1" fontAlgn="base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DAR-000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70398790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(TER)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Test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92359330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(SER)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28586485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품질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(QUR)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Quality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QUR-000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27118307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제약사항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COR)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Constraint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56953999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프로젝트관리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(PMR)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Project Management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PMR-000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5233964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프로젝트지원 요구사항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(PSR)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Project Support Requirement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2700" marR="0" indent="-1270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PSR-000</a:t>
                      </a: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2297" marR="12297" marT="12297" marB="12297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617547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시스템장비 공통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H/W,S/W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장비도입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제안하는 소프트웨어는 국가공인품질인증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(GS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제품 우선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제품은 국내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인증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국가정보원 보안적합성 검증필 등 국가정보원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보안가이드 라인을 준수한 제품 납품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기존 시스템에 운영 중인 업무 및 타 시스템에 미치는 영향을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최소화할 수 있는 구체적인 설치계획 등의 방안 제시하여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기관시스템과의 원활한 연동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안정적 구성 및 다양한 기능 요건을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만족시킬 수 있도록 구축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시스템 구축 단계에서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HW, 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상호간 인터페이스나 호환성에 문제가 발생할 경우 해당 공급자는 적합한 제품을 발주자의 승인을 받아 대체 납품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시스템 구성을 위해 제안 요청 내용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구성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이외의 추가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(HW, 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 필요한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그 내용을 제안에 포함해야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추가 설비로 인해 성능 보장 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제안 제품의 설치 및 테스트 과정에서 속도 저하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 발생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취약점 발견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미비 등 중대한 결함이 발생할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해당 제품의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증설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보완을 요구할 수 있으며 제안사는 자기 부담으로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이에 대응 조치 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계약장비 공급 시 제안내용과 동일 수준 이상의 성능을 보장 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도입 장비의 품질에 대한 제품보증서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기술지원확약서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연간 유지보수 비용 및 조건 등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제조사 공급증명서 등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제시한 성능을 입증할 수 있는 공인자료를 제출해야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만약 공인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자료를 제출 할 수 없는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성능을 확인할 수 있는 구체적인 방법과 절차를 제시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 </a:t>
            </a:r>
            <a:r>
              <a:rPr kumimoji="1" lang="ko-KR" altLang="en-US" kern="0" dirty="0">
                <a:solidFill>
                  <a:prstClr val="black"/>
                </a:solidFill>
              </a:rPr>
              <a:t>요건기술서 작성 </a:t>
            </a:r>
            <a:r>
              <a:rPr kumimoji="1" lang="en-US" altLang="ko-KR" kern="0" dirty="0">
                <a:solidFill>
                  <a:prstClr val="black"/>
                </a:solidFill>
              </a:rPr>
              <a:t/>
            </a:r>
            <a:br>
              <a:rPr kumimoji="1" lang="en-US" altLang="ko-KR" kern="0" dirty="0">
                <a:solidFill>
                  <a:prstClr val="black"/>
                </a:solidFill>
              </a:rPr>
            </a:br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(1/7)</a:t>
            </a:r>
            <a:r>
              <a:rPr kumimoji="1" lang="ko-KR" altLang="en-US" kern="0" dirty="0">
                <a:solidFill>
                  <a:prstClr val="black"/>
                </a:solidFill>
              </a:rPr>
              <a:t>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0963226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08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시스템장비 서버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서버 장비도입 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가상화와 클라우드환경을 고려한 서버 구성필요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물리서버는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x86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랙 타입의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1U or 2U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서버를 권장 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물리 서버에는 원격 접속용 물리적 포트를 제공해야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이를 통해 물리 서버 관리가 가능해야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 장비는 서버 가상화 기능과 호환성에 대한 문제해결 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CPU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하이퍼바이저의 호환성 테스트에 대한 문제 해결 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물리서버는 가상화를 위한 컴퓨트 노드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베어메탈 노드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스토리지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서비스를 위한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Ceph/Swift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노드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테스트와 품질 관리를 위한 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스테이징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클라우드 서비스 관리와 운영을 위한 컨트롤러 노드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포털 서버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모니터링 서버에 각각의 사양을 제공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시스템장비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스토리지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스토리지 장비도입 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블록 스토리지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오브젝트 스토리지 형식을 별도로 구축하고 목적에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맞는 서비스를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서비스를 위해 스토리지는 공유 스토리지 기능을 제공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저장장치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스토리지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데이터 영역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(Volume)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별로 저장 및 백업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복구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할 수 있는 구조를 제공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저장 데이터에 대한 스냅샷을 통해 백업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복구 기능을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물리적 용량보다 큰 논리적 용량을 지정함으로써 필요에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따라 애플리케이션에 스토리지를 적시에 할당하는 기능을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스토리지의 용량 확장은 스케일아웃을 통해 제공해야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향후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 확대를 고려하여 최대 확장 가능 용량을 검토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제공되는 스토리지는 모든 가상머신과 연동되어야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무중단으로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용량을 증설할 수 있어야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스토리지의 기능은 다른 서비스와의 연동을 위해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API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온라인 중 볼륨 및 논리 단위 장치 번호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(LUN)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확장 기능을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스토리지는 사용자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계정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or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테넌트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별로 별도의 가상 네트워크로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격리 가능성 보장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(2/7)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네트워크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보안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보안을 고려한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네트워크 장비 도입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레거시 시스템의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변경하지 않고 클라우드 서비스를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L4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스위치 구성 시 레거시 연동 망의 구성을 분석하고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인라인 구성과 아웃오브패스 구성에 대해 고려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사용자별로 공인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와 사설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자동 또는 임의로 할당 받을 수 서비스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가상 머신들 사이의 통신을 위한 서비스 네트워크와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가상머신 관리를 위한 관리 네트워크는 별도로 구성 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네트워크 장비는 기존 운영 중인 네트워크 장비와의 연동에 문제가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없어야 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기존 네트워크 장비와 명령어 체계가 유사한 장비 도입을 우선 검토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사용자 계정별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VLAN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등을 이용하여 네트워크를 분리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네트워크 서비스는 가입자별 공인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와 사설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자동 설정할 수 있어야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사용자가 요청하는 임의의 사설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대역을 설정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VM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VM, VM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과 베어메탈 서버는 동일한 네트워크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(L2)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로 구성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L2, L3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스위치는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10Gbps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이상의 성능을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L4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스위치는 멀티네넌시를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L4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스위치는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SSL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연동이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VLAN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VxLAN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설정 및 연동이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가상스위치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(OVS,OpenVSwitch)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방화벽은 사용자별로 방화벽 룰을 설정할 수 있도록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웹 방화벽을 제공하고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사용자별로 룰 설정이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방화벽 서비스는 멀티 테넌시를 제공해야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사용자별 별도의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룰을 설정 가능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(3/7)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S/W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응용아키텍처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경영정보시스템의 응용 아키텍처는 웹 서비스 아키텍처로 구성 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물리적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논리적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계층의 웹 아키텍처로 구성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(Presentation Layer,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Business Logic Layer, Data Layer)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구성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사용자 인터페이스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 제공 또는 정보의 접근 방식은 웹 환경을 기반으로 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인터페이스는 브라우저를 기본으로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필요 시 브라우저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위에 다른 인터페이스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플러그 인 전용 뷰어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추가 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다양한 사용자 환경을 지원하기 위한 오픈 웹 환경을 고려하여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인터페이스 설계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데이터 교환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문자 세트 및 인코딩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UTF-8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UNICODE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표준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공개 소프트웨어 활용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정부의 시책에 부응하기 위해 공개 소프트웨어 활용이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최신성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신규로 도입되는 모든 소프트웨어는 검증된 최신 버전의 제품으로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도입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데이터 가용성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주요 데이터에 대한 가용성 보장을 위한 데이터 백업 정책을 수립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 백업과 복구를 위한 백업 아키텍처를 수행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응용 어플리케이션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응용 어플리케이션 소스 데이터를 백업 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업무용 통합 어플리케이션을 개발하고 병렬 구성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(4/7)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ECR-005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S/W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엔진 가용성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응용 서비스 제공을 위한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엔진을 이중화 구성해야 한다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방식의 클러스터링 기능을 제공 해야 한다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(DBMS Clustering,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WAS Clustering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병렬배치 및 부하부산 도구를 이용한 이중화 구성을 제공해야 한다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WEB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(HTTP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병렬 구성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IAM, LDAP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병렬 구성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EAI SW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병렬 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핵심 기간 업무 서비스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외부 민원인 대상 서비스 장애 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전체 서비스에 영향을 미치는 시스템이 이중화 대상이 되어야 한다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내부 직원용 서비스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단순 업무 지원 서비스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장애가 발생해도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해당 서비스에만 영향을 미치는 시스템은 이중화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대상에서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제외되어야 한다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성능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업무 유형별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기능별로 논리적 분리 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업무별 데이터 연계성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(Dependency)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등을 고려하여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아키텍처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설계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표준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아키텍처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응용 아키텍처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준수하여 응용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프로그램을 개발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추가 확장 및 신규 시스템 도입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기존 시스템 아키텍처와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호환성 고려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대한 성능관리 도구를 도입고려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주요 시스템에 대한 성능 측정 항목 및 요구 임계치를 정의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신규 도입 및 시스템 증설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검증된 최신 버전의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도입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시스템의 확장 및 해당 시스템과 연계되는 타 시스템의 증설 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업그레이드 작업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연동성 및 이식성을 고려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(5/7)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720116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2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-SW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운영 및 관리 편의성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운영 및 관리 편의성을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고려한 도입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통합모니터링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인터페이스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패치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장애를 고려한 운영 관리 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다양한 관리도구에 대하여 통합 모니터링을 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통합 콘솔을 통한 모든 이벤트 및 작업 로그 등을 통합 관리필요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각종 보안도구의 기능 및 정책 설정을 위한 통합 보안관리 체계를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각종 보안 관련 장비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기능을 통합 관리필요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대하여 기본적인 운영자 인터페이스는 웹 환경 구성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다양한 운영자 환경을 지원하기 위하여 오픈 웹 환경을 고려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기능 보완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성능 향상 및 보안 강화 등을 위한 패치 설치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환경을 구축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장애처리 및 유지보수를 위한 기본 환경을 구축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기본적인 장애처리를 위한 도움말 기능을 제공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latin typeface="맑은 고딕"/>
                        </a:rPr>
                        <a:t>확장성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확장성을 고려한 도입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호환성 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표준 규격의 시스템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와 호환성을 제공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동일 규격의 타 솔루션과 호환성을 제공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솔루션 대체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커스터마이징 작업이 없거나 최소화 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이식성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오픈 플랫폼 장비에 별도의 커널 수정없이 설치 가능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운영체제 및 시스템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버전의 마이너 업그레이드에 대한 영향이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없거나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최소화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유연성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아키텍처 변경에 따른 시스템 환경 변화에 대한 영향이 없거나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최소화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설치 또는 운영에 영향 최소화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개선 및 버그 수정을 위한 패치 적용 시 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영향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최소화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서비스 확장성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 확대 및 시스템 증설에 따른 선형 확장 기능을 제공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가상화를 통한 확장성을 제공필요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(6/7)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5321"/>
              </p:ext>
            </p:extLst>
          </p:nvPr>
        </p:nvGraphicFramePr>
        <p:xfrm>
          <a:off x="350833" y="1016732"/>
          <a:ext cx="9282688" cy="475505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890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0094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19389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81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20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7134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48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35892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20958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납품 품질보증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납품 제품에 대한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품질보증 고려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현재 생산이 중단되었거나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생산중단 계획 중인 제품을 공급 장비로 납품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설치할 수 없음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계약장비 납품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제안 내용과 동일 수준 이상의 성능을 보장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제품의 최종 검사완료일부터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년까지 제품에 결함이 없음을 보증하고 동 기간 동안 별도의 비용요청 없이 하자보수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하자담보기간은 사업완료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검수 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개월로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동기간 중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성능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제작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설치 등과 관련한 하자가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발생할 경우 무상으로 보수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패치 및 업그레이드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동일 장비의 신품으로 교환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제안사는 정보시스템 구축에 따른 국가정보원 보안성 심의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결과를 사업기간 내에 반영해야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이에 따른 비용은 행정안전부와 제안사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구축사업자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 협의하여 결정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20958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공통 기능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공통 서비스 기능 도출 및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컴포넌트 구성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구축 업무를 분석하여 공통기능을 도출필요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공통기능을 공통 콤포넌트로 구성하여 업무 기능에서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공통으로 사용할 수 있도록 서비스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Web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페이지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비즈니스 로직의 공통 가능한 요소를 도출하여 정의필요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성능향상을 위한 어플리케이션 캐쉬를 활용 할 수 있는 공통 서비스 제공 필요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공통 </a:t>
            </a:r>
            <a:r>
              <a:rPr kumimoji="1" lang="en-US" altLang="ko-KR" kern="0" dirty="0">
                <a:solidFill>
                  <a:prstClr val="black"/>
                </a:solidFill>
              </a:rPr>
              <a:t>(7/7)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3909719"/>
              </p:ext>
            </p:extLst>
          </p:nvPr>
        </p:nvGraphicFramePr>
        <p:xfrm>
          <a:off x="350833" y="1016732"/>
          <a:ext cx="9282688" cy="530389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890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0094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19389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81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203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7134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48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35892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4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ECR-009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개발플랫폼 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UI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개발플랫폼 도입 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전자정부 프레임워크와 연동 가능한 장비 도입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업무환경과 인프라 환경을 고려한 제품 선정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생산성을 향상시킬 수 있는 통합 개발환경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드래그앤드랍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(Drag &amp; Drop)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방식의 서비스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멀티 플랫폼 지원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개발에서 배포까지 가능한 서비스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Non Active-X , No Plug-in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제품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Multi Device(iOS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Android)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Multi Browser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데이터 그룹화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필터링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엑셀저장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컬럼별 합계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평균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다양한 입력 형식 지원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[Radio,check box,input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]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열단위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행단위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이전 병합결과에 따른 행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열 병합 기능 지원 필수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출력 필요 시 추가 서식개발 작업 없이 리포팅 툴과 자동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연계 기능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4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ECR-010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레포팅 도구 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다양한 보고서 표출 및 결과 제공 도구 도입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공단의 개발프레임워크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UI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프레임워크와 연동 가능한 제품의 제공 필요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Non-ActiveX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방식의 웹 표준 및 웹 접근성 기준의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HTML5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표준 기술기반의 제품을 제공필요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차트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그래프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 Cross Tab, Drilling,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등의 기능 제공 필요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개발생산성 및 운영 편의 향상을 위해 리포트 데이터와 폼이 구성가능한 형태로 구성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외부문서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(HWP, Office)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복사하기 붙이기 기능을 제공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다양한 보고서 형태 및 출력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저장 옵션을 제공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-  Drag &amp; Drop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방식의 데이터 매핑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JavaScript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사용 지원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-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다양한 출력 포맷으로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Export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가능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(hwp, ppt, doc, xls, pdf, txt, bmp, jpg, tif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-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프린트 예외 객체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화면 출력 예외 객체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Excel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저장 시 예외 객체 설정 기능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챠트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그래프 등 컴포넌트 제공이 가능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멀티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OS,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멀티 브라우저 등 다양한 사용자 환경을 지원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769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538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통계분석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DBMS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통계정보 분석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DBMS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1TB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이상의 데이터 분석 가능한 성능 보장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Premium Edition SW E-LTU perpetual License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 Machine learning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포함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 개발계 라이선스 무상제공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년 무상유지보수 포함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해당 사양 이상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- 3.0GHz 12Core / 128GB Memory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OS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영역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600GB *2 (RAID 1)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Data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영역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1.2TB * 6 = 7.2TB 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(RAID50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구성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Usable 4.4TB)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Power supply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이중화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네트웍 이중화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(1G NIC 1EA , 10G NIC 1EA)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네트웍 장비 사양 이상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- 10G 12port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 Private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 1G 12port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 Public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6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통계분석 솔루션도입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추출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분석을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위한 도구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[OLAP]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vCPU -  4 Core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Pivoting, DrillUp/Down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DrilltoDetail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기본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OLAP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Report, OLAP, Graph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하나의 화면에서 동시 구현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최적화 도출을 위한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Simulation/Forecasting 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분석결과를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Excel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Export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 동일 기능 작동 지원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분석결과에 대한 다양한 그래프 제공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Script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코딩없이 다양한 형태의 보고서 작성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엑셀의 모든 기능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이기종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에서 추출한 결과를 하나의 화면에 표현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이상치 분석결과에 대한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Alert, E-mail, SMS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기능연동지원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한 화면에 여러 개의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OLAP, Report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Porting,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 화면에서 여러 개체의 상호 연동 화면 구축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Scheduling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Real-Time,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전체 또는 부분적으로 화면 갱신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통계 함수를 사용한 분석 및 계산식을 적용한 연산 기능 지원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실시간적인 비정형 분석 수행 가능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생성된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Meta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업무 사용자별로 권한 지정 가능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538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ECR-012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통계분석 솔루션도입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추출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분석을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위한 도구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[OLAP]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웹에서 권한이 있는 사용자가 보고서를 조회하고 분석작업을 실행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기본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View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 없는 비정형분석은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Meta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항목을 새롭게 구성해 분석하고 저장 가능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[DW/ETL]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vCPU - 4 Core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x86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가상화 환경지원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 병렬 추출 처리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다양한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H/W, OS, 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다양한 필터링 기능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 정제 및 변환 시 소스와 타켓 간에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1:1, 1:M, M:M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등의 매핑지원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다양한 변환 가능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조건처리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Type, Format,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산술연산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함수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Sort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다양한 한글 문자셋 지원 가능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데이터 적재 시 다양한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빅데이터 적재 스크립트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생성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GUI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환경의 사용자 인터페이스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다양한 기본함수 및 사용자정의 함수 처리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다중 개발자 환경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추출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적재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갱신 스케줄링 지원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실시간 모니터링 기능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GUI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환경의 편리한 모니터링 환경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스케줄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실행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모니터링 통합화면 제공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5463127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538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연계 솔루션 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타 시스템 연계를 위한 연계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ESB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솔루션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송수신 전문 암∙복호화 지원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송수신 메시지에 대한 암호화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복호화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메시지의 내용 기반의 라우팅 기능 지원 및 위치 투명성 제공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서비스의 위치관리 기능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정해진 시간에 일정한 메시지 전송 수가 보장되도록 보정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메시지 전송의 안정성과 보안성을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메시지 가공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변환 및 프로토콜 변환 기능 제공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XML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기반의 동기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비동기 메시징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국가표준 암호화 알고리즘 지원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XML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기반 암호화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SSL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서비스관리 및 응답시간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실패에 대한 통계기능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다양한 인터랙션 스타일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(Request/Reply, Pub/Sub, Store and Forward)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HA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위해 클러스터링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Fail-Over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등의 메커니즘 제공으로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장애처리 시 재전송 기능 지원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솔루션 자체적인 통합연계 모니터링 지원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각종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RDBMS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XML DB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와의 편리한 연계기능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Custom Adapter(EAI, Open Api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요구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보장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메시지 무결성 및 비밀성 보호와 송신자의 인증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TCP/IP, SOAP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다양한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Protocol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대한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Gateway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설정된 값에 따라 계속적인 연결 재시도 및 장애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Notify,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장애발생 시 데이터 자동 재전송 기능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연계전문 관리기능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대시보드 형태의 통합 연계 모니터링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Site Licence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제공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030705"/>
              </p:ext>
            </p:extLst>
          </p:nvPr>
        </p:nvGraphicFramePr>
        <p:xfrm>
          <a:off x="350833" y="1016733"/>
          <a:ext cx="9180001" cy="362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538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규격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31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ECR-014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모바일 솔루션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핵심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모바일 서비스 제공을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위한 솔루션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Storage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NAS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스토리지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Usable 4TB, NFS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프로토콜 지원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SSD 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내부용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TB +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외부용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1.1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TB +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여유률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0.9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TB = 4TB)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- 16 Mem*4-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컨트롤러당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10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G 2 Port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VMI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L4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Citrix NetScaler MPX 5905 Standard Edition(1 Year HWM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VMI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스위치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L3, 24x1GbE, 2xCombo, 2x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RACK + KVM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- 42U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표준서버랙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KVM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모니터 콘솔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❍ 소프트웨어 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모바일 백신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안드로이드 용 모바일 백신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MS OS: WinSvrSTDCore 2016 SNGL OLP 2Lic NL CoreLic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(AD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MS DB: SQLSvrStdCore SNGL LicSAPk OLP 2Lic NL 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CoreLic Qlfd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인사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인사연동 </a:t>
                      </a: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S/W 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Hypervisor: Citrix XenServer - Standard Edition(Socket </a:t>
                      </a:r>
                      <a:b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 </a:t>
            </a:r>
            <a:r>
              <a:rPr kumimoji="1" lang="ko-KR" altLang="en-US" kern="0" dirty="0">
                <a:solidFill>
                  <a:prstClr val="black"/>
                </a:solidFill>
              </a:rPr>
              <a:t>시스템 장비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3</a:t>
            </a:r>
            <a:r>
              <a:rPr kumimoji="1" lang="ko-KR" altLang="en-US" kern="0" dirty="0">
                <a:solidFill>
                  <a:prstClr val="black"/>
                </a:solidFill>
              </a:rPr>
              <a:t>단계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</a:t>
            </a:r>
            <a:r>
              <a:rPr kumimoji="1" lang="ko-KR" altLang="en-US" kern="0" dirty="0">
                <a:solidFill>
                  <a:prstClr val="black"/>
                </a:solidFill>
              </a:rPr>
              <a:t> 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2858617"/>
              </p:ext>
            </p:extLst>
          </p:nvPr>
        </p:nvGraphicFramePr>
        <p:xfrm>
          <a:off x="350833" y="1016733"/>
          <a:ext cx="9180001" cy="535782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19243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SFR-A-001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예산기준정보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예산 편성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집행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통제를 위한 기준정보를 등록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관리하는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예산부서를 등록하여 예산을 예산부서로 사용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통제 할 수 있는 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기초 예산부서 생성 하는 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예산부서 복사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신규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추가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저장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조회 하는 기능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: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조직 부서와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예산편성 부서 다를 수 있음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사업코드 및 사업내용정보를 등록하여 관리하는 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사업관리 기준정보를 등록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추가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삭제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출력 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3973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SFR-A-002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중기사업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기준정보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중장기계획 수립에 필요한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정부에서 관리하는 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명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체계를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중기지출 관리구분 코드는 분야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부문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프로그램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단위사업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세부사업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코드를 등록하여 관리하는 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지출 프로그램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단위사업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세부사업 코드 등록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저장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조회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2397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SFR-A-003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정부예산회계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기준정보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공단예산코드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정부예산코드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매핑 정보를 관리하고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dBrain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연계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공단예산코드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정부예산코드 매핑 정보를 조회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추가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삭제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저장하는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중기사업계획 업무의 전산화와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dBrain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인터페이스 기능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중기사업계획관리 기능 구현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dBrain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연계 구현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5550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SFR-A-004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작성요청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사업계획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620" marR="7620" marT="7620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사업계획서 작성 요청하는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정보를 등록하는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○ 중기사업계획서 작성 요청하는 정보를 등록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삭제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저장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+mn-ea"/>
                          <a:cs typeface="+mn-cs"/>
                        </a:rPr>
                        <a:t>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92937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SFR-A-005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사업계획작성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 중기사업계획서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중기사업계획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수립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중기사업계획서 작성 요청하는 정보를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중기사업부서에서 기금 중기사업계획서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지출 예산계획을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작성하여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사업부서에서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 지출 예산계획 작성 정보를 전년도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가져오는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사업부서에서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 지출 예산계획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다운받는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중기사업부서에서 기금 중기사업계획서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예산계획 등록한 내역을 승인하여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개년도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예산계획 작성정보를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766043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259841"/>
              </p:ext>
            </p:extLst>
          </p:nvPr>
        </p:nvGraphicFramePr>
        <p:xfrm>
          <a:off x="350833" y="1016733"/>
          <a:ext cx="9180001" cy="534805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39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SFR-A-006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사업계획취합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중기사업부서에서 등록한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사업계획정보 취합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중기사업부서에서 등록한 지출 사업계획정보 취합하여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- 5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개년 지출 예산계획 승인내역정보를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3222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SFR-A-007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예산과목관리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예산운영에 필요한 연도별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회계구분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 예산과목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정비와 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 현행화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회계구분관리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 등 회계구분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기능별 예산과목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 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 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성질별 예산과목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 항목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세세목 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현행화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공단의 모든 내역사업을 관리하는 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당해년도내역사업 현행화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5925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SFR-A-008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산출정형화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테이블관리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아날로그 방식의 예산편성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산출기초를 디지털화하기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위하여 정형화 예산편성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테이블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수량단위관리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수량단위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m, l,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…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 수량단위 등록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우선순위 정렬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반복회수단위관리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반복회수단위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…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 반복회수단위 등록 및 우선순위 정렬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수입 정형화 테이블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수입예산정형화테이블조회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수입예산 산출기초를 세세목별 단가*수량*반복회수*요율로 정비한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정형화 테이블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 정형화테이블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지출예산정형화테이블조회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지출예산 산출기초를 세세목별 단가*수량*반복회수*요율로 정비한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정형화 테이블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549388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230424"/>
              </p:ext>
            </p:extLst>
          </p:nvPr>
        </p:nvGraphicFramePr>
        <p:xfrm>
          <a:off x="350833" y="1016733"/>
          <a:ext cx="9180001" cy="535996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96903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SFR-A-009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산출기준값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기준단가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기준요율 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산출기준값을 정형화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테이블에 등록하여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예산요구 시 자동으로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설정되도록 지원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기준단가관리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기준단가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연도별 기준단가를 현행화하여 정형화 테이블에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기준요율관리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기준요율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연도별 기준요율을 현행화하여 정형화 테이블에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기준단가테이블 현행화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기준단가테이블현행화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봉급테이블 등 행렬 값을 가지고 있는 연도별 기준단가표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기준요율테이블 현행화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기준요율테이블현행화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감리비요율 등 행렬값을 가지고 있는 연도별 기준요율표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741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예산운영 기준회계연도와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모든 부서의 예산요구관련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권한 및 결재라인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예산편성차수 등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기준회계연도설정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기준회계연도 및 기간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사업부서사용권한설정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예산업무 각 본부별 담당부서별 사용권한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예산결재형태설정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예산업무 각 본부별 담당부서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담당자 설정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예산편성차수관리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예산편성차수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조정차수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확정차수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일자 관리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내역사업 예산속성관리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추진여부관리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비사업구분관리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사업형태관리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이월종류관리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비예산여부관리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재원구분관리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계속사업여부관리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수행주체관리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지원방식관리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지원근거관리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공단전략방향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내역사업 분석속성관리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보조금속성 중 지역별 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생애주기별 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소득기준별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경제성질별코드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교육단위별코드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기업규모별코드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개인가구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구성유형별코드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서비스유형별코드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보훈유형별코드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장애인유형별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자율분석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자율분석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(4/41)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150985"/>
              </p:ext>
            </p:extLst>
          </p:nvPr>
        </p:nvGraphicFramePr>
        <p:xfrm>
          <a:off x="350833" y="1016733"/>
          <a:ext cx="9180001" cy="5418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02108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예산요구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모든 부서는 기금회계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법인회계의 한 해에 필요한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예산요구서를 작성하여 예산부서에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내역사업구조화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내역사업구조화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예산편성을 위하여 당해년도 내역사업구조화를 위하여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전년도와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테이블을 참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조하고 필요 시 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ID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내역사업예산속성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 예산속성 현행화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 예산속성 현행화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추진여부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사업기간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 사업비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수행주체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담당자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지원근거 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내역사업분석속성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 분석속성 현행화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 분석속성 현행화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보조금속성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자율분석속성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당초수입예산편성요구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당초수입예산요구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전년도 수입예산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 부서에서 요구하는 당초예산 정형화된 수입예산편성 요구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당초지출예산편성요구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당초지출예산요구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전년도 지출예산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 부서에서 요구하는 당초예산 정형화된 지출예산편성 요구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추경수입예산편성요구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추경수입예산요구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기정 수입예산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 부서에서 요구하는 추경예산 정형화된 수입예산편성 요구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추경지출예산편성요구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추경지출예산요구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기정 지출예산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 부서에서 요구하는 추경예산 정형화된 지출예산편성 요구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세부사업설명서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세부사업별 예산안 설명서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예산안인쇄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부서별 수입예산요구서 인쇄 및 엑셀 등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부서별 지출예산요구서 인쇄 및 엑셀 등 다운로드 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(5/41)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2068724"/>
              </p:ext>
            </p:extLst>
          </p:nvPr>
        </p:nvGraphicFramePr>
        <p:xfrm>
          <a:off x="350833" y="1016732"/>
          <a:ext cx="9180001" cy="535985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0605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SFR-A-011</a:t>
                      </a:r>
                      <a:b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예산요구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모든 부서는 기금회계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법인회계의 한 해에 필요한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 예산요구서를 작성하여 예산부서에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예산요구서승인요청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예산결재형태설정에 따라 예산요구서 승인 요청 및 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예산요구서승인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승인 요청 건에 대한 내역조회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승인처리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반려처리 기능 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369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예산편성조정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부서로부터 취합한 예산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요구서에 대한 예산편성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조정과 지원사업자가 제출한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사업계획에 따른 기금회계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예산추가요구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시뮬레이션을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통한 일괄 예산편성조종과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예산편성조정조서 출력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예산편성취합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수입 및 지출예산요구서 목록 접수를 위해 요구목록조회 및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예산편성조정테이블 생성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예산편성취합취소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 및 지출예산편성조정테이블 생성을 취소하고 해당부서에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예산 재요구 요청하기 위한 접수목록조회 및 반려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기금회계예산추가요구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제출한 사업계획에 따른 기금보조사업 예산 추가등록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기금수입예산추가요구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기금지출예산추가요구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수입예산편성조정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수입예산요구내역에 대한 예산부서의 예산편성조정 업무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관항별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세세목별 수입예산편성조정내역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수입예산편성조정회수별 이력을 통한 수입예산편성조정조서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지출예산편성조정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지출예산요구내역에 대한 예산부서의 예산편성조정 업무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예산편성내역의 기준액 및 기준요율 시뮬레이션을 통한 일괄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예산편성조정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세부사업별 지출예산편성조정내역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내역사업별 지출예산편성조정내역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지출예산편성조정내역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세세목별 지출예산편성조정내역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기준액 시뮬레이션을 통한 일괄 예산편성조정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기준요율 시뮬레이션을 통한 일괄 예산편성조정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지출예산편성조정회수별 이력을 통한 지출예산편성조정조서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(6/41)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761142"/>
              </p:ext>
            </p:extLst>
          </p:nvPr>
        </p:nvGraphicFramePr>
        <p:xfrm>
          <a:off x="350833" y="1016731"/>
          <a:ext cx="9180001" cy="535735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293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예산안인쇄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기금운영계획안 및 법인회계예산안 인쇄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기금운용계획안인쇄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기금회계예산의 문화체육국가예산 등록을 위한 기금운용계획안 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기금운용계획안 수입과목총괄표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수입기금운영계획안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b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지출과목총괄표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지출기금운용계획안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법인회계예산안인쇄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법인회계예산의 문화체육관광부 심의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이사회 의결을 위한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법인회계예산안 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법인회계예산안 수입과목총괄표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지출과목총괄표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법인회계예산안 수입예산안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지출예산안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인쇄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7491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예산확정처리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및 법인회계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 확정처리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예산확정처리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및 법인회계 예산확정으로 수입계획과 집행계획서 생성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기금회계예산확정처리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법인회계예산확정처리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18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예산서 인쇄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 확정된 기금회계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 예산서 인쇄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기금예산서인쇄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기금회계예산 확정된 수입 및 지출 예산서 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법인예산서인쇄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 확정된 수입 및 지출 예산서 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기금합본예산서인쇄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기금회계예산 당초부터 최종 추경분까지 수입 및 지출 합본예산서 인쇄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법인합본예산서인쇄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법인회계예산 당초부터 최종 추경분까지 수입 및 지출 합본예산서 인쇄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181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시계열통계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연도별 예산 편성액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시계열적 비교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기금회계예산분석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수입예산 관항별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항목별 시계열 예산액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비교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지출예산 세부사업별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성질별시계열 예산액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비교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법인회계예산분석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 수입예산 관항별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항목별 시계열 예산액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비교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 지출예산 세부사업별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성질별시계열 예산액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비교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(7/41)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6302558"/>
              </p:ext>
            </p:extLst>
          </p:nvPr>
        </p:nvGraphicFramePr>
        <p:xfrm>
          <a:off x="350833" y="1016732"/>
          <a:ext cx="9180001" cy="535304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0158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평가준비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예산종합평가를 위해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성과관리대상사업을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설정하고 평가지표별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배점관리 등 평가를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준비작업 처리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성과관리대상사업신청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성과관리대상사업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공단의 모든 부서는 예산종합평가계획을 숙지하고 성과관리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대상사업을 선정하여 투입지표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과정지표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결과지표 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성과관리대상사업 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성과관리대상사업 신정목록 조회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성과관리대상사업조정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예산부서는 부서에서 작성한 성과관리 대상 사업내역을 검토하여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조정 후 확정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평가지표별 배점관리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평가지표뵬 배점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예산부서는 예산종합평가계획에 의거 평가지표별 배점과 지수를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비롯한 산출방법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세세목별 성과속성설정 및 성과속성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예산부서는 세세목별로 경상경비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비경상경비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제외대상 등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성과속성을 설정하여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세세목예산 성과제외대상관리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세세목예산 성과제외대상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예산부서는 성과속성이 적용된 당해년도 지출예산의 세세목별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예산액 중 성과 제외대상 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평가마감일관리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 회수와 마감일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 회수별 마감처리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예산부서는 예산종합평가를 위한 부서별 자료제출마감일을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등록하여 처리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2040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예산종합평가제도 운영계획에 의거 성과관리사업 실적과 각부서의 내역사업별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예산운영실적을 토대로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팀별 예산종합평가 실시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성과관리 사업실적관리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성과관리사업 투입지표 달성도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성과관리사업 과정지표 달성도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성과관리사업 결과지표 달성도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성과관리 사업이 선정된 부서는 예산성과관리사업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관리지표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투입지표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과정지표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결과지표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달성 여부 등록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(8/41)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727968"/>
              </p:ext>
            </p:extLst>
          </p:nvPr>
        </p:nvGraphicFramePr>
        <p:xfrm>
          <a:off x="350833" y="1016732"/>
          <a:ext cx="9180001" cy="5418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SFR-A-018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예산종합평가제도 운영계획에 의거 성과관리사업 실적과 각부서의 내역사업별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예산운영실적을 토대로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팀별 예산종합평가 실시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6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경상경비 집행률관리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경상경비 집행률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경상경비의 수정예산 대비 집행액 비율을 통해 경상경비 집행률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 후 해당배점에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사업비 집행률관리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비경상경비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집행률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비경상경비의 수정예산 대비 집행액 비율을 통해 사업비 집행률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 후 해당배점에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사업비 조기집행실적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 조기집행실적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기재부 재정조기집행 점검 대상 법인회계 예산에 한해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집행계획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6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월까지 집행실적을 점검하여 집행률 산정 후 해당배점에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예산전용 평가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예산전용회수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 및 예산전용금액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수정예산 대비 예산전용 회수와 전용금액에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예산조정 평가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예산조정회수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 및 예산조정금액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수정예산 대비 예산조정 회수와 조정금액에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예산이월 평가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예산이월회수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 및 예산이월금액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명시이월 및 사고이월 건수에 따른 지수값과 부서별 수정예산 대비 이월금액 비율에 따른 지수값 산출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성과관리사업평가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성과관리사업 투입지표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성과관리사업 과정지표 달성도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성과관리사업 결과지표 달성도 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성과관리사업의 투입지표의 집행률에 따라 지수값 산정과 과정지표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및 결과지표의 달성 지수값 산출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예산종합평가결과 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예산종합평가결과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각 지표별 평가점수를 산정하여 예산종합평가결과를 작성하여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모든 부서에 통보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(9/41)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793860"/>
              </p:ext>
            </p:extLst>
          </p:nvPr>
        </p:nvGraphicFramePr>
        <p:xfrm>
          <a:off x="350833" y="1016732"/>
          <a:ext cx="9180001" cy="535753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16192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SFR-A-018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예산종합평가제도 운영계획에 의거 성과관리사업 실적과 각부서의 내역사업별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예산운영실적을 토대로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팀별 예산종합평가 실시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평가열람 및 이의신청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예산종합평가결과 열람 기능 및 부서별평가이의신청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예산종합평가결과를 수용할 수 없으면 불복사유를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작성하여 이의신청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예산종합평가결과 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예산종합평가결과 조정내역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예산편성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집행심의회에 의해 결정된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결정사항을 반영하여 평가결과 확정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284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SFR-A-019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예산집행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계획수립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팀별 예산집행계획을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수립하고 예산담당자가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부서장이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승인처리하는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팀에서 예산집행계획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팀에서 예산집행계획서 승인요청을 관리하는 기능 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부서별 예산집행계획서 내역을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부서장이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승인한 예산집행계획 내역을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또는 엑셀로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부서장이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예산집행계획</a:t>
                      </a:r>
                      <a:r>
                        <a:rPr lang="ko-KR" altLang="en-US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정보를 승인하는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예산부서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부서장이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예산집행계획서를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팀의 승인요청 대상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예산집행계획정보를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또는 엑셀로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예산집행계획정보</a:t>
                      </a:r>
                      <a:r>
                        <a:rPr lang="ko-KR" altLang="en-US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를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부서장이 </a:t>
                      </a:r>
                      <a:r>
                        <a:rPr lang="ko-KR" altLang="en-US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50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예산배정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예산담당자가 예산을 정기별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수시배정하고 승인요청하고 부서장이 배정결과를 승인하는 업무     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팀에서 분기별 예산을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정기배정하는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분기별 예산을 정기배정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분기별 예산 정기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배정정보를 행추가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행삭제하는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업무부서에서 예산을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수시배정하는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업무부서에서 예산 수시배정 정보를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업무부서에서 예산을 수시배정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업무부서에서 예산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수시배정정보를 행추가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행삭제 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예산집행계획에 따른 예산배정이 될 수 있게 업무처리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각 팀에서 수시예산배정된 내역을 승인요청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각 팀에서 예산배정된 내역을 승인요청 정보를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각 팀에서 예산배정된 내역을 승인요청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예산집행계획에 따른 예산배정이 될 수 있게 업무처리 개선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439894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(10/41)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129926"/>
              </p:ext>
            </p:extLst>
          </p:nvPr>
        </p:nvGraphicFramePr>
        <p:xfrm>
          <a:off x="350833" y="1016733"/>
          <a:ext cx="9180001" cy="54018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590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SFR-A-020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예산배정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예산담당자가 분기별 예산을 정기별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수시배정하고 승인요청하고 부서장이 배정결과를 승인하는 업무     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팀에서 수시예산배정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예산배정 승인정보를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예산배정 승인요청한 내역을 승인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수시예산배정 승인내역을 조회 후 예산배정 정보에 배정처리 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예산배정 승인한 정보를 배정처리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집행된 예산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실적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다기간으로 조회조건으로 조회 및 출력하는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집행된 예산을 조회하고 출력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예산배정과 집행실적의 다기간 자료 조회기능 추가로 개발 요청하는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97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예산변경서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예산담당자가 예산전용신청서 작성하고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처리를 할 수 있는 업무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예산담당자가 예산전용신청서 내역을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예산담당자가 예산전용신청서를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예산담당자가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예산전용신청서를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예산담당자가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예산전용신청서를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한 팀의 예산을 다른 팀으로 통째로 이동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한 팀의 예산을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다른 팀으로 통째로 옮기는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97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예산변경서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예산담당자가 예산변경서를 작성하여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처리를 할 수 있는 업무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 예산변경서 등록내역관리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 예산변경서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 예산변경서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 부서장이 예산변경서 등록정보를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처리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97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예산변경승인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예산변경 승인한 내역을 예산부서에서 조회한 후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할 수 있는 업무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예산부서 예산변경 등록내역을  조회 후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예산부서 예산변경요청 승인요청 내역을 조회 후 승인 또는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반려하는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897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예산절감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예산담당자가 예산 절감액 및 예산 불용서를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승인요청하면 부서장이 승인하고 예산부서에서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팀에서 예산 절감액 작성내역을 조회 후 결재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예산 절감액 작성정보를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엑셀다운로드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팀에서 불용예산 작성내역을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 하는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 부서 예산절감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불용서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 예산절감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불용서 승인 또는 반려하는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예산부서에서 절감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불용서 내역을 승인 또는 반려하는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예산절감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예산불용 처리시 시스템이 지원될 수 있게 업무처리와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시스템의 개선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(11/41)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6681249"/>
              </p:ext>
            </p:extLst>
          </p:nvPr>
        </p:nvGraphicFramePr>
        <p:xfrm>
          <a:off x="350833" y="1016732"/>
          <a:ext cx="9180001" cy="527846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214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예산이월 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 이월담당자가 이월예산을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부서장이 승인 후 예산팀에서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이월담당자가 이월예산 요청을 관리하는 기능 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 이월담당자가 이월예산서 작성시 사유와 관련 예산의 적합성 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이월과정에서 이월의 적정성 평가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 이월담당자가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이월예산서 정보를 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하는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예산이월 사유와 관련 예산의 적합성 등 이월과정에서 이월의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적정성 평가 등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 이월담당자가 이월예산서를 승인요청하는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부서장 이월예산서 유와 관련 예산의 적합성 등 이월과정에서 이월의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적정성 평가 후 승인 또는 반려하는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예산부서에서 이월예산서를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471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공단관련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시스템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인터페이스 또는 수기입력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관리할 수 있는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징수결의서를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 징수결의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타 시스템에서 가져와 생성한 후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스포츠센터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파크텔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투표권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주차관제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선수금 정산 징수결의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체육산업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임대관리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수정세금계산서 징수결의서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징수요구 결의내역 조회 후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 또는 반려하는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징수결의를 내역을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현업팀장이 징수결의 승인요청 내역을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 요구 현황을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다운로드를 할 수 있는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선수금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미정산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내역을 확인하는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기금정산관련 징수결의서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(12/41)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9644545"/>
              </p:ext>
            </p:extLst>
          </p:nvPr>
        </p:nvGraphicFramePr>
        <p:xfrm>
          <a:off x="350833" y="1016733"/>
          <a:ext cx="9180001" cy="45762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590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SFR-A-026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공단관련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시스템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인터페이스 또는 수기입력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관리할 수 있는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관련업무는 공통으로 기능을 적용하는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카드매출처리를 사업장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카드사별 미수금 총액에 대한 징수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수납처리 가능하도록 기능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세금계산서 발급기한 경과 후 징수결의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발의 불가능하도록 기능 개선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 징수내역 회계처리 시 부담금과 수수료를 분리하여 처리할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수 있도록 기능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발생된 수입이 인식되고 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집계된 후에 통합재무정보로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데이터가 전송되어 일정시간 이후에 징수결의로 이어지고 있어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판매시점과 수입시점 일치 대사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골프장별 골프부가금과 이에 대응되는 부가금수수료는 함께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재무회계 결산을 위하여 보조금 사업에 대한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처리할 때 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계좌별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재월별 구분입력 기능 추가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590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재무관리팀에서 각 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 승인된 내역 가지고 전표작성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하며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 없이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전자세금계산서 및 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비과세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발급하는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회계팀에서 전표분개 및 징수처리 승인요청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회계팀에서 전표분개 및 징수처리 승인요청 올리는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전표작성 및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전표작성 및 승인요청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분개 요구건과 분개 불요구건에 대한 유형을 정의하여 불요구건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처리는 해당 유형만 처리할 수 있게 업무처리와 전산지원이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미수금전표를 전표승인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회계팀장이 전표승인하는 기능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회계관직 징수담당자가 징수담당 승인하는 기능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회계관직 징수담당자가 징수담당관이 승인하는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징수처리결의서를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계산서를 생성하는 기능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수입결의 없이 전자세금계산서 및 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비과세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발급하는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메뉴 추가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009071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(13/41)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1650432"/>
              </p:ext>
            </p:extLst>
          </p:nvPr>
        </p:nvGraphicFramePr>
        <p:xfrm>
          <a:off x="350833" y="1016733"/>
          <a:ext cx="9180001" cy="45762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590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수납요구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내역을 수납처리하고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처리정보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발행 및 오류수정을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할 수 있는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계좌로 들어온 입금액을 회계처리를 위해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분리요청하는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징수결의내역을 인위적으로 상계시킨 내역을 조회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승인요청하는 기능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징수결의서 승인내역정보를 수납결의하는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수납결의 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 수납결의 내역을 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스포츠센터시스템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스포츠센터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넘어온 수납결의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골프장시스템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수납결의 내역을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주차관제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수납결의 내역을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주차관제시스템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신용카드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주차관제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수납결의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기타보조금 회계단위 예산배정 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기타보조금 회계단위 예산이월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조정내역을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수납결의 요청내역을 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현업팀장이 수납결의서 승인요청 내역을 조회한 후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 또는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반려하는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회계팀에서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신용카드 데이터 수납내역을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미수내역 및 미처리된 입금내역을 조회하는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5906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내역을 수납처리하고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처리정보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발행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오류수정을 할 수 있는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회계팀에서 수납처리 내역을 조회 후 전표분개 및 수납처리를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수납전표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 내역을 조회하는 가능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회계팀장이 전표승인하는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회계관직 수납담당자가 수납담당승인하는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수납처리결의내역을 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(14/41)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9899065"/>
              </p:ext>
            </p:extLst>
          </p:nvPr>
        </p:nvGraphicFramePr>
        <p:xfrm>
          <a:off x="350833" y="1016731"/>
          <a:ext cx="9180001" cy="536232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2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SFR-A-029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수납처리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내역을 수납처리하고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처리정보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발행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오류수정을 할 수 있는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정상처리여부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이중발행체크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오류수정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발행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정상처리여부를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이중발행 의심내역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집계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발행오류 시 오류수정하는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오류수정 후 재전송하는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계산서 발행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발행처 수정세금계산서 발행하는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136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수입집계표 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수입장표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수입부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수입부집계표 내역을 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수입부 및 수입부집계표를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3865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수당지급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회의비 및 업추비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급량비 간이결재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간이결재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통합재무와 기금지원과 연계를 통해 기금지원시스템에서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수당지급 지원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회의비 및 업추비 간이결재를 올리는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급량비를 간이결재를 올리는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간이결제 승인요청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현업팀장이 회의비 및 업추비 간이결재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현업팀장이 급량비 간이결재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지급내역서 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파일첨부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문서첨부기본신청서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급량비내역을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이원화된 비용지출 품의의 일원화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통합재무와 기금지원과의 연계를 통해 기금지원시스템에서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수당지급 지원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급량비 내역을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 이원화된 비용지출 품의의 일원화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3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법인카드분할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지로납부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국내여비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경륜상금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 관련 등 지출요구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법인카드내역을 분할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지출처리를 위해 법인카드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분할내역을 조회 및 승인금액을 분리하는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 지출결의 조회하는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세금계산서 등 첨부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법인카드 승인내역 지출결의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 및 지로 납부하는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 예산 분리 법인카드 지출내역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(15/41)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9670033"/>
              </p:ext>
            </p:extLst>
          </p:nvPr>
        </p:nvGraphicFramePr>
        <p:xfrm>
          <a:off x="350833" y="1016732"/>
          <a:ext cx="9180001" cy="534841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316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SFR-A-032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법인카드분할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지로납부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국내여비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경륜상금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 관련 등 지출요구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선지출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후 정산하는 지출결의를 등록하는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개산급 정산 지출결의를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결의서를 정산하는 결의서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 정산 결의내역 현황을 팝업으로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포상관련 지출결의 조회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주민번호가 별표처리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 정산 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세금계산서 불러오기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포상관련 지출결의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주민번호가 별표처리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국내여비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식비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 시 국내여비 관련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지출결의를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출장명령서 불러오기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증빙출력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기금지원시스템에서 내역을 끌어와 보조금 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보조금 불러오기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기금지원시스템에서 내역을 끌어와 체육인복지 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복지 불러오기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기부금 지출결의내역을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기부금정산 지출결의내역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기부금 조회 및 유형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구분하여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인적자원시스템에서 내역을 끌어와 급여 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경륜시스템에서 데이터를 불러와 상금처리를 지출결의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자금에서 융자금 지출결의를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예산을 늘려주는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여입결의를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여입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등록된 결의내역에 입금처리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지출결의서 기타 관리항목을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(16/41)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1759596"/>
              </p:ext>
            </p:extLst>
          </p:nvPr>
        </p:nvGraphicFramePr>
        <p:xfrm>
          <a:off x="350833" y="1016732"/>
          <a:ext cx="9180001" cy="535065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3385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SFR-A-032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법인카드분할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개산급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지로납부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국내여비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경륜상금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 관련 등 지출요구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지출결의내역을 조회 및 지출요구 승인하는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현업팀장이 지출결의내역을 팀장승인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예산통제승인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회계단위에 상관없이 일괄결재하는 지출요구승인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계약관련 지출결의일 경우 계약시스템을 연계하여 관련 계약정보를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지출결의내역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계약관련 지출요구일 경우 계약시스템을 연계하여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관련 계약정보를 필수로 입력할 수 있도록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계약시스템과 연계된 결의서 처리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계약관련 지출결의일 경우 계약시스템을 연계하여 관련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계약정보를 필수로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출력할 수 있도록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원인행위승인요청 업무에서 계약의 최종 잔금지급인 경우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자동분개를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지출결의를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현업팀장이 지출결의 내역을 팀장승인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예산통제승인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회계단위에 상관없이 일괄결재하는 지출요구를 승인하는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본부 회계팀에 증빙자료 제출 시 출력하는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전체 증빙자료 내역을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예산부서에서 부서 지출요구를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지출요구에 공통적으로 적용할 사항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관재 담당자가 동일 계약을 인식하여 묶어서 처리 요청 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한 건만 등재가 가능하도록 업무개선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골프장별 골프부가금과 이에 대응되는 부가금수수료는 함께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처리하는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재무회계 결산을 위하여 보조금 사업에 대한 수입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처리할 때 사업별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계좌별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재월별 구분입력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일반전표로 처리로 할 수 있는 유형을 정의하고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그 외 유형은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반드시 결의서를 통하여 전표를 처리하도록 변경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매입 세금계산서 연계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437308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(17/41)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918800"/>
              </p:ext>
            </p:extLst>
          </p:nvPr>
        </p:nvGraphicFramePr>
        <p:xfrm>
          <a:off x="350833" y="1016732"/>
          <a:ext cx="9180001" cy="535326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2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지출원인행위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예산이월 시나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미지급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 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계약의 최종 잔금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 시 등 지출원인행위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예산이월 시 원인행위 금액 등록내역을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예산이월 시 재무팀에서 원인행위액을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예산이월 시 재무팀에서 원인행위액을 등록하는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 지출 방지를 위한 시스템 기능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원인행위승인요청 및 대체전표 분개를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미지급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원인행위승인요청 및 대체전표 분개를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전표작성 및 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회계팀장이 전표승인하는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 원인행위 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원인행위승인요청서 전표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불요구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시 회계팀장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회계관직 원인행위담당자가 원인행위담당승인을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원인행위승인요청 업무에서 계약의 최종 잔금지급인 경우 자동 처리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7104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지출원인행위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승인처리 후 재무관리팀에서 지출전표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하는 업무 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지출처리를 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지출처리 승인요청 및 출금전표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분개를 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기타보조금 회계단위 지출처리 승인요청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지출전표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및 대상송장을 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지출전표작성 및 승인요청하는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회계팀장이 전표승인하는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대상송장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CMS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로 승인요청을 올리는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지출담당자가 지출담당승인을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97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지출관련 추산부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예산관련 내역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집행내역을 조회하는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추산부 및 추산부집계 내역을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원인행위액을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지출부내역을 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지출액을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예산부서별 지출부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지출부집계표를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원인행위액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지출액 보고서에 예산부서가 추가된 내역 및 원인행위별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잔액현황을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이월예산집행내역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목별예산집행액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목별부서별내역을 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(18/41)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171595"/>
              </p:ext>
            </p:extLst>
          </p:nvPr>
        </p:nvGraphicFramePr>
        <p:xfrm>
          <a:off x="350833" y="1016733"/>
          <a:ext cx="9180001" cy="534286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전표내역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전표분개장내역을 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전표분개장을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및 전표조회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팝업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764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선급보험료를 내역 등록부터 대체전표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 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손익대체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비경주일자동분개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전표내역을 조정을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선급보험료내역을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전표생성하는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선급보험료를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선급보험료 대체 전표를 생성하는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매년 결산 시 손익대체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비경주일자동분개를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매년 결산 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년에 한번 손익대체자동분개를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경륜경정본부에서 비경주일 전표 자동분개 시 사용하는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전표수정요청을 전산팀에서 변경처리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전표수정요청이 빈번하여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전산팀에서 사용하려 만든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0513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월계표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통합재무정보시스템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장부관리 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월계표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월계표를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일일 계정과목별 차대변을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 계정과목별 차대변을 조회하는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793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SFR-A-039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원장관리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통합재무정보시스템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장부관리 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월계표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총계정원장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계정별원장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관리항목원장을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차대변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잔액만 조회되는 총계정원장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전표내역 상세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계정별원장을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계정과목별 해당 관리항목에 따라 조회하는 원장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793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일반전표를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95366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 월 마감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회계단위별 결의서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 월마감 작업처리를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전표를 월마감작업하는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 전 당월 발생 결의 등을 모두 처리하도록 변경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회계규정 상 월마감 후 변경되는 업무에 대하여 조치할 수 있는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처리절차를 검토하여 개선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(19/41)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1326355"/>
              </p:ext>
            </p:extLst>
          </p:nvPr>
        </p:nvGraphicFramePr>
        <p:xfrm>
          <a:off x="350833" y="1016733"/>
          <a:ext cx="9180001" cy="535909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4035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544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결산서조회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 마감 후 조정 분개 및 결산장표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월결산 마감 후 조정분개를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 마감 후 조정분개를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통합재무와 기금지원의 정보연계를 통해 수작업으로 진행되는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결산업무의 자동화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월결산 마감 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결산장표를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월결산 미진행에 따른 공단 통합 월결산 자료 미 존재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 관련 통계자료 조회 및 관리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결산보고서 생성에 대한 정확한 업무 절차 정립과 시스템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 마감 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결산장표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0301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일반전표를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44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 월마감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회계단위별 결의서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 월마감작업처리를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결의서를 월마감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결의서 마감 전 당월 발생 결의 등을 모두 처리하도록 변경 기능 추가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전표 월마감 작업하는 기능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전표 마감 전 당월 발생 결의 등을 모두 처리하도록 변경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회계규정 상 월마감 후 변경되는 업무에 대하여 조치할 수 있는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처리절차를 검토하여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부가세를 월마감 작업하는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 마감 전 당월 발생 결의 등을 모두 처리하도록 변경 기능 추가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54401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결산서조회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월마감 후 조정 분개 및 결산장표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월결산 마감 후 조정분개를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 마감 후 조정분개를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통합재무와 기금지원의 정보연계를 통해 수작업으로 진행되는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결산업무의 자동화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월결산 마감 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결산장표를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월결산 미진행에 따른 공단 통합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 자료 미 존재 개선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 관련 통계자료 조회 및 관리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결산보고서 생성에 대한 정확한 업무 절차 정립과 시스템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월결산 마감 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결산장표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(20/41)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0742094"/>
              </p:ext>
            </p:extLst>
          </p:nvPr>
        </p:nvGraphicFramePr>
        <p:xfrm>
          <a:off x="350833" y="1016733"/>
          <a:ext cx="9180001" cy="53364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8773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 처리하는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일반전표를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일반전표를 승인하는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감가상각처리 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회계부서 요청에 의하여 감가상각처리를 되돌리는 경우 발생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3451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회계단위별 결의서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 월마감 작업처리하는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결의서를 월마감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전표를 월마감 작업하는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결의서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 마감 전 당월 발생 결의 등을 모두 처리하도록 변경 기능 추가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회계규정 상 월마감 후 변경되는 업무에 대하여 조치할 수 있는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처리절차를 검토하여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부가세를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 마감 전 당월 발생 결의 등을 모두 처리 하도록 변경기능 추가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0790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후 조정 분개 및 결산장표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연마감작업을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한 후 진행하는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연마감작업을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기초잔액 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 마감 후 조정분개를 작업하는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통합재무와 기금지원의 정보연계를 통해 수작업으로 진행되는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결산업무의 자동화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손익대체를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합계잔액시산표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공단계정과목정렬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세팅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국제 회계기준별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계정과목 사용여부를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합계잔액시산표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212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SFR-A-049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재무제표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 년 마감작업 후 결산장표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재무상태표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회계단위별 재무상태표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재무상태표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회계단위별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손익계산서를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회계단위별 손익계산서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경륜사업과 경정사업의 손익계산서를 신규로 개발 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구분손익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경륜경정사업의 경주손익과 비경주손익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경륜경정사업의 지점별 손익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손익계산서를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비영리사업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 분류별 손익계산서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(21/41)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183193"/>
              </p:ext>
            </p:extLst>
          </p:nvPr>
        </p:nvGraphicFramePr>
        <p:xfrm>
          <a:off x="350833" y="1016733"/>
          <a:ext cx="9180001" cy="5016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국제회계기준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국제회계기준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 결산장표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합계잔액시산표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회계단위별 재무상태표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회계단위별 손익계산서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수익별 손익계산서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국제회계기준 수익사업 등 분류별 손익계산서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구분손익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경륜경정사업의 경주손익과 비경주손익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경륜경정사업의 지점별 손익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결산부속 명세서 조회  기능 </a:t>
                      </a:r>
                      <a:br>
                        <a:rPr lang="ko-KR" altLang="en-US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국제회계기준 원가명세서 조회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연결회계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연결회계 지출결의 끝난 결의서에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첨부파일을 추가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지출결의가 끝난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결의서에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첨부파일이 추가로 필요할 경우 추가하는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지출결의가 끝난 결의서에 첨부파일이 추가로 필요한 경우 사용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잔액이월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법인회계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잔액이월 처리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잔액이월 처리 및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잔액이월 처리를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이월처리하는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 합계시산표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 보조잔액명세를 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일반전표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일반전표를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회계단위별 결의서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부가세를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작업처리하는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회계단위 전표를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작업하는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 전 당월 발생 결의 등을 모두 처리하도록 변경 기능 추가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회계규정 상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후 변경되는 업무에 대하여 조치할 수 있는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처리절차를 검토하여 개선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후 조정 및 결산장표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회계단위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작업 후 진행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기초잔액 등록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국가회계전표 관리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국가회계전표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단기매매증권 차이 조정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손익대체를 처리하는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(22/41)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232587"/>
              </p:ext>
            </p:extLst>
          </p:nvPr>
        </p:nvGraphicFramePr>
        <p:xfrm>
          <a:off x="350833" y="1016732"/>
          <a:ext cx="9180001" cy="534268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96913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SFR-A-055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연마감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후 조정 및 결산장표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합계잔액시산표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월계표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총계정원장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원장과 보조원장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가결산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순자산변동표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70311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부속명세서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원가계산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 및  결산장표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원가계산처리 및 전후 간접비배부결과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재무결산을 작업처리하는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표시이자율 등 관리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결산보고서 생성 및 작성여부 관리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순자산변동표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결산보고서 금액 수기 입력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결산보고서 출력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분개전표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보조원장 내부거래 관리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재무결산 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○ 기금운용 평가보고서 작성을 위하여 전문성 있는 인력 투입 필요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35363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SFR-A-057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정부예산회계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정보예산회계 매핑 및 기준관리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계정과목정보를 관리하는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결산계정과목 등록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정보등록항목코드 정보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계정과목별 정보등록항목 값 기준 등록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공단계정과목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국가계정과목을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매핑관리하는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국가계정과목 매핑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결산계정과목별 계정과목 등록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손익계산서 중분류별 계정과목 등록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공단계정과목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국가계정과목별 원가항목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세부사업별 원가항목 관리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귀속부서별 간접원가 배부대상 세부사업 등록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(23/41)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564622"/>
              </p:ext>
            </p:extLst>
          </p:nvPr>
        </p:nvGraphicFramePr>
        <p:xfrm>
          <a:off x="350833" y="1016733"/>
          <a:ext cx="9180001" cy="533011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61379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SFR-A-058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dBrain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전송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)-dBrain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전송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dBrain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데이터를 송신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수신 및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dBrain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데이터를 수신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송신하는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연계 송수신 내역을 조회하는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1379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SFR-A-059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잔액이월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연결산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기금회계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잔액이월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잔액이월 처리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이월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합계시산표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이월 보조잔액명세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911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SFR-A-060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세무신고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신용카드 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신고파일생성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신고서출력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세무신고에 필요한 정보를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매출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계산 결의서를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부가세자료를 생성하고 수정하는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세금계산서 발행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집계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부가세신고파일생성하는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세금계산서 발행 현황 조회 및 세금계산서 명세서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사업자별 세금계산서 집계 조회 및 수익센터별 세금계산서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합계 조회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부가세신고파일을 작성하는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 재료생성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명세서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영수증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업로드파일작성하는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소득자료를 생성하고 작성하는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소득명세서를 조회 및 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 영수증을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홈택스에 업로드하는 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소득 파일을 작성하는 기능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원천징수 신고용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지급조서 신고용 자료를 시스템적으로 홈택스에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연계하는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신용카드매출 디스켓을 작성하는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70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SFR-A-061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계좌 종류 등록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자금 입출금계좌를 종류별로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기준정보를 등록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계좌 종류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수입금계좌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지출계좌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엑셀 다운로드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70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SFR-A-062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금융기관 등록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입출금계좌관련 금융기관 기준정보를 등록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○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금융기관코드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은행 등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를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엑셀 </a:t>
                      </a:r>
                      <a:r>
                        <a:rPr lang="ko-KR" altLang="en-US" sz="1000" b="0" i="0" u="none" strike="noStrike" spc="-90" baseline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다운로드하는</a:t>
                      </a:r>
                      <a:r>
                        <a:rPr lang="ko-KR" altLang="en-US" sz="1000" b="0" i="0" u="none" strike="noStrike" spc="-9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(24/41)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5889070"/>
              </p:ext>
            </p:extLst>
          </p:nvPr>
        </p:nvGraphicFramePr>
        <p:xfrm>
          <a:off x="350833" y="1016733"/>
          <a:ext cx="9180001" cy="530998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 회계계정 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입출금계좌에 자금 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계정을 매핑 및 관련정보를 등록하는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 회계계정을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삭제하고 관리하는 기능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계정코드별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이자 평가 구분을 설정하고 관리하는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3059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입출금계좌관리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일반계좌 정보관리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 입출금계좌를 종류별로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상세정보를 등록 관리하는 업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일반계좌정보를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일반계좌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거래내역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입출금계좌 거래내역정보를 생성하는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VAN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받은 일반계좌 거래내역을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spc="-150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09885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자금수급관리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지출계획작성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자금관리 총괄부서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자금운용팀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자금수급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계획을 공지하고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부서에는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공지된 내용에 따라 각 부서의 </a:t>
                      </a:r>
                      <a:endParaRPr lang="en-US" altLang="ko-KR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자금소요내역을 파악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자금관리 총괄부서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자금운용팀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자금수급계획 작성요청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공지하고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부서에는 공지된 내용에 따라 각 부서의 자금소요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내역을 파악하여 자금지출계획을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지출계획을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5930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자금수급관리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수급계획작성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자금관리 총괄부서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자금운용팀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수입예정금액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만기예정 금융상품 금액으로 수입계획을 작성하는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각 부서에서 작성하여 요청한 자금지출계획을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자금관리 총괄부서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공단본부 자금운용팀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수입예정금액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만기예정 금융상품 금액으로 수입계획을 작성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7488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자금배정요청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자금담당은 요청된 내용을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검토하여 자금을 배정하는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자금배정요청을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8953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SFR-A-069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자금배정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요청승인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요청된 자금배정 요청서를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검토하여 자금을 배정 또는 반려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자금배정요청을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(25/41)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417883"/>
              </p:ext>
            </p:extLst>
          </p:nvPr>
        </p:nvGraphicFramePr>
        <p:xfrm>
          <a:off x="350833" y="1016732"/>
          <a:ext cx="9180001" cy="53570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4081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자금배정승인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자금운용팀은 요청된 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배정 내용을 검토하여 배정 승인 또는 반려하는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자금배정을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506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자금배정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자금부서에서 요청부서에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자금을 배정하는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자금배정을 처리하여 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506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자금배정확인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자금요청부서에서 배정된 자금현황을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자금배정 처리내역을 확인하는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9655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금융상품기준정보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구분코드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 등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상품구분코드 및 계정정보를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 계좌정보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이자율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금융구분코드를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 계좌정보를 관리하는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03271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금융상품운용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취득한 금융상품의 내역을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자금관리등록부터 수입결의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 까지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취득한 금융상품의 내역을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자금관리에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금융상품의 종류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이자수익률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평가방법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취급금융기관 등 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 및 이자계산 대상을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계좌정보에 따라 이자 금액의 계산과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 및 이자계산 대상을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평가대상 금융상품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 및 이자 자동계산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평가손익을 산출하고 관리하는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금융상품평가결과를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 이자 및 평가 내역의 전표를 생성하고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그 내용을 수입관리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수입결의와 수입처리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전표처리용 내역을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전송하는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금융상품현황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결산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수익률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금융상품운용결과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신규 금융상품 가입을 위한 지출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중도해지 등에 의한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수입에 대한 결의처리가 자동으로 결의처리가 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(26/41)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129948"/>
              </p:ext>
            </p:extLst>
          </p:nvPr>
        </p:nvGraphicFramePr>
        <p:xfrm>
          <a:off x="350833" y="1016732"/>
          <a:ext cx="9180001" cy="536459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35007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9070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SFR-A-074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금융상품운용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6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취득한 금융상품의 내역을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자금관리등록 부터 수입결의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 까지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6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정기예금 등에 대한 잔액관리를 전표 작성으로 완료될 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있도록 간소화 개발을 요청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600"/>
                        </a:spcBef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※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만기해지 또는 중도해지 처리된 금융상품의 종류와 금액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증식된 이자 등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금액의 정보를 수입관리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수입결의와 수입처리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에서 처리하는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249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 부가금 시스템의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 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부가금시스템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코드를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 시설정보를 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86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 부가금 수금 및 체납관리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부가금입금내역을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 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수납명세서현황을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입금내역현황을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 전화내역 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부가금관리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부가금 납부내역조회 및 부가금납 작성내역을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저장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0111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융자관리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고정금리 및 상환기간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일자 및 요일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유효이자율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분개유형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취급은행별 관리할 계좌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분개코드를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고정금리 및 상환기간을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상환일자 공휴일정보를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고정금리 이자율을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분개유형별 차대변 계정과목 설정을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은행 계좌번호를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하는 기능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융자발생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원금이자상환 관련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예산목코드를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 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4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지급된 융자금을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하는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지급된 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관련 문서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 첨부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(27/41)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9317825"/>
              </p:ext>
            </p:extLst>
          </p:nvPr>
        </p:nvGraphicFramePr>
        <p:xfrm>
          <a:off x="350833" y="1016732"/>
          <a:ext cx="9180001" cy="536459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48558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75094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지급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체육사업자들에게 사업자금과 운전자금을 대출하는 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융자공모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융자심의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융자금지급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지급된 융자금을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융자금 승인요청을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스케줄을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은행에서 제공된 상환정보에 대하여 상환스케줄을 조회하는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스케줄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금융기관 변경내역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변동금리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변동금리 개별적용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융자금의 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이자수익에 대한 결의서 및 전표를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6509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상환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은행에서 제공된 상환정보에 대하여 상환스케줄 따라 고정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변동금리적용하며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상환일자에 따라 수입된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상환액과 이자수입을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 처리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은행에서 제공된 상환정보에 대하여 상환스케줄을 조회하는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정기 상환된 융자금 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조기 상환된 융자금 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융자금 중 일정조건이 충족되어 만기가 연장된 융자 건에 대한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정보를 관리하는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만기연장된 융자금 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상환 스케줄을 일괄 변경하는 기능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고정금리 융자건과 변동금리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융자 건을 구분하여 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스케줄변경 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금리변경된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융자금 정보를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상환스케줄 조회 화면에서 개별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융자건의 금리 종류를 변경하는 기능</a:t>
                      </a:r>
                      <a:endParaRPr lang="en-US" altLang="ko-KR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금리 종류 변경에 따른 상환스케줄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상각스케줄을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변경하는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금리 변경 후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취소처리하는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취급 금융기관 변경 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2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진행중인 융자 건에 대해 중도에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취급금융기관이 변경되는 경우는 없음</a:t>
                      </a:r>
                      <a:endParaRPr lang="en-US" altLang="ko-KR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(28/41)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274726"/>
              </p:ext>
            </p:extLst>
          </p:nvPr>
        </p:nvGraphicFramePr>
        <p:xfrm>
          <a:off x="350833" y="1016732"/>
          <a:ext cx="9180001" cy="536459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42427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2216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SFR-A-079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상환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은행에서 제공된 상환정보에 대하여 상환스케줄 따라 고정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변동금리적용하며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상환일자에 따라 수입된 융자금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상환액과 이자수입을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전표처리 처리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변동금리정보를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변동금리로 설정되어 있는 모든 융자 건에 대해서 금리가 변동되는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기준일 이후의 상환스케줄 일괄 변경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변경된 상환스케줄을 기준으로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상각스케줄을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일괄 변경하는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상환스케줄 변경 시 기 작업된 조기상환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만기연장의 상환스케줄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변경 내용을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변경된 상각스케줄을 기준으로 충당금 재평가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상각스케줄 변경은 이력이 관리되어야 하며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변경 후 변경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취소가 가능하여야 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융자 조건 중 금리 구분이 변동금리이고 기준금리가 변경되었을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경우 정보를 등록하는 기능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변동 금리에 대하여 융자별로 개별 금리 적용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변동금리 개별적용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내역을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융자별로 변동 금리를 적용한 것 등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>
                        <a:spcBef>
                          <a:spcPts val="300"/>
                        </a:spcBef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결의서 및 전표생성 조회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융자금의 상환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이자수익에 대한 결의서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및 전표를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초기화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상환일자에 따라 수입된 융자금 상환액과 이자수입을 전표처리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상환 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징수처리하는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이자수입 발생 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수입결의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징수처리하는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취급 금융기관의 수수료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융자금 취급 금융기관별로 공단에서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금융기관에 지급하는 수수료를 지출결의 및 지출처리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전표의 정렬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분류가 전표일자 기준으로만 처리되는데 적요로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검색이 된다던지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또는 전표일자가 아닌 ‘전표 승인일자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일자’로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특정시점 이후로 추가된 전표가 장부를 틀어지게 하는 경우가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없도록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지출할 때도 대장송장 승인요청 과정에서 보조금사업은 계좌별로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일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일이 조회를 따로 해서 지출되고 있는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것을 같이 처리 하도록 기능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계좌가 여러 개라도 구분만 잘 된다면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한 화면에서 조회한 다음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한꺼번에 여러 계좌를 처리할 수 있는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118696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(29/41)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938431"/>
              </p:ext>
            </p:extLst>
          </p:nvPr>
        </p:nvGraphicFramePr>
        <p:xfrm>
          <a:off x="350833" y="1016733"/>
          <a:ext cx="9180001" cy="535554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005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사업별손익산출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사업별손익산출은 월결산 종료 후 사업별 손익계산서 집계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경주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비경주 공통항목의 집계와 구분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안분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법정준비금과 법정적립금의 계산과 처리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경주사업과 비경주사업의 손익계산서 작성을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배부기준 등록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생성하는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공통항목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배부액을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법정준비금과 법정배분금 생성 및 전표를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경주사업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비경주사업의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손익계산서를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손익계산서를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3988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지점별손익산출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지점별손익산출은 월결산 종료 후 지점별 손익 기초자료를 집계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전 손익계산서 작성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안분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후 지점별 손익계산서을 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지점별 손익계산서를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배부기준 등록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생성하는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공통항목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배부액을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법정준비금과 법정배분금 생성 및 전표를 처리하는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지점별 손익계산서를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손익계산서를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3988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공동활용지점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공동활용지점정산은 월결산 종료 후 공동활용지점별 정산대상 수익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집계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정산용 배부기준 집계 및 배부율 작성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안분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-&gt;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정산비용 확정하는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공동활용지점별 정산대상 수익과 비용을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배부기준용 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가중평균 배부기준율을 산정하는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배부기준 등록 및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생성하는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공통항목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배부액을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정산비용을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5789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집계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 인건비와 경비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운영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수익과 운영비용을 집계하는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골프장사업실 인건비와 경비를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골프장별 운영수익과 운영비용을 조회하는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005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어떤 배부기준을 선택할지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배부기준에 사용될 항목을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및 공통항목을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기간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(YYYYMM)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검색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골프장사업실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검색하여 인건비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경비 계정과목과 금액을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어떤 배부기준을 선택할 지 배부기준에 사용될 항목을 검색하는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선정된 배부기준의 값을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복수의 배부기준을 사용하기 위해 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 이상의 배부기준을 선택하는 기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배부기준 간 가중치를 선정하는 기능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배부기준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60%.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배부기준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2 4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골프장사업실 공통항목을 배부하는 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(30/41)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8356241"/>
              </p:ext>
            </p:extLst>
          </p:nvPr>
        </p:nvGraphicFramePr>
        <p:xfrm>
          <a:off x="350833" y="1016732"/>
          <a:ext cx="9180001" cy="5320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SFR-A-084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어떤 배부기준을 선택할지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배부기준에 사용될 항목을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및 공통항목을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어떤 배부기준을 선택할 지 배부기준에 사용될 항목을 검색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배부기준에 따른 각 골프장별 배부비율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 계산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배부기준에 해당되는 수치자료를 집계하여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전체 합으로 각 배부기준을 나누어 계산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(%)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배부기준으로 예산규모를 사용하는 경우 배부율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①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201X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 연간 예산규모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백만원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광산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1,444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정선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1,335 </a:t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제천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1,632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영광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1,547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거창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1,965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 때 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② 배부율표에 골프장별 배부기준 수치를 집계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③ 배부율 계산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광산 배부율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1,444 / 7,923 = 18.22% </a:t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④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 표시는 소수점 아래 셋째자리 반올림하여 나타내고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값은 그대로 갖고 있어야 함 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⑤ 작성된 배부율표는 배부율 관리를 위해 별도로 계속 보관해야 함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골프장사업실의 공통비용 배부방법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① 인건비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구분이 불가능한 공통비용으로 배부기준에 따라 배부 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② 구분 불가능 경비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공통비용으로 배부기준에 따라 배부  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③ 구분 가능 경비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국내여비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사업추진비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회의비 중 특정 골프장을 위해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지출된 비용은 직접 귀속 </a:t>
                      </a:r>
                      <a:r>
                        <a:rPr lang="en-US" altLang="ko-KR" sz="9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9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적요의 내용으로 구분하여 해당 골프장에 귀속</a:t>
                      </a:r>
                      <a:r>
                        <a:rPr lang="en-US" altLang="ko-KR" sz="9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배부기준과 배부율 산정방법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(1)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배부기준은 매출액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경주횟수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인건비 등 배부 기준으로 사용될 수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있는 다수의 항목이 존재함으로 배부기준의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대상을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Pool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형태로 관리해야 하고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업무담당자가 배부기준 항목을 선택할 수 있도록 함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배부기준의 가중치 결정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복수의 배부기준이 선택되는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각 배부기준의 가중치를 업무담당자가 부여할 수 있어야 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 산정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선정된 가중평균 배부기준으로 배부할 대상의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항목의 값을 항목들 값의 합으로 나분 것이 배부율로 산정됨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배부기준은 지점별 매출액과 지점별 인건비 합으로 선정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가중치는 매출액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70%,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인건비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30%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로 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가중평균 배부율 계산은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+G85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.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A(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매출액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70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인건비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15 = 70*70%+15*30%=AA),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B(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매출액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80,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인건비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25 = 80*70%+25*30%=BB),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C(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매출액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90,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인건비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40 = 90*70%+40*30%=CC)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각각의 가중평균 배부기준의 값은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AA/(AA+BB+CC),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BB/(AA+BB+CC), CC/(AA+BB+CC)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(31/41)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8093187"/>
              </p:ext>
            </p:extLst>
          </p:nvPr>
        </p:nvGraphicFramePr>
        <p:xfrm>
          <a:off x="350833" y="1016732"/>
          <a:ext cx="9180001" cy="53004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0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골프장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손익계산서 산정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전 손익계산서에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배부액을 추가하여 골프장별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운영수익과 운영비용으로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산출된 손익계산서를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생성하고 조회하는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골프장별 운영수익과 운영비용으로 산출된 손익계산서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엑셀다운로드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전 골프장별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손익계산서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손익계산서는 해당 월과 누적월을 비교표시 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전 손익계산서는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골프장별로 발생된 직접적인 운영수익과 운영비용</a:t>
                      </a:r>
                      <a:endParaRPr lang="en-US" altLang="ko-KR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spc="-15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특정 골프장에 귀속되는 골프장사업실의 특정비용을 집계하여 산출함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전 손익계산서에 골프장사업실의 인건비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경비 배부액을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추가하여 내부관리 손익계산서를 작성함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손익계산서 검색기간이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'18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 이면 당월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'18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누적월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 '18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-03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기간 검색기준은 해당년도의 특정월에서 해당월까지 가능함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결산월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월까지 완료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기간검색은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 이면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'18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'18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 조회 가능하여야 함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9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기초자료집계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재정상태표의 하위계정으로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계정과목과 금액을 조회하는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기금회계 재정운영표의 하위계정으로 계정과목과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금액을 조회하는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기금회계의 구분회계는 기금회계의 연결산으로 작성된 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재정운영표를  ① 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②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③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④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 ⑤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체육인프라운영 의 사업단위로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사업단위별 재정운영표와 재정상태표로 구분하는 작업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구분을 위해 연 결산 완료된 재정운영표와 재정상태표를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사업단위별로 구분하고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구분되지 않는 것은 합리적인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배부기준으로 각 사업단위에 배부하는 것임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계정별 원장자료를 집계하여 재정운영표의 표시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계정과목으로 분류하여 자료를 구분함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임시보수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 등은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계정과목으로 재정운영표의 표시 계정과목인 ‘인건비‘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로 구분하여 집계하고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수익계정도 동일한 절차에 따름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계정별 원장자료를 집계하여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표시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계정과목으로 분류하여 자료를 구분함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기금회계 재정상태표의 하위계정으로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계정과목과 금액을 조회하는 기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사업단위별 총 수익과 총비용의 </a:t>
                      </a:r>
                      <a:r>
                        <a:rPr lang="ko-KR" altLang="en-US" sz="1000" b="0" i="0" u="none" strike="noStrike" spc="-150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자료를 집계하는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사업단위별 자산과 부채의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자료를 집계하는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집계된 계정을 재무제표용 계정으로 분류하는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(32/41)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9475331"/>
              </p:ext>
            </p:extLst>
          </p:nvPr>
        </p:nvGraphicFramePr>
        <p:xfrm>
          <a:off x="350833" y="1016732"/>
          <a:ext cx="9180001" cy="534841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316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구분항목과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분리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부채계정의 직접귀속과  공통항목을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구분하여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수익계정의 직접귀속과 공통항목을 구분하여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 수익은 재정운용표의 프로그램원가수익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비배분수익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비교환수익 합계임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프로그램원가수익은 스포츠산업육성 단위 및 기금정산에 따른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잡이익에서만 발생하며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비배분수익 및 비교환수익은 전 구분회계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단위에서 발생함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프로그램원가수익은 전액 직접귀속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비배분수익과 비교환수익은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직접수익은 직접귀속하고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잔여 공통수익은 사업비 지급기준으로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 본연의 성격상 기금의 수익은 기금이 수행하는 전체사업을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위한 것으로 그 금액이 특정되어 있지 않아 대부분이 공통수익으로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배부의 대상임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비용계정의 직접귀속과 공통항목을 구분하여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총비용은 재정운용표의 프로그램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총원가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관리운영비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비배분비용 합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국가회계기준에 의한 프로그램과 구분회계단위가 일치하므로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각각의 프로그램총원가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자치단체보조비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공공기관보조비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각 구분회계단위로 직접 귀속함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기금이라는 본연의 성격상 기금이 지출하는 비용은 각 사업에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특정되므로 프로그램총원가는 직접 귀속함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관리운영비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비배분비용은 직접비용은 각각의 단위에 직접귀속하고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공통비용은 사업지지급기준과 직접비인건비기준으로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(*1)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지급수수료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세금과공과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업무추진비 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(*2)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 및 복리후생비 등 인건비성 비용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자산계정의 직접귀속과 공통항목을 구분하여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세부 프로그램으로 각각의 자산은 직접 배부되는 기금정산에 따른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미수채권과 간접 배부된 금융자산 및 미수채권으로 구성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체육관련 시설에 대한 투자 및 운영을 주된 업무로 하는 체육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인프라운영은 보유자산의 대부분이 유형자산으로 직접 귀속함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(33/41)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178354"/>
              </p:ext>
            </p:extLst>
          </p:nvPr>
        </p:nvGraphicFramePr>
        <p:xfrm>
          <a:off x="350833" y="1016732"/>
          <a:ext cx="9180001" cy="536732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47332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SFR-A-087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구분항목과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 분리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부채계정의 직접귀속과  공통항목을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구분하여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공통자산의 주요 배부기준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미수채권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기타자산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미수이자수익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선급법인세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부채계정의 직접귀속과 공통항목을 구분하여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대부분 미지급금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예수금 등 유동부채와 장기예수보증금이며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공통부채는 배부기준으로 배부함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49531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부채계정의 공통항목의안분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 배부액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총 수익 공통항목의 배부기준 자료를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총 수익 공통항목의 배부기준은 사업단위별 사업비지급기준으로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사업단위별로 책정된 연 예산규모로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배부율표는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각 사업단위별 예산규모의 합에 대한 각 사업단위 예산규모 비율로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계산하여 배부율표를 작성함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비배분수익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재화및용역제공수익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자산처분이익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기타수익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비교환수익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기타재원조달및이전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부담금수익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중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직접귀속 된 것을 제외한 공통수익을 사업비지급기준으로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조회된 배부기준으로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배부율표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총비용 공통항목과 배부율표로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계산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자산 공통항목의 배부기준 자료를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자산 공통항목의 배부기준은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사업단위별로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책정된 연 예산규모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장기금융상품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 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당기 손익계정이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사업단위별로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배부 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후 이자수익 비율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배부기준은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현금 및 현금성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미수채권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         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장단기대여금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기타자산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미수이자수익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 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선급법인세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배부율표 생성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조회된 배부기준으로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배부율표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공통자산 배부액 산정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자산 공통항목과 배부율표로 배부액 계산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097342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(34/41)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2327315"/>
              </p:ext>
            </p:extLst>
          </p:nvPr>
        </p:nvGraphicFramePr>
        <p:xfrm>
          <a:off x="350833" y="1016732"/>
          <a:ext cx="9180001" cy="5320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SFR-A-088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부채계정의 공통항목의안분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 배부액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총비용 공통항목의 배부기준 자료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총비용 공통항목의 배부기준은 사업단위별 사업비지급기준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사업단위별로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계정과목은 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임시직보수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으로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배부율표는 각 사업단위별 값의 합에 대한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각 사업단위 값 비율로 계산하여 배부율표를 작성함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공통비용을 사업지지급기준과 직접비인건비기준으로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(*1)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지급수수료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세금과공과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업무추진비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(*2)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 및 복리후생비 등 인건비성 비용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조회된 배부기준으로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 공통항목과 배부율표로 배부액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 공통항목의 배부기준 자료 조회하는 기능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 공통항목의 배부기준은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t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사업단위별로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당기 손익계정이 사업단위별로 배부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t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          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이자수익 비율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t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미수채권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t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        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기타자산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금융상품잔액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미수이자수익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</a:p>
                    <a:p>
                      <a:pPr algn="l" fontAlgn="t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후 이자수익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선급법인세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조회된 배부기준으로 배부율표작성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 공통항목과 배부율표로 배부액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부채 공통항목의 배부기준 자료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 공통항목의 배부기준은 사업단위별 사업비지급기준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사업단위별로 책정된 연 예산규모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 계정과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목은 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임시직보수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배부율표는 각 사업단위별 값의 합에 대한 각 사업단위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값 비율로 계산하여 배부율표를 작성함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22118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(35/41)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3763624"/>
              </p:ext>
            </p:extLst>
          </p:nvPr>
        </p:nvGraphicFramePr>
        <p:xfrm>
          <a:off x="350833" y="1016732"/>
          <a:ext cx="9180001" cy="5248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0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SFR-A-088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공통항목의안분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부채계정의 공통항목의안분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공통비용 배부액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t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사업비지급기준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미지급금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t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 비율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퇴직급여충당부채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(*3)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대차평균원리에 따라 산출된 간접귀속차입금이 존재함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조회된 배부기준으로 배부율표작성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 공통항목과 배부율표로 배부액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현재까지 집계된 구분회계 단위별 재정운영표의 직접귀속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계정과목과 금액을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재정운영표에 집계될 수익항목과 비용항목의 직접 집계되는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항목을 재정운영표로 조회하여 나타내는 것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0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SFR-A-089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 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현재까지 집계된 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 재정운영표의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 계정과목과 금액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배부된 계정과목과 금액을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현재까지 집계된 구분회계 단위별 재정운영표의 직접귀속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계정과목과 금액을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재정운영표에 집계될 수익항목과 비용항목의 직접 집계되는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항목을 재정운영표로 조회하여 나타내는 것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현재까지 집계된 구분회계 단위별 재정운영표의 배부된 계정과목과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금액을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재정운영표에 집계될 수익항목과 비용항목의 중 배부된 항목과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금액을 재정운영표로 조회하여 나타내는 것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 및 배부된 수익과 비용으로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산출함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산출된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조회하여 출력할 수 있고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 할 수 있음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 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현재까지 집계된 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 재정상태표의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 계정과목과 금액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배부된 계정과목과 금액을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현재까지 집계된 구분회계 단위별 재정상태표의 직접귀속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계정과목과 금액을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재정상태표에 집계될 자산항목과 부채항목의 직접 집계되는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항목을 재정상태표로 조회하여 나타내는 것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26780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(36/41)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533611"/>
              </p:ext>
            </p:extLst>
          </p:nvPr>
        </p:nvGraphicFramePr>
        <p:xfrm>
          <a:off x="350833" y="1016732"/>
          <a:ext cx="9180001" cy="516201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3590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SFR-A-090</a:t>
                      </a:r>
                      <a:b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 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현재까지 집계된 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단위별 재정상태표의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 계정과목과 금액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배부된 계정과목과 금액을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 및 배부된 자산과 부채로 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산출함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산출된 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조회하여 출력할 수 있고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 할 수 있음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자본의 구분방법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구분회계 최초 도입 시 배부기준에 따라 개시 구분 재정상태표를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작성한 후 기중 변동금액을 각 구분회계 단위로 직접 귀속하는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일종의 증분배분 방식을 사용하여 자본을 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(1)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기본순자산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전년도 금액에 전년도 구분단위 재정운영결과 값을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반영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기금은 매년 재정운영 결과값을 기본순자산에 편입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(2)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적립금 및 잉여금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전년도 금액에 당해연도 구분단위 재정운영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결과값과 기본순자산으로 편입시킨 전년도 구분단위 재정운영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결과값을 반영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(3)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순자산조정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순자산평가에 반영 대상은 투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자증권평가와 자산재평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㉠ 투자증권평가 부분은 사업비기준으로 배부하고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㉡ 자산재평가는 토지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건물로 모두 구분단위 ⑤체육인프라운영에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직접귀속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간접귀속대여금과 간접귀속차입금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구분회계 단위로 일차 집계된 대차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貸借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차이는 공공기관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구분회계 작성 매뉴얼의 대차평균원리에 따라서 간접귀속대여금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차입금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으로 처리함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상기 대차 차이에 의하여 발생한 간접귀속대여금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차입금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연결조정계정에서 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공시용 재무제표와 일치시킴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 중 ①생활체육육성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⑤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체육인프라운영 대차평균원리에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따라 산출된 “간접귀속대여금”이 존재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 중 ②전문체육육성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③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④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대차평균원리에 따라 산출된 “간접귀속차입금”이 존재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84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특정항목의 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특정항목에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선택된 배부기준으로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배부율표를 산출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비용 특정항목에 사용될 배부기준용 계정을 선택하는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배부기준으로 다음의 항목이 사용되는 계정과목을 위해서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차로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집계된 재정운영표의 특정 계정과목의 잔액으로 배부율을 산정하는 것임</a:t>
                      </a:r>
                      <a:endParaRPr lang="ko-KR" altLang="en-US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631518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(37/41)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905878"/>
              </p:ext>
            </p:extLst>
          </p:nvPr>
        </p:nvGraphicFramePr>
        <p:xfrm>
          <a:off x="350833" y="1016733"/>
          <a:ext cx="9180001" cy="523156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1476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SFR-A-091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특정항목의 안분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특정항목에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선택된 배부기준으로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배부율표를 산출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'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선급법인세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배부할 대상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재정운영표의 배부 후 이자수익을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배부기준으로 하여 각 사업단위에 배부함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'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예수금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퇴직급여충당부채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'(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배부할 대상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재정운영표의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직접인건비를 배부기준으로 하여 각 사업단위에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특정항목을 배부하여 특정항목의 배부 후 금액을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비용 특정항목에 선택된 배부기준으로 배부율표를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직접인건비에 해당되는 항목은 정액급여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기타직보수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기타보수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퇴직급여 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 후 이자수익 기준으로 배부율표가 작성되면 선급법인세를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사업단위로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직접인건비 기준으로 배부율표가 작성되면 예수금과 퇴직급여충당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부채를 각 사업단위로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 특정항목에 사용될 배부기준용 계정을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배부기준으로 다음의 항목이 사용되는 계정과목을 위해서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집계된 재정상태표의 특정 계정과목의 잔액으로 배부율을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산정하는 것임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유동자산의 미수이자수익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배부할 대상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 재정상태표의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 잔액을 배부기준으로 하여 각 상업단위에 배부함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 특정항목에 선택된 배부기준으로 배부율표를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금융자산 잔액 기준이 되는 계정과목은 현금및현금성자산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정부내단기대여금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정부외단기대여금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장기금융상품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정부내단기대여금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정부외단기대여금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 합계임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 특정항목을 배부하여 특정항목의 배부 후 금액을 계산하는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금융상품잔액 기준으로 배부율표가 작성되면 미수이자수익을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 사업단위로 배부함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900928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(38/41)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954793"/>
              </p:ext>
            </p:extLst>
          </p:nvPr>
        </p:nvGraphicFramePr>
        <p:xfrm>
          <a:off x="350833" y="1016732"/>
          <a:ext cx="9180001" cy="5320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기금구분회계 재무제표 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결산 재정운영표 및 재정상태표를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사업단위별로 구분하여 작성 완료된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최종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기금회계 결산 재정운영표를 사업단위별로 구분하여 작성 완료된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산출함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[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총괄 재정운영표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생활체육육성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+ ③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④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⑤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체육인프라운영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]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산출된 재정운영표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는 조회하여 출력할 수 있고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 할 수 있음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기금회계 결산 재정상태표를 사업단위별로 구분하여 작성 완료된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산출함  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[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총괄 재정상태표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생활체육육성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 + ③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④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⑤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체육인프라운영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]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(*)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 자산과 총 부채를 각 사업단위로 구분한 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산출된 대차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貸借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차이를 대차평균원리에 따라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‘간접 귀속 대여금’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&gt;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간접 귀속 차입금’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&lt;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로 총괄 재정상태표와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일치시키기 위한 조정 계정이며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재정운영표는 연결조정계정이 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(0)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최종 재정상태표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 다운로드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결산 재정상태표를 사업단위별로 구분하여 작성 완료된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재정상태표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산출함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[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기금회계 총괄 재정상태표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생활체육육성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②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전문체육육성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+ ③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스포츠산업육성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④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장애인체육육성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⑤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체육인프라운영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+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 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]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(*)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연결조정계정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총자산과 총 부채를 각 사업단위로 구분한 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산출된 대차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貸借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차이를 대차평균원리에 따라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‘간접 귀속 대여금’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&gt;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‘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간접 귀속 차입금’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구분된 자산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&lt;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로 총괄 재정상태표와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일치시키기 위한 조정 계정이며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재정운영표는 연결조정계정이 영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(0)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631518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(39/41)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840072"/>
              </p:ext>
            </p:extLst>
          </p:nvPr>
        </p:nvGraphicFramePr>
        <p:xfrm>
          <a:off x="350833" y="1016732"/>
          <a:ext cx="9180001" cy="535516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69325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계약요청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사업담당자가 계약유형별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 정보를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등록하고 승인요청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승인하는 기능을 구현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완료된 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정보는 계약담당자에게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자동으로 전달되고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접수처리가 가능하도록 구현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 정보를 입력을 받아 승인요청하는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요청개요정보에 대한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예산정보에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입찰요청정보에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거래처에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유형에 따른 계약요청 정보등록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입찰요청정보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거래처정보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 계약요청 구분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자산목록을 이용한 계약요청내역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자산등록대상 계약요청내역과 비대상 계약요청내역 분리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계약변경요청의 경우 기 등록된 계약번호를 선택하여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요청서 승인요청 및 승인 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승인 완료 요청서에 대한 접수 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전자결재시스템 문서번호 연계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4511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완료된 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정보를 이용한 계약정보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 기능 구현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승인 완료된 계약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 정보를 이용한 계약정보 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계약정보에 대한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예산정보에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입찰정보에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거래처에 대한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유형에 따른 계약정보 등록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입찰요청정보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거래처정보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 계약 구분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계약요청내역을 이용한 계약내역 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자산등록대상 계약내역과 비대상 계약내역 분리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변경 계약에 대한 차수증가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 완료 건에 대한 조달청 계약정보 업데이트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계약내역에 대한 인증정보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친환경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신기술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업데이트 기능 구현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900928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(40/41)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579842"/>
              </p:ext>
            </p:extLst>
          </p:nvPr>
        </p:nvGraphicFramePr>
        <p:xfrm>
          <a:off x="350833" y="1016733"/>
          <a:ext cx="9180001" cy="532952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72434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검사검수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거래처에서 준공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납품한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제품의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검수를 실시하고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검수조서를 작성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계약내역을 이용한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검수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계약내역을 조회하여 내역별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검수 결과를 등록하는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계약내역의 상세 규격을 업데이트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계약내역을 자산대장에 등록하는 임시자산 등록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취득금액 제외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임시자산등록 된 계약내역에 대한 바코드 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계약내역을 이용한 검수조서 작성 및 승인 요청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요청된 검수조서에 대한 검수조서 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검수조서 인쇄 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PDF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변환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7822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대금지급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계약에 대한 지출요구를 위한 기본 정보를 생성하는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계약의 대금지급 유형에 따른 대금지급 요청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선급금 지급 요청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계약조건 중 선급금 지급이 있는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중도급 지급 요청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계약조건의 대금지급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유형이 분할지급 인 경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잔금 지급 요청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계약내역의 검사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검수가 완료 된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잔금 지급 요청 인 경우 기존 계약에 관련된 지출건의 건설가계정을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정산계정으로 반제 처리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9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자산분류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4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체계의 자산분류를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4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체계의 자산분류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고정자산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관리규정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(2017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년도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07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월개정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4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고정자산의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범위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- 2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현행 분류 체계 재정비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현행 분류 체계 재정비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- 4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현행 자산마스터를 이용한 표준 분류 마련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자산분류코드를 식별자로 한다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내용연수 등록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1415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자산목록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공단에서 사용중인 자산의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대표목록을 관리하는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자산목록을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자산분류코드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자산번호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내용연수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단위 등록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계정과목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내용연수는 자산분류의 정보를 자동으로 저장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자산목록은 반드시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개의 자산분류를 가져야 한다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631518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통합재무정보 </a:t>
            </a:r>
            <a:r>
              <a:rPr kumimoji="1" lang="en-US" altLang="ko-KR" kern="0" dirty="0">
                <a:solidFill>
                  <a:prstClr val="black"/>
                </a:solidFill>
              </a:rPr>
              <a:t>(41/41)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5830745"/>
              </p:ext>
            </p:extLst>
          </p:nvPr>
        </p:nvGraphicFramePr>
        <p:xfrm>
          <a:off x="350833" y="1016733"/>
          <a:ext cx="9180001" cy="39710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62820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SFR-A-099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자산취득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지출요구에서 발생된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정산전표를 이용하여 자산의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취득을 처리하는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임시등록자산을 조회하여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정산전표와 매핑하는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매핑된 임시등록자산의 취득일자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취득금액 업데이트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FA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정산전표에 대한 반제 처리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9914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SFR-A-100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자산정보관리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등록된 자산에 대한 자산분리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감가상각 및 변경 이력을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손익센터를 기준으로 자산을 분리하는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감가상각 금액을 계산하는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위치 등 사용정보의 변경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사용정보 변경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사용정보 변경이력 관리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34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SFR-A-101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자산처분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불용자산에 대한 자산처분을 실행하는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자산처분대상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등록되어 있는 자산을 검색하여 자산처분대상으로 저장하는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실물자산 처분이 완료된 자산에 대한 처분 실행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처분 자산에 대한 자동 전표 처리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9205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통합재무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SFR-A-102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재물조사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실물자산을 조사하여 자산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대장에 등록되어 있는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자산현황과 비교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분석하여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자산현황을 맞추는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재물조사 기간을 설정하여 정해진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기간 내에 재물조사를 실시하는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재물조사 결과 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 바코드를 이용한 재물조사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재물조사결과를 일괄로 시스템에 등록할 수 있는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등록된 재물조사결과의 취합 및 자산대장과 비교 분석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자산대장과 실물자산의 차이에 대한 원인 등록 및 조정기능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불용자산에 대한 처분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자산대장의 자산정보 업데이트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2900928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146464"/>
              </p:ext>
            </p:extLst>
          </p:nvPr>
        </p:nvGraphicFramePr>
        <p:xfrm>
          <a:off x="350833" y="1016732"/>
          <a:ext cx="9180001" cy="536191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75981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기관정보 관리 및 조직개편에 따른 조직의 정보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변경이력정보를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조직이력을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조직개편 시 인적자원관리시스템에 이력을 관리하기 위해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조직명칭이 변경된 경우나 통폐합된 경우 등에 대해 기존 조직과의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이력정보와 연계하여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 당시 조직 기준 퇴직자 성과급을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 개편으로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조직이 사라진 경우에도 예산을 받을 수 있도록 이력관리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조직정보 및 이력관리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조직기본정보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부서정보 추가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조직변경이력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2996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조직개편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조직개편에 따른 조직도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시뮬레이션 및 확정작업을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하고 조직도를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조직개편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조직시뮬레이션 개편내역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조직시뮬레이션 관리차수내역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조직개편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화상조직도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이미지다운로드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조직찾기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축소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/100%/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루트이동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신규조직 추가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신구조직체계비교표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조직개편변동내역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860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조직검색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조직의 이력 및 조직도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전체적인 관점에서 조직현황을 볼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조직도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조직원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이미지다운로드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조직찾기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축소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/100%/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루트 이동기능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2996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정원정보를 관리하고 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현원 비교정보를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지원직에 대한 정원 관리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정원정보 복사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정원집계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정원현황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부서별정원현원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기관별정원현원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008142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(2/22)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435879"/>
              </p:ext>
            </p:extLst>
          </p:nvPr>
        </p:nvGraphicFramePr>
        <p:xfrm>
          <a:off x="350833" y="1016732"/>
          <a:ext cx="9180001" cy="534787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7702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채용관리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채용 지원자의 정보를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관리하고 전형단계별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합격자정보의 확인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인사정보 연계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채용대행사 채용정보를 인적정보의 지원자정보에 등록할 수 있는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최종합격자 정보의 관리 및 인사정보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발령과 연동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지원자 정보 및 합격자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지원자정보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전형별합격자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최종합격자 일괄발령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일괄발령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일괄발령 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일괄발령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일괄발령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일괄발령 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99729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직위공모정보를 공고하고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 및 결과를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직위공모 정보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대상직군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대상직군 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대상직군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대상직군 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대상직급 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대상직급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대상직급 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대상직위 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대상직위 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 지원 공지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직위공모 신청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직위공모지원정보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 상세보기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직위공모 지원자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직위공모지원자내역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직위공모 상세보기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5675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인사기본관리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인적정보를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인사사항을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2020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년도 사원번호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Key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중복문제가 발생함에 따라 사원번호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관리체계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인사사항 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공통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인사기본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발령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직무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상벌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출장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휴가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휴직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학력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가족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경력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008142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(3/22)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01772"/>
              </p:ext>
            </p:extLst>
          </p:nvPr>
        </p:nvGraphicFramePr>
        <p:xfrm>
          <a:off x="350833" y="1016729"/>
          <a:ext cx="9180001" cy="533761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55394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SFR-E-007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인사기본관리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인적 정보를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인사사항을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외국어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부가정보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특이사항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인사사항 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활동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건강검진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인사사항 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일용직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경력경력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재직기간확인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신원확인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인사사항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인사카드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퇴직자정보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635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인사정보변경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인적 정보 변경을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신청하고 승인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개인정보 변경은 임직원이 직접 처리하고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중요내용만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승인을 받을 수 있게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인사정보 변경신청 및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인사정보변경신청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연락처 변경신청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급여계좌변경 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건강보험증신청 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사진변경 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정보변경승인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0330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SFR-E-009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근로계약서관리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근로계약서를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당사자의 승인 작업 수행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온라인을 통한 근로계약서 관리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근로계약서 관리 및 승인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근로계약서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공지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근로계약서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근로계약서출력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(4/22)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9934511"/>
              </p:ext>
            </p:extLst>
          </p:nvPr>
        </p:nvGraphicFramePr>
        <p:xfrm>
          <a:off x="350833" y="1016733"/>
          <a:ext cx="9180001" cy="54096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5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인원현황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각종 인사현황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통계정보를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원하는 항목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조건 선택에 따른 보고서 자동 생성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인원현황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기준일별인원현황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직원명부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직급별근속년수별인원현황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직위별근속년수별인원현황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직급별연령대별인원현황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직위별연령대별인원현황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가족수당현황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직급별체류기간별인원현황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5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 품의에 따른 대상자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내역을 관리하고 확정하여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발령이력을 관리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전보이력 정보 상세 조회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발령기준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발령품의 및 확정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발령정보 엑셀 업로드 기능의 사용 편의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발령품의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발령대상자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 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발령이력정보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각종 요인을 조합하여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승진후보자를 생성하고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대상자를 선정하여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발령품의 및 확정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 등과의 연계를 통해 승진후보자를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생성할 수 있는 기능 필요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필수교육이수여부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 학점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필수학점 이수여부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징계이력 등이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승진 대상자 평가에 자동 반영되도록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감봉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 시 급여관리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와 연계되고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승진대상자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생성 시 연계될 수 있도록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승진대상자 생성 및 발령 품의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승진후보자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승진발령품의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(5/22)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3644011"/>
              </p:ext>
            </p:extLst>
          </p:nvPr>
        </p:nvGraphicFramePr>
        <p:xfrm>
          <a:off x="350833" y="1016732"/>
          <a:ext cx="9180001" cy="533760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05875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상벌관리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포상계획 및 일정에 따른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공적 신청 및 포상내역의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 및 징계내역을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징계관리 업무의 시스템 기능 확대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상벌기준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상벌기준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공고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포상공적 신청 및 포상이력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포상공적신청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포상공적확정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포상공적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포상휴가내역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징계이력관리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징계내역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9849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근태기준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OT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달력관리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달력 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근태유형별신청기준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휴일근무한도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연장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휴일근무한도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6356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근태신청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휴가 및 연장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휴일근무를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신청하고 승인 및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경조사 휴가는 경조사 관리와 휴가관리 기능에서 모두 신청이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가능하여 한 곳에서 신청하도록 분리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병가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산전휴가 등 증빙자료가 필요한 휴가의 경우 전결권자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승인 및 담당자 승인을 받을 수 있도록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근태 신청 및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 대리인일괄지정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결재라인지정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휴일근무신청 대리인일괄지정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결재라인지정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근태결재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근태신청내역관리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(6/22)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876897"/>
              </p:ext>
            </p:extLst>
          </p:nvPr>
        </p:nvGraphicFramePr>
        <p:xfrm>
          <a:off x="350833" y="1016733"/>
          <a:ext cx="9180001" cy="531202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4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 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연장근로내역을 신청하고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및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일근태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일근태마감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일근태관리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휴가정리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일근태 정정 신청 및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일근태정정 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일근태정정 결재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일근태정정 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연장근로 및 대휴내역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연장근로내역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대휴적치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대휴사용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대휴확인예외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389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단시간근로관리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단시간근로내역을 신청하고 승인 및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단시간근로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단시간근로신청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단시간근로승인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단시간근로 담당자승인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041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스마트근무관리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스마트근무내역을 신청하고 승인 및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스마트근무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스마트근무신청 대리인일괄지정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스마트근무결재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스마트근무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041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SFR-E-019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연차관리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근무년수에 따른 직원의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연차를 생성하고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연차 생성 시기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 도래하면 자동으로 연차내역을 생성하는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연차 생성 및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연차예외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(7/22)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5094593"/>
              </p:ext>
            </p:extLst>
          </p:nvPr>
        </p:nvGraphicFramePr>
        <p:xfrm>
          <a:off x="350833" y="1016732"/>
          <a:ext cx="9180001" cy="535061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96938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근태현황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근태 및 연장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근무내역을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휴가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휴가여부 현황정보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일근태 마감여부 정보와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같이 볼 수 있어야 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근태현황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개인별근태현황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OT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4077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근무스케줄관리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근무스케줄을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및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유연근무 신청내역이 있을 경우 스케줄 생성 시 반영하여 생성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근무스케줄 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본부별근무코드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팀별기본근무스케줄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팀별기본근무스케줄이력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근무스케줄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근무스케줄신청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근무스케줄결재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근무스케줄 변경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근무스케줄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월별근무스케줄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스케줄근태확인제외자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근무스케줄정보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월근무스케줄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스케줄근태이상자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236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겸직관리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외부 기관에 대한 겸직을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신청하여 승인 및 관리하고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사후내역을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외부 겸직 신청 및 사후 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겸직신청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비영리법인이사등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외부강의등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외부강의등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승인비대상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))/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겸직결재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겸직내역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겸직사후내역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(8/22)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2466904"/>
              </p:ext>
            </p:extLst>
          </p:nvPr>
        </p:nvGraphicFramePr>
        <p:xfrm>
          <a:off x="350833" y="1016733"/>
          <a:ext cx="9180001" cy="536089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06830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출장을 신청하여 승인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관리하고 출장결과에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보고서를 등록 및 열람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출장관리 업무에 대해 인사관리시스템을 통해서 수행하도록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출장신청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출장신청 부서장 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출장신청 담당자 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출장내역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출장비전송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출장보고서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출장보고서등록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출장보고서관리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일다운로드 기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출장보고서열람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583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제증명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제증명을 신청하여 승인 및 관리하고 승인된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제증명을 발급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증명서 신청 및 발급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 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 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3999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직무체계관리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레벨별 직무체계를 관리하고 각 직무에 대한 직무기술서를 등록하여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공단 직무체계에 대한 재설계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직무체계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Level1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Level2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Level3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변경내역 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직무체계관리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/LEVEL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직무기술서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직무기술서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과업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과업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과업 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표준이동직무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표준이동직무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표준이동직무 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직무체계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직무체계조회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(9/22)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621084"/>
              </p:ext>
            </p:extLst>
          </p:nvPr>
        </p:nvGraphicFramePr>
        <p:xfrm>
          <a:off x="350833" y="1016732"/>
          <a:ext cx="9180001" cy="533557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682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직무맵핑관리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조직별 가능 직무에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맵핑을 관리하고 팀원에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개인별 업무분장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조직별 직무 맵핑이력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조직별 직무 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조직별 직무 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조직별직무관리 부서별직무확정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조직별직무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개인별 직무 맵핑이력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개인별직무관리 업무분장확정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직무이력조회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개인별직무관리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업무분장확정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직무이력조회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개인별직무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654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역량목록관리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역량항목 및 지표에 대해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등록하고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역량항목과 지표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역량사전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KSA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2833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역량모델관리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직무역량모델을 등록하고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역량모델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모델목록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 및 리더십 역량모델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직무역량모델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654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SFR-E-029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역량모델조회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등록된 역량모델정보를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역량모델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리더십역량모델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직무역량모델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경력관리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환경설정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경력관리를 위한 기준환경과 표준경력 경로를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경력관리를 위한 기준 및 경력단계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경력개발대상자관리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Career Field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경험직무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전문자격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경력단계설정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표준경력경로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표준경력경로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5912012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(10/22)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309471"/>
              </p:ext>
            </p:extLst>
          </p:nvPr>
        </p:nvGraphicFramePr>
        <p:xfrm>
          <a:off x="350833" y="1016733"/>
          <a:ext cx="9180001" cy="535208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85146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자기수준진단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경력관리에 앞서 자신의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수준을 가상으로 진단하고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그 결과를 기준으로 본인의 수준을 진단하고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자기수준진단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자기수준가상진단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직무기술서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결과보기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자기수준진단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자기수준진단신청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자기진단위임자설정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9587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경력개발계획서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경력개발계획서를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및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경력개발계획서 신청 및 결재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경력개발계획서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경력개발계획서신청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경력개발계획서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626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관리카드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경력계획서 및 직무이력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Career Field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 따른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경력개발카드를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경력개발카드 및 직무이력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경력개발관리카드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경력개발관리카드 개인정보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자격증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교육이력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/Career Field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직무이력확인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직무이력관리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1626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 통계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경력개발에 대한 통계를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조회하고 경력개발이력에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의한 필요 인재를 검색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경력개발통계 조회 및 인재검색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자기수준진단통계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개인별자기수준진단통계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부서별자기수준진단통계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역량별자기수준진단통계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직무별인재 검색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역량진단별인재 검색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1626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교육운영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교육계획을 위한 수요조사를 실시하여 그에 따른 교육과정을 관리하고 교육과목 개설 및 과목별 설문내용을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동일 개설과정에 대해 개별 과목별로 교육일자를 등록할 수 있는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기능 필요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법적 필수 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학점이수 쿼터제로 리더십 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직무 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선택 교육에 대해 각 목적에 따른 교육과정 개설 및 신청 대상자를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그룹핑하여 지정할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자체교육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위탁교육 교육대상자를 조건에 따라 생성하고 대상자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지정을 조정할 수 있는 기능 필요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(11/22)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6975985"/>
              </p:ext>
            </p:extLst>
          </p:nvPr>
        </p:nvGraphicFramePr>
        <p:xfrm>
          <a:off x="350833" y="1016731"/>
          <a:ext cx="9180001" cy="534310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5072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SFR-E-035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교육운영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교육계획을 위한 수요조사를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실시하여 그에 따른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교육과정을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교육과목 개설 및 과목별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설문내용을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교육계획 및 교육과정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교육과정수요조사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수요요청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표준교육과정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세부내용 전문가유형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육성역량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과정이수 관련직무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교육과목개설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대상직무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연간교육계획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설문지 및 기준관리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개설과정별설문지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직급별이수학점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7557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교육신청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개설된 교육을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및 관리하고 필요한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교육과정의 개설 신청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승인내역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 일괄신청 및 결과 정보를 업로드할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인적자원관리시스템과 통합재무시스템을 연계하여 교육결과에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교육비 환입 및 환입 여부를 확인하는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 취소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교육신청내역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신청가능교육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일괄교육신청내역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교육승인현황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교육취소 신청내역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교육취소삭제내역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상태복원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교육과정 개설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 개설신청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 개설 신청내역 부서장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부서장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다운로드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교육과정 개설 신청내역 담당자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담당자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(12/22)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1557270"/>
              </p:ext>
            </p:extLst>
          </p:nvPr>
        </p:nvGraphicFramePr>
        <p:xfrm>
          <a:off x="350833" y="1016733"/>
          <a:ext cx="9180001" cy="535282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8921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교육시행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교육대상 조건에 의한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교육대상자 생성 또는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대상자를 등록하고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이수이력을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자체교육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위탁교육 교육대상자를 조건에 따라 생성하고 대상자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지정을 조정할 수 있는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교육대상자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본부별 신청확인내역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교육대상자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 반려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4857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교육이력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 시행 후 교육결과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설문을 등록하고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교육결과에  대한 평가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보고내역을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설문 내용을 업로드하여 통계 활용이 가능하도록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교육만족도 결과 엑셀파일 업로드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교육결과관리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교육결과보고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보기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교육일괄결과보고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보기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미이수처리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보기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교육평가결과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보기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첨부파일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 부서장평가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교육학점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설문등록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설문지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교육설문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설문결과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6612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SFR-E-039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개설 교육과정에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교육비 현황을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교육비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교육체계별교육 예산관리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예산관리 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교육체계별교육비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291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교육정보관리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교육강사 및 외부교육기관에 대한 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교육강사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교육강사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교육강사현황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교육기관관리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(13/22)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3270193"/>
              </p:ext>
            </p:extLst>
          </p:nvPr>
        </p:nvGraphicFramePr>
        <p:xfrm>
          <a:off x="350833" y="1016733"/>
          <a:ext cx="9180001" cy="54096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교육통계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교육결과에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통계정보를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교육통계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교육평가통계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역량향상도통계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현업적용도통계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&amp;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표준교육과정별 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 시행에 대한 일정을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관리하고 각종 평가 그룹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지표에 대한 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역량평가기준에 대한 평가 단계별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부서별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비율 조정을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기준화하여 반영될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평가일정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평가상세일정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평가그룹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평가직군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평가직군매핑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평가척도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평가등급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평가지표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가져오기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직급별기대수준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평가구조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공통역량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평가구조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리더역량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평가구조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직무역량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지표별가중치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평가결과등급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8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평가진행관리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평가대상자와 평가자를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 및 관리하고 평가진행에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모니터링 정보를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평가대상자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평가제외자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확인요청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평가제외확인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종합평가차수 교육결과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 생성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평가진행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평가진행조회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평가진행조회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평가자별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이메일발송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(14/22)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02617"/>
              </p:ext>
            </p:extLst>
          </p:nvPr>
        </p:nvGraphicFramePr>
        <p:xfrm>
          <a:off x="350833" y="1016733"/>
          <a:ext cx="9180001" cy="53516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76405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평가시행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평가대상자에 대한 평가를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진행하고 평가내역을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 시 평가그룹에 대한 유형 옵션에 대한 설명을 보기 편하게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제공하고 평가자가 옵션을 먼저 선택하여 평가할 수 있도록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UI/UX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관찰노트를 상시에 등록할 수 있도록 기능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 시행 및 평가내역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 평가결과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평가그룹별 대상자조회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평가항목 및 평가내역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평가대상자 확인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관찰노트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93250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평가시행 후 집계된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결과에 대한 조정작업을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진행하고 최종 결과에 대한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 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집계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역량평가결과 조정 기능 구현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평가결과조정 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종합평가결과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평가그룹일괄변경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역량항목별 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역량그룹별 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지표별원점수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8492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생성을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성과급 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평가등급별 배분율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인원계산기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평가등급별 지급율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5337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성과급지급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대상자를 선정하고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대상자에 대한 성과급을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산정하여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인사발령 연계 및 성과급에 대한 소급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퇴직자 포함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도 자동 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퇴직 당시 조직 기준 퇴직자 성과급을 산정하고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조직 개편으로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조직이 사라진 경우에도 예산을 받을 수 있도록 이력관리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성과평가 결과를 연계하여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정보의 조합을 통한 성과급 자동 계산 기능 필요</a:t>
                      </a:r>
                      <a:endParaRPr lang="ko-KR" altLang="en-US" sz="1000" b="0" i="0" u="none" strike="noStrike" spc="-15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(15/22)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3220413"/>
              </p:ext>
            </p:extLst>
          </p:nvPr>
        </p:nvGraphicFramePr>
        <p:xfrm>
          <a:off x="350833" y="1016733"/>
          <a:ext cx="9180001" cy="533253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5162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SFR-E-047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성과급지급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대상자를 선정하고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대상자에 대한 성과급을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산정하여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성과급 대상자 생성 및 성과급 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대상자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대상자확정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지급년월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지급년월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 대상자 승인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성과급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76411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급여지급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기초관리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급여계산을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기초기준정보를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 계산이나 산정 시 해당되는 항목을 담당자가 선택할 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있도록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분기 중에 발령이 나서 변동이 일어날 경우 자동으로 일할 계산이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될 수 있는 기능 구현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급여에 영향을 주는 항목의 체계적인 정리 및 어떤 방식으로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관리할 지 설계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지급기초정보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법정세율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세액기준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소득공제기준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연봉자내역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일급표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회계예산기준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성과연봉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직무급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통상임금용 성과연봉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통상임금용 복지포인트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통상임금용 성과급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팀원직무급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일할계산기준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급여수식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급여원장항목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급여항목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276651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(16/22)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074240"/>
              </p:ext>
            </p:extLst>
          </p:nvPr>
        </p:nvGraphicFramePr>
        <p:xfrm>
          <a:off x="350833" y="1016732"/>
          <a:ext cx="9180001" cy="535100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996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SFR-E-049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급여지급공제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직무별 지급공제기준 및 급여예외자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임금피크 대상자에 대한 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급여지급공제기준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직급별지급공제기준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직위별지급공제기준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직무별지급공제기준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직원별지급공제기준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급여예외자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임금피크제 대상자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73456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급여지급관리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 계산을 위한 기초작업 정보를 생성 및 조회하고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급여계산내역을 생성 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결과에 대한 현황을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학자금이 급여항목으로 자동 산정되도록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급여산정 후 급여결과에 대한 기안문이 작성되는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급여기초작업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급여유형별 일자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급여유형별 급여산정일자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master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급여원장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인사변동자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압류내역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압류급여공제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급여지급처리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지급처리 생성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기획안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기획안 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기획 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급여결과현황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항목별현황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전월비교현황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지급공제현황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원천세신고현황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갑근세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주민세납부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매월노동통계조사표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(17/22)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493093"/>
              </p:ext>
            </p:extLst>
          </p:nvPr>
        </p:nvGraphicFramePr>
        <p:xfrm>
          <a:off x="350833" y="1016733"/>
          <a:ext cx="9180001" cy="535954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072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급여전표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이체관리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급여산정 결과에 대한 전표를 생성하여 전송하고 은행이체 정보를 조회하고 전달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급여전표 및 이체내역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계정별 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급여전표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이체내역 메신저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이메일 발송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0479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급여출력관리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 관련 명세서 및 현황을 출력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급여출력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급상여지급대장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은행별지급명세서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사원명부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장기근속수당대상자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퇴직금기준일및지급율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연간급여액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건강보험공제명세서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국민연금공제명세서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연간 고용보험월별공제내역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OT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및초과시간내역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대출금상환내역서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평균보수표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급여지급현황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8162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현물관리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 세금계산을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현물내역을 등록하고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연동가능한 현물내역을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자동으로 생성하여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현물지급항목 중 포상관리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경조금 등 연동이 가능한 현물지급내역에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생성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현물관리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현물기준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미연동현물내역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포상관리와 현물관리의 업무연동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현물지급내역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909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소급을 처리하기 위한 기준 및 항목을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소급기준관리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소급처리기준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(18/22)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6722710"/>
              </p:ext>
            </p:extLst>
          </p:nvPr>
        </p:nvGraphicFramePr>
        <p:xfrm>
          <a:off x="350833" y="1016732"/>
          <a:ext cx="9180001" cy="535581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5975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소급내역을 계산하고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소급결과에 대한 현황을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소급 계산 시 항목별 소급내역을 상세하게 산정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소급계산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소급지급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소급현황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소급항목별현황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소급급여집계표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9116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시뮬레이션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시뮬레이션을 계산하기 위한 기준 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시뮬레이션기초정보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총액인건비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시뮬레이션차수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인상율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채용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퇴직예상인원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승진예상인원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2258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시뮬레이션관리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시뮬레이션을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차수별로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진행하고 계산결과를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총액인건비와 비교하여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총액인건비 대비 인상율 계산을 위한 기능 필요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총액 인건비 대비 시뮬레이션 금액 현황을 볼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시뮬레이션 계산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 결과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인상시뮬레이션 계산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총액인건비대비인상금액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7655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개인급여정보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개인별 급여정보를 관리하고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개인급여정보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급여기초정보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급여명세서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연봉내역서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성과급관련내역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보수변경내역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임금인상관련내역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지급기준 상세조회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성과포인트내역서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변경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내역서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(19/22)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7907187"/>
              </p:ext>
            </p:extLst>
          </p:nvPr>
        </p:nvGraphicFramePr>
        <p:xfrm>
          <a:off x="350833" y="1016733"/>
          <a:ext cx="9180001" cy="534760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381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SFR-E-059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 계산을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퇴직금 기준관리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퇴직소득공제기준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중간정산 신청일정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퇴직성과급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차등공제율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퇴직전환금내역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53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중간정산 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 중간정산을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신청하고 승인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퇴직금 중간정산 신청 및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중간정산 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중간정산 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410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 내역을 계산하고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퇴직금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DC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형 정산 시 포함되지 않은 항목을 제외하고 금액 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퇴직금 정산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퇴직자현황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퇴직금처리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0382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퇴직연금에 대한 변경 신청 및 개인별 퇴직연금 유형을 관리하고 지급내역에 대해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전표를 생성하고 전송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퇴직연금 변경 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퇴직연금변경 신청내역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결재라인지정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퇴직연금변경 신청내역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 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신청내역 승인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승인내역 다운로드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퇴직연금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 가입자 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 지급현황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퇴직연금 전표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07243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 관련 명세서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현황을 출력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퇴직금 현황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퇴직소득원천징수영수증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퇴직금산출내역서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퇴직금명세서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퇴직보험금청구내역서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퇴직보험가입자명부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(20/22)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4237825"/>
              </p:ext>
            </p:extLst>
          </p:nvPr>
        </p:nvGraphicFramePr>
        <p:xfrm>
          <a:off x="350833" y="1016732"/>
          <a:ext cx="9180001" cy="5248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퇴직추계관리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퇴직추계 정보를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생성하고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퇴직추계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추계관리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정산기준 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 계산을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기준정보를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연말정산관리는 매년 연말정산기준이 변경됨에 따라 제도변화에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유연하도록 개선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연말정산기준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법정세율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세액기준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정산항목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정산진행일정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정산기초 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 대상자를 생성하고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대상자에 대한 소득 및 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근무지내역을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정산대상자 및 소득자료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정산대상자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정산대상소득내역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소득적용예외내역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추가소득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근무지내역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정산신청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 소득공제 내역을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신청하고 결과를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소득공제 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소득공제신청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정산대상소득내역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소득공제내역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90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소득공제 신청 완료 후 정산내역을 계산하고 결과를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연말정산 계산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정산계산 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영수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소송자 정산계산 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영수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소송자 계산 전 정산조회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SFR-E-069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전산매체 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연말정산내역을 지급조서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파일로 생성 및 다운로드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지급조서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지급조서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의료비지급조서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기부금지급조서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(21/22)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2095331"/>
              </p:ext>
            </p:extLst>
          </p:nvPr>
        </p:nvGraphicFramePr>
        <p:xfrm>
          <a:off x="350833" y="1016732"/>
          <a:ext cx="9180001" cy="534787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19661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 관련 명세서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현황을 출력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연말정산 현황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원천징수영수증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소송자 원천징수영수증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소송자 계산 전 원천징수영수증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원천징수부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연말정산집계표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기부금이월내역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6378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사회보험관리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사회보험 취득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보수총액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상실내역을 생성하고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기본내역의 관리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고지내역을 관리하여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공제내역과 비교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EDI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신고형식으로 보수총액을 생성하는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사회보험고지내역 정보를 인적자원관리시스템에 엑셀 업로드하여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비교작업을 할 수 있는 기능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사회보험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인사변동현황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기본내역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보수총액신고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EDI/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취득신고내역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상실신고내역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퇴직자보수총액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/EDI/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납부내역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사회보험 고지내역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건강보험 고지내역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국민연금 고지내역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고용보험 고지내역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공단자료비교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9661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 지급기준 관리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 내역을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승인하고 집계내역을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경조사 신청 및 경조금내역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경조사신청 결재라인지정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경조사확정내역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경조사담당자확정내역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경조사현황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경조금집계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2610756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인적자원관리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(22/22)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3700204"/>
              </p:ext>
            </p:extLst>
          </p:nvPr>
        </p:nvGraphicFramePr>
        <p:xfrm>
          <a:off x="350833" y="1016732"/>
          <a:ext cx="9180001" cy="533760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9849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 지급기준 관리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 내역을 신청하여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승인하고 집계내역을 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학자금과 통합재무시스템과 연계하여 전표 생성 및 급여항목으로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자동 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학자금 신청 및 학자금내역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학자금신청내역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학자금확정내역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학자금현황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학자금집계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22381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 기준과 일정 관리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 내역을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승인하여 상환내역을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관리하고 대출금 현황을 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대출금 기준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대출기준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대출신청일정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대출금 신청 및 승인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대출신청내역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대출승인내역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대출금상환내역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중도상환확인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 이자 계산은 일할 계산이 되도록 개선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대출금상환내역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출력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대출금 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대출금 월별집계내역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대출별 집계내역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9849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인적자원관리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SFR-E-075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공제회원 및 경조금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지급내역을 관리하고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현황을 조회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공제회관리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휴직자발령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공제회경조금확정내역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공제현황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공제회경조금집계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공제회비집계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 기능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63411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344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088000"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배치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SFR-B-001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스케줄작업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핵심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스케줄작업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스케줄작업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예산배정잔액 정리처리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국가회계 기준정보 수신처리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ITMS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시스템으로부터 계좌거래내역 수신처리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G2B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나라장터 시스템으로부터 정보 수신처리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인사정보에 임금피크제 항목 값 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인사의 복무 문자 발송 및 발령처리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근태정보 생성 및 파크텔 스케줄 생성처리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체육인복지의 주민과 정보를 행공으로부터 수신처리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체육인복지의 주민과 정보를 행공으로 송신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체육인복지의 월정금 일시정지 기간이 지난 인원에 대해서 상태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값 처리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배치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SFR-B-002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JAVA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스케줄러 배치작업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핵심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JAVA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스케줄러 배치작업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JAVA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스케줄러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기금지원의 교부정보 수신을 처리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배치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345081705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4347358"/>
              </p:ext>
            </p:extLst>
          </p:nvPr>
        </p:nvGraphicFramePr>
        <p:xfrm>
          <a:off x="350833" y="1016733"/>
          <a:ext cx="9180001" cy="4493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1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SFR-C-001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경영정보시스템 연계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핵심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차세대의 경영정보시스템과 연관된 유관관리 시스템과의 송수신 연계 설계 필요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연계내용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경륜경정의 경주사업관리시스템에서 경주일매출정보와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비경주일매출정보를 수신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선수상금시스템에서 선수상금정보를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체육산업개발의 스포츠센터시스템에서 현금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카드승인정보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임대관리시스템에서 임대료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관리비정보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주차관재시스템에서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주차장 수입정보를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파크텔의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PMS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시스템에서 경리일보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매출일보 정보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위드홀시스템에서 근태정보 및 급여정보를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케이토토의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TOTO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시스템에서 토토와 프로토 수입정보를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스포츠레저사업본부의 골프장시스템에서 골프장수입정보를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공단본부의 부가금관리시스템에서 부가금신고내역 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VAN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사에서 신용카드의 승인정보와 입금반송정보를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FTP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나 파일로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매출전자세금계산서관리의 웹캐쉬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TaxBill365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 세금계산서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발행정보 송신 및 결과정보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공단본부의 그룹웨어에 문서첨부정보를 수신하고 변경된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조직정보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사원변경 정보와 급여정보를 송신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기업은행의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ITMS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 예금주조회를 위하여 정보송수신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법인카드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정보 수신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계좌 입출금정보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한국재정정보원의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dBrain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시스템에서 기준정보가 되는 각종 코드를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수신하고 국가결산 후 재무제표 정보를 송신 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G2B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나라장터에서 각종 계약 정보를 수신</a:t>
                      </a: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한국재정정보원의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나라도움에서 보조금관련 각종 기준정보를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수신하고 교부이체결과나 집행등록 요청 등을 송신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1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연계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353658"/>
              </p:ext>
            </p:extLst>
          </p:nvPr>
        </p:nvGraphicFramePr>
        <p:xfrm>
          <a:off x="350833" y="1016732"/>
          <a:ext cx="9180001" cy="526660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917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평가관련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분류코드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기금평가를 위한 위원회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종류 및 평가구분 코드를 관리하는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위원회종류등록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기금보조사업 각종 평가위원회 종류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실무소위원회 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평가구분코드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사업분야코드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사업유형코드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사업형태코드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고객유형코드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평가수당구분코드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0731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코드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신체육인복지의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직접지원금 관리를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각종 코드관리 업무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직접지원종류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직접지원 종류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체육인복지사업운영규정에 의거한 특별보조금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지도자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보호지원금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장애연금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경기력향상연구연금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경기지도자연구비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체육장학금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국외유학지원금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복지후생금 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지원자격종류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체육인복지사업운영규정에 의거한 각 직접지원금에 따른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지원자격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지원자격점수별지원금종류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체육인복지사업운영규정에 의거한 국제대회 및 평가점수와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이에 따른 지원금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8484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보조사업자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 등 기금지원관련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사용자관리와 본인인증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개인정보제공 및 사용에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동의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체육인관리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개인자격의 체육인 정보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승인취소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탈퇴복원기능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홈페이지를 통해 신청한 체육인의 조건을 검토하여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체육인 등록 승인 및 사용권한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6786243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(2/19)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318989"/>
              </p:ext>
            </p:extLst>
          </p:nvPr>
        </p:nvGraphicFramePr>
        <p:xfrm>
          <a:off x="350833" y="1016732"/>
          <a:ext cx="9180001" cy="535169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0408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SFR-F-003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보조사업자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 등 기금지원관련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사용자관리와 본인인증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개인정보제공 및 사용에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동의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보조사업자관리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지원사업자정보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승인취소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탈퇴복원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홈페이지를 통해 신청한 보조사업자를 검토하여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등록 승인 및 사용권한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보조사업자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간접보조사업자로 구분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사용자권한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기금보조금집행계획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 등 홈페이지 접근 권한 부여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위원회등록신청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각종 평가위원회 평가위원 정보 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승인취소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탈퇴복원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홈페이지를 통해 신청한 위원회 등록 신청을 검토하여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등록 승인 및 사용권한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 종류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실무소위원회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본인인증현황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사용자등록 시 사용한 본인인증현황 조회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공단홈페이지 본인인증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개인정보수집동의현황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사용자등록 시 동의한 개인정보수집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동의현황 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자정보제공동의현황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사용자등록 시 동의한 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제공동의현황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940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지원계획관리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기금지원대상을 설정하고 지원계획을 작성하여 지원사업자에게 통보하고 월별보조금집행계획 작성 요청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기금지원대상자설정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기금보조금 내역사업별 지원대상자 설정을 위한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기금예산으로 편성된 예산 중 기금보조금 내역사업별로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지원사업자로 등록된 보조사업자 중 지원대상자 설정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기금지원계획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지원계획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작성 수작업 업무의 시스템 지원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직접 등록 및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excel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업로드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필요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기금운용계획이 확정되면 기금지원담당자가 전체 기금운용계획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내역사업 중 보조사업을 구분하여 지원대상 보조사업자를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배정하여 기금지원계획 작성을 위한 위한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945357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(3/19)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778189"/>
              </p:ext>
            </p:extLst>
          </p:nvPr>
        </p:nvGraphicFramePr>
        <p:xfrm>
          <a:off x="350833" y="1016732"/>
          <a:ext cx="9180001" cy="529517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59009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SFR-F-004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지원계획관리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기금지원대상을 설정하고 지원계획을 작성하여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지원사업자에게 통보하고 월별보조금집행계획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 요청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기금지원계획통보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기금지원계획통보를 위한 지원계획 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엑셀내려받기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/eMail·SMS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안내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작성된 기금지원사업내역을 공문 혹은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eMail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형식으로 해당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사업자에게 통보하고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월별보조금집행계획 작성 요청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 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공문 통보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기금지원계획을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Excel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등으로 다운로드 공문에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첨부하여 통보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 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eMail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월별보조금집행계획 작성요청을 사전 등록된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보조사업자에게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eMail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발송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0187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집행계획관리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지원사업자로부터 접수한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월별보조금집행계획을작성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월별보조금집행계획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기금지원계획을 접수한 지원사업자는 기금보조사업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 월별보조금집행계획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대규모 지원사업자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기금지원시스템에 직접 월별보조금집행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계획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    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소규모 지원사업자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기금지원팀 기금지원담당자가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월별보조금집행계획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월별보조금집행계획취합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공단홈페이지에 등록한 지원사업자의 기금보조금 월별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집행계획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등록여부결정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월별보조금집행계획승인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기금지원담당자는 각 지원사업자로부터 제출된 월별보조금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집행계획과 직접 작성한 월별보조금집행계획을 통합하여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팀장에게 보조사업 월별보조금집행계획 승인을 득함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월별보조금집행계획 팀장승인요청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팀장승인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8639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요청한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교부지원요청에 따라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교부를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지출품의서 작성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지원금지출품의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지원금지출품의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나라도움의 교부지원요청에 따라 지급시기가 확인되면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지출품의 작성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(4/19)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212786"/>
              </p:ext>
            </p:extLst>
          </p:nvPr>
        </p:nvGraphicFramePr>
        <p:xfrm>
          <a:off x="350833" y="1016732"/>
          <a:ext cx="9180001" cy="534546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5398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SFR-F-006</a:t>
                      </a:r>
                      <a:b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요청한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교부지원요청에 따라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교부를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지출품의서 작성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지원금지출품의승인요청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지원금지출품의 승인요청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지원금지출품의 내역을 팀장에게 승인요청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지원금지출품의승인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지원금지출품의 승인요청 건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지원금지출품의 내역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승인을 득하면 재무관리팀에서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통합재무정보시스템 지출요구처리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지자체교부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자치단체 징수관 통장으로 교부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민간교부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재정정보원 국고보조금예치계좌로 이체 하되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적요란에 교부요청 시 수신한 식별번호를 입력하여 이체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1429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지급현황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 지급정보를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사업별로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지원금지급현황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지원금지급현황 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 지원금지급 현황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사업별지급현황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사업자별 지급이력 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사업별 지원급지급 현황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03174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중요재산현황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중요재산을 취득하거나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 등록시기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처분 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중요재산현황정보를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보완할 수 있도록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지원사업자에게 요청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중요재산현황보완요청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 취득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 등 정보현황등록 보완요청을 위한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기금환수팀 중요재산 담당자는 문화체육관광부의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보완요청에 따라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나라도움 등록내용 확인 후 지원사업자에게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보완 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 정보 등록시기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 도래하면 공단 기금환수팀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중요재산 담당자는 지원사업자에게 현황정보 등록 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중요재산처분사전협의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중요재산처분요청건 홈페이지취합과 요청목록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및 이력관리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(5/19)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830108"/>
              </p:ext>
            </p:extLst>
          </p:nvPr>
        </p:nvGraphicFramePr>
        <p:xfrm>
          <a:off x="350833" y="1016732"/>
          <a:ext cx="9180001" cy="520741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24732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SFR-F-008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중요재산현황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중요재산을 취득하거나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 등록시기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처분 등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중요재산현황정보를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보완할 수 있도록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지원사업자에게 요청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지원사업자의 중요재산처분협의 건 홈페이지에서 취합하여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검토 후 의견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기금환수팀 중요재산담당자는 지원사업자로부터의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처분협의 요청을 취합하여 사전협의를 수행하고 결과를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문화체육관광부 담당자에게 보고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3959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SFR-F-009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처분결과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중요재산의 처분결과에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검토 후 보완이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필요할 경우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지원사업자에게 보완요청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중요재산처분결과검토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중요재산처분결과 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의견등록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의견수정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의견삭제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홈페이지를 통해 보고한 중요재산처분결과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내역 취합하여 검토 후 의견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중요재산처분결과보완요청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중요재산처분결과 검토의견이 있을 경우 보완요청을 위한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및 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접수된 처분결과를 검토하여 반환금이 있는 경우 반납관리로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진행하고 보완이 필요한 경우 보완 요청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4732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계획관리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현장점검을 위해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조사대상과 조사계획 수립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현장조사대상관리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 점검대상사업과 사업자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현장조사계획관리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집행자료 검토결과 현장조사가 필요한 경우 현장조사 일정 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계획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(6/19)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2237798"/>
              </p:ext>
            </p:extLst>
          </p:nvPr>
        </p:nvGraphicFramePr>
        <p:xfrm>
          <a:off x="350833" y="1016732"/>
          <a:ext cx="9180001" cy="528809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21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결과처리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현장점검결과를 작성하여 문화체육관광부에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시정명령과 조치에 따른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보완요청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현장조사결과관리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 및 모니터링평가에 대한 모바일 서비스 지원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해당사업 관리담당자는 모바일을 통해 현장조사결과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모바일 불가시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Excel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다운로드한 조사표 작성 후 업로드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현장조사결과보고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현장조사결과 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내려받기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현장조사결과를 문화체육관광부에 보고하기 위하여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그룹웨어에 현장조사결과를 첨부하여 통보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현장점검시정명령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현장점검시정명령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현장조사결과 시정조치가 필요한 경우 공단의 해당사업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관리담당자는 지원사업자에게 시정을 명령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시정조치결과검토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시정조치결과보고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 및 검토의견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시정조치결과보고를 홈페이지로 부터 취합하여 검토 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의견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시정조치보완요청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시정조치보완요청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제출한 시정조치결과보고를 공단 해당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사업담당자가 검토 후 보완이 필요할 경우 지원사업자에게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보완요청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검토결과 의견이 있을 경우 보완요청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5929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연중평가계획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연중성과평가편람을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수립하여 지원사업자에게 통보하고 지원사업자는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성과계획을 작성하여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평가편람통보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평가편람내역 조회 및 편람파일 올리기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홈페이지전송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평가담당자는 평가대상 지원사업자에게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평가편람과 평가계획을 첨부하여 통보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(7/19)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7658099"/>
              </p:ext>
            </p:extLst>
          </p:nvPr>
        </p:nvGraphicFramePr>
        <p:xfrm>
          <a:off x="350833" y="1016732"/>
          <a:ext cx="9180001" cy="535169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9940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SFR-F-012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연중평가계획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연중성과평가편람을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수립하여 지원사업자에게 통보하고 지원사업자는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성과계획을 작성하여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공문 또는 안내만 보내고 한글문서 등으로 작성한 평가편람과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평가계획을 올려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홈페이지로 전송하여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홈페이지를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통해 확인할 수 있도록 조치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성과계획작성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문서로 제출시 공단담당자가 성과계획 작성을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 선정 작업의 시스템 지원 확대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성과계획관리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성과계획내역접수 및 성과계획서 승인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작성한 성과계획서 홈페이지로 부터 취합하여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성과계획서 열람 후 승인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408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현장평가위원들이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반기별 현장점검을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통해 결과를 등록하도록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현장평가위원관리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 중 현장평가위원 위촉 선정을 위한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해촉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활동이력관리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신규 평가위원의 경우 평가위원 인적사항 및 경력사항을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측정항목관리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현장평가를 위한 측정항목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반기현장점검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반기현장점검결과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현장평가마감관리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현장평가마감일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 및 마감처리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 마감일 등록 및 마감처리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점검결과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점검결과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 및 모니터링평가에 대한 모바일 서비스 지원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현장평가결과를 시스템에서 평가결과 확인 뿐만 아니라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미흡사항에 대한 개선방안 작성 기능 필요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(8/19)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881848"/>
              </p:ext>
            </p:extLst>
          </p:nvPr>
        </p:nvGraphicFramePr>
        <p:xfrm>
          <a:off x="350833" y="1016732"/>
          <a:ext cx="9180001" cy="535169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1958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시민모니터링단을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선정하여 모니터링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실시결과를 취합할 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있도록 기능구현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모니터링단선정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모니터링단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홈페이지로부터 취합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수정결과 통보 기능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시민모니터링신청서를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홈페이지로 부터 취합 후 모니터링단을 선정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접수된 신청정보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 첨부문서를 토대로 기금평가팀 평가담당자가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모니터링요원 자격을 검토하여 선정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(SMS, eMail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통해 결과 전송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모니터링마감관리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마감일 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및 마감처리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마감취소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모니터링결과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 및 모니터링평가에 대한 모바일 서비스 지원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모니터링결과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21531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고객만족도조사를 위한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측정항목관리와 지원사업자별자체조사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리서치조사를 취합하여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만족도조사결과 작성 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측정항목관리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평가담당자는 전년도 고객만족도 측정항목과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개선요구 등을 고려하여 만족도 조사의 측정항목 확정하기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위한 측정항목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자체조사여부점검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자체조사여부안내문구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발송 및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자체조사기준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설청취소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평가담당자는 만족도 조사 대상 지원사업자 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자체적으로 만족도 조사여부를 확인하여 결과 제출을 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자체조사 희망기관 조사 안내문구 발송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(eMail, SMS)</a:t>
                      </a:r>
                      <a:b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조사대상선정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조사대상기관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 선정 작업의 시스템 지원 확대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 자체조사를 수행하지 않는 지원사업자를 대상으로 조사대상 선정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만족도조사결과보고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만족도조사결과보고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 조사결과 등록과 점수산정에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대한 자동화 지원 필요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리서치업체 및 지원사업자의 만족도조사결과보고를 홈페이지에서 취합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(9/19)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627465"/>
              </p:ext>
            </p:extLst>
          </p:nvPr>
        </p:nvGraphicFramePr>
        <p:xfrm>
          <a:off x="350833" y="1016732"/>
          <a:ext cx="9180001" cy="534061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14306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 및 이월처리현황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지원사업자의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 및 정산처리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현황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이월처리내역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이월처리내역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기금정산팀의 지원사업자 이월정보 관리 자동화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기금정산팀 정산담당자는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나라도움을 통해 지원사업자의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이월처리내역을 확인하여 사업별 이월처리내역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확정금액및이자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확정금액 및 이자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기금정산팀의 정산결과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확정금액 및 이자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반환액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시스템 등록 지원 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문화체육관광부에서 통보한 확정금액및이자와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나라도움정보를 확인하여 기금정산팀 정산담당자는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확정금액과 이자 및 반환액을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정산결과확인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정산결과 목록 및 상세내역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기금지원사업의 연간집행 및 실집행정보 제공서비스 추가필요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기금환수팀에서는 정산결과 확정금액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제재부가금 등 확인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807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정산결과에 따라 반납을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요구하고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이의신청에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따른 검토결과 통보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반납요구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정산반납조회 및 반납요구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 정산결과 확정금액및이자 조회 후 반납요구서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(eMail, SMS,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검토결과통보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기금환수팀 환수담당자는 이의신청에 대한 검토결과 조정된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경우 조정된 결과를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조정되지 않은 경우 조정되지 않은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사유를 등록 후 대상자에게 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(eMail, SMS,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(10/19)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7302739"/>
              </p:ext>
            </p:extLst>
          </p:nvPr>
        </p:nvGraphicFramePr>
        <p:xfrm>
          <a:off x="350833" y="1016732"/>
          <a:ext cx="9180001" cy="536208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77609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강제징수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반납현황을 검토하여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반환독촉 및 강제징수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처리현황 정보관리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반납현황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반납현황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e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나라도움을 통해 확인한 반환여부 확인 결과를 기금지원시스템에 등록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반환독촉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반환독촉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미반환 시 해당 사업자에게 반환 독촉의 공문과 함께 다양한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채널로 독촉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(SMS, eMail,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독촉전화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반환현황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 반환현황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교부취소결과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 교부취소결과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독촉장 발부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독촉장발부 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첨부문서올리기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확인결과 교부가 취소된 경우 독촉장을 발부 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우편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eMail, SMS)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강제징수처분결과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강제징수처분결과 목록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26918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SFR-F-019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제출한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성과보고서를 취합하여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성과보고서제출마감일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성과보고서제출 마감일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마감취소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성과보고서제출요청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성과보고서제출요청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성과보고서제출요청안내 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(SMS, eMail,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성과보고를 작성하지 못할 경우 공단 기금평가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담당자가 직접 작성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기관별 사업별 성과지표별 실적등록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확정취소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작성한 성과보고서 홈페이지로부터 취합하여 검토 후 확정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(11/19)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3090217"/>
              </p:ext>
            </p:extLst>
          </p:nvPr>
        </p:nvGraphicFramePr>
        <p:xfrm>
          <a:off x="350833" y="1016732"/>
          <a:ext cx="9180001" cy="535203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11009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성과평가실시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고객만족도조사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성과보고서를 종합하여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성과평가점수 산출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성과평가점수환산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현장편가점수환산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만족도조사점수환산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성과보고점수환산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정수환산결과 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평가담당자는 확정된 평가결과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만족도조사결과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를 종합하여 점수환산처리하여 평가점수산출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현장평가점수의합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평가회수 *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15%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만족도평가점수의합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평가회수 *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10%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    ·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=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 *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10 or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15%)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지표평가문항관리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지표평가문항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위원회평가를 위한 지표평가문항 및 배점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지표평가항목관리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지표평가항목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위원회평가를 위한 지표평가항목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시스템 개선 시 평가지표 등록기능 유지 필요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상대평가등급관리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상대평가등급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위원회평가를 위한 상대평가등급별 비율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지표평가실시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지표평가실시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평가위원회 실무소위원회에서 취합된 성과보고서와 관련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자료를 검토하여 차년도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 계량 및 비계량 지표평가를 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실시한 후 대상자에게 통보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2514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이의신청 시 평가위원회를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통해 조정여부를 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결과를 공유 후 지원사업자로부터 개선방안 접수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이의신청검토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이의신청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및 검토의견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평가담당자는 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이의신청 내용의 조정여부를 사전검토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(12/19)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400855"/>
              </p:ext>
            </p:extLst>
          </p:nvPr>
        </p:nvGraphicFramePr>
        <p:xfrm>
          <a:off x="350833" y="1016732"/>
          <a:ext cx="9180001" cy="5284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4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SFR-F-021</a:t>
                      </a:r>
                    </a:p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이의신청 시 평가위원회를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통해 조정여부를 결정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결과를 공유 후 지원사업자로부터 개선방안 접수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지표평가결과조정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지표평가결과조정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평가위원회를 개최하여 조정이 필요한 것으로 판단된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평가결과를 조정하고 이의신청 기한까지 이의신청이 없는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평가결과 확정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평가결과공유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 제출을 위한 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내려받기포함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결과공개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(SMS,eMail)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문체부보고를 위해 평가결과 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엑셀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PDF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다운로드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공개를 위한 홈페이지 전송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지원사업자에게 최종평가결과 확인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안내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(SMS, eMail)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개선방안접수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 기금평가팀 평가담당자는 지원사업자로부터 개선방안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위한 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평가위원구성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분야별 평가위원회 구성을 위해 평가위원에게 사전 연락 후 결과 반영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현장평가위원구성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선정취소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 등록 후 현장평가위원선정통보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(SMS.eMail)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현장평가위원선정 통보 결과 회신이 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No”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 경우 취소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평가실무소위원회구성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평가실무소위원회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선정통보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선정취소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평가실무소위원회 등록 후 평가실무소위원회선정통보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(SMS.eMail)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평가실무소위원회선정 통보 결과 회신이 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No”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 경우 취소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평가위원선정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 최종 위촉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및 해촉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평가위원 위촉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해촉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 및 평가실무소위원회 위촉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해촉 통보기능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평가위원의 위촉일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수당지급 등 정보관리가 있으면 편리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(13/19)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1309188"/>
              </p:ext>
            </p:extLst>
          </p:nvPr>
        </p:nvGraphicFramePr>
        <p:xfrm>
          <a:off x="350833" y="1016732"/>
          <a:ext cx="9180001" cy="52848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5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활동관리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위원회활동 일정계획을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수립하고 위원회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활동결과를 검토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위원회일정계획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위원회일정 목록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평가위원회 평가위원 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개최일정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회의록 등록 등 위원회지원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 필요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위원회활동검토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위원회활동 목록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확인취소 기능</a:t>
                      </a:r>
                      <a:endParaRPr lang="en-US" altLang="ko-KR" sz="1000" b="0" i="0" u="none" strike="noStrike" spc="0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평가위원회 평가위원 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개최일정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회의록 등록 등 위원회지원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기능 필요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 활동내역 조회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5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평가수당지급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위원회활동 결과를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평가위원수당 지급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평가수당지급품의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위원회별 평가수당지급품의 목록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승인요청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평가위원들이 평가보고를 하면 이를 결재 받아 각 건당 일정의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수당을 지급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평가수당지급품의결재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평가수당지급품의 승인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반려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전송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위원회평가수당 지출품의 팀장승인을 거쳐 재무회계정보의</a:t>
                      </a:r>
                      <a:r>
                        <a:rPr lang="en-US" altLang="ko-KR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br>
                        <a:rPr lang="en-US" altLang="ko-KR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지출결의로 품의정보전송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5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지원대상자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대상자를 지원서 접수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지원서접수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지원서 취합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상세조회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체육진흥팀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0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신체육인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복지지원 담당자는 지원대상자의 지원신청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정보를 홈페이지로 부터 수신하여 접수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(14/19)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660782"/>
              </p:ext>
            </p:extLst>
          </p:nvPr>
        </p:nvGraphicFramePr>
        <p:xfrm>
          <a:off x="350833" y="1016732"/>
          <a:ext cx="9180001" cy="5360658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9398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자격검토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심의결과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등록된 지원서를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통해 자격검토 후 심의를 통해 결정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자격검토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자격검토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접수된 지</a:t>
                      </a:r>
                      <a:r>
                        <a:rPr lang="ko-KR" altLang="en-US" sz="1000" b="0" i="0" u="none" strike="noStrike" spc="-15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원신청서의 내용을 검토하여 자격해당 여부 검토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자격검토의견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지원서에 대한 검토의견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심의결과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심의결과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통보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자격에 해당하는 대상자 중 복지후생금 대상자의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체육진흥팀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신체육인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복지지원 담당자의 검토결과를 등록하고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다른 지원금은 이사회 심의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의결결과와 이사장의 검토 및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지급결정을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2151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 발급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체육인복지지원금 지원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증명서의 발급신청을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검토하여 발급하고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증명서발급이력 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신청내역검토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홈페이지로부터 증명발급신청취합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발급승인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증명서발급이력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 발급신청 및 발급이력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 조회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5179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SFR-F-029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체육인등록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체육인등록신청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체육인등록신청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및 탈퇴요청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개인자격의 체육인 등록신청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 개인정보와 체육인 자격정보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3068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사업자등록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사업자등록신청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사업자등록신청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사업자정보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및 탈퇴요청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지원사업자등록신청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 지원사업자 기본정보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대표자정보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기관담당자정보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연락처 등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 구분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보조사업자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간접보조사업자로 구분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사용자권한 신청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기금보조금집행계획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 등 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접근 권한 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(15/19)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8100839"/>
              </p:ext>
            </p:extLst>
          </p:nvPr>
        </p:nvGraphicFramePr>
        <p:xfrm>
          <a:off x="350833" y="1016732"/>
          <a:ext cx="9180001" cy="534546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7622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위원회등록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위원회등록신청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위원회등록신청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위원회정보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 및 탈퇴요청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각종 평가위원회 평가위원 등록 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 개인정보와 참여 위원회 정보 등록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 권한 구분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: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실무소위원회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7622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정보이용동의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본인인증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개인정보이용 동의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본인인증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사용자등록 시 사용한 본인인증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휴대폰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공인인증서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가입한 소셜계정 등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개인정보이용동의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개인정보수집동의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3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자정보제공동의기능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개인정보 수집을 위한 근거마련 필요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7622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복지지원금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복지지원금 및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○ 지원신청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지원신청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제출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결과조회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복지후생금 중 대학원진학장학금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단기교육훈련비의 경우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지원대상자 혹은 관련 타인이 지원신청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(16/19)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113465"/>
              </p:ext>
            </p:extLst>
          </p:nvPr>
        </p:nvGraphicFramePr>
        <p:xfrm>
          <a:off x="350833" y="1016732"/>
          <a:ext cx="9180001" cy="5328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84624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0858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월별보조금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집행계획작성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월별보조금집행계획을 작성하여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월별보조금집행계획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기금지원계획을 접수한 지원사업자는 기금보조사업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내역사업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의 월별보조금집행계획 작성을 위한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인쇄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수작업으로 진행되는 보조사업 지원계획의 시스템 등록지원 필요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71563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SFR-F-035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반납업무와 관련한 공단과 지원사업자 간 업무협의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소통창구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반납요구접수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반납요구 사업목록조회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반납액 혹은 제재부가금 대상 지원사업자는 반납요구를 접수하여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,SMS,eMail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검토결과접수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검토결과 사업목록조회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상세내역조회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해당 지원사업자는 공단 홈페이지를 통해 검토결과 확인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,SMS,eMail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91915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SFR-F-036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평가계획관리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기금보조사업에 대한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성과평가계획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평가편람열람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평가편람내역 조회 및 내려받기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 지원사업자는 평가편람 및 계획을 공단홈페이지를 통해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성과계획작성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성과계획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평가대상 지원사업자는 평가계획을 숙지하고 공단 홈페이지의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성과계획서 양식에 의거 성과지표 등록하고 성과계획서를 첨부하여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기금평가팀에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(17/19)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742844"/>
              </p:ext>
            </p:extLst>
          </p:nvPr>
        </p:nvGraphicFramePr>
        <p:xfrm>
          <a:off x="350833" y="1016732"/>
          <a:ext cx="9180001" cy="536459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9699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4298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SFR-F-037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 현장평가 결과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월별현장평가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(Mobile)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월별현장평가 내역조회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구성된 현장평가단이 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 대상사업별 현장평가 실시하고 결과를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모바일을 통해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반기현장점검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(Mobile)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반기현장점검결과 내역조회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기금평가팀 평가담당자와 문화체육관광부 담당자는 반기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문제사업 등에 대한 현장점검을 실시하고 결과를 모바일을</a:t>
                      </a:r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통해 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점검결과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점검결과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현장평가위원은 모바일을 통해 등록하지 못한 경우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공단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홈페이지에 현장점검결과와 평가결과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919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SFR-F-038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모니터링단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 시민모니터링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시민모니터링단신청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시민모니터링단 신청서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 모니터링단에 신청하고자 하는 자가 홈페이지 공고를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보고 모니터링단 신청내용을 등록하고 신정요건에 해당하는 자격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증빙서류를 스캔하여 첨부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기존 모니터링단은 재위촉을 원할 경우 신청하고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신규 신청 시에는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사용자등록의 평가위원을 신청한 후 시민모니터링단 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월별모니터링실시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(Mobile)</a:t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월별모니터링실시 내역조회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결과삭제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시민모니터링단이 모니터링 대상 사업자에 대해 월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회 모니터링을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실시하고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Mobile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을 통해 결과등록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모니터링결과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모니터링결과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모니터링 결과를 검토하여 보완한 후 기금평가팀 평가담당자에게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(18/19)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9543912"/>
              </p:ext>
            </p:extLst>
          </p:nvPr>
        </p:nvGraphicFramePr>
        <p:xfrm>
          <a:off x="350833" y="1016732"/>
          <a:ext cx="9180001" cy="536459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5157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224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SFR-F-039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고객만족도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월별 고객만족도조사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실시결과 등록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자체만족도조사결과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자체만족도조사결과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자체적으로 수행한 만족도 조사결과가 있는 지원사업자는 조사결과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점수를 공단홈페이지를 통해 등록하고 기금평가팀 평가담당자의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요구에 따라 결과보고서 제출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리서치결과제출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리서치결과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분석된 결과를 공단홈페이지 고객만족도 결과보고에 등록하고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결과분석보고서는 작성하여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5039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SFR-F-040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기금보조사업을 정산한 후 성과계획을 기준으로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성과보고서를 작성하여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성과보고서작성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문서첨부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지원사업자는 해당사업에 대한 성과계획서에서 확정된 계량 및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비계량 지표에 따른 성과보고서를 작성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성과보고서제출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성과보고서 제출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제출취소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지원사업자는 작성된 성과보고서를 기반으로 공단 홈페이지에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성과지표와 목표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실적을 등록하고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12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월까지 기금평가팀 평가담당자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에게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96658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SFR-F-041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성과평가에 대한 결과를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확인하고 필요 시 이의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신청을 할 수 있으며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사업유형별 평가결과를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그래프로 표시하여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가독성을 높임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평가결과확인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성과평가결과목록조회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성과평가결과확인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 대상 지원사업자는 지표평가 결과를 확인하여 불복여부 결정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평가결과이의신청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평가이의신청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지원사업자가 비계량 지표평가 검토결과 이의가 있는 경우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기금평가팀 평가담당자에게 이의를 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사업유형별평가결과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종합평가결과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일반형평가결과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공모형평가결과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시도형평가 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사업별평가결과에 대한 도표 및 그래프 출력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사업유형별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일반형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공모형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시도형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평가지표별 결과 및 그래프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290667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기금지원관리 </a:t>
            </a:r>
            <a:r>
              <a:rPr kumimoji="1" lang="en-US" altLang="ko-KR" kern="0" dirty="0">
                <a:solidFill>
                  <a:prstClr val="black"/>
                </a:solidFill>
              </a:rPr>
              <a:t>(19/19)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1344602"/>
              </p:ext>
            </p:extLst>
          </p:nvPr>
        </p:nvGraphicFramePr>
        <p:xfrm>
          <a:off x="350833" y="1016732"/>
          <a:ext cx="9180001" cy="536459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5157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6224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SFR-F-042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환류관리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성과평가 환류를 위하여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평가결과를 통보하고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지원사업자로부터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개선방안 제출 지원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평가결과통보접수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최종성과평가결과 조회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지원사업자는 평가결과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시민모니터링결과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위원회평가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최종결과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접수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개선방안 제출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개선방안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제출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현장평가에 대한 평가결과의 경우 지원사업자가 평가결과에 따라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개선방안이 필요한 경우 개선방안을 작성하여 제출함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.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단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위원회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평가에 대한</a:t>
                      </a:r>
                      <a:r>
                        <a:rPr lang="en-US" altLang="ko-KR" sz="1000" b="0" i="0" u="none" strike="noStrike" spc="0" baseline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개선방안은 차년도 성과계획서 제출 시 작성하여 제출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94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SFR-F-043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업무협의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조치사항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필수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중요재산현황과 현장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점검에 따른 공단과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지원사업자 간 업무협의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소통창구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중요재산처분협의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중요재산처분협의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중요재산을 취득하여 관리하고 있는 지원사업자는 중요재산의 처분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시기가 도래하면 공단 기금환수팀 중요재산담당자에게 처분협의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중요재산처분결과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중요재산을 처분한 지원사업자가 처분된 결과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시정조치결과보고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시정조치를 수행한 지원사업자는 공단 홈페이지를 통해 시정조치에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대한 결과보고 조회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삭제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보고 기능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2245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기금지원관리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SFR-F-044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증명발급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핵심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체육인복지지원금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증명발급을 위한 신청 및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 인쇄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증명서발급신청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증명서발급신청 등록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수정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요청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취소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지원대상자가 이체를 확인하고 증명발급이 필요한 경우 증명발급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(Mobile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지원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)</a:t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○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증명서발급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증명서발급신청결과조회 및 증명서 인쇄 기능</a:t>
                      </a:r>
                      <a:b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-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신청에 대한 검토결과 발급대상에 해당하면 발급처리하고 대상에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해당하지 않으면 발급대상이 아님 통보 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홈페이지</a:t>
                      </a: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, SMS, eMail,</a:t>
                      </a:r>
                      <a:b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</a:br>
                      <a:r>
                        <a:rPr lang="en-US" altLang="ko-KR" sz="1000" b="0" i="0" u="none" strike="noStrike" spc="0" dirty="0">
                          <a:solidFill>
                            <a:srgbClr val="000000"/>
                          </a:solidFill>
                          <a:effectLst/>
                          <a:latin typeface="맑은 고딕"/>
                        </a:rPr>
                        <a:t>    Mobile)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92897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3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SFR-P-001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신청자 정보확인 및 사용자정보 조회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 사용 신청에 따른 신청자의 정보를 확인하는 기능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신청자 정보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신청 사용자의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ID(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사원번호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및 임시 비밀번호 입력 후 사용자 등록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가능여부 체크</a:t>
                      </a:r>
                      <a:b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등록 가능여부 메시지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사용자의 경영정보 포털 사용 여부에 대한 메시지 출력과 사용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불가 시 안내문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정보 조회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인적자원관리 시스템의 인사정보 기반 내용을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정보 수정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인적자원관리 시스템의 인사정보 기반 내용을 수정 후 확인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7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SFR-P-002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개인정보 이용 및 수집 동의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 사용 신청에 따른 개인정보 이용 및 수집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안내문 출력 및 동의 체크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개인정보 이용 및 수집 안내문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사용자에게 개인정보 이용 및 수집에 대한 안내문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개인정보 이용 동의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 개인정보 이용에 대한 동의 여부 체크기능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개인정보 수집 동의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사용자의 개인정보 수집에 대한 동의 여부 체크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자정보제공동의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사용자의 개인정보 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 정보제공에 대한 동의 여부 체크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개인정보 이용 및 수집 동의 확인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신청사용자가 개인정보 수집 및 이용에 대한 동의 여부의 검증 및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최종 확인 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14700400"/>
                  </a:ext>
                </a:extLst>
              </a:tr>
              <a:tr h="129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SFR-P-003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공인인증서 인증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본인인증을 위한 공인인증서 기반 인증처리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공인인증서의 전자서명 제출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사용자의 공인인증서의 전자서명 제출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공인인증서 검증 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공인인증기관에 공인인증서 검증 요청과 전자서명 검증 성공 여부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안내 메시지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공인인증서 본인인증 완료 메시지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신청 사용자의 공인인증서 기반 본인인증 확인 메시지 출력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75238757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(1/11)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75599660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3010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SFR-P-004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OTP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본인인증을 위한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OPT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기반 인증처리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OTP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 제출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OTP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 제출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OTP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 유효성 검증 요청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OTP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인증센터에 가입정보 유효성 검증 요청과 검증 성공 여부 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72963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SFR-P-005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메인화면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사용자 계층에 따른 메인화면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전사공통 메인화면 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전사 공통으로 제공하는 메인화면을 구성하여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경영진 메인화면 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경영진용 메인화면을 구성하여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관리자 메인화면 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 메인화면을 구성하여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업무담당자용 메인화면 구성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업무담당자용 메인화면을 구성하여 출력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572416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SFR-P-006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동적메뉴 관리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계층별 동적 메뉴를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구성하여 제공하는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전사공통 동적메뉴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 메뉴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전사 공통 메인화면의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영역에 동적 대메뉴 및 해당 하위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경영자 동적메뉴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 메뉴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경영진 메인화면의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영역에 동적 대메뉴 및 해당 하위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관리자 동적메뉴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 메뉴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 메인화면의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영역에 동적 대메뉴 및 해당 하위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메뉴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업무담당자 동적메뉴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 메뉴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업무담당자 메인화면의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GNB &amp; LNB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영역에 동적 대메뉴 및 해당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하위 메뉴 제공하는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0927531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SFR-P-007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간단정보 출력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로그인 후 사용자의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간단 정보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간단정보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경영정보포털 사용자의 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 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출력하는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62738505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(2/11)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76574135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1822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SFR-P-008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포털에서 제공하는 정보에 대한 통합검색 서비스 제공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통합검색 창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차세대 경영정보시스템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전자문서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제안 등 대상의 통합검색을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할 수 있는 검색어 입력할 수 있는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조직생활마당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 개별 통합검색 서비스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통합검색 결과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통합검색어 기반 결과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열람권한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열람권한 신청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통합검색결과의 문서의 열람권한을 신청하는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열람권한 신청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열람권한 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열람승인 여부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 여부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정보를 제공하는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열람권한 승인처리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열람권한 신청 목록의 승인여부를 처리하는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12789990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SFR-P-009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메시지 센터 출력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개인화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서비스를 위한 메시지 센터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메시지 센터 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기반의 개인화 서비스 측면의 주요 업무알람 정보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목록을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단위업무 화면으로 이동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메시지센터 목록 수정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나에게 필요없는 메시지센터의 목록을 수정 할 수 있는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05974845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SFR-P-010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Service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Service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System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대한 정보를 제공하여 선택 시 해당 시스템 혹은 단위업무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화면으로 이동하는 기능을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제공 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Service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전사 공통으로 자주 사용하는 단위업무 중심으로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Link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제공하는 서비스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Service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단위업무 화면으로 이동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Service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전사 공통으로 자주 사용하는 단위업무 중심으로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Link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제공하는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 목록에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조회하는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System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차세대 정보시스템을 제외한 공단 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정보시스템으로 바로 이동 할 수 있는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Link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제공하는 시스템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System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이동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정보시스템으로 이동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Quick System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차세대 정보시스템을 제외한 공단 내 정보시스템으로 바로 이동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할 수 있는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Link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제공하는 시스템 목록에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0292896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(3/11)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938211073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27206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6232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SFR-P-011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업무별 공지사항에 대한 서비스 기능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공단 전사 공지사항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 대상의 공지사항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공단전체 대상의 공지사항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공단 전사 공지사항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등록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 대상 공지사항 등록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수정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 대상 공지사항 수정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삭제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 대상 공지사항 삭제 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본부별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공지사항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본부별 대상의 공지사항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본부별 대상의 공지사항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본부별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공지사항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등록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본부별 대상 공지사항 등록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수정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본부별 대상 공지사항 수정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삭제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본부별 대상 공지사항 삭제 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업무별 공지사항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업무별 대상의 공지사항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업무별 대상 공지사항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업무별 공지사항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등록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업무별 대상 공지사항 등록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수정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업무별 대상 공지사항 수정 및 미리보기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공지사항 삭제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업무별 대상 공지사항 삭제 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69592531"/>
                  </a:ext>
                </a:extLst>
              </a:tr>
              <a:tr h="13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SFR-P-012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목록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해야 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수행 업무 목록을 제공하고 관리 기능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제공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업무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사용자별 나의 주요업무 목록 출력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기반의 자동화 서비스로 제공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목록에서 조회를 선택하면 해당 단위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화면으로 이동하여 상세보기 출력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해야 할 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수행 업무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수신일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관련 정보 등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해야 할 일 업무 상세보기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해야 할 업무 알람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80370566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(4/11)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843834524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7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SFR-P-013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맞춤 메뉴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맞춤 메뉴의 베스트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즐겨찾기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메뉴에 대한 서비스 기능을 제공함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베스트 메뉴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주 사용 정보시스템의 메뉴 목록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베스트 메뉴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베스트 메뉴 관리자가 사용자에게 제공할 정보시스템의 메뉴를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즐겨찾기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전체 대상 즐겨찾기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URL)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통해 사이트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목록을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즐겨찾기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즐겨찾기 관리자가 사용자에게 제공하는 즐겨찾기 사이트 정보를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업무 메뉴 목록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제공되는 베스트 메뉴 목록과 즐겨찾기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 기반 사용자가 선택한 업무메뉴 목록을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업무 메뉴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제공되는 베스트 메뉴 목록과 즐겨찾기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사이트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 기반 사용자가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메뉴 목록을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03896229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SFR-P-014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그룹별 맞춤정보 제공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그룹별로 제공하는 맞춤정보 제공 서비스 기능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전달사항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전달사항 정보를 보여주는 조회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전달사항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목록을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전달사항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전달사항을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 지시 및 전달사항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지시 및 전달사항의 최근 정보를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보여주는 기능을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 지시 및 전달사항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지시 및 전달사항 등록 및 전파 대상자 지정하는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35011788"/>
                  </a:ext>
                </a:extLst>
              </a:tr>
              <a:tr h="115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SFR-P-015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현황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담당업무 현황과 설정관리를 지원하는 서비스 제공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담당업무 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담당업무 전체 분류에 따른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을 제공하는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신호등 체계를 적용한 업무처리 상태를 보여주는 기능으로 처리완료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진행중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미처리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지연업무 등으로 구분하여 보여주는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담당업무의 단위화면으로 이동하여 상세정보를 보여주는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기능을 제공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63051506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(5/11)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037733999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28688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4275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SFR-P-015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 현황 서비스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담당업무 현황과 설정관리를 지원하는 서비스 제공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담당업무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설정된 담당업무 목록을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설정된 담당업무 등록하는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직제 및 조직개편시에만 한시적 제공하여 사용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설정된 담당업무 수정하는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직제 및 조직개편시에만 한시적 제공하여 사용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역할 기반 설정된 담당업무 삭제하는 기능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직제 및 조직개편시에만 한시적 제공하여 사용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63051506"/>
                  </a:ext>
                </a:extLst>
              </a:tr>
              <a:tr h="28023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SFR-P-016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업무함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업무 및 수신한 업무에 대한 서비스를 제공하는 기능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지시한 업무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업무 목록과 대상자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업무의 상세정보를 보여주는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지시한 업무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업무를 등록하고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업무를 수정하고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업무를 삭제하고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수신한 업무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업무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업무 목록과 지시자 정보를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업무의 상세정보를 보여주는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업무 처리 결과를 등록하는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업무 처리 결과를 수정하는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41484749"/>
                  </a:ext>
                </a:extLst>
              </a:tr>
              <a:tr h="7401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SFR-P-017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과제함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과제 및 수신한 과제에 대한 서비스를 제공하는 기능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지시한 과제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과제 목록과 대상자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과제의 상세정보를 보여주는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51969898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(6/11)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33187384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3142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SFR-P-017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과제함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과제 및 수신한 과제에 대한 서비스를 제공하는 기능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지시한 과제 설정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과제를 등록하고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과제를 수정하고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지시할 과제를 삭제하고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대상자를 선정하여 해당자에게 전달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내가 수신한 과제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과제 목록과 지시자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상세보기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과제의 상세정보를 보여주는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과제 처리 결과를 등록하는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지시 과제 처리 결과를 수정하는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5196989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SFR-P-018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모니터링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담당업무 및 과제업무에 대한 모니터링 서비스 제공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담당업무 모니터링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업무처리 현황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업무처리 현황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과제업무 모니터링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지시한 과제처리 현황 정보를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내가 수신한 과제처리 현황 정보를 출력하는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20695076"/>
                  </a:ext>
                </a:extLst>
              </a:tr>
              <a:tr h="2160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SFR-P-019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일정관리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주요 임원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전사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일정정보 서비스를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 단위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주요 임원 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주요 임원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주단위 주요 임원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일단위 주요 임원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주요 임원 일정관리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주요 임원 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0529576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(7/11)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3340261700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13688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8270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SFR-P-019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일정관리 서비스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주요 임원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전사 일정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본부별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 일정정보 서비스를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주단위 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일단위 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나의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주단위 나의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일단위 나의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일정관리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공단 전사 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공단 전사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주단위 공단 전사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일단위 공단 전사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공단 전사 일정관리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전사 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월단위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주단위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일단위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일정보기 기능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본부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원별 일정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05295762"/>
                  </a:ext>
                </a:extLst>
              </a:tr>
              <a:tr h="9930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SFR-P-020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업무현황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 단위의 주요업무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과제 현황을 제공하는 서비스</a:t>
                      </a:r>
                    </a:p>
                  </a:txBody>
                  <a:tcPr marL="720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주요 업무 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팀별 주요 업무 현황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팀별 주요 업무 현황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주요 과제 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팀별 주요 과제 현황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팀별 주요 과제 현황 상세보기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20670040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(8/11)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74894026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31222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680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4700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SFR-P-021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나의 관심정보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정보마당의 나의 관심정보를 제공하는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나의 관심 키워드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정보마당의 정보 및 지식 업데이트에 따른 미리 사용자가 설정한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관심키워드 목록을 보여줌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설정한 키워드에 따른 검색결과 정보를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사용자가 설정한 관심키워드에 따른 관심정보가 업데이트 될 경우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알람정보를 알려주는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관심 키워드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관심키워드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24947100"/>
                  </a:ext>
                </a:extLst>
              </a:tr>
              <a:tr h="11161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SFR-P-022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Best&amp;New 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정보마당의 신규정보 및 클릭이 많은 정보를 제공하는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신규정보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신규로 등록된 정보 기준 목록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 등록된 정보 상세보기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클릭이 많은 정보 목록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사용자가 클릭을 많이 한 정보순대로 목록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선택한 정보 상세보기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01223866"/>
                  </a:ext>
                </a:extLst>
              </a:tr>
              <a:tr h="9391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SFR-P-023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카테고리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조직생활마당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역량강화마당에서 제공되는 카테고리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카테고리 서비스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 업무마당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조직생활마당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역량강화마당에서 제공하는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카테고리를 출력하는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카테고리 선택에 따른 분류별로 정보목록을 보여주는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해당 정보의 단위업무 혹은 해당 화면으로 이동하는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96506746"/>
                  </a:ext>
                </a:extLst>
              </a:tr>
              <a:tr h="14700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SFR-P-024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전문가 상담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전문가 관리와 상담내역을 제공하는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 전문가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업무별 전문가 정보를 목록으로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업무별 전문가 정보를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업무별 질의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답변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업무별 질의에 대한 답변 현황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질의 내용을 작성하고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전문가에게 자동으로 전송하는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질의 내용을 조회하고 업무 전문가가 답변하는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질의 및 답변 등록 시 해당 사용자에게 알람을 제공하는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970231378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(9/11)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96882240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1822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SFR-P-025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규정 및 매뉴얼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정보마당에서 제공하는 규정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 매뉴얼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각종 서식에 대한 서비스를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업무규정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규정 목록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규정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정보시스템 매뉴얼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정보시스템 매뉴얼 목록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정보시스템 매뉴얼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각종 서식 모음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각종 서식 모음 목록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각종 서식 모음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27741730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SFR-P-026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공단 공통업무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조직생활마당에서 제공하는 공단 공통업무에 해당하는 서비스를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인사발령정보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인사발령정보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경조사신청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교육신청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근태관리 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휴가신청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개인급여 정보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구내식단 메뉴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구내식단 메뉴의 정보를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야근신청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인적자원관리시스템과 연계하여 해당 화면으로 이동처리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2707161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SFR-P-027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역량강화마당 콘텐츠 제공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역량강화를 위해 제공되는 콘텐츠 제공 및 관리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훈련 자료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훈련 자료를 목록으로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훈련 자료를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동영상 교육자료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동영상 교육자료를 목록으로 제공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동영상 교육자료를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7609442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(10/11)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370512015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50833" y="1016733"/>
          <a:ext cx="9180001" cy="50766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SFR-P-028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도움말 제공 서비스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경영정보시스템 사용 관련 도움말 서비스 및 관리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도움말 검색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찾고자 하는 검색어 입력하는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디렉토리 서비스를 제공하는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도움말 상세보기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도움말 콘텐츠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도움말 콘텐츠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35587864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SFR-P-029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권한 및 서비스 매핑관리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핵심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포털의 사용자 권한관리 및 서비스 매핑관리 서비스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권한 및 서비스 매핑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권한관리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 &amp;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계층 매핑관리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계층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접근권한 매핑관리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그룹별 서비스 그룹별 매핑관리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 그룹 관리 및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서비스그룹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 매핑관리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 관리 및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삭제하는 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단위업무 화면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 화면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 상세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시스템별 단위업무 화면 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업무별 단위업무 화면 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서비스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단위업무화면 매핑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단위업무화면 매핑 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 대비 단위업무화면 매핑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서비스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&amp;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단위업무화면 사용현황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사용자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기능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사용허가 처리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0485838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SFR-P-030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FAQ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포털의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FAQ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 서비스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FAQ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FAQ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FAQ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FAQ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글 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7253978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경영정보 포털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SFR-P-031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게시판 관리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필수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포털의 게시판 관리 서비스 제공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○ 게시판 관리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게시판 생성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게시판 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게시판별 게시물의 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 관리 기능</a:t>
                      </a:r>
                    </a:p>
                  </a:txBody>
                  <a:tcPr marL="10800" marR="10800" marT="108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경영정보 포털 </a:t>
            </a:r>
            <a:r>
              <a:rPr kumimoji="1" lang="en-US" altLang="ko-KR" kern="0" dirty="0">
                <a:solidFill>
                  <a:prstClr val="black"/>
                </a:solidFill>
              </a:rPr>
              <a:t>(11/11)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427768112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338841"/>
              </p:ext>
            </p:extLst>
          </p:nvPr>
        </p:nvGraphicFramePr>
        <p:xfrm>
          <a:off x="350833" y="1016733"/>
          <a:ext cx="9180001" cy="5213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예산편성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연도별 예산편성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집행계획 포함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예산편성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예산편성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부서별 예산편성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부서별 예산편성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사업별 예산편성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사업별 예산편성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예산평가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예산평가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예산평가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회계단위별 예산평가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부서별 예산평가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부서별 예산평가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사업별 예산평가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사업별 예산평가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SFR-S-003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법인회계 결산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법인회계 결산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재무상태표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재무상태표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손익계산서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손익계산서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계정별 결산부속명세서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계정별 결산부속명세서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구분회계 결산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구분회계 결산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구분 재무상태표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법인회계의 구분 재무현황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구분 손익계산서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법인회계의 구분 재무현황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SFR-S-005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내부관리손익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l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사업별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지점별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공동활용지점의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내부관리손익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사업별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경정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내부관리손익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Tx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사업별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손익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지점별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경정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내부관리손익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지점별 손익</a:t>
                      </a:r>
                      <a:r>
                        <a:rPr lang="ko-KR" altLang="en-US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 공동활용지점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경정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내부관리손익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공동활용지점 손익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통계 </a:t>
            </a:r>
            <a:r>
              <a:rPr kumimoji="1" lang="en-US" altLang="ko-KR" kern="0" dirty="0">
                <a:solidFill>
                  <a:prstClr val="black"/>
                </a:solidFill>
              </a:rPr>
              <a:t>(1/4)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4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SFR-S-006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자금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금융기관별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금융상품별 자금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금융기관별 자금현황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금융기관별 자금현황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금융상품별 자금현황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금융상품별 자금현황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SFR-S-007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금융상품 수익률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금융상품별 수익률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월별금융상품의 수익률 통계정보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금융상품 수익률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SFR-S-008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유형고정자산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유형고정자산의 취득현황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자산취득현황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자산취득현황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계정과목별 계약현황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계정과목별 자산취득현황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SFR-S-009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무형고정자산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무형고정자산의 취득현황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자산취득현황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자산취득현황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계정과목별 계약현황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계정과목별 자산취득현황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SFR-S-009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계약관리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계약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회계단위별 계약현황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계약현황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부서별 계약현황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회계단위별 계약현황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인원현황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인원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기준일별 인원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기준일별 인원현황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인원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인원현황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근속년수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근속년수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인원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근속년수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직위별 인원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직위별 근속년수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통계 </a:t>
            </a:r>
            <a:r>
              <a:rPr kumimoji="1" lang="en-US" altLang="ko-KR" kern="0" dirty="0">
                <a:solidFill>
                  <a:prstClr val="black"/>
                </a:solidFill>
              </a:rPr>
              <a:t>(2/4)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1965661"/>
              </p:ext>
            </p:extLst>
          </p:nvPr>
        </p:nvGraphicFramePr>
        <p:xfrm>
          <a:off x="350833" y="1016733"/>
          <a:ext cx="9180001" cy="52590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연령대별 인원현황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연령대별 인원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인원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연령대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직위별 인원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직위별 연령대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SFR-S-013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체류기간별 인원현황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체류기간별 인원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인원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연령대현황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채용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퇴직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채용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퇴직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유형별 채용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유형별 채용현황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유형별 퇴직 현황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유형별 퇴직현황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SFR-S-015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교육이수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교육이수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교육이수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교육이수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SFR-S-016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인건비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인건비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인건비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인건비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직위별 인건비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직위별 인건비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직원구분별 인건비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직원구분별 인건비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SFR-S-017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인건비 추이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인건비 추이를 통계정보로 보여줌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연도별 인건비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교육이수현황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SFR-S-018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복리후생비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복리후생비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직급별 복리후생비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직급별 복리후생비 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통계 </a:t>
            </a:r>
            <a:r>
              <a:rPr kumimoji="1" lang="en-US" altLang="ko-KR" kern="0" dirty="0">
                <a:solidFill>
                  <a:prstClr val="black"/>
                </a:solidFill>
              </a:rPr>
              <a:t>(3/4)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33150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SFR-S-019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 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 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분야별 기금지원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분야별 기금지원현황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연도별 기금지원 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연도별 기금지원현황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SFR-S-020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평가결과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 평가결과를 통계정보로 보여줌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기관별 평가결과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기관별 평가결과를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SFR-S-021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성과평가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기금지원 성과결과를 통계정보로 보여줌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기관별 성과결과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기관별 성과평가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사업별 성과결과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사업별 성과평가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통계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SFR-S-022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180975" algn="ctr" defTabSz="914400" rtl="0" eaLnBrk="0" fontAlgn="ctr" latinLnBrk="0" hangingPunct="0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정산현황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l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정산현황 통계정보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보조금 교부현황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보조금 교부현황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분야별 정산현황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분야별 정산현황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○ 시도별 정산현황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80975" indent="-180975" algn="l" defTabSz="914400" rtl="0" eaLnBrk="0" fontAlgn="ctr" latinLnBrk="0" hangingPunct="0">
                        <a:buFont typeface="Arial" pitchFamily="34" charset="0"/>
                        <a:buNone/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-</a:t>
                      </a:r>
                      <a:r>
                        <a:rPr lang="en-US" altLang="ko-KR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시도별 정산현황 집계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조회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다운로드 기능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2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통계 </a:t>
            </a:r>
            <a:r>
              <a:rPr kumimoji="1" lang="en-US" altLang="ko-KR" kern="0" dirty="0">
                <a:solidFill>
                  <a:prstClr val="black"/>
                </a:solidFill>
              </a:rPr>
              <a:t>(4/4)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144346368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3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모바일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4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휴가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휴가 신청관리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단시간 근무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단시간 근무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단시간근무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단시간근무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단시간근무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근무일시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SFR-M-003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스마트 근무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스마트 근무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스마트근무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스마트근무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스마트근무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스마트근무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latin typeface="돋움"/>
                        </a:rPr>
                        <a:t> 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 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출장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출장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출장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출장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출장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출장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SFR-M-005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근무스케줄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근무스케줄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근무스케줄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근무스케줄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근무스케줄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근무일시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SFR-M-006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스마트 근무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스마트 근무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내부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직원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휴가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승인현황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출장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일시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)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SFR-M-007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</a:t>
                      </a:r>
                    </a:p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제증명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증명서 신청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증명서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관리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증명서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목록조회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발급신청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발급취소하는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증명서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발급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신청현황을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확인하는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82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SFR-M-008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내부업무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현장조사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현장조사 지원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조사대상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조사대상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현황조사계획서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주소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검색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현장조사결과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현장조사결과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5.3.2 </a:t>
            </a:r>
            <a:r>
              <a:rPr kumimoji="1" lang="ko-KR" altLang="en-US" kern="0" dirty="0">
                <a:solidFill>
                  <a:prstClr val="black"/>
                </a:solidFill>
              </a:rPr>
              <a:t>기능요구사항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&gt; 3</a:t>
            </a:r>
            <a:r>
              <a:rPr kumimoji="1" lang="ko-KR" altLang="en-US" kern="0" dirty="0">
                <a:solidFill>
                  <a:prstClr val="black"/>
                </a:solidFill>
              </a:rPr>
              <a:t>단계 </a:t>
            </a:r>
            <a:r>
              <a:rPr kumimoji="1" lang="en-US" altLang="ko-KR" kern="0" dirty="0">
                <a:solidFill>
                  <a:prstClr val="black"/>
                </a:solidFill>
              </a:rPr>
              <a:t>&gt; </a:t>
            </a:r>
            <a:r>
              <a:rPr kumimoji="1" lang="ko-KR" altLang="en-US" kern="0" dirty="0">
                <a:solidFill>
                  <a:prstClr val="black"/>
                </a:solidFill>
              </a:rPr>
              <a:t>모바일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31049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7152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SFR-M-009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외부업무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 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월별지원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계획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실적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월별지원계획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실적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월별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집행계획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등록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월별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집행계획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월별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집행실적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월별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집행실적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SFR-M-010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외부업무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현장평가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현장평가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평가계획서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성과지표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주소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검색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평가조사결과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평가조사결과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SFR-M-011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외부업무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</a:t>
                      </a:r>
                    </a:p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시민모니터링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시민모니터링 관리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모니터링대상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/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모니터링대상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목록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평가계획서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,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성과지표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주소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검색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○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모니터링결과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등록</a:t>
                      </a:r>
                      <a:b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  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-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모니터링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결과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입력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수정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삭제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조회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Arial"/>
                        </a:rPr>
                        <a:t>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기능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Arial"/>
                      </a:endParaRPr>
                    </a:p>
                  </a:txBody>
                  <a:tcPr marL="14287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5.3.3 </a:t>
            </a:r>
            <a:r>
              <a:rPr kumimoji="1" lang="ko-KR" altLang="en-US" kern="0" dirty="0">
                <a:solidFill>
                  <a:prstClr val="black"/>
                </a:solidFill>
              </a:rPr>
              <a:t>성능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9569147"/>
              </p:ext>
            </p:extLst>
          </p:nvPr>
        </p:nvGraphicFramePr>
        <p:xfrm>
          <a:off x="350833" y="1016733"/>
          <a:ext cx="9180001" cy="5256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52304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5546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PER-001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성능 최적화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성능 보장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구축 이후 시스템 성능 보장을 위해 성능 진단 및 성능개선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작업을 실시해야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이에 대한 계획을 구체적으로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구축 후 시스템 이용 및 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운용에 대한 전반적인 방안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통계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분석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공유 등 과부하 업무처리 시 성능 저하를 최소화 방안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서버 환경 튜닝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    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시스템의 해당 기능 성능 저하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전문가와 협의하여 환경설정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변경 등 시스템 튜닝 후 적용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데이터베이스 성능 튜닝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시스템의 해당 기능 성능 저하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전문가와 협의하여 환경설정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변경 등 시스템 튜닝 후 적용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SQL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튜너의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경력은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년 이상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SQL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튜닝 단독 프로젝트 참여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횟수는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50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 이상 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marR="0" lvl="0" indent="-174625" algn="l" defTabSz="914400" rtl="0" eaLnBrk="1" fontAlgn="ctr" latinLnBrk="1" hangingPunct="1">
                        <a:lnSpc>
                          <a:spcPts val="11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❍ 성능향상을 위한 어플리케이션 캐쉬를 활용 할 수 있는 공통 서비스 제공 필요</a:t>
                      </a: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예산코드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목코드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수익센터관리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공단계정과목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관리항목코드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거래처코드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회계단위관리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팀별수익센터관리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조직기본 등 업무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48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PER-002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처리속도 확보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목표시스템 구현 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처리속도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latin typeface="맑은 고딕"/>
                        </a:rPr>
                        <a:t> 보장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동시 접속자는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H/W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환경 및 자원에 영향을 받으므로 과업 범위에서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지정하지 아니하나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담당자들이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복수로 접속하여 서비스가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가능하여야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동시 접속 처리가 민감한 서비스에 대하여 서비스 동시처리 성능향상을 위한 어플리케이션 성능 최적화를 수행하여야 함 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현행 자원 환경에서 어느 정도의 동시 사용자에 대한 서비스가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가능한지 측정하고 성능 향상을 위한 최적화 작업을 수행하여야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설계나 구현방식의 논리적 결함으로 동시 처리 성능과 안정성에 영향이 있다고 국민체육진흥공단이 판단할 경우 시정요구와 성능 측정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개선을 과업범위로 시행 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요청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입력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작업은 평균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2~2.5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초 이내에 처리되어야 한다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평균 시간 초과 응답 시 성능향상과 추가적인 성능향상 방안을 강구하여야 한다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첨부파일 업로드 시간은 제외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단순 데이터 입력이 아닌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대량의 데이터 입력을 기초로 하여 별도의 계산 로직으로 수행한 배치성 작업에 대해서는 업무 담당자와 협의한 목표 시간 내에 처리가 완료되어야 함</a:t>
                      </a:r>
                    </a:p>
                    <a:p>
                      <a:pPr marL="174625" indent="-174625" algn="l" defTabSz="914400" rtl="0" eaLnBrk="1" fontAlgn="ctr" latinLnBrk="1" hangingPunct="1">
                        <a:lnSpc>
                          <a:spcPts val="1100"/>
                        </a:lnSpc>
                      </a:pP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 시스템의 사용자 서비스 페이지는 평균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초 이내에 처리되어야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관리자 설정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통계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이력 조회 등은 예외로 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5.3.3 </a:t>
            </a:r>
            <a:r>
              <a:rPr kumimoji="1" lang="ko-KR" altLang="en-US" kern="0" dirty="0">
                <a:solidFill>
                  <a:prstClr val="black"/>
                </a:solidFill>
              </a:rPr>
              <a:t>성능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177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31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PER-002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처리속도 확보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목표시스템 구현 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처리속도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latin typeface="맑은 고딕"/>
                        </a:rPr>
                        <a:t> 확보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서비스 응답시간은 사용자가 서비스를 요청하고 응답 받을 때까지 소요되는 시간을 의미하며 충분하게 준비된 테스트 데이터로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서비스 성능 향상을 위하여 중요 페이지는 캐시 또는 웹 페이지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퍼블리싱 등의 알고리즘과 기술을 이용하여 데이터베이스의 직접 접근 없이 구현 되어야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성능 향상을 위해 추가로 도입되거나 제안되는 솔루션 및 장치는 제안사의 부담으로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직접사용 프로그램의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사용자가 요청한 시각으로부터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초 내에 디스플레이 되는 것을 원칙으로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&lt;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예외 사항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- Data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연동 및 등록일 경우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대량의 데이터에 대한 질의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다운로드가 있을 경우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 개 이상의 큰 이미지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이미지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500KB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가지고 있는 경우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동시 사용자 성능을 초과하는 경우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배치업무 처리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Batch Job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경우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분 이내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순차적인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Batch Job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경우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 이내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(Batch Job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경우 업무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특성에 따라 고려하며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최대 업무 종료 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시작 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이내 처리 가능해야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PER-003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안정성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안정성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안정성이 확보되어야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장애발생 시 데이터복구가 빠르도록 체계를 갖추어야 함 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PER-004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자원 사용률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자원을 효율적으로 사용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 및 운영기간에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CPU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사용률을 평가하며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24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 서비스 가용시간 동안의 사용률과 최대 부하에서의 사용률을 측정하여야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CPU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평균 사용률은 어느 조건 하에서도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80%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 및 운영기간에 시스템의 자원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메모리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디스크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사용률을 평가하며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메모리사용률은 어느 조건 하에서도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70%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5.3.4 </a:t>
            </a:r>
            <a:r>
              <a:rPr kumimoji="1" lang="ko-KR" altLang="en-US" kern="0" dirty="0">
                <a:solidFill>
                  <a:prstClr val="black"/>
                </a:solidFill>
              </a:rPr>
              <a:t>인터페이스 요구사항 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492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SIR-001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인터페이스일반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인터페이스 일반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시스템의 성능에 미치는 영향을 고려하여 갱신주기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연계어플리케이션 실행시간 등을 설정하여야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정보연계 목적에 따라 필요한 범위 내 최소한의 정보로 연계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연계의 정확성을 위해 개발 및 테스트환경을 구성하고 연계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어플리케이션의 기능 수행 정확도를 검증한 후 운영 시스템에 이관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하여 시스템을 운영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또는 정보 증가 시에도 안정적인 성능을 제공하여야 하며 추가 라이선스 비용 등이 발생하지 않아야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SIR-002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시스템간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표준 인터페이스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간 인터페이스 표준화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구축시스템 연계 시 발주기관의 표준 연계모듈을 사용하여야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연동 시 연계기관간에 약속된 데이터 포맷을 활용하여 암호화 통신을 하여야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 서버 간의 연결이 보안 환경으로 구성된 경우에는 암호화 통신 제외할 수 있음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SIR-003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인터페이스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사용자 친화적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UI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구성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사용자의 수행 활동에 대한 확인 메시지를 제공함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서비스는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종 이상의 주요 웹 브라우저에서 동작 가능해야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친화적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UI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지원하여야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직관적인 인터페이스를 제공하도록 화면 구성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SIR-004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프로토콜 변환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프로토콜 변환 개념 정의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DB2DB, File2File, HTTP, SOAP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등에 대한 프로토콜을 변환하여야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이기종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타사 제품 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혹은 비 표준화된 연계 시 프로토콜에 대한 변환을 지원하여야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SIR-005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프로토콜 지원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프로토콜 지원 개념 정의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송수신 전문에 대한 표준화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연계통신 프로토콜을 개발하여야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5.3.5 </a:t>
            </a:r>
            <a:r>
              <a:rPr kumimoji="1" lang="ko-KR" altLang="en-US" kern="0" dirty="0">
                <a:solidFill>
                  <a:prstClr val="black"/>
                </a:solidFill>
              </a:rPr>
              <a:t>데이터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159043"/>
              </p:ext>
            </p:extLst>
          </p:nvPr>
        </p:nvGraphicFramePr>
        <p:xfrm>
          <a:off x="350833" y="1016733"/>
          <a:ext cx="9180001" cy="5357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관리지침수립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관리지침 정의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분류 체계 및 제공 형태 선정 기준 관리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정부 데이터 관리 지침 활용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코드 및 용어 표준 수립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 코드 값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명칭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형태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길이 등 표준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국가 데이터 표준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행정표준코드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행정표준용어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적용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116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표준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준수 및 검증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표준 준수 및 검증 원칙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명명 규칙 등을 준수하여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 및 검증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표준화 제약사항 사전파악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관련 시스템과의 데이터 호환 될 수 있도록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이관 시 최종 이관 데이터에 대한 검증 수행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전문 업체나 전문가를 통해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DBMS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설계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개선계획 수립과 실행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응답 시간이 적정 시간을 초과하는 건 우선 개선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데이터베이스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구조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DB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설계 원칙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구조의 설계는 업무 처리 절차를 반영하여 유기적으로 구조화 설계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향후 업무 변동 및 시스템 확장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프로그램 보완 등이 용이하도록 설계 하고 확장 할 수 있도록 구성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부하 최소화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부하 최소화를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각종 통계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이력 조회 등의 작성 및 조회 시 시스템 부하가 최소화 되도록 설계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대용량 테이블의 성능 및 관리를 고려하여 개선요건을 반영하여 설계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최신성 확보관리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최신성 확보를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주기적으로 데이터 변경에 대한 최신성 확보 안내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포맷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구조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항목 변경에 대한 정보 반영 프로세스 수립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최신성 보장을 위한 주기적인 담당자 점검 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품질 관리 프로세스와 연계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04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이관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이관을 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DB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이관을 위한 대상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크기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건수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예상자료양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자료형태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자료위치 등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파악 이행방안 제시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데이터전환 대상 정형 데이터 범위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통합재무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:584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계약관리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:30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인적자원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554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기금지원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:430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건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데이터전환 대상 비정형 범위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문서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파일형식의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종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맑은 고딕"/>
                          <a:ea typeface="+mn-ea"/>
                          <a:cs typeface="+mn-cs"/>
                        </a:rPr>
                        <a:t>○ 효율적 데이터 이관 및 검증을 위한 방안을 수립과 실행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5.3.5 </a:t>
            </a:r>
            <a:r>
              <a:rPr kumimoji="1" lang="ko-KR" altLang="en-US" kern="0" dirty="0">
                <a:solidFill>
                  <a:prstClr val="black"/>
                </a:solidFill>
              </a:rPr>
              <a:t>데이터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244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12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DAR-006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이관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계속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이관을 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❍ 검증은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단계 이행검증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2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단계 업무검증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3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단계 사용자 검증의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단계 검증을 수행해야 함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추출검증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변환검증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적재검증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화면조회결과 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보고서결과 검증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일관성 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코드별 건수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금액 컬럼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통계조회 검증 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소스 데이터와 타켓데이터 값 자체 검증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검증을 위한 변환 룰과 로직 개발 필요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신구 건수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금액 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항목값 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신구 컬럼 검증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통계</a:t>
                      </a:r>
                      <a:r>
                        <a:rPr lang="en-US" altLang="ko-KR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집계 검증</a:t>
                      </a:r>
                      <a:endParaRPr lang="en-US" altLang="ko-KR" sz="1000" b="0" i="0" u="none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❍ 검증 계획과 단계별 산출물을 제시해야 함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❍ 검증 단계별 발생될 오류에 대해서 미리 분석하여 대응 계획을 제시해야 함</a:t>
                      </a:r>
                      <a:endParaRPr lang="ko-KR" altLang="en-US" sz="1000" b="0" i="0" u="none" strike="noStrike" kern="1200" dirty="0">
                        <a:solidFill>
                          <a:schemeClr val="tx1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5.3.6 </a:t>
            </a:r>
            <a:r>
              <a:rPr kumimoji="1" lang="ko-KR" altLang="en-US" kern="0" dirty="0">
                <a:solidFill>
                  <a:prstClr val="black"/>
                </a:solidFill>
              </a:rPr>
              <a:t>테스트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4457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14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TER-001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테스트 계획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수립 및 실시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>
                          <a:solidFill>
                            <a:srgbClr val="FF0000"/>
                          </a:solidFill>
                          <a:latin typeface="맑은 고딕"/>
                        </a:rPr>
                        <a:t>　</a:t>
                      </a: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테스트 계획 수립 및 실시를 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요구사항별 적합 또는 부적합을 판정할 수 있도록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단위 및 통합 테스트에 대한 체계적인 테스트 방안을 제시해야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검사 및 테스트 수행방법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절차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점검사항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최종 검수 기준 등을 세부적으로 기술하여야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본 사업기간 동안 각각의 테스트 실시 후 테스트 결과를 기록하고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 결과를 모니터링하여 결함 발견 시 결함이 해소될 때까지 테스트를 지속적으로 실시해야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 때 테스트 결과에 대한 이력을 관리해야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발생 가능한 상황에 대해서 시나리오를 작성하여 업무에 적합한 테스트 데이터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오류 데이터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입력하여 체계적이고 효율적으로 실시해야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단위테스트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통합테스트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성능 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승인 테스트에 대한 내용이 각각 포함되어야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테스트는 구현된 시스템이 정해진 요건에 적합한지의 여부를       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평가하기 위해 실제 운용과 같은 환경에서 시스템 전체에 대해서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행하는 시험으로 시스템 성능과 관련된 고객의 요구 사항이 완벽하게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수행되는지를 평가하는 시험임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스트레스 시험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주관기관과 협의 후 통합테스트 또는 성능 시험으로 대체할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본 사업에 적합한 테스트 관리 및 수행 지원 도구 활용 방안 제시해야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통합테스트는 반드시 단위 테스트와 별도의 공정으로 수행함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주관기관에서 보유하고 있거나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본 사업에서 제안된 테스트 지원 도구 이외에 추가로 필요한 도구는 제안사에서 지원해야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오픈소스 제외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전자정부 프레임워크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안드로이드 등 각 프로젝트 세부 모듈별로 개발 환경에 맞는 적절한 테스트 프레임워크를 구축해야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5.3.6 </a:t>
            </a:r>
            <a:r>
              <a:rPr kumimoji="1" lang="ko-KR" altLang="en-US" kern="0" dirty="0">
                <a:solidFill>
                  <a:prstClr val="black"/>
                </a:solidFill>
              </a:rPr>
              <a:t>테스트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8262296"/>
              </p:ext>
            </p:extLst>
          </p:nvPr>
        </p:nvGraphicFramePr>
        <p:xfrm>
          <a:off x="350833" y="1016733"/>
          <a:ext cx="9180001" cy="398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836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TER-002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장애 대응을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위한 절차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장애 대응을 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오류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응용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 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복구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장애 대책 확보 등 신뢰성 있는 서비스 환경을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테스트 결함 발생률 및 조치율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 기간 동안 발견된 결함 수와 결함의 지속 시간을 측정하여야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 기간 동안 발견된 결함에 대한 조치율은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100%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제안사의 불가항력으로 인한 미조치 사항은 주관기관의 승인을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득해야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결함에 대한 조치로 인하여 계획된 일정에 영향을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주어서는 안 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3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TER-003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개발환경 구축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-180975" algn="ctr" defTabSz="914400" rtl="0" eaLnBrk="0" fontAlgn="ctr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개발환경 구축을 위한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개발을 위한 개발환경을 구축하는데 필요한 인프라를 제안하여 무상으로 구축하여야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(HW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형상관리 및 개발환경에 대한 구축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 방안 제시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사업자가 무상으로 개발환경을 구축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운영하는 기간은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주관기관이 개발환경을 도입하기 전까지임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개발환경 구축 관련 구체적인 사항은 주관기관과 협의하여 진행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개발환경 구축에 따른 개발시스템 보안정책을 제시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수행하고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 취약점 진단을 실시하여야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613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972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SER-001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보안지침 및 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가이드라인 준수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　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개인정보보호 정책 및 국가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정보원 정보보안 관리실태 평가지표 준수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행정안전부에서 제공하는 “웹 응용프로그램 개발 보안 가이드” 및 행정안전부 소프트웨어 개발보안가이드를 준수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국가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공공기관 발주 용역사업 보안관리요령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국가정보원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준수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정보시스템 구축 시스템 및 개발영역의 어플리케이션에 대해 단계별로 정보보호가이드라인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한국인터넷진흥원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 준수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36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SER-002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참여인원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 보안관리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+mn-lt"/>
                        </a:rPr>
                        <a:t>필수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참여인원 보안관리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용역사업 참여인원 중 지정하여 발주기관의 승인을 받아야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용역사업 참여인원은 보안서약서에 자필서명 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발주기관에 제출하여야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용역사업 참여인원은 업체 임의로 교체할 수 없으며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신상변동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해외여행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사항 발생 즉시 보고하여야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참여인원에 대하여 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 정보보안교육을 수행하고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교육결과에 대하여 발주기관의 확인을 받아야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 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용역사업 자체 또는 투입되는 자료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장비 등에 대한 대외보안이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필요한 경우 보안의 범위 및 책임을 명확히 하기  위해  사업수행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계약서와 별도로 비밀유지계약서를 제출하도록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비밀유지계약서에는 비밀정보의 범위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보안준수 상항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위반 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손해배상 책임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지적재산권 문제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자료의 반환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 “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기밀보안대책준수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서약서” 등이 포함되도록 명시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용역사업 참여인원은 계약업체 임의로 교체할 수 없도록 명시하고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신상변동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해외여행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사항 발생 시  국민체육진흥공단에 즉시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보고 조치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4)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계약업체가 사업에 대한 하도급 계약을 체결할 경우 本 사업계약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수준의 비밀유지 조항을 포함하여 조치하도록  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 착수 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계약업체 대표자에 대해서 대표자용 보안서약서와 친필서명이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들어간 개발자용 보안서약서를 제출하도록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계약업체는 용역사업 수행 전 참여인원에 대해 법률 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한국과학기술원 정보보안지침에 의한 비밀유지의무  준수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위반 시 처벌내용 등에 대한 보안교육을 실시하여야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49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참여인원 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보안관리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참여인원 보안관리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 수행 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계약업체에서는 상주인력 중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(PM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사업 수행기간 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총괄자로 지정하여 국민체육진흥공단의 보안 관리에 적극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협조하도록 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계약업체는 보안인식 강화를 위해 국민체육진흥공단이 요구하는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보안교육에 의무 참석하여야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사업수행 인원은 임의로 교체할 수 없으며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부득이한 사유로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교체하여야 하는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해외여행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발생 시  정보보안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담당관에게 즉시 보고하여야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4)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사업수행 시 반입되는 모든 시스템은 시건장치로 시건하고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key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발주기관 사업담당 직원이 관리함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용역사업 참여인원은 업체 임의로 교체할 수 없으며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신상변동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해외여행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사항 발생 즉시 보고하여야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용역 수행 업체는 본 사업 수행 중 취득한 지식에 대하여 과업 수행 중은 물론 사업이 완료된 후에도 보안 요구사항을 준수하여야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232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정보누출금지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정보누출금지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 수행과정에서 취득한 자료와 정보에 관하여 사업수행 중은 물론 사업완료 후에도 이를 외부에 유출해서는  안 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사업종료 시 에는 완전 폐기 또는 반납해야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사업자는 사업 수행에 사용되는 문서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장비 등에 대하여 물리적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기술적 보안대책 및 ‘누출금지 대상정보’에 대한 보안관리 계획을 사업제안서에 기재하여야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해당 정보 누출 시 발주기관은 국가계약법 시행령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76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조에 따라 사업자를 부정당업체로  등록함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국가를 당사자로 하는 계약에 관한 법률시행령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76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항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18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호에 해당되는 정보를 절대 누출하지 않을 것이며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누출 시 동법 시행규칙의 누출 금지 대상정보 및 정보 누출 시 부정당업자 제재조치 등에 대한 교육 병행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(3/9)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SER-003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정보누출금지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　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정보누출금지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〈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누출금지 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〉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①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기관 소유 정보시스템의 내ㆍ외부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IP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주소 현황 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② 세부 정보시스템 구성현황 및 정보통신망구성도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③ 사용자계정 및 패스워드 등 정보시스템 접근권한 정보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④ 정보통신망 취약점 분석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평가 결과물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⑤ 용역사업 결과물 및 프로그램 소스코드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⑥ 국가용 보안시스템 및 정보보호시스템 도입현황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⑦ 침입차단시스템ㆍ방지시스템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(IPS)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정보보호제품 및 라우터ㆍ스위치 등 네트워크장비 설정 정보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⑧ ‘공공기관의 정보공개에 관한 법률’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9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항에 따라 비공개대상정보로 분류된 기관의 내부문서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⑨ ‘개인정보 보호법’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호의 개인정보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⑩ ‘보안업무규정’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4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조의 비밀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동 시행규칙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항의 대외비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⑪ 그 밖의 발주자가 공개가 불가하다고 판단한 자료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사업자는 발주기관의 보안정책을 준수하여야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이를 위반하였을 경우 위규처리기준에 따라 관련자에 대하여 조치하고 보안위약금 부과기준에 따라 손해배상 책임을 짐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로그이력관리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시스템은 어플리케이션과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WAS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DB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레벨에서 로그가 남을 수 있도록 함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모든 사용자의 서비스 접근 및 데이터  변경 이력을 로그로 관리하여야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로그는 최소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개월 이상 백업을 유지해야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데이터의 손실 및 위변조 발생 시 데이터 복구를 신속하게 수행할 수 있는 체계를 제공해야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로그는 비인가된 자에 의해 수정될 수 없도록 구축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(4/9)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자료 보안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　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자료 보안 관리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사업수행으로 생산되는 산출물 및 기록은 인가하지 않은 자에게 제공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열람을 금지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사업관련 자료 및 사업과정에서 생산된 산출물은 지정한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반드시 인터넷과 분리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저장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계정관리 및 계정별 접근권한 부여 등을 통하여 접근을 제한하여야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제안요청서 등에 명시한 누출금지 대상정보를 사용할 경우 자료관리 대장을 작성하여 인계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인수자가 직접 서명한 후 사용하고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  완료 시 관련 자료는 반드시 반납하여야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비밀문서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대외비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매일 퇴근 시 반납하여야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비밀문서를 제외한 일반문서는 제공된 사무실에 시건장치가 된 보관함이 있을 경우 보관함에 보관할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사업관련 자료는 인터넷 웹하드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․P2P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인터넷 자료공유사이트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개인메일함 저장을 금지하고 발주기관과 사업수행업체간 자료전송이 필요한 경우는 국민체육진흥공단 전자우편을 이용하여 송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수신하고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메일을 확인하는 즉시 삭제 하여야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업체메일 사용금지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대외비 이상의 비밀은 전자우편으로 송수신 금지 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사업완료 후 생산된 최종 산출물은 인수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인계서를 통하여 발주기관에 반납하고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PC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완전삭제 등 보안조치를 통해 사업관련 산출물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중간산출물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모두 삭제하여야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대표자 명의 확약서를 발주기관에 제출하여야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확약서 제출 시 산출물 인수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인계서와 자료삭제기록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날짜가 포함된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증빙사진 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제출하여야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사용자인증정보 보안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인증정보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패스워드 등 보안이 요구되는 정보를 소스코드에 직접 하드코딩 하지 않아야 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클라이언트 스크립트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(Client side script, JavaScript, VB script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보안상 취약한 비즈니스 로직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데이터를 취급하지 않아야 함 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(5/9)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사무실 및 장비에 대한 보안관리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사무실 및 장비에 대한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보안 관리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사업을 수행하는 장소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이하 작업 장소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CCTV·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시건장치 등 비인가자 출입통제대책이 마련된 사무실을 사용하여야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작업 장소에 대하여 일일보안점검 및 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 보안점검을 실시하여야 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발주기관의 확인을 받아야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작업 장소에서 사용하는 모든 정보시스템에 대하여 정보시스템 관리대장을 작성하고 변경사항에 대해 현행화하여야 한함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작업장소의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대하여 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 국민체육진흥공단에서 제공하는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보안관리 프로그램을 설치하여 보안취약 여부를 확인하고 미흡사항에 대해 즉시 개선조치 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작업장소의 정보시스템에 바이러스 백신 정품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S/W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설치하고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자동 업데이트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실시간 점검을 수행하는 지 수시로  점검하여야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 참여인원의 비인가 휴대용 저장매체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(USB, CD/DVD,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스마트폰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태블릿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PC, MP3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 작업장소 내 정보시스템에 연결되는 것을 금지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CD-RW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등의 보조기억매체는 발주기관과의 상호 협의하여 제한된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PC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에서만 사용하여야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정보시스템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휴대용 저장매체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외부에 반출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입하는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반입 시에는 악성코드 감염여부를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반출 시에는 자료무단 반출여부를 확인하고 정보시스템 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출입 대장에 기록하여야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 종료 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보조기억매체 등 저장장치는 발주기관 사업담당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직원 책임 하에 완전 삭제 후 반출하여야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 참여인원의 노트북 반출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입을 금지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불가피하게 노트북을 반입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반출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하는 경우에는 사전에 정보보안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담당관의 승인을 받아야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(6/9)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425442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접근보안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접근보안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사업장은 업무 망과 인터넷망을 분리하고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PC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업무 망과 인터넷망을 혼용해서는 안 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인터넷은 국가정보통신망을 사용하여야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발주기관 내부망에 대한 접속은 반드시 발주기관의 승인을 득한 후 사용하여야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사업장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는 인터넷 연결을 금지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불가피하게 인터넷 사용이 필요한 경우는 정보보안담당관의 보안책임관이 접속이 필요한 사이트 목록을 작성하여 발주기관의 승인을 득한 후 사용하여야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P2P,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웹하드 등 인터넷 자료공유사이트로의 접속은 허용이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불가하며 기술적으로 차단하여야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사업 참여인원이 발주기관의 정보시스템에 접근하는 경우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계정은 하나의 그룹으로 등록하고 계정별로 접근권한을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차등 부여하되 기관 내부문서의 접근을 금지하여야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계정별로 부여된 접근 권한은 불 필요 시 즉시 권한을 해지하거나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계정을 폐기하여야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계정별 패스워드는 보안정책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영문자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특수문자 등을 혼합하여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  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9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자리 이상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부합되어야 하며 보안책임자가  별도로 기록 관리하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여 변경이력을 수시로 확인하여야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원격작업은 금지하나 부득이한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보안대책마련 후 정보보안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담당관의 승인을 득하여 한시적으로 사용함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(7/9)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하도급 보안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하도급 보안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하도급 보안사항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용역사업 주 계약업체가 하도급 계약 체결 시 즉시 사업발주자에게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관련사항을 통보하여야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 계약업체는 제안요청서에 명시된 보안준수사항 전반을 하도급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업체와 계약 시에 반드시 적용하여 명시해야 하며 주기적으로 이행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여부를 점검하고 감독해야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외부에서 원격접속을 통해 작업이나 유지보수 수행을 금지하고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부득이한 경우에는 정보보안담당관의 승인 후에  한시적으로 허용할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 있음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정보시스템 설계 및 코딩 등 개발 완료 시에 보안취약점 점검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확인 후 서비스를 시행해야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관리자 계정 제공 금지 및 사업 종료 시 사용자 계정 및 접근권한을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삭제조치 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접근기록은 정보보안사고시 확인 등을 위해 최소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개월 이상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보관해야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주 계약업체가 하도급 업체에 대한 보안관리 소홀로 인해 발생한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보안사고에 대해서는 연대 책임을 져야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(8/9)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844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취약점 점검수행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취약점 점검수행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계약업체는 구축대상 시스템 및 개발영역의 어플리케이션에 대해 정보화진흥원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(NIA)『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정보시스템 구축 단계별 정보 보호 가이드라인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』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준수하여야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정보시스템에 대하여 정보보호전문회사 또는 정보보호전문가 참여한 취약점 점검과 필요 시에는 모의해킹을 실시해야 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정보보호 전문가 자격은 정보보호 관련학과에서 석사 이상 학위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년  이상 정보보안업무 경력 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CISSP, CISA, SIS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등 국내외 정보보호 공인자격증을 취득한 사람이어야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취약점 점검 보고서는 다음과 같은 항목이 포함되어야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 대상 시스템 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 계획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방법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도구 정보 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 인원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점검영역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정보시스템 내부 취약점 점검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서버 보안관리 점검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서비스 취약점 점검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공개서버 보안관리  점검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점검 결과 요약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시스템의 취약점 및 위험성 상세정보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모의해킹 결과보고서 또는 취약점 조치 및 결과보고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사업종료 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정보보안담당관에게 제출하여 검토 완료 후 이상이 없을 때 사업이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종료 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72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SER-009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응용시스템 보안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응용시스템 보안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웹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내부 응용시스템 등 응용 서비스를 제공하는 시스템 및 서비스에 대한 보안대책 마련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공공기관의 개인정보보호에 관한 법률 및 지침에 의거 시스템 설계 및 개발 시 주민번호 암호화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열람로그 기록 등  개인정보보호 기능을 반드시 포함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52000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SER-010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데이터 보안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데이터 보안 요구사항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서비스 시 네트워크를 통한 데이터 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변조 방지를 위한 보안대책 마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개인정보 유출을 방지하기 위하여 데이터베이스의 주요 개인정보를 암호화하여 관리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주요 전자문서 송수신 시 전자문서의 안전성을 보장하기 위하여  암호화 방안 및 보관을 위한 보호방안 마련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업무별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데이터별 중요도에 따른 접근권한의 차등 부여방안 마련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5.3.7 </a:t>
            </a:r>
            <a:r>
              <a:rPr kumimoji="1" lang="ko-KR" altLang="en-US" kern="0" dirty="0">
                <a:solidFill>
                  <a:prstClr val="black"/>
                </a:solidFill>
              </a:rPr>
              <a:t>보안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(9/9)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641766"/>
              </p:ext>
            </p:extLst>
          </p:nvPr>
        </p:nvGraphicFramePr>
        <p:xfrm>
          <a:off x="350833" y="1016733"/>
          <a:ext cx="9180001" cy="26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230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SER-011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개인정보보호 및 보안대책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개인정보 처리 및 암호화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회원가입이 필요할 경우에는 주민번호를 대체할 수 있는 수단으로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가입 및 관리 되도록 설계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구현 되어야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가상식별코드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공공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I-PIN,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핸드폰 인증 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활용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개인정보를 보유할 경우에는 관련 개인정보를 암호화하여야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서비스의 보안성 강화를 위하여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SSL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 통신을 실시하여야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○ 공단의 암호화 대상을 식별하고 암호화 도구를 활용하여 암복호화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방안을 마련해야 함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고유식별정보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주민번호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여권번호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운전면허정보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인증정보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신용 및 금융정보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신용카드번호</a:t>
                      </a:r>
                    </a:p>
                    <a:p>
                      <a:pPr marL="174625" indent="-174625" algn="l" defTabSz="914400" rtl="0" eaLnBrk="1" fontAlgn="ctr" latinLnBrk="1" hangingPunct="1"/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xmlns="" id="{9CBDB24F-F054-4817-930E-D94BC70F2EE4}"/>
              </a:ext>
            </a:extLst>
          </p:cNvPr>
          <p:cNvSpPr/>
          <p:nvPr/>
        </p:nvSpPr>
        <p:spPr>
          <a:xfrm>
            <a:off x="4304928" y="-1179512"/>
            <a:ext cx="1440160" cy="720080"/>
          </a:xfrm>
          <a:prstGeom prst="rect">
            <a:avLst/>
          </a:prstGeom>
          <a:solidFill>
            <a:srgbClr val="FFC0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5.3.8 </a:t>
            </a:r>
            <a:r>
              <a:rPr kumimoji="1" lang="ko-KR" altLang="en-US" kern="0" dirty="0">
                <a:solidFill>
                  <a:prstClr val="black"/>
                </a:solidFill>
              </a:rPr>
              <a:t>품질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11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가용성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성능관리 및 가용성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365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 무중단 운영 서비스를 제공하여야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서버 장애 발생 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 이내에 대체 서버로 전환할 수 있는 체계를 제공하여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설정 및 소스 코드는 별도 보관되어 응급상황에 신속하게 재설치 될 수 있어야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오류가 발생한 실시간으로 처리 시 관리자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에게 관련 메시지를 공지하는 기능 포함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15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기능 구현의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정확성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기능 구현의 정확성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시스템은 제시한 요구사항을 모두 제공하여야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초기 협의한 요구 사항에서 변경관리 절차를 통해 승인을 획득한 요구사항이 최종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Baseline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제시한 요구사항이 제공되는지 여부는 각 기능 요구사항의 검증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활동을 통해 예상된 결과가 도출된 경우에 요구사항을 제공한 것으로 평가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기능 구현 정확성은 사용자가 직접 테스트를 수행함으로써 평가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구축 서비스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상호 운영성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구축 서비스 상호 운영성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인터페이스 및 어플리케이션과 정보간의 상호작용을 하는 요구사항은 기능 구현의 정확성을 검증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정보의 무결성 및 데이터 정합성을 검증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7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구축 서비스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이해 용이성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구축 서비스 이해 용이성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사용자 및 관리자가 시스템을 쉽고 편하게 사용할 수 있도록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인터페이스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]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다음과 같은 정보가 제공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기능 이해도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시스템에서 제공하는 모든 기능에 대해 사용자 매뉴얼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에서 정보를 제공해야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인터페이스 이해도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시스템에서 제공하는 인터페이스 기능과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방법을 관리자 매뉴얼에 포함해야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18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소스코드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소스코드 관리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모든 소스코드는 형상관리 도구를 이용하여 소스코드 관리 서버에서 버전별로 관리되어야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서비스를 제공하기 위한 모든 소스코드는 형상관리 서버를 개발서버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소스코드관리서버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최신형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PC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급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관련 부품포함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설치하여 버전별로 관리되어야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형상관리 도구는 오픈 소스 관리도구나 별도의 상용 형상 관리 도구를 국민체육진흥공단과 협의하여 선정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이용할 수 있으며 관련 비용은 사업자가 부담함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5.3.8 </a:t>
            </a:r>
            <a:r>
              <a:rPr kumimoji="1" lang="ko-KR" altLang="en-US" kern="0" dirty="0">
                <a:solidFill>
                  <a:prstClr val="black"/>
                </a:solidFill>
              </a:rPr>
              <a:t>품질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4673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품질보증 방안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품질보증 요구사항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품질보증방안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본 사업의 품질보증을 위한 조직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절차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내용 등을 제시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본 사업 추진 시 예상되는 위험요소 도출 및 관리방법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의사소통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세부 업무수행에 대한 제반 품질보증방안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웹 호환성 준수지침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웹 호환성 확보를 위한 전자정부 웹 호환성 준수지침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고시 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2009-185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따름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개인정보보호법에 의한 개인정보보호 지침 준수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0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전자정부서비스 호환성 준수지침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행안부고시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준수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빠른 기능 찾기를 위한 내비게이션 기능을 제공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웹 접근성 향상을 위한 국가표준 기술 가이드라인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한국정보문화진흥원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적용하여야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장애인∙고령자 및 저사양 컴퓨터를 사용을 고려하기 위한 행정안전부 고시를 준용함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한국어를 필수적으로 지원하여야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영어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중국어 등 다국어를 추가 지원하기에 용이한 시스템 아키텍처를 채택하여야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도움말은 사용자 화면상에서 즉시 접속하여 사용법을 인지할 수 있어야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8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QUR-008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이식성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이식성 확보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구축된 서비스의 서버운영환경은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Linux, Unix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운영체제 모두에 이식될 수 있어야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구축된 서비스는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H/W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독립적으로 기종에 관계없는 상호호환성을 가지도록 구축되어야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구축된 서비스는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WAS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독립적으로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J2SE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이상 규격을 만족하는 제품에 대한 상호호환성을 가지도록 구축되어야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5.3.9 </a:t>
            </a:r>
            <a:r>
              <a:rPr kumimoji="1" lang="ko-KR" altLang="en-US" kern="0" dirty="0">
                <a:solidFill>
                  <a:prstClr val="black"/>
                </a:solidFill>
              </a:rPr>
              <a:t>제약사항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COR-001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운영환경 및 조건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운영환경 및 조건 정의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운영 시스템은 국민체육진흥공단의 시스템을 기준으로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추가개발이 필요할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공단의 승인을 획득하여 개발해야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24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시간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365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 상시 운영이 가능해야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발생 가능한 장애 요소들을 유형별로 구분하여 제시하고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각 유형별로 대처 방안을 제시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0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COR-002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운영 및 안정화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운영 및 안정화 기준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시스템은 운영 및 유지관리 효율성을 높이기 위해 프레임워크 및 개방형 표준 기술을 적용하여야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개방형 표준 기술이 아닌 경우 그 사유를 입증하고 국민체육진흥공단의 승인을 득한 후 적용할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인수테스트 및 베타테스트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감마테스트 등 운영환경의 테스트 및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QA(Quality Assurance)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충분히 수행하여 서비스 오픈시점부터 안정화되어야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시스템 서비스 오픈 이후 안정적인 서비스 운영 방안 제시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COR-003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 제약사항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개발 방법론 적용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개발 시스템은 개발 방법론을 적용하여야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개발 시스템은 개발 방법론의 절차 및 프로세스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산출물을 따라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수행되어야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사업규모와 기간을 고려하여 국민체육진흥공단과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협의하여 산출물을 조정 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필요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시스템은 이전 시스템에서 사용하던 데이터를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신규 시스템에서도 동일하게 사용하기 위하여 데이터 마이그레이션을 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5.3.9 </a:t>
            </a:r>
            <a:r>
              <a:rPr kumimoji="1" lang="ko-KR" altLang="en-US" kern="0" dirty="0">
                <a:solidFill>
                  <a:prstClr val="black"/>
                </a:solidFill>
              </a:rPr>
              <a:t>제약사항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(2/2)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285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496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COR-004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표준 및 법적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제약사항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표준 및 법적 제약사항 정의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개인 정보 보호를 위하여 개인정보보호법을 준수해야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전자정부 서비스 호환성 준수지침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 고시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2012-44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정보시스템의 구축 운영기술 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 고시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2012-25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공공기관의 데이터베이스 품질관리 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 고시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2011-25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전자정부 웹 표준 준수 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2008-10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호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한국형 웹 콘텐츠 접근성 지침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(KWCAG 2.0)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전 과정은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시큐어 코딩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시스템은 전자정부 표준 프레임워크 적용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웹 어플리케이션 개발 보안가이드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2010 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전자정부웹서비스 취약점 대응지침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공공기관 개인정보보호 기본지침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소프트웨어 개발보안 가이드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홈페이지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웹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개발보안 가이드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행정안전부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2012.11)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관련 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지침이 갱신되었을 경우에는 최근의 법과 지침에 따름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5.3.10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관리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177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07632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프로젝트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관리 방법론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적용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r>
                        <a:rPr lang="ko-KR" altLang="en-US" sz="1000" b="0" i="0" u="none" strike="noStrike" dirty="0">
                          <a:solidFill>
                            <a:srgbClr val="FF0000"/>
                          </a:solidFill>
                          <a:latin typeface="맑은 고딕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프로젝트 관리 방법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위험관리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품질관리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일정관리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자원관리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형상관리 등 프로젝트 관리 방법론을 통한 체계적인 사업 관리 방안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개발의 완성도를 높이기 위해서 프로젝트 착수에서 종료까지 체계적으로  프로젝트를 관리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관리도구 이용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단계별로 진행 상황을 보고하고 프로젝트 관련 산출물을 제출하여야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92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보고관리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정기 및 비정기 보고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월간 보고는 수행 시 주관기관과 일정 협의에 의하여 변경 가능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원활한 과업추진을 위해 필요 시 비정기적인 보고를 요청할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어플리케이션 유지관리 및 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보수를 위하여 상용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S/W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를 제외한 소스코드를 제공하여야 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 시 형상 관리서버에 등록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프로젝트 착수시점에 주석에 대한 규정 등을 포함한 코딩 가이드를 수립하고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해당 가이드를 준수한 소스코드를 작성하여 제공하여야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/>
        </p:nvGraphicFramePr>
        <p:xfrm>
          <a:off x="5406820" y="2979374"/>
          <a:ext cx="4032448" cy="2667000"/>
        </p:xfrm>
        <a:graphic>
          <a:graphicData uri="http://schemas.openxmlformats.org/drawingml/2006/table">
            <a:tbl>
              <a:tblPr/>
              <a:tblGrid>
                <a:gridCol w="4773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473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0037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구분</a:t>
                      </a:r>
                      <a:endParaRPr lang="ko-KR" altLang="en-US" sz="1000" b="1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보고명</a:t>
                      </a:r>
                      <a:endParaRPr lang="ko-KR" altLang="en-US" sz="1000" b="1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보고내용</a:t>
                      </a:r>
                      <a:endParaRPr lang="ko-KR" altLang="en-US" sz="1000" b="1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5E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시 기</a:t>
                      </a:r>
                      <a:endParaRPr lang="ko-KR" altLang="en-US" sz="1000" b="1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E5E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7103">
                <a:tc row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정기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주간보고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진도관리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(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계획대비 실적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)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문제점 보고 및 특이사항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차주계획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매주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목요일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145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월간보고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진도관리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(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계획대비 실적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)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문제점 보고 및 특이사항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진척률 및 다음달 계획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각 공정단계별 주관기관 승인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익월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5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37103">
                <a:tc rowSpan="4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비정기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착수보고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착수계 및 사업수행계획 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·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제안서 인쇄본 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2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 포함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·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비밀유지계약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,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서약서 등 포함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착수 후 </a:t>
                      </a: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10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이내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59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중간보고 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개발상황 및 현안 보고 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사업진척률</a:t>
                      </a:r>
                      <a:endParaRPr lang="en-US" altLang="ko-KR" sz="900" kern="0" spc="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50%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진행 시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59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개발완료 보고 및 관련 산출물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·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보안 확약서 등 포함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시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596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수시보고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이슈사항 및 문제점 협의 등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긴급변경 및 서면 요구사항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수시</a:t>
                      </a:r>
                      <a:endParaRPr lang="ko-KR" altLang="en-US" sz="900" kern="0" spc="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7780" marR="17780" marT="17780" marB="1778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5.3.10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관리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956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프로젝트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일정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프로젝트 일정관리 요건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주관기관이 제시한 추진 일정을 참고하여 최적의 시스템이 구축될 수     있도록 추진 일정계획을 전체일정과 세부일정으로 구분하여 상세하게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일정계획 수립 시에는 지연가능 요소를 미리 파악ㆍ분석하여 일정 내에 사업 수행이 가능하도록 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7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리스크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프로젝트 위험관리 요건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일정지연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품질저하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장비 변경에 따르는 예산초과 등 리스크 발생을 사전 예방하고 발생 시 사후 대처방안을 제시하여야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성능상 문제 등으로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H/W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또는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S/W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가 변경되는 경우에 대한 사후 대응방안을 구체적으로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프로젝트 추진과정에서 요구되는 진척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위험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변경사항의 관리방안 및 지속적으로 문제를 파악 관리할 수 있는 방안 제시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데이터 통합 및 이행 시 누락데이터 방지계획을 기술적으로 제시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7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산출물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산출물 관리 기본 요건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과업 수행 중 발생된 모든 관련 자료는 일목요연하게 정리하여 보고서와 함께 제출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기본 산출물 목록 및 제출시기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예시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5385048" y="3756382"/>
          <a:ext cx="4047368" cy="2278640"/>
        </p:xfrm>
        <a:graphic>
          <a:graphicData uri="http://schemas.openxmlformats.org/drawingml/2006/table">
            <a:tbl>
              <a:tblPr/>
              <a:tblGrid>
                <a:gridCol w="16719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694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0593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산출물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제출부수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제출시기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착수계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계약체결 후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10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요구사항 분석서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시스템설계서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프로그램명세서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시스템 시험계획서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시험결과보고서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3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교육훈련계획서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교육일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14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전 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교육자료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교육일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3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전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교육이행결과서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1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운영자 및 사용자지침서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3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중간보고서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3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중간보고 후 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7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일 이내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197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완료보고서 및 전체산출물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5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(</a:t>
                      </a:r>
                      <a:r>
                        <a:rPr 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CD3</a:t>
                      </a: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부</a:t>
                      </a:r>
                      <a:r>
                        <a:rPr lang="en-US" altLang="ko-KR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)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검수 요청 시</a:t>
                      </a:r>
                      <a:endParaRPr lang="ko-KR" altLang="en-US" sz="10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5.3.10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관리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47356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81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PMR-005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산출물 관리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산출물 관리 기본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사업수행계획서 작성 시에는 투입인력 업무분장 및 세부공정표 포함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기타 사업 수행 중 필요에 따라 발생하는 산출물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분석서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보고서 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은 추가로 정의 하여 제출함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모든 활동에 대한 업무 상세정의와 일정계획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수행방안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기밀 보장방안 등 상세 계획을 제공하여야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과업수행 중 사업수행자의 귀책사유로 발생한 모든 손해에 대해서는 손해발생 시점 즉시 주관기관에게 배상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81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하도급 관리방안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하도급 관리방안 제시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제안사 소속 이외의 인력은 하도급으로 간주하며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하도급 계약 시 관계 법률에 의하여 사전 승인을 받아야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제안사는 하도급 계약의 준수실태를 ‘하도급 준수실태 보고서’에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의하여 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하반기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회 보고하여야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하도급 업체 투입 인력에 대한 관리방안을 제시하여야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행정기관 및 공공기관 정보시스템 구축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․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운영지침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조에 따라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하도급 대금지급 기준을 준수하여야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56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PMR-007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사업정보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제출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latin typeface="맑은 고딕"/>
                        </a:rPr>
                        <a:t>필수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SW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사업정보 제출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제안사는 「소프트웨어산업진흥법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조」에 따라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 수행 및 실적정보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데이터를 작성 및 제출하여야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사업정보 데이터 작성 및 제출에 관한 사항은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www.spir.kr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자료실의 ‘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사업정보 저장소 데이터 제출 안내’ 문서를 참조토록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사업정보 데이터는 사업수행계획서 작성 시 단계별 산출물 리스트에  명시하도록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사업정보 중 기능점수 데이터의 작성을 위해 사업수행 인원 중 기능점수 산정 가능 전문가를 포함토록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5.3.11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지원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(1/3)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98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PSR-001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유지보수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유지보수 지원방안 제시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하자보수기간은 최종 검수완료일로부터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12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개월로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하자보수의 보증은 보증서 또는 증권 등의 형태로 국민체육진흥공단에 납부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무상 하자보수 기간 중 단시간 장애복구 등을 위한 담당조직 및 인력구성 확보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○무상하자보수 기간 중 치명적 시스템 오류 발생시 개발인력상주 투입 및  지원 필요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2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PSR-002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교육지원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기술지원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관리자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사용자 교육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기술지원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교육 대상자별 교육 내용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향후 신규 시스템의 품질을 지속적으로 유지할 수 있는 수준의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관리자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운영자 기술교육 및 사용자 전문 교육을 실시해야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운영자 및 사용자에 대한 교육훈련 계획서를 상세하게 작성하고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국민체육진흥공단의 승인을 얻어 교육을 실시해야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교육계획서에는 교육 훈련에 대한 목적 및 내용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교육대상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방법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일정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장소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강사진 등 제반 사항에 대한 상세 사항이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포함되어야 하며 국민체육진흥공단과 협의하여 결정함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교육훈련 이행에 소요되는 제반 경비는 구축 비용에 포함함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5.3.11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지원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680483"/>
              </p:ext>
            </p:extLst>
          </p:nvPr>
        </p:nvGraphicFramePr>
        <p:xfrm>
          <a:off x="350833" y="1016733"/>
          <a:ext cx="9180001" cy="535613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38112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PSR-002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교육지원 및 기술지원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관리자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사용자 교육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기술지원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○경영정보시스템 구축 단계별 교육내용 요건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/>
        </p:nvGraphicFramePr>
        <p:xfrm>
          <a:off x="5406820" y="1733466"/>
          <a:ext cx="4026823" cy="4536504"/>
        </p:xfrm>
        <a:graphic>
          <a:graphicData uri="http://schemas.openxmlformats.org/drawingml/2006/table">
            <a:tbl>
              <a:tblPr/>
              <a:tblGrid>
                <a:gridCol w="54006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94670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236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단 계</a:t>
                      </a:r>
                      <a:endParaRPr lang="ko-KR" altLang="en-US" sz="9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4582" marR="14582" marT="14582" marB="14582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교육내용</a:t>
                      </a:r>
                      <a:endParaRPr lang="ko-KR" altLang="en-US" sz="9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4582" marR="14582" marT="14582" marB="14582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교육내용 요건</a:t>
                      </a:r>
                      <a:endParaRPr lang="ko-KR" altLang="en-US" sz="900" kern="0" spc="-50" dirty="0">
                        <a:solidFill>
                          <a:srgbClr val="000000"/>
                        </a:solidFill>
                        <a:latin typeface="바탕"/>
                      </a:endParaRPr>
                    </a:p>
                  </a:txBody>
                  <a:tcPr marL="14582" marR="14582" marT="14582" marB="14582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235469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프로젝트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준비단계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추진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방법론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Tool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프로젝트 수행을 위한 추진 방법론 및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Tool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교육대상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프로젝트 참가자 전체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Tool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 담당자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,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구축 컨설턴트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교육시기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프로젝트 준비 단계 및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Kick-off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교육목적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Tool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에 대한 이해 및 추진 방법론 교육을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통하여 향후 구축될 시스템에 대한 전반적인 이해와 전체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프로젝트 참가자 공동목표 이해 및 원활한 의사소통이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가능하게 함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8103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분석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/</a:t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설계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바탕"/>
                        </a:rPr>
                        <a:t/>
                      </a:r>
                      <a:b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바탕"/>
                        </a:rPr>
                      </a:b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구현단계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방법론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개발환경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개발방법론 및 개발환경 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교육대상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개발자 및 시스템 운영자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, DB Modeler, </a:t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분석 담당자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컨설턴트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,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개발팀장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교육시기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시스템의 설계 이전 단계 및 분석 단계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교육목적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 방법 및 환경에 대한 개념적 이해를 통해 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향후 확장성이 가능한 시스템 구현을 목적으로 함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08103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테스트 단계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사용자 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사용자 기능 테스트를 위한 어플리케이션 개요 및 오퍼레이션 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교육대상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현업 담당자 및 관리자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개발팀장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교육시기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사용자 기능 테스트 이전 단계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교육목적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사용자 기능 테스트 수행을 위한 기본적인 시스템 기능 및 오퍼레이션 절차를 전달함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2660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안정화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/</a:t>
                      </a:r>
                    </a:p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운영이관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ctr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운영지원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/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유지보수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시스템에 대한 운영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,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유지보수 교육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교육대상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운영자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운영 교육 담당자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,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파트 리더 및 교육전문가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교육시기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오픈 이전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  <a:p>
                      <a:pPr marL="0" marR="0" indent="0" algn="l" fontAlgn="base" latinLnBrk="0">
                        <a:lnSpc>
                          <a:spcPct val="11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-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교육목적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: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시스템 구축 이후 안정적인 시스템 운영을 할 수</a:t>
                      </a: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/>
                      </a:r>
                      <a:b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</a:br>
                      <a:r>
                        <a:rPr lang="en-US" altLang="ko-KR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   </a:t>
                      </a:r>
                      <a:r>
                        <a:rPr lang="ko-KR" altLang="en-US" sz="900" kern="0" spc="-50" dirty="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rPr>
                        <a:t>있도록 하기 위함</a:t>
                      </a:r>
                      <a:endParaRPr lang="ko-KR" altLang="en-US" sz="900" kern="0" spc="-50" dirty="0">
                        <a:solidFill>
                          <a:schemeClr val="tx1"/>
                        </a:solidFill>
                        <a:latin typeface="바탕"/>
                      </a:endParaRPr>
                    </a:p>
                  </a:txBody>
                  <a:tcPr marL="0" marR="0" marT="0" marB="0" anchor="ctr">
                    <a:lnL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556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159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en-US" altLang="ko-KR" kern="0" dirty="0">
                <a:solidFill>
                  <a:prstClr val="black"/>
                </a:solidFill>
              </a:rPr>
              <a:t>5.3.11 </a:t>
            </a:r>
            <a:r>
              <a:rPr kumimoji="1" lang="ko-KR" altLang="en-US" kern="0" dirty="0">
                <a:solidFill>
                  <a:prstClr val="black"/>
                </a:solidFill>
              </a:rPr>
              <a:t>프로젝트 지원 요구사항 </a:t>
            </a:r>
            <a:r>
              <a:rPr kumimoji="1" lang="en-US" altLang="ko-KR" kern="0" dirty="0">
                <a:solidFill>
                  <a:prstClr val="black"/>
                </a:solidFill>
              </a:rPr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ts val="288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 </a:t>
            </a:r>
            <a:r>
              <a:rPr lang="ko-KR" altLang="en-US" dirty="0"/>
              <a:t>요건기술서 정의</a:t>
            </a:r>
            <a:endParaRPr lang="en-US" altLang="ko-KR" dirty="0"/>
          </a:p>
          <a:p>
            <a:pPr>
              <a:spcBef>
                <a:spcPts val="288"/>
              </a:spcBef>
            </a:pPr>
            <a:r>
              <a:rPr lang="en-US" altLang="ko-KR" dirty="0"/>
              <a:t>5.3 </a:t>
            </a:r>
            <a:r>
              <a:rPr lang="ko-KR" altLang="en-US" dirty="0"/>
              <a:t>요건기술서 작성</a:t>
            </a:r>
            <a:endParaRPr lang="en-US" altLang="ko-KR" dirty="0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xmlns="" id="{A34D7E46-1E7F-42BF-AB17-DDE362FEF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1201688"/>
              </p:ext>
            </p:extLst>
          </p:nvPr>
        </p:nvGraphicFramePr>
        <p:xfrm>
          <a:off x="350833" y="1016733"/>
          <a:ext cx="9180001" cy="53214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6417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44527658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14270655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177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17410"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업무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ID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명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요구수준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세부 정의</a:t>
                      </a:r>
                      <a:endParaRPr kumimoji="0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  <a:cs typeface="Arial" charset="0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36625" rtl="0" eaLnBrk="0" fontAlgn="base" latinLnBrk="0" hangingPunct="0">
                        <a:lnSpc>
                          <a:spcPct val="11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ea"/>
                          <a:ea typeface="+mn-ea"/>
                          <a:cs typeface="Arial" charset="0"/>
                        </a:rPr>
                        <a:t>요구사항 내용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33C5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48526148"/>
                  </a:ext>
                </a:extLst>
              </a:tr>
              <a:tr h="1764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PSR-002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계속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algn="ctr" fontAlgn="ctr"/>
                      <a:endParaRPr 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교육지원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기술지원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관리자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사용자 교육 및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기술지원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기술지원 필요요건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기술이전 대상 목록과 이전 방안에 대한 계획을 제시해야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사업과 관련하여 적용한 기술과 해당 시스템의 사양과 운용에 대한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기술을 지원해야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구축 이후에도 관련 분야 정보 및 구축 시스템 관련 정보가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전달되도록 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시스템 구축에 적용한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SW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의 구성 및 운영과 향후 확장을 고려한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모델에 대해 제시하고 기술이전을 실시해야 함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별 시스템 매뉴얼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운영자 매뉴얼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사용자 교육교재를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제작하여 제시해야 함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240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PSR-003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산출물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지식재산권 소유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필수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시스템 산출물에 대한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/>
                      </a:r>
                      <a:b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</a:b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지식재산권 요건</a:t>
                      </a:r>
                    </a:p>
                  </a:txBody>
                  <a:tcPr marL="72000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본 용역사업과 관련한 계약목적물의 지식재산권은 주관기관과 사업자가 공동으로 소유하며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별도의 정함이 없는 한 지분은 균등한 것으로 함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다만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개발의 기여도 및 계약목적물의 특수성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보안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영업비밀 등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을 고려하여 계약당사자간의 협의를 통해 지식재산권 귀속주체 등에 대해 공동소유와 달리 정할 수 있음</a:t>
                      </a:r>
                      <a:b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※ &lt;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참고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: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공공저작물 자유이용 고려 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&gt;</a:t>
                      </a:r>
                      <a:b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</a:b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본 과업수행의 결과로 발생하는 모든 결과물의 지식재산권은 일반용역 계약특수조건 및 용역계약일반조건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계약예규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의한다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 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다만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그 결과물이 공공저작물로서 자유이용이 바람직하다고 판단되는 경우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계약예규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56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 단서에 따라 추후 협의를 통해「저작재산권 양도계약서」를 체결하여 공동소유와 달리 정할 수 있다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174625" indent="-174625" algn="l" defTabSz="914400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용역수행과 관련한 지식재산권의 상업적 활용의 경우 사업자는 주관기관과의 별도 협의를 통해 복제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배포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개작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전송 등의 사용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수익을 취할 수 있음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  <a:p>
                      <a:pPr marL="174625" indent="-174625" algn="l" defTabSz="914400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○ 조달청 지침 “일반용역계약특수조건”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14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조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특허권 또는 저작권의 침해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에 따라 본 용역의 수행에 있어 제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자의 특허권 또는 저작권을 침해하였다하여 손해배상 청구 소송이 제기되면 계약상대자는 배상 및 모든 책임을 진다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83838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5119222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/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개요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추진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비용 계획 수립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기대효과 분석</a:t>
            </a:r>
            <a:endParaRPr lang="en-US" altLang="ko-KR" dirty="0"/>
          </a:p>
          <a:p>
            <a:pPr>
              <a:lnSpc>
                <a:spcPct val="150000"/>
              </a:lnSpc>
              <a:buAutoNum type="arabicPeriod"/>
            </a:pPr>
            <a:r>
              <a:rPr lang="ko-KR" altLang="en-US" dirty="0">
                <a:solidFill>
                  <a:schemeClr val="bg1">
                    <a:lumMod val="65000"/>
                  </a:schemeClr>
                </a:solidFill>
              </a:rPr>
              <a:t>요건기술서 정의</a:t>
            </a:r>
            <a:endParaRPr lang="en-US" altLang="ko-KR" dirty="0">
              <a:solidFill>
                <a:schemeClr val="bg1">
                  <a:lumMod val="65000"/>
                </a:schemeClr>
              </a:solidFill>
            </a:endParaRPr>
          </a:p>
          <a:p>
            <a:pPr>
              <a:lnSpc>
                <a:spcPct val="150000"/>
              </a:lnSpc>
              <a:buFont typeface="+mj-lt"/>
              <a:buAutoNum type="arabicPeriod"/>
            </a:pPr>
            <a:r>
              <a:rPr lang="ko-KR" altLang="en-US" dirty="0"/>
              <a:t>변화관리 방안 수립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5.2 </a:t>
            </a:r>
            <a:r>
              <a:rPr lang="ko-KR" altLang="en-US" dirty="0"/>
              <a:t>변화관리 수립 방안</a:t>
            </a:r>
            <a:endParaRPr lang="en-US" altLang="ko-KR" dirty="0"/>
          </a:p>
        </p:txBody>
      </p:sp>
      <p:sp>
        <p:nvSpPr>
          <p:cNvPr id="6" name="TextBox 5"/>
          <p:cNvSpPr txBox="1"/>
          <p:nvPr/>
        </p:nvSpPr>
        <p:spPr>
          <a:xfrm>
            <a:off x="6677000" y="1675837"/>
            <a:ext cx="2484276" cy="2769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lvl="0" algn="ctr">
              <a:lnSpc>
                <a:spcPct val="150000"/>
              </a:lnSpc>
              <a:spcBef>
                <a:spcPct val="20000"/>
              </a:spcBef>
            </a:pPr>
            <a:r>
              <a:rPr lang="en-US" altLang="ko-KR" sz="2400" b="1" spc="-300" dirty="0">
                <a:solidFill>
                  <a:srgbClr val="00437A"/>
                </a:solidFill>
              </a:rPr>
              <a:t>Ⅴ. </a:t>
            </a:r>
            <a:r>
              <a:rPr lang="ko-KR" altLang="en-US" sz="2400" b="1" spc="-300" dirty="0">
                <a:solidFill>
                  <a:srgbClr val="00437A"/>
                </a:solidFill>
              </a:rPr>
              <a:t>이행계획 수립</a:t>
            </a:r>
            <a:endParaRPr lang="en-US" altLang="ko-KR" sz="2400" b="1" spc="-300" dirty="0">
              <a:solidFill>
                <a:srgbClr val="00437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47021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spc="-150" dirty="0">
                <a:latin typeface="+mn-ea"/>
                <a:ea typeface="+mn-ea"/>
              </a:rPr>
              <a:t>변화관리는 도출된 이행과제의 원활한 사업 수행을 지원하고</a:t>
            </a:r>
            <a:r>
              <a:rPr lang="en-US" altLang="ko-KR" sz="1600" spc="-150" dirty="0">
                <a:latin typeface="+mn-ea"/>
                <a:ea typeface="+mn-ea"/>
              </a:rPr>
              <a:t>, </a:t>
            </a:r>
            <a:r>
              <a:rPr lang="ko-KR" altLang="en-US" sz="1600" spc="-150" dirty="0">
                <a:latin typeface="+mn-ea"/>
                <a:ea typeface="+mn-ea"/>
              </a:rPr>
              <a:t>도입 후 정착 과정에서 발생하는 여러 변화 요인을 사전 파악하여 현업에서 개선모델이 효과적으로 구현될 수 있도록 지원하는 일련의 과정임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 </a:t>
            </a:r>
            <a:r>
              <a:rPr lang="ko-KR" altLang="en-US" dirty="0"/>
              <a:t>변화관리 방안 수립 </a:t>
            </a:r>
            <a:r>
              <a:rPr lang="en-US" altLang="ko-KR" dirty="0"/>
              <a:t>&gt; 6.1 </a:t>
            </a:r>
            <a:r>
              <a:rPr lang="ko-KR" altLang="en-US" dirty="0"/>
              <a:t>변화관리 개요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6.1.1 </a:t>
            </a:r>
            <a:r>
              <a:rPr lang="ko-KR" altLang="en-US" dirty="0"/>
              <a:t>변화관리의 필요성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344488" y="1524001"/>
            <a:ext cx="9180512" cy="478532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69" name="Oval 11"/>
          <p:cNvSpPr>
            <a:spLocks noChangeArrowheads="1"/>
          </p:cNvSpPr>
          <p:nvPr/>
        </p:nvSpPr>
        <p:spPr bwMode="auto">
          <a:xfrm>
            <a:off x="6104494" y="1584288"/>
            <a:ext cx="1240626" cy="1240626"/>
          </a:xfrm>
          <a:prstGeom prst="ellipse">
            <a:avLst/>
          </a:prstGeom>
          <a:solidFill>
            <a:srgbClr val="003058"/>
          </a:solidFill>
          <a:ln w="28575" algn="ctr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  <a:effectLst/>
          <a:extLst/>
        </p:spPr>
        <p:txBody>
          <a:bodyPr wrap="none" lIns="90000" tIns="46800" rIns="90000" bIns="46800" anchor="ctr"/>
          <a:lstStyle/>
          <a:p>
            <a:pPr marL="0" marR="0" lvl="0" indent="0" algn="ctr" defTabSz="914400" eaLnBrk="0" fontAlgn="base" latinLnBrk="0" hangingPunct="0"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>
                <a:solidFill>
                  <a:schemeClr val="bg1"/>
                </a:solidFill>
                <a:latin typeface="+mn-ea"/>
              </a:rPr>
              <a:t>사업의 </a:t>
            </a:r>
          </a:p>
          <a:p>
            <a:pPr marL="0" marR="0" lvl="0" indent="0" algn="ctr" defTabSz="914400" eaLnBrk="0" fontAlgn="base" latinLnBrk="0" hangingPunct="0"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>
                <a:solidFill>
                  <a:schemeClr val="bg1"/>
                </a:solidFill>
                <a:latin typeface="+mn-ea"/>
              </a:rPr>
              <a:t>성공적 수행</a:t>
            </a:r>
          </a:p>
        </p:txBody>
      </p:sp>
      <p:sp>
        <p:nvSpPr>
          <p:cNvPr id="70" name="Oval 14"/>
          <p:cNvSpPr>
            <a:spLocks noChangeArrowheads="1"/>
          </p:cNvSpPr>
          <p:nvPr/>
        </p:nvSpPr>
        <p:spPr bwMode="auto">
          <a:xfrm>
            <a:off x="7309807" y="2509637"/>
            <a:ext cx="1240626" cy="1240626"/>
          </a:xfrm>
          <a:prstGeom prst="ellipse">
            <a:avLst/>
          </a:prstGeom>
          <a:solidFill>
            <a:srgbClr val="003058"/>
          </a:solidFill>
          <a:ln w="28575" algn="ctr">
            <a:solidFill>
              <a:schemeClr val="tx1">
                <a:lumMod val="65000"/>
                <a:lumOff val="35000"/>
              </a:schemeClr>
            </a:solidFill>
            <a:round/>
            <a:headEnd/>
            <a:tailEnd/>
          </a:ln>
          <a:effectLst/>
          <a:extLst/>
        </p:spPr>
        <p:txBody>
          <a:bodyPr wrap="none" lIns="90000" tIns="46800" rIns="90000" bIns="46800" anchor="ctr"/>
          <a:lstStyle/>
          <a:p>
            <a:pPr marL="0" marR="0" lvl="0" indent="0" algn="ctr" defTabSz="914400" eaLnBrk="0" fontAlgn="base" latinLnBrk="0" hangingPunct="0"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사업정착 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/>
            </a:r>
            <a:br>
              <a:rPr lang="en-US" altLang="ko-KR" sz="1200" b="1" dirty="0">
                <a:solidFill>
                  <a:schemeClr val="bg1"/>
                </a:solidFill>
                <a:latin typeface="+mn-ea"/>
              </a:rPr>
            </a:b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및 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/>
            </a:r>
            <a:br>
              <a:rPr lang="en-US" altLang="ko-KR" sz="1200" b="1" dirty="0">
                <a:solidFill>
                  <a:schemeClr val="bg1"/>
                </a:solidFill>
                <a:latin typeface="+mn-ea"/>
              </a:rPr>
            </a:b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후속사업의 </a:t>
            </a:r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/>
            </a:r>
            <a:br>
              <a:rPr lang="en-US" altLang="ko-KR" sz="1200" b="1" dirty="0">
                <a:solidFill>
                  <a:schemeClr val="bg1"/>
                </a:solidFill>
                <a:latin typeface="+mn-ea"/>
              </a:rPr>
            </a:br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성공적 수행</a:t>
            </a:r>
          </a:p>
        </p:txBody>
      </p:sp>
      <p:sp>
        <p:nvSpPr>
          <p:cNvPr id="71" name="Rectangle 17"/>
          <p:cNvSpPr>
            <a:spLocks noChangeArrowheads="1"/>
          </p:cNvSpPr>
          <p:nvPr/>
        </p:nvSpPr>
        <p:spPr bwMode="auto">
          <a:xfrm>
            <a:off x="605236" y="4977975"/>
            <a:ext cx="3915539" cy="1143962"/>
          </a:xfrm>
          <a:prstGeom prst="rect">
            <a:avLst/>
          </a:prstGeom>
          <a:solidFill>
            <a:schemeClr val="accent3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lIns="90000" tIns="46800" rIns="90000" bIns="46800" anchor="ctr"/>
          <a:lstStyle/>
          <a:p>
            <a:pPr marL="171450" indent="-171450" latinLnBrk="1">
              <a:lnSpc>
                <a:spcPct val="110000"/>
              </a:lnSpc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ko-KR" altLang="en-US" sz="1000" dirty="0">
                <a:latin typeface="+mn-ea"/>
                <a:ea typeface="+mn-ea"/>
              </a:rPr>
              <a:t>주된 변화 유발 요인 사전 식별</a:t>
            </a:r>
          </a:p>
          <a:p>
            <a:pPr marL="171450" indent="-171450" latinLnBrk="1">
              <a:lnSpc>
                <a:spcPct val="110000"/>
              </a:lnSpc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ko-KR" altLang="en-US" sz="1000" dirty="0">
                <a:latin typeface="+mn-ea"/>
                <a:ea typeface="+mn-ea"/>
              </a:rPr>
              <a:t>사업 추진 시 발생할 수 있는 내부 부서간 갈등</a:t>
            </a:r>
          </a:p>
          <a:p>
            <a:pPr marL="171450" indent="-171450" latinLnBrk="1">
              <a:lnSpc>
                <a:spcPct val="110000"/>
              </a:lnSpc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ko-KR" altLang="en-US" sz="1000" dirty="0">
                <a:latin typeface="+mn-ea"/>
                <a:ea typeface="+mn-ea"/>
              </a:rPr>
              <a:t>유관기관과의 이해관계에 따른 갈등</a:t>
            </a:r>
          </a:p>
          <a:p>
            <a:pPr marL="171450" indent="-171450" latinLnBrk="1">
              <a:lnSpc>
                <a:spcPct val="110000"/>
              </a:lnSpc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ko-KR" altLang="en-US" sz="1000" dirty="0">
                <a:latin typeface="+mn-ea"/>
                <a:ea typeface="+mn-ea"/>
              </a:rPr>
              <a:t>사업 추진 후 정보화 시스템 변화에 따른 업무 지원 환경의 </a:t>
            </a:r>
            <a:r>
              <a:rPr lang="en-US" altLang="ko-KR" sz="1000" dirty="0">
                <a:latin typeface="+mn-ea"/>
                <a:ea typeface="+mn-ea"/>
              </a:rPr>
              <a:t/>
            </a:r>
            <a:br>
              <a:rPr lang="en-US" altLang="ko-KR" sz="1000" dirty="0">
                <a:latin typeface="+mn-ea"/>
                <a:ea typeface="+mn-ea"/>
              </a:rPr>
            </a:br>
            <a:r>
              <a:rPr lang="ko-KR" altLang="en-US" sz="1000" dirty="0">
                <a:latin typeface="+mn-ea"/>
                <a:ea typeface="+mn-ea"/>
              </a:rPr>
              <a:t>변화</a:t>
            </a:r>
          </a:p>
        </p:txBody>
      </p:sp>
      <p:sp>
        <p:nvSpPr>
          <p:cNvPr id="72" name="Rectangle 28"/>
          <p:cNvSpPr>
            <a:spLocks noChangeArrowheads="1"/>
          </p:cNvSpPr>
          <p:nvPr/>
        </p:nvSpPr>
        <p:spPr bwMode="auto">
          <a:xfrm>
            <a:off x="5005394" y="4336559"/>
            <a:ext cx="2141597" cy="1891729"/>
          </a:xfrm>
          <a:prstGeom prst="rect">
            <a:avLst/>
          </a:prstGeom>
          <a:solidFill>
            <a:sysClr val="window" lastClr="FFFFFF"/>
          </a:solidFill>
          <a:ln w="9525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  <a:extLst/>
        </p:spPr>
        <p:txBody>
          <a:bodyPr wrap="square" lIns="96791" tIns="48397" rIns="96791" bIns="48397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BPR/ISMP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수립을 통해 계획된 사업 추진 시 발생할 수 있는 조직 내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.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외부의 상충되는 이해관계의 조절 및 사업 진행에 대한 모니터링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피드백 등을 수행함으로써 원활한 사업 이행을 지원하고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이행계획을 지속적으로 보완</a:t>
            </a:r>
            <a:r>
              <a: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·</a:t>
            </a: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수정함</a:t>
            </a:r>
          </a:p>
        </p:txBody>
      </p:sp>
      <p:sp>
        <p:nvSpPr>
          <p:cNvPr id="73" name="Rectangle 29"/>
          <p:cNvSpPr>
            <a:spLocks noChangeArrowheads="1"/>
          </p:cNvSpPr>
          <p:nvPr/>
        </p:nvSpPr>
        <p:spPr bwMode="auto">
          <a:xfrm>
            <a:off x="7223096" y="4336559"/>
            <a:ext cx="2077669" cy="1891729"/>
          </a:xfrm>
          <a:prstGeom prst="rect">
            <a:avLst/>
          </a:prstGeom>
          <a:solidFill>
            <a:sysClr val="window" lastClr="FFFFFF"/>
          </a:solidFill>
          <a:ln w="9525" algn="ctr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  <a:extLst/>
        </p:spPr>
        <p:txBody>
          <a:bodyPr wrap="square" lIns="96791" tIns="48397" rIns="96791" bIns="48397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사업이 종료된 후 전 조직의 공감대 형성과 원활한 개선 모델의 정착 지원을 위해 통합적인 관점에서 변화를 기획하고 관리함으로써 변화의 정착 과정에서 발생하는 저항과 갈등을 사전 예방하여 전환기의 혼란을 최소화함</a:t>
            </a:r>
          </a:p>
        </p:txBody>
      </p:sp>
      <p:sp>
        <p:nvSpPr>
          <p:cNvPr id="74" name="Text Box 30"/>
          <p:cNvSpPr txBox="1">
            <a:spLocks noChangeArrowheads="1"/>
          </p:cNvSpPr>
          <p:nvPr/>
        </p:nvSpPr>
        <p:spPr bwMode="auto">
          <a:xfrm>
            <a:off x="5030965" y="4408920"/>
            <a:ext cx="2094476" cy="266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5715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7145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2860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7432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32004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6576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41148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buNone/>
            </a:pPr>
            <a:r>
              <a:rPr kumimoji="1" lang="ko-KR" altLang="en-US" sz="1100" u="sng" dirty="0">
                <a:latin typeface="+mn-ea"/>
                <a:ea typeface="+mn-ea"/>
              </a:rPr>
              <a:t>사업 수행 지원 및 계획의 보완</a:t>
            </a:r>
          </a:p>
        </p:txBody>
      </p:sp>
      <p:sp>
        <p:nvSpPr>
          <p:cNvPr id="75" name="Text Box 31"/>
          <p:cNvSpPr txBox="1">
            <a:spLocks noChangeArrowheads="1"/>
          </p:cNvSpPr>
          <p:nvPr/>
        </p:nvSpPr>
        <p:spPr bwMode="auto">
          <a:xfrm>
            <a:off x="7474243" y="4408920"/>
            <a:ext cx="1718829" cy="266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5715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7145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286000" defTabSz="762000" eaLnBrk="0" hangingPunct="0"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7432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32004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6576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4114800" algn="ctr" defTabSz="762000" eaLnBrk="0" fontAlgn="base" hangingPunct="0">
              <a:spcBef>
                <a:spcPct val="0"/>
              </a:spcBef>
              <a:spcAft>
                <a:spcPct val="0"/>
              </a:spcAft>
              <a:defRPr sz="9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buNone/>
            </a:pPr>
            <a:r>
              <a:rPr kumimoji="1" lang="ko-KR" altLang="en-US" sz="1100" u="sng" dirty="0">
                <a:latin typeface="+mn-ea"/>
                <a:ea typeface="+mn-ea"/>
              </a:rPr>
              <a:t>완료된 사업의 정착 지원</a:t>
            </a:r>
          </a:p>
        </p:txBody>
      </p:sp>
      <p:sp>
        <p:nvSpPr>
          <p:cNvPr id="76" name="오각형 23"/>
          <p:cNvSpPr>
            <a:spLocks noChangeArrowheads="1"/>
          </p:cNvSpPr>
          <p:nvPr/>
        </p:nvSpPr>
        <p:spPr bwMode="auto">
          <a:xfrm>
            <a:off x="4719788" y="5093876"/>
            <a:ext cx="143804" cy="914408"/>
          </a:xfrm>
          <a:prstGeom prst="homePlate">
            <a:avLst>
              <a:gd name="adj" fmla="val 201889"/>
            </a:avLst>
          </a:prstGeom>
          <a:solidFill>
            <a:srgbClr val="4678B4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wrap="none" lIns="0" tIns="0" rIns="0" bIns="0" anchor="ctr"/>
          <a:lstStyle/>
          <a:p>
            <a:pPr fontAlgn="auto" latinLnBrk="1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ko-KR" altLang="en-US" sz="1100" b="0" kern="0" dirty="0">
              <a:solidFill>
                <a:sysClr val="windowText" lastClr="000000"/>
              </a:solidFill>
              <a:latin typeface="+mn-ea"/>
              <a:ea typeface="+mn-ea"/>
            </a:endParaRPr>
          </a:p>
        </p:txBody>
      </p:sp>
      <p:sp>
        <p:nvSpPr>
          <p:cNvPr id="78" name="Line 104"/>
          <p:cNvSpPr>
            <a:spLocks noChangeShapeType="1"/>
          </p:cNvSpPr>
          <p:nvPr/>
        </p:nvSpPr>
        <p:spPr bwMode="auto">
          <a:xfrm>
            <a:off x="5793199" y="4246255"/>
            <a:ext cx="2602545" cy="0"/>
          </a:xfrm>
          <a:prstGeom prst="line">
            <a:avLst/>
          </a:prstGeom>
          <a:noFill/>
          <a:ln w="3175">
            <a:solidFill>
              <a:sysClr val="windowText" lastClr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79" name="Text Box 105"/>
          <p:cNvSpPr txBox="1">
            <a:spLocks noChangeArrowheads="1"/>
          </p:cNvSpPr>
          <p:nvPr/>
        </p:nvSpPr>
        <p:spPr bwMode="auto">
          <a:xfrm>
            <a:off x="5908214" y="3992169"/>
            <a:ext cx="236635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1pPr>
            <a:lvl2pPr marL="742950" indent="-285750" eaLnBrk="0" hangingPunct="0"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2pPr>
            <a:lvl3pPr marL="1143000" indent="-228600" eaLnBrk="0" hangingPunct="0"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3pPr>
            <a:lvl4pPr marL="1600200" indent="-228600" eaLnBrk="0" hangingPunct="0"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4pPr>
            <a:lvl5pPr marL="2057400" indent="-228600" eaLnBrk="0" hangingPunct="0"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kumimoji="1" sz="800">
                <a:solidFill>
                  <a:schemeClr val="tx1"/>
                </a:solidFill>
                <a:latin typeface="Arial" pitchFamily="34" charset="0"/>
                <a:ea typeface="굴림체" pitchFamily="49" charset="-127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kern="0" dirty="0">
                <a:solidFill>
                  <a:sysClr val="windowText" lastClr="000000"/>
                </a:solidFill>
                <a:latin typeface="맑은 고딕"/>
                <a:ea typeface="맑은 고딕"/>
                <a:cs typeface="Arial" pitchFamily="34" charset="0"/>
              </a:rPr>
              <a:t>BPR/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  <a:cs typeface="Arial" pitchFamily="34" charset="0"/>
              </a:rPr>
              <a:t>ISMP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  <a:cs typeface="Arial" pitchFamily="34" charset="0"/>
              </a:rPr>
              <a:t>수립에서의 변화관리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006871" y="3499087"/>
            <a:ext cx="977298" cy="575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30000"/>
              </a:lnSpc>
              <a:buNone/>
            </a:pPr>
            <a:r>
              <a:rPr lang="en-US" altLang="ko-KR" sz="2000" dirty="0">
                <a:latin typeface="+mn-ea"/>
                <a:ea typeface="+mn-ea"/>
              </a:rPr>
              <a:t>.</a:t>
            </a:r>
          </a:p>
          <a:p>
            <a:pPr algn="ctr">
              <a:lnSpc>
                <a:spcPct val="30000"/>
              </a:lnSpc>
              <a:buNone/>
            </a:pPr>
            <a:r>
              <a:rPr lang="en-US" altLang="ko-KR" sz="2000" dirty="0">
                <a:latin typeface="+mn-ea"/>
                <a:ea typeface="+mn-ea"/>
              </a:rPr>
              <a:t>.</a:t>
            </a:r>
          </a:p>
          <a:p>
            <a:pPr algn="ctr">
              <a:lnSpc>
                <a:spcPct val="30000"/>
              </a:lnSpc>
              <a:buNone/>
            </a:pPr>
            <a:r>
              <a:rPr lang="en-US" altLang="ko-KR" sz="2000" dirty="0">
                <a:latin typeface="+mn-ea"/>
                <a:ea typeface="+mn-ea"/>
              </a:rPr>
              <a:t>.</a:t>
            </a:r>
            <a:endParaRPr lang="ko-KR" altLang="en-US" sz="2000" dirty="0">
              <a:latin typeface="+mn-ea"/>
              <a:ea typeface="+mn-ea"/>
            </a:endParaRPr>
          </a:p>
        </p:txBody>
      </p:sp>
      <p:pic>
        <p:nvPicPr>
          <p:cNvPr id="81" name="그림 80"/>
          <p:cNvPicPr>
            <a:picLocks noChangeAspect="1"/>
          </p:cNvPicPr>
          <p:nvPr/>
        </p:nvPicPr>
        <p:blipFill>
          <a:blip r:embed="rId2" cstate="print">
            <a:duotone>
              <a:prstClr val="black"/>
              <a:srgbClr val="8FAED3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707399" y="1832441"/>
            <a:ext cx="6176866" cy="308543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558596" y="3888563"/>
            <a:ext cx="1931980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buNone/>
            </a:pPr>
            <a:r>
              <a:rPr lang="en-US" altLang="ko-KR" sz="1000" b="0" dirty="0">
                <a:latin typeface="+mn-ea"/>
                <a:ea typeface="+mn-ea"/>
              </a:rPr>
              <a:t>BPR/ISMP</a:t>
            </a:r>
            <a:r>
              <a:rPr lang="ko-KR" altLang="en-US" sz="1000" b="0" dirty="0">
                <a:latin typeface="+mn-ea"/>
                <a:ea typeface="+mn-ea"/>
              </a:rPr>
              <a:t>를 통해 계획된</a:t>
            </a:r>
          </a:p>
          <a:p>
            <a:pPr algn="ctr">
              <a:lnSpc>
                <a:spcPct val="90000"/>
              </a:lnSpc>
              <a:buNone/>
            </a:pPr>
            <a:r>
              <a:rPr lang="ko-KR" altLang="en-US" sz="1000" b="0" dirty="0">
                <a:latin typeface="+mn-ea"/>
                <a:ea typeface="+mn-ea"/>
              </a:rPr>
              <a:t>사업은 다년간에 걸쳐 </a:t>
            </a:r>
          </a:p>
          <a:p>
            <a:pPr algn="ctr">
              <a:lnSpc>
                <a:spcPct val="90000"/>
              </a:lnSpc>
              <a:buNone/>
            </a:pPr>
            <a:r>
              <a:rPr lang="ko-KR" altLang="en-US" sz="1000" b="0" dirty="0">
                <a:latin typeface="+mn-ea"/>
                <a:ea typeface="+mn-ea"/>
              </a:rPr>
              <a:t>진행되므로</a:t>
            </a:r>
            <a:r>
              <a:rPr lang="en-US" altLang="ko-KR" sz="1000" b="0" dirty="0">
                <a:latin typeface="+mn-ea"/>
                <a:ea typeface="+mn-ea"/>
              </a:rPr>
              <a:t>,</a:t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단계별 사업의 추진 및 정착이</a:t>
            </a:r>
            <a:br>
              <a:rPr lang="ko-KR" altLang="en-US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주기적으로 반복됨</a:t>
            </a:r>
          </a:p>
        </p:txBody>
      </p:sp>
      <p:sp>
        <p:nvSpPr>
          <p:cNvPr id="83" name="Rectangle 12"/>
          <p:cNvSpPr>
            <a:spLocks noChangeArrowheads="1"/>
          </p:cNvSpPr>
          <p:nvPr/>
        </p:nvSpPr>
        <p:spPr bwMode="auto">
          <a:xfrm>
            <a:off x="885674" y="1955205"/>
            <a:ext cx="1277923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AD9A5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BPR/ISMP</a:t>
            </a: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에서</a:t>
            </a:r>
          </a:p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계획된 사업 추진</a:t>
            </a:r>
          </a:p>
        </p:txBody>
      </p:sp>
      <p:sp>
        <p:nvSpPr>
          <p:cNvPr id="84" name="Rectangle 13"/>
          <p:cNvSpPr>
            <a:spLocks noChangeArrowheads="1"/>
          </p:cNvSpPr>
          <p:nvPr/>
        </p:nvSpPr>
        <p:spPr bwMode="auto">
          <a:xfrm>
            <a:off x="2792191" y="2059931"/>
            <a:ext cx="1166065" cy="237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AD9A5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추진 사업의 수행</a:t>
            </a:r>
          </a:p>
        </p:txBody>
      </p:sp>
      <p:sp>
        <p:nvSpPr>
          <p:cNvPr id="85" name="Rectangle 15"/>
          <p:cNvSpPr>
            <a:spLocks noChangeArrowheads="1"/>
          </p:cNvSpPr>
          <p:nvPr/>
        </p:nvSpPr>
        <p:spPr bwMode="auto">
          <a:xfrm>
            <a:off x="1830430" y="2811273"/>
            <a:ext cx="1377083" cy="6001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AD9A5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BPR/ISMP</a:t>
            </a: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에서</a:t>
            </a:r>
          </a:p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계획된 이행 단계 </a:t>
            </a:r>
          </a:p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사업 추진</a:t>
            </a:r>
          </a:p>
        </p:txBody>
      </p:sp>
      <p:sp>
        <p:nvSpPr>
          <p:cNvPr id="86" name="Rectangle 16"/>
          <p:cNvSpPr>
            <a:spLocks noChangeArrowheads="1"/>
          </p:cNvSpPr>
          <p:nvPr/>
        </p:nvSpPr>
        <p:spPr bwMode="auto">
          <a:xfrm>
            <a:off x="3703247" y="2986339"/>
            <a:ext cx="1164501" cy="237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AD9A5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추진 사업의 정착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>
                <a:latin typeface="+mn-ea"/>
                <a:ea typeface="+mn-ea"/>
              </a:rPr>
              <a:t>변화관리는 변화의 과정에서 발생하는 갈등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저항 등을 예견하여  이를 사전 예방하기 위한 체계적 관리를 목표로 함 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6.1.2 </a:t>
            </a:r>
            <a:r>
              <a:rPr lang="ko-KR" altLang="en-US" dirty="0"/>
              <a:t>변화관리 개념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grpSp>
        <p:nvGrpSpPr>
          <p:cNvPr id="5" name="그룹 93"/>
          <p:cNvGrpSpPr/>
          <p:nvPr/>
        </p:nvGrpSpPr>
        <p:grpSpPr>
          <a:xfrm>
            <a:off x="560512" y="1628800"/>
            <a:ext cx="8651081" cy="4607173"/>
            <a:chOff x="704528" y="1628800"/>
            <a:chExt cx="8651081" cy="4607173"/>
          </a:xfrm>
        </p:grpSpPr>
        <p:grpSp>
          <p:nvGrpSpPr>
            <p:cNvPr id="6" name="Group 73"/>
            <p:cNvGrpSpPr/>
            <p:nvPr/>
          </p:nvGrpSpPr>
          <p:grpSpPr>
            <a:xfrm>
              <a:off x="6712421" y="1628800"/>
              <a:ext cx="2643188" cy="301173"/>
              <a:chOff x="4953001" y="3818016"/>
              <a:chExt cx="2643188" cy="301173"/>
            </a:xfrm>
          </p:grpSpPr>
          <p:sp>
            <p:nvSpPr>
              <p:cNvPr id="65" name="Line 104"/>
              <p:cNvSpPr>
                <a:spLocks noChangeShapeType="1"/>
              </p:cNvSpPr>
              <p:nvPr/>
            </p:nvSpPr>
            <p:spPr bwMode="auto">
              <a:xfrm>
                <a:off x="4953001" y="4076070"/>
                <a:ext cx="2643188" cy="0"/>
              </a:xfrm>
              <a:prstGeom prst="line">
                <a:avLst/>
              </a:prstGeom>
              <a:noFill/>
              <a:ln w="3175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75000"/>
                      <a:lumOff val="25000"/>
                    </a:sysClr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66" name="Text Box 105"/>
              <p:cNvSpPr txBox="1">
                <a:spLocks noChangeArrowheads="1"/>
              </p:cNvSpPr>
              <p:nvPr/>
            </p:nvSpPr>
            <p:spPr bwMode="auto">
              <a:xfrm>
                <a:off x="5609265" y="3818016"/>
                <a:ext cx="1324401" cy="301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9pPr>
              </a:lstStyle>
              <a:p>
                <a:pPr marL="0" marR="0" indent="0" algn="ctr" defTabSz="914400" eaLnBrk="1" fontAlgn="base" latinLnBrk="0" hangingPunct="1">
                  <a:lnSpc>
                    <a:spcPct val="105000"/>
                  </a:lnSpc>
                  <a:spcBef>
                    <a:spcPct val="35000"/>
                  </a:spcBef>
                  <a:spcAft>
                    <a:spcPct val="0"/>
                  </a:spcAft>
                  <a:buClr>
                    <a:schemeClr val="tx1">
                      <a:lumMod val="75000"/>
                      <a:lumOff val="25000"/>
                    </a:schemeClr>
                  </a:buClr>
                  <a:buSzTx/>
                  <a:tabLst/>
                  <a:defRPr/>
                </a:pPr>
                <a:r>
                  <a:rPr kumimoji="0" lang="ko-KR" altLang="en-US" sz="1400" b="1" dirty="0">
                    <a:latin typeface="+mn-ea"/>
                    <a:ea typeface="+mn-ea"/>
                    <a:cs typeface="Arial" pitchFamily="34" charset="0"/>
                  </a:rPr>
                  <a:t>변화관리 목표</a:t>
                </a:r>
              </a:p>
            </p:txBody>
          </p:sp>
        </p:grpSp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48944" y="2824940"/>
              <a:ext cx="3164098" cy="2402032"/>
            </a:xfrm>
            <a:prstGeom prst="rect">
              <a:avLst/>
            </a:prstGeom>
          </p:spPr>
        </p:pic>
        <p:sp>
          <p:nvSpPr>
            <p:cNvPr id="68" name="AutoShape 7"/>
            <p:cNvSpPr>
              <a:spLocks noChangeArrowheads="1"/>
            </p:cNvSpPr>
            <p:nvPr/>
          </p:nvSpPr>
          <p:spPr bwMode="auto">
            <a:xfrm>
              <a:off x="704528" y="2060848"/>
              <a:ext cx="4464050" cy="652462"/>
            </a:xfrm>
            <a:prstGeom prst="roundRect">
              <a:avLst>
                <a:gd name="adj" fmla="val 0"/>
              </a:avLst>
            </a:prstGeom>
            <a:solidFill>
              <a:sysClr val="window" lastClr="FFFFFF"/>
            </a:solidFill>
            <a:ln w="12700" algn="ctr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  <a:effectLst>
              <a:outerShdw dist="35921" dir="2700000" algn="ctr" rotWithShape="0">
                <a:srgbClr val="B2B2B2"/>
              </a:outerShdw>
            </a:effectLst>
          </p:spPr>
          <p:txBody>
            <a:bodyPr anchor="ctr"/>
            <a:lstStyle/>
            <a:p>
              <a:pPr marL="180975" marR="0" lvl="0" indent="-180975" algn="l" defTabSz="91440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>
                  <a:sysClr val="windowText" lastClr="000000">
                    <a:lumMod val="75000"/>
                    <a:lumOff val="25000"/>
                  </a:sysClr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변화관리는 조직이 현재의 위치에서 미래에 도달하고자  하는 위치로의 전환을 성공적으로 인도하는 </a:t>
              </a:r>
              <a:r>
                <a:rPr kumimoji="1" lang="ko-KR" altLang="en-US" sz="1100" b="0" i="0" u="sng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방법론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이라  할 수 있음</a:t>
              </a:r>
            </a:p>
          </p:txBody>
        </p:sp>
        <p:sp>
          <p:nvSpPr>
            <p:cNvPr id="77" name="AutoShape 8"/>
            <p:cNvSpPr>
              <a:spLocks noChangeArrowheads="1"/>
            </p:cNvSpPr>
            <p:nvPr/>
          </p:nvSpPr>
          <p:spPr bwMode="auto">
            <a:xfrm>
              <a:off x="704528" y="3827735"/>
              <a:ext cx="4464050" cy="654050"/>
            </a:xfrm>
            <a:prstGeom prst="roundRect">
              <a:avLst>
                <a:gd name="adj" fmla="val 0"/>
              </a:avLst>
            </a:prstGeom>
            <a:solidFill>
              <a:sysClr val="window" lastClr="FFFFFF"/>
            </a:solidFill>
            <a:ln w="12700" algn="ctr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  <a:effectLst>
              <a:outerShdw dist="35921" dir="2700000" algn="ctr" rotWithShape="0">
                <a:srgbClr val="B2B2B2"/>
              </a:outerShdw>
            </a:effectLst>
          </p:spPr>
          <p:txBody>
            <a:bodyPr anchor="ctr"/>
            <a:lstStyle/>
            <a:p>
              <a:pPr marL="180975" marR="0" lvl="0" indent="-180975" algn="l" defTabSz="91440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>
                  <a:sysClr val="windowText" lastClr="000000">
                    <a:lumMod val="75000"/>
                    <a:lumOff val="25000"/>
                  </a:sysClr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변화관리란 변화된 새로운 환경에 적응하고 성과를 향상시키기 위해 필요한 다양한 활동을 수행하고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관리하는 체계</a:t>
              </a:r>
            </a:p>
          </p:txBody>
        </p:sp>
        <p:sp>
          <p:nvSpPr>
            <p:cNvPr id="87" name="AutoShape 9"/>
            <p:cNvSpPr>
              <a:spLocks noChangeArrowheads="1"/>
            </p:cNvSpPr>
            <p:nvPr/>
          </p:nvSpPr>
          <p:spPr bwMode="auto">
            <a:xfrm>
              <a:off x="704528" y="2838723"/>
              <a:ext cx="4464050" cy="863600"/>
            </a:xfrm>
            <a:prstGeom prst="roundRect">
              <a:avLst>
                <a:gd name="adj" fmla="val 0"/>
              </a:avLst>
            </a:prstGeom>
            <a:solidFill>
              <a:sysClr val="window" lastClr="FFFFFF"/>
            </a:solidFill>
            <a:ln w="12700" algn="ctr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  <a:effectLst>
              <a:outerShdw dist="35921" dir="2700000" algn="ctr" rotWithShape="0">
                <a:srgbClr val="B2B2B2"/>
              </a:outerShdw>
            </a:effectLst>
          </p:spPr>
          <p:txBody>
            <a:bodyPr anchor="ctr"/>
            <a:lstStyle/>
            <a:p>
              <a:pPr marL="180975" marR="0" lvl="0" indent="-180975" algn="l" defTabSz="91440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>
                  <a:sysClr val="windowText" lastClr="000000">
                    <a:lumMod val="75000"/>
                    <a:lumOff val="25000"/>
                  </a:sysClr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변화관리는 전략적 기술 변화 또는 프로세스 변화로 인한 일시적 성과 하락의 규모와 기간을 최소화하고 생산성 도약 단계로의 전환을 급속화하여 조직 및 구성원의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성과를 최대한 향상 시키는 것</a:t>
              </a: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임</a:t>
              </a:r>
            </a:p>
          </p:txBody>
        </p:sp>
        <p:sp>
          <p:nvSpPr>
            <p:cNvPr id="88" name="AutoShape 10"/>
            <p:cNvSpPr>
              <a:spLocks noChangeArrowheads="1"/>
            </p:cNvSpPr>
            <p:nvPr/>
          </p:nvSpPr>
          <p:spPr bwMode="auto">
            <a:xfrm>
              <a:off x="704528" y="4607198"/>
              <a:ext cx="4464050" cy="873125"/>
            </a:xfrm>
            <a:prstGeom prst="roundRect">
              <a:avLst>
                <a:gd name="adj" fmla="val 0"/>
              </a:avLst>
            </a:prstGeom>
            <a:solidFill>
              <a:sysClr val="window" lastClr="FFFFFF"/>
            </a:solidFill>
            <a:ln w="12700" algn="ctr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  <a:effectLst>
              <a:outerShdw dist="35921" dir="2700000" algn="ctr" rotWithShape="0">
                <a:srgbClr val="B2B2B2"/>
              </a:outerShdw>
            </a:effectLst>
          </p:spPr>
          <p:txBody>
            <a:bodyPr anchor="ctr"/>
            <a:lstStyle/>
            <a:p>
              <a:pPr marL="180975" marR="0" lvl="0" indent="-180975" algn="l" defTabSz="91440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>
                  <a:sysClr val="windowText" lastClr="000000">
                    <a:lumMod val="75000"/>
                    <a:lumOff val="25000"/>
                  </a:sysClr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대규모 정보화 사업에 있어 사업 실패의 원인은 기술적인 문제가 아닌 문화적인 문제에 있고</a:t>
              </a:r>
              <a:r>
                <a:rPr kumimoji="1" lang="en-US" altLang="ko-KR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 때의 변화관리는 이러한 문화적 문제 해결을 위해 구성원과 공개적이고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효과적인 커뮤니케이션</a:t>
              </a: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이라 할 수 있음</a:t>
              </a:r>
            </a:p>
          </p:txBody>
        </p:sp>
        <p:sp>
          <p:nvSpPr>
            <p:cNvPr id="89" name="Rectangle 11"/>
            <p:cNvSpPr>
              <a:spLocks noChangeArrowheads="1"/>
            </p:cNvSpPr>
            <p:nvPr/>
          </p:nvSpPr>
          <p:spPr bwMode="auto">
            <a:xfrm>
              <a:off x="704528" y="5607323"/>
              <a:ext cx="4464050" cy="628650"/>
            </a:xfrm>
            <a:prstGeom prst="rect">
              <a:avLst/>
            </a:prstGeom>
            <a:solidFill>
              <a:sysClr val="window" lastClr="FFFFFF"/>
            </a:solidFill>
            <a:ln w="12700" algn="ctr">
              <a:solidFill>
                <a:sysClr val="window" lastClr="FFFFFF">
                  <a:lumMod val="75000"/>
                </a:sysClr>
              </a:solidFill>
              <a:miter lim="800000"/>
              <a:headEnd type="none" w="sm" len="sm"/>
              <a:tailEnd type="none" w="sm" len="sm"/>
            </a:ln>
            <a:effectLst>
              <a:outerShdw dist="35921" dir="2700000" algn="ctr" rotWithShape="0">
                <a:srgbClr val="B2B2B2"/>
              </a:outerShdw>
            </a:effectLst>
          </p:spPr>
          <p:txBody>
            <a:bodyPr anchor="ctr"/>
            <a:lstStyle/>
            <a:p>
              <a:pPr marL="180975" marR="0" lvl="0" indent="-180975" algn="l" defTabSz="914400" eaLnBrk="1" fontAlgn="auto" latinLnBrk="0" hangingPunct="1">
                <a:lnSpc>
                  <a:spcPct val="110000"/>
                </a:lnSpc>
                <a:spcBef>
                  <a:spcPct val="10000"/>
                </a:spcBef>
                <a:spcAft>
                  <a:spcPts val="0"/>
                </a:spcAft>
                <a:buClr>
                  <a:sysClr val="windowText" lastClr="000000">
                    <a:lumMod val="75000"/>
                    <a:lumOff val="25000"/>
                  </a:sysClr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 과정에서 발생하는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갈등 및 저항을 미리 예견하여 이에 대한 체계적 </a:t>
              </a:r>
              <a:r>
                <a:rPr kumimoji="1" lang="en-US" altLang="ko-KR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/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구조적 </a:t>
              </a:r>
              <a:r>
                <a:rPr kumimoji="1" lang="en-US" altLang="ko-KR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/ </a:t>
              </a:r>
              <a:r>
                <a:rPr kumimoji="1" lang="ko-KR" altLang="en-US" sz="1100" b="0" i="0" u="sng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유기적인 변화관리 기법</a:t>
              </a:r>
            </a:p>
          </p:txBody>
        </p:sp>
        <p:grpSp>
          <p:nvGrpSpPr>
            <p:cNvPr id="7" name="Group 1"/>
            <p:cNvGrpSpPr/>
            <p:nvPr/>
          </p:nvGrpSpPr>
          <p:grpSpPr>
            <a:xfrm>
              <a:off x="1568624" y="1628800"/>
              <a:ext cx="2643188" cy="301173"/>
              <a:chOff x="4953001" y="3818016"/>
              <a:chExt cx="2643188" cy="301173"/>
            </a:xfrm>
          </p:grpSpPr>
          <p:sp>
            <p:nvSpPr>
              <p:cNvPr id="91" name="Line 104"/>
              <p:cNvSpPr>
                <a:spLocks noChangeShapeType="1"/>
              </p:cNvSpPr>
              <p:nvPr/>
            </p:nvSpPr>
            <p:spPr bwMode="auto">
              <a:xfrm>
                <a:off x="4953001" y="4076070"/>
                <a:ext cx="2643188" cy="0"/>
              </a:xfrm>
              <a:prstGeom prst="line">
                <a:avLst/>
              </a:prstGeom>
              <a:noFill/>
              <a:ln w="3175">
                <a:solidFill>
                  <a:sysClr val="windowText" lastClr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ysClr val="windowText" lastClr="000000">
                      <a:lumMod val="75000"/>
                      <a:lumOff val="25000"/>
                    </a:sysClr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92" name="Text Box 105"/>
              <p:cNvSpPr txBox="1">
                <a:spLocks noChangeArrowheads="1"/>
              </p:cNvSpPr>
              <p:nvPr/>
            </p:nvSpPr>
            <p:spPr bwMode="auto">
              <a:xfrm>
                <a:off x="5609265" y="3818016"/>
                <a:ext cx="1324401" cy="301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9pPr>
              </a:lstStyle>
              <a:p>
                <a:pPr marL="0" marR="0" indent="0" algn="ctr" defTabSz="914400" eaLnBrk="1" fontAlgn="base" latinLnBrk="0" hangingPunct="1">
                  <a:lnSpc>
                    <a:spcPct val="105000"/>
                  </a:lnSpc>
                  <a:spcBef>
                    <a:spcPct val="35000"/>
                  </a:spcBef>
                  <a:spcAft>
                    <a:spcPct val="0"/>
                  </a:spcAft>
                  <a:buClr>
                    <a:schemeClr val="tx1">
                      <a:lumMod val="75000"/>
                      <a:lumOff val="25000"/>
                    </a:schemeClr>
                  </a:buClr>
                  <a:buSzTx/>
                  <a:tabLst/>
                  <a:defRPr/>
                </a:pPr>
                <a:r>
                  <a:rPr kumimoji="0" lang="ko-KR" altLang="en-US" sz="1400" b="1" dirty="0">
                    <a:latin typeface="+mn-ea"/>
                    <a:ea typeface="+mn-ea"/>
                    <a:cs typeface="Arial" pitchFamily="34" charset="0"/>
                  </a:rPr>
                  <a:t>변화관리 정의</a:t>
                </a:r>
              </a:p>
            </p:txBody>
          </p:sp>
        </p:grpSp>
        <p:sp>
          <p:nvSpPr>
            <p:cNvPr id="93" name="Oval 13"/>
            <p:cNvSpPr>
              <a:spLocks noChangeArrowheads="1"/>
            </p:cNvSpPr>
            <p:nvPr/>
          </p:nvSpPr>
          <p:spPr bwMode="auto">
            <a:xfrm>
              <a:off x="6825927" y="2778972"/>
              <a:ext cx="2448000" cy="2448000"/>
            </a:xfrm>
            <a:prstGeom prst="ellipse">
              <a:avLst/>
            </a:prstGeom>
            <a:solidFill>
              <a:srgbClr val="B1CFFC"/>
            </a:solidFill>
            <a:ln w="38100" algn="ctr">
              <a:solidFill>
                <a:sysClr val="windowText" lastClr="000000">
                  <a:lumMod val="75000"/>
                  <a:lumOff val="25000"/>
                </a:sysClr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lIns="92075" tIns="46038" rIns="92075" bIns="46038" anchor="ctr"/>
            <a:lstStyle/>
            <a:p>
              <a:pPr marL="0" marR="0" lvl="0" indent="0" algn="ctr" defTabSz="914400" eaLnBrk="0" fontAlgn="base" latinLnBrk="0" hangingPunct="0">
                <a:lnSpc>
                  <a:spcPct val="130000"/>
                </a:lnSpc>
                <a:spcBef>
                  <a:spcPct val="35000"/>
                </a:spcBef>
                <a:spcAft>
                  <a:spcPct val="0"/>
                </a:spcAft>
                <a:buClr>
                  <a:schemeClr val="tx1">
                    <a:lumMod val="75000"/>
                    <a:lumOff val="25000"/>
                  </a:schemeClr>
                </a:buClr>
                <a:buSzTx/>
                <a:tabLst/>
                <a:defRPr/>
              </a:pPr>
              <a:r>
                <a:rPr kumimoji="1" lang="ko-KR" altLang="en-US" sz="1200" b="1" dirty="0">
                  <a:latin typeface="+mn-ea"/>
                </a:rPr>
                <a:t>성공적 변화관리의 핵심은</a:t>
              </a:r>
              <a:r>
                <a:rPr kumimoji="1" lang="en-US" altLang="ko-KR" sz="1200" b="1" dirty="0">
                  <a:latin typeface="+mn-ea"/>
                </a:rPr>
                <a:t/>
              </a:r>
              <a:br>
                <a:rPr kumimoji="1" lang="en-US" altLang="ko-KR" sz="1200" b="1" dirty="0">
                  <a:latin typeface="+mn-ea"/>
                </a:rPr>
              </a:br>
              <a:r>
                <a:rPr kumimoji="1" lang="ko-KR" altLang="en-US" sz="1200" b="1" dirty="0">
                  <a:latin typeface="+mn-ea"/>
                </a:rPr>
                <a:t> 변화의 정착 과정에서 발생하는</a:t>
              </a:r>
              <a:r>
                <a:rPr kumimoji="1" lang="en-US" altLang="ko-KR" sz="1200" b="1" dirty="0">
                  <a:latin typeface="+mn-ea"/>
                </a:rPr>
                <a:t/>
              </a:r>
              <a:br>
                <a:rPr kumimoji="1" lang="en-US" altLang="ko-KR" sz="1200" b="1" dirty="0">
                  <a:latin typeface="+mn-ea"/>
                </a:rPr>
              </a:br>
              <a:r>
                <a:rPr kumimoji="1" lang="ko-KR" altLang="en-US" sz="1200" b="1" dirty="0">
                  <a:latin typeface="+mn-ea"/>
                </a:rPr>
                <a:t> </a:t>
              </a:r>
              <a:r>
                <a:rPr kumimoji="1" lang="ko-KR" altLang="en-US" sz="1600" b="1" dirty="0">
                  <a:latin typeface="+mn-ea"/>
                </a:rPr>
                <a:t>저항과 갈등을</a:t>
              </a:r>
              <a:r>
                <a:rPr kumimoji="1" lang="en-US" altLang="ko-KR" sz="1600" b="1" dirty="0">
                  <a:latin typeface="+mn-ea"/>
                </a:rPr>
                <a:t/>
              </a:r>
              <a:br>
                <a:rPr kumimoji="1" lang="en-US" altLang="ko-KR" sz="1600" b="1" dirty="0">
                  <a:latin typeface="+mn-ea"/>
                </a:rPr>
              </a:br>
              <a:r>
                <a:rPr kumimoji="1" lang="ko-KR" altLang="en-US" sz="1600" b="1" dirty="0">
                  <a:latin typeface="+mn-ea"/>
                </a:rPr>
                <a:t> 사전 예방하여 </a:t>
              </a:r>
              <a:r>
                <a:rPr kumimoji="1" lang="en-US" altLang="ko-KR" sz="1200" b="1" dirty="0">
                  <a:latin typeface="+mn-ea"/>
                </a:rPr>
                <a:t/>
              </a:r>
              <a:br>
                <a:rPr kumimoji="1" lang="en-US" altLang="ko-KR" sz="1200" b="1" dirty="0">
                  <a:latin typeface="+mn-ea"/>
                </a:rPr>
              </a:br>
              <a:r>
                <a:rPr kumimoji="1" lang="ko-KR" altLang="en-US" sz="1200" b="1" dirty="0">
                  <a:latin typeface="+mn-ea"/>
                </a:rPr>
                <a:t>전환기의 혼란을 최소화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성공적인 변화관리는 ‘높은 기대’</a:t>
            </a:r>
            <a:r>
              <a:rPr lang="ko-KR" altLang="en-US" sz="1600" dirty="0" err="1"/>
              <a:t>를</a:t>
            </a:r>
            <a:r>
              <a:rPr lang="ko-KR" altLang="en-US" sz="1600" dirty="0"/>
              <a:t> 적절하게 줄이고</a:t>
            </a:r>
            <a:r>
              <a:rPr lang="en-US" altLang="ko-KR" sz="1600" dirty="0"/>
              <a:t>, ‘</a:t>
            </a:r>
            <a:r>
              <a:rPr lang="ko-KR" altLang="en-US" sz="1600" dirty="0"/>
              <a:t>저항’을 최소화함으로써 새로운 환경변화에 </a:t>
            </a:r>
            <a:r>
              <a:rPr lang="en-US" altLang="ko-KR" sz="1600" dirty="0"/>
              <a:t/>
            </a:r>
            <a:br>
              <a:rPr lang="en-US" altLang="ko-KR" sz="1600" dirty="0"/>
            </a:br>
            <a:r>
              <a:rPr lang="ko-KR" altLang="en-US" sz="1600" dirty="0"/>
              <a:t>적응할 때 이루어짐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6.1.3 </a:t>
            </a:r>
            <a:r>
              <a:rPr lang="ko-KR" altLang="en-US" dirty="0"/>
              <a:t>변화관리 고려요소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sp>
        <p:nvSpPr>
          <p:cNvPr id="25" name="Rectangle 4"/>
          <p:cNvSpPr>
            <a:spLocks noChangeArrowheads="1"/>
          </p:cNvSpPr>
          <p:nvPr/>
        </p:nvSpPr>
        <p:spPr bwMode="auto">
          <a:xfrm>
            <a:off x="344488" y="1524001"/>
            <a:ext cx="9180512" cy="478532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5" name="그룹 125"/>
          <p:cNvGrpSpPr/>
          <p:nvPr/>
        </p:nvGrpSpPr>
        <p:grpSpPr>
          <a:xfrm>
            <a:off x="976084" y="1635705"/>
            <a:ext cx="7975600" cy="4530970"/>
            <a:chOff x="976084" y="1661105"/>
            <a:chExt cx="7975600" cy="4530970"/>
          </a:xfrm>
        </p:grpSpPr>
        <p:sp>
          <p:nvSpPr>
            <p:cNvPr id="78" name="Freeform 2"/>
            <p:cNvSpPr>
              <a:spLocks/>
            </p:cNvSpPr>
            <p:nvPr/>
          </p:nvSpPr>
          <p:spPr bwMode="auto">
            <a:xfrm>
              <a:off x="987197" y="3300878"/>
              <a:ext cx="7716837" cy="831850"/>
            </a:xfrm>
            <a:custGeom>
              <a:avLst/>
              <a:gdLst>
                <a:gd name="T0" fmla="*/ 0 w 4861"/>
                <a:gd name="T1" fmla="*/ 0 h 323"/>
                <a:gd name="T2" fmla="*/ 4861 w 4861"/>
                <a:gd name="T3" fmla="*/ 26 h 323"/>
                <a:gd name="T4" fmla="*/ 4433 w 4861"/>
                <a:gd name="T5" fmla="*/ 262 h 323"/>
                <a:gd name="T6" fmla="*/ 4320 w 4861"/>
                <a:gd name="T7" fmla="*/ 323 h 323"/>
                <a:gd name="T8" fmla="*/ 837 w 4861"/>
                <a:gd name="T9" fmla="*/ 323 h 323"/>
                <a:gd name="T10" fmla="*/ 0 w 4861"/>
                <a:gd name="T1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61" h="323">
                  <a:moveTo>
                    <a:pt x="0" y="0"/>
                  </a:moveTo>
                  <a:lnTo>
                    <a:pt x="4861" y="26"/>
                  </a:lnTo>
                  <a:lnTo>
                    <a:pt x="4433" y="262"/>
                  </a:lnTo>
                  <a:lnTo>
                    <a:pt x="4320" y="323"/>
                  </a:lnTo>
                  <a:lnTo>
                    <a:pt x="837" y="323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ysClr val="window" lastClr="FFFFFF"/>
                </a:gs>
                <a:gs pos="100000">
                  <a:sysClr val="window" lastClr="FFFFFF">
                    <a:lumMod val="85000"/>
                  </a:sysClr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79" name="Oval 6"/>
            <p:cNvSpPr>
              <a:spLocks noChangeArrowheads="1"/>
            </p:cNvSpPr>
            <p:nvPr/>
          </p:nvSpPr>
          <p:spPr bwMode="auto">
            <a:xfrm>
              <a:off x="3969212" y="1700808"/>
              <a:ext cx="1260000" cy="1260000"/>
            </a:xfrm>
            <a:prstGeom prst="ellipse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>
              <a:outerShdw dist="35921" dir="2700000" algn="ctr" rotWithShape="0">
                <a:sysClr val="windowText" lastClr="000000"/>
              </a:outerShdw>
            </a:effectLst>
          </p:spPr>
          <p:txBody>
            <a:bodyPr wrap="none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People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80" name="Oval 7"/>
            <p:cNvSpPr>
              <a:spLocks noChangeArrowheads="1"/>
            </p:cNvSpPr>
            <p:nvPr/>
          </p:nvSpPr>
          <p:spPr bwMode="auto">
            <a:xfrm>
              <a:off x="4593100" y="2558059"/>
              <a:ext cx="1260000" cy="1260000"/>
            </a:xfrm>
            <a:prstGeom prst="ellipse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>
              <a:outerShdw dist="35921" dir="2700000" algn="ctr" rotWithShape="0">
                <a:sysClr val="windowText" lastClr="000000"/>
              </a:outerShdw>
            </a:effec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Product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(IT)</a:t>
              </a:r>
            </a:p>
          </p:txBody>
        </p:sp>
        <p:sp>
          <p:nvSpPr>
            <p:cNvPr id="81" name="Oval 8"/>
            <p:cNvSpPr>
              <a:spLocks noChangeArrowheads="1"/>
            </p:cNvSpPr>
            <p:nvPr/>
          </p:nvSpPr>
          <p:spPr bwMode="auto">
            <a:xfrm>
              <a:off x="3404828" y="2558059"/>
              <a:ext cx="1260000" cy="1260000"/>
            </a:xfrm>
            <a:prstGeom prst="ellipse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>
              <a:outerShdw dist="35921" dir="2700000" algn="ctr" rotWithShape="0">
                <a:sysClr val="windowText" lastClr="000000"/>
              </a:outerShdw>
            </a:effec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Process</a:t>
              </a:r>
            </a:p>
          </p:txBody>
        </p:sp>
        <p:sp>
          <p:nvSpPr>
            <p:cNvPr id="82" name="Rectangle 9"/>
            <p:cNvSpPr>
              <a:spLocks noChangeArrowheads="1"/>
            </p:cNvSpPr>
            <p:nvPr/>
          </p:nvSpPr>
          <p:spPr bwMode="auto">
            <a:xfrm>
              <a:off x="4192359" y="2154558"/>
              <a:ext cx="871538" cy="187325"/>
            </a:xfrm>
            <a:prstGeom prst="rect">
              <a:avLst/>
            </a:prstGeom>
            <a:solidFill>
              <a:srgbClr val="EAEAEA">
                <a:alpha val="50000"/>
              </a:srgbClr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Willingness</a:t>
              </a:r>
            </a:p>
          </p:txBody>
        </p:sp>
        <p:sp>
          <p:nvSpPr>
            <p:cNvPr id="83" name="Rectangle 10"/>
            <p:cNvSpPr>
              <a:spLocks noChangeArrowheads="1"/>
            </p:cNvSpPr>
            <p:nvPr/>
          </p:nvSpPr>
          <p:spPr bwMode="auto">
            <a:xfrm>
              <a:off x="4192359" y="2394270"/>
              <a:ext cx="871538" cy="188913"/>
            </a:xfrm>
            <a:prstGeom prst="rect">
              <a:avLst/>
            </a:prstGeom>
            <a:solidFill>
              <a:srgbClr val="EAEAEA">
                <a:alpha val="50000"/>
              </a:srgbClr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Ability</a:t>
              </a:r>
            </a:p>
          </p:txBody>
        </p:sp>
        <p:sp>
          <p:nvSpPr>
            <p:cNvPr id="84" name="AutoShape 12"/>
            <p:cNvSpPr>
              <a:spLocks noChangeArrowheads="1"/>
            </p:cNvSpPr>
            <p:nvPr/>
          </p:nvSpPr>
          <p:spPr bwMode="auto">
            <a:xfrm rot="5400000">
              <a:off x="5822449" y="2772240"/>
              <a:ext cx="1174750" cy="257175"/>
            </a:xfrm>
            <a:prstGeom prst="flowChartExtract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/>
          </p:spPr>
          <p:txBody>
            <a:bodyPr rot="10800000" vert="eaVert"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85" name="Line 13"/>
            <p:cNvSpPr>
              <a:spLocks noChangeShapeType="1"/>
            </p:cNvSpPr>
            <p:nvPr/>
          </p:nvSpPr>
          <p:spPr bwMode="auto">
            <a:xfrm>
              <a:off x="2488972" y="2253421"/>
              <a:ext cx="1687512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86" name="Line 14"/>
            <p:cNvSpPr>
              <a:spLocks noChangeShapeType="1"/>
            </p:cNvSpPr>
            <p:nvPr/>
          </p:nvSpPr>
          <p:spPr bwMode="auto">
            <a:xfrm>
              <a:off x="2488972" y="2494721"/>
              <a:ext cx="1687512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90" name="Rectangle 15"/>
            <p:cNvSpPr>
              <a:spLocks noChangeArrowheads="1"/>
            </p:cNvSpPr>
            <p:nvPr/>
          </p:nvSpPr>
          <p:spPr bwMode="auto">
            <a:xfrm>
              <a:off x="976084" y="2088386"/>
              <a:ext cx="1843088" cy="1512168"/>
            </a:xfrm>
            <a:prstGeom prst="rect">
              <a:avLst/>
            </a:prstGeom>
            <a:solidFill>
              <a:srgbClr val="B1CFFC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>
              <a:outerShdw dist="35921" dir="2700000" algn="ctr" rotWithShape="0">
                <a:sysClr val="windowText" lastClr="000000">
                  <a:alpha val="70000"/>
                </a:sys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To-Be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비전 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Business Case</a:t>
              </a:r>
            </a:p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Sponsorship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커뮤니케이션</a:t>
              </a:r>
            </a:p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 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Skills</a:t>
              </a:r>
            </a:p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이해관계자 니즈 분석</a:t>
              </a:r>
            </a:p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이행관리 계획</a:t>
              </a:r>
            </a:p>
            <a:p>
              <a:pPr marL="0" marR="0" lvl="0" indent="0" algn="ctr" defTabSz="914400" eaLnBrk="1" fontAlgn="auto" latinLnBrk="0" hangingPunct="1">
                <a:lnSpc>
                  <a:spcPct val="10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조직 설계 및 문화</a:t>
              </a:r>
            </a:p>
          </p:txBody>
        </p:sp>
        <p:sp>
          <p:nvSpPr>
            <p:cNvPr id="94" name="AutoShape 16"/>
            <p:cNvSpPr>
              <a:spLocks noChangeArrowheads="1"/>
            </p:cNvSpPr>
            <p:nvPr/>
          </p:nvSpPr>
          <p:spPr bwMode="auto">
            <a:xfrm>
              <a:off x="6830784" y="2105421"/>
              <a:ext cx="2120900" cy="1477268"/>
            </a:xfrm>
            <a:prstGeom prst="roundRect">
              <a:avLst>
                <a:gd name="adj" fmla="val 16667"/>
              </a:avLst>
            </a:prstGeom>
            <a:solidFill>
              <a:srgbClr val="B1CFFC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>
              <a:outerShdw dist="35921" dir="2700000" algn="ctr" rotWithShape="0">
                <a:sysClr val="windowText" lastClr="000000">
                  <a:alpha val="70000"/>
                </a:sysClr>
              </a:outerShdw>
            </a:effectLst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4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성공적인 결과는 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People, Process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와 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Product (IT)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가 적절히 결합되는 속에서 얻을 수 있음</a:t>
              </a:r>
            </a:p>
          </p:txBody>
        </p:sp>
        <p:sp>
          <p:nvSpPr>
            <p:cNvPr id="96" name="AutoShape 3"/>
            <p:cNvSpPr>
              <a:spLocks noChangeArrowheads="1"/>
            </p:cNvSpPr>
            <p:nvPr/>
          </p:nvSpPr>
          <p:spPr bwMode="auto">
            <a:xfrm>
              <a:off x="1888748" y="3929549"/>
              <a:ext cx="6211887" cy="2240974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>
              <a:outerShdw blurRad="50800" dist="38100" dir="2700000" algn="tl" rotWithShape="0">
                <a:prstClr val="black">
                  <a:alpha val="6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99" name="Line 19"/>
            <p:cNvSpPr>
              <a:spLocks noChangeShapeType="1"/>
            </p:cNvSpPr>
            <p:nvPr/>
          </p:nvSpPr>
          <p:spPr bwMode="auto">
            <a:xfrm>
              <a:off x="2665035" y="4251263"/>
              <a:ext cx="0" cy="1741689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0" name="Line 20"/>
            <p:cNvSpPr>
              <a:spLocks noChangeShapeType="1"/>
            </p:cNvSpPr>
            <p:nvPr/>
          </p:nvSpPr>
          <p:spPr bwMode="auto">
            <a:xfrm flipV="1">
              <a:off x="2677735" y="5238220"/>
              <a:ext cx="4813300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1" name="Freeform 21"/>
            <p:cNvSpPr>
              <a:spLocks/>
            </p:cNvSpPr>
            <p:nvPr/>
          </p:nvSpPr>
          <p:spPr bwMode="auto">
            <a:xfrm>
              <a:off x="2677735" y="4702651"/>
              <a:ext cx="3543300" cy="1155320"/>
            </a:xfrm>
            <a:custGeom>
              <a:avLst/>
              <a:gdLst>
                <a:gd name="T0" fmla="*/ 0 w 2232"/>
                <a:gd name="T1" fmla="*/ 329 h 796"/>
                <a:gd name="T2" fmla="*/ 184 w 2232"/>
                <a:gd name="T3" fmla="*/ 9 h 796"/>
                <a:gd name="T4" fmla="*/ 408 w 2232"/>
                <a:gd name="T5" fmla="*/ 385 h 796"/>
                <a:gd name="T6" fmla="*/ 560 w 2232"/>
                <a:gd name="T7" fmla="*/ 793 h 796"/>
                <a:gd name="T8" fmla="*/ 1384 w 2232"/>
                <a:gd name="T9" fmla="*/ 369 h 796"/>
                <a:gd name="T10" fmla="*/ 2232 w 2232"/>
                <a:gd name="T11" fmla="*/ 201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2" h="796">
                  <a:moveTo>
                    <a:pt x="0" y="329"/>
                  </a:moveTo>
                  <a:cubicBezTo>
                    <a:pt x="58" y="164"/>
                    <a:pt x="116" y="0"/>
                    <a:pt x="184" y="9"/>
                  </a:cubicBezTo>
                  <a:cubicBezTo>
                    <a:pt x="252" y="18"/>
                    <a:pt x="345" y="254"/>
                    <a:pt x="408" y="385"/>
                  </a:cubicBezTo>
                  <a:cubicBezTo>
                    <a:pt x="471" y="516"/>
                    <a:pt x="397" y="796"/>
                    <a:pt x="560" y="793"/>
                  </a:cubicBezTo>
                  <a:cubicBezTo>
                    <a:pt x="723" y="790"/>
                    <a:pt x="1105" y="468"/>
                    <a:pt x="1384" y="369"/>
                  </a:cubicBezTo>
                  <a:cubicBezTo>
                    <a:pt x="1663" y="270"/>
                    <a:pt x="1947" y="235"/>
                    <a:pt x="2232" y="201"/>
                  </a:cubicBezTo>
                </a:path>
              </a:pathLst>
            </a:custGeom>
            <a:noFill/>
            <a:ln w="9525" cap="flat" cmpd="sng">
              <a:solidFill>
                <a:sysClr val="windowText" lastClr="000000">
                  <a:lumMod val="75000"/>
                  <a:lumOff val="25000"/>
                </a:sysClr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2" name="Freeform 22"/>
            <p:cNvSpPr>
              <a:spLocks/>
            </p:cNvSpPr>
            <p:nvPr/>
          </p:nvSpPr>
          <p:spPr bwMode="auto">
            <a:xfrm>
              <a:off x="3528635" y="5511085"/>
              <a:ext cx="2705100" cy="381720"/>
            </a:xfrm>
            <a:custGeom>
              <a:avLst/>
              <a:gdLst>
                <a:gd name="T0" fmla="*/ 0 w 1704"/>
                <a:gd name="T1" fmla="*/ 236 h 263"/>
                <a:gd name="T2" fmla="*/ 160 w 1704"/>
                <a:gd name="T3" fmla="*/ 244 h 263"/>
                <a:gd name="T4" fmla="*/ 528 w 1704"/>
                <a:gd name="T5" fmla="*/ 124 h 263"/>
                <a:gd name="T6" fmla="*/ 912 w 1704"/>
                <a:gd name="T7" fmla="*/ 20 h 263"/>
                <a:gd name="T8" fmla="*/ 1704 w 1704"/>
                <a:gd name="T9" fmla="*/ 24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4" h="263">
                  <a:moveTo>
                    <a:pt x="0" y="236"/>
                  </a:moveTo>
                  <a:cubicBezTo>
                    <a:pt x="36" y="249"/>
                    <a:pt x="72" y="263"/>
                    <a:pt x="160" y="244"/>
                  </a:cubicBezTo>
                  <a:cubicBezTo>
                    <a:pt x="248" y="225"/>
                    <a:pt x="403" y="161"/>
                    <a:pt x="528" y="124"/>
                  </a:cubicBezTo>
                  <a:cubicBezTo>
                    <a:pt x="653" y="87"/>
                    <a:pt x="716" y="0"/>
                    <a:pt x="912" y="20"/>
                  </a:cubicBezTo>
                  <a:cubicBezTo>
                    <a:pt x="1108" y="40"/>
                    <a:pt x="1406" y="142"/>
                    <a:pt x="1704" y="244"/>
                  </a:cubicBezTo>
                </a:path>
              </a:pathLst>
            </a:custGeom>
            <a:noFill/>
            <a:ln w="9525" cap="flat" cmpd="sng">
              <a:solidFill>
                <a:sysClr val="windowText" lastClr="000000">
                  <a:lumMod val="50000"/>
                  <a:lumOff val="50000"/>
                </a:sysClr>
              </a:solidFill>
              <a:prstDash val="sys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3" name="Freeform 23"/>
            <p:cNvSpPr>
              <a:spLocks/>
            </p:cNvSpPr>
            <p:nvPr/>
          </p:nvSpPr>
          <p:spPr bwMode="auto">
            <a:xfrm>
              <a:off x="2766635" y="4378987"/>
              <a:ext cx="3403600" cy="1091459"/>
            </a:xfrm>
            <a:custGeom>
              <a:avLst/>
              <a:gdLst>
                <a:gd name="T0" fmla="*/ 0 w 2144"/>
                <a:gd name="T1" fmla="*/ 592 h 752"/>
                <a:gd name="T2" fmla="*/ 128 w 2144"/>
                <a:gd name="T3" fmla="*/ 424 h 752"/>
                <a:gd name="T4" fmla="*/ 448 w 2144"/>
                <a:gd name="T5" fmla="*/ 600 h 752"/>
                <a:gd name="T6" fmla="*/ 576 w 2144"/>
                <a:gd name="T7" fmla="*/ 752 h 752"/>
                <a:gd name="T8" fmla="*/ 888 w 2144"/>
                <a:gd name="T9" fmla="*/ 600 h 752"/>
                <a:gd name="T10" fmla="*/ 1344 w 2144"/>
                <a:gd name="T11" fmla="*/ 160 h 752"/>
                <a:gd name="T12" fmla="*/ 2144 w 2144"/>
                <a:gd name="T13" fmla="*/ 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4" h="752">
                  <a:moveTo>
                    <a:pt x="0" y="592"/>
                  </a:moveTo>
                  <a:cubicBezTo>
                    <a:pt x="26" y="507"/>
                    <a:pt x="53" y="423"/>
                    <a:pt x="128" y="424"/>
                  </a:cubicBezTo>
                  <a:cubicBezTo>
                    <a:pt x="203" y="425"/>
                    <a:pt x="373" y="545"/>
                    <a:pt x="448" y="600"/>
                  </a:cubicBezTo>
                  <a:cubicBezTo>
                    <a:pt x="523" y="655"/>
                    <a:pt x="503" y="752"/>
                    <a:pt x="576" y="752"/>
                  </a:cubicBezTo>
                  <a:cubicBezTo>
                    <a:pt x="649" y="752"/>
                    <a:pt x="760" y="699"/>
                    <a:pt x="888" y="600"/>
                  </a:cubicBezTo>
                  <a:cubicBezTo>
                    <a:pt x="1016" y="501"/>
                    <a:pt x="1135" y="260"/>
                    <a:pt x="1344" y="160"/>
                  </a:cubicBezTo>
                  <a:cubicBezTo>
                    <a:pt x="1553" y="60"/>
                    <a:pt x="1848" y="30"/>
                    <a:pt x="2144" y="0"/>
                  </a:cubicBezTo>
                </a:path>
              </a:pathLst>
            </a:custGeom>
            <a:noFill/>
            <a:ln w="25400" cap="flat" cmpd="sng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4" name="Text Box 24"/>
            <p:cNvSpPr txBox="1">
              <a:spLocks noChangeArrowheads="1"/>
            </p:cNvSpPr>
            <p:nvPr/>
          </p:nvSpPr>
          <p:spPr bwMode="auto">
            <a:xfrm>
              <a:off x="1979235" y="5075663"/>
              <a:ext cx="59690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성과</a:t>
              </a:r>
            </a:p>
          </p:txBody>
        </p:sp>
        <p:sp>
          <p:nvSpPr>
            <p:cNvPr id="105" name="Text Box 25"/>
            <p:cNvSpPr txBox="1">
              <a:spLocks noChangeArrowheads="1"/>
            </p:cNvSpPr>
            <p:nvPr/>
          </p:nvSpPr>
          <p:spPr bwMode="auto">
            <a:xfrm>
              <a:off x="7516435" y="5110496"/>
              <a:ext cx="59690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시간</a:t>
              </a:r>
            </a:p>
          </p:txBody>
        </p:sp>
        <p:sp>
          <p:nvSpPr>
            <p:cNvPr id="106" name="Oval 26"/>
            <p:cNvSpPr>
              <a:spLocks noChangeArrowheads="1"/>
            </p:cNvSpPr>
            <p:nvPr/>
          </p:nvSpPr>
          <p:spPr bwMode="auto">
            <a:xfrm>
              <a:off x="2753935" y="4611212"/>
              <a:ext cx="406400" cy="290282"/>
            </a:xfrm>
            <a:prstGeom prst="ellipse">
              <a:avLst/>
            </a:prstGeom>
            <a:solidFill>
              <a:srgbClr val="DAE4F0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7" name="Text Box 27"/>
            <p:cNvSpPr txBox="1">
              <a:spLocks noChangeArrowheads="1"/>
            </p:cNvSpPr>
            <p:nvPr/>
          </p:nvSpPr>
          <p:spPr bwMode="auto">
            <a:xfrm>
              <a:off x="2626935" y="4413821"/>
              <a:ext cx="787400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높은 기대</a:t>
              </a:r>
            </a:p>
          </p:txBody>
        </p:sp>
        <p:sp>
          <p:nvSpPr>
            <p:cNvPr id="108" name="Text Box 28"/>
            <p:cNvSpPr txBox="1">
              <a:spLocks noChangeArrowheads="1"/>
            </p:cNvSpPr>
            <p:nvPr/>
          </p:nvSpPr>
          <p:spPr bwMode="auto">
            <a:xfrm>
              <a:off x="3261935" y="4866660"/>
              <a:ext cx="787400" cy="26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실망</a:t>
              </a:r>
            </a:p>
          </p:txBody>
        </p:sp>
        <p:sp>
          <p:nvSpPr>
            <p:cNvPr id="109" name="Text Box 29"/>
            <p:cNvSpPr txBox="1">
              <a:spLocks noChangeArrowheads="1"/>
            </p:cNvSpPr>
            <p:nvPr/>
          </p:nvSpPr>
          <p:spPr bwMode="auto">
            <a:xfrm>
              <a:off x="6201985" y="4216429"/>
              <a:ext cx="1054100" cy="412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6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성공적인</a:t>
              </a:r>
            </a:p>
            <a:p>
              <a:pPr marL="0" marR="0" lvl="0" indent="0" algn="ctr" defTabSz="914400" eaLnBrk="1" fontAlgn="auto" latinLnBrk="0" hangingPunct="1">
                <a:lnSpc>
                  <a:spcPct val="6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변화관리</a:t>
              </a:r>
            </a:p>
          </p:txBody>
        </p:sp>
        <p:sp>
          <p:nvSpPr>
            <p:cNvPr id="110" name="Text Box 30"/>
            <p:cNvSpPr txBox="1">
              <a:spLocks noChangeArrowheads="1"/>
            </p:cNvSpPr>
            <p:nvPr/>
          </p:nvSpPr>
          <p:spPr bwMode="auto">
            <a:xfrm>
              <a:off x="6201985" y="4808604"/>
              <a:ext cx="1054100" cy="412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덜 성공적인</a:t>
              </a:r>
            </a:p>
            <a:p>
              <a:pPr marL="0" marR="0" lvl="0" indent="0" algn="ctr" defTabSz="914400" eaLnBrk="0" fontAlgn="base" latinLnBrk="0" hangingPunct="0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 변화관리</a:t>
              </a:r>
            </a:p>
          </p:txBody>
        </p:sp>
        <p:sp>
          <p:nvSpPr>
            <p:cNvPr id="111" name="Text Box 31"/>
            <p:cNvSpPr txBox="1">
              <a:spLocks noChangeArrowheads="1"/>
            </p:cNvSpPr>
            <p:nvPr/>
          </p:nvSpPr>
          <p:spPr bwMode="auto">
            <a:xfrm>
              <a:off x="6201985" y="5667837"/>
              <a:ext cx="1054100" cy="412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실패한</a:t>
              </a:r>
            </a:p>
            <a:p>
              <a:pPr marL="0" marR="0" lvl="0" indent="0" algn="ctr" defTabSz="914400" eaLnBrk="0" fontAlgn="base" latinLnBrk="0" hangingPunct="0">
                <a:lnSpc>
                  <a:spcPct val="6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 변화관리</a:t>
              </a:r>
            </a:p>
          </p:txBody>
        </p:sp>
        <p:sp>
          <p:nvSpPr>
            <p:cNvPr id="112" name="Oval 32"/>
            <p:cNvSpPr>
              <a:spLocks noChangeArrowheads="1"/>
            </p:cNvSpPr>
            <p:nvPr/>
          </p:nvSpPr>
          <p:spPr bwMode="auto">
            <a:xfrm>
              <a:off x="3096835" y="4913105"/>
              <a:ext cx="241300" cy="290282"/>
            </a:xfrm>
            <a:prstGeom prst="ellipse">
              <a:avLst/>
            </a:prstGeom>
            <a:solidFill>
              <a:srgbClr val="DAE4F0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3" name="Oval 33"/>
            <p:cNvSpPr>
              <a:spLocks noChangeArrowheads="1"/>
            </p:cNvSpPr>
            <p:nvPr/>
          </p:nvSpPr>
          <p:spPr bwMode="auto">
            <a:xfrm>
              <a:off x="3274635" y="5424000"/>
              <a:ext cx="596900" cy="441228"/>
            </a:xfrm>
            <a:prstGeom prst="ellipse">
              <a:avLst/>
            </a:prstGeom>
            <a:solidFill>
              <a:srgbClr val="DAE4F0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4" name="Oval 34"/>
            <p:cNvSpPr>
              <a:spLocks noChangeArrowheads="1"/>
            </p:cNvSpPr>
            <p:nvPr/>
          </p:nvSpPr>
          <p:spPr bwMode="auto">
            <a:xfrm>
              <a:off x="4087435" y="5110496"/>
              <a:ext cx="914400" cy="568952"/>
            </a:xfrm>
            <a:prstGeom prst="ellipse">
              <a:avLst/>
            </a:prstGeom>
            <a:solidFill>
              <a:srgbClr val="DAE4F0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5" name="Text Box 35"/>
            <p:cNvSpPr txBox="1">
              <a:spLocks noChangeArrowheads="1"/>
            </p:cNvSpPr>
            <p:nvPr/>
          </p:nvSpPr>
          <p:spPr bwMode="auto">
            <a:xfrm>
              <a:off x="4455735" y="5342722"/>
              <a:ext cx="609600" cy="26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모색</a:t>
              </a:r>
            </a:p>
          </p:txBody>
        </p:sp>
        <p:sp>
          <p:nvSpPr>
            <p:cNvPr id="116" name="Text Box 36"/>
            <p:cNvSpPr txBox="1">
              <a:spLocks noChangeArrowheads="1"/>
            </p:cNvSpPr>
            <p:nvPr/>
          </p:nvSpPr>
          <p:spPr bwMode="auto">
            <a:xfrm>
              <a:off x="3376235" y="5505279"/>
              <a:ext cx="647700" cy="26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저항</a:t>
              </a:r>
            </a:p>
          </p:txBody>
        </p:sp>
        <p:sp>
          <p:nvSpPr>
            <p:cNvPr id="117" name="Oval 37"/>
            <p:cNvSpPr>
              <a:spLocks noChangeArrowheads="1"/>
            </p:cNvSpPr>
            <p:nvPr/>
          </p:nvSpPr>
          <p:spPr bwMode="auto">
            <a:xfrm rot="2700000">
              <a:off x="4302802" y="4175216"/>
              <a:ext cx="1613965" cy="995363"/>
            </a:xfrm>
            <a:prstGeom prst="ellipse">
              <a:avLst/>
            </a:prstGeom>
            <a:solidFill>
              <a:srgbClr val="DAE4F0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8" name="Text Box 38"/>
            <p:cNvSpPr txBox="1">
              <a:spLocks noChangeArrowheads="1"/>
            </p:cNvSpPr>
            <p:nvPr/>
          </p:nvSpPr>
          <p:spPr bwMode="auto">
            <a:xfrm>
              <a:off x="4341435" y="4146762"/>
              <a:ext cx="1079500" cy="355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5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의욕</a:t>
              </a:r>
              <a:r>
                <a:rPr kumimoji="0" lang="en-US" altLang="ko-KR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</a:t>
              </a:r>
            </a:p>
            <a:p>
              <a:pPr marL="0" marR="0" lvl="0" indent="0" algn="ctr" defTabSz="914400" eaLnBrk="1" fontAlgn="auto" latinLnBrk="0" hangingPunct="1">
                <a:lnSpc>
                  <a:spcPct val="5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높은 에너지</a:t>
              </a:r>
            </a:p>
          </p:txBody>
        </p:sp>
        <p:sp>
          <p:nvSpPr>
            <p:cNvPr id="119" name="Text Box 39"/>
            <p:cNvSpPr txBox="1">
              <a:spLocks noChangeArrowheads="1"/>
            </p:cNvSpPr>
            <p:nvPr/>
          </p:nvSpPr>
          <p:spPr bwMode="auto">
            <a:xfrm>
              <a:off x="4773235" y="4738936"/>
              <a:ext cx="1079500" cy="355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5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순응</a:t>
              </a:r>
              <a:r>
                <a:rPr kumimoji="0" lang="en-US" altLang="ko-KR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</a:t>
              </a:r>
            </a:p>
            <a:p>
              <a:pPr marL="0" marR="0" lvl="0" indent="0" algn="ctr" defTabSz="914400" eaLnBrk="1" fontAlgn="auto" latinLnBrk="0" hangingPunct="1">
                <a:lnSpc>
                  <a:spcPct val="5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중간 에너지</a:t>
              </a:r>
            </a:p>
          </p:txBody>
        </p:sp>
        <p:sp>
          <p:nvSpPr>
            <p:cNvPr id="98" name="Text Box 40"/>
            <p:cNvSpPr txBox="1">
              <a:spLocks noChangeArrowheads="1"/>
            </p:cNvSpPr>
            <p:nvPr/>
          </p:nvSpPr>
          <p:spPr bwMode="auto">
            <a:xfrm>
              <a:off x="3134935" y="5915076"/>
              <a:ext cx="360680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‘</a:t>
              </a:r>
              <a:r>
                <a:rPr kumimoji="0" lang="ko-KR" altLang="en-US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높은 기대’</a:t>
              </a:r>
              <a:r>
                <a:rPr kumimoji="0" lang="ko-KR" altLang="en-US" sz="1200" b="1" i="1" u="none" strike="noStrike" kern="0" cap="none" spc="0" normalizeH="0" baseline="0" noProof="0" dirty="0" err="1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를</a:t>
              </a:r>
              <a:r>
                <a:rPr kumimoji="0" lang="ko-KR" altLang="en-US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적절히 줄이고</a:t>
              </a:r>
              <a:r>
                <a:rPr kumimoji="0" lang="en-US" altLang="ko-KR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‘</a:t>
              </a:r>
              <a:r>
                <a:rPr kumimoji="0" lang="ko-KR" altLang="en-US" sz="1200" b="1" i="1" u="none" strike="noStrike" kern="0" cap="none" spc="0" normalizeH="0" baseline="0" noProof="0" dirty="0">
                  <a:ln>
                    <a:noFill/>
                  </a:ln>
                  <a:solidFill>
                    <a:srgbClr val="FF33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저항’을 최소화함</a:t>
              </a:r>
            </a:p>
          </p:txBody>
        </p:sp>
        <p:sp>
          <p:nvSpPr>
            <p:cNvPr id="121" name="Rectangle 11"/>
            <p:cNvSpPr>
              <a:spLocks noChangeArrowheads="1"/>
            </p:cNvSpPr>
            <p:nvPr/>
          </p:nvSpPr>
          <p:spPr bwMode="auto">
            <a:xfrm>
              <a:off x="1281329" y="1661105"/>
              <a:ext cx="1324402" cy="3185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변화관리 요소</a:t>
              </a:r>
            </a:p>
          </p:txBody>
        </p:sp>
        <p:sp>
          <p:nvSpPr>
            <p:cNvPr id="122" name="Line 104"/>
            <p:cNvSpPr>
              <a:spLocks noChangeShapeType="1"/>
            </p:cNvSpPr>
            <p:nvPr/>
          </p:nvSpPr>
          <p:spPr bwMode="auto">
            <a:xfrm>
              <a:off x="1320436" y="1924787"/>
              <a:ext cx="1246188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23" name="Rectangle 17"/>
            <p:cNvSpPr>
              <a:spLocks noChangeArrowheads="1"/>
            </p:cNvSpPr>
            <p:nvPr/>
          </p:nvSpPr>
          <p:spPr bwMode="auto">
            <a:xfrm>
              <a:off x="7119581" y="1661105"/>
              <a:ext cx="1683474" cy="3185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buNone/>
              </a:pPr>
              <a:r>
                <a:rPr lang="ko-KR" altLang="en-US" sz="1400" b="1" dirty="0">
                  <a:latin typeface="+mn-ea"/>
                  <a:ea typeface="+mn-ea"/>
                </a:rPr>
                <a:t>성공적인 변화관리</a:t>
              </a:r>
            </a:p>
          </p:txBody>
        </p:sp>
        <p:sp>
          <p:nvSpPr>
            <p:cNvPr id="124" name="Line 104"/>
            <p:cNvSpPr>
              <a:spLocks noChangeShapeType="1"/>
            </p:cNvSpPr>
            <p:nvPr/>
          </p:nvSpPr>
          <p:spPr bwMode="auto">
            <a:xfrm>
              <a:off x="7247551" y="1924787"/>
              <a:ext cx="1427534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사업수행 결과에 대한 평가를 바탕으로 내부 구성원</a:t>
            </a:r>
            <a:r>
              <a:rPr lang="en-US" altLang="ko-KR" sz="1600" dirty="0"/>
              <a:t>, </a:t>
            </a:r>
            <a:r>
              <a:rPr lang="ko-KR" altLang="en-US" sz="1600" dirty="0"/>
              <a:t>이해 당사자 및 관련 전문가의 참여를 유도하여 주기적으로 향후 정보화 발전계획을 개정</a:t>
            </a:r>
            <a:r>
              <a:rPr lang="en-US" altLang="ko-KR" sz="1600" dirty="0"/>
              <a:t>·</a:t>
            </a:r>
            <a:r>
              <a:rPr lang="ko-KR" altLang="en-US" sz="1600" dirty="0"/>
              <a:t>보완하는 메커니즘을 구현하여야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6.1.4 </a:t>
            </a:r>
            <a:r>
              <a:rPr lang="ko-KR" altLang="en-US" dirty="0"/>
              <a:t>변화관리 </a:t>
            </a:r>
            <a:r>
              <a:rPr lang="ko-KR" altLang="en-US" dirty="0" err="1"/>
              <a:t>매커니즘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sp>
        <p:nvSpPr>
          <p:cNvPr id="66" name="AutoShape 20"/>
          <p:cNvSpPr>
            <a:spLocks noChangeArrowheads="1"/>
          </p:cNvSpPr>
          <p:nvPr/>
        </p:nvSpPr>
        <p:spPr bwMode="auto">
          <a:xfrm flipH="1">
            <a:off x="3098800" y="3961532"/>
            <a:ext cx="3394075" cy="914400"/>
          </a:xfrm>
          <a:custGeom>
            <a:avLst/>
            <a:gdLst>
              <a:gd name="G0" fmla="+- 17492 0 0"/>
              <a:gd name="G1" fmla="+- 3262 0 0"/>
              <a:gd name="G2" fmla="+- 21600 0 3262"/>
              <a:gd name="G3" fmla="+- 10800 0 3262"/>
              <a:gd name="G4" fmla="+- 21600 0 17492"/>
              <a:gd name="G5" fmla="*/ G4 G3 10800"/>
              <a:gd name="G6" fmla="+- 21600 0 G5"/>
              <a:gd name="T0" fmla="*/ 17492 w 21600"/>
              <a:gd name="T1" fmla="*/ 0 h 21600"/>
              <a:gd name="T2" fmla="*/ 0 w 21600"/>
              <a:gd name="T3" fmla="*/ 10800 h 21600"/>
              <a:gd name="T4" fmla="*/ 17492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7492" y="0"/>
                </a:moveTo>
                <a:lnTo>
                  <a:pt x="17492" y="3262"/>
                </a:lnTo>
                <a:lnTo>
                  <a:pt x="3375" y="3262"/>
                </a:lnTo>
                <a:lnTo>
                  <a:pt x="3375" y="18338"/>
                </a:lnTo>
                <a:lnTo>
                  <a:pt x="17492" y="18338"/>
                </a:lnTo>
                <a:lnTo>
                  <a:pt x="17492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3262"/>
                </a:moveTo>
                <a:lnTo>
                  <a:pt x="1350" y="18338"/>
                </a:lnTo>
                <a:lnTo>
                  <a:pt x="2700" y="18338"/>
                </a:lnTo>
                <a:lnTo>
                  <a:pt x="2700" y="3262"/>
                </a:lnTo>
                <a:close/>
              </a:path>
              <a:path w="21600" h="21600">
                <a:moveTo>
                  <a:pt x="0" y="3262"/>
                </a:moveTo>
                <a:lnTo>
                  <a:pt x="0" y="18338"/>
                </a:lnTo>
                <a:lnTo>
                  <a:pt x="675" y="18338"/>
                </a:lnTo>
                <a:lnTo>
                  <a:pt x="675" y="3262"/>
                </a:lnTo>
                <a:close/>
              </a:path>
            </a:pathLst>
          </a:custGeom>
          <a:solidFill>
            <a:srgbClr val="508CD2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marR="0" lvl="0" indent="-171450" algn="ctr" fontAlgn="auto" latinLnBrk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67" name="Rectangle 21"/>
          <p:cNvSpPr>
            <a:spLocks noChangeArrowheads="1"/>
          </p:cNvSpPr>
          <p:nvPr/>
        </p:nvSpPr>
        <p:spPr bwMode="auto">
          <a:xfrm>
            <a:off x="4087557" y="4304858"/>
            <a:ext cx="1503618" cy="2868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/>
          <a:p>
            <a:pPr marL="0" marR="0" lvl="0" indent="0" algn="r" defTabSz="7620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모니터링 </a:t>
            </a:r>
            <a:r>
              <a:rPr kumimoji="1" lang="en-US" altLang="ko-K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&amp; </a:t>
            </a:r>
            <a:r>
              <a:rPr kumimoji="1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피드백</a:t>
            </a:r>
          </a:p>
        </p:txBody>
      </p:sp>
      <p:sp>
        <p:nvSpPr>
          <p:cNvPr id="68" name="AutoShape 22"/>
          <p:cNvSpPr>
            <a:spLocks noChangeArrowheads="1"/>
          </p:cNvSpPr>
          <p:nvPr/>
        </p:nvSpPr>
        <p:spPr bwMode="auto">
          <a:xfrm rot="10800000">
            <a:off x="7010400" y="3669432"/>
            <a:ext cx="1143000" cy="990600"/>
          </a:xfrm>
          <a:custGeom>
            <a:avLst/>
            <a:gdLst>
              <a:gd name="G0" fmla="+- 13920 0 0"/>
              <a:gd name="G1" fmla="+- 4223 0 0"/>
              <a:gd name="G2" fmla="+- 12158 0 4223"/>
              <a:gd name="G3" fmla="+- G2 0 4223"/>
              <a:gd name="G4" fmla="*/ G3 32768 32059"/>
              <a:gd name="G5" fmla="*/ G4 1 2"/>
              <a:gd name="G6" fmla="+- 21600 0 13920"/>
              <a:gd name="G7" fmla="*/ G6 4223 6079"/>
              <a:gd name="G8" fmla="+- G7 13920 0"/>
              <a:gd name="T0" fmla="*/ 13920 w 21600"/>
              <a:gd name="T1" fmla="*/ 0 h 21600"/>
              <a:gd name="T2" fmla="*/ 13920 w 21600"/>
              <a:gd name="T3" fmla="*/ 12158 h 21600"/>
              <a:gd name="T4" fmla="*/ 1897 w 21600"/>
              <a:gd name="T5" fmla="*/ 21600 h 21600"/>
              <a:gd name="T6" fmla="*/ 21600 w 21600"/>
              <a:gd name="T7" fmla="*/ 6079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G1 h 21600"/>
              <a:gd name="T14" fmla="*/ G8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3920" y="0"/>
                </a:lnTo>
                <a:lnTo>
                  <a:pt x="13920" y="4223"/>
                </a:lnTo>
                <a:lnTo>
                  <a:pt x="12427" y="4223"/>
                </a:lnTo>
                <a:cubicBezTo>
                  <a:pt x="5564" y="4223"/>
                  <a:pt x="0" y="7776"/>
                  <a:pt x="0" y="12158"/>
                </a:cubicBezTo>
                <a:lnTo>
                  <a:pt x="0" y="21600"/>
                </a:lnTo>
                <a:lnTo>
                  <a:pt x="3794" y="21600"/>
                </a:lnTo>
                <a:lnTo>
                  <a:pt x="3794" y="12158"/>
                </a:lnTo>
                <a:cubicBezTo>
                  <a:pt x="3794" y="9826"/>
                  <a:pt x="7659" y="7935"/>
                  <a:pt x="12427" y="7935"/>
                </a:cubicBezTo>
                <a:lnTo>
                  <a:pt x="13920" y="7935"/>
                </a:lnTo>
                <a:lnTo>
                  <a:pt x="13920" y="12158"/>
                </a:lnTo>
                <a:close/>
              </a:path>
            </a:pathLst>
          </a:custGeom>
          <a:solidFill>
            <a:srgbClr val="B1CFFC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algn="ctr" latinLnBrk="0">
              <a:lnSpc>
                <a:spcPct val="105000"/>
              </a:lnSpc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69" name="AutoShape 23"/>
          <p:cNvSpPr>
            <a:spLocks noChangeArrowheads="1"/>
          </p:cNvSpPr>
          <p:nvPr/>
        </p:nvSpPr>
        <p:spPr bwMode="auto">
          <a:xfrm rot="16200000">
            <a:off x="1693069" y="3555926"/>
            <a:ext cx="914400" cy="1141412"/>
          </a:xfrm>
          <a:custGeom>
            <a:avLst/>
            <a:gdLst>
              <a:gd name="G0" fmla="+- 13012 0 0"/>
              <a:gd name="G1" fmla="+- 4350 0 0"/>
              <a:gd name="G2" fmla="+- 12158 0 4350"/>
              <a:gd name="G3" fmla="+- G2 0 4350"/>
              <a:gd name="G4" fmla="*/ G3 32768 32059"/>
              <a:gd name="G5" fmla="*/ G4 1 2"/>
              <a:gd name="G6" fmla="+- 21600 0 13012"/>
              <a:gd name="G7" fmla="*/ G6 4350 6079"/>
              <a:gd name="G8" fmla="+- G7 13012 0"/>
              <a:gd name="T0" fmla="*/ 13012 w 21600"/>
              <a:gd name="T1" fmla="*/ 0 h 21600"/>
              <a:gd name="T2" fmla="*/ 13012 w 21600"/>
              <a:gd name="T3" fmla="*/ 12158 h 21600"/>
              <a:gd name="T4" fmla="*/ 1767 w 21600"/>
              <a:gd name="T5" fmla="*/ 21600 h 21600"/>
              <a:gd name="T6" fmla="*/ 21600 w 21600"/>
              <a:gd name="T7" fmla="*/ 6079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G1 h 21600"/>
              <a:gd name="T14" fmla="*/ G8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3012" y="0"/>
                </a:lnTo>
                <a:lnTo>
                  <a:pt x="13012" y="4350"/>
                </a:lnTo>
                <a:lnTo>
                  <a:pt x="12427" y="4350"/>
                </a:lnTo>
                <a:cubicBezTo>
                  <a:pt x="5564" y="4350"/>
                  <a:pt x="0" y="7846"/>
                  <a:pt x="0" y="12158"/>
                </a:cubicBezTo>
                <a:lnTo>
                  <a:pt x="0" y="21600"/>
                </a:lnTo>
                <a:lnTo>
                  <a:pt x="3534" y="21600"/>
                </a:lnTo>
                <a:lnTo>
                  <a:pt x="3534" y="12158"/>
                </a:lnTo>
                <a:cubicBezTo>
                  <a:pt x="3534" y="9756"/>
                  <a:pt x="7516" y="7808"/>
                  <a:pt x="12427" y="7808"/>
                </a:cubicBezTo>
                <a:lnTo>
                  <a:pt x="13012" y="7808"/>
                </a:lnTo>
                <a:lnTo>
                  <a:pt x="13012" y="12158"/>
                </a:lnTo>
                <a:close/>
              </a:path>
            </a:pathLst>
          </a:custGeom>
          <a:solidFill>
            <a:srgbClr val="B1CFFC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algn="ctr" latinLnBrk="0">
              <a:lnSpc>
                <a:spcPct val="105000"/>
              </a:lnSpc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70" name="AutoShape 24"/>
          <p:cNvSpPr>
            <a:spLocks noChangeArrowheads="1"/>
          </p:cNvSpPr>
          <p:nvPr/>
        </p:nvSpPr>
        <p:spPr bwMode="auto">
          <a:xfrm>
            <a:off x="560388" y="4965253"/>
            <a:ext cx="8731250" cy="1042987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rgbClr val="808080"/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marL="171450" marR="0" lvl="0" indent="-171450" defTabSz="914400" eaLnBrk="0" fontAlgn="base" latinLnBrk="0" hangingPunct="0">
              <a:lnSpc>
                <a:spcPct val="160000"/>
              </a:lnSpc>
              <a:spcBef>
                <a:spcPct val="15000"/>
              </a:spcBef>
              <a:spcAft>
                <a:spcPct val="0"/>
              </a:spcAft>
              <a:buClr>
                <a:schemeClr val="tx1">
                  <a:lumMod val="75000"/>
                  <a:lumOff val="25000"/>
                </a:scheme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dirty="0">
                <a:latin typeface="+mn-ea"/>
              </a:rPr>
              <a:t>현업 요구사항 반영 및 지속적 모니터링</a:t>
            </a:r>
            <a:r>
              <a:rPr kumimoji="1" lang="en-US" altLang="ko-KR" sz="1100" dirty="0">
                <a:latin typeface="+mn-ea"/>
              </a:rPr>
              <a:t>/Feedback </a:t>
            </a:r>
            <a:r>
              <a:rPr kumimoji="1" lang="ko-KR" altLang="en-US" sz="1100" dirty="0">
                <a:latin typeface="+mn-ea"/>
              </a:rPr>
              <a:t>체계 구현</a:t>
            </a:r>
          </a:p>
          <a:p>
            <a:pPr marL="171450" marR="0" lvl="0" indent="-171450" defTabSz="914400" eaLnBrk="0" fontAlgn="base" latinLnBrk="0" hangingPunct="0">
              <a:lnSpc>
                <a:spcPct val="160000"/>
              </a:lnSpc>
              <a:spcBef>
                <a:spcPct val="15000"/>
              </a:spcBef>
              <a:spcAft>
                <a:spcPct val="0"/>
              </a:spcAft>
              <a:buClr>
                <a:schemeClr val="tx1">
                  <a:lumMod val="75000"/>
                  <a:lumOff val="25000"/>
                </a:scheme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dirty="0">
                <a:latin typeface="+mn-ea"/>
              </a:rPr>
              <a:t>추진 사업의 진행상황 분석 등을 통해 추진 사업 사이의 통일성을 유지하고 중복과 대립을 해소</a:t>
            </a:r>
          </a:p>
          <a:p>
            <a:pPr marL="171450" marR="0" lvl="0" indent="-171450" defTabSz="914400" eaLnBrk="0" fontAlgn="base" latinLnBrk="0" hangingPunct="0">
              <a:lnSpc>
                <a:spcPct val="160000"/>
              </a:lnSpc>
              <a:spcBef>
                <a:spcPct val="15000"/>
              </a:spcBef>
              <a:spcAft>
                <a:spcPct val="0"/>
              </a:spcAft>
              <a:buClr>
                <a:schemeClr val="tx1">
                  <a:lumMod val="75000"/>
                  <a:lumOff val="25000"/>
                </a:scheme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dirty="0">
                <a:latin typeface="+mn-ea"/>
              </a:rPr>
              <a:t>중지된 과제 혹은 사업에 대한 처리</a:t>
            </a:r>
          </a:p>
        </p:txBody>
      </p:sp>
      <p:pic>
        <p:nvPicPr>
          <p:cNvPr id="71" name="그림 70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566220" y="2844698"/>
            <a:ext cx="8724132" cy="304826"/>
          </a:xfrm>
          <a:prstGeom prst="rect">
            <a:avLst/>
          </a:prstGeom>
        </p:spPr>
      </p:pic>
      <p:sp>
        <p:nvSpPr>
          <p:cNvPr id="72" name="AutoShape 8"/>
          <p:cNvSpPr>
            <a:spLocks noChangeArrowheads="1"/>
          </p:cNvSpPr>
          <p:nvPr/>
        </p:nvSpPr>
        <p:spPr bwMode="auto">
          <a:xfrm>
            <a:off x="3535363" y="1916832"/>
            <a:ext cx="2767012" cy="9144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ysClr val="window" lastClr="FFFFFF">
                <a:lumMod val="50000"/>
              </a:sysClr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추진 사업내의 개선 모델 및 내</a:t>
            </a:r>
            <a:r>
              <a:rPr kumimoji="1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·</a:t>
            </a: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외부 구성원에 대한 반응 파악 및 대응 프로그램 마련</a:t>
            </a:r>
          </a:p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변화 내재화를 위한 지원 활동 수행</a:t>
            </a:r>
          </a:p>
        </p:txBody>
      </p:sp>
      <p:sp>
        <p:nvSpPr>
          <p:cNvPr id="73" name="AutoShape 9"/>
          <p:cNvSpPr>
            <a:spLocks noChangeArrowheads="1"/>
          </p:cNvSpPr>
          <p:nvPr/>
        </p:nvSpPr>
        <p:spPr bwMode="auto">
          <a:xfrm>
            <a:off x="6524625" y="1916832"/>
            <a:ext cx="2765425" cy="9144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ysClr val="window" lastClr="FFFFFF">
                <a:lumMod val="50000"/>
              </a:sysClr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프로젝트 추진의 결과 외에 변화에 대한 구성원의 반응 평가 및 분석</a:t>
            </a:r>
          </a:p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변화에 대한 평가 및 보상</a:t>
            </a:r>
          </a:p>
        </p:txBody>
      </p:sp>
      <p:sp>
        <p:nvSpPr>
          <p:cNvPr id="74" name="AutoShape 10"/>
          <p:cNvSpPr>
            <a:spLocks noChangeArrowheads="1"/>
          </p:cNvSpPr>
          <p:nvPr/>
        </p:nvSpPr>
        <p:spPr bwMode="auto">
          <a:xfrm>
            <a:off x="549275" y="1916832"/>
            <a:ext cx="2765425" cy="9144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ysClr val="window" lastClr="FFFFFF">
                <a:lumMod val="50000"/>
              </a:sysClr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정보화 추진 사업에 대한 명확한 이해를 바탕으로 추진 사업 사이의 차별성</a:t>
            </a:r>
            <a:r>
              <a:rPr kumimoji="1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진행 이유 등과 우선순위 파악</a:t>
            </a:r>
          </a:p>
          <a:p>
            <a:pPr marL="171450" marR="0" lvl="0" indent="-171450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비전 및 추진 사업 사이의 정합성 유지</a:t>
            </a:r>
          </a:p>
        </p:txBody>
      </p:sp>
      <p:sp>
        <p:nvSpPr>
          <p:cNvPr id="75" name="AutoShape 14"/>
          <p:cNvSpPr>
            <a:spLocks noChangeArrowheads="1"/>
          </p:cNvSpPr>
          <p:nvPr/>
        </p:nvSpPr>
        <p:spPr bwMode="auto">
          <a:xfrm>
            <a:off x="849313" y="3007444"/>
            <a:ext cx="2519362" cy="566738"/>
          </a:xfrm>
          <a:prstGeom prst="homePlate">
            <a:avLst>
              <a:gd name="adj" fmla="val 58798"/>
            </a:avLst>
          </a:prstGeom>
          <a:solidFill>
            <a:srgbClr val="508CD2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algn="ctr" latinLnBrk="0">
              <a:lnSpc>
                <a:spcPct val="105000"/>
              </a:lnSpc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76" name="AutoShape 15"/>
          <p:cNvSpPr>
            <a:spLocks noChangeArrowheads="1"/>
          </p:cNvSpPr>
          <p:nvPr/>
        </p:nvSpPr>
        <p:spPr bwMode="auto">
          <a:xfrm>
            <a:off x="3800475" y="3009032"/>
            <a:ext cx="2592388" cy="566737"/>
          </a:xfrm>
          <a:prstGeom prst="chevron">
            <a:avLst>
              <a:gd name="adj" fmla="val 62027"/>
            </a:avLst>
          </a:prstGeom>
          <a:solidFill>
            <a:srgbClr val="508CD2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marR="0" lvl="0" indent="-171450" algn="ctr" fontAlgn="auto" latinLnBrk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  <a:p>
            <a:pPr marR="0" lvl="0" indent="-171450" algn="ctr" fontAlgn="auto" latinLnBrk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77" name="AutoShape 16"/>
          <p:cNvSpPr>
            <a:spLocks noChangeArrowheads="1"/>
          </p:cNvSpPr>
          <p:nvPr/>
        </p:nvSpPr>
        <p:spPr bwMode="auto">
          <a:xfrm>
            <a:off x="6753225" y="3007444"/>
            <a:ext cx="2592388" cy="566738"/>
          </a:xfrm>
          <a:prstGeom prst="chevron">
            <a:avLst>
              <a:gd name="adj" fmla="val 55081"/>
            </a:avLst>
          </a:prstGeom>
          <a:solidFill>
            <a:srgbClr val="508CD2"/>
          </a:solidFill>
          <a:ln w="9525">
            <a:solidFill>
              <a:sysClr val="windowText" lastClr="000000"/>
            </a:solidFill>
            <a:miter lim="800000"/>
            <a:headEnd/>
            <a:tailEnd/>
          </a:ln>
          <a:effectLst>
            <a:outerShdw dist="35921" dir="2700000" algn="ctr" rotWithShape="0">
              <a:sysClr val="windowText" lastClr="000000">
                <a:alpha val="70000"/>
              </a:sysClr>
            </a:outerShdw>
          </a:effectLst>
          <a:extLst/>
        </p:spPr>
        <p:txBody>
          <a:bodyPr wrap="none" anchor="ctr"/>
          <a:lstStyle/>
          <a:p>
            <a:pPr marR="0" lvl="0" indent="-171450" algn="ctr" fontAlgn="auto" latinLnBrk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  <a:p>
            <a:pPr marR="0" lvl="0" indent="-171450" algn="ctr" fontAlgn="auto" latinLnBrk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lang="ko-KR" altLang="en-US" sz="1100" kern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87" name="AutoShape 17"/>
          <p:cNvSpPr>
            <a:spLocks noChangeArrowheads="1"/>
          </p:cNvSpPr>
          <p:nvPr/>
        </p:nvSpPr>
        <p:spPr bwMode="auto">
          <a:xfrm>
            <a:off x="971550" y="3179796"/>
            <a:ext cx="2036763" cy="246062"/>
          </a:xfrm>
          <a:prstGeom prst="homePlate">
            <a:avLst>
              <a:gd name="adj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DDEFF"/>
                    </a:gs>
                    <a:gs pos="100000">
                      <a:srgbClr val="CDDEFF">
                        <a:gamma/>
                        <a:tint val="0"/>
                        <a:invGamma/>
                      </a:srgbClr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C9C9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44000" anchor="ctr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계획 수립</a:t>
            </a:r>
          </a:p>
        </p:txBody>
      </p:sp>
      <p:sp>
        <p:nvSpPr>
          <p:cNvPr id="88" name="AutoShape 18"/>
          <p:cNvSpPr>
            <a:spLocks noChangeArrowheads="1"/>
          </p:cNvSpPr>
          <p:nvPr/>
        </p:nvSpPr>
        <p:spPr bwMode="auto">
          <a:xfrm>
            <a:off x="3960813" y="3179796"/>
            <a:ext cx="2160587" cy="233362"/>
          </a:xfrm>
          <a:prstGeom prst="chevron">
            <a:avLst>
              <a:gd name="adj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DDEFF"/>
                    </a:gs>
                    <a:gs pos="100000">
                      <a:srgbClr val="CDDEFF">
                        <a:gamma/>
                        <a:tint val="0"/>
                        <a:invGamma/>
                      </a:srgbClr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C9C9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44000" anchor="ctr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  사업 추진</a:t>
            </a:r>
          </a:p>
        </p:txBody>
      </p:sp>
      <p:sp>
        <p:nvSpPr>
          <p:cNvPr id="89" name="AutoShape 19"/>
          <p:cNvSpPr>
            <a:spLocks noChangeArrowheads="1"/>
          </p:cNvSpPr>
          <p:nvPr/>
        </p:nvSpPr>
        <p:spPr bwMode="auto">
          <a:xfrm>
            <a:off x="6897688" y="3179796"/>
            <a:ext cx="2160587" cy="233362"/>
          </a:xfrm>
          <a:prstGeom prst="chevron">
            <a:avLst>
              <a:gd name="adj" fmla="val 0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DDEFF"/>
                    </a:gs>
                    <a:gs pos="100000">
                      <a:srgbClr val="CDDEFF">
                        <a:gamma/>
                        <a:tint val="0"/>
                        <a:invGamma/>
                      </a:srgbClr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C9C9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44000" anchor="ctr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   평가 측정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>
              <a:lnSpc>
                <a:spcPct val="90000"/>
              </a:lnSpc>
            </a:pPr>
            <a:r>
              <a:rPr lang="ko-KR" altLang="en-US" sz="1600" dirty="0"/>
              <a:t>본 사업의 변화관리 대상은 경영층</a:t>
            </a:r>
            <a:r>
              <a:rPr lang="en-US" altLang="ko-KR" sz="1600" dirty="0"/>
              <a:t>(</a:t>
            </a:r>
            <a:r>
              <a:rPr lang="ko-KR" altLang="en-US" sz="1600" dirty="0"/>
              <a:t>간부</a:t>
            </a:r>
            <a:r>
              <a:rPr lang="en-US" altLang="ko-KR" sz="1600" dirty="0"/>
              <a:t>), </a:t>
            </a:r>
            <a:r>
              <a:rPr lang="ko-KR" altLang="en-US" sz="1600" dirty="0"/>
              <a:t>관리자</a:t>
            </a:r>
            <a:r>
              <a:rPr lang="en-US" altLang="ko-KR" sz="1600" dirty="0"/>
              <a:t>, </a:t>
            </a:r>
            <a:r>
              <a:rPr lang="ko-KR" altLang="en-US" sz="1600" dirty="0"/>
              <a:t>현업 담당자 그리고 프로젝트 추진팀원의 </a:t>
            </a:r>
            <a:r>
              <a:rPr lang="en-US" altLang="ko-KR" sz="1600" dirty="0"/>
              <a:t>4</a:t>
            </a:r>
            <a:r>
              <a:rPr lang="ko-KR" altLang="en-US" sz="1600" dirty="0"/>
              <a:t>집단으로 구분하였으며</a:t>
            </a:r>
            <a:r>
              <a:rPr lang="en-US" altLang="ko-KR" sz="1600" dirty="0"/>
              <a:t>, </a:t>
            </a:r>
            <a:r>
              <a:rPr lang="ko-KR" altLang="en-US" sz="1600" dirty="0"/>
              <a:t>대상 별 주요 관심사 및 변화관리 위험요인을 고려하여 차별화된 방안을 도출함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6.1.5 </a:t>
            </a:r>
            <a:r>
              <a:rPr lang="ko-KR" altLang="en-US" dirty="0"/>
              <a:t>변화관리 대상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sp>
        <p:nvSpPr>
          <p:cNvPr id="144" name="Rectangle 6"/>
          <p:cNvSpPr>
            <a:spLocks noChangeArrowheads="1"/>
          </p:cNvSpPr>
          <p:nvPr/>
        </p:nvSpPr>
        <p:spPr bwMode="auto">
          <a:xfrm>
            <a:off x="346566" y="1518692"/>
            <a:ext cx="5770025" cy="334962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anchor="ctr"/>
          <a:lstStyle/>
          <a:p>
            <a:pPr marR="0" lvl="0" indent="0" algn="ctr" latinLnBrk="0">
              <a:buSzTx/>
              <a:tabLst/>
              <a:defRPr/>
            </a:pPr>
            <a:r>
              <a:rPr lang="ko-KR" altLang="en-US" sz="1400" b="1" ker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변화 대상 분석</a:t>
            </a:r>
          </a:p>
        </p:txBody>
      </p:sp>
      <p:sp>
        <p:nvSpPr>
          <p:cNvPr id="145" name="Rectangle 29"/>
          <p:cNvSpPr>
            <a:spLocks noChangeArrowheads="1"/>
          </p:cNvSpPr>
          <p:nvPr/>
        </p:nvSpPr>
        <p:spPr bwMode="auto">
          <a:xfrm>
            <a:off x="6464509" y="1518692"/>
            <a:ext cx="3062057" cy="334962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anchor="ctr"/>
          <a:lstStyle/>
          <a:p>
            <a:pPr marR="0" lvl="0" indent="0" algn="ctr" latinLnBrk="0">
              <a:buSzTx/>
              <a:tabLst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기본 접근방향</a:t>
            </a:r>
          </a:p>
        </p:txBody>
      </p:sp>
      <p:sp>
        <p:nvSpPr>
          <p:cNvPr id="146" name="Rectangle 5"/>
          <p:cNvSpPr>
            <a:spLocks noChangeArrowheads="1"/>
          </p:cNvSpPr>
          <p:nvPr/>
        </p:nvSpPr>
        <p:spPr bwMode="auto">
          <a:xfrm>
            <a:off x="346566" y="1856766"/>
            <a:ext cx="5770025" cy="44496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eaLnBrk="0" fontAlgn="base" latinLnBrk="0" hangingPunct="0"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ko-KR" altLang="en-US" sz="1400" kern="0">
              <a:solidFill>
                <a:srgbClr val="000000"/>
              </a:solidFill>
            </a:endParaRPr>
          </a:p>
        </p:txBody>
      </p:sp>
      <p:sp>
        <p:nvSpPr>
          <p:cNvPr id="147" name="Rectangle 88"/>
          <p:cNvSpPr>
            <a:spLocks noChangeArrowheads="1"/>
          </p:cNvSpPr>
          <p:nvPr/>
        </p:nvSpPr>
        <p:spPr bwMode="auto">
          <a:xfrm>
            <a:off x="1757739" y="2252054"/>
            <a:ext cx="2587150" cy="884237"/>
          </a:xfrm>
          <a:prstGeom prst="rect">
            <a:avLst/>
          </a:prstGeom>
          <a:solidFill>
            <a:schemeClr val="accent3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lIns="90000" tIns="46800" rIns="90000" bIns="46800" anchor="ctr"/>
          <a:lstStyle/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체육진흥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서비스 대국민 편익 제고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의사결정 지원</a:t>
            </a:r>
            <a:endParaRPr kumimoji="0" lang="en-US" altLang="ko-KR" sz="11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87313" marR="0" lvl="0" indent="-87313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체육진흥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정책의 안정적 이행</a:t>
            </a:r>
          </a:p>
          <a:p>
            <a:pPr marL="87313" marR="0" lvl="0" indent="-87313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사업추진 신속성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정확성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통합성</a:t>
            </a:r>
          </a:p>
        </p:txBody>
      </p:sp>
      <p:sp>
        <p:nvSpPr>
          <p:cNvPr id="148" name="Rectangle 92"/>
          <p:cNvSpPr>
            <a:spLocks noChangeArrowheads="1"/>
          </p:cNvSpPr>
          <p:nvPr/>
        </p:nvSpPr>
        <p:spPr bwMode="auto">
          <a:xfrm>
            <a:off x="4451655" y="2252054"/>
            <a:ext cx="1548885" cy="88423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rgbClr val="808080"/>
            </a:solidFill>
            <a:miter lim="800000"/>
            <a:headEnd/>
            <a:tailEnd/>
          </a:ln>
        </p:spPr>
        <p:txBody>
          <a:bodyPr anchor="ctr"/>
          <a:lstStyle/>
          <a:p>
            <a:pPr marL="93663" indent="-93663" latinLnBrk="0">
              <a:buClr>
                <a:sysClr val="windowText" lastClr="000000"/>
              </a:buClr>
              <a:buFontTx/>
              <a:buChar char="•"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사업의 비전 및 전략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추진 과제에 대한 명확한 이해와 일관되고 통일된 사업 지시 필요</a:t>
            </a:r>
          </a:p>
        </p:txBody>
      </p:sp>
      <p:sp>
        <p:nvSpPr>
          <p:cNvPr id="149" name="Rectangle 89"/>
          <p:cNvSpPr>
            <a:spLocks noChangeArrowheads="1"/>
          </p:cNvSpPr>
          <p:nvPr/>
        </p:nvSpPr>
        <p:spPr bwMode="auto">
          <a:xfrm>
            <a:off x="1757739" y="3252179"/>
            <a:ext cx="2587150" cy="927100"/>
          </a:xfrm>
          <a:prstGeom prst="rect">
            <a:avLst/>
          </a:prstGeom>
          <a:solidFill>
            <a:schemeClr val="accent3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lIns="90000" tIns="46800" rIns="90000" bIns="46800" anchor="ctr"/>
          <a:lstStyle/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통합된 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Process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를 통한 효율성 향상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조직원의 저항 정도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프로젝트 이후 역할의 변화정도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대외 경쟁력 향상</a:t>
            </a:r>
          </a:p>
        </p:txBody>
      </p:sp>
      <p:sp>
        <p:nvSpPr>
          <p:cNvPr id="150" name="Rectangle 93"/>
          <p:cNvSpPr>
            <a:spLocks noChangeArrowheads="1"/>
          </p:cNvSpPr>
          <p:nvPr/>
        </p:nvSpPr>
        <p:spPr bwMode="auto">
          <a:xfrm>
            <a:off x="4451655" y="3252179"/>
            <a:ext cx="1548885" cy="927100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구성원들을 독려하고   지지해 줄 수 있도록 </a:t>
            </a:r>
            <a:b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</a:b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본 사업에 대한 관심과 지원을 유도해야 함</a:t>
            </a:r>
          </a:p>
        </p:txBody>
      </p:sp>
      <p:sp>
        <p:nvSpPr>
          <p:cNvPr id="151" name="Rectangle 90"/>
          <p:cNvSpPr>
            <a:spLocks noChangeArrowheads="1"/>
          </p:cNvSpPr>
          <p:nvPr/>
        </p:nvSpPr>
        <p:spPr bwMode="auto">
          <a:xfrm>
            <a:off x="1754644" y="4295166"/>
            <a:ext cx="2587150" cy="947738"/>
          </a:xfrm>
          <a:prstGeom prst="rect">
            <a:avLst/>
          </a:prstGeom>
          <a:solidFill>
            <a:schemeClr val="accent3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lIns="90000" tIns="46800" rIns="90000" bIns="46800" anchor="ctr"/>
          <a:lstStyle/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현업의 업무 편의성 증대 정도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자신의 </a:t>
            </a:r>
            <a:r>
              <a:rPr kumimoji="0" lang="en-US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Role</a:t>
            </a: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의 변화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중복업무 감소 정도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프로세스 설계에 대한 기본적 이해</a:t>
            </a:r>
          </a:p>
        </p:txBody>
      </p:sp>
      <p:sp>
        <p:nvSpPr>
          <p:cNvPr id="152" name="Rectangle 94"/>
          <p:cNvSpPr>
            <a:spLocks noChangeArrowheads="1"/>
          </p:cNvSpPr>
          <p:nvPr/>
        </p:nvSpPr>
        <p:spPr bwMode="auto">
          <a:xfrm>
            <a:off x="4451655" y="4295166"/>
            <a:ext cx="1548885" cy="947738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indent="-93663" latinLnBrk="0">
              <a:buClr>
                <a:sysClr val="windowText" lastClr="000000"/>
              </a:buClr>
              <a:buFontTx/>
              <a:buChar char="•"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대상인원이 많고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</a:t>
            </a:r>
          </a:p>
          <a:p>
            <a:pPr marL="93663" indent="-93663" latinLnBrk="0">
              <a:buClr>
                <a:sysClr val="windowText" lastClr="000000"/>
              </a:buClr>
              <a:buFontTx/>
              <a:buChar char="•"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비 관리직의 비율이 높음</a:t>
            </a:r>
          </a:p>
        </p:txBody>
      </p:sp>
      <p:sp>
        <p:nvSpPr>
          <p:cNvPr id="153" name="Rectangle 91"/>
          <p:cNvSpPr>
            <a:spLocks noChangeArrowheads="1"/>
          </p:cNvSpPr>
          <p:nvPr/>
        </p:nvSpPr>
        <p:spPr bwMode="auto">
          <a:xfrm>
            <a:off x="1754644" y="5360379"/>
            <a:ext cx="2587150" cy="795337"/>
          </a:xfrm>
          <a:prstGeom prst="rect">
            <a:avLst/>
          </a:prstGeom>
          <a:solidFill>
            <a:schemeClr val="accent3"/>
          </a:solidFill>
          <a:ln w="6350" algn="ctr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lIns="90000" tIns="46800" rIns="90000" bIns="46800" anchor="ctr"/>
          <a:lstStyle/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시스템 구현 </a:t>
            </a:r>
            <a:r>
              <a:rPr kumimoji="0" lang="en-US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Process</a:t>
            </a: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의 현업 적합도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기일 내에 프로젝트 완료 가능성</a:t>
            </a:r>
          </a:p>
          <a:p>
            <a:pPr marL="87313" marR="0" lvl="0" indent="-87313" algn="l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 typeface="Wingdings" pitchFamily="2" charset="2"/>
              <a:buChar char="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현업 업무 변화에 대한 반응</a:t>
            </a:r>
          </a:p>
        </p:txBody>
      </p:sp>
      <p:sp>
        <p:nvSpPr>
          <p:cNvPr id="154" name="Rectangle 95"/>
          <p:cNvSpPr>
            <a:spLocks noChangeArrowheads="1"/>
          </p:cNvSpPr>
          <p:nvPr/>
        </p:nvSpPr>
        <p:spPr bwMode="auto">
          <a:xfrm>
            <a:off x="4448560" y="5360379"/>
            <a:ext cx="1548885" cy="795337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indent="-93663" latinLnBrk="0">
              <a:buClr>
                <a:sysClr val="windowText" lastClr="000000"/>
              </a:buClr>
              <a:buFontTx/>
              <a:buChar char="•"/>
            </a:pP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과업범위가 넓고</a:t>
            </a:r>
            <a:r>
              <a:rPr lang="en-US" altLang="ko-KR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50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이해관계자가 많음</a:t>
            </a:r>
          </a:p>
        </p:txBody>
      </p:sp>
      <p:sp>
        <p:nvSpPr>
          <p:cNvPr id="155" name="Rectangle 30"/>
          <p:cNvSpPr>
            <a:spLocks noChangeArrowheads="1"/>
          </p:cNvSpPr>
          <p:nvPr/>
        </p:nvSpPr>
        <p:spPr bwMode="auto">
          <a:xfrm>
            <a:off x="6464509" y="1856766"/>
            <a:ext cx="3062057" cy="44496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indent="-265113" eaLnBrk="0" fontAlgn="base" latinLnBrk="0" hangingPunct="0"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Font typeface="Wingdings" pitchFamily="2" charset="2"/>
              <a:buChar char="q"/>
              <a:defRPr/>
            </a:pPr>
            <a:endParaRPr lang="ko-KR" altLang="en-US" sz="1400" kern="0">
              <a:solidFill>
                <a:srgbClr val="000000"/>
              </a:solidFill>
            </a:endParaRPr>
          </a:p>
        </p:txBody>
      </p:sp>
      <p:sp>
        <p:nvSpPr>
          <p:cNvPr id="156" name="Rectangle 92"/>
          <p:cNvSpPr>
            <a:spLocks noChangeArrowheads="1"/>
          </p:cNvSpPr>
          <p:nvPr/>
        </p:nvSpPr>
        <p:spPr bwMode="auto">
          <a:xfrm>
            <a:off x="6592938" y="2258404"/>
            <a:ext cx="2834723" cy="884237"/>
          </a:xfrm>
          <a:prstGeom prst="rect">
            <a:avLst/>
          </a:prstGeom>
          <a:solidFill>
            <a:sysClr val="window" lastClr="FFFFFF"/>
          </a:solidFill>
          <a:ln w="19050">
            <a:solidFill>
              <a:srgbClr val="808080"/>
            </a:solidFill>
            <a:miter lim="800000"/>
            <a:headEnd/>
            <a:tailEnd/>
          </a:ln>
        </p:spPr>
        <p:txBody>
          <a:bodyPr anchor="ctr"/>
          <a:lstStyle/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Benchmarking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또는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자문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등을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통해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/>
            </a:r>
            <a:b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</a:b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사업의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목표를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가시적으로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제시하고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사업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 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추진을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위한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</a:t>
            </a:r>
            <a:r>
              <a:rPr kumimoji="0" lang="en-US" altLang="ko-KR" sz="11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강력한</a:t>
            </a: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Sponsorship </a:t>
            </a: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확보</a:t>
            </a:r>
          </a:p>
        </p:txBody>
      </p:sp>
      <p:sp>
        <p:nvSpPr>
          <p:cNvPr id="157" name="Rectangle 93"/>
          <p:cNvSpPr>
            <a:spLocks noChangeArrowheads="1"/>
          </p:cNvSpPr>
          <p:nvPr/>
        </p:nvSpPr>
        <p:spPr bwMode="auto">
          <a:xfrm>
            <a:off x="6592938" y="3258529"/>
            <a:ext cx="2834723" cy="927100"/>
          </a:xfrm>
          <a:prstGeom prst="rect">
            <a:avLst/>
          </a:prstGeom>
          <a:solidFill>
            <a:sysClr val="window" lastClr="FFFFFF"/>
          </a:solidFill>
          <a:ln w="19050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경영회의 또는 </a:t>
            </a:r>
            <a:r>
              <a:rPr kumimoji="0" lang="en-US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Workshop </a:t>
            </a: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을 통해 프로젝트 관련 설명회 또는 진행상황에 대한 브리핑을 실시하고</a:t>
            </a:r>
            <a:r>
              <a:rPr kumimoji="0" lang="en-US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중간 관리층의 참석을 독려하여 이해와 참여를 유도 </a:t>
            </a:r>
          </a:p>
        </p:txBody>
      </p:sp>
      <p:sp>
        <p:nvSpPr>
          <p:cNvPr id="158" name="Rectangle 94"/>
          <p:cNvSpPr>
            <a:spLocks noChangeArrowheads="1"/>
          </p:cNvSpPr>
          <p:nvPr/>
        </p:nvSpPr>
        <p:spPr bwMode="auto">
          <a:xfrm>
            <a:off x="6592938" y="4301516"/>
            <a:ext cx="2834723" cy="947738"/>
          </a:xfrm>
          <a:prstGeom prst="rect">
            <a:avLst/>
          </a:prstGeom>
          <a:solidFill>
            <a:sysClr val="window" lastClr="FFFFFF"/>
          </a:solidFill>
          <a:ln w="19050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ko-KR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On-Site 설명회 및 교육 실시</a:t>
            </a:r>
          </a:p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ko-KR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비교적 이해하기 쉬운 내용의 교육 및 홍보 실시 </a:t>
            </a:r>
            <a:endParaRPr kumimoji="0" lang="ko-KR" altLang="en-US" sz="1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59" name="Rectangle 95"/>
          <p:cNvSpPr>
            <a:spLocks noChangeArrowheads="1"/>
          </p:cNvSpPr>
          <p:nvPr/>
        </p:nvSpPr>
        <p:spPr bwMode="auto">
          <a:xfrm>
            <a:off x="6589844" y="5366729"/>
            <a:ext cx="2834723" cy="795337"/>
          </a:xfrm>
          <a:prstGeom prst="rect">
            <a:avLst/>
          </a:prstGeom>
          <a:solidFill>
            <a:sysClr val="window" lastClr="FFFFFF"/>
          </a:solidFill>
          <a:ln w="19050" algn="ctr">
            <a:solidFill>
              <a:srgbClr val="80808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marL="93663" marR="0" lvl="0" indent="-93663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ysClr val="windowText" lastClr="000000"/>
              </a:buClr>
              <a:buSzTx/>
              <a:buFontTx/>
              <a:buChar char="•"/>
              <a:tabLst/>
              <a:defRPr/>
            </a:pP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프로젝트 단계별로 중점관리 포인트를 차별화하는 선택적 변화관리 활동 수행</a:t>
            </a:r>
            <a:r>
              <a:rPr kumimoji="0" lang="en-US" altLang="ko-KR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, </a:t>
            </a:r>
            <a:r>
              <a:rPr kumimoji="0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프로젝트 투입 멤버에 대한 동기부여 필요 </a:t>
            </a:r>
          </a:p>
        </p:txBody>
      </p:sp>
      <p:sp>
        <p:nvSpPr>
          <p:cNvPr id="160" name="AutoShape 38"/>
          <p:cNvSpPr>
            <a:spLocks noChangeArrowheads="1"/>
          </p:cNvSpPr>
          <p:nvPr/>
        </p:nvSpPr>
        <p:spPr bwMode="auto">
          <a:xfrm flipV="1">
            <a:off x="6122547" y="2345084"/>
            <a:ext cx="535379" cy="668338"/>
          </a:xfrm>
          <a:custGeom>
            <a:avLst/>
            <a:gdLst>
              <a:gd name="G0" fmla="+- 11273 0 0"/>
              <a:gd name="G1" fmla="+- 4804 0 0"/>
              <a:gd name="G2" fmla="+- 21600 0 4804"/>
              <a:gd name="G3" fmla="+- 10800 0 4804"/>
              <a:gd name="G4" fmla="+- 21600 0 11273"/>
              <a:gd name="G5" fmla="*/ G4 G3 10800"/>
              <a:gd name="G6" fmla="+- 21600 0 G5"/>
              <a:gd name="T0" fmla="*/ 11273 w 21600"/>
              <a:gd name="T1" fmla="*/ 0 h 21600"/>
              <a:gd name="T2" fmla="*/ 0 w 21600"/>
              <a:gd name="T3" fmla="*/ 10800 h 21600"/>
              <a:gd name="T4" fmla="*/ 11273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1273" y="0"/>
                </a:moveTo>
                <a:lnTo>
                  <a:pt x="11273" y="4804"/>
                </a:lnTo>
                <a:lnTo>
                  <a:pt x="3375" y="4804"/>
                </a:lnTo>
                <a:lnTo>
                  <a:pt x="3375" y="16796"/>
                </a:lnTo>
                <a:lnTo>
                  <a:pt x="11273" y="16796"/>
                </a:lnTo>
                <a:lnTo>
                  <a:pt x="11273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4804"/>
                </a:moveTo>
                <a:lnTo>
                  <a:pt x="1350" y="16796"/>
                </a:lnTo>
                <a:lnTo>
                  <a:pt x="2700" y="16796"/>
                </a:lnTo>
                <a:lnTo>
                  <a:pt x="2700" y="4804"/>
                </a:lnTo>
                <a:close/>
              </a:path>
              <a:path w="21600" h="21600">
                <a:moveTo>
                  <a:pt x="0" y="4804"/>
                </a:moveTo>
                <a:lnTo>
                  <a:pt x="0" y="16796"/>
                </a:lnTo>
                <a:lnTo>
                  <a:pt x="675" y="16796"/>
                </a:lnTo>
                <a:lnTo>
                  <a:pt x="675" y="4804"/>
                </a:lnTo>
                <a:close/>
              </a:path>
            </a:pathLst>
          </a:custGeom>
          <a:solidFill>
            <a:srgbClr val="B1CFFC"/>
          </a:solidFill>
          <a:ln>
            <a:noFill/>
          </a:ln>
          <a:effectLst/>
          <a:extLst/>
        </p:spPr>
        <p:txBody>
          <a:bodyPr vert="eaVert" wrap="non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61" name="AutoShape 39"/>
          <p:cNvSpPr>
            <a:spLocks noChangeArrowheads="1"/>
          </p:cNvSpPr>
          <p:nvPr/>
        </p:nvSpPr>
        <p:spPr bwMode="auto">
          <a:xfrm flipV="1">
            <a:off x="6122547" y="3384897"/>
            <a:ext cx="535379" cy="668337"/>
          </a:xfrm>
          <a:custGeom>
            <a:avLst/>
            <a:gdLst>
              <a:gd name="G0" fmla="+- 11273 0 0"/>
              <a:gd name="G1" fmla="+- 4804 0 0"/>
              <a:gd name="G2" fmla="+- 21600 0 4804"/>
              <a:gd name="G3" fmla="+- 10800 0 4804"/>
              <a:gd name="G4" fmla="+- 21600 0 11273"/>
              <a:gd name="G5" fmla="*/ G4 G3 10800"/>
              <a:gd name="G6" fmla="+- 21600 0 G5"/>
              <a:gd name="T0" fmla="*/ 11273 w 21600"/>
              <a:gd name="T1" fmla="*/ 0 h 21600"/>
              <a:gd name="T2" fmla="*/ 0 w 21600"/>
              <a:gd name="T3" fmla="*/ 10800 h 21600"/>
              <a:gd name="T4" fmla="*/ 11273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1273" y="0"/>
                </a:moveTo>
                <a:lnTo>
                  <a:pt x="11273" y="4804"/>
                </a:lnTo>
                <a:lnTo>
                  <a:pt x="3375" y="4804"/>
                </a:lnTo>
                <a:lnTo>
                  <a:pt x="3375" y="16796"/>
                </a:lnTo>
                <a:lnTo>
                  <a:pt x="11273" y="16796"/>
                </a:lnTo>
                <a:lnTo>
                  <a:pt x="11273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4804"/>
                </a:moveTo>
                <a:lnTo>
                  <a:pt x="1350" y="16796"/>
                </a:lnTo>
                <a:lnTo>
                  <a:pt x="2700" y="16796"/>
                </a:lnTo>
                <a:lnTo>
                  <a:pt x="2700" y="4804"/>
                </a:lnTo>
                <a:close/>
              </a:path>
              <a:path w="21600" h="21600">
                <a:moveTo>
                  <a:pt x="0" y="4804"/>
                </a:moveTo>
                <a:lnTo>
                  <a:pt x="0" y="16796"/>
                </a:lnTo>
                <a:lnTo>
                  <a:pt x="675" y="16796"/>
                </a:lnTo>
                <a:lnTo>
                  <a:pt x="675" y="4804"/>
                </a:lnTo>
                <a:close/>
              </a:path>
            </a:pathLst>
          </a:custGeom>
          <a:solidFill>
            <a:srgbClr val="B1CFFC"/>
          </a:solidFill>
          <a:ln>
            <a:noFill/>
          </a:ln>
          <a:effectLst/>
          <a:extLst/>
        </p:spPr>
        <p:txBody>
          <a:bodyPr vert="eaVert" wrap="non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62" name="AutoShape 40"/>
          <p:cNvSpPr>
            <a:spLocks noChangeArrowheads="1"/>
          </p:cNvSpPr>
          <p:nvPr/>
        </p:nvSpPr>
        <p:spPr bwMode="auto">
          <a:xfrm flipV="1">
            <a:off x="6122547" y="4408834"/>
            <a:ext cx="535379" cy="668338"/>
          </a:xfrm>
          <a:custGeom>
            <a:avLst/>
            <a:gdLst>
              <a:gd name="G0" fmla="+- 11273 0 0"/>
              <a:gd name="G1" fmla="+- 4804 0 0"/>
              <a:gd name="G2" fmla="+- 21600 0 4804"/>
              <a:gd name="G3" fmla="+- 10800 0 4804"/>
              <a:gd name="G4" fmla="+- 21600 0 11273"/>
              <a:gd name="G5" fmla="*/ G4 G3 10800"/>
              <a:gd name="G6" fmla="+- 21600 0 G5"/>
              <a:gd name="T0" fmla="*/ 11273 w 21600"/>
              <a:gd name="T1" fmla="*/ 0 h 21600"/>
              <a:gd name="T2" fmla="*/ 0 w 21600"/>
              <a:gd name="T3" fmla="*/ 10800 h 21600"/>
              <a:gd name="T4" fmla="*/ 11273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1273" y="0"/>
                </a:moveTo>
                <a:lnTo>
                  <a:pt x="11273" y="4804"/>
                </a:lnTo>
                <a:lnTo>
                  <a:pt x="3375" y="4804"/>
                </a:lnTo>
                <a:lnTo>
                  <a:pt x="3375" y="16796"/>
                </a:lnTo>
                <a:lnTo>
                  <a:pt x="11273" y="16796"/>
                </a:lnTo>
                <a:lnTo>
                  <a:pt x="11273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4804"/>
                </a:moveTo>
                <a:lnTo>
                  <a:pt x="1350" y="16796"/>
                </a:lnTo>
                <a:lnTo>
                  <a:pt x="2700" y="16796"/>
                </a:lnTo>
                <a:lnTo>
                  <a:pt x="2700" y="4804"/>
                </a:lnTo>
                <a:close/>
              </a:path>
              <a:path w="21600" h="21600">
                <a:moveTo>
                  <a:pt x="0" y="4804"/>
                </a:moveTo>
                <a:lnTo>
                  <a:pt x="0" y="16796"/>
                </a:lnTo>
                <a:lnTo>
                  <a:pt x="675" y="16796"/>
                </a:lnTo>
                <a:lnTo>
                  <a:pt x="675" y="4804"/>
                </a:lnTo>
                <a:close/>
              </a:path>
            </a:pathLst>
          </a:custGeom>
          <a:solidFill>
            <a:srgbClr val="B1CFFC"/>
          </a:solidFill>
          <a:ln>
            <a:noFill/>
          </a:ln>
          <a:effectLst/>
          <a:extLst/>
        </p:spPr>
        <p:txBody>
          <a:bodyPr vert="eaVert" wrap="non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63" name="AutoShape 41"/>
          <p:cNvSpPr>
            <a:spLocks noChangeArrowheads="1"/>
          </p:cNvSpPr>
          <p:nvPr/>
        </p:nvSpPr>
        <p:spPr bwMode="auto">
          <a:xfrm flipV="1">
            <a:off x="6122547" y="5416897"/>
            <a:ext cx="535379" cy="668337"/>
          </a:xfrm>
          <a:custGeom>
            <a:avLst/>
            <a:gdLst>
              <a:gd name="G0" fmla="+- 11273 0 0"/>
              <a:gd name="G1" fmla="+- 4804 0 0"/>
              <a:gd name="G2" fmla="+- 21600 0 4804"/>
              <a:gd name="G3" fmla="+- 10800 0 4804"/>
              <a:gd name="G4" fmla="+- 21600 0 11273"/>
              <a:gd name="G5" fmla="*/ G4 G3 10800"/>
              <a:gd name="G6" fmla="+- 21600 0 G5"/>
              <a:gd name="T0" fmla="*/ 11273 w 21600"/>
              <a:gd name="T1" fmla="*/ 0 h 21600"/>
              <a:gd name="T2" fmla="*/ 0 w 21600"/>
              <a:gd name="T3" fmla="*/ 10800 h 21600"/>
              <a:gd name="T4" fmla="*/ 11273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1273" y="0"/>
                </a:moveTo>
                <a:lnTo>
                  <a:pt x="11273" y="4804"/>
                </a:lnTo>
                <a:lnTo>
                  <a:pt x="3375" y="4804"/>
                </a:lnTo>
                <a:lnTo>
                  <a:pt x="3375" y="16796"/>
                </a:lnTo>
                <a:lnTo>
                  <a:pt x="11273" y="16796"/>
                </a:lnTo>
                <a:lnTo>
                  <a:pt x="11273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4804"/>
                </a:moveTo>
                <a:lnTo>
                  <a:pt x="1350" y="16796"/>
                </a:lnTo>
                <a:lnTo>
                  <a:pt x="2700" y="16796"/>
                </a:lnTo>
                <a:lnTo>
                  <a:pt x="2700" y="4804"/>
                </a:lnTo>
                <a:close/>
              </a:path>
              <a:path w="21600" h="21600">
                <a:moveTo>
                  <a:pt x="0" y="4804"/>
                </a:moveTo>
                <a:lnTo>
                  <a:pt x="0" y="16796"/>
                </a:lnTo>
                <a:lnTo>
                  <a:pt x="675" y="16796"/>
                </a:lnTo>
                <a:lnTo>
                  <a:pt x="675" y="4804"/>
                </a:lnTo>
                <a:close/>
              </a:path>
            </a:pathLst>
          </a:custGeom>
          <a:solidFill>
            <a:srgbClr val="B1CFFC"/>
          </a:solidFill>
          <a:ln>
            <a:noFill/>
          </a:ln>
          <a:effectLst/>
          <a:extLst/>
        </p:spPr>
        <p:txBody>
          <a:bodyPr vert="eaVert" wrap="non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grpSp>
        <p:nvGrpSpPr>
          <p:cNvPr id="5" name="Group 34"/>
          <p:cNvGrpSpPr/>
          <p:nvPr/>
        </p:nvGrpSpPr>
        <p:grpSpPr>
          <a:xfrm>
            <a:off x="430701" y="1902679"/>
            <a:ext cx="1244250" cy="286232"/>
            <a:chOff x="5633193" y="3818016"/>
            <a:chExt cx="1276545" cy="286232"/>
          </a:xfrm>
        </p:grpSpPr>
        <p:sp>
          <p:nvSpPr>
            <p:cNvPr id="184" name="Line 104"/>
            <p:cNvSpPr>
              <a:spLocks noChangeShapeType="1"/>
            </p:cNvSpPr>
            <p:nvPr/>
          </p:nvSpPr>
          <p:spPr bwMode="auto">
            <a:xfrm>
              <a:off x="5665640" y="4076070"/>
              <a:ext cx="1217910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85" name="Text Box 105"/>
            <p:cNvSpPr txBox="1">
              <a:spLocks noChangeArrowheads="1"/>
            </p:cNvSpPr>
            <p:nvPr/>
          </p:nvSpPr>
          <p:spPr bwMode="auto">
            <a:xfrm>
              <a:off x="5633193" y="3818016"/>
              <a:ext cx="1276545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marL="0" marR="0" indent="0" algn="ctr" defTabSz="914400" eaLnBrk="1" fontAlgn="base" latinLnBrk="0" hangingPunct="1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kumimoji="0" lang="ko-KR" altLang="en-US" sz="1300" b="1" dirty="0">
                  <a:latin typeface="+mn-ea"/>
                  <a:ea typeface="+mn-ea"/>
                  <a:cs typeface="Arial" pitchFamily="34" charset="0"/>
                </a:rPr>
                <a:t>변화관리 대상</a:t>
              </a:r>
            </a:p>
          </p:txBody>
        </p:sp>
      </p:grpSp>
      <p:grpSp>
        <p:nvGrpSpPr>
          <p:cNvPr id="6" name="Group 68"/>
          <p:cNvGrpSpPr/>
          <p:nvPr/>
        </p:nvGrpSpPr>
        <p:grpSpPr>
          <a:xfrm>
            <a:off x="1825072" y="1902679"/>
            <a:ext cx="2452483" cy="286232"/>
            <a:chOff x="5016526" y="3818016"/>
            <a:chExt cx="2516138" cy="286232"/>
          </a:xfrm>
        </p:grpSpPr>
        <p:sp>
          <p:nvSpPr>
            <p:cNvPr id="182" name="Line 104"/>
            <p:cNvSpPr>
              <a:spLocks noChangeShapeType="1"/>
            </p:cNvSpPr>
            <p:nvPr/>
          </p:nvSpPr>
          <p:spPr bwMode="auto">
            <a:xfrm>
              <a:off x="5016526" y="4076070"/>
              <a:ext cx="2516138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83" name="Text Box 105"/>
            <p:cNvSpPr txBox="1">
              <a:spLocks noChangeArrowheads="1"/>
            </p:cNvSpPr>
            <p:nvPr/>
          </p:nvSpPr>
          <p:spPr bwMode="auto">
            <a:xfrm>
              <a:off x="5633194" y="3818016"/>
              <a:ext cx="1276546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marL="0" marR="0" indent="0" algn="ctr" defTabSz="914400" eaLnBrk="1" fontAlgn="base" latinLnBrk="0" hangingPunct="1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kumimoji="0" lang="ko-KR" altLang="en-US" sz="1300" b="1" dirty="0">
                  <a:latin typeface="+mn-ea"/>
                  <a:ea typeface="+mn-ea"/>
                  <a:cs typeface="Arial" pitchFamily="34" charset="0"/>
                </a:rPr>
                <a:t>주요 관심사항</a:t>
              </a:r>
            </a:p>
          </p:txBody>
        </p:sp>
      </p:grpSp>
      <p:grpSp>
        <p:nvGrpSpPr>
          <p:cNvPr id="7" name="Group 1"/>
          <p:cNvGrpSpPr/>
          <p:nvPr/>
        </p:nvGrpSpPr>
        <p:grpSpPr>
          <a:xfrm>
            <a:off x="4488791" y="1902679"/>
            <a:ext cx="1468423" cy="302390"/>
            <a:chOff x="4665663" y="1897087"/>
            <a:chExt cx="1506536" cy="302390"/>
          </a:xfrm>
        </p:grpSpPr>
        <p:sp>
          <p:nvSpPr>
            <p:cNvPr id="180" name="Line 104"/>
            <p:cNvSpPr>
              <a:spLocks noChangeShapeType="1"/>
            </p:cNvSpPr>
            <p:nvPr/>
          </p:nvSpPr>
          <p:spPr bwMode="auto">
            <a:xfrm>
              <a:off x="4665663" y="2155141"/>
              <a:ext cx="1506536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81" name="Text Box 105"/>
            <p:cNvSpPr txBox="1">
              <a:spLocks noChangeArrowheads="1"/>
            </p:cNvSpPr>
            <p:nvPr/>
          </p:nvSpPr>
          <p:spPr bwMode="auto">
            <a:xfrm>
              <a:off x="4692008" y="1897087"/>
              <a:ext cx="1447585" cy="3023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marL="0" marR="0" indent="0" algn="ctr" defTabSz="914400" eaLnBrk="1" fontAlgn="base" latinLnBrk="0" hangingPunct="1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kumimoji="0" lang="ko-KR" altLang="en-US" sz="1300" b="1" dirty="0" err="1">
                  <a:latin typeface="+mn-ea"/>
                  <a:ea typeface="+mn-ea"/>
                  <a:cs typeface="Arial" pitchFamily="34" charset="0"/>
                </a:rPr>
                <a:t>대상별</a:t>
              </a:r>
              <a:r>
                <a:rPr kumimoji="0" lang="ko-KR" altLang="en-US" sz="1300" b="1" dirty="0">
                  <a:latin typeface="+mn-ea"/>
                  <a:ea typeface="+mn-ea"/>
                  <a:cs typeface="Arial" pitchFamily="34" charset="0"/>
                </a:rPr>
                <a:t> 위험요인</a:t>
              </a:r>
            </a:p>
          </p:txBody>
        </p:sp>
      </p:grpSp>
      <p:grpSp>
        <p:nvGrpSpPr>
          <p:cNvPr id="8" name="Group 74"/>
          <p:cNvGrpSpPr/>
          <p:nvPr/>
        </p:nvGrpSpPr>
        <p:grpSpPr>
          <a:xfrm>
            <a:off x="6874474" y="1909029"/>
            <a:ext cx="2253408" cy="286232"/>
            <a:chOff x="5118647" y="3818016"/>
            <a:chExt cx="2311896" cy="286232"/>
          </a:xfrm>
        </p:grpSpPr>
        <p:sp>
          <p:nvSpPr>
            <p:cNvPr id="178" name="Line 104"/>
            <p:cNvSpPr>
              <a:spLocks noChangeShapeType="1"/>
            </p:cNvSpPr>
            <p:nvPr/>
          </p:nvSpPr>
          <p:spPr bwMode="auto">
            <a:xfrm>
              <a:off x="5118647" y="4076070"/>
              <a:ext cx="2311896" cy="0"/>
            </a:xfrm>
            <a:prstGeom prst="line">
              <a:avLst/>
            </a:prstGeom>
            <a:noFill/>
            <a:ln w="3175">
              <a:solidFill>
                <a:sysClr val="windowText" lastClr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79" name="Text Box 105"/>
            <p:cNvSpPr txBox="1">
              <a:spLocks noChangeArrowheads="1"/>
            </p:cNvSpPr>
            <p:nvPr/>
          </p:nvSpPr>
          <p:spPr bwMode="auto">
            <a:xfrm>
              <a:off x="5804232" y="3818016"/>
              <a:ext cx="934468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marL="0" marR="0" indent="0" algn="ctr" defTabSz="914400" eaLnBrk="1" fontAlgn="base" latinLnBrk="0" hangingPunct="1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kumimoji="0" lang="ko-KR" altLang="en-US" sz="1300" b="1" dirty="0">
                  <a:latin typeface="+mn-ea"/>
                  <a:ea typeface="+mn-ea"/>
                  <a:cs typeface="Arial" pitchFamily="34" charset="0"/>
                </a:rPr>
                <a:t>기본 방향</a:t>
              </a:r>
            </a:p>
          </p:txBody>
        </p:sp>
      </p:grpSp>
      <p:sp>
        <p:nvSpPr>
          <p:cNvPr id="170" name="AutoShape 84"/>
          <p:cNvSpPr>
            <a:spLocks noChangeArrowheads="1"/>
          </p:cNvSpPr>
          <p:nvPr/>
        </p:nvSpPr>
        <p:spPr bwMode="auto">
          <a:xfrm>
            <a:off x="443816" y="2252054"/>
            <a:ext cx="1192997" cy="884237"/>
          </a:xfrm>
          <a:prstGeom prst="bevel">
            <a:avLst>
              <a:gd name="adj" fmla="val 0"/>
            </a:avLst>
          </a:prstGeom>
          <a:solidFill>
            <a:srgbClr val="508CD2"/>
          </a:solidFill>
          <a:ln w="28575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chemeClr val="bg1"/>
                </a:solidFill>
                <a:latin typeface="+mn-ea"/>
              </a:rPr>
              <a:t>경영층 </a:t>
            </a:r>
            <a:r>
              <a:rPr kumimoji="1" lang="en-US" altLang="ko-KR" sz="1200" b="1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ko-KR" altLang="en-US" sz="1200" b="1" dirty="0">
                <a:solidFill>
                  <a:schemeClr val="bg1"/>
                </a:solidFill>
                <a:latin typeface="+mn-ea"/>
              </a:rPr>
              <a:t>간부</a:t>
            </a:r>
            <a:r>
              <a:rPr kumimoji="1" lang="en-US" altLang="ko-KR" sz="1200" b="1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71" name="AutoShape 85"/>
          <p:cNvSpPr>
            <a:spLocks noChangeArrowheads="1"/>
          </p:cNvSpPr>
          <p:nvPr/>
        </p:nvSpPr>
        <p:spPr bwMode="auto">
          <a:xfrm>
            <a:off x="443816" y="3252179"/>
            <a:ext cx="1191600" cy="927100"/>
          </a:xfrm>
          <a:prstGeom prst="bevel">
            <a:avLst>
              <a:gd name="adj" fmla="val 0"/>
            </a:avLst>
          </a:prstGeom>
          <a:solidFill>
            <a:srgbClr val="508CD2"/>
          </a:solidFill>
          <a:ln w="28575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chemeClr val="bg1"/>
                </a:solidFill>
                <a:latin typeface="+mn-ea"/>
              </a:rPr>
              <a:t>중간 관리자</a:t>
            </a:r>
          </a:p>
        </p:txBody>
      </p:sp>
      <p:sp>
        <p:nvSpPr>
          <p:cNvPr id="172" name="AutoShape 86"/>
          <p:cNvSpPr>
            <a:spLocks noChangeArrowheads="1"/>
          </p:cNvSpPr>
          <p:nvPr/>
        </p:nvSpPr>
        <p:spPr bwMode="auto">
          <a:xfrm>
            <a:off x="443816" y="4295166"/>
            <a:ext cx="1191600" cy="947738"/>
          </a:xfrm>
          <a:prstGeom prst="bevel">
            <a:avLst>
              <a:gd name="adj" fmla="val 0"/>
            </a:avLst>
          </a:prstGeom>
          <a:solidFill>
            <a:srgbClr val="508CD2"/>
          </a:solidFill>
          <a:ln w="28575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chemeClr val="bg1"/>
                </a:solidFill>
                <a:latin typeface="+mn-ea"/>
              </a:rPr>
              <a:t>현업 담당자</a:t>
            </a:r>
          </a:p>
        </p:txBody>
      </p:sp>
      <p:sp>
        <p:nvSpPr>
          <p:cNvPr id="173" name="AutoShape 87"/>
          <p:cNvSpPr>
            <a:spLocks noChangeArrowheads="1"/>
          </p:cNvSpPr>
          <p:nvPr/>
        </p:nvSpPr>
        <p:spPr bwMode="auto">
          <a:xfrm>
            <a:off x="443816" y="5360379"/>
            <a:ext cx="1191600" cy="795337"/>
          </a:xfrm>
          <a:prstGeom prst="bevel">
            <a:avLst>
              <a:gd name="adj" fmla="val 0"/>
            </a:avLst>
          </a:prstGeom>
          <a:solidFill>
            <a:srgbClr val="508CD2"/>
          </a:solidFill>
          <a:ln w="28575">
            <a:solidFill>
              <a:srgbClr val="80808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chemeClr val="bg1"/>
                </a:solidFill>
                <a:latin typeface="+mn-ea"/>
              </a:rPr>
              <a:t>사업참여</a:t>
            </a:r>
          </a:p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 err="1">
                <a:solidFill>
                  <a:schemeClr val="bg1"/>
                </a:solidFill>
                <a:latin typeface="+mn-ea"/>
              </a:rPr>
              <a:t>프로젝트팀</a:t>
            </a:r>
            <a:endParaRPr kumimoji="1" lang="ko-KR" altLang="en-US" sz="12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pPr>
              <a:lnSpc>
                <a:spcPct val="90000"/>
              </a:lnSpc>
            </a:pPr>
            <a:r>
              <a:rPr lang="ko-KR" altLang="en-US" sz="1600" dirty="0"/>
              <a:t>변화관리는 조직 변형이 발생하는 여러 요인 중 행동양식 및 문화</a:t>
            </a:r>
            <a:r>
              <a:rPr lang="en-US" altLang="ko-KR" sz="1600" dirty="0"/>
              <a:t>, </a:t>
            </a:r>
            <a:r>
              <a:rPr lang="ko-KR" altLang="en-US" sz="1600" dirty="0"/>
              <a:t>조직 및 제도</a:t>
            </a:r>
            <a:r>
              <a:rPr lang="en-US" altLang="ko-KR" sz="1600" dirty="0"/>
              <a:t>, </a:t>
            </a:r>
            <a:r>
              <a:rPr lang="ko-KR" altLang="en-US" sz="1600" dirty="0"/>
              <a:t>역량 등을 관리함으로써 보다 순조롭게 갈등 및 저항의 상황에 적응하도록 돕는 일련의 과정임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6.1.6 </a:t>
            </a:r>
            <a:r>
              <a:rPr lang="ko-KR" altLang="en-US" dirty="0"/>
              <a:t>변화관리 영역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sp>
        <p:nvSpPr>
          <p:cNvPr id="90" name="Text Box 24"/>
          <p:cNvSpPr txBox="1">
            <a:spLocks noChangeArrowheads="1"/>
          </p:cNvSpPr>
          <p:nvPr/>
        </p:nvSpPr>
        <p:spPr bwMode="auto">
          <a:xfrm>
            <a:off x="2289572" y="5532338"/>
            <a:ext cx="15113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177800" indent="-1778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marL="85725" indent="-85725"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정보기술아키텍처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기반의 시스템 구현</a:t>
            </a:r>
          </a:p>
        </p:txBody>
      </p:sp>
      <p:sp>
        <p:nvSpPr>
          <p:cNvPr id="91" name="Text Box 25"/>
          <p:cNvSpPr txBox="1">
            <a:spLocks noChangeArrowheads="1"/>
          </p:cNvSpPr>
          <p:nvPr/>
        </p:nvSpPr>
        <p:spPr bwMode="auto">
          <a:xfrm>
            <a:off x="4255391" y="5662637"/>
            <a:ext cx="1705721" cy="638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85725" indent="-85725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프로세스 중심 조직구조</a:t>
            </a:r>
            <a:endParaRPr lang="en-US" altLang="ko-KR" sz="1000" b="0" dirty="0">
              <a:latin typeface="+mn-ea"/>
              <a:ea typeface="+mn-ea"/>
            </a:endParaRPr>
          </a:p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혁신에 대한 합리적 보상과 동기부여</a:t>
            </a:r>
          </a:p>
        </p:txBody>
      </p:sp>
      <p:sp>
        <p:nvSpPr>
          <p:cNvPr id="92" name="Text Box 26"/>
          <p:cNvSpPr txBox="1">
            <a:spLocks noChangeArrowheads="1"/>
          </p:cNvSpPr>
          <p:nvPr/>
        </p:nvSpPr>
        <p:spPr bwMode="auto">
          <a:xfrm>
            <a:off x="7255275" y="4221088"/>
            <a:ext cx="2209800" cy="669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85725" indent="-85725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선진 프로세스에 필요한 개인의 역량강화</a:t>
            </a:r>
          </a:p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공유 및 증가된 정보 처리 역량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강화</a:t>
            </a:r>
          </a:p>
        </p:txBody>
      </p:sp>
      <p:sp>
        <p:nvSpPr>
          <p:cNvPr id="93" name="Text Box 27"/>
          <p:cNvSpPr txBox="1">
            <a:spLocks noChangeArrowheads="1"/>
          </p:cNvSpPr>
          <p:nvPr/>
        </p:nvSpPr>
        <p:spPr bwMode="auto">
          <a:xfrm>
            <a:off x="2540732" y="3375869"/>
            <a:ext cx="1298575" cy="560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85725" indent="-85725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프로세스의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선진화  및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업무 효율 중심</a:t>
            </a:r>
          </a:p>
        </p:txBody>
      </p:sp>
      <p:sp>
        <p:nvSpPr>
          <p:cNvPr id="94" name="AutoShape 6"/>
          <p:cNvSpPr>
            <a:spLocks noChangeArrowheads="1"/>
          </p:cNvSpPr>
          <p:nvPr/>
        </p:nvSpPr>
        <p:spPr bwMode="auto">
          <a:xfrm rot="5400000">
            <a:off x="726608" y="1862968"/>
            <a:ext cx="1089264" cy="1855234"/>
          </a:xfrm>
          <a:prstGeom prst="homePlate">
            <a:avLst>
              <a:gd name="adj" fmla="val 14963"/>
            </a:avLst>
          </a:prstGeom>
          <a:solidFill>
            <a:schemeClr val="accent1">
              <a:lumMod val="20000"/>
              <a:lumOff val="80000"/>
            </a:schemeClr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wrap="none" anchor="ctr"/>
          <a:lstStyle/>
          <a:p>
            <a:pPr>
              <a:buNone/>
            </a:pPr>
            <a:endParaRPr lang="ko-KR" altLang="en-US">
              <a:latin typeface="+mn-ea"/>
              <a:ea typeface="+mn-ea"/>
            </a:endParaRPr>
          </a:p>
        </p:txBody>
      </p:sp>
      <p:sp>
        <p:nvSpPr>
          <p:cNvPr id="95" name="Rectangle 28"/>
          <p:cNvSpPr>
            <a:spLocks noChangeArrowheads="1"/>
          </p:cNvSpPr>
          <p:nvPr/>
        </p:nvSpPr>
        <p:spPr bwMode="auto">
          <a:xfrm>
            <a:off x="343623" y="2240806"/>
            <a:ext cx="1855234" cy="31219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anchor="ctr"/>
          <a:lstStyle/>
          <a:p>
            <a:pPr algn="ctr" fontAlgn="auto" latinLnBrk="0">
              <a:spcAft>
                <a:spcPts val="0"/>
              </a:spcAft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전략적 의도</a:t>
            </a:r>
          </a:p>
        </p:txBody>
      </p:sp>
      <p:sp>
        <p:nvSpPr>
          <p:cNvPr id="96" name="AutoShape 29"/>
          <p:cNvSpPr>
            <a:spLocks noChangeArrowheads="1"/>
          </p:cNvSpPr>
          <p:nvPr/>
        </p:nvSpPr>
        <p:spPr bwMode="auto">
          <a:xfrm rot="5400000">
            <a:off x="726608" y="3116909"/>
            <a:ext cx="1089265" cy="1855234"/>
          </a:xfrm>
          <a:prstGeom prst="homePlate">
            <a:avLst>
              <a:gd name="adj" fmla="val 14963"/>
            </a:avLst>
          </a:prstGeom>
          <a:solidFill>
            <a:schemeClr val="accent1">
              <a:lumMod val="20000"/>
              <a:lumOff val="80000"/>
            </a:schemeClr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wrap="none" anchor="ctr"/>
          <a:lstStyle/>
          <a:p>
            <a:pPr>
              <a:buNone/>
            </a:pPr>
            <a:endParaRPr lang="ko-KR" altLang="en-US">
              <a:latin typeface="+mn-ea"/>
              <a:ea typeface="+mn-ea"/>
            </a:endParaRPr>
          </a:p>
        </p:txBody>
      </p:sp>
      <p:sp>
        <p:nvSpPr>
          <p:cNvPr id="97" name="Rectangle 30"/>
          <p:cNvSpPr>
            <a:spLocks noChangeArrowheads="1"/>
          </p:cNvSpPr>
          <p:nvPr/>
        </p:nvSpPr>
        <p:spPr bwMode="auto">
          <a:xfrm>
            <a:off x="343623" y="3494747"/>
            <a:ext cx="1855234" cy="31219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anchor="ctr"/>
          <a:lstStyle/>
          <a:p>
            <a:pPr algn="ctr" fontAlgn="auto" latinLnBrk="0">
              <a:spcAft>
                <a:spcPts val="0"/>
              </a:spcAft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역량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(Capabilities)</a:t>
            </a:r>
          </a:p>
        </p:txBody>
      </p:sp>
      <p:sp>
        <p:nvSpPr>
          <p:cNvPr id="98" name="AutoShape 31"/>
          <p:cNvSpPr>
            <a:spLocks noChangeArrowheads="1"/>
          </p:cNvSpPr>
          <p:nvPr/>
        </p:nvSpPr>
        <p:spPr bwMode="auto">
          <a:xfrm rot="5400000">
            <a:off x="726608" y="4367419"/>
            <a:ext cx="1089264" cy="1855234"/>
          </a:xfrm>
          <a:prstGeom prst="homePlate">
            <a:avLst>
              <a:gd name="adj" fmla="val 14963"/>
            </a:avLst>
          </a:prstGeom>
          <a:solidFill>
            <a:schemeClr val="accent1">
              <a:lumMod val="20000"/>
              <a:lumOff val="80000"/>
            </a:schemeClr>
          </a:solidFill>
          <a:ln w="9525" algn="ctr">
            <a:solidFill>
              <a:srgbClr val="4D4D4D"/>
            </a:solidFill>
            <a:miter lim="800000"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wrap="none" anchor="ctr"/>
          <a:lstStyle/>
          <a:p>
            <a:pPr>
              <a:buNone/>
            </a:pPr>
            <a:endParaRPr lang="ko-KR" altLang="en-US">
              <a:latin typeface="+mn-ea"/>
              <a:ea typeface="+mn-ea"/>
            </a:endParaRPr>
          </a:p>
        </p:txBody>
      </p:sp>
      <p:sp>
        <p:nvSpPr>
          <p:cNvPr id="99" name="Rectangle 32"/>
          <p:cNvSpPr>
            <a:spLocks noChangeArrowheads="1"/>
          </p:cNvSpPr>
          <p:nvPr/>
        </p:nvSpPr>
        <p:spPr bwMode="auto">
          <a:xfrm>
            <a:off x="343623" y="4745257"/>
            <a:ext cx="1855234" cy="312199"/>
          </a:xfrm>
          <a:prstGeom prst="rect">
            <a:avLst/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  <a:extLst/>
        </p:spPr>
        <p:txBody>
          <a:bodyPr anchor="ctr"/>
          <a:lstStyle/>
          <a:p>
            <a:pPr algn="ctr" fontAlgn="auto" latinLnBrk="0">
              <a:spcAft>
                <a:spcPts val="0"/>
              </a:spcAft>
              <a:buNone/>
              <a:defRPr/>
            </a:pPr>
            <a:r>
              <a:rPr lang="ko-KR" altLang="en-US" sz="1400" b="1" kern="0" dirty="0" err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실현체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(Enabler)</a:t>
            </a:r>
          </a:p>
        </p:txBody>
      </p:sp>
      <p:sp>
        <p:nvSpPr>
          <p:cNvPr id="100" name="Rectangle 33"/>
          <p:cNvSpPr>
            <a:spLocks noChangeArrowheads="1"/>
          </p:cNvSpPr>
          <p:nvPr/>
        </p:nvSpPr>
        <p:spPr bwMode="auto">
          <a:xfrm>
            <a:off x="608238" y="2636912"/>
            <a:ext cx="1326004" cy="4693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hangingPunct="0">
              <a:buNone/>
            </a:pPr>
            <a:r>
              <a:rPr lang="ko-KR" altLang="en-US" sz="1000" b="0" dirty="0">
                <a:latin typeface="+mn-ea"/>
                <a:ea typeface="+mn-ea"/>
              </a:rPr>
              <a:t>변화의 전략적 의도</a:t>
            </a:r>
          </a:p>
          <a:p>
            <a:pPr algn="ctr" eaLnBrk="0" hangingPunct="0">
              <a:buNone/>
            </a:pPr>
            <a:r>
              <a:rPr lang="en-US" altLang="ko-KR" sz="1000" b="0" dirty="0">
                <a:latin typeface="+mn-ea"/>
                <a:ea typeface="+mn-ea"/>
              </a:rPr>
              <a:t>(Strategic Intent)</a:t>
            </a:r>
          </a:p>
        </p:txBody>
      </p:sp>
      <p:sp>
        <p:nvSpPr>
          <p:cNvPr id="101" name="Rectangle 34"/>
          <p:cNvSpPr>
            <a:spLocks noChangeArrowheads="1"/>
          </p:cNvSpPr>
          <p:nvPr/>
        </p:nvSpPr>
        <p:spPr bwMode="auto">
          <a:xfrm>
            <a:off x="347326" y="3866606"/>
            <a:ext cx="1847828" cy="5646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hangingPunct="0">
              <a:buNone/>
            </a:pPr>
            <a:r>
              <a:rPr lang="ko-KR" altLang="en-US" sz="1000" b="0" dirty="0">
                <a:latin typeface="+mn-ea"/>
                <a:ea typeface="+mn-ea"/>
              </a:rPr>
              <a:t>프로세스와 행동 양식</a:t>
            </a:r>
            <a:r>
              <a:rPr lang="en-US" altLang="ko-KR" sz="1000" b="0" dirty="0">
                <a:latin typeface="+mn-ea"/>
                <a:ea typeface="+mn-ea"/>
              </a:rPr>
              <a:t>/</a:t>
            </a:r>
            <a:r>
              <a:rPr lang="ko-KR" altLang="en-US" sz="1000" b="0" dirty="0">
                <a:latin typeface="+mn-ea"/>
                <a:ea typeface="+mn-ea"/>
              </a:rPr>
              <a:t>문화를 재설계함으로써 전략적 의도  달성</a:t>
            </a:r>
          </a:p>
        </p:txBody>
      </p:sp>
      <p:sp>
        <p:nvSpPr>
          <p:cNvPr id="102" name="Rectangle 35"/>
          <p:cNvSpPr>
            <a:spLocks noChangeArrowheads="1"/>
          </p:cNvSpPr>
          <p:nvPr/>
        </p:nvSpPr>
        <p:spPr bwMode="auto">
          <a:xfrm>
            <a:off x="431318" y="5149263"/>
            <a:ext cx="1679844" cy="5770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hangingPunct="0">
              <a:buNone/>
            </a:pPr>
            <a:r>
              <a:rPr lang="ko-KR" altLang="en-US" sz="1000" b="0" dirty="0">
                <a:latin typeface="+mn-ea"/>
                <a:ea typeface="+mn-ea"/>
              </a:rPr>
              <a:t>정보 구조</a:t>
            </a:r>
            <a:r>
              <a:rPr lang="en-US" altLang="ko-KR" sz="1000" b="0" dirty="0">
                <a:latin typeface="+mn-ea"/>
                <a:ea typeface="+mn-ea"/>
              </a:rPr>
              <a:t>, </a:t>
            </a:r>
            <a:r>
              <a:rPr lang="ko-KR" altLang="en-US" sz="1000" b="0" dirty="0">
                <a:latin typeface="+mn-ea"/>
                <a:ea typeface="+mn-ea"/>
              </a:rPr>
              <a:t>조직 구조</a:t>
            </a:r>
            <a:r>
              <a:rPr lang="en-US" altLang="ko-KR" sz="1000" b="0" dirty="0">
                <a:latin typeface="+mn-ea"/>
                <a:ea typeface="+mn-ea"/>
              </a:rPr>
              <a:t>, </a:t>
            </a:r>
            <a:r>
              <a:rPr lang="ko-KR" altLang="en-US" sz="1000" b="0" dirty="0">
                <a:latin typeface="+mn-ea"/>
                <a:ea typeface="+mn-ea"/>
              </a:rPr>
              <a:t>제도의 재구축을 통해 역량실현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2815877" y="2358603"/>
            <a:ext cx="1482725" cy="560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85725" indent="-85725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lvl="0"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en-US" altLang="ko-KR" sz="1000" b="0" dirty="0">
                <a:latin typeface="+mn-ea"/>
                <a:ea typeface="+mn-ea"/>
              </a:rPr>
              <a:t>“</a:t>
            </a:r>
            <a:r>
              <a:rPr kumimoji="1" lang="ko-KR" altLang="en-US" sz="1000" b="0" kern="0" dirty="0">
                <a:latin typeface="+mn-ea"/>
                <a:ea typeface="+mn-ea"/>
              </a:rPr>
              <a:t>스포츠의 즐거움을 국민과 함께</a:t>
            </a:r>
            <a:r>
              <a:rPr lang="en-US" altLang="ko-KR" sz="1000" b="0" dirty="0">
                <a:latin typeface="+mn-ea"/>
                <a:ea typeface="+mn-ea"/>
              </a:rPr>
              <a:t>”</a:t>
            </a:r>
          </a:p>
        </p:txBody>
      </p:sp>
      <p:grpSp>
        <p:nvGrpSpPr>
          <p:cNvPr id="5" name="그룹 103"/>
          <p:cNvGrpSpPr/>
          <p:nvPr/>
        </p:nvGrpSpPr>
        <p:grpSpPr>
          <a:xfrm>
            <a:off x="2926655" y="1762532"/>
            <a:ext cx="4200525" cy="3826708"/>
            <a:chOff x="2926655" y="2132856"/>
            <a:chExt cx="4200525" cy="3387725"/>
          </a:xfrm>
        </p:grpSpPr>
        <p:sp>
          <p:nvSpPr>
            <p:cNvPr id="105" name="Oval 2"/>
            <p:cNvSpPr>
              <a:spLocks noChangeArrowheads="1"/>
            </p:cNvSpPr>
            <p:nvPr/>
          </p:nvSpPr>
          <p:spPr bwMode="auto">
            <a:xfrm>
              <a:off x="4228405" y="2132856"/>
              <a:ext cx="1612900" cy="1371600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2700">
              <a:solidFill>
                <a:sysClr val="window" lastClr="FFFFFF">
                  <a:lumMod val="50000"/>
                </a:sys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6" name="Oval 3"/>
            <p:cNvSpPr>
              <a:spLocks noChangeArrowheads="1"/>
            </p:cNvSpPr>
            <p:nvPr/>
          </p:nvSpPr>
          <p:spPr bwMode="auto">
            <a:xfrm>
              <a:off x="3650555" y="3121869"/>
              <a:ext cx="1612900" cy="1374775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2700">
              <a:solidFill>
                <a:sysClr val="window" lastClr="FFFFFF">
                  <a:lumMod val="50000"/>
                </a:sys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7" name="Oval 4"/>
            <p:cNvSpPr>
              <a:spLocks noChangeArrowheads="1"/>
            </p:cNvSpPr>
            <p:nvPr/>
          </p:nvSpPr>
          <p:spPr bwMode="auto">
            <a:xfrm>
              <a:off x="2926655" y="4134694"/>
              <a:ext cx="1611312" cy="1370012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2700">
              <a:solidFill>
                <a:sysClr val="window" lastClr="FFFFFF">
                  <a:lumMod val="50000"/>
                </a:sys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8" name="Oval 7"/>
            <p:cNvSpPr>
              <a:spLocks noChangeArrowheads="1"/>
            </p:cNvSpPr>
            <p:nvPr/>
          </p:nvSpPr>
          <p:spPr bwMode="auto">
            <a:xfrm>
              <a:off x="5515867" y="4134694"/>
              <a:ext cx="1611313" cy="1385887"/>
            </a:xfrm>
            <a:prstGeom prst="ellipse">
              <a:avLst/>
            </a:prstGeom>
            <a:solidFill>
              <a:srgbClr val="B1CFFC"/>
            </a:solidFill>
            <a:ln w="12700">
              <a:solidFill>
                <a:sysClr val="windowText" lastClr="000000">
                  <a:lumMod val="75000"/>
                  <a:lumOff val="25000"/>
                </a:sysClr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09" name="Oval 8"/>
            <p:cNvSpPr>
              <a:spLocks noChangeArrowheads="1"/>
            </p:cNvSpPr>
            <p:nvPr/>
          </p:nvSpPr>
          <p:spPr bwMode="auto">
            <a:xfrm>
              <a:off x="4928492" y="3086944"/>
              <a:ext cx="1611313" cy="1374775"/>
            </a:xfrm>
            <a:prstGeom prst="ellipse">
              <a:avLst/>
            </a:prstGeom>
            <a:solidFill>
              <a:srgbClr val="B1CFFC"/>
            </a:solidFill>
            <a:ln w="12700">
              <a:solidFill>
                <a:sysClr val="windowText" lastClr="000000">
                  <a:lumMod val="75000"/>
                  <a:lumOff val="25000"/>
                </a:sysClr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0" name="Oval 9"/>
            <p:cNvSpPr>
              <a:spLocks noChangeArrowheads="1"/>
            </p:cNvSpPr>
            <p:nvPr/>
          </p:nvSpPr>
          <p:spPr bwMode="auto">
            <a:xfrm>
              <a:off x="4201417" y="4134694"/>
              <a:ext cx="1611313" cy="1370012"/>
            </a:xfrm>
            <a:prstGeom prst="ellipse">
              <a:avLst/>
            </a:prstGeom>
            <a:solidFill>
              <a:srgbClr val="B1CFFC"/>
            </a:solidFill>
            <a:ln w="12700">
              <a:solidFill>
                <a:sysClr val="windowText" lastClr="000000">
                  <a:lumMod val="75000"/>
                  <a:lumOff val="25000"/>
                </a:sysClr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6" name="Group 10"/>
            <p:cNvGrpSpPr>
              <a:grpSpLocks/>
            </p:cNvGrpSpPr>
            <p:nvPr/>
          </p:nvGrpSpPr>
          <p:grpSpPr bwMode="auto">
            <a:xfrm>
              <a:off x="5311083" y="3398096"/>
              <a:ext cx="1029389" cy="785813"/>
              <a:chOff x="2820" y="2140"/>
              <a:chExt cx="598" cy="495"/>
            </a:xfrm>
          </p:grpSpPr>
          <p:sp>
            <p:nvSpPr>
              <p:cNvPr id="125" name="Rectangle 11"/>
              <p:cNvSpPr>
                <a:spLocks noChangeArrowheads="1"/>
              </p:cNvSpPr>
              <p:nvPr/>
            </p:nvSpPr>
            <p:spPr bwMode="auto">
              <a:xfrm>
                <a:off x="2897" y="2140"/>
                <a:ext cx="116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26" name="Rectangle 12"/>
              <p:cNvSpPr>
                <a:spLocks noChangeArrowheads="1"/>
              </p:cNvSpPr>
              <p:nvPr/>
            </p:nvSpPr>
            <p:spPr bwMode="auto">
              <a:xfrm>
                <a:off x="2820" y="2244"/>
                <a:ext cx="598" cy="3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2075" tIns="46038" rIns="92075" bIns="46038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행동 양식 </a:t>
                </a:r>
              </a:p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및 문화 </a:t>
                </a:r>
              </a:p>
            </p:txBody>
          </p:sp>
        </p:grpSp>
        <p:sp>
          <p:nvSpPr>
            <p:cNvPr id="112" name="Rectangle 13"/>
            <p:cNvSpPr>
              <a:spLocks noChangeArrowheads="1"/>
            </p:cNvSpPr>
            <p:nvPr/>
          </p:nvSpPr>
          <p:spPr bwMode="auto">
            <a:xfrm>
              <a:off x="4445892" y="2634506"/>
              <a:ext cx="1208664" cy="3191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비전 및 전략</a:t>
              </a:r>
            </a:p>
          </p:txBody>
        </p:sp>
        <p:grpSp>
          <p:nvGrpSpPr>
            <p:cNvPr id="7" name="Group 14"/>
            <p:cNvGrpSpPr>
              <a:grpSpLocks/>
            </p:cNvGrpSpPr>
            <p:nvPr/>
          </p:nvGrpSpPr>
          <p:grpSpPr bwMode="auto">
            <a:xfrm>
              <a:off x="5409507" y="4507756"/>
              <a:ext cx="1245530" cy="666750"/>
              <a:chOff x="3012" y="2766"/>
              <a:chExt cx="724" cy="420"/>
            </a:xfrm>
          </p:grpSpPr>
          <p:sp>
            <p:nvSpPr>
              <p:cNvPr id="122" name="Rectangle 15"/>
              <p:cNvSpPr>
                <a:spLocks noChangeArrowheads="1"/>
              </p:cNvSpPr>
              <p:nvPr/>
            </p:nvSpPr>
            <p:spPr bwMode="auto">
              <a:xfrm>
                <a:off x="3097" y="2766"/>
                <a:ext cx="116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23" name="Rectangle 16"/>
              <p:cNvSpPr>
                <a:spLocks noChangeArrowheads="1"/>
              </p:cNvSpPr>
              <p:nvPr/>
            </p:nvSpPr>
            <p:spPr bwMode="auto">
              <a:xfrm>
                <a:off x="3419" y="2868"/>
                <a:ext cx="317" cy="20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2075" tIns="46038" rIns="92075" bIns="46038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역량</a:t>
                </a:r>
              </a:p>
            </p:txBody>
          </p:sp>
          <p:sp>
            <p:nvSpPr>
              <p:cNvPr id="124" name="Rectangle 17"/>
              <p:cNvSpPr>
                <a:spLocks noChangeArrowheads="1"/>
              </p:cNvSpPr>
              <p:nvPr/>
            </p:nvSpPr>
            <p:spPr bwMode="auto">
              <a:xfrm>
                <a:off x="3012" y="2984"/>
                <a:ext cx="116" cy="2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8" name="Group 18"/>
            <p:cNvGrpSpPr>
              <a:grpSpLocks/>
            </p:cNvGrpSpPr>
            <p:nvPr/>
          </p:nvGrpSpPr>
          <p:grpSpPr bwMode="auto">
            <a:xfrm>
              <a:off x="4571302" y="4507756"/>
              <a:ext cx="1007029" cy="666750"/>
              <a:chOff x="2334" y="2766"/>
              <a:chExt cx="585" cy="420"/>
            </a:xfrm>
          </p:grpSpPr>
          <p:sp>
            <p:nvSpPr>
              <p:cNvPr id="119" name="Rectangle 19"/>
              <p:cNvSpPr>
                <a:spLocks noChangeArrowheads="1"/>
              </p:cNvSpPr>
              <p:nvPr/>
            </p:nvSpPr>
            <p:spPr bwMode="auto">
              <a:xfrm>
                <a:off x="2370" y="2766"/>
                <a:ext cx="116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120" name="Rectangle 20"/>
              <p:cNvSpPr>
                <a:spLocks noChangeArrowheads="1"/>
              </p:cNvSpPr>
              <p:nvPr/>
            </p:nvSpPr>
            <p:spPr bwMode="auto">
              <a:xfrm>
                <a:off x="2348" y="2868"/>
                <a:ext cx="571" cy="20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2075" tIns="46038" rIns="92075" bIns="46038">
                <a:spAutoFit/>
              </a:bodyPr>
              <a:lstStyle/>
              <a:p>
                <a:pPr marL="0" marR="0" lvl="0" indent="0" algn="l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조직</a:t>
                </a:r>
                <a:r>
                  <a:rPr kumimoji="0" lang="en-US" altLang="ko-KR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/</a:t>
                </a:r>
                <a:r>
                  <a:rPr kumimoji="0" lang="ko-KR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제도</a:t>
                </a:r>
              </a:p>
            </p:txBody>
          </p:sp>
          <p:sp>
            <p:nvSpPr>
              <p:cNvPr id="121" name="Rectangle 21"/>
              <p:cNvSpPr>
                <a:spLocks noChangeArrowheads="1"/>
              </p:cNvSpPr>
              <p:nvPr/>
            </p:nvSpPr>
            <p:spPr bwMode="auto">
              <a:xfrm>
                <a:off x="2334" y="2984"/>
                <a:ext cx="116" cy="2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sp>
          <p:nvSpPr>
            <p:cNvPr id="115" name="Rectangle 22"/>
            <p:cNvSpPr>
              <a:spLocks noChangeArrowheads="1"/>
            </p:cNvSpPr>
            <p:nvPr/>
          </p:nvSpPr>
          <p:spPr bwMode="auto">
            <a:xfrm>
              <a:off x="3034605" y="4703019"/>
              <a:ext cx="1201737" cy="3191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marL="0" marR="0" lvl="0" indent="0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</a:t>
              </a:r>
              <a:r>
                <a:rPr kumimoji="0" lang="ko-KR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정보시스템</a:t>
              </a:r>
            </a:p>
          </p:txBody>
        </p:sp>
        <p:sp>
          <p:nvSpPr>
            <p:cNvPr id="116" name="Freeform 37"/>
            <p:cNvSpPr>
              <a:spLocks/>
            </p:cNvSpPr>
            <p:nvPr/>
          </p:nvSpPr>
          <p:spPr bwMode="auto">
            <a:xfrm>
              <a:off x="3752155" y="2991694"/>
              <a:ext cx="1152525" cy="1728787"/>
            </a:xfrm>
            <a:custGeom>
              <a:avLst/>
              <a:gdLst>
                <a:gd name="T0" fmla="*/ 1152525 w 726"/>
                <a:gd name="T1" fmla="*/ 0 h 1089"/>
                <a:gd name="T2" fmla="*/ 0 w 726"/>
                <a:gd name="T3" fmla="*/ 1728787 h 10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6" h="1089">
                  <a:moveTo>
                    <a:pt x="726" y="0"/>
                  </a:moveTo>
                  <a:cubicBezTo>
                    <a:pt x="726" y="0"/>
                    <a:pt x="363" y="544"/>
                    <a:pt x="0" y="1089"/>
                  </a:cubicBezTo>
                </a:path>
              </a:pathLst>
            </a:custGeom>
            <a:noFill/>
            <a:ln w="38100" cap="flat" cmpd="sng">
              <a:solidFill>
                <a:sysClr val="windowText" lastClr="000000">
                  <a:lumMod val="75000"/>
                  <a:lumOff val="25000"/>
                </a:sysClr>
              </a:solidFill>
              <a:prstDash val="dash"/>
              <a:round/>
              <a:headEnd type="none" w="med" len="med"/>
              <a:tailEnd type="arrow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7" name="Rectangle 38"/>
            <p:cNvSpPr>
              <a:spLocks noChangeArrowheads="1"/>
            </p:cNvSpPr>
            <p:nvPr/>
          </p:nvSpPr>
          <p:spPr bwMode="auto">
            <a:xfrm>
              <a:off x="3872805" y="3423494"/>
              <a:ext cx="904094" cy="3191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marL="0" marR="0" lvl="0" indent="0" algn="l" defTabSz="91440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프로세스</a:t>
              </a:r>
            </a:p>
          </p:txBody>
        </p:sp>
        <p:sp>
          <p:nvSpPr>
            <p:cNvPr id="118" name="Oval 39"/>
            <p:cNvSpPr>
              <a:spLocks noChangeArrowheads="1"/>
            </p:cNvSpPr>
            <p:nvPr/>
          </p:nvSpPr>
          <p:spPr bwMode="auto">
            <a:xfrm>
              <a:off x="4478607" y="3319466"/>
              <a:ext cx="2376488" cy="2195513"/>
            </a:xfrm>
            <a:prstGeom prst="ellipse">
              <a:avLst/>
            </a:prstGeom>
            <a:solidFill>
              <a:srgbClr val="FF0000">
                <a:alpha val="7000"/>
              </a:srgbClr>
            </a:solidFill>
            <a:ln w="25400" cap="flat" cmpd="sng" algn="ctr">
              <a:solidFill>
                <a:srgbClr val="FF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72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127" name="Text Box 42"/>
          <p:cNvSpPr txBox="1">
            <a:spLocks noChangeArrowheads="1"/>
          </p:cNvSpPr>
          <p:nvPr/>
        </p:nvSpPr>
        <p:spPr bwMode="auto">
          <a:xfrm>
            <a:off x="7257157" y="2636912"/>
            <a:ext cx="2375793" cy="1109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85725" indent="-85725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선진 프로세스의 도입으로 업무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효율화</a:t>
            </a:r>
          </a:p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통합 정보관리를 통한 조직 </a:t>
            </a:r>
            <a:r>
              <a:rPr lang="ko-KR" altLang="en-US" sz="1000" b="0" dirty="0" err="1">
                <a:latin typeface="+mn-ea"/>
                <a:ea typeface="+mn-ea"/>
              </a:rPr>
              <a:t>관리력</a:t>
            </a:r>
            <a:r>
              <a:rPr lang="ko-KR" altLang="en-US" sz="1000" b="0" dirty="0">
                <a:latin typeface="+mn-ea"/>
                <a:ea typeface="+mn-ea"/>
              </a:rPr>
              <a:t> 증대</a:t>
            </a:r>
          </a:p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효율적 의사결정과 그로 인한 </a:t>
            </a:r>
            <a:r>
              <a:rPr lang="en-US" altLang="ko-KR" sz="1000" b="0" dirty="0">
                <a:latin typeface="+mn-ea"/>
                <a:ea typeface="+mn-ea"/>
              </a:rPr>
              <a:t/>
            </a:r>
            <a:br>
              <a:rPr lang="en-US" altLang="ko-KR" sz="1000" b="0" dirty="0">
                <a:latin typeface="+mn-ea"/>
                <a:ea typeface="+mn-ea"/>
              </a:rPr>
            </a:br>
            <a:r>
              <a:rPr lang="ko-KR" altLang="en-US" sz="1000" b="0" dirty="0">
                <a:latin typeface="+mn-ea"/>
                <a:ea typeface="+mn-ea"/>
              </a:rPr>
              <a:t>이해관계자 만족도 증대</a:t>
            </a:r>
          </a:p>
          <a:p>
            <a:pPr eaLnBrk="1" hangingPunct="1">
              <a:spcAft>
                <a:spcPct val="30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lang="ko-KR" altLang="en-US" sz="1000" b="0" dirty="0">
                <a:latin typeface="+mn-ea"/>
                <a:ea typeface="+mn-ea"/>
              </a:rPr>
              <a:t>지속적인 개선과 혁신 문화 조성</a:t>
            </a:r>
          </a:p>
        </p:txBody>
      </p:sp>
      <p:sp>
        <p:nvSpPr>
          <p:cNvPr id="128" name="Line Callout 2 (Border and Accent Bar) 78"/>
          <p:cNvSpPr/>
          <p:nvPr/>
        </p:nvSpPr>
        <p:spPr bwMode="auto">
          <a:xfrm>
            <a:off x="7530155" y="2132856"/>
            <a:ext cx="1550417" cy="376845"/>
          </a:xfrm>
          <a:prstGeom prst="accentBorderCallout2">
            <a:avLst>
              <a:gd name="adj1" fmla="val 18750"/>
              <a:gd name="adj2" fmla="val -5736"/>
              <a:gd name="adj3" fmla="val 18750"/>
              <a:gd name="adj4" fmla="val -26501"/>
              <a:gd name="adj5" fmla="val 301520"/>
              <a:gd name="adj6" fmla="val -81503"/>
            </a:avLst>
          </a:prstGeom>
          <a:solidFill>
            <a:srgbClr val="508CD2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변화관리 영역</a:t>
            </a: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의식변화 측면의 성공적인 변화관리를 위해서는 경영층 및 관리자의 강력한 리더십 및 지원 확보</a:t>
            </a:r>
            <a:r>
              <a:rPr lang="en-US" altLang="ko-KR" sz="1600" dirty="0"/>
              <a:t>, </a:t>
            </a:r>
            <a:r>
              <a:rPr lang="ko-KR" altLang="en-US" sz="1600" dirty="0"/>
              <a:t>현황 및 문제점에 대한 정확한 인식과 공유</a:t>
            </a:r>
            <a:r>
              <a:rPr lang="en-US" altLang="ko-KR" sz="1600" dirty="0"/>
              <a:t>, </a:t>
            </a:r>
            <a:r>
              <a:rPr lang="ko-KR" altLang="en-US" sz="1600" dirty="0"/>
              <a:t>실무담당자를 위한 체계적인 교육과정 개발 등이 필요함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6.1.7 </a:t>
            </a:r>
            <a:r>
              <a:rPr lang="ko-KR" altLang="en-US" dirty="0"/>
              <a:t>변화관리 핵심 성공 요인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6.1 </a:t>
            </a:r>
            <a:r>
              <a:rPr lang="ko-KR" altLang="en-US" dirty="0"/>
              <a:t>변화관리 개요</a:t>
            </a:r>
            <a:endParaRPr lang="en-US" altLang="ko-KR" dirty="0"/>
          </a:p>
        </p:txBody>
      </p:sp>
      <p:grpSp>
        <p:nvGrpSpPr>
          <p:cNvPr id="5" name="그룹 51"/>
          <p:cNvGrpSpPr/>
          <p:nvPr/>
        </p:nvGrpSpPr>
        <p:grpSpPr>
          <a:xfrm>
            <a:off x="346566" y="1518692"/>
            <a:ext cx="6660000" cy="4787674"/>
            <a:chOff x="346566" y="1518692"/>
            <a:chExt cx="5770025" cy="4787674"/>
          </a:xfrm>
        </p:grpSpPr>
        <p:sp>
          <p:nvSpPr>
            <p:cNvPr id="144" name="Rectangle 6"/>
            <p:cNvSpPr>
              <a:spLocks noChangeArrowheads="1"/>
            </p:cNvSpPr>
            <p:nvPr/>
          </p:nvSpPr>
          <p:spPr bwMode="auto">
            <a:xfrm>
              <a:off x="346566" y="1518692"/>
              <a:ext cx="5770025" cy="334962"/>
            </a:xfrm>
            <a:prstGeom prst="rect">
              <a:avLst/>
            </a:pr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anchor="ctr"/>
            <a:lstStyle/>
            <a:p>
              <a:pPr marR="0" lvl="0" indent="0" algn="ctr" latinLnBrk="0">
                <a:buSzTx/>
                <a:tabLst/>
                <a:defRPr/>
              </a:pPr>
              <a:r>
                <a:rPr lang="ko-KR" altLang="en-US" sz="1400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변화 대상 분석</a:t>
              </a:r>
            </a:p>
          </p:txBody>
        </p:sp>
        <p:sp>
          <p:nvSpPr>
            <p:cNvPr id="146" name="Rectangle 5"/>
            <p:cNvSpPr>
              <a:spLocks noChangeArrowheads="1"/>
            </p:cNvSpPr>
            <p:nvPr/>
          </p:nvSpPr>
          <p:spPr bwMode="auto">
            <a:xfrm>
              <a:off x="346566" y="1856766"/>
              <a:ext cx="5770025" cy="44496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>
                <a:solidFill>
                  <a:srgbClr val="000000"/>
                </a:solidFill>
              </a:endParaRPr>
            </a:p>
          </p:txBody>
        </p:sp>
      </p:grpSp>
      <p:grpSp>
        <p:nvGrpSpPr>
          <p:cNvPr id="6" name="그룹 53"/>
          <p:cNvGrpSpPr/>
          <p:nvPr/>
        </p:nvGrpSpPr>
        <p:grpSpPr>
          <a:xfrm>
            <a:off x="7391400" y="1518692"/>
            <a:ext cx="2135166" cy="4787674"/>
            <a:chOff x="7257256" y="1518692"/>
            <a:chExt cx="2269310" cy="4787674"/>
          </a:xfrm>
        </p:grpSpPr>
        <p:sp>
          <p:nvSpPr>
            <p:cNvPr id="145" name="Rectangle 29"/>
            <p:cNvSpPr>
              <a:spLocks noChangeArrowheads="1"/>
            </p:cNvSpPr>
            <p:nvPr/>
          </p:nvSpPr>
          <p:spPr bwMode="auto">
            <a:xfrm>
              <a:off x="7257256" y="1518692"/>
              <a:ext cx="2269310" cy="334962"/>
            </a:xfrm>
            <a:prstGeom prst="rect">
              <a:avLst/>
            </a:pr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anchor="ctr"/>
            <a:lstStyle/>
            <a:p>
              <a:pPr marR="0" lvl="0" indent="0" algn="ctr" latinLnBrk="0">
                <a:buSzTx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변화관리 방안</a:t>
              </a:r>
            </a:p>
          </p:txBody>
        </p:sp>
        <p:sp>
          <p:nvSpPr>
            <p:cNvPr id="155" name="Rectangle 30"/>
            <p:cNvSpPr>
              <a:spLocks noChangeArrowheads="1"/>
            </p:cNvSpPr>
            <p:nvPr/>
          </p:nvSpPr>
          <p:spPr bwMode="auto">
            <a:xfrm>
              <a:off x="7257256" y="1856766"/>
              <a:ext cx="2269310" cy="44496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kern="0">
                <a:solidFill>
                  <a:srgbClr val="000000"/>
                </a:solidFill>
              </a:endParaRPr>
            </a:p>
          </p:txBody>
        </p:sp>
      </p:grpSp>
      <p:sp>
        <p:nvSpPr>
          <p:cNvPr id="51" name="AutoShape 208"/>
          <p:cNvSpPr>
            <a:spLocks noChangeArrowheads="1"/>
          </p:cNvSpPr>
          <p:nvPr/>
        </p:nvSpPr>
        <p:spPr bwMode="gray">
          <a:xfrm rot="5400000">
            <a:off x="5586440" y="3926815"/>
            <a:ext cx="3275885" cy="192981"/>
          </a:xfrm>
          <a:prstGeom prst="triangle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6350" algn="ctr">
            <a:noFill/>
            <a:miter lim="800000"/>
            <a:headEnd/>
            <a:tailEnd/>
          </a:ln>
          <a:effectLst/>
        </p:spPr>
        <p:txBody>
          <a:bodyPr wrap="none" lIns="91423" tIns="45712" rIns="91423" bIns="45712" anchor="ctr"/>
          <a:lstStyle>
            <a:defPPr>
              <a:defRPr lang="en-US"/>
            </a:defPPr>
            <a:lvl1pPr algn="ctr" rtl="0" fontAlgn="base" latinLnBrk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1pPr>
            <a:lvl2pPr marL="455582" indent="1588" algn="ctr" rtl="0" fontAlgn="base" latinLnBrk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2pPr>
            <a:lvl3pPr marL="912750" indent="1588" algn="ctr" rtl="0" fontAlgn="base" latinLnBrk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3pPr>
            <a:lvl4pPr marL="1369918" indent="1588" algn="ctr" rtl="0" fontAlgn="base" latinLnBrk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4pPr>
            <a:lvl5pPr marL="1827086" indent="1588" algn="ctr" rtl="0" fontAlgn="base" latinLnBrk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5pPr>
            <a:lvl6pPr marL="2285841" algn="l" defTabSz="914336" rtl="0" eaLnBrk="1" latinLnBrk="1" hangingPunct="1"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6pPr>
            <a:lvl7pPr marL="2743010" algn="l" defTabSz="914336" rtl="0" eaLnBrk="1" latinLnBrk="1" hangingPunct="1"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7pPr>
            <a:lvl8pPr marL="3200179" algn="l" defTabSz="914336" rtl="0" eaLnBrk="1" latinLnBrk="1" hangingPunct="1"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8pPr>
            <a:lvl9pPr marL="3657346" algn="l" defTabSz="914336" rtl="0" eaLnBrk="1" latinLnBrk="1" hangingPunct="1">
              <a:defRPr kumimoji="1" sz="1400" b="1" kern="1200">
                <a:solidFill>
                  <a:srgbClr val="000000"/>
                </a:solidFill>
                <a:latin typeface="뫼비우스 Regular" pitchFamily="2" charset="-127"/>
                <a:ea typeface="뫼비우스 Regular" pitchFamily="2" charset="-127"/>
                <a:cs typeface="+mn-cs"/>
              </a:defRPr>
            </a:lvl9pPr>
          </a:lstStyle>
          <a:p>
            <a:pPr fontAlgn="auto">
              <a:lnSpc>
                <a:spcPct val="100000"/>
              </a:lnSpc>
              <a:spcAft>
                <a:spcPts val="0"/>
              </a:spcAft>
              <a:defRPr/>
            </a:pPr>
            <a:endParaRPr lang="ko-KR" altLang="en-US" sz="1200" b="0" kern="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graphicFrame>
        <p:nvGraphicFramePr>
          <p:cNvPr id="53" name="Group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485729"/>
              </p:ext>
            </p:extLst>
          </p:nvPr>
        </p:nvGraphicFramePr>
        <p:xfrm>
          <a:off x="475804" y="1976140"/>
          <a:ext cx="6408000" cy="4195311"/>
        </p:xfrm>
        <a:graphic>
          <a:graphicData uri="http://schemas.openxmlformats.org/drawingml/2006/table">
            <a:tbl>
              <a:tblPr/>
              <a:tblGrid>
                <a:gridCol w="16016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40177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40457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936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핵심성공요인</a:t>
                      </a:r>
                      <a:r>
                        <a:rPr kumimoji="1" lang="en-US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(CSF)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추진방향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231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경영층 및 중간관리자의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강력한 리더십 및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지원 확보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변화관리의 핵심적인 요소로 경영층 및 관리자의 강력한 리더십을 확보해야 하며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또한 각 관리자 간의 원활한 커뮤니케이션이 활성화되어야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일관되고 통일된 비전과 추진전략의 전파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및 정보화를 아우르는 리더십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경영층 및 관리자의 스폰서십을 확보하기 위한 프로그램을 개발 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지속적인 개선활동이 이루어질 수 있도록 결과 중심적인 성과지표를 적극적으로 개발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430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현황 및 문제점에 대한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정확한 인식과 공유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및 정보화 환경에 대한 문제점과 해결방향에 대해 본부 및 소속기관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산하기관 내 책임자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실무자가 공동의 인식을 갖도록 해야 하며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해결방향에 대해서도 효과적인 커뮤니케이션을 통해 공감대를 형성해 나가야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및 정보화 환경의 문제점에 대해 신속하고 투명하게 알려주어야 함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개선활동에 대한 향후의 이미지를 전달하고 이를 달성하기 위한 본인의 역할을 이해할 수 있어야 함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445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실무담당자를 위한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체계적인 교육과정 개발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프로세스의  문제점을 정확하게 인식하고 변화에 대해 동의한 상태에서 구체적인 변화 방법을 알 수 있어야 함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혁신 후 시스템에 대한 사용미숙으로 인해 일시적인 성과 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 발생할 수 있음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일회적인 행사성 프로그램보다는 변화의 당사자들이 직접 참여하여 실제로 체험할 수 있는 변화 프로그램 개발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직급별</a:t>
                      </a:r>
                      <a:r>
                        <a:rPr kumimoji="1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업무별 차별화된 교육 프로그램을 개발하여 교육과 피드백 체계를 수립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7" name="그룹 62"/>
          <p:cNvGrpSpPr/>
          <p:nvPr/>
        </p:nvGrpSpPr>
        <p:grpSpPr>
          <a:xfrm>
            <a:off x="7558983" y="2132508"/>
            <a:ext cx="1800000" cy="3921563"/>
            <a:chOff x="7902770" y="2183308"/>
            <a:chExt cx="1631613" cy="3921563"/>
          </a:xfrm>
          <a:solidFill>
            <a:srgbClr val="B1CFFC"/>
          </a:solidFill>
        </p:grpSpPr>
        <p:sp>
          <p:nvSpPr>
            <p:cNvPr id="59" name="타원 58"/>
            <p:cNvSpPr/>
            <p:nvPr/>
          </p:nvSpPr>
          <p:spPr bwMode="gray">
            <a:xfrm>
              <a:off x="7902770" y="2183308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 추진체계 및 </a:t>
              </a:r>
              <a: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/>
              </a:r>
              <a:b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정보화 </a:t>
              </a:r>
              <a:r>
                <a:rPr lang="ko-KR" altLang="en-US" sz="1200" b="1" kern="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거버넌스</a:t>
              </a: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정립</a:t>
              </a:r>
            </a:p>
          </p:txBody>
        </p:sp>
        <p:sp>
          <p:nvSpPr>
            <p:cNvPr id="60" name="타원 59"/>
            <p:cNvSpPr/>
            <p:nvPr/>
          </p:nvSpPr>
          <p:spPr bwMode="gray">
            <a:xfrm>
              <a:off x="7902770" y="3235772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Sponsorship</a:t>
              </a:r>
            </a:p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프로그램 운영</a:t>
              </a:r>
            </a:p>
          </p:txBody>
        </p:sp>
        <p:sp>
          <p:nvSpPr>
            <p:cNvPr id="61" name="타원 60"/>
            <p:cNvSpPr/>
            <p:nvPr/>
          </p:nvSpPr>
          <p:spPr bwMode="gray">
            <a:xfrm>
              <a:off x="7914345" y="4276051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커뮤니케이션 </a:t>
              </a:r>
            </a:p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활성화 프로그램 운영</a:t>
              </a:r>
            </a:p>
          </p:txBody>
        </p:sp>
        <p:sp>
          <p:nvSpPr>
            <p:cNvPr id="62" name="타원 61"/>
            <p:cNvSpPr/>
            <p:nvPr/>
          </p:nvSpPr>
          <p:spPr bwMode="gray">
            <a:xfrm>
              <a:off x="7914345" y="5357135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 교육</a:t>
              </a:r>
            </a:p>
            <a:p>
              <a:pPr marL="0" marR="0" lvl="0" indent="0" algn="ctr" defTabSz="914400" latinLnBrk="0">
                <a:buSzTx/>
                <a:tabLst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프로그램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33" name="직사각형 132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변화관리 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Framework</a:t>
            </a:r>
          </a:p>
        </p:txBody>
      </p:sp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변화관리 전략의 실현을 위해 사업 추진체계 정립</a:t>
            </a:r>
            <a:r>
              <a:rPr lang="en-US" altLang="ko-KR" sz="1600" dirty="0"/>
              <a:t>, Sponsorship </a:t>
            </a:r>
            <a:r>
              <a:rPr lang="ko-KR" altLang="en-US" sz="1600" dirty="0"/>
              <a:t>프로그램</a:t>
            </a:r>
            <a:r>
              <a:rPr lang="en-US" altLang="ko-KR" sz="1600" dirty="0"/>
              <a:t> </a:t>
            </a:r>
            <a:r>
              <a:rPr lang="ko-KR" altLang="en-US" sz="1600" dirty="0"/>
              <a:t>운영</a:t>
            </a:r>
            <a:r>
              <a:rPr lang="en-US" altLang="ko-KR" sz="1600" dirty="0"/>
              <a:t>, </a:t>
            </a:r>
            <a:r>
              <a:rPr lang="ko-KR" altLang="en-US" sz="1600" dirty="0"/>
              <a:t>커뮤니케이션 활성화 프로그램</a:t>
            </a:r>
            <a:r>
              <a:rPr lang="en-US" altLang="ko-KR" sz="1600" dirty="0"/>
              <a:t> </a:t>
            </a:r>
            <a:r>
              <a:rPr lang="ko-KR" altLang="en-US" sz="1600" dirty="0"/>
              <a:t>운영</a:t>
            </a:r>
            <a:r>
              <a:rPr lang="en-US" altLang="ko-KR" sz="1600" dirty="0"/>
              <a:t>, </a:t>
            </a:r>
            <a:r>
              <a:rPr lang="ko-KR" altLang="en-US" sz="1600" dirty="0"/>
              <a:t>사용자 교육 프로그램 운영을 통하여 변화관리를 추진함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6.2.1 </a:t>
            </a:r>
            <a:r>
              <a:rPr lang="ko-KR" altLang="en-US" dirty="0"/>
              <a:t>변화관리 </a:t>
            </a:r>
            <a:r>
              <a:rPr lang="en-US" altLang="ko-KR" dirty="0"/>
              <a:t>Framework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Group 10"/>
          <p:cNvGrpSpPr/>
          <p:nvPr/>
        </p:nvGrpSpPr>
        <p:grpSpPr>
          <a:xfrm>
            <a:off x="1722571" y="2843380"/>
            <a:ext cx="2196000" cy="2824565"/>
            <a:chOff x="1575939" y="3140968"/>
            <a:chExt cx="3040586" cy="2824565"/>
          </a:xfrm>
        </p:grpSpPr>
        <p:sp>
          <p:nvSpPr>
            <p:cNvPr id="113" name="Rectangle 34"/>
            <p:cNvSpPr>
              <a:spLocks noChangeArrowheads="1"/>
            </p:cNvSpPr>
            <p:nvPr/>
          </p:nvSpPr>
          <p:spPr bwMode="gray">
            <a:xfrm>
              <a:off x="1575939" y="3140969"/>
              <a:ext cx="3040586" cy="2824564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/>
          </p:spPr>
          <p:txBody>
            <a:bodyPr wrap="none" lIns="96791" tIns="48397" rIns="96791" bIns="48397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14" name="Rectangle 36"/>
            <p:cNvSpPr>
              <a:spLocks noChangeArrowheads="1"/>
            </p:cNvSpPr>
            <p:nvPr/>
          </p:nvSpPr>
          <p:spPr bwMode="gray">
            <a:xfrm>
              <a:off x="1575939" y="3140968"/>
              <a:ext cx="3040586" cy="363523"/>
            </a:xfrm>
            <a:prstGeom prst="rect">
              <a:avLst/>
            </a:prstGeom>
            <a:solidFill>
              <a:srgbClr val="508CD2"/>
            </a:solidFill>
            <a:ln w="6350" algn="ctr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pPr marL="0" marR="0" lvl="0" indent="0" algn="ctr" defTabSz="914400" eaLnBrk="0" latinLnBrk="0" hangingPunct="0">
                <a:lnSpc>
                  <a:spcPct val="105000"/>
                </a:lnSpc>
                <a:spcBef>
                  <a:spcPct val="35000"/>
                </a:spcBef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kern="0" dirty="0">
                  <a:solidFill>
                    <a:srgbClr val="FFFFFF"/>
                  </a:solidFill>
                  <a:latin typeface="+mn-ea"/>
                </a:rPr>
                <a:t>변화관리 영역별 접근</a:t>
              </a:r>
            </a:p>
          </p:txBody>
        </p:sp>
      </p:grpSp>
      <p:sp>
        <p:nvSpPr>
          <p:cNvPr id="115" name="AutoShape 4"/>
          <p:cNvSpPr>
            <a:spLocks noChangeArrowheads="1"/>
          </p:cNvSpPr>
          <p:nvPr/>
        </p:nvSpPr>
        <p:spPr bwMode="auto">
          <a:xfrm>
            <a:off x="578774" y="2123350"/>
            <a:ext cx="1768475" cy="468312"/>
          </a:xfrm>
          <a:prstGeom prst="roundRect">
            <a:avLst>
              <a:gd name="adj" fmla="val 16667"/>
            </a:avLst>
          </a:prstGeom>
          <a:solidFill>
            <a:srgbClr val="B1CFFC"/>
          </a:solidFill>
          <a:ln w="9525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lIns="90000" tIns="46800" rIns="90000" bIns="46800" anchor="ctr"/>
          <a:lstStyle/>
          <a:p>
            <a:pPr marL="0" marR="0" lvl="0" indent="0" algn="ctr" defTabSz="914400" eaLnBrk="0" fontAlgn="base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rgbClr val="000000"/>
                </a:solidFill>
                <a:latin typeface="+mn-ea"/>
              </a:rPr>
              <a:t> 변화관리 대상 정의</a:t>
            </a:r>
          </a:p>
        </p:txBody>
      </p:sp>
      <p:cxnSp>
        <p:nvCxnSpPr>
          <p:cNvPr id="116" name="AutoShape 47"/>
          <p:cNvCxnSpPr>
            <a:cxnSpLocks noChangeShapeType="1"/>
            <a:stCxn id="115" idx="2"/>
          </p:cNvCxnSpPr>
          <p:nvPr/>
        </p:nvCxnSpPr>
        <p:spPr bwMode="auto">
          <a:xfrm rot="16200000" flipH="1">
            <a:off x="896155" y="3158519"/>
            <a:ext cx="1396207" cy="262492"/>
          </a:xfrm>
          <a:prstGeom prst="bentConnector2">
            <a:avLst/>
          </a:prstGeom>
          <a:noFill/>
          <a:ln w="9525">
            <a:solidFill>
              <a:srgbClr val="4D4D4D"/>
            </a:solidFill>
            <a:miter lim="800000"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17" name="AutoShape 55"/>
          <p:cNvSpPr>
            <a:spLocks noChangeArrowheads="1"/>
          </p:cNvSpPr>
          <p:nvPr/>
        </p:nvSpPr>
        <p:spPr bwMode="auto">
          <a:xfrm>
            <a:off x="2093888" y="3397499"/>
            <a:ext cx="1511002" cy="554400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9525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lIns="90000" tIns="46800" rIns="90000" bIns="46800" anchor="ctr"/>
          <a:lstStyle/>
          <a:p>
            <a:pPr marL="0" marR="0" lvl="0" indent="0" algn="ctr" defTabSz="914400" eaLnBrk="0" fontAlgn="base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rgbClr val="000000"/>
                </a:solidFill>
                <a:latin typeface="+mn-ea"/>
              </a:rPr>
              <a:t>조직</a:t>
            </a:r>
            <a:r>
              <a:rPr kumimoji="1" lang="en-US" altLang="ko-KR" sz="1200" b="1" dirty="0">
                <a:solidFill>
                  <a:srgbClr val="000000"/>
                </a:solidFill>
                <a:latin typeface="+mn-ea"/>
              </a:rPr>
              <a:t>/</a:t>
            </a:r>
            <a:r>
              <a:rPr kumimoji="1" lang="ko-KR" altLang="en-US" sz="1200" b="1" dirty="0">
                <a:solidFill>
                  <a:srgbClr val="000000"/>
                </a:solidFill>
                <a:latin typeface="+mn-ea"/>
              </a:rPr>
              <a:t>제도</a:t>
            </a:r>
          </a:p>
        </p:txBody>
      </p:sp>
      <p:sp>
        <p:nvSpPr>
          <p:cNvPr id="118" name="AutoShape 56"/>
          <p:cNvSpPr>
            <a:spLocks noChangeArrowheads="1"/>
          </p:cNvSpPr>
          <p:nvPr/>
        </p:nvSpPr>
        <p:spPr bwMode="auto">
          <a:xfrm>
            <a:off x="2093888" y="4144647"/>
            <a:ext cx="1511002" cy="552973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9525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lIns="90000" tIns="46800" rIns="90000" bIns="46800" anchor="ctr"/>
          <a:lstStyle/>
          <a:p>
            <a:pPr marL="0" marR="0" lvl="0" indent="0" algn="ctr" defTabSz="914400" eaLnBrk="0" fontAlgn="base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rgbClr val="000000"/>
                </a:solidFill>
                <a:latin typeface="+mn-ea"/>
              </a:rPr>
              <a:t>행동양식 및 문화</a:t>
            </a:r>
          </a:p>
        </p:txBody>
      </p:sp>
      <p:sp>
        <p:nvSpPr>
          <p:cNvPr id="119" name="AutoShape 57"/>
          <p:cNvSpPr>
            <a:spLocks noChangeArrowheads="1"/>
          </p:cNvSpPr>
          <p:nvPr/>
        </p:nvSpPr>
        <p:spPr bwMode="auto">
          <a:xfrm>
            <a:off x="2093888" y="4890368"/>
            <a:ext cx="1511002" cy="554400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9525">
            <a:solidFill>
              <a:schemeClr val="tx1">
                <a:lumMod val="50000"/>
                <a:lumOff val="50000"/>
              </a:schemeClr>
            </a:solidFill>
            <a:round/>
            <a:headEnd/>
            <a:tailEnd/>
          </a:ln>
          <a:effectLst>
            <a:outerShdw dist="35921" dir="2700000" algn="ctr" rotWithShape="0">
              <a:srgbClr val="B2B2B2"/>
            </a:outerShdw>
          </a:effectLst>
        </p:spPr>
        <p:txBody>
          <a:bodyPr lIns="90000" tIns="46800" rIns="90000" bIns="46800" anchor="ctr"/>
          <a:lstStyle/>
          <a:p>
            <a:pPr marL="0" marR="0" lvl="0" indent="0" algn="ctr" defTabSz="914400" eaLnBrk="0" fontAlgn="base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kumimoji="1" lang="ko-KR" altLang="en-US" sz="1200" b="1" dirty="0">
                <a:solidFill>
                  <a:srgbClr val="000000"/>
                </a:solidFill>
                <a:latin typeface="+mn-ea"/>
              </a:rPr>
              <a:t>역량</a:t>
            </a:r>
          </a:p>
        </p:txBody>
      </p:sp>
      <p:cxnSp>
        <p:nvCxnSpPr>
          <p:cNvPr id="120" name="AutoShape 47"/>
          <p:cNvCxnSpPr>
            <a:cxnSpLocks noChangeShapeType="1"/>
            <a:stCxn id="117" idx="3"/>
            <a:endCxn id="123" idx="2"/>
          </p:cNvCxnSpPr>
          <p:nvPr/>
        </p:nvCxnSpPr>
        <p:spPr bwMode="auto">
          <a:xfrm flipV="1">
            <a:off x="3604890" y="2383858"/>
            <a:ext cx="1231856" cy="1290841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1" name="AutoShape 47"/>
          <p:cNvCxnSpPr>
            <a:cxnSpLocks noChangeShapeType="1"/>
            <a:stCxn id="118" idx="3"/>
            <a:endCxn id="125" idx="2"/>
          </p:cNvCxnSpPr>
          <p:nvPr/>
        </p:nvCxnSpPr>
        <p:spPr bwMode="auto">
          <a:xfrm>
            <a:off x="3604890" y="4421134"/>
            <a:ext cx="1231856" cy="177263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2" name="AutoShape 47"/>
          <p:cNvCxnSpPr>
            <a:cxnSpLocks noChangeShapeType="1"/>
            <a:stCxn id="119" idx="3"/>
            <a:endCxn id="126" idx="2"/>
          </p:cNvCxnSpPr>
          <p:nvPr/>
        </p:nvCxnSpPr>
        <p:spPr bwMode="auto">
          <a:xfrm>
            <a:off x="3604890" y="5167568"/>
            <a:ext cx="1231856" cy="56625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7" name="꺾인 연결선 126"/>
          <p:cNvCxnSpPr>
            <a:stCxn id="117" idx="3"/>
            <a:endCxn id="124" idx="2"/>
          </p:cNvCxnSpPr>
          <p:nvPr/>
        </p:nvCxnSpPr>
        <p:spPr bwMode="auto">
          <a:xfrm flipV="1">
            <a:off x="3604890" y="3457334"/>
            <a:ext cx="1231856" cy="217365"/>
          </a:xfrm>
          <a:prstGeom prst="bentConnector3">
            <a:avLst>
              <a:gd name="adj1" fmla="val 50000"/>
            </a:avLst>
          </a:prstGeom>
          <a:solidFill>
            <a:srgbClr val="FBB779"/>
          </a:solidFill>
          <a:ln w="635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6" name="그룹 164"/>
          <p:cNvGrpSpPr/>
          <p:nvPr/>
        </p:nvGrpSpPr>
        <p:grpSpPr>
          <a:xfrm>
            <a:off x="4836746" y="1988840"/>
            <a:ext cx="4580750" cy="4140000"/>
            <a:chOff x="4726638" y="2143300"/>
            <a:chExt cx="4580750" cy="3918344"/>
          </a:xfrm>
        </p:grpSpPr>
        <p:sp>
          <p:nvSpPr>
            <p:cNvPr id="124" name="타원 123"/>
            <p:cNvSpPr/>
            <p:nvPr/>
          </p:nvSpPr>
          <p:spPr bwMode="gray">
            <a:xfrm>
              <a:off x="4726638" y="3159302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Sponsorship</a:t>
              </a:r>
            </a:p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프로그램 운영</a:t>
              </a:r>
            </a:p>
          </p:txBody>
        </p:sp>
        <p:sp>
          <p:nvSpPr>
            <p:cNvPr id="134" name="Rectangle 105"/>
            <p:cNvSpPr>
              <a:spLocks noChangeArrowheads="1"/>
            </p:cNvSpPr>
            <p:nvPr/>
          </p:nvSpPr>
          <p:spPr bwMode="auto">
            <a:xfrm>
              <a:off x="6507255" y="3153969"/>
              <a:ext cx="2737765" cy="7584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36000" tIns="0" rIns="36000" bIns="0" anchor="ctr"/>
            <a:lstStyle/>
            <a:p>
              <a:pPr defTabSz="1279525" eaLnBrk="0" fontAlgn="auto" latinLnBrk="0" hangingPunct="0">
                <a:lnSpc>
                  <a:spcPct val="105000"/>
                </a:lnSpc>
                <a:spcBef>
                  <a:spcPts val="600"/>
                </a:spcBef>
                <a:spcAft>
                  <a:spcPts val="0"/>
                </a:spcAft>
                <a:buNone/>
                <a:defRPr/>
              </a:pPr>
              <a:r>
                <a:rPr lang="ko-KR" altLang="en-US" sz="1050" b="0" dirty="0">
                  <a:latin typeface="+mn-ea"/>
                  <a:ea typeface="+mn-ea"/>
                </a:rPr>
                <a:t>경영층 및 관리자를 포함한 주요 의사결정자의 지원활동</a:t>
              </a:r>
              <a:r>
                <a:rPr lang="en-US" altLang="ko-KR" sz="1050" b="0" dirty="0">
                  <a:latin typeface="+mn-ea"/>
                  <a:ea typeface="+mn-ea"/>
                </a:rPr>
                <a:t>, </a:t>
              </a:r>
              <a:r>
                <a:rPr lang="ko-KR" altLang="en-US" sz="1050" b="0" dirty="0">
                  <a:latin typeface="+mn-ea"/>
                  <a:ea typeface="+mn-ea"/>
                </a:rPr>
                <a:t>정보시스템 관련 신속한 의사결정</a:t>
              </a:r>
              <a:r>
                <a:rPr lang="en-US" altLang="ko-KR" sz="1050" b="0" dirty="0">
                  <a:latin typeface="+mn-ea"/>
                  <a:ea typeface="+mn-ea"/>
                </a:rPr>
                <a:t>, </a:t>
              </a:r>
              <a:r>
                <a:rPr lang="ko-KR" altLang="en-US" sz="1050" b="0" dirty="0">
                  <a:latin typeface="+mn-ea"/>
                  <a:ea typeface="+mn-ea"/>
                </a:rPr>
                <a:t>정보화의 혁신적 </a:t>
              </a:r>
              <a:r>
                <a:rPr lang="en-US" altLang="ko-KR" sz="1050" b="0" dirty="0">
                  <a:latin typeface="+mn-ea"/>
                  <a:ea typeface="+mn-ea"/>
                </a:rPr>
                <a:t>Role Model</a:t>
              </a:r>
              <a:r>
                <a:rPr lang="ko-KR" altLang="en-US" sz="1050" b="0" dirty="0">
                  <a:latin typeface="+mn-ea"/>
                  <a:ea typeface="+mn-ea"/>
                </a:rPr>
                <a:t>로서 강력한 </a:t>
              </a:r>
              <a:r>
                <a:rPr lang="en-US" altLang="ko-KR" sz="1050" b="0" dirty="0">
                  <a:latin typeface="+mn-ea"/>
                  <a:ea typeface="+mn-ea"/>
                </a:rPr>
                <a:t>Sponsorship</a:t>
              </a:r>
              <a:r>
                <a:rPr lang="ko-KR" altLang="en-US" sz="1050" b="0" dirty="0">
                  <a:latin typeface="+mn-ea"/>
                  <a:ea typeface="+mn-ea"/>
                </a:rPr>
                <a:t>을 발휘토록 지원</a:t>
              </a:r>
              <a:endParaRPr kumimoji="0" lang="en-US" altLang="ko-KR" sz="1050" b="0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</p:txBody>
        </p:sp>
        <p:sp>
          <p:nvSpPr>
            <p:cNvPr id="125" name="타원 124"/>
            <p:cNvSpPr/>
            <p:nvPr/>
          </p:nvSpPr>
          <p:spPr bwMode="gray">
            <a:xfrm>
              <a:off x="4726638" y="4239272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커뮤니케이션 </a:t>
              </a:r>
            </a:p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활성화 프로그램 운영</a:t>
              </a:r>
            </a:p>
          </p:txBody>
        </p:sp>
        <p:sp>
          <p:nvSpPr>
            <p:cNvPr id="135" name="Rectangle 105"/>
            <p:cNvSpPr>
              <a:spLocks noChangeArrowheads="1"/>
            </p:cNvSpPr>
            <p:nvPr/>
          </p:nvSpPr>
          <p:spPr bwMode="auto">
            <a:xfrm>
              <a:off x="6569623" y="4175305"/>
              <a:ext cx="2737765" cy="8756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36000" tIns="0" rIns="36000" bIns="0" anchor="ctr"/>
            <a:lstStyle/>
            <a:p>
              <a:pPr defTabSz="1279525" eaLnBrk="0" fontAlgn="auto" latinLnBrk="0" hangingPunct="0">
                <a:lnSpc>
                  <a:spcPct val="105000"/>
                </a:lnSpc>
                <a:spcBef>
                  <a:spcPts val="600"/>
                </a:spcBef>
                <a:spcAft>
                  <a:spcPts val="0"/>
                </a:spcAft>
                <a:buNone/>
              </a:pPr>
              <a:r>
                <a:rPr lang="ko-KR" altLang="en-US" sz="1050" b="0" dirty="0">
                  <a:latin typeface="+mn-ea"/>
                  <a:ea typeface="+mn-ea"/>
                </a:rPr>
                <a:t>변화 리더십이 충분히 발휘될 수 있는 지휘 계통을 통한 커뮤니케이션을 강화하고</a:t>
              </a:r>
              <a:r>
                <a:rPr lang="en-US" altLang="ko-KR" sz="1050" b="0" dirty="0">
                  <a:latin typeface="+mn-ea"/>
                  <a:ea typeface="+mn-ea"/>
                </a:rPr>
                <a:t>, </a:t>
              </a:r>
              <a:r>
                <a:rPr lang="ko-KR" altLang="en-US" sz="1050" b="0" dirty="0">
                  <a:latin typeface="+mn-ea"/>
                  <a:ea typeface="+mn-ea"/>
                </a:rPr>
                <a:t>실무담당자의 요구사항 및 의견 수렴과 피드백을 위한 양방향 커뮤니케이션을 통해 실무담당자의 참여를 적극적으로 유도</a:t>
              </a:r>
              <a:endParaRPr lang="en-US" altLang="ko-KR" sz="1050" b="0" dirty="0">
                <a:latin typeface="+mn-ea"/>
                <a:ea typeface="+mn-ea"/>
              </a:endParaRPr>
            </a:p>
          </p:txBody>
        </p:sp>
        <p:sp>
          <p:nvSpPr>
            <p:cNvPr id="126" name="타원 125"/>
            <p:cNvSpPr/>
            <p:nvPr/>
          </p:nvSpPr>
          <p:spPr bwMode="gray">
            <a:xfrm>
              <a:off x="4726638" y="5313908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 교육</a:t>
              </a:r>
            </a:p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프로그램</a:t>
              </a:r>
            </a:p>
          </p:txBody>
        </p:sp>
        <p:sp>
          <p:nvSpPr>
            <p:cNvPr id="136" name="Rectangle 105"/>
            <p:cNvSpPr>
              <a:spLocks noChangeArrowheads="1"/>
            </p:cNvSpPr>
            <p:nvPr/>
          </p:nvSpPr>
          <p:spPr bwMode="auto">
            <a:xfrm>
              <a:off x="6569623" y="5337066"/>
              <a:ext cx="2737765" cy="7014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36000" tIns="0" rIns="36000" bIns="0" anchor="ctr"/>
            <a:lstStyle/>
            <a:p>
              <a:pPr defTabSz="1279525" eaLnBrk="0" fontAlgn="auto" latinLnBrk="0" hangingPunct="0">
                <a:lnSpc>
                  <a:spcPct val="105000"/>
                </a:lnSpc>
                <a:spcBef>
                  <a:spcPts val="600"/>
                </a:spcBef>
                <a:spcAft>
                  <a:spcPts val="0"/>
                </a:spcAft>
                <a:buNone/>
              </a:pPr>
              <a:r>
                <a:rPr lang="ko-KR" altLang="en-US" sz="1050" b="0" dirty="0">
                  <a:latin typeface="+mn-ea"/>
                  <a:ea typeface="+mn-ea"/>
                </a:rPr>
                <a:t>정보화전략 이행과제 추진 및 정착을 위해 요구되는 역할 규명과 이러한 역할을 수행하기 위한 필요 </a:t>
              </a:r>
              <a:r>
                <a:rPr lang="en-US" altLang="ko-KR" sz="1050" b="0" dirty="0">
                  <a:latin typeface="+mn-ea"/>
                  <a:ea typeface="+mn-ea"/>
                </a:rPr>
                <a:t>Skill</a:t>
              </a:r>
              <a:r>
                <a:rPr lang="ko-KR" altLang="en-US" sz="1050" b="0" dirty="0">
                  <a:latin typeface="+mn-ea"/>
                  <a:ea typeface="+mn-ea"/>
                </a:rPr>
                <a:t>을 정의하고 이를 지원할 수 있는 교육 실시</a:t>
              </a:r>
              <a:endParaRPr lang="en-US" altLang="ko-KR" sz="1050" b="0" dirty="0">
                <a:latin typeface="+mn-ea"/>
                <a:ea typeface="+mn-ea"/>
              </a:endParaRPr>
            </a:p>
          </p:txBody>
        </p:sp>
        <p:sp>
          <p:nvSpPr>
            <p:cNvPr id="123" name="타원 122"/>
            <p:cNvSpPr/>
            <p:nvPr/>
          </p:nvSpPr>
          <p:spPr bwMode="gray">
            <a:xfrm>
              <a:off x="4726638" y="2143300"/>
              <a:ext cx="1620038" cy="747736"/>
            </a:xfrm>
            <a:prstGeom prst="ellipse">
              <a:avLst/>
            </a:prstGeom>
            <a:solidFill>
              <a:srgbClr val="508CD2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 추진체계 및 </a:t>
              </a:r>
              <a: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/>
              </a:r>
              <a:br>
                <a:rPr lang="en-US" altLang="ko-KR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정보화 </a:t>
              </a:r>
              <a:r>
                <a:rPr lang="ko-KR" altLang="en-US" sz="1200" b="1" kern="0" dirty="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거버넌스</a:t>
              </a:r>
              <a:r>
                <a:rPr lang="ko-KR" altLang="en-US" sz="1200" b="1" kern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정립 </a:t>
              </a:r>
            </a:p>
          </p:txBody>
        </p:sp>
        <p:sp>
          <p:nvSpPr>
            <p:cNvPr id="137" name="Rectangle 105"/>
            <p:cNvSpPr>
              <a:spLocks noChangeArrowheads="1"/>
            </p:cNvSpPr>
            <p:nvPr/>
          </p:nvSpPr>
          <p:spPr bwMode="auto">
            <a:xfrm>
              <a:off x="6499076" y="2231221"/>
              <a:ext cx="2737765" cy="571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36000" tIns="0" rIns="36000" bIns="0" anchor="ctr"/>
            <a:lstStyle/>
            <a:p>
              <a:pPr defTabSz="1279525" eaLnBrk="0" fontAlgn="auto" latinLnBrk="0" hangingPunct="0">
                <a:lnSpc>
                  <a:spcPct val="105000"/>
                </a:lnSpc>
                <a:spcBef>
                  <a:spcPts val="600"/>
                </a:spcBef>
                <a:spcAft>
                  <a:spcPts val="0"/>
                </a:spcAft>
                <a:buNone/>
                <a:defRPr/>
              </a:pPr>
              <a:r>
                <a:rPr lang="ko-KR" altLang="en-US" sz="1050" b="0" kern="0" dirty="0">
                  <a:solidFill>
                    <a:sysClr val="windowText" lastClr="000000"/>
                  </a:solidFill>
                  <a:latin typeface="+mn-ea"/>
                  <a:ea typeface="+mn-ea"/>
                </a:rPr>
                <a:t>문화체육관광부 소관 부서와 국민체육진흥공단 현업부서의 사업 이행 단계별 안정적인 조직운영을 유도</a:t>
              </a:r>
              <a:endParaRPr kumimoji="0" lang="en-US" altLang="ko-KR" sz="1050" b="0" kern="0" dirty="0">
                <a:solidFill>
                  <a:sysClr val="windowText" lastClr="000000"/>
                </a:solidFill>
                <a:latin typeface="+mn-ea"/>
                <a:ea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 구축을 위해 총괄</a:t>
            </a:r>
            <a:r>
              <a:rPr lang="en-US" altLang="ko-KR" sz="1600" dirty="0"/>
              <a:t>/</a:t>
            </a:r>
            <a:r>
              <a:rPr lang="ko-KR" altLang="en-US" sz="1600" dirty="0"/>
              <a:t>사업관리</a:t>
            </a:r>
            <a:r>
              <a:rPr lang="en-US" altLang="ko-KR" sz="1600" dirty="0"/>
              <a:t>, </a:t>
            </a:r>
            <a:r>
              <a:rPr lang="ko-KR" altLang="en-US" sz="1600" dirty="0"/>
              <a:t>외부감리</a:t>
            </a:r>
            <a:r>
              <a:rPr lang="en-US" altLang="ko-KR" sz="1600" dirty="0"/>
              <a:t>, </a:t>
            </a:r>
            <a:r>
              <a:rPr lang="ko-KR" altLang="en-US" sz="1600" dirty="0"/>
              <a:t>정보화 </a:t>
            </a:r>
            <a:r>
              <a:rPr lang="en-US" altLang="ko-KR" sz="1600" dirty="0"/>
              <a:t>TFT, </a:t>
            </a:r>
            <a:r>
              <a:rPr lang="ko-KR" altLang="en-US" sz="1600" dirty="0"/>
              <a:t>시스템 구축업체로 </a:t>
            </a:r>
            <a:r>
              <a:rPr lang="ko-KR" altLang="en-US" sz="1600" dirty="0" err="1"/>
              <a:t>추진단을</a:t>
            </a:r>
            <a:r>
              <a:rPr lang="ko-KR" altLang="en-US" sz="1600" dirty="0"/>
              <a:t> 구성하여 사업 추진이 필요함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구축 추진 조직 구성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28" name="직사각형 27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구축 추진 조직 구성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</a:t>
            </a: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안</a:t>
            </a:r>
            <a:r>
              <a:rPr lang="en-US" altLang="ko-KR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5" name="그룹 91"/>
          <p:cNvGrpSpPr/>
          <p:nvPr/>
        </p:nvGrpSpPr>
        <p:grpSpPr>
          <a:xfrm>
            <a:off x="992560" y="2103978"/>
            <a:ext cx="7920880" cy="3758668"/>
            <a:chOff x="992560" y="2060848"/>
            <a:chExt cx="7920880" cy="3758668"/>
          </a:xfrm>
        </p:grpSpPr>
        <p:sp>
          <p:nvSpPr>
            <p:cNvPr id="24" name="Rectangle 51"/>
            <p:cNvSpPr>
              <a:spLocks noChangeArrowheads="1"/>
            </p:cNvSpPr>
            <p:nvPr/>
          </p:nvSpPr>
          <p:spPr bwMode="auto">
            <a:xfrm>
              <a:off x="3801887" y="2060848"/>
              <a:ext cx="2302227" cy="440993"/>
            </a:xfrm>
            <a:prstGeom prst="rect">
              <a:avLst/>
            </a:prstGeom>
            <a:solidFill>
              <a:srgbClr val="508CD2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schemeClr val="tx1">
                  <a:lumMod val="50000"/>
                  <a:lumOff val="50000"/>
                </a:schemeClr>
              </a:outerShdw>
            </a:effectLst>
          </p:spPr>
          <p:txBody>
            <a:bodyPr wrap="square" lIns="36000" tIns="36000" rIns="36000" bIns="36000" anchor="ctr" anchorCtr="1"/>
            <a:lstStyle/>
            <a:p>
              <a:pPr algn="ctr">
                <a:spcBef>
                  <a:spcPts val="600"/>
                </a:spcBef>
              </a:pPr>
              <a:r>
                <a:rPr lang="ko-KR" altLang="en-US" sz="12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국민체육진흥공단</a:t>
              </a:r>
            </a:p>
          </p:txBody>
        </p:sp>
        <p:grpSp>
          <p:nvGrpSpPr>
            <p:cNvPr id="6" name="그룹 67"/>
            <p:cNvGrpSpPr/>
            <p:nvPr/>
          </p:nvGrpSpPr>
          <p:grpSpPr>
            <a:xfrm>
              <a:off x="3801887" y="2958582"/>
              <a:ext cx="2302227" cy="772702"/>
              <a:chOff x="661548" y="4444784"/>
              <a:chExt cx="2302227" cy="772702"/>
            </a:xfrm>
          </p:grpSpPr>
          <p:sp>
            <p:nvSpPr>
              <p:cNvPr id="32" name="Rectangle 51"/>
              <p:cNvSpPr>
                <a:spLocks noChangeArrowheads="1"/>
              </p:cNvSpPr>
              <p:nvPr/>
            </p:nvSpPr>
            <p:spPr bwMode="auto">
              <a:xfrm>
                <a:off x="661548" y="4752794"/>
                <a:ext cx="2302227" cy="46469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0"/>
                  </a:spcBef>
                  <a:buNone/>
                </a:pPr>
                <a:r>
                  <a:rPr lang="ko-KR" altLang="en-US" sz="1100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정보화 기획팀</a:t>
                </a:r>
              </a:p>
            </p:txBody>
          </p:sp>
          <p:sp>
            <p:nvSpPr>
              <p:cNvPr id="33" name="Rectangle 51"/>
              <p:cNvSpPr>
                <a:spLocks noChangeArrowheads="1"/>
              </p:cNvSpPr>
              <p:nvPr/>
            </p:nvSpPr>
            <p:spPr bwMode="auto">
              <a:xfrm>
                <a:off x="661548" y="4444784"/>
                <a:ext cx="2302227" cy="308010"/>
              </a:xfrm>
              <a:prstGeom prst="rect">
                <a:avLst/>
              </a:prstGeom>
              <a:solidFill>
                <a:srgbClr val="508CD2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600"/>
                  </a:spcBef>
                  <a:buNone/>
                </a:pPr>
                <a:r>
                  <a:rPr lang="ko-KR" altLang="en-US" sz="12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총괄 </a:t>
                </a:r>
                <a:r>
                  <a:rPr lang="en-US" altLang="ko-KR" sz="12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/ </a:t>
                </a:r>
                <a:r>
                  <a:rPr lang="ko-KR" altLang="en-US" sz="12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사업관리</a:t>
                </a:r>
              </a:p>
            </p:txBody>
          </p:sp>
        </p:grpSp>
        <p:grpSp>
          <p:nvGrpSpPr>
            <p:cNvPr id="7" name="그룹 68"/>
            <p:cNvGrpSpPr/>
            <p:nvPr/>
          </p:nvGrpSpPr>
          <p:grpSpPr>
            <a:xfrm>
              <a:off x="6611213" y="3840796"/>
              <a:ext cx="2302227" cy="772702"/>
              <a:chOff x="661548" y="4444784"/>
              <a:chExt cx="2302227" cy="772702"/>
            </a:xfrm>
          </p:grpSpPr>
          <p:sp>
            <p:nvSpPr>
              <p:cNvPr id="70" name="Rectangle 51"/>
              <p:cNvSpPr>
                <a:spLocks noChangeArrowheads="1"/>
              </p:cNvSpPr>
              <p:nvPr/>
            </p:nvSpPr>
            <p:spPr bwMode="auto">
              <a:xfrm>
                <a:off x="661548" y="4752794"/>
                <a:ext cx="2302227" cy="46469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0"/>
                  </a:spcBef>
                  <a:buNone/>
                </a:pPr>
                <a:r>
                  <a:rPr lang="ko-KR" altLang="en-US" sz="1100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감리수행 업체</a:t>
                </a:r>
              </a:p>
            </p:txBody>
          </p:sp>
          <p:sp>
            <p:nvSpPr>
              <p:cNvPr id="71" name="Rectangle 51"/>
              <p:cNvSpPr>
                <a:spLocks noChangeArrowheads="1"/>
              </p:cNvSpPr>
              <p:nvPr/>
            </p:nvSpPr>
            <p:spPr bwMode="auto">
              <a:xfrm>
                <a:off x="661548" y="4444784"/>
                <a:ext cx="2302227" cy="308010"/>
              </a:xfrm>
              <a:prstGeom prst="rect">
                <a:avLst/>
              </a:prstGeom>
              <a:solidFill>
                <a:srgbClr val="B1CFFC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600"/>
                  </a:spcBef>
                  <a:buNone/>
                </a:pPr>
                <a:r>
                  <a:rPr lang="ko-KR" altLang="en-US" sz="12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외부 감리</a:t>
                </a:r>
              </a:p>
            </p:txBody>
          </p:sp>
        </p:grpSp>
        <p:grpSp>
          <p:nvGrpSpPr>
            <p:cNvPr id="8" name="그룹 71"/>
            <p:cNvGrpSpPr/>
            <p:nvPr/>
          </p:nvGrpSpPr>
          <p:grpSpPr>
            <a:xfrm>
              <a:off x="3801887" y="5046814"/>
              <a:ext cx="2302227" cy="772702"/>
              <a:chOff x="661548" y="4444784"/>
              <a:chExt cx="2302227" cy="772702"/>
            </a:xfrm>
          </p:grpSpPr>
          <p:sp>
            <p:nvSpPr>
              <p:cNvPr id="73" name="Rectangle 51"/>
              <p:cNvSpPr>
                <a:spLocks noChangeArrowheads="1"/>
              </p:cNvSpPr>
              <p:nvPr/>
            </p:nvSpPr>
            <p:spPr bwMode="auto">
              <a:xfrm>
                <a:off x="661548" y="4752794"/>
                <a:ext cx="2302227" cy="46469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0"/>
                  </a:spcBef>
                  <a:buNone/>
                </a:pPr>
                <a:r>
                  <a:rPr lang="ko-KR" altLang="en-US" sz="1100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사업수행 업체</a:t>
                </a:r>
              </a:p>
            </p:txBody>
          </p:sp>
          <p:sp>
            <p:nvSpPr>
              <p:cNvPr id="74" name="Rectangle 51"/>
              <p:cNvSpPr>
                <a:spLocks noChangeArrowheads="1"/>
              </p:cNvSpPr>
              <p:nvPr/>
            </p:nvSpPr>
            <p:spPr bwMode="auto">
              <a:xfrm>
                <a:off x="661548" y="4444784"/>
                <a:ext cx="2302227" cy="308010"/>
              </a:xfrm>
              <a:prstGeom prst="rect">
                <a:avLst/>
              </a:prstGeom>
              <a:solidFill>
                <a:srgbClr val="B1CFFC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600"/>
                  </a:spcBef>
                  <a:buNone/>
                </a:pPr>
                <a:r>
                  <a:rPr lang="ko-KR" altLang="en-US" sz="1200" b="1" dirty="0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rPr>
                  <a:t>시스템 구축업체</a:t>
                </a:r>
              </a:p>
            </p:txBody>
          </p:sp>
        </p:grpSp>
        <p:grpSp>
          <p:nvGrpSpPr>
            <p:cNvPr id="9" name="그룹 74"/>
            <p:cNvGrpSpPr/>
            <p:nvPr/>
          </p:nvGrpSpPr>
          <p:grpSpPr>
            <a:xfrm>
              <a:off x="992560" y="5046814"/>
              <a:ext cx="2302227" cy="772702"/>
              <a:chOff x="661548" y="4444784"/>
              <a:chExt cx="2302227" cy="772702"/>
            </a:xfrm>
          </p:grpSpPr>
          <p:sp>
            <p:nvSpPr>
              <p:cNvPr id="76" name="Rectangle 51"/>
              <p:cNvSpPr>
                <a:spLocks noChangeArrowheads="1"/>
              </p:cNvSpPr>
              <p:nvPr/>
            </p:nvSpPr>
            <p:spPr bwMode="auto">
              <a:xfrm>
                <a:off x="661548" y="4752794"/>
                <a:ext cx="2302227" cy="46469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0"/>
                  </a:spcBef>
                  <a:buNone/>
                </a:pPr>
                <a:r>
                  <a:rPr lang="ko-KR" altLang="en-US" sz="1100" dirty="0">
                    <a:latin typeface="맑은 고딕" pitchFamily="50" charset="-127"/>
                    <a:ea typeface="맑은 고딕" pitchFamily="50" charset="-127"/>
                  </a:rPr>
                  <a:t>업무</a:t>
                </a:r>
                <a:r>
                  <a:rPr lang="en-US" altLang="ko-KR" sz="1100" dirty="0"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1100" dirty="0">
                    <a:latin typeface="맑은 고딕" pitchFamily="50" charset="-127"/>
                    <a:ea typeface="맑은 고딕" pitchFamily="50" charset="-127"/>
                  </a:rPr>
                  <a:t>정보화 담당부서 및 </a:t>
                </a:r>
                <a:r>
                  <a:rPr lang="en-US" altLang="ko-KR" sz="1100" dirty="0">
                    <a:latin typeface="맑은 고딕" pitchFamily="50" charset="-127"/>
                    <a:ea typeface="맑은 고딕" pitchFamily="50" charset="-127"/>
                  </a:rPr>
                  <a:t/>
                </a:r>
                <a:br>
                  <a:rPr lang="en-US" altLang="ko-KR" sz="1100" dirty="0">
                    <a:latin typeface="맑은 고딕" pitchFamily="50" charset="-127"/>
                    <a:ea typeface="맑은 고딕" pitchFamily="50" charset="-127"/>
                  </a:rPr>
                </a:br>
                <a:r>
                  <a:rPr lang="ko-KR" altLang="en-US" sz="1100" dirty="0">
                    <a:latin typeface="맑은 고딕" pitchFamily="50" charset="-127"/>
                    <a:ea typeface="맑은 고딕" pitchFamily="50" charset="-127"/>
                  </a:rPr>
                  <a:t>부서별 실무담당자</a:t>
                </a:r>
                <a:endParaRPr lang="ko-KR" altLang="en-US" sz="1100" dirty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7" name="Rectangle 51"/>
              <p:cNvSpPr>
                <a:spLocks noChangeArrowheads="1"/>
              </p:cNvSpPr>
              <p:nvPr/>
            </p:nvSpPr>
            <p:spPr bwMode="auto">
              <a:xfrm>
                <a:off x="661548" y="4444784"/>
                <a:ext cx="2302227" cy="308010"/>
              </a:xfrm>
              <a:prstGeom prst="rect">
                <a:avLst/>
              </a:prstGeom>
              <a:solidFill>
                <a:srgbClr val="508CD2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schemeClr val="tx1">
                    <a:lumMod val="50000"/>
                    <a:lumOff val="50000"/>
                  </a:schemeClr>
                </a:outerShdw>
              </a:effectLst>
            </p:spPr>
            <p:txBody>
              <a:bodyPr wrap="square" lIns="36000" tIns="36000" rIns="36000" bIns="36000" anchor="ctr" anchorCtr="1"/>
              <a:lstStyle/>
              <a:p>
                <a:pPr algn="ctr">
                  <a:lnSpc>
                    <a:spcPct val="100000"/>
                  </a:lnSpc>
                  <a:spcBef>
                    <a:spcPts val="600"/>
                  </a:spcBef>
                  <a:buNone/>
                </a:pPr>
                <a:r>
                  <a:rPr lang="ko-KR" altLang="en-US" sz="12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정보화 </a:t>
                </a:r>
                <a:r>
                  <a:rPr lang="en-US" altLang="ko-KR" sz="1200" b="1" dirty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TFT</a:t>
                </a:r>
                <a:endParaRPr lang="ko-KR" altLang="en-US" sz="12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78" name="직선 연결선 77"/>
            <p:cNvCxnSpPr>
              <a:stCxn id="24" idx="2"/>
              <a:endCxn id="33" idx="0"/>
            </p:cNvCxnSpPr>
            <p:nvPr/>
          </p:nvCxnSpPr>
          <p:spPr bwMode="auto">
            <a:xfrm>
              <a:off x="4953001" y="2501841"/>
              <a:ext cx="0" cy="456741"/>
            </a:xfrm>
            <a:prstGeom prst="line">
              <a:avLst/>
            </a:prstGeom>
            <a:solidFill>
              <a:srgbClr val="FBB779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" name="직선 연결선 81"/>
            <p:cNvCxnSpPr>
              <a:stCxn id="32" idx="2"/>
              <a:endCxn id="77" idx="0"/>
            </p:cNvCxnSpPr>
            <p:nvPr/>
          </p:nvCxnSpPr>
          <p:spPr bwMode="auto">
            <a:xfrm rot="5400000">
              <a:off x="2890573" y="2984386"/>
              <a:ext cx="1315530" cy="2809327"/>
            </a:xfrm>
            <a:prstGeom prst="bentConnector3">
              <a:avLst>
                <a:gd name="adj1" fmla="val 50000"/>
              </a:avLst>
            </a:prstGeom>
            <a:solidFill>
              <a:srgbClr val="FBB779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4" name="직선 연결선 81"/>
            <p:cNvCxnSpPr>
              <a:stCxn id="32" idx="2"/>
              <a:endCxn id="74" idx="0"/>
            </p:cNvCxnSpPr>
            <p:nvPr/>
          </p:nvCxnSpPr>
          <p:spPr bwMode="auto">
            <a:xfrm>
              <a:off x="4953001" y="3731284"/>
              <a:ext cx="0" cy="1315530"/>
            </a:xfrm>
            <a:prstGeom prst="straightConnector1">
              <a:avLst/>
            </a:prstGeom>
            <a:solidFill>
              <a:srgbClr val="FBB779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7" name="직선 연결선 81"/>
            <p:cNvCxnSpPr>
              <a:stCxn id="32" idx="2"/>
              <a:endCxn id="70" idx="1"/>
            </p:cNvCxnSpPr>
            <p:nvPr/>
          </p:nvCxnSpPr>
          <p:spPr bwMode="auto">
            <a:xfrm rot="16200000" flipH="1">
              <a:off x="5457173" y="3227112"/>
              <a:ext cx="649868" cy="1658212"/>
            </a:xfrm>
            <a:prstGeom prst="bentConnector2">
              <a:avLst/>
            </a:prstGeom>
            <a:solidFill>
              <a:srgbClr val="FBB779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차세대 경영정보시스템 구축을 위해 총괄</a:t>
            </a:r>
            <a:r>
              <a:rPr lang="en-US" altLang="ko-KR" sz="1600" dirty="0"/>
              <a:t>/</a:t>
            </a:r>
            <a:r>
              <a:rPr lang="ko-KR" altLang="en-US" sz="1600" dirty="0"/>
              <a:t>사업관리</a:t>
            </a:r>
            <a:r>
              <a:rPr lang="en-US" altLang="ko-KR" sz="1600" dirty="0"/>
              <a:t>, </a:t>
            </a:r>
            <a:r>
              <a:rPr lang="ko-KR" altLang="en-US" sz="1600" dirty="0"/>
              <a:t>외부감리</a:t>
            </a:r>
            <a:r>
              <a:rPr lang="en-US" altLang="ko-KR" sz="1600" dirty="0"/>
              <a:t>, </a:t>
            </a:r>
            <a:r>
              <a:rPr lang="ko-KR" altLang="en-US" sz="1600" dirty="0"/>
              <a:t>정보화 </a:t>
            </a:r>
            <a:r>
              <a:rPr lang="en-US" altLang="ko-KR" sz="1600" dirty="0"/>
              <a:t>TFT, </a:t>
            </a:r>
            <a:r>
              <a:rPr lang="ko-KR" altLang="en-US" sz="1600" dirty="0"/>
              <a:t>시스템 구축업체로 </a:t>
            </a:r>
            <a:r>
              <a:rPr lang="ko-KR" altLang="en-US" sz="1600" dirty="0" err="1"/>
              <a:t>사업추진단을</a:t>
            </a:r>
            <a:r>
              <a:rPr lang="ko-KR" altLang="en-US" sz="1600" dirty="0"/>
              <a:t> 구성할 필요가 있으며</a:t>
            </a:r>
            <a:r>
              <a:rPr lang="en-US" altLang="ko-KR" sz="1600" dirty="0"/>
              <a:t>, </a:t>
            </a:r>
            <a:r>
              <a:rPr lang="ko-KR" altLang="en-US" sz="1600" dirty="0"/>
              <a:t>조직별 주요 역할은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추진 조직별 역할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aphicFrame>
        <p:nvGraphicFramePr>
          <p:cNvPr id="45" name="Group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859950"/>
              </p:ext>
            </p:extLst>
          </p:nvPr>
        </p:nvGraphicFramePr>
        <p:xfrm>
          <a:off x="347604" y="1484784"/>
          <a:ext cx="9180000" cy="4752424"/>
        </p:xfrm>
        <a:graphic>
          <a:graphicData uri="http://schemas.openxmlformats.org/drawingml/2006/table">
            <a:tbl>
              <a:tblPr/>
              <a:tblGrid>
                <a:gridCol w="114901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5472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30787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조    직</a:t>
                      </a:r>
                      <a:endParaRPr kumimoji="1" lang="en-US" altLang="ko-KR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주 요   역 할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08C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20314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내 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총괄</a:t>
                      </a:r>
                      <a:r>
                        <a:rPr kumimoji="1" lang="en-US" altLang="ko-KR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사업관리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정보화 사업 총괄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각 부서 간 의견 조율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사업수행의 전반적 방향 제시 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사업수행 현안사항 관리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프로젝트 주요 과정의 관리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감독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산출물 검토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사업성과물 검수</a:t>
                      </a:r>
                    </a:p>
                  </a:txBody>
                  <a:tcPr marL="21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6815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정보화 </a:t>
                      </a:r>
                      <a:r>
                        <a:rPr kumimoji="1" lang="en-US" altLang="ko-KR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TFT</a:t>
                      </a:r>
                      <a:endParaRPr kumimoji="1" lang="ko-KR" altLang="en-US" sz="1200" b="1" i="0" u="none" strike="noStrike" cap="none" spc="30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분야별 분석 및 정보화 방법에 관한 의견제시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구축사업 설계를 위한 자문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사업별 요구 및 업무분석 지원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정보화 관련 자료 제공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사용자 테스트</a:t>
                      </a:r>
                    </a:p>
                  </a:txBody>
                  <a:tcPr marL="21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2008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외 부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감리업체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사업의 성공적인 수행을 위한 감리</a:t>
                      </a:r>
                    </a:p>
                  </a:txBody>
                  <a:tcPr marL="21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36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1" i="0" u="none" strike="noStrike" cap="none" spc="30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구축업체</a:t>
                      </a:r>
                    </a:p>
                  </a:txBody>
                  <a:tcPr marL="3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시스템 구축</a:t>
                      </a:r>
                      <a:b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품질관리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분석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설계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디자인</a:t>
                      </a:r>
                      <a:r>
                        <a:rPr kumimoji="1" lang="en-US" altLang="ko-KR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구현 및 테스트</a:t>
                      </a: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1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100" b="0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사업 진행상황 보고</a:t>
                      </a:r>
                    </a:p>
                  </a:txBody>
                  <a:tcPr marL="216000" marR="36000" marT="36000" marB="36000" anchor="ctr" horzOverflow="overflow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39252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안정적인 차세대 경영정보시스템의 운영 및 관리를 위해 시스템 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성능관리</a:t>
            </a:r>
            <a:r>
              <a:rPr lang="en-US" altLang="ko-KR" sz="1600" dirty="0"/>
              <a:t>, </a:t>
            </a:r>
            <a:r>
              <a:rPr lang="ko-KR" altLang="en-US" sz="1600" dirty="0"/>
              <a:t>구성 및 변경관리</a:t>
            </a:r>
            <a:r>
              <a:rPr lang="en-US" altLang="ko-KR" sz="1600" dirty="0"/>
              <a:t>, </a:t>
            </a:r>
            <a:r>
              <a:rPr lang="ko-KR" altLang="en-US" sz="1600" dirty="0"/>
              <a:t>장애관리</a:t>
            </a:r>
            <a:r>
              <a:rPr lang="en-US" altLang="ko-KR" sz="1600" dirty="0"/>
              <a:t>, </a:t>
            </a:r>
            <a:r>
              <a:rPr lang="ko-KR" altLang="en-US" sz="1600" dirty="0"/>
              <a:t>보안관리로 구성된 운영∙관리체계를 수립함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운영</a:t>
            </a:r>
            <a:r>
              <a:rPr lang="en-US" altLang="ko-KR" dirty="0"/>
              <a:t>·</a:t>
            </a:r>
            <a:r>
              <a:rPr lang="ko-KR" altLang="en-US" dirty="0"/>
              <a:t>관리체계 수립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119" name="직사각형 118"/>
          <p:cNvSpPr/>
          <p:nvPr/>
        </p:nvSpPr>
        <p:spPr bwMode="auto">
          <a:xfrm>
            <a:off x="5001821" y="1537953"/>
            <a:ext cx="4500000" cy="324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R="0" indent="0"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운영∙관리 기능</a:t>
            </a:r>
          </a:p>
        </p:txBody>
      </p:sp>
      <p:sp>
        <p:nvSpPr>
          <p:cNvPr id="120" name="Rectangle 34"/>
          <p:cNvSpPr>
            <a:spLocks noChangeArrowheads="1"/>
          </p:cNvSpPr>
          <p:nvPr/>
        </p:nvSpPr>
        <p:spPr bwMode="gray">
          <a:xfrm>
            <a:off x="5006809" y="1832106"/>
            <a:ext cx="4492159" cy="4487817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" name="그룹 156"/>
          <p:cNvGrpSpPr/>
          <p:nvPr/>
        </p:nvGrpSpPr>
        <p:grpSpPr>
          <a:xfrm>
            <a:off x="344488" y="1531392"/>
            <a:ext cx="4689199" cy="4779057"/>
            <a:chOff x="344488" y="1531392"/>
            <a:chExt cx="4689199" cy="4779057"/>
          </a:xfrm>
        </p:grpSpPr>
        <p:sp>
          <p:nvSpPr>
            <p:cNvPr id="121" name="Freeform 20"/>
            <p:cNvSpPr>
              <a:spLocks/>
            </p:cNvSpPr>
            <p:nvPr/>
          </p:nvSpPr>
          <p:spPr bwMode="auto">
            <a:xfrm>
              <a:off x="344488" y="1531392"/>
              <a:ext cx="4293300" cy="287338"/>
            </a:xfrm>
            <a:custGeom>
              <a:avLst/>
              <a:gdLst>
                <a:gd name="T0" fmla="*/ 0 w 2216"/>
                <a:gd name="T1" fmla="*/ 2147483647 h 250"/>
                <a:gd name="T2" fmla="*/ 2147483647 w 2216"/>
                <a:gd name="T3" fmla="*/ 0 h 250"/>
                <a:gd name="T4" fmla="*/ 2147483647 w 2216"/>
                <a:gd name="T5" fmla="*/ 2147483647 h 250"/>
                <a:gd name="T6" fmla="*/ 0 w 2216"/>
                <a:gd name="T7" fmla="*/ 2147483647 h 250"/>
                <a:gd name="T8" fmla="*/ 0 w 2216"/>
                <a:gd name="T9" fmla="*/ 2147483647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250"/>
                <a:gd name="T17" fmla="*/ 2216 w 2216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250">
                  <a:moveTo>
                    <a:pt x="0" y="1"/>
                  </a:moveTo>
                  <a:lnTo>
                    <a:pt x="2186" y="0"/>
                  </a:lnTo>
                  <a:lnTo>
                    <a:pt x="2216" y="249"/>
                  </a:lnTo>
                  <a:lnTo>
                    <a:pt x="0" y="2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차세대 경영관리시스템 운영∙관리체계</a:t>
              </a:r>
            </a:p>
          </p:txBody>
        </p:sp>
        <p:sp>
          <p:nvSpPr>
            <p:cNvPr id="122" name="AutoShape 7"/>
            <p:cNvSpPr>
              <a:spLocks noChangeArrowheads="1"/>
            </p:cNvSpPr>
            <p:nvPr/>
          </p:nvSpPr>
          <p:spPr bwMode="auto">
            <a:xfrm>
              <a:off x="349321" y="1809627"/>
              <a:ext cx="4684366" cy="4500822"/>
            </a:xfrm>
            <a:prstGeom prst="homePlate">
              <a:avLst>
                <a:gd name="adj" fmla="val 9111"/>
              </a:avLst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" name="Rectangle 79"/>
            <p:cNvSpPr>
              <a:spLocks noChangeArrowheads="1"/>
            </p:cNvSpPr>
            <p:nvPr/>
          </p:nvSpPr>
          <p:spPr bwMode="auto">
            <a:xfrm>
              <a:off x="436465" y="5622704"/>
              <a:ext cx="4088980" cy="595358"/>
            </a:xfrm>
            <a:prstGeom prst="rect">
              <a:avLst/>
            </a:prstGeom>
            <a:solidFill>
              <a:srgbClr val="4678B4">
                <a:lumMod val="20000"/>
                <a:lumOff val="80000"/>
              </a:srgbClr>
            </a:solidFill>
            <a:ln w="3175" cap="flat" cmpd="sng" algn="ctr">
              <a:solidFill>
                <a:srgbClr val="FFFFFF">
                  <a:lumMod val="8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Wingdings" panose="05000000000000000000" pitchFamily="2" charset="2"/>
                <a:buChar char="§"/>
                <a:tabLst/>
                <a:defRPr/>
              </a:pP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표준 운영관리 절차를 적용하여 안정성을 유지하고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품질을 보장하며</a:t>
              </a:r>
              <a:r>
                <a:rPr kumimoji="0" lang="en-US" altLang="ko-KR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, </a:t>
              </a: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유지보수 수행에 따른 문제점 및 해결방안을 공유하여 전산 운영자의 시스템 운용 능력을 향상시킨</a:t>
              </a:r>
              <a:endParaRPr kumimoji="0" lang="en-US" altLang="ko-KR" sz="1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6" name="그룹 78"/>
            <p:cNvGrpSpPr>
              <a:grpSpLocks noChangeAspect="1"/>
            </p:cNvGrpSpPr>
            <p:nvPr/>
          </p:nvGrpSpPr>
          <p:grpSpPr>
            <a:xfrm>
              <a:off x="868512" y="2071452"/>
              <a:ext cx="3274200" cy="3274200"/>
              <a:chOff x="817176" y="2241208"/>
              <a:chExt cx="3060000" cy="3060000"/>
            </a:xfrm>
          </p:grpSpPr>
          <p:sp>
            <p:nvSpPr>
              <p:cNvPr id="145" name="Oval 61"/>
              <p:cNvSpPr>
                <a:spLocks noChangeArrowheads="1"/>
              </p:cNvSpPr>
              <p:nvPr/>
            </p:nvSpPr>
            <p:spPr bwMode="auto">
              <a:xfrm>
                <a:off x="1204137" y="2761019"/>
                <a:ext cx="2221754" cy="2189894"/>
              </a:xfrm>
              <a:prstGeom prst="ellipse">
                <a:avLst/>
              </a:prstGeom>
              <a:solidFill>
                <a:srgbClr val="FFFFFF"/>
              </a:solidFill>
              <a:ln w="22225" algn="ctr">
                <a:solidFill>
                  <a:srgbClr val="76B0D4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j-ea"/>
                  <a:ea typeface="+mj-ea"/>
                </a:endParaRPr>
              </a:p>
            </p:txBody>
          </p:sp>
          <p:sp>
            <p:nvSpPr>
              <p:cNvPr id="146" name="Oval 64"/>
              <p:cNvSpPr>
                <a:spLocks noChangeArrowheads="1"/>
              </p:cNvSpPr>
              <p:nvPr/>
            </p:nvSpPr>
            <p:spPr bwMode="gray">
              <a:xfrm>
                <a:off x="1883049" y="2241208"/>
                <a:ext cx="848306" cy="853907"/>
              </a:xfrm>
              <a:prstGeom prst="ellipse">
                <a:avLst/>
              </a:prstGeom>
              <a:gradFill rotWithShape="1">
                <a:gsLst>
                  <a:gs pos="0">
                    <a:srgbClr val="CCDEEC"/>
                  </a:gs>
                  <a:gs pos="100000">
                    <a:srgbClr val="85AFD1"/>
                  </a:gs>
                </a:gsLst>
                <a:lin ang="2700000" scaled="1"/>
              </a:gradFill>
              <a:ln w="38100" algn="ctr">
                <a:solidFill>
                  <a:srgbClr val="EAEAEA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eaLnBrk="1" latin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1" lang="ko-KR" altLang="en-US" sz="1400" b="0">
                  <a:latin typeface="+mj-ea"/>
                  <a:ea typeface="+mj-ea"/>
                </a:endParaRPr>
              </a:p>
            </p:txBody>
          </p:sp>
          <p:sp>
            <p:nvSpPr>
              <p:cNvPr id="147" name="Text Box 65"/>
              <p:cNvSpPr txBox="1">
                <a:spLocks noChangeArrowheads="1"/>
              </p:cNvSpPr>
              <p:nvPr/>
            </p:nvSpPr>
            <p:spPr bwMode="auto">
              <a:xfrm>
                <a:off x="2037765" y="2489587"/>
                <a:ext cx="575283" cy="3451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>시스템 </a:t>
                </a:r>
                <a:r>
                  <a:rPr lang="en-US" altLang="ko-KR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/>
                </a:r>
                <a:br>
                  <a:rPr lang="en-US" altLang="ko-KR" sz="1200" dirty="0">
                    <a:solidFill>
                      <a:srgbClr val="000000"/>
                    </a:solidFill>
                    <a:latin typeface="+mj-ea"/>
                    <a:ea typeface="+mj-ea"/>
                  </a:rPr>
                </a:br>
                <a: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>모니터링</a:t>
                </a:r>
              </a:p>
            </p:txBody>
          </p:sp>
          <p:sp>
            <p:nvSpPr>
              <p:cNvPr id="148" name="Oval 68"/>
              <p:cNvSpPr>
                <a:spLocks noChangeArrowheads="1"/>
              </p:cNvSpPr>
              <p:nvPr/>
            </p:nvSpPr>
            <p:spPr bwMode="gray">
              <a:xfrm>
                <a:off x="817176" y="3066251"/>
                <a:ext cx="848306" cy="853907"/>
              </a:xfrm>
              <a:prstGeom prst="ellipse">
                <a:avLst/>
              </a:prstGeom>
              <a:gradFill rotWithShape="1">
                <a:gsLst>
                  <a:gs pos="0">
                    <a:srgbClr val="CCDEEC"/>
                  </a:gs>
                  <a:gs pos="100000">
                    <a:srgbClr val="85AFD1"/>
                  </a:gs>
                </a:gsLst>
                <a:lin ang="2700000" scaled="1"/>
              </a:gradFill>
              <a:ln w="38100" algn="ctr">
                <a:solidFill>
                  <a:srgbClr val="EAEAEA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eaLnBrk="1" latin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1" lang="ko-KR" altLang="en-US" sz="1400" b="0">
                  <a:latin typeface="+mj-ea"/>
                  <a:ea typeface="+mj-ea"/>
                </a:endParaRPr>
              </a:p>
            </p:txBody>
          </p:sp>
          <p:sp>
            <p:nvSpPr>
              <p:cNvPr id="149" name="Text Box 69"/>
              <p:cNvSpPr txBox="1">
                <a:spLocks noChangeArrowheads="1"/>
              </p:cNvSpPr>
              <p:nvPr/>
            </p:nvSpPr>
            <p:spPr bwMode="auto">
              <a:xfrm>
                <a:off x="931918" y="3400923"/>
                <a:ext cx="575283" cy="1725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>성능관리</a:t>
                </a:r>
              </a:p>
            </p:txBody>
          </p:sp>
          <p:sp>
            <p:nvSpPr>
              <p:cNvPr id="150" name="Oval 72"/>
              <p:cNvSpPr>
                <a:spLocks noChangeArrowheads="1"/>
              </p:cNvSpPr>
              <p:nvPr/>
            </p:nvSpPr>
            <p:spPr bwMode="gray">
              <a:xfrm>
                <a:off x="3028870" y="3106490"/>
                <a:ext cx="848306" cy="853907"/>
              </a:xfrm>
              <a:prstGeom prst="ellipse">
                <a:avLst/>
              </a:prstGeom>
              <a:gradFill rotWithShape="1">
                <a:gsLst>
                  <a:gs pos="0">
                    <a:srgbClr val="CCDEEC"/>
                  </a:gs>
                  <a:gs pos="100000">
                    <a:srgbClr val="85AFD1"/>
                  </a:gs>
                </a:gsLst>
                <a:lin ang="2700000" scaled="1"/>
              </a:gradFill>
              <a:ln w="38100" algn="ctr">
                <a:solidFill>
                  <a:srgbClr val="EAEAEA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eaLnBrk="1" latin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1" lang="ko-KR" altLang="en-US" sz="1400" b="0">
                  <a:latin typeface="+mj-ea"/>
                  <a:ea typeface="+mj-ea"/>
                </a:endParaRPr>
              </a:p>
            </p:txBody>
          </p:sp>
          <p:sp>
            <p:nvSpPr>
              <p:cNvPr id="151" name="Text Box 73"/>
              <p:cNvSpPr txBox="1">
                <a:spLocks noChangeArrowheads="1"/>
              </p:cNvSpPr>
              <p:nvPr/>
            </p:nvSpPr>
            <p:spPr bwMode="auto">
              <a:xfrm>
                <a:off x="3185135" y="3354870"/>
                <a:ext cx="575283" cy="3451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>구성 및</a:t>
                </a:r>
                <a:b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</a:br>
                <a:r>
                  <a:rPr lang="ko-KR" altLang="en-US" sz="1200" dirty="0">
                    <a:solidFill>
                      <a:srgbClr val="000000"/>
                    </a:solidFill>
                    <a:latin typeface="+mj-ea"/>
                    <a:ea typeface="+mj-ea"/>
                  </a:rPr>
                  <a:t>변경관리</a:t>
                </a:r>
              </a:p>
            </p:txBody>
          </p:sp>
          <p:sp>
            <p:nvSpPr>
              <p:cNvPr id="152" name="Text Box 77"/>
              <p:cNvSpPr txBox="1">
                <a:spLocks noChangeArrowheads="1"/>
              </p:cNvSpPr>
              <p:nvPr/>
            </p:nvSpPr>
            <p:spPr bwMode="auto">
              <a:xfrm>
                <a:off x="1709516" y="3559242"/>
                <a:ext cx="1297394" cy="60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defTabSz="1111250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r>
                  <a:rPr lang="ko-KR" altLang="en-US" sz="1400" dirty="0">
                    <a:latin typeface="+mj-ea"/>
                    <a:ea typeface="+mj-ea"/>
                  </a:rPr>
                  <a:t>차세대</a:t>
                </a:r>
                <a:r>
                  <a:rPr lang="en-US" altLang="ko-KR" sz="1400" dirty="0">
                    <a:latin typeface="+mj-ea"/>
                    <a:ea typeface="+mj-ea"/>
                  </a:rPr>
                  <a:t/>
                </a:r>
                <a:br>
                  <a:rPr lang="en-US" altLang="ko-KR" sz="1400" dirty="0">
                    <a:latin typeface="+mj-ea"/>
                    <a:ea typeface="+mj-ea"/>
                  </a:rPr>
                </a:br>
                <a:r>
                  <a:rPr lang="ko-KR" altLang="en-US" sz="1400" dirty="0">
                    <a:latin typeface="+mj-ea"/>
                    <a:ea typeface="+mj-ea"/>
                  </a:rPr>
                  <a:t>경영정보시스템</a:t>
                </a:r>
                <a:r>
                  <a:rPr lang="en-US" altLang="ko-KR" sz="1400" dirty="0">
                    <a:latin typeface="+mj-ea"/>
                    <a:ea typeface="+mj-ea"/>
                  </a:rPr>
                  <a:t/>
                </a:r>
                <a:br>
                  <a:rPr lang="en-US" altLang="ko-KR" sz="1400" dirty="0">
                    <a:latin typeface="+mj-ea"/>
                    <a:ea typeface="+mj-ea"/>
                  </a:rPr>
                </a:br>
                <a:r>
                  <a:rPr lang="ko-KR" altLang="en-US" sz="1400" dirty="0">
                    <a:latin typeface="+mj-ea"/>
                    <a:ea typeface="+mj-ea"/>
                  </a:rPr>
                  <a:t>운영</a:t>
                </a:r>
                <a:r>
                  <a:rPr lang="en-US" altLang="ko-KR" sz="1400" dirty="0">
                    <a:latin typeface="+mj-ea"/>
                    <a:ea typeface="+mj-ea"/>
                  </a:rPr>
                  <a:t>·</a:t>
                </a:r>
                <a:r>
                  <a:rPr lang="ko-KR" altLang="en-US" sz="1400" dirty="0">
                    <a:latin typeface="+mj-ea"/>
                    <a:ea typeface="+mj-ea"/>
                  </a:rPr>
                  <a:t>관리</a:t>
                </a:r>
              </a:p>
            </p:txBody>
          </p:sp>
          <p:sp>
            <p:nvSpPr>
              <p:cNvPr id="153" name="Oval 95"/>
              <p:cNvSpPr>
                <a:spLocks noChangeArrowheads="1"/>
              </p:cNvSpPr>
              <p:nvPr/>
            </p:nvSpPr>
            <p:spPr bwMode="gray">
              <a:xfrm>
                <a:off x="1144602" y="4407062"/>
                <a:ext cx="848306" cy="853907"/>
              </a:xfrm>
              <a:prstGeom prst="ellipse">
                <a:avLst/>
              </a:prstGeom>
              <a:gradFill rotWithShape="1">
                <a:gsLst>
                  <a:gs pos="0">
                    <a:srgbClr val="6499C4"/>
                  </a:gs>
                  <a:gs pos="100000">
                    <a:srgbClr val="2E619A"/>
                  </a:gs>
                </a:gsLst>
                <a:lin ang="2700000" scaled="1"/>
              </a:gradFill>
              <a:ln w="38100" algn="ctr">
                <a:solidFill>
                  <a:srgbClr val="D5E3EF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eaLnBrk="1" latin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1" lang="ko-KR" altLang="en-US" sz="1400" b="0">
                  <a:latin typeface="+mj-ea"/>
                  <a:ea typeface="+mj-ea"/>
                </a:endParaRPr>
              </a:p>
            </p:txBody>
          </p:sp>
          <p:sp>
            <p:nvSpPr>
              <p:cNvPr id="154" name="Text Box 96"/>
              <p:cNvSpPr txBox="1">
                <a:spLocks noChangeArrowheads="1"/>
              </p:cNvSpPr>
              <p:nvPr/>
            </p:nvSpPr>
            <p:spPr bwMode="auto">
              <a:xfrm>
                <a:off x="1287444" y="4783516"/>
                <a:ext cx="575283" cy="1725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r>
                  <a:rPr lang="ko-KR" altLang="en-US" sz="1200" dirty="0">
                    <a:solidFill>
                      <a:srgbClr val="FFFFFF"/>
                    </a:solidFill>
                    <a:latin typeface="+mj-ea"/>
                    <a:ea typeface="+mj-ea"/>
                  </a:rPr>
                  <a:t>장애관리</a:t>
                </a:r>
              </a:p>
            </p:txBody>
          </p:sp>
          <p:sp>
            <p:nvSpPr>
              <p:cNvPr id="155" name="Oval 98"/>
              <p:cNvSpPr>
                <a:spLocks noChangeArrowheads="1"/>
              </p:cNvSpPr>
              <p:nvPr/>
            </p:nvSpPr>
            <p:spPr bwMode="gray">
              <a:xfrm>
                <a:off x="2616256" y="4447301"/>
                <a:ext cx="848306" cy="853907"/>
              </a:xfrm>
              <a:prstGeom prst="ellipse">
                <a:avLst/>
              </a:prstGeom>
              <a:gradFill rotWithShape="1">
                <a:gsLst>
                  <a:gs pos="0">
                    <a:srgbClr val="6499C4"/>
                  </a:gs>
                  <a:gs pos="100000">
                    <a:srgbClr val="2E619A"/>
                  </a:gs>
                </a:gsLst>
                <a:lin ang="2700000" scaled="1"/>
              </a:gradFill>
              <a:ln w="38100" algn="ctr">
                <a:solidFill>
                  <a:srgbClr val="D5E3EF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eaLnBrk="1" latin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1" lang="ko-KR" altLang="en-US" sz="1400" b="0">
                  <a:latin typeface="+mj-ea"/>
                  <a:ea typeface="+mj-ea"/>
                </a:endParaRPr>
              </a:p>
            </p:txBody>
          </p:sp>
          <p:sp>
            <p:nvSpPr>
              <p:cNvPr id="156" name="Text Box 99"/>
              <p:cNvSpPr txBox="1">
                <a:spLocks noChangeArrowheads="1"/>
              </p:cNvSpPr>
              <p:nvPr/>
            </p:nvSpPr>
            <p:spPr bwMode="auto">
              <a:xfrm>
                <a:off x="2772523" y="4808800"/>
                <a:ext cx="575283" cy="1725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>
                <a:lvl1pPr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b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r>
                  <a:rPr lang="ko-KR" altLang="en-US" sz="1200" dirty="0">
                    <a:solidFill>
                      <a:srgbClr val="FFFFFF"/>
                    </a:solidFill>
                    <a:latin typeface="+mj-ea"/>
                    <a:ea typeface="+mj-ea"/>
                  </a:rPr>
                  <a:t>보안관리</a:t>
                </a:r>
              </a:p>
            </p:txBody>
          </p:sp>
        </p:grpSp>
      </p:grpSp>
      <p:grpSp>
        <p:nvGrpSpPr>
          <p:cNvPr id="7" name="그룹 198"/>
          <p:cNvGrpSpPr/>
          <p:nvPr/>
        </p:nvGrpSpPr>
        <p:grpSpPr>
          <a:xfrm>
            <a:off x="5116414" y="1927435"/>
            <a:ext cx="4321187" cy="4328067"/>
            <a:chOff x="5078314" y="1927435"/>
            <a:chExt cx="4321187" cy="4328067"/>
          </a:xfrm>
        </p:grpSpPr>
        <p:sp>
          <p:nvSpPr>
            <p:cNvPr id="142" name="Rectangle 109"/>
            <p:cNvSpPr>
              <a:spLocks noChangeArrowheads="1"/>
            </p:cNvSpPr>
            <p:nvPr/>
          </p:nvSpPr>
          <p:spPr bwMode="auto">
            <a:xfrm>
              <a:off x="5078314" y="1927435"/>
              <a:ext cx="785812" cy="791242"/>
            </a:xfrm>
            <a:prstGeom prst="rect">
              <a:avLst/>
            </a:prstGeom>
            <a:solidFill>
              <a:srgbClr val="B1CFFC"/>
            </a:solidFill>
            <a:ln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36000" tIns="36000" rIns="36000" bIns="36000" anchor="ctr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모니터링</a:t>
              </a:r>
            </a:p>
          </p:txBody>
        </p:sp>
        <p:sp>
          <p:nvSpPr>
            <p:cNvPr id="139" name="Rectangle 109"/>
            <p:cNvSpPr>
              <a:spLocks noChangeArrowheads="1"/>
            </p:cNvSpPr>
            <p:nvPr/>
          </p:nvSpPr>
          <p:spPr bwMode="auto">
            <a:xfrm>
              <a:off x="5091392" y="2803426"/>
              <a:ext cx="785812" cy="791242"/>
            </a:xfrm>
            <a:prstGeom prst="rect">
              <a:avLst/>
            </a:prstGeom>
            <a:solidFill>
              <a:srgbClr val="B1CFFC"/>
            </a:solidFill>
            <a:ln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36000" tIns="36000" rIns="36000" bIns="36000" anchor="ctr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성능관리</a:t>
              </a:r>
            </a:p>
          </p:txBody>
        </p:sp>
        <p:sp>
          <p:nvSpPr>
            <p:cNvPr id="136" name="Rectangle 109"/>
            <p:cNvSpPr>
              <a:spLocks noChangeArrowheads="1"/>
            </p:cNvSpPr>
            <p:nvPr/>
          </p:nvSpPr>
          <p:spPr bwMode="auto">
            <a:xfrm>
              <a:off x="5101552" y="3686108"/>
              <a:ext cx="785812" cy="791242"/>
            </a:xfrm>
            <a:prstGeom prst="rect">
              <a:avLst/>
            </a:prstGeom>
            <a:solidFill>
              <a:srgbClr val="B1CFFC"/>
            </a:solidFill>
            <a:ln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36000" tIns="36000" rIns="36000" bIns="36000" anchor="ctr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구성 및</a:t>
              </a:r>
              <a:br>
                <a:rPr lang="ko-KR" altLang="en-US" sz="1200" b="1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변경관리</a:t>
              </a:r>
            </a:p>
          </p:txBody>
        </p:sp>
        <p:sp>
          <p:nvSpPr>
            <p:cNvPr id="133" name="Rectangle 109"/>
            <p:cNvSpPr>
              <a:spLocks noChangeArrowheads="1"/>
            </p:cNvSpPr>
            <p:nvPr/>
          </p:nvSpPr>
          <p:spPr bwMode="auto">
            <a:xfrm>
              <a:off x="5113617" y="4583804"/>
              <a:ext cx="785812" cy="791242"/>
            </a:xfrm>
            <a:prstGeom prst="rect">
              <a:avLst/>
            </a:prstGeom>
            <a:solidFill>
              <a:srgbClr val="B1CFFC"/>
            </a:solidFill>
            <a:ln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36000" tIns="36000" rIns="36000" bIns="36000" anchor="ctr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장애관리</a:t>
              </a:r>
            </a:p>
          </p:txBody>
        </p:sp>
        <p:sp>
          <p:nvSpPr>
            <p:cNvPr id="130" name="Rectangle 109"/>
            <p:cNvSpPr>
              <a:spLocks noChangeArrowheads="1"/>
            </p:cNvSpPr>
            <p:nvPr/>
          </p:nvSpPr>
          <p:spPr bwMode="auto">
            <a:xfrm>
              <a:off x="5125047" y="5464260"/>
              <a:ext cx="785812" cy="791242"/>
            </a:xfrm>
            <a:prstGeom prst="rect">
              <a:avLst/>
            </a:prstGeom>
            <a:solidFill>
              <a:srgbClr val="B1CFFC"/>
            </a:solidFill>
            <a:ln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/>
          </p:spPr>
          <p:txBody>
            <a:bodyPr lIns="36000" tIns="36000" rIns="36000" bIns="36000" anchor="ctr"/>
            <a:lstStyle/>
            <a:p>
              <a:pPr marL="0" marR="0" lvl="0" indent="0" algn="ctr" defTabSz="914400" eaLnBrk="0" fontAlgn="base" latinLnBrk="0" hangingPunct="0">
                <a:lnSpc>
                  <a:spcPct val="105000"/>
                </a:lnSpc>
                <a:spcBef>
                  <a:spcPct val="35000"/>
                </a:spcBef>
                <a:spcAft>
                  <a:spcPct val="0"/>
                </a:spcAft>
                <a:buClr>
                  <a:srgbClr val="008400"/>
                </a:buClr>
                <a:buSzTx/>
                <a:tabLst/>
                <a:defRPr/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</a:rPr>
                <a:t>보안관리</a:t>
              </a:r>
            </a:p>
          </p:txBody>
        </p:sp>
        <p:sp>
          <p:nvSpPr>
            <p:cNvPr id="143" name="Rectangle 114"/>
            <p:cNvSpPr>
              <a:spLocks noChangeArrowheads="1"/>
            </p:cNvSpPr>
            <p:nvPr/>
          </p:nvSpPr>
          <p:spPr bwMode="auto">
            <a:xfrm>
              <a:off x="5943501" y="1927435"/>
              <a:ext cx="3412862" cy="791242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44" name="Text Box 118"/>
            <p:cNvSpPr txBox="1">
              <a:spLocks noChangeArrowheads="1"/>
            </p:cNvSpPr>
            <p:nvPr/>
          </p:nvSpPr>
          <p:spPr bwMode="auto">
            <a:xfrm>
              <a:off x="6000651" y="1998040"/>
              <a:ext cx="3329335" cy="67818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 marL="95250" indent="-95250"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 가동계획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 감시</a:t>
              </a:r>
              <a:r>
                <a:rPr kumimoji="1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·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통제</a:t>
              </a:r>
              <a:r>
                <a:rPr kumimoji="1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·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운영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모니터링 이벤트 관리</a:t>
              </a:r>
            </a:p>
          </p:txBody>
        </p:sp>
        <p:sp>
          <p:nvSpPr>
            <p:cNvPr id="140" name="Rectangle 114"/>
            <p:cNvSpPr>
              <a:spLocks noChangeArrowheads="1"/>
            </p:cNvSpPr>
            <p:nvPr/>
          </p:nvSpPr>
          <p:spPr bwMode="auto">
            <a:xfrm>
              <a:off x="5955573" y="2803426"/>
              <a:ext cx="3412862" cy="791242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41" name="Text Box 118"/>
            <p:cNvSpPr txBox="1">
              <a:spLocks noChangeArrowheads="1"/>
            </p:cNvSpPr>
            <p:nvPr/>
          </p:nvSpPr>
          <p:spPr bwMode="auto">
            <a:xfrm>
              <a:off x="6012723" y="2874031"/>
              <a:ext cx="3329335" cy="6001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 marL="95250" indent="-95250"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 성능 분석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 성능향상에 대한 대응 전략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시스템 성능의 평가 및 적정성</a:t>
              </a:r>
            </a:p>
          </p:txBody>
        </p:sp>
        <p:sp>
          <p:nvSpPr>
            <p:cNvPr id="137" name="Rectangle 114"/>
            <p:cNvSpPr>
              <a:spLocks noChangeArrowheads="1"/>
            </p:cNvSpPr>
            <p:nvPr/>
          </p:nvSpPr>
          <p:spPr bwMode="auto">
            <a:xfrm>
              <a:off x="5964951" y="3686108"/>
              <a:ext cx="3412862" cy="791242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38" name="Text Box 118"/>
            <p:cNvSpPr txBox="1">
              <a:spLocks noChangeArrowheads="1"/>
            </p:cNvSpPr>
            <p:nvPr/>
          </p:nvSpPr>
          <p:spPr bwMode="auto">
            <a:xfrm>
              <a:off x="6022101" y="3756713"/>
              <a:ext cx="3329335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 marL="95250" indent="-95250"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IT 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자산에 대한 구성 관리</a:t>
              </a:r>
              <a:r>
                <a:rPr kumimoji="1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/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변경관리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운영시스템의 사용 및 유지보수 단계의 변경 관리</a:t>
              </a:r>
            </a:p>
          </p:txBody>
        </p:sp>
        <p:sp>
          <p:nvSpPr>
            <p:cNvPr id="134" name="Rectangle 114"/>
            <p:cNvSpPr>
              <a:spLocks noChangeArrowheads="1"/>
            </p:cNvSpPr>
            <p:nvPr/>
          </p:nvSpPr>
          <p:spPr bwMode="auto">
            <a:xfrm>
              <a:off x="5976088" y="4583804"/>
              <a:ext cx="3412862" cy="791242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35" name="Text Box 118"/>
            <p:cNvSpPr txBox="1">
              <a:spLocks noChangeArrowheads="1"/>
            </p:cNvSpPr>
            <p:nvPr/>
          </p:nvSpPr>
          <p:spPr bwMode="auto">
            <a:xfrm>
              <a:off x="6033238" y="4654409"/>
              <a:ext cx="3329335" cy="6001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 marL="95250" indent="-95250"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장애 접수 및 해결</a:t>
              </a:r>
              <a:r>
                <a:rPr kumimoji="1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/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이력관리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문제별</a:t>
              </a: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장애요인 분석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정기 예방 점검</a:t>
              </a:r>
            </a:p>
          </p:txBody>
        </p:sp>
        <p:sp>
          <p:nvSpPr>
            <p:cNvPr id="131" name="Rectangle 114"/>
            <p:cNvSpPr>
              <a:spLocks noChangeArrowheads="1"/>
            </p:cNvSpPr>
            <p:nvPr/>
          </p:nvSpPr>
          <p:spPr bwMode="auto">
            <a:xfrm>
              <a:off x="5986639" y="5464260"/>
              <a:ext cx="3412862" cy="791242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32" name="Text Box 118"/>
            <p:cNvSpPr txBox="1">
              <a:spLocks noChangeArrowheads="1"/>
            </p:cNvSpPr>
            <p:nvPr/>
          </p:nvSpPr>
          <p:spPr bwMode="auto">
            <a:xfrm>
              <a:off x="6043789" y="5534865"/>
              <a:ext cx="3329335" cy="6001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>
              <a:spAutoFit/>
            </a:bodyPr>
            <a:lstStyle>
              <a:lvl1pPr marL="95250" indent="-95250"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algn="l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관리적 보안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물리적 보안</a:t>
              </a:r>
            </a:p>
            <a:p>
              <a:pPr marL="95250" marR="0" lvl="0" indent="-95250" algn="l" defTabSz="914400" eaLnBrk="1" fontAlgn="ctr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기술적 보안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시스템 모니터링</a:t>
            </a:r>
            <a:r>
              <a:rPr lang="en-US" altLang="ko-KR" sz="1600" dirty="0"/>
              <a:t>, </a:t>
            </a:r>
            <a:r>
              <a:rPr lang="ko-KR" altLang="en-US" sz="1600" dirty="0"/>
              <a:t>성능관리</a:t>
            </a:r>
            <a:r>
              <a:rPr lang="en-US" altLang="ko-KR" sz="1600" dirty="0"/>
              <a:t>, </a:t>
            </a:r>
            <a:r>
              <a:rPr lang="ko-KR" altLang="en-US" sz="1600" dirty="0"/>
              <a:t>구성 및 변경관리</a:t>
            </a:r>
            <a:r>
              <a:rPr lang="en-US" altLang="ko-KR" sz="1600" dirty="0"/>
              <a:t>, </a:t>
            </a:r>
            <a:r>
              <a:rPr lang="ko-KR" altLang="en-US" sz="1600" dirty="0"/>
              <a:t>장애관리</a:t>
            </a:r>
            <a:r>
              <a:rPr lang="en-US" altLang="ko-KR" sz="1600" dirty="0"/>
              <a:t>, </a:t>
            </a:r>
            <a:r>
              <a:rPr lang="ko-KR" altLang="en-US" sz="1600" dirty="0"/>
              <a:t>보안관리 등 차세대 경영정보시스템의 운영 및 관리 절차는 다음과 같음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운영</a:t>
            </a:r>
            <a:r>
              <a:rPr lang="en-US" altLang="ko-KR" dirty="0"/>
              <a:t>·</a:t>
            </a:r>
            <a:r>
              <a:rPr lang="ko-KR" altLang="en-US" dirty="0"/>
              <a:t>관리 절차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40" name="직사각형 39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차세대 경영정보시스템 운영∙관리 절차 </a:t>
            </a:r>
          </a:p>
        </p:txBody>
      </p:sp>
      <p:sp>
        <p:nvSpPr>
          <p:cNvPr id="41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09" name="AutoShape 83"/>
          <p:cNvSpPr>
            <a:spLocks noChangeArrowheads="1"/>
          </p:cNvSpPr>
          <p:nvPr/>
        </p:nvSpPr>
        <p:spPr bwMode="auto">
          <a:xfrm>
            <a:off x="2219368" y="2706246"/>
            <a:ext cx="860213" cy="1084646"/>
          </a:xfrm>
          <a:prstGeom prst="downArrow">
            <a:avLst>
              <a:gd name="adj1" fmla="val 66352"/>
              <a:gd name="adj2" fmla="val 31471"/>
            </a:avLst>
          </a:prstGeom>
          <a:solidFill>
            <a:srgbClr val="9BB0D5"/>
          </a:solidFill>
          <a:ln w="9525" algn="ctr">
            <a:noFill/>
            <a:miter lim="800000"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0" name="AutoShape 84"/>
          <p:cNvSpPr>
            <a:spLocks noChangeArrowheads="1"/>
          </p:cNvSpPr>
          <p:nvPr/>
        </p:nvSpPr>
        <p:spPr bwMode="auto">
          <a:xfrm flipV="1">
            <a:off x="1476241" y="3139667"/>
            <a:ext cx="762243" cy="1086824"/>
          </a:xfrm>
          <a:prstGeom prst="downArrow">
            <a:avLst>
              <a:gd name="adj1" fmla="val 69620"/>
              <a:gd name="adj2" fmla="val 36927"/>
            </a:avLst>
          </a:prstGeom>
          <a:solidFill>
            <a:srgbClr val="9BB0D5"/>
          </a:solidFill>
          <a:ln w="9525" algn="ctr">
            <a:noFill/>
            <a:miter lim="800000"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1" name="AutoShape 85"/>
          <p:cNvSpPr>
            <a:spLocks noChangeArrowheads="1"/>
          </p:cNvSpPr>
          <p:nvPr/>
        </p:nvSpPr>
        <p:spPr bwMode="auto">
          <a:xfrm>
            <a:off x="1148881" y="3836628"/>
            <a:ext cx="6776569" cy="337591"/>
          </a:xfrm>
          <a:prstGeom prst="roundRect">
            <a:avLst>
              <a:gd name="adj" fmla="val 11255"/>
            </a:avLst>
          </a:prstGeom>
          <a:solidFill>
            <a:srgbClr val="508CD2"/>
          </a:solidFill>
          <a:ln w="9525" algn="ctr">
            <a:noFill/>
            <a:round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2" name="Rectangle 86"/>
          <p:cNvSpPr>
            <a:spLocks noChangeArrowheads="1"/>
          </p:cNvSpPr>
          <p:nvPr/>
        </p:nvSpPr>
        <p:spPr bwMode="auto">
          <a:xfrm>
            <a:off x="1148881" y="4089276"/>
            <a:ext cx="6776569" cy="1724979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rgbClr val="8CAAC6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3" name="Rectangle 87"/>
          <p:cNvSpPr>
            <a:spLocks noChangeArrowheads="1"/>
          </p:cNvSpPr>
          <p:nvPr/>
        </p:nvSpPr>
        <p:spPr bwMode="auto">
          <a:xfrm>
            <a:off x="1382071" y="3856912"/>
            <a:ext cx="823944" cy="20337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FFFFFF"/>
                </a:solidFill>
                <a:latin typeface="+mn-ea"/>
              </a:rPr>
              <a:t>시스템 관리</a:t>
            </a:r>
          </a:p>
        </p:txBody>
      </p:sp>
      <p:sp>
        <p:nvSpPr>
          <p:cNvPr id="114" name="AutoShape 88"/>
          <p:cNvSpPr>
            <a:spLocks noChangeArrowheads="1"/>
          </p:cNvSpPr>
          <p:nvPr/>
        </p:nvSpPr>
        <p:spPr bwMode="auto">
          <a:xfrm>
            <a:off x="1148881" y="2004930"/>
            <a:ext cx="5005965" cy="337589"/>
          </a:xfrm>
          <a:prstGeom prst="roundRect">
            <a:avLst>
              <a:gd name="adj" fmla="val 11255"/>
            </a:avLst>
          </a:prstGeom>
          <a:solidFill>
            <a:srgbClr val="508CD2"/>
          </a:solidFill>
          <a:ln w="9525" algn="ctr">
            <a:solidFill>
              <a:srgbClr val="8CAAC6"/>
            </a:solidFill>
            <a:round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5" name="Rectangle 89"/>
          <p:cNvSpPr>
            <a:spLocks noChangeArrowheads="1"/>
          </p:cNvSpPr>
          <p:nvPr/>
        </p:nvSpPr>
        <p:spPr bwMode="auto">
          <a:xfrm>
            <a:off x="1148881" y="2259754"/>
            <a:ext cx="5005965" cy="842888"/>
          </a:xfrm>
          <a:prstGeom prst="rect">
            <a:avLst/>
          </a:prstGeom>
          <a:solidFill>
            <a:sysClr val="window" lastClr="FFFFFF"/>
          </a:solidFill>
          <a:ln w="12700">
            <a:solidFill>
              <a:srgbClr val="8CAAC6"/>
            </a:solidFill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6" name="Rectangle 90"/>
          <p:cNvSpPr>
            <a:spLocks noChangeArrowheads="1"/>
          </p:cNvSpPr>
          <p:nvPr/>
        </p:nvSpPr>
        <p:spPr bwMode="auto">
          <a:xfrm>
            <a:off x="3241087" y="2027389"/>
            <a:ext cx="823944" cy="20337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FFFFFF"/>
                </a:solidFill>
                <a:latin typeface="+mn-ea"/>
              </a:rPr>
              <a:t>시스템 운영</a:t>
            </a:r>
          </a:p>
        </p:txBody>
      </p:sp>
      <p:sp>
        <p:nvSpPr>
          <p:cNvPr id="117" name="AutoShape 91"/>
          <p:cNvSpPr>
            <a:spLocks noChangeArrowheads="1"/>
          </p:cNvSpPr>
          <p:nvPr/>
        </p:nvSpPr>
        <p:spPr bwMode="auto">
          <a:xfrm>
            <a:off x="8699333" y="2002750"/>
            <a:ext cx="700428" cy="4072864"/>
          </a:xfrm>
          <a:prstGeom prst="roundRect">
            <a:avLst>
              <a:gd name="adj" fmla="val 0"/>
            </a:avLst>
          </a:prstGeom>
          <a:solidFill>
            <a:srgbClr val="B1CFFC"/>
          </a:solidFill>
          <a:ln w="6350" algn="ctr">
            <a:noFill/>
            <a:round/>
            <a:headEnd/>
            <a:tailEnd/>
          </a:ln>
          <a:effectLst>
            <a:outerShdw dist="17961" dir="2700000" algn="ctr" rotWithShape="0">
              <a:srgbClr val="C0C0C0">
                <a:alpha val="50000"/>
              </a:srgbClr>
            </a:outerShdw>
          </a:effectLst>
        </p:spPr>
        <p:txBody>
          <a:bodyPr wrap="none" anchor="ctr"/>
          <a:lstStyle/>
          <a:p>
            <a:pPr marL="0" marR="0" lvl="0" indent="0" algn="ctr" defTabSz="7620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18" name="Text Box 92"/>
          <p:cNvSpPr txBox="1">
            <a:spLocks noChangeArrowheads="1"/>
          </p:cNvSpPr>
          <p:nvPr/>
        </p:nvSpPr>
        <p:spPr bwMode="auto">
          <a:xfrm>
            <a:off x="6955084" y="2172864"/>
            <a:ext cx="1869102" cy="18770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4D4D4D"/>
                </a:solidFill>
                <a:ea typeface="+mj-ea"/>
              </a:rPr>
              <a:t>장애로 인한 항의</a:t>
            </a:r>
            <a:r>
              <a:rPr lang="en-US" altLang="ko-KR" sz="1200" b="1" dirty="0">
                <a:solidFill>
                  <a:srgbClr val="4D4D4D"/>
                </a:solidFill>
                <a:ea typeface="+mj-ea"/>
              </a:rPr>
              <a:t>/</a:t>
            </a:r>
            <a:r>
              <a:rPr lang="ko-KR" altLang="en-US" sz="1200" b="1" dirty="0">
                <a:solidFill>
                  <a:srgbClr val="4D4D4D"/>
                </a:solidFill>
                <a:ea typeface="+mj-ea"/>
              </a:rPr>
              <a:t>개선요구</a:t>
            </a:r>
          </a:p>
        </p:txBody>
      </p:sp>
      <p:sp>
        <p:nvSpPr>
          <p:cNvPr id="124" name="Text Box 93"/>
          <p:cNvSpPr txBox="1">
            <a:spLocks noChangeArrowheads="1"/>
          </p:cNvSpPr>
          <p:nvPr/>
        </p:nvSpPr>
        <p:spPr bwMode="auto">
          <a:xfrm>
            <a:off x="8888592" y="3462224"/>
            <a:ext cx="276999" cy="1114712"/>
          </a:xfrm>
          <a:prstGeom prst="rect">
            <a:avLst/>
          </a:prstGeom>
          <a:noFill/>
          <a:ln w="12700" cap="rnd">
            <a:noFill/>
            <a:miter lim="800000"/>
            <a:headEnd/>
            <a:tailEnd/>
          </a:ln>
        </p:spPr>
        <p:txBody>
          <a:bodyPr vert="eaVert" wrap="none" lIns="0" tIns="0" rIns="0" bIns="0">
            <a:spAutoFit/>
          </a:bodyPr>
          <a:lstStyle/>
          <a:p>
            <a:pPr marL="0" marR="0" lvl="0" indent="0" algn="ctr" defTabSz="7620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사  용  자</a:t>
            </a:r>
          </a:p>
        </p:txBody>
      </p:sp>
      <p:sp>
        <p:nvSpPr>
          <p:cNvPr id="125" name="Line 94"/>
          <p:cNvSpPr>
            <a:spLocks noChangeShapeType="1"/>
          </p:cNvSpPr>
          <p:nvPr/>
        </p:nvSpPr>
        <p:spPr bwMode="auto">
          <a:xfrm flipV="1">
            <a:off x="3708017" y="2971962"/>
            <a:ext cx="0" cy="2175824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triangle" w="sm" len="sm"/>
            <a:tailEnd type="non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6" name="Line 95"/>
          <p:cNvSpPr>
            <a:spLocks noChangeShapeType="1"/>
          </p:cNvSpPr>
          <p:nvPr/>
        </p:nvSpPr>
        <p:spPr bwMode="auto">
          <a:xfrm flipV="1">
            <a:off x="4766556" y="2704066"/>
            <a:ext cx="0" cy="165092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triangle" w="sm" len="sm"/>
            <a:tailEnd type="non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7" name="Text Box 96"/>
          <p:cNvSpPr txBox="1">
            <a:spLocks noChangeArrowheads="1"/>
          </p:cNvSpPr>
          <p:nvPr/>
        </p:nvSpPr>
        <p:spPr bwMode="auto">
          <a:xfrm>
            <a:off x="6438948" y="2841085"/>
            <a:ext cx="461665" cy="187703"/>
          </a:xfrm>
          <a:prstGeom prst="rect">
            <a:avLst/>
          </a:prstGeom>
          <a:noFill/>
          <a:ln w="0">
            <a:noFill/>
            <a:miter lim="800000"/>
            <a:headEnd/>
            <a:tailEnd type="none" w="sm" len="sm"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000000"/>
                </a:solidFill>
                <a:ea typeface="+mj-ea"/>
              </a:rPr>
              <a:t>운영팀</a:t>
            </a:r>
          </a:p>
        </p:txBody>
      </p:sp>
      <p:sp>
        <p:nvSpPr>
          <p:cNvPr id="128" name="Line 97"/>
          <p:cNvSpPr>
            <a:spLocks noChangeShapeType="1"/>
          </p:cNvSpPr>
          <p:nvPr/>
        </p:nvSpPr>
        <p:spPr bwMode="auto">
          <a:xfrm flipV="1">
            <a:off x="4264766" y="2974139"/>
            <a:ext cx="0" cy="1772894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triangle" w="sm" len="sm"/>
            <a:tailEnd type="non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29" name="Line 99"/>
          <p:cNvSpPr>
            <a:spLocks noChangeShapeType="1"/>
          </p:cNvSpPr>
          <p:nvPr/>
        </p:nvSpPr>
        <p:spPr bwMode="auto">
          <a:xfrm>
            <a:off x="2661424" y="2523293"/>
            <a:ext cx="1204299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57" name="Text Box 100"/>
          <p:cNvSpPr txBox="1">
            <a:spLocks noChangeArrowheads="1"/>
          </p:cNvSpPr>
          <p:nvPr/>
        </p:nvSpPr>
        <p:spPr bwMode="auto">
          <a:xfrm>
            <a:off x="2485311" y="2881782"/>
            <a:ext cx="538609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작업상태</a:t>
            </a:r>
          </a:p>
        </p:txBody>
      </p:sp>
      <p:sp>
        <p:nvSpPr>
          <p:cNvPr id="158" name="Text Box 101"/>
          <p:cNvSpPr txBox="1">
            <a:spLocks noChangeArrowheads="1"/>
          </p:cNvSpPr>
          <p:nvPr/>
        </p:nvSpPr>
        <p:spPr bwMode="auto">
          <a:xfrm>
            <a:off x="5554601" y="2772881"/>
            <a:ext cx="538609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복구요청</a:t>
            </a:r>
          </a:p>
        </p:txBody>
      </p:sp>
      <p:sp>
        <p:nvSpPr>
          <p:cNvPr id="159" name="Freeform 102"/>
          <p:cNvSpPr>
            <a:spLocks/>
          </p:cNvSpPr>
          <p:nvPr/>
        </p:nvSpPr>
        <p:spPr bwMode="auto">
          <a:xfrm>
            <a:off x="2097507" y="2614770"/>
            <a:ext cx="1414573" cy="246114"/>
          </a:xfrm>
          <a:custGeom>
            <a:avLst/>
            <a:gdLst>
              <a:gd name="T0" fmla="*/ 0 w 622"/>
              <a:gd name="T1" fmla="*/ 0 h 256"/>
              <a:gd name="T2" fmla="*/ 0 w 622"/>
              <a:gd name="T3" fmla="*/ 2147483647 h 256"/>
              <a:gd name="T4" fmla="*/ 2147483647 w 622"/>
              <a:gd name="T5" fmla="*/ 2147483647 h 256"/>
              <a:gd name="T6" fmla="*/ 0 60000 65536"/>
              <a:gd name="T7" fmla="*/ 0 60000 65536"/>
              <a:gd name="T8" fmla="*/ 0 60000 65536"/>
              <a:gd name="T9" fmla="*/ 0 w 622"/>
              <a:gd name="T10" fmla="*/ 0 h 256"/>
              <a:gd name="T11" fmla="*/ 622 w 622"/>
              <a:gd name="T12" fmla="*/ 256 h 25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22" h="256">
                <a:moveTo>
                  <a:pt x="0" y="0"/>
                </a:moveTo>
                <a:lnTo>
                  <a:pt x="0" y="256"/>
                </a:lnTo>
                <a:lnTo>
                  <a:pt x="622" y="256"/>
                </a:lnTo>
              </a:path>
            </a:pathLst>
          </a:custGeom>
          <a:noFill/>
          <a:ln w="9525" cap="flat" cmpd="sng">
            <a:solidFill>
              <a:srgbClr val="777777"/>
            </a:solidFill>
            <a:prstDash val="solid"/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60" name="Rectangle 103"/>
          <p:cNvSpPr>
            <a:spLocks noChangeArrowheads="1"/>
          </p:cNvSpPr>
          <p:nvPr/>
        </p:nvSpPr>
        <p:spPr bwMode="auto">
          <a:xfrm>
            <a:off x="1435619" y="2418750"/>
            <a:ext cx="1376342" cy="213444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스케줄링</a:t>
            </a:r>
          </a:p>
        </p:txBody>
      </p:sp>
      <p:sp>
        <p:nvSpPr>
          <p:cNvPr id="161" name="Rectangle 104"/>
          <p:cNvSpPr>
            <a:spLocks noChangeArrowheads="1"/>
          </p:cNvSpPr>
          <p:nvPr/>
        </p:nvSpPr>
        <p:spPr bwMode="auto">
          <a:xfrm>
            <a:off x="3875280" y="2418750"/>
            <a:ext cx="2016722" cy="213444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데이터 가용성 관리</a:t>
            </a:r>
          </a:p>
        </p:txBody>
      </p:sp>
      <p:sp>
        <p:nvSpPr>
          <p:cNvPr id="162" name="Rectangle 105"/>
          <p:cNvSpPr>
            <a:spLocks noChangeArrowheads="1"/>
          </p:cNvSpPr>
          <p:nvPr/>
        </p:nvSpPr>
        <p:spPr bwMode="auto">
          <a:xfrm>
            <a:off x="3512079" y="2749806"/>
            <a:ext cx="1452805" cy="215622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시스템 감시</a:t>
            </a:r>
          </a:p>
        </p:txBody>
      </p:sp>
      <p:sp>
        <p:nvSpPr>
          <p:cNvPr id="163" name="Rectangle 106"/>
          <p:cNvSpPr>
            <a:spLocks noChangeArrowheads="1"/>
          </p:cNvSpPr>
          <p:nvPr/>
        </p:nvSpPr>
        <p:spPr bwMode="auto">
          <a:xfrm>
            <a:off x="1533589" y="4254805"/>
            <a:ext cx="420549" cy="14962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구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성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관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리</a:t>
            </a:r>
          </a:p>
        </p:txBody>
      </p:sp>
      <p:sp>
        <p:nvSpPr>
          <p:cNvPr id="164" name="Rectangle 107"/>
          <p:cNvSpPr>
            <a:spLocks noChangeArrowheads="1"/>
          </p:cNvSpPr>
          <p:nvPr/>
        </p:nvSpPr>
        <p:spPr bwMode="auto">
          <a:xfrm>
            <a:off x="7139312" y="4326679"/>
            <a:ext cx="324970" cy="142441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변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경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관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리</a:t>
            </a:r>
          </a:p>
        </p:txBody>
      </p:sp>
      <p:sp>
        <p:nvSpPr>
          <p:cNvPr id="165" name="Line 108"/>
          <p:cNvSpPr>
            <a:spLocks noChangeShapeType="1"/>
          </p:cNvSpPr>
          <p:nvPr/>
        </p:nvSpPr>
        <p:spPr bwMode="auto">
          <a:xfrm rot="5400000">
            <a:off x="3594380" y="5402084"/>
            <a:ext cx="267894" cy="1194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66" name="Line 109"/>
          <p:cNvSpPr>
            <a:spLocks noChangeShapeType="1"/>
          </p:cNvSpPr>
          <p:nvPr/>
        </p:nvSpPr>
        <p:spPr bwMode="auto">
          <a:xfrm>
            <a:off x="5717569" y="4424689"/>
            <a:ext cx="1385900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67" name="Line 110"/>
          <p:cNvSpPr>
            <a:spLocks noChangeShapeType="1"/>
          </p:cNvSpPr>
          <p:nvPr/>
        </p:nvSpPr>
        <p:spPr bwMode="auto">
          <a:xfrm>
            <a:off x="5070021" y="4812373"/>
            <a:ext cx="2033448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68" name="Text Box 111"/>
          <p:cNvSpPr txBox="1">
            <a:spLocks noChangeArrowheads="1"/>
          </p:cNvSpPr>
          <p:nvPr/>
        </p:nvSpPr>
        <p:spPr bwMode="auto">
          <a:xfrm>
            <a:off x="4157240" y="4532707"/>
            <a:ext cx="538609" cy="169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보안위반</a:t>
            </a:r>
          </a:p>
        </p:txBody>
      </p:sp>
      <p:sp>
        <p:nvSpPr>
          <p:cNvPr id="169" name="Text Box 112"/>
          <p:cNvSpPr txBox="1">
            <a:spLocks noChangeArrowheads="1"/>
          </p:cNvSpPr>
          <p:nvPr/>
        </p:nvSpPr>
        <p:spPr bwMode="auto">
          <a:xfrm>
            <a:off x="4850899" y="4153734"/>
            <a:ext cx="538609" cy="169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예외사항</a:t>
            </a:r>
          </a:p>
        </p:txBody>
      </p:sp>
      <p:sp>
        <p:nvSpPr>
          <p:cNvPr id="170" name="Text Box 113"/>
          <p:cNvSpPr txBox="1">
            <a:spLocks noChangeArrowheads="1"/>
          </p:cNvSpPr>
          <p:nvPr/>
        </p:nvSpPr>
        <p:spPr bwMode="auto">
          <a:xfrm>
            <a:off x="3755806" y="4961771"/>
            <a:ext cx="990656" cy="169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시스템 사용현황</a:t>
            </a:r>
          </a:p>
        </p:txBody>
      </p:sp>
      <p:sp>
        <p:nvSpPr>
          <p:cNvPr id="171" name="Line 114"/>
          <p:cNvSpPr>
            <a:spLocks noChangeShapeType="1"/>
          </p:cNvSpPr>
          <p:nvPr/>
        </p:nvSpPr>
        <p:spPr bwMode="auto">
          <a:xfrm>
            <a:off x="4522829" y="5258865"/>
            <a:ext cx="2580640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2" name="Line 115"/>
          <p:cNvSpPr>
            <a:spLocks noChangeShapeType="1"/>
          </p:cNvSpPr>
          <p:nvPr/>
        </p:nvSpPr>
        <p:spPr bwMode="auto">
          <a:xfrm>
            <a:off x="2673371" y="4424689"/>
            <a:ext cx="1925922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3" name="Line 116"/>
          <p:cNvSpPr>
            <a:spLocks noChangeShapeType="1"/>
          </p:cNvSpPr>
          <p:nvPr/>
        </p:nvSpPr>
        <p:spPr bwMode="auto">
          <a:xfrm>
            <a:off x="2673371" y="4829797"/>
            <a:ext cx="1309436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4" name="Line 117"/>
          <p:cNvSpPr>
            <a:spLocks noChangeShapeType="1"/>
          </p:cNvSpPr>
          <p:nvPr/>
        </p:nvSpPr>
        <p:spPr bwMode="auto">
          <a:xfrm>
            <a:off x="2673371" y="5267577"/>
            <a:ext cx="786140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5" name="Line 118"/>
          <p:cNvSpPr>
            <a:spLocks noChangeShapeType="1"/>
          </p:cNvSpPr>
          <p:nvPr/>
        </p:nvSpPr>
        <p:spPr bwMode="auto">
          <a:xfrm>
            <a:off x="2673371" y="5616057"/>
            <a:ext cx="786140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6" name="Line 119"/>
          <p:cNvSpPr>
            <a:spLocks noChangeShapeType="1"/>
          </p:cNvSpPr>
          <p:nvPr/>
        </p:nvSpPr>
        <p:spPr bwMode="auto">
          <a:xfrm>
            <a:off x="4522829" y="5616057"/>
            <a:ext cx="2580640" cy="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77" name="Text Box 120"/>
          <p:cNvSpPr txBox="1">
            <a:spLocks noChangeArrowheads="1"/>
          </p:cNvSpPr>
          <p:nvPr/>
        </p:nvSpPr>
        <p:spPr bwMode="auto">
          <a:xfrm>
            <a:off x="4031308" y="5362526"/>
            <a:ext cx="538609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성능정보</a:t>
            </a:r>
          </a:p>
        </p:txBody>
      </p:sp>
      <p:sp>
        <p:nvSpPr>
          <p:cNvPr id="178" name="Rectangle 121"/>
          <p:cNvSpPr>
            <a:spLocks noChangeArrowheads="1"/>
          </p:cNvSpPr>
          <p:nvPr/>
        </p:nvSpPr>
        <p:spPr bwMode="auto">
          <a:xfrm>
            <a:off x="4592124" y="4333212"/>
            <a:ext cx="1089603" cy="1807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장애 관리</a:t>
            </a:r>
          </a:p>
        </p:txBody>
      </p:sp>
      <p:sp>
        <p:nvSpPr>
          <p:cNvPr id="179" name="Rectangle 122"/>
          <p:cNvSpPr>
            <a:spLocks noChangeArrowheads="1"/>
          </p:cNvSpPr>
          <p:nvPr/>
        </p:nvSpPr>
        <p:spPr bwMode="auto">
          <a:xfrm>
            <a:off x="3975639" y="4736144"/>
            <a:ext cx="1089603" cy="17859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보안 관리</a:t>
            </a:r>
          </a:p>
        </p:txBody>
      </p:sp>
      <p:sp>
        <p:nvSpPr>
          <p:cNvPr id="180" name="Rectangle 123"/>
          <p:cNvSpPr>
            <a:spLocks noChangeArrowheads="1"/>
          </p:cNvSpPr>
          <p:nvPr/>
        </p:nvSpPr>
        <p:spPr bwMode="auto">
          <a:xfrm>
            <a:off x="3459510" y="5169565"/>
            <a:ext cx="1084824" cy="17859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성능 관리</a:t>
            </a:r>
          </a:p>
        </p:txBody>
      </p:sp>
      <p:sp>
        <p:nvSpPr>
          <p:cNvPr id="181" name="Rectangle 124"/>
          <p:cNvSpPr>
            <a:spLocks noChangeArrowheads="1"/>
          </p:cNvSpPr>
          <p:nvPr/>
        </p:nvSpPr>
        <p:spPr bwMode="auto">
          <a:xfrm>
            <a:off x="3459510" y="5535470"/>
            <a:ext cx="1084824" cy="17859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용량 관리</a:t>
            </a:r>
          </a:p>
        </p:txBody>
      </p:sp>
      <p:sp>
        <p:nvSpPr>
          <p:cNvPr id="182" name="Text Box 125"/>
          <p:cNvSpPr txBox="1">
            <a:spLocks noChangeArrowheads="1"/>
          </p:cNvSpPr>
          <p:nvPr/>
        </p:nvSpPr>
        <p:spPr bwMode="auto">
          <a:xfrm>
            <a:off x="6075120" y="4203827"/>
            <a:ext cx="856004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장애요인 제거</a:t>
            </a:r>
          </a:p>
        </p:txBody>
      </p:sp>
      <p:sp>
        <p:nvSpPr>
          <p:cNvPr id="183" name="Text Box 126"/>
          <p:cNvSpPr txBox="1">
            <a:spLocks noChangeArrowheads="1"/>
          </p:cNvSpPr>
          <p:nvPr/>
        </p:nvSpPr>
        <p:spPr bwMode="auto">
          <a:xfrm>
            <a:off x="6093276" y="4593693"/>
            <a:ext cx="586699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보안 강화</a:t>
            </a:r>
          </a:p>
        </p:txBody>
      </p:sp>
      <p:sp>
        <p:nvSpPr>
          <p:cNvPr id="184" name="Text Box 127"/>
          <p:cNvSpPr txBox="1">
            <a:spLocks noChangeArrowheads="1"/>
          </p:cNvSpPr>
          <p:nvPr/>
        </p:nvSpPr>
        <p:spPr bwMode="auto">
          <a:xfrm>
            <a:off x="6025947" y="5393018"/>
            <a:ext cx="721351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시스템 증설</a:t>
            </a:r>
          </a:p>
        </p:txBody>
      </p:sp>
      <p:sp>
        <p:nvSpPr>
          <p:cNvPr id="185" name="Text Box 128"/>
          <p:cNvSpPr txBox="1">
            <a:spLocks noChangeArrowheads="1"/>
          </p:cNvSpPr>
          <p:nvPr/>
        </p:nvSpPr>
        <p:spPr bwMode="auto">
          <a:xfrm>
            <a:off x="6025947" y="5040183"/>
            <a:ext cx="721351" cy="1694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+mn-ea"/>
              </a:rPr>
              <a:t>시스템 튜닝</a:t>
            </a:r>
          </a:p>
        </p:txBody>
      </p:sp>
      <p:sp>
        <p:nvSpPr>
          <p:cNvPr id="186" name="Line 129"/>
          <p:cNvSpPr>
            <a:spLocks noChangeShapeType="1"/>
          </p:cNvSpPr>
          <p:nvPr/>
        </p:nvSpPr>
        <p:spPr bwMode="auto">
          <a:xfrm>
            <a:off x="5476234" y="2677932"/>
            <a:ext cx="0" cy="164657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 type="triangle" w="sm" len="sm"/>
            <a:tailEnd type="non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87" name="Rectangle 130"/>
          <p:cNvSpPr>
            <a:spLocks noChangeArrowheads="1"/>
          </p:cNvSpPr>
          <p:nvPr/>
        </p:nvSpPr>
        <p:spPr bwMode="auto">
          <a:xfrm>
            <a:off x="584964" y="5888307"/>
            <a:ext cx="8848250" cy="291853"/>
          </a:xfrm>
          <a:prstGeom prst="rect">
            <a:avLst/>
          </a:prstGeom>
          <a:solidFill>
            <a:srgbClr val="00437A"/>
          </a:solidFill>
          <a:ln w="9525" algn="ctr">
            <a:noFill/>
            <a:miter lim="800000"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ko-KR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04" name="Rectangle 132"/>
          <p:cNvSpPr>
            <a:spLocks noChangeArrowheads="1"/>
          </p:cNvSpPr>
          <p:nvPr/>
        </p:nvSpPr>
        <p:spPr bwMode="auto">
          <a:xfrm>
            <a:off x="436816" y="1933054"/>
            <a:ext cx="344086" cy="4247106"/>
          </a:xfrm>
          <a:prstGeom prst="rect">
            <a:avLst/>
          </a:prstGeom>
          <a:solidFill>
            <a:srgbClr val="00437A"/>
          </a:solidFill>
          <a:ln w="9525" algn="ctr">
            <a:noFill/>
            <a:miter lim="800000"/>
            <a:headEnd/>
            <a:tailEnd/>
          </a:ln>
        </p:spPr>
        <p:txBody>
          <a:bodyPr lIns="54000" rIns="5400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205" name="Text Box 133"/>
          <p:cNvSpPr txBox="1">
            <a:spLocks noChangeArrowheads="1"/>
          </p:cNvSpPr>
          <p:nvPr/>
        </p:nvSpPr>
        <p:spPr bwMode="auto">
          <a:xfrm>
            <a:off x="509681" y="3330596"/>
            <a:ext cx="194307" cy="1452022"/>
          </a:xfrm>
          <a:prstGeom prst="rect">
            <a:avLst/>
          </a:prstGeom>
          <a:noFill/>
          <a:ln w="12700" cap="rnd">
            <a:noFill/>
            <a:miter lim="800000"/>
            <a:headEnd/>
            <a:tailEnd/>
          </a:ln>
        </p:spPr>
        <p:txBody>
          <a:bodyPr vert="eaVert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FFFFFF"/>
                </a:solidFill>
                <a:latin typeface="+mn-ea"/>
              </a:rPr>
              <a:t>운영관리</a:t>
            </a:r>
          </a:p>
        </p:txBody>
      </p:sp>
      <p:sp>
        <p:nvSpPr>
          <p:cNvPr id="189" name="Text Box 134"/>
          <p:cNvSpPr txBox="1">
            <a:spLocks noChangeArrowheads="1"/>
          </p:cNvSpPr>
          <p:nvPr/>
        </p:nvSpPr>
        <p:spPr bwMode="auto">
          <a:xfrm>
            <a:off x="2673371" y="5880838"/>
            <a:ext cx="4946227" cy="300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FFFFFF"/>
                </a:solidFill>
                <a:latin typeface="+mn-ea"/>
              </a:rPr>
              <a:t>하드웨어</a:t>
            </a:r>
            <a:r>
              <a:rPr lang="en-US" altLang="ko-KR" sz="1200" b="1" dirty="0">
                <a:solidFill>
                  <a:srgbClr val="FFFFFF"/>
                </a:solidFill>
                <a:latin typeface="+mn-ea"/>
              </a:rPr>
              <a:t>/ </a:t>
            </a:r>
            <a:r>
              <a:rPr lang="ko-KR" altLang="en-US" sz="1200" b="1" dirty="0">
                <a:solidFill>
                  <a:srgbClr val="FFFFFF"/>
                </a:solidFill>
                <a:latin typeface="+mn-ea"/>
              </a:rPr>
              <a:t>소프트웨어</a:t>
            </a:r>
            <a:r>
              <a:rPr lang="en-US" altLang="ko-KR" sz="1200" b="1" dirty="0">
                <a:solidFill>
                  <a:srgbClr val="FFFFFF"/>
                </a:solidFill>
                <a:latin typeface="+mn-ea"/>
              </a:rPr>
              <a:t>/ DBMS</a:t>
            </a:r>
          </a:p>
        </p:txBody>
      </p:sp>
      <p:sp>
        <p:nvSpPr>
          <p:cNvPr id="190" name="Rectangle 135"/>
          <p:cNvSpPr>
            <a:spLocks noChangeArrowheads="1"/>
          </p:cNvSpPr>
          <p:nvPr/>
        </p:nvSpPr>
        <p:spPr bwMode="auto">
          <a:xfrm>
            <a:off x="2276716" y="4254805"/>
            <a:ext cx="418161" cy="14962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 algn="ctr">
            <a:solidFill>
              <a:srgbClr val="29618F"/>
            </a:solidFill>
            <a:miter lim="800000"/>
            <a:headEnd/>
            <a:tailEnd/>
          </a:ln>
        </p:spPr>
        <p:txBody>
          <a:bodyPr lIns="54000" tIns="35995" rIns="54000" bIns="45714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시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스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템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구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성</a:t>
            </a:r>
            <a:b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</a:b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정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-150" normalizeH="0" baseline="0" noProof="0" dirty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</a:rPr>
              <a:t>보</a:t>
            </a:r>
          </a:p>
        </p:txBody>
      </p:sp>
      <p:pic>
        <p:nvPicPr>
          <p:cNvPr id="201" name="Picture 137" descr="남자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15657" y="3263814"/>
            <a:ext cx="207809" cy="356052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60000"/>
              </a:prstClr>
            </a:outerShdw>
          </a:effectLst>
        </p:spPr>
      </p:pic>
      <p:pic>
        <p:nvPicPr>
          <p:cNvPr id="202" name="Picture 138" descr="남자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26724" y="3263814"/>
            <a:ext cx="207809" cy="356052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60000"/>
              </a:prstClr>
            </a:outerShdw>
          </a:effectLst>
        </p:spPr>
      </p:pic>
      <p:pic>
        <p:nvPicPr>
          <p:cNvPr id="203" name="Picture 139" descr="남자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680994" y="3263814"/>
            <a:ext cx="289719" cy="499359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60000"/>
              </a:prstClr>
            </a:outerShdw>
          </a:effectLst>
        </p:spPr>
      </p:pic>
      <p:sp>
        <p:nvSpPr>
          <p:cNvPr id="192" name="Freeform 140"/>
          <p:cNvSpPr>
            <a:spLocks/>
          </p:cNvSpPr>
          <p:nvPr/>
        </p:nvSpPr>
        <p:spPr bwMode="auto">
          <a:xfrm>
            <a:off x="7060458" y="2738915"/>
            <a:ext cx="1782552" cy="401902"/>
          </a:xfrm>
          <a:custGeom>
            <a:avLst/>
            <a:gdLst>
              <a:gd name="T0" fmla="*/ 2147483647 w 622"/>
              <a:gd name="T1" fmla="*/ 0 h 222"/>
              <a:gd name="T2" fmla="*/ 0 w 622"/>
              <a:gd name="T3" fmla="*/ 0 h 222"/>
              <a:gd name="T4" fmla="*/ 0 w 622"/>
              <a:gd name="T5" fmla="*/ 2147483647 h 222"/>
              <a:gd name="T6" fmla="*/ 0 60000 65536"/>
              <a:gd name="T7" fmla="*/ 0 60000 65536"/>
              <a:gd name="T8" fmla="*/ 0 60000 65536"/>
              <a:gd name="T9" fmla="*/ 0 w 622"/>
              <a:gd name="T10" fmla="*/ 0 h 222"/>
              <a:gd name="T11" fmla="*/ 622 w 622"/>
              <a:gd name="T12" fmla="*/ 222 h 2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22" h="222">
                <a:moveTo>
                  <a:pt x="622" y="0"/>
                </a:moveTo>
                <a:lnTo>
                  <a:pt x="0" y="0"/>
                </a:lnTo>
                <a:lnTo>
                  <a:pt x="0" y="222"/>
                </a:lnTo>
              </a:path>
            </a:pathLst>
          </a:custGeom>
          <a:noFill/>
          <a:ln w="9525" cap="flat" cmpd="sng">
            <a:solidFill>
              <a:srgbClr val="777777"/>
            </a:solidFill>
            <a:prstDash val="solid"/>
            <a:round/>
            <a:headEnd type="none" w="med" len="med"/>
            <a:tailEnd type="triangle" w="sm" len="sm"/>
          </a:ln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93" name="Text Box 141"/>
          <p:cNvSpPr txBox="1">
            <a:spLocks noChangeArrowheads="1"/>
          </p:cNvSpPr>
          <p:nvPr/>
        </p:nvSpPr>
        <p:spPr bwMode="auto">
          <a:xfrm>
            <a:off x="8262574" y="2958606"/>
            <a:ext cx="615554" cy="47453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4D4D4D"/>
                </a:solidFill>
                <a:ea typeface="+mj-ea"/>
              </a:rPr>
              <a:t>장애해결</a:t>
            </a:r>
          </a:p>
          <a:p>
            <a:pPr marL="0" marR="0" lvl="0" indent="0" algn="ctr" defTabSz="914400" eaLnBrk="0" fontAlgn="base" latinLnBrk="0" hangingPunct="0">
              <a:lnSpc>
                <a:spcPct val="105000"/>
              </a:lnSpc>
              <a:spcBef>
                <a:spcPct val="35000"/>
              </a:spcBef>
              <a:spcAft>
                <a:spcPct val="0"/>
              </a:spcAft>
              <a:buClr>
                <a:srgbClr val="008400"/>
              </a:buClr>
              <a:buSzTx/>
              <a:tabLst/>
              <a:defRPr/>
            </a:pPr>
            <a:r>
              <a:rPr lang="ko-KR" altLang="en-US" sz="1200" b="1" dirty="0">
                <a:solidFill>
                  <a:srgbClr val="4D4D4D"/>
                </a:solidFill>
                <a:ea typeface="+mj-ea"/>
              </a:rPr>
              <a:t>통보</a:t>
            </a:r>
          </a:p>
        </p:txBody>
      </p:sp>
      <p:grpSp>
        <p:nvGrpSpPr>
          <p:cNvPr id="5" name="그룹 205"/>
          <p:cNvGrpSpPr/>
          <p:nvPr/>
        </p:nvGrpSpPr>
        <p:grpSpPr>
          <a:xfrm>
            <a:off x="8773718" y="2342519"/>
            <a:ext cx="487455" cy="481340"/>
            <a:chOff x="8773718" y="2342519"/>
            <a:chExt cx="487455" cy="481340"/>
          </a:xfrm>
        </p:grpSpPr>
        <p:pic>
          <p:nvPicPr>
            <p:cNvPr id="199" name="Picture 143" descr="notebook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838539" y="2361395"/>
              <a:ext cx="422634" cy="462464"/>
            </a:xfrm>
            <a:prstGeom prst="rect">
              <a:avLst/>
            </a:prstGeom>
            <a:noFill/>
            <a:ln w="6350" algn="ctr">
              <a:noFill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60000"/>
                </a:prstClr>
              </a:outerShdw>
            </a:effectLst>
          </p:spPr>
        </p:pic>
        <p:pic>
          <p:nvPicPr>
            <p:cNvPr id="200" name="Picture 144" descr="남자옆타이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8773718" y="2342519"/>
              <a:ext cx="265767" cy="470554"/>
            </a:xfrm>
            <a:prstGeom prst="rect">
              <a:avLst/>
            </a:prstGeom>
            <a:noFill/>
            <a:ln w="6350" algn="ctr">
              <a:noFill/>
              <a:miter lim="800000"/>
              <a:headEnd/>
              <a:tailEnd/>
            </a:ln>
            <a:effectLst>
              <a:outerShdw blurRad="50800" dist="38100" dir="2700000" algn="tl" rotWithShape="0">
                <a:prstClr val="black">
                  <a:alpha val="60000"/>
                </a:prstClr>
              </a:outerShdw>
            </a:effectLst>
          </p:spPr>
        </p:pic>
      </p:grpSp>
      <p:sp>
        <p:nvSpPr>
          <p:cNvPr id="195" name="Text Box 145"/>
          <p:cNvSpPr txBox="1">
            <a:spLocks noChangeArrowheads="1"/>
          </p:cNvSpPr>
          <p:nvPr/>
        </p:nvSpPr>
        <p:spPr bwMode="auto">
          <a:xfrm>
            <a:off x="1658968" y="3357878"/>
            <a:ext cx="403957" cy="3389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표준화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절차화</a:t>
            </a:r>
          </a:p>
        </p:txBody>
      </p:sp>
      <p:sp>
        <p:nvSpPr>
          <p:cNvPr id="196" name="Text Box 146"/>
          <p:cNvSpPr txBox="1">
            <a:spLocks noChangeArrowheads="1"/>
          </p:cNvSpPr>
          <p:nvPr/>
        </p:nvSpPr>
        <p:spPr bwMode="auto">
          <a:xfrm>
            <a:off x="2447961" y="3231552"/>
            <a:ext cx="403957" cy="3389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시스템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</a:rPr>
              <a:t>상태</a:t>
            </a:r>
          </a:p>
        </p:txBody>
      </p:sp>
      <p:sp>
        <p:nvSpPr>
          <p:cNvPr id="197" name="Freeform 147"/>
          <p:cNvSpPr>
            <a:spLocks/>
          </p:cNvSpPr>
          <p:nvPr/>
        </p:nvSpPr>
        <p:spPr bwMode="auto">
          <a:xfrm>
            <a:off x="6976827" y="2808611"/>
            <a:ext cx="1870963" cy="1461441"/>
          </a:xfrm>
          <a:custGeom>
            <a:avLst/>
            <a:gdLst>
              <a:gd name="T0" fmla="*/ 0 w 711"/>
              <a:gd name="T1" fmla="*/ 2147483647 h 628"/>
              <a:gd name="T2" fmla="*/ 2147483647 w 711"/>
              <a:gd name="T3" fmla="*/ 2147483647 h 628"/>
              <a:gd name="T4" fmla="*/ 2147483647 w 711"/>
              <a:gd name="T5" fmla="*/ 0 h 628"/>
              <a:gd name="T6" fmla="*/ 2147483647 w 711"/>
              <a:gd name="T7" fmla="*/ 0 h 628"/>
              <a:gd name="T8" fmla="*/ 0 60000 65536"/>
              <a:gd name="T9" fmla="*/ 0 60000 65536"/>
              <a:gd name="T10" fmla="*/ 0 60000 65536"/>
              <a:gd name="T11" fmla="*/ 0 60000 65536"/>
              <a:gd name="T12" fmla="*/ 0 w 711"/>
              <a:gd name="T13" fmla="*/ 0 h 628"/>
              <a:gd name="T14" fmla="*/ 711 w 711"/>
              <a:gd name="T15" fmla="*/ 628 h 6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11" h="628">
                <a:moveTo>
                  <a:pt x="0" y="628"/>
                </a:moveTo>
                <a:lnTo>
                  <a:pt x="471" y="628"/>
                </a:lnTo>
                <a:lnTo>
                  <a:pt x="471" y="0"/>
                </a:lnTo>
                <a:lnTo>
                  <a:pt x="711" y="0"/>
                </a:lnTo>
              </a:path>
            </a:pathLst>
          </a:custGeom>
          <a:noFill/>
          <a:ln w="9525" cap="flat" cmpd="sng">
            <a:solidFill>
              <a:srgbClr val="777777"/>
            </a:solidFill>
            <a:prstDash val="solid"/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98" name="Freeform 148"/>
          <p:cNvSpPr>
            <a:spLocks/>
          </p:cNvSpPr>
          <p:nvPr/>
        </p:nvSpPr>
        <p:spPr bwMode="auto">
          <a:xfrm>
            <a:off x="5567033" y="3440231"/>
            <a:ext cx="962960" cy="877735"/>
          </a:xfrm>
          <a:custGeom>
            <a:avLst/>
            <a:gdLst>
              <a:gd name="T0" fmla="*/ 2147483647 w 352"/>
              <a:gd name="T1" fmla="*/ 0 h 385"/>
              <a:gd name="T2" fmla="*/ 0 w 352"/>
              <a:gd name="T3" fmla="*/ 0 h 385"/>
              <a:gd name="T4" fmla="*/ 0 w 352"/>
              <a:gd name="T5" fmla="*/ 2147483647 h 385"/>
              <a:gd name="T6" fmla="*/ 0 60000 65536"/>
              <a:gd name="T7" fmla="*/ 0 60000 65536"/>
              <a:gd name="T8" fmla="*/ 0 60000 65536"/>
              <a:gd name="T9" fmla="*/ 0 w 352"/>
              <a:gd name="T10" fmla="*/ 0 h 385"/>
              <a:gd name="T11" fmla="*/ 352 w 352"/>
              <a:gd name="T12" fmla="*/ 385 h 38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52" h="385">
                <a:moveTo>
                  <a:pt x="352" y="0"/>
                </a:moveTo>
                <a:lnTo>
                  <a:pt x="0" y="0"/>
                </a:lnTo>
                <a:lnTo>
                  <a:pt x="0" y="385"/>
                </a:lnTo>
              </a:path>
            </a:pathLst>
          </a:custGeom>
          <a:noFill/>
          <a:ln w="9525" cap="flat" cmpd="sng">
            <a:solidFill>
              <a:srgbClr val="777777"/>
            </a:solidFill>
            <a:prstDash val="solid"/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시스템을 상시 모니터링 하여 시스템의 안정성을 유지하고</a:t>
            </a:r>
            <a:r>
              <a:rPr lang="en-US" altLang="ko-KR" sz="1600" dirty="0"/>
              <a:t>, </a:t>
            </a:r>
            <a:r>
              <a:rPr lang="ko-KR" altLang="en-US" sz="1600" dirty="0"/>
              <a:t>시스템 성능을 관리하여 성능저하 감지 또는 업무 변화 시</a:t>
            </a:r>
            <a:r>
              <a:rPr lang="en-US" altLang="ko-KR" sz="1600" dirty="0"/>
              <a:t> </a:t>
            </a:r>
            <a:r>
              <a:rPr lang="ko-KR" altLang="en-US" sz="1600" dirty="0"/>
              <a:t>수집된 데이터 분석을 통해 원인 분석 후 해당 시스템의 조정 작업을 실시함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운영</a:t>
            </a:r>
            <a:r>
              <a:rPr lang="en-US" altLang="ko-KR" dirty="0"/>
              <a:t>·</a:t>
            </a:r>
            <a:r>
              <a:rPr lang="ko-KR" altLang="en-US" dirty="0"/>
              <a:t>관리 기능 </a:t>
            </a:r>
            <a:r>
              <a:rPr lang="en-US" altLang="ko-KR" dirty="0"/>
              <a:t>(1/3)</a:t>
            </a:r>
            <a:r>
              <a:rPr lang="ko-KR" altLang="en-US" dirty="0"/>
              <a:t> 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그룹 190"/>
          <p:cNvGrpSpPr/>
          <p:nvPr/>
        </p:nvGrpSpPr>
        <p:grpSpPr>
          <a:xfrm>
            <a:off x="319402" y="1523158"/>
            <a:ext cx="9180001" cy="4781970"/>
            <a:chOff x="272480" y="1599358"/>
            <a:chExt cx="9445434" cy="4781970"/>
          </a:xfrm>
        </p:grpSpPr>
        <p:sp>
          <p:nvSpPr>
            <p:cNvPr id="194" name="Rectangle 34"/>
            <p:cNvSpPr>
              <a:spLocks noChangeArrowheads="1"/>
            </p:cNvSpPr>
            <p:nvPr/>
          </p:nvSpPr>
          <p:spPr bwMode="gray">
            <a:xfrm>
              <a:off x="5051609" y="1893511"/>
              <a:ext cx="4663441" cy="448781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>
                <a:lnSpc>
                  <a:spcPct val="100000"/>
                </a:lnSpc>
                <a:spcBef>
                  <a:spcPts val="1200"/>
                </a:spcBef>
                <a:buClr>
                  <a:prstClr val="black"/>
                </a:buClr>
                <a:buFontTx/>
                <a:buNone/>
              </a:pPr>
              <a:endParaRPr lang="ko-KR" altLang="en-US" sz="1400" b="1">
                <a:latin typeface="+mn-ea"/>
              </a:endParaRPr>
            </a:p>
          </p:txBody>
        </p:sp>
        <p:sp>
          <p:nvSpPr>
            <p:cNvPr id="206" name="Rectangle 34"/>
            <p:cNvSpPr>
              <a:spLocks noChangeArrowheads="1"/>
            </p:cNvSpPr>
            <p:nvPr/>
          </p:nvSpPr>
          <p:spPr bwMode="gray">
            <a:xfrm>
              <a:off x="277458" y="1893511"/>
              <a:ext cx="4579821" cy="448781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>
                <a:lnSpc>
                  <a:spcPct val="100000"/>
                </a:lnSpc>
                <a:spcBef>
                  <a:spcPts val="1200"/>
                </a:spcBef>
                <a:buClr>
                  <a:prstClr val="black"/>
                </a:buClr>
                <a:buFontTx/>
                <a:buNone/>
              </a:pPr>
              <a:endParaRPr lang="ko-KR" altLang="en-US" sz="1400" b="1">
                <a:latin typeface="+mn-ea"/>
              </a:endParaRPr>
            </a:p>
          </p:txBody>
        </p:sp>
        <p:grpSp>
          <p:nvGrpSpPr>
            <p:cNvPr id="6" name="그룹 71"/>
            <p:cNvGrpSpPr/>
            <p:nvPr/>
          </p:nvGrpSpPr>
          <p:grpSpPr>
            <a:xfrm>
              <a:off x="429544" y="2020209"/>
              <a:ext cx="4354829" cy="3575054"/>
              <a:chOff x="404813" y="2284703"/>
              <a:chExt cx="6048376" cy="3439212"/>
            </a:xfrm>
          </p:grpSpPr>
          <p:sp>
            <p:nvSpPr>
              <p:cNvPr id="250" name="Line 76"/>
              <p:cNvSpPr>
                <a:spLocks noChangeShapeType="1"/>
              </p:cNvSpPr>
              <p:nvPr>
                <p:custDataLst>
                  <p:tags r:id="rId12"/>
                </p:custDataLst>
              </p:nvPr>
            </p:nvSpPr>
            <p:spPr bwMode="auto">
              <a:xfrm>
                <a:off x="404813" y="5712040"/>
                <a:ext cx="3025775" cy="0"/>
              </a:xfrm>
              <a:prstGeom prst="line">
                <a:avLst/>
              </a:prstGeom>
              <a:noFill/>
              <a:ln w="28575">
                <a:solidFill>
                  <a:srgbClr val="D7D7D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buNone/>
                </a:pPr>
                <a:endParaRPr lang="ko-KR" altLang="en-US" sz="140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51" name="Text Box 105"/>
              <p:cNvSpPr txBox="1">
                <a:spLocks noChangeArrowheads="1"/>
              </p:cNvSpPr>
              <p:nvPr>
                <p:custDataLst>
                  <p:tags r:id="rId13"/>
                </p:custDataLst>
              </p:nvPr>
            </p:nvSpPr>
            <p:spPr bwMode="auto">
              <a:xfrm>
                <a:off x="487363" y="2737803"/>
                <a:ext cx="2863851" cy="81663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ko-KR" sz="1000" b="1" dirty="0">
                    <a:solidFill>
                      <a:srgbClr val="000000"/>
                    </a:solidFill>
                    <a:latin typeface="+mn-ea"/>
                  </a:rPr>
                  <a:t>시스템별 임계치 기준 확인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ko-KR" sz="1000" b="1" dirty="0">
                    <a:solidFill>
                      <a:srgbClr val="000000"/>
                    </a:solidFill>
                    <a:latin typeface="+mn-ea"/>
                  </a:rPr>
                  <a:t>모니터링 Check 리스트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ko-KR" sz="1000" b="1" dirty="0">
                    <a:solidFill>
                      <a:srgbClr val="000000"/>
                    </a:solidFill>
                    <a:latin typeface="+mn-ea"/>
                  </a:rPr>
                  <a:t>중요 메시지 테이블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ko-KR" sz="1000" b="1" dirty="0">
                    <a:solidFill>
                      <a:srgbClr val="000000"/>
                    </a:solidFill>
                    <a:latin typeface="+mn-ea"/>
                  </a:rPr>
                  <a:t>과거 이력</a:t>
                </a:r>
                <a:r>
                  <a:rPr kumimoji="0" lang="ko-KR" altLang="ko-KR" sz="1000" b="1" dirty="0">
                    <a:latin typeface="+mn-ea"/>
                  </a:rPr>
                  <a:t> </a:t>
                </a:r>
                <a:r>
                  <a:rPr lang="ko-KR" altLang="ko-KR" sz="1000" b="1" dirty="0">
                    <a:latin typeface="+mn-ea"/>
                  </a:rPr>
                  <a:t>정보</a:t>
                </a:r>
              </a:p>
            </p:txBody>
          </p:sp>
          <p:sp>
            <p:nvSpPr>
              <p:cNvPr id="252" name="Text Box 112"/>
              <p:cNvSpPr txBox="1">
                <a:spLocks noChangeArrowheads="1"/>
              </p:cNvSpPr>
              <p:nvPr>
                <p:custDataLst>
                  <p:tags r:id="rId14"/>
                </p:custDataLst>
              </p:nvPr>
            </p:nvSpPr>
            <p:spPr bwMode="auto">
              <a:xfrm>
                <a:off x="487363" y="3867328"/>
                <a:ext cx="2863851" cy="107576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표준화된 점검 리스트에 의해 시스템 점검</a:t>
                </a:r>
                <a:r>
                  <a:rPr kumimoji="0" lang="en-US" altLang="ko-KR" sz="1000" b="1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일상 점검</a:t>
                </a:r>
                <a:r>
                  <a:rPr kumimoji="0" lang="en-US" altLang="ko-KR" sz="1000" b="1" dirty="0">
                    <a:solidFill>
                      <a:srgbClr val="000000"/>
                    </a:solidFill>
                    <a:latin typeface="+mn-ea"/>
                  </a:rPr>
                  <a:t>)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시스템 정지 및 재가동 시 사유</a:t>
                </a:r>
                <a:r>
                  <a:rPr kumimoji="0" lang="en-US" altLang="ko-KR" sz="1000" b="1" dirty="0">
                    <a:solidFill>
                      <a:srgbClr val="000000"/>
                    </a:solidFill>
                    <a:latin typeface="+mn-ea"/>
                  </a:rPr>
                  <a:t>/ </a:t>
                </a: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시간 기록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dirty="0">
                    <a:latin typeface="+mn-ea"/>
                  </a:rPr>
                  <a:t>새로운 </a:t>
                </a:r>
                <a:r>
                  <a:rPr lang="ko-KR" altLang="en-US" sz="1000" b="1" dirty="0">
                    <a:latin typeface="+mn-ea"/>
                  </a:rPr>
                  <a:t>시스템 및 </a:t>
                </a:r>
                <a:r>
                  <a:rPr lang="en-US" altLang="ko-KR" sz="1000" b="1" dirty="0">
                    <a:latin typeface="+mn-ea"/>
                  </a:rPr>
                  <a:t>S/W </a:t>
                </a:r>
                <a:r>
                  <a:rPr lang="ko-KR" altLang="en-US" sz="1000" b="1" dirty="0">
                    <a:latin typeface="+mn-ea"/>
                  </a:rPr>
                  <a:t>변경 기록관리</a:t>
                </a:r>
              </a:p>
            </p:txBody>
          </p:sp>
          <p:sp>
            <p:nvSpPr>
              <p:cNvPr id="253" name="Line 76"/>
              <p:cNvSpPr>
                <a:spLocks noChangeShapeType="1"/>
              </p:cNvSpPr>
              <p:nvPr>
                <p:custDataLst>
                  <p:tags r:id="rId15"/>
                </p:custDataLst>
              </p:nvPr>
            </p:nvSpPr>
            <p:spPr bwMode="auto">
              <a:xfrm>
                <a:off x="404813" y="2304277"/>
                <a:ext cx="3025775" cy="0"/>
              </a:xfrm>
              <a:prstGeom prst="line">
                <a:avLst/>
              </a:prstGeom>
              <a:noFill/>
              <a:ln w="28575">
                <a:solidFill>
                  <a:srgbClr val="D7D7D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buNone/>
                </a:pPr>
                <a:endParaRPr lang="ko-KR" altLang="en-US" sz="140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grpSp>
            <p:nvGrpSpPr>
              <p:cNvPr id="7" name="Group 77"/>
              <p:cNvGrpSpPr>
                <a:grpSpLocks/>
              </p:cNvGrpSpPr>
              <p:nvPr>
                <p:custDataLst>
                  <p:tags r:id="rId16"/>
                </p:custDataLst>
              </p:nvPr>
            </p:nvGrpSpPr>
            <p:grpSpPr bwMode="auto">
              <a:xfrm>
                <a:off x="3376613" y="2284703"/>
                <a:ext cx="3076576" cy="3439212"/>
                <a:chOff x="2839" y="1637"/>
                <a:chExt cx="1226" cy="1700"/>
              </a:xfrm>
            </p:grpSpPr>
            <p:sp>
              <p:nvSpPr>
                <p:cNvPr id="273" name="AutoShape 78"/>
                <p:cNvSpPr>
                  <a:spLocks noChangeArrowheads="1"/>
                </p:cNvSpPr>
                <p:nvPr/>
              </p:nvSpPr>
              <p:spPr bwMode="gray">
                <a:xfrm>
                  <a:off x="2839" y="1637"/>
                  <a:ext cx="1226" cy="17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accent3"/>
                </a:solidFill>
                <a:ln w="12700" algn="ctr">
                  <a:noFill/>
                  <a:round/>
                  <a:headEnd/>
                  <a:tailEnd/>
                </a:ln>
              </p:spPr>
              <p:txBody>
                <a:bodyPr lIns="36000" tIns="36000" rIns="36000" bIns="36000" anchor="ctr"/>
                <a:lstStyle/>
                <a:p>
                  <a:pPr defTabSz="1027113" latinLnBrk="0">
                    <a:spcBef>
                      <a:spcPct val="40000"/>
                    </a:spcBef>
                    <a:buSzPct val="80000"/>
                    <a:buNone/>
                  </a:pPr>
                  <a:endParaRPr lang="ko-KR" altLang="ko-KR" sz="1800" b="1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274" name="Line 79"/>
                <p:cNvSpPr>
                  <a:spLocks noChangeShapeType="1"/>
                </p:cNvSpPr>
                <p:nvPr/>
              </p:nvSpPr>
              <p:spPr bwMode="auto">
                <a:xfrm>
                  <a:off x="2841" y="1637"/>
                  <a:ext cx="0" cy="1700"/>
                </a:xfrm>
                <a:prstGeom prst="line">
                  <a:avLst/>
                </a:prstGeom>
                <a:noFill/>
                <a:ln w="28575">
                  <a:solidFill>
                    <a:srgbClr val="D7D7D7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buNone/>
                  </a:pPr>
                  <a:endParaRPr lang="ko-KR" altLang="en-US" sz="1400" b="1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sp>
            <p:nvSpPr>
              <p:cNvPr id="255" name="Rectangle 81"/>
              <p:cNvSpPr>
                <a:spLocks noChangeArrowheads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3635376" y="2392941"/>
                <a:ext cx="1127124" cy="467828"/>
              </a:xfrm>
              <a:prstGeom prst="rect">
                <a:avLst/>
              </a:prstGeom>
              <a:solidFill>
                <a:srgbClr val="508CD2"/>
              </a:solidFill>
              <a:ln w="6350" algn="ctr">
                <a:solidFill>
                  <a:srgbClr val="29618F"/>
                </a:solidFill>
                <a:miter lim="800000"/>
                <a:headEnd/>
                <a:tailEnd/>
              </a:ln>
            </p:spPr>
            <p:txBody>
              <a:bodyPr lIns="54000" tIns="35995" rIns="54000" bIns="45714" anchor="ctr"/>
              <a:lstStyle/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FFFFFF"/>
                    </a:solidFill>
                    <a:latin typeface="+mn-ea"/>
                  </a:rPr>
                  <a:t>시스템별 메시지 </a:t>
                </a:r>
                <a:br>
                  <a:rPr lang="ko-KR" altLang="en-US" sz="1000" b="1" dirty="0">
                    <a:solidFill>
                      <a:srgbClr val="FFFFFF"/>
                    </a:solidFill>
                    <a:latin typeface="+mn-ea"/>
                  </a:rPr>
                </a:br>
                <a:r>
                  <a:rPr lang="ko-KR" altLang="en-US" sz="1000" b="1" dirty="0">
                    <a:solidFill>
                      <a:srgbClr val="FFFFFF"/>
                    </a:solidFill>
                    <a:latin typeface="+mn-ea"/>
                  </a:rPr>
                  <a:t>발생</a:t>
                </a:r>
              </a:p>
            </p:txBody>
          </p:sp>
          <p:sp>
            <p:nvSpPr>
              <p:cNvPr id="256" name="AutoShape 82"/>
              <p:cNvSpPr>
                <a:spLocks noChangeArrowheads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3670301" y="4098985"/>
                <a:ext cx="1058863" cy="542209"/>
              </a:xfrm>
              <a:prstGeom prst="flowChartDecision">
                <a:avLst/>
              </a:prstGeom>
              <a:solidFill>
                <a:srgbClr val="508CD2"/>
              </a:solidFill>
              <a:ln w="6350" algn="ctr">
                <a:solidFill>
                  <a:srgbClr val="29618F"/>
                </a:solidFill>
                <a:miter lim="800000"/>
                <a:headEnd/>
                <a:tailEnd/>
              </a:ln>
            </p:spPr>
            <p:txBody>
              <a:bodyPr lIns="54000" tIns="35995" rIns="54000" bIns="45714" anchor="ctr"/>
              <a:lstStyle/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FFFFFF"/>
                    </a:solidFill>
                    <a:latin typeface="+mn-ea"/>
                  </a:rPr>
                  <a:t>장애</a:t>
                </a:r>
              </a:p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FFFFFF"/>
                    </a:solidFill>
                    <a:latin typeface="+mn-ea"/>
                  </a:rPr>
                  <a:t>여부</a:t>
                </a:r>
              </a:p>
            </p:txBody>
          </p:sp>
          <p:cxnSp>
            <p:nvCxnSpPr>
              <p:cNvPr id="257" name="AutoShape 83"/>
              <p:cNvCxnSpPr>
                <a:cxnSpLocks noChangeShapeType="1"/>
                <a:stCxn id="255" idx="2"/>
                <a:endCxn id="261" idx="0"/>
              </p:cNvCxnSpPr>
              <p:nvPr>
                <p:custDataLst>
                  <p:tags r:id="rId19"/>
                </p:custDataLst>
              </p:nvPr>
            </p:nvCxnSpPr>
            <p:spPr bwMode="auto">
              <a:xfrm>
                <a:off x="4198938" y="2860768"/>
                <a:ext cx="0" cy="459158"/>
              </a:xfrm>
              <a:prstGeom prst="straightConnector1">
                <a:avLst/>
              </a:prstGeom>
              <a:noFill/>
              <a:ln w="9525">
                <a:solidFill>
                  <a:srgbClr val="5F5F5F"/>
                </a:solidFill>
                <a:round/>
                <a:headEnd/>
                <a:tailEnd type="triangle" w="med" len="med"/>
              </a:ln>
            </p:spPr>
          </p:cxnSp>
          <p:cxnSp>
            <p:nvCxnSpPr>
              <p:cNvPr id="258" name="AutoShape 84"/>
              <p:cNvCxnSpPr>
                <a:cxnSpLocks noChangeShapeType="1"/>
                <a:stCxn id="261" idx="2"/>
                <a:endCxn id="256" idx="0"/>
              </p:cNvCxnSpPr>
              <p:nvPr>
                <p:custDataLst>
                  <p:tags r:id="rId20"/>
                </p:custDataLst>
              </p:nvPr>
            </p:nvCxnSpPr>
            <p:spPr bwMode="auto">
              <a:xfrm>
                <a:off x="4198938" y="3785796"/>
                <a:ext cx="1588" cy="313190"/>
              </a:xfrm>
              <a:prstGeom prst="straightConnector1">
                <a:avLst/>
              </a:prstGeom>
              <a:noFill/>
              <a:ln w="9525">
                <a:solidFill>
                  <a:srgbClr val="5F5F5F"/>
                </a:solidFill>
                <a:round/>
                <a:headEnd/>
                <a:tailEnd type="triangle" w="med" len="med"/>
              </a:ln>
            </p:spPr>
          </p:cxnSp>
          <p:cxnSp>
            <p:nvCxnSpPr>
              <p:cNvPr id="259" name="AutoShape 85"/>
              <p:cNvCxnSpPr>
                <a:cxnSpLocks noChangeShapeType="1"/>
                <a:stCxn id="256" idx="2"/>
                <a:endCxn id="262" idx="0"/>
              </p:cNvCxnSpPr>
              <p:nvPr>
                <p:custDataLst>
                  <p:tags r:id="rId21"/>
                </p:custDataLst>
              </p:nvPr>
            </p:nvCxnSpPr>
            <p:spPr bwMode="auto">
              <a:xfrm flipH="1">
                <a:off x="4198938" y="4641193"/>
                <a:ext cx="1588" cy="311233"/>
              </a:xfrm>
              <a:prstGeom prst="straightConnector1">
                <a:avLst/>
              </a:prstGeom>
              <a:noFill/>
              <a:ln w="9525">
                <a:solidFill>
                  <a:srgbClr val="5F5F5F"/>
                </a:solidFill>
                <a:round/>
                <a:headEnd/>
                <a:tailEnd type="triangle" w="med" len="med"/>
              </a:ln>
            </p:spPr>
          </p:cxnSp>
          <p:cxnSp>
            <p:nvCxnSpPr>
              <p:cNvPr id="260" name="AutoShape 86"/>
              <p:cNvCxnSpPr>
                <a:cxnSpLocks noChangeShapeType="1"/>
                <a:stCxn id="256" idx="3"/>
                <a:endCxn id="263" idx="1"/>
              </p:cNvCxnSpPr>
              <p:nvPr>
                <p:custDataLst>
                  <p:tags r:id="rId22"/>
                </p:custDataLst>
              </p:nvPr>
            </p:nvCxnSpPr>
            <p:spPr bwMode="auto">
              <a:xfrm>
                <a:off x="4729164" y="4371068"/>
                <a:ext cx="412750" cy="816251"/>
              </a:xfrm>
              <a:prstGeom prst="bentConnector3">
                <a:avLst>
                  <a:gd name="adj1" fmla="val 49556"/>
                </a:avLst>
              </a:prstGeom>
              <a:noFill/>
              <a:ln w="9525">
                <a:solidFill>
                  <a:srgbClr val="5F5F5F"/>
                </a:solidFill>
                <a:miter lim="800000"/>
                <a:headEnd/>
                <a:tailEnd type="triangle" w="med" len="med"/>
              </a:ln>
            </p:spPr>
          </p:cxnSp>
          <p:sp>
            <p:nvSpPr>
              <p:cNvPr id="261" name="Rectangle 87"/>
              <p:cNvSpPr>
                <a:spLocks noChangeArrowheads="1"/>
              </p:cNvSpPr>
              <p:nvPr>
                <p:custDataLst>
                  <p:tags r:id="rId23"/>
                </p:custDataLst>
              </p:nvPr>
            </p:nvSpPr>
            <p:spPr bwMode="auto">
              <a:xfrm>
                <a:off x="3635375" y="3319927"/>
                <a:ext cx="1127124" cy="465869"/>
              </a:xfrm>
              <a:prstGeom prst="rect">
                <a:avLst/>
              </a:prstGeom>
              <a:solidFill>
                <a:srgbClr val="FFFFFF"/>
              </a:solidFill>
              <a:ln w="6350" algn="ctr">
                <a:solidFill>
                  <a:srgbClr val="29618F"/>
                </a:solidFill>
                <a:miter lim="800000"/>
                <a:headEnd/>
                <a:tailEnd/>
              </a:ln>
            </p:spPr>
            <p:txBody>
              <a:bodyPr lIns="54000" tIns="35995" rIns="54000" bIns="45714" anchor="ctr"/>
              <a:lstStyle/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003366"/>
                    </a:solidFill>
                    <a:latin typeface="+mn-ea"/>
                  </a:rPr>
                  <a:t>모니터링 콘솔로 전송</a:t>
                </a:r>
              </a:p>
            </p:txBody>
          </p:sp>
          <p:sp>
            <p:nvSpPr>
              <p:cNvPr id="262" name="Rectangle 88"/>
              <p:cNvSpPr>
                <a:spLocks noChangeArrowheads="1"/>
              </p:cNvSpPr>
              <p:nvPr>
                <p:custDataLst>
                  <p:tags r:id="rId24"/>
                </p:custDataLst>
              </p:nvPr>
            </p:nvSpPr>
            <p:spPr bwMode="auto">
              <a:xfrm>
                <a:off x="3635375" y="4952426"/>
                <a:ext cx="1127124" cy="467826"/>
              </a:xfrm>
              <a:prstGeom prst="rect">
                <a:avLst/>
              </a:prstGeom>
              <a:solidFill>
                <a:srgbClr val="FFFFFF"/>
              </a:solidFill>
              <a:ln w="6350" algn="ctr">
                <a:solidFill>
                  <a:srgbClr val="29618F"/>
                </a:solidFill>
                <a:miter lim="800000"/>
                <a:headEnd/>
                <a:tailEnd/>
              </a:ln>
            </p:spPr>
            <p:txBody>
              <a:bodyPr lIns="54000" tIns="35995" rIns="54000" bIns="45714" anchor="ctr"/>
              <a:lstStyle/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003366"/>
                    </a:solidFill>
                    <a:latin typeface="+mn-ea"/>
                  </a:rPr>
                  <a:t>장애관리 </a:t>
                </a:r>
              </a:p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003366"/>
                    </a:solidFill>
                    <a:latin typeface="+mn-ea"/>
                  </a:rPr>
                  <a:t>프로세스로 이행</a:t>
                </a:r>
              </a:p>
            </p:txBody>
          </p:sp>
          <p:sp>
            <p:nvSpPr>
              <p:cNvPr id="263" name="Rectangle 89"/>
              <p:cNvSpPr>
                <a:spLocks noChangeArrowheads="1"/>
              </p:cNvSpPr>
              <p:nvPr>
                <p:custDataLst>
                  <p:tags r:id="rId25"/>
                </p:custDataLst>
              </p:nvPr>
            </p:nvSpPr>
            <p:spPr bwMode="auto">
              <a:xfrm>
                <a:off x="5141914" y="4952426"/>
                <a:ext cx="1125537" cy="467826"/>
              </a:xfrm>
              <a:prstGeom prst="rect">
                <a:avLst/>
              </a:prstGeom>
              <a:solidFill>
                <a:srgbClr val="FFFFFF"/>
              </a:solidFill>
              <a:ln w="6350" algn="ctr">
                <a:solidFill>
                  <a:srgbClr val="29618F"/>
                </a:solidFill>
                <a:miter lim="800000"/>
                <a:headEnd/>
                <a:tailEnd/>
              </a:ln>
            </p:spPr>
            <p:txBody>
              <a:bodyPr lIns="54000" tIns="35995" rIns="54000" bIns="45714" anchor="ctr"/>
              <a:lstStyle/>
              <a:p>
                <a:pPr algn="ctr" latinLnBrk="0">
                  <a:buNone/>
                </a:pPr>
                <a:r>
                  <a:rPr lang="ko-KR" altLang="en-US" sz="1000" b="1" dirty="0">
                    <a:solidFill>
                      <a:srgbClr val="003366"/>
                    </a:solidFill>
                    <a:latin typeface="+mn-ea"/>
                  </a:rPr>
                  <a:t>해당 메시지 처리</a:t>
                </a:r>
              </a:p>
            </p:txBody>
          </p:sp>
          <p:sp>
            <p:nvSpPr>
              <p:cNvPr id="264" name="Text Box 90"/>
              <p:cNvSpPr txBox="1">
                <a:spLocks noChangeArrowheads="1"/>
              </p:cNvSpPr>
              <p:nvPr>
                <p:custDataLst>
                  <p:tags r:id="rId26"/>
                </p:custDataLst>
              </p:nvPr>
            </p:nvSpPr>
            <p:spPr bwMode="auto">
              <a:xfrm>
                <a:off x="4657974" y="4201684"/>
                <a:ext cx="494806" cy="133236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none" lIns="0" tIns="0" rIns="0" bIns="0" anchor="ctr">
                <a:spAutoFit/>
              </a:bodyPr>
              <a:lstStyle/>
              <a:p>
                <a:pPr algn="ctr" latinLnBrk="0">
                  <a:buClr>
                    <a:srgbClr val="000000"/>
                  </a:buClr>
                  <a:buSzPct val="80000"/>
                  <a:buNone/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</a:rPr>
                  <a:t>아니오</a:t>
                </a:r>
              </a:p>
            </p:txBody>
          </p:sp>
          <p:sp>
            <p:nvSpPr>
              <p:cNvPr id="265" name="Text Box 91"/>
              <p:cNvSpPr txBox="1">
                <a:spLocks noChangeArrowheads="1"/>
              </p:cNvSpPr>
              <p:nvPr>
                <p:custDataLst>
                  <p:tags r:id="rId27"/>
                </p:custDataLst>
              </p:nvPr>
            </p:nvSpPr>
            <p:spPr bwMode="auto">
              <a:xfrm>
                <a:off x="3969868" y="4679297"/>
                <a:ext cx="164935" cy="133236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</p:spPr>
            <p:txBody>
              <a:bodyPr wrap="none" lIns="0" tIns="0" rIns="0" bIns="0" anchor="ctr">
                <a:spAutoFit/>
              </a:bodyPr>
              <a:lstStyle/>
              <a:p>
                <a:pPr latinLnBrk="0">
                  <a:buClr>
                    <a:srgbClr val="000000"/>
                  </a:buClr>
                  <a:buSzPct val="80000"/>
                  <a:buNone/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</a:rPr>
                  <a:t>예</a:t>
                </a:r>
              </a:p>
            </p:txBody>
          </p:sp>
          <p:sp>
            <p:nvSpPr>
              <p:cNvPr id="266" name="Rectangle 93"/>
              <p:cNvSpPr>
                <a:spLocks noChangeArrowheads="1"/>
              </p:cNvSpPr>
              <p:nvPr>
                <p:custDataLst>
                  <p:tags r:id="rId28"/>
                </p:custDataLst>
              </p:nvPr>
            </p:nvSpPr>
            <p:spPr bwMode="auto">
              <a:xfrm>
                <a:off x="406401" y="5152450"/>
                <a:ext cx="2754313" cy="246366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67" name="AutoShape 97"/>
              <p:cNvSpPr>
                <a:spLocks noChangeArrowheads="1"/>
              </p:cNvSpPr>
              <p:nvPr>
                <p:custDataLst>
                  <p:tags r:id="rId29"/>
                </p:custDataLst>
              </p:nvPr>
            </p:nvSpPr>
            <p:spPr bwMode="auto">
              <a:xfrm>
                <a:off x="476250" y="5189355"/>
                <a:ext cx="2684464" cy="165995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ko-KR" sz="1000" b="1" dirty="0">
                    <a:solidFill>
                      <a:srgbClr val="000000"/>
                    </a:solidFill>
                    <a:latin typeface="+mn-ea"/>
                  </a:rPr>
                  <a:t>장애처리 프로세스와 연계</a:t>
                </a:r>
              </a:p>
            </p:txBody>
          </p:sp>
          <p:sp>
            <p:nvSpPr>
              <p:cNvPr id="268" name="Text Box 98"/>
              <p:cNvSpPr txBox="1">
                <a:spLocks noChangeArrowheads="1"/>
              </p:cNvSpPr>
              <p:nvPr>
                <p:custDataLst>
                  <p:tags r:id="rId30"/>
                </p:custDataLst>
              </p:nvPr>
            </p:nvSpPr>
            <p:spPr bwMode="auto">
              <a:xfrm>
                <a:off x="524942" y="5479574"/>
                <a:ext cx="2863851" cy="169277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None/>
                  <a:defRPr/>
                </a:pPr>
                <a:r>
                  <a:rPr kumimoji="0" lang="ko-KR" altLang="ko-KR" sz="1000" b="1" dirty="0">
                    <a:solidFill>
                      <a:srgbClr val="000000"/>
                    </a:solidFill>
                    <a:latin typeface="+mn-ea"/>
                  </a:rPr>
                  <a:t>장애처리 프로세스와 연계</a:t>
                </a:r>
              </a:p>
            </p:txBody>
          </p:sp>
          <p:sp>
            <p:nvSpPr>
              <p:cNvPr id="269" name="Rectangle 100"/>
              <p:cNvSpPr>
                <a:spLocks noChangeArrowheads="1"/>
              </p:cNvSpPr>
              <p:nvPr>
                <p:custDataLst>
                  <p:tags r:id="rId31"/>
                </p:custDataLst>
              </p:nvPr>
            </p:nvSpPr>
            <p:spPr bwMode="auto">
              <a:xfrm>
                <a:off x="406401" y="2424926"/>
                <a:ext cx="2754313" cy="246366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  <a:buNone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0" name="AutoShape 104"/>
              <p:cNvSpPr>
                <a:spLocks noChangeArrowheads="1"/>
              </p:cNvSpPr>
              <p:nvPr>
                <p:custDataLst>
                  <p:tags r:id="rId32"/>
                </p:custDataLst>
              </p:nvPr>
            </p:nvSpPr>
            <p:spPr bwMode="auto">
              <a:xfrm>
                <a:off x="476250" y="2464421"/>
                <a:ext cx="2684464" cy="165995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ko-KR" sz="1000" b="1" dirty="0">
                    <a:solidFill>
                      <a:srgbClr val="000000"/>
                    </a:solidFill>
                    <a:latin typeface="+mn-ea"/>
                  </a:rPr>
                  <a:t>모니터링 기준</a:t>
                </a:r>
              </a:p>
            </p:txBody>
          </p:sp>
          <p:sp>
            <p:nvSpPr>
              <p:cNvPr id="271" name="Rectangle 107"/>
              <p:cNvSpPr>
                <a:spLocks noChangeArrowheads="1"/>
              </p:cNvSpPr>
              <p:nvPr>
                <p:custDataLst>
                  <p:tags r:id="rId33"/>
                </p:custDataLst>
              </p:nvPr>
            </p:nvSpPr>
            <p:spPr bwMode="auto">
              <a:xfrm>
                <a:off x="406401" y="3579603"/>
                <a:ext cx="2754313" cy="246366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2" name="AutoShape 111"/>
              <p:cNvSpPr>
                <a:spLocks noChangeArrowheads="1"/>
              </p:cNvSpPr>
              <p:nvPr>
                <p:custDataLst>
                  <p:tags r:id="rId34"/>
                </p:custDataLst>
              </p:nvPr>
            </p:nvSpPr>
            <p:spPr bwMode="auto">
              <a:xfrm>
                <a:off x="476250" y="3621677"/>
                <a:ext cx="2684464" cy="165995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ko-KR" sz="1000" b="1" dirty="0">
                    <a:solidFill>
                      <a:srgbClr val="000000"/>
                    </a:solidFill>
                    <a:latin typeface="+mn-ea"/>
                  </a:rPr>
                  <a:t>시스템 운영일지 관리</a:t>
                </a:r>
              </a:p>
            </p:txBody>
          </p:sp>
        </p:grpSp>
        <p:grpSp>
          <p:nvGrpSpPr>
            <p:cNvPr id="8" name="그룹 97"/>
            <p:cNvGrpSpPr/>
            <p:nvPr/>
          </p:nvGrpSpPr>
          <p:grpSpPr>
            <a:xfrm>
              <a:off x="5121752" y="2005522"/>
              <a:ext cx="4503994" cy="3609898"/>
              <a:chOff x="5097026" y="2005522"/>
              <a:chExt cx="4503993" cy="3438000"/>
            </a:xfrm>
          </p:grpSpPr>
          <p:sp>
            <p:nvSpPr>
              <p:cNvPr id="213" name="Line 76"/>
              <p:cNvSpPr>
                <a:spLocks noChangeShapeType="1"/>
              </p:cNvSpPr>
              <p:nvPr>
                <p:custDataLst>
                  <p:tags r:id="rId1"/>
                </p:custDataLst>
              </p:nvPr>
            </p:nvSpPr>
            <p:spPr bwMode="auto">
              <a:xfrm>
                <a:off x="5097026" y="5423328"/>
                <a:ext cx="2239074" cy="0"/>
              </a:xfrm>
              <a:prstGeom prst="line">
                <a:avLst/>
              </a:prstGeom>
              <a:noFill/>
              <a:ln w="28575">
                <a:solidFill>
                  <a:srgbClr val="D7D7D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buNone/>
                </a:pPr>
                <a:endParaRPr lang="ko-KR" altLang="en-US" sz="140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4" name="Text Box 105"/>
              <p:cNvSpPr txBox="1"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5158113" y="2449097"/>
                <a:ext cx="2119250" cy="30875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None/>
                  <a:defRPr/>
                </a:pPr>
                <a:r>
                  <a:rPr lang="ko-KR" altLang="en-US" sz="1000" b="1" dirty="0" err="1">
                    <a:latin typeface="+mn-ea"/>
                  </a:rPr>
                  <a:t>임계치</a:t>
                </a:r>
                <a:r>
                  <a:rPr lang="ko-KR" altLang="en-US" sz="1000" b="1" dirty="0">
                    <a:latin typeface="+mn-ea"/>
                  </a:rPr>
                  <a:t> 설정</a:t>
                </a:r>
                <a:r>
                  <a:rPr lang="en-US" altLang="ko-KR" sz="1000" b="1" dirty="0">
                    <a:latin typeface="+mn-ea"/>
                  </a:rPr>
                  <a:t>(CPU, </a:t>
                </a:r>
                <a:r>
                  <a:rPr lang="ko-KR" altLang="en-US" sz="1000" b="1" dirty="0">
                    <a:latin typeface="+mn-ea"/>
                  </a:rPr>
                  <a:t>메모리</a:t>
                </a:r>
                <a:r>
                  <a:rPr lang="en-US" altLang="ko-KR" sz="1000" b="1" dirty="0">
                    <a:latin typeface="+mn-ea"/>
                  </a:rPr>
                  <a:t>, </a:t>
                </a:r>
                <a:r>
                  <a:rPr lang="ko-KR" altLang="en-US" sz="1000" b="1" dirty="0">
                    <a:latin typeface="+mn-ea"/>
                  </a:rPr>
                  <a:t>디스크 등</a:t>
                </a:r>
                <a:r>
                  <a:rPr lang="en-US" altLang="ko-KR" sz="1000" b="1" dirty="0">
                    <a:latin typeface="+mn-ea"/>
                  </a:rPr>
                  <a:t>)</a:t>
                </a:r>
              </a:p>
            </p:txBody>
          </p:sp>
          <p:sp>
            <p:nvSpPr>
              <p:cNvPr id="215" name="Text Box 112"/>
              <p:cNvSpPr txBox="1"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5158113" y="3912279"/>
                <a:ext cx="2119250" cy="58135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spc="-150" dirty="0">
                    <a:solidFill>
                      <a:srgbClr val="000000"/>
                    </a:solidFill>
                    <a:latin typeface="+mn-ea"/>
                  </a:rPr>
                  <a:t>자</a:t>
                </a:r>
                <a:r>
                  <a:rPr kumimoji="0" lang="ko-KR" altLang="en-US" sz="1000" b="1" spc="-150" dirty="0">
                    <a:latin typeface="+mn-ea"/>
                  </a:rPr>
                  <a:t>동화 툴에 의한 정기적 데이터 수집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spc="-150" dirty="0">
                    <a:latin typeface="+mn-ea"/>
                  </a:rPr>
                  <a:t>시스템 분석정보 </a:t>
                </a:r>
                <a:r>
                  <a:rPr kumimoji="0" lang="en-US" altLang="ko-KR" sz="1000" b="1" spc="-150" dirty="0">
                    <a:latin typeface="+mn-ea"/>
                  </a:rPr>
                  <a:t>(CPU, </a:t>
                </a:r>
                <a:r>
                  <a:rPr kumimoji="0" lang="ko-KR" altLang="en-US" sz="1000" b="1" spc="-150" dirty="0">
                    <a:latin typeface="+mn-ea"/>
                  </a:rPr>
                  <a:t>메모리</a:t>
                </a:r>
                <a:r>
                  <a:rPr kumimoji="0" lang="en-US" altLang="ko-KR" sz="1000" b="1" spc="-150" dirty="0">
                    <a:latin typeface="+mn-ea"/>
                  </a:rPr>
                  <a:t>, </a:t>
                </a:r>
                <a:r>
                  <a:rPr kumimoji="0" lang="ko-KR" altLang="en-US" sz="1000" b="1" spc="-150" dirty="0">
                    <a:latin typeface="+mn-ea"/>
                  </a:rPr>
                  <a:t>디스크</a:t>
                </a:r>
                <a:r>
                  <a:rPr kumimoji="0" lang="en-US" altLang="ko-KR" sz="1000" b="1" spc="-150" dirty="0">
                    <a:latin typeface="+mn-ea"/>
                  </a:rPr>
                  <a:t>)</a:t>
                </a:r>
              </a:p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spc="-150" dirty="0">
                    <a:latin typeface="+mn-ea"/>
                  </a:rPr>
                  <a:t>구성관리 </a:t>
                </a:r>
                <a:r>
                  <a:rPr lang="ko-KR" altLang="en-US" sz="1000" b="1" spc="-150" dirty="0">
                    <a:latin typeface="+mn-ea"/>
                  </a:rPr>
                  <a:t>정보</a:t>
                </a:r>
              </a:p>
            </p:txBody>
          </p:sp>
          <p:sp>
            <p:nvSpPr>
              <p:cNvPr id="216" name="Line 76"/>
              <p:cNvSpPr>
                <a:spLocks noChangeShapeType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5097026" y="2015571"/>
                <a:ext cx="2239074" cy="0"/>
              </a:xfrm>
              <a:prstGeom prst="line">
                <a:avLst/>
              </a:prstGeom>
              <a:noFill/>
              <a:ln w="28575">
                <a:solidFill>
                  <a:srgbClr val="D7D7D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buNone/>
                </a:pPr>
                <a:endParaRPr lang="ko-KR" altLang="en-US" sz="140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7" name="Rectangle 93"/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5098200" y="4529130"/>
                <a:ext cx="2159853" cy="243902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8" name="AutoShape 97"/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5149889" y="4572132"/>
                <a:ext cx="1986503" cy="164334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ko-KR" sz="1000" b="1" dirty="0">
                    <a:solidFill>
                      <a:srgbClr val="000000"/>
                    </a:solidFill>
                    <a:latin typeface="+mn-ea"/>
                  </a:rPr>
                  <a:t>장애처리 프로세스와 연계</a:t>
                </a:r>
              </a:p>
            </p:txBody>
          </p:sp>
          <p:sp>
            <p:nvSpPr>
              <p:cNvPr id="219" name="Text Box 98"/>
              <p:cNvSpPr txBox="1"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5185921" y="4849088"/>
                <a:ext cx="2119250" cy="483649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>
                <a:prstShdw prst="shdw18" dist="17961" dir="13500000">
                  <a:schemeClr val="accent1">
                    <a:gamma/>
                    <a:shade val="60000"/>
                    <a:invGamma/>
                  </a:schemeClr>
                </a:prstShdw>
              </a:effectLst>
            </p:spPr>
            <p:txBody>
              <a:bodyPr lIns="0" tIns="0" rIns="0" bIns="0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ts val="360"/>
                  </a:spcBef>
                  <a:buSzPct val="80000"/>
                  <a:buNone/>
                  <a:defRPr/>
                </a:pP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성능저하의 정확한 원인분석을 통한 시스템 조정</a:t>
                </a:r>
                <a:r>
                  <a:rPr kumimoji="0" lang="en-US" altLang="ko-KR" sz="1000" b="1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ko-KR" altLang="en-US" sz="1000" b="1" dirty="0">
                    <a:solidFill>
                      <a:srgbClr val="000000"/>
                    </a:solidFill>
                    <a:latin typeface="+mn-ea"/>
                  </a:rPr>
                  <a:t>튜닝</a:t>
                </a:r>
                <a:r>
                  <a:rPr kumimoji="0" lang="en-US" altLang="ko-KR" sz="1000" b="1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kumimoji="0" lang="ko-KR" altLang="en-US" sz="1000" b="1" dirty="0">
                    <a:latin typeface="+mn-ea"/>
                  </a:rPr>
                  <a:t>필요 </a:t>
                </a:r>
                <a:r>
                  <a:rPr lang="ko-KR" altLang="en-US" sz="1000" b="1" dirty="0">
                    <a:latin typeface="+mn-ea"/>
                  </a:rPr>
                  <a:t>시 성능 전문가 기술 지원</a:t>
                </a:r>
              </a:p>
            </p:txBody>
          </p:sp>
          <p:sp>
            <p:nvSpPr>
              <p:cNvPr id="220" name="Rectangle 100"/>
              <p:cNvSpPr>
                <a:spLocks noChangeArrowheads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5098200" y="2137452"/>
                <a:ext cx="2159853" cy="243902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21" name="AutoShape 104"/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5149889" y="2176546"/>
                <a:ext cx="1986503" cy="164334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en-US" sz="1000" b="1" dirty="0">
                    <a:solidFill>
                      <a:srgbClr val="000000"/>
                    </a:solidFill>
                    <a:latin typeface="+mn-ea"/>
                  </a:rPr>
                  <a:t>성능관리기준 설정</a:t>
                </a:r>
              </a:p>
            </p:txBody>
          </p:sp>
          <p:sp>
            <p:nvSpPr>
              <p:cNvPr id="222" name="Rectangle 107"/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>
                <a:off x="5098199" y="3608071"/>
                <a:ext cx="2159852" cy="243902"/>
              </a:xfrm>
              <a:prstGeom prst="rect">
                <a:avLst/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wrap="square" lIns="90000" tIns="46800" rIns="90000" bIns="46800" anchor="ctr">
                <a:spAutoFit/>
              </a:bodyPr>
              <a:lstStyle/>
              <a:p>
                <a:pPr algn="ctr" latinLnBrk="0">
                  <a:buSzPct val="80000"/>
                </a:pPr>
                <a:endParaRPr lang="ko-KR" altLang="en-US" sz="105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23" name="AutoShape 111"/>
              <p:cNvSpPr>
                <a:spLocks noChangeArrowheads="1"/>
              </p:cNvSpPr>
              <p:nvPr>
                <p:custDataLst>
                  <p:tags r:id="rId11"/>
                </p:custDataLst>
              </p:nvPr>
            </p:nvSpPr>
            <p:spPr bwMode="auto">
              <a:xfrm>
                <a:off x="5149887" y="3639849"/>
                <a:ext cx="1986503" cy="164334"/>
              </a:xfrm>
              <a:prstGeom prst="roundRect">
                <a:avLst>
                  <a:gd name="adj" fmla="val 3704"/>
                </a:avLst>
              </a:prstGeom>
              <a:solidFill>
                <a:srgbClr val="B1CFFC"/>
              </a:solidFill>
              <a:ln w="9525" algn="ctr">
                <a:noFill/>
                <a:miter lim="800000"/>
                <a:headEnd/>
                <a:tailEnd/>
              </a:ln>
              <a:effectLst>
                <a:outerShdw dist="12700" dir="10800000" algn="ctr" rotWithShape="0">
                  <a:srgbClr val="674B23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 latinLnBrk="0">
                  <a:lnSpc>
                    <a:spcPct val="110000"/>
                  </a:lnSpc>
                  <a:spcBef>
                    <a:spcPct val="50000"/>
                  </a:spcBef>
                  <a:buSzPct val="80000"/>
                </a:pPr>
                <a:r>
                  <a:rPr lang="ko-KR" altLang="en-US" sz="1000" b="1" dirty="0">
                    <a:solidFill>
                      <a:srgbClr val="000000"/>
                    </a:solidFill>
                    <a:latin typeface="+mn-ea"/>
                  </a:rPr>
                  <a:t>데이터 수집</a:t>
                </a:r>
              </a:p>
            </p:txBody>
          </p:sp>
          <p:grpSp>
            <p:nvGrpSpPr>
              <p:cNvPr id="9" name="그룹 113"/>
              <p:cNvGrpSpPr/>
              <p:nvPr/>
            </p:nvGrpSpPr>
            <p:grpSpPr>
              <a:xfrm>
                <a:off x="7324313" y="2005522"/>
                <a:ext cx="2276706" cy="3438000"/>
                <a:chOff x="8106866" y="2005522"/>
                <a:chExt cx="3076630" cy="3438000"/>
              </a:xfrm>
            </p:grpSpPr>
            <p:sp>
              <p:nvSpPr>
                <p:cNvPr id="225" name="AutoShape 135"/>
                <p:cNvSpPr>
                  <a:spLocks noChangeArrowheads="1"/>
                </p:cNvSpPr>
                <p:nvPr/>
              </p:nvSpPr>
              <p:spPr bwMode="gray">
                <a:xfrm>
                  <a:off x="8106866" y="2005522"/>
                  <a:ext cx="3076630" cy="343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accent3"/>
                </a:solidFill>
                <a:ln w="12700" algn="ctr">
                  <a:noFill/>
                  <a:round/>
                  <a:headEnd/>
                  <a:tailEnd/>
                </a:ln>
                <a:effectLst/>
              </p:spPr>
              <p:txBody>
                <a:bodyPr lIns="36000" tIns="36000" rIns="36000" bIns="36000" anchor="ctr"/>
                <a:lstStyle/>
                <a:p>
                  <a:pPr defTabSz="1027113" fontAlgn="auto" latinLnBrk="0">
                    <a:spcBef>
                      <a:spcPct val="40000"/>
                    </a:spcBef>
                    <a:spcAft>
                      <a:spcPts val="0"/>
                    </a:spcAft>
                    <a:buSzPct val="80000"/>
                    <a:buNone/>
                    <a:defRPr/>
                  </a:pPr>
                  <a:endParaRPr kumimoji="0" lang="ko-KR" altLang="ko-KR" sz="1800" b="1" kern="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226" name="Line 136"/>
                <p:cNvSpPr>
                  <a:spLocks noChangeShapeType="1"/>
                </p:cNvSpPr>
                <p:nvPr/>
              </p:nvSpPr>
              <p:spPr bwMode="auto">
                <a:xfrm>
                  <a:off x="8111885" y="2005522"/>
                  <a:ext cx="0" cy="3438000"/>
                </a:xfrm>
                <a:prstGeom prst="line">
                  <a:avLst/>
                </a:prstGeom>
                <a:noFill/>
                <a:ln w="28575">
                  <a:solidFill>
                    <a:srgbClr val="D7D7D7"/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SzPct val="80000"/>
                    <a:buNone/>
                    <a:defRPr/>
                  </a:pPr>
                  <a:endParaRPr kumimoji="0" lang="ko-KR" altLang="en-US" sz="1050" b="1" kern="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227" name="Rectangle 139"/>
                <p:cNvSpPr>
                  <a:spLocks noChangeArrowheads="1"/>
                </p:cNvSpPr>
                <p:nvPr/>
              </p:nvSpPr>
              <p:spPr bwMode="auto">
                <a:xfrm>
                  <a:off x="8289035" y="2039783"/>
                  <a:ext cx="1126135" cy="520256"/>
                </a:xfrm>
                <a:prstGeom prst="rect">
                  <a:avLst/>
                </a:prstGeom>
                <a:solidFill>
                  <a:srgbClr val="508CD2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  <a:t>성능저하 감지</a:t>
                  </a:r>
                </a:p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en-US" altLang="ko-KR" sz="1000" b="1" kern="0" dirty="0">
                      <a:solidFill>
                        <a:srgbClr val="FFFFFF"/>
                      </a:solidFill>
                      <a:latin typeface="+mn-ea"/>
                    </a:rPr>
                    <a:t>/</a:t>
                  </a:r>
                  <a: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  <a:t>업무변화</a:t>
                  </a:r>
                </a:p>
              </p:txBody>
            </p:sp>
            <p:sp>
              <p:nvSpPr>
                <p:cNvPr id="228" name="Rectangle 140"/>
                <p:cNvSpPr>
                  <a:spLocks noChangeArrowheads="1"/>
                </p:cNvSpPr>
                <p:nvPr/>
              </p:nvSpPr>
              <p:spPr bwMode="auto">
                <a:xfrm>
                  <a:off x="8289035" y="2813381"/>
                  <a:ext cx="1126135" cy="356970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수집된 데이터 분석</a:t>
                  </a:r>
                </a:p>
              </p:txBody>
            </p:sp>
            <p:sp>
              <p:nvSpPr>
                <p:cNvPr id="229" name="Rectangle 141"/>
                <p:cNvSpPr>
                  <a:spLocks noChangeArrowheads="1"/>
                </p:cNvSpPr>
                <p:nvPr/>
              </p:nvSpPr>
              <p:spPr bwMode="auto">
                <a:xfrm>
                  <a:off x="8289035" y="3407408"/>
                  <a:ext cx="1126135" cy="289388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문제영역 식별</a:t>
                  </a:r>
                </a:p>
              </p:txBody>
            </p:sp>
            <p:sp>
              <p:nvSpPr>
                <p:cNvPr id="230" name="AutoShape 142"/>
                <p:cNvSpPr>
                  <a:spLocks noChangeArrowheads="1"/>
                </p:cNvSpPr>
                <p:nvPr/>
              </p:nvSpPr>
              <p:spPr bwMode="auto">
                <a:xfrm>
                  <a:off x="8336877" y="3981024"/>
                  <a:ext cx="1030450" cy="407223"/>
                </a:xfrm>
                <a:prstGeom prst="flowChartDecision">
                  <a:avLst/>
                </a:prstGeom>
                <a:solidFill>
                  <a:srgbClr val="508CD2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  <a:t>원인</a:t>
                  </a:r>
                  <a:b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</a:br>
                  <a: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  <a:t>분석</a:t>
                  </a:r>
                </a:p>
              </p:txBody>
            </p:sp>
            <p:cxnSp>
              <p:nvCxnSpPr>
                <p:cNvPr id="231" name="AutoShape 143"/>
                <p:cNvCxnSpPr>
                  <a:cxnSpLocks noChangeShapeType="1"/>
                  <a:stCxn id="227" idx="2"/>
                  <a:endCxn id="228" idx="0"/>
                </p:cNvCxnSpPr>
                <p:nvPr/>
              </p:nvCxnSpPr>
              <p:spPr bwMode="auto">
                <a:xfrm>
                  <a:off x="8852103" y="2560039"/>
                  <a:ext cx="0" cy="253342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cxnSp>
              <p:nvCxnSpPr>
                <p:cNvPr id="232" name="AutoShape 144"/>
                <p:cNvCxnSpPr>
                  <a:cxnSpLocks noChangeShapeType="1"/>
                  <a:stCxn id="228" idx="2"/>
                  <a:endCxn id="229" idx="0"/>
                </p:cNvCxnSpPr>
                <p:nvPr/>
              </p:nvCxnSpPr>
              <p:spPr bwMode="auto">
                <a:xfrm>
                  <a:off x="8852103" y="3170351"/>
                  <a:ext cx="0" cy="237057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cxnSp>
              <p:nvCxnSpPr>
                <p:cNvPr id="233" name="AutoShape 145"/>
                <p:cNvCxnSpPr>
                  <a:cxnSpLocks noChangeShapeType="1"/>
                  <a:stCxn id="229" idx="2"/>
                  <a:endCxn id="230" idx="0"/>
                </p:cNvCxnSpPr>
                <p:nvPr/>
              </p:nvCxnSpPr>
              <p:spPr bwMode="auto">
                <a:xfrm flipH="1">
                  <a:off x="8852102" y="3696796"/>
                  <a:ext cx="1" cy="284228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cxnSp>
              <p:nvCxnSpPr>
                <p:cNvPr id="234" name="AutoShape 146"/>
                <p:cNvCxnSpPr>
                  <a:cxnSpLocks noChangeShapeType="1"/>
                  <a:stCxn id="230" idx="2"/>
                  <a:endCxn id="241" idx="0"/>
                </p:cNvCxnSpPr>
                <p:nvPr/>
              </p:nvCxnSpPr>
              <p:spPr bwMode="auto">
                <a:xfrm>
                  <a:off x="8852102" y="4388247"/>
                  <a:ext cx="1" cy="206172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sp>
              <p:nvSpPr>
                <p:cNvPr id="235" name="Rectangle 147"/>
                <p:cNvSpPr>
                  <a:spLocks noChangeArrowheads="1"/>
                </p:cNvSpPr>
                <p:nvPr/>
              </p:nvSpPr>
              <p:spPr bwMode="auto">
                <a:xfrm>
                  <a:off x="9952476" y="3085095"/>
                  <a:ext cx="1126135" cy="292854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자원 증설 고려</a:t>
                  </a:r>
                </a:p>
              </p:txBody>
            </p:sp>
            <p:sp>
              <p:nvSpPr>
                <p:cNvPr id="236" name="Rectangle 148"/>
                <p:cNvSpPr>
                  <a:spLocks noChangeArrowheads="1"/>
                </p:cNvSpPr>
                <p:nvPr/>
              </p:nvSpPr>
              <p:spPr bwMode="auto">
                <a:xfrm>
                  <a:off x="9952476" y="3644810"/>
                  <a:ext cx="1126135" cy="356970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결과보고 및 공지</a:t>
                  </a:r>
                </a:p>
              </p:txBody>
            </p:sp>
            <p:sp>
              <p:nvSpPr>
                <p:cNvPr id="237" name="AutoShape 149"/>
                <p:cNvSpPr>
                  <a:spLocks noChangeArrowheads="1"/>
                </p:cNvSpPr>
                <p:nvPr/>
              </p:nvSpPr>
              <p:spPr bwMode="auto">
                <a:xfrm>
                  <a:off x="10000318" y="4233984"/>
                  <a:ext cx="1028610" cy="405490"/>
                </a:xfrm>
                <a:prstGeom prst="flowChartDecision">
                  <a:avLst/>
                </a:prstGeom>
                <a:solidFill>
                  <a:srgbClr val="508CD2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FFFFFF"/>
                      </a:solidFill>
                      <a:latin typeface="+mn-ea"/>
                    </a:rPr>
                    <a:t>효과 파악</a:t>
                  </a:r>
                </a:p>
              </p:txBody>
            </p:sp>
            <p:cxnSp>
              <p:nvCxnSpPr>
                <p:cNvPr id="238" name="AutoShape 150"/>
                <p:cNvCxnSpPr>
                  <a:cxnSpLocks noChangeShapeType="1"/>
                  <a:stCxn id="237" idx="0"/>
                  <a:endCxn id="236" idx="2"/>
                </p:cNvCxnSpPr>
                <p:nvPr/>
              </p:nvCxnSpPr>
              <p:spPr bwMode="auto">
                <a:xfrm flipH="1" flipV="1">
                  <a:off x="10513703" y="4001780"/>
                  <a:ext cx="1840" cy="232204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cxnSp>
              <p:nvCxnSpPr>
                <p:cNvPr id="239" name="AutoShape 151"/>
                <p:cNvCxnSpPr>
                  <a:cxnSpLocks noChangeShapeType="1"/>
                  <a:stCxn id="230" idx="3"/>
                  <a:endCxn id="235" idx="1"/>
                </p:cNvCxnSpPr>
                <p:nvPr/>
              </p:nvCxnSpPr>
              <p:spPr bwMode="auto">
                <a:xfrm flipV="1">
                  <a:off x="9367327" y="3231522"/>
                  <a:ext cx="585149" cy="953114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>
                  <a:solidFill>
                    <a:srgbClr val="5F5F5F"/>
                  </a:solidFill>
                  <a:miter lim="800000"/>
                  <a:headEnd/>
                  <a:tailEnd type="triangle" w="med" len="med"/>
                </a:ln>
              </p:spPr>
            </p:cxnSp>
            <p:cxnSp>
              <p:nvCxnSpPr>
                <p:cNvPr id="240" name="AutoShape 152"/>
                <p:cNvCxnSpPr>
                  <a:cxnSpLocks noChangeShapeType="1"/>
                  <a:stCxn id="237" idx="1"/>
                  <a:endCxn id="229" idx="3"/>
                </p:cNvCxnSpPr>
                <p:nvPr/>
              </p:nvCxnSpPr>
              <p:spPr bwMode="auto">
                <a:xfrm rot="10800000">
                  <a:off x="9415170" y="3552968"/>
                  <a:ext cx="585149" cy="883760"/>
                </a:xfrm>
                <a:prstGeom prst="bentConnector3">
                  <a:avLst>
                    <a:gd name="adj1" fmla="val 43537"/>
                  </a:avLst>
                </a:prstGeom>
                <a:noFill/>
                <a:ln w="9525">
                  <a:solidFill>
                    <a:srgbClr val="5F5F5F"/>
                  </a:solidFill>
                  <a:miter lim="800000"/>
                  <a:headEnd/>
                  <a:tailEnd type="triangle" w="med" len="med"/>
                </a:ln>
              </p:spPr>
            </p:cxnSp>
            <p:sp>
              <p:nvSpPr>
                <p:cNvPr id="241" name="Rectangle 153"/>
                <p:cNvSpPr>
                  <a:spLocks noChangeArrowheads="1"/>
                </p:cNvSpPr>
                <p:nvPr/>
              </p:nvSpPr>
              <p:spPr bwMode="auto">
                <a:xfrm>
                  <a:off x="8289035" y="4594419"/>
                  <a:ext cx="1126135" cy="292854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조정항목 선정</a:t>
                  </a:r>
                </a:p>
              </p:txBody>
            </p:sp>
            <p:sp>
              <p:nvSpPr>
                <p:cNvPr id="242" name="Rectangle 154"/>
                <p:cNvSpPr>
                  <a:spLocks noChangeArrowheads="1"/>
                </p:cNvSpPr>
                <p:nvPr/>
              </p:nvSpPr>
              <p:spPr bwMode="auto">
                <a:xfrm>
                  <a:off x="9952476" y="4921930"/>
                  <a:ext cx="1126135" cy="289388"/>
                </a:xfrm>
                <a:prstGeom prst="rect">
                  <a:avLst/>
                </a:prstGeom>
                <a:solidFill>
                  <a:srgbClr val="FFFFFF"/>
                </a:solidFill>
                <a:ln w="6350" algn="ctr">
                  <a:solidFill>
                    <a:srgbClr val="29618F"/>
                  </a:solidFill>
                  <a:miter lim="800000"/>
                  <a:headEnd/>
                  <a:tailEnd/>
                </a:ln>
                <a:effectLst/>
              </p:spPr>
              <p:txBody>
                <a:bodyPr lIns="54000" tIns="35995" rIns="54000" bIns="45714" anchor="ctr"/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buNone/>
                    <a:defRPr/>
                  </a:pPr>
                  <a:r>
                    <a:rPr kumimoji="0" lang="ko-KR" altLang="en-US" sz="1000" b="1" kern="0" dirty="0">
                      <a:solidFill>
                        <a:srgbClr val="003366"/>
                      </a:solidFill>
                      <a:latin typeface="+mn-ea"/>
                    </a:rPr>
                    <a:t>변경 관리</a:t>
                  </a:r>
                </a:p>
              </p:txBody>
            </p:sp>
            <p:cxnSp>
              <p:nvCxnSpPr>
                <p:cNvPr id="243" name="AutoShape 155"/>
                <p:cNvCxnSpPr>
                  <a:cxnSpLocks noChangeShapeType="1"/>
                  <a:stCxn id="242" idx="0"/>
                </p:cNvCxnSpPr>
                <p:nvPr/>
              </p:nvCxnSpPr>
              <p:spPr bwMode="auto">
                <a:xfrm flipH="1" flipV="1">
                  <a:off x="10511863" y="4636008"/>
                  <a:ext cx="3680" cy="285923"/>
                </a:xfrm>
                <a:prstGeom prst="straightConnector1">
                  <a:avLst/>
                </a:prstGeom>
                <a:noFill/>
                <a:ln w="9525">
                  <a:solidFill>
                    <a:srgbClr val="5F5F5F"/>
                  </a:solidFill>
                  <a:round/>
                  <a:headEnd/>
                  <a:tailEnd type="triangle" w="med" len="med"/>
                </a:ln>
              </p:spPr>
            </p:cxnSp>
            <p:cxnSp>
              <p:nvCxnSpPr>
                <p:cNvPr id="244" name="AutoShape 156"/>
                <p:cNvCxnSpPr>
                  <a:cxnSpLocks noChangeShapeType="1"/>
                  <a:stCxn id="241" idx="2"/>
                  <a:endCxn id="242" idx="1"/>
                </p:cNvCxnSpPr>
                <p:nvPr/>
              </p:nvCxnSpPr>
              <p:spPr bwMode="auto">
                <a:xfrm rot="16200000" flipH="1">
                  <a:off x="9312181" y="4427195"/>
                  <a:ext cx="180218" cy="1100374"/>
                </a:xfrm>
                <a:prstGeom prst="bentConnector2">
                  <a:avLst/>
                </a:prstGeom>
                <a:noFill/>
                <a:ln w="12700">
                  <a:solidFill>
                    <a:srgbClr val="808080"/>
                  </a:solidFill>
                  <a:miter lim="800000"/>
                  <a:headEnd/>
                  <a:tailEnd type="stealth" w="sm" len="med"/>
                </a:ln>
              </p:spPr>
            </p:cxnSp>
            <p:sp>
              <p:nvSpPr>
                <p:cNvPr id="245" name="Text Box 157"/>
                <p:cNvSpPr txBox="1">
                  <a:spLocks noChangeArrowheads="1"/>
                </p:cNvSpPr>
                <p:nvPr/>
              </p:nvSpPr>
              <p:spPr bwMode="auto">
                <a:xfrm>
                  <a:off x="8226149" y="4369181"/>
                  <a:ext cx="621851" cy="152423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 anchor="ctr">
                  <a:spAutoFit/>
                </a:bodyPr>
                <a:lstStyle/>
                <a:p>
                  <a:pPr fontAlgn="auto">
                    <a:lnSpc>
                      <a:spcPct val="13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조정 가능</a:t>
                  </a:r>
                </a:p>
              </p:txBody>
            </p:sp>
            <p:sp>
              <p:nvSpPr>
                <p:cNvPr id="246" name="Text Box 158"/>
                <p:cNvSpPr txBox="1">
                  <a:spLocks noChangeArrowheads="1"/>
                </p:cNvSpPr>
                <p:nvPr/>
              </p:nvSpPr>
              <p:spPr bwMode="auto">
                <a:xfrm>
                  <a:off x="9215000" y="3790495"/>
                  <a:ext cx="427941" cy="257946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 anchor="ctr">
                  <a:spAutoFit/>
                </a:bodyPr>
                <a:lstStyle/>
                <a:p>
                  <a:pPr algn="ctr" fontAlgn="auto">
                    <a:lnSpc>
                      <a:spcPct val="11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조정</a:t>
                  </a:r>
                </a:p>
                <a:p>
                  <a:pPr algn="ctr" fontAlgn="auto">
                    <a:lnSpc>
                      <a:spcPct val="11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불가능</a:t>
                  </a:r>
                </a:p>
              </p:txBody>
            </p:sp>
            <p:sp>
              <p:nvSpPr>
                <p:cNvPr id="247" name="Text Box 159"/>
                <p:cNvSpPr txBox="1">
                  <a:spLocks noChangeArrowheads="1"/>
                </p:cNvSpPr>
                <p:nvPr/>
              </p:nvSpPr>
              <p:spPr bwMode="auto">
                <a:xfrm>
                  <a:off x="8730448" y="5084448"/>
                  <a:ext cx="1152319" cy="128973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 anchor="ctr">
                  <a:spAutoFit/>
                </a:bodyPr>
                <a:lstStyle/>
                <a:p>
                  <a:pPr algn="ctr" fontAlgn="auto">
                    <a:lnSpc>
                      <a:spcPct val="11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시스템 조정</a:t>
                  </a:r>
                  <a:r>
                    <a:rPr kumimoji="0" lang="en-US" altLang="ko-KR" sz="800" b="1" kern="0" dirty="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튜닝</a:t>
                  </a:r>
                  <a:r>
                    <a:rPr kumimoji="0" lang="en-US" altLang="ko-KR" sz="800" b="1" kern="0" dirty="0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248" name="Text Box 160"/>
                <p:cNvSpPr txBox="1">
                  <a:spLocks noChangeArrowheads="1"/>
                </p:cNvSpPr>
                <p:nvPr/>
              </p:nvSpPr>
              <p:spPr bwMode="auto">
                <a:xfrm>
                  <a:off x="9644129" y="4489972"/>
                  <a:ext cx="427941" cy="128973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 anchor="ctr">
                  <a:spAutoFit/>
                </a:bodyPr>
                <a:lstStyle/>
                <a:p>
                  <a:pPr algn="ctr" fontAlgn="auto">
                    <a:lnSpc>
                      <a:spcPct val="11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부적합</a:t>
                  </a:r>
                </a:p>
              </p:txBody>
            </p:sp>
            <p:sp>
              <p:nvSpPr>
                <p:cNvPr id="249" name="Text Box 161"/>
                <p:cNvSpPr txBox="1">
                  <a:spLocks noChangeArrowheads="1"/>
                </p:cNvSpPr>
                <p:nvPr/>
              </p:nvSpPr>
              <p:spPr bwMode="auto">
                <a:xfrm>
                  <a:off x="10603617" y="4098449"/>
                  <a:ext cx="285294" cy="128973"/>
                </a:xfrm>
                <a:prstGeom prst="rect">
                  <a:avLst/>
                </a:prstGeom>
                <a:noFill/>
                <a:ln w="12700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 anchor="ctr">
                  <a:spAutoFit/>
                </a:bodyPr>
                <a:lstStyle/>
                <a:p>
                  <a:pPr algn="ctr" fontAlgn="auto">
                    <a:lnSpc>
                      <a:spcPct val="11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ct val="80000"/>
                    <a:buNone/>
                    <a:defRPr/>
                  </a:pPr>
                  <a:r>
                    <a:rPr kumimoji="0" lang="ko-KR" altLang="en-US" sz="800" b="1" kern="0" dirty="0">
                      <a:solidFill>
                        <a:srgbClr val="000000"/>
                      </a:solidFill>
                      <a:latin typeface="+mn-ea"/>
                    </a:rPr>
                    <a:t>적합</a:t>
                  </a:r>
                </a:p>
              </p:txBody>
            </p:sp>
          </p:grpSp>
        </p:grpSp>
        <p:sp>
          <p:nvSpPr>
            <p:cNvPr id="209" name="직사각형 208"/>
            <p:cNvSpPr/>
            <p:nvPr/>
          </p:nvSpPr>
          <p:spPr bwMode="auto">
            <a:xfrm>
              <a:off x="5046333" y="1599358"/>
              <a:ext cx="4671581" cy="324000"/>
            </a:xfrm>
            <a:prstGeom prst="rect">
              <a:avLst/>
            </a:pr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성능관리 기능</a:t>
              </a:r>
            </a:p>
          </p:txBody>
        </p:sp>
        <p:sp>
          <p:nvSpPr>
            <p:cNvPr id="210" name="직사각형 209"/>
            <p:cNvSpPr/>
            <p:nvPr/>
          </p:nvSpPr>
          <p:spPr bwMode="auto">
            <a:xfrm>
              <a:off x="272480" y="1599358"/>
              <a:ext cx="4587815" cy="324000"/>
            </a:xfrm>
            <a:prstGeom prst="rect">
              <a:avLst/>
            </a:pr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FontTx/>
                <a:buNone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ea"/>
                </a:rPr>
                <a:t>시스템모니터링 기능</a:t>
              </a:r>
            </a:p>
          </p:txBody>
        </p:sp>
        <p:sp>
          <p:nvSpPr>
            <p:cNvPr id="211" name="Rectangle 79"/>
            <p:cNvSpPr>
              <a:spLocks noChangeArrowheads="1"/>
            </p:cNvSpPr>
            <p:nvPr/>
          </p:nvSpPr>
          <p:spPr bwMode="auto">
            <a:xfrm>
              <a:off x="369217" y="5684109"/>
              <a:ext cx="4407596" cy="595358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175" cap="flat" cmpd="sng" algn="ctr">
              <a:solidFill>
                <a:srgbClr val="FFFFFF">
                  <a:lumMod val="8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eaLnBrk="1" fontAlgn="auto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서버모니터링 ∙ 튜닝기능과 네트워크 모니터링 ∙ 튜닝기능을 주로 실시</a:t>
              </a:r>
            </a:p>
          </p:txBody>
        </p:sp>
        <p:sp>
          <p:nvSpPr>
            <p:cNvPr id="212" name="Rectangle 79"/>
            <p:cNvSpPr>
              <a:spLocks noChangeArrowheads="1"/>
            </p:cNvSpPr>
            <p:nvPr/>
          </p:nvSpPr>
          <p:spPr bwMode="auto">
            <a:xfrm>
              <a:off x="5132471" y="5702408"/>
              <a:ext cx="4493276" cy="595358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3175" cap="flat" cmpd="sng" algn="ctr">
              <a:solidFill>
                <a:srgbClr val="FFFFFF">
                  <a:lumMod val="85000"/>
                </a:srgb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eaLnBrk="1" fontAlgn="auto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000000"/>
                </a:buClr>
                <a:buFont typeface="Wingdings" panose="05000000000000000000" pitchFamily="2" charset="2"/>
                <a:buChar char="§"/>
              </a:pPr>
              <a:r>
                <a:rPr lang="ko-KR" altLang="en-US" sz="1000" b="1" kern="0" dirty="0" err="1">
                  <a:solidFill>
                    <a:sysClr val="windowText" lastClr="000000"/>
                  </a:solidFill>
                  <a:latin typeface="+mn-ea"/>
                </a:rPr>
                <a:t>자원별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 가동현황에 대한 실시간 성능 감시 체계 구축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시스템 모니터링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(CPU,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메모리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디스크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)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주요 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Application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서버의 실시간 성능 감시 기능</a:t>
              </a:r>
              <a:r>
                <a:rPr lang="en-US" altLang="ko-KR" sz="1000" b="1" kern="0" dirty="0">
                  <a:solidFill>
                    <a:sysClr val="windowText" lastClr="000000"/>
                  </a:solidFill>
                  <a:latin typeface="+mn-ea"/>
                </a:rPr>
                <a:t>, </a:t>
              </a:r>
              <a:r>
                <a:rPr lang="ko-KR" altLang="en-US" sz="1000" b="1" kern="0" dirty="0">
                  <a:solidFill>
                    <a:sysClr val="windowText" lastClr="000000"/>
                  </a:solidFill>
                  <a:latin typeface="+mn-ea"/>
                </a:rPr>
                <a:t>통계 및 분석 보고서 추출</a:t>
              </a:r>
            </a:p>
          </p:txBody>
        </p:sp>
      </p:grpSp>
      <p:graphicFrame>
        <p:nvGraphicFramePr>
          <p:cNvPr id="275" name="Group 1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56836"/>
              </p:ext>
            </p:extLst>
          </p:nvPr>
        </p:nvGraphicFramePr>
        <p:xfrm>
          <a:off x="5037708" y="2749337"/>
          <a:ext cx="2088232" cy="797273"/>
        </p:xfrm>
        <a:graphic>
          <a:graphicData uri="http://schemas.openxmlformats.org/drawingml/2006/table">
            <a:tbl>
              <a:tblPr/>
              <a:tblGrid>
                <a:gridCol w="33725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994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195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28618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구분</a:t>
                      </a:r>
                    </a:p>
                  </a:txBody>
                  <a:tcPr marL="0" marR="0" marT="0" marB="0" anchor="ctr" anchorCtr="1" horzOverflow="overflow">
                    <a:lnL cap="flat">
                      <a:noFill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7FA9C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관리항목</a:t>
                      </a:r>
                    </a:p>
                  </a:txBody>
                  <a:tcPr marL="0" marR="0" marT="0" marB="0" anchor="ctr" anchorCtr="1" horzOverflow="overflow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7FA9C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기준치</a:t>
                      </a:r>
                    </a:p>
                  </a:txBody>
                  <a:tcPr marL="0" marR="0" marT="0" marB="0" anchor="ctr" anchorCtr="1" horzOverflow="overflow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7FA9C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허용치</a:t>
                      </a:r>
                    </a:p>
                  </a:txBody>
                  <a:tcPr marL="0" marR="0" marT="0" marB="0" anchor="ctr" anchorCtr="1" horzOverflow="overflow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7FA9C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8016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CPU</a:t>
                      </a:r>
                    </a:p>
                  </a:txBody>
                  <a:tcPr marL="0" marR="0" marT="0" marB="0" anchor="ctr" anchorCtr="1" horzOverflow="overflow">
                    <a:lnL cap="flat">
                      <a:noFill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Peak Time </a:t>
                      </a: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사용률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70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65~70%</a:t>
                      </a:r>
                      <a:endParaRPr lang="ko-KR" sz="70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최소</a:t>
                      </a: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 45%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최대</a:t>
                      </a: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 85%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45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메모리</a:t>
                      </a:r>
                    </a:p>
                  </a:txBody>
                  <a:tcPr marL="0" marR="0" marT="0" marB="0" anchor="ctr" anchorCtr="1" horzOverflow="overflow">
                    <a:lnL cap="flat">
                      <a:noFill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평균 사용률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40~60%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최소</a:t>
                      </a:r>
                      <a:r>
                        <a:rPr lang="en-US" sz="70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 30%</a:t>
                      </a:r>
                      <a:endParaRPr lang="ko-KR" sz="700"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최대 </a:t>
                      </a:r>
                      <a:r>
                        <a:rPr lang="en-US" sz="70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80%</a:t>
                      </a:r>
                      <a:endParaRPr lang="ko-KR" sz="70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8618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산돌고딕 M"/>
                          <a:ea typeface="산돌고딕 M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1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나눔고딕 Bold" pitchFamily="50" charset="-127"/>
                          <a:ea typeface="나눔고딕 Bold" pitchFamily="50" charset="-127"/>
                        </a:rPr>
                        <a:t>디스크</a:t>
                      </a:r>
                    </a:p>
                  </a:txBody>
                  <a:tcPr marL="0" marR="0" marT="0" marB="0" anchor="ctr" anchorCtr="1" horzOverflow="overflow">
                    <a:lnL cap="flat">
                      <a:noFill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평균 사용률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40~60%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최소</a:t>
                      </a: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 30%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</a:endParaRPr>
                    </a:p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ko-KR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최대</a:t>
                      </a:r>
                      <a:r>
                        <a:rPr lang="en-US" sz="700" dirty="0">
                          <a:effectLst/>
                          <a:latin typeface="나눔고딕" pitchFamily="50" charset="-127"/>
                          <a:ea typeface="나눔고딕" pitchFamily="50" charset="-127"/>
                        </a:rPr>
                        <a:t> 80%</a:t>
                      </a:r>
                      <a:endParaRPr lang="ko-KR" sz="700" dirty="0">
                        <a:effectLst/>
                        <a:latin typeface="나눔고딕" pitchFamily="50" charset="-127"/>
                        <a:ea typeface="나눔고딕" pitchFamily="50" charset="-127"/>
                        <a:cs typeface="굴림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635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77777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시스템 변경작업 발생시 과정 및 결과를 관리하여</a:t>
            </a:r>
            <a:r>
              <a:rPr lang="en-US" altLang="ko-KR" sz="1600" dirty="0"/>
              <a:t> </a:t>
            </a:r>
            <a:r>
              <a:rPr lang="ko-KR" altLang="en-US" sz="1600" dirty="0"/>
              <a:t>현 시스템의 구성 현황 및 변경 이력 등이 용이하도록 하고</a:t>
            </a:r>
            <a:r>
              <a:rPr lang="en-US" altLang="ko-KR" sz="1600" dirty="0"/>
              <a:t>, </a:t>
            </a:r>
            <a:r>
              <a:rPr lang="ko-KR" altLang="en-US" sz="1600" dirty="0"/>
              <a:t>장애 발생 시 신속하게 대응하기 위해 비상연락체계를 구축하고 장애이력을 관리함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운영</a:t>
            </a:r>
            <a:r>
              <a:rPr lang="en-US" altLang="ko-KR" dirty="0"/>
              <a:t>·</a:t>
            </a:r>
            <a:r>
              <a:rPr lang="ko-KR" altLang="en-US" dirty="0"/>
              <a:t>관리 기능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194" name="Rectangle 34"/>
          <p:cNvSpPr>
            <a:spLocks noChangeArrowheads="1"/>
          </p:cNvSpPr>
          <p:nvPr/>
        </p:nvSpPr>
        <p:spPr bwMode="gray">
          <a:xfrm>
            <a:off x="4964229" y="1817311"/>
            <a:ext cx="4532390" cy="4487817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>
              <a:lnSpc>
                <a:spcPct val="100000"/>
              </a:lnSpc>
              <a:spcBef>
                <a:spcPts val="1200"/>
              </a:spcBef>
              <a:buClr>
                <a:prstClr val="black"/>
              </a:buClr>
              <a:buFontTx/>
              <a:buNone/>
            </a:pPr>
            <a:endParaRPr lang="ko-KR" altLang="en-US" sz="1400" b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6" name="Rectangle 34"/>
          <p:cNvSpPr>
            <a:spLocks noChangeArrowheads="1"/>
          </p:cNvSpPr>
          <p:nvPr/>
        </p:nvSpPr>
        <p:spPr bwMode="gray">
          <a:xfrm>
            <a:off x="324240" y="1817311"/>
            <a:ext cx="4451120" cy="4487817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>
              <a:lnSpc>
                <a:spcPct val="100000"/>
              </a:lnSpc>
              <a:spcBef>
                <a:spcPts val="1200"/>
              </a:spcBef>
              <a:buClr>
                <a:prstClr val="black"/>
              </a:buClr>
              <a:buFontTx/>
              <a:buNone/>
            </a:pPr>
            <a:endParaRPr lang="ko-KR" altLang="en-US" sz="1400" b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0" name="Line 76"/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72052" y="5518016"/>
            <a:ext cx="2117336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53" name="Line 76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472052" y="1964356"/>
            <a:ext cx="2117336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n-ea"/>
            </a:endParaRPr>
          </a:p>
        </p:txBody>
      </p:sp>
      <p:grpSp>
        <p:nvGrpSpPr>
          <p:cNvPr id="5" name="Group 77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2551618" y="1944009"/>
            <a:ext cx="2152885" cy="3575054"/>
            <a:chOff x="2839" y="1637"/>
            <a:chExt cx="1226" cy="1700"/>
          </a:xfrm>
        </p:grpSpPr>
        <p:sp>
          <p:nvSpPr>
            <p:cNvPr id="273" name="AutoShape 78"/>
            <p:cNvSpPr>
              <a:spLocks noChangeArrowheads="1"/>
            </p:cNvSpPr>
            <p:nvPr/>
          </p:nvSpPr>
          <p:spPr bwMode="gray">
            <a:xfrm>
              <a:off x="2839" y="1637"/>
              <a:ext cx="1226" cy="1700"/>
            </a:xfrm>
            <a:prstGeom prst="roundRect">
              <a:avLst>
                <a:gd name="adj" fmla="val 0"/>
              </a:avLst>
            </a:prstGeom>
            <a:solidFill>
              <a:schemeClr val="accent3"/>
            </a:solidFill>
            <a:ln w="12700" algn="ctr">
              <a:noFill/>
              <a:round/>
              <a:headEnd/>
              <a:tailEnd/>
            </a:ln>
          </p:spPr>
          <p:txBody>
            <a:bodyPr lIns="36000" tIns="36000" rIns="36000" bIns="36000" anchor="ctr"/>
            <a:lstStyle/>
            <a:p>
              <a:pPr defTabSz="1027113" latinLnBrk="0">
                <a:spcBef>
                  <a:spcPct val="40000"/>
                </a:spcBef>
                <a:buSzPct val="80000"/>
                <a:buNone/>
              </a:pPr>
              <a:endParaRPr lang="ko-KR" altLang="ko-KR" sz="18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74" name="Line 79"/>
            <p:cNvSpPr>
              <a:spLocks noChangeShapeType="1"/>
            </p:cNvSpPr>
            <p:nvPr/>
          </p:nvSpPr>
          <p:spPr bwMode="auto">
            <a:xfrm>
              <a:off x="2841" y="1637"/>
              <a:ext cx="0" cy="1700"/>
            </a:xfrm>
            <a:prstGeom prst="line">
              <a:avLst/>
            </a:prstGeom>
            <a:noFill/>
            <a:ln w="28575">
              <a:solidFill>
                <a:srgbClr val="D7D7D7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buNone/>
              </a:pPr>
              <a:endParaRPr lang="ko-KR" altLang="en-US" sz="1400" b="1" dirty="0">
                <a:solidFill>
                  <a:srgbClr val="000000"/>
                </a:solidFill>
                <a:latin typeface="+mn-ea"/>
              </a:endParaRPr>
            </a:p>
          </p:txBody>
        </p:sp>
      </p:grpSp>
      <p:grpSp>
        <p:nvGrpSpPr>
          <p:cNvPr id="6" name="그룹 77"/>
          <p:cNvGrpSpPr/>
          <p:nvPr/>
        </p:nvGrpSpPr>
        <p:grpSpPr>
          <a:xfrm>
            <a:off x="473163" y="4737844"/>
            <a:ext cx="2086978" cy="704495"/>
            <a:chOff x="473163" y="4737844"/>
            <a:chExt cx="2086978" cy="704495"/>
          </a:xfrm>
        </p:grpSpPr>
        <p:sp>
          <p:nvSpPr>
            <p:cNvPr id="266" name="Rectangle 93"/>
            <p:cNvSpPr>
              <a:spLocks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473163" y="4737844"/>
              <a:ext cx="192737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67" name="AutoShape 97"/>
            <p:cNvSpPr>
              <a:spLocks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522041" y="4776207"/>
              <a:ext cx="1878498" cy="172551"/>
            </a:xfrm>
            <a:prstGeom prst="roundRect">
              <a:avLst>
                <a:gd name="adj" fmla="val 3704"/>
              </a:avLst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변경 이력관리</a:t>
              </a:r>
            </a:p>
          </p:txBody>
        </p:sp>
        <p:sp>
          <p:nvSpPr>
            <p:cNvPr id="268" name="Text Box 98"/>
            <p:cNvSpPr txBox="1">
              <a:spLocks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556114" y="5052489"/>
              <a:ext cx="2004027" cy="3898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변경관리에 대한 이력관리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정기 변경관리 시 활용 </a:t>
              </a:r>
            </a:p>
          </p:txBody>
        </p:sp>
      </p:grpSp>
      <p:grpSp>
        <p:nvGrpSpPr>
          <p:cNvPr id="7" name="그룹 78"/>
          <p:cNvGrpSpPr/>
          <p:nvPr/>
        </p:nvGrpSpPr>
        <p:grpSpPr>
          <a:xfrm>
            <a:off x="473163" y="2089770"/>
            <a:ext cx="2060682" cy="1104937"/>
            <a:chOff x="473163" y="2089770"/>
            <a:chExt cx="2060682" cy="1104937"/>
          </a:xfrm>
        </p:grpSpPr>
        <p:sp>
          <p:nvSpPr>
            <p:cNvPr id="251" name="Text Box 105"/>
            <p:cNvSpPr txBox="1">
              <a:spLocks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529818" y="2415006"/>
              <a:ext cx="2004027" cy="77970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정기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/</a:t>
              </a:r>
              <a:r>
                <a:rPr lang="ko-KR" altLang="en-US" sz="1000" b="1" dirty="0" err="1">
                  <a:solidFill>
                    <a:srgbClr val="000000"/>
                  </a:solidFill>
                  <a:latin typeface="+mn-ea"/>
                </a:rPr>
                <a:t>비정기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 변경작업 목록 관리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법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·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제도 변경 등으로 발생하는 정기 변경관리 작업에 대한 관리 지원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변경관리 적용 프로세스 준수</a:t>
              </a:r>
            </a:p>
          </p:txBody>
        </p:sp>
        <p:sp>
          <p:nvSpPr>
            <p:cNvPr id="269" name="Rectangle 100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473163" y="2089770"/>
              <a:ext cx="192737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  <a:buNone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70" name="AutoShape 104"/>
            <p:cNvSpPr>
              <a:spLocks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522041" y="2130827"/>
              <a:ext cx="1908000" cy="172551"/>
            </a:xfrm>
            <a:prstGeom prst="roundRect">
              <a:avLst>
                <a:gd name="adj" fmla="val 3704"/>
              </a:avLst>
            </a:prstGeom>
            <a:noFill/>
            <a:ln w="9525" algn="ctr">
              <a:noFill/>
              <a:round/>
              <a:headEnd type="none" w="sm" len="sm"/>
              <a:tailEnd type="none" w="sm" len="sm"/>
            </a:ln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  <a:buNone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구성 및 변경관리 절차 수립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/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적용</a:t>
              </a:r>
            </a:p>
          </p:txBody>
        </p:sp>
      </p:grpSp>
      <p:grpSp>
        <p:nvGrpSpPr>
          <p:cNvPr id="8" name="그룹 76"/>
          <p:cNvGrpSpPr/>
          <p:nvPr/>
        </p:nvGrpSpPr>
        <p:grpSpPr>
          <a:xfrm>
            <a:off x="473163" y="3264650"/>
            <a:ext cx="2060682" cy="1366054"/>
            <a:chOff x="473163" y="3264650"/>
            <a:chExt cx="2060682" cy="1366054"/>
          </a:xfrm>
        </p:grpSpPr>
        <p:sp>
          <p:nvSpPr>
            <p:cNvPr id="252" name="Text Box 112"/>
            <p:cNvSpPr txBox="1"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529818" y="3563745"/>
              <a:ext cx="2004027" cy="106695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형상관리 대상 프로그램에 대해 사전 시험 환경을 통한</a:t>
              </a:r>
              <a:br>
                <a:rPr lang="ko-KR" altLang="en-US" sz="1000" b="1" dirty="0">
                  <a:solidFill>
                    <a:srgbClr val="000000"/>
                  </a:solidFill>
                  <a:latin typeface="+mn-ea"/>
                </a:rPr>
              </a:b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검증 후 운영환경 적용 지원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시스템운영자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개발자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)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에 의한 변경프로그램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소스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) 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배포 지원 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시스템관리자 승인 후</a:t>
              </a:r>
              <a:r>
                <a:rPr lang="en-US" altLang="ko-KR" sz="1000" b="1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Rectangle 107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473163" y="3264650"/>
              <a:ext cx="192737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72" name="AutoShape 111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522041" y="3308397"/>
              <a:ext cx="1878498" cy="172551"/>
            </a:xfrm>
            <a:prstGeom prst="roundRect">
              <a:avLst>
                <a:gd name="adj" fmla="val 3704"/>
              </a:avLst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변경사항 검증 프로세스</a:t>
              </a:r>
            </a:p>
          </p:txBody>
        </p:sp>
      </p:grpSp>
      <p:sp>
        <p:nvSpPr>
          <p:cNvPr id="213" name="Line 76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5032401" y="5518016"/>
            <a:ext cx="2176151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16" name="Line 76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5032401" y="1939873"/>
            <a:ext cx="2176151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n-ea"/>
            </a:endParaRPr>
          </a:p>
        </p:txBody>
      </p:sp>
      <p:grpSp>
        <p:nvGrpSpPr>
          <p:cNvPr id="9" name="그룹 100"/>
          <p:cNvGrpSpPr/>
          <p:nvPr/>
        </p:nvGrpSpPr>
        <p:grpSpPr>
          <a:xfrm>
            <a:off x="5033542" y="4293096"/>
            <a:ext cx="2144950" cy="1080433"/>
            <a:chOff x="5033542" y="4540609"/>
            <a:chExt cx="2144950" cy="1080433"/>
          </a:xfrm>
        </p:grpSpPr>
        <p:sp>
          <p:nvSpPr>
            <p:cNvPr id="217" name="Rectangle 93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5033542" y="4540609"/>
              <a:ext cx="209915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18" name="AutoShape 97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5083778" y="4578938"/>
              <a:ext cx="1930678" cy="172551"/>
            </a:xfrm>
            <a:prstGeom prst="roundRect">
              <a:avLst>
                <a:gd name="adj" fmla="val 3704"/>
              </a:avLst>
            </a:prstGeom>
            <a:noFill/>
            <a:ln w="9525" algn="ctr">
              <a:noFill/>
              <a:round/>
              <a:headEnd type="none" w="sm" len="sm"/>
              <a:tailEnd type="none" w="sm" len="sm"/>
            </a:ln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  <a:buNone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장애 이력 관리</a:t>
              </a:r>
            </a:p>
          </p:txBody>
        </p:sp>
        <p:sp>
          <p:nvSpPr>
            <p:cNvPr id="219" name="Text Box 98"/>
            <p:cNvSpPr txBox="1"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5118798" y="4841341"/>
              <a:ext cx="2059694" cy="77970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장애 유형에 따른 </a:t>
              </a:r>
              <a:r>
                <a:rPr lang="ko-KR" altLang="en-US" sz="1000" b="1" dirty="0" err="1">
                  <a:solidFill>
                    <a:srgbClr val="000000"/>
                  </a:solidFill>
                  <a:latin typeface="+mn-ea"/>
                </a:rPr>
                <a:t>상황별</a:t>
              </a: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 조치 절차 정의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장애해결 기록정리를 통한 이력관리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SzPct val="80000"/>
                <a:buNone/>
                <a:defRPr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장애 데이터베이스화 </a:t>
              </a:r>
            </a:p>
          </p:txBody>
        </p:sp>
      </p:grpSp>
      <p:grpSp>
        <p:nvGrpSpPr>
          <p:cNvPr id="10" name="그룹 101"/>
          <p:cNvGrpSpPr/>
          <p:nvPr/>
        </p:nvGrpSpPr>
        <p:grpSpPr>
          <a:xfrm>
            <a:off x="5033542" y="2067848"/>
            <a:ext cx="2117923" cy="912251"/>
            <a:chOff x="5033542" y="2067848"/>
            <a:chExt cx="2117923" cy="912251"/>
          </a:xfrm>
        </p:grpSpPr>
        <p:sp>
          <p:nvSpPr>
            <p:cNvPr id="214" name="Text Box 105"/>
            <p:cNvSpPr txBox="1"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5091771" y="2369675"/>
              <a:ext cx="2059694" cy="61042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buNone/>
                <a:defRPr/>
              </a:pPr>
              <a:r>
                <a:rPr lang="ko-KR" altLang="en-US" sz="1000" b="1" dirty="0">
                  <a:latin typeface="+mn-ea"/>
                </a:rPr>
                <a:t>정기</a:t>
              </a:r>
              <a:r>
                <a:rPr lang="en-US" altLang="ko-KR" sz="1000" b="1" dirty="0">
                  <a:latin typeface="+mn-ea"/>
                </a:rPr>
                <a:t>/</a:t>
              </a:r>
              <a:r>
                <a:rPr lang="ko-KR" altLang="en-US" sz="1000" b="1" dirty="0">
                  <a:latin typeface="+mn-ea"/>
                </a:rPr>
                <a:t>장애 신고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None/>
                <a:defRPr/>
              </a:pPr>
              <a:r>
                <a:rPr lang="ko-KR" altLang="en-US" sz="1000" b="1" dirty="0">
                  <a:latin typeface="+mn-ea"/>
                </a:rPr>
                <a:t>콘솔 모니터링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buNone/>
                <a:defRPr/>
              </a:pPr>
              <a:r>
                <a:rPr lang="ko-KR" altLang="en-US" sz="1000" b="1" dirty="0">
                  <a:latin typeface="+mn-ea"/>
                </a:rPr>
                <a:t>시스템 변경 실패원인 파악</a:t>
              </a:r>
            </a:p>
          </p:txBody>
        </p:sp>
        <p:sp>
          <p:nvSpPr>
            <p:cNvPr id="220" name="Rectangle 100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5033542" y="2067848"/>
              <a:ext cx="209915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21" name="AutoShape 104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5083778" y="2108896"/>
              <a:ext cx="1930678" cy="172551"/>
            </a:xfrm>
            <a:prstGeom prst="roundRect">
              <a:avLst>
                <a:gd name="adj" fmla="val 3704"/>
              </a:avLst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장애 파악</a:t>
              </a:r>
            </a:p>
          </p:txBody>
        </p:sp>
      </p:grpSp>
      <p:grpSp>
        <p:nvGrpSpPr>
          <p:cNvPr id="11" name="그룹 99"/>
          <p:cNvGrpSpPr/>
          <p:nvPr/>
        </p:nvGrpSpPr>
        <p:grpSpPr>
          <a:xfrm>
            <a:off x="5033542" y="3122111"/>
            <a:ext cx="2117923" cy="1028973"/>
            <a:chOff x="5033542" y="3506123"/>
            <a:chExt cx="2117923" cy="1028973"/>
          </a:xfrm>
        </p:grpSpPr>
        <p:sp>
          <p:nvSpPr>
            <p:cNvPr id="215" name="Text Box 112"/>
            <p:cNvSpPr txBox="1"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5091771" y="3806691"/>
              <a:ext cx="2059694" cy="72840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>
              <a:prstShdw prst="shdw18" dist="17961" dir="135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lIns="0" tIns="0" rIns="0" bIns="0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ts val="360"/>
                </a:spcBef>
                <a:defRPr/>
              </a:pPr>
              <a:r>
                <a:rPr lang="ko-KR" altLang="en-US" sz="1000" b="1" dirty="0">
                  <a:latin typeface="+mn-ea"/>
                </a:rPr>
                <a:t>유지보수 및 공급업체 인원 비상연락 체제 구축</a:t>
              </a:r>
            </a:p>
            <a:p>
              <a:pPr latinLnBrk="0">
                <a:lnSpc>
                  <a:spcPct val="110000"/>
                </a:lnSpc>
                <a:spcBef>
                  <a:spcPts val="360"/>
                </a:spcBef>
                <a:defRPr/>
              </a:pPr>
              <a:r>
                <a:rPr lang="ko-KR" altLang="en-US" sz="1000" b="1" dirty="0">
                  <a:latin typeface="+mn-ea"/>
                </a:rPr>
                <a:t>발생 장애에 대해서는 </a:t>
              </a:r>
              <a:r>
                <a:rPr lang="ko-KR" altLang="en-US" sz="1000" b="1" dirty="0" err="1">
                  <a:latin typeface="+mn-ea"/>
                </a:rPr>
                <a:t>제안사</a:t>
              </a:r>
              <a:r>
                <a:rPr lang="ko-KR" altLang="en-US" sz="1000" b="1" dirty="0">
                  <a:latin typeface="+mn-ea"/>
                </a:rPr>
                <a:t> 및 공급업체 협업을 통해 </a:t>
              </a:r>
              <a:r>
                <a:rPr lang="en-US" altLang="ko-KR" sz="1000" b="1" dirty="0">
                  <a:latin typeface="+mn-ea"/>
                </a:rPr>
                <a:t>On-site </a:t>
              </a:r>
              <a:r>
                <a:rPr lang="ko-KR" altLang="en-US" sz="1000" b="1" dirty="0">
                  <a:latin typeface="+mn-ea"/>
                </a:rPr>
                <a:t>지원</a:t>
              </a:r>
            </a:p>
          </p:txBody>
        </p:sp>
        <p:sp>
          <p:nvSpPr>
            <p:cNvPr id="222" name="Rectangle 107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5033542" y="3506123"/>
              <a:ext cx="2099156" cy="256097"/>
            </a:xfrm>
            <a:prstGeom prst="rect">
              <a:avLst/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wrap="square" lIns="90000" tIns="46800" rIns="90000" bIns="46800" anchor="ctr">
              <a:spAutoFit/>
            </a:bodyPr>
            <a:lstStyle/>
            <a:p>
              <a:pPr algn="ctr" latinLnBrk="0">
                <a:buSzPct val="80000"/>
              </a:pPr>
              <a:endParaRPr lang="ko-KR" altLang="en-US" sz="105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23" name="AutoShape 111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5083778" y="3560052"/>
              <a:ext cx="1930678" cy="172551"/>
            </a:xfrm>
            <a:prstGeom prst="roundRect">
              <a:avLst>
                <a:gd name="adj" fmla="val 3704"/>
              </a:avLst>
            </a:prstGeom>
            <a:solidFill>
              <a:srgbClr val="B1CFFC"/>
            </a:solidFill>
            <a:ln w="9525" algn="ctr">
              <a:noFill/>
              <a:miter lim="800000"/>
              <a:headEnd/>
              <a:tailEnd/>
            </a:ln>
            <a:effectLst>
              <a:outerShdw dist="12700" dir="10800000" algn="ctr" rotWithShape="0">
                <a:srgbClr val="674B23"/>
              </a:outerShdw>
            </a:effectLst>
          </p:spPr>
          <p:txBody>
            <a:bodyPr lIns="0" tIns="0" rIns="0" bIns="0" anchor="ctr">
              <a:spAutoFit/>
            </a:bodyPr>
            <a:lstStyle/>
            <a:p>
              <a:pPr latinLnBrk="0">
                <a:lnSpc>
                  <a:spcPct val="110000"/>
                </a:lnSpc>
                <a:spcBef>
                  <a:spcPct val="50000"/>
                </a:spcBef>
                <a:buSzPct val="80000"/>
              </a:pPr>
              <a:r>
                <a:rPr lang="ko-KR" altLang="en-US" sz="1000" b="1" dirty="0">
                  <a:solidFill>
                    <a:srgbClr val="000000"/>
                  </a:solidFill>
                  <a:latin typeface="+mn-ea"/>
                </a:rPr>
                <a:t>비상연락체계 구축</a:t>
              </a:r>
            </a:p>
          </p:txBody>
        </p:sp>
      </p:grpSp>
      <p:sp>
        <p:nvSpPr>
          <p:cNvPr id="225" name="AutoShape 135"/>
          <p:cNvSpPr>
            <a:spLocks noChangeArrowheads="1"/>
          </p:cNvSpPr>
          <p:nvPr/>
        </p:nvSpPr>
        <p:spPr bwMode="gray">
          <a:xfrm>
            <a:off x="7197099" y="1929322"/>
            <a:ext cx="2212726" cy="3609898"/>
          </a:xfrm>
          <a:prstGeom prst="roundRect">
            <a:avLst>
              <a:gd name="adj" fmla="val 0"/>
            </a:avLst>
          </a:prstGeom>
          <a:solidFill>
            <a:schemeClr val="accent3"/>
          </a:solidFill>
          <a:ln w="12700" algn="ctr">
            <a:noFill/>
            <a:round/>
            <a:headEnd/>
            <a:tailEnd/>
          </a:ln>
          <a:effectLst/>
        </p:spPr>
        <p:txBody>
          <a:bodyPr lIns="36000" tIns="36000" rIns="36000" bIns="36000" anchor="ctr"/>
          <a:lstStyle/>
          <a:p>
            <a:pPr defTabSz="1027113" fontAlgn="auto" latinLnBrk="0">
              <a:spcBef>
                <a:spcPct val="40000"/>
              </a:spcBef>
              <a:spcAft>
                <a:spcPts val="0"/>
              </a:spcAft>
              <a:buSzPct val="80000"/>
              <a:buNone/>
              <a:defRPr/>
            </a:pPr>
            <a:endParaRPr kumimoji="0" lang="ko-KR" altLang="ko-KR" sz="18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26" name="Line 136"/>
          <p:cNvSpPr>
            <a:spLocks noChangeShapeType="1"/>
          </p:cNvSpPr>
          <p:nvPr/>
        </p:nvSpPr>
        <p:spPr bwMode="auto">
          <a:xfrm>
            <a:off x="7200709" y="1929322"/>
            <a:ext cx="0" cy="3609898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  <a:effectLst/>
        </p:spPr>
        <p:txBody>
          <a:bodyPr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SzPct val="80000"/>
              <a:buNone/>
              <a:defRPr/>
            </a:pPr>
            <a:endParaRPr kumimoji="0" lang="ko-KR" altLang="en-US" sz="105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209" name="직사각형 208"/>
          <p:cNvSpPr/>
          <p:nvPr/>
        </p:nvSpPr>
        <p:spPr bwMode="auto">
          <a:xfrm>
            <a:off x="4959101" y="1523158"/>
            <a:ext cx="4540301" cy="324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장애관리 기능</a:t>
            </a:r>
          </a:p>
        </p:txBody>
      </p:sp>
      <p:sp>
        <p:nvSpPr>
          <p:cNvPr id="210" name="직사각형 209"/>
          <p:cNvSpPr/>
          <p:nvPr/>
        </p:nvSpPr>
        <p:spPr bwMode="auto">
          <a:xfrm>
            <a:off x="319402" y="1523158"/>
            <a:ext cx="4458889" cy="324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구성 및 변경관리 기능</a:t>
            </a:r>
          </a:p>
        </p:txBody>
      </p:sp>
      <p:sp>
        <p:nvSpPr>
          <p:cNvPr id="211" name="Rectangle 79"/>
          <p:cNvSpPr>
            <a:spLocks noChangeArrowheads="1"/>
          </p:cNvSpPr>
          <p:nvPr/>
        </p:nvSpPr>
        <p:spPr bwMode="auto">
          <a:xfrm>
            <a:off x="413421" y="5607909"/>
            <a:ext cx="4283735" cy="595358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3175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정기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/</a:t>
            </a:r>
            <a:r>
              <a:rPr lang="ko-KR" altLang="en-US" sz="1000" b="1" kern="0" dirty="0" err="1">
                <a:solidFill>
                  <a:sysClr val="windowText" lastClr="000000"/>
                </a:solidFill>
                <a:latin typeface="+mn-ea"/>
              </a:rPr>
              <a:t>비정기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 변경작업 목록 관리하고 지속적인 현행화가 중요</a:t>
            </a:r>
          </a:p>
        </p:txBody>
      </p:sp>
      <p:sp>
        <p:nvSpPr>
          <p:cNvPr id="212" name="Rectangle 79"/>
          <p:cNvSpPr>
            <a:spLocks noChangeArrowheads="1"/>
          </p:cNvSpPr>
          <p:nvPr/>
        </p:nvSpPr>
        <p:spPr bwMode="auto">
          <a:xfrm>
            <a:off x="5042818" y="5626208"/>
            <a:ext cx="4367007" cy="595358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3175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4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개 분야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(H/W, S/W,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응용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,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보안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)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에 대해 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2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개 전담반 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(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기반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+</a:t>
            </a:r>
            <a:r>
              <a:rPr lang="ko-KR" altLang="en-US" sz="1000" b="1" kern="0" dirty="0" err="1">
                <a:solidFill>
                  <a:sysClr val="windowText" lastClr="000000"/>
                </a:solidFill>
                <a:latin typeface="+mn-ea"/>
              </a:rPr>
              <a:t>응용팀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공급업체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)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을 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+mn-ea"/>
              </a:rPr>
              <a:t>Virtual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구성하여  서비스 복구 방안을 권고</a:t>
            </a:r>
            <a:endParaRPr lang="en-US" altLang="ko-KR" sz="1000" b="1" kern="0" dirty="0">
              <a:solidFill>
                <a:sysClr val="windowText" lastClr="000000"/>
              </a:solidFill>
              <a:latin typeface="+mn-ea"/>
            </a:endParaRPr>
          </a:p>
          <a:p>
            <a:pPr marL="171450" indent="-17145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+mn-ea"/>
              </a:rPr>
              <a:t>장애 이력관리를 통한 체계적인 사후 관리 및  재발 방지 필수</a:t>
            </a:r>
          </a:p>
        </p:txBody>
      </p:sp>
      <p:grpSp>
        <p:nvGrpSpPr>
          <p:cNvPr id="12" name="그룹 98"/>
          <p:cNvGrpSpPr/>
          <p:nvPr/>
        </p:nvGrpSpPr>
        <p:grpSpPr>
          <a:xfrm>
            <a:off x="2655910" y="2146342"/>
            <a:ext cx="1944000" cy="3053652"/>
            <a:chOff x="2655910" y="2266021"/>
            <a:chExt cx="2015198" cy="3053652"/>
          </a:xfrm>
        </p:grpSpPr>
        <p:cxnSp>
          <p:nvCxnSpPr>
            <p:cNvPr id="80" name="AutoShape 281"/>
            <p:cNvCxnSpPr>
              <a:cxnSpLocks noChangeShapeType="1"/>
              <a:stCxn id="94" idx="2"/>
              <a:endCxn id="95" idx="0"/>
            </p:cNvCxnSpPr>
            <p:nvPr/>
          </p:nvCxnSpPr>
          <p:spPr bwMode="auto">
            <a:xfrm>
              <a:off x="3065372" y="2658443"/>
              <a:ext cx="0" cy="27241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1" name="AutoShape 282"/>
            <p:cNvCxnSpPr>
              <a:cxnSpLocks noChangeShapeType="1"/>
              <a:stCxn id="95" idx="2"/>
              <a:endCxn id="96" idx="0"/>
            </p:cNvCxnSpPr>
            <p:nvPr/>
          </p:nvCxnSpPr>
          <p:spPr bwMode="auto">
            <a:xfrm>
              <a:off x="3065372" y="3323275"/>
              <a:ext cx="0" cy="274315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2" name="AutoShape 283"/>
            <p:cNvCxnSpPr>
              <a:cxnSpLocks noChangeShapeType="1"/>
              <a:stCxn id="96" idx="2"/>
              <a:endCxn id="88" idx="0"/>
            </p:cNvCxnSpPr>
            <p:nvPr/>
          </p:nvCxnSpPr>
          <p:spPr bwMode="auto">
            <a:xfrm>
              <a:off x="3065372" y="3990011"/>
              <a:ext cx="1338" cy="27241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3" name="AutoShape 284"/>
            <p:cNvCxnSpPr>
              <a:cxnSpLocks noChangeShapeType="1"/>
              <a:stCxn id="88" idx="2"/>
              <a:endCxn id="89" idx="0"/>
            </p:cNvCxnSpPr>
            <p:nvPr/>
          </p:nvCxnSpPr>
          <p:spPr bwMode="auto">
            <a:xfrm flipH="1">
              <a:off x="3065372" y="4721515"/>
              <a:ext cx="1338" cy="268599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4" name="AutoShape 285"/>
            <p:cNvCxnSpPr>
              <a:cxnSpLocks noChangeShapeType="1"/>
              <a:stCxn id="89" idx="3"/>
              <a:endCxn id="91" idx="1"/>
            </p:cNvCxnSpPr>
            <p:nvPr/>
          </p:nvCxnSpPr>
          <p:spPr bwMode="auto">
            <a:xfrm>
              <a:off x="3474835" y="5155847"/>
              <a:ext cx="377348" cy="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5" name="AutoShape 286"/>
            <p:cNvCxnSpPr>
              <a:cxnSpLocks noChangeShapeType="1"/>
              <a:stCxn id="88" idx="3"/>
              <a:endCxn id="92" idx="1"/>
            </p:cNvCxnSpPr>
            <p:nvPr/>
          </p:nvCxnSpPr>
          <p:spPr bwMode="auto">
            <a:xfrm>
              <a:off x="3422648" y="4492920"/>
              <a:ext cx="429535" cy="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6" name="AutoShape 287"/>
            <p:cNvCxnSpPr>
              <a:cxnSpLocks noChangeShapeType="1"/>
              <a:stCxn id="93" idx="1"/>
              <a:endCxn id="95" idx="3"/>
            </p:cNvCxnSpPr>
            <p:nvPr/>
          </p:nvCxnSpPr>
          <p:spPr bwMode="auto">
            <a:xfrm flipH="1">
              <a:off x="3474835" y="3127063"/>
              <a:ext cx="376010" cy="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87" name="AutoShape 288"/>
            <p:cNvCxnSpPr>
              <a:cxnSpLocks noChangeShapeType="1"/>
              <a:stCxn id="90" idx="1"/>
              <a:endCxn id="95" idx="3"/>
            </p:cNvCxnSpPr>
            <p:nvPr/>
          </p:nvCxnSpPr>
          <p:spPr bwMode="auto">
            <a:xfrm rot="10800000">
              <a:off x="3474835" y="3127063"/>
              <a:ext cx="377348" cy="641972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5F5F5F"/>
              </a:solidFill>
              <a:miter lim="800000"/>
              <a:headEnd/>
              <a:tailEnd type="triangle" w="med" len="med"/>
            </a:ln>
          </p:spPr>
        </p:cxnSp>
        <p:sp>
          <p:nvSpPr>
            <p:cNvPr id="88" name="AutoShape 289"/>
            <p:cNvSpPr>
              <a:spLocks noChangeArrowheads="1"/>
            </p:cNvSpPr>
            <p:nvPr/>
          </p:nvSpPr>
          <p:spPr bwMode="auto">
            <a:xfrm>
              <a:off x="2709435" y="4262420"/>
              <a:ext cx="713215" cy="459096"/>
            </a:xfrm>
            <a:prstGeom prst="flowChartDecision">
              <a:avLst/>
            </a:prstGeom>
            <a:solidFill>
              <a:srgbClr val="7FA9CB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wrap="none"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FFFFFF"/>
                  </a:solidFill>
                  <a:latin typeface="+mn-ea"/>
                </a:rPr>
                <a:t>작업 수행</a:t>
              </a:r>
            </a:p>
          </p:txBody>
        </p:sp>
        <p:sp>
          <p:nvSpPr>
            <p:cNvPr id="89" name="Rectangle 290"/>
            <p:cNvSpPr>
              <a:spLocks noChangeArrowheads="1"/>
            </p:cNvSpPr>
            <p:nvPr/>
          </p:nvSpPr>
          <p:spPr bwMode="auto">
            <a:xfrm>
              <a:off x="2655910" y="4990115"/>
              <a:ext cx="818925" cy="32955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형상관리</a:t>
              </a:r>
            </a:p>
          </p:txBody>
        </p:sp>
        <p:sp>
          <p:nvSpPr>
            <p:cNvPr id="90" name="Rectangle 291"/>
            <p:cNvSpPr>
              <a:spLocks noChangeArrowheads="1"/>
            </p:cNvSpPr>
            <p:nvPr/>
          </p:nvSpPr>
          <p:spPr bwMode="auto">
            <a:xfrm>
              <a:off x="3852183" y="3605209"/>
              <a:ext cx="818925" cy="327654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구성정보</a:t>
              </a:r>
            </a:p>
          </p:txBody>
        </p:sp>
        <p:sp>
          <p:nvSpPr>
            <p:cNvPr id="91" name="Rectangle 292"/>
            <p:cNvSpPr>
              <a:spLocks noChangeArrowheads="1"/>
            </p:cNvSpPr>
            <p:nvPr/>
          </p:nvSpPr>
          <p:spPr bwMode="auto">
            <a:xfrm>
              <a:off x="3852183" y="4990115"/>
              <a:ext cx="818925" cy="32955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표준화 및 절차화</a:t>
              </a:r>
            </a:p>
          </p:txBody>
        </p:sp>
        <p:sp>
          <p:nvSpPr>
            <p:cNvPr id="92" name="Rectangle 293"/>
            <p:cNvSpPr>
              <a:spLocks noChangeArrowheads="1"/>
            </p:cNvSpPr>
            <p:nvPr/>
          </p:nvSpPr>
          <p:spPr bwMode="auto">
            <a:xfrm>
              <a:off x="3852183" y="4329094"/>
              <a:ext cx="818925" cy="327654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장애관리</a:t>
              </a:r>
            </a:p>
          </p:txBody>
        </p:sp>
        <p:sp>
          <p:nvSpPr>
            <p:cNvPr id="93" name="Rectangle 294"/>
            <p:cNvSpPr>
              <a:spLocks noChangeArrowheads="1"/>
            </p:cNvSpPr>
            <p:nvPr/>
          </p:nvSpPr>
          <p:spPr bwMode="auto">
            <a:xfrm>
              <a:off x="3850845" y="2930853"/>
              <a:ext cx="818925" cy="39432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성능</a:t>
              </a:r>
              <a:r>
                <a:rPr kumimoji="0" lang="en-US" altLang="ko-KR" sz="1000" b="1" kern="0" dirty="0">
                  <a:solidFill>
                    <a:srgbClr val="003366"/>
                  </a:solidFill>
                  <a:latin typeface="+mn-ea"/>
                </a:rPr>
                <a:t>/</a:t>
              </a: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장애</a:t>
              </a:r>
              <a:r>
                <a:rPr kumimoji="0" lang="en-US" altLang="ko-KR" sz="1000" b="1" kern="0" dirty="0">
                  <a:solidFill>
                    <a:srgbClr val="003366"/>
                  </a:solidFill>
                  <a:latin typeface="+mn-ea"/>
                </a:rPr>
                <a:t>/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업무지원</a:t>
              </a:r>
            </a:p>
          </p:txBody>
        </p:sp>
        <p:sp>
          <p:nvSpPr>
            <p:cNvPr id="94" name="Rectangle 295"/>
            <p:cNvSpPr>
              <a:spLocks noChangeArrowheads="1"/>
            </p:cNvSpPr>
            <p:nvPr/>
          </p:nvSpPr>
          <p:spPr bwMode="auto">
            <a:xfrm>
              <a:off x="2655910" y="2266021"/>
              <a:ext cx="818925" cy="392422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변경</a:t>
              </a:r>
              <a:r>
                <a:rPr kumimoji="0" lang="en-US" altLang="ko-KR" sz="1000" b="1" kern="0" dirty="0">
                  <a:solidFill>
                    <a:srgbClr val="003366"/>
                  </a:solidFill>
                  <a:latin typeface="+mn-ea"/>
                </a:rPr>
                <a:t>/</a:t>
              </a: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구성 요인 발생</a:t>
              </a:r>
            </a:p>
          </p:txBody>
        </p:sp>
        <p:sp>
          <p:nvSpPr>
            <p:cNvPr id="95" name="Rectangle 296"/>
            <p:cNvSpPr>
              <a:spLocks noChangeArrowheads="1"/>
            </p:cNvSpPr>
            <p:nvPr/>
          </p:nvSpPr>
          <p:spPr bwMode="auto">
            <a:xfrm>
              <a:off x="2655910" y="2930853"/>
              <a:ext cx="818925" cy="39432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변경 범위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en-US" altLang="ko-KR" sz="1000" b="1" kern="0" dirty="0">
                  <a:solidFill>
                    <a:srgbClr val="003366"/>
                  </a:solidFill>
                  <a:latin typeface="+mn-ea"/>
                </a:rPr>
                <a:t>/</a:t>
              </a: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역할 정의</a:t>
              </a:r>
            </a:p>
          </p:txBody>
        </p:sp>
        <p:sp>
          <p:nvSpPr>
            <p:cNvPr id="96" name="Rectangle 297"/>
            <p:cNvSpPr>
              <a:spLocks noChangeArrowheads="1"/>
            </p:cNvSpPr>
            <p:nvPr/>
          </p:nvSpPr>
          <p:spPr bwMode="auto">
            <a:xfrm>
              <a:off x="2655910" y="3597589"/>
              <a:ext cx="818925" cy="39432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00" b="1" kern="0" dirty="0">
                  <a:solidFill>
                    <a:srgbClr val="003366"/>
                  </a:solidFill>
                  <a:latin typeface="+mn-ea"/>
                </a:rPr>
                <a:t>세부작업 계획 수립</a:t>
              </a:r>
            </a:p>
          </p:txBody>
        </p:sp>
        <p:sp>
          <p:nvSpPr>
            <p:cNvPr id="97" name="Text Box 298"/>
            <p:cNvSpPr txBox="1">
              <a:spLocks noChangeArrowheads="1"/>
            </p:cNvSpPr>
            <p:nvPr/>
          </p:nvSpPr>
          <p:spPr bwMode="auto">
            <a:xfrm>
              <a:off x="2787004" y="4722676"/>
              <a:ext cx="265873" cy="153888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None/>
                <a:defRPr/>
              </a:pPr>
              <a:r>
                <a:rPr kumimoji="0" lang="ko-KR" altLang="en-US" sz="1000" b="1" kern="0" dirty="0">
                  <a:solidFill>
                    <a:srgbClr val="000000"/>
                  </a:solidFill>
                  <a:latin typeface="+mn-ea"/>
                </a:rPr>
                <a:t>성공</a:t>
              </a:r>
            </a:p>
          </p:txBody>
        </p:sp>
        <p:sp>
          <p:nvSpPr>
            <p:cNvPr id="98" name="Text Box 299"/>
            <p:cNvSpPr txBox="1">
              <a:spLocks noChangeArrowheads="1"/>
            </p:cNvSpPr>
            <p:nvPr/>
          </p:nvSpPr>
          <p:spPr bwMode="auto">
            <a:xfrm>
              <a:off x="3438706" y="4295965"/>
              <a:ext cx="265873" cy="153888"/>
            </a:xfrm>
            <a:prstGeom prst="rect">
              <a:avLst/>
            </a:prstGeom>
            <a:noFill/>
            <a:ln w="12700" algn="ctr">
              <a:noFill/>
              <a:miter lim="800000"/>
              <a:headEnd/>
              <a:tailEnd/>
            </a:ln>
            <a:effectLst/>
          </p:spPr>
          <p:txBody>
            <a:bodyPr wrap="none" lIns="0" tIns="0" rIns="0" bIns="0" anchor="ctr">
              <a:sp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None/>
                <a:defRPr/>
              </a:pPr>
              <a:r>
                <a:rPr kumimoji="0" lang="ko-KR" altLang="en-US" sz="1000" b="1" kern="0" dirty="0">
                  <a:solidFill>
                    <a:srgbClr val="000000"/>
                  </a:solidFill>
                  <a:latin typeface="+mn-ea"/>
                </a:rPr>
                <a:t>실패</a:t>
              </a:r>
            </a:p>
          </p:txBody>
        </p:sp>
      </p:grpSp>
      <p:grpSp>
        <p:nvGrpSpPr>
          <p:cNvPr id="13" name="그룹 102"/>
          <p:cNvGrpSpPr/>
          <p:nvPr/>
        </p:nvGrpSpPr>
        <p:grpSpPr>
          <a:xfrm>
            <a:off x="7372115" y="2146342"/>
            <a:ext cx="1935273" cy="2978302"/>
            <a:chOff x="7420792" y="2249718"/>
            <a:chExt cx="2076121" cy="2978302"/>
          </a:xfrm>
        </p:grpSpPr>
        <p:cxnSp>
          <p:nvCxnSpPr>
            <p:cNvPr id="105" name="AutoShape 156"/>
            <p:cNvCxnSpPr>
              <a:cxnSpLocks noChangeShapeType="1"/>
              <a:stCxn id="118" idx="2"/>
              <a:endCxn id="119" idx="0"/>
            </p:cNvCxnSpPr>
            <p:nvPr/>
          </p:nvCxnSpPr>
          <p:spPr bwMode="auto">
            <a:xfrm>
              <a:off x="7873700" y="2635795"/>
              <a:ext cx="0" cy="273989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106" name="AutoShape 157"/>
            <p:cNvCxnSpPr>
              <a:cxnSpLocks noChangeShapeType="1"/>
              <a:stCxn id="119" idx="2"/>
              <a:endCxn id="120" idx="0"/>
            </p:cNvCxnSpPr>
            <p:nvPr/>
          </p:nvCxnSpPr>
          <p:spPr bwMode="auto">
            <a:xfrm>
              <a:off x="7873700" y="3254940"/>
              <a:ext cx="0" cy="266873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107" name="AutoShape 158"/>
            <p:cNvCxnSpPr>
              <a:cxnSpLocks noChangeShapeType="1"/>
              <a:stCxn id="120" idx="2"/>
              <a:endCxn id="121" idx="0"/>
            </p:cNvCxnSpPr>
            <p:nvPr/>
          </p:nvCxnSpPr>
          <p:spPr bwMode="auto">
            <a:xfrm>
              <a:off x="7873700" y="3863410"/>
              <a:ext cx="0" cy="304235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108" name="AutoShape 159"/>
            <p:cNvCxnSpPr>
              <a:cxnSpLocks noChangeShapeType="1"/>
              <a:stCxn id="121" idx="2"/>
              <a:endCxn id="122" idx="0"/>
            </p:cNvCxnSpPr>
            <p:nvPr/>
          </p:nvCxnSpPr>
          <p:spPr bwMode="auto">
            <a:xfrm>
              <a:off x="7873700" y="4512800"/>
              <a:ext cx="0" cy="361169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109" name="AutoShape 160"/>
            <p:cNvCxnSpPr>
              <a:cxnSpLocks noChangeShapeType="1"/>
              <a:endCxn id="117" idx="2"/>
            </p:cNvCxnSpPr>
            <p:nvPr/>
          </p:nvCxnSpPr>
          <p:spPr bwMode="auto">
            <a:xfrm rot="5400000" flipH="1" flipV="1">
              <a:off x="8399718" y="4542068"/>
              <a:ext cx="136995" cy="1217117"/>
            </a:xfrm>
            <a:prstGeom prst="bentConnector3">
              <a:avLst>
                <a:gd name="adj1" fmla="val -198611"/>
              </a:avLst>
            </a:prstGeom>
            <a:noFill/>
            <a:ln w="9525">
              <a:solidFill>
                <a:srgbClr val="5F5F5F"/>
              </a:solidFill>
              <a:miter lim="800000"/>
              <a:headEnd/>
              <a:tailEnd type="triangle" w="med" len="med"/>
            </a:ln>
          </p:spPr>
        </p:cxnSp>
        <p:cxnSp>
          <p:nvCxnSpPr>
            <p:cNvPr id="110" name="AutoShape 161"/>
            <p:cNvCxnSpPr>
              <a:cxnSpLocks noChangeShapeType="1"/>
              <a:stCxn id="117" idx="0"/>
            </p:cNvCxnSpPr>
            <p:nvPr/>
          </p:nvCxnSpPr>
          <p:spPr bwMode="auto">
            <a:xfrm flipV="1">
              <a:off x="9076774" y="4320652"/>
              <a:ext cx="0" cy="334481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cxnSp>
          <p:nvCxnSpPr>
            <p:cNvPr id="111" name="AutoShape 162"/>
            <p:cNvCxnSpPr>
              <a:cxnSpLocks noChangeShapeType="1"/>
            </p:cNvCxnSpPr>
            <p:nvPr/>
          </p:nvCxnSpPr>
          <p:spPr bwMode="auto">
            <a:xfrm rot="10800000" flipV="1">
              <a:off x="8313735" y="3473775"/>
              <a:ext cx="390882" cy="868226"/>
            </a:xfrm>
            <a:prstGeom prst="bentConnector3">
              <a:avLst>
                <a:gd name="adj1" fmla="val 49852"/>
              </a:avLst>
            </a:prstGeom>
            <a:noFill/>
            <a:ln w="9525">
              <a:solidFill>
                <a:srgbClr val="5F5F5F"/>
              </a:solidFill>
              <a:miter lim="800000"/>
              <a:headEnd/>
              <a:tailEnd type="triangle" w="med" len="med"/>
            </a:ln>
          </p:spPr>
        </p:cxnSp>
        <p:cxnSp>
          <p:nvCxnSpPr>
            <p:cNvPr id="112" name="AutoShape 163"/>
            <p:cNvCxnSpPr>
              <a:cxnSpLocks noChangeShapeType="1"/>
            </p:cNvCxnSpPr>
            <p:nvPr/>
          </p:nvCxnSpPr>
          <p:spPr bwMode="auto">
            <a:xfrm rot="10800000">
              <a:off x="8313735" y="4342002"/>
              <a:ext cx="390882" cy="526629"/>
            </a:xfrm>
            <a:prstGeom prst="bentConnector3">
              <a:avLst>
                <a:gd name="adj1" fmla="val 49852"/>
              </a:avLst>
            </a:prstGeom>
            <a:noFill/>
            <a:ln w="9525">
              <a:solidFill>
                <a:srgbClr val="5F5F5F"/>
              </a:solidFill>
              <a:miter lim="800000"/>
              <a:headEnd/>
              <a:tailEnd type="triangle" w="med" len="med"/>
            </a:ln>
          </p:spPr>
        </p:cxnSp>
        <p:sp>
          <p:nvSpPr>
            <p:cNvPr id="113" name="Text Box 164"/>
            <p:cNvSpPr txBox="1">
              <a:spLocks noChangeArrowheads="1"/>
            </p:cNvSpPr>
            <p:nvPr/>
          </p:nvSpPr>
          <p:spPr bwMode="auto">
            <a:xfrm>
              <a:off x="8461192" y="3576966"/>
              <a:ext cx="844848" cy="292388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fontAlgn="auto" latinLnBrk="0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None/>
                <a:defRPr/>
              </a:pPr>
              <a:r>
                <a:rPr kumimoji="0" lang="ko-KR" altLang="en-US" sz="1000" b="1" kern="0" dirty="0">
                  <a:solidFill>
                    <a:srgbClr val="000000"/>
                  </a:solidFill>
                  <a:latin typeface="+mn-ea"/>
                </a:rPr>
                <a:t>구성정보</a:t>
              </a:r>
            </a:p>
          </p:txBody>
        </p:sp>
        <p:sp>
          <p:nvSpPr>
            <p:cNvPr id="114" name="Text Box 165"/>
            <p:cNvSpPr txBox="1">
              <a:spLocks noChangeArrowheads="1"/>
            </p:cNvSpPr>
            <p:nvPr/>
          </p:nvSpPr>
          <p:spPr bwMode="auto">
            <a:xfrm>
              <a:off x="8445582" y="4613966"/>
              <a:ext cx="473252" cy="2616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fontAlgn="auto" latinLnBrk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None/>
                <a:defRPr/>
              </a:pPr>
              <a:r>
                <a:rPr kumimoji="0" lang="ko-KR" altLang="en-US" sz="1000" b="1" kern="0" dirty="0">
                  <a:solidFill>
                    <a:srgbClr val="000000"/>
                  </a:solidFill>
                  <a:latin typeface="+mn-ea"/>
                </a:rPr>
                <a:t>실패</a:t>
              </a:r>
            </a:p>
          </p:txBody>
        </p:sp>
        <p:sp>
          <p:nvSpPr>
            <p:cNvPr id="115" name="Text Box 166"/>
            <p:cNvSpPr txBox="1">
              <a:spLocks noChangeArrowheads="1"/>
            </p:cNvSpPr>
            <p:nvPr/>
          </p:nvSpPr>
          <p:spPr bwMode="auto">
            <a:xfrm>
              <a:off x="9014533" y="4416726"/>
              <a:ext cx="473252" cy="2616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fontAlgn="auto" latinLnBrk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80000"/>
                <a:buNone/>
                <a:defRPr/>
              </a:pPr>
              <a:r>
                <a:rPr kumimoji="0" lang="ko-KR" altLang="en-US" sz="1000" b="1" kern="0" dirty="0">
                  <a:solidFill>
                    <a:srgbClr val="000000"/>
                  </a:solidFill>
                  <a:latin typeface="+mn-ea"/>
                </a:rPr>
                <a:t>성공</a:t>
              </a:r>
            </a:p>
          </p:txBody>
        </p:sp>
        <p:cxnSp>
          <p:nvCxnSpPr>
            <p:cNvPr id="116" name="AutoShape 167"/>
            <p:cNvCxnSpPr>
              <a:cxnSpLocks noChangeShapeType="1"/>
            </p:cNvCxnSpPr>
            <p:nvPr/>
          </p:nvCxnSpPr>
          <p:spPr bwMode="auto">
            <a:xfrm flipH="1">
              <a:off x="8320757" y="2464996"/>
              <a:ext cx="375667" cy="0"/>
            </a:xfrm>
            <a:prstGeom prst="straightConnector1">
              <a:avLst/>
            </a:prstGeom>
            <a:noFill/>
            <a:ln w="9525">
              <a:solidFill>
                <a:srgbClr val="5F5F5F"/>
              </a:solidFill>
              <a:round/>
              <a:headEnd/>
              <a:tailEnd type="triangle" w="med" len="med"/>
            </a:ln>
          </p:spPr>
        </p:cxnSp>
        <p:sp>
          <p:nvSpPr>
            <p:cNvPr id="117" name="AutoShape 168"/>
            <p:cNvSpPr>
              <a:spLocks noChangeArrowheads="1"/>
            </p:cNvSpPr>
            <p:nvPr/>
          </p:nvSpPr>
          <p:spPr bwMode="auto">
            <a:xfrm>
              <a:off x="8703446" y="4655132"/>
              <a:ext cx="746654" cy="426997"/>
            </a:xfrm>
            <a:prstGeom prst="flowChartDecision">
              <a:avLst/>
            </a:prstGeom>
            <a:solidFill>
              <a:srgbClr val="7FA9CB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wrap="none" lIns="0" tIns="0" rIns="0" bIns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FFFFFF"/>
                  </a:solidFill>
                  <a:latin typeface="+mn-ea"/>
                </a:rPr>
                <a:t>장애조치</a:t>
              </a:r>
            </a:p>
          </p:txBody>
        </p:sp>
        <p:sp>
          <p:nvSpPr>
            <p:cNvPr id="118" name="Rectangle 169"/>
            <p:cNvSpPr>
              <a:spLocks noChangeArrowheads="1"/>
            </p:cNvSpPr>
            <p:nvPr/>
          </p:nvSpPr>
          <p:spPr bwMode="auto">
            <a:xfrm>
              <a:off x="7420792" y="2290639"/>
              <a:ext cx="905816" cy="354051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장애발생</a:t>
              </a:r>
            </a:p>
          </p:txBody>
        </p:sp>
        <p:sp>
          <p:nvSpPr>
            <p:cNvPr id="119" name="Rectangle 170"/>
            <p:cNvSpPr>
              <a:spLocks noChangeArrowheads="1"/>
            </p:cNvSpPr>
            <p:nvPr/>
          </p:nvSpPr>
          <p:spPr bwMode="auto">
            <a:xfrm>
              <a:off x="7420792" y="2909784"/>
              <a:ext cx="905816" cy="354051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응급조치</a:t>
              </a:r>
              <a:r>
                <a:rPr kumimoji="0" lang="en-US" altLang="ko-KR" sz="1050" b="1" kern="0" dirty="0">
                  <a:solidFill>
                    <a:srgbClr val="003366"/>
                  </a:solidFill>
                  <a:latin typeface="+mn-ea"/>
                </a:rPr>
                <a:t>/</a:t>
              </a:r>
              <a:br>
                <a:rPr kumimoji="0" lang="en-US" altLang="ko-KR" sz="1050" b="1" kern="0" dirty="0">
                  <a:solidFill>
                    <a:srgbClr val="003366"/>
                  </a:solidFill>
                  <a:latin typeface="+mn-ea"/>
                </a:rPr>
              </a:b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상태기록</a:t>
              </a:r>
            </a:p>
          </p:txBody>
        </p:sp>
        <p:sp>
          <p:nvSpPr>
            <p:cNvPr id="120" name="Rectangle 171"/>
            <p:cNvSpPr>
              <a:spLocks noChangeArrowheads="1"/>
            </p:cNvSpPr>
            <p:nvPr/>
          </p:nvSpPr>
          <p:spPr bwMode="auto">
            <a:xfrm>
              <a:off x="7420792" y="3521813"/>
              <a:ext cx="905816" cy="341597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현상파악</a:t>
              </a:r>
            </a:p>
          </p:txBody>
        </p:sp>
        <p:sp>
          <p:nvSpPr>
            <p:cNvPr id="121" name="Rectangle 172"/>
            <p:cNvSpPr>
              <a:spLocks noChangeArrowheads="1"/>
            </p:cNvSpPr>
            <p:nvPr/>
          </p:nvSpPr>
          <p:spPr bwMode="auto">
            <a:xfrm>
              <a:off x="7420792" y="4167645"/>
              <a:ext cx="905816" cy="354052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원인분석</a:t>
              </a:r>
            </a:p>
          </p:txBody>
        </p:sp>
        <p:sp>
          <p:nvSpPr>
            <p:cNvPr id="122" name="Rectangle 173"/>
            <p:cNvSpPr>
              <a:spLocks noChangeArrowheads="1"/>
            </p:cNvSpPr>
            <p:nvPr/>
          </p:nvSpPr>
          <p:spPr bwMode="auto">
            <a:xfrm>
              <a:off x="7420792" y="4873969"/>
              <a:ext cx="905816" cy="354051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변경관리</a:t>
              </a:r>
            </a:p>
          </p:txBody>
        </p:sp>
        <p:sp>
          <p:nvSpPr>
            <p:cNvPr id="123" name="Rectangle 174"/>
            <p:cNvSpPr>
              <a:spLocks noChangeArrowheads="1"/>
            </p:cNvSpPr>
            <p:nvPr/>
          </p:nvSpPr>
          <p:spPr bwMode="auto">
            <a:xfrm>
              <a:off x="8655464" y="2249718"/>
              <a:ext cx="841449" cy="42877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변경관리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en-US" altLang="ko-KR" sz="1050" b="1" kern="0" dirty="0">
                  <a:solidFill>
                    <a:srgbClr val="003366"/>
                  </a:solidFill>
                  <a:latin typeface="+mn-ea"/>
                </a:rPr>
                <a:t>/Feedback</a:t>
              </a:r>
            </a:p>
          </p:txBody>
        </p:sp>
        <p:sp>
          <p:nvSpPr>
            <p:cNvPr id="124" name="Rectangle 175"/>
            <p:cNvSpPr>
              <a:spLocks noChangeArrowheads="1"/>
            </p:cNvSpPr>
            <p:nvPr/>
          </p:nvSpPr>
          <p:spPr bwMode="auto">
            <a:xfrm>
              <a:off x="8655464" y="3230733"/>
              <a:ext cx="841449" cy="354051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구성관리</a:t>
              </a:r>
            </a:p>
          </p:txBody>
        </p:sp>
        <p:sp>
          <p:nvSpPr>
            <p:cNvPr id="125" name="Rectangle 176"/>
            <p:cNvSpPr>
              <a:spLocks noChangeArrowheads="1"/>
            </p:cNvSpPr>
            <p:nvPr/>
          </p:nvSpPr>
          <p:spPr bwMode="auto">
            <a:xfrm>
              <a:off x="8655464" y="3977276"/>
              <a:ext cx="841449" cy="34337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29618F"/>
              </a:solidFill>
              <a:miter lim="800000"/>
              <a:headEnd/>
              <a:tailEnd/>
            </a:ln>
            <a:effectLst/>
          </p:spPr>
          <p:txBody>
            <a:bodyPr lIns="54000" tIns="35995" rIns="54000" bIns="45714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kumimoji="0" lang="ko-KR" altLang="en-US" sz="1050" b="1" kern="0" dirty="0">
                  <a:solidFill>
                    <a:srgbClr val="003366"/>
                  </a:solidFill>
                  <a:latin typeface="+mn-ea"/>
                </a:rPr>
                <a:t>결과보고 및 공지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국가정보보안기본지침</a:t>
            </a:r>
            <a:r>
              <a:rPr lang="en-US" altLang="ko-KR" sz="1600" dirty="0"/>
              <a:t>, </a:t>
            </a:r>
            <a:r>
              <a:rPr lang="ko-KR" altLang="en-US" sz="1600" dirty="0"/>
              <a:t>국민체육진흥공단의 정보보호지침 및 정보보호 관련 법규에 따라 보안아키텍처 표준 준수</a:t>
            </a:r>
            <a:r>
              <a:rPr lang="en-US" altLang="ko-KR" sz="1600" dirty="0"/>
              <a:t>, </a:t>
            </a:r>
            <a:r>
              <a:rPr lang="ko-KR" altLang="en-US" sz="1600" dirty="0"/>
              <a:t>개인정보 보호 및 모니터링을 실시하고</a:t>
            </a:r>
            <a:r>
              <a:rPr lang="en-US" altLang="ko-KR" sz="1600" dirty="0"/>
              <a:t>, </a:t>
            </a:r>
            <a:r>
              <a:rPr lang="ko-KR" altLang="en-US" sz="1600" dirty="0"/>
              <a:t>웹 어플리케이션 취약점 점검 등을 실시함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6.2.2 </a:t>
            </a:r>
            <a:r>
              <a:rPr lang="ko-KR" altLang="en-US" dirty="0"/>
              <a:t>사업 추진체계 및 정보화 </a:t>
            </a:r>
            <a:r>
              <a:rPr lang="ko-KR" altLang="en-US" dirty="0" err="1"/>
              <a:t>거버넌스</a:t>
            </a:r>
            <a:r>
              <a:rPr lang="ko-KR" altLang="en-US" dirty="0"/>
              <a:t> 정립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운영</a:t>
            </a:r>
            <a:r>
              <a:rPr lang="en-US" altLang="ko-KR" dirty="0"/>
              <a:t>·</a:t>
            </a:r>
            <a:r>
              <a:rPr lang="ko-KR" altLang="en-US" dirty="0"/>
              <a:t>관리 기능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99" name="직사각형 98"/>
          <p:cNvSpPr/>
          <p:nvPr/>
        </p:nvSpPr>
        <p:spPr bwMode="auto">
          <a:xfrm>
            <a:off x="344488" y="1528880"/>
            <a:ext cx="9180512" cy="288000"/>
          </a:xfrm>
          <a:prstGeom prst="rect">
            <a:avLst/>
          </a:pr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lvl="0" algn="ctr" latinLnBrk="0">
              <a:defRPr/>
            </a:pPr>
            <a:r>
              <a:rPr lang="ko-KR" altLang="en-US" sz="14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보안관리기능</a:t>
            </a:r>
          </a:p>
        </p:txBody>
      </p:sp>
      <p:sp>
        <p:nvSpPr>
          <p:cNvPr id="100" name="Rectangle 4"/>
          <p:cNvSpPr>
            <a:spLocks noChangeArrowheads="1"/>
          </p:cNvSpPr>
          <p:nvPr/>
        </p:nvSpPr>
        <p:spPr bwMode="auto">
          <a:xfrm>
            <a:off x="344488" y="1814531"/>
            <a:ext cx="9180512" cy="449478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defTabSz="914400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102" name="Line 76"/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9066" y="6199488"/>
            <a:ext cx="3064314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sp>
        <p:nvSpPr>
          <p:cNvPr id="103" name="Text Box 105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92667" y="2364122"/>
            <a:ext cx="2920568" cy="116955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10000"/>
              </a:lnSpc>
              <a:spcBef>
                <a:spcPts val="360"/>
              </a:spcBef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서버</a:t>
            </a:r>
            <a:r>
              <a:rPr lang="en-US" altLang="ko-KR" sz="1000" b="1" dirty="0">
                <a:solidFill>
                  <a:srgbClr val="333333"/>
                </a:solidFill>
                <a:latin typeface="+mj-ea"/>
                <a:ea typeface="+mj-ea"/>
              </a:rPr>
              <a:t>, DB </a:t>
            </a: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접근 통제 시스템을 통하여 접근 제어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None/>
              <a:defRPr/>
            </a:pPr>
            <a:r>
              <a:rPr lang="en-US" altLang="ko-KR" sz="1000" b="1" dirty="0">
                <a:solidFill>
                  <a:srgbClr val="333333"/>
                </a:solidFill>
                <a:latin typeface="+mj-ea"/>
                <a:ea typeface="+mj-ea"/>
              </a:rPr>
              <a:t>GPKI </a:t>
            </a: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기반의 인증시스템을 통한 로그인 관리 준수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행정정보공유센터와 연계서버간 연계구간 암호화 준수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인터넷 사용자와 </a:t>
            </a:r>
            <a:r>
              <a:rPr lang="en-US" altLang="ko-KR" sz="1000" b="1" dirty="0">
                <a:solidFill>
                  <a:srgbClr val="333333"/>
                </a:solidFill>
                <a:latin typeface="+mj-ea"/>
                <a:ea typeface="+mj-ea"/>
              </a:rPr>
              <a:t>WAS</a:t>
            </a: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서버간의 네트워크 </a:t>
            </a:r>
            <a:r>
              <a:rPr lang="ko-KR" altLang="en-US" sz="1000" b="1" dirty="0" err="1">
                <a:solidFill>
                  <a:srgbClr val="333333"/>
                </a:solidFill>
                <a:latin typeface="+mj-ea"/>
                <a:ea typeface="+mj-ea"/>
              </a:rPr>
              <a:t>스니핑등을</a:t>
            </a: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 차단하기 위한 </a:t>
            </a:r>
            <a:r>
              <a:rPr lang="ko-KR" altLang="en-US" sz="1000" b="1" dirty="0" err="1">
                <a:solidFill>
                  <a:srgbClr val="333333"/>
                </a:solidFill>
                <a:latin typeface="+mj-ea"/>
                <a:ea typeface="+mj-ea"/>
              </a:rPr>
              <a:t>웹구간</a:t>
            </a: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 암호화 준수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</p:txBody>
      </p:sp>
      <p:sp>
        <p:nvSpPr>
          <p:cNvPr id="104" name="Text Box 112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592667" y="4015918"/>
            <a:ext cx="2842449" cy="55912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10000"/>
              </a:lnSpc>
              <a:spcBef>
                <a:spcPts val="360"/>
              </a:spcBef>
              <a:buClr>
                <a:srgbClr val="000000"/>
              </a:buClr>
              <a:buSzPct val="80000"/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부적절한 개인정보 조회 등 기능 오남용에 대한 모니터링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Clr>
                <a:srgbClr val="000000"/>
              </a:buClr>
              <a:buSzPct val="80000"/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문서 및 서류 상의 개인정보 유출 방지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</p:txBody>
      </p:sp>
      <p:sp>
        <p:nvSpPr>
          <p:cNvPr id="126" name="Line 76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509066" y="1924948"/>
            <a:ext cx="3064314" cy="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</p:spPr>
        <p:txBody>
          <a:bodyPr/>
          <a:lstStyle/>
          <a:p>
            <a:pPr>
              <a:buNone/>
            </a:pPr>
            <a:endParaRPr lang="ko-KR" altLang="en-US" sz="1400" b="1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sp>
        <p:nvSpPr>
          <p:cNvPr id="127" name="Rectangle 93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38110" y="4711186"/>
            <a:ext cx="2924443" cy="280719"/>
          </a:xfrm>
          <a:prstGeom prst="rect">
            <a:avLst/>
          </a:prstGeom>
          <a:solidFill>
            <a:schemeClr val="accent2"/>
          </a:solidFill>
          <a:ln w="9525" algn="ctr">
            <a:noFill/>
            <a:miter lim="800000"/>
            <a:headEnd/>
            <a:tailEnd/>
          </a:ln>
          <a:effectLst>
            <a:outerShdw dist="12700" dir="10800000" algn="ctr" rotWithShape="0">
              <a:srgbClr val="674B23"/>
            </a:outerShdw>
          </a:effectLst>
        </p:spPr>
        <p:txBody>
          <a:bodyPr wrap="square" lIns="90000" tIns="46800" rIns="90000" bIns="46800" anchor="ctr">
            <a:spAutoFit/>
          </a:bodyPr>
          <a:lstStyle/>
          <a:p>
            <a:pPr latinLnBrk="0">
              <a:lnSpc>
                <a:spcPct val="110000"/>
              </a:lnSpc>
              <a:spcBef>
                <a:spcPct val="50000"/>
              </a:spcBef>
              <a:buSzPct val="80000"/>
              <a:buNone/>
            </a:pPr>
            <a:r>
              <a:rPr lang="ko-KR" altLang="en-US" sz="1100" b="1" dirty="0">
                <a:solidFill>
                  <a:srgbClr val="000000"/>
                </a:solidFill>
                <a:latin typeface="+mj-ea"/>
                <a:ea typeface="+mj-ea"/>
              </a:rPr>
              <a:t>웹 어플리케이션 취약점 점검</a:t>
            </a:r>
          </a:p>
        </p:txBody>
      </p:sp>
      <p:sp>
        <p:nvSpPr>
          <p:cNvPr id="128" name="Text Box 98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92667" y="5077996"/>
            <a:ext cx="2900327" cy="9489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lIns="0" tIns="0" rIns="0" bIns="0">
            <a:spAutoFit/>
          </a:bodyPr>
          <a:lstStyle/>
          <a:p>
            <a:pPr latinLnBrk="0">
              <a:lnSpc>
                <a:spcPct val="110000"/>
              </a:lnSpc>
              <a:spcBef>
                <a:spcPts val="360"/>
              </a:spcBef>
              <a:buClr>
                <a:srgbClr val="000000"/>
              </a:buClr>
              <a:buSzPct val="80000"/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웹 어플리케이션 취약점 보완을 위한 개발 가이드 준수 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Clr>
                <a:srgbClr val="000000"/>
              </a:buClr>
              <a:buSzPct val="80000"/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개발 체크리스트 작성 및 점검</a:t>
            </a:r>
            <a:endParaRPr lang="en-US" altLang="ko-KR" sz="1000" b="1" dirty="0">
              <a:solidFill>
                <a:srgbClr val="333333"/>
              </a:solidFill>
              <a:latin typeface="+mj-ea"/>
              <a:ea typeface="+mj-ea"/>
            </a:endParaRPr>
          </a:p>
          <a:p>
            <a:pPr latinLnBrk="0">
              <a:lnSpc>
                <a:spcPct val="110000"/>
              </a:lnSpc>
              <a:spcBef>
                <a:spcPts val="360"/>
              </a:spcBef>
              <a:buClr>
                <a:srgbClr val="000000"/>
              </a:buClr>
              <a:buSzPct val="80000"/>
              <a:buNone/>
              <a:defRPr/>
            </a:pPr>
            <a:r>
              <a:rPr lang="ko-KR" altLang="en-US" sz="1000" b="1" dirty="0">
                <a:solidFill>
                  <a:srgbClr val="333333"/>
                </a:solidFill>
                <a:latin typeface="+mj-ea"/>
                <a:ea typeface="+mj-ea"/>
              </a:rPr>
              <a:t>웹 어플리케이션 취약점 점검은 선행 사업의 수행 결과로 대체</a:t>
            </a:r>
          </a:p>
        </p:txBody>
      </p:sp>
      <p:sp>
        <p:nvSpPr>
          <p:cNvPr id="129" name="Rectangle 10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38110" y="2054063"/>
            <a:ext cx="2924443" cy="256097"/>
          </a:xfrm>
          <a:prstGeom prst="rect">
            <a:avLst/>
          </a:prstGeom>
          <a:solidFill>
            <a:schemeClr val="accent2"/>
          </a:solidFill>
          <a:ln w="9525" algn="ctr">
            <a:noFill/>
            <a:miter lim="800000"/>
            <a:headEnd/>
            <a:tailEnd/>
          </a:ln>
          <a:effectLst>
            <a:outerShdw dist="12700" dir="10800000" algn="ctr" rotWithShape="0">
              <a:srgbClr val="674B23"/>
            </a:outerShdw>
          </a:effectLst>
        </p:spPr>
        <p:txBody>
          <a:bodyPr wrap="square" lIns="90000" tIns="46800" rIns="90000" bIns="46800" anchor="ctr">
            <a:spAutoFit/>
          </a:bodyPr>
          <a:lstStyle/>
          <a:p>
            <a:pPr algn="ctr" latinLnBrk="0">
              <a:buSzPct val="80000"/>
              <a:buNone/>
            </a:pPr>
            <a:endParaRPr lang="ko-KR" altLang="en-US" sz="1050" b="1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sp>
        <p:nvSpPr>
          <p:cNvPr id="130" name="AutoShape 104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81413" y="2086348"/>
            <a:ext cx="2718655" cy="189806"/>
          </a:xfrm>
          <a:prstGeom prst="roundRect">
            <a:avLst>
              <a:gd name="adj" fmla="val 3704"/>
            </a:avLst>
          </a:prstGeom>
          <a:noFill/>
          <a:ln w="9525" algn="ctr">
            <a:noFill/>
            <a:round/>
            <a:headEnd type="none" w="sm" len="sm"/>
            <a:tailEnd type="none" w="sm" len="sm"/>
          </a:ln>
        </p:spPr>
        <p:txBody>
          <a:bodyPr lIns="0" tIns="0" rIns="0" bIns="0" anchor="ctr">
            <a:spAutoFit/>
          </a:bodyPr>
          <a:lstStyle/>
          <a:p>
            <a:pPr latinLnBrk="0">
              <a:lnSpc>
                <a:spcPct val="110000"/>
              </a:lnSpc>
              <a:spcBef>
                <a:spcPct val="50000"/>
              </a:spcBef>
              <a:buSzPct val="80000"/>
              <a:buNone/>
            </a:pPr>
            <a:r>
              <a:rPr lang="ko-KR" altLang="en-US" sz="1100" b="1" dirty="0">
                <a:solidFill>
                  <a:srgbClr val="000000"/>
                </a:solidFill>
                <a:latin typeface="+mj-ea"/>
                <a:ea typeface="+mj-ea"/>
              </a:rPr>
              <a:t>보안 아키텍처 표준 준수</a:t>
            </a:r>
          </a:p>
        </p:txBody>
      </p:sp>
      <p:sp>
        <p:nvSpPr>
          <p:cNvPr id="131" name="Rectangle 107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38110" y="3687931"/>
            <a:ext cx="2924443" cy="256097"/>
          </a:xfrm>
          <a:prstGeom prst="rect">
            <a:avLst/>
          </a:prstGeom>
          <a:solidFill>
            <a:schemeClr val="accent2"/>
          </a:solidFill>
          <a:ln w="9525" algn="ctr">
            <a:noFill/>
            <a:miter lim="800000"/>
            <a:headEnd/>
            <a:tailEnd/>
          </a:ln>
          <a:effectLst>
            <a:outerShdw dist="12700" dir="10800000" algn="ctr" rotWithShape="0">
              <a:srgbClr val="674B23"/>
            </a:outerShdw>
          </a:effectLst>
        </p:spPr>
        <p:txBody>
          <a:bodyPr wrap="square" lIns="90000" tIns="46800" rIns="90000" bIns="46800" anchor="ctr">
            <a:spAutoFit/>
          </a:bodyPr>
          <a:lstStyle/>
          <a:p>
            <a:pPr algn="ctr" latinLnBrk="0">
              <a:buSzPct val="80000"/>
              <a:buNone/>
            </a:pPr>
            <a:endParaRPr lang="ko-KR" altLang="en-US" sz="1050" b="1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sp>
        <p:nvSpPr>
          <p:cNvPr id="132" name="AutoShape 1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81413" y="3736154"/>
            <a:ext cx="2718655" cy="189806"/>
          </a:xfrm>
          <a:prstGeom prst="roundRect">
            <a:avLst>
              <a:gd name="adj" fmla="val 3704"/>
            </a:avLst>
          </a:prstGeom>
          <a:noFill/>
          <a:ln w="9525" algn="ctr">
            <a:noFill/>
            <a:round/>
            <a:headEnd type="none" w="sm" len="sm"/>
            <a:tailEnd type="none" w="sm" len="sm"/>
          </a:ln>
        </p:spPr>
        <p:txBody>
          <a:bodyPr lIns="0" tIns="0" rIns="0" bIns="0" anchor="ctr">
            <a:spAutoFit/>
          </a:bodyPr>
          <a:lstStyle/>
          <a:p>
            <a:pPr latinLnBrk="0">
              <a:lnSpc>
                <a:spcPct val="110000"/>
              </a:lnSpc>
              <a:spcBef>
                <a:spcPct val="50000"/>
              </a:spcBef>
              <a:buSzPct val="80000"/>
              <a:buNone/>
            </a:pPr>
            <a:r>
              <a:rPr lang="ko-KR" altLang="en-US" sz="1100" b="1" dirty="0">
                <a:solidFill>
                  <a:srgbClr val="000000"/>
                </a:solidFill>
                <a:latin typeface="+mj-ea"/>
                <a:ea typeface="+mj-ea"/>
              </a:rPr>
              <a:t>개인 정보 보호 및 모니터링</a:t>
            </a:r>
          </a:p>
        </p:txBody>
      </p:sp>
      <p:sp>
        <p:nvSpPr>
          <p:cNvPr id="133" name="AutoShape 133"/>
          <p:cNvSpPr>
            <a:spLocks noChangeArrowheads="1"/>
          </p:cNvSpPr>
          <p:nvPr/>
        </p:nvSpPr>
        <p:spPr bwMode="gray">
          <a:xfrm>
            <a:off x="3577583" y="1916832"/>
            <a:ext cx="3096469" cy="4297500"/>
          </a:xfrm>
          <a:prstGeom prst="roundRect">
            <a:avLst>
              <a:gd name="adj" fmla="val 0"/>
            </a:avLst>
          </a:prstGeom>
          <a:solidFill>
            <a:schemeClr val="accent3"/>
          </a:solidFill>
          <a:ln w="12700" algn="ctr">
            <a:noFill/>
            <a:round/>
            <a:headEnd/>
            <a:tailEnd/>
          </a:ln>
          <a:effectLst/>
        </p:spPr>
        <p:txBody>
          <a:bodyPr lIns="36000" tIns="36000" rIns="36000" bIns="36000" anchor="ctr"/>
          <a:lstStyle/>
          <a:p>
            <a:pPr defTabSz="1027113" fontAlgn="auto" latinLnBrk="0">
              <a:spcBef>
                <a:spcPct val="40000"/>
              </a:spcBef>
              <a:spcAft>
                <a:spcPts val="0"/>
              </a:spcAft>
              <a:buSzPct val="80000"/>
              <a:buNone/>
              <a:defRPr/>
            </a:pPr>
            <a:endParaRPr kumimoji="0" lang="ko-KR" altLang="ko-KR" sz="1800" b="1" kern="0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sp>
        <p:nvSpPr>
          <p:cNvPr id="134" name="Line 134"/>
          <p:cNvSpPr>
            <a:spLocks noChangeShapeType="1"/>
          </p:cNvSpPr>
          <p:nvPr/>
        </p:nvSpPr>
        <p:spPr bwMode="auto">
          <a:xfrm>
            <a:off x="3582407" y="1916832"/>
            <a:ext cx="0" cy="4410000"/>
          </a:xfrm>
          <a:prstGeom prst="line">
            <a:avLst/>
          </a:prstGeom>
          <a:noFill/>
          <a:ln w="28575">
            <a:solidFill>
              <a:srgbClr val="D7D7D7"/>
            </a:solidFill>
            <a:round/>
            <a:headEnd/>
            <a:tailEnd/>
          </a:ln>
          <a:effectLst/>
        </p:spPr>
        <p:txBody>
          <a:bodyPr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SzPct val="80000"/>
              <a:buNone/>
              <a:defRPr/>
            </a:pPr>
            <a:endParaRPr kumimoji="0" lang="ko-KR" altLang="en-US" sz="1050" b="1" kern="0" dirty="0">
              <a:solidFill>
                <a:srgbClr val="000000"/>
              </a:solidFill>
              <a:latin typeface="+mj-ea"/>
              <a:ea typeface="+mj-ea"/>
            </a:endParaRPr>
          </a:p>
        </p:txBody>
      </p:sp>
      <p:cxnSp>
        <p:nvCxnSpPr>
          <p:cNvPr id="135" name="AutoShape 156"/>
          <p:cNvCxnSpPr>
            <a:cxnSpLocks noChangeShapeType="1"/>
            <a:stCxn id="143" idx="2"/>
            <a:endCxn id="144" idx="0"/>
          </p:cNvCxnSpPr>
          <p:nvPr/>
        </p:nvCxnSpPr>
        <p:spPr bwMode="auto">
          <a:xfrm>
            <a:off x="4380906" y="2660263"/>
            <a:ext cx="0" cy="470370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 type="triangle" w="med" len="med"/>
          </a:ln>
        </p:spPr>
      </p:cxnSp>
      <p:cxnSp>
        <p:nvCxnSpPr>
          <p:cNvPr id="136" name="AutoShape 160"/>
          <p:cNvCxnSpPr>
            <a:cxnSpLocks noChangeShapeType="1"/>
            <a:stCxn id="146" idx="2"/>
            <a:endCxn id="142" idx="2"/>
          </p:cNvCxnSpPr>
          <p:nvPr/>
        </p:nvCxnSpPr>
        <p:spPr bwMode="auto">
          <a:xfrm rot="16200000" flipH="1">
            <a:off x="5059292" y="4644965"/>
            <a:ext cx="243040" cy="1590982"/>
          </a:xfrm>
          <a:prstGeom prst="bentConnector3">
            <a:avLst>
              <a:gd name="adj1" fmla="val 217573"/>
            </a:avLst>
          </a:prstGeom>
          <a:noFill/>
          <a:ln w="9525">
            <a:solidFill>
              <a:srgbClr val="5F5F5F"/>
            </a:solidFill>
            <a:miter lim="800000"/>
            <a:headEnd/>
            <a:tailEnd type="triangle" w="med" len="med"/>
          </a:ln>
        </p:spPr>
      </p:cxnSp>
      <p:cxnSp>
        <p:nvCxnSpPr>
          <p:cNvPr id="137" name="AutoShape 161"/>
          <p:cNvCxnSpPr>
            <a:cxnSpLocks noChangeShapeType="1"/>
            <a:stCxn id="142" idx="0"/>
          </p:cNvCxnSpPr>
          <p:nvPr/>
        </p:nvCxnSpPr>
        <p:spPr bwMode="auto">
          <a:xfrm flipV="1">
            <a:off x="5976303" y="4655456"/>
            <a:ext cx="0" cy="398191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 type="triangle" w="med" len="med"/>
          </a:ln>
        </p:spPr>
      </p:cxnSp>
      <p:cxnSp>
        <p:nvCxnSpPr>
          <p:cNvPr id="138" name="AutoShape 163"/>
          <p:cNvCxnSpPr>
            <a:cxnSpLocks noChangeShapeType="1"/>
            <a:stCxn id="142" idx="1"/>
            <a:endCxn id="143" idx="3"/>
          </p:cNvCxnSpPr>
          <p:nvPr/>
        </p:nvCxnSpPr>
        <p:spPr bwMode="auto">
          <a:xfrm rot="10800000">
            <a:off x="4945755" y="2449520"/>
            <a:ext cx="517686" cy="285829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5F5F5F"/>
            </a:solidFill>
            <a:miter lim="800000"/>
            <a:headEnd/>
            <a:tailEnd type="triangle" w="med" len="med"/>
          </a:ln>
        </p:spPr>
      </p:cxnSp>
      <p:sp>
        <p:nvSpPr>
          <p:cNvPr id="139" name="Text Box 165"/>
          <p:cNvSpPr txBox="1">
            <a:spLocks noChangeArrowheads="1"/>
          </p:cNvSpPr>
          <p:nvPr/>
        </p:nvSpPr>
        <p:spPr bwMode="auto">
          <a:xfrm>
            <a:off x="5169468" y="5019758"/>
            <a:ext cx="392345" cy="24468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80000"/>
              <a:buNone/>
              <a:defRPr/>
            </a:pPr>
            <a:r>
              <a:rPr kumimoji="0" lang="ko-KR" altLang="en-US" sz="900" b="1" kern="0" dirty="0">
                <a:solidFill>
                  <a:srgbClr val="000000"/>
                </a:solidFill>
                <a:latin typeface="+mj-ea"/>
                <a:ea typeface="+mj-ea"/>
              </a:rPr>
              <a:t>실패</a:t>
            </a:r>
          </a:p>
        </p:txBody>
      </p:sp>
      <p:sp>
        <p:nvSpPr>
          <p:cNvPr id="140" name="Text Box 166"/>
          <p:cNvSpPr txBox="1">
            <a:spLocks noChangeArrowheads="1"/>
          </p:cNvSpPr>
          <p:nvPr/>
        </p:nvSpPr>
        <p:spPr bwMode="auto">
          <a:xfrm>
            <a:off x="5924022" y="4769830"/>
            <a:ext cx="392345" cy="24468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auto" latinLnBrk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80000"/>
              <a:buNone/>
              <a:defRPr/>
            </a:pPr>
            <a:r>
              <a:rPr kumimoji="0" lang="ko-KR" altLang="en-US" sz="900" b="1" kern="0" dirty="0">
                <a:solidFill>
                  <a:srgbClr val="000000"/>
                </a:solidFill>
                <a:latin typeface="+mj-ea"/>
                <a:ea typeface="+mj-ea"/>
              </a:rPr>
              <a:t>성공</a:t>
            </a:r>
          </a:p>
        </p:txBody>
      </p:sp>
      <p:cxnSp>
        <p:nvCxnSpPr>
          <p:cNvPr id="141" name="AutoShape 167"/>
          <p:cNvCxnSpPr>
            <a:cxnSpLocks noChangeShapeType="1"/>
          </p:cNvCxnSpPr>
          <p:nvPr/>
        </p:nvCxnSpPr>
        <p:spPr bwMode="auto">
          <a:xfrm flipH="1">
            <a:off x="4937716" y="2446342"/>
            <a:ext cx="516077" cy="0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 type="triangle" w="med" len="med"/>
          </a:ln>
        </p:spPr>
      </p:cxnSp>
      <p:sp>
        <p:nvSpPr>
          <p:cNvPr id="142" name="AutoShape 168"/>
          <p:cNvSpPr>
            <a:spLocks noChangeArrowheads="1"/>
          </p:cNvSpPr>
          <p:nvPr/>
        </p:nvSpPr>
        <p:spPr bwMode="auto">
          <a:xfrm>
            <a:off x="5463440" y="5053647"/>
            <a:ext cx="1025726" cy="508329"/>
          </a:xfrm>
          <a:prstGeom prst="flowChartDecision">
            <a:avLst/>
          </a:prstGeom>
          <a:solidFill>
            <a:srgbClr val="7FA9CB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FFFFFF"/>
                </a:solidFill>
                <a:latin typeface="+mj-ea"/>
                <a:ea typeface="+mj-ea"/>
              </a:rPr>
              <a:t>사고방지</a:t>
            </a:r>
          </a:p>
        </p:txBody>
      </p:sp>
      <p:sp>
        <p:nvSpPr>
          <p:cNvPr id="143" name="Rectangle 169"/>
          <p:cNvSpPr>
            <a:spLocks noChangeArrowheads="1"/>
          </p:cNvSpPr>
          <p:nvPr/>
        </p:nvSpPr>
        <p:spPr bwMode="auto">
          <a:xfrm>
            <a:off x="3816056" y="2238775"/>
            <a:ext cx="1129697" cy="421489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보안이벤트 수집</a:t>
            </a:r>
          </a:p>
        </p:txBody>
      </p:sp>
      <p:sp>
        <p:nvSpPr>
          <p:cNvPr id="144" name="Rectangle 170"/>
          <p:cNvSpPr>
            <a:spLocks noChangeArrowheads="1"/>
          </p:cNvSpPr>
          <p:nvPr/>
        </p:nvSpPr>
        <p:spPr bwMode="auto">
          <a:xfrm>
            <a:off x="3816056" y="3130633"/>
            <a:ext cx="1129697" cy="421489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정보유출</a:t>
            </a:r>
            <a:endParaRPr kumimoji="0" lang="en-US" altLang="ko-KR" sz="1050" b="1" kern="0" dirty="0">
              <a:solidFill>
                <a:srgbClr val="003366"/>
              </a:solidFill>
              <a:latin typeface="+mj-ea"/>
              <a:ea typeface="+mj-ea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모니터링</a:t>
            </a:r>
          </a:p>
        </p:txBody>
      </p:sp>
      <p:sp>
        <p:nvSpPr>
          <p:cNvPr id="145" name="Rectangle 172"/>
          <p:cNvSpPr>
            <a:spLocks noChangeArrowheads="1"/>
          </p:cNvSpPr>
          <p:nvPr/>
        </p:nvSpPr>
        <p:spPr bwMode="auto">
          <a:xfrm>
            <a:off x="3844181" y="4032773"/>
            <a:ext cx="1082281" cy="421490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보안 아키텍처 </a:t>
            </a:r>
            <a:endParaRPr kumimoji="0" lang="en-US" altLang="ko-KR" sz="1050" b="1" kern="0" dirty="0">
              <a:solidFill>
                <a:srgbClr val="003366"/>
              </a:solidFill>
              <a:latin typeface="+mj-ea"/>
              <a:ea typeface="+mj-ea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준수 모니터링</a:t>
            </a:r>
          </a:p>
        </p:txBody>
      </p:sp>
      <p:sp>
        <p:nvSpPr>
          <p:cNvPr id="146" name="Rectangle 173"/>
          <p:cNvSpPr>
            <a:spLocks noChangeArrowheads="1"/>
          </p:cNvSpPr>
          <p:nvPr/>
        </p:nvSpPr>
        <p:spPr bwMode="auto">
          <a:xfrm>
            <a:off x="3844181" y="4897447"/>
            <a:ext cx="1082281" cy="421489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예</a:t>
            </a:r>
            <a:r>
              <a:rPr kumimoji="0" lang="en-US" altLang="ko-KR" sz="1050" b="1" kern="0" dirty="0">
                <a:solidFill>
                  <a:srgbClr val="003366"/>
                </a:solidFill>
                <a:latin typeface="+mj-ea"/>
                <a:ea typeface="+mj-ea"/>
              </a:rPr>
              <a:t>·</a:t>
            </a: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경보</a:t>
            </a:r>
          </a:p>
        </p:txBody>
      </p:sp>
      <p:sp>
        <p:nvSpPr>
          <p:cNvPr id="147" name="Rectangle 174"/>
          <p:cNvSpPr>
            <a:spLocks noChangeArrowheads="1"/>
          </p:cNvSpPr>
          <p:nvPr/>
        </p:nvSpPr>
        <p:spPr bwMode="auto">
          <a:xfrm>
            <a:off x="5397524" y="2190058"/>
            <a:ext cx="1155950" cy="510448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변경관리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en-US" altLang="ko-KR" sz="1050" b="1" kern="0" dirty="0">
                <a:solidFill>
                  <a:srgbClr val="003366"/>
                </a:solidFill>
                <a:latin typeface="+mj-ea"/>
                <a:ea typeface="+mj-ea"/>
              </a:rPr>
              <a:t>/Feedback</a:t>
            </a:r>
          </a:p>
        </p:txBody>
      </p:sp>
      <p:sp>
        <p:nvSpPr>
          <p:cNvPr id="148" name="Rectangle 176"/>
          <p:cNvSpPr>
            <a:spLocks noChangeArrowheads="1"/>
          </p:cNvSpPr>
          <p:nvPr/>
        </p:nvSpPr>
        <p:spPr bwMode="auto">
          <a:xfrm>
            <a:off x="5397524" y="4246675"/>
            <a:ext cx="1155950" cy="408781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29618F"/>
            </a:solidFill>
            <a:miter lim="800000"/>
            <a:headEnd/>
            <a:tailEnd/>
          </a:ln>
          <a:effectLst/>
        </p:spPr>
        <p:txBody>
          <a:bodyPr lIns="54000" tIns="35995" rIns="54000" bIns="45714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kumimoji="0" lang="ko-KR" altLang="en-US" sz="1050" b="1" kern="0" dirty="0">
                <a:solidFill>
                  <a:srgbClr val="003366"/>
                </a:solidFill>
                <a:latin typeface="+mj-ea"/>
                <a:ea typeface="+mj-ea"/>
              </a:rPr>
              <a:t>결과보고 및 공지</a:t>
            </a:r>
          </a:p>
        </p:txBody>
      </p:sp>
      <p:cxnSp>
        <p:nvCxnSpPr>
          <p:cNvPr id="149" name="AutoShape 161"/>
          <p:cNvCxnSpPr>
            <a:cxnSpLocks noChangeShapeType="1"/>
            <a:stCxn id="148" idx="0"/>
            <a:endCxn id="147" idx="2"/>
          </p:cNvCxnSpPr>
          <p:nvPr/>
        </p:nvCxnSpPr>
        <p:spPr bwMode="auto">
          <a:xfrm flipV="1">
            <a:off x="5975498" y="2700506"/>
            <a:ext cx="0" cy="1546169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 type="triangle" w="med" len="med"/>
          </a:ln>
        </p:spPr>
      </p:cxnSp>
      <p:cxnSp>
        <p:nvCxnSpPr>
          <p:cNvPr id="150" name="AutoShape 157"/>
          <p:cNvCxnSpPr>
            <a:cxnSpLocks noChangeShapeType="1"/>
            <a:stCxn id="145" idx="2"/>
            <a:endCxn id="146" idx="0"/>
          </p:cNvCxnSpPr>
          <p:nvPr/>
        </p:nvCxnSpPr>
        <p:spPr bwMode="auto">
          <a:xfrm>
            <a:off x="4385321" y="4454263"/>
            <a:ext cx="0" cy="443184"/>
          </a:xfrm>
          <a:prstGeom prst="straightConnector1">
            <a:avLst/>
          </a:prstGeom>
          <a:noFill/>
          <a:ln w="9525">
            <a:solidFill>
              <a:srgbClr val="5F5F5F"/>
            </a:solidFill>
            <a:round/>
            <a:headEnd/>
            <a:tailEnd type="triangle" w="med" len="med"/>
          </a:ln>
        </p:spPr>
      </p:cxnSp>
      <p:cxnSp>
        <p:nvCxnSpPr>
          <p:cNvPr id="151" name="꺾인 연결선 150"/>
          <p:cNvCxnSpPr>
            <a:stCxn id="144" idx="1"/>
            <a:endCxn id="145" idx="1"/>
          </p:cNvCxnSpPr>
          <p:nvPr/>
        </p:nvCxnSpPr>
        <p:spPr bwMode="auto">
          <a:xfrm rot="10800000" flipH="1" flipV="1">
            <a:off x="3816056" y="3341378"/>
            <a:ext cx="28123" cy="902140"/>
          </a:xfrm>
          <a:prstGeom prst="bentConnector3">
            <a:avLst>
              <a:gd name="adj1" fmla="val -514494"/>
            </a:avLst>
          </a:prstGeom>
          <a:solidFill>
            <a:schemeClr val="accent1"/>
          </a:solidFill>
          <a:ln w="9525" cap="flat" cmpd="sng" algn="ctr">
            <a:solidFill>
              <a:srgbClr val="808080"/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53" name="직사각형 152"/>
          <p:cNvSpPr/>
          <p:nvPr/>
        </p:nvSpPr>
        <p:spPr>
          <a:xfrm>
            <a:off x="6811427" y="1916832"/>
            <a:ext cx="2517639" cy="4282638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rgbClr val="FFFFFF">
                <a:lumMod val="8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endParaRPr lang="ko-KR" altLang="en-US" sz="1000" b="1" kern="0" dirty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  <p:sp>
        <p:nvSpPr>
          <p:cNvPr id="154" name="Rectangle 1124"/>
          <p:cNvSpPr>
            <a:spLocks noChangeArrowheads="1"/>
          </p:cNvSpPr>
          <p:nvPr/>
        </p:nvSpPr>
        <p:spPr bwMode="auto">
          <a:xfrm>
            <a:off x="6894295" y="2467841"/>
            <a:ext cx="2221776" cy="3180621"/>
          </a:xfrm>
          <a:prstGeom prst="rect">
            <a:avLst/>
          </a:prstGeom>
          <a:noFill/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국가정보보안기본지침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국민체육진흥공단의 정보보호지침 및 정보보호 관련 법규 준수</a:t>
            </a:r>
            <a:endParaRPr lang="en-US" altLang="ko-KR" sz="1000" b="1" kern="0" dirty="0">
              <a:solidFill>
                <a:sysClr val="windowText" lastClr="000000"/>
              </a:solidFill>
              <a:latin typeface="맑은 고딕"/>
              <a:ea typeface="맑은 고딕"/>
            </a:endParaRPr>
          </a:p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보안업무담당자를 임명하고 비밀보관함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비밀관리기록부 관리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열람 요청접수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비밀자료 지출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/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반납 관리</a:t>
            </a:r>
          </a:p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이중 잠금 장치를 설치한 비밀자료 보관장비 설치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(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비밀관리 기록부 비치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)</a:t>
            </a:r>
          </a:p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컴퓨터 및 통신기기의 사용 및 취급 규정 및 전자문서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(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산출물</a:t>
            </a:r>
            <a:r>
              <a:rPr lang="en-US" altLang="ko-KR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)</a:t>
            </a: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의 저장 및 관리 규정 수립</a:t>
            </a:r>
            <a:endParaRPr lang="en-US" altLang="ko-KR" sz="1000" b="1" kern="0" dirty="0">
              <a:solidFill>
                <a:sysClr val="windowText" lastClr="000000"/>
              </a:solidFill>
              <a:latin typeface="맑은 고딕"/>
              <a:ea typeface="맑은 고딕"/>
            </a:endParaRPr>
          </a:p>
          <a:p>
            <a:pPr marL="171450" indent="-171450" eaLnBrk="1" fontAlgn="auto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ko-KR" altLang="en-US" sz="1000" b="1" kern="0" dirty="0">
                <a:solidFill>
                  <a:sysClr val="windowText" lastClr="000000"/>
                </a:solidFill>
                <a:latin typeface="맑은 고딕"/>
                <a:ea typeface="맑은 고딕"/>
              </a:rPr>
              <a:t>사업참여 인원의 비밀접근 및 취급에 관한 통제 및 출입통제 규정 및 절차 수립</a:t>
            </a:r>
            <a:endParaRPr lang="en-US" altLang="ko-KR" sz="1000" b="1" kern="0" dirty="0">
              <a:solidFill>
                <a:sysClr val="windowText" lastClr="000000"/>
              </a:solidFill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경영층 및 관리자를 포함한 주요 의사결정자의 지원활동</a:t>
            </a:r>
            <a:r>
              <a:rPr lang="en-US" altLang="ko-KR" sz="1600" dirty="0"/>
              <a:t>, </a:t>
            </a:r>
            <a:r>
              <a:rPr lang="ko-KR" altLang="en-US" sz="1600" dirty="0"/>
              <a:t>정보시스템 관련 신속한 의사결정</a:t>
            </a:r>
            <a:r>
              <a:rPr lang="en-US" altLang="ko-KR" sz="1600" dirty="0"/>
              <a:t>, </a:t>
            </a:r>
            <a:r>
              <a:rPr lang="ko-KR" altLang="en-US" sz="1600" dirty="0"/>
              <a:t>정보화의 혁신적 </a:t>
            </a:r>
            <a:r>
              <a:rPr lang="en-US" altLang="ko-KR" sz="1600" dirty="0"/>
              <a:t>Role Model</a:t>
            </a:r>
            <a:r>
              <a:rPr lang="ko-KR" altLang="en-US" sz="1600" dirty="0"/>
              <a:t>로서 강력한 </a:t>
            </a:r>
            <a:r>
              <a:rPr lang="en-US" altLang="ko-KR" sz="1600" dirty="0"/>
              <a:t>Sponsorship</a:t>
            </a:r>
            <a:r>
              <a:rPr lang="ko-KR" altLang="en-US" sz="1600" dirty="0"/>
              <a:t>을 발휘하도록 지원해야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6.2.3 Sponsorship </a:t>
            </a:r>
            <a:r>
              <a:rPr lang="ko-KR" altLang="en-US" dirty="0"/>
              <a:t>프로그램 운영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변화 리더십 개발 원칙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그룹 48"/>
          <p:cNvGrpSpPr/>
          <p:nvPr/>
        </p:nvGrpSpPr>
        <p:grpSpPr>
          <a:xfrm>
            <a:off x="347604" y="1531392"/>
            <a:ext cx="9180000" cy="4791235"/>
            <a:chOff x="237000" y="1601326"/>
            <a:chExt cx="9425984" cy="4791235"/>
          </a:xfrm>
        </p:grpSpPr>
        <p:sp>
          <p:nvSpPr>
            <p:cNvPr id="50" name="Rectangle 15"/>
            <p:cNvSpPr>
              <a:spLocks noChangeArrowheads="1"/>
            </p:cNvSpPr>
            <p:nvPr/>
          </p:nvSpPr>
          <p:spPr bwMode="auto">
            <a:xfrm>
              <a:off x="7154142" y="1601326"/>
              <a:ext cx="2508842" cy="477476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51" name="Rectangle 4"/>
            <p:cNvSpPr>
              <a:spLocks noChangeArrowheads="1"/>
            </p:cNvSpPr>
            <p:nvPr/>
          </p:nvSpPr>
          <p:spPr bwMode="auto">
            <a:xfrm>
              <a:off x="2685506" y="1911728"/>
              <a:ext cx="3844323" cy="1277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스폰서십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Role Model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명확화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스폰서가 내부 직원들에게 리더십을 발휘할 수 있도록 역할을 명확히 정해주고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본인의 직접 자신의 리더십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역량을 진단하고 개선할 수 있도록 해야 함</a:t>
              </a:r>
              <a:endParaRPr lang="ko-KR" altLang="en-AU" sz="1100" b="1" dirty="0">
                <a:solidFill>
                  <a:schemeClr val="tx1"/>
                </a:solidFill>
                <a:latin typeface="+mn-ea"/>
                <a:cs typeface="Arial" charset="0"/>
              </a:endParaRPr>
            </a:p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Sponsorship activity calendar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확대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대상자를 확대 적용하고 이에 대한 피드백을 전체 직원에게 공유토록 하여 리더십을 가시화함</a:t>
              </a:r>
            </a:p>
          </p:txBody>
        </p:sp>
        <p:sp>
          <p:nvSpPr>
            <p:cNvPr id="52" name="Rectangle 5"/>
            <p:cNvSpPr>
              <a:spLocks noChangeArrowheads="1"/>
            </p:cNvSpPr>
            <p:nvPr/>
          </p:nvSpPr>
          <p:spPr bwMode="auto">
            <a:xfrm>
              <a:off x="237000" y="1602332"/>
              <a:ext cx="1368152" cy="4790229"/>
            </a:xfrm>
            <a:prstGeom prst="rect">
              <a:avLst/>
            </a:prstGeom>
            <a:solidFill>
              <a:srgbClr val="B1CFFC"/>
            </a:solidFill>
            <a:ln w="6350" algn="ctr">
              <a:noFill/>
              <a:miter lim="800000"/>
              <a:headEnd/>
              <a:tailEnd/>
            </a:ln>
            <a:extLst/>
          </p:spPr>
          <p:txBody>
            <a:bodyPr wrap="none" lIns="91423" tIns="45712" rIns="91423" bIns="45712" anchor="ctr"/>
            <a:lstStyle/>
            <a:p>
              <a:pPr>
                <a:buNone/>
              </a:pPr>
              <a:endParaRPr lang="ko-KR" altLang="en-US" b="1">
                <a:latin typeface="+mn-ea"/>
              </a:endParaRPr>
            </a:p>
          </p:txBody>
        </p:sp>
        <p:sp>
          <p:nvSpPr>
            <p:cNvPr id="53" name="AutoShape 6"/>
            <p:cNvSpPr>
              <a:spLocks noChangeArrowheads="1"/>
            </p:cNvSpPr>
            <p:nvPr/>
          </p:nvSpPr>
          <p:spPr bwMode="auto">
            <a:xfrm>
              <a:off x="546872" y="1911728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지속적인 주요의사결정자의 </a:t>
              </a:r>
            </a:p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 err="1">
                  <a:latin typeface="+mn-ea"/>
                  <a:cs typeface="Arial" charset="0"/>
                </a:rPr>
                <a:t>스폰서십</a:t>
              </a:r>
              <a:r>
                <a:rPr lang="ko-KR" altLang="en-US" sz="1100" b="1" dirty="0">
                  <a:latin typeface="+mn-ea"/>
                  <a:cs typeface="Arial" charset="0"/>
                </a:rPr>
                <a:t> 활동 지원 강화</a:t>
              </a:r>
            </a:p>
          </p:txBody>
        </p:sp>
        <p:sp>
          <p:nvSpPr>
            <p:cNvPr id="54" name="AutoShape 7"/>
            <p:cNvSpPr>
              <a:spLocks noChangeArrowheads="1"/>
            </p:cNvSpPr>
            <p:nvPr/>
          </p:nvSpPr>
          <p:spPr bwMode="auto">
            <a:xfrm>
              <a:off x="543697" y="3568780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>
                  <a:latin typeface="+mn-ea"/>
                  <a:cs typeface="Arial" charset="0"/>
                </a:rPr>
                <a:t>순차적 변화 네트워크를 </a:t>
              </a:r>
              <a:br>
                <a:rPr lang="ko-KR" altLang="en-US" sz="1100" b="1">
                  <a:latin typeface="+mn-ea"/>
                  <a:cs typeface="Arial" charset="0"/>
                </a:rPr>
              </a:br>
              <a:r>
                <a:rPr lang="ko-KR" altLang="en-US" sz="1100" b="1">
                  <a:latin typeface="+mn-ea"/>
                  <a:cs typeface="Arial" charset="0"/>
                </a:rPr>
                <a:t>통한 리더십 역할 확대</a:t>
              </a:r>
            </a:p>
          </p:txBody>
        </p:sp>
        <p:sp>
          <p:nvSpPr>
            <p:cNvPr id="55" name="Rectangle 8"/>
            <p:cNvSpPr>
              <a:spLocks noChangeArrowheads="1"/>
            </p:cNvSpPr>
            <p:nvPr/>
          </p:nvSpPr>
          <p:spPr bwMode="auto">
            <a:xfrm>
              <a:off x="2682330" y="3532935"/>
              <a:ext cx="3844323" cy="1277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변화네트워크 활용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실무담당자의 변화 스폰서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/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담당자 임명을 통한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변화 네트워크를 구축하여 주요 의사결정자의 리더십이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블랙홀 현상 없이 공단내 직원들에게까지 전파될 수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있도록 함</a:t>
              </a:r>
            </a:p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중간 관리자의 리더 역할 강화를 위한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Middle-up-down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리더십 유도</a:t>
              </a:r>
            </a:p>
          </p:txBody>
        </p:sp>
        <p:sp>
          <p:nvSpPr>
            <p:cNvPr id="56" name="Text Box 11"/>
            <p:cNvSpPr txBox="1">
              <a:spLocks noChangeArrowheads="1"/>
            </p:cNvSpPr>
            <p:nvPr/>
          </p:nvSpPr>
          <p:spPr bwMode="auto">
            <a:xfrm>
              <a:off x="7329561" y="2802464"/>
              <a:ext cx="2171700" cy="23083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 anchor="ctr">
              <a:spAutoFit/>
            </a:bodyPr>
            <a:lstStyle>
              <a:lvl1pPr marL="101600" indent="-101600"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주요 의사결정자의 프로젝트 추진 의지 확산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관리자의 참여 독려를 위한 </a:t>
              </a:r>
              <a:r>
                <a:rPr kumimoji="0" lang="en-US" altLang="ko-KR" sz="1200" b="1" dirty="0">
                  <a:latin typeface="+mn-ea"/>
                  <a:ea typeface="+mn-ea"/>
                </a:rPr>
                <a:t>Role Model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변화네트워크 활용한 관리자의 역할 강화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신속한 의사결정 체계</a:t>
              </a:r>
            </a:p>
          </p:txBody>
        </p:sp>
        <p:sp>
          <p:nvSpPr>
            <p:cNvPr id="57" name="AutoShape 13"/>
            <p:cNvSpPr>
              <a:spLocks noChangeArrowheads="1"/>
            </p:cNvSpPr>
            <p:nvPr/>
          </p:nvSpPr>
          <p:spPr bwMode="auto">
            <a:xfrm>
              <a:off x="543697" y="5225833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명확하고 신속한  협의 </a:t>
              </a:r>
              <a:br>
                <a:rPr lang="ko-KR" altLang="en-US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및 의사결정 체계 구축</a:t>
              </a:r>
            </a:p>
          </p:txBody>
        </p:sp>
        <p:sp>
          <p:nvSpPr>
            <p:cNvPr id="58" name="Rectangle 14"/>
            <p:cNvSpPr>
              <a:spLocks noChangeArrowheads="1"/>
            </p:cNvSpPr>
            <p:nvPr/>
          </p:nvSpPr>
          <p:spPr bwMode="auto">
            <a:xfrm>
              <a:off x="2682330" y="5193695"/>
              <a:ext cx="3844323" cy="9387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Advisory group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활성화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</a:b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주요 의사결정자를 대상으로 구성된 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advisory group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내 이해관계를 초월하여  신속하게 문제발견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의사결정</a:t>
              </a:r>
              <a:r>
                <a:rPr lang="en-US" altLang="ko-KR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solidFill>
                    <a:schemeClr val="tx1"/>
                  </a:solidFill>
                  <a:latin typeface="+mn-ea"/>
                  <a:cs typeface="Arial" charset="0"/>
                </a:rPr>
                <a:t>자원 지원이 이루어질 수 있도록 체계를 구축 운영하여야 함</a:t>
              </a:r>
            </a:p>
          </p:txBody>
        </p:sp>
        <p:sp>
          <p:nvSpPr>
            <p:cNvPr id="59" name="AutoShape 12"/>
            <p:cNvSpPr>
              <a:spLocks noChangeArrowheads="1"/>
            </p:cNvSpPr>
            <p:nvPr/>
          </p:nvSpPr>
          <p:spPr bwMode="auto">
            <a:xfrm rot="5400000">
              <a:off x="4934584" y="3775599"/>
              <a:ext cx="3753617" cy="362053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rgbClr val="4678B4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solidFill>
                <a:srgbClr val="7DAFFA">
                  <a:lumMod val="20000"/>
                  <a:lumOff val="80000"/>
                </a:srgbClr>
              </a:solidFill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en-US" altLang="ko-KR" sz="1600" dirty="0"/>
              <a:t>Steering Committee</a:t>
            </a:r>
            <a:r>
              <a:rPr lang="ko-KR" altLang="en-US" sz="1600" dirty="0"/>
              <a:t>를 활성화하여 부문간 협의 및 신속한 의사결정이 이루어지도록 하며</a:t>
            </a:r>
            <a:r>
              <a:rPr lang="en-US" altLang="ko-KR" sz="1600" dirty="0"/>
              <a:t>, </a:t>
            </a:r>
            <a:r>
              <a:rPr lang="ko-KR" altLang="en-US" sz="1600" dirty="0" err="1"/>
              <a:t>워크샵을</a:t>
            </a:r>
            <a:r>
              <a:rPr lang="ko-KR" altLang="en-US" sz="1600" dirty="0"/>
              <a:t> 통해 실무담당자의 의견을 수렴하도록 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6.2.3 Sponsorship </a:t>
            </a:r>
            <a:r>
              <a:rPr lang="ko-KR" altLang="en-US" dirty="0"/>
              <a:t>프로그램 운영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협의 및 의사결정 체계 구축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그룹 162"/>
          <p:cNvGrpSpPr/>
          <p:nvPr/>
        </p:nvGrpSpPr>
        <p:grpSpPr>
          <a:xfrm>
            <a:off x="331788" y="1531392"/>
            <a:ext cx="9180000" cy="4778531"/>
            <a:chOff x="236538" y="1604061"/>
            <a:chExt cx="9432924" cy="4778531"/>
          </a:xfrm>
        </p:grpSpPr>
        <p:sp>
          <p:nvSpPr>
            <p:cNvPr id="164" name="Rectangle 34"/>
            <p:cNvSpPr>
              <a:spLocks noChangeArrowheads="1"/>
            </p:cNvSpPr>
            <p:nvPr/>
          </p:nvSpPr>
          <p:spPr bwMode="gray">
            <a:xfrm>
              <a:off x="5088781" y="1604061"/>
              <a:ext cx="4580681" cy="4772025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lang="ko-KR" altLang="en-US" sz="14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65" name="AutoShape 7"/>
            <p:cNvSpPr>
              <a:spLocks noChangeArrowheads="1"/>
            </p:cNvSpPr>
            <p:nvPr/>
          </p:nvSpPr>
          <p:spPr bwMode="auto">
            <a:xfrm>
              <a:off x="236538" y="1604061"/>
              <a:ext cx="4924254" cy="4778531"/>
            </a:xfrm>
            <a:prstGeom prst="homePlate">
              <a:avLst>
                <a:gd name="adj" fmla="val 9111"/>
              </a:avLst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marR="0" lvl="0" indent="-265113" eaLnBrk="0" fontAlgn="base" latinLnBrk="0" hangingPunct="0">
                <a:lnSpc>
                  <a:spcPct val="100000"/>
                </a:lnSpc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SzTx/>
                <a:buFont typeface="Wingdings" pitchFamily="2" charset="2"/>
                <a:buChar char="q"/>
                <a:tabLst/>
                <a:defRPr/>
              </a:pPr>
              <a:endParaRPr lang="ko-KR" altLang="en-US" sz="1400" b="1" kern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66" name="Freeform 20"/>
            <p:cNvSpPr>
              <a:spLocks/>
            </p:cNvSpPr>
            <p:nvPr/>
          </p:nvSpPr>
          <p:spPr bwMode="auto">
            <a:xfrm>
              <a:off x="236538" y="1604061"/>
              <a:ext cx="4571379" cy="371475"/>
            </a:xfrm>
            <a:custGeom>
              <a:avLst/>
              <a:gdLst>
                <a:gd name="T0" fmla="*/ 0 w 2216"/>
                <a:gd name="T1" fmla="*/ 2147483647 h 250"/>
                <a:gd name="T2" fmla="*/ 2147483647 w 2216"/>
                <a:gd name="T3" fmla="*/ 0 h 250"/>
                <a:gd name="T4" fmla="*/ 2147483647 w 2216"/>
                <a:gd name="T5" fmla="*/ 2147483647 h 250"/>
                <a:gd name="T6" fmla="*/ 0 w 2216"/>
                <a:gd name="T7" fmla="*/ 2147483647 h 250"/>
                <a:gd name="T8" fmla="*/ 0 w 2216"/>
                <a:gd name="T9" fmla="*/ 2147483647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250"/>
                <a:gd name="T17" fmla="*/ 2216 w 2216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250">
                  <a:moveTo>
                    <a:pt x="0" y="1"/>
                  </a:moveTo>
                  <a:lnTo>
                    <a:pt x="2186" y="0"/>
                  </a:lnTo>
                  <a:lnTo>
                    <a:pt x="2216" y="249"/>
                  </a:lnTo>
                  <a:lnTo>
                    <a:pt x="0" y="2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R="0" indent="0" algn="ctr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kern="0" dirty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협의 및 의사결정 체계 구조</a:t>
              </a:r>
            </a:p>
          </p:txBody>
        </p:sp>
        <p:sp>
          <p:nvSpPr>
            <p:cNvPr id="167" name="Rectangle 2"/>
            <p:cNvSpPr>
              <a:spLocks noChangeArrowheads="1"/>
            </p:cNvSpPr>
            <p:nvPr/>
          </p:nvSpPr>
          <p:spPr bwMode="auto">
            <a:xfrm>
              <a:off x="5448818" y="1797190"/>
              <a:ext cx="4067944" cy="4343400"/>
            </a:xfrm>
            <a:prstGeom prst="rect">
              <a:avLst/>
            </a:prstGeom>
            <a:noFill/>
            <a:ln w="6350" algn="ctr">
              <a:noFill/>
              <a:miter lim="800000"/>
              <a:headEnd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8000" tIns="0" rIns="72000" bIns="0" anchor="ctr"/>
            <a:lstStyle/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Font typeface="Wingdings" pitchFamily="2" charset="2"/>
                <a:buChar char="q"/>
              </a:pPr>
              <a:r>
                <a:rPr kumimoji="1" lang="en-US" altLang="ko-KR" sz="1400" b="1" kern="0" dirty="0">
                  <a:latin typeface="+mn-ea"/>
                </a:rPr>
                <a:t>Steering Committee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대상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핵심 추진 관리자 및 실무담당자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효과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본부간 협의 및 의사결정 사항에 대한 신속한 의사결정 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 </a:t>
              </a:r>
              <a:r>
                <a:rPr kumimoji="1" lang="ko-KR" altLang="en-US" sz="1000" b="1" kern="0" dirty="0">
                  <a:latin typeface="+mn-ea"/>
                </a:rPr>
                <a:t>및 추진력 확보</a:t>
              </a: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Font typeface="Wingdings" pitchFamily="2" charset="2"/>
                <a:buChar char="q"/>
              </a:pPr>
              <a:endParaRPr kumimoji="1" lang="ko-KR" altLang="en-US" sz="1000" b="1" kern="0" dirty="0">
                <a:latin typeface="+mn-ea"/>
              </a:endParaRP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Font typeface="Wingdings" pitchFamily="2" charset="2"/>
                <a:buChar char="q"/>
              </a:pPr>
              <a:r>
                <a:rPr kumimoji="1" lang="ko-KR" altLang="en-US" sz="1400" b="1" kern="0" dirty="0">
                  <a:latin typeface="+mn-ea"/>
                </a:rPr>
                <a:t>관리자 워크샵 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대상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경영층</a:t>
              </a:r>
              <a:r>
                <a:rPr kumimoji="1" lang="en-US" altLang="ko-KR" sz="1000" b="1" kern="0" dirty="0">
                  <a:latin typeface="+mn-ea"/>
                </a:rPr>
                <a:t>/</a:t>
              </a:r>
              <a:r>
                <a:rPr kumimoji="1" lang="ko-KR" altLang="en-US" sz="1000" b="1" kern="0" dirty="0">
                  <a:latin typeface="+mn-ea"/>
                </a:rPr>
                <a:t>관리자 및 핵심 추진 관리자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효과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경영층 및 관리자의 </a:t>
              </a:r>
              <a:r>
                <a:rPr kumimoji="1" lang="en-US" altLang="ko-KR" sz="1000" b="1" kern="0" dirty="0">
                  <a:latin typeface="+mn-ea"/>
                </a:rPr>
                <a:t>Sponsorship </a:t>
              </a:r>
              <a:r>
                <a:rPr kumimoji="1" lang="ko-KR" altLang="en-US" sz="1000" b="1" kern="0" dirty="0">
                  <a:latin typeface="+mn-ea"/>
                </a:rPr>
                <a:t>확보</a:t>
              </a:r>
              <a:r>
                <a:rPr kumimoji="1" lang="en-US" altLang="ko-KR" sz="1000" b="1" kern="0" dirty="0">
                  <a:latin typeface="+mn-ea"/>
                </a:rPr>
                <a:t>,  </a:t>
              </a:r>
              <a:r>
                <a:rPr kumimoji="1" lang="ko-KR" altLang="en-US" sz="1000" b="1" kern="0" dirty="0">
                  <a:latin typeface="+mn-ea"/>
                </a:rPr>
                <a:t>전략 과제에 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</a:t>
              </a:r>
              <a:r>
                <a:rPr kumimoji="1" lang="ko-KR" altLang="en-US" sz="1000" b="1" kern="0" dirty="0">
                  <a:latin typeface="+mn-ea"/>
                </a:rPr>
                <a:t>대한 의견 수렴</a:t>
              </a:r>
              <a:r>
                <a:rPr kumimoji="1" lang="en-US" altLang="ko-KR" sz="1000" b="1" kern="0" dirty="0">
                  <a:latin typeface="+mn-ea"/>
                </a:rPr>
                <a:t>, </a:t>
              </a:r>
              <a:r>
                <a:rPr kumimoji="1" lang="ko-KR" altLang="en-US" sz="1000" b="1" kern="0" dirty="0">
                  <a:latin typeface="+mn-ea"/>
                </a:rPr>
                <a:t>프로젝트  추진에 대한 책임감 제고</a:t>
              </a: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Font typeface="Wingdings" pitchFamily="2" charset="2"/>
                <a:buChar char="q"/>
              </a:pPr>
              <a:endParaRPr kumimoji="1" lang="ko-KR" altLang="en-US" sz="800" b="1" kern="0" dirty="0">
                <a:latin typeface="+mn-ea"/>
              </a:endParaRP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Font typeface="Wingdings" pitchFamily="2" charset="2"/>
                <a:buChar char="q"/>
              </a:pPr>
              <a:r>
                <a:rPr kumimoji="1" lang="ko-KR" altLang="en-US" sz="800" b="1" kern="0" dirty="0">
                  <a:latin typeface="+mn-ea"/>
                </a:rPr>
                <a:t> </a:t>
              </a:r>
              <a:r>
                <a:rPr kumimoji="1" lang="ko-KR" altLang="en-US" sz="1400" b="1" kern="0" dirty="0">
                  <a:latin typeface="+mn-ea"/>
                </a:rPr>
                <a:t>실무담당자 </a:t>
              </a:r>
              <a:r>
                <a:rPr kumimoji="1" lang="en-US" altLang="ko-KR" sz="1400" b="1" kern="0" dirty="0">
                  <a:latin typeface="+mn-ea"/>
                </a:rPr>
                <a:t>Working Group </a:t>
              </a:r>
              <a:r>
                <a:rPr kumimoji="1" lang="ko-KR" altLang="en-US" sz="1400" b="1" kern="0" dirty="0">
                  <a:latin typeface="+mn-ea"/>
                </a:rPr>
                <a:t>워크샵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대상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실무담당자 </a:t>
              </a:r>
              <a:r>
                <a:rPr kumimoji="1" lang="en-US" altLang="ko-KR" sz="1000" b="1" kern="0" dirty="0">
                  <a:latin typeface="+mn-ea"/>
                </a:rPr>
                <a:t>Opinion leader 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내용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핵심 이해관계자의 참여 촉진</a:t>
              </a:r>
              <a:r>
                <a:rPr kumimoji="1" lang="en-US" altLang="ko-KR" sz="1000" b="1" kern="0" dirty="0">
                  <a:latin typeface="+mn-ea"/>
                </a:rPr>
                <a:t>,  </a:t>
              </a:r>
              <a:r>
                <a:rPr kumimoji="1" lang="ko-KR" altLang="en-US" sz="1000" b="1" kern="0" dirty="0">
                  <a:latin typeface="+mn-ea"/>
                </a:rPr>
                <a:t>실행과제에 대한 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</a:t>
              </a:r>
              <a:r>
                <a:rPr kumimoji="1" lang="ko-KR" altLang="en-US" sz="1000" b="1" kern="0" dirty="0">
                  <a:latin typeface="+mn-ea"/>
                </a:rPr>
                <a:t>공단 내 </a:t>
              </a:r>
              <a:r>
                <a:rPr kumimoji="1" lang="en-US" altLang="ko-KR" sz="1000" b="1" kern="0" dirty="0">
                  <a:latin typeface="+mn-ea"/>
                </a:rPr>
                <a:t>Opinion Leader</a:t>
              </a:r>
              <a:r>
                <a:rPr kumimoji="1" lang="ko-KR" altLang="en-US" sz="1000" b="1" kern="0" dirty="0">
                  <a:latin typeface="+mn-ea"/>
                </a:rPr>
                <a:t>의 의견 수렴</a:t>
              </a:r>
              <a:r>
                <a:rPr kumimoji="1" lang="en-US" altLang="ko-KR" sz="1000" b="1" kern="0" dirty="0">
                  <a:latin typeface="+mn-ea"/>
                </a:rPr>
                <a:t>, </a:t>
              </a:r>
              <a:r>
                <a:rPr kumimoji="1" lang="ko-KR" altLang="en-US" sz="1000" b="1" kern="0" dirty="0">
                  <a:latin typeface="+mn-ea"/>
                </a:rPr>
                <a:t>프로젝트 추진에 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</a:t>
              </a:r>
              <a:r>
                <a:rPr kumimoji="1" lang="ko-KR" altLang="en-US" sz="1000" b="1" kern="0" dirty="0">
                  <a:latin typeface="+mn-ea"/>
                </a:rPr>
                <a:t>대한 책임감 및 긍정적 인식 제고</a:t>
              </a: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Font typeface="Wingdings" pitchFamily="2" charset="2"/>
                <a:buChar char="q"/>
              </a:pPr>
              <a:endParaRPr kumimoji="1" lang="ko-KR" altLang="en-US" sz="1000" b="1" kern="0" dirty="0">
                <a:latin typeface="+mn-ea"/>
              </a:endParaRPr>
            </a:p>
            <a:p>
              <a:pPr marL="179388" indent="-179388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Font typeface="Wingdings" pitchFamily="2" charset="2"/>
                <a:buChar char="q"/>
              </a:pPr>
              <a:r>
                <a:rPr kumimoji="1" lang="ko-KR" altLang="en-US" sz="1000" b="1" kern="0" dirty="0">
                  <a:latin typeface="+mn-ea"/>
                </a:rPr>
                <a:t> </a:t>
              </a:r>
              <a:r>
                <a:rPr kumimoji="1" lang="ko-KR" altLang="en-US" sz="1400" b="1" kern="0" dirty="0">
                  <a:latin typeface="+mn-ea"/>
                </a:rPr>
                <a:t>관련기관 직원 </a:t>
              </a:r>
              <a:r>
                <a:rPr kumimoji="1" lang="en-US" altLang="ko-KR" sz="1400" b="1" kern="0" dirty="0">
                  <a:latin typeface="+mn-ea"/>
                </a:rPr>
                <a:t>Workshop (</a:t>
              </a:r>
              <a:r>
                <a:rPr kumimoji="1" lang="ko-KR" altLang="en-US" sz="1400" b="1" kern="0" dirty="0">
                  <a:latin typeface="+mn-ea"/>
                </a:rPr>
                <a:t>필요 시</a:t>
              </a:r>
              <a:r>
                <a:rPr kumimoji="1" lang="en-US" altLang="ko-KR" sz="1400" b="1" kern="0" dirty="0">
                  <a:latin typeface="+mn-ea"/>
                </a:rPr>
                <a:t>)</a:t>
              </a:r>
              <a:endParaRPr kumimoji="1" lang="en-US" altLang="ko-KR" b="1" kern="0" dirty="0">
                <a:latin typeface="+mn-ea"/>
              </a:endParaRP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대상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국민체육진흥공단</a:t>
              </a:r>
              <a:r>
                <a:rPr kumimoji="1" lang="en-US" altLang="ko-KR" sz="1000" b="1" kern="0" dirty="0">
                  <a:latin typeface="+mn-ea"/>
                </a:rPr>
                <a:t> </a:t>
              </a:r>
              <a:r>
                <a:rPr kumimoji="1" lang="ko-KR" altLang="en-US" sz="1000" b="1" kern="0" dirty="0">
                  <a:latin typeface="+mn-ea"/>
                </a:rPr>
                <a:t>유관기관</a:t>
              </a:r>
            </a:p>
            <a:p>
              <a:pPr marL="282575" lvl="1" indent="-101600" fontAlgn="auto">
                <a:spcBef>
                  <a:spcPct val="200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80000"/>
                <a:buFont typeface="Wingdings" pitchFamily="2" charset="2"/>
                <a:buChar char="§"/>
              </a:pPr>
              <a:r>
                <a:rPr kumimoji="1" lang="ko-KR" altLang="en-US" sz="1000" b="1" kern="0" dirty="0">
                  <a:latin typeface="+mn-ea"/>
                </a:rPr>
                <a:t>내용 </a:t>
              </a:r>
              <a:r>
                <a:rPr kumimoji="1" lang="en-US" altLang="ko-KR" sz="1000" b="1" kern="0" dirty="0">
                  <a:latin typeface="+mn-ea"/>
                </a:rPr>
                <a:t>: </a:t>
              </a:r>
              <a:r>
                <a:rPr kumimoji="1" lang="ko-KR" altLang="en-US" sz="1000" b="1" kern="0" dirty="0">
                  <a:latin typeface="+mn-ea"/>
                </a:rPr>
                <a:t>직원의 몰입도 제고</a:t>
              </a:r>
              <a:r>
                <a:rPr kumimoji="1" lang="en-US" altLang="ko-KR" sz="1000" b="1" kern="0" dirty="0">
                  <a:latin typeface="+mn-ea"/>
                </a:rPr>
                <a:t>,  </a:t>
              </a:r>
              <a:r>
                <a:rPr kumimoji="1" lang="ko-KR" altLang="en-US" sz="1000" b="1" kern="0" dirty="0">
                  <a:latin typeface="+mn-ea"/>
                </a:rPr>
                <a:t>의견수렴 절차를 통해 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To-Be</a:t>
              </a:r>
              <a:r>
                <a:rPr kumimoji="1" lang="ko-KR" altLang="en-US" sz="1000" b="1" kern="0" dirty="0">
                  <a:latin typeface="+mn-ea"/>
                </a:rPr>
                <a:t>에 대한 절차적 당위성 확보</a:t>
              </a:r>
              <a:r>
                <a:rPr kumimoji="1" lang="en-US" altLang="ko-KR" sz="1000" b="1" kern="0" dirty="0">
                  <a:latin typeface="+mn-ea"/>
                </a:rPr>
                <a:t/>
              </a:r>
              <a:br>
                <a:rPr kumimoji="1" lang="en-US" altLang="ko-KR" sz="1000" b="1" kern="0" dirty="0">
                  <a:latin typeface="+mn-ea"/>
                </a:rPr>
              </a:br>
              <a:r>
                <a:rPr kumimoji="1" lang="en-US" altLang="ko-KR" sz="1000" b="1" kern="0" dirty="0">
                  <a:latin typeface="+mn-ea"/>
                </a:rPr>
                <a:t>        (</a:t>
              </a:r>
              <a:r>
                <a:rPr kumimoji="1" lang="ko-KR" altLang="en-US" sz="1000" b="1" kern="0" dirty="0">
                  <a:latin typeface="+mn-ea"/>
                </a:rPr>
                <a:t>정보화 집체 교육으로 대체 가능</a:t>
              </a:r>
              <a:r>
                <a:rPr kumimoji="1" lang="en-US" altLang="ko-KR" sz="1000" b="1" kern="0" dirty="0">
                  <a:latin typeface="+mn-ea"/>
                </a:rPr>
                <a:t>)</a:t>
              </a:r>
            </a:p>
          </p:txBody>
        </p:sp>
        <p:sp>
          <p:nvSpPr>
            <p:cNvPr id="168" name="Line 5"/>
            <p:cNvSpPr>
              <a:spLocks noChangeShapeType="1"/>
            </p:cNvSpPr>
            <p:nvPr/>
          </p:nvSpPr>
          <p:spPr bwMode="auto">
            <a:xfrm flipV="1">
              <a:off x="2838275" y="3429661"/>
              <a:ext cx="666959" cy="881088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69" name="Line 6"/>
            <p:cNvSpPr>
              <a:spLocks noChangeShapeType="1"/>
            </p:cNvSpPr>
            <p:nvPr/>
          </p:nvSpPr>
          <p:spPr bwMode="auto">
            <a:xfrm flipH="1">
              <a:off x="3066873" y="3501670"/>
              <a:ext cx="1104287" cy="158378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0" name="Rectangle 8"/>
            <p:cNvSpPr>
              <a:spLocks noChangeArrowheads="1"/>
            </p:cNvSpPr>
            <p:nvPr/>
          </p:nvSpPr>
          <p:spPr bwMode="auto">
            <a:xfrm>
              <a:off x="787224" y="4263124"/>
              <a:ext cx="352425" cy="381000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1" name="Rectangle 9"/>
            <p:cNvSpPr>
              <a:spLocks noChangeArrowheads="1"/>
            </p:cNvSpPr>
            <p:nvPr/>
          </p:nvSpPr>
          <p:spPr bwMode="auto">
            <a:xfrm>
              <a:off x="552274" y="5023536"/>
              <a:ext cx="211138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2" name="Rectangle 10"/>
            <p:cNvSpPr>
              <a:spLocks noChangeArrowheads="1"/>
            </p:cNvSpPr>
            <p:nvPr/>
          </p:nvSpPr>
          <p:spPr bwMode="auto">
            <a:xfrm>
              <a:off x="844374" y="5023536"/>
              <a:ext cx="212725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3" name="Rectangle 11"/>
            <p:cNvSpPr>
              <a:spLocks noChangeArrowheads="1"/>
            </p:cNvSpPr>
            <p:nvPr/>
          </p:nvSpPr>
          <p:spPr bwMode="auto">
            <a:xfrm>
              <a:off x="1139649" y="5023536"/>
              <a:ext cx="209550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4" name="Line 12"/>
            <p:cNvSpPr>
              <a:spLocks noChangeShapeType="1"/>
            </p:cNvSpPr>
            <p:nvPr/>
          </p:nvSpPr>
          <p:spPr bwMode="auto">
            <a:xfrm>
              <a:off x="611012" y="4771124"/>
              <a:ext cx="644525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5" name="Line 13"/>
            <p:cNvSpPr>
              <a:spLocks noChangeShapeType="1"/>
            </p:cNvSpPr>
            <p:nvPr/>
          </p:nvSpPr>
          <p:spPr bwMode="auto">
            <a:xfrm>
              <a:off x="611012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6" name="Line 14"/>
            <p:cNvSpPr>
              <a:spLocks noChangeShapeType="1"/>
            </p:cNvSpPr>
            <p:nvPr/>
          </p:nvSpPr>
          <p:spPr bwMode="auto">
            <a:xfrm>
              <a:off x="942799" y="4644124"/>
              <a:ext cx="0" cy="379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7" name="Line 15"/>
            <p:cNvSpPr>
              <a:spLocks noChangeShapeType="1"/>
            </p:cNvSpPr>
            <p:nvPr/>
          </p:nvSpPr>
          <p:spPr bwMode="auto">
            <a:xfrm>
              <a:off x="1244424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8" name="Rectangle 16"/>
            <p:cNvSpPr>
              <a:spLocks noChangeArrowheads="1"/>
            </p:cNvSpPr>
            <p:nvPr/>
          </p:nvSpPr>
          <p:spPr bwMode="auto">
            <a:xfrm>
              <a:off x="1665112" y="4263124"/>
              <a:ext cx="352425" cy="381000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79" name="Rectangle 17"/>
            <p:cNvSpPr>
              <a:spLocks noChangeArrowheads="1"/>
            </p:cNvSpPr>
            <p:nvPr/>
          </p:nvSpPr>
          <p:spPr bwMode="auto">
            <a:xfrm>
              <a:off x="1431749" y="5023536"/>
              <a:ext cx="209550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0" name="Rectangle 18"/>
            <p:cNvSpPr>
              <a:spLocks noChangeArrowheads="1"/>
            </p:cNvSpPr>
            <p:nvPr/>
          </p:nvSpPr>
          <p:spPr bwMode="auto">
            <a:xfrm>
              <a:off x="1723849" y="5023536"/>
              <a:ext cx="212725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1" name="Rectangle 19"/>
            <p:cNvSpPr>
              <a:spLocks noChangeArrowheads="1"/>
            </p:cNvSpPr>
            <p:nvPr/>
          </p:nvSpPr>
          <p:spPr bwMode="auto">
            <a:xfrm>
              <a:off x="2004837" y="5023536"/>
              <a:ext cx="209550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2" name="Line 20"/>
            <p:cNvSpPr>
              <a:spLocks noChangeShapeType="1"/>
            </p:cNvSpPr>
            <p:nvPr/>
          </p:nvSpPr>
          <p:spPr bwMode="auto">
            <a:xfrm>
              <a:off x="1488899" y="4771124"/>
              <a:ext cx="646113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3" name="Line 21"/>
            <p:cNvSpPr>
              <a:spLocks noChangeShapeType="1"/>
            </p:cNvSpPr>
            <p:nvPr/>
          </p:nvSpPr>
          <p:spPr bwMode="auto">
            <a:xfrm>
              <a:off x="1488899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4" name="Line 22"/>
            <p:cNvSpPr>
              <a:spLocks noChangeShapeType="1"/>
            </p:cNvSpPr>
            <p:nvPr/>
          </p:nvSpPr>
          <p:spPr bwMode="auto">
            <a:xfrm>
              <a:off x="1822274" y="4644124"/>
              <a:ext cx="0" cy="379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5" name="Line 23"/>
            <p:cNvSpPr>
              <a:spLocks noChangeShapeType="1"/>
            </p:cNvSpPr>
            <p:nvPr/>
          </p:nvSpPr>
          <p:spPr bwMode="auto">
            <a:xfrm>
              <a:off x="2123899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6" name="Rectangle 24"/>
            <p:cNvSpPr>
              <a:spLocks noChangeArrowheads="1"/>
            </p:cNvSpPr>
            <p:nvPr/>
          </p:nvSpPr>
          <p:spPr bwMode="auto">
            <a:xfrm>
              <a:off x="2487437" y="4263124"/>
              <a:ext cx="350837" cy="381000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7" name="Rectangle 25"/>
            <p:cNvSpPr>
              <a:spLocks noChangeArrowheads="1"/>
            </p:cNvSpPr>
            <p:nvPr/>
          </p:nvSpPr>
          <p:spPr bwMode="auto">
            <a:xfrm>
              <a:off x="2265187" y="5023536"/>
              <a:ext cx="211137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8" name="Rectangle 26"/>
            <p:cNvSpPr>
              <a:spLocks noChangeArrowheads="1"/>
            </p:cNvSpPr>
            <p:nvPr/>
          </p:nvSpPr>
          <p:spPr bwMode="auto">
            <a:xfrm>
              <a:off x="2544587" y="5023536"/>
              <a:ext cx="212725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9" name="Rectangle 27"/>
            <p:cNvSpPr>
              <a:spLocks noChangeArrowheads="1"/>
            </p:cNvSpPr>
            <p:nvPr/>
          </p:nvSpPr>
          <p:spPr bwMode="auto">
            <a:xfrm>
              <a:off x="2838274" y="5023536"/>
              <a:ext cx="211138" cy="452438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non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ko-KR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0" name="Line 28"/>
            <p:cNvSpPr>
              <a:spLocks noChangeShapeType="1"/>
            </p:cNvSpPr>
            <p:nvPr/>
          </p:nvSpPr>
          <p:spPr bwMode="auto">
            <a:xfrm>
              <a:off x="2311224" y="4771124"/>
              <a:ext cx="644525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1" name="Line 29"/>
            <p:cNvSpPr>
              <a:spLocks noChangeShapeType="1"/>
            </p:cNvSpPr>
            <p:nvPr/>
          </p:nvSpPr>
          <p:spPr bwMode="auto">
            <a:xfrm>
              <a:off x="2311224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2" name="Line 30"/>
            <p:cNvSpPr>
              <a:spLocks noChangeShapeType="1"/>
            </p:cNvSpPr>
            <p:nvPr/>
          </p:nvSpPr>
          <p:spPr bwMode="auto">
            <a:xfrm>
              <a:off x="2643012" y="4644124"/>
              <a:ext cx="0" cy="379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3" name="Line 31"/>
            <p:cNvSpPr>
              <a:spLocks noChangeShapeType="1"/>
            </p:cNvSpPr>
            <p:nvPr/>
          </p:nvSpPr>
          <p:spPr bwMode="auto">
            <a:xfrm>
              <a:off x="2944637" y="4771124"/>
              <a:ext cx="0" cy="252412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4" name="Line 32"/>
            <p:cNvSpPr>
              <a:spLocks noChangeShapeType="1"/>
            </p:cNvSpPr>
            <p:nvPr/>
          </p:nvSpPr>
          <p:spPr bwMode="auto">
            <a:xfrm>
              <a:off x="963437" y="4012299"/>
              <a:ext cx="0" cy="250825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5" name="Line 33"/>
            <p:cNvSpPr>
              <a:spLocks noChangeShapeType="1"/>
            </p:cNvSpPr>
            <p:nvPr/>
          </p:nvSpPr>
          <p:spPr bwMode="auto">
            <a:xfrm flipH="1">
              <a:off x="1841324" y="3312211"/>
              <a:ext cx="0" cy="950913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6" name="Line 34"/>
            <p:cNvSpPr>
              <a:spLocks noChangeShapeType="1"/>
            </p:cNvSpPr>
            <p:nvPr/>
          </p:nvSpPr>
          <p:spPr bwMode="auto">
            <a:xfrm>
              <a:off x="2662062" y="4012299"/>
              <a:ext cx="0" cy="250825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7" name="Line 35"/>
            <p:cNvSpPr>
              <a:spLocks noChangeShapeType="1"/>
            </p:cNvSpPr>
            <p:nvPr/>
          </p:nvSpPr>
          <p:spPr bwMode="auto">
            <a:xfrm>
              <a:off x="963437" y="4012299"/>
              <a:ext cx="1698625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8" name="Line 36"/>
            <p:cNvSpPr>
              <a:spLocks noChangeShapeType="1"/>
            </p:cNvSpPr>
            <p:nvPr/>
          </p:nvSpPr>
          <p:spPr bwMode="auto">
            <a:xfrm>
              <a:off x="2226560" y="3011488"/>
              <a:ext cx="998780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99" name="Line 38"/>
            <p:cNvSpPr>
              <a:spLocks noChangeShapeType="1"/>
            </p:cNvSpPr>
            <p:nvPr/>
          </p:nvSpPr>
          <p:spPr bwMode="auto">
            <a:xfrm flipH="1">
              <a:off x="2197952" y="3155950"/>
              <a:ext cx="1063625" cy="0"/>
            </a:xfrm>
            <a:prstGeom prst="line">
              <a:avLst/>
            </a:prstGeom>
            <a:noFill/>
            <a:ln w="12700">
              <a:solidFill>
                <a:sysClr val="windowText" lastClr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00" name="Rectangle 41"/>
            <p:cNvSpPr>
              <a:spLocks noChangeArrowheads="1"/>
            </p:cNvSpPr>
            <p:nvPr/>
          </p:nvSpPr>
          <p:spPr bwMode="auto">
            <a:xfrm>
              <a:off x="3243786" y="2719388"/>
              <a:ext cx="1149350" cy="709612"/>
            </a:xfrm>
            <a:prstGeom prst="rect">
              <a:avLst/>
            </a:prstGeom>
            <a:solidFill>
              <a:srgbClr val="508CD2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+mn-ea"/>
                </a:rPr>
                <a:t>Steering Committee</a:t>
              </a:r>
            </a:p>
          </p:txBody>
        </p:sp>
        <p:sp>
          <p:nvSpPr>
            <p:cNvPr id="201" name="Rectangle 42"/>
            <p:cNvSpPr>
              <a:spLocks noChangeArrowheads="1"/>
            </p:cNvSpPr>
            <p:nvPr/>
          </p:nvSpPr>
          <p:spPr bwMode="auto">
            <a:xfrm>
              <a:off x="3676474" y="4569511"/>
              <a:ext cx="930275" cy="650875"/>
            </a:xfrm>
            <a:prstGeom prst="rect">
              <a:avLst/>
            </a:prstGeom>
            <a:solidFill>
              <a:srgbClr val="508CD2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lIns="0" tIns="0" rIns="0" bIns="0" anchor="ctr"/>
            <a:lstStyle/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+mn-ea"/>
                </a:rPr>
                <a:t>Workshop</a:t>
              </a:r>
            </a:p>
          </p:txBody>
        </p:sp>
        <p:sp>
          <p:nvSpPr>
            <p:cNvPr id="202" name="Line 43"/>
            <p:cNvSpPr>
              <a:spLocks noChangeShapeType="1"/>
            </p:cNvSpPr>
            <p:nvPr/>
          </p:nvSpPr>
          <p:spPr bwMode="auto">
            <a:xfrm flipV="1">
              <a:off x="3066874" y="5123549"/>
              <a:ext cx="608013" cy="111125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03" name="Line 44"/>
            <p:cNvSpPr>
              <a:spLocks noChangeShapeType="1"/>
            </p:cNvSpPr>
            <p:nvPr/>
          </p:nvSpPr>
          <p:spPr bwMode="auto">
            <a:xfrm>
              <a:off x="2000074" y="4548874"/>
              <a:ext cx="1655763" cy="30003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04" name="Text Box 45"/>
            <p:cNvSpPr txBox="1">
              <a:spLocks noChangeArrowheads="1"/>
            </p:cNvSpPr>
            <p:nvPr/>
          </p:nvSpPr>
          <p:spPr bwMode="auto">
            <a:xfrm>
              <a:off x="3106514" y="5315990"/>
              <a:ext cx="647922" cy="226591"/>
            </a:xfrm>
            <a:prstGeom prst="rect">
              <a:avLst/>
            </a:prstGeom>
            <a:noFill/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</a:rPr>
                <a:t>의견 제시</a:t>
              </a:r>
            </a:p>
          </p:txBody>
        </p:sp>
        <p:sp>
          <p:nvSpPr>
            <p:cNvPr id="205" name="Text Box 37"/>
            <p:cNvSpPr txBox="1">
              <a:spLocks noChangeArrowheads="1"/>
            </p:cNvSpPr>
            <p:nvPr/>
          </p:nvSpPr>
          <p:spPr bwMode="auto">
            <a:xfrm>
              <a:off x="2320704" y="2503488"/>
              <a:ext cx="732991" cy="461665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000" b="0" dirty="0">
                  <a:latin typeface="+mn-ea"/>
                </a:rPr>
                <a:t>의사결정</a:t>
              </a:r>
            </a:p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000" b="0" dirty="0">
                  <a:latin typeface="+mn-ea"/>
                </a:rPr>
                <a:t>자원지원</a:t>
              </a:r>
            </a:p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en-US" altLang="ko-KR" sz="1000" b="0" dirty="0">
                  <a:latin typeface="+mn-ea"/>
                </a:rPr>
                <a:t>Sponsorship</a:t>
              </a:r>
            </a:p>
          </p:txBody>
        </p:sp>
        <p:sp>
          <p:nvSpPr>
            <p:cNvPr id="206" name="Text Box 39"/>
            <p:cNvSpPr txBox="1">
              <a:spLocks noChangeArrowheads="1"/>
            </p:cNvSpPr>
            <p:nvPr/>
          </p:nvSpPr>
          <p:spPr bwMode="auto">
            <a:xfrm>
              <a:off x="2270406" y="3222625"/>
              <a:ext cx="836761" cy="153888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000" b="0">
                  <a:latin typeface="+mn-ea"/>
                </a:rPr>
                <a:t>의사결정 지원</a:t>
              </a:r>
            </a:p>
          </p:txBody>
        </p:sp>
        <p:sp>
          <p:nvSpPr>
            <p:cNvPr id="207" name="Text Box 40"/>
            <p:cNvSpPr txBox="1">
              <a:spLocks noChangeArrowheads="1"/>
            </p:cNvSpPr>
            <p:nvPr/>
          </p:nvSpPr>
          <p:spPr bwMode="auto">
            <a:xfrm>
              <a:off x="3068210" y="3789701"/>
              <a:ext cx="732991" cy="461665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000" b="0" dirty="0">
                  <a:latin typeface="+mn-ea"/>
                </a:rPr>
                <a:t>의사결정</a:t>
              </a:r>
            </a:p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000" b="0" dirty="0">
                  <a:latin typeface="+mn-ea"/>
                </a:rPr>
                <a:t>정보제공</a:t>
              </a:r>
            </a:p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en-US" altLang="ko-KR" sz="1000" b="0" dirty="0">
                  <a:latin typeface="+mn-ea"/>
                </a:rPr>
                <a:t>Sponsorship</a:t>
              </a:r>
            </a:p>
          </p:txBody>
        </p:sp>
        <p:sp>
          <p:nvSpPr>
            <p:cNvPr id="208" name="Rectangle 7"/>
            <p:cNvSpPr>
              <a:spLocks noChangeArrowheads="1"/>
            </p:cNvSpPr>
            <p:nvPr/>
          </p:nvSpPr>
          <p:spPr bwMode="auto">
            <a:xfrm>
              <a:off x="1474269" y="2870200"/>
              <a:ext cx="722313" cy="434975"/>
            </a:xfrm>
            <a:prstGeom prst="rect">
              <a:avLst/>
            </a:prstGeom>
            <a:solidFill>
              <a:srgbClr val="B1CFFC"/>
            </a:solidFill>
            <a:ln w="127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/>
          </p:spPr>
          <p:txBody>
            <a:bodyPr wrap="square" lIns="0" tIns="0" rIns="0" bIns="0" anchor="ctr"/>
            <a:lstStyle/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</a:rPr>
                <a:t>경영층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</a:rPr>
                <a:t>/</a:t>
              </a:r>
            </a:p>
            <a:p>
              <a:pPr marL="0" marR="0" lvl="0" indent="0" algn="ctr" defTabSz="914400" eaLnBrk="0" fontAlgn="auto" latinLnBrk="0" hangingPunct="0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n-ea"/>
                </a:rPr>
                <a:t>관리자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변화 리더십이 충분히 발휘될 수 있는 지휘 계통을 통한 커뮤니케이션을 강화하고</a:t>
            </a:r>
            <a:r>
              <a:rPr lang="en-US" altLang="ko-KR" sz="1600" dirty="0"/>
              <a:t>, </a:t>
            </a:r>
            <a:r>
              <a:rPr lang="ko-KR" altLang="en-US" sz="1600" dirty="0"/>
              <a:t>실무담당자의 요구사항 및 의견 수렴과 피드백을 위한 양방향 커뮤니케이션을 통해 실무담당자의 참여를 유도함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6.2.4 </a:t>
            </a:r>
            <a:r>
              <a:rPr lang="ko-KR" altLang="en-US" dirty="0"/>
              <a:t>커뮤니케이션 활성화 프로그램 운영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커뮤니케이션 활성화 원칙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그룹 48"/>
          <p:cNvGrpSpPr/>
          <p:nvPr/>
        </p:nvGrpSpPr>
        <p:grpSpPr>
          <a:xfrm>
            <a:off x="347604" y="1531392"/>
            <a:ext cx="9180000" cy="4791235"/>
            <a:chOff x="237000" y="1601326"/>
            <a:chExt cx="9425984" cy="4791235"/>
          </a:xfrm>
        </p:grpSpPr>
        <p:sp>
          <p:nvSpPr>
            <p:cNvPr id="50" name="Rectangle 15"/>
            <p:cNvSpPr>
              <a:spLocks noChangeArrowheads="1"/>
            </p:cNvSpPr>
            <p:nvPr/>
          </p:nvSpPr>
          <p:spPr bwMode="auto">
            <a:xfrm>
              <a:off x="7154142" y="1601326"/>
              <a:ext cx="2508842" cy="477476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51" name="Rectangle 4"/>
            <p:cNvSpPr>
              <a:spLocks noChangeArrowheads="1"/>
            </p:cNvSpPr>
            <p:nvPr/>
          </p:nvSpPr>
          <p:spPr bwMode="auto">
            <a:xfrm>
              <a:off x="2685506" y="1911728"/>
              <a:ext cx="3844323" cy="1277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경영층 및 </a:t>
              </a:r>
              <a:r>
                <a:rPr lang="ko-KR" altLang="en-US" sz="1100" b="1" dirty="0" err="1">
                  <a:latin typeface="+mn-ea"/>
                  <a:cs typeface="Arial" charset="0"/>
                </a:rPr>
                <a:t>관리자을</a:t>
              </a:r>
              <a:r>
                <a:rPr lang="ko-KR" altLang="en-US" sz="1100" b="1" dirty="0">
                  <a:latin typeface="+mn-ea"/>
                  <a:cs typeface="Arial" charset="0"/>
                </a:rPr>
                <a:t> 통한 커뮤니케이션 활성화 </a:t>
              </a:r>
              <a:r>
                <a:rPr lang="en-US" altLang="ko-KR" sz="1100" b="1" dirty="0"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관리자 회의 등에서 프로젝트 관련 경영층 </a:t>
              </a:r>
              <a:r>
                <a:rPr lang="en-US" altLang="ko-KR" sz="1100" b="1" dirty="0">
                  <a:latin typeface="+mn-ea"/>
                  <a:cs typeface="Arial" charset="0"/>
                </a:rPr>
                <a:t>Comment</a:t>
              </a:r>
              <a:r>
                <a:rPr lang="ko-KR" altLang="en-US" sz="1100" b="1" dirty="0">
                  <a:latin typeface="+mn-ea"/>
                  <a:cs typeface="Arial" charset="0"/>
                </a:rPr>
                <a:t>를 수시 전달하도록 지원함</a:t>
              </a:r>
            </a:p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관리자</a:t>
              </a:r>
              <a:r>
                <a:rPr lang="en-US" altLang="ko-KR" sz="1100" b="1" dirty="0">
                  <a:latin typeface="+mn-ea"/>
                  <a:cs typeface="Arial" charset="0"/>
                </a:rPr>
                <a:t>/</a:t>
              </a:r>
              <a:r>
                <a:rPr lang="ko-KR" altLang="en-US" sz="1100" b="1" dirty="0">
                  <a:latin typeface="+mn-ea"/>
                  <a:cs typeface="Arial" charset="0"/>
                </a:rPr>
                <a:t>실무담당자를 통한 커뮤니케이션 활성화 </a:t>
              </a:r>
              <a:r>
                <a:rPr lang="en-US" altLang="ko-KR" sz="1100" b="1" dirty="0"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추진 팀 방문</a:t>
              </a:r>
              <a:r>
                <a:rPr lang="en-US" altLang="ko-KR" sz="1100" b="1" dirty="0"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latin typeface="+mn-ea"/>
                  <a:cs typeface="Arial" charset="0"/>
                </a:rPr>
                <a:t>프로젝트 팀과의 간담회</a:t>
              </a:r>
              <a:r>
                <a:rPr lang="en-US" altLang="ko-KR" sz="1100" b="1" dirty="0"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latin typeface="+mn-ea"/>
                  <a:cs typeface="Arial" charset="0"/>
                </a:rPr>
                <a:t>관리자</a:t>
              </a:r>
              <a:r>
                <a:rPr lang="en-US" altLang="ko-KR" sz="1100" b="1" dirty="0">
                  <a:latin typeface="+mn-ea"/>
                  <a:cs typeface="Arial" charset="0"/>
                </a:rPr>
                <a:t>/</a:t>
              </a:r>
              <a:r>
                <a:rPr lang="ko-KR" altLang="en-US" sz="1100" b="1" dirty="0">
                  <a:latin typeface="+mn-ea"/>
                  <a:cs typeface="Arial" charset="0"/>
                </a:rPr>
                <a:t>실무 </a:t>
              </a:r>
              <a:r>
                <a:rPr lang="en-US" altLang="ko-KR" sz="1100" b="1" dirty="0"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담당자 대상 정기 보고 등을 통해 관심 유도 및 커뮤니케이션 지식 </a:t>
              </a:r>
              <a:r>
                <a:rPr lang="en-US" altLang="ko-KR" sz="1100" b="1" dirty="0">
                  <a:latin typeface="+mn-ea"/>
                  <a:cs typeface="Arial" charset="0"/>
                </a:rPr>
                <a:t>/ </a:t>
              </a:r>
              <a:r>
                <a:rPr lang="ko-KR" altLang="en-US" sz="1100" b="1" dirty="0">
                  <a:latin typeface="+mn-ea"/>
                  <a:cs typeface="Arial" charset="0"/>
                </a:rPr>
                <a:t>정보 제공</a:t>
              </a:r>
            </a:p>
          </p:txBody>
        </p:sp>
        <p:sp>
          <p:nvSpPr>
            <p:cNvPr id="52" name="Rectangle 5"/>
            <p:cNvSpPr>
              <a:spLocks noChangeArrowheads="1"/>
            </p:cNvSpPr>
            <p:nvPr/>
          </p:nvSpPr>
          <p:spPr bwMode="auto">
            <a:xfrm>
              <a:off x="237000" y="1602332"/>
              <a:ext cx="1368152" cy="4790229"/>
            </a:xfrm>
            <a:prstGeom prst="rect">
              <a:avLst/>
            </a:prstGeom>
            <a:solidFill>
              <a:srgbClr val="B1CFFC"/>
            </a:solidFill>
            <a:ln w="6350" algn="ctr">
              <a:noFill/>
              <a:miter lim="800000"/>
              <a:headEnd/>
              <a:tailEnd/>
            </a:ln>
            <a:extLst/>
          </p:spPr>
          <p:txBody>
            <a:bodyPr wrap="none" lIns="91423" tIns="45712" rIns="91423" bIns="45712" anchor="ctr"/>
            <a:lstStyle/>
            <a:p>
              <a:pPr>
                <a:buNone/>
              </a:pPr>
              <a:endParaRPr lang="ko-KR" altLang="en-US" b="1">
                <a:latin typeface="+mn-ea"/>
              </a:endParaRPr>
            </a:p>
          </p:txBody>
        </p:sp>
        <p:sp>
          <p:nvSpPr>
            <p:cNvPr id="53" name="AutoShape 6"/>
            <p:cNvSpPr>
              <a:spLocks noChangeArrowheads="1"/>
            </p:cNvSpPr>
            <p:nvPr/>
          </p:nvSpPr>
          <p:spPr bwMode="auto">
            <a:xfrm>
              <a:off x="546872" y="1911728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지휘 계통의 </a:t>
              </a:r>
              <a:br>
                <a:rPr lang="ko-KR" altLang="en-US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라인 활용</a:t>
              </a:r>
            </a:p>
          </p:txBody>
        </p:sp>
        <p:sp>
          <p:nvSpPr>
            <p:cNvPr id="54" name="AutoShape 7"/>
            <p:cNvSpPr>
              <a:spLocks noChangeArrowheads="1"/>
            </p:cNvSpPr>
            <p:nvPr/>
          </p:nvSpPr>
          <p:spPr bwMode="auto">
            <a:xfrm>
              <a:off x="543697" y="3568780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양방향</a:t>
              </a:r>
              <a:r>
                <a:rPr lang="en-US" altLang="ko-KR" sz="1100" b="1" dirty="0">
                  <a:latin typeface="+mn-ea"/>
                  <a:cs typeface="Arial" charset="0"/>
                </a:rPr>
                <a:t>(Two Way) </a:t>
              </a:r>
            </a:p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커뮤니케이션</a:t>
              </a:r>
            </a:p>
          </p:txBody>
        </p:sp>
        <p:sp>
          <p:nvSpPr>
            <p:cNvPr id="55" name="Rectangle 8"/>
            <p:cNvSpPr>
              <a:spLocks noChangeArrowheads="1"/>
            </p:cNvSpPr>
            <p:nvPr/>
          </p:nvSpPr>
          <p:spPr bwMode="auto">
            <a:xfrm>
              <a:off x="2682330" y="3532935"/>
              <a:ext cx="3844323" cy="9387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변화네트워크를 통하여</a:t>
              </a:r>
              <a:r>
                <a:rPr lang="en-US" altLang="ko-KR" sz="1100" b="1" dirty="0">
                  <a:latin typeface="+mn-ea"/>
                  <a:cs typeface="Arial" charset="0"/>
                </a:rPr>
                <a:t>, </a:t>
              </a:r>
              <a:r>
                <a:rPr lang="ko-KR" altLang="en-US" sz="1100" b="1" dirty="0">
                  <a:latin typeface="+mn-ea"/>
                  <a:cs typeface="Arial" charset="0"/>
                </a:rPr>
                <a:t>실무담당자의 요구가 프로젝트에 반영될 수 있도록 함</a:t>
              </a:r>
            </a:p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향후 국민체육진흥공단 및 유관기관 홈페이지 등 각종 홍보채널을 활용하여 실무관계자의 의견 및 요구사항을 받아들일 수 있는 채널을 확보함</a:t>
              </a:r>
            </a:p>
          </p:txBody>
        </p:sp>
        <p:sp>
          <p:nvSpPr>
            <p:cNvPr id="56" name="Text Box 11"/>
            <p:cNvSpPr txBox="1">
              <a:spLocks noChangeArrowheads="1"/>
            </p:cNvSpPr>
            <p:nvPr/>
          </p:nvSpPr>
          <p:spPr bwMode="auto">
            <a:xfrm>
              <a:off x="7329561" y="2866488"/>
              <a:ext cx="2171701" cy="21802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 anchor="ctr">
              <a:spAutoFit/>
            </a:bodyPr>
            <a:lstStyle>
              <a:lvl1pPr marL="101600" indent="-101600"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en-US" altLang="ko-KR" sz="1200" b="1" dirty="0">
                  <a:latin typeface="+mn-ea"/>
                  <a:ea typeface="+mn-ea"/>
                </a:rPr>
                <a:t>Top down </a:t>
              </a:r>
              <a:r>
                <a:rPr kumimoji="0" lang="ko-KR" altLang="en-US" sz="1200" b="1" dirty="0">
                  <a:latin typeface="+mn-ea"/>
                  <a:ea typeface="+mn-ea"/>
                </a:rPr>
                <a:t>리더십을 활용한 커뮤니케이션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홍보채널을 활용한 양방향 커뮤니케이션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 err="1">
                  <a:latin typeface="+mn-ea"/>
                  <a:ea typeface="+mn-ea"/>
                </a:rPr>
                <a:t>대상별</a:t>
              </a:r>
              <a:r>
                <a:rPr kumimoji="0" lang="ko-KR" altLang="en-US" sz="1200" b="1" dirty="0">
                  <a:latin typeface="+mn-ea"/>
                  <a:ea typeface="+mn-ea"/>
                </a:rPr>
                <a:t> 명확한 커뮤니케이션 목표에 근거한 단계별  메시지 개발</a:t>
              </a:r>
            </a:p>
          </p:txBody>
        </p:sp>
        <p:sp>
          <p:nvSpPr>
            <p:cNvPr id="57" name="AutoShape 13"/>
            <p:cNvSpPr>
              <a:spLocks noChangeArrowheads="1"/>
            </p:cNvSpPr>
            <p:nvPr/>
          </p:nvSpPr>
          <p:spPr bwMode="auto">
            <a:xfrm>
              <a:off x="543697" y="5225833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단계별</a:t>
              </a:r>
              <a:r>
                <a:rPr lang="en-US" altLang="ko-KR" sz="1100" b="1" dirty="0">
                  <a:latin typeface="+mn-ea"/>
                  <a:cs typeface="Arial" charset="0"/>
                </a:rPr>
                <a:t>/</a:t>
              </a:r>
              <a:r>
                <a:rPr lang="ko-KR" altLang="en-US" sz="1100" b="1" dirty="0" err="1">
                  <a:latin typeface="+mn-ea"/>
                  <a:cs typeface="Arial" charset="0"/>
                </a:rPr>
                <a:t>대상별</a:t>
              </a:r>
              <a:r>
                <a:rPr lang="ko-KR" altLang="en-US" sz="1100" b="1" dirty="0">
                  <a:latin typeface="+mn-ea"/>
                  <a:cs typeface="Arial" charset="0"/>
                </a:rPr>
                <a:t> </a:t>
              </a:r>
            </a:p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차별화된 메시지 개발</a:t>
              </a:r>
            </a:p>
          </p:txBody>
        </p:sp>
        <p:sp>
          <p:nvSpPr>
            <p:cNvPr id="58" name="Rectangle 14"/>
            <p:cNvSpPr>
              <a:spLocks noChangeArrowheads="1"/>
            </p:cNvSpPr>
            <p:nvPr/>
          </p:nvSpPr>
          <p:spPr bwMode="auto">
            <a:xfrm>
              <a:off x="2682330" y="5193695"/>
              <a:ext cx="3844323" cy="9387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ko-KR" altLang="en-US" sz="1100" b="1" dirty="0">
                  <a:latin typeface="+mn-ea"/>
                </a:rPr>
                <a:t>각각의 </a:t>
              </a:r>
              <a:r>
                <a:rPr lang="ko-KR" altLang="en-US" sz="1100" b="1" dirty="0" err="1">
                  <a:latin typeface="+mn-ea"/>
                </a:rPr>
                <a:t>대상별로</a:t>
              </a:r>
              <a:r>
                <a:rPr lang="ko-KR" altLang="en-US" sz="1100" b="1" dirty="0">
                  <a:latin typeface="+mn-ea"/>
                </a:rPr>
                <a:t> 현실적인 목표수준에 근거해 프로젝트 단계별 커뮤니케이션 메시지를 개발</a:t>
              </a:r>
              <a:r>
                <a:rPr lang="en-US" altLang="ko-KR" sz="1100" b="1" dirty="0">
                  <a:latin typeface="+mn-ea"/>
                </a:rPr>
                <a:t>/</a:t>
              </a:r>
              <a:r>
                <a:rPr lang="ko-KR" altLang="en-US" sz="1100" b="1" dirty="0">
                  <a:latin typeface="+mn-ea"/>
                </a:rPr>
                <a:t>수행함</a:t>
              </a:r>
              <a:endParaRPr lang="en-US" altLang="ko-KR" sz="1100" b="1" dirty="0">
                <a:latin typeface="+mn-ea"/>
              </a:endParaRPr>
            </a:p>
            <a:p>
              <a:pPr marL="538163" lvl="1" indent="-82550">
                <a:buFont typeface="가는각진제목체" pitchFamily="18" charset="-127"/>
                <a:buChar char="-"/>
              </a:pPr>
              <a:r>
                <a:rPr lang="ko-KR" altLang="en-US" sz="1100" b="1" dirty="0">
                  <a:latin typeface="+mn-ea"/>
                </a:rPr>
                <a:t>경영층 및 관리자 </a:t>
              </a:r>
              <a:r>
                <a:rPr lang="en-US" altLang="ko-KR" sz="1100" b="1" dirty="0">
                  <a:latin typeface="+mn-ea"/>
                </a:rPr>
                <a:t>: </a:t>
              </a:r>
              <a:r>
                <a:rPr lang="ko-KR" altLang="en-US" sz="1100" b="1" dirty="0">
                  <a:latin typeface="+mn-ea"/>
                </a:rPr>
                <a:t>몰입 수준 목표</a:t>
              </a:r>
              <a:endParaRPr lang="en-US" altLang="ko-KR" sz="1100" b="1" dirty="0">
                <a:latin typeface="+mn-ea"/>
              </a:endParaRPr>
            </a:p>
            <a:p>
              <a:pPr marL="538163" lvl="1" indent="-82550">
                <a:buFont typeface="가는각진제목체" pitchFamily="18" charset="-127"/>
                <a:buChar char="-"/>
              </a:pPr>
              <a:r>
                <a:rPr lang="ko-KR" altLang="en-US" sz="1100" b="1" dirty="0">
                  <a:latin typeface="+mn-ea"/>
                </a:rPr>
                <a:t>핵심 추진 관리자 </a:t>
              </a:r>
              <a:r>
                <a:rPr lang="en-US" altLang="ko-KR" sz="1100" b="1" dirty="0">
                  <a:latin typeface="+mn-ea"/>
                </a:rPr>
                <a:t>: </a:t>
              </a:r>
              <a:r>
                <a:rPr lang="ko-KR" altLang="en-US" sz="1100" b="1" dirty="0">
                  <a:latin typeface="+mn-ea"/>
                </a:rPr>
                <a:t>적극적 행동 수준 목표</a:t>
              </a:r>
              <a:endParaRPr lang="en-US" altLang="ko-KR" sz="1100" b="1" dirty="0">
                <a:latin typeface="+mn-ea"/>
              </a:endParaRPr>
            </a:p>
            <a:p>
              <a:pPr marL="538163" lvl="1" indent="-82550">
                <a:buFont typeface="가는각진제목체" pitchFamily="18" charset="-127"/>
                <a:buChar char="-"/>
              </a:pPr>
              <a:r>
                <a:rPr lang="ko-KR" altLang="en-US" sz="1100" b="1" dirty="0">
                  <a:latin typeface="+mn-ea"/>
                </a:rPr>
                <a:t>실무 담당자 </a:t>
              </a:r>
              <a:r>
                <a:rPr lang="en-US" altLang="ko-KR" sz="1100" b="1" dirty="0">
                  <a:latin typeface="+mn-ea"/>
                </a:rPr>
                <a:t>:</a:t>
              </a:r>
              <a:r>
                <a:rPr lang="ko-KR" altLang="en-US" sz="1100" b="1" dirty="0">
                  <a:latin typeface="+mn-ea"/>
                </a:rPr>
                <a:t> 긍정적 수용 수준 목표</a:t>
              </a:r>
            </a:p>
          </p:txBody>
        </p:sp>
        <p:sp>
          <p:nvSpPr>
            <p:cNvPr id="59" name="AutoShape 12"/>
            <p:cNvSpPr>
              <a:spLocks noChangeArrowheads="1"/>
            </p:cNvSpPr>
            <p:nvPr/>
          </p:nvSpPr>
          <p:spPr bwMode="auto">
            <a:xfrm rot="5400000">
              <a:off x="4934584" y="3775599"/>
              <a:ext cx="3753617" cy="362053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rgbClr val="4678B4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solidFill>
                <a:srgbClr val="7DAFFA">
                  <a:lumMod val="20000"/>
                  <a:lumOff val="80000"/>
                </a:srgbClr>
              </a:solidFill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프로젝트 단계별로 실무담당자와 커뮤니케이션 해야 할 이슈가 달라지며</a:t>
            </a:r>
            <a:r>
              <a:rPr lang="en-US" altLang="ko-KR" sz="1600" dirty="0"/>
              <a:t>, </a:t>
            </a:r>
            <a:r>
              <a:rPr lang="ko-KR" altLang="en-US" sz="1600" dirty="0"/>
              <a:t>이를 중심으로 커뮤니케이션 메시지 개발과 홍보 채널을 확보하여 대응할 필요가 있음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6.2.4 </a:t>
            </a:r>
            <a:r>
              <a:rPr lang="ko-KR" altLang="en-US" dirty="0"/>
              <a:t>커뮤니케이션 활성화 프로그램 운영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프로젝트 단계별 커뮤니케이션 이슈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pic>
        <p:nvPicPr>
          <p:cNvPr id="16" name="그림 15"/>
          <p:cNvPicPr preferRelativeResize="0">
            <a:picLocks noChangeAspect="1"/>
          </p:cNvPicPr>
          <p:nvPr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b="61446"/>
          <a:stretch/>
        </p:blipFill>
        <p:spPr>
          <a:xfrm>
            <a:off x="356086" y="4443388"/>
            <a:ext cx="1060796" cy="1085415"/>
          </a:xfrm>
          <a:prstGeom prst="rect">
            <a:avLst/>
          </a:prstGeom>
        </p:spPr>
      </p:pic>
      <p:grpSp>
        <p:nvGrpSpPr>
          <p:cNvPr id="5" name="Group 1"/>
          <p:cNvGrpSpPr/>
          <p:nvPr/>
        </p:nvGrpSpPr>
        <p:grpSpPr>
          <a:xfrm>
            <a:off x="4084499" y="1736812"/>
            <a:ext cx="2767013" cy="4507469"/>
            <a:chOff x="4152900" y="2049363"/>
            <a:chExt cx="2767013" cy="3959225"/>
          </a:xfrm>
        </p:grpSpPr>
        <p:sp>
          <p:nvSpPr>
            <p:cNvPr id="18" name="Line 3"/>
            <p:cNvSpPr>
              <a:spLocks noChangeShapeType="1"/>
            </p:cNvSpPr>
            <p:nvPr/>
          </p:nvSpPr>
          <p:spPr bwMode="auto">
            <a:xfrm>
              <a:off x="4152900" y="2049363"/>
              <a:ext cx="0" cy="3959225"/>
            </a:xfrm>
            <a:prstGeom prst="line">
              <a:avLst/>
            </a:prstGeom>
            <a:noFill/>
            <a:ln w="9525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b="1">
                <a:latin typeface="+mn-ea"/>
              </a:endParaRPr>
            </a:p>
          </p:txBody>
        </p:sp>
        <p:sp>
          <p:nvSpPr>
            <p:cNvPr id="19" name="Line 4"/>
            <p:cNvSpPr>
              <a:spLocks noChangeShapeType="1"/>
            </p:cNvSpPr>
            <p:nvPr/>
          </p:nvSpPr>
          <p:spPr bwMode="auto">
            <a:xfrm>
              <a:off x="6919913" y="2049363"/>
              <a:ext cx="0" cy="3959225"/>
            </a:xfrm>
            <a:prstGeom prst="line">
              <a:avLst/>
            </a:prstGeom>
            <a:noFill/>
            <a:ln w="9525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b="1">
                <a:latin typeface="+mn-ea"/>
              </a:endParaRPr>
            </a:p>
          </p:txBody>
        </p:sp>
      </p:grpSp>
      <p:sp>
        <p:nvSpPr>
          <p:cNvPr id="20" name="Text Box 9"/>
          <p:cNvSpPr txBox="1">
            <a:spLocks noChangeArrowheads="1"/>
          </p:cNvSpPr>
          <p:nvPr/>
        </p:nvSpPr>
        <p:spPr bwMode="auto">
          <a:xfrm>
            <a:off x="1426402" y="2973214"/>
            <a:ext cx="2665412" cy="908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국민체육진흥공단</a:t>
            </a:r>
            <a:r>
              <a:rPr kumimoji="0" lang="en-US" altLang="ko-KR" sz="1000" b="1" dirty="0">
                <a:latin typeface="+mn-ea"/>
                <a:ea typeface="+mn-ea"/>
              </a:rPr>
              <a:t>, </a:t>
            </a:r>
            <a:r>
              <a:rPr kumimoji="0" lang="ko-KR" altLang="en-US" sz="1000" b="1" dirty="0">
                <a:latin typeface="+mn-ea"/>
                <a:ea typeface="+mn-ea"/>
              </a:rPr>
              <a:t>공단 유관기관 업무담당자 내 공감대 형성 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구현단계를 위한 </a:t>
            </a:r>
            <a:r>
              <a:rPr kumimoji="0" lang="en-US" altLang="ko-KR" sz="1000" b="1" dirty="0">
                <a:latin typeface="+mn-ea"/>
                <a:ea typeface="+mn-ea"/>
              </a:rPr>
              <a:t>Sponsorship </a:t>
            </a:r>
            <a:r>
              <a:rPr kumimoji="0" lang="ko-KR" altLang="en-US" sz="1000" b="1" dirty="0">
                <a:latin typeface="+mn-ea"/>
                <a:ea typeface="+mn-ea"/>
              </a:rPr>
              <a:t>확보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구현단계 추진체계 정비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4091814" y="2973214"/>
            <a:ext cx="2827970" cy="885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en-US" altLang="ko-KR" sz="1000" b="1" dirty="0">
                <a:latin typeface="+mn-ea"/>
                <a:ea typeface="+mn-ea"/>
              </a:rPr>
              <a:t>TO-BE Model</a:t>
            </a:r>
            <a:r>
              <a:rPr kumimoji="0" lang="ko-KR" altLang="en-US" sz="1000" b="1" dirty="0">
                <a:latin typeface="+mn-ea"/>
                <a:ea typeface="+mn-ea"/>
              </a:rPr>
              <a:t>에 대한 실무관계자의 </a:t>
            </a:r>
            <a:r>
              <a:rPr kumimoji="0" lang="en-US" altLang="ko-KR" sz="1000" b="1" dirty="0">
                <a:latin typeface="+mn-ea"/>
                <a:ea typeface="+mn-ea"/>
              </a:rPr>
              <a:t/>
            </a:r>
            <a:br>
              <a:rPr kumimoji="0" lang="en-US" altLang="ko-KR" sz="1000" b="1" dirty="0">
                <a:latin typeface="+mn-ea"/>
                <a:ea typeface="+mn-ea"/>
              </a:rPr>
            </a:br>
            <a:r>
              <a:rPr kumimoji="0" lang="ko-KR" altLang="en-US" sz="1000" b="1" dirty="0">
                <a:latin typeface="+mn-ea"/>
                <a:ea typeface="+mn-ea"/>
              </a:rPr>
              <a:t>이해 부족</a:t>
            </a:r>
            <a:r>
              <a:rPr kumimoji="0" lang="en-US" altLang="ko-KR" sz="1000" b="1" dirty="0">
                <a:latin typeface="+mn-ea"/>
                <a:ea typeface="+mn-ea"/>
              </a:rPr>
              <a:t>/ </a:t>
            </a:r>
            <a:r>
              <a:rPr kumimoji="0" lang="ko-KR" altLang="en-US" sz="1000" b="1" dirty="0">
                <a:latin typeface="+mn-ea"/>
                <a:ea typeface="+mn-ea"/>
              </a:rPr>
              <a:t>회의적 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 err="1">
                <a:latin typeface="+mn-ea"/>
                <a:ea typeface="+mn-ea"/>
              </a:rPr>
              <a:t>추진팀과</a:t>
            </a:r>
            <a:r>
              <a:rPr kumimoji="0" lang="ko-KR" altLang="en-US" sz="1000" b="1" dirty="0">
                <a:latin typeface="+mn-ea"/>
                <a:ea typeface="+mn-ea"/>
              </a:rPr>
              <a:t> 실무관계자간의 상호작용  부족</a:t>
            </a:r>
          </a:p>
        </p:txBody>
      </p:sp>
      <p:sp>
        <p:nvSpPr>
          <p:cNvPr id="22" name="Text Box 11"/>
          <p:cNvSpPr txBox="1">
            <a:spLocks noChangeArrowheads="1"/>
          </p:cNvSpPr>
          <p:nvPr/>
        </p:nvSpPr>
        <p:spPr bwMode="auto">
          <a:xfrm>
            <a:off x="6858827" y="2973214"/>
            <a:ext cx="2647638" cy="908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시스템 </a:t>
            </a:r>
            <a:r>
              <a:rPr kumimoji="0" lang="ko-KR" altLang="en-US" sz="1000" b="1" dirty="0" err="1">
                <a:latin typeface="+mn-ea"/>
                <a:ea typeface="+mn-ea"/>
              </a:rPr>
              <a:t>오픈을</a:t>
            </a:r>
            <a:r>
              <a:rPr kumimoji="0" lang="ko-KR" altLang="en-US" sz="1000" b="1" dirty="0">
                <a:latin typeface="+mn-ea"/>
                <a:ea typeface="+mn-ea"/>
              </a:rPr>
              <a:t> 위한 각종 실무관계자 준비사항에 대한 협력 미흡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새로운 시스템에 대한 현업의 두려움 및 거부감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endParaRPr kumimoji="0" lang="en-US" altLang="ko-KR" sz="1000" b="1" dirty="0">
              <a:latin typeface="+mn-ea"/>
              <a:ea typeface="+mn-ea"/>
            </a:endParaRPr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426402" y="4172260"/>
            <a:ext cx="2665412" cy="16619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프로세스 혁신 결과물을 국민체육진흥공단 홈페이지</a:t>
            </a:r>
            <a:r>
              <a:rPr kumimoji="0" lang="en-US" altLang="ko-KR" sz="1000" b="1" dirty="0">
                <a:latin typeface="+mn-ea"/>
                <a:ea typeface="+mn-ea"/>
              </a:rPr>
              <a:t>, </a:t>
            </a:r>
            <a:r>
              <a:rPr kumimoji="0" lang="ko-KR" altLang="en-US" sz="1000" b="1" dirty="0">
                <a:latin typeface="+mn-ea"/>
                <a:ea typeface="+mn-ea"/>
              </a:rPr>
              <a:t>포털</a:t>
            </a:r>
            <a:r>
              <a:rPr kumimoji="0" lang="en-US" altLang="ko-KR" sz="1000" b="1" dirty="0">
                <a:latin typeface="+mn-ea"/>
                <a:ea typeface="+mn-ea"/>
              </a:rPr>
              <a:t> </a:t>
            </a:r>
            <a:r>
              <a:rPr kumimoji="0" lang="ko-KR" altLang="en-US" sz="1000" b="1" dirty="0">
                <a:latin typeface="+mn-ea"/>
                <a:ea typeface="+mn-ea"/>
              </a:rPr>
              <a:t>등을 통해 홍보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프로세스 혁신 결과물에 대해 </a:t>
            </a:r>
            <a:r>
              <a:rPr kumimoji="0" lang="en-US" altLang="ko-KR" sz="1000" b="1" dirty="0">
                <a:latin typeface="+mn-ea"/>
                <a:ea typeface="+mn-ea"/>
              </a:rPr>
              <a:t>Steering Committee </a:t>
            </a:r>
            <a:r>
              <a:rPr kumimoji="0" lang="ko-KR" altLang="en-US" sz="1000" b="1" dirty="0">
                <a:latin typeface="+mn-ea"/>
                <a:ea typeface="+mn-ea"/>
              </a:rPr>
              <a:t>및 주요 관계자에게 보고 및 </a:t>
            </a:r>
            <a:r>
              <a:rPr kumimoji="0" lang="en-US" altLang="ko-KR" sz="1000" b="1" dirty="0">
                <a:latin typeface="+mn-ea"/>
                <a:ea typeface="+mn-ea"/>
              </a:rPr>
              <a:t>e-mailing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관련 기관 업무담당자간의 협업을 위한 체계 구성 및 의사결정 지원</a:t>
            </a: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4091814" y="4172260"/>
            <a:ext cx="2776538" cy="1523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en-US" altLang="ko-KR" sz="1000" b="1">
                <a:latin typeface="+mn-ea"/>
                <a:ea typeface="+mn-ea"/>
              </a:rPr>
              <a:t>To-Be Model</a:t>
            </a:r>
            <a:r>
              <a:rPr kumimoji="0" lang="ko-KR" altLang="en-US" sz="1000" b="1">
                <a:latin typeface="+mn-ea"/>
                <a:ea typeface="+mn-ea"/>
              </a:rPr>
              <a:t>과 신규 시스템에 대한 인식 제고 및 의견 수렴 </a:t>
            </a:r>
            <a:r>
              <a:rPr kumimoji="0" lang="en-US" altLang="ko-KR" sz="1000" b="1">
                <a:latin typeface="+mn-ea"/>
                <a:ea typeface="+mn-ea"/>
              </a:rPr>
              <a:t>: </a:t>
            </a:r>
            <a:r>
              <a:rPr kumimoji="0" lang="ko-KR" altLang="en-US" sz="1000" b="1">
                <a:latin typeface="+mn-ea"/>
                <a:ea typeface="+mn-ea"/>
              </a:rPr>
              <a:t>각종 설명회 반복 개최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>
                <a:latin typeface="+mn-ea"/>
                <a:ea typeface="+mn-ea"/>
              </a:rPr>
              <a:t>변화네트워크를 통한 이슈해결 </a:t>
            </a:r>
            <a:r>
              <a:rPr kumimoji="0" lang="en-US" altLang="ko-KR" sz="1000" b="1">
                <a:latin typeface="+mn-ea"/>
                <a:ea typeface="+mn-ea"/>
              </a:rPr>
              <a:t>: </a:t>
            </a:r>
            <a:r>
              <a:rPr kumimoji="0" lang="ko-KR" altLang="en-US" sz="1000" b="1">
                <a:latin typeface="+mn-ea"/>
                <a:ea typeface="+mn-ea"/>
              </a:rPr>
              <a:t>주요 이슈에 대한 의사결정 파트너십 확보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>
                <a:latin typeface="+mn-ea"/>
                <a:ea typeface="+mn-ea"/>
              </a:rPr>
              <a:t>지휘계통을 활용한 실무관계자의 참여 촉구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>
                <a:latin typeface="+mn-ea"/>
                <a:ea typeface="+mn-ea"/>
              </a:rPr>
              <a:t>주요 이해관계자별 커뮤니케이션 목표에 근거한 메시지 개발 및 </a:t>
            </a:r>
            <a:r>
              <a:rPr kumimoji="0" lang="en-US" altLang="ko-KR" sz="1000" b="1">
                <a:latin typeface="+mn-ea"/>
                <a:ea typeface="+mn-ea"/>
              </a:rPr>
              <a:t>1</a:t>
            </a:r>
            <a:r>
              <a:rPr kumimoji="0" lang="ko-KR" altLang="en-US" sz="1000" b="1">
                <a:latin typeface="+mn-ea"/>
                <a:ea typeface="+mn-ea"/>
              </a:rPr>
              <a:t>대</a:t>
            </a:r>
            <a:r>
              <a:rPr kumimoji="0" lang="en-US" altLang="ko-KR" sz="1000" b="1">
                <a:latin typeface="+mn-ea"/>
                <a:ea typeface="+mn-ea"/>
              </a:rPr>
              <a:t>1</a:t>
            </a:r>
            <a:r>
              <a:rPr kumimoji="0" lang="ko-KR" altLang="en-US" sz="1000" b="1">
                <a:latin typeface="+mn-ea"/>
                <a:ea typeface="+mn-ea"/>
              </a:rPr>
              <a:t>미팅 활성화</a:t>
            </a: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6858827" y="4172260"/>
            <a:ext cx="2532062" cy="11079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98425" indent="-984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새로운 시스템의 실무관계자 연계성에 대한 반복 소개 </a:t>
            </a:r>
            <a:r>
              <a:rPr kumimoji="0" lang="en-US" altLang="ko-KR" sz="1000" b="1" dirty="0">
                <a:latin typeface="+mn-ea"/>
                <a:ea typeface="+mn-ea"/>
              </a:rPr>
              <a:t>: </a:t>
            </a:r>
            <a:r>
              <a:rPr kumimoji="0" lang="ko-KR" altLang="en-US" sz="1000" b="1" dirty="0">
                <a:latin typeface="+mn-ea"/>
                <a:ea typeface="+mn-ea"/>
              </a:rPr>
              <a:t>설명회 활성화</a:t>
            </a:r>
            <a:r>
              <a:rPr kumimoji="0" lang="en-US" altLang="ko-KR" sz="1000" b="1" dirty="0">
                <a:latin typeface="+mn-ea"/>
                <a:ea typeface="+mn-ea"/>
              </a:rPr>
              <a:t>, </a:t>
            </a:r>
            <a:r>
              <a:rPr kumimoji="0" lang="ko-KR" altLang="en-US" sz="1000" b="1" dirty="0">
                <a:latin typeface="+mn-ea"/>
                <a:ea typeface="+mn-ea"/>
              </a:rPr>
              <a:t>관련 자료 배포</a:t>
            </a:r>
            <a:r>
              <a:rPr kumimoji="0" lang="en-US" altLang="ko-KR" sz="1000" b="1" dirty="0">
                <a:latin typeface="+mn-ea"/>
                <a:ea typeface="+mn-ea"/>
              </a:rPr>
              <a:t>, </a:t>
            </a:r>
            <a:r>
              <a:rPr kumimoji="0" lang="ko-KR" altLang="en-US" sz="1000" b="1" dirty="0">
                <a:latin typeface="+mn-ea"/>
                <a:ea typeface="+mn-ea"/>
              </a:rPr>
              <a:t>홍보채널 </a:t>
            </a:r>
            <a:r>
              <a:rPr kumimoji="0" lang="en-US" altLang="ko-KR" sz="1000" b="1" dirty="0">
                <a:latin typeface="+mn-ea"/>
                <a:ea typeface="+mn-ea"/>
              </a:rPr>
              <a:t>Full </a:t>
            </a:r>
            <a:r>
              <a:rPr kumimoji="0" lang="ko-KR" altLang="en-US" sz="1000" b="1" dirty="0">
                <a:latin typeface="+mn-ea"/>
                <a:ea typeface="+mn-ea"/>
              </a:rPr>
              <a:t>가동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시스템 사용법 설명서 배포 </a:t>
            </a:r>
          </a:p>
          <a:p>
            <a:pPr eaLnBrk="0" latinLnBrk="0" hangingPunct="0">
              <a:lnSpc>
                <a:spcPct val="120000"/>
              </a:lnSpc>
              <a:spcBef>
                <a:spcPct val="300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0" lang="ko-KR" altLang="en-US" sz="1000" b="1" dirty="0">
                <a:latin typeface="+mn-ea"/>
                <a:ea typeface="+mn-ea"/>
              </a:rPr>
              <a:t>경영정보시스템 사용 </a:t>
            </a:r>
            <a:r>
              <a:rPr kumimoji="0" lang="en-US" altLang="ko-KR" sz="1000" b="1" dirty="0">
                <a:latin typeface="+mn-ea"/>
                <a:ea typeface="+mn-ea"/>
              </a:rPr>
              <a:t>FAQ </a:t>
            </a:r>
            <a:r>
              <a:rPr kumimoji="0" lang="ko-KR" altLang="en-US" sz="1000" b="1" dirty="0">
                <a:latin typeface="+mn-ea"/>
                <a:ea typeface="+mn-ea"/>
              </a:rPr>
              <a:t>운영</a:t>
            </a:r>
          </a:p>
        </p:txBody>
      </p:sp>
      <p:sp>
        <p:nvSpPr>
          <p:cNvPr id="26" name="AutoShape 18"/>
          <p:cNvSpPr>
            <a:spLocks noChangeArrowheads="1"/>
          </p:cNvSpPr>
          <p:nvPr/>
        </p:nvSpPr>
        <p:spPr bwMode="auto">
          <a:xfrm>
            <a:off x="1507538" y="1819074"/>
            <a:ext cx="2448272" cy="709826"/>
          </a:xfrm>
          <a:prstGeom prst="homePlate">
            <a:avLst>
              <a:gd name="adj" fmla="val 59282"/>
            </a:avLst>
          </a:prstGeom>
          <a:solidFill>
            <a:srgbClr val="B1CFFC"/>
          </a:solidFill>
          <a:ln w="635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>
            <a:outerShdw blurRad="25400" dist="38100" dir="2700000" algn="ctr" rotWithShape="0">
              <a:schemeClr val="tx1">
                <a:alpha val="60000"/>
              </a:schemeClr>
            </a:outerShdw>
          </a:effectLst>
        </p:spPr>
        <p:txBody>
          <a:bodyPr wrap="none" lIns="91423" tIns="45712" rIns="91423" bIns="45712" anchor="ctr"/>
          <a:lstStyle/>
          <a:p>
            <a:pPr algn="ctr">
              <a:spcBef>
                <a:spcPct val="20000"/>
              </a:spcBef>
              <a:buClr>
                <a:srgbClr val="006699"/>
              </a:buClr>
              <a:buSzPct val="100000"/>
              <a:buNone/>
            </a:pPr>
            <a:r>
              <a:rPr lang="ko-KR" altLang="en-US" sz="1400" b="1" dirty="0">
                <a:latin typeface="+mn-ea"/>
                <a:cs typeface="Arial" charset="0"/>
              </a:rPr>
              <a:t>프로세스 혁신</a:t>
            </a:r>
          </a:p>
        </p:txBody>
      </p:sp>
      <p:sp>
        <p:nvSpPr>
          <p:cNvPr id="27" name="AutoShape 19"/>
          <p:cNvSpPr>
            <a:spLocks noChangeArrowheads="1"/>
          </p:cNvSpPr>
          <p:nvPr/>
        </p:nvSpPr>
        <p:spPr bwMode="auto">
          <a:xfrm>
            <a:off x="4229212" y="1819074"/>
            <a:ext cx="2528647" cy="709826"/>
          </a:xfrm>
          <a:prstGeom prst="homePlate">
            <a:avLst>
              <a:gd name="adj" fmla="val 48528"/>
            </a:avLst>
          </a:prstGeom>
          <a:solidFill>
            <a:srgbClr val="508CD2"/>
          </a:solidFill>
          <a:ln w="635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>
            <a:outerShdw blurRad="25400" dist="38100" dir="2700000" algn="ctr" rotWithShape="0">
              <a:schemeClr val="tx1">
                <a:alpha val="60000"/>
              </a:schemeClr>
            </a:outerShdw>
          </a:effectLst>
        </p:spPr>
        <p:txBody>
          <a:bodyPr wrap="none" lIns="91423" tIns="45712" rIns="91423" bIns="45712" anchor="ctr"/>
          <a:lstStyle/>
          <a:p>
            <a:pPr algn="ctr">
              <a:spcBef>
                <a:spcPct val="20000"/>
              </a:spcBef>
              <a:buClr>
                <a:srgbClr val="006699"/>
              </a:buClr>
              <a:buSzPct val="100000"/>
              <a:buNone/>
            </a:pPr>
            <a:r>
              <a:rPr lang="ko-KR" altLang="en-US" sz="1400" b="1" dirty="0">
                <a:solidFill>
                  <a:schemeClr val="bg1"/>
                </a:solidFill>
                <a:latin typeface="+mn-ea"/>
                <a:cs typeface="Arial" charset="0"/>
              </a:rPr>
              <a:t>상세설계</a:t>
            </a:r>
          </a:p>
        </p:txBody>
      </p:sp>
      <p:sp>
        <p:nvSpPr>
          <p:cNvPr id="28" name="AutoShape 20"/>
          <p:cNvSpPr>
            <a:spLocks noChangeArrowheads="1"/>
          </p:cNvSpPr>
          <p:nvPr/>
        </p:nvSpPr>
        <p:spPr bwMode="auto">
          <a:xfrm>
            <a:off x="6980146" y="1819074"/>
            <a:ext cx="2364706" cy="709826"/>
          </a:xfrm>
          <a:prstGeom prst="homePlate">
            <a:avLst>
              <a:gd name="adj" fmla="val 49919"/>
            </a:avLst>
          </a:prstGeom>
          <a:solidFill>
            <a:srgbClr val="003058"/>
          </a:solidFill>
          <a:ln w="6350" algn="ctr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ffectLst>
            <a:outerShdw blurRad="25400" dist="38100" dir="2700000" algn="ctr" rotWithShape="0">
              <a:schemeClr val="tx1">
                <a:alpha val="60000"/>
              </a:schemeClr>
            </a:outerShdw>
          </a:effectLst>
        </p:spPr>
        <p:txBody>
          <a:bodyPr wrap="none" lIns="91423" tIns="45712" rIns="91423" bIns="45712" anchor="ctr"/>
          <a:lstStyle/>
          <a:p>
            <a:pPr algn="ctr">
              <a:spcBef>
                <a:spcPct val="20000"/>
              </a:spcBef>
              <a:buClr>
                <a:srgbClr val="006699"/>
              </a:buClr>
              <a:buSzPct val="100000"/>
              <a:buNone/>
            </a:pPr>
            <a:r>
              <a:rPr lang="ko-KR" altLang="en-US" sz="1400" b="1">
                <a:solidFill>
                  <a:schemeClr val="bg1"/>
                </a:solidFill>
                <a:latin typeface="+mn-ea"/>
                <a:cs typeface="Arial" charset="0"/>
              </a:rPr>
              <a:t>구축</a:t>
            </a:r>
            <a:r>
              <a:rPr lang="en-US" altLang="ko-KR" sz="1400" b="1">
                <a:solidFill>
                  <a:schemeClr val="bg1"/>
                </a:solidFill>
                <a:latin typeface="+mn-ea"/>
                <a:cs typeface="Arial" charset="0"/>
              </a:rPr>
              <a:t>/</a:t>
            </a:r>
            <a:r>
              <a:rPr lang="ko-KR" altLang="en-US" sz="1400" b="1">
                <a:solidFill>
                  <a:schemeClr val="bg1"/>
                </a:solidFill>
                <a:latin typeface="+mn-ea"/>
                <a:cs typeface="Arial" charset="0"/>
              </a:rPr>
              <a:t>통합테스트</a:t>
            </a:r>
          </a:p>
        </p:txBody>
      </p:sp>
      <p:sp>
        <p:nvSpPr>
          <p:cNvPr id="29" name="Line 21"/>
          <p:cNvSpPr>
            <a:spLocks noChangeShapeType="1"/>
          </p:cNvSpPr>
          <p:nvPr/>
        </p:nvSpPr>
        <p:spPr bwMode="auto">
          <a:xfrm>
            <a:off x="381716" y="2776438"/>
            <a:ext cx="9201370" cy="0"/>
          </a:xfrm>
          <a:prstGeom prst="line">
            <a:avLst/>
          </a:prstGeom>
          <a:noFill/>
          <a:ln w="38100" cmpd="sng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 b="1">
              <a:latin typeface="+mn-ea"/>
            </a:endParaRPr>
          </a:p>
        </p:txBody>
      </p:sp>
      <p:cxnSp>
        <p:nvCxnSpPr>
          <p:cNvPr id="30" name="직선 연결선 83"/>
          <p:cNvCxnSpPr/>
          <p:nvPr/>
        </p:nvCxnSpPr>
        <p:spPr bwMode="auto">
          <a:xfrm>
            <a:off x="359728" y="4094728"/>
            <a:ext cx="9067401" cy="0"/>
          </a:xfrm>
          <a:prstGeom prst="line">
            <a:avLst/>
          </a:prstGeom>
          <a:solidFill>
            <a:srgbClr val="FBB779"/>
          </a:solidFill>
          <a:ln w="9525" cap="flat" cmpd="sng" algn="ctr">
            <a:solidFill>
              <a:schemeClr val="tx1">
                <a:lumMod val="65000"/>
                <a:lumOff val="3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6" name="그룹 34"/>
          <p:cNvGrpSpPr/>
          <p:nvPr/>
        </p:nvGrpSpPr>
        <p:grpSpPr>
          <a:xfrm>
            <a:off x="356086" y="2899544"/>
            <a:ext cx="1060796" cy="1085415"/>
            <a:chOff x="356086" y="2861444"/>
            <a:chExt cx="1060796" cy="1085415"/>
          </a:xfrm>
        </p:grpSpPr>
        <p:pic>
          <p:nvPicPr>
            <p:cNvPr id="31" name="그림 30"/>
            <p:cNvPicPr preferRelativeResize="0">
              <a:picLocks noChangeAspect="1"/>
            </p:cNvPicPr>
            <p:nvPr/>
          </p:nvPicPr>
          <p:blipFill rotWithShape="1"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</a:blip>
            <a:srcRect b="61446"/>
            <a:stretch/>
          </p:blipFill>
          <p:spPr>
            <a:xfrm>
              <a:off x="356086" y="2861444"/>
              <a:ext cx="1060796" cy="1085415"/>
            </a:xfrm>
            <a:prstGeom prst="rect">
              <a:avLst/>
            </a:prstGeom>
          </p:spPr>
        </p:pic>
        <p:sp>
          <p:nvSpPr>
            <p:cNvPr id="32" name="Text Box 16"/>
            <p:cNvSpPr txBox="1">
              <a:spLocks noChangeArrowheads="1"/>
            </p:cNvSpPr>
            <p:nvPr/>
          </p:nvSpPr>
          <p:spPr bwMode="auto">
            <a:xfrm>
              <a:off x="449789" y="3180112"/>
              <a:ext cx="902811" cy="3185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400" b="1" dirty="0">
                  <a:latin typeface="+mn-ea"/>
                </a:rPr>
                <a:t>예상이슈</a:t>
              </a:r>
            </a:p>
          </p:txBody>
        </p:sp>
      </p:grpSp>
      <p:sp>
        <p:nvSpPr>
          <p:cNvPr id="33" name="Text Box 17"/>
          <p:cNvSpPr txBox="1">
            <a:spLocks noChangeArrowheads="1"/>
          </p:cNvSpPr>
          <p:nvPr/>
        </p:nvSpPr>
        <p:spPr bwMode="auto">
          <a:xfrm>
            <a:off x="614696" y="4753935"/>
            <a:ext cx="543739" cy="3185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tx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latinLnBrk="0" hangingPunct="0">
              <a:spcBef>
                <a:spcPct val="0"/>
              </a:spcBef>
              <a:buNone/>
            </a:pPr>
            <a:r>
              <a:rPr kumimoji="0" lang="ko-KR" altLang="en-US" sz="1400" b="1" dirty="0">
                <a:latin typeface="+mn-ea"/>
              </a:rPr>
              <a:t>방법</a:t>
            </a:r>
          </a:p>
        </p:txBody>
      </p:sp>
      <p:sp>
        <p:nvSpPr>
          <p:cNvPr id="34" name="Line 21"/>
          <p:cNvSpPr>
            <a:spLocks noChangeShapeType="1"/>
          </p:cNvSpPr>
          <p:nvPr/>
        </p:nvSpPr>
        <p:spPr bwMode="auto">
          <a:xfrm>
            <a:off x="381716" y="6267994"/>
            <a:ext cx="9201370" cy="0"/>
          </a:xfrm>
          <a:prstGeom prst="line">
            <a:avLst/>
          </a:prstGeom>
          <a:noFill/>
          <a:ln w="38100" cmpd="sng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 b="1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/>
              <a:t>정보화 전략 이행과제 추진 및 정착을 위해 요구되는 역할 규명과 이러한 역할을 수행하기 위한 필요 </a:t>
            </a:r>
            <a:r>
              <a:rPr lang="en-US" altLang="ko-KR" sz="1600" dirty="0"/>
              <a:t>Skill</a:t>
            </a:r>
            <a:r>
              <a:rPr lang="ko-KR" altLang="en-US" sz="1600" dirty="0"/>
              <a:t>을 정의하고 이를 지원할 수 있는 교육을 실시함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6.2.5 </a:t>
            </a:r>
            <a:r>
              <a:rPr lang="ko-KR" altLang="en-US" dirty="0"/>
              <a:t>교육 프로그램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교육 추진 및 활성화 원칙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grpSp>
        <p:nvGrpSpPr>
          <p:cNvPr id="5" name="그룹 48"/>
          <p:cNvGrpSpPr/>
          <p:nvPr/>
        </p:nvGrpSpPr>
        <p:grpSpPr>
          <a:xfrm>
            <a:off x="347604" y="1531392"/>
            <a:ext cx="9180000" cy="4791235"/>
            <a:chOff x="237000" y="1601326"/>
            <a:chExt cx="9425984" cy="4791235"/>
          </a:xfrm>
        </p:grpSpPr>
        <p:sp>
          <p:nvSpPr>
            <p:cNvPr id="50" name="Rectangle 15"/>
            <p:cNvSpPr>
              <a:spLocks noChangeArrowheads="1"/>
            </p:cNvSpPr>
            <p:nvPr/>
          </p:nvSpPr>
          <p:spPr bwMode="auto">
            <a:xfrm>
              <a:off x="7154142" y="1601326"/>
              <a:ext cx="2508842" cy="477476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sm" len="sm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80000" tIns="36000" rIns="72000" bIns="36000" numCol="1" rtlCol="0" anchor="ctr" anchorCtr="0" compatLnSpc="1">
              <a:prstTxWarp prst="textNoShape">
                <a:avLst/>
              </a:prstTxWarp>
            </a:bodyPr>
            <a:lstStyle/>
            <a:p>
              <a:pPr marL="265113" indent="-265113" eaLnBrk="0" fontAlgn="base" latinLnBrk="0" hangingPunct="0">
                <a:spcBef>
                  <a:spcPts val="1200"/>
                </a:spcBef>
                <a:spcAft>
                  <a:spcPct val="0"/>
                </a:spcAft>
                <a:buClr>
                  <a:prstClr val="black"/>
                </a:buClr>
                <a:buFont typeface="Wingdings" pitchFamily="2" charset="2"/>
                <a:buChar char="q"/>
                <a:defRPr/>
              </a:pPr>
              <a:endParaRPr lang="ko-KR" altLang="en-US" sz="1400" b="1" kern="0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51" name="Rectangle 4"/>
            <p:cNvSpPr>
              <a:spLocks noChangeArrowheads="1"/>
            </p:cNvSpPr>
            <p:nvPr/>
          </p:nvSpPr>
          <p:spPr bwMode="auto">
            <a:xfrm>
              <a:off x="2685506" y="1911728"/>
              <a:ext cx="3844323" cy="1277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en-US" altLang="ko-KR" sz="1100" b="1" dirty="0" err="1">
                  <a:latin typeface="+mn-ea"/>
                  <a:cs typeface="Arial" charset="0"/>
                </a:rPr>
                <a:t>CoE</a:t>
              </a:r>
              <a:r>
                <a:rPr lang="en-US" altLang="ko-KR" sz="1100" b="1" dirty="0">
                  <a:latin typeface="+mn-ea"/>
                  <a:cs typeface="Arial" charset="0"/>
                </a:rPr>
                <a:t> (Center of Excellence) </a:t>
              </a:r>
              <a:r>
                <a:rPr lang="ko-KR" altLang="en-US" sz="1100" b="1" dirty="0">
                  <a:latin typeface="+mn-ea"/>
                  <a:cs typeface="Arial" charset="0"/>
                </a:rPr>
                <a:t>운영 </a:t>
              </a:r>
              <a:r>
                <a:rPr lang="en-US" altLang="ko-KR" sz="1100" b="1" dirty="0"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각 </a:t>
              </a:r>
              <a:r>
                <a:rPr lang="ko-KR" altLang="en-US" sz="1100" b="1" dirty="0" err="1">
                  <a:latin typeface="+mn-ea"/>
                  <a:cs typeface="Arial" charset="0"/>
                </a:rPr>
                <a:t>모듈별</a:t>
              </a:r>
              <a:r>
                <a:rPr lang="ko-KR" altLang="en-US" sz="1100" b="1" dirty="0">
                  <a:latin typeface="+mn-ea"/>
                  <a:cs typeface="Arial" charset="0"/>
                </a:rPr>
                <a:t> 전문가를 선정하여 </a:t>
              </a:r>
              <a:r>
                <a:rPr lang="en-US" altLang="ko-KR" sz="1100" b="1" dirty="0" err="1">
                  <a:latin typeface="+mn-ea"/>
                  <a:cs typeface="Arial" charset="0"/>
                </a:rPr>
                <a:t>CoE</a:t>
              </a:r>
              <a:r>
                <a:rPr lang="ko-KR" altLang="en-US" sz="1100" b="1" dirty="0">
                  <a:latin typeface="+mn-ea"/>
                  <a:cs typeface="Arial" charset="0"/>
                </a:rPr>
                <a:t>를 구성하고 체계적인 </a:t>
              </a:r>
              <a:r>
                <a:rPr lang="en-US" altLang="ko-KR" sz="1100" b="1" dirty="0">
                  <a:latin typeface="+mn-ea"/>
                  <a:cs typeface="Arial" charset="0"/>
                </a:rPr>
                <a:t>Super user </a:t>
              </a:r>
              <a:r>
                <a:rPr lang="ko-KR" altLang="en-US" sz="1100" b="1" dirty="0">
                  <a:latin typeface="+mn-ea"/>
                  <a:cs typeface="Arial" charset="0"/>
                </a:rPr>
                <a:t>육성 및 교육 개발 및 지원을 수행하도록 함</a:t>
              </a:r>
            </a:p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순차적 교육 확대 </a:t>
              </a:r>
              <a:r>
                <a:rPr lang="en-US" altLang="ko-KR" sz="1100" b="1" dirty="0">
                  <a:latin typeface="+mn-ea"/>
                  <a:cs typeface="Arial" charset="0"/>
                </a:rPr>
                <a:t>: </a:t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과별로 </a:t>
              </a:r>
              <a:r>
                <a:rPr lang="en-US" altLang="ko-KR" sz="1100" b="1" dirty="0">
                  <a:latin typeface="+mn-ea"/>
                  <a:cs typeface="Arial" charset="0"/>
                </a:rPr>
                <a:t>Super user</a:t>
              </a:r>
              <a:r>
                <a:rPr lang="ko-KR" altLang="en-US" sz="1100" b="1" dirty="0">
                  <a:latin typeface="+mn-ea"/>
                  <a:cs typeface="Arial" charset="0"/>
                </a:rPr>
                <a:t>를 선정하여 먼저 교육을 시킨 후 </a:t>
              </a:r>
              <a:r>
                <a:rPr lang="en-US" altLang="ko-KR" sz="1100" b="1" dirty="0"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이들을 중심으로 현업에 전파교육을 실시함</a:t>
              </a:r>
            </a:p>
          </p:txBody>
        </p:sp>
        <p:sp>
          <p:nvSpPr>
            <p:cNvPr id="52" name="Rectangle 5"/>
            <p:cNvSpPr>
              <a:spLocks noChangeArrowheads="1"/>
            </p:cNvSpPr>
            <p:nvPr/>
          </p:nvSpPr>
          <p:spPr bwMode="auto">
            <a:xfrm>
              <a:off x="237000" y="1602332"/>
              <a:ext cx="1368152" cy="4790229"/>
            </a:xfrm>
            <a:prstGeom prst="rect">
              <a:avLst/>
            </a:prstGeom>
            <a:solidFill>
              <a:srgbClr val="B1CFFC"/>
            </a:solidFill>
            <a:ln w="6350" algn="ctr">
              <a:noFill/>
              <a:miter lim="800000"/>
              <a:headEnd/>
              <a:tailEnd/>
            </a:ln>
            <a:extLst/>
          </p:spPr>
          <p:txBody>
            <a:bodyPr wrap="none" lIns="91423" tIns="45712" rIns="91423" bIns="45712" anchor="ctr"/>
            <a:lstStyle/>
            <a:p>
              <a:pPr>
                <a:buNone/>
              </a:pPr>
              <a:endParaRPr lang="ko-KR" altLang="en-US" b="1">
                <a:latin typeface="+mn-ea"/>
              </a:endParaRPr>
            </a:p>
          </p:txBody>
        </p:sp>
        <p:sp>
          <p:nvSpPr>
            <p:cNvPr id="53" name="AutoShape 6"/>
            <p:cNvSpPr>
              <a:spLocks noChangeArrowheads="1"/>
            </p:cNvSpPr>
            <p:nvPr/>
          </p:nvSpPr>
          <p:spPr bwMode="auto">
            <a:xfrm>
              <a:off x="546872" y="1911728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en-US" altLang="ko-KR" sz="1100" b="1" dirty="0" err="1">
                  <a:latin typeface="+mn-ea"/>
                  <a:cs typeface="Arial" charset="0"/>
                </a:rPr>
                <a:t>CoE</a:t>
              </a:r>
              <a:r>
                <a:rPr lang="en-US" altLang="ko-KR" sz="1100" b="1" dirty="0">
                  <a:latin typeface="+mn-ea"/>
                  <a:cs typeface="Arial" charset="0"/>
                </a:rPr>
                <a:t> </a:t>
              </a:r>
              <a:r>
                <a:rPr lang="ko-KR" altLang="en-US" sz="1100" b="1" dirty="0">
                  <a:latin typeface="+mn-ea"/>
                  <a:cs typeface="Arial" charset="0"/>
                </a:rPr>
                <a:t>및 </a:t>
              </a:r>
              <a:r>
                <a:rPr lang="en-US" altLang="ko-KR" sz="1100" b="1" dirty="0">
                  <a:latin typeface="+mn-ea"/>
                  <a:cs typeface="Arial" charset="0"/>
                </a:rPr>
                <a:t>Super User</a:t>
              </a:r>
              <a:r>
                <a:rPr lang="ko-KR" altLang="en-US" sz="1100" b="1" dirty="0">
                  <a:latin typeface="+mn-ea"/>
                  <a:cs typeface="Arial" charset="0"/>
                </a:rPr>
                <a:t>를 </a:t>
              </a:r>
              <a:br>
                <a:rPr lang="ko-KR" altLang="en-US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활용한 순차적 교육 확대</a:t>
              </a:r>
            </a:p>
          </p:txBody>
        </p:sp>
        <p:sp>
          <p:nvSpPr>
            <p:cNvPr id="54" name="AutoShape 7"/>
            <p:cNvSpPr>
              <a:spLocks noChangeArrowheads="1"/>
            </p:cNvSpPr>
            <p:nvPr/>
          </p:nvSpPr>
          <p:spPr bwMode="auto">
            <a:xfrm>
              <a:off x="543697" y="3568780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관리자의 </a:t>
              </a:r>
              <a:br>
                <a:rPr lang="ko-KR" altLang="en-US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우선적 교육 실시를 통한</a:t>
              </a:r>
              <a:br>
                <a:rPr lang="ko-KR" altLang="en-US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 변화 </a:t>
              </a:r>
              <a:r>
                <a:rPr lang="ko-KR" altLang="en-US" sz="1100" b="1" dirty="0" err="1">
                  <a:latin typeface="+mn-ea"/>
                  <a:cs typeface="Arial" charset="0"/>
                </a:rPr>
                <a:t>스폰서십</a:t>
              </a:r>
              <a:r>
                <a:rPr lang="ko-KR" altLang="en-US" sz="1100" b="1" dirty="0">
                  <a:latin typeface="+mn-ea"/>
                  <a:cs typeface="Arial" charset="0"/>
                </a:rPr>
                <a:t> 강화</a:t>
              </a:r>
            </a:p>
          </p:txBody>
        </p:sp>
        <p:sp>
          <p:nvSpPr>
            <p:cNvPr id="55" name="Rectangle 8"/>
            <p:cNvSpPr>
              <a:spLocks noChangeArrowheads="1"/>
            </p:cNvSpPr>
            <p:nvPr/>
          </p:nvSpPr>
          <p:spPr bwMode="auto">
            <a:xfrm>
              <a:off x="2682330" y="3787258"/>
              <a:ext cx="384432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87313" indent="-87313">
                <a:buClr>
                  <a:schemeClr val="tx1"/>
                </a:buClr>
                <a:buFont typeface="Arial" pitchFamily="34" charset="0"/>
                <a:buChar char="•"/>
              </a:pPr>
              <a:r>
                <a:rPr lang="ko-KR" altLang="en-US" sz="1100" b="1" dirty="0">
                  <a:latin typeface="+mn-ea"/>
                  <a:cs typeface="Arial" charset="0"/>
                </a:rPr>
                <a:t>관리자에게 필요한 교육을 개발하고 실시하여 </a:t>
              </a:r>
              <a:r>
                <a:rPr lang="en-US" altLang="ko-KR" sz="1100" b="1" dirty="0">
                  <a:latin typeface="+mn-ea"/>
                  <a:cs typeface="Arial" charset="0"/>
                </a:rPr>
                <a:t/>
              </a:r>
              <a:br>
                <a:rPr lang="en-US" altLang="ko-KR" sz="1100" b="1" dirty="0">
                  <a:latin typeface="+mn-ea"/>
                  <a:cs typeface="Arial" charset="0"/>
                </a:rPr>
              </a:br>
              <a:r>
                <a:rPr lang="ko-KR" altLang="en-US" sz="1100" b="1" dirty="0">
                  <a:latin typeface="+mn-ea"/>
                  <a:cs typeface="Arial" charset="0"/>
                </a:rPr>
                <a:t>변화 </a:t>
              </a:r>
              <a:r>
                <a:rPr lang="ko-KR" altLang="en-US" sz="1100" b="1" dirty="0" err="1">
                  <a:latin typeface="+mn-ea"/>
                  <a:cs typeface="Arial" charset="0"/>
                </a:rPr>
                <a:t>스폰서십</a:t>
              </a:r>
              <a:r>
                <a:rPr lang="ko-KR" altLang="en-US" sz="1100" b="1" dirty="0">
                  <a:latin typeface="+mn-ea"/>
                  <a:cs typeface="Arial" charset="0"/>
                </a:rPr>
                <a:t> 강화를 지원함 </a:t>
              </a:r>
            </a:p>
          </p:txBody>
        </p:sp>
        <p:sp>
          <p:nvSpPr>
            <p:cNvPr id="56" name="Text Box 11"/>
            <p:cNvSpPr txBox="1">
              <a:spLocks noChangeArrowheads="1"/>
            </p:cNvSpPr>
            <p:nvPr/>
          </p:nvSpPr>
          <p:spPr bwMode="auto">
            <a:xfrm>
              <a:off x="7329561" y="2543323"/>
              <a:ext cx="2171701" cy="28266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54000" rIns="54000" anchor="ctr">
              <a:spAutoFit/>
            </a:bodyPr>
            <a:lstStyle>
              <a:lvl1pPr marL="101600" indent="-101600"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>
                <a:spcBef>
                  <a:spcPct val="0"/>
                </a:spcBef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교육 전문가 집단인 </a:t>
              </a:r>
              <a:br>
                <a:rPr kumimoji="0" lang="ko-KR" altLang="en-US" sz="1200" b="1" dirty="0">
                  <a:latin typeface="+mn-ea"/>
                  <a:ea typeface="+mn-ea"/>
                </a:rPr>
              </a:br>
              <a:r>
                <a:rPr kumimoji="0" lang="en-US" altLang="ko-KR" sz="1200" b="1" dirty="0" err="1">
                  <a:latin typeface="+mn-ea"/>
                  <a:ea typeface="+mn-ea"/>
                </a:rPr>
                <a:t>CoE</a:t>
              </a:r>
              <a:r>
                <a:rPr kumimoji="0" lang="en-US" altLang="ko-KR" sz="1200" b="1" dirty="0">
                  <a:latin typeface="+mn-ea"/>
                  <a:ea typeface="+mn-ea"/>
                </a:rPr>
                <a:t> </a:t>
              </a:r>
              <a:r>
                <a:rPr kumimoji="0" lang="ko-KR" altLang="en-US" sz="1200" b="1" dirty="0">
                  <a:latin typeface="+mn-ea"/>
                  <a:ea typeface="+mn-ea"/>
                </a:rPr>
                <a:t>운영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en-US" altLang="ko-KR" sz="1200" b="1" dirty="0">
                  <a:latin typeface="+mn-ea"/>
                  <a:ea typeface="+mn-ea"/>
                </a:rPr>
                <a:t>Super user</a:t>
              </a:r>
              <a:r>
                <a:rPr kumimoji="0" lang="ko-KR" altLang="en-US" sz="1200" b="1" dirty="0">
                  <a:latin typeface="+mn-ea"/>
                  <a:ea typeface="+mn-ea"/>
                </a:rPr>
                <a:t>를 통한 순차적 교육 확대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변화 </a:t>
              </a:r>
              <a:r>
                <a:rPr kumimoji="0" lang="ko-KR" altLang="en-US" sz="1200" b="1" dirty="0" err="1">
                  <a:latin typeface="+mn-ea"/>
                  <a:ea typeface="+mn-ea"/>
                </a:rPr>
                <a:t>스폰서십을</a:t>
              </a:r>
              <a:r>
                <a:rPr kumimoji="0" lang="ko-KR" altLang="en-US" sz="1200" b="1" dirty="0">
                  <a:latin typeface="+mn-ea"/>
                  <a:ea typeface="+mn-ea"/>
                </a:rPr>
                <a:t> 강화할 수 있는 교육 개발</a:t>
              </a:r>
            </a:p>
            <a:p>
              <a:pPr eaLnBrk="0" latinLnBrk="0" hangingPunct="0">
                <a:lnSpc>
                  <a:spcPct val="150000"/>
                </a:lnSpc>
                <a:spcBef>
                  <a:spcPct val="5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0" lang="ko-KR" altLang="en-US" sz="1200" b="1" dirty="0">
                  <a:latin typeface="+mn-ea"/>
                  <a:ea typeface="+mn-ea"/>
                </a:rPr>
                <a:t>정보화 수행을 지원할 수 있는 단계별</a:t>
              </a:r>
              <a:r>
                <a:rPr kumimoji="0" lang="en-US" altLang="ko-KR" sz="1200" b="1" dirty="0">
                  <a:latin typeface="+mn-ea"/>
                  <a:ea typeface="+mn-ea"/>
                </a:rPr>
                <a:t>/</a:t>
              </a:r>
              <a:r>
                <a:rPr kumimoji="0" lang="ko-KR" altLang="en-US" sz="1200" b="1" dirty="0" err="1">
                  <a:latin typeface="+mn-ea"/>
                  <a:ea typeface="+mn-ea"/>
                </a:rPr>
                <a:t>대상별</a:t>
              </a:r>
              <a:r>
                <a:rPr kumimoji="0" lang="ko-KR" altLang="en-US" sz="1200" b="1" dirty="0">
                  <a:latin typeface="+mn-ea"/>
                  <a:ea typeface="+mn-ea"/>
                </a:rPr>
                <a:t> 차별화된 교육 실시</a:t>
              </a:r>
            </a:p>
          </p:txBody>
        </p:sp>
        <p:sp>
          <p:nvSpPr>
            <p:cNvPr id="57" name="AutoShape 13"/>
            <p:cNvSpPr>
              <a:spLocks noChangeArrowheads="1"/>
            </p:cNvSpPr>
            <p:nvPr/>
          </p:nvSpPr>
          <p:spPr bwMode="auto">
            <a:xfrm>
              <a:off x="543697" y="5225833"/>
              <a:ext cx="1998758" cy="790351"/>
            </a:xfrm>
            <a:prstGeom prst="homePlate">
              <a:avLst>
                <a:gd name="adj" fmla="val 41088"/>
              </a:avLst>
            </a:prstGeom>
            <a:solidFill>
              <a:srgbClr val="FFFFFF"/>
            </a:solidFill>
            <a:ln w="6350" algn="ctr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60000"/>
                </a:schemeClr>
              </a:outerShdw>
            </a:effectLst>
          </p:spPr>
          <p:txBody>
            <a:bodyPr wrap="none" lIns="91423" tIns="45712" rIns="91423" bIns="45712" anchor="ctr"/>
            <a:lstStyle/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 err="1">
                  <a:latin typeface="+mn-ea"/>
                  <a:cs typeface="Arial" charset="0"/>
                </a:rPr>
                <a:t>대상별</a:t>
              </a:r>
              <a:endParaRPr lang="ko-KR" altLang="en-US" sz="1100" b="1" dirty="0">
                <a:latin typeface="+mn-ea"/>
                <a:cs typeface="Arial" charset="0"/>
              </a:endParaRPr>
            </a:p>
            <a:p>
              <a:pPr algn="ctr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latin typeface="+mn-ea"/>
                  <a:cs typeface="Arial" charset="0"/>
                </a:rPr>
                <a:t>차별화된 교육</a:t>
              </a:r>
            </a:p>
          </p:txBody>
        </p:sp>
        <p:sp>
          <p:nvSpPr>
            <p:cNvPr id="58" name="Rectangle 14"/>
            <p:cNvSpPr>
              <a:spLocks noChangeArrowheads="1"/>
            </p:cNvSpPr>
            <p:nvPr/>
          </p:nvSpPr>
          <p:spPr bwMode="auto">
            <a:xfrm>
              <a:off x="2682330" y="5444311"/>
              <a:ext cx="384432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ko-KR" altLang="en-US" sz="1100" b="1" dirty="0">
                  <a:latin typeface="+mn-ea"/>
                </a:rPr>
                <a:t>필요한 역할 및 </a:t>
              </a:r>
              <a:r>
                <a:rPr lang="en-US" altLang="ko-KR" sz="1100" b="1" dirty="0">
                  <a:latin typeface="+mn-ea"/>
                </a:rPr>
                <a:t>Skill</a:t>
              </a:r>
              <a:r>
                <a:rPr lang="ko-KR" altLang="en-US" sz="1100" b="1" dirty="0">
                  <a:latin typeface="+mn-ea"/>
                </a:rPr>
                <a:t>을 정의하여 이를 지원할 수 있는 </a:t>
              </a:r>
              <a:r>
                <a:rPr lang="en-US" altLang="ko-KR" sz="1100" b="1" dirty="0">
                  <a:latin typeface="+mn-ea"/>
                </a:rPr>
                <a:t/>
              </a:r>
              <a:br>
                <a:rPr lang="en-US" altLang="ko-KR" sz="1100" b="1" dirty="0">
                  <a:latin typeface="+mn-ea"/>
                </a:rPr>
              </a:br>
              <a:r>
                <a:rPr lang="ko-KR" altLang="en-US" sz="1100" b="1" dirty="0">
                  <a:latin typeface="+mn-ea"/>
                </a:rPr>
                <a:t>교육을 대상별로 차별화하여 효과적으로 수행함</a:t>
              </a:r>
            </a:p>
          </p:txBody>
        </p:sp>
        <p:sp>
          <p:nvSpPr>
            <p:cNvPr id="59" name="AutoShape 12"/>
            <p:cNvSpPr>
              <a:spLocks noChangeArrowheads="1"/>
            </p:cNvSpPr>
            <p:nvPr/>
          </p:nvSpPr>
          <p:spPr bwMode="auto">
            <a:xfrm rot="5400000">
              <a:off x="4934584" y="3775599"/>
              <a:ext cx="3753617" cy="362053"/>
            </a:xfrm>
            <a:prstGeom prst="triangle">
              <a:avLst>
                <a:gd name="adj" fmla="val 50000"/>
              </a:avLst>
            </a:prstGeom>
            <a:gradFill rotWithShape="1">
              <a:gsLst>
                <a:gs pos="0">
                  <a:srgbClr val="4678B4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5400000" scaled="1"/>
            </a:gradFill>
            <a:ln w="6350" algn="ctr">
              <a:solidFill>
                <a:srgbClr val="7DAFFA">
                  <a:lumMod val="20000"/>
                  <a:lumOff val="80000"/>
                </a:srgbClr>
              </a:solidFill>
              <a:miter lim="800000"/>
              <a:headEnd/>
              <a:tailEnd type="none" w="sm" len="sm"/>
            </a:ln>
            <a:effectLst/>
          </p:spPr>
          <p:txBody>
            <a:bodyPr wrap="none" lIns="0" tIns="0" rIns="0" bIns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>
                <a:latin typeface="+mn-ea"/>
                <a:ea typeface="+mn-ea"/>
              </a:rPr>
              <a:t>정보화 과제</a:t>
            </a:r>
            <a:r>
              <a:rPr lang="en-US" altLang="ko-KR" sz="1600" dirty="0">
                <a:latin typeface="+mn-ea"/>
                <a:ea typeface="+mn-ea"/>
              </a:rPr>
              <a:t>(</a:t>
            </a:r>
            <a:r>
              <a:rPr lang="ko-KR" altLang="en-US" sz="1600" dirty="0">
                <a:latin typeface="+mn-ea"/>
                <a:ea typeface="+mn-ea"/>
              </a:rPr>
              <a:t>프로젝트</a:t>
            </a:r>
            <a:r>
              <a:rPr lang="en-US" altLang="ko-KR" sz="1600" dirty="0">
                <a:latin typeface="+mn-ea"/>
                <a:ea typeface="+mn-ea"/>
              </a:rPr>
              <a:t>) </a:t>
            </a:r>
            <a:r>
              <a:rPr lang="ko-KR" altLang="en-US" sz="1600" dirty="0">
                <a:latin typeface="+mn-ea"/>
                <a:ea typeface="+mn-ea"/>
              </a:rPr>
              <a:t>진행 상황 전반을 현업과 공유하고 시스템에 대한  기본개념 및 사용방법을 </a:t>
            </a:r>
            <a:r>
              <a:rPr lang="en-US" altLang="ko-KR" sz="1600" dirty="0">
                <a:latin typeface="+mn-ea"/>
                <a:ea typeface="+mn-ea"/>
              </a:rPr>
              <a:t>transfer</a:t>
            </a:r>
            <a:r>
              <a:rPr lang="ko-KR" altLang="en-US" sz="1600" dirty="0">
                <a:latin typeface="+mn-ea"/>
                <a:ea typeface="+mn-ea"/>
              </a:rPr>
              <a:t>하는 가상 조직을 구성하여 사용자에게 순차적으로 교육을 전파함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6.2.5 </a:t>
            </a:r>
            <a:r>
              <a:rPr lang="ko-KR" altLang="en-US" dirty="0"/>
              <a:t>교육 프로그램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en-US" altLang="ko-KR" dirty="0" err="1"/>
              <a:t>CoE</a:t>
            </a:r>
            <a:r>
              <a:rPr lang="en-US" altLang="ko-KR" dirty="0"/>
              <a:t> </a:t>
            </a:r>
            <a:r>
              <a:rPr lang="ko-KR" altLang="en-US" dirty="0"/>
              <a:t>구성을 통한 순차적 교육 확대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17" name="Rectangle 34"/>
          <p:cNvSpPr>
            <a:spLocks noChangeArrowheads="1"/>
          </p:cNvSpPr>
          <p:nvPr/>
        </p:nvSpPr>
        <p:spPr bwMode="gray">
          <a:xfrm>
            <a:off x="5053928" y="1531392"/>
            <a:ext cx="4457860" cy="477202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lang="ko-KR" altLang="en-US" sz="1400" b="1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8" name="AutoShape 7"/>
          <p:cNvSpPr>
            <a:spLocks noChangeArrowheads="1"/>
          </p:cNvSpPr>
          <p:nvPr/>
        </p:nvSpPr>
        <p:spPr bwMode="auto">
          <a:xfrm>
            <a:off x="331788" y="1531392"/>
            <a:ext cx="4792220" cy="4778531"/>
          </a:xfrm>
          <a:prstGeom prst="homePlate">
            <a:avLst>
              <a:gd name="adj" fmla="val 9111"/>
            </a:avLst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lang="ko-KR" altLang="en-US" sz="1400" b="1" kern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9" name="Freeform 20"/>
          <p:cNvSpPr>
            <a:spLocks/>
          </p:cNvSpPr>
          <p:nvPr/>
        </p:nvSpPr>
        <p:spPr bwMode="auto">
          <a:xfrm>
            <a:off x="331788" y="1531392"/>
            <a:ext cx="4448807" cy="371475"/>
          </a:xfrm>
          <a:custGeom>
            <a:avLst/>
            <a:gdLst>
              <a:gd name="T0" fmla="*/ 0 w 2216"/>
              <a:gd name="T1" fmla="*/ 2147483647 h 250"/>
              <a:gd name="T2" fmla="*/ 2147483647 w 2216"/>
              <a:gd name="T3" fmla="*/ 0 h 250"/>
              <a:gd name="T4" fmla="*/ 2147483647 w 2216"/>
              <a:gd name="T5" fmla="*/ 2147483647 h 250"/>
              <a:gd name="T6" fmla="*/ 0 w 2216"/>
              <a:gd name="T7" fmla="*/ 2147483647 h 250"/>
              <a:gd name="T8" fmla="*/ 0 w 2216"/>
              <a:gd name="T9" fmla="*/ 2147483647 h 2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250"/>
              <a:gd name="T17" fmla="*/ 2216 w 2216"/>
              <a:gd name="T18" fmla="*/ 250 h 2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250">
                <a:moveTo>
                  <a:pt x="0" y="1"/>
                </a:moveTo>
                <a:lnTo>
                  <a:pt x="2186" y="0"/>
                </a:lnTo>
                <a:lnTo>
                  <a:pt x="2216" y="249"/>
                </a:lnTo>
                <a:lnTo>
                  <a:pt x="0" y="250"/>
                </a:lnTo>
                <a:lnTo>
                  <a:pt x="0" y="1"/>
                </a:lnTo>
                <a:close/>
              </a:path>
            </a:pathLst>
          </a:custGeom>
          <a:solidFill>
            <a:srgbClr val="003058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fontAlgn="auto">
              <a:spcAft>
                <a:spcPts val="0"/>
              </a:spcAft>
              <a:buNone/>
              <a:defRPr/>
            </a:pPr>
            <a:r>
              <a:rPr kumimoji="1" lang="en-US" altLang="ko-KR" sz="1400" b="1" kern="0" dirty="0" err="1">
                <a:solidFill>
                  <a:srgbClr val="FFFFFF"/>
                </a:solidFill>
                <a:latin typeface="+mn-ea"/>
              </a:rPr>
              <a:t>CoE</a:t>
            </a:r>
            <a:r>
              <a:rPr kumimoji="1" lang="en-US" altLang="ko-KR" sz="1400" b="1" kern="0" dirty="0">
                <a:solidFill>
                  <a:srgbClr val="FFFFFF"/>
                </a:solidFill>
                <a:latin typeface="+mn-ea"/>
              </a:rPr>
              <a:t> </a:t>
            </a:r>
            <a:r>
              <a:rPr kumimoji="1" lang="ko-KR" altLang="en-US" sz="1400" b="1" kern="0" dirty="0">
                <a:solidFill>
                  <a:srgbClr val="FFFFFF"/>
                </a:solidFill>
                <a:latin typeface="+mn-ea"/>
              </a:rPr>
              <a:t>조직 및 순차적 교육 확산 개념도</a:t>
            </a:r>
          </a:p>
        </p:txBody>
      </p:sp>
      <p:grpSp>
        <p:nvGrpSpPr>
          <p:cNvPr id="5" name="그룹 109"/>
          <p:cNvGrpSpPr/>
          <p:nvPr/>
        </p:nvGrpSpPr>
        <p:grpSpPr>
          <a:xfrm>
            <a:off x="607120" y="2204864"/>
            <a:ext cx="3816000" cy="3816000"/>
            <a:chOff x="696290" y="2329997"/>
            <a:chExt cx="3629025" cy="3441700"/>
          </a:xfrm>
        </p:grpSpPr>
        <p:cxnSp>
          <p:nvCxnSpPr>
            <p:cNvPr id="72" name="AutoShape 11"/>
            <p:cNvCxnSpPr>
              <a:cxnSpLocks noChangeShapeType="1"/>
            </p:cNvCxnSpPr>
            <p:nvPr/>
          </p:nvCxnSpPr>
          <p:spPr bwMode="auto">
            <a:xfrm flipH="1">
              <a:off x="1444003" y="3719060"/>
              <a:ext cx="1068387" cy="77787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3" name="AutoShape 12"/>
            <p:cNvCxnSpPr>
              <a:cxnSpLocks noChangeShapeType="1"/>
              <a:stCxn id="92" idx="2"/>
            </p:cNvCxnSpPr>
            <p:nvPr/>
          </p:nvCxnSpPr>
          <p:spPr bwMode="auto">
            <a:xfrm>
              <a:off x="2545728" y="3719060"/>
              <a:ext cx="992187" cy="77787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sp>
          <p:nvSpPr>
            <p:cNvPr id="74" name="Rectangle 13"/>
            <p:cNvSpPr>
              <a:spLocks noChangeArrowheads="1"/>
            </p:cNvSpPr>
            <p:nvPr/>
          </p:nvSpPr>
          <p:spPr bwMode="auto">
            <a:xfrm>
              <a:off x="821703" y="4496935"/>
              <a:ext cx="773112" cy="547687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75" name="Text Box 14"/>
            <p:cNvSpPr txBox="1">
              <a:spLocks noChangeArrowheads="1"/>
            </p:cNvSpPr>
            <p:nvPr/>
          </p:nvSpPr>
          <p:spPr bwMode="auto">
            <a:xfrm>
              <a:off x="875958" y="4604885"/>
              <a:ext cx="690562" cy="3323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>
              <a:spAutoFit/>
            </a:bodyPr>
            <a:lstStyle/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Super</a:t>
              </a:r>
            </a:p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user</a:t>
              </a:r>
            </a:p>
          </p:txBody>
        </p:sp>
        <p:sp>
          <p:nvSpPr>
            <p:cNvPr id="76" name="Oval 15"/>
            <p:cNvSpPr>
              <a:spLocks noChangeArrowheads="1"/>
            </p:cNvSpPr>
            <p:nvPr/>
          </p:nvSpPr>
          <p:spPr bwMode="auto">
            <a:xfrm>
              <a:off x="696290" y="5444672"/>
              <a:ext cx="368300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>
                  <a:latin typeface="+mn-ea"/>
                  <a:ea typeface="+mn-ea"/>
                </a:rPr>
                <a:t>사용자</a:t>
              </a:r>
            </a:p>
          </p:txBody>
        </p:sp>
        <p:cxnSp>
          <p:nvCxnSpPr>
            <p:cNvPr id="77" name="AutoShape 16"/>
            <p:cNvCxnSpPr>
              <a:cxnSpLocks noChangeShapeType="1"/>
              <a:stCxn id="74" idx="2"/>
              <a:endCxn id="76" idx="0"/>
            </p:cNvCxnSpPr>
            <p:nvPr/>
          </p:nvCxnSpPr>
          <p:spPr bwMode="auto">
            <a:xfrm flipH="1">
              <a:off x="880440" y="5044622"/>
              <a:ext cx="328613" cy="4000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8" name="AutoShape 17"/>
            <p:cNvCxnSpPr>
              <a:cxnSpLocks noChangeShapeType="1"/>
              <a:stCxn id="74" idx="2"/>
              <a:endCxn id="87" idx="0"/>
            </p:cNvCxnSpPr>
            <p:nvPr/>
          </p:nvCxnSpPr>
          <p:spPr bwMode="auto">
            <a:xfrm>
              <a:off x="1209053" y="5044622"/>
              <a:ext cx="323850" cy="4127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9" name="AutoShape 18"/>
            <p:cNvCxnSpPr>
              <a:cxnSpLocks noChangeShapeType="1"/>
              <a:stCxn id="83" idx="2"/>
              <a:endCxn id="88" idx="0"/>
            </p:cNvCxnSpPr>
            <p:nvPr/>
          </p:nvCxnSpPr>
          <p:spPr bwMode="auto">
            <a:xfrm flipH="1">
              <a:off x="2186953" y="5044622"/>
              <a:ext cx="350837" cy="4127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0" name="AutoShape 19"/>
            <p:cNvCxnSpPr>
              <a:cxnSpLocks noChangeShapeType="1"/>
              <a:stCxn id="83" idx="2"/>
              <a:endCxn id="89" idx="0"/>
            </p:cNvCxnSpPr>
            <p:nvPr/>
          </p:nvCxnSpPr>
          <p:spPr bwMode="auto">
            <a:xfrm>
              <a:off x="2537790" y="5044622"/>
              <a:ext cx="300038" cy="4127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1" name="AutoShape 20"/>
            <p:cNvCxnSpPr>
              <a:cxnSpLocks noChangeShapeType="1"/>
              <a:stCxn id="84" idx="2"/>
              <a:endCxn id="90" idx="0"/>
            </p:cNvCxnSpPr>
            <p:nvPr/>
          </p:nvCxnSpPr>
          <p:spPr bwMode="auto">
            <a:xfrm flipH="1">
              <a:off x="3490290" y="5044622"/>
              <a:ext cx="327025" cy="4000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2" name="AutoShape 21"/>
            <p:cNvCxnSpPr>
              <a:cxnSpLocks noChangeShapeType="1"/>
              <a:stCxn id="84" idx="2"/>
              <a:endCxn id="91" idx="0"/>
            </p:cNvCxnSpPr>
            <p:nvPr/>
          </p:nvCxnSpPr>
          <p:spPr bwMode="auto">
            <a:xfrm>
              <a:off x="3817315" y="5044622"/>
              <a:ext cx="325438" cy="40005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sp>
          <p:nvSpPr>
            <p:cNvPr id="83" name="Rectangle 22"/>
            <p:cNvSpPr>
              <a:spLocks noChangeArrowheads="1"/>
            </p:cNvSpPr>
            <p:nvPr/>
          </p:nvSpPr>
          <p:spPr bwMode="auto">
            <a:xfrm>
              <a:off x="2152028" y="4496935"/>
              <a:ext cx="771525" cy="547687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84" name="Rectangle 23"/>
            <p:cNvSpPr>
              <a:spLocks noChangeArrowheads="1"/>
            </p:cNvSpPr>
            <p:nvPr/>
          </p:nvSpPr>
          <p:spPr bwMode="auto">
            <a:xfrm>
              <a:off x="3428378" y="4496935"/>
              <a:ext cx="777875" cy="547687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85" name="Text Box 24"/>
            <p:cNvSpPr txBox="1">
              <a:spLocks noChangeArrowheads="1"/>
            </p:cNvSpPr>
            <p:nvPr/>
          </p:nvSpPr>
          <p:spPr bwMode="auto">
            <a:xfrm>
              <a:off x="2194890" y="4604885"/>
              <a:ext cx="687388" cy="3323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>
              <a:spAutoFit/>
            </a:bodyPr>
            <a:lstStyle/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Super</a:t>
              </a:r>
            </a:p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user</a:t>
              </a:r>
            </a:p>
          </p:txBody>
        </p:sp>
        <p:sp>
          <p:nvSpPr>
            <p:cNvPr id="86" name="Text Box 25"/>
            <p:cNvSpPr txBox="1">
              <a:spLocks noChangeArrowheads="1"/>
            </p:cNvSpPr>
            <p:nvPr/>
          </p:nvSpPr>
          <p:spPr bwMode="auto">
            <a:xfrm>
              <a:off x="3493465" y="4604885"/>
              <a:ext cx="649288" cy="3323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>
              <a:spAutoFit/>
            </a:bodyPr>
            <a:lstStyle/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Super</a:t>
              </a:r>
            </a:p>
            <a:p>
              <a:pPr algn="ctr" eaLnBrk="0" latinLnBrk="0" hangingPunct="0">
                <a:lnSpc>
                  <a:spcPct val="90000"/>
                </a:lnSpc>
                <a:spcBef>
                  <a:spcPct val="0"/>
                </a:spcBef>
                <a:buNone/>
              </a:pPr>
              <a:r>
                <a:rPr kumimoji="0" lang="en-US" altLang="ko-KR" sz="1200" b="1" dirty="0">
                  <a:latin typeface="+mn-ea"/>
                  <a:ea typeface="+mn-ea"/>
                </a:rPr>
                <a:t>User </a:t>
              </a:r>
            </a:p>
          </p:txBody>
        </p:sp>
        <p:sp>
          <p:nvSpPr>
            <p:cNvPr id="87" name="Oval 26"/>
            <p:cNvSpPr>
              <a:spLocks noChangeArrowheads="1"/>
            </p:cNvSpPr>
            <p:nvPr/>
          </p:nvSpPr>
          <p:spPr bwMode="auto">
            <a:xfrm>
              <a:off x="1350340" y="5457372"/>
              <a:ext cx="365125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 dirty="0">
                  <a:latin typeface="+mn-ea"/>
                  <a:ea typeface="+mn-ea"/>
                </a:rPr>
                <a:t>사용자</a:t>
              </a:r>
            </a:p>
          </p:txBody>
        </p:sp>
        <p:sp>
          <p:nvSpPr>
            <p:cNvPr id="88" name="Oval 27"/>
            <p:cNvSpPr>
              <a:spLocks noChangeArrowheads="1"/>
            </p:cNvSpPr>
            <p:nvPr/>
          </p:nvSpPr>
          <p:spPr bwMode="auto">
            <a:xfrm>
              <a:off x="2002803" y="5457372"/>
              <a:ext cx="366712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>
                  <a:latin typeface="+mn-ea"/>
                  <a:ea typeface="+mn-ea"/>
                </a:rPr>
                <a:t>사용자</a:t>
              </a:r>
            </a:p>
          </p:txBody>
        </p:sp>
        <p:sp>
          <p:nvSpPr>
            <p:cNvPr id="89" name="Oval 28"/>
            <p:cNvSpPr>
              <a:spLocks noChangeArrowheads="1"/>
            </p:cNvSpPr>
            <p:nvPr/>
          </p:nvSpPr>
          <p:spPr bwMode="auto">
            <a:xfrm>
              <a:off x="2655265" y="5457372"/>
              <a:ext cx="363538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>
                  <a:latin typeface="+mn-ea"/>
                  <a:ea typeface="+mn-ea"/>
                </a:rPr>
                <a:t>사용자</a:t>
              </a:r>
            </a:p>
          </p:txBody>
        </p:sp>
        <p:sp>
          <p:nvSpPr>
            <p:cNvPr id="90" name="Oval 29"/>
            <p:cNvSpPr>
              <a:spLocks noChangeArrowheads="1"/>
            </p:cNvSpPr>
            <p:nvPr/>
          </p:nvSpPr>
          <p:spPr bwMode="auto">
            <a:xfrm>
              <a:off x="3306140" y="5444672"/>
              <a:ext cx="366713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>
                  <a:latin typeface="+mn-ea"/>
                  <a:ea typeface="+mn-ea"/>
                </a:rPr>
                <a:t>사용자</a:t>
              </a:r>
            </a:p>
          </p:txBody>
        </p:sp>
        <p:sp>
          <p:nvSpPr>
            <p:cNvPr id="91" name="Oval 30"/>
            <p:cNvSpPr>
              <a:spLocks noChangeArrowheads="1"/>
            </p:cNvSpPr>
            <p:nvPr/>
          </p:nvSpPr>
          <p:spPr bwMode="auto">
            <a:xfrm>
              <a:off x="3960190" y="5444672"/>
              <a:ext cx="365125" cy="314325"/>
            </a:xfrm>
            <a:prstGeom prst="ellipse">
              <a:avLst/>
            </a:prstGeom>
            <a:solidFill>
              <a:schemeClr val="accent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>
                <a:buNone/>
              </a:pPr>
              <a:r>
                <a:rPr lang="ko-KR" altLang="en-US" sz="900" b="1">
                  <a:latin typeface="+mn-ea"/>
                  <a:ea typeface="+mn-ea"/>
                </a:rPr>
                <a:t>사용자</a:t>
              </a:r>
            </a:p>
          </p:txBody>
        </p:sp>
        <p:sp>
          <p:nvSpPr>
            <p:cNvPr id="92" name="Rectangle 31"/>
            <p:cNvSpPr>
              <a:spLocks noChangeArrowheads="1"/>
            </p:cNvSpPr>
            <p:nvPr/>
          </p:nvSpPr>
          <p:spPr bwMode="auto">
            <a:xfrm>
              <a:off x="1140790" y="2549072"/>
              <a:ext cx="2808288" cy="1169988"/>
            </a:xfrm>
            <a:prstGeom prst="rect">
              <a:avLst/>
            </a:prstGeom>
            <a:solidFill>
              <a:schemeClr val="accent3">
                <a:alpha val="5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93" name="Rectangle 32"/>
            <p:cNvSpPr>
              <a:spLocks noChangeArrowheads="1"/>
            </p:cNvSpPr>
            <p:nvPr/>
          </p:nvSpPr>
          <p:spPr bwMode="auto">
            <a:xfrm>
              <a:off x="2933078" y="2977697"/>
              <a:ext cx="279400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800" b="1" dirty="0">
                  <a:latin typeface="+mn-ea"/>
                  <a:ea typeface="+mn-ea"/>
                </a:rPr>
                <a:t>기금</a:t>
              </a:r>
              <a:r>
                <a:rPr kumimoji="0" lang="en-US" altLang="ko-KR" sz="800" b="1" dirty="0">
                  <a:latin typeface="+mn-ea"/>
                  <a:ea typeface="+mn-ea"/>
                </a:rPr>
                <a:t/>
              </a:r>
              <a:br>
                <a:rPr kumimoji="0" lang="en-US" altLang="ko-KR" sz="800" b="1" dirty="0">
                  <a:latin typeface="+mn-ea"/>
                  <a:ea typeface="+mn-ea"/>
                </a:rPr>
              </a:br>
              <a:r>
                <a:rPr kumimoji="0" lang="ko-KR" altLang="en-US" sz="800" b="1" dirty="0">
                  <a:latin typeface="+mn-ea"/>
                  <a:ea typeface="+mn-ea"/>
                </a:rPr>
                <a:t>지원</a:t>
              </a:r>
              <a:endParaRPr kumimoji="0" lang="ko-KR" altLang="ko-KR" sz="800" b="1" dirty="0">
                <a:latin typeface="+mn-ea"/>
                <a:ea typeface="+mn-ea"/>
              </a:endParaRPr>
            </a:p>
          </p:txBody>
        </p:sp>
        <p:sp>
          <p:nvSpPr>
            <p:cNvPr id="94" name="Rectangle 33"/>
            <p:cNvSpPr>
              <a:spLocks noChangeArrowheads="1"/>
            </p:cNvSpPr>
            <p:nvPr/>
          </p:nvSpPr>
          <p:spPr bwMode="auto">
            <a:xfrm>
              <a:off x="3353765" y="2977697"/>
              <a:ext cx="277813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en-US" altLang="ko-KR" sz="800" b="1" dirty="0">
                  <a:latin typeface="+mn-ea"/>
                  <a:ea typeface="+mn-ea"/>
                </a:rPr>
                <a:t>……</a:t>
              </a:r>
              <a:endParaRPr kumimoji="0" lang="ko-KR" altLang="ko-KR" sz="800" b="1" dirty="0">
                <a:latin typeface="+mn-ea"/>
                <a:ea typeface="+mn-ea"/>
              </a:endParaRPr>
            </a:p>
          </p:txBody>
        </p:sp>
        <p:sp>
          <p:nvSpPr>
            <p:cNvPr id="95" name="Rectangle 34"/>
            <p:cNvSpPr>
              <a:spLocks noChangeArrowheads="1"/>
            </p:cNvSpPr>
            <p:nvPr/>
          </p:nvSpPr>
          <p:spPr bwMode="auto">
            <a:xfrm>
              <a:off x="1328115" y="2977697"/>
              <a:ext cx="279400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800" b="1" dirty="0">
                  <a:latin typeface="+mn-ea"/>
                  <a:ea typeface="+mn-ea"/>
                </a:rPr>
                <a:t>공통</a:t>
              </a:r>
            </a:p>
          </p:txBody>
        </p:sp>
        <p:sp>
          <p:nvSpPr>
            <p:cNvPr id="96" name="Rectangle 35"/>
            <p:cNvSpPr>
              <a:spLocks noChangeArrowheads="1"/>
            </p:cNvSpPr>
            <p:nvPr/>
          </p:nvSpPr>
          <p:spPr bwMode="auto">
            <a:xfrm>
              <a:off x="1734515" y="2977697"/>
              <a:ext cx="277813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800" b="1" dirty="0">
                  <a:latin typeface="+mn-ea"/>
                  <a:ea typeface="+mn-ea"/>
                </a:rPr>
                <a:t>통합</a:t>
              </a:r>
              <a:r>
                <a:rPr kumimoji="0" lang="en-US" altLang="ko-KR" sz="800" b="1" dirty="0">
                  <a:latin typeface="+mn-ea"/>
                  <a:ea typeface="+mn-ea"/>
                </a:rPr>
                <a:t/>
              </a:r>
              <a:br>
                <a:rPr kumimoji="0" lang="en-US" altLang="ko-KR" sz="800" b="1" dirty="0">
                  <a:latin typeface="+mn-ea"/>
                  <a:ea typeface="+mn-ea"/>
                </a:rPr>
              </a:br>
              <a:r>
                <a:rPr kumimoji="0" lang="ko-KR" altLang="en-US" sz="800" b="1" dirty="0">
                  <a:latin typeface="+mn-ea"/>
                  <a:ea typeface="+mn-ea"/>
                </a:rPr>
                <a:t>재무</a:t>
              </a:r>
            </a:p>
          </p:txBody>
        </p:sp>
        <p:sp>
          <p:nvSpPr>
            <p:cNvPr id="97" name="Rectangle 36"/>
            <p:cNvSpPr>
              <a:spLocks noChangeArrowheads="1"/>
            </p:cNvSpPr>
            <p:nvPr/>
          </p:nvSpPr>
          <p:spPr bwMode="auto">
            <a:xfrm>
              <a:off x="2163140" y="2977697"/>
              <a:ext cx="277813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lang="ko-KR" altLang="en-US" sz="800" b="1" dirty="0">
                  <a:latin typeface="+mn-ea"/>
                </a:rPr>
                <a:t>계약</a:t>
              </a:r>
              <a:r>
                <a:rPr lang="en-US" altLang="ko-KR" sz="800" b="1" dirty="0">
                  <a:latin typeface="+mn-ea"/>
                </a:rPr>
                <a:t/>
              </a:r>
              <a:br>
                <a:rPr lang="en-US" altLang="ko-KR" sz="800" b="1" dirty="0">
                  <a:latin typeface="+mn-ea"/>
                </a:rPr>
              </a:br>
              <a:r>
                <a:rPr lang="ko-KR" altLang="en-US" sz="800" b="1" dirty="0">
                  <a:latin typeface="+mn-ea"/>
                </a:rPr>
                <a:t>관리</a:t>
              </a:r>
              <a:endParaRPr kumimoji="0" lang="ko-KR" altLang="en-US" sz="800" b="1" dirty="0">
                <a:latin typeface="+mn-ea"/>
                <a:ea typeface="+mn-ea"/>
              </a:endParaRPr>
            </a:p>
          </p:txBody>
        </p:sp>
        <p:sp>
          <p:nvSpPr>
            <p:cNvPr id="98" name="Rectangle 37"/>
            <p:cNvSpPr>
              <a:spLocks noChangeArrowheads="1"/>
            </p:cNvSpPr>
            <p:nvPr/>
          </p:nvSpPr>
          <p:spPr bwMode="auto">
            <a:xfrm>
              <a:off x="2548903" y="2977697"/>
              <a:ext cx="277812" cy="692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800" b="1" dirty="0">
                  <a:latin typeface="+mn-ea"/>
                  <a:ea typeface="+mn-ea"/>
                </a:rPr>
                <a:t>인적</a:t>
              </a:r>
              <a:r>
                <a:rPr kumimoji="0" lang="en-US" altLang="ko-KR" sz="800" b="1" dirty="0">
                  <a:latin typeface="+mn-ea"/>
                  <a:ea typeface="+mn-ea"/>
                </a:rPr>
                <a:t/>
              </a:r>
              <a:br>
                <a:rPr kumimoji="0" lang="en-US" altLang="ko-KR" sz="800" b="1" dirty="0">
                  <a:latin typeface="+mn-ea"/>
                  <a:ea typeface="+mn-ea"/>
                </a:rPr>
              </a:br>
              <a:r>
                <a:rPr kumimoji="0" lang="ko-KR" altLang="en-US" sz="800" b="1" dirty="0">
                  <a:latin typeface="+mn-ea"/>
                  <a:ea typeface="+mn-ea"/>
                </a:rPr>
                <a:t>자원</a:t>
              </a:r>
            </a:p>
          </p:txBody>
        </p:sp>
        <p:sp>
          <p:nvSpPr>
            <p:cNvPr id="99" name="Rectangle 38"/>
            <p:cNvSpPr>
              <a:spLocks noChangeArrowheads="1"/>
            </p:cNvSpPr>
            <p:nvPr/>
          </p:nvSpPr>
          <p:spPr bwMode="auto">
            <a:xfrm>
              <a:off x="1247153" y="3311072"/>
              <a:ext cx="2590800" cy="282575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algn="ctr" eaLnBrk="0" latinLnBrk="0" hangingPunct="0">
                <a:spcBef>
                  <a:spcPct val="0"/>
                </a:spcBef>
                <a:buNone/>
              </a:pPr>
              <a:r>
                <a:rPr kumimoji="0" lang="ko-KR" altLang="en-US" sz="1200" b="1">
                  <a:latin typeface="+mn-ea"/>
                  <a:ea typeface="+mn-ea"/>
                </a:rPr>
                <a:t>교육 </a:t>
              </a:r>
              <a:r>
                <a:rPr kumimoji="0" lang="en-US" altLang="ko-KR" sz="1200" b="1">
                  <a:latin typeface="+mn-ea"/>
                  <a:ea typeface="+mn-ea"/>
                </a:rPr>
                <a:t>CoE </a:t>
              </a:r>
              <a:r>
                <a:rPr kumimoji="0" lang="ko-KR" altLang="en-US" sz="1200" b="1">
                  <a:latin typeface="+mn-ea"/>
                  <a:ea typeface="+mn-ea"/>
                </a:rPr>
                <a:t>편성</a:t>
              </a:r>
            </a:p>
          </p:txBody>
        </p:sp>
        <p:sp>
          <p:nvSpPr>
            <p:cNvPr id="100" name="Line 39"/>
            <p:cNvSpPr>
              <a:spLocks noChangeShapeType="1"/>
            </p:cNvSpPr>
            <p:nvPr/>
          </p:nvSpPr>
          <p:spPr bwMode="auto">
            <a:xfrm>
              <a:off x="1434478" y="2818947"/>
              <a:ext cx="2057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1" name="Line 40"/>
            <p:cNvSpPr>
              <a:spLocks noChangeShapeType="1"/>
            </p:cNvSpPr>
            <p:nvPr/>
          </p:nvSpPr>
          <p:spPr bwMode="auto">
            <a:xfrm>
              <a:off x="1434478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2" name="Line 41"/>
            <p:cNvSpPr>
              <a:spLocks noChangeShapeType="1"/>
            </p:cNvSpPr>
            <p:nvPr/>
          </p:nvSpPr>
          <p:spPr bwMode="auto">
            <a:xfrm>
              <a:off x="1863103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3" name="Line 42"/>
            <p:cNvSpPr>
              <a:spLocks noChangeShapeType="1"/>
            </p:cNvSpPr>
            <p:nvPr/>
          </p:nvSpPr>
          <p:spPr bwMode="auto">
            <a:xfrm>
              <a:off x="2291728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4" name="Line 43"/>
            <p:cNvSpPr>
              <a:spLocks noChangeShapeType="1"/>
            </p:cNvSpPr>
            <p:nvPr/>
          </p:nvSpPr>
          <p:spPr bwMode="auto">
            <a:xfrm>
              <a:off x="2677490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5" name="Line 44"/>
            <p:cNvSpPr>
              <a:spLocks noChangeShapeType="1"/>
            </p:cNvSpPr>
            <p:nvPr/>
          </p:nvSpPr>
          <p:spPr bwMode="auto">
            <a:xfrm>
              <a:off x="3063253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6" name="Line 45"/>
            <p:cNvSpPr>
              <a:spLocks noChangeShapeType="1"/>
            </p:cNvSpPr>
            <p:nvPr/>
          </p:nvSpPr>
          <p:spPr bwMode="auto">
            <a:xfrm>
              <a:off x="3498228" y="2818947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7" name="Line 46"/>
            <p:cNvSpPr>
              <a:spLocks noChangeShapeType="1"/>
            </p:cNvSpPr>
            <p:nvPr/>
          </p:nvSpPr>
          <p:spPr bwMode="auto">
            <a:xfrm>
              <a:off x="2478259" y="2650392"/>
              <a:ext cx="0" cy="1587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08" name="Rectangle 49"/>
            <p:cNvSpPr>
              <a:spLocks noChangeArrowheads="1"/>
            </p:cNvSpPr>
            <p:nvPr/>
          </p:nvSpPr>
          <p:spPr bwMode="auto">
            <a:xfrm>
              <a:off x="1375719" y="2329997"/>
              <a:ext cx="2372497" cy="419100"/>
            </a:xfrm>
            <a:prstGeom prst="rect">
              <a:avLst/>
            </a:prstGeom>
            <a:solidFill>
              <a:srgbClr val="508CD2"/>
            </a:solidFill>
            <a:ln w="6350" algn="ctr">
              <a:solidFill>
                <a:schemeClr val="tx1">
                  <a:lumMod val="75000"/>
                  <a:lumOff val="25000"/>
                </a:schemeClr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  <a:extLst/>
          </p:spPr>
          <p:txBody>
            <a:bodyPr wrap="none" lIns="91423" tIns="45712" rIns="91423" bIns="45712" anchor="ctr"/>
            <a:lstStyle/>
            <a:p>
              <a:pPr algn="ctr" latinLnBrk="0">
                <a:spcBef>
                  <a:spcPct val="20000"/>
                </a:spcBef>
                <a:buClr>
                  <a:srgbClr val="006699"/>
                </a:buClr>
                <a:buSzPct val="100000"/>
                <a:buNone/>
              </a:pPr>
              <a:r>
                <a:rPr lang="ko-KR" altLang="en-US" sz="1100" b="1" dirty="0">
                  <a:solidFill>
                    <a:schemeClr val="bg1"/>
                  </a:solidFill>
                  <a:latin typeface="+mn-ea"/>
                  <a:cs typeface="Arial" charset="0"/>
                </a:rPr>
                <a:t>통합정보센터</a:t>
              </a:r>
              <a:r>
                <a:rPr lang="en-US" altLang="ko-KR" sz="1100" b="1" dirty="0">
                  <a:solidFill>
                    <a:schemeClr val="bg1"/>
                  </a:solidFill>
                  <a:latin typeface="+mn-ea"/>
                  <a:ea typeface="+mn-ea"/>
                  <a:cs typeface="Arial" charset="0"/>
                </a:rPr>
                <a:t/>
              </a:r>
              <a:br>
                <a:rPr lang="en-US" altLang="ko-KR" sz="1100" b="1" dirty="0">
                  <a:solidFill>
                    <a:schemeClr val="bg1"/>
                  </a:solidFill>
                  <a:latin typeface="+mn-ea"/>
                  <a:ea typeface="+mn-ea"/>
                  <a:cs typeface="Arial" charset="0"/>
                </a:rPr>
              </a:br>
              <a:r>
                <a:rPr lang="en-US" altLang="ko-KR" sz="1100" b="1" dirty="0">
                  <a:solidFill>
                    <a:schemeClr val="bg1"/>
                  </a:solidFill>
                  <a:latin typeface="+mn-ea"/>
                  <a:ea typeface="+mn-ea"/>
                  <a:cs typeface="Arial" charset="0"/>
                </a:rPr>
                <a:t>(</a:t>
              </a:r>
              <a:r>
                <a:rPr lang="ko-KR" altLang="en-US" sz="1100" b="1" dirty="0">
                  <a:solidFill>
                    <a:schemeClr val="bg1"/>
                  </a:solidFill>
                  <a:latin typeface="+mn-ea"/>
                  <a:ea typeface="+mn-ea"/>
                  <a:cs typeface="Arial" charset="0"/>
                </a:rPr>
                <a:t>정보화 기획팀</a:t>
              </a:r>
              <a:r>
                <a:rPr lang="en-US" altLang="ko-KR" sz="1100" b="1" dirty="0">
                  <a:solidFill>
                    <a:schemeClr val="bg1"/>
                  </a:solidFill>
                  <a:latin typeface="+mn-ea"/>
                  <a:ea typeface="+mn-ea"/>
                  <a:cs typeface="Arial" charset="0"/>
                </a:rPr>
                <a:t>)</a:t>
              </a:r>
              <a:endParaRPr lang="ko-KR" altLang="en-US" sz="1100" b="1" dirty="0">
                <a:solidFill>
                  <a:schemeClr val="bg1"/>
                </a:solidFill>
                <a:latin typeface="+mn-ea"/>
                <a:ea typeface="+mn-ea"/>
                <a:cs typeface="Arial" charset="0"/>
              </a:endParaRPr>
            </a:p>
          </p:txBody>
        </p:sp>
        <p:cxnSp>
          <p:nvCxnSpPr>
            <p:cNvPr id="109" name="AutoShape 50"/>
            <p:cNvCxnSpPr>
              <a:cxnSpLocks noChangeShapeType="1"/>
              <a:stCxn id="92" idx="2"/>
              <a:endCxn id="83" idx="0"/>
            </p:cNvCxnSpPr>
            <p:nvPr/>
          </p:nvCxnSpPr>
          <p:spPr bwMode="auto">
            <a:xfrm flipH="1">
              <a:off x="2537790" y="3719060"/>
              <a:ext cx="7938" cy="77787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</p:grpSp>
      <p:sp>
        <p:nvSpPr>
          <p:cNvPr id="111" name="Text Box 8"/>
          <p:cNvSpPr txBox="1">
            <a:spLocks noChangeArrowheads="1"/>
          </p:cNvSpPr>
          <p:nvPr/>
        </p:nvSpPr>
        <p:spPr bwMode="auto">
          <a:xfrm>
            <a:off x="5249562" y="4552497"/>
            <a:ext cx="4167934" cy="1403461"/>
          </a:xfrm>
          <a:prstGeom prst="rect">
            <a:avLst/>
          </a:prstGeom>
          <a:noFill/>
          <a:ln w="6350" algn="ctr">
            <a:noFill/>
            <a:miter lim="800000"/>
            <a:headEnd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bg2"/>
                </a:solidFill>
                <a:miter lim="800000"/>
                <a:headEnd/>
                <a:tailEnd/>
              </a14:hiddenLine>
            </a:ext>
          </a:extLst>
        </p:spPr>
        <p:txBody>
          <a:bodyPr lIns="108000" tIns="0" rIns="72000" bIns="0" anchor="ctr"/>
          <a:lstStyle>
            <a:defPPr>
              <a:defRPr lang="en-US"/>
            </a:defPPr>
            <a:lvl1pPr marL="179388" indent="-179388" fontAlgn="auto">
              <a:spcBef>
                <a:spcPct val="20000"/>
              </a:spcBef>
              <a:spcAft>
                <a:spcPts val="0"/>
              </a:spcAft>
              <a:buFont typeface="Wingdings" pitchFamily="2" charset="2"/>
              <a:buChar char="§"/>
              <a:defRPr kumimoji="1" b="0" kern="0">
                <a:latin typeface="Optima" pitchFamily="2" charset="2"/>
                <a:ea typeface="가는각진제목체" pitchFamily="18" charset="-127"/>
              </a:defRPr>
            </a:lvl1pPr>
            <a:lvl2pPr marL="352425" lvl="1" indent="-171450" fontAlgn="auto">
              <a:spcBef>
                <a:spcPct val="20000"/>
              </a:spcBef>
              <a:spcAft>
                <a:spcPts val="0"/>
              </a:spcAft>
              <a:buSzPct val="80000"/>
              <a:buFont typeface="가는각진제목체" pitchFamily="18" charset="-127"/>
              <a:buChar char="-"/>
              <a:defRPr kumimoji="1" b="0" kern="0">
                <a:latin typeface="Optima" pitchFamily="2" charset="2"/>
                <a:ea typeface="가는각진제목체" pitchFamily="18" charset="-127"/>
              </a:defRPr>
            </a:lvl2pPr>
          </a:lstStyle>
          <a:p>
            <a:pPr>
              <a:buClr>
                <a:schemeClr val="tx1">
                  <a:lumMod val="75000"/>
                  <a:lumOff val="25000"/>
                </a:schemeClr>
              </a:buClr>
            </a:pPr>
            <a:r>
              <a:rPr lang="ko-KR" altLang="en-US" sz="1100" b="1" dirty="0">
                <a:latin typeface="+mn-ea"/>
                <a:ea typeface="+mn-ea"/>
              </a:rPr>
              <a:t>현업 부서별로 </a:t>
            </a:r>
            <a:r>
              <a:rPr lang="en-US" altLang="ko-KR" sz="1100" b="1" dirty="0">
                <a:latin typeface="+mn-ea"/>
                <a:ea typeface="+mn-ea"/>
              </a:rPr>
              <a:t>Super user</a:t>
            </a:r>
            <a:r>
              <a:rPr lang="ko-KR" altLang="en-US" sz="1100" b="1" dirty="0">
                <a:latin typeface="+mn-ea"/>
                <a:ea typeface="+mn-ea"/>
              </a:rPr>
              <a:t>를 선정하여 </a:t>
            </a:r>
            <a:r>
              <a:rPr lang="en-US" altLang="ko-KR" sz="1100" b="1" dirty="0" err="1">
                <a:latin typeface="+mn-ea"/>
                <a:ea typeface="+mn-ea"/>
              </a:rPr>
              <a:t>CoE</a:t>
            </a:r>
            <a:r>
              <a:rPr lang="en-US" altLang="ko-KR" sz="1100" b="1" dirty="0">
                <a:latin typeface="+mn-ea"/>
                <a:ea typeface="+mn-ea"/>
              </a:rPr>
              <a:t> </a:t>
            </a:r>
            <a:r>
              <a:rPr lang="ko-KR" altLang="en-US" sz="1100" b="1" dirty="0">
                <a:latin typeface="+mn-ea"/>
                <a:ea typeface="+mn-ea"/>
              </a:rPr>
              <a:t>주관의 교육을 통해 모듈별 기능을 숙지하도록 함</a:t>
            </a:r>
          </a:p>
          <a:p>
            <a:pPr>
              <a:buClr>
                <a:schemeClr val="tx1">
                  <a:lumMod val="75000"/>
                  <a:lumOff val="25000"/>
                </a:schemeClr>
              </a:buClr>
            </a:pPr>
            <a:r>
              <a:rPr lang="ko-KR" altLang="en-US" sz="1100" b="1" dirty="0">
                <a:latin typeface="+mn-ea"/>
                <a:ea typeface="+mn-ea"/>
              </a:rPr>
              <a:t>숙지 후 현업에 전파 교육을 실시하도록 하여 순차적으로 </a:t>
            </a:r>
            <a:r>
              <a:rPr lang="en-US" altLang="ko-KR" sz="1100" b="1" dirty="0">
                <a:latin typeface="+mn-ea"/>
                <a:ea typeface="+mn-ea"/>
              </a:rPr>
              <a:t/>
            </a:r>
            <a:br>
              <a:rPr lang="en-US" altLang="ko-KR" sz="1100" b="1" dirty="0">
                <a:latin typeface="+mn-ea"/>
                <a:ea typeface="+mn-ea"/>
              </a:rPr>
            </a:br>
            <a:r>
              <a:rPr lang="ko-KR" altLang="en-US" sz="1100" b="1" dirty="0">
                <a:latin typeface="+mn-ea"/>
                <a:ea typeface="+mn-ea"/>
              </a:rPr>
              <a:t>교육을 확산시킴</a:t>
            </a:r>
          </a:p>
          <a:p>
            <a:pPr>
              <a:buClr>
                <a:schemeClr val="tx1">
                  <a:lumMod val="75000"/>
                  <a:lumOff val="25000"/>
                </a:schemeClr>
              </a:buClr>
            </a:pPr>
            <a:r>
              <a:rPr lang="ko-KR" altLang="en-US" sz="1100" b="1" dirty="0">
                <a:latin typeface="+mn-ea"/>
                <a:ea typeface="+mn-ea"/>
              </a:rPr>
              <a:t>현업 일반사용자의 </a:t>
            </a:r>
            <a:r>
              <a:rPr lang="en-US" altLang="ko-KR" sz="1100" b="1" dirty="0">
                <a:latin typeface="+mn-ea"/>
                <a:ea typeface="+mn-ea"/>
              </a:rPr>
              <a:t>1</a:t>
            </a:r>
            <a:r>
              <a:rPr lang="ko-KR" altLang="en-US" sz="1100" b="1" dirty="0">
                <a:latin typeface="+mn-ea"/>
                <a:ea typeface="+mn-ea"/>
              </a:rPr>
              <a:t>차 접점이 되어 현장에서 발생하는 문제에 대한 </a:t>
            </a:r>
            <a:r>
              <a:rPr lang="en-US" altLang="ko-KR" sz="1100" b="1" dirty="0">
                <a:latin typeface="+mn-ea"/>
                <a:ea typeface="+mn-ea"/>
              </a:rPr>
              <a:t>1</a:t>
            </a:r>
            <a:r>
              <a:rPr lang="ko-KR" altLang="en-US" sz="1100" b="1" dirty="0">
                <a:latin typeface="+mn-ea"/>
                <a:ea typeface="+mn-ea"/>
              </a:rPr>
              <a:t>차적인 해결 방안을 제시하는 역할을 하도록 함</a:t>
            </a:r>
          </a:p>
          <a:p>
            <a:pPr>
              <a:buClr>
                <a:schemeClr val="tx1">
                  <a:lumMod val="75000"/>
                  <a:lumOff val="25000"/>
                </a:schemeClr>
              </a:buClr>
            </a:pPr>
            <a:r>
              <a:rPr lang="ko-KR" altLang="en-US" sz="1100" b="1" dirty="0">
                <a:latin typeface="+mn-ea"/>
                <a:ea typeface="+mn-ea"/>
              </a:rPr>
              <a:t>현업의 시스템 사용 전문가로 현장 </a:t>
            </a:r>
            <a:r>
              <a:rPr lang="en-US" altLang="ko-KR" sz="1100" b="1" dirty="0">
                <a:latin typeface="+mn-ea"/>
                <a:ea typeface="+mn-ea"/>
              </a:rPr>
              <a:t>OJT </a:t>
            </a:r>
            <a:r>
              <a:rPr lang="ko-KR" altLang="en-US" sz="1100" b="1" dirty="0">
                <a:latin typeface="+mn-ea"/>
                <a:ea typeface="+mn-ea"/>
              </a:rPr>
              <a:t>교육을 리드하도록 함</a:t>
            </a:r>
          </a:p>
        </p:txBody>
      </p:sp>
      <p:sp>
        <p:nvSpPr>
          <p:cNvPr id="112" name="Rectangle 47"/>
          <p:cNvSpPr>
            <a:spLocks noChangeArrowheads="1"/>
          </p:cNvSpPr>
          <p:nvPr/>
        </p:nvSpPr>
        <p:spPr bwMode="auto">
          <a:xfrm>
            <a:off x="5249562" y="2113353"/>
            <a:ext cx="4043363" cy="1791260"/>
          </a:xfrm>
          <a:prstGeom prst="rect">
            <a:avLst/>
          </a:prstGeom>
          <a:noFill/>
          <a:ln w="6350" algn="ctr">
            <a:noFill/>
            <a:miter lim="800000"/>
            <a:headEnd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</a:extLst>
        </p:spPr>
        <p:txBody>
          <a:bodyPr lIns="108000" tIns="0" rIns="72000" bIns="0" anchor="ctr"/>
          <a:lstStyle/>
          <a:p>
            <a:pPr marL="179388" indent="-179388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latin typeface="+mn-ea"/>
                <a:ea typeface="+mn-ea"/>
              </a:rPr>
              <a:t>정보화 과제</a:t>
            </a:r>
            <a:r>
              <a:rPr kumimoji="1" lang="en-US" altLang="ko-KR" sz="1100" b="1" kern="0" dirty="0">
                <a:latin typeface="+mn-ea"/>
                <a:ea typeface="+mn-ea"/>
              </a:rPr>
              <a:t>(</a:t>
            </a:r>
            <a:r>
              <a:rPr kumimoji="1" lang="ko-KR" altLang="en-US" sz="1100" b="1" kern="0" dirty="0">
                <a:latin typeface="+mn-ea"/>
                <a:ea typeface="+mn-ea"/>
              </a:rPr>
              <a:t>프로젝트</a:t>
            </a:r>
            <a:r>
              <a:rPr kumimoji="1" lang="en-US" altLang="ko-KR" sz="1100" b="1" kern="0" dirty="0">
                <a:latin typeface="+mn-ea"/>
                <a:ea typeface="+mn-ea"/>
              </a:rPr>
              <a:t>) </a:t>
            </a:r>
            <a:r>
              <a:rPr kumimoji="1" lang="ko-KR" altLang="en-US" sz="1100" b="1" kern="0" dirty="0">
                <a:latin typeface="+mn-ea"/>
                <a:ea typeface="+mn-ea"/>
              </a:rPr>
              <a:t>진행 상황 전반을 현업과 공유하고 시스템에 대한  기본개념 및 사용방법을 </a:t>
            </a:r>
            <a:r>
              <a:rPr kumimoji="1" lang="en-US" altLang="ko-KR" sz="1100" b="1" kern="0" dirty="0">
                <a:latin typeface="+mn-ea"/>
                <a:ea typeface="+mn-ea"/>
              </a:rPr>
              <a:t>transfer</a:t>
            </a:r>
            <a:r>
              <a:rPr kumimoji="1" lang="ko-KR" altLang="en-US" sz="1100" b="1" kern="0" dirty="0">
                <a:latin typeface="+mn-ea"/>
                <a:ea typeface="+mn-ea"/>
              </a:rPr>
              <a:t>하는 가상 조직임</a:t>
            </a:r>
          </a:p>
          <a:p>
            <a:pPr marL="179388" indent="-179388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latin typeface="+mn-ea"/>
                <a:ea typeface="+mn-ea"/>
              </a:rPr>
              <a:t>각 모듈별 그룹 내 담당자로 구성함</a:t>
            </a:r>
          </a:p>
          <a:p>
            <a:pPr marL="179388" indent="-179388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1" lang="en-US" altLang="ko-KR" sz="1100" b="1" kern="0" dirty="0">
                <a:latin typeface="+mn-ea"/>
                <a:ea typeface="+mn-ea"/>
              </a:rPr>
              <a:t>End User</a:t>
            </a:r>
            <a:r>
              <a:rPr kumimoji="1" lang="ko-KR" altLang="en-US" sz="1100" b="1" kern="0" dirty="0">
                <a:latin typeface="+mn-ea"/>
                <a:ea typeface="+mn-ea"/>
              </a:rPr>
              <a:t>교육 프로세스 전반을 관리함</a:t>
            </a:r>
          </a:p>
          <a:p>
            <a:pPr marL="352425" lvl="1" indent="-171450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SzPct val="80000"/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latin typeface="+mn-ea"/>
                <a:ea typeface="+mn-ea"/>
              </a:rPr>
              <a:t>교육 내용 확정 및 강사 확정</a:t>
            </a:r>
            <a:endParaRPr kumimoji="1" lang="en-US" altLang="ko-KR" sz="1100" b="1" kern="0" dirty="0">
              <a:latin typeface="+mn-ea"/>
              <a:ea typeface="+mn-ea"/>
            </a:endParaRPr>
          </a:p>
          <a:p>
            <a:pPr marL="352425" lvl="1" indent="-171450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SzPct val="80000"/>
              <a:buFont typeface="Wingdings" panose="05000000000000000000" pitchFamily="2" charset="2"/>
              <a:buChar char="§"/>
            </a:pPr>
            <a:r>
              <a:rPr kumimoji="1" lang="en-US" altLang="ko-KR" sz="1100" b="1" kern="0" dirty="0">
                <a:latin typeface="+mn-ea"/>
                <a:ea typeface="+mn-ea"/>
              </a:rPr>
              <a:t>Super User </a:t>
            </a:r>
            <a:r>
              <a:rPr kumimoji="1" lang="ko-KR" altLang="en-US" sz="1100" b="1" kern="0" dirty="0">
                <a:latin typeface="+mn-ea"/>
                <a:ea typeface="+mn-ea"/>
              </a:rPr>
              <a:t>선정 및 교재 개발</a:t>
            </a:r>
            <a:r>
              <a:rPr kumimoji="1" lang="en-US" altLang="ko-KR" sz="1100" b="1" kern="0" dirty="0">
                <a:latin typeface="+mn-ea"/>
                <a:ea typeface="+mn-ea"/>
              </a:rPr>
              <a:t>, </a:t>
            </a:r>
            <a:r>
              <a:rPr kumimoji="1" lang="ko-KR" altLang="en-US" sz="1100" b="1" kern="0" dirty="0">
                <a:latin typeface="+mn-ea"/>
                <a:ea typeface="+mn-ea"/>
              </a:rPr>
              <a:t>제작 및 배포</a:t>
            </a:r>
          </a:p>
          <a:p>
            <a:pPr marL="352425" lvl="1" indent="-171450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SzPct val="80000"/>
              <a:buFont typeface="Wingdings" panose="05000000000000000000" pitchFamily="2" charset="2"/>
              <a:buChar char="§"/>
            </a:pPr>
            <a:r>
              <a:rPr kumimoji="1" lang="ko-KR" altLang="en-US" sz="1100" b="1" kern="0" dirty="0">
                <a:latin typeface="+mn-ea"/>
                <a:ea typeface="+mn-ea"/>
              </a:rPr>
              <a:t>교육장 환경 조성 및 교육 실행</a:t>
            </a:r>
            <a:r>
              <a:rPr kumimoji="1" lang="en-US" altLang="ko-KR" sz="1100" b="1" kern="0" dirty="0">
                <a:latin typeface="+mn-ea"/>
                <a:ea typeface="+mn-ea"/>
              </a:rPr>
              <a:t>,  </a:t>
            </a:r>
            <a:r>
              <a:rPr kumimoji="1" lang="ko-KR" altLang="en-US" sz="1100" b="1" kern="0" dirty="0">
                <a:latin typeface="+mn-ea"/>
                <a:ea typeface="+mn-ea"/>
              </a:rPr>
              <a:t>평가</a:t>
            </a:r>
          </a:p>
          <a:p>
            <a:pPr marL="179388" indent="-179388" fontAlgn="auto">
              <a:spcBef>
                <a:spcPct val="200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§"/>
            </a:pPr>
            <a:r>
              <a:rPr kumimoji="1" lang="ko-KR" altLang="ko-KR" sz="1100" b="1" kern="0" dirty="0">
                <a:latin typeface="+mn-ea"/>
                <a:ea typeface="+mn-ea"/>
              </a:rPr>
              <a:t>정기적인</a:t>
            </a:r>
            <a:r>
              <a:rPr kumimoji="1" lang="ko-KR" altLang="en-US" sz="1100" b="1" kern="0" dirty="0">
                <a:latin typeface="+mn-ea"/>
                <a:ea typeface="+mn-ea"/>
              </a:rPr>
              <a:t> </a:t>
            </a:r>
            <a:r>
              <a:rPr kumimoji="1" lang="en-US" altLang="ko-KR" sz="1100" b="1" kern="0" dirty="0" err="1">
                <a:latin typeface="+mn-ea"/>
                <a:ea typeface="+mn-ea"/>
              </a:rPr>
              <a:t>CoE</a:t>
            </a:r>
            <a:r>
              <a:rPr kumimoji="1" lang="ko-KR" altLang="en-US" sz="1100" b="1" kern="0" dirty="0">
                <a:latin typeface="+mn-ea"/>
                <a:ea typeface="+mn-ea"/>
              </a:rPr>
              <a:t>회의를 통해 교육 이슈 및 진행상황 논의</a:t>
            </a:r>
          </a:p>
        </p:txBody>
      </p:sp>
      <p:grpSp>
        <p:nvGrpSpPr>
          <p:cNvPr id="6" name="Group 135"/>
          <p:cNvGrpSpPr/>
          <p:nvPr/>
        </p:nvGrpSpPr>
        <p:grpSpPr>
          <a:xfrm>
            <a:off x="5813000" y="1748957"/>
            <a:ext cx="2516138" cy="276999"/>
            <a:chOff x="5016526" y="3818016"/>
            <a:chExt cx="2516138" cy="276999"/>
          </a:xfrm>
        </p:grpSpPr>
        <p:sp>
          <p:nvSpPr>
            <p:cNvPr id="114" name="Line 104"/>
            <p:cNvSpPr>
              <a:spLocks noChangeShapeType="1"/>
            </p:cNvSpPr>
            <p:nvPr/>
          </p:nvSpPr>
          <p:spPr bwMode="auto">
            <a:xfrm>
              <a:off x="5016526" y="4076070"/>
              <a:ext cx="2516138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15" name="Text Box 105"/>
            <p:cNvSpPr txBox="1">
              <a:spLocks noChangeArrowheads="1"/>
            </p:cNvSpPr>
            <p:nvPr/>
          </p:nvSpPr>
          <p:spPr bwMode="auto">
            <a:xfrm>
              <a:off x="5316717" y="3818016"/>
              <a:ext cx="190949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lvl="0" algn="ctr" eaLnBrk="1" hangingPunct="1">
                <a:buNone/>
              </a:pPr>
              <a:r>
                <a:rPr kumimoji="0" lang="ko-KR" altLang="en-US" sz="1200" b="1" dirty="0">
                  <a:latin typeface="+mn-ea"/>
                  <a:ea typeface="+mn-ea"/>
                  <a:cs typeface="Arial" pitchFamily="34" charset="0"/>
                </a:rPr>
                <a:t>교육 </a:t>
              </a:r>
              <a:r>
                <a:rPr kumimoji="0" lang="en-US" altLang="ko-KR" sz="1200" b="1" dirty="0" err="1">
                  <a:latin typeface="+mn-ea"/>
                  <a:ea typeface="+mn-ea"/>
                  <a:cs typeface="Arial" pitchFamily="34" charset="0"/>
                </a:rPr>
                <a:t>CoE</a:t>
              </a:r>
              <a:r>
                <a:rPr kumimoji="0" lang="ko-KR" altLang="en-US" sz="1200" b="1" dirty="0">
                  <a:latin typeface="+mn-ea"/>
                  <a:ea typeface="+mn-ea"/>
                  <a:cs typeface="Arial" pitchFamily="34" charset="0"/>
                </a:rPr>
                <a:t>의 구성 및 운영</a:t>
              </a:r>
            </a:p>
          </p:txBody>
        </p:sp>
      </p:grpSp>
      <p:grpSp>
        <p:nvGrpSpPr>
          <p:cNvPr id="7" name="Group 1"/>
          <p:cNvGrpSpPr/>
          <p:nvPr/>
        </p:nvGrpSpPr>
        <p:grpSpPr>
          <a:xfrm>
            <a:off x="5617863" y="4099821"/>
            <a:ext cx="2900153" cy="276999"/>
            <a:chOff x="5626101" y="4144724"/>
            <a:chExt cx="2900153" cy="276999"/>
          </a:xfrm>
        </p:grpSpPr>
        <p:sp>
          <p:nvSpPr>
            <p:cNvPr id="117" name="Line 104"/>
            <p:cNvSpPr>
              <a:spLocks noChangeShapeType="1"/>
            </p:cNvSpPr>
            <p:nvPr/>
          </p:nvSpPr>
          <p:spPr bwMode="auto">
            <a:xfrm>
              <a:off x="5673080" y="4402778"/>
              <a:ext cx="2812454" cy="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buNone/>
              </a:pPr>
              <a:endParaRPr lang="ko-KR" altLang="en-US" b="1">
                <a:latin typeface="+mn-ea"/>
                <a:ea typeface="+mn-ea"/>
              </a:endParaRPr>
            </a:p>
          </p:txBody>
        </p:sp>
        <p:sp>
          <p:nvSpPr>
            <p:cNvPr id="118" name="Text Box 105"/>
            <p:cNvSpPr txBox="1">
              <a:spLocks noChangeArrowheads="1"/>
            </p:cNvSpPr>
            <p:nvPr/>
          </p:nvSpPr>
          <p:spPr bwMode="auto">
            <a:xfrm>
              <a:off x="5626101" y="4144724"/>
              <a:ext cx="29001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1pPr>
              <a:lvl2pPr marL="742950" indent="-28575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2pPr>
              <a:lvl3pPr marL="11430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3pPr>
              <a:lvl4pPr marL="16002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4pPr>
              <a:lvl5pPr marL="2057400" indent="-228600" eaLnBrk="0" hangingPunct="0"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kumimoji="1" sz="800">
                  <a:solidFill>
                    <a:schemeClr val="tx1"/>
                  </a:solidFill>
                  <a:latin typeface="Arial" pitchFamily="34" charset="0"/>
                  <a:ea typeface="굴림체" pitchFamily="49" charset="-127"/>
                </a:defRPr>
              </a:lvl9pPr>
            </a:lstStyle>
            <a:p>
              <a:pPr lvl="0" algn="ctr" eaLnBrk="1" hangingPunct="1">
                <a:buNone/>
              </a:pPr>
              <a:r>
                <a:rPr kumimoji="0" lang="en-US" altLang="ko-KR" sz="1200" b="1" dirty="0">
                  <a:latin typeface="+mn-ea"/>
                  <a:ea typeface="+mn-ea"/>
                  <a:cs typeface="Arial" pitchFamily="34" charset="0"/>
                </a:rPr>
                <a:t>Super User</a:t>
              </a:r>
              <a:r>
                <a:rPr kumimoji="0" lang="ko-KR" altLang="en-US" sz="1200" b="1" dirty="0">
                  <a:latin typeface="+mn-ea"/>
                  <a:ea typeface="+mn-ea"/>
                  <a:cs typeface="Arial" pitchFamily="34" charset="0"/>
                </a:rPr>
                <a:t>를 활용한 순차적 교육 확산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idx="1"/>
          </p:nvPr>
        </p:nvSpPr>
        <p:spPr/>
        <p:txBody>
          <a:bodyPr vert="horz" lIns="0" tIns="0" rIns="0" bIns="0" rtlCol="0" anchor="t" anchorCtr="0">
            <a:noAutofit/>
          </a:bodyPr>
          <a:lstStyle/>
          <a:p>
            <a:r>
              <a:rPr lang="ko-KR" altLang="en-US" sz="1600" dirty="0">
                <a:latin typeface="+mn-ea"/>
                <a:ea typeface="+mn-ea"/>
              </a:rPr>
              <a:t>정보시스템의 활용을 촉진하고 관련 담당자의 전문성 향상을 위해 교육계획 수립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교육준비</a:t>
            </a:r>
            <a:r>
              <a:rPr lang="en-US" altLang="ko-KR" sz="1600" dirty="0">
                <a:latin typeface="+mn-ea"/>
                <a:ea typeface="+mn-ea"/>
              </a:rPr>
              <a:t>, </a:t>
            </a:r>
            <a:r>
              <a:rPr lang="ko-KR" altLang="en-US" sz="1600" dirty="0">
                <a:latin typeface="+mn-ea"/>
                <a:ea typeface="+mn-ea"/>
              </a:rPr>
              <a:t>교육실시 등의 단계별로 구체적 교육계획을 수립하여 변화 관련 교육을 시행함</a:t>
            </a:r>
          </a:p>
        </p:txBody>
      </p:sp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6.2.5 </a:t>
            </a:r>
            <a:r>
              <a:rPr lang="ko-KR" altLang="en-US" dirty="0"/>
              <a:t>교육 프로그램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&gt; </a:t>
            </a:r>
            <a:r>
              <a:rPr lang="ko-KR" altLang="en-US" dirty="0"/>
              <a:t>교육관리 절차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>
              <a:spcBef>
                <a:spcPct val="20000"/>
              </a:spcBef>
            </a:pPr>
            <a:r>
              <a:rPr lang="en-US" altLang="ko-KR" dirty="0"/>
              <a:t>Ⅴ. </a:t>
            </a:r>
            <a:r>
              <a:rPr lang="ko-KR" altLang="en-US" dirty="0"/>
              <a:t>이행계획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 </a:t>
            </a:r>
            <a:r>
              <a:rPr lang="ko-KR" altLang="en-US" dirty="0"/>
              <a:t>변화관리 방안 수립</a:t>
            </a:r>
            <a:endParaRPr lang="en-US" altLang="ko-KR" dirty="0"/>
          </a:p>
          <a:p>
            <a:pPr>
              <a:spcBef>
                <a:spcPct val="20000"/>
              </a:spcBef>
            </a:pPr>
            <a:r>
              <a:rPr lang="en-US" altLang="ko-KR" dirty="0"/>
              <a:t>6.2 </a:t>
            </a:r>
            <a:r>
              <a:rPr lang="ko-KR" altLang="en-US" dirty="0"/>
              <a:t>변화관리 수립방안</a:t>
            </a:r>
            <a:endParaRPr lang="en-US" altLang="ko-KR" dirty="0"/>
          </a:p>
        </p:txBody>
      </p:sp>
      <p:sp>
        <p:nvSpPr>
          <p:cNvPr id="17" name="Rectangle 34"/>
          <p:cNvSpPr>
            <a:spLocks noChangeArrowheads="1"/>
          </p:cNvSpPr>
          <p:nvPr/>
        </p:nvSpPr>
        <p:spPr bwMode="gray">
          <a:xfrm>
            <a:off x="5053928" y="1531392"/>
            <a:ext cx="4457860" cy="477202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lang="ko-KR" altLang="en-US" sz="1400" kern="0" dirty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8" name="AutoShape 7"/>
          <p:cNvSpPr>
            <a:spLocks noChangeArrowheads="1"/>
          </p:cNvSpPr>
          <p:nvPr/>
        </p:nvSpPr>
        <p:spPr bwMode="auto">
          <a:xfrm>
            <a:off x="331788" y="1531392"/>
            <a:ext cx="4792220" cy="4778531"/>
          </a:xfrm>
          <a:prstGeom prst="homePlate">
            <a:avLst>
              <a:gd name="adj" fmla="val 9111"/>
            </a:avLst>
          </a:prstGeom>
          <a:solidFill>
            <a:sysClr val="window" lastClr="FFFFFF"/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sm" len="sm"/>
          </a:ln>
          <a:effectLst>
            <a:outerShdw blurRad="381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180000" tIns="3600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265113" marR="0" lvl="0" indent="-265113" eaLnBrk="0" fontAlgn="base" latinLnBrk="0" hangingPunct="0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>
                <a:prstClr val="black"/>
              </a:buClr>
              <a:buSzTx/>
              <a:buFont typeface="Wingdings" pitchFamily="2" charset="2"/>
              <a:buChar char="q"/>
              <a:tabLst/>
              <a:defRPr/>
            </a:pPr>
            <a:endParaRPr lang="ko-KR" altLang="en-US" sz="1400" b="1" kern="0">
              <a:solidFill>
                <a:srgbClr val="000000"/>
              </a:solidFill>
              <a:latin typeface="+mn-ea"/>
            </a:endParaRPr>
          </a:p>
        </p:txBody>
      </p:sp>
      <p:sp>
        <p:nvSpPr>
          <p:cNvPr id="120" name="Rectangle 8"/>
          <p:cNvSpPr>
            <a:spLocks noChangeArrowheads="1"/>
          </p:cNvSpPr>
          <p:nvPr/>
        </p:nvSpPr>
        <p:spPr bwMode="auto">
          <a:xfrm>
            <a:off x="1008031" y="2771728"/>
            <a:ext cx="1228009" cy="1116000"/>
          </a:xfrm>
          <a:prstGeom prst="rect">
            <a:avLst/>
          </a:prstGeom>
          <a:solidFill>
            <a:sysClr val="window" lastClr="FFFFFF"/>
          </a:solidFill>
          <a:ln w="12700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대상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시기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방법 </a:t>
            </a:r>
            <a:r>
              <a:rPr kumimoji="1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: </a:t>
            </a: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집합 교육</a:t>
            </a:r>
            <a:r>
              <a:rPr kumimoji="1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/ </a:t>
            </a: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온라인 교육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주관</a:t>
            </a:r>
          </a:p>
        </p:txBody>
      </p:sp>
      <p:sp>
        <p:nvSpPr>
          <p:cNvPr id="121" name="Rectangle 9"/>
          <p:cNvSpPr>
            <a:spLocks noChangeArrowheads="1"/>
          </p:cNvSpPr>
          <p:nvPr/>
        </p:nvSpPr>
        <p:spPr bwMode="auto">
          <a:xfrm>
            <a:off x="1021872" y="4142109"/>
            <a:ext cx="1178239" cy="1663155"/>
          </a:xfrm>
          <a:prstGeom prst="rect">
            <a:avLst/>
          </a:prstGeom>
          <a:solidFill>
            <a:sysClr val="window" lastClr="FFFFFF"/>
          </a:solidFill>
          <a:ln w="12700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변화관계자를 대상으로 교육대상자 선정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대상자별</a:t>
            </a: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교육계획 수립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대상자별</a:t>
            </a: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 교육방법 결정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교육대상자 기초 요구대상 파악</a:t>
            </a:r>
          </a:p>
        </p:txBody>
      </p:sp>
      <p:sp>
        <p:nvSpPr>
          <p:cNvPr id="122" name="Rectangle 11"/>
          <p:cNvSpPr>
            <a:spLocks noChangeArrowheads="1"/>
          </p:cNvSpPr>
          <p:nvPr/>
        </p:nvSpPr>
        <p:spPr bwMode="auto">
          <a:xfrm>
            <a:off x="2230249" y="2771728"/>
            <a:ext cx="1178239" cy="1116000"/>
          </a:xfrm>
          <a:prstGeom prst="rect">
            <a:avLst/>
          </a:prstGeom>
          <a:solidFill>
            <a:sysClr val="window" lastClr="FFFFFF"/>
          </a:solidFill>
          <a:ln w="12700" algn="ctr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관련 교육기관과 협조관계 구축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교재 개발계획 수립 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내용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일정 및 방안 수립</a:t>
            </a:r>
          </a:p>
        </p:txBody>
      </p:sp>
      <p:sp>
        <p:nvSpPr>
          <p:cNvPr id="123" name="Rectangle 12"/>
          <p:cNvSpPr>
            <a:spLocks noChangeArrowheads="1"/>
          </p:cNvSpPr>
          <p:nvPr/>
        </p:nvSpPr>
        <p:spPr bwMode="auto">
          <a:xfrm>
            <a:off x="2230250" y="4142109"/>
            <a:ext cx="1178239" cy="1663155"/>
          </a:xfrm>
          <a:prstGeom prst="rect">
            <a:avLst/>
          </a:prstGeom>
          <a:solidFill>
            <a:sysClr val="window" lastClr="FFFFFF"/>
          </a:solidFill>
          <a:ln w="12700" algn="ctr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온라인교육 및 집합교육 실시 관련기관과 구체적 교육실시방안 협의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교육대상별 필요교육 프로그램 정의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전달 및 지원방안 수립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교육커리큘럼 및 교재 개발</a:t>
            </a:r>
          </a:p>
        </p:txBody>
      </p:sp>
      <p:sp>
        <p:nvSpPr>
          <p:cNvPr id="124" name="Rectangle 14"/>
          <p:cNvSpPr>
            <a:spLocks noChangeArrowheads="1"/>
          </p:cNvSpPr>
          <p:nvPr/>
        </p:nvSpPr>
        <p:spPr bwMode="auto">
          <a:xfrm>
            <a:off x="3463058" y="4142109"/>
            <a:ext cx="1178239" cy="1663155"/>
          </a:xfrm>
          <a:prstGeom prst="rect">
            <a:avLst/>
          </a:prstGeom>
          <a:solidFill>
            <a:sysClr val="window" lastClr="FFFFFF"/>
          </a:solidFill>
          <a:ln w="12700" algn="ctr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업무담당자 유형별 교육 형태 및 시기 맞춤 교육 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정보기술아키텍처 활용 실무교육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기존 업무 담당자 교육체계 적극 활용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교육대상자의 편의를 반영한 다양한 온라인 교육 개발</a:t>
            </a:r>
          </a:p>
        </p:txBody>
      </p:sp>
      <p:sp>
        <p:nvSpPr>
          <p:cNvPr id="125" name="Rectangle 15"/>
          <p:cNvSpPr>
            <a:spLocks noChangeArrowheads="1"/>
          </p:cNvSpPr>
          <p:nvPr/>
        </p:nvSpPr>
        <p:spPr bwMode="auto">
          <a:xfrm>
            <a:off x="3463058" y="2771728"/>
            <a:ext cx="1178239" cy="1116000"/>
          </a:xfrm>
          <a:prstGeom prst="rect">
            <a:avLst/>
          </a:prstGeom>
          <a:solidFill>
            <a:sysClr val="window" lastClr="FFFFFF"/>
          </a:solidFill>
          <a:ln w="12700" algn="ctr">
            <a:noFill/>
            <a:miter lim="800000"/>
            <a:headEnd/>
            <a:tailEnd/>
          </a:ln>
          <a:effectLst/>
        </p:spPr>
        <p:txBody>
          <a:bodyPr anchor="t"/>
          <a:lstStyle/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실시</a:t>
            </a:r>
          </a:p>
          <a:p>
            <a:pPr marL="90488" marR="0" lvl="0" indent="-90488" algn="l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ysClr val="windowText" lastClr="000000">
                  <a:lumMod val="75000"/>
                  <a:lumOff val="25000"/>
                </a:sysClr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1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교육 평가</a:t>
            </a:r>
          </a:p>
        </p:txBody>
      </p:sp>
      <p:cxnSp>
        <p:nvCxnSpPr>
          <p:cNvPr id="133" name="직선 연결선 83"/>
          <p:cNvCxnSpPr/>
          <p:nvPr/>
        </p:nvCxnSpPr>
        <p:spPr bwMode="auto">
          <a:xfrm>
            <a:off x="516304" y="4017737"/>
            <a:ext cx="4232892" cy="8502"/>
          </a:xfrm>
          <a:prstGeom prst="line">
            <a:avLst/>
          </a:prstGeom>
          <a:solidFill>
            <a:srgbClr val="FBB779"/>
          </a:solidFill>
          <a:ln w="952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134" name="오각형 48"/>
          <p:cNvSpPr>
            <a:spLocks noChangeArrowheads="1"/>
          </p:cNvSpPr>
          <p:nvPr/>
        </p:nvSpPr>
        <p:spPr bwMode="gray">
          <a:xfrm>
            <a:off x="429196" y="2771728"/>
            <a:ext cx="502874" cy="1080000"/>
          </a:xfrm>
          <a:prstGeom prst="homePlate">
            <a:avLst>
              <a:gd name="adj" fmla="val 16858"/>
            </a:avLst>
          </a:prstGeom>
          <a:solidFill>
            <a:sysClr val="window" lastClr="FFFFFF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>
            <a:outerShdw blurRad="508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주요활동</a:t>
            </a:r>
            <a:endParaRPr kumimoji="1" lang="ko-KR" altLang="en-US" sz="11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35" name="오각형 48"/>
          <p:cNvSpPr>
            <a:spLocks noChangeArrowheads="1"/>
          </p:cNvSpPr>
          <p:nvPr/>
        </p:nvSpPr>
        <p:spPr bwMode="gray">
          <a:xfrm>
            <a:off x="429196" y="4110140"/>
            <a:ext cx="502874" cy="2033956"/>
          </a:xfrm>
          <a:prstGeom prst="homePlate">
            <a:avLst>
              <a:gd name="adj" fmla="val 16858"/>
            </a:avLst>
          </a:prstGeom>
          <a:solidFill>
            <a:sysClr val="window" lastClr="FFFFFF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>
            <a:outerShdw blurRad="508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 anchor="ctr"/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상세</a:t>
            </a:r>
            <a:endParaRPr kumimoji="1" lang="en-US" altLang="ko-KR" sz="11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맑은 고딕"/>
              <a:ea typeface="맑은 고딕"/>
            </a:endParaRPr>
          </a:p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rPr>
              <a:t>내역</a:t>
            </a:r>
          </a:p>
        </p:txBody>
      </p:sp>
      <p:grpSp>
        <p:nvGrpSpPr>
          <p:cNvPr id="5" name="그룹 139"/>
          <p:cNvGrpSpPr/>
          <p:nvPr/>
        </p:nvGrpSpPr>
        <p:grpSpPr>
          <a:xfrm>
            <a:off x="331788" y="1531392"/>
            <a:ext cx="4448807" cy="1087142"/>
            <a:chOff x="331788" y="1531392"/>
            <a:chExt cx="4448807" cy="1087142"/>
          </a:xfrm>
        </p:grpSpPr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331788" y="1531392"/>
              <a:ext cx="4448807" cy="371475"/>
            </a:xfrm>
            <a:custGeom>
              <a:avLst/>
              <a:gdLst>
                <a:gd name="T0" fmla="*/ 0 w 2216"/>
                <a:gd name="T1" fmla="*/ 2147483647 h 250"/>
                <a:gd name="T2" fmla="*/ 2147483647 w 2216"/>
                <a:gd name="T3" fmla="*/ 0 h 250"/>
                <a:gd name="T4" fmla="*/ 2147483647 w 2216"/>
                <a:gd name="T5" fmla="*/ 2147483647 h 250"/>
                <a:gd name="T6" fmla="*/ 0 w 2216"/>
                <a:gd name="T7" fmla="*/ 2147483647 h 250"/>
                <a:gd name="T8" fmla="*/ 0 w 2216"/>
                <a:gd name="T9" fmla="*/ 2147483647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250"/>
                <a:gd name="T17" fmla="*/ 2216 w 2216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250">
                  <a:moveTo>
                    <a:pt x="0" y="1"/>
                  </a:moveTo>
                  <a:lnTo>
                    <a:pt x="2186" y="0"/>
                  </a:lnTo>
                  <a:lnTo>
                    <a:pt x="2216" y="249"/>
                  </a:lnTo>
                  <a:lnTo>
                    <a:pt x="0" y="2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3058"/>
            </a:solidFill>
            <a:ln w="6350" cap="flat" cmpd="sng" algn="ctr">
              <a:solidFill>
                <a:sysClr val="window" lastClr="FFFFFF">
                  <a:lumMod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38100" dist="254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fontAlgn="auto">
                <a:spcAft>
                  <a:spcPts val="0"/>
                </a:spcAft>
                <a:buNone/>
                <a:defRPr/>
              </a:pPr>
              <a:r>
                <a:rPr kumimoji="1" lang="ko-KR" altLang="en-US" sz="1400" b="1" kern="0" dirty="0">
                  <a:solidFill>
                    <a:srgbClr val="FFFFFF"/>
                  </a:solidFill>
                  <a:latin typeface="+mn-ea"/>
                </a:rPr>
                <a:t>교육관리 절차</a:t>
              </a:r>
            </a:p>
          </p:txBody>
        </p:sp>
        <p:sp>
          <p:nvSpPr>
            <p:cNvPr id="127" name="AutoShape 24"/>
            <p:cNvSpPr>
              <a:spLocks noChangeArrowheads="1"/>
            </p:cNvSpPr>
            <p:nvPr/>
          </p:nvSpPr>
          <p:spPr bwMode="auto">
            <a:xfrm>
              <a:off x="1000233" y="2133250"/>
              <a:ext cx="1425132" cy="485284"/>
            </a:xfrm>
            <a:prstGeom prst="homePlate">
              <a:avLst>
                <a:gd name="adj" fmla="val 81786"/>
              </a:avLst>
            </a:prstGeom>
            <a:solidFill>
              <a:srgbClr val="DAE4F0"/>
            </a:solidFill>
            <a:ln w="3175" algn="ctr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28" name="AutoShape 25"/>
            <p:cNvSpPr>
              <a:spLocks noChangeArrowheads="1"/>
            </p:cNvSpPr>
            <p:nvPr/>
          </p:nvSpPr>
          <p:spPr bwMode="auto">
            <a:xfrm>
              <a:off x="2159319" y="2133250"/>
              <a:ext cx="1423577" cy="485284"/>
            </a:xfrm>
            <a:prstGeom prst="chevron">
              <a:avLst>
                <a:gd name="adj" fmla="val 81696"/>
              </a:avLst>
            </a:prstGeom>
            <a:solidFill>
              <a:srgbClr val="8FAED3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rot="10800000" vert="eaVert" wrap="none" anchor="ctr"/>
            <a:lstStyle/>
            <a:p>
              <a:pPr marL="0" marR="0" lvl="0" indent="0" defTabSz="91440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29" name="AutoShape 26"/>
            <p:cNvSpPr>
              <a:spLocks noChangeArrowheads="1"/>
            </p:cNvSpPr>
            <p:nvPr/>
          </p:nvSpPr>
          <p:spPr bwMode="auto">
            <a:xfrm>
              <a:off x="3316851" y="2133250"/>
              <a:ext cx="1425132" cy="485284"/>
            </a:xfrm>
            <a:prstGeom prst="chevron">
              <a:avLst>
                <a:gd name="adj" fmla="val 81786"/>
              </a:avLst>
            </a:prstGeom>
            <a:solidFill>
              <a:srgbClr val="355A87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  <a:effectLst/>
            <a:extLst/>
          </p:spPr>
          <p:txBody>
            <a:bodyPr rot="10800000" vert="eaVert" wrap="none" anchor="ctr"/>
            <a:lstStyle/>
            <a:p>
              <a:pPr marL="0" marR="0" lvl="0" indent="0" defTabSz="91440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  <a:p>
              <a:pPr marL="0" marR="0" lvl="0" indent="0" defTabSz="91440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itchFamily="2" charset="2"/>
                <a:buNone/>
                <a:tabLst/>
                <a:defRPr/>
              </a:pPr>
              <a:endParaRPr kumimoji="1" lang="ko-KR" altLang="en-US" sz="11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130" name="Text Box 28"/>
            <p:cNvSpPr txBox="1">
              <a:spLocks noChangeArrowheads="1"/>
            </p:cNvSpPr>
            <p:nvPr/>
          </p:nvSpPr>
          <p:spPr bwMode="auto">
            <a:xfrm>
              <a:off x="1071801" y="2160449"/>
              <a:ext cx="1068849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교육 계획수립</a:t>
              </a:r>
            </a:p>
          </p:txBody>
        </p:sp>
        <p:sp>
          <p:nvSpPr>
            <p:cNvPr id="131" name="Text Box 29"/>
            <p:cNvSpPr txBox="1">
              <a:spLocks noChangeArrowheads="1"/>
            </p:cNvSpPr>
            <p:nvPr/>
          </p:nvSpPr>
          <p:spPr bwMode="auto">
            <a:xfrm>
              <a:off x="2383359" y="2245088"/>
              <a:ext cx="107040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교육 준비</a:t>
              </a:r>
            </a:p>
          </p:txBody>
        </p:sp>
        <p:sp>
          <p:nvSpPr>
            <p:cNvPr id="132" name="Text Box 30"/>
            <p:cNvSpPr txBox="1">
              <a:spLocks noChangeArrowheads="1"/>
            </p:cNvSpPr>
            <p:nvPr/>
          </p:nvSpPr>
          <p:spPr bwMode="auto">
            <a:xfrm>
              <a:off x="3517553" y="2245088"/>
              <a:ext cx="106884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교육 실시</a:t>
              </a:r>
            </a:p>
          </p:txBody>
        </p:sp>
        <p:sp>
          <p:nvSpPr>
            <p:cNvPr id="136" name="오각형 48"/>
            <p:cNvSpPr>
              <a:spLocks noChangeArrowheads="1"/>
            </p:cNvSpPr>
            <p:nvPr/>
          </p:nvSpPr>
          <p:spPr bwMode="gray">
            <a:xfrm>
              <a:off x="429196" y="2132856"/>
              <a:ext cx="491356" cy="485678"/>
            </a:xfrm>
            <a:prstGeom prst="homePlate">
              <a:avLst>
                <a:gd name="adj" fmla="val 0"/>
              </a:avLst>
            </a:prstGeom>
            <a:solidFill>
              <a:sysClr val="window" lastClr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anchor="ctr"/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단계</a:t>
              </a:r>
            </a:p>
          </p:txBody>
        </p:sp>
      </p:grpSp>
      <p:cxnSp>
        <p:nvCxnSpPr>
          <p:cNvPr id="137" name="직선 연결선 29"/>
          <p:cNvCxnSpPr/>
          <p:nvPr/>
        </p:nvCxnSpPr>
        <p:spPr bwMode="auto">
          <a:xfrm>
            <a:off x="2200112" y="2771728"/>
            <a:ext cx="0" cy="3348000"/>
          </a:xfrm>
          <a:prstGeom prst="line">
            <a:avLst/>
          </a:prstGeom>
          <a:solidFill>
            <a:srgbClr val="FBB779"/>
          </a:solidFill>
          <a:ln w="31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직선 연결선 29"/>
          <p:cNvCxnSpPr/>
          <p:nvPr/>
        </p:nvCxnSpPr>
        <p:spPr bwMode="auto">
          <a:xfrm>
            <a:off x="3424028" y="2771728"/>
            <a:ext cx="0" cy="3348000"/>
          </a:xfrm>
          <a:prstGeom prst="line">
            <a:avLst/>
          </a:prstGeom>
          <a:solidFill>
            <a:srgbClr val="FBB779"/>
          </a:solidFill>
          <a:ln w="31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6" name="그룹 176"/>
          <p:cNvGrpSpPr/>
          <p:nvPr/>
        </p:nvGrpSpPr>
        <p:grpSpPr>
          <a:xfrm>
            <a:off x="5143624" y="1628800"/>
            <a:ext cx="4345381" cy="4572000"/>
            <a:chOff x="5207893" y="1753313"/>
            <a:chExt cx="4345381" cy="4439917"/>
          </a:xfrm>
        </p:grpSpPr>
        <p:sp>
          <p:nvSpPr>
            <p:cNvPr id="141" name="Rectangle 44"/>
            <p:cNvSpPr>
              <a:spLocks noChangeArrowheads="1"/>
            </p:cNvSpPr>
            <p:nvPr/>
          </p:nvSpPr>
          <p:spPr bwMode="auto">
            <a:xfrm>
              <a:off x="5207893" y="4011853"/>
              <a:ext cx="4343762" cy="730363"/>
            </a:xfrm>
            <a:prstGeom prst="rect">
              <a:avLst/>
            </a:prstGeom>
            <a:solidFill>
              <a:schemeClr val="accent3">
                <a:lumMod val="90000"/>
                <a:alpha val="55000"/>
              </a:schemeClr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endParaRPr lang="ko-KR" altLang="en-US" sz="800">
                <a:latin typeface="+mn-ea"/>
                <a:ea typeface="+mn-ea"/>
              </a:endParaRPr>
            </a:p>
          </p:txBody>
        </p:sp>
        <p:sp>
          <p:nvSpPr>
            <p:cNvPr id="142" name="Rectangle 44"/>
            <p:cNvSpPr>
              <a:spLocks noChangeArrowheads="1"/>
            </p:cNvSpPr>
            <p:nvPr/>
          </p:nvSpPr>
          <p:spPr bwMode="auto">
            <a:xfrm>
              <a:off x="5207893" y="5462867"/>
              <a:ext cx="4343762" cy="730363"/>
            </a:xfrm>
            <a:prstGeom prst="rect">
              <a:avLst/>
            </a:prstGeom>
            <a:solidFill>
              <a:schemeClr val="accent3">
                <a:lumMod val="90000"/>
                <a:alpha val="55000"/>
              </a:schemeClr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endParaRPr lang="ko-KR" altLang="en-US" sz="800">
                <a:latin typeface="+mn-ea"/>
                <a:ea typeface="+mn-ea"/>
              </a:endParaRPr>
            </a:p>
          </p:txBody>
        </p:sp>
        <p:sp>
          <p:nvSpPr>
            <p:cNvPr id="143" name="Rectangle 44"/>
            <p:cNvSpPr>
              <a:spLocks noChangeArrowheads="1"/>
            </p:cNvSpPr>
            <p:nvPr/>
          </p:nvSpPr>
          <p:spPr bwMode="auto">
            <a:xfrm>
              <a:off x="5207893" y="2552716"/>
              <a:ext cx="4343762" cy="730363"/>
            </a:xfrm>
            <a:prstGeom prst="rect">
              <a:avLst/>
            </a:prstGeom>
            <a:solidFill>
              <a:schemeClr val="accent3">
                <a:lumMod val="90000"/>
                <a:alpha val="55000"/>
              </a:schemeClr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endParaRPr lang="ko-KR" altLang="en-US" sz="800">
                <a:latin typeface="+mn-ea"/>
                <a:ea typeface="+mn-ea"/>
              </a:endParaRPr>
            </a:p>
          </p:txBody>
        </p:sp>
        <p:sp>
          <p:nvSpPr>
            <p:cNvPr id="144" name="Text Box 4"/>
            <p:cNvSpPr txBox="1">
              <a:spLocks noChangeArrowheads="1"/>
            </p:cNvSpPr>
            <p:nvPr/>
          </p:nvSpPr>
          <p:spPr bwMode="auto">
            <a:xfrm>
              <a:off x="5304802" y="2302682"/>
              <a:ext cx="478160" cy="127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noAutofit/>
            </a:bodyPr>
            <a:lstStyle/>
            <a:p>
              <a:pPr algn="ctr">
                <a:spcBef>
                  <a:spcPct val="50000"/>
                </a:spcBef>
                <a:buNone/>
              </a:pPr>
              <a:r>
                <a:rPr kumimoji="0" lang="ko-KR" altLang="en-US" sz="900" u="sng">
                  <a:latin typeface="+mn-ea"/>
                  <a:ea typeface="+mn-ea"/>
                </a:rPr>
                <a:t>교육대상</a:t>
              </a:r>
            </a:p>
          </p:txBody>
        </p:sp>
        <p:sp>
          <p:nvSpPr>
            <p:cNvPr id="145" name="Text Box 5"/>
            <p:cNvSpPr txBox="1">
              <a:spLocks noChangeArrowheads="1"/>
            </p:cNvSpPr>
            <p:nvPr/>
          </p:nvSpPr>
          <p:spPr bwMode="auto">
            <a:xfrm>
              <a:off x="5977516" y="2302682"/>
              <a:ext cx="958660" cy="127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noAutofit/>
            </a:bodyPr>
            <a:lstStyle/>
            <a:p>
              <a:pPr algn="ctr">
                <a:spcBef>
                  <a:spcPct val="50000"/>
                </a:spcBef>
                <a:buNone/>
              </a:pPr>
              <a:r>
                <a:rPr kumimoji="0" lang="ko-KR" altLang="en-US" sz="900" u="sng">
                  <a:latin typeface="+mn-ea"/>
                  <a:ea typeface="+mn-ea"/>
                </a:rPr>
                <a:t>수행해야 할 역할</a:t>
              </a:r>
            </a:p>
          </p:txBody>
        </p:sp>
        <p:sp>
          <p:nvSpPr>
            <p:cNvPr id="146" name="Text Box 6"/>
            <p:cNvSpPr txBox="1">
              <a:spLocks noChangeArrowheads="1"/>
            </p:cNvSpPr>
            <p:nvPr/>
          </p:nvSpPr>
          <p:spPr bwMode="auto">
            <a:xfrm>
              <a:off x="6848886" y="2302682"/>
              <a:ext cx="1061792" cy="127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noAutofit/>
            </a:bodyPr>
            <a:lstStyle/>
            <a:p>
              <a:pPr algn="ctr">
                <a:spcBef>
                  <a:spcPct val="50000"/>
                </a:spcBef>
                <a:buNone/>
              </a:pPr>
              <a:r>
                <a:rPr kumimoji="0" lang="ko-KR" altLang="en-US" sz="900" u="sng">
                  <a:latin typeface="+mn-ea"/>
                  <a:ea typeface="+mn-ea"/>
                </a:rPr>
                <a:t>필요한 </a:t>
              </a:r>
              <a:r>
                <a:rPr kumimoji="0" lang="en-US" altLang="ko-KR" sz="900" u="sng">
                  <a:latin typeface="+mn-ea"/>
                  <a:ea typeface="+mn-ea"/>
                </a:rPr>
                <a:t>Skill Set</a:t>
              </a:r>
            </a:p>
          </p:txBody>
        </p:sp>
        <p:sp>
          <p:nvSpPr>
            <p:cNvPr id="147" name="Text Box 7"/>
            <p:cNvSpPr txBox="1">
              <a:spLocks noChangeArrowheads="1"/>
            </p:cNvSpPr>
            <p:nvPr/>
          </p:nvSpPr>
          <p:spPr bwMode="auto">
            <a:xfrm>
              <a:off x="7929806" y="2302682"/>
              <a:ext cx="539100" cy="127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noAutofit/>
            </a:bodyPr>
            <a:lstStyle/>
            <a:p>
              <a:pPr algn="ctr">
                <a:spcBef>
                  <a:spcPct val="50000"/>
                </a:spcBef>
                <a:buNone/>
              </a:pPr>
              <a:r>
                <a:rPr kumimoji="0" lang="ko-KR" altLang="en-US" sz="900" u="sng" dirty="0">
                  <a:latin typeface="+mn-ea"/>
                  <a:ea typeface="+mn-ea"/>
                </a:rPr>
                <a:t>교육 목표</a:t>
              </a:r>
            </a:p>
          </p:txBody>
        </p:sp>
        <p:sp>
          <p:nvSpPr>
            <p:cNvPr id="148" name="Text Box 8"/>
            <p:cNvSpPr txBox="1">
              <a:spLocks noChangeArrowheads="1"/>
            </p:cNvSpPr>
            <p:nvPr/>
          </p:nvSpPr>
          <p:spPr bwMode="auto">
            <a:xfrm>
              <a:off x="8788952" y="2302682"/>
              <a:ext cx="539100" cy="1274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noAutofit/>
            </a:bodyPr>
            <a:lstStyle/>
            <a:p>
              <a:pPr algn="ctr">
                <a:spcBef>
                  <a:spcPct val="50000"/>
                </a:spcBef>
                <a:buNone/>
              </a:pPr>
              <a:r>
                <a:rPr kumimoji="0" lang="ko-KR" altLang="en-US" sz="900" u="sng" dirty="0">
                  <a:latin typeface="+mn-ea"/>
                  <a:ea typeface="+mn-ea"/>
                </a:rPr>
                <a:t>교육 내용</a:t>
              </a:r>
            </a:p>
          </p:txBody>
        </p:sp>
        <p:sp>
          <p:nvSpPr>
            <p:cNvPr id="149" name="AutoShape 9"/>
            <p:cNvSpPr>
              <a:spLocks noChangeArrowheads="1"/>
            </p:cNvSpPr>
            <p:nvPr/>
          </p:nvSpPr>
          <p:spPr bwMode="auto">
            <a:xfrm>
              <a:off x="5207893" y="5509869"/>
              <a:ext cx="637884" cy="602896"/>
            </a:xfrm>
            <a:prstGeom prst="homePlate">
              <a:avLst>
                <a:gd name="adj" fmla="val 23188"/>
              </a:avLst>
            </a:prstGeom>
            <a:solidFill>
              <a:srgbClr val="B1CFFC"/>
            </a:solidFill>
            <a:ln w="9525">
              <a:noFill/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40000"/>
                </a:schemeClr>
              </a:outerShdw>
            </a:effectLst>
          </p:spPr>
          <p:txBody>
            <a:bodyPr wrap="square" lIns="0" tIns="0" rIns="0" bIns="0" anchor="ctr">
              <a:noAutofit/>
            </a:bodyPr>
            <a:lstStyle/>
            <a:p>
              <a:pPr algn="ctr">
                <a:spcBef>
                  <a:spcPct val="50000"/>
                </a:spcBef>
                <a:buNone/>
                <a:tabLst>
                  <a:tab pos="4953000" algn="l"/>
                </a:tabLst>
              </a:pPr>
              <a:r>
                <a:rPr kumimoji="0" lang="ko-KR" altLang="en-US" sz="1000" dirty="0">
                  <a:latin typeface="+mn-ea"/>
                  <a:ea typeface="+mn-ea"/>
                </a:rPr>
                <a:t>사용자</a:t>
              </a:r>
              <a:endParaRPr lang="ko-KR" altLang="en-US" sz="1000" dirty="0">
                <a:latin typeface="+mn-ea"/>
                <a:ea typeface="+mn-ea"/>
              </a:endParaRPr>
            </a:p>
          </p:txBody>
        </p:sp>
        <p:sp>
          <p:nvSpPr>
            <p:cNvPr id="150" name="AutoShape 10"/>
            <p:cNvSpPr>
              <a:spLocks noChangeArrowheads="1"/>
            </p:cNvSpPr>
            <p:nvPr/>
          </p:nvSpPr>
          <p:spPr bwMode="auto">
            <a:xfrm>
              <a:off x="5207893" y="4795479"/>
              <a:ext cx="637884" cy="601519"/>
            </a:xfrm>
            <a:prstGeom prst="homePlate">
              <a:avLst>
                <a:gd name="adj" fmla="val 23008"/>
              </a:avLst>
            </a:prstGeom>
            <a:solidFill>
              <a:srgbClr val="B1CFFC"/>
            </a:solidFill>
            <a:ln w="9525">
              <a:noFill/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40000"/>
                </a:schemeClr>
              </a:outerShdw>
            </a:effectLst>
          </p:spPr>
          <p:txBody>
            <a:bodyPr wrap="square" lIns="0" tIns="0" rIns="0" bIns="0" anchor="ctr">
              <a:noAutofit/>
            </a:bodyPr>
            <a:lstStyle/>
            <a:p>
              <a:pPr algn="ctr">
                <a:spcBef>
                  <a:spcPct val="50000"/>
                </a:spcBef>
                <a:buNone/>
                <a:tabLst>
                  <a:tab pos="4953000" algn="l"/>
                </a:tabLst>
              </a:pPr>
              <a:r>
                <a:rPr kumimoji="0" lang="en-US" altLang="ko-KR" sz="1000">
                  <a:latin typeface="+mn-ea"/>
                  <a:ea typeface="+mn-ea"/>
                </a:rPr>
                <a:t>Super User</a:t>
              </a:r>
              <a:endParaRPr lang="en-US" altLang="ko-KR" sz="1000">
                <a:latin typeface="+mn-ea"/>
                <a:ea typeface="+mn-ea"/>
              </a:endParaRPr>
            </a:p>
          </p:txBody>
        </p:sp>
        <p:sp>
          <p:nvSpPr>
            <p:cNvPr id="151" name="AutoShape 11"/>
            <p:cNvSpPr>
              <a:spLocks noChangeArrowheads="1"/>
            </p:cNvSpPr>
            <p:nvPr/>
          </p:nvSpPr>
          <p:spPr bwMode="auto">
            <a:xfrm>
              <a:off x="5207893" y="2612389"/>
              <a:ext cx="637884" cy="602896"/>
            </a:xfrm>
            <a:prstGeom prst="homePlate">
              <a:avLst>
                <a:gd name="adj" fmla="val 22955"/>
              </a:avLst>
            </a:prstGeom>
            <a:solidFill>
              <a:srgbClr val="B1CFFC"/>
            </a:solidFill>
            <a:ln w="9525">
              <a:noFill/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40000"/>
                </a:schemeClr>
              </a:outerShdw>
            </a:effectLst>
          </p:spPr>
          <p:txBody>
            <a:bodyPr wrap="square" lIns="0" tIns="0" rIns="0" bIns="0" anchor="ctr">
              <a:noAutofit/>
            </a:bodyPr>
            <a:lstStyle/>
            <a:p>
              <a:pPr algn="ctr">
                <a:spcBef>
                  <a:spcPct val="50000"/>
                </a:spcBef>
                <a:buNone/>
                <a:tabLst>
                  <a:tab pos="4953000" algn="l"/>
                </a:tabLst>
              </a:pPr>
              <a:r>
                <a:rPr lang="ko-KR" altLang="en-US" sz="1000" dirty="0">
                  <a:latin typeface="+mn-ea"/>
                  <a:ea typeface="+mn-ea"/>
                </a:rPr>
                <a:t>관리자</a:t>
              </a:r>
            </a:p>
          </p:txBody>
        </p:sp>
        <p:sp>
          <p:nvSpPr>
            <p:cNvPr id="152" name="AutoShape 12"/>
            <p:cNvSpPr>
              <a:spLocks noChangeArrowheads="1"/>
            </p:cNvSpPr>
            <p:nvPr/>
          </p:nvSpPr>
          <p:spPr bwMode="gray">
            <a:xfrm>
              <a:off x="7733524" y="5478211"/>
              <a:ext cx="879114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업무 변화에 대한 이해와 시스템의 효율적 사용을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위한 시스템실무 기능 및 데이터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입력 방법 숙지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3" name="AutoShape 13"/>
            <p:cNvSpPr>
              <a:spLocks noChangeArrowheads="1"/>
            </p:cNvSpPr>
            <p:nvPr/>
          </p:nvSpPr>
          <p:spPr bwMode="gray">
            <a:xfrm>
              <a:off x="6865743" y="5478211"/>
              <a:ext cx="808688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시스템의 기본 기능 활용 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4" name="AutoShape 14"/>
            <p:cNvSpPr>
              <a:spLocks noChangeArrowheads="1"/>
            </p:cNvSpPr>
            <p:nvPr/>
          </p:nvSpPr>
          <p:spPr bwMode="gray">
            <a:xfrm>
              <a:off x="7733524" y="4762444"/>
              <a:ext cx="879114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시스템전문 기능 습득 및 일반 </a:t>
              </a:r>
              <a:r>
                <a:rPr kumimoji="1" lang="en-US" altLang="ko-KR" sz="700" dirty="0">
                  <a:latin typeface="+mn-ea"/>
                  <a:ea typeface="+mn-ea"/>
                </a:rPr>
                <a:t>User </a:t>
              </a:r>
              <a:r>
                <a:rPr kumimoji="1" lang="ko-KR" altLang="en-US" sz="700" dirty="0">
                  <a:latin typeface="+mn-ea"/>
                  <a:ea typeface="+mn-ea"/>
                </a:rPr>
                <a:t>전파 교육</a:t>
              </a:r>
              <a:r>
                <a:rPr kumimoji="1" lang="en-US" altLang="ko-KR" sz="700" dirty="0">
                  <a:latin typeface="+mn-ea"/>
                  <a:ea typeface="+mn-ea"/>
                </a:rPr>
                <a:t>, Go Live </a:t>
              </a:r>
              <a:r>
                <a:rPr kumimoji="1" lang="ko-KR" altLang="en-US" sz="700" dirty="0">
                  <a:latin typeface="+mn-ea"/>
                  <a:ea typeface="+mn-ea"/>
                </a:rPr>
                <a:t>이후의 </a:t>
              </a:r>
              <a:r>
                <a:rPr kumimoji="1" lang="en-US" altLang="ko-KR" sz="700" dirty="0">
                  <a:latin typeface="+mn-ea"/>
                  <a:ea typeface="+mn-ea"/>
                </a:rPr>
                <a:t>Trouble Shooting </a:t>
              </a:r>
              <a:r>
                <a:rPr kumimoji="1" lang="ko-KR" altLang="en-US" sz="700" dirty="0">
                  <a:latin typeface="+mn-ea"/>
                  <a:ea typeface="+mn-ea"/>
                </a:rPr>
                <a:t>능력확보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5" name="AutoShape 15"/>
            <p:cNvSpPr>
              <a:spLocks noChangeArrowheads="1"/>
            </p:cNvSpPr>
            <p:nvPr/>
          </p:nvSpPr>
          <p:spPr bwMode="gray">
            <a:xfrm>
              <a:off x="6865743" y="4762444"/>
              <a:ext cx="809497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시스템의 전문 기능 및 시스템 활용상의 문제 발견시 해결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능력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6" name="AutoShape 16"/>
            <p:cNvSpPr>
              <a:spLocks noChangeArrowheads="1"/>
            </p:cNvSpPr>
            <p:nvPr/>
          </p:nvSpPr>
          <p:spPr bwMode="gray">
            <a:xfrm>
              <a:off x="7733524" y="2579354"/>
              <a:ext cx="877495" cy="667590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 스킬 이해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시스템의 개념 및 통합 기능 이해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보고서 활용 및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분석 가능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7" name="AutoShape 17"/>
            <p:cNvSpPr>
              <a:spLocks noChangeArrowheads="1"/>
            </p:cNvSpPr>
            <p:nvPr/>
          </p:nvSpPr>
          <p:spPr bwMode="gray">
            <a:xfrm>
              <a:off x="6865743" y="2579354"/>
              <a:ext cx="809497" cy="667590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 스킬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기본적인 시스템 기능 사용 및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보고서 활용 분석 능력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8" name="AutoShape 18"/>
            <p:cNvSpPr>
              <a:spLocks noChangeArrowheads="1"/>
            </p:cNvSpPr>
            <p:nvPr/>
          </p:nvSpPr>
          <p:spPr bwMode="gray">
            <a:xfrm>
              <a:off x="5918632" y="5478211"/>
              <a:ext cx="890447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새로운 시스템 </a:t>
              </a:r>
              <a:r>
                <a:rPr kumimoji="1" lang="ko-KR" altLang="en-US" sz="700" dirty="0" err="1">
                  <a:latin typeface="+mn-ea"/>
                  <a:ea typeface="+mn-ea"/>
                </a:rPr>
                <a:t>하담당</a:t>
              </a:r>
              <a:r>
                <a:rPr kumimoji="1" lang="ko-KR" altLang="en-US" sz="700" dirty="0">
                  <a:latin typeface="+mn-ea"/>
                  <a:ea typeface="+mn-ea"/>
                </a:rPr>
                <a:t> 직무를 계속적으로 수행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59" name="AutoShape 19"/>
            <p:cNvSpPr>
              <a:spLocks noChangeArrowheads="1"/>
            </p:cNvSpPr>
            <p:nvPr/>
          </p:nvSpPr>
          <p:spPr bwMode="gray">
            <a:xfrm>
              <a:off x="5918632" y="4762444"/>
              <a:ext cx="890447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담당 업무 수행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및 소속 부서의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시스템 관련 교육과 시스템 활용상 문제 발견시 해결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60" name="AutoShape 20"/>
            <p:cNvSpPr>
              <a:spLocks noChangeArrowheads="1"/>
            </p:cNvSpPr>
            <p:nvPr/>
          </p:nvSpPr>
          <p:spPr bwMode="gray">
            <a:xfrm>
              <a:off x="5918632" y="2580730"/>
              <a:ext cx="890447" cy="667591"/>
            </a:xfrm>
            <a:prstGeom prst="roundRect">
              <a:avLst>
                <a:gd name="adj" fmla="val 68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 마인드 확산을 위한 스폰서십 발휘 및 보고서의 활용을 통한 업무현황 파악 및 분석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61" name="AutoShape 21"/>
            <p:cNvSpPr>
              <a:spLocks noChangeArrowheads="1"/>
            </p:cNvSpPr>
            <p:nvPr/>
          </p:nvSpPr>
          <p:spPr bwMode="gray">
            <a:xfrm>
              <a:off x="8662018" y="5476834"/>
              <a:ext cx="891256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 교육</a:t>
              </a:r>
            </a:p>
            <a:p>
              <a:pPr marL="90488" lvl="1" indent="-90488"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lang="ko-KR" altLang="en-US" sz="700" dirty="0">
                  <a:latin typeface="+mn-ea"/>
                  <a:ea typeface="+mn-ea"/>
                </a:rPr>
                <a:t>기능 사용방법</a:t>
              </a:r>
            </a:p>
            <a:p>
              <a:pPr marL="90488" lvl="1" indent="-90488"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lang="ko-KR" altLang="en-US" sz="700" dirty="0">
                  <a:latin typeface="+mn-ea"/>
                  <a:ea typeface="+mn-ea"/>
                </a:rPr>
                <a:t>업무 연관성 및 </a:t>
              </a:r>
              <a:r>
                <a:rPr lang="en-US" altLang="ko-KR" sz="700" dirty="0">
                  <a:latin typeface="+mn-ea"/>
                  <a:ea typeface="+mn-ea"/>
                </a:rPr>
                <a:t/>
              </a:r>
              <a:br>
                <a:rPr lang="en-US" altLang="ko-KR" sz="700" dirty="0">
                  <a:latin typeface="+mn-ea"/>
                  <a:ea typeface="+mn-ea"/>
                </a:rPr>
              </a:br>
              <a:r>
                <a:rPr lang="ko-KR" altLang="en-US" sz="700" dirty="0">
                  <a:latin typeface="+mn-ea"/>
                  <a:ea typeface="+mn-ea"/>
                </a:rPr>
                <a:t>활용 방안</a:t>
              </a:r>
              <a:endParaRPr lang="ko-KR" altLang="en-GB" sz="700" dirty="0">
                <a:latin typeface="+mn-ea"/>
                <a:ea typeface="+mn-ea"/>
              </a:endParaRPr>
            </a:p>
          </p:txBody>
        </p:sp>
        <p:sp>
          <p:nvSpPr>
            <p:cNvPr id="162" name="AutoShape 22"/>
            <p:cNvSpPr>
              <a:spLocks noChangeArrowheads="1"/>
            </p:cNvSpPr>
            <p:nvPr/>
          </p:nvSpPr>
          <p:spPr bwMode="gray">
            <a:xfrm>
              <a:off x="8662018" y="4762444"/>
              <a:ext cx="891256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 교육</a:t>
              </a:r>
            </a:p>
            <a:p>
              <a:pPr marL="90488" lvl="1" indent="-90488"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lang="ko-KR" altLang="en-US" sz="700" dirty="0">
                  <a:latin typeface="+mn-ea"/>
                  <a:ea typeface="+mn-ea"/>
                </a:rPr>
                <a:t>기능 사용방법</a:t>
              </a:r>
            </a:p>
            <a:p>
              <a:pPr marL="90488" lvl="1" indent="-90488"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lang="ko-KR" altLang="en-US" sz="700" dirty="0">
                  <a:latin typeface="+mn-ea"/>
                  <a:ea typeface="+mn-ea"/>
                </a:rPr>
                <a:t>업무 연관성 및 </a:t>
              </a:r>
              <a:r>
                <a:rPr lang="en-US" altLang="ko-KR" sz="700" dirty="0">
                  <a:latin typeface="+mn-ea"/>
                  <a:ea typeface="+mn-ea"/>
                </a:rPr>
                <a:t/>
              </a:r>
              <a:br>
                <a:rPr lang="en-US" altLang="ko-KR" sz="700" dirty="0">
                  <a:latin typeface="+mn-ea"/>
                  <a:ea typeface="+mn-ea"/>
                </a:rPr>
              </a:br>
              <a:r>
                <a:rPr lang="ko-KR" altLang="en-US" sz="700" dirty="0">
                  <a:latin typeface="+mn-ea"/>
                  <a:ea typeface="+mn-ea"/>
                </a:rPr>
                <a:t>활용 방안</a:t>
              </a:r>
              <a:endParaRPr lang="ko-KR" altLang="en-GB" sz="700" dirty="0">
                <a:latin typeface="+mn-ea"/>
                <a:ea typeface="+mn-ea"/>
              </a:endParaRPr>
            </a:p>
          </p:txBody>
        </p:sp>
        <p:sp>
          <p:nvSpPr>
            <p:cNvPr id="163" name="AutoShape 23"/>
            <p:cNvSpPr>
              <a:spLocks noChangeArrowheads="1"/>
            </p:cNvSpPr>
            <p:nvPr/>
          </p:nvSpPr>
          <p:spPr bwMode="gray">
            <a:xfrm>
              <a:off x="8662018" y="2579354"/>
              <a:ext cx="889637" cy="667590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변화관리 교육</a:t>
              </a:r>
            </a:p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 교육   </a:t>
              </a:r>
              <a:endParaRPr kumimoji="1" lang="ko-KR" altLang="en-GB" sz="700" dirty="0">
                <a:latin typeface="+mn-ea"/>
                <a:ea typeface="+mn-ea"/>
              </a:endParaRPr>
            </a:p>
          </p:txBody>
        </p:sp>
        <p:sp>
          <p:nvSpPr>
            <p:cNvPr id="164" name="AutoShape 24"/>
            <p:cNvSpPr>
              <a:spLocks noChangeArrowheads="1"/>
            </p:cNvSpPr>
            <p:nvPr/>
          </p:nvSpPr>
          <p:spPr bwMode="auto">
            <a:xfrm>
              <a:off x="5207893" y="4061817"/>
              <a:ext cx="637884" cy="601520"/>
            </a:xfrm>
            <a:prstGeom prst="homePlate">
              <a:avLst>
                <a:gd name="adj" fmla="val 23241"/>
              </a:avLst>
            </a:prstGeom>
            <a:solidFill>
              <a:srgbClr val="B1CFFC"/>
            </a:solidFill>
            <a:ln w="9525">
              <a:noFill/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40000"/>
                </a:schemeClr>
              </a:outerShdw>
            </a:effectLst>
          </p:spPr>
          <p:txBody>
            <a:bodyPr wrap="square" lIns="0" tIns="0" rIns="0" bIns="0" anchor="ctr">
              <a:noAutofit/>
            </a:bodyPr>
            <a:lstStyle/>
            <a:p>
              <a:pPr algn="ctr">
                <a:buNone/>
                <a:tabLst>
                  <a:tab pos="4953000" algn="l"/>
                </a:tabLst>
              </a:pPr>
              <a:r>
                <a:rPr kumimoji="0" lang="ko-KR" altLang="en-US" sz="1000" dirty="0">
                  <a:latin typeface="+mn-ea"/>
                  <a:ea typeface="+mn-ea"/>
                </a:rPr>
                <a:t>정보</a:t>
              </a:r>
              <a:r>
                <a:rPr kumimoji="0" lang="en-US" altLang="ko-KR" sz="1000" dirty="0">
                  <a:latin typeface="+mn-ea"/>
                  <a:ea typeface="+mn-ea"/>
                </a:rPr>
                <a:t/>
              </a:r>
              <a:br>
                <a:rPr kumimoji="0" lang="en-US" altLang="ko-KR" sz="1000" dirty="0">
                  <a:latin typeface="+mn-ea"/>
                  <a:ea typeface="+mn-ea"/>
                </a:rPr>
              </a:br>
              <a:r>
                <a:rPr lang="ko-KR" altLang="en-US" sz="1000" dirty="0">
                  <a:latin typeface="+mn-ea"/>
                  <a:ea typeface="+mn-ea"/>
                </a:rPr>
                <a:t>기획</a:t>
              </a:r>
              <a:r>
                <a:rPr kumimoji="0" lang="ko-KR" altLang="en-US" sz="1000" dirty="0">
                  <a:latin typeface="+mn-ea"/>
                  <a:ea typeface="+mn-ea"/>
                </a:rPr>
                <a:t>팀</a:t>
              </a:r>
              <a:endParaRPr lang="ko-KR" altLang="en-US" sz="1000" dirty="0">
                <a:latin typeface="+mn-ea"/>
                <a:ea typeface="+mn-ea"/>
              </a:endParaRPr>
            </a:p>
          </p:txBody>
        </p:sp>
        <p:sp>
          <p:nvSpPr>
            <p:cNvPr id="165" name="AutoShape 25"/>
            <p:cNvSpPr>
              <a:spLocks noChangeArrowheads="1"/>
            </p:cNvSpPr>
            <p:nvPr/>
          </p:nvSpPr>
          <p:spPr bwMode="gray">
            <a:xfrm>
              <a:off x="7733524" y="4021467"/>
              <a:ext cx="879114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시스템전문 기능 습득 및 시스템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교육을 담당하고</a:t>
              </a:r>
              <a:r>
                <a:rPr kumimoji="1" lang="en-US" altLang="ko-KR" sz="700" dirty="0">
                  <a:latin typeface="+mn-ea"/>
                  <a:ea typeface="+mn-ea"/>
                </a:rPr>
                <a:t>, Go Live </a:t>
              </a:r>
              <a:r>
                <a:rPr kumimoji="1" lang="ko-KR" altLang="en-US" sz="700" dirty="0">
                  <a:latin typeface="+mn-ea"/>
                  <a:ea typeface="+mn-ea"/>
                </a:rPr>
                <a:t>이후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지속적인 유지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보수 가능케 함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66" name="AutoShape 26"/>
            <p:cNvSpPr>
              <a:spLocks noChangeArrowheads="1"/>
            </p:cNvSpPr>
            <p:nvPr/>
          </p:nvSpPr>
          <p:spPr bwMode="gray">
            <a:xfrm>
              <a:off x="6865743" y="4021467"/>
              <a:ext cx="809497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시스템의 전문 기능과 </a:t>
              </a:r>
              <a:r>
                <a:rPr kumimoji="1" lang="en-US" altLang="ko-KR" sz="700" dirty="0">
                  <a:latin typeface="+mn-ea"/>
                  <a:ea typeface="+mn-ea"/>
                </a:rPr>
                <a:t>App.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관련 전반적인 내용 숙지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67" name="AutoShape 27"/>
            <p:cNvSpPr>
              <a:spLocks noChangeArrowheads="1"/>
            </p:cNvSpPr>
            <p:nvPr/>
          </p:nvSpPr>
          <p:spPr bwMode="gray">
            <a:xfrm>
              <a:off x="5918632" y="4021467"/>
              <a:ext cx="890447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구현 프로젝트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수행</a:t>
              </a:r>
              <a:r>
                <a:rPr kumimoji="1" lang="en-US" altLang="ko-KR" sz="700" dirty="0">
                  <a:latin typeface="+mn-ea"/>
                  <a:ea typeface="+mn-ea"/>
                </a:rPr>
                <a:t>, End User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교육을 위한 </a:t>
              </a:r>
              <a:r>
                <a:rPr kumimoji="1" lang="en-US" altLang="ko-KR" sz="700" dirty="0">
                  <a:latin typeface="+mn-ea"/>
                  <a:ea typeface="+mn-ea"/>
                </a:rPr>
                <a:t>Training Lead </a:t>
              </a:r>
              <a:r>
                <a:rPr kumimoji="1" lang="ko-KR" altLang="en-US" sz="700" dirty="0">
                  <a:latin typeface="+mn-ea"/>
                  <a:ea typeface="+mn-ea"/>
                </a:rPr>
                <a:t>및 </a:t>
              </a:r>
              <a:r>
                <a:rPr kumimoji="1" lang="en-US" altLang="ko-KR" sz="700" dirty="0">
                  <a:latin typeface="+mn-ea"/>
                  <a:ea typeface="+mn-ea"/>
                </a:rPr>
                <a:t>Help Desk </a:t>
              </a:r>
              <a:r>
                <a:rPr kumimoji="1" lang="ko-KR" altLang="en-US" sz="700" dirty="0">
                  <a:latin typeface="+mn-ea"/>
                  <a:ea typeface="+mn-ea"/>
                </a:rPr>
                <a:t>역할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68" name="AutoShape 28"/>
            <p:cNvSpPr>
              <a:spLocks noChangeArrowheads="1"/>
            </p:cNvSpPr>
            <p:nvPr/>
          </p:nvSpPr>
          <p:spPr bwMode="gray">
            <a:xfrm>
              <a:off x="8662018" y="4021467"/>
              <a:ext cx="891256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  <a:ex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변화관리 교육</a:t>
              </a:r>
            </a:p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 교육</a:t>
              </a:r>
            </a:p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프로젝트 추진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절차 교육</a:t>
              </a:r>
              <a:endParaRPr kumimoji="1" lang="ko-KR" altLang="en-GB" sz="700" dirty="0">
                <a:latin typeface="+mn-ea"/>
                <a:ea typeface="+mn-ea"/>
              </a:endParaRPr>
            </a:p>
          </p:txBody>
        </p:sp>
        <p:sp>
          <p:nvSpPr>
            <p:cNvPr id="169" name="AutoShape 29"/>
            <p:cNvSpPr>
              <a:spLocks noChangeArrowheads="1"/>
            </p:cNvSpPr>
            <p:nvPr/>
          </p:nvSpPr>
          <p:spPr bwMode="auto">
            <a:xfrm>
              <a:off x="5207893" y="3336415"/>
              <a:ext cx="637884" cy="602896"/>
            </a:xfrm>
            <a:prstGeom prst="homePlate">
              <a:avLst>
                <a:gd name="adj" fmla="val 22955"/>
              </a:avLst>
            </a:prstGeom>
            <a:solidFill>
              <a:srgbClr val="B1CFFC"/>
            </a:solidFill>
            <a:ln w="9525">
              <a:noFill/>
              <a:miter lim="800000"/>
              <a:headEnd/>
              <a:tailEnd/>
            </a:ln>
            <a:effectLst>
              <a:outerShdw blurRad="25400" dist="38100" dir="2700000" algn="ctr" rotWithShape="0">
                <a:schemeClr val="tx1">
                  <a:alpha val="40000"/>
                </a:schemeClr>
              </a:outerShdw>
            </a:effectLst>
          </p:spPr>
          <p:txBody>
            <a:bodyPr wrap="square" lIns="0" tIns="0" rIns="0" bIns="0" anchor="ctr">
              <a:noAutofit/>
            </a:bodyPr>
            <a:lstStyle/>
            <a:p>
              <a:pPr algn="ctr">
                <a:spcBef>
                  <a:spcPct val="50000"/>
                </a:spcBef>
                <a:buNone/>
                <a:tabLst>
                  <a:tab pos="4953000" algn="l"/>
                </a:tabLst>
              </a:pPr>
              <a:r>
                <a:rPr kumimoji="0" lang="ko-KR" altLang="en-US" sz="1000" dirty="0">
                  <a:latin typeface="+mn-ea"/>
                  <a:ea typeface="+mn-ea"/>
                </a:rPr>
                <a:t>핵심 </a:t>
              </a:r>
              <a:r>
                <a:rPr lang="ko-KR" altLang="en-US" sz="1000" dirty="0">
                  <a:latin typeface="+mn-ea"/>
                  <a:ea typeface="+mn-ea"/>
                </a:rPr>
                <a:t>추진</a:t>
              </a:r>
              <a:r>
                <a:rPr lang="en-US" altLang="ko-KR" sz="1000" dirty="0">
                  <a:latin typeface="+mn-ea"/>
                  <a:ea typeface="+mn-ea"/>
                </a:rPr>
                <a:t/>
              </a:r>
              <a:br>
                <a:rPr lang="en-US" altLang="ko-KR" sz="1000" dirty="0">
                  <a:latin typeface="+mn-ea"/>
                  <a:ea typeface="+mn-ea"/>
                </a:rPr>
              </a:br>
              <a:r>
                <a:rPr kumimoji="0" lang="ko-KR" altLang="en-US" sz="1000" dirty="0">
                  <a:latin typeface="+mn-ea"/>
                  <a:ea typeface="+mn-ea"/>
                </a:rPr>
                <a:t>관리자</a:t>
              </a:r>
              <a:endParaRPr lang="ko-KR" altLang="en-US" sz="1000" dirty="0">
                <a:latin typeface="+mn-ea"/>
                <a:ea typeface="+mn-ea"/>
              </a:endParaRPr>
            </a:p>
          </p:txBody>
        </p:sp>
        <p:sp>
          <p:nvSpPr>
            <p:cNvPr id="170" name="AutoShape 30"/>
            <p:cNvSpPr>
              <a:spLocks noChangeArrowheads="1"/>
            </p:cNvSpPr>
            <p:nvPr/>
          </p:nvSpPr>
          <p:spPr bwMode="gray">
            <a:xfrm>
              <a:off x="7733524" y="3303380"/>
              <a:ext cx="877495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 스킬 이해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r>
                <a:rPr kumimoji="1" lang="ko-KR" altLang="en-US" sz="700" dirty="0">
                  <a:latin typeface="+mn-ea"/>
                  <a:ea typeface="+mn-ea"/>
                </a:rPr>
                <a:t>시스템의 개념 및 통합 기능 이해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r>
                <a:rPr kumimoji="1" lang="ko-KR" altLang="en-US" sz="700" dirty="0">
                  <a:latin typeface="+mn-ea"/>
                  <a:ea typeface="+mn-ea"/>
                </a:rPr>
                <a:t>보고서 활용 및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분석 가능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71" name="AutoShape 31"/>
            <p:cNvSpPr>
              <a:spLocks noChangeArrowheads="1"/>
            </p:cNvSpPr>
            <p:nvPr/>
          </p:nvSpPr>
          <p:spPr bwMode="gray">
            <a:xfrm>
              <a:off x="6865743" y="3303380"/>
              <a:ext cx="809497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 스킬</a:t>
              </a:r>
              <a:r>
                <a:rPr kumimoji="1" lang="en-US" altLang="ko-KR" sz="700" dirty="0">
                  <a:latin typeface="+mn-ea"/>
                  <a:ea typeface="+mn-ea"/>
                </a:rPr>
                <a:t>, </a:t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기본적인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시스템 기능 </a:t>
              </a:r>
              <a:r>
                <a:rPr kumimoji="1" lang="en-US" altLang="ko-KR" sz="700" dirty="0">
                  <a:latin typeface="+mn-ea"/>
                  <a:ea typeface="+mn-ea"/>
                </a:rPr>
                <a:t/>
              </a:r>
              <a:br>
                <a:rPr kumimoji="1" lang="en-US" altLang="ko-KR" sz="700" dirty="0">
                  <a:latin typeface="+mn-ea"/>
                  <a:ea typeface="+mn-ea"/>
                </a:rPr>
              </a:br>
              <a:r>
                <a:rPr kumimoji="1" lang="ko-KR" altLang="en-US" sz="700" dirty="0">
                  <a:latin typeface="+mn-ea"/>
                  <a:ea typeface="+mn-ea"/>
                </a:rPr>
                <a:t>사용 및 보고서 활용 분석 능력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sp>
          <p:nvSpPr>
            <p:cNvPr id="172" name="AutoShape 32"/>
            <p:cNvSpPr>
              <a:spLocks noChangeArrowheads="1"/>
            </p:cNvSpPr>
            <p:nvPr/>
          </p:nvSpPr>
          <p:spPr bwMode="gray">
            <a:xfrm>
              <a:off x="5918632" y="3304756"/>
              <a:ext cx="943487" cy="667591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현업주도의 변화를 위한 적극적인 지원유도 및 보고서의 활용을 통한 업무현황 파악 및 분석</a:t>
              </a:r>
            </a:p>
          </p:txBody>
        </p:sp>
        <p:sp>
          <p:nvSpPr>
            <p:cNvPr id="173" name="AutoShape 33"/>
            <p:cNvSpPr>
              <a:spLocks noChangeArrowheads="1"/>
            </p:cNvSpPr>
            <p:nvPr/>
          </p:nvSpPr>
          <p:spPr bwMode="gray">
            <a:xfrm>
              <a:off x="8662018" y="3303380"/>
              <a:ext cx="889637" cy="667590"/>
            </a:xfrm>
            <a:prstGeom prst="roundRect">
              <a:avLst>
                <a:gd name="adj" fmla="val 16667"/>
              </a:avLst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t"/>
            <a:lstStyle/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변화관리 교육        </a:t>
              </a:r>
            </a:p>
            <a:p>
              <a:pPr marL="90488" indent="-90488">
                <a:spcBef>
                  <a:spcPct val="20000"/>
                </a:spcBef>
                <a:buClr>
                  <a:schemeClr val="tx1">
                    <a:lumMod val="75000"/>
                    <a:lumOff val="25000"/>
                  </a:schemeClr>
                </a:buClr>
                <a:buFont typeface="Wingdings" panose="05000000000000000000" pitchFamily="2" charset="2"/>
                <a:buChar char="§"/>
              </a:pPr>
              <a:r>
                <a:rPr kumimoji="1" lang="ko-KR" altLang="en-US" sz="700" dirty="0">
                  <a:latin typeface="+mn-ea"/>
                  <a:ea typeface="+mn-ea"/>
                </a:rPr>
                <a:t>시스템 교육</a:t>
              </a:r>
              <a:endParaRPr kumimoji="1" lang="en-GB" altLang="ko-KR" sz="700" dirty="0">
                <a:latin typeface="+mn-ea"/>
                <a:ea typeface="+mn-ea"/>
              </a:endParaRPr>
            </a:p>
          </p:txBody>
        </p:sp>
        <p:grpSp>
          <p:nvGrpSpPr>
            <p:cNvPr id="7" name="Group 113"/>
            <p:cNvGrpSpPr/>
            <p:nvPr/>
          </p:nvGrpSpPr>
          <p:grpSpPr>
            <a:xfrm>
              <a:off x="5957016" y="1753313"/>
              <a:ext cx="2516138" cy="276999"/>
              <a:chOff x="5016526" y="3818016"/>
              <a:chExt cx="2516138" cy="276999"/>
            </a:xfrm>
          </p:grpSpPr>
          <p:sp>
            <p:nvSpPr>
              <p:cNvPr id="175" name="Line 104"/>
              <p:cNvSpPr>
                <a:spLocks noChangeShapeType="1"/>
              </p:cNvSpPr>
              <p:nvPr/>
            </p:nvSpPr>
            <p:spPr bwMode="auto">
              <a:xfrm>
                <a:off x="5016526" y="4076070"/>
                <a:ext cx="2516138" cy="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176" name="Text Box 105"/>
              <p:cNvSpPr txBox="1">
                <a:spLocks noChangeArrowheads="1"/>
              </p:cNvSpPr>
              <p:nvPr/>
            </p:nvSpPr>
            <p:spPr bwMode="auto">
              <a:xfrm>
                <a:off x="5509078" y="3818016"/>
                <a:ext cx="1524776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1pPr>
                <a:lvl2pPr marL="742950" indent="-28575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2pPr>
                <a:lvl3pPr marL="11430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3pPr>
                <a:lvl4pPr marL="16002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4pPr>
                <a:lvl5pPr marL="2057400" indent="-228600" eaLnBrk="0" hangingPunct="0"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kumimoji="1" sz="800">
                    <a:solidFill>
                      <a:schemeClr val="tx1"/>
                    </a:solidFill>
                    <a:latin typeface="Arial" pitchFamily="34" charset="0"/>
                    <a:ea typeface="굴림체" pitchFamily="49" charset="-127"/>
                  </a:defRPr>
                </a:lvl9pPr>
              </a:lstStyle>
              <a:p>
                <a:pPr lvl="0" algn="ctr" eaLnBrk="1" hangingPunct="1">
                  <a:buNone/>
                </a:pPr>
                <a:r>
                  <a:rPr kumimoji="0" lang="ko-KR" altLang="en-US" sz="1200" b="1" dirty="0">
                    <a:latin typeface="+mn-ea"/>
                    <a:ea typeface="+mn-ea"/>
                    <a:cs typeface="Arial" pitchFamily="34" charset="0"/>
                  </a:rPr>
                  <a:t>대상별 교육 차별화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6551518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0TKn0bEShba0dZQPXV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CmM8zpjY06Ucf5WhofpW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C3K_4Sekq_bj8jKXyJzg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kM3sM_vUCFTBFIFMsICQ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XuySQy1ESfNd.Cw3u1YQ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2vsHIIgUq2cTpvlJG3BQ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qgEH7l6UmtHNlDpBfrzQ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dvvjxM.Z0aCsWgFgRYgrg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_UUTKIIakmHGDQdW4LGDA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0TKn0bEShba0dZQPXVw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CmM8zpjY06Ucf5WhofpWQ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faJ2i8CD0eLgNygip0vb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sg__J4_n0aZySjGjJ8cOQ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TTuZOtsFUaOcB97wyIPnQ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rg.pH.n9ECaPTgRGRdqVg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RLYMms6fUeNXoOFc0Eguw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giQyDZ_0u0xyIaL6bGMQ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hyQ2z9S9keaiPphq0TfFg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2l4OgKU9katIcOyiSZiR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9fJvbPDkahFkJlRH2u_w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HacoRbrfkmNi3yEjobxlw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.t6q8MBrEaFmdgJt.OLx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5k.jbc9RkmOx6i.HRsmP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C3K_4Sekq_bj8jKXyJzg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kM3sM_vUCFTBFIFMsICQ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XuySQy1ESfNd.Cw3u1YQ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2vsHIIgUq2cTpvlJG3BQ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qgEH7l6UmtHNlDpBfrzQ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dvvjxM.Z0aCsWgFgRYgrg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_UUTKIIakmHGDQdW4LGDA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faJ2i8CD0eLgNygip0vbw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CmM8zpjY06Ucf5WhofpWQ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dvvjxM.Z0aCsWgFgRYgrg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_UUTKIIakmHGDQdW4LGDA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0TKn0bEShba0dZQPXVw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2vsHIIgUq2cTpvlJG3B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qgEH7l6UmtHNlDpBfrzQ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C3K_4Sekq_bj8jKXyJzg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kM3sM_vUCFTBFIFMsICQ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XuySQy1ESfNd.Cw3u1YQ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CmM8zpjY06Ucf5WhofpWQ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dvvjxM.Z0aCsWgFgRYgrg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_UUTKIIakmHGDQdW4LGDA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0TKn0bEShba0dZQPXVw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2vsHIIgUq2cTpvlJG3BQ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qgEH7l6UmtHNlDpBfrzQ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C3K_4Sekq_bj8jKXyJzg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kM3sM_vUCFTBFIFMsICQ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XuySQy1ESfNd.Cw3u1YQ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0TKn0bEShba0dZQPXVw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CmM8zpjY06Ucf5WhofpWQ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I8cHciR0245xjb4WpO_Q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C3K_4Sekq_bj8jKXyJzg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XuySQy1ESfNd.Cw3u1YQ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2vsHIIgUq2cTpvlJG3BQ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qgEH7l6UmtHNlDpBfrzQ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dvvjxM.Z0aCsWgFgRYgrg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_UUTKIIakmHGDQdW4LGDA"/>
</p:tagLst>
</file>

<file path=ppt/theme/theme1.xml><?xml version="1.0" encoding="utf-8"?>
<a:theme xmlns:a="http://schemas.openxmlformats.org/drawingml/2006/main" name="blank">
  <a:themeElements>
    <a:clrScheme name="사용자 지정 1">
      <a:dk1>
        <a:sysClr val="windowText" lastClr="000000"/>
      </a:dk1>
      <a:lt1>
        <a:sysClr val="window" lastClr="FFFFFF"/>
      </a:lt1>
      <a:dk2>
        <a:srgbClr val="508CD2"/>
      </a:dk2>
      <a:lt2>
        <a:srgbClr val="4678B4"/>
      </a:lt2>
      <a:accent1>
        <a:srgbClr val="7DAFFA"/>
      </a:accent1>
      <a:accent2>
        <a:srgbClr val="BEDCFF"/>
      </a:accent2>
      <a:accent3>
        <a:srgbClr val="E6F0FF"/>
      </a:accent3>
      <a:accent4>
        <a:srgbClr val="85B692"/>
      </a:accent4>
      <a:accent5>
        <a:srgbClr val="6B94E2"/>
      </a:accent5>
      <a:accent6>
        <a:srgbClr val="819BAB"/>
      </a:accent6>
      <a:hlink>
        <a:srgbClr val="7C0808"/>
      </a:hlink>
      <a:folHlink>
        <a:srgbClr val="0D356F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6350">
          <a:solidFill>
            <a:schemeClr val="tx1"/>
          </a:solidFill>
        </a:ln>
      </a:spPr>
      <a:bodyPr rtlCol="0" anchor="ctr"/>
      <a:lstStyle>
        <a:defPPr algn="ctr">
          <a:defRPr sz="14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200" dirty="0" err="1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3F0D996D5B674C4386830A6AB0E50984" ma:contentTypeVersion="0" ma:contentTypeDescription="새 문서를 만듭니다." ma:contentTypeScope="" ma:versionID="a166825e3373d96581aa46038a4cd794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dd8f6c9257034a6ffde9c3b3e5e5b894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BD0F89B1-6918-4E93-BEE7-D22E1D86D6BD}">
  <ds:schemaRefs>
    <ds:schemaRef ds:uri="http://schemas.openxmlformats.org/package/2006/metadata/core-properties"/>
    <ds:schemaRef ds:uri="http://purl.org/dc/terms/"/>
    <ds:schemaRef ds:uri="http://schemas.microsoft.com/office/infopath/2007/PartnerControls"/>
    <ds:schemaRef ds:uri="http://schemas.microsoft.com/office/2006/metadata/properties"/>
    <ds:schemaRef ds:uri="http://schemas.microsoft.com/office/2006/documentManagement/types"/>
    <ds:schemaRef ds:uri="http://purl.org/dc/elements/1.1/"/>
    <ds:schemaRef ds:uri="http://www.w3.org/XML/1998/namespace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EE596667-FA45-4F74-9119-1A6024EAD1C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4A00E14-E36D-45A2-BDFD-A782D62A324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blank</Template>
  <TotalTime>32151</TotalTime>
  <Words>29430</Words>
  <Application>Microsoft Office PowerPoint</Application>
  <PresentationFormat>A4 용지(210x297mm)</PresentationFormat>
  <Paragraphs>9084</Paragraphs>
  <Slides>222</Slides>
  <Notes>50</Notes>
  <HiddenSlides>0</HiddenSlides>
  <MMClips>0</MMClips>
  <ScaleCrop>false</ScaleCrop>
  <HeadingPairs>
    <vt:vector size="4" baseType="variant">
      <vt:variant>
        <vt:lpstr>테마</vt:lpstr>
      </vt:variant>
      <vt:variant>
        <vt:i4>1</vt:i4>
      </vt:variant>
      <vt:variant>
        <vt:lpstr>슬라이드 제목</vt:lpstr>
      </vt:variant>
      <vt:variant>
        <vt:i4>222</vt:i4>
      </vt:variant>
    </vt:vector>
  </HeadingPairs>
  <TitlesOfParts>
    <vt:vector size="223" baseType="lpstr">
      <vt:lpstr>blank</vt:lpstr>
      <vt:lpstr>PowerPoint 프레젠테이션</vt:lpstr>
      <vt:lpstr>1.1 이행계획 수립 개요 &gt; 접근 방법</vt:lpstr>
      <vt:lpstr>PowerPoint 프레젠테이션</vt:lpstr>
      <vt:lpstr>2. 추진 계획 수립 &gt; 2.1 이행과제 정의 2.1.1 이행과제 도출 (1/5)</vt:lpstr>
      <vt:lpstr>2.1.1 이행과제 도출 (2/5)</vt:lpstr>
      <vt:lpstr>2.1.1 이행과제 도출 (3/5)</vt:lpstr>
      <vt:lpstr>2.1.1 이행과제 도출 (4/5)</vt:lpstr>
      <vt:lpstr>2.1.1 이행과제 도출 (5/5)</vt:lpstr>
      <vt:lpstr>2.1.2 이행과제 정의 종합</vt:lpstr>
      <vt:lpstr>2.1.3 이행과제 정의서</vt:lpstr>
      <vt:lpstr>2.1.3 이행과제 정의서</vt:lpstr>
      <vt:lpstr>2.1.3 이행과제 정의서</vt:lpstr>
      <vt:lpstr>2.1.3 이행과제 정의서</vt:lpstr>
      <vt:lpstr>2.2 과제별 이행 추진단계  2.2.1 이행과제 우선순위 평가요소 (1/2)</vt:lpstr>
      <vt:lpstr>2.2.1 이행과제 우선순위 평가요소 (1/2)</vt:lpstr>
      <vt:lpstr>2.2.2 이행과제 우선순위 평가 </vt:lpstr>
      <vt:lpstr>2.3 추진 로드맵 정의 2.3.1 단계별 추진 로드맵 &gt; 추진 단계</vt:lpstr>
      <vt:lpstr>2.3 추진 로드맵 정의 2.3.1 단계별 추진 로드맵</vt:lpstr>
      <vt:lpstr>PowerPoint 프레젠테이션</vt:lpstr>
      <vt:lpstr>3. 비용 계획 수립 &gt; 3.1 비용계획 수립 개요 3.1.1 비용계획 수립 접근 절차</vt:lpstr>
      <vt:lpstr>3.2 비용계획 종합 3.2.1 과제별 예산 총괄</vt:lpstr>
      <vt:lpstr>3.3.1 (1단계) 경영정보통합시스템 기반 구축 3.3.1.1 FP 기반 S/W 개발비용 산정 &gt; 통합재무정보</vt:lpstr>
      <vt:lpstr>3.3.1.1 FP 기반 S/W 개발비용 산정 &gt; 인적자원관리</vt:lpstr>
      <vt:lpstr>3.3.1.1 FP 기반 S/W 개발비용 산정 &gt; 배치 및 연계</vt:lpstr>
      <vt:lpstr>3.3.1.2 M/M 기반 S/W 개발비용 산정 &gt; A社(1/2)</vt:lpstr>
      <vt:lpstr>3.3.1.2 M/M 기반 S/W 개발비용 산정 &gt; A社(2/2)</vt:lpstr>
      <vt:lpstr>3.3.1.2 M/M 기반 S/W 개발비용 산정 &gt; B社</vt:lpstr>
      <vt:lpstr>3.3.1.3 S/W 개발비용 산정 &gt; 종합 분석</vt:lpstr>
      <vt:lpstr>3.3.1.4 솔루션 도입비용 산정</vt:lpstr>
      <vt:lpstr>3.3.2 (2단계) 경영정보통합시스템 고도화 및 통계/연계 솔루션 도입 3.3.2.1 FP 기반 S/W 개발비용 산정 &gt; 기금지원관리</vt:lpstr>
      <vt:lpstr>3.3.2.1 FP 기반 S/W 개발비용 산정 &gt; 경영정보 포털</vt:lpstr>
      <vt:lpstr>3.3.2.1 FP 기반 S/W 개발비용 산정 &gt; 통계</vt:lpstr>
      <vt:lpstr>3.3.2.2 M/M 기반 S/W 개발비용 산정 &gt; A社(1/2)</vt:lpstr>
      <vt:lpstr>3.3.2.2 M/M 기반 S/W 개발비용 산정 &gt; A社(2/2)</vt:lpstr>
      <vt:lpstr>3.3.2.2 M/M 기반 S/W 개발비용 산정 &gt; B社</vt:lpstr>
      <vt:lpstr>3.3.2.3 S/W 개발비용 산정 &gt; 종합 분석</vt:lpstr>
      <vt:lpstr>3.3.2.4 솔루션 도입 비용 &gt; (통계) 분석DBMS(1/2)</vt:lpstr>
      <vt:lpstr>3.3.2.4 솔루션 도입 비용 &gt; (통계) 분석DBMS(2/2)</vt:lpstr>
      <vt:lpstr>3.3.2.4 솔루션 도입 비용 &gt; (통계) ETL/OLAP</vt:lpstr>
      <vt:lpstr>3.3.2.4 솔루션 도입 비용 &gt; (연계) ESB</vt:lpstr>
      <vt:lpstr>3.3.3 (3단계) 모바일 서비스 채널 확대 3.3.3.1 모바일 서비스&gt; FP 기반 S/W 개발비용 산정</vt:lpstr>
      <vt:lpstr>3.3.3.1 모바일 서비스&gt; M/M 기반 S/W 개발비용 산정(A社)</vt:lpstr>
      <vt:lpstr>3.3.3.1 모바일 서비스&gt; M/M 기반 S/W 개발비용 산정(B社)</vt:lpstr>
      <vt:lpstr>3.3.3.1 모바일 서비스&gt; S/W 개발비용 종합 분석</vt:lpstr>
      <vt:lpstr>3.3.3.2 모바일 서비스&gt; 인프라 도입 비용(1/2)</vt:lpstr>
      <vt:lpstr>3.3.3.2 모바일 서비스&gt; 인프라 도입 비용(2/2)</vt:lpstr>
      <vt:lpstr>[BACK UP] 경력개발제도(CDP) 개발</vt:lpstr>
      <vt:lpstr>[BACK UP] S/W 개발비용 비용 산정 방식 (1/2)</vt:lpstr>
      <vt:lpstr>[BACK UP] S/W 개발비용 비용 산정 방식 (2/2)</vt:lpstr>
      <vt:lpstr>PowerPoint 프레젠테이션</vt:lpstr>
      <vt:lpstr>4. 기대효과 분석 4.1 기대효과 분석 개요</vt:lpstr>
      <vt:lpstr>4.2 정성적 기대효과 (1/2)</vt:lpstr>
      <vt:lpstr>4.2 정성적 기대효과 (2/2)</vt:lpstr>
      <vt:lpstr>4.3 정량적 기대효과 (1/4)</vt:lpstr>
      <vt:lpstr>4.3 정량적 기대효과 (2/4)</vt:lpstr>
      <vt:lpstr>4.3 정량적 기대효과 (3/4)</vt:lpstr>
      <vt:lpstr>4.3 정량적 기대효과 (4/4)</vt:lpstr>
      <vt:lpstr>PowerPoint 프레젠테이션</vt:lpstr>
      <vt:lpstr>5. 요건기술서 정의  5.1 요건기술서 정의 개요</vt:lpstr>
      <vt:lpstr> 5.2 요구사항 분류 체계 및 ID부여 규칙</vt:lpstr>
      <vt:lpstr>5.3 요건기술서 작성  5.3.1 시스템 장비 요구사항 &gt; 공통 (1/7) </vt:lpstr>
      <vt:lpstr>5.3.1 시스템 장비 요구사항 &gt; 공통 (2/7)</vt:lpstr>
      <vt:lpstr>5.3.1 시스템 장비 요구사항 &gt; 공통 (3/7)</vt:lpstr>
      <vt:lpstr>5.3.1 시스템 장비 요구사항 &gt; 공통 (4/7)</vt:lpstr>
      <vt:lpstr>5.3.1 시스템 장비 요구사항 &gt; 공통 (5/7)</vt:lpstr>
      <vt:lpstr>5.3.1 시스템 장비 요구사항 &gt; 공통 (6/7)</vt:lpstr>
      <vt:lpstr>5.3.1 시스템 장비 요구사항 &gt; 공통 (7/7)</vt:lpstr>
      <vt:lpstr>5.3.1 시스템 장비 요구사항 &gt; 1단계</vt:lpstr>
      <vt:lpstr>5.3.1 시스템 장비 요구사항 &gt; 2단계 (1/3)</vt:lpstr>
      <vt:lpstr>5.3.1 시스템 장비 요구사항 &gt; 2단계 (2/3)</vt:lpstr>
      <vt:lpstr>5.3.1 시스템 장비 요구사항 &gt; 2단계 (3/3)</vt:lpstr>
      <vt:lpstr>5.3.1 시스템 장비 요구사항 &gt; 3단계</vt:lpstr>
      <vt:lpstr>5.3.2 기능요구사항 &gt; 1단계 &gt; 통합재무정보 (1/41)</vt:lpstr>
      <vt:lpstr>5.3.2 기능요구사항 &gt; 1단계 &gt; 통합재무정보 (2/41)</vt:lpstr>
      <vt:lpstr>5.3.2 기능요구사항 &gt; 1단계 &gt; 통합재무정보 (3/41)</vt:lpstr>
      <vt:lpstr>5.3.2 기능요구사항 &gt; 1단계 &gt; 통합재무정보 (4/41)</vt:lpstr>
      <vt:lpstr>5.3.2 기능요구사항 &gt; 1단계 &gt; 통합재무정보 (5/41)</vt:lpstr>
      <vt:lpstr>5.3.2 기능요구사항 &gt; 1단계 &gt; 통합재무정보 (6/41)</vt:lpstr>
      <vt:lpstr>5.3.2 기능요구사항 &gt; 1단계 &gt; 통합재무정보 (7/41)</vt:lpstr>
      <vt:lpstr>5.3.2 기능요구사항 &gt; 1단계 &gt; 통합재무정보 (8/41)</vt:lpstr>
      <vt:lpstr>5.3.2 기능요구사항 &gt; 1단계 &gt; 통합재무정보 (9/41)</vt:lpstr>
      <vt:lpstr>5.3.2 기능요구사항 &gt; 1단계 &gt; 통합재무정보 (10/41)</vt:lpstr>
      <vt:lpstr>5.3.2 기능요구사항 &gt; 1단계 &gt; 통합재무정보 (11/41)</vt:lpstr>
      <vt:lpstr>5.3.2 기능요구사항 &gt; 1단계 &gt; 통합재무정보 (12/41)</vt:lpstr>
      <vt:lpstr>5.3.2 기능요구사항 &gt; 1단계 &gt; 통합재무정보 (13/41)</vt:lpstr>
      <vt:lpstr>5.3.2 기능요구사항 &gt; 1단계 &gt; 통합재무정보 (14/41)</vt:lpstr>
      <vt:lpstr>5.3.2 기능요구사항 &gt; 1단계 &gt; 통합재무정보 (15/41)</vt:lpstr>
      <vt:lpstr>5.3.2 기능요구사항 &gt; 1단계 &gt; 통합재무정보 (16/41)</vt:lpstr>
      <vt:lpstr>5.3.2 기능요구사항 &gt; 1단계 &gt; 통합재무정보 (17/41)</vt:lpstr>
      <vt:lpstr>5.3.2 기능요구사항 &gt; 1단계 &gt; 통합재무정보 (18/41)</vt:lpstr>
      <vt:lpstr>5.3.2 기능요구사항 &gt; 1단계 &gt; 통합재무정보 (19/41)</vt:lpstr>
      <vt:lpstr>5.3.2 기능요구사항 &gt; 1단계 &gt; 통합재무정보 (20/41)</vt:lpstr>
      <vt:lpstr>5.3.2 기능요구사항 &gt; 1단계 &gt; 통합재무정보 (21/41)</vt:lpstr>
      <vt:lpstr>5.3.2 기능요구사항 &gt; 1단계 &gt; 통합재무정보 (22/41)</vt:lpstr>
      <vt:lpstr>5.3.2 기능요구사항 &gt; 1단계 &gt; 통합재무정보 (23/41)</vt:lpstr>
      <vt:lpstr>5.3.2 기능요구사항 &gt; 1단계 &gt; 통합재무정보 (24/41)</vt:lpstr>
      <vt:lpstr>5.3.2 기능요구사항 &gt; 1단계 &gt; 통합재무정보 (25/41)</vt:lpstr>
      <vt:lpstr>5.3.2 기능요구사항 &gt; 1단계 &gt; 통합재무정보 (26/41)</vt:lpstr>
      <vt:lpstr>5.3.2 기능요구사항 &gt; 1단계 &gt; 통합재무정보 (27/41)</vt:lpstr>
      <vt:lpstr>5.3.2 기능요구사항 &gt; 1단계 &gt; 통합재무정보 (28/41)</vt:lpstr>
      <vt:lpstr>5.3.2 기능요구사항 &gt; 1단계 &gt; 통합재무정보 (29/41)</vt:lpstr>
      <vt:lpstr>5.3.2 기능요구사항 &gt; 1단계 &gt; 통합재무정보 (30/41)</vt:lpstr>
      <vt:lpstr>5.3.2 기능요구사항 &gt; 1단계 &gt; 통합재무정보 (31/41)</vt:lpstr>
      <vt:lpstr>5.3.2 기능요구사항 &gt; 1단계 &gt; 통합재무정보 (32/41)</vt:lpstr>
      <vt:lpstr>5.3.2 기능요구사항 &gt; 1단계 &gt; 통합재무정보 (33/41)</vt:lpstr>
      <vt:lpstr>5.3.2 기능요구사항 &gt; 1단계 &gt; 통합재무정보 (34/41)</vt:lpstr>
      <vt:lpstr>5.3.2 기능요구사항 &gt; 1단계 &gt; 통합재무정보 (35/41)</vt:lpstr>
      <vt:lpstr>5.3.2 기능요구사항 &gt; 1단계 &gt; 통합재무정보 (36/41)</vt:lpstr>
      <vt:lpstr>5.3.2 기능요구사항 &gt; 1단계 &gt; 통합재무정보 (37/41)</vt:lpstr>
      <vt:lpstr>5.3.2 기능요구사항 &gt; 1단계 &gt; 통합재무정보 (38/41)</vt:lpstr>
      <vt:lpstr>5.3.2 기능요구사항 &gt; 1단계 &gt; 통합재무정보 (39/41)</vt:lpstr>
      <vt:lpstr>5.3.2 기능요구사항 &gt; 1단계 &gt; 통합재무정보 (40/41)</vt:lpstr>
      <vt:lpstr>5.3.2 기능요구사항 &gt; 1단계 &gt; 통합재무정보 (41/41)</vt:lpstr>
      <vt:lpstr>5.3.2 기능요구사항 &gt; 1단계 &gt; 인적자원관리 (1/22)</vt:lpstr>
      <vt:lpstr>5.3.2 기능요구사항 &gt; 1단계 &gt; 인적자원관리 (2/22)</vt:lpstr>
      <vt:lpstr>5.3.2 기능요구사항 &gt; 1단계 &gt; 인적자원관리 (3/22)</vt:lpstr>
      <vt:lpstr>5.3.2 기능요구사항 &gt; 1단계 &gt; 인적자원관리 (4/22)</vt:lpstr>
      <vt:lpstr>5.3.2 기능요구사항 &gt; 1단계 &gt; 인적자원관리 (5/22)</vt:lpstr>
      <vt:lpstr>5.3.2 기능요구사항 &gt; 1단계 &gt; 인적자원관리 (6/22)</vt:lpstr>
      <vt:lpstr>5.3.2 기능요구사항 &gt; 1단계 &gt; 인적자원관리 (7/22)</vt:lpstr>
      <vt:lpstr>5.3.2 기능요구사항 &gt; 1단계 &gt; 인적자원관리 (8/22)</vt:lpstr>
      <vt:lpstr>5.3.2 기능요구사항 &gt; 1단계 &gt; 인적자원관리 (9/22)</vt:lpstr>
      <vt:lpstr>5.3.2 기능요구사항 &gt; 1단계 &gt; 인적자원관리 (10/22)</vt:lpstr>
      <vt:lpstr>5.3.2 기능요구사항 &gt; 1단계 &gt; 인적자원관리 (11/22)</vt:lpstr>
      <vt:lpstr>5.3.2 기능요구사항 &gt; 1단계 &gt; 인적자원관리 (12/22)</vt:lpstr>
      <vt:lpstr>5.3.2 기능요구사항 &gt; 1단계 &gt; 인적자원관리 (13/22)</vt:lpstr>
      <vt:lpstr>5.3.2 기능요구사항 &gt; 1단계 &gt; 인적자원관리 (14/22)</vt:lpstr>
      <vt:lpstr>5.3.2 기능요구사항 &gt; 1단계 &gt; 인적자원관리 (15/22)</vt:lpstr>
      <vt:lpstr>5.3.2 기능요구사항 &gt; 1단계 &gt; 인적자원관리 (16/22)</vt:lpstr>
      <vt:lpstr>5.3.2 기능요구사항 &gt; 1단계 &gt; 인적자원관리 (17/22)</vt:lpstr>
      <vt:lpstr>5.3.2 기능요구사항 &gt; 1단계 &gt; 인적자원관리 (18/22)</vt:lpstr>
      <vt:lpstr>5.3.2 기능요구사항 &gt; 1단계 &gt; 인적자원관리 (19/22)</vt:lpstr>
      <vt:lpstr>5.3.2 기능요구사항 &gt; 1단계 &gt; 인적자원관리 (20/22)</vt:lpstr>
      <vt:lpstr>5.3.2 기능요구사항 &gt; 1단계 &gt; 인적자원관리 (21/22)</vt:lpstr>
      <vt:lpstr>5.3.2 기능요구사항 &gt; 1단계 &gt; 인적자원관리 (22/22)</vt:lpstr>
      <vt:lpstr>5.3.2 기능요구사항 &gt; 1단계 &gt; 배치 </vt:lpstr>
      <vt:lpstr>5.3.2 기능요구사항 &gt; 1단계 &gt; 연계 </vt:lpstr>
      <vt:lpstr>5.3.2 기능요구사항 &gt; 2단계 &gt; 기금지원관리 (1/19)</vt:lpstr>
      <vt:lpstr>5.3.2 기능요구사항 &gt; 2단계 &gt; 기금지원관리 (2/19)</vt:lpstr>
      <vt:lpstr>5.3.2 기능요구사항 &gt; 2단계 &gt; 기금지원관리 (3/19)</vt:lpstr>
      <vt:lpstr>5.3.2 기능요구사항 &gt; 2단계 &gt; 기금지원관리 (4/19)</vt:lpstr>
      <vt:lpstr>5.3.2 기능요구사항 &gt; 2단계 &gt; 기금지원관리 (5/19)</vt:lpstr>
      <vt:lpstr>5.3.2 기능요구사항 &gt; 2단계 &gt; 기금지원관리 (6/19)</vt:lpstr>
      <vt:lpstr>5.3.2 기능요구사항 &gt; 2단계 &gt; 기금지원관리 (7/19)</vt:lpstr>
      <vt:lpstr>5.3.2 기능요구사항 &gt; 2단계 &gt; 기금지원관리 (8/19)</vt:lpstr>
      <vt:lpstr>5.3.2 기능요구사항 &gt; 2단계 &gt; 기금지원관리 (9/19)</vt:lpstr>
      <vt:lpstr>5.3.2 기능요구사항 &gt; 2단계 &gt; 기금지원관리 (10/19)</vt:lpstr>
      <vt:lpstr>5.3.2 기능요구사항 &gt; 2단계 &gt; 기금지원관리 (11/19)</vt:lpstr>
      <vt:lpstr>5.3.2 기능요구사항 &gt; 2단계 &gt; 기금지원관리 (12/19)</vt:lpstr>
      <vt:lpstr>5.3.2 기능요구사항 &gt; 2단계 &gt; 기금지원관리 (13/19)</vt:lpstr>
      <vt:lpstr>5.3.2 기능요구사항 &gt; 2단계 &gt; 기금지원관리 (14/19)</vt:lpstr>
      <vt:lpstr>5.3.2 기능요구사항 &gt; 2단계 &gt; 기금지원관리 (15/19)</vt:lpstr>
      <vt:lpstr>5.3.2 기능요구사항 &gt; 2단계 &gt; 기금지원관리 (16/19)</vt:lpstr>
      <vt:lpstr>5.3.2 기능요구사항 &gt; 2단계 &gt; 기금지원관리 (17/19)</vt:lpstr>
      <vt:lpstr>5.3.2 기능요구사항 &gt; 2단계 &gt; 기금지원관리 (18/19)</vt:lpstr>
      <vt:lpstr>5.3.2 기능요구사항 &gt; 2단계 &gt; 기금지원관리 (19/19)</vt:lpstr>
      <vt:lpstr>5.3.2 기능요구사항 &gt; 2단계 &gt; 경영정보 포털 (1/11)</vt:lpstr>
      <vt:lpstr>5.3.2 기능요구사항 &gt; 2단계 &gt; 경영정보 포털 (2/11)</vt:lpstr>
      <vt:lpstr>5.3.2 기능요구사항 &gt; 2단계 &gt; 경영정보 포털 (3/11)</vt:lpstr>
      <vt:lpstr>5.3.2 기능요구사항 &gt; 2단계 &gt; 경영정보 포털 (4/11)</vt:lpstr>
      <vt:lpstr>5.3.2 기능요구사항 &gt; 2단계 &gt; 경영정보 포털 (5/11)</vt:lpstr>
      <vt:lpstr>5.3.2 기능요구사항 &gt; 2단계 &gt; 경영정보 포털 (6/11)</vt:lpstr>
      <vt:lpstr>5.3.2 기능요구사항 &gt; 2단계 &gt; 경영정보 포털 (7/11)</vt:lpstr>
      <vt:lpstr>5.3.2 기능요구사항 &gt; 2단계 &gt; 경영정보 포털 (8/11)</vt:lpstr>
      <vt:lpstr>5.3.2 기능요구사항 &gt; 2단계 &gt; 경영정보 포털 (9/11)</vt:lpstr>
      <vt:lpstr>5.3.2 기능요구사항 &gt; 2단계 &gt; 경영정보 포털 (10/11)</vt:lpstr>
      <vt:lpstr>5.3.2 기능요구사항 &gt; 2단계 &gt; 경영정보 포털 (11/11)</vt:lpstr>
      <vt:lpstr>5.3.2 기능요구사항 &gt; 2단계 &gt; 통계 (1/4)</vt:lpstr>
      <vt:lpstr>5.3.2 기능요구사항 &gt; 2단계 &gt; 통계 (2/4)</vt:lpstr>
      <vt:lpstr>5.3.2 기능요구사항 &gt; 2단계 &gt; 통계 (3/4)</vt:lpstr>
      <vt:lpstr>5.3.2 기능요구사항 &gt; 2단계 &gt; 통계 (4/4)</vt:lpstr>
      <vt:lpstr>5.3.2 기능요구사항 &gt; 3단계 &gt; 모바일 (1/2)</vt:lpstr>
      <vt:lpstr>5.3.2 기능요구사항 &gt; 3단계 &gt; 모바일 (2/2)</vt:lpstr>
      <vt:lpstr>5.3.3 성능 요구사항 (1/2)</vt:lpstr>
      <vt:lpstr>5.3.3 성능 요구사항 (2/2)</vt:lpstr>
      <vt:lpstr>5.3.4 인터페이스 요구사항 </vt:lpstr>
      <vt:lpstr>5.3.5 데이터 요구사항 (1/2)</vt:lpstr>
      <vt:lpstr>5.3.5 데이터 요구사항 (2/2)</vt:lpstr>
      <vt:lpstr>5.3.6 테스트 요구사항 (1/2)</vt:lpstr>
      <vt:lpstr>5.3.6 테스트 요구사항 (2/2)</vt:lpstr>
      <vt:lpstr>5.3.7 보안 요구사항 (1/9)</vt:lpstr>
      <vt:lpstr>5.3.7 보안 요구사항 (2/9)</vt:lpstr>
      <vt:lpstr>5.3.7 보안 요구사항 (3/9)</vt:lpstr>
      <vt:lpstr>5.3.7 보안 요구사항 (4/9)</vt:lpstr>
      <vt:lpstr>5.3.7 보안 요구사항 (5/9)</vt:lpstr>
      <vt:lpstr>5.3.7 보안 요구사항 (6/9)</vt:lpstr>
      <vt:lpstr>5.3.7 보안 요구사항 (7/9)</vt:lpstr>
      <vt:lpstr>5.3.7 보안 요구사항 (8/9)</vt:lpstr>
      <vt:lpstr>5.3.7 보안 요구사항 (9/9)</vt:lpstr>
      <vt:lpstr>5.3.8 품질 요구사항 (1/2)</vt:lpstr>
      <vt:lpstr>5.3.8 품질 요구사항 (2/2)</vt:lpstr>
      <vt:lpstr>5.3.9 제약사항 (1/2)</vt:lpstr>
      <vt:lpstr>5.3.9 제약사항 (2/2)</vt:lpstr>
      <vt:lpstr>5.3.10 프로젝트 관리 요구사항 (1/3)</vt:lpstr>
      <vt:lpstr>5.3.10 프로젝트 관리 요구사항 (2/3)</vt:lpstr>
      <vt:lpstr>5.3.10 프로젝트 관리 요구사항 (3/3)</vt:lpstr>
      <vt:lpstr>5.3.11 프로젝트 지원 요구사항 (1/3)</vt:lpstr>
      <vt:lpstr>5.3.11 프로젝트 지원 요구사항 (2/3)</vt:lpstr>
      <vt:lpstr>5.3.11 프로젝트 지원 요구사항 (3/3)</vt:lpstr>
      <vt:lpstr>PowerPoint 프레젠테이션</vt:lpstr>
      <vt:lpstr>6. 변화관리 방안 수립 &gt; 6.1 변화관리 개요 6.1.1 변화관리의 필요성</vt:lpstr>
      <vt:lpstr>6.1.2 변화관리 개념</vt:lpstr>
      <vt:lpstr>6.1.3 변화관리 고려요소</vt:lpstr>
      <vt:lpstr>6.1.4 변화관리 매커니즘</vt:lpstr>
      <vt:lpstr>6.1.5 변화관리 대상</vt:lpstr>
      <vt:lpstr>6.1.6 변화관리 영역</vt:lpstr>
      <vt:lpstr>6.1.7 변화관리 핵심 성공 요인</vt:lpstr>
      <vt:lpstr>6.2 변화관리 수립방안 6.2.1 변화관리 Framework</vt:lpstr>
      <vt:lpstr>6.2.2 사업 추진체계 및 정보화 거버넌스 정립  &gt; 구축 추진 조직 구성</vt:lpstr>
      <vt:lpstr>6.2.2 사업 추진체계 및 정보화 거버넌스 정립  &gt; 추진 조직별 역할</vt:lpstr>
      <vt:lpstr>6.2.2 사업 추진체계 및 정보화 거버넌스 정립  &gt; 운영·관리체계 수립</vt:lpstr>
      <vt:lpstr>6.2.2 사업 추진체계 및 정보화 거버넌스 정립  &gt; 운영·관리 절차</vt:lpstr>
      <vt:lpstr>6.2.2 사업 추진체계 및 정보화 거버넌스 정립  &gt; 운영·관리 기능 (1/3) </vt:lpstr>
      <vt:lpstr>6.2.2 사업 추진체계 및 정보화 거버넌스 정립  &gt; 운영·관리 기능 (2/3)</vt:lpstr>
      <vt:lpstr>6.2.2 사업 추진체계 및 정보화 거버넌스 정립  &gt; 운영·관리 기능 (3/3)</vt:lpstr>
      <vt:lpstr>6.2.3 Sponsorship 프로그램 운영 &gt; 변화 리더십 개발 원칙</vt:lpstr>
      <vt:lpstr>6.2.3 Sponsorship 프로그램 운영 &gt; 협의 및 의사결정 체계 구축</vt:lpstr>
      <vt:lpstr>6.2.4 커뮤니케이션 활성화 프로그램 운영 &gt; 커뮤니케이션 활성화 원칙</vt:lpstr>
      <vt:lpstr>6.2.4 커뮤니케이션 활성화 프로그램 운영 &gt; 프로젝트 단계별 커뮤니케이션 이슈</vt:lpstr>
      <vt:lpstr>6.2.5 교육 프로그램 &gt; 교육 추진 및 활성화 원칙</vt:lpstr>
      <vt:lpstr>6.2.5 교육 프로그램 &gt; CoE 구성을 통한 순차적 교육 확대</vt:lpstr>
      <vt:lpstr>6.2.5 교육 프로그램 &gt; 교육관리 절차</vt:lpstr>
    </vt:vector>
  </TitlesOfParts>
  <Company>.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SDS</dc:creator>
  <cp:lastModifiedBy>hsyoung123@hanmail.net</cp:lastModifiedBy>
  <cp:revision>2532</cp:revision>
  <cp:lastPrinted>2018-12-20T07:15:58Z</cp:lastPrinted>
  <dcterms:created xsi:type="dcterms:W3CDTF">2013-11-13T01:08:07Z</dcterms:created>
  <dcterms:modified xsi:type="dcterms:W3CDTF">2019-07-18T00:16:26Z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0x0101003F0D996D5B674C4386830A6AB0E50984</vt:lpwstr>
  </property>
  <property fmtid="{D5CDD505-2E9C-101B-9397-08002B2CF9AE}" pid="3" name="DeliveryID">
    <vt:lpwstr>244b6fc4-4b4e-4117-b7bb-efd330097824</vt:lpwstr>
  </property>
  <property fmtid="{D5CDD505-2E9C-101B-9397-08002B2CF9AE}" pid="4" name="NSCPROP_SA">
    <vt:lpwstr>D:\블록체인\템플릿예시_PowerPoint.pptx</vt:lpwstr>
  </property>
  <property fmtid="{5C58129F-E5B8-477A-9B38-B3E54BFA04C8}" pid="2">
    <vt:lpwstr>EA5DF722F2DDC2B5142607E7171F90C7D4A6F050E5311B308FB269B1E25EFBC7</vt:lpwstr>
  </property>
</Properties>
</file>