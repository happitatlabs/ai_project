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media/image1.png" ContentType="image/png"/>
  <Override PartName="/ppt/media/image4.gif" ContentType="image/gif"/>
  <Override PartName="/ppt/media/image2.png" ContentType="image/png"/>
  <Override PartName="/ppt/media/image3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x="9906000" cy="6858000"/>
  <p:notesSz cx="6811963" cy="99425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Franklin Gothic Medium"/>
              </a:rPr>
              <a:t>Click to move the slide</a:t>
            </a:r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바탕"/>
              </a:rPr>
              <a:t>&lt;header&gt;</a:t>
            </a:r>
            <a:endParaRPr b="0" lang="en-US" sz="1400" spc="-1" strike="noStrike">
              <a:latin typeface="바탕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defRPr b="0" lang="en-US" sz="1400" spc="-1" strike="noStrike">
                <a:latin typeface="바탕"/>
              </a:defRPr>
            </a:lvl1pPr>
          </a:lstStyle>
          <a:p>
            <a:pPr algn="r"/>
            <a:r>
              <a:rPr b="0" lang="en-US" sz="1400" spc="-1" strike="noStrike">
                <a:latin typeface="바탕"/>
              </a:rPr>
              <a:t>&lt;date/time&gt;</a:t>
            </a:r>
            <a:endParaRPr b="0" lang="en-US" sz="1400" spc="-1" strike="noStrike">
              <a:latin typeface="바탕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바탕"/>
              </a:defRPr>
            </a:lvl1pPr>
          </a:lstStyle>
          <a:p>
            <a:r>
              <a:rPr b="0" lang="en-US" sz="1400" spc="-1" strike="noStrike">
                <a:latin typeface="바탕"/>
              </a:rPr>
              <a:t>&lt;footer&gt;</a:t>
            </a:r>
            <a:endParaRPr b="0" lang="en-US" sz="1400" spc="-1" strike="noStrike">
              <a:latin typeface="바탕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defRPr b="0" lang="en-US" sz="1400" spc="-1" strike="noStrike">
                <a:latin typeface="바탕"/>
              </a:defRPr>
            </a:lvl1pPr>
          </a:lstStyle>
          <a:p>
            <a:pPr algn="r"/>
            <a:fld id="{086E7D80-481B-41A9-85B1-DE548296C0B0}" type="slidenum">
              <a:rPr b="0" lang="en-US" sz="1400" spc="-1" strike="noStrike">
                <a:latin typeface="바탕"/>
              </a:rPr>
              <a:t>&lt;number&gt;</a:t>
            </a:fld>
            <a:endParaRPr b="0" lang="en-US" sz="1400" spc="-1" strike="noStrike"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727200" y="752400"/>
            <a:ext cx="5363640" cy="371268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909360" y="4720680"/>
            <a:ext cx="4992840" cy="4475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2880" rIns="9288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4"/>
          </p:nvPr>
        </p:nvSpPr>
        <p:spPr>
          <a:xfrm>
            <a:off x="3862440" y="9446040"/>
            <a:ext cx="294948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19080" rIns="19080" tIns="0" bIns="0" anchor="b">
            <a:noAutofit/>
          </a:bodyPr>
          <a:lstStyle>
            <a:lvl1pPr algn="r">
              <a:lnSpc>
                <a:spcPct val="100000"/>
              </a:lnSpc>
              <a:defRPr b="0" i="1" lang="en-US" sz="1000" spc="-1" strike="noStrike">
                <a:solidFill>
                  <a:srgbClr val="000000"/>
                </a:solidFill>
                <a:latin typeface="굴림"/>
                <a:ea typeface="가는각진제목체"/>
              </a:defRPr>
            </a:lvl1pPr>
          </a:lstStyle>
          <a:p>
            <a:pPr algn="r">
              <a:lnSpc>
                <a:spcPct val="100000"/>
              </a:lnSpc>
            </a:pPr>
            <a:fld id="{2756C3B7-3715-4410-96C9-5C70CDA88989}" type="slidenum">
              <a:rPr b="0" i="1" lang="en-US" sz="1000" spc="-1" strike="noStrike">
                <a:solidFill>
                  <a:srgbClr val="000000"/>
                </a:solidFill>
                <a:latin typeface="굴림"/>
                <a:ea typeface="가는각진제목체"/>
              </a:rPr>
              <a:t>&lt;number&gt;</a:t>
            </a:fld>
            <a:endParaRPr b="0" lang="en-US" sz="1000" spc="-1" strike="noStrike">
              <a:latin typeface="바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C Banner Title"/>
          <p:cNvSpPr/>
          <p:nvPr/>
        </p:nvSpPr>
        <p:spPr>
          <a:xfrm>
            <a:off x="272880" y="1413000"/>
            <a:ext cx="9359640" cy="360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Line 12"/>
          <p:cNvSpPr/>
          <p:nvPr/>
        </p:nvSpPr>
        <p:spPr>
          <a:xfrm>
            <a:off x="200880" y="714240"/>
            <a:ext cx="9504000" cy="360"/>
          </a:xfrm>
          <a:prstGeom prst="line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" name="AcnStamp_ID_10" hidden="1"/>
          <p:cNvSpPr/>
          <p:nvPr/>
        </p:nvSpPr>
        <p:spPr>
          <a:xfrm>
            <a:off x="8926200" y="1517760"/>
            <a:ext cx="1414080" cy="264600"/>
          </a:xfrm>
          <a:prstGeom prst="leftRightArrow">
            <a:avLst>
              <a:gd name="adj1" fmla="val 0"/>
              <a:gd name="adj2" fmla="val 0"/>
            </a:avLst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25560" bIns="25560" anchor="t">
            <a:spAutoFit/>
          </a:bodyPr>
          <a:p>
            <a:pPr marL="85680" indent="-85680"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Franklin Gothic Medium"/>
                <a:ea typeface="산돌고딕 M"/>
              </a:rPr>
              <a:t>MASTER STAMP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" name="AcnStpConnector_ID_11" hidden="1"/>
          <p:cNvSpPr/>
          <p:nvPr/>
        </p:nvSpPr>
        <p:spPr>
          <a:xfrm flipH="1" flipV="1" rot="5400000">
            <a:off x="9632880" y="1517040"/>
            <a:ext cx="108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AcnStpConnector_ID_12" hidden="1"/>
          <p:cNvSpPr/>
          <p:nvPr/>
        </p:nvSpPr>
        <p:spPr>
          <a:xfrm rot="5400000">
            <a:off x="9633600" y="1517760"/>
            <a:ext cx="108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Franklin Gothic Medium"/>
              </a:rPr>
              <a:t>Click to edit the title text format</a:t>
            </a:r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C Banner Title" hidden="1"/>
          <p:cNvSpPr/>
          <p:nvPr/>
        </p:nvSpPr>
        <p:spPr>
          <a:xfrm>
            <a:off x="272880" y="1413000"/>
            <a:ext cx="9359640" cy="360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Line 12"/>
          <p:cNvSpPr/>
          <p:nvPr/>
        </p:nvSpPr>
        <p:spPr>
          <a:xfrm>
            <a:off x="200880" y="714240"/>
            <a:ext cx="9504000" cy="360"/>
          </a:xfrm>
          <a:prstGeom prst="line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45" name="AcnStamp_ID_10" hidden="1"/>
          <p:cNvSpPr/>
          <p:nvPr/>
        </p:nvSpPr>
        <p:spPr>
          <a:xfrm>
            <a:off x="8926200" y="1517760"/>
            <a:ext cx="1414080" cy="264600"/>
          </a:xfrm>
          <a:prstGeom prst="leftRightArrow">
            <a:avLst>
              <a:gd name="adj1" fmla="val 0"/>
              <a:gd name="adj2" fmla="val 0"/>
            </a:avLst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25560" bIns="25560" anchor="t">
            <a:spAutoFit/>
          </a:bodyPr>
          <a:p>
            <a:pPr marL="85680" indent="-85680"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Franklin Gothic Medium"/>
                <a:ea typeface="산돌고딕 M"/>
              </a:rPr>
              <a:t>MASTER STAMP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" name="AcnStpConnector_ID_11" hidden="1"/>
          <p:cNvSpPr/>
          <p:nvPr/>
        </p:nvSpPr>
        <p:spPr>
          <a:xfrm flipH="1" flipV="1" rot="5400000">
            <a:off x="9632880" y="1517040"/>
            <a:ext cx="108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AcnStpConnector_ID_12" hidden="1"/>
          <p:cNvSpPr/>
          <p:nvPr/>
        </p:nvSpPr>
        <p:spPr>
          <a:xfrm rot="5400000">
            <a:off x="9633600" y="1517760"/>
            <a:ext cx="108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직사각형 1"/>
          <p:cNvSpPr/>
          <p:nvPr/>
        </p:nvSpPr>
        <p:spPr>
          <a:xfrm>
            <a:off x="0" y="6210000"/>
            <a:ext cx="9905760" cy="64764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Line 29"/>
          <p:cNvSpPr/>
          <p:nvPr/>
        </p:nvSpPr>
        <p:spPr>
          <a:xfrm flipH="1">
            <a:off x="2880" y="620640"/>
            <a:ext cx="9900000" cy="360"/>
          </a:xfrm>
          <a:prstGeom prst="line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50" name="Rectangle 66"/>
          <p:cNvSpPr/>
          <p:nvPr/>
        </p:nvSpPr>
        <p:spPr>
          <a:xfrm>
            <a:off x="0" y="5743440"/>
            <a:ext cx="724824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spcBef>
                <a:spcPts val="315"/>
              </a:spcBef>
              <a:tabLst>
                <a:tab algn="l" pos="5648400"/>
              </a:tabLst>
            </a:pPr>
            <a:r>
              <a:rPr b="0" lang="en-US" sz="900" spc="-1" strike="noStrike">
                <a:solidFill>
                  <a:srgbClr val="808080"/>
                </a:solidFill>
                <a:latin typeface="Arial"/>
              </a:rPr>
              <a:t>Copyright</a:t>
            </a:r>
            <a:r>
              <a:rPr b="0" lang="en-US" sz="900" spc="-1" strike="noStrike">
                <a:solidFill>
                  <a:srgbClr val="808080"/>
                </a:solidFill>
                <a:latin typeface="Arial"/>
              </a:rPr>
              <a:t>ⓒ 2018 (</a:t>
            </a:r>
            <a:r>
              <a:rPr b="0" lang="ko-KR" sz="900" spc="-1" strike="noStrike">
                <a:solidFill>
                  <a:srgbClr val="808080"/>
                </a:solidFill>
                <a:latin typeface="Arial"/>
              </a:rPr>
              <a:t>주</a:t>
            </a:r>
            <a:r>
              <a:rPr b="0" lang="en-US" sz="900" spc="-1" strike="noStrike">
                <a:solidFill>
                  <a:srgbClr val="808080"/>
                </a:solidFill>
                <a:latin typeface="Arial"/>
              </a:rPr>
              <a:t>)</a:t>
            </a:r>
            <a:r>
              <a:rPr b="0" lang="ko-KR" sz="900" spc="-1" strike="noStrike">
                <a:solidFill>
                  <a:srgbClr val="808080"/>
                </a:solidFill>
                <a:latin typeface="Arial"/>
              </a:rPr>
              <a:t>브이티더블유</a:t>
            </a:r>
            <a:r>
              <a:rPr b="0" lang="en-US" sz="900" spc="-1" strike="noStrike">
                <a:solidFill>
                  <a:srgbClr val="808080"/>
                </a:solidFill>
                <a:latin typeface="Arial"/>
              </a:rPr>
              <a:t>, </a:t>
            </a:r>
            <a:r>
              <a:rPr b="0" lang="ko-KR" sz="900" spc="-1" strike="noStrike">
                <a:solidFill>
                  <a:srgbClr val="808080"/>
                </a:solidFill>
                <a:latin typeface="Arial"/>
              </a:rPr>
              <a:t>국민체육진흥공단 </a:t>
            </a:r>
            <a:r>
              <a:rPr b="0" lang="en-US" sz="900" spc="-1" strike="noStrike">
                <a:solidFill>
                  <a:srgbClr val="808080"/>
                </a:solidFill>
                <a:latin typeface="Arial"/>
              </a:rPr>
              <a:t>All rights reserved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1" name="TextBox 15"/>
          <p:cNvSpPr/>
          <p:nvPr/>
        </p:nvSpPr>
        <p:spPr>
          <a:xfrm>
            <a:off x="4340880" y="116640"/>
            <a:ext cx="543636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5000"/>
              </a:lnSpc>
              <a:spcBef>
                <a:spcPts val="629"/>
              </a:spcBef>
            </a:pPr>
            <a:r>
              <a:rPr b="1" lang="ko-KR" sz="1800" spc="-1" strike="noStrike">
                <a:solidFill>
                  <a:srgbClr val="808080"/>
                </a:solidFill>
                <a:latin typeface="Arial"/>
                <a:ea typeface="산돌고딕 M"/>
              </a:rPr>
              <a:t>차세대 경영정보시스템 구축 </a:t>
            </a:r>
            <a:r>
              <a:rPr b="1" lang="en-US" sz="1800" spc="-1" strike="noStrike">
                <a:solidFill>
                  <a:srgbClr val="808080"/>
                </a:solidFill>
                <a:latin typeface="Arial"/>
                <a:ea typeface="산돌고딕 M"/>
              </a:rPr>
              <a:t>BPR/ISMP </a:t>
            </a:r>
            <a:r>
              <a:rPr b="1" lang="ko-KR" sz="1800" spc="-1" strike="noStrike">
                <a:solidFill>
                  <a:srgbClr val="808080"/>
                </a:solidFill>
                <a:latin typeface="Arial"/>
                <a:ea typeface="산돌고딕 M"/>
              </a:rPr>
              <a:t>수립컨설팅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2" name="Picture 11" descr="C:\Users\yslee\Desktop\VTW LOGO\VTW LOGO Img file\vtw-logo4.gif"/>
          <p:cNvPicPr/>
          <p:nvPr/>
        </p:nvPicPr>
        <p:blipFill>
          <a:blip r:embed="rId2"/>
          <a:stretch/>
        </p:blipFill>
        <p:spPr>
          <a:xfrm>
            <a:off x="7473240" y="6390000"/>
            <a:ext cx="1855800" cy="287640"/>
          </a:xfrm>
          <a:prstGeom prst="rect">
            <a:avLst/>
          </a:prstGeom>
          <a:ln w="0">
            <a:noFill/>
          </a:ln>
        </p:spPr>
      </p:pic>
      <p:pic>
        <p:nvPicPr>
          <p:cNvPr id="53" name="그림 2" descr=""/>
          <p:cNvPicPr/>
          <p:nvPr/>
        </p:nvPicPr>
        <p:blipFill>
          <a:blip r:embed="rId3"/>
          <a:stretch/>
        </p:blipFill>
        <p:spPr>
          <a:xfrm>
            <a:off x="0" y="6211800"/>
            <a:ext cx="6869160" cy="645840"/>
          </a:xfrm>
          <a:prstGeom prst="rect">
            <a:avLst/>
          </a:prstGeom>
          <a:ln w="0">
            <a:noFill/>
          </a:ln>
        </p:spPr>
      </p:pic>
      <p:pic>
        <p:nvPicPr>
          <p:cNvPr id="54" name="그림 8" descr=""/>
          <p:cNvPicPr/>
          <p:nvPr/>
        </p:nvPicPr>
        <p:blipFill>
          <a:blip r:embed="rId4"/>
          <a:stretch/>
        </p:blipFill>
        <p:spPr>
          <a:xfrm>
            <a:off x="151920" y="93240"/>
            <a:ext cx="3146040" cy="39564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Franklin Gothic Medium"/>
              </a:rPr>
              <a:t>Click to edit the title text format</a:t>
            </a:r>
            <a:endParaRPr b="0" lang="en-US" sz="1200" spc="-1" strike="noStrike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맑은 고딕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굴림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굴림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한쪽 모서리가 둥근 사각형 38"/>
          <p:cNvSpPr/>
          <p:nvPr/>
        </p:nvSpPr>
        <p:spPr>
          <a:xfrm flipH="1">
            <a:off x="-5040" y="1116720"/>
            <a:ext cx="9910800" cy="5740920"/>
          </a:xfrm>
          <a:prstGeom prst="round1Rect">
            <a:avLst>
              <a:gd name="adj" fmla="val 0"/>
            </a:avLst>
          </a:prstGeom>
          <a:solidFill>
            <a:srgbClr val="e1e4eb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0" name="그림 9" descr=""/>
          <p:cNvPicPr/>
          <p:nvPr/>
        </p:nvPicPr>
        <p:blipFill>
          <a:blip r:embed="rId1"/>
          <a:stretch/>
        </p:blipFill>
        <p:spPr>
          <a:xfrm>
            <a:off x="8085240" y="6309360"/>
            <a:ext cx="1363680" cy="287640"/>
          </a:xfrm>
          <a:prstGeom prst="rect">
            <a:avLst/>
          </a:prstGeom>
          <a:ln w="0">
            <a:noFill/>
          </a:ln>
        </p:spPr>
      </p:pic>
      <p:pic>
        <p:nvPicPr>
          <p:cNvPr id="101" name="Picture 2" descr=""/>
          <p:cNvPicPr/>
          <p:nvPr/>
        </p:nvPicPr>
        <p:blipFill>
          <a:blip r:embed="rId2"/>
          <a:stretch/>
        </p:blipFill>
        <p:spPr>
          <a:xfrm>
            <a:off x="452520" y="2025000"/>
            <a:ext cx="6228360" cy="3978000"/>
          </a:xfrm>
          <a:prstGeom prst="rect">
            <a:avLst/>
          </a:prstGeom>
          <a:ln w="9525">
            <a:noFill/>
          </a:ln>
        </p:spPr>
      </p:pic>
      <p:pic>
        <p:nvPicPr>
          <p:cNvPr id="102" name="Picture 2" descr="C:\Users\bokeum\Desktop\CI(JPEG용)\CI_국문조합_좌우.jpg"/>
          <p:cNvPicPr/>
          <p:nvPr/>
        </p:nvPicPr>
        <p:blipFill>
          <a:blip r:embed="rId3"/>
          <a:stretch/>
        </p:blipFill>
        <p:spPr>
          <a:xfrm>
            <a:off x="452520" y="6224760"/>
            <a:ext cx="2860200" cy="359640"/>
          </a:xfrm>
          <a:prstGeom prst="rect">
            <a:avLst/>
          </a:prstGeom>
          <a:ln w="0">
            <a:noFill/>
          </a:ln>
        </p:spPr>
      </p:pic>
      <p:sp>
        <p:nvSpPr>
          <p:cNvPr id="103" name="직사각형 28"/>
          <p:cNvSpPr/>
          <p:nvPr/>
        </p:nvSpPr>
        <p:spPr>
          <a:xfrm>
            <a:off x="0" y="0"/>
            <a:ext cx="9918360" cy="1585800"/>
          </a:xfrm>
          <a:prstGeom prst="rect">
            <a:avLst/>
          </a:prstGeom>
          <a:solidFill>
            <a:srgbClr val="1937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Box 26"/>
          <p:cNvSpPr/>
          <p:nvPr/>
        </p:nvSpPr>
        <p:spPr>
          <a:xfrm>
            <a:off x="8408520" y="2997000"/>
            <a:ext cx="10360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10000"/>
              </a:lnSpc>
            </a:pPr>
            <a:r>
              <a:rPr b="0" lang="en-US" sz="1800" spc="-1" strike="noStrike">
                <a:solidFill>
                  <a:srgbClr val="4d4d4d"/>
                </a:solidFill>
                <a:latin typeface="나눔고딕 ExtraBold"/>
                <a:ea typeface="나눔고딕 ExtraBold"/>
              </a:rPr>
              <a:t>2018.12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5" name="TextBox 29"/>
          <p:cNvSpPr/>
          <p:nvPr/>
        </p:nvSpPr>
        <p:spPr>
          <a:xfrm>
            <a:off x="56520" y="8640"/>
            <a:ext cx="941580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  <a:scene3d>
              <a:camera prst="orthographicFront"/>
              <a:lightRig dir="t" rig="threePt"/>
            </a:scene3d>
            <a:sp3d>
              <a:bevelT prst="angle" w="0" h="12700"/>
            </a:sp3d>
          </a:bodyPr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458b"/>
                </a:solidFill>
                <a:latin typeface="나눔고딕 ExtraBold"/>
                <a:ea typeface="나눔고딕 ExtraBold"/>
              </a:rPr>
              <a:t> </a:t>
            </a:r>
            <a:r>
              <a:rPr b="0" lang="ko-KR" sz="3200" spc="-1" strike="noStrike">
                <a:solidFill>
                  <a:srgbClr val="ffffff"/>
                </a:solidFill>
                <a:latin typeface="나눔고딕 ExtraBold"/>
                <a:ea typeface="나눔고딕 ExtraBold"/>
              </a:rPr>
              <a:t>차세대 경영정보시스템 구축 </a:t>
            </a:r>
            <a:r>
              <a:rPr b="0" lang="en-US" sz="3200" spc="-1" strike="noStrike">
                <a:solidFill>
                  <a:srgbClr val="ffffff"/>
                </a:solidFill>
                <a:latin typeface="나눔고딕 ExtraBold"/>
                <a:ea typeface="나눔고딕 ExtraBold"/>
              </a:rPr>
              <a:t>BPR/ISMP </a:t>
            </a:r>
            <a:r>
              <a:rPr b="0" lang="ko-KR" sz="3200" spc="-1" strike="noStrike">
                <a:solidFill>
                  <a:srgbClr val="ffffff"/>
                </a:solidFill>
                <a:latin typeface="나눔고딕 ExtraBold"/>
                <a:ea typeface="나눔고딕 ExtraBold"/>
              </a:rPr>
              <a:t>수립컨설팅</a:t>
            </a:r>
            <a:endParaRPr b="0" lang="en-US" sz="3200" spc="-1" strike="noStrike">
              <a:latin typeface="Aria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ko-KR" sz="3200" spc="-1" strike="noStrike">
                <a:solidFill>
                  <a:srgbClr val="193779"/>
                </a:solidFill>
                <a:latin typeface="나눔고딕 ExtraBold"/>
                <a:ea typeface="나눔고딕 ExtraBold"/>
              </a:rPr>
              <a:t>최종보고서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표 25"/>
          <p:cNvGraphicFramePr/>
          <p:nvPr/>
        </p:nvGraphicFramePr>
        <p:xfrm>
          <a:off x="272520" y="748080"/>
          <a:ext cx="4500000" cy="2985840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23976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Ⅰ</a:t>
                      </a: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. </a:t>
                      </a:r>
                      <a:r>
                        <a:rPr b="1" lang="ko-KR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사업 개요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사업의 소개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I – 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추진추진 배경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I – 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사업추진 범위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I – 5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사업추진 절차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I – 6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사업추진 일정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I – 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사업추진 조직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I – 8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76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</a:t>
                      </a: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. </a:t>
                      </a:r>
                      <a:r>
                        <a:rPr b="1" lang="ko-KR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방향성 수립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buClr>
                          <a:srgbClr val="404040"/>
                        </a:buClr>
                        <a:buSzPct val="90000"/>
                        <a:buFont typeface="Arial"/>
                        <a:buAutoNum type="arabicPeriod"/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개요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방향성 수립 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환경 분석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수행절차 및 방안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외부환경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내부환경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최신 정보기술 동향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2.5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환경분석 결과 종합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79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선진사례 분석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90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수행절차 및 방안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91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타 기관 선진사례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92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외부 전문가 자문결과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129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선진사례 분석 결과 종합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136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" name="표 26"/>
          <p:cNvGraphicFramePr/>
          <p:nvPr/>
        </p:nvGraphicFramePr>
        <p:xfrm>
          <a:off x="5132880" y="748080"/>
          <a:ext cx="4500000" cy="2985840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선행사업 분석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152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수행절차 및 방안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153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4.2 ’17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년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KSPO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중장기 발전전략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154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4.3 ’17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년 정보화 전략계획 수립 컨설팅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166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본 사업 반영방안 마련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172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방향성 정의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180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수행절차 및 방안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181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분석결과 종합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182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추진전략 도출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204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추진범위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Ⅱ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217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976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</a:t>
                      </a: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. </a:t>
                      </a:r>
                      <a:r>
                        <a:rPr b="1" lang="ko-KR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현황 및 요건분석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개요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현황 및 요건 분석 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업무 현황 분석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수행절차 및 방안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조직 현황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규정 및 지침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업무기능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48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2.5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업무절차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92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2.6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주요 업무 현황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337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2.7 key Findings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종합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365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표 25"/>
          <p:cNvGraphicFramePr/>
          <p:nvPr/>
        </p:nvGraphicFramePr>
        <p:xfrm>
          <a:off x="272520" y="748080"/>
          <a:ext cx="4500000" cy="2985840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258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</a:t>
                      </a: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. </a:t>
                      </a:r>
                      <a:r>
                        <a:rPr b="1" lang="ko-KR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현황 및 요건분석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정보시스템 현황 분석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393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수행절차 및 방안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394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응용 아키텍처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395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데이터 아키텍처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466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인프라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/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보안 아키텍처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527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3.5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정보기술 요건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554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3.6 Key Findings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종합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593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요구사항 분석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611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수행절차 및 방안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612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요구사항 도출 인터뷰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613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4.3 Key Findings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종합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656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현황 및 요건분석 종합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677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현황 및 요건 검토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678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현황 및 요건분석 요약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679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개선방향 도출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Ⅲ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691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8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IV. </a:t>
                      </a:r>
                      <a:r>
                        <a:rPr b="1" lang="ko-KR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목표모델 설계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목표모델 수립 개요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목표모델 수립 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목표모델 개선과제 정의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개선과제 체계도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표 26"/>
          <p:cNvGraphicFramePr/>
          <p:nvPr/>
        </p:nvGraphicFramePr>
        <p:xfrm>
          <a:off x="5132880" y="748080"/>
          <a:ext cx="4500000" cy="2985840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업무 기준정보체계 마련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18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예산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/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회계 구조개선 및 관리강화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2.5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계약 및 자산관리 업무 효율화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144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2.6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소통을 통한 기금지원 업무강화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157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2.7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일용직 통합 및 변화대응 인적자원관리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180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2.8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경영정보 포털 구축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225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2.9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경영정보 통합시스템 구축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259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2.10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의사결정지원 통계시스템 구축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282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2.11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모바일서비스 지원기반 마련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304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2.12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데이터관리체계 지원 시스템 구축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345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2.13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연계통합관리체계 마련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521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2.14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공통기반 통합플랫폼 구축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552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목표 업무프로세스 설계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833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834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통합재무 업무프로세스 개선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836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인적자원관리 업무프로세스 개선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940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기금지원관리 업무프로세스 개선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1067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3.5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경영정보기반 프로세스 거버넌스 정립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1108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정보시스템 아키텍처 정의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1115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1116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통합재무정보시스템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1117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인적자원관리시스템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1554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4.4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기금지원관리시스템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1856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표 25"/>
          <p:cNvGraphicFramePr/>
          <p:nvPr/>
        </p:nvGraphicFramePr>
        <p:xfrm>
          <a:off x="272520" y="748080"/>
          <a:ext cx="4500000" cy="2998800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258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IV. </a:t>
                      </a:r>
                      <a:r>
                        <a:rPr b="1" lang="ko-KR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목표모델 설계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정보시스템 아키텍처 정의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44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4.5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경영정보 포털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1999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4.6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경영정보통합시스템 인프라 개선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Ⅳ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2033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8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</a:t>
                      </a:r>
                      <a:r>
                        <a:rPr b="1" lang="en-US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. </a:t>
                      </a:r>
                      <a:r>
                        <a:rPr b="1" lang="ko-KR" sz="11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이행계획 수립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411120" indent="-228600">
                        <a:lnSpc>
                          <a:spcPct val="100000"/>
                        </a:lnSpc>
                        <a:spcBef>
                          <a:spcPts val="300"/>
                        </a:spcBef>
                        <a:buClr>
                          <a:srgbClr val="404040"/>
                        </a:buClr>
                        <a:buSzPct val="90000"/>
                        <a:buFont typeface="Arial"/>
                        <a:buAutoNum type="arabicPeriod"/>
                      </a:pP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개요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이행계획 수립 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추진 계획 수립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이행과제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과제별 이행 추진단계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추진 로드맵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비용 계획 수립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19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비용계획 수립 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비용계획 종합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3.2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과제별 소요비용 산정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 </a:t>
                      </a:r>
                      <a:r>
                        <a:rPr b="1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기대효과 분석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기대효과 분석 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정성적 기대효과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52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4.3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정량적 기대효과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54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 </a:t>
                      </a:r>
                      <a:r>
                        <a:rPr b="1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요건기술서 정의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58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요건기술서 정의 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59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요구사항 분류체계 및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ID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부여 규칙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" name="표 5"/>
          <p:cNvGraphicFramePr/>
          <p:nvPr/>
        </p:nvGraphicFramePr>
        <p:xfrm>
          <a:off x="5132880" y="748080"/>
          <a:ext cx="4500000" cy="2985840"/>
        </p:xfrm>
        <a:graphic>
          <a:graphicData uri="http://schemas.openxmlformats.org/drawingml/2006/table">
            <a:tbl>
              <a:tblPr/>
              <a:tblGrid>
                <a:gridCol w="3706200"/>
                <a:gridCol w="794160"/>
              </a:tblGrid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5.3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요건기술서 작성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28080">
                      <a:solidFill>
                        <a:srgbClr val="508cd2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6. </a:t>
                      </a:r>
                      <a:r>
                        <a:rPr b="1" lang="ko-KR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변화관리 방안 수립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200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6.1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변화관리 개요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201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0120">
                <a:tc>
                  <a:txBody>
                    <a:bodyPr lIns="36000" rIns="36000" tIns="36000" bIns="36000" anchor="ctr">
                      <a:noAutofit/>
                    </a:bodyPr>
                    <a:p>
                      <a:pPr marL="18252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  </a:t>
                      </a: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6.2 </a:t>
                      </a:r>
                      <a:r>
                        <a:rPr b="0" lang="ko-KR" sz="9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변화관리 수립 방안</a:t>
                      </a:r>
                      <a:endParaRPr b="0" lang="en-US" sz="900" spc="-1" strike="noStrike">
                        <a:latin typeface="Arial"/>
                      </a:endParaRPr>
                    </a:p>
                  </a:txBody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8000" rIns="36000" tIns="36000" bIns="36000" anchor="ctr">
                      <a:noAutofit/>
                    </a:bodyPr>
                    <a:p>
                      <a:pPr marL="85680" indent="-856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Ⅴ – </a:t>
                      </a:r>
                      <a:r>
                        <a:rPr b="0" lang="en-US" sz="1000" spc="-1" strike="noStrike">
                          <a:solidFill>
                            <a:srgbClr val="404040"/>
                          </a:solidFill>
                          <a:latin typeface="맑은 고딕"/>
                        </a:rPr>
                        <a:t>208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18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648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9240">
                <a:tc>
                  <a:tcPr anchor="ctr" marL="36000" marR="36000">
                    <a:lnL w="6480">
                      <a:noFill/>
                    </a:lnL>
                    <a:lnR w="6480">
                      <a:solidFill>
                        <a:srgbClr val="808080"/>
                      </a:solidFill>
                    </a:lnR>
                    <a:lnT w="6480">
                      <a:solidFill>
                        <a:srgbClr val="808080"/>
                      </a:solidFill>
                    </a:lnT>
                    <a:lnB w="28080">
                      <a:solidFill>
                        <a:srgbClr val="508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108000" marR="36000">
                    <a:lnL w="6480">
                      <a:solidFill>
                        <a:srgbClr val="808080"/>
                      </a:solidFill>
                    </a:lnL>
                    <a:lnR w="6480">
                      <a:noFill/>
                    </a:lnR>
                    <a:lnT w="6480">
                      <a:solidFill>
                        <a:srgbClr val="808080"/>
                      </a:solidFill>
                    </a:lnT>
                    <a:lnB w="28080">
                      <a:solidFill>
                        <a:srgbClr val="508c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42743</TotalTime>
  <Application>1_File_Viewer/7.3.0.0.alpha0$Windows_X86_64 LibreOffice_project/e65f6e87b1eb97a4a639c37fbe49997d18fd994a</Application>
  <AppVersion>15.0000</AppVersion>
  <Words>875</Words>
  <Paragraphs>222</Paragraphs>
  <Company>VTW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2002-03-21T10:45:59Z</dcterms:created>
  <dc:creator>VTW</dc:creator>
  <dc:description/>
  <dc:language>ko-KR</dc:language>
  <cp:lastModifiedBy/>
  <cp:lastPrinted>2013-07-11T09:37:39Z</cp:lastPrinted>
  <dcterms:modified xsi:type="dcterms:W3CDTF">2022-08-17T13:27:39Z</dcterms:modified>
  <cp:revision>1158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A4 용지(210x297mm)</vt:lpwstr>
  </property>
  <property fmtid="{D5CDD505-2E9C-101B-9397-08002B2CF9AE}" pid="4" name="Slides">
    <vt:i4>4</vt:i4>
  </property>
</Properties>
</file>