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4"/>
  </p:notesMasterIdLst>
  <p:sldIdLst>
    <p:sldId id="256" r:id="rId2"/>
    <p:sldId id="259" r:id="rId3"/>
    <p:sldId id="282" r:id="rId4"/>
    <p:sldId id="260" r:id="rId5"/>
    <p:sldId id="261" r:id="rId6"/>
    <p:sldId id="262" r:id="rId7"/>
    <p:sldId id="263" r:id="rId8"/>
    <p:sldId id="281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2" r:id="rId34"/>
    <p:sldId id="293" r:id="rId35"/>
    <p:sldId id="294" r:id="rId36"/>
    <p:sldId id="295" r:id="rId37"/>
    <p:sldId id="296" r:id="rId38"/>
    <p:sldId id="297" r:id="rId39"/>
    <p:sldId id="298" r:id="rId40"/>
    <p:sldId id="299" r:id="rId41"/>
    <p:sldId id="300" r:id="rId42"/>
    <p:sldId id="301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4" r:id="rId56"/>
    <p:sldId id="315" r:id="rId57"/>
    <p:sldId id="316" r:id="rId58"/>
    <p:sldId id="317" r:id="rId59"/>
    <p:sldId id="318" r:id="rId60"/>
    <p:sldId id="319" r:id="rId61"/>
    <p:sldId id="320" r:id="rId62"/>
    <p:sldId id="321" r:id="rId63"/>
    <p:sldId id="322" r:id="rId64"/>
    <p:sldId id="323" r:id="rId65"/>
    <p:sldId id="324" r:id="rId66"/>
    <p:sldId id="325" r:id="rId67"/>
    <p:sldId id="326" r:id="rId68"/>
    <p:sldId id="327" r:id="rId69"/>
    <p:sldId id="328" r:id="rId70"/>
    <p:sldId id="329" r:id="rId71"/>
    <p:sldId id="330" r:id="rId72"/>
    <p:sldId id="331" r:id="rId73"/>
    <p:sldId id="332" r:id="rId74"/>
    <p:sldId id="333" r:id="rId75"/>
    <p:sldId id="334" r:id="rId76"/>
    <p:sldId id="335" r:id="rId77"/>
    <p:sldId id="337" r:id="rId78"/>
    <p:sldId id="336" r:id="rId79"/>
    <p:sldId id="338" r:id="rId80"/>
    <p:sldId id="339" r:id="rId81"/>
    <p:sldId id="341" r:id="rId82"/>
    <p:sldId id="342" r:id="rId83"/>
  </p:sldIdLst>
  <p:sldSz cx="9906000" cy="6858000" type="A4"/>
  <p:notesSz cx="6811963" cy="99425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orient="horz" pos="3974" userDrawn="1">
          <p15:clr>
            <a:srgbClr val="A4A3A4"/>
          </p15:clr>
        </p15:guide>
        <p15:guide id="4" orient="horz" pos="618" userDrawn="1">
          <p15:clr>
            <a:srgbClr val="A4A3A4"/>
          </p15:clr>
        </p15:guide>
        <p15:guide id="5" orient="horz" pos="84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48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858" y="108"/>
      </p:cViewPr>
      <p:guideLst>
        <p:guide orient="horz" pos="2160"/>
        <p:guide pos="3120"/>
        <p:guide orient="horz" pos="3974"/>
        <p:guide orient="horz" pos="618"/>
        <p:guide orient="horz" pos="84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notesMaster" Target="notesMasters/notesMaster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1111111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2222112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33333113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BEDCFF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508CD2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0-6FC3-408A-95F0-AD696EA9E57E}"/>
              </c:ext>
            </c:extLst>
          </c:dPt>
          <c:dPt>
            <c:idx val="4"/>
            <c:invertIfNegative val="0"/>
            <c:bubble3D val="0"/>
            <c:spPr>
              <a:solidFill>
                <a:srgbClr val="508CD2"/>
              </a:solidFill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6FC3-408A-95F0-AD696EA9E57E}"/>
              </c:ext>
            </c:extLst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050" b="1"/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050" b="1"/>
                  </a:pPr>
                  <a:endParaRPr lang="ko-K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공통</c:v>
                </c:pt>
                <c:pt idx="1">
                  <c:v>에산관리</c:v>
                </c:pt>
                <c:pt idx="2">
                  <c:v>회계관리</c:v>
                </c:pt>
                <c:pt idx="3">
                  <c:v>자산관리</c:v>
                </c:pt>
                <c:pt idx="4">
                  <c:v>사업관리</c:v>
                </c:pt>
                <c:pt idx="5">
                  <c:v>구매관리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31</c:v>
                </c:pt>
                <c:pt idx="1">
                  <c:v>11</c:v>
                </c:pt>
                <c:pt idx="2">
                  <c:v>16</c:v>
                </c:pt>
                <c:pt idx="3">
                  <c:v>8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2-6FC3-408A-95F0-AD696EA9E5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9237424"/>
        <c:axId val="109242864"/>
      </c:barChart>
      <c:catAx>
        <c:axId val="10923742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 b="0"/>
            </a:pPr>
            <a:endParaRPr lang="ko-KR"/>
          </a:p>
        </c:txPr>
        <c:crossAx val="109242864"/>
        <c:crosses val="autoZero"/>
        <c:auto val="1"/>
        <c:lblAlgn val="ctr"/>
        <c:lblOffset val="100"/>
        <c:noMultiLvlLbl val="0"/>
      </c:catAx>
      <c:valAx>
        <c:axId val="1092428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  <a:endParaRPr lang="ko-KR"/>
          </a:p>
        </c:txPr>
        <c:crossAx val="10923742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417239215135952"/>
          <c:y val="4.3009949612502242E-2"/>
          <c:w val="0.50647247771689996"/>
          <c:h val="0.95699005038750096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열1</c:v>
                </c:pt>
              </c:strCache>
            </c:strRef>
          </c:tx>
          <c:dPt>
            <c:idx val="0"/>
            <c:bubble3D val="0"/>
            <c:explosion val="9"/>
            <c:spPr>
              <a:solidFill>
                <a:schemeClr val="accent3">
                  <a:shade val="53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0-894C-48A4-B6C2-C19580FF6775}"/>
              </c:ext>
            </c:extLst>
          </c:dPt>
          <c:dPt>
            <c:idx val="1"/>
            <c:bubble3D val="0"/>
            <c:spPr>
              <a:solidFill>
                <a:schemeClr val="accent3">
                  <a:shade val="76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1-894C-48A4-B6C2-C19580FF677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2-894C-48A4-B6C2-C19580FF6775}"/>
              </c:ext>
            </c:extLst>
          </c:dPt>
          <c:dPt>
            <c:idx val="3"/>
            <c:bubble3D val="0"/>
            <c:spPr>
              <a:solidFill>
                <a:schemeClr val="accent3">
                  <a:tint val="77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7-CA67-4530-BDB4-FF905B611B8F}"/>
              </c:ext>
            </c:extLst>
          </c:dPt>
          <c:dPt>
            <c:idx val="4"/>
            <c:bubble3D val="0"/>
            <c:spPr>
              <a:solidFill>
                <a:schemeClr val="accent3">
                  <a:tint val="54000"/>
                </a:schemeClr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 xmlns:c16r2="http://schemas.microsoft.com/office/drawing/2015/06/chart">
              <c:ext xmlns:c16="http://schemas.microsoft.com/office/drawing/2014/chart" uri="{C3380CC4-5D6E-409C-BE32-E72D297353CC}">
                <c16:uniqueId val="{00000009-CA67-4530-BDB4-FF905B611B8F}"/>
              </c:ext>
            </c:extLst>
          </c:dPt>
          <c:dLbls>
            <c:spPr>
              <a:pattFill prst="pct75">
                <a:fgClr>
                  <a:schemeClr val="dk1">
                    <a:lumMod val="75000"/>
                    <a:lumOff val="25000"/>
                  </a:schemeClr>
                </a:fgClr>
                <a:bgClr>
                  <a:schemeClr val="dk1">
                    <a:lumMod val="65000"/>
                    <a:lumOff val="35000"/>
                  </a:scheme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 xmlns:c16r2="http://schemas.microsoft.com/office/drawing/2015/06/chart">
              <c:ext xmlns:c15="http://schemas.microsoft.com/office/drawing/2012/chart" uri="{CE6537A1-D6FC-4f65-9D91-7224C49458BB}">
                <c15:layout/>
              </c:ext>
            </c:extLst>
          </c:dLbls>
          <c:cat>
            <c:strRef>
              <c:f>Sheet1!$A$2:$A$6</c:f>
              <c:strCache>
                <c:ptCount val="5"/>
                <c:pt idx="0">
                  <c:v>기능성/자동화</c:v>
                </c:pt>
                <c:pt idx="1">
                  <c:v>효율성/사용자중심</c:v>
                </c:pt>
                <c:pt idx="2">
                  <c:v>통합성/체계화</c:v>
                </c:pt>
                <c:pt idx="3">
                  <c:v>인프라/정합성</c:v>
                </c:pt>
                <c:pt idx="4">
                  <c:v>유연/보안/연계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41</c:v>
                </c:pt>
                <c:pt idx="1">
                  <c:v>13</c:v>
                </c:pt>
                <c:pt idx="2">
                  <c:v>15</c:v>
                </c:pt>
                <c:pt idx="3">
                  <c:v>9</c:v>
                </c:pt>
                <c:pt idx="4">
                  <c:v>6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3-894C-48A4-B6C2-C19580FF6775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62072645951035776"/>
          <c:y val="0.10800169963128967"/>
          <c:w val="0.36133568738229754"/>
          <c:h val="0.78399605246926274"/>
        </c:manualLayout>
      </c:layout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zero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계열 1</c:v>
                </c:pt>
              </c:strCache>
            </c:strRef>
          </c:tx>
          <c:spPr>
            <a:solidFill>
              <a:srgbClr val="508CD2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/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6r2="http://schemas.microsoft.com/office/drawing/2015/06/chart"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인프라구조</c:v>
                </c:pt>
                <c:pt idx="1">
                  <c:v>통합성</c:v>
                </c:pt>
                <c:pt idx="2">
                  <c:v>유연성</c:v>
                </c:pt>
                <c:pt idx="3">
                  <c:v>사용자중심</c:v>
                </c:pt>
                <c:pt idx="4">
                  <c:v>효율화</c:v>
                </c:pt>
                <c:pt idx="5">
                  <c:v>보안성</c:v>
                </c:pt>
                <c:pt idx="6">
                  <c:v>연계성</c:v>
                </c:pt>
                <c:pt idx="7">
                  <c:v>정합성</c:v>
                </c:pt>
                <c:pt idx="8">
                  <c:v>자동화</c:v>
                </c:pt>
                <c:pt idx="9">
                  <c:v>체계화</c:v>
                </c:pt>
                <c:pt idx="10">
                  <c:v>기능성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</c:v>
                </c:pt>
                <c:pt idx="1">
                  <c:v>7</c:v>
                </c:pt>
                <c:pt idx="2">
                  <c:v>4</c:v>
                </c:pt>
                <c:pt idx="3">
                  <c:v>8</c:v>
                </c:pt>
                <c:pt idx="4">
                  <c:v>5</c:v>
                </c:pt>
                <c:pt idx="5">
                  <c:v>1</c:v>
                </c:pt>
                <c:pt idx="6">
                  <c:v>1</c:v>
                </c:pt>
                <c:pt idx="7">
                  <c:v>4</c:v>
                </c:pt>
                <c:pt idx="8">
                  <c:v>1</c:v>
                </c:pt>
                <c:pt idx="9">
                  <c:v>8</c:v>
                </c:pt>
                <c:pt idx="10">
                  <c:v>40</c:v>
                </c:pt>
              </c:numCache>
            </c:numRef>
          </c:val>
          <c:extLst xmlns:c16r2="http://schemas.microsoft.com/office/drawing/2015/06/chart">
            <c:ext xmlns:c16="http://schemas.microsoft.com/office/drawing/2014/chart" uri="{C3380CC4-5D6E-409C-BE32-E72D297353CC}">
              <c16:uniqueId val="{00000000-08F0-49D4-B739-434CD22CC0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106476224"/>
        <c:axId val="2106478400"/>
      </c:barChart>
      <c:catAx>
        <c:axId val="2106476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ko-KR"/>
          </a:p>
        </c:txPr>
        <c:crossAx val="2106478400"/>
        <c:crosses val="autoZero"/>
        <c:auto val="1"/>
        <c:lblAlgn val="ctr"/>
        <c:lblOffset val="100"/>
        <c:noMultiLvlLbl val="0"/>
      </c:catAx>
      <c:valAx>
        <c:axId val="210647840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one"/>
        <c:crossAx val="210647622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ko-KR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style1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33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22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Franklin Gothic Medium"/>
              </a:rPr>
              <a:t>Click to move the slide</a:t>
            </a:r>
          </a:p>
        </p:txBody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95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바탕"/>
              </a:rPr>
              <a:t>&lt;header&gt;</a:t>
            </a:r>
          </a:p>
        </p:txBody>
      </p:sp>
      <p:sp>
        <p:nvSpPr>
          <p:cNvPr id="96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algn="r">
              <a:defRPr lang="en-US" sz="1400" b="0" strike="noStrike" spc="-1">
                <a:latin typeface="바탕"/>
              </a:defRPr>
            </a:lvl1pPr>
          </a:lstStyle>
          <a:p>
            <a:pPr algn="r"/>
            <a:r>
              <a:rPr lang="en-US" sz="1400" b="0" strike="noStrike" spc="-1">
                <a:latin typeface="바탕"/>
              </a:rPr>
              <a:t>&lt;date/time&gt;</a:t>
            </a:r>
          </a:p>
        </p:txBody>
      </p:sp>
      <p:sp>
        <p:nvSpPr>
          <p:cNvPr id="97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>
              <a:defRPr lang="en-US" sz="1400" b="0" strike="noStrike" spc="-1">
                <a:latin typeface="바탕"/>
              </a:defRPr>
            </a:lvl1pPr>
          </a:lstStyle>
          <a:p>
            <a:r>
              <a:rPr lang="en-US" sz="1400" b="0" strike="noStrike" spc="-1">
                <a:latin typeface="바탕"/>
              </a:rPr>
              <a:t>&lt;footer&gt;</a:t>
            </a:r>
          </a:p>
        </p:txBody>
      </p:sp>
      <p:sp>
        <p:nvSpPr>
          <p:cNvPr id="98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algn="r">
              <a:defRPr lang="en-US" sz="1400" b="0" strike="noStrike" spc="-1">
                <a:latin typeface="바탕"/>
              </a:defRPr>
            </a:lvl1pPr>
          </a:lstStyle>
          <a:p>
            <a:pPr algn="r"/>
            <a:fld id="{086E7D80-481B-41A9-85B1-DE548296C0B0}" type="slidenum">
              <a:rPr lang="en-US" sz="1400" b="0" strike="noStrike" spc="-1">
                <a:latin typeface="바탕"/>
              </a:rPr>
              <a:t>‹#›</a:t>
            </a:fld>
            <a:endParaRPr lang="en-US" sz="1400" b="0" strike="noStrike" spc="-1"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859899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727075" y="752475"/>
            <a:ext cx="5364163" cy="3713163"/>
          </a:xfrm>
          <a:prstGeom prst="rect">
            <a:avLst/>
          </a:prstGeom>
          <a:ln w="0">
            <a:noFill/>
          </a:ln>
        </p:spPr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909360" y="4720680"/>
            <a:ext cx="4992840" cy="4475160"/>
          </a:xfrm>
          <a:prstGeom prst="rect">
            <a:avLst/>
          </a:prstGeom>
          <a:noFill/>
          <a:ln w="9360">
            <a:noFill/>
          </a:ln>
        </p:spPr>
        <p:txBody>
          <a:bodyPr lIns="92880" tIns="46440" rIns="92880" bIns="46440" numCol="1" spcCol="0" anchor="t">
            <a:noAutofit/>
          </a:bodyPr>
          <a:lstStyle/>
          <a:p>
            <a:endParaRPr lang="en-US" sz="2000" b="0" strike="noStrike" spc="-1"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sldNum" idx="4"/>
          </p:nvPr>
        </p:nvSpPr>
        <p:spPr>
          <a:xfrm>
            <a:off x="3862440" y="9446040"/>
            <a:ext cx="2949480" cy="496080"/>
          </a:xfrm>
          <a:prstGeom prst="rect">
            <a:avLst/>
          </a:prstGeom>
          <a:noFill/>
          <a:ln w="9360">
            <a:noFill/>
          </a:ln>
        </p:spPr>
        <p:txBody>
          <a:bodyPr lIns="19080" tIns="0" rIns="19080" bIns="0" numCol="1" spcCol="0" anchor="b">
            <a:noAutofit/>
          </a:bodyPr>
          <a:lstStyle>
            <a:lvl1pPr algn="r">
              <a:lnSpc>
                <a:spcPct val="100000"/>
              </a:lnSpc>
              <a:defRPr lang="en-US" sz="1000" b="0" i="1" strike="noStrike" spc="-1">
                <a:solidFill>
                  <a:srgbClr val="000000"/>
                </a:solidFill>
                <a:latin typeface="굴림"/>
                <a:ea typeface="가는각진제목체"/>
              </a:defRPr>
            </a:lvl1pPr>
          </a:lstStyle>
          <a:p>
            <a:pPr algn="r">
              <a:lnSpc>
                <a:spcPct val="100000"/>
              </a:lnSpc>
            </a:pPr>
            <a:fld id="{2756C3B7-3715-4410-96C9-5C70CDA88989}" type="slidenum">
              <a:rPr lang="en-US" sz="1000" b="0" i="1" strike="noStrike" spc="-1">
                <a:solidFill>
                  <a:srgbClr val="000000"/>
                </a:solidFill>
                <a:latin typeface="굴림"/>
                <a:ea typeface="가는각진제목체"/>
              </a:rPr>
              <a:t>1</a:t>
            </a:fld>
            <a:endParaRPr lang="en-US" sz="1000" b="0" strike="noStrike" spc="-1">
              <a:latin typeface="바탕"/>
            </a:endParaRPr>
          </a:p>
        </p:txBody>
      </p:sp>
    </p:spTree>
    <p:extLst>
      <p:ext uri="{BB962C8B-B14F-4D97-AF65-F5344CB8AC3E}">
        <p14:creationId xmlns:p14="http://schemas.microsoft.com/office/powerpoint/2010/main" val="2281874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557810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63190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99525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10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7720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287351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43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33699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44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445112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45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03801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46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5715779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47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465696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58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90002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61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355843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64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82140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68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369836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614885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9696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783744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53578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25968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778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961109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083890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132839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78472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07295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27355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884238" y="812800"/>
            <a:ext cx="5791200" cy="400843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897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495000" y="273600"/>
            <a:ext cx="89150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8915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495000" y="3682080"/>
            <a:ext cx="8915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5063040" y="160452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495000" y="368208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5063040" y="3682080"/>
            <a:ext cx="43502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200" b="0" strike="noStrike" spc="-1">
              <a:solidFill>
                <a:srgbClr val="000000"/>
              </a:solidFill>
              <a:latin typeface="Franklin Gothic Medium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95000" y="160452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509280" y="160452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523200" y="160452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495000" y="368208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509280" y="368208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6523200" y="3682080"/>
            <a:ext cx="2870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1600" b="0" strike="noStrike" spc="-1">
              <a:solidFill>
                <a:srgbClr val="000000"/>
              </a:solidFill>
              <a:latin typeface="맑은 고딕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목차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776536" y="798612"/>
            <a:ext cx="5760640" cy="4525963"/>
          </a:xfrm>
        </p:spPr>
        <p:txBody>
          <a:bodyPr>
            <a:normAutofit/>
          </a:bodyPr>
          <a:lstStyle>
            <a:lvl1pPr marL="400050" indent="-400050">
              <a:lnSpc>
                <a:spcPct val="120000"/>
              </a:lnSpc>
              <a:buFont typeface="+mj-lt"/>
              <a:buAutoNum type="romanUcPeriod"/>
              <a:defRPr sz="1800" b="1">
                <a:solidFill>
                  <a:srgbClr val="00437A"/>
                </a:solidFill>
                <a:latin typeface="맑은 고딕" pitchFamily="50" charset="-127"/>
                <a:ea typeface="맑은 고딕" pitchFamily="50" charset="-127"/>
              </a:defRPr>
            </a:lvl1pPr>
            <a:lvl2pPr>
              <a:defRPr sz="1800" b="1">
                <a:solidFill>
                  <a:srgbClr val="00B0F0"/>
                </a:solidFill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6824603" y="1268760"/>
            <a:ext cx="2187634" cy="1958589"/>
            <a:chOff x="6824603" y="908720"/>
            <a:chExt cx="2187634" cy="1958589"/>
          </a:xfrm>
          <a:solidFill>
            <a:srgbClr val="00437A"/>
          </a:solidFill>
        </p:grpSpPr>
        <p:grpSp>
          <p:nvGrpSpPr>
            <p:cNvPr id="18" name="그룹 17"/>
            <p:cNvGrpSpPr/>
            <p:nvPr/>
          </p:nvGrpSpPr>
          <p:grpSpPr>
            <a:xfrm>
              <a:off x="6825208" y="908720"/>
              <a:ext cx="2187029" cy="230399"/>
              <a:chOff x="7185248" y="1123952"/>
              <a:chExt cx="2187029" cy="230399"/>
            </a:xfrm>
            <a:grpFill/>
          </p:grpSpPr>
          <p:sp>
            <p:nvSpPr>
              <p:cNvPr id="23" name="직사각형 22"/>
              <p:cNvSpPr/>
              <p:nvPr/>
            </p:nvSpPr>
            <p:spPr bwMode="auto">
              <a:xfrm rot="5400000">
                <a:off x="8215185" y="94758"/>
                <a:ext cx="126881" cy="2185270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  <p:sp>
            <p:nvSpPr>
              <p:cNvPr id="24" name="직사각형 23"/>
              <p:cNvSpPr/>
              <p:nvPr/>
            </p:nvSpPr>
            <p:spPr bwMode="auto">
              <a:xfrm rot="5400000">
                <a:off x="7139787" y="1178937"/>
                <a:ext cx="220874" cy="129951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  <p:sp>
            <p:nvSpPr>
              <p:cNvPr id="25" name="직사각형 24"/>
              <p:cNvSpPr/>
              <p:nvPr/>
            </p:nvSpPr>
            <p:spPr bwMode="auto">
              <a:xfrm rot="5400000">
                <a:off x="9196865" y="1178938"/>
                <a:ext cx="220874" cy="129951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</p:grpSp>
        <p:grpSp>
          <p:nvGrpSpPr>
            <p:cNvPr id="19" name="그룹 18"/>
            <p:cNvGrpSpPr/>
            <p:nvPr/>
          </p:nvGrpSpPr>
          <p:grpSpPr>
            <a:xfrm>
              <a:off x="6824603" y="2636912"/>
              <a:ext cx="2186617" cy="230397"/>
              <a:chOff x="7184643" y="2780929"/>
              <a:chExt cx="2186617" cy="230397"/>
            </a:xfrm>
            <a:grpFill/>
          </p:grpSpPr>
          <p:sp>
            <p:nvSpPr>
              <p:cNvPr id="20" name="직사각형 19"/>
              <p:cNvSpPr/>
              <p:nvPr/>
            </p:nvSpPr>
            <p:spPr bwMode="auto">
              <a:xfrm rot="16200000">
                <a:off x="8214443" y="1855251"/>
                <a:ext cx="126881" cy="2185270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  <p:sp>
            <p:nvSpPr>
              <p:cNvPr id="21" name="직사각형 20"/>
              <p:cNvSpPr/>
              <p:nvPr/>
            </p:nvSpPr>
            <p:spPr bwMode="auto">
              <a:xfrm rot="16200000">
                <a:off x="9195848" y="2826391"/>
                <a:ext cx="220874" cy="129951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  <p:sp>
            <p:nvSpPr>
              <p:cNvPr id="22" name="직사각형 21"/>
              <p:cNvSpPr/>
              <p:nvPr/>
            </p:nvSpPr>
            <p:spPr bwMode="auto">
              <a:xfrm rot="16200000">
                <a:off x="7139182" y="2826390"/>
                <a:ext cx="220874" cy="129951"/>
              </a:xfrm>
              <a:prstGeom prst="rect">
                <a:avLst/>
              </a:prstGeom>
              <a:grpFill/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latinLnBrk="0">
                  <a:defRPr/>
                </a:pPr>
                <a:endParaRPr lang="ko-KR" altLang="en-US" kern="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Arial"/>
                  <a:ea typeface="맑은 고딕" pitchFamily="50" charset="-127"/>
                </a:endParaRPr>
              </a:p>
            </p:txBody>
          </p:sp>
        </p:grpSp>
      </p:grpSp>
      <p:sp>
        <p:nvSpPr>
          <p:cNvPr id="1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4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6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067241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5766617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>
              <a:buNone/>
              <a:defRPr lang="ko-KR" altLang="en-US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 smtClean="0"/>
              <a:t>마스터 텍스트 스타일을 편집합니다</a:t>
            </a:r>
          </a:p>
        </p:txBody>
      </p:sp>
      <p:sp>
        <p:nvSpPr>
          <p:cNvPr id="12" name="텍스트 개체 틀 29"/>
          <p:cNvSpPr>
            <a:spLocks noGrp="1"/>
          </p:cNvSpPr>
          <p:nvPr>
            <p:ph type="body" sz="quarter" idx="14"/>
          </p:nvPr>
        </p:nvSpPr>
        <p:spPr>
          <a:xfrm>
            <a:off x="344488" y="1550839"/>
            <a:ext cx="9180512" cy="4876950"/>
          </a:xfrm>
        </p:spPr>
        <p:txBody>
          <a:bodyPr lIns="0" rIns="0"/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30000"/>
              <a:buFont typeface="Arial" pitchFamily="34" charset="0"/>
              <a:buChar char="•"/>
              <a:defRPr sz="1400" b="1">
                <a:latin typeface="맑은 고딕" pitchFamily="50" charset="-127"/>
                <a:ea typeface="맑은 고딕" pitchFamily="50" charset="-127"/>
              </a:defRPr>
            </a:lvl1pPr>
            <a:lvl2pPr marL="395288" indent="-128588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맑은 고딕" pitchFamily="50" charset="-127"/>
              <a:buChar char="-"/>
              <a:defRPr sz="1200">
                <a:latin typeface="맑은 고딕" pitchFamily="50" charset="-127"/>
                <a:ea typeface="맑은 고딕" pitchFamily="50" charset="-127"/>
              </a:defRPr>
            </a:lvl2pPr>
            <a:lvl3pPr marL="747713" indent="-12541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 pitchFamily="2" charset="2"/>
              <a:buChar char="§"/>
              <a:defRPr sz="1200">
                <a:latin typeface="맑은 고딕" pitchFamily="50" charset="-127"/>
                <a:ea typeface="맑은 고딕" pitchFamily="50" charset="-127"/>
              </a:defRPr>
            </a:lvl3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7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</a:t>
            </a:r>
            <a:r>
              <a:rPr kumimoji="1" lang="en-US" altLang="ko-KR" sz="800" b="1" i="1" smtClean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9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682433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81685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444850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180934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701331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9685896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87654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195824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583126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02627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0513389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289502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999548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33398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4895325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150419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7301170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204185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975749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410553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6032632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520552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2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18580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3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2754988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4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828092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795078" y="6567155"/>
            <a:ext cx="315842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89921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6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5766617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텍스트 개체 틀 29"/>
          <p:cNvSpPr>
            <a:spLocks noGrp="1"/>
          </p:cNvSpPr>
          <p:nvPr>
            <p:ph type="body" sz="quarter" idx="14"/>
          </p:nvPr>
        </p:nvSpPr>
        <p:spPr>
          <a:xfrm>
            <a:off x="344488" y="1550839"/>
            <a:ext cx="9180512" cy="4876950"/>
          </a:xfrm>
        </p:spPr>
        <p:txBody>
          <a:bodyPr lIns="0" rIns="0"/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30000"/>
              <a:buFont typeface="Arial" pitchFamily="34" charset="0"/>
              <a:buChar char="•"/>
              <a:defRPr sz="1400" b="1"/>
            </a:lvl1pPr>
            <a:lvl2pPr marL="395288" indent="-128588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맑은 고딕" pitchFamily="50" charset="-127"/>
              <a:buChar char="-"/>
              <a:defRPr sz="1200"/>
            </a:lvl2pPr>
            <a:lvl3pPr marL="747713" indent="-12541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 pitchFamily="2" charset="2"/>
              <a:buChar char="§"/>
              <a:defRPr sz="1200"/>
            </a:lvl3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802292" y="6567155"/>
            <a:ext cx="30141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7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9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1760289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5766617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텍스트 개체 틀 29"/>
          <p:cNvSpPr>
            <a:spLocks noGrp="1"/>
          </p:cNvSpPr>
          <p:nvPr>
            <p:ph type="body" sz="quarter" idx="14"/>
          </p:nvPr>
        </p:nvSpPr>
        <p:spPr>
          <a:xfrm>
            <a:off x="344488" y="1550839"/>
            <a:ext cx="9180512" cy="4876950"/>
          </a:xfrm>
        </p:spPr>
        <p:txBody>
          <a:bodyPr lIns="0" rIns="0"/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30000"/>
              <a:buFont typeface="Arial" pitchFamily="34" charset="0"/>
              <a:buChar char="•"/>
              <a:defRPr sz="1400" b="1"/>
            </a:lvl1pPr>
            <a:lvl2pPr marL="395288" indent="-128588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맑은 고딕" pitchFamily="50" charset="-127"/>
              <a:buChar char="-"/>
              <a:defRPr sz="1200"/>
            </a:lvl2pPr>
            <a:lvl3pPr marL="747713" indent="-12541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 pitchFamily="2" charset="2"/>
              <a:buChar char="§"/>
              <a:defRPr sz="1200"/>
            </a:lvl3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802292" y="6567155"/>
            <a:ext cx="30141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7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9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3741573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8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>
              <a:buNone/>
              <a:defRPr lang="ko-KR" altLang="en-US" sz="2000" b="1" kern="1200" cap="none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5766617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 vert="horz" lIns="0" tIns="45720" rIns="0" bIns="45720" rtlCol="0" anchor="ctr">
            <a:no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2" name="텍스트 개체 틀 29"/>
          <p:cNvSpPr>
            <a:spLocks noGrp="1"/>
          </p:cNvSpPr>
          <p:nvPr>
            <p:ph type="body" sz="quarter" idx="14"/>
          </p:nvPr>
        </p:nvSpPr>
        <p:spPr>
          <a:xfrm>
            <a:off x="344488" y="1550839"/>
            <a:ext cx="9180512" cy="4876950"/>
          </a:xfrm>
        </p:spPr>
        <p:txBody>
          <a:bodyPr lIns="0" rIns="0"/>
          <a:lstStyle>
            <a:lvl1pPr marL="177800" indent="-17780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SzPct val="130000"/>
              <a:buFont typeface="Arial" pitchFamily="34" charset="0"/>
              <a:buChar char="•"/>
              <a:defRPr sz="1400" b="1"/>
            </a:lvl1pPr>
            <a:lvl2pPr marL="395288" indent="-128588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맑은 고딕" pitchFamily="50" charset="-127"/>
              <a:buChar char="-"/>
              <a:defRPr sz="1200"/>
            </a:lvl2pPr>
            <a:lvl3pPr marL="747713" indent="-12541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Wingdings" pitchFamily="2" charset="2"/>
              <a:buChar char="§"/>
              <a:defRPr sz="1200"/>
            </a:lvl3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802292" y="6567155"/>
            <a:ext cx="30141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t>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7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8" name="그림 1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9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51327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2424217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9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6970924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0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390777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1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015973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2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8148151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3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3856612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4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655016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5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770995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6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0745357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7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984361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8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340863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9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52519497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0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615521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1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716699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2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883028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3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50225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4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5475282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5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338197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6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6584560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7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7105457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8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5909458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773705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0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802498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8767813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2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200438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3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2628623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4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7238733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5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0016867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6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0596090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7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1515083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8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 algn="just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  <a:prstGeom prst="rect">
            <a:avLst/>
          </a:prstGeom>
        </p:spPr>
        <p:txBody>
          <a:bodyPr lIns="0" anchor="ctr" anchorCtr="0">
            <a:normAutofit/>
          </a:bodyPr>
          <a:lstStyle>
            <a:lvl1pPr algn="l" defTabSz="914400" rtl="0" eaLnBrk="1" latinLnBrk="1" hangingPunct="1">
              <a:spcBef>
                <a:spcPct val="0"/>
              </a:spcBef>
              <a:buNone/>
              <a:defRPr kumimoji="1" lang="ko-KR" altLang="en-US" sz="2000" b="1" kern="0" cap="none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+mj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marL="0" indent="0" algn="r">
              <a:buNone/>
              <a:defRPr sz="1200" b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Ⅲ 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6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6858063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9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20080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4520953" y="0"/>
            <a:ext cx="4994956" cy="782680"/>
          </a:xfrm>
        </p:spPr>
        <p:txBody>
          <a:bodyPr lIns="0" rIns="0" anchor="ctr">
            <a:noAutofit/>
          </a:bodyPr>
          <a:lstStyle>
            <a:lvl1pPr marL="0" indent="0" algn="r" defTabSz="914400" rtl="0" eaLnBrk="1" latinLnBrk="1" hangingPunct="1">
              <a:spcBef>
                <a:spcPts val="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7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t>Ⅳ </a:t>
            </a:r>
            <a:r>
              <a:rPr kumimoji="1" lang="en-US" altLang="ko-KR" sz="1000" dirty="0">
                <a:solidFill>
                  <a:srgbClr val="000000"/>
                </a:solidFill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</a:t>
            </a:r>
            <a:r>
              <a:rPr kumimoji="1" lang="en-US" altLang="ko-KR" sz="800" b="1" i="1" smtClean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4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1019542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0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20080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4304929" y="0"/>
            <a:ext cx="5210980" cy="782680"/>
          </a:xfrm>
        </p:spPr>
        <p:txBody>
          <a:bodyPr lIns="0" rIns="0" anchor="ctr">
            <a:noAutofit/>
          </a:bodyPr>
          <a:lstStyle>
            <a:lvl1pPr marL="0" indent="0" algn="r" defTabSz="914400" rtl="0" eaLnBrk="1" latinLnBrk="1" hangingPunct="1">
              <a:spcBef>
                <a:spcPts val="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t>Ⅳ </a:t>
            </a:r>
            <a:r>
              <a:rPr kumimoji="1" lang="en-US" altLang="ko-KR" sz="1000" dirty="0">
                <a:solidFill>
                  <a:srgbClr val="000000"/>
                </a:solidFill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</a:t>
            </a:r>
            <a:r>
              <a:rPr kumimoji="1" lang="en-US" altLang="ko-KR" sz="800" b="1" i="1" smtClean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08074391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1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20080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4304929" y="0"/>
            <a:ext cx="5210980" cy="782680"/>
          </a:xfrm>
        </p:spPr>
        <p:txBody>
          <a:bodyPr lIns="0" rIns="0" anchor="ctr">
            <a:noAutofit/>
          </a:bodyPr>
          <a:lstStyle>
            <a:lvl1pPr marL="0" indent="0" algn="r" defTabSz="914400" rtl="0" eaLnBrk="1" latinLnBrk="1" hangingPunct="1">
              <a:spcBef>
                <a:spcPts val="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t>Ⅳ </a:t>
            </a:r>
            <a:r>
              <a:rPr kumimoji="1" lang="en-US" altLang="ko-KR" sz="1000" dirty="0">
                <a:solidFill>
                  <a:srgbClr val="000000"/>
                </a:solidFill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</a:t>
            </a:r>
            <a:r>
              <a:rPr kumimoji="1" lang="en-US" altLang="ko-KR" sz="800" b="1" i="1" smtClean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20682200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2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20080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4304929" y="0"/>
            <a:ext cx="5210980" cy="782680"/>
          </a:xfrm>
        </p:spPr>
        <p:txBody>
          <a:bodyPr lIns="0" rIns="0" anchor="ctr">
            <a:noAutofit/>
          </a:bodyPr>
          <a:lstStyle>
            <a:lvl1pPr marL="0" indent="0" algn="r" defTabSz="914400" rtl="0" eaLnBrk="1" latinLnBrk="1" hangingPunct="1">
              <a:spcBef>
                <a:spcPts val="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t>Ⅳ </a:t>
            </a:r>
            <a:r>
              <a:rPr kumimoji="1" lang="en-US" altLang="ko-KR" sz="1000" dirty="0">
                <a:solidFill>
                  <a:srgbClr val="000000"/>
                </a:solidFill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</a:t>
            </a:r>
            <a:r>
              <a:rPr kumimoji="1" lang="en-US" altLang="ko-KR" sz="800" b="1" i="1" smtClean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27226346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3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20080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4304929" y="0"/>
            <a:ext cx="5210980" cy="782680"/>
          </a:xfrm>
        </p:spPr>
        <p:txBody>
          <a:bodyPr lIns="0" rIns="0" anchor="ctr">
            <a:noAutofit/>
          </a:bodyPr>
          <a:lstStyle>
            <a:lvl1pPr marL="0" indent="0" algn="r" defTabSz="914400" rtl="0" eaLnBrk="1" latinLnBrk="1" hangingPunct="1">
              <a:spcBef>
                <a:spcPts val="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t>Ⅳ </a:t>
            </a:r>
            <a:r>
              <a:rPr kumimoji="1" lang="en-US" altLang="ko-KR" sz="1000" dirty="0">
                <a:solidFill>
                  <a:srgbClr val="000000"/>
                </a:solidFill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</a:t>
            </a:r>
            <a:r>
              <a:rPr kumimoji="1" lang="en-US" altLang="ko-KR" sz="800" b="1" i="1" smtClean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5371395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4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20080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4304929" y="0"/>
            <a:ext cx="5210980" cy="782680"/>
          </a:xfrm>
        </p:spPr>
        <p:txBody>
          <a:bodyPr lIns="0" rIns="0" anchor="ctr">
            <a:noAutofit/>
          </a:bodyPr>
          <a:lstStyle>
            <a:lvl1pPr marL="0" indent="0" algn="r" defTabSz="914400" rtl="0" eaLnBrk="1" latinLnBrk="1" hangingPunct="1">
              <a:spcBef>
                <a:spcPts val="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t>Ⅳ </a:t>
            </a:r>
            <a:r>
              <a:rPr kumimoji="1" lang="en-US" altLang="ko-KR" sz="1000" dirty="0">
                <a:solidFill>
                  <a:srgbClr val="000000"/>
                </a:solidFill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</a:t>
            </a:r>
            <a:r>
              <a:rPr kumimoji="1" lang="en-US" altLang="ko-KR" sz="800" b="1" i="1" smtClean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5534156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5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20080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4304929" y="0"/>
            <a:ext cx="5210980" cy="782680"/>
          </a:xfrm>
        </p:spPr>
        <p:txBody>
          <a:bodyPr lIns="0" rIns="0" anchor="ctr">
            <a:noAutofit/>
          </a:bodyPr>
          <a:lstStyle>
            <a:lvl1pPr marL="0" indent="0" algn="r" defTabSz="914400" rtl="0" eaLnBrk="1" latinLnBrk="1" hangingPunct="1">
              <a:spcBef>
                <a:spcPts val="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t>Ⅳ </a:t>
            </a:r>
            <a:r>
              <a:rPr kumimoji="1" lang="en-US" altLang="ko-KR" sz="1000" dirty="0">
                <a:solidFill>
                  <a:srgbClr val="000000"/>
                </a:solidFill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</a:t>
            </a:r>
            <a:r>
              <a:rPr kumimoji="1" lang="en-US" altLang="ko-KR" sz="800" b="1" i="1" smtClean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123745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6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20080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4304929" y="0"/>
            <a:ext cx="5210980" cy="782680"/>
          </a:xfrm>
        </p:spPr>
        <p:txBody>
          <a:bodyPr lIns="0" rIns="0" anchor="ctr">
            <a:noAutofit/>
          </a:bodyPr>
          <a:lstStyle>
            <a:lvl1pPr marL="0" indent="0" algn="r" defTabSz="914400" rtl="0" eaLnBrk="1" latinLnBrk="1" hangingPunct="1">
              <a:spcBef>
                <a:spcPts val="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t>Ⅳ </a:t>
            </a:r>
            <a:r>
              <a:rPr kumimoji="1" lang="en-US" altLang="ko-KR" sz="1000" dirty="0">
                <a:solidFill>
                  <a:srgbClr val="000000"/>
                </a:solidFill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</a:t>
            </a:r>
            <a:r>
              <a:rPr kumimoji="1" lang="en-US" altLang="ko-KR" sz="800" b="1" i="1" smtClean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7547958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7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20080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4304929" y="0"/>
            <a:ext cx="5210980" cy="782680"/>
          </a:xfrm>
        </p:spPr>
        <p:txBody>
          <a:bodyPr lIns="0" rIns="0" anchor="ctr">
            <a:noAutofit/>
          </a:bodyPr>
          <a:lstStyle>
            <a:lvl1pPr marL="0" indent="0" algn="r" defTabSz="914400" rtl="0" eaLnBrk="1" latinLnBrk="1" hangingPunct="1">
              <a:spcBef>
                <a:spcPts val="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t>Ⅳ </a:t>
            </a:r>
            <a:r>
              <a:rPr kumimoji="1" lang="en-US" altLang="ko-KR" sz="1000" dirty="0">
                <a:solidFill>
                  <a:srgbClr val="000000"/>
                </a:solidFill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</a:t>
            </a:r>
            <a:r>
              <a:rPr kumimoji="1" lang="en-US" altLang="ko-KR" sz="800" b="1" i="1" smtClean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82447426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8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20080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4304929" y="0"/>
            <a:ext cx="5210980" cy="782680"/>
          </a:xfrm>
        </p:spPr>
        <p:txBody>
          <a:bodyPr lIns="0" rIns="0" anchor="ctr">
            <a:noAutofit/>
          </a:bodyPr>
          <a:lstStyle>
            <a:lvl1pPr marL="0" indent="0" algn="r" defTabSz="914400" rtl="0" eaLnBrk="1" latinLnBrk="1" hangingPunct="1">
              <a:spcBef>
                <a:spcPts val="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8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t>Ⅳ </a:t>
            </a:r>
            <a:r>
              <a:rPr kumimoji="1" lang="en-US" altLang="ko-KR" sz="1000" dirty="0">
                <a:solidFill>
                  <a:srgbClr val="000000"/>
                </a:solidFill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0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</a:t>
            </a:r>
            <a:r>
              <a:rPr kumimoji="1" lang="en-US" altLang="ko-KR" sz="800" b="1" i="1" smtClean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2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5407786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0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20080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4520953" y="0"/>
            <a:ext cx="4994956" cy="782680"/>
          </a:xfrm>
        </p:spPr>
        <p:txBody>
          <a:bodyPr lIns="0" rIns="0" anchor="ctr">
            <a:noAutofit/>
          </a:bodyPr>
          <a:lstStyle>
            <a:lvl1pPr marL="0" indent="0" algn="r" defTabSz="914400" rtl="0" eaLnBrk="1" latinLnBrk="1" hangingPunct="1">
              <a:spcBef>
                <a:spcPts val="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7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t>Ⅳ </a:t>
            </a:r>
            <a:r>
              <a:rPr kumimoji="1" lang="en-US" altLang="ko-KR" sz="1000" dirty="0">
                <a:solidFill>
                  <a:srgbClr val="000000"/>
                </a:solidFill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</a:t>
            </a:r>
            <a:r>
              <a:rPr kumimoji="1" lang="en-US" altLang="ko-KR" sz="800" b="1" i="1" smtClean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4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4638261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1_본문 1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623391"/>
          </a:xfrm>
        </p:spPr>
        <p:txBody>
          <a:bodyPr lIns="0" tIns="0" rIns="0" bIns="0" anchor="t" anchorCtr="0">
            <a:noAutofit/>
          </a:bodyPr>
          <a:lstStyle>
            <a:lvl1pPr marL="0" indent="0" algn="l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lang="ko-KR" altLang="en-US" sz="1600" b="1" kern="1200" cap="none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4488" y="0"/>
            <a:ext cx="7200800" cy="781320"/>
          </a:xfrm>
        </p:spPr>
        <p:txBody>
          <a:bodyPr lIns="0" anchor="ctr" anchorCtr="0">
            <a:normAutofit/>
          </a:bodyPr>
          <a:lstStyle>
            <a:lvl1pPr algn="l">
              <a:defRPr sz="2000" b="1" cap="none">
                <a:solidFill>
                  <a:schemeClr val="tx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27" name="내용 개체 틀 26"/>
          <p:cNvSpPr>
            <a:spLocks noGrp="1"/>
          </p:cNvSpPr>
          <p:nvPr>
            <p:ph sz="quarter" idx="13"/>
          </p:nvPr>
        </p:nvSpPr>
        <p:spPr>
          <a:xfrm>
            <a:off x="4520953" y="0"/>
            <a:ext cx="4994956" cy="782680"/>
          </a:xfrm>
        </p:spPr>
        <p:txBody>
          <a:bodyPr lIns="0" rIns="0" anchor="ctr">
            <a:noAutofit/>
          </a:bodyPr>
          <a:lstStyle>
            <a:lvl1pPr marL="0" indent="0" algn="r" defTabSz="914400" rtl="0" eaLnBrk="1" latinLnBrk="1" hangingPunct="1">
              <a:spcBef>
                <a:spcPts val="0"/>
              </a:spcBef>
              <a:buFont typeface="Arial" pitchFamily="34" charset="0"/>
              <a:buNone/>
              <a:defRPr lang="ko-KR" alt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r">
              <a:defRPr sz="1200">
                <a:solidFill>
                  <a:srgbClr val="039BE7"/>
                </a:solidFill>
              </a:defRPr>
            </a:lvl2pPr>
            <a:lvl3pPr algn="r">
              <a:defRPr sz="1200">
                <a:solidFill>
                  <a:srgbClr val="039BE7"/>
                </a:solidFill>
              </a:defRPr>
            </a:lvl3pPr>
            <a:lvl4pPr algn="r">
              <a:defRPr sz="1200">
                <a:solidFill>
                  <a:srgbClr val="039BE7"/>
                </a:solidFill>
              </a:defRPr>
            </a:lvl4pPr>
            <a:lvl5pPr algn="r">
              <a:defRPr sz="1200">
                <a:solidFill>
                  <a:srgbClr val="039BE7"/>
                </a:solidFill>
              </a:defRPr>
            </a:lvl5pPr>
          </a:lstStyle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ts val="288"/>
              </a:spcBef>
              <a:buFont typeface="Arial" pitchFamily="34" charset="0"/>
              <a:buNone/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13" name="Line 23"/>
          <p:cNvSpPr>
            <a:spLocks noChangeShapeType="1"/>
          </p:cNvSpPr>
          <p:nvPr userDrawn="1"/>
        </p:nvSpPr>
        <p:spPr bwMode="auto">
          <a:xfrm>
            <a:off x="344488" y="795338"/>
            <a:ext cx="9180512" cy="0"/>
          </a:xfrm>
          <a:prstGeom prst="line">
            <a:avLst/>
          </a:prstGeom>
          <a:noFill/>
          <a:ln w="31750">
            <a:gradFill flip="none" rotWithShape="1">
              <a:gsLst>
                <a:gs pos="0">
                  <a:srgbClr val="FFC000"/>
                </a:gs>
                <a:gs pos="18000">
                  <a:srgbClr val="1B587C">
                    <a:lumMod val="60000"/>
                    <a:lumOff val="40000"/>
                  </a:srgbClr>
                </a:gs>
                <a:gs pos="8000">
                  <a:srgbClr val="1B587C">
                    <a:lumMod val="60000"/>
                    <a:lumOff val="40000"/>
                  </a:srgbClr>
                </a:gs>
                <a:gs pos="28000">
                  <a:srgbClr val="14425D"/>
                </a:gs>
                <a:gs pos="7000">
                  <a:srgbClr val="FFC000"/>
                </a:gs>
                <a:gs pos="46000">
                  <a:srgbClr val="1B587C">
                    <a:lumMod val="75000"/>
                  </a:srgbClr>
                </a:gs>
              </a:gsLst>
              <a:lin ang="0" scaled="1"/>
              <a:tileRect/>
            </a:gra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Line 23"/>
          <p:cNvSpPr>
            <a:spLocks noChangeShapeType="1"/>
          </p:cNvSpPr>
          <p:nvPr userDrawn="1"/>
        </p:nvSpPr>
        <p:spPr bwMode="auto">
          <a:xfrm>
            <a:off x="344488" y="6427788"/>
            <a:ext cx="9180512" cy="0"/>
          </a:xfrm>
          <a:prstGeom prst="line">
            <a:avLst/>
          </a:prstGeom>
          <a:noFill/>
          <a:ln w="6350">
            <a:solidFill>
              <a:sysClr val="windowText" lastClr="000000">
                <a:lumMod val="75000"/>
                <a:lumOff val="25000"/>
              </a:sysClr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Text Box 72"/>
          <p:cNvSpPr txBox="1">
            <a:spLocks noChangeArrowheads="1"/>
          </p:cNvSpPr>
          <p:nvPr userDrawn="1"/>
        </p:nvSpPr>
        <p:spPr bwMode="auto">
          <a:xfrm>
            <a:off x="4682067" y="6567155"/>
            <a:ext cx="541865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54000" rIns="54000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t>Ⅳ </a:t>
            </a:r>
            <a:r>
              <a:rPr kumimoji="1" lang="en-US" altLang="ko-KR" sz="1000" dirty="0">
                <a:solidFill>
                  <a:srgbClr val="000000"/>
                </a:solidFill>
                <a:cs typeface="Times New Roman" panose="02020603050405020304" pitchFamily="18" charset="0"/>
              </a:rPr>
              <a:t>- </a:t>
            </a:r>
            <a:fld id="{1617468F-D50F-46BD-AB0C-23FE001B05EB}" type="slidenum">
              <a:rPr kumimoji="1" lang="en-US" altLang="ko-KR" sz="1000" smtClean="0">
                <a:solidFill>
                  <a:srgbClr val="000000"/>
                </a:solidFill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kumimoji="1" lang="en-US" altLang="ko-KR" sz="1000" dirty="0">
              <a:solidFill>
                <a:srgbClr val="0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바닥글 개체 틀 5"/>
          <p:cNvSpPr txBox="1">
            <a:spLocks noGrp="1"/>
          </p:cNvSpPr>
          <p:nvPr userDrawn="1"/>
        </p:nvSpPr>
        <p:spPr bwMode="auto">
          <a:xfrm>
            <a:off x="1846537" y="6479800"/>
            <a:ext cx="2763157" cy="24447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b"/>
          <a:lstStyle/>
          <a:p>
            <a:pPr>
              <a:defRPr/>
            </a:pPr>
            <a:r>
              <a:rPr kumimoji="1" lang="en-US" altLang="ko-KR" sz="800" b="1" i="1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© </a:t>
            </a:r>
            <a:r>
              <a:rPr kumimoji="1" lang="en-US" altLang="ko-KR" sz="800" b="1" i="1" smtClean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2024 DAEYEON I&amp;T </a:t>
            </a:r>
            <a:r>
              <a:rPr kumimoji="1" lang="en-US" altLang="ko-KR" sz="800" b="1" i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  <a:cs typeface="Arial" pitchFamily="34" charset="0"/>
              </a:rPr>
              <a:t>All Right Reserved</a:t>
            </a:r>
          </a:p>
        </p:txBody>
      </p:sp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12925" y="6492991"/>
            <a:ext cx="1152128" cy="244753"/>
          </a:xfrm>
          <a:prstGeom prst="rect">
            <a:avLst/>
          </a:prstGeom>
        </p:spPr>
      </p:pic>
      <p:pic>
        <p:nvPicPr>
          <p:cNvPr id="14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5368" y="6551973"/>
            <a:ext cx="1235860" cy="1893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46274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slideLayout" Target="../slideLayouts/slideLayout80.xml"/><Relationship Id="rId85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83" Type="http://schemas.openxmlformats.org/officeDocument/2006/relationships/slideLayout" Target="../slideLayouts/slideLayout83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C Banner Title"/>
          <p:cNvSpPr/>
          <p:nvPr/>
        </p:nvSpPr>
        <p:spPr>
          <a:xfrm>
            <a:off x="272880" y="1413000"/>
            <a:ext cx="9359640" cy="360000"/>
          </a:xfrm>
          <a:prstGeom prst="rect">
            <a:avLst/>
          </a:prstGeom>
          <a:noFill/>
          <a:ln w="1270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8" name="Line 12"/>
          <p:cNvSpPr/>
          <p:nvPr/>
        </p:nvSpPr>
        <p:spPr>
          <a:xfrm>
            <a:off x="200880" y="714240"/>
            <a:ext cx="9504000" cy="360"/>
          </a:xfrm>
          <a:prstGeom prst="line">
            <a:avLst/>
          </a:prstGeom>
          <a:ln w="19050">
            <a:solidFill>
              <a:srgbClr val="000000">
                <a:lumMod val="50000"/>
                <a:lumOff val="50000"/>
              </a:srgbClr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/>
        </p:style>
      </p:sp>
      <p:sp>
        <p:nvSpPr>
          <p:cNvPr id="2" name="AcnStamp_ID_10" hidden="1"/>
          <p:cNvSpPr/>
          <p:nvPr/>
        </p:nvSpPr>
        <p:spPr>
          <a:xfrm>
            <a:off x="8926200" y="1517760"/>
            <a:ext cx="1414080" cy="264600"/>
          </a:xfrm>
          <a:prstGeom prst="leftRightArrow">
            <a:avLst>
              <a:gd name="adj1" fmla="val 0"/>
              <a:gd name="adj2" fmla="val 0"/>
            </a:avLst>
          </a:prstGeom>
          <a:noFill/>
          <a:ln w="9525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25560" rIns="0" bIns="25560" anchor="t">
            <a:spAutoFit/>
          </a:bodyPr>
          <a:lstStyle/>
          <a:p>
            <a:pPr marL="85680" indent="-85680" algn="r">
              <a:lnSpc>
                <a:spcPct val="100000"/>
              </a:lnSpc>
              <a:tabLst>
                <a:tab pos="0" algn="l"/>
              </a:tabLst>
            </a:pPr>
            <a:r>
              <a:rPr lang="en-US" sz="1400" b="1" strike="noStrike" spc="-1">
                <a:solidFill>
                  <a:srgbClr val="000000"/>
                </a:solidFill>
                <a:latin typeface="Franklin Gothic Medium"/>
                <a:ea typeface="산돌고딕 M"/>
              </a:rPr>
              <a:t>MASTER STAMP</a:t>
            </a:r>
            <a:endParaRPr lang="en-US" sz="1400" b="0" strike="noStrike" spc="-1">
              <a:latin typeface="Arial"/>
            </a:endParaRPr>
          </a:p>
        </p:txBody>
      </p:sp>
      <p:sp>
        <p:nvSpPr>
          <p:cNvPr id="3" name="AcnStpConnector_ID_11" hidden="1"/>
          <p:cNvSpPr/>
          <p:nvPr/>
        </p:nvSpPr>
        <p:spPr>
          <a:xfrm rot="5400000" flipH="1" flipV="1">
            <a:off x="9632880" y="1517040"/>
            <a:ext cx="1080" cy="1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AcnStpConnector_ID_12" hidden="1"/>
          <p:cNvSpPr/>
          <p:nvPr/>
        </p:nvSpPr>
        <p:spPr>
          <a:xfrm rot="5400000">
            <a:off x="9633600" y="1517760"/>
            <a:ext cx="1080" cy="10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9525">
            <a:solidFill>
              <a:srgbClr val="0000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95000" y="273600"/>
            <a:ext cx="89150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200" b="0" strike="noStrike" spc="-1">
                <a:solidFill>
                  <a:srgbClr val="000000"/>
                </a:solidFill>
                <a:latin typeface="Franklin Gothic Medium"/>
              </a:rPr>
              <a:t>Click to edit the title text format</a:t>
            </a: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95000" y="1604520"/>
            <a:ext cx="89150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맑은 고딕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strike="noStrike" spc="-1">
                <a:solidFill>
                  <a:srgbClr val="000000"/>
                </a:solidFill>
                <a:latin typeface="맑은 고딕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굴림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rgbClr val="000000"/>
                </a:solidFill>
                <a:latin typeface="굴림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굴림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굴림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굴림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4" r:id="rId13"/>
    <p:sldLayoutId id="2147483675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2" r:id="rId39"/>
    <p:sldLayoutId id="2147483703" r:id="rId40"/>
    <p:sldLayoutId id="2147483704" r:id="rId41"/>
    <p:sldLayoutId id="2147483705" r:id="rId42"/>
    <p:sldLayoutId id="2147483706" r:id="rId43"/>
    <p:sldLayoutId id="2147483707" r:id="rId44"/>
    <p:sldLayoutId id="2147483708" r:id="rId45"/>
    <p:sldLayoutId id="2147483709" r:id="rId46"/>
    <p:sldLayoutId id="2147483710" r:id="rId47"/>
    <p:sldLayoutId id="2147483711" r:id="rId48"/>
    <p:sldLayoutId id="2147483712" r:id="rId49"/>
    <p:sldLayoutId id="2147483713" r:id="rId50"/>
    <p:sldLayoutId id="2147483714" r:id="rId51"/>
    <p:sldLayoutId id="2147483715" r:id="rId52"/>
    <p:sldLayoutId id="2147483716" r:id="rId53"/>
    <p:sldLayoutId id="2147483717" r:id="rId54"/>
    <p:sldLayoutId id="2147483718" r:id="rId55"/>
    <p:sldLayoutId id="2147483719" r:id="rId56"/>
    <p:sldLayoutId id="2147483720" r:id="rId57"/>
    <p:sldLayoutId id="2147483721" r:id="rId58"/>
    <p:sldLayoutId id="2147483722" r:id="rId59"/>
    <p:sldLayoutId id="2147483723" r:id="rId60"/>
    <p:sldLayoutId id="2147483724" r:id="rId61"/>
    <p:sldLayoutId id="2147483725" r:id="rId62"/>
    <p:sldLayoutId id="2147483726" r:id="rId63"/>
    <p:sldLayoutId id="2147483727" r:id="rId64"/>
    <p:sldLayoutId id="2147483728" r:id="rId65"/>
    <p:sldLayoutId id="2147483729" r:id="rId66"/>
    <p:sldLayoutId id="2147483730" r:id="rId67"/>
    <p:sldLayoutId id="2147483731" r:id="rId68"/>
    <p:sldLayoutId id="2147483732" r:id="rId69"/>
    <p:sldLayoutId id="2147483733" r:id="rId70"/>
    <p:sldLayoutId id="2147483734" r:id="rId71"/>
    <p:sldLayoutId id="2147483735" r:id="rId72"/>
    <p:sldLayoutId id="2147483736" r:id="rId73"/>
    <p:sldLayoutId id="2147483737" r:id="rId74"/>
    <p:sldLayoutId id="2147483738" r:id="rId75"/>
    <p:sldLayoutId id="2147483739" r:id="rId76"/>
    <p:sldLayoutId id="2147483740" r:id="rId77"/>
    <p:sldLayoutId id="2147483741" r:id="rId78"/>
    <p:sldLayoutId id="2147483742" r:id="rId79"/>
    <p:sldLayoutId id="2147483743" r:id="rId80"/>
    <p:sldLayoutId id="2147483744" r:id="rId81"/>
    <p:sldLayoutId id="2147483745" r:id="rId82"/>
    <p:sldLayoutId id="2147483747" r:id="rId83"/>
    <p:sldLayoutId id="2147483748" r:id="rId84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&#53076;&#47112;&#51068;&#53580;&#53356;ISP&#48372;&#44256;&#49436;_2.&#48169;&#54693;&#49457;%20&#49688;&#47549;.pptx" TargetMode="Externa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oleObject" Target="../embeddings/oleObject3.bin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oleObject" Target="../embeddings/oleObject2.bin"/><Relationship Id="rId2" Type="http://schemas.openxmlformats.org/officeDocument/2006/relationships/slideLayout" Target="../slideLayouts/slideLayout17.xml"/><Relationship Id="rId16" Type="http://schemas.openxmlformats.org/officeDocument/2006/relationships/image" Target="../media/image17.png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png"/><Relationship Id="rId11" Type="http://schemas.openxmlformats.org/officeDocument/2006/relationships/image" Target="../media/image8.wmf"/><Relationship Id="rId5" Type="http://schemas.openxmlformats.org/officeDocument/2006/relationships/image" Target="../media/image11.png"/><Relationship Id="rId15" Type="http://schemas.openxmlformats.org/officeDocument/2006/relationships/image" Target="../media/image16.png"/><Relationship Id="rId10" Type="http://schemas.openxmlformats.org/officeDocument/2006/relationships/oleObject" Target="../embeddings/oleObject1.bin"/><Relationship Id="rId4" Type="http://schemas.openxmlformats.org/officeDocument/2006/relationships/image" Target="../media/image10.png"/><Relationship Id="rId9" Type="http://schemas.openxmlformats.org/officeDocument/2006/relationships/image" Target="../media/image15.png"/><Relationship Id="rId14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3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3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oleObject" Target="../embeddings/oleObject6.bin"/><Relationship Id="rId18" Type="http://schemas.openxmlformats.org/officeDocument/2006/relationships/oleObject" Target="../embeddings/oleObject9.bin"/><Relationship Id="rId3" Type="http://schemas.openxmlformats.org/officeDocument/2006/relationships/hyperlink" Target="&#53076;&#47112;&#51068;&#53580;&#53356;ISP&#48372;&#44256;&#49436;_3.&#47785;&#54364;&#47784;&#45944;%20&#49444;&#44228;.pptx" TargetMode="External"/><Relationship Id="rId7" Type="http://schemas.openxmlformats.org/officeDocument/2006/relationships/image" Target="../media/image12.png"/><Relationship Id="rId12" Type="http://schemas.openxmlformats.org/officeDocument/2006/relationships/image" Target="../media/image8.wmf"/><Relationship Id="rId17" Type="http://schemas.openxmlformats.org/officeDocument/2006/relationships/image" Target="../media/image17.png"/><Relationship Id="rId2" Type="http://schemas.openxmlformats.org/officeDocument/2006/relationships/slideLayout" Target="../slideLayouts/slideLayout41.xml"/><Relationship Id="rId16" Type="http://schemas.openxmlformats.org/officeDocument/2006/relationships/image" Target="../media/image16.png"/><Relationship Id="rId1" Type="http://schemas.openxmlformats.org/officeDocument/2006/relationships/vmlDrawing" Target="../drawings/vmlDrawing2.vml"/><Relationship Id="rId6" Type="http://schemas.openxmlformats.org/officeDocument/2006/relationships/image" Target="../media/image11.png"/><Relationship Id="rId11" Type="http://schemas.openxmlformats.org/officeDocument/2006/relationships/oleObject" Target="../embeddings/oleObject5.bin"/><Relationship Id="rId5" Type="http://schemas.openxmlformats.org/officeDocument/2006/relationships/image" Target="../media/image10.png"/><Relationship Id="rId15" Type="http://schemas.openxmlformats.org/officeDocument/2006/relationships/oleObject" Target="../embeddings/oleObject8.bin"/><Relationship Id="rId10" Type="http://schemas.openxmlformats.org/officeDocument/2006/relationships/image" Target="../media/image15.png"/><Relationship Id="rId19" Type="http://schemas.openxmlformats.org/officeDocument/2006/relationships/image" Target="../media/image18.gif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oleObject" Target="../embeddings/oleObject7.bin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8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9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22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4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microsoft.com/office/2007/relationships/hdphoto" Target="../media/hdphoto1.wdp"/><Relationship Id="rId9" Type="http://schemas.openxmlformats.org/officeDocument/2006/relationships/image" Target="../media/image27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8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2.xml"/><Relationship Id="rId4" Type="http://schemas.openxmlformats.org/officeDocument/2006/relationships/image" Target="../media/image33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4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8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9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1.xml"/><Relationship Id="rId4" Type="http://schemas.openxmlformats.org/officeDocument/2006/relationships/image" Target="../media/image35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0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2.xml"/><Relationship Id="rId5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7.png"/><Relationship Id="rId3" Type="http://schemas.openxmlformats.org/officeDocument/2006/relationships/image" Target="../media/image37.png"/><Relationship Id="rId7" Type="http://schemas.openxmlformats.org/officeDocument/2006/relationships/image" Target="../media/image41.png"/><Relationship Id="rId12" Type="http://schemas.openxmlformats.org/officeDocument/2006/relationships/image" Target="../media/image46.png"/><Relationship Id="rId17" Type="http://schemas.openxmlformats.org/officeDocument/2006/relationships/image" Target="../media/image51.png"/><Relationship Id="rId2" Type="http://schemas.openxmlformats.org/officeDocument/2006/relationships/notesSlide" Target="../notesSlides/notesSlide27.xml"/><Relationship Id="rId16" Type="http://schemas.openxmlformats.org/officeDocument/2006/relationships/image" Target="../media/image50.wmf"/><Relationship Id="rId1" Type="http://schemas.openxmlformats.org/officeDocument/2006/relationships/slideLayout" Target="../slideLayouts/slideLayout83.xml"/><Relationship Id="rId6" Type="http://schemas.openxmlformats.org/officeDocument/2006/relationships/image" Target="../media/image40.png"/><Relationship Id="rId11" Type="http://schemas.openxmlformats.org/officeDocument/2006/relationships/image" Target="../media/image45.png"/><Relationship Id="rId5" Type="http://schemas.openxmlformats.org/officeDocument/2006/relationships/image" Target="../media/image39.png"/><Relationship Id="rId15" Type="http://schemas.openxmlformats.org/officeDocument/2006/relationships/image" Target="../media/image49.png"/><Relationship Id="rId10" Type="http://schemas.openxmlformats.org/officeDocument/2006/relationships/image" Target="../media/image44.png"/><Relationship Id="rId4" Type="http://schemas.openxmlformats.org/officeDocument/2006/relationships/image" Target="../media/image38.png"/><Relationship Id="rId9" Type="http://schemas.openxmlformats.org/officeDocument/2006/relationships/image" Target="../media/image43.png"/><Relationship Id="rId14" Type="http://schemas.openxmlformats.org/officeDocument/2006/relationships/image" Target="../media/image48.png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4.xml"/><Relationship Id="rId6" Type="http://schemas.openxmlformats.org/officeDocument/2006/relationships/image" Target="../media/image55.png"/><Relationship Id="rId5" Type="http://schemas.openxmlformats.org/officeDocument/2006/relationships/image" Target="../media/image54.jpe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한쪽 모서리가 둥근 사각형 38"/>
          <p:cNvSpPr/>
          <p:nvPr/>
        </p:nvSpPr>
        <p:spPr>
          <a:xfrm flipH="1">
            <a:off x="76392" y="909396"/>
            <a:ext cx="9910800" cy="5740920"/>
          </a:xfrm>
          <a:prstGeom prst="round1Rect">
            <a:avLst>
              <a:gd name="adj" fmla="val 0"/>
            </a:avLst>
          </a:prstGeom>
          <a:solidFill>
            <a:srgbClr val="E1E4EB">
              <a:alpha val="5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04" name="TextBox 26"/>
          <p:cNvSpPr/>
          <p:nvPr/>
        </p:nvSpPr>
        <p:spPr>
          <a:xfrm>
            <a:off x="4252538" y="5134882"/>
            <a:ext cx="1389524" cy="46867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spAutoFit/>
          </a:bodyPr>
          <a:lstStyle/>
          <a:p>
            <a:pPr algn="r">
              <a:lnSpc>
                <a:spcPct val="110000"/>
              </a:lnSpc>
            </a:pPr>
            <a:r>
              <a:rPr lang="en-US" sz="2400" b="0" strike="noStrike" spc="-1" smtClean="0">
                <a:solidFill>
                  <a:srgbClr val="4D4D4D"/>
                </a:solidFill>
                <a:latin typeface="나눔고딕 ExtraBold"/>
                <a:ea typeface="나눔고딕 ExtraBold"/>
              </a:rPr>
              <a:t>2024.12</a:t>
            </a:r>
            <a:endParaRPr lang="en-US" sz="2400" b="0" strike="noStrike" spc="-1">
              <a:latin typeface="Arial"/>
            </a:endParaRPr>
          </a:p>
        </p:txBody>
      </p:sp>
      <p:grpSp>
        <p:nvGrpSpPr>
          <p:cNvPr id="5" name="그룹 4"/>
          <p:cNvGrpSpPr/>
          <p:nvPr/>
        </p:nvGrpSpPr>
        <p:grpSpPr>
          <a:xfrm>
            <a:off x="-15048" y="2194056"/>
            <a:ext cx="9918360" cy="1585800"/>
            <a:chOff x="-7488" y="-1408680"/>
            <a:chExt cx="9918360" cy="1585800"/>
          </a:xfrm>
        </p:grpSpPr>
        <p:sp>
          <p:nvSpPr>
            <p:cNvPr id="103" name="직사각형 28"/>
            <p:cNvSpPr/>
            <p:nvPr/>
          </p:nvSpPr>
          <p:spPr>
            <a:xfrm>
              <a:off x="-7488" y="-1408680"/>
              <a:ext cx="9918360" cy="1585800"/>
            </a:xfrm>
            <a:prstGeom prst="rect">
              <a:avLst/>
            </a:prstGeom>
            <a:solidFill>
              <a:srgbClr val="193779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05" name="TextBox 29"/>
            <p:cNvSpPr/>
            <p:nvPr/>
          </p:nvSpPr>
          <p:spPr>
            <a:xfrm>
              <a:off x="83952" y="-1161792"/>
              <a:ext cx="9415800" cy="90520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18000" tIns="45000" rIns="18000" bIns="45000" anchor="t">
              <a:spAutoFit/>
              <a:scene3d>
                <a:camera prst="orthographicFront"/>
                <a:lightRig rig="threePt" dir="t"/>
              </a:scene3d>
              <a:sp3d>
                <a:bevelT w="0" h="12700" prst="angle"/>
              </a:sp3d>
            </a:bodyPr>
            <a:lstStyle/>
            <a:p>
              <a:pPr algn="r">
                <a:lnSpc>
                  <a:spcPct val="150000"/>
                </a:lnSpc>
                <a:tabLst>
                  <a:tab pos="0" algn="l"/>
                </a:tabLst>
              </a:pPr>
              <a:r>
                <a:rPr lang="ko-KR" altLang="en-US" sz="4000" b="0" strike="noStrike" spc="-1" smtClean="0">
                  <a:solidFill>
                    <a:srgbClr val="FFFFFF"/>
                  </a:solidFill>
                  <a:latin typeface="나눔고딕 ExtraBold"/>
                  <a:ea typeface="나눔고딕 ExtraBold"/>
                </a:rPr>
                <a:t>코레일테크 </a:t>
              </a:r>
              <a:r>
                <a:rPr lang="ko-KR" sz="4000" b="0" strike="noStrike" spc="-1" smtClean="0">
                  <a:solidFill>
                    <a:srgbClr val="FFFFFF"/>
                  </a:solidFill>
                  <a:latin typeface="나눔고딕 ExtraBold"/>
                  <a:ea typeface="나눔고딕 ExtraBold"/>
                </a:rPr>
                <a:t>경영정보시스템 </a:t>
              </a:r>
              <a:r>
                <a:rPr lang="en-US" altLang="ko-KR" sz="4000" b="0" strike="noStrike" spc="-1" smtClean="0">
                  <a:solidFill>
                    <a:srgbClr val="FFFFFF"/>
                  </a:solidFill>
                  <a:latin typeface="나눔고딕 ExtraBold"/>
                  <a:ea typeface="나눔고딕 ExtraBold"/>
                </a:rPr>
                <a:t> </a:t>
              </a:r>
              <a:r>
                <a:rPr lang="en-US" sz="4000" b="0" strike="noStrike" spc="-1" smtClean="0">
                  <a:solidFill>
                    <a:srgbClr val="FFFFFF"/>
                  </a:solidFill>
                  <a:latin typeface="나눔고딕 ExtraBold"/>
                  <a:ea typeface="나눔고딕 ExtraBold"/>
                </a:rPr>
                <a:t>ISP </a:t>
              </a:r>
              <a:r>
                <a:rPr lang="en-US" altLang="ko-KR" sz="4000" b="0" strike="noStrike" spc="-1" smtClean="0">
                  <a:solidFill>
                    <a:srgbClr val="FFFFFF"/>
                  </a:solidFill>
                  <a:latin typeface="나눔고딕 ExtraBold"/>
                  <a:ea typeface="나눔고딕 ExtraBold"/>
                </a:rPr>
                <a:t> </a:t>
              </a:r>
              <a:r>
                <a:rPr lang="ko-KR" sz="4000" b="0" strike="noStrike" spc="-1" smtClean="0">
                  <a:solidFill>
                    <a:srgbClr val="FFFFFF"/>
                  </a:solidFill>
                  <a:latin typeface="나눔고딕 ExtraBold"/>
                  <a:ea typeface="나눔고딕 ExtraBold"/>
                </a:rPr>
                <a:t>컨설팅</a:t>
              </a:r>
              <a:endParaRPr lang="en-US" sz="4000" b="0" strike="noStrike" spc="-1">
                <a:latin typeface="Arial"/>
              </a:endParaRPr>
            </a:p>
          </p:txBody>
        </p:sp>
      </p:grp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rcRect t="7500"/>
          <a:stretch/>
        </p:blipFill>
        <p:spPr>
          <a:xfrm>
            <a:off x="-15048" y="-1981"/>
            <a:ext cx="9913488" cy="2150080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6089904" y="3888193"/>
            <a:ext cx="3480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mtClean="0"/>
              <a:t>(Information Strategic Planning)</a:t>
            </a: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:p15="http://schemas.microsoft.com/office/powerpoint/2012/main"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4"/>
          <p:cNvSpPr>
            <a:spLocks noGrp="1"/>
          </p:cNvSpPr>
          <p:nvPr>
            <p:ph idx="1"/>
          </p:nvPr>
        </p:nvSpPr>
        <p:spPr>
          <a:xfrm>
            <a:off x="776536" y="1268760"/>
            <a:ext cx="5760640" cy="4751387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사업의 </a:t>
            </a:r>
            <a:r>
              <a:rPr lang="ko-KR" altLang="en-US" dirty="0"/>
              <a:t>개요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방향성 수립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smtClean="0"/>
              <a:t>목표모델 </a:t>
            </a:r>
            <a:r>
              <a:rPr lang="ko-KR" altLang="en-US" dirty="0" smtClean="0"/>
              <a:t>설계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ko-KR" altLang="en-US" dirty="0" smtClean="0"/>
              <a:t>이행계획 수립</a:t>
            </a:r>
            <a:endParaRPr lang="en-US" altLang="ko-KR" dirty="0"/>
          </a:p>
        </p:txBody>
      </p:sp>
      <p:sp>
        <p:nvSpPr>
          <p:cNvPr id="8" name="TextBox 7"/>
          <p:cNvSpPr txBox="1"/>
          <p:nvPr/>
        </p:nvSpPr>
        <p:spPr>
          <a:xfrm>
            <a:off x="6969224" y="2132856"/>
            <a:ext cx="1908212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r>
              <a:rPr lang="ko-KR" altLang="en-US" sz="3600" b="1" dirty="0">
                <a:solidFill>
                  <a:srgbClr val="00437A"/>
                </a:solidFill>
                <a:latin typeface="맑은 고딕" pitchFamily="50" charset="-127"/>
                <a:ea typeface="맑은 고딕" pitchFamily="50" charset="-127"/>
              </a:rPr>
              <a:t>목차</a:t>
            </a:r>
            <a:endParaRPr lang="en-US" altLang="ko-KR" sz="3600" b="1" dirty="0">
              <a:solidFill>
                <a:srgbClr val="00437A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15"/>
          <p:cNvSpPr/>
          <p:nvPr/>
        </p:nvSpPr>
        <p:spPr>
          <a:xfrm>
            <a:off x="4340880" y="116640"/>
            <a:ext cx="5436360" cy="3817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629"/>
              </a:spcBef>
            </a:pPr>
            <a:r>
              <a:rPr lang="ko-KR" altLang="en-US" sz="1800" b="1" strike="noStrike" spc="-1" smtClean="0">
                <a:solidFill>
                  <a:srgbClr val="808080"/>
                </a:solidFill>
                <a:latin typeface="Arial"/>
                <a:ea typeface="산돌고딕 M"/>
              </a:rPr>
              <a:t>코레일테크 </a:t>
            </a:r>
            <a:r>
              <a:rPr lang="ko-KR" sz="1800" b="1" strike="noStrike" spc="-1" smtClean="0">
                <a:solidFill>
                  <a:srgbClr val="808080"/>
                </a:solidFill>
                <a:latin typeface="Arial"/>
                <a:ea typeface="산돌고딕 M"/>
              </a:rPr>
              <a:t>경영정보시스템 </a:t>
            </a:r>
            <a:r>
              <a:rPr lang="en-US" sz="1800" b="1" strike="noStrike" spc="-1" smtClean="0">
                <a:solidFill>
                  <a:srgbClr val="808080"/>
                </a:solidFill>
                <a:latin typeface="Arial"/>
                <a:ea typeface="산돌고딕 M"/>
              </a:rPr>
              <a:t>ISP </a:t>
            </a:r>
            <a:r>
              <a:rPr lang="ko-KR" sz="1800" b="1" strike="noStrike" spc="-1" smtClean="0">
                <a:solidFill>
                  <a:srgbClr val="808080"/>
                </a:solidFill>
                <a:latin typeface="Arial"/>
                <a:ea typeface="산돌고딕 M"/>
              </a:rPr>
              <a:t>컨설팅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0" y="162020"/>
            <a:ext cx="1838582" cy="390580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344488" y="6453188"/>
            <a:ext cx="3888432" cy="40481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3807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677000" y="2143889"/>
            <a:ext cx="24842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vl="0" algn="ctr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spc="-300" dirty="0" smtClean="0">
                <a:solidFill>
                  <a:srgbClr val="00437A"/>
                </a:solidFill>
                <a:latin typeface="맑은 고딕" pitchFamily="50" charset="-127"/>
                <a:ea typeface="맑은 고딕" pitchFamily="50" charset="-127"/>
              </a:rPr>
              <a:t>Ⅰ. </a:t>
            </a:r>
            <a:r>
              <a:rPr lang="ko-KR" altLang="en-US" sz="2400" b="1" spc="-300" dirty="0" smtClean="0">
                <a:solidFill>
                  <a:srgbClr val="00437A"/>
                </a:solidFill>
                <a:latin typeface="맑은 고딕" pitchFamily="50" charset="-127"/>
                <a:ea typeface="맑은 고딕" pitchFamily="50" charset="-127"/>
              </a:rPr>
              <a:t>사업의 개요</a:t>
            </a:r>
            <a:endParaRPr lang="en-US" altLang="ko-KR" sz="2400" b="1" spc="-300" dirty="0">
              <a:solidFill>
                <a:srgbClr val="00437A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텍스트 개체 틀 4"/>
          <p:cNvSpPr>
            <a:spLocks noGrp="1"/>
          </p:cNvSpPr>
          <p:nvPr>
            <p:ph idx="1"/>
          </p:nvPr>
        </p:nvSpPr>
        <p:spPr>
          <a:xfrm>
            <a:off x="776536" y="1268760"/>
            <a:ext cx="5760640" cy="4751387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 smtClean="0"/>
              <a:t>사업의 </a:t>
            </a:r>
            <a:r>
              <a:rPr lang="ko-KR" altLang="en-US" dirty="0"/>
              <a:t>개요</a:t>
            </a:r>
            <a:endParaRPr lang="en-US" altLang="ko-KR" dirty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 smtClean="0">
                <a:solidFill>
                  <a:srgbClr val="00437A"/>
                </a:solidFill>
              </a:rPr>
              <a:t>1. </a:t>
            </a:r>
            <a:r>
              <a:rPr lang="ko-KR" altLang="en-US" dirty="0" smtClean="0">
                <a:solidFill>
                  <a:srgbClr val="00437A"/>
                </a:solidFill>
              </a:rPr>
              <a:t>사업의 </a:t>
            </a:r>
            <a:r>
              <a:rPr lang="ko-KR" altLang="en-US" dirty="0">
                <a:solidFill>
                  <a:srgbClr val="00437A"/>
                </a:solidFill>
              </a:rPr>
              <a:t>소개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 smtClean="0">
                <a:solidFill>
                  <a:srgbClr val="00437A"/>
                </a:solidFill>
              </a:rPr>
              <a:t>2. </a:t>
            </a:r>
            <a:r>
              <a:rPr lang="ko-KR" altLang="en-US" dirty="0" smtClean="0">
                <a:solidFill>
                  <a:srgbClr val="00437A"/>
                </a:solidFill>
              </a:rPr>
              <a:t>사업추진 </a:t>
            </a:r>
            <a:r>
              <a:rPr lang="ko-KR" altLang="en-US" dirty="0">
                <a:solidFill>
                  <a:srgbClr val="00437A"/>
                </a:solidFill>
              </a:rPr>
              <a:t>배경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dirty="0" smtClean="0">
                <a:solidFill>
                  <a:srgbClr val="00437A"/>
                </a:solidFill>
              </a:rPr>
              <a:t>3</a:t>
            </a:r>
            <a:r>
              <a:rPr lang="en-US" altLang="ko-KR" smtClean="0">
                <a:solidFill>
                  <a:srgbClr val="00437A"/>
                </a:solidFill>
              </a:rPr>
              <a:t>. </a:t>
            </a:r>
            <a:r>
              <a:rPr lang="ko-KR" altLang="en-US" smtClean="0">
                <a:solidFill>
                  <a:srgbClr val="00437A"/>
                </a:solidFill>
              </a:rPr>
              <a:t>사업추진 범위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ko-KR" smtClean="0">
                <a:solidFill>
                  <a:srgbClr val="00437A"/>
                </a:solidFill>
              </a:rPr>
              <a:t>4. </a:t>
            </a:r>
            <a:r>
              <a:rPr lang="ko-KR" altLang="en-US">
                <a:solidFill>
                  <a:srgbClr val="00437A"/>
                </a:solidFill>
              </a:rPr>
              <a:t>사업추진 일정 </a:t>
            </a:r>
            <a:r>
              <a:rPr lang="en-US" altLang="ko-KR" smtClean="0">
                <a:solidFill>
                  <a:srgbClr val="00437A"/>
                </a:solidFill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ko-KR" altLang="en-US" smtClean="0">
                <a:solidFill>
                  <a:schemeClr val="bg1">
                    <a:lumMod val="65000"/>
                  </a:schemeClr>
                </a:solidFill>
              </a:rPr>
              <a:t>방향성 수립</a:t>
            </a:r>
            <a:endParaRPr lang="en-US" altLang="ko-KR" smtClean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mtClean="0">
                <a:solidFill>
                  <a:schemeClr val="bg1">
                    <a:lumMod val="65000"/>
                  </a:schemeClr>
                </a:solidFill>
              </a:rPr>
              <a:t>목표모델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수립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dirty="0" smtClean="0">
                <a:solidFill>
                  <a:schemeClr val="bg1">
                    <a:lumMod val="65000"/>
                  </a:schemeClr>
                </a:solidFill>
              </a:rPr>
              <a:t>이행계획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수립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TextBox 15"/>
          <p:cNvSpPr/>
          <p:nvPr/>
        </p:nvSpPr>
        <p:spPr>
          <a:xfrm>
            <a:off x="4340880" y="116640"/>
            <a:ext cx="5436360" cy="3817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5000"/>
              </a:lnSpc>
              <a:spcBef>
                <a:spcPts val="629"/>
              </a:spcBef>
            </a:pPr>
            <a:r>
              <a:rPr lang="ko-KR" altLang="en-US" sz="1800" b="1" strike="noStrike" spc="-1" smtClean="0">
                <a:solidFill>
                  <a:srgbClr val="808080"/>
                </a:solidFill>
                <a:latin typeface="Arial"/>
                <a:ea typeface="산돌고딕 M"/>
              </a:rPr>
              <a:t>코레일테크 </a:t>
            </a:r>
            <a:r>
              <a:rPr lang="ko-KR" sz="1800" b="1" strike="noStrike" spc="-1" smtClean="0">
                <a:solidFill>
                  <a:srgbClr val="808080"/>
                </a:solidFill>
                <a:latin typeface="Arial"/>
                <a:ea typeface="산돌고딕 M"/>
              </a:rPr>
              <a:t>경영정보시스템 </a:t>
            </a:r>
            <a:r>
              <a:rPr lang="en-US" sz="1800" b="1" strike="noStrike" spc="-1" smtClean="0">
                <a:solidFill>
                  <a:srgbClr val="808080"/>
                </a:solidFill>
                <a:latin typeface="Arial"/>
                <a:ea typeface="산돌고딕 M"/>
              </a:rPr>
              <a:t>ISP </a:t>
            </a:r>
            <a:r>
              <a:rPr lang="ko-KR" sz="1800" b="1" strike="noStrike" spc="-1" smtClean="0">
                <a:solidFill>
                  <a:srgbClr val="808080"/>
                </a:solidFill>
                <a:latin typeface="Arial"/>
                <a:ea typeface="산돌고딕 M"/>
              </a:rPr>
              <a:t>컨설팅</a:t>
            </a:r>
            <a:endParaRPr lang="en-US" sz="1800" b="0" strike="noStrike" spc="-1">
              <a:latin typeface="Arial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160" y="162020"/>
            <a:ext cx="1838582" cy="390580"/>
          </a:xfrm>
          <a:prstGeom prst="rect">
            <a:avLst/>
          </a:prstGeom>
        </p:spPr>
      </p:pic>
      <p:sp>
        <p:nvSpPr>
          <p:cNvPr id="8" name="직사각형 7"/>
          <p:cNvSpPr/>
          <p:nvPr/>
        </p:nvSpPr>
        <p:spPr>
          <a:xfrm>
            <a:off x="344488" y="6453188"/>
            <a:ext cx="3888432" cy="404812"/>
          </a:xfrm>
          <a:prstGeom prst="rect">
            <a:avLst/>
          </a:prstGeom>
          <a:solidFill>
            <a:schemeClr val="bg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3088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4519" y="0"/>
            <a:ext cx="4598481" cy="789378"/>
          </a:xfrm>
        </p:spPr>
        <p:txBody>
          <a:bodyPr/>
          <a:lstStyle/>
          <a:p>
            <a:r>
              <a:rPr lang="en-US" altLang="ko-KR" smtClean="0"/>
              <a:t>Ⅰ-1 </a:t>
            </a:r>
            <a:r>
              <a:rPr lang="ko-KR" altLang="en-US" dirty="0" smtClean="0"/>
              <a:t>사업의 소개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4953001" y="-1"/>
            <a:ext cx="4572508" cy="807809"/>
          </a:xfrm>
        </p:spPr>
        <p:txBody>
          <a:bodyPr/>
          <a:lstStyle/>
          <a:p>
            <a:r>
              <a:rPr lang="en-US" altLang="ko-KR" dirty="0"/>
              <a:t>Ⅰ. </a:t>
            </a:r>
            <a:r>
              <a:rPr lang="ko-KR" altLang="en-US" dirty="0"/>
              <a:t>사업의 </a:t>
            </a:r>
            <a:r>
              <a:rPr lang="ko-KR" altLang="en-US" dirty="0" smtClean="0"/>
              <a:t>개요</a:t>
            </a:r>
            <a:endParaRPr lang="en-US" altLang="ko-KR" dirty="0" smtClean="0"/>
          </a:p>
          <a:p>
            <a:r>
              <a:rPr lang="en-US" altLang="ko-KR" dirty="0" smtClean="0"/>
              <a:t>1. </a:t>
            </a:r>
            <a:r>
              <a:rPr lang="ko-KR" altLang="en-US" dirty="0" smtClean="0"/>
              <a:t>사업의 소개</a:t>
            </a:r>
            <a:endParaRPr lang="en-US" altLang="ko-KR" dirty="0" smtClean="0"/>
          </a:p>
        </p:txBody>
      </p:sp>
      <p:sp>
        <p:nvSpPr>
          <p:cNvPr id="31" name="Rectangle 50"/>
          <p:cNvSpPr>
            <a:spLocks noChangeArrowheads="1"/>
          </p:cNvSpPr>
          <p:nvPr/>
        </p:nvSpPr>
        <p:spPr bwMode="auto">
          <a:xfrm>
            <a:off x="344489" y="980728"/>
            <a:ext cx="9073008" cy="5233785"/>
          </a:xfrm>
          <a:prstGeom prst="rect">
            <a:avLst/>
          </a:prstGeom>
          <a:noFill/>
          <a:ln w="76200">
            <a:solidFill>
              <a:srgbClr val="4678B4">
                <a:lumMod val="40000"/>
                <a:lumOff val="60000"/>
              </a:srgbClr>
            </a:solidFill>
            <a:miter lim="800000"/>
            <a:headEnd/>
            <a:tailEnd/>
          </a:ln>
          <a:effectLst/>
        </p:spPr>
        <p:txBody>
          <a:bodyPr lIns="54000" tIns="0" rIns="54000" bIns="0" anchor="ctr">
            <a:noAutofit/>
          </a:bodyPr>
          <a:lstStyle/>
          <a:p>
            <a:pPr marL="0" marR="0" lvl="0" indent="0" defTabSz="914400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SzTx/>
              <a:buFontTx/>
              <a:buChar char="•"/>
              <a:tabLst/>
              <a:defRPr/>
            </a:pPr>
            <a:endParaRPr kumimoji="0" lang="ko-KR" altLang="en-US" sz="1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갈매기형 수장 55"/>
          <p:cNvSpPr/>
          <p:nvPr/>
        </p:nvSpPr>
        <p:spPr bwMode="auto">
          <a:xfrm>
            <a:off x="456761" y="1269596"/>
            <a:ext cx="1108167" cy="936104"/>
          </a:xfrm>
          <a:prstGeom prst="chevron">
            <a:avLst>
              <a:gd name="adj" fmla="val 0"/>
            </a:avLst>
          </a:prstGeom>
          <a:solidFill>
            <a:srgbClr val="00437A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algn="ctr" latinLnBrk="0">
              <a:defRPr/>
            </a:pP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사업명</a:t>
            </a:r>
          </a:p>
        </p:txBody>
      </p:sp>
      <p:sp>
        <p:nvSpPr>
          <p:cNvPr id="57" name="갈매기형 수장 56"/>
          <p:cNvSpPr/>
          <p:nvPr/>
        </p:nvSpPr>
        <p:spPr bwMode="auto">
          <a:xfrm>
            <a:off x="456761" y="2432510"/>
            <a:ext cx="1108167" cy="936104"/>
          </a:xfrm>
          <a:prstGeom prst="chevron">
            <a:avLst>
              <a:gd name="adj" fmla="val 0"/>
            </a:avLst>
          </a:prstGeom>
          <a:solidFill>
            <a:srgbClr val="00437A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algn="ctr" latinLnBrk="0">
              <a:defRPr/>
            </a:pP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사업기간</a:t>
            </a:r>
            <a: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b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참여인력</a:t>
            </a:r>
          </a:p>
        </p:txBody>
      </p:sp>
      <p:sp>
        <p:nvSpPr>
          <p:cNvPr id="60" name="갈매기형 수장 59"/>
          <p:cNvSpPr/>
          <p:nvPr/>
        </p:nvSpPr>
        <p:spPr bwMode="auto">
          <a:xfrm>
            <a:off x="456761" y="3581224"/>
            <a:ext cx="1108167" cy="2368891"/>
          </a:xfrm>
          <a:prstGeom prst="chevron">
            <a:avLst>
              <a:gd name="adj" fmla="val 0"/>
            </a:avLst>
          </a:prstGeom>
          <a:solidFill>
            <a:srgbClr val="00437A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algn="ctr" latinLnBrk="0">
              <a:defRPr/>
            </a:pP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주요내용</a:t>
            </a:r>
          </a:p>
        </p:txBody>
      </p:sp>
      <p:sp>
        <p:nvSpPr>
          <p:cNvPr id="61" name="직사각형 60"/>
          <p:cNvSpPr/>
          <p:nvPr/>
        </p:nvSpPr>
        <p:spPr bwMode="auto">
          <a:xfrm>
            <a:off x="1680898" y="1268760"/>
            <a:ext cx="7606611" cy="93694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lvl="1" algn="ctr" fontAlgn="base">
              <a:spcBef>
                <a:spcPct val="0"/>
              </a:spcBef>
              <a:spcAft>
                <a:spcPct val="0"/>
              </a:spcAft>
              <a:buClr>
                <a:sysClr val="windowText" lastClr="000000"/>
              </a:buClr>
              <a:buNone/>
              <a:tabLst>
                <a:tab pos="5648325" algn="l"/>
              </a:tabLst>
            </a:pPr>
            <a:r>
              <a:rPr lang="ko-KR" altLang="en-US" sz="2000" b="1" smtClean="0">
                <a:latin typeface="맑은 고딕" pitchFamily="50" charset="-127"/>
                <a:ea typeface="맑은 고딕" pitchFamily="50" charset="-127"/>
              </a:rPr>
              <a:t>코레일테크 경영정보시스템 </a:t>
            </a:r>
            <a:r>
              <a:rPr lang="en-US" altLang="ko-KR" sz="2000" b="1" smtClean="0">
                <a:latin typeface="맑은 고딕" pitchFamily="50" charset="-127"/>
                <a:ea typeface="맑은 고딕" pitchFamily="50" charset="-127"/>
              </a:rPr>
              <a:t>ISP </a:t>
            </a:r>
            <a:r>
              <a:rPr lang="ko-KR" altLang="en-US" sz="2000" b="1" smtClean="0">
                <a:latin typeface="맑은 고딕" pitchFamily="50" charset="-127"/>
                <a:ea typeface="맑은 고딕" pitchFamily="50" charset="-127"/>
              </a:rPr>
              <a:t>컨설팅</a:t>
            </a:r>
            <a:endParaRPr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직사각형 62"/>
          <p:cNvSpPr/>
          <p:nvPr/>
        </p:nvSpPr>
        <p:spPr bwMode="auto">
          <a:xfrm>
            <a:off x="1680898" y="2431674"/>
            <a:ext cx="7606611" cy="936940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lvl="1" algn="ctr" fontAlgn="base">
              <a:lnSpc>
                <a:spcPts val="1700"/>
              </a:lnSpc>
              <a:spcBef>
                <a:spcPct val="0"/>
              </a:spcBef>
              <a:spcAft>
                <a:spcPct val="0"/>
              </a:spcAft>
              <a:buClr>
                <a:sysClr val="windowText" lastClr="000000"/>
              </a:buClr>
              <a:buNone/>
              <a:tabLst>
                <a:tab pos="5648325" algn="l"/>
              </a:tabLst>
            </a:pPr>
            <a:r>
              <a:rPr lang="en-US" altLang="ko-KR" sz="1800" smtClean="0">
                <a:latin typeface="맑은 고딕" pitchFamily="50" charset="-127"/>
                <a:ea typeface="맑은 고딕" pitchFamily="50" charset="-127"/>
              </a:rPr>
              <a:t>2024. 09. 02 ~ 2024. 11. 15  (11</a:t>
            </a:r>
            <a:r>
              <a:rPr lang="ko-KR" altLang="en-US" sz="1800" smtClean="0">
                <a:latin typeface="맑은 고딕" pitchFamily="50" charset="-127"/>
                <a:ea typeface="맑은 고딕" pitchFamily="50" charset="-127"/>
              </a:rPr>
              <a:t>주</a:t>
            </a:r>
            <a:r>
              <a:rPr lang="en-US" altLang="ko-KR" sz="1800" smtClean="0">
                <a:latin typeface="맑은 고딕" pitchFamily="50" charset="-127"/>
                <a:ea typeface="맑은 고딕" pitchFamily="50" charset="-127"/>
              </a:rPr>
              <a:t>) </a:t>
            </a:r>
            <a:endParaRPr lang="ko-KR" altLang="en-US" sz="18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4" name="직사각형 63"/>
          <p:cNvSpPr/>
          <p:nvPr/>
        </p:nvSpPr>
        <p:spPr bwMode="auto">
          <a:xfrm>
            <a:off x="1666869" y="3594587"/>
            <a:ext cx="7606611" cy="2355527"/>
          </a:xfrm>
          <a:prstGeom prst="rect">
            <a:avLst/>
          </a:prstGeom>
          <a:solidFill>
            <a:schemeClr val="bg1"/>
          </a:solidFill>
          <a:ln w="28575" cap="flat" cmpd="sng" algn="ctr">
            <a:solidFill>
              <a:schemeClr val="bg1">
                <a:lumMod val="65000"/>
              </a:scheme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lvl="1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ysClr val="windowText" lastClr="000000"/>
              </a:buClr>
              <a:buNone/>
              <a:tabLst>
                <a:tab pos="5648325" algn="l"/>
              </a:tabLst>
            </a:pPr>
            <a:r>
              <a:rPr lang="ko-KR" altLang="en-US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en-US" altLang="ko-KR" smtClean="0">
                <a:latin typeface="맑은 고딕" pitchFamily="50" charset="-127"/>
                <a:ea typeface="맑은 고딕" pitchFamily="50" charset="-127"/>
              </a:rPr>
              <a:t>▶ </a:t>
            </a:r>
            <a:r>
              <a:rPr lang="ko-KR" altLang="en-US" smtClean="0">
                <a:latin typeface="맑은 고딕" pitchFamily="50" charset="-127"/>
                <a:ea typeface="맑은 고딕" pitchFamily="50" charset="-127"/>
              </a:rPr>
              <a:t>현행 경영정보시스템 현황 분석</a:t>
            </a:r>
            <a:endParaRPr lang="en-US" altLang="ko-KR" smtClean="0">
              <a:latin typeface="맑은 고딕" pitchFamily="50" charset="-127"/>
              <a:ea typeface="맑은 고딕" pitchFamily="50" charset="-127"/>
            </a:endParaRPr>
          </a:p>
          <a:p>
            <a:pPr marL="0" lvl="1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ysClr val="windowText" lastClr="000000"/>
              </a:buClr>
              <a:buNone/>
              <a:tabLst>
                <a:tab pos="5648325" algn="l"/>
              </a:tabLst>
            </a:pPr>
            <a:r>
              <a:rPr lang="ko-KR" altLang="en-US" smtClean="0">
                <a:latin typeface="맑은 고딕" pitchFamily="50" charset="-127"/>
                <a:ea typeface="맑은 고딕" pitchFamily="50" charset="-127"/>
              </a:rPr>
              <a:t> ▶ </a:t>
            </a:r>
            <a:r>
              <a:rPr lang="ko-KR" altLang="en-US">
                <a:latin typeface="맑은 고딕" pitchFamily="50" charset="-127"/>
              </a:rPr>
              <a:t>경영정보시스템 </a:t>
            </a:r>
            <a:r>
              <a:rPr lang="ko-KR" altLang="en-US" smtClean="0">
                <a:latin typeface="맑은 고딕" pitchFamily="50" charset="-127"/>
              </a:rPr>
              <a:t>개선 과제 도출</a:t>
            </a:r>
            <a:endParaRPr lang="en-US" altLang="ko-KR" smtClean="0">
              <a:latin typeface="맑은 고딕" pitchFamily="50" charset="-127"/>
              <a:ea typeface="맑은 고딕" pitchFamily="50" charset="-127"/>
            </a:endParaRPr>
          </a:p>
          <a:p>
            <a:pPr marL="0" lvl="1" fontAlgn="base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lr>
                <a:sysClr val="windowText" lastClr="000000"/>
              </a:buClr>
              <a:buNone/>
              <a:tabLst>
                <a:tab pos="5648325" algn="l"/>
              </a:tabLst>
            </a:pPr>
            <a:r>
              <a:rPr lang="ko-KR" altLang="en-US" smtClean="0">
                <a:latin typeface="맑은 고딕" pitchFamily="50" charset="-127"/>
                <a:ea typeface="맑은 고딕" pitchFamily="50" charset="-127"/>
              </a:rPr>
              <a:t> ▶ </a:t>
            </a:r>
            <a:r>
              <a:rPr lang="ko-KR" altLang="en-US">
                <a:latin typeface="맑은 고딕" pitchFamily="50" charset="-127"/>
              </a:rPr>
              <a:t>경영정보시스템 </a:t>
            </a:r>
            <a:r>
              <a:rPr lang="ko-KR" altLang="en-US" smtClean="0">
                <a:latin typeface="맑은 고딕" pitchFamily="50" charset="-127"/>
              </a:rPr>
              <a:t>개선 방안 수립</a:t>
            </a:r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806896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직사각형 35">
            <a:extLst>
              <a:ext uri="{FF2B5EF4-FFF2-40B4-BE49-F238E27FC236}">
                <a16:creationId xmlns="" xmlns:a16="http://schemas.microsoft.com/office/drawing/2014/main" id="{EF8DEE4F-C677-4E3E-9757-C38EE4662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1567029"/>
            <a:ext cx="9180512" cy="474169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144000" indent="-144000" eaLnBrk="0" fontAlgn="base" latinLnBrk="0" hangingPunct="0"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4519" y="0"/>
            <a:ext cx="4598481" cy="789378"/>
          </a:xfrm>
        </p:spPr>
        <p:txBody>
          <a:bodyPr/>
          <a:lstStyle/>
          <a:p>
            <a:r>
              <a:rPr lang="en-US" altLang="ko-KR" smtClean="0"/>
              <a:t>Ⅰ-2 </a:t>
            </a:r>
            <a:r>
              <a:rPr lang="ko-KR" altLang="en-US" dirty="0" smtClean="0"/>
              <a:t>사업추진 배경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4953001" y="-1"/>
            <a:ext cx="4572508" cy="807809"/>
          </a:xfrm>
        </p:spPr>
        <p:txBody>
          <a:bodyPr/>
          <a:lstStyle/>
          <a:p>
            <a:r>
              <a:rPr lang="en-US" altLang="ko-KR" dirty="0"/>
              <a:t>Ⅰ. </a:t>
            </a:r>
            <a:r>
              <a:rPr lang="ko-KR" altLang="en-US" dirty="0"/>
              <a:t>사업의 </a:t>
            </a:r>
            <a:r>
              <a:rPr lang="ko-KR" altLang="en-US" dirty="0" smtClean="0"/>
              <a:t>개요</a:t>
            </a:r>
            <a:endParaRPr lang="en-US" altLang="ko-KR" dirty="0" smtClean="0"/>
          </a:p>
          <a:p>
            <a:r>
              <a:rPr lang="en-US" altLang="ko-KR" dirty="0" smtClean="0"/>
              <a:t>2. </a:t>
            </a:r>
            <a:r>
              <a:rPr lang="ko-KR" altLang="en-US" dirty="0" smtClean="0"/>
              <a:t>사업추진 배경</a:t>
            </a:r>
            <a:endParaRPr lang="en-US" altLang="ko-KR" dirty="0" smtClean="0"/>
          </a:p>
        </p:txBody>
      </p:sp>
      <p:sp>
        <p:nvSpPr>
          <p:cNvPr id="11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70736"/>
            <a:ext cx="9180512" cy="623573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smtClean="0"/>
              <a:t>경영정보시스템의 운영 환경과 기능 분석을 통하여 개선점을 도출하고 최적화된 모델을 구축할 수 있는 구체적인 이행 계획을 </a:t>
            </a:r>
            <a:r>
              <a:rPr lang="ko-KR" altLang="en-US" sz="1600" dirty="0"/>
              <a:t>수립하고자 함</a:t>
            </a:r>
          </a:p>
        </p:txBody>
      </p:sp>
      <p:pic>
        <p:nvPicPr>
          <p:cNvPr id="61" name="그림 60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 flipH="1" flipV="1">
            <a:off x="4817953" y="-401903"/>
            <a:ext cx="196126" cy="4238249"/>
          </a:xfrm>
          <a:prstGeom prst="rect">
            <a:avLst/>
          </a:prstGeom>
        </p:spPr>
      </p:pic>
      <p:sp>
        <p:nvSpPr>
          <p:cNvPr id="62" name="Rectangle 39"/>
          <p:cNvSpPr>
            <a:spLocks noChangeArrowheads="1"/>
          </p:cNvSpPr>
          <p:nvPr/>
        </p:nvSpPr>
        <p:spPr bwMode="auto">
          <a:xfrm>
            <a:off x="1100572" y="1629395"/>
            <a:ext cx="8348932" cy="429846"/>
          </a:xfrm>
          <a:prstGeom prst="rect">
            <a:avLst/>
          </a:prstGeom>
          <a:noFill/>
          <a:extLst/>
        </p:spPr>
        <p:txBody>
          <a:bodyPr wrap="square" lIns="0" tIns="0" rIns="0" bIns="0" rtlCol="0" anchor="ctr">
            <a:noAutofit/>
            <a:scene3d>
              <a:camera prst="orthographicFront"/>
              <a:lightRig rig="threePt" dir="t"/>
            </a:scene3d>
            <a:sp3d>
              <a:bevelT w="0" h="12700"/>
            </a:sp3d>
          </a:bodyPr>
          <a:lstStyle/>
          <a:p>
            <a:pPr algn="ctr" latinLnBrk="0">
              <a:lnSpc>
                <a:spcPct val="120000"/>
              </a:lnSpc>
            </a:pPr>
            <a:r>
              <a:rPr lang="ko-KR" altLang="en-US" sz="2000" b="1" u="sng" kern="0" smtClean="0">
                <a:latin typeface="맑은 고딕" pitchFamily="50" charset="-127"/>
                <a:ea typeface="맑은 고딕" pitchFamily="50" charset="-127"/>
              </a:rPr>
              <a:t>경영정보시스템 개선 방안 및 이행 계획</a:t>
            </a:r>
            <a:r>
              <a:rPr lang="en-US" altLang="ko-KR" sz="2000" b="1" u="sng" kern="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2000" b="1" u="sng" kern="0" dirty="0">
                <a:latin typeface="맑은 고딕" pitchFamily="50" charset="-127"/>
                <a:ea typeface="맑은 고딕" pitchFamily="50" charset="-127"/>
              </a:rPr>
              <a:t>수립</a:t>
            </a:r>
          </a:p>
        </p:txBody>
      </p:sp>
      <p:sp>
        <p:nvSpPr>
          <p:cNvPr id="63" name="Rectangle 7"/>
          <p:cNvSpPr>
            <a:spLocks noChangeArrowheads="1"/>
          </p:cNvSpPr>
          <p:nvPr/>
        </p:nvSpPr>
        <p:spPr bwMode="auto">
          <a:xfrm>
            <a:off x="488504" y="1622266"/>
            <a:ext cx="559398" cy="482386"/>
          </a:xfrm>
          <a:prstGeom prst="rect">
            <a:avLst/>
          </a:prstGeom>
          <a:solidFill>
            <a:srgbClr val="B1CFFC"/>
          </a:solidFill>
          <a:ln w="12700" algn="ctr">
            <a:noFill/>
            <a:miter lim="800000"/>
            <a:headEnd/>
            <a:tailEnd/>
          </a:ln>
          <a:effectLst/>
          <a:ex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dirty="0">
                <a:latin typeface="맑은 고딕" pitchFamily="50" charset="-127"/>
                <a:ea typeface="맑은 고딕" pitchFamily="50" charset="-127"/>
              </a:rPr>
              <a:t>추진</a:t>
            </a:r>
            <a:endParaRPr lang="en-US" altLang="ko-KR" sz="1300" b="1" kern="0" dirty="0">
              <a:latin typeface="맑은 고딕" pitchFamily="50" charset="-127"/>
              <a:ea typeface="맑은 고딕" pitchFamily="50" charset="-127"/>
            </a:endParaRPr>
          </a:p>
          <a:p>
            <a:pPr marL="85725" indent="-85725"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dirty="0">
                <a:latin typeface="맑은 고딕" pitchFamily="50" charset="-127"/>
                <a:ea typeface="맑은 고딕" pitchFamily="50" charset="-127"/>
              </a:rPr>
              <a:t>목표</a:t>
            </a:r>
            <a:endParaRPr lang="en-US" altLang="ko-KR" sz="1300" b="1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4" name="Rectangle 7"/>
          <p:cNvSpPr>
            <a:spLocks noChangeArrowheads="1"/>
          </p:cNvSpPr>
          <p:nvPr/>
        </p:nvSpPr>
        <p:spPr bwMode="auto">
          <a:xfrm>
            <a:off x="488504" y="2148378"/>
            <a:ext cx="559398" cy="1930837"/>
          </a:xfrm>
          <a:prstGeom prst="rect">
            <a:avLst/>
          </a:prstGeom>
          <a:solidFill>
            <a:srgbClr val="508CD2"/>
          </a:solidFill>
          <a:ln w="9525" algn="ctr">
            <a:noFill/>
            <a:miter lim="800000"/>
            <a:headEnd/>
            <a:tailEnd/>
          </a:ln>
          <a:effectLst/>
          <a:ex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추진</a:t>
            </a:r>
            <a:endParaRPr lang="en-US" altLang="ko-KR" sz="13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목</a:t>
            </a:r>
            <a:r>
              <a:rPr lang="ko-KR" altLang="en-US" sz="13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적</a:t>
            </a:r>
            <a:endParaRPr lang="en-US" altLang="ko-KR" sz="13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5" name="Rectangle 7"/>
          <p:cNvSpPr>
            <a:spLocks noChangeArrowheads="1"/>
          </p:cNvSpPr>
          <p:nvPr/>
        </p:nvSpPr>
        <p:spPr bwMode="auto">
          <a:xfrm>
            <a:off x="488504" y="4122941"/>
            <a:ext cx="559398" cy="2114371"/>
          </a:xfrm>
          <a:prstGeom prst="rect">
            <a:avLst/>
          </a:prstGeom>
          <a:solidFill>
            <a:srgbClr val="00437A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  <a:extLst/>
        </p:spPr>
        <p:txBody>
          <a:bodyPr anchor="ctr"/>
          <a:lstStyle/>
          <a:p>
            <a:pPr algn="ctr" latinLnBrk="0">
              <a:defRPr/>
            </a:pP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추진</a:t>
            </a:r>
            <a:endParaRPr lang="en-US" altLang="ko-KR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  <a:p>
            <a:pPr algn="ctr" latinLnBrk="0">
              <a:defRPr/>
            </a:pPr>
            <a:r>
              <a:rPr lang="ko-KR" altLang="en-US" sz="1400" b="1" kern="0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배경</a:t>
            </a:r>
            <a:endParaRPr lang="en-US" altLang="ko-KR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7" name="Rectangle 76"/>
          <p:cNvSpPr>
            <a:spLocks noChangeArrowheads="1"/>
          </p:cNvSpPr>
          <p:nvPr/>
        </p:nvSpPr>
        <p:spPr bwMode="auto">
          <a:xfrm>
            <a:off x="1141511" y="4717951"/>
            <a:ext cx="4059499" cy="1519361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lIns="72000" tIns="72000" rIns="0" rtlCol="0" anchor="t" anchorCtr="0"/>
          <a:lstStyle/>
          <a:p>
            <a:pPr marL="88900" indent="-88900" latinLnBrk="0">
              <a:lnSpc>
                <a:spcPct val="15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</a:pP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경영정보시스템의 현황 파악을 통한 문제점 파악 및 해결 방안 필요성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제기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pPr marL="88900" indent="-88900" latinLnBrk="0">
              <a:lnSpc>
                <a:spcPct val="15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</a:pP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업무 프로세스의 개선 방안과 시스템의 업무별 기능 개선 방안 도출</a:t>
            </a:r>
            <a:r>
              <a:rPr lang="en-US" altLang="ko-KR" sz="1200" smtClean="0">
                <a:latin typeface="맑은 고딕" pitchFamily="50" charset="-127"/>
                <a:ea typeface="맑은 고딕" pitchFamily="50" charset="-127"/>
              </a:rPr>
              <a:t> 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8" name="Rectangle 76"/>
          <p:cNvSpPr>
            <a:spLocks noChangeArrowheads="1"/>
          </p:cNvSpPr>
          <p:nvPr/>
        </p:nvSpPr>
        <p:spPr bwMode="auto">
          <a:xfrm>
            <a:off x="5281820" y="4717951"/>
            <a:ext cx="4040419" cy="1491327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lIns="72000" tIns="72000" rIns="0" rtlCol="0" anchor="t" anchorCtr="0"/>
          <a:lstStyle/>
          <a:p>
            <a:pPr marL="88900" indent="-88900" latinLnBrk="0">
              <a:lnSpc>
                <a:spcPct val="15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</a:pP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업무 프로세스 표준화를 통한 업무 효율화 추진</a:t>
            </a:r>
            <a:endParaRPr lang="en-US" altLang="ko-KR" sz="1200" smtClean="0">
              <a:latin typeface="맑은 고딕" pitchFamily="50" charset="-127"/>
              <a:ea typeface="맑은 고딕" pitchFamily="50" charset="-127"/>
            </a:endParaRPr>
          </a:p>
          <a:p>
            <a:pPr marL="88900" indent="-88900" latinLnBrk="0">
              <a:lnSpc>
                <a:spcPct val="15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</a:pP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시스템의 업무별 기능 개선 방안에 대한 이행 계획 수립</a:t>
            </a:r>
            <a:endParaRPr lang="en-US" altLang="ko-KR" sz="1200" smtClean="0">
              <a:latin typeface="맑은 고딕" pitchFamily="50" charset="-127"/>
              <a:ea typeface="맑은 고딕" pitchFamily="50" charset="-127"/>
            </a:endParaRPr>
          </a:p>
          <a:p>
            <a:pPr marL="88900" indent="-88900" latinLnBrk="0">
              <a:lnSpc>
                <a:spcPct val="15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</a:pPr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시스템 효율화 및 업무 편의성을 향상시키는 신기술의 도입 고려</a:t>
            </a:r>
            <a:endParaRPr lang="en-US" altLang="ko-KR" sz="1200" smtClean="0">
              <a:latin typeface="맑은 고딕" pitchFamily="50" charset="-127"/>
              <a:ea typeface="맑은 고딕" pitchFamily="50" charset="-127"/>
            </a:endParaRPr>
          </a:p>
          <a:p>
            <a:pPr marL="88900" indent="-88900" latinLnBrk="0">
              <a:lnSpc>
                <a:spcPct val="15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</a:pPr>
            <a:endParaRPr lang="en-US" altLang="ko-KR" sz="1200" smtClean="0">
              <a:latin typeface="맑은 고딕" pitchFamily="50" charset="-127"/>
              <a:ea typeface="맑은 고딕" pitchFamily="50" charset="-127"/>
            </a:endParaRPr>
          </a:p>
          <a:p>
            <a:pPr marL="88900" indent="-88900" latinLnBrk="0">
              <a:lnSpc>
                <a:spcPct val="15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9" name="직사각형 68"/>
          <p:cNvSpPr/>
          <p:nvPr/>
        </p:nvSpPr>
        <p:spPr bwMode="auto">
          <a:xfrm>
            <a:off x="1141512" y="4324804"/>
            <a:ext cx="4063668" cy="39962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300" b="1" kern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경영정보시스템의 기능 한계에 대한 해결방안 </a:t>
            </a:r>
            <a:r>
              <a:rPr lang="ko-KR" altLang="en-US" sz="1300" b="1" kern="0" dirty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요구</a:t>
            </a:r>
            <a:endParaRPr lang="en-US" altLang="ko-KR" sz="1300" b="1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0" name="직사각형 69"/>
          <p:cNvSpPr/>
          <p:nvPr/>
        </p:nvSpPr>
        <p:spPr bwMode="auto">
          <a:xfrm>
            <a:off x="5281820" y="4324804"/>
            <a:ext cx="4063668" cy="39962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lang="ko-KR" altLang="en-US" sz="1300" b="1" kern="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개선 방안에 대한 구체적인 이행계획 수립 요구</a:t>
            </a:r>
            <a:endParaRPr lang="en-US" altLang="ko-KR" sz="1300" b="1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9" name="Rectangle 76"/>
          <p:cNvSpPr>
            <a:spLocks noChangeArrowheads="1"/>
          </p:cNvSpPr>
          <p:nvPr/>
        </p:nvSpPr>
        <p:spPr bwMode="auto">
          <a:xfrm>
            <a:off x="1110773" y="2165587"/>
            <a:ext cx="8306723" cy="1767469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prstDash val="sysDash"/>
            <a:miter lim="800000"/>
            <a:headEnd/>
            <a:tailEnd/>
          </a:ln>
          <a:effectLst/>
        </p:spPr>
        <p:txBody>
          <a:bodyPr lIns="72000" tIns="72000" rIns="0" rtlCol="0" anchor="t" anchorCtr="0"/>
          <a:lstStyle/>
          <a:p>
            <a:pPr marL="88900" indent="-88900" latinLnBrk="0">
              <a:lnSpc>
                <a:spcPct val="13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</a:pP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Rectangle 76"/>
          <p:cNvSpPr>
            <a:spLocks noChangeArrowheads="1"/>
          </p:cNvSpPr>
          <p:nvPr/>
        </p:nvSpPr>
        <p:spPr bwMode="auto">
          <a:xfrm>
            <a:off x="1175566" y="2882752"/>
            <a:ext cx="2642768" cy="98353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lIns="36000" tIns="72000" rIns="0" rtlCol="0" anchor="t" anchorCtr="0"/>
          <a:lstStyle/>
          <a:p>
            <a:pPr marL="88900" lvl="0" indent="-88900" latinLnBrk="0">
              <a:lnSpc>
                <a:spcPct val="13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  <a:defRPr/>
            </a:pPr>
            <a:r>
              <a:rPr lang="ko-KR" altLang="en-US" sz="1300" smtClean="0">
                <a:latin typeface="맑은 고딕" pitchFamily="50" charset="-127"/>
                <a:ea typeface="맑은 고딕" pitchFamily="50" charset="-127"/>
              </a:rPr>
              <a:t> 현행 경영정보 시스템의 환경</a:t>
            </a:r>
            <a:r>
              <a:rPr lang="en-US" altLang="ko-KR" sz="1300" smtClean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300" smtClean="0">
                <a:latin typeface="맑은 고딕" pitchFamily="50" charset="-127"/>
                <a:ea typeface="맑은 고딕" pitchFamily="50" charset="-127"/>
              </a:rPr>
              <a:t>기능</a:t>
            </a:r>
            <a:r>
              <a:rPr lang="en-US" altLang="ko-KR" sz="1300" smtClean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300" smtClean="0">
                <a:latin typeface="맑은 고딕" pitchFamily="50" charset="-127"/>
                <a:ea typeface="맑은 고딕" pitchFamily="50" charset="-127"/>
              </a:rPr>
              <a:t>운영 현황 분석을 통한 정보시스템의 개선 방안 필요</a:t>
            </a:r>
            <a:endParaRPr lang="ko-KR" altLang="en-US" sz="13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3" name="직사각형 72"/>
          <p:cNvSpPr/>
          <p:nvPr/>
        </p:nvSpPr>
        <p:spPr bwMode="auto">
          <a:xfrm>
            <a:off x="6720829" y="2243608"/>
            <a:ext cx="2642768" cy="628204"/>
          </a:xfrm>
          <a:prstGeom prst="rect">
            <a:avLst/>
          </a:prstGeom>
          <a:solidFill>
            <a:srgbClr val="508CD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최적화된 경영정보시스템을 </a:t>
            </a:r>
            <a:endParaRPr lang="en-US" altLang="ko-KR" sz="1300" b="1" kern="0" smtClean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구축하기 위한 이행계획 수립</a:t>
            </a:r>
            <a:endParaRPr lang="en-US" altLang="ko-KR" sz="13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3" name="Rectangle 76"/>
          <p:cNvSpPr>
            <a:spLocks noChangeArrowheads="1"/>
          </p:cNvSpPr>
          <p:nvPr/>
        </p:nvSpPr>
        <p:spPr bwMode="auto">
          <a:xfrm>
            <a:off x="3916522" y="2882752"/>
            <a:ext cx="2720811" cy="98353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lIns="36000" tIns="72000" rIns="0" rtlCol="0" anchor="t" anchorCtr="0"/>
          <a:lstStyle/>
          <a:p>
            <a:pPr marL="88900" lvl="0" indent="-88900" latinLnBrk="0">
              <a:lnSpc>
                <a:spcPct val="13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1300" smtClean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300" smtClean="0">
                <a:latin typeface="맑은 고딕" pitchFamily="50" charset="-127"/>
                <a:ea typeface="맑은 고딕" pitchFamily="50" charset="-127"/>
              </a:rPr>
              <a:t>대 </a:t>
            </a:r>
            <a:r>
              <a:rPr lang="ko-KR" altLang="en-US" sz="1300" dirty="0" smtClean="0">
                <a:latin typeface="맑은 고딕" pitchFamily="50" charset="-127"/>
                <a:ea typeface="맑은 고딕" pitchFamily="50" charset="-127"/>
              </a:rPr>
              <a:t>내</a:t>
            </a:r>
            <a:r>
              <a:rPr lang="en-US" altLang="ko-KR" sz="1300" dirty="0" smtClean="0"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300" dirty="0" smtClean="0">
                <a:latin typeface="맑은 고딕" pitchFamily="50" charset="-127"/>
                <a:ea typeface="맑은 고딕" pitchFamily="50" charset="-127"/>
              </a:rPr>
              <a:t>외 환경변화 </a:t>
            </a:r>
            <a:r>
              <a:rPr lang="ko-KR" altLang="en-US" sz="1300" smtClean="0">
                <a:latin typeface="맑은 고딕" pitchFamily="50" charset="-127"/>
                <a:ea typeface="맑은 고딕" pitchFamily="50" charset="-127"/>
              </a:rPr>
              <a:t>및 경영전략 변경에 탄력적으로 대응 가능하고 표준화된 최적 시스템 구축</a:t>
            </a:r>
            <a:endParaRPr lang="ko-KR" altLang="en-US" sz="13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4" name="직사각형 93"/>
          <p:cNvSpPr/>
          <p:nvPr/>
        </p:nvSpPr>
        <p:spPr bwMode="auto">
          <a:xfrm>
            <a:off x="3948891" y="2231614"/>
            <a:ext cx="2642768" cy="628204"/>
          </a:xfrm>
          <a:prstGeom prst="rect">
            <a:avLst/>
          </a:prstGeom>
          <a:solidFill>
            <a:srgbClr val="508CD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경영정보시스템 </a:t>
            </a:r>
            <a:r>
              <a:rPr lang="ko-KR" altLang="en-US" sz="13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관리체계 </a:t>
            </a:r>
            <a:r>
              <a:rPr lang="ko-KR" altLang="en-US" sz="1300" b="1" kern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표준화 및 코레일테크 최적화 모델 </a:t>
            </a:r>
            <a:r>
              <a:rPr lang="ko-KR" altLang="en-US" sz="1300" b="1" kern="0" dirty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필요</a:t>
            </a:r>
            <a:endParaRPr lang="en-US" altLang="ko-KR" sz="13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6" name="Rectangle 76"/>
          <p:cNvSpPr>
            <a:spLocks noChangeArrowheads="1"/>
          </p:cNvSpPr>
          <p:nvPr/>
        </p:nvSpPr>
        <p:spPr bwMode="auto">
          <a:xfrm>
            <a:off x="6722215" y="2882752"/>
            <a:ext cx="2642768" cy="98353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lIns="36000" tIns="72000" rIns="0" rtlCol="0" anchor="t" anchorCtr="0"/>
          <a:lstStyle/>
          <a:p>
            <a:pPr marL="88900" lvl="0" indent="-88900" latinLnBrk="0">
              <a:lnSpc>
                <a:spcPct val="130000"/>
              </a:lnSpc>
              <a:spcAft>
                <a:spcPts val="200"/>
              </a:spcAft>
              <a:buClr>
                <a:sysClr val="windowText" lastClr="0000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ko-KR" sz="130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300" smtClean="0">
                <a:latin typeface="맑은 고딕" pitchFamily="50" charset="-127"/>
                <a:ea typeface="맑은 고딕" pitchFamily="50" charset="-127"/>
              </a:rPr>
              <a:t>경영정보시스템의 개선안을 추진하기 위한 </a:t>
            </a:r>
            <a:r>
              <a:rPr lang="ko-KR" altLang="en-US" sz="1300" dirty="0" smtClean="0">
                <a:latin typeface="맑은 고딕" pitchFamily="50" charset="-127"/>
                <a:ea typeface="맑은 고딕" pitchFamily="50" charset="-127"/>
              </a:rPr>
              <a:t>정보화 마스터 플랜 수립 필요</a:t>
            </a:r>
            <a:endParaRPr lang="ko-KR" altLang="en-US" sz="13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7" name="직사각형 96"/>
          <p:cNvSpPr/>
          <p:nvPr/>
        </p:nvSpPr>
        <p:spPr bwMode="auto">
          <a:xfrm>
            <a:off x="1175566" y="2231614"/>
            <a:ext cx="2642768" cy="628204"/>
          </a:xfrm>
          <a:prstGeom prst="rect">
            <a:avLst/>
          </a:prstGeom>
          <a:solidFill>
            <a:srgbClr val="508CD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300" b="1" kern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경영정보시스템 개선 방안 마련</a:t>
            </a:r>
            <a:endParaRPr lang="en-US" altLang="ko-KR" sz="13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0" name="오른쪽 중괄호 79"/>
          <p:cNvSpPr/>
          <p:nvPr/>
        </p:nvSpPr>
        <p:spPr>
          <a:xfrm rot="16200000">
            <a:off x="4979393" y="18232"/>
            <a:ext cx="555854" cy="8241487"/>
          </a:xfrm>
          <a:prstGeom prst="rightBrace">
            <a:avLst>
              <a:gd name="adj1" fmla="val 51290"/>
              <a:gd name="adj2" fmla="val 50000"/>
            </a:avLst>
          </a:prstGeom>
          <a:gradFill flip="none" rotWithShape="1">
            <a:gsLst>
              <a:gs pos="0">
                <a:srgbClr val="B1CFFC">
                  <a:alpha val="20000"/>
                </a:srgbClr>
              </a:gs>
              <a:gs pos="50000">
                <a:srgbClr val="BEDCFF"/>
              </a:gs>
              <a:gs pos="100000">
                <a:srgbClr val="4F81BD">
                  <a:tint val="23500"/>
                  <a:satMod val="160000"/>
                  <a:alpha val="0"/>
                </a:srgbClr>
              </a:gs>
            </a:gsLst>
            <a:lin ang="10800000" scaled="1"/>
            <a:tileRect/>
          </a:gradFill>
          <a:ln w="19050" cap="flat" cmpd="sng" algn="ctr">
            <a:noFill/>
            <a:prstDash val="sysDot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198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직사각형 35">
            <a:extLst>
              <a:ext uri="{FF2B5EF4-FFF2-40B4-BE49-F238E27FC236}">
                <a16:creationId xmlns="" xmlns:a16="http://schemas.microsoft.com/office/drawing/2014/main" id="{EF8DEE4F-C677-4E3E-9757-C38EE4662E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1567029"/>
            <a:ext cx="9180512" cy="4741696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144000" indent="-144000" eaLnBrk="0" fontAlgn="base" latinLnBrk="0" hangingPunct="0"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4519" y="0"/>
            <a:ext cx="4598481" cy="789378"/>
          </a:xfrm>
        </p:spPr>
        <p:txBody>
          <a:bodyPr/>
          <a:lstStyle/>
          <a:p>
            <a:r>
              <a:rPr lang="en-US" altLang="ko-KR" smtClean="0"/>
              <a:t>Ⅰ-3 </a:t>
            </a:r>
            <a:r>
              <a:rPr lang="ko-KR" altLang="en-US" dirty="0" smtClean="0"/>
              <a:t>사업추진 절차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4953001" y="-1"/>
            <a:ext cx="4572508" cy="807809"/>
          </a:xfrm>
        </p:spPr>
        <p:txBody>
          <a:bodyPr/>
          <a:lstStyle/>
          <a:p>
            <a:r>
              <a:rPr lang="en-US" altLang="ko-KR" dirty="0"/>
              <a:t>Ⅰ. </a:t>
            </a:r>
            <a:r>
              <a:rPr lang="ko-KR" altLang="en-US" dirty="0"/>
              <a:t>사업의 </a:t>
            </a:r>
            <a:r>
              <a:rPr lang="ko-KR" altLang="en-US" dirty="0" smtClean="0"/>
              <a:t>개요</a:t>
            </a:r>
            <a:endParaRPr lang="en-US" altLang="ko-KR" dirty="0" smtClean="0"/>
          </a:p>
          <a:p>
            <a:r>
              <a:rPr lang="en-US" altLang="ko-KR" smtClean="0"/>
              <a:t>3. </a:t>
            </a:r>
            <a:r>
              <a:rPr lang="ko-KR" altLang="en-US" dirty="0" smtClean="0"/>
              <a:t>사업추진 절차</a:t>
            </a:r>
            <a:endParaRPr lang="en-US" altLang="ko-KR" dirty="0" smtClean="0"/>
          </a:p>
        </p:txBody>
      </p:sp>
      <p:sp>
        <p:nvSpPr>
          <p:cNvPr id="11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70736"/>
            <a:ext cx="9180512" cy="623573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smtClean="0"/>
              <a:t>본 사업은 현행 경영정보시스템의 문제점을 파악하고 요구사항을 수렴하여 운영 환경 및 최신의 </a:t>
            </a:r>
            <a:r>
              <a:rPr lang="ko-KR" altLang="en-US" sz="1600"/>
              <a:t>업무기법과 </a:t>
            </a:r>
            <a:r>
              <a:rPr lang="ko-KR" altLang="en-US" sz="1600" smtClean="0"/>
              <a:t>정보기술 </a:t>
            </a:r>
            <a:r>
              <a:rPr lang="ko-KR" altLang="en-US" sz="1600"/>
              <a:t>동향을 </a:t>
            </a:r>
            <a:r>
              <a:rPr lang="ko-KR" altLang="en-US" sz="1600" smtClean="0"/>
              <a:t>고려하여 코레일테크에 최적화된 시스템 개선안을 제공하고자 함</a:t>
            </a:r>
            <a:endParaRPr lang="ko-KR" altLang="en-US" sz="1600" dirty="0"/>
          </a:p>
        </p:txBody>
      </p:sp>
      <p:sp>
        <p:nvSpPr>
          <p:cNvPr id="145" name="Rectangle 201"/>
          <p:cNvSpPr>
            <a:spLocks noChangeArrowheads="1"/>
          </p:cNvSpPr>
          <p:nvPr/>
        </p:nvSpPr>
        <p:spPr bwMode="auto">
          <a:xfrm rot="16200000" flipH="1">
            <a:off x="1130421" y="4048186"/>
            <a:ext cx="1475076" cy="2948498"/>
          </a:xfrm>
          <a:prstGeom prst="round2SameRect">
            <a:avLst>
              <a:gd name="adj1" fmla="val 5535"/>
              <a:gd name="adj2" fmla="val 0"/>
            </a:avLst>
          </a:prstGeom>
          <a:solidFill>
            <a:sysClr val="windowText" lastClr="000000">
              <a:lumMod val="50000"/>
              <a:lumOff val="50000"/>
            </a:sysClr>
          </a:solidFill>
          <a:ln w="6350" algn="ctr">
            <a:noFill/>
            <a:miter lim="800000"/>
            <a:headEnd/>
            <a:tailEnd/>
          </a:ln>
          <a:effectLst/>
          <a:extLst/>
        </p:spPr>
        <p:txBody>
          <a:bodyPr wrap="square" lIns="72000" tIns="36000" rIns="72000" bIns="36000" anchor="ctr"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rgbClr val="B26B02"/>
              </a:buClr>
            </a:pPr>
            <a:endParaRPr kumimoji="1" lang="ko-KR" altLang="ko-KR" sz="1300" kern="0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6" name="Rectangle 201"/>
          <p:cNvSpPr>
            <a:spLocks noChangeArrowheads="1"/>
          </p:cNvSpPr>
          <p:nvPr/>
        </p:nvSpPr>
        <p:spPr bwMode="auto">
          <a:xfrm flipH="1" flipV="1">
            <a:off x="461888" y="5107797"/>
            <a:ext cx="2829569" cy="1110889"/>
          </a:xfrm>
          <a:prstGeom prst="round1Rect">
            <a:avLst>
              <a:gd name="adj" fmla="val 5792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</a:ln>
          <a:effectLst/>
          <a:ex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0" cap="none" spc="0" normalizeH="0" baseline="0" noProof="0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47" name="Rectangle 49"/>
          <p:cNvSpPr>
            <a:spLocks noChangeArrowheads="1"/>
          </p:cNvSpPr>
          <p:nvPr/>
        </p:nvSpPr>
        <p:spPr bwMode="auto">
          <a:xfrm>
            <a:off x="610078" y="4851601"/>
            <a:ext cx="24725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Total Consulting </a:t>
            </a:r>
            <a:r>
              <a:rPr kumimoji="1" lang="ko-KR" altLang="en-US" sz="12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방법론</a:t>
            </a:r>
          </a:p>
        </p:txBody>
      </p:sp>
      <p:sp>
        <p:nvSpPr>
          <p:cNvPr id="142" name="Rectangle 201"/>
          <p:cNvSpPr>
            <a:spLocks noChangeArrowheads="1"/>
          </p:cNvSpPr>
          <p:nvPr/>
        </p:nvSpPr>
        <p:spPr bwMode="auto">
          <a:xfrm rot="5400000">
            <a:off x="4219281" y="4048186"/>
            <a:ext cx="1475076" cy="2948498"/>
          </a:xfrm>
          <a:prstGeom prst="round2SameRect">
            <a:avLst>
              <a:gd name="adj1" fmla="val 5535"/>
              <a:gd name="adj2" fmla="val 0"/>
            </a:avLst>
          </a:prstGeom>
          <a:solidFill>
            <a:sysClr val="windowText" lastClr="000000">
              <a:lumMod val="50000"/>
              <a:lumOff val="50000"/>
            </a:sysClr>
          </a:solidFill>
          <a:ln w="6350" algn="ctr">
            <a:noFill/>
            <a:miter lim="800000"/>
            <a:headEnd/>
            <a:tailEnd/>
          </a:ln>
          <a:effectLst/>
          <a:extLst/>
        </p:spPr>
        <p:txBody>
          <a:bodyPr wrap="square" lIns="72000" tIns="36000" rIns="72000" bIns="36000" anchor="ctr"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rgbClr val="B26B02"/>
              </a:buClr>
            </a:pPr>
            <a:endParaRPr kumimoji="1" lang="ko-KR" altLang="ko-KR" sz="1300" kern="0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3" name="Rectangle 201"/>
          <p:cNvSpPr>
            <a:spLocks noChangeArrowheads="1"/>
          </p:cNvSpPr>
          <p:nvPr/>
        </p:nvSpPr>
        <p:spPr bwMode="auto">
          <a:xfrm flipV="1">
            <a:off x="3533331" y="5107797"/>
            <a:ext cx="2837573" cy="1110888"/>
          </a:xfrm>
          <a:prstGeom prst="round1Rect">
            <a:avLst>
              <a:gd name="adj" fmla="val 5792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</a:ln>
          <a:effectLst/>
          <a:ex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0" cap="none" spc="0" normalizeH="0" baseline="0" noProof="0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44" name="Rectangle 49"/>
          <p:cNvSpPr>
            <a:spLocks noChangeArrowheads="1"/>
          </p:cNvSpPr>
          <p:nvPr/>
        </p:nvSpPr>
        <p:spPr bwMode="auto">
          <a:xfrm flipH="1">
            <a:off x="3774786" y="4851602"/>
            <a:ext cx="24725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0" cap="none" spc="0" normalizeH="0" baseline="0" noProof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최적화된 업무 및 환경 분석</a:t>
            </a:r>
            <a:endParaRPr kumimoji="1" lang="ko-KR" altLang="en-US" sz="12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39" name="Rectangle 201"/>
          <p:cNvSpPr>
            <a:spLocks noChangeArrowheads="1"/>
          </p:cNvSpPr>
          <p:nvPr/>
        </p:nvSpPr>
        <p:spPr bwMode="auto">
          <a:xfrm rot="5400000">
            <a:off x="7247271" y="4025525"/>
            <a:ext cx="1475076" cy="2948498"/>
          </a:xfrm>
          <a:prstGeom prst="round2SameRect">
            <a:avLst>
              <a:gd name="adj1" fmla="val 5535"/>
              <a:gd name="adj2" fmla="val 0"/>
            </a:avLst>
          </a:prstGeom>
          <a:solidFill>
            <a:sysClr val="windowText" lastClr="000000">
              <a:lumMod val="50000"/>
              <a:lumOff val="50000"/>
            </a:sysClr>
          </a:solidFill>
          <a:ln w="6350" algn="ctr">
            <a:noFill/>
            <a:miter lim="800000"/>
            <a:headEnd/>
            <a:tailEnd/>
          </a:ln>
          <a:effectLst/>
          <a:extLst/>
        </p:spPr>
        <p:txBody>
          <a:bodyPr wrap="square" lIns="72000" tIns="36000" rIns="72000" bIns="36000" anchor="ctr"/>
          <a:lstStyle/>
          <a:p>
            <a:pPr eaLnBrk="0" fontAlgn="base" latinLnBrk="0" hangingPunct="0">
              <a:spcBef>
                <a:spcPct val="0"/>
              </a:spcBef>
              <a:spcAft>
                <a:spcPct val="0"/>
              </a:spcAft>
              <a:buClr>
                <a:srgbClr val="B26B02"/>
              </a:buClr>
            </a:pPr>
            <a:endParaRPr kumimoji="1" lang="ko-KR" altLang="ko-KR" sz="1300" kern="0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0" name="Rectangle 201"/>
          <p:cNvSpPr>
            <a:spLocks noChangeArrowheads="1"/>
          </p:cNvSpPr>
          <p:nvPr/>
        </p:nvSpPr>
        <p:spPr bwMode="auto">
          <a:xfrm flipV="1">
            <a:off x="6561321" y="5085137"/>
            <a:ext cx="2793129" cy="1080166"/>
          </a:xfrm>
          <a:prstGeom prst="round1Rect">
            <a:avLst>
              <a:gd name="adj" fmla="val 5792"/>
            </a:avLst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</a:ln>
          <a:effectLst/>
          <a:ex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0" cap="none" spc="0" normalizeH="0" baseline="0" noProof="0" dirty="0" smtClean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141" name="Rectangle 49"/>
          <p:cNvSpPr>
            <a:spLocks noChangeArrowheads="1"/>
          </p:cNvSpPr>
          <p:nvPr/>
        </p:nvSpPr>
        <p:spPr bwMode="auto">
          <a:xfrm flipH="1">
            <a:off x="6842102" y="4828941"/>
            <a:ext cx="2472596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0" i="0" u="none" strike="noStrike" kern="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실효성 </a:t>
            </a:r>
            <a:r>
              <a:rPr kumimoji="1" lang="ko-KR" altLang="en-US" sz="1200" b="0" i="0" u="none" strike="noStrike" kern="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있는 </a:t>
            </a:r>
            <a:r>
              <a:rPr kumimoji="1" lang="ko-KR" altLang="en-US" sz="1200" b="0" i="0" u="none" strike="noStrike" kern="0" cap="none" spc="0" normalizeH="0" baseline="0" noProof="0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추진 방향</a:t>
            </a:r>
            <a:endParaRPr kumimoji="1" lang="ko-KR" altLang="en-US" sz="1200" b="0" i="0" u="none" strike="noStrike" kern="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8" name="한쪽 모서리가 둥근 사각형 171"/>
          <p:cNvSpPr/>
          <p:nvPr/>
        </p:nvSpPr>
        <p:spPr>
          <a:xfrm flipH="1">
            <a:off x="596627" y="5169812"/>
            <a:ext cx="2654043" cy="995492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92075" indent="-92075" latinLnBrk="0">
              <a:lnSpc>
                <a:spcPct val="110000"/>
              </a:lnSpc>
              <a:buClr>
                <a:prstClr val="black">
                  <a:lumMod val="75000"/>
                  <a:lumOff val="25000"/>
                </a:prstClr>
              </a:buClr>
              <a:buFont typeface="Wingdings" pitchFamily="2" charset="2"/>
              <a:buChar char="Ø"/>
            </a:pPr>
            <a:r>
              <a:rPr lang="ko-KR" altLang="en-US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현행 경영정보시스템의 문제점 및 요구사항 분석을 통하여 개선점을 도출하고</a:t>
            </a:r>
            <a:r>
              <a:rPr lang="en-US" altLang="ko-KR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이를 해결하기 위한 환경분석 및 기술동향을 고려하여 개선방안을 제시하고</a:t>
            </a:r>
            <a:r>
              <a:rPr lang="en-US" altLang="ko-KR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이행계획 수립안을 제공하고자 함</a:t>
            </a:r>
            <a:endParaRPr lang="ko-KR" altLang="en-US" sz="1000" spc="-5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9" name="한쪽 모서리가 둥근 사각형 171"/>
          <p:cNvSpPr/>
          <p:nvPr/>
        </p:nvSpPr>
        <p:spPr>
          <a:xfrm flipH="1">
            <a:off x="3660301" y="5140461"/>
            <a:ext cx="2661551" cy="99549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92075" indent="-92075" latinLnBrk="0">
              <a:lnSpc>
                <a:spcPct val="110000"/>
              </a:lnSpc>
              <a:buClr>
                <a:prstClr val="black">
                  <a:lumMod val="75000"/>
                  <a:lumOff val="25000"/>
                </a:prstClr>
              </a:buClr>
              <a:buFont typeface="Wingdings" pitchFamily="2" charset="2"/>
              <a:buChar char="Ø"/>
            </a:pPr>
            <a:r>
              <a:rPr lang="ko-KR" altLang="en-US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유사사례 </a:t>
            </a:r>
            <a:r>
              <a:rPr lang="ko-KR" altLang="en-US" sz="1000" spc="-5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및 </a:t>
            </a:r>
            <a:r>
              <a:rPr lang="ko-KR" altLang="en-US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공공기관 업무 유형을 고려한 </a:t>
            </a:r>
            <a:r>
              <a:rPr lang="en-US" altLang="ko-KR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실현 가능한  업무처리 및 운영환경 분석 수행</a:t>
            </a:r>
            <a:endParaRPr lang="en-US" altLang="ko-KR" sz="1000" spc="-50" dirty="0" smtClean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  <a:p>
            <a:pPr marL="92075" indent="-92075" latinLnBrk="0">
              <a:lnSpc>
                <a:spcPct val="110000"/>
              </a:lnSpc>
              <a:buClr>
                <a:prstClr val="black">
                  <a:lumMod val="75000"/>
                  <a:lumOff val="25000"/>
                </a:prstClr>
              </a:buClr>
              <a:buFont typeface="Wingdings" pitchFamily="2" charset="2"/>
              <a:buChar char="Ø"/>
            </a:pPr>
            <a:r>
              <a:rPr lang="ko-KR" altLang="en-US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시스템의 기본 업무처리 기능 및 필수 기능 처리부분을  중점 관리 </a:t>
            </a:r>
            <a:r>
              <a:rPr lang="en-US" altLang="ko-KR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POINT</a:t>
            </a:r>
            <a:r>
              <a:rPr lang="ko-KR" altLang="en-US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로 분석하여 코레일테크에 최적화된 개선안을 도출</a:t>
            </a:r>
            <a:endParaRPr lang="ko-KR" altLang="en-US" sz="1000" spc="-5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0" name="한쪽 모서리가 둥근 사각형 171"/>
          <p:cNvSpPr/>
          <p:nvPr/>
        </p:nvSpPr>
        <p:spPr>
          <a:xfrm flipH="1">
            <a:off x="6637684" y="5135084"/>
            <a:ext cx="2693089" cy="967961"/>
          </a:xfrm>
          <a:prstGeom prst="rect">
            <a:avLst/>
          </a:prstGeom>
          <a:noFill/>
          <a:ln w="25400" cap="flat" cmpd="sng" algn="ctr">
            <a:noFill/>
            <a:prstDash val="solid"/>
          </a:ln>
          <a:effectLst/>
        </p:spPr>
        <p:txBody>
          <a:bodyPr rot="0" spcFirstLastPara="0" vertOverflow="overflow" horzOverflow="overflow" vert="horz" wrap="square" lIns="36000" tIns="45720" rIns="3600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92075" indent="-92075" latinLnBrk="0">
              <a:lnSpc>
                <a:spcPct val="110000"/>
              </a:lnSpc>
              <a:buClr>
                <a:prstClr val="black">
                  <a:lumMod val="75000"/>
                  <a:lumOff val="25000"/>
                </a:prstClr>
              </a:buClr>
              <a:buFont typeface="Wingdings" pitchFamily="2" charset="2"/>
              <a:buChar char="Ø"/>
            </a:pPr>
            <a:r>
              <a:rPr lang="ko-KR" altLang="en-US" sz="1000" spc="-5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</a:rPr>
              <a:t>현행 업무 처리 프로세스와  운영환경을 기반으로 실현가능한 개선안을 도출하는 것을 목표로 사업을 추진</a:t>
            </a:r>
          </a:p>
          <a:p>
            <a:pPr marL="92075" indent="-92075" latinLnBrk="0">
              <a:lnSpc>
                <a:spcPct val="110000"/>
              </a:lnSpc>
              <a:buClr>
                <a:prstClr val="black">
                  <a:lumMod val="75000"/>
                  <a:lumOff val="25000"/>
                </a:prstClr>
              </a:buClr>
              <a:buFont typeface="Wingdings" pitchFamily="2" charset="2"/>
              <a:buChar char="Ø"/>
            </a:pPr>
            <a:r>
              <a:rPr lang="ko-KR" altLang="en-US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기존의 구축 </a:t>
            </a:r>
            <a:r>
              <a:rPr lang="en-US" altLang="ko-KR" sz="1000" spc="-5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Know-how</a:t>
            </a:r>
            <a:r>
              <a:rPr lang="ko-KR" altLang="en-US" sz="10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를 활용하여 사업의 위험요소를 최소화하고</a:t>
            </a:r>
            <a:r>
              <a:rPr lang="en-US" altLang="ko-KR" sz="10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spc="-5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현실적인 목표모델 및 구체적인 이행계획 </a:t>
            </a:r>
            <a:r>
              <a:rPr lang="ko-KR" altLang="en-US" sz="1000" spc="-50" dirty="0" smtClean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맑은 고딕" pitchFamily="50" charset="-127"/>
                <a:ea typeface="맑은 고딕" pitchFamily="50" charset="-127"/>
              </a:rPr>
              <a:t>수립</a:t>
            </a:r>
            <a:endParaRPr lang="ko-KR" altLang="en-US" sz="1000" spc="-50" dirty="0">
              <a:ln>
                <a:solidFill>
                  <a:srgbClr val="5B9BD5">
                    <a:alpha val="0"/>
                  </a:srgbClr>
                </a:solidFill>
              </a:ln>
              <a:solidFill>
                <a:prstClr val="black">
                  <a:lumMod val="75000"/>
                  <a:lumOff val="2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1" name="AutoShape 292"/>
          <p:cNvSpPr>
            <a:spLocks noChangeArrowheads="1"/>
          </p:cNvSpPr>
          <p:nvPr/>
        </p:nvSpPr>
        <p:spPr bwMode="auto">
          <a:xfrm>
            <a:off x="473841" y="1694315"/>
            <a:ext cx="692407" cy="2967450"/>
          </a:xfrm>
          <a:prstGeom prst="roundRect">
            <a:avLst>
              <a:gd name="adj" fmla="val 3481"/>
            </a:avLst>
          </a:prstGeom>
          <a:pattFill prst="wdUpDiag">
            <a:fgClr>
              <a:srgbClr val="F8F8F8"/>
            </a:fgClr>
            <a:bgClr>
              <a:srgbClr val="F0F0F0"/>
            </a:bgClr>
          </a:pattFill>
          <a:ln w="9525">
            <a:solidFill>
              <a:srgbClr val="C0C0C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lvl="1" indent="-142875" algn="ctr" defTabSz="762000" eaLnBrk="0" hangingPunct="0">
              <a:lnSpc>
                <a:spcPct val="90000"/>
              </a:lnSpc>
              <a:buClr>
                <a:srgbClr val="000000"/>
              </a:buClr>
              <a:tabLst>
                <a:tab pos="5648325" algn="l"/>
              </a:tabLst>
            </a:pPr>
            <a:endParaRPr lang="ko-KR" altLang="en-US" sz="1300" dirty="0">
              <a:solidFill>
                <a:srgbClr val="4D4D4D"/>
              </a:solidFill>
              <a:latin typeface="맑은 고딕" pitchFamily="50" charset="-127"/>
              <a:ea typeface="맑은 고딕" pitchFamily="50" charset="-127"/>
              <a:sym typeface="Gill Sans"/>
            </a:endParaRPr>
          </a:p>
        </p:txBody>
      </p:sp>
      <p:sp>
        <p:nvSpPr>
          <p:cNvPr id="152" name="직사각형 151"/>
          <p:cNvSpPr/>
          <p:nvPr/>
        </p:nvSpPr>
        <p:spPr bwMode="auto">
          <a:xfrm>
            <a:off x="488504" y="2616277"/>
            <a:ext cx="396941" cy="10387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>
            <a:spAutoFit/>
            <a:scene3d>
              <a:camera prst="orthographicFront"/>
              <a:lightRig rig="brightRoom" dir="tl"/>
            </a:scene3d>
            <a:sp3d extrusionH="57150" contourW="38100" prstMaterial="flat">
              <a:bevelT w="0" prst="artDeco"/>
              <a:extrusionClr>
                <a:schemeClr val="bg1"/>
              </a:extrusionClr>
              <a:contourClr>
                <a:schemeClr val="bg1"/>
              </a:contourClr>
            </a:sp3d>
          </a:bodyPr>
          <a:lstStyle/>
          <a:p>
            <a:pPr algn="ctr" defTabSz="855663">
              <a:lnSpc>
                <a:spcPct val="90000"/>
              </a:lnSpc>
              <a:buSzPct val="60000"/>
              <a:defRPr/>
            </a:pPr>
            <a:r>
              <a:rPr lang="ko-KR" altLang="en-US" sz="1500" smtClean="0">
                <a:latin typeface="맑은 고딕" pitchFamily="50" charset="-127"/>
                <a:ea typeface="맑은 고딕" pitchFamily="50" charset="-127"/>
              </a:rPr>
              <a:t>개</a:t>
            </a:r>
            <a:endParaRPr lang="en-US" altLang="ko-KR" sz="1500" smtClean="0">
              <a:latin typeface="맑은 고딕" pitchFamily="50" charset="-127"/>
              <a:ea typeface="맑은 고딕" pitchFamily="50" charset="-127"/>
            </a:endParaRPr>
          </a:p>
          <a:p>
            <a:pPr algn="ctr" defTabSz="855663">
              <a:lnSpc>
                <a:spcPct val="90000"/>
              </a:lnSpc>
              <a:buSzPct val="60000"/>
              <a:defRPr/>
            </a:pPr>
            <a:r>
              <a:rPr lang="ko-KR" altLang="en-US" sz="1500" smtClean="0">
                <a:latin typeface="맑은 고딕" pitchFamily="50" charset="-127"/>
                <a:ea typeface="맑은 고딕" pitchFamily="50" charset="-127"/>
              </a:rPr>
              <a:t>선</a:t>
            </a:r>
            <a:endParaRPr lang="en-US" altLang="ko-KR" sz="1500" dirty="0">
              <a:latin typeface="맑은 고딕" pitchFamily="50" charset="-127"/>
              <a:ea typeface="맑은 고딕" pitchFamily="50" charset="-127"/>
            </a:endParaRPr>
          </a:p>
          <a:p>
            <a:pPr algn="ctr" defTabSz="855663">
              <a:lnSpc>
                <a:spcPct val="90000"/>
              </a:lnSpc>
              <a:buSzPct val="60000"/>
              <a:defRPr/>
            </a:pPr>
            <a:r>
              <a:rPr lang="ko-KR" altLang="en-US" sz="1500" dirty="0">
                <a:latin typeface="맑은 고딕" pitchFamily="50" charset="-127"/>
                <a:ea typeface="맑은 고딕" pitchFamily="50" charset="-127"/>
              </a:rPr>
              <a:t>방</a:t>
            </a:r>
            <a:endParaRPr lang="en-US" altLang="ko-KR" sz="1500" dirty="0">
              <a:latin typeface="맑은 고딕" pitchFamily="50" charset="-127"/>
              <a:ea typeface="맑은 고딕" pitchFamily="50" charset="-127"/>
            </a:endParaRPr>
          </a:p>
          <a:p>
            <a:pPr algn="ctr" defTabSz="855663">
              <a:lnSpc>
                <a:spcPct val="90000"/>
              </a:lnSpc>
              <a:buSzPct val="60000"/>
              <a:defRPr/>
            </a:pPr>
            <a:r>
              <a:rPr lang="ko-KR" altLang="en-US" sz="1500" dirty="0">
                <a:latin typeface="맑은 고딕" pitchFamily="50" charset="-127"/>
                <a:ea typeface="맑은 고딕" pitchFamily="50" charset="-127"/>
              </a:rPr>
              <a:t>법</a:t>
            </a:r>
            <a:endParaRPr lang="en-US" altLang="ko-KR" sz="1500" dirty="0">
              <a:latin typeface="맑은 고딕" pitchFamily="50" charset="-127"/>
              <a:ea typeface="맑은 고딕" pitchFamily="50" charset="-127"/>
            </a:endParaRPr>
          </a:p>
          <a:p>
            <a:pPr algn="ctr" defTabSz="855663">
              <a:lnSpc>
                <a:spcPct val="90000"/>
              </a:lnSpc>
              <a:buSzPct val="60000"/>
              <a:defRPr/>
            </a:pPr>
            <a:r>
              <a:rPr lang="ko-KR" altLang="en-US" sz="1500" dirty="0" err="1">
                <a:latin typeface="맑은 고딕" pitchFamily="50" charset="-127"/>
                <a:ea typeface="맑은 고딕" pitchFamily="50" charset="-127"/>
              </a:rPr>
              <a:t>론</a:t>
            </a:r>
            <a:endParaRPr lang="en-US" altLang="ko-KR" sz="1500" dirty="0" err="1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3" name="모서리가 둥근 직사각형 152"/>
          <p:cNvSpPr/>
          <p:nvPr/>
        </p:nvSpPr>
        <p:spPr bwMode="auto">
          <a:xfrm>
            <a:off x="907504" y="2398251"/>
            <a:ext cx="258744" cy="1209348"/>
          </a:xfrm>
          <a:prstGeom prst="roundRect">
            <a:avLst>
              <a:gd name="adj" fmla="val 0"/>
            </a:avLst>
          </a:prstGeom>
          <a:solidFill>
            <a:srgbClr val="DDDDDD"/>
          </a:solidFill>
          <a:ln w="19050" cap="flat" cmpd="sng" algn="ctr">
            <a:noFill/>
            <a:prstDash val="solid"/>
            <a:headEnd/>
            <a:tailEnd/>
          </a:ln>
          <a:effectLst/>
        </p:spPr>
        <p:txBody>
          <a:bodyPr lIns="0" tIns="0" rIns="0" bIns="0" anchor="ctr">
            <a:scene3d>
              <a:camera prst="orthographicFront"/>
              <a:lightRig rig="threePt" dir="t"/>
            </a:scene3d>
            <a:sp3d contourW="25400">
              <a:bevelT w="1270" prst="artDeco"/>
              <a:contourClr>
                <a:schemeClr val="accent3">
                  <a:lumMod val="20000"/>
                  <a:lumOff val="80000"/>
                </a:schemeClr>
              </a:contourClr>
            </a:sp3d>
          </a:bodyPr>
          <a:lstStyle/>
          <a:p>
            <a:pPr marL="185738" indent="-185738" algn="ctr" defTabSz="1330325" eaLnBrk="0" latinLnBrk="0" hangingPunct="0">
              <a:defRPr/>
            </a:pPr>
            <a:r>
              <a:rPr lang="ko-KR" altLang="en-US" sz="1200" kern="0" spc="-70" smtClean="0">
                <a:latin typeface="맑은 고딕" pitchFamily="50" charset="-127"/>
                <a:ea typeface="맑은 고딕" pitchFamily="50" charset="-127"/>
              </a:rPr>
              <a:t>업</a:t>
            </a:r>
            <a:endParaRPr lang="en-US" altLang="ko-KR" sz="1200" kern="0" spc="-70" smtClean="0">
              <a:latin typeface="맑은 고딕" pitchFamily="50" charset="-127"/>
              <a:ea typeface="맑은 고딕" pitchFamily="50" charset="-127"/>
            </a:endParaRPr>
          </a:p>
          <a:p>
            <a:pPr marL="185738" indent="-185738" algn="ctr" defTabSz="1330325" eaLnBrk="0" latinLnBrk="0" hangingPunct="0">
              <a:defRPr/>
            </a:pPr>
            <a:r>
              <a:rPr lang="ko-KR" altLang="en-US" sz="1200" kern="0" spc="-70" smtClean="0">
                <a:latin typeface="맑은 고딕" pitchFamily="50" charset="-127"/>
                <a:ea typeface="맑은 고딕" pitchFamily="50" charset="-127"/>
              </a:rPr>
              <a:t>무</a:t>
            </a:r>
            <a:endParaRPr lang="en-US" altLang="ko-KR" sz="1200" kern="0" spc="-70" smtClean="0">
              <a:latin typeface="맑은 고딕" pitchFamily="50" charset="-127"/>
              <a:ea typeface="맑은 고딕" pitchFamily="50" charset="-127"/>
            </a:endParaRPr>
          </a:p>
          <a:p>
            <a:pPr marL="185738" indent="-185738" algn="ctr" defTabSz="1330325" eaLnBrk="0" latinLnBrk="0" hangingPunct="0">
              <a:defRPr/>
            </a:pPr>
            <a:r>
              <a:rPr lang="ko-KR" altLang="en-US" sz="1200" kern="0" spc="-70" smtClean="0">
                <a:latin typeface="맑은 고딕" pitchFamily="50" charset="-127"/>
                <a:ea typeface="맑은 고딕" pitchFamily="50" charset="-127"/>
              </a:rPr>
              <a:t>분</a:t>
            </a:r>
            <a:endParaRPr lang="en-US" altLang="ko-KR" sz="1200" kern="0" spc="-70" smtClean="0">
              <a:latin typeface="맑은 고딕" pitchFamily="50" charset="-127"/>
              <a:ea typeface="맑은 고딕" pitchFamily="50" charset="-127"/>
            </a:endParaRPr>
          </a:p>
          <a:p>
            <a:pPr marL="185738" indent="-185738" algn="ctr" defTabSz="1330325" eaLnBrk="0" latinLnBrk="0" hangingPunct="0">
              <a:defRPr/>
            </a:pPr>
            <a:r>
              <a:rPr lang="ko-KR" altLang="en-US" sz="1200" kern="0" spc="-70">
                <a:latin typeface="맑은 고딕" pitchFamily="50" charset="-127"/>
                <a:ea typeface="맑은 고딕" pitchFamily="50" charset="-127"/>
              </a:rPr>
              <a:t>석</a:t>
            </a:r>
            <a:endParaRPr lang="ko-KR" altLang="en-US" sz="1200" kern="0" spc="-7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4" name="모서리가 둥근 직사각형 153"/>
          <p:cNvSpPr/>
          <p:nvPr/>
        </p:nvSpPr>
        <p:spPr bwMode="auto">
          <a:xfrm>
            <a:off x="907504" y="3733069"/>
            <a:ext cx="231978" cy="857257"/>
          </a:xfrm>
          <a:prstGeom prst="roundRect">
            <a:avLst>
              <a:gd name="adj" fmla="val 0"/>
            </a:avLst>
          </a:prstGeom>
          <a:solidFill>
            <a:srgbClr val="DDDDDD"/>
          </a:solidFill>
          <a:ln w="19050" cap="flat" cmpd="sng" algn="ctr">
            <a:noFill/>
            <a:prstDash val="solid"/>
            <a:headEnd/>
            <a:tailEnd/>
          </a:ln>
          <a:effectLst/>
        </p:spPr>
        <p:txBody>
          <a:bodyPr lIns="0" tIns="0" rIns="0" bIns="0" anchor="ctr">
            <a:scene3d>
              <a:camera prst="orthographicFront"/>
              <a:lightRig rig="threePt" dir="t"/>
            </a:scene3d>
            <a:sp3d contourW="25400">
              <a:bevelT w="1270" prst="artDeco"/>
              <a:contourClr>
                <a:schemeClr val="accent3">
                  <a:lumMod val="20000"/>
                  <a:lumOff val="80000"/>
                </a:schemeClr>
              </a:contourClr>
            </a:sp3d>
          </a:bodyPr>
          <a:lstStyle/>
          <a:p>
            <a:pPr marL="185738" indent="-185738" algn="ctr" defTabSz="1330325" eaLnBrk="0" latinLnBrk="0" hangingPunct="0"/>
            <a:r>
              <a:rPr lang="ko-KR" altLang="en-US" sz="1200" kern="0" spc="-70" smtClean="0">
                <a:latin typeface="맑은 고딕" pitchFamily="50" charset="-127"/>
                <a:ea typeface="맑은 고딕" pitchFamily="50" charset="-127"/>
              </a:rPr>
              <a:t>개</a:t>
            </a:r>
            <a:endParaRPr lang="en-US" altLang="ko-KR" sz="1200" kern="0" spc="-70" smtClean="0">
              <a:latin typeface="맑은 고딕" pitchFamily="50" charset="-127"/>
              <a:ea typeface="맑은 고딕" pitchFamily="50" charset="-127"/>
            </a:endParaRPr>
          </a:p>
          <a:p>
            <a:pPr marL="185738" indent="-185738" algn="ctr" defTabSz="1330325" eaLnBrk="0" latinLnBrk="0" hangingPunct="0"/>
            <a:r>
              <a:rPr lang="ko-KR" altLang="en-US" sz="1200" kern="0" spc="-70" smtClean="0">
                <a:latin typeface="맑은 고딕" pitchFamily="50" charset="-127"/>
                <a:ea typeface="맑은 고딕" pitchFamily="50" charset="-127"/>
              </a:rPr>
              <a:t>선</a:t>
            </a:r>
            <a:endParaRPr lang="en-US" altLang="ko-KR" sz="1200" kern="0" spc="-70" smtClean="0">
              <a:latin typeface="맑은 고딕" pitchFamily="50" charset="-127"/>
              <a:ea typeface="맑은 고딕" pitchFamily="50" charset="-127"/>
            </a:endParaRPr>
          </a:p>
          <a:p>
            <a:pPr marL="185738" indent="-185738" algn="ctr" defTabSz="1330325" eaLnBrk="0" latinLnBrk="0" hangingPunct="0"/>
            <a:r>
              <a:rPr lang="ko-KR" altLang="en-US" sz="1200" kern="0" spc="-70" smtClean="0">
                <a:latin typeface="맑은 고딕" pitchFamily="50" charset="-127"/>
                <a:ea typeface="맑은 고딕" pitchFamily="50" charset="-127"/>
              </a:rPr>
              <a:t>계</a:t>
            </a:r>
            <a:endParaRPr lang="en-US" altLang="ko-KR" sz="1200" kern="0" spc="-70" smtClean="0">
              <a:latin typeface="맑은 고딕" pitchFamily="50" charset="-127"/>
              <a:ea typeface="맑은 고딕" pitchFamily="50" charset="-127"/>
            </a:endParaRPr>
          </a:p>
          <a:p>
            <a:pPr marL="185738" indent="-185738" algn="ctr" defTabSz="1330325" eaLnBrk="0" latinLnBrk="0" hangingPunct="0"/>
            <a:r>
              <a:rPr lang="ko-KR" altLang="en-US" sz="1200" kern="0" spc="-70" smtClean="0">
                <a:latin typeface="맑은 고딕" pitchFamily="50" charset="-127"/>
                <a:ea typeface="맑은 고딕" pitchFamily="50" charset="-127"/>
              </a:rPr>
              <a:t>획</a:t>
            </a:r>
            <a:endParaRPr lang="ko-KR" altLang="en-US" sz="1200" kern="0" spc="-7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5" name="AutoShape 72"/>
          <p:cNvSpPr>
            <a:spLocks noChangeArrowheads="1"/>
          </p:cNvSpPr>
          <p:nvPr/>
        </p:nvSpPr>
        <p:spPr bwMode="auto">
          <a:xfrm>
            <a:off x="1166249" y="1715747"/>
            <a:ext cx="2151297" cy="535546"/>
          </a:xfrm>
          <a:prstGeom prst="chevron">
            <a:avLst>
              <a:gd name="adj" fmla="val 36803"/>
            </a:avLst>
          </a:prstGeom>
          <a:solidFill>
            <a:srgbClr val="C1E3FF"/>
          </a:solidFill>
          <a:ln>
            <a:noFill/>
          </a:ln>
        </p:spPr>
        <p:txBody>
          <a:bodyPr wrap="none"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300" b="1" kern="0" dirty="0">
                <a:latin typeface="맑은 고딕" pitchFamily="50" charset="-127"/>
                <a:ea typeface="맑은 고딕" pitchFamily="50" charset="-127"/>
              </a:rPr>
              <a:t>방향성 수립</a:t>
            </a:r>
            <a:endParaRPr lang="en-US" altLang="ko-KR" sz="1300" b="1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6" name="AutoShape 72"/>
          <p:cNvSpPr>
            <a:spLocks noChangeArrowheads="1"/>
          </p:cNvSpPr>
          <p:nvPr/>
        </p:nvSpPr>
        <p:spPr bwMode="auto">
          <a:xfrm>
            <a:off x="3279443" y="1715747"/>
            <a:ext cx="2071420" cy="535546"/>
          </a:xfrm>
          <a:prstGeom prst="chevron">
            <a:avLst>
              <a:gd name="adj" fmla="val 36803"/>
            </a:avLst>
          </a:prstGeom>
          <a:solidFill>
            <a:srgbClr val="508CD2"/>
          </a:solidFill>
          <a:ln>
            <a:noFill/>
          </a:ln>
        </p:spPr>
        <p:txBody>
          <a:bodyPr wrap="none" lIns="36000" tIns="36000" rIns="36000" bIns="36000" rtlCol="0" anchor="ctr"/>
          <a:lstStyle/>
          <a:p>
            <a:pPr algn="ctr" latinLnBrk="0"/>
            <a:r>
              <a:rPr lang="ko-KR" altLang="en-US" sz="1300" b="1" kern="0" dirty="0">
                <a:latin typeface="맑은 고딕" pitchFamily="50" charset="-127"/>
                <a:ea typeface="맑은 고딕" pitchFamily="50" charset="-127"/>
              </a:rPr>
              <a:t>현황 및 요건 분석</a:t>
            </a:r>
            <a:endParaRPr lang="en-US" altLang="ko-KR" sz="1300" b="1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7" name="AutoShape 72"/>
          <p:cNvSpPr>
            <a:spLocks noChangeArrowheads="1"/>
          </p:cNvSpPr>
          <p:nvPr/>
        </p:nvSpPr>
        <p:spPr bwMode="auto">
          <a:xfrm>
            <a:off x="5312760" y="1715747"/>
            <a:ext cx="2071420" cy="535546"/>
          </a:xfrm>
          <a:prstGeom prst="chevron">
            <a:avLst>
              <a:gd name="adj" fmla="val 36803"/>
            </a:avLst>
          </a:prstGeom>
          <a:solidFill>
            <a:srgbClr val="01458C"/>
          </a:solidFill>
          <a:ln>
            <a:noFill/>
          </a:ln>
        </p:spPr>
        <p:txBody>
          <a:bodyPr wrap="none" lIns="36000" tIns="36000" rIns="36000" bIns="36000" rtlCol="0" anchor="ctr"/>
          <a:lstStyle/>
          <a:p>
            <a:pPr algn="ctr" latinLnBrk="0"/>
            <a:r>
              <a:rPr lang="ko-KR" altLang="en-US" sz="13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목표모델 설계</a:t>
            </a:r>
            <a:endParaRPr lang="en-US" altLang="ko-KR" sz="13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8" name="AutoShape 72"/>
          <p:cNvSpPr>
            <a:spLocks noChangeArrowheads="1"/>
          </p:cNvSpPr>
          <p:nvPr/>
        </p:nvSpPr>
        <p:spPr bwMode="auto">
          <a:xfrm>
            <a:off x="7346076" y="1715747"/>
            <a:ext cx="2071420" cy="535546"/>
          </a:xfrm>
          <a:prstGeom prst="chevron">
            <a:avLst>
              <a:gd name="adj" fmla="val 36803"/>
            </a:avLst>
          </a:prstGeom>
          <a:solidFill>
            <a:srgbClr val="233C5A"/>
          </a:solidFill>
          <a:ln>
            <a:noFill/>
          </a:ln>
        </p:spPr>
        <p:txBody>
          <a:bodyPr wrap="none" lIns="36000" tIns="36000" rIns="36000" bIns="36000" rtlCol="0" anchor="ctr"/>
          <a:lstStyle/>
          <a:p>
            <a:pPr algn="ctr" latinLnBrk="0">
              <a:defRPr/>
            </a:pPr>
            <a:r>
              <a:rPr lang="ko-KR" altLang="en-US" sz="13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이행계획 수립</a:t>
            </a:r>
            <a:endParaRPr lang="en-US" altLang="ko-KR" sz="13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59" name="그룹 158"/>
          <p:cNvGrpSpPr/>
          <p:nvPr/>
        </p:nvGrpSpPr>
        <p:grpSpPr>
          <a:xfrm>
            <a:off x="1321661" y="2401581"/>
            <a:ext cx="1767557" cy="2153899"/>
            <a:chOff x="330455" y="2328166"/>
            <a:chExt cx="1738034" cy="2730346"/>
          </a:xfrm>
        </p:grpSpPr>
        <p:sp>
          <p:nvSpPr>
            <p:cNvPr id="160" name="직사각형 159"/>
            <p:cNvSpPr/>
            <p:nvPr/>
          </p:nvSpPr>
          <p:spPr bwMode="auto">
            <a:xfrm>
              <a:off x="330455" y="2328166"/>
              <a:ext cx="1738034" cy="407615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시스템 환경분석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1" name="직사각형 160"/>
            <p:cNvSpPr/>
            <p:nvPr/>
          </p:nvSpPr>
          <p:spPr bwMode="auto">
            <a:xfrm>
              <a:off x="330455" y="2872867"/>
              <a:ext cx="1738034" cy="4555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smtClean="0">
                  <a:latin typeface="맑은 고딕" pitchFamily="50" charset="-127"/>
                  <a:ea typeface="맑은 고딕" pitchFamily="50" charset="-127"/>
                </a:rPr>
                <a:t>운영 환경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분석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2" name="직사각형 161"/>
            <p:cNvSpPr/>
            <p:nvPr/>
          </p:nvSpPr>
          <p:spPr bwMode="auto">
            <a:xfrm>
              <a:off x="330455" y="3465544"/>
              <a:ext cx="1738034" cy="407615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kern="0" smtClean="0">
                  <a:latin typeface="맑은 고딕" pitchFamily="50" charset="-127"/>
                  <a:ea typeface="맑은 고딕" pitchFamily="50" charset="-127"/>
                </a:rPr>
                <a:t>업무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시스템 기능 분석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3" name="직사각형 162"/>
            <p:cNvSpPr/>
            <p:nvPr/>
          </p:nvSpPr>
          <p:spPr bwMode="auto">
            <a:xfrm>
              <a:off x="330455" y="4010246"/>
              <a:ext cx="1738034" cy="4555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lvl="0" algn="ctr" latinLnBrk="0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defRPr/>
              </a:pPr>
              <a:r>
                <a:rPr kumimoji="1" lang="ko-KR" altLang="en-US" sz="1000" kern="0">
                  <a:latin typeface="맑은 고딕" pitchFamily="50" charset="-127"/>
                </a:rPr>
                <a:t>최신기술동향분석</a:t>
              </a:r>
              <a:endParaRPr kumimoji="1" lang="en-US" altLang="ko-KR" sz="1000" kern="0" dirty="0">
                <a:latin typeface="맑은 고딕" pitchFamily="50" charset="-127"/>
              </a:endParaRPr>
            </a:p>
          </p:txBody>
        </p:sp>
        <p:sp>
          <p:nvSpPr>
            <p:cNvPr id="164" name="직사각형 163"/>
            <p:cNvSpPr/>
            <p:nvPr/>
          </p:nvSpPr>
          <p:spPr bwMode="auto">
            <a:xfrm>
              <a:off x="330455" y="4602922"/>
              <a:ext cx="1738034" cy="4555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추진 방향성 수립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65" name="그룹 14"/>
          <p:cNvGrpSpPr/>
          <p:nvPr/>
        </p:nvGrpSpPr>
        <p:grpSpPr>
          <a:xfrm>
            <a:off x="3374498" y="2401581"/>
            <a:ext cx="1767558" cy="2153899"/>
            <a:chOff x="2437280" y="2364125"/>
            <a:chExt cx="1738034" cy="2730346"/>
          </a:xfrm>
        </p:grpSpPr>
        <p:sp>
          <p:nvSpPr>
            <p:cNvPr id="166" name="직사각형 165"/>
            <p:cNvSpPr/>
            <p:nvPr/>
          </p:nvSpPr>
          <p:spPr bwMode="auto">
            <a:xfrm>
              <a:off x="2437280" y="2364125"/>
              <a:ext cx="1738034" cy="407615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5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업무 및 정보화 현황분석</a:t>
              </a:r>
              <a:endParaRPr kumimoji="1" lang="en-US" altLang="ko-KR" sz="95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7" name="직사각형 166"/>
            <p:cNvSpPr/>
            <p:nvPr/>
          </p:nvSpPr>
          <p:spPr bwMode="auto">
            <a:xfrm>
              <a:off x="2437280" y="2908826"/>
              <a:ext cx="1738034" cy="4555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요구사항 수집분석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8" name="직사각형 167"/>
            <p:cNvSpPr/>
            <p:nvPr/>
          </p:nvSpPr>
          <p:spPr bwMode="auto">
            <a:xfrm>
              <a:off x="2437280" y="3501503"/>
              <a:ext cx="1738034" cy="407615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데이터 현황분석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9" name="직사각형 168"/>
            <p:cNvSpPr/>
            <p:nvPr/>
          </p:nvSpPr>
          <p:spPr bwMode="auto">
            <a:xfrm>
              <a:off x="2437280" y="4046205"/>
              <a:ext cx="1738034" cy="4555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인프라 현황분석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0" name="직사각형 169"/>
            <p:cNvSpPr/>
            <p:nvPr/>
          </p:nvSpPr>
          <p:spPr bwMode="auto">
            <a:xfrm>
              <a:off x="2437280" y="4638881"/>
              <a:ext cx="1738034" cy="4555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시사점 및 개선기회종합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71" name="그룹 65"/>
          <p:cNvGrpSpPr/>
          <p:nvPr/>
        </p:nvGrpSpPr>
        <p:grpSpPr>
          <a:xfrm>
            <a:off x="5374762" y="2398253"/>
            <a:ext cx="1767558" cy="2157228"/>
            <a:chOff x="2437280" y="2364126"/>
            <a:chExt cx="1738034" cy="1544992"/>
          </a:xfrm>
        </p:grpSpPr>
        <p:sp>
          <p:nvSpPr>
            <p:cNvPr id="172" name="직사각형 171"/>
            <p:cNvSpPr/>
            <p:nvPr/>
          </p:nvSpPr>
          <p:spPr bwMode="auto">
            <a:xfrm>
              <a:off x="2437280" y="2364126"/>
              <a:ext cx="1738034" cy="337553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목표모델 체계정의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3" name="직사각형 172"/>
            <p:cNvSpPr/>
            <p:nvPr/>
          </p:nvSpPr>
          <p:spPr bwMode="auto">
            <a:xfrm>
              <a:off x="2437280" y="2908826"/>
              <a:ext cx="1738034" cy="355390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목표 개선과제 정의</a:t>
              </a:r>
              <a:endParaRPr kumimoji="1" lang="en-US" altLang="ko-KR" sz="100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4" name="직사각형 173"/>
            <p:cNvSpPr/>
            <p:nvPr/>
          </p:nvSpPr>
          <p:spPr bwMode="auto">
            <a:xfrm>
              <a:off x="2437280" y="3501503"/>
              <a:ext cx="1738034" cy="407615"/>
            </a:xfrm>
            <a:prstGeom prst="rect">
              <a:avLst/>
            </a:prstGeom>
            <a:solidFill>
              <a:srgbClr val="4F81BD">
                <a:lumMod val="20000"/>
                <a:lumOff val="80000"/>
              </a:srgbClr>
            </a:solidFill>
            <a:ln w="6350" algn="ctr">
              <a:solidFill>
                <a:sysClr val="window" lastClr="FFFFFF">
                  <a:lumMod val="65000"/>
                </a:sysClr>
              </a:solidFill>
              <a:miter lim="800000"/>
              <a:headEnd/>
              <a:tailEnd/>
            </a:ln>
            <a:effectLst/>
          </p:spPr>
          <p:txBody>
            <a:bodyPr rtlCol="0" anchor="ctr" anchorCtr="0"/>
            <a:lstStyle/>
            <a:p>
              <a:pPr marL="0" marR="0" lvl="0" indent="0" algn="ctr" defTabSz="914400" eaLnBrk="1" fontAlgn="auto" latinLnBrk="0" hangingPunct="1">
                <a:lnSpc>
                  <a:spcPct val="120000"/>
                </a:lnSpc>
                <a:spcBef>
                  <a:spcPts val="100"/>
                </a:spcBef>
                <a:spcAft>
                  <a:spcPts val="1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950" b="0" i="0" u="none" strike="noStrike" kern="0" cap="none" spc="0" normalizeH="0" baseline="0" noProof="0" smtClean="0">
                  <a:ln>
                    <a:noFill/>
                  </a:ln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</a:rPr>
                <a:t>목표 업무프로세스 설계</a:t>
              </a:r>
              <a:endParaRPr kumimoji="1" lang="en-US" altLang="ko-KR" sz="950" b="0" i="0" u="none" strike="noStrike" kern="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176" name="그룹 175"/>
          <p:cNvGrpSpPr/>
          <p:nvPr/>
        </p:nvGrpSpPr>
        <p:grpSpPr>
          <a:xfrm>
            <a:off x="2210922" y="2732939"/>
            <a:ext cx="3" cy="1472020"/>
            <a:chOff x="2238354" y="2857497"/>
            <a:chExt cx="3" cy="1472020"/>
          </a:xfrm>
        </p:grpSpPr>
        <p:cxnSp>
          <p:nvCxnSpPr>
            <p:cNvPr id="177" name="직선 화살표 연결선 176"/>
            <p:cNvCxnSpPr/>
            <p:nvPr/>
          </p:nvCxnSpPr>
          <p:spPr bwMode="auto">
            <a:xfrm rot="16200000" flipH="1">
              <a:off x="2181006" y="2914845"/>
              <a:ext cx="114698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8" name="직선 화살표 연결선 177"/>
            <p:cNvCxnSpPr/>
            <p:nvPr/>
          </p:nvCxnSpPr>
          <p:spPr bwMode="auto">
            <a:xfrm rot="16200000" flipH="1">
              <a:off x="2181007" y="3371650"/>
              <a:ext cx="114699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79" name="직선 화살표 연결선 178"/>
            <p:cNvCxnSpPr/>
            <p:nvPr/>
          </p:nvCxnSpPr>
          <p:spPr bwMode="auto">
            <a:xfrm rot="16200000" flipH="1">
              <a:off x="2181007" y="4272167"/>
              <a:ext cx="114699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0" name="직선 화살표 연결선 179"/>
            <p:cNvCxnSpPr/>
            <p:nvPr/>
          </p:nvCxnSpPr>
          <p:spPr bwMode="auto">
            <a:xfrm rot="16200000" flipH="1">
              <a:off x="2181007" y="3800278"/>
              <a:ext cx="114699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grpSp>
        <p:nvGrpSpPr>
          <p:cNvPr id="181" name="그룹 180"/>
          <p:cNvGrpSpPr/>
          <p:nvPr/>
        </p:nvGrpSpPr>
        <p:grpSpPr>
          <a:xfrm>
            <a:off x="4282623" y="2732939"/>
            <a:ext cx="3" cy="1472020"/>
            <a:chOff x="2238354" y="2857497"/>
            <a:chExt cx="3" cy="1472020"/>
          </a:xfrm>
        </p:grpSpPr>
        <p:cxnSp>
          <p:nvCxnSpPr>
            <p:cNvPr id="182" name="직선 화살표 연결선 181"/>
            <p:cNvCxnSpPr/>
            <p:nvPr/>
          </p:nvCxnSpPr>
          <p:spPr bwMode="auto">
            <a:xfrm rot="16200000" flipH="1">
              <a:off x="2181006" y="2914845"/>
              <a:ext cx="114698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3" name="직선 화살표 연결선 182"/>
            <p:cNvCxnSpPr/>
            <p:nvPr/>
          </p:nvCxnSpPr>
          <p:spPr bwMode="auto">
            <a:xfrm rot="16200000" flipH="1">
              <a:off x="2181007" y="3371650"/>
              <a:ext cx="114699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4" name="직선 화살표 연결선 183"/>
            <p:cNvCxnSpPr/>
            <p:nvPr/>
          </p:nvCxnSpPr>
          <p:spPr bwMode="auto">
            <a:xfrm rot="16200000" flipH="1">
              <a:off x="2181007" y="4272167"/>
              <a:ext cx="114699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85" name="직선 화살표 연결선 184"/>
            <p:cNvCxnSpPr/>
            <p:nvPr/>
          </p:nvCxnSpPr>
          <p:spPr bwMode="auto">
            <a:xfrm rot="16200000" flipH="1">
              <a:off x="2181007" y="3800278"/>
              <a:ext cx="114699" cy="1"/>
            </a:xfrm>
            <a:prstGeom prst="straightConnector1">
              <a:avLst/>
            </a:prstGeom>
            <a:solidFill>
              <a:srgbClr val="FBB779"/>
            </a:solidFill>
            <a:ln w="6350" cap="flat" cmpd="sng" algn="ctr">
              <a:solidFill>
                <a:sysClr val="windowText" lastClr="000000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</p:grpSp>
      <p:cxnSp>
        <p:nvCxnSpPr>
          <p:cNvPr id="187" name="직선 화살표 연결선 186"/>
          <p:cNvCxnSpPr>
            <a:stCxn id="172" idx="2"/>
            <a:endCxn id="173" idx="0"/>
          </p:cNvCxnSpPr>
          <p:nvPr/>
        </p:nvCxnSpPr>
        <p:spPr bwMode="auto">
          <a:xfrm>
            <a:off x="6258541" y="2869569"/>
            <a:ext cx="0" cy="289233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cxnSp>
        <p:nvCxnSpPr>
          <p:cNvPr id="188" name="직선 화살표 연결선 187"/>
          <p:cNvCxnSpPr>
            <a:stCxn id="173" idx="2"/>
            <a:endCxn id="174" idx="0"/>
          </p:cNvCxnSpPr>
          <p:nvPr/>
        </p:nvCxnSpPr>
        <p:spPr bwMode="auto">
          <a:xfrm>
            <a:off x="6258541" y="3655023"/>
            <a:ext cx="0" cy="331317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  <p:sp>
        <p:nvSpPr>
          <p:cNvPr id="191" name="직사각형 190"/>
          <p:cNvSpPr/>
          <p:nvPr/>
        </p:nvSpPr>
        <p:spPr bwMode="auto">
          <a:xfrm>
            <a:off x="7425769" y="2401627"/>
            <a:ext cx="1847711" cy="467942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6350" algn="ctr">
            <a:solidFill>
              <a:sysClr val="window" lastClr="FFFFFF">
                <a:lumMod val="65000"/>
              </a:sysClr>
            </a:solidFill>
            <a:miter lim="800000"/>
            <a:headEnd/>
            <a:tailEnd/>
          </a:ln>
          <a:effectLst/>
        </p:spPr>
        <p:txBody>
          <a:bodyPr rtlCol="0" anchor="ctr" anchorCtr="0"/>
          <a:lstStyle/>
          <a:p>
            <a:pPr algn="ctr" latinLnBrk="0">
              <a:spcBef>
                <a:spcPts val="100"/>
              </a:spcBef>
              <a:spcAft>
                <a:spcPts val="100"/>
              </a:spcAft>
              <a:defRPr/>
            </a:pPr>
            <a:r>
              <a:rPr kumimoji="1" lang="ko-KR" altLang="en-US" sz="1000" kern="0" dirty="0" smtClean="0">
                <a:latin typeface="맑은 고딕" pitchFamily="50" charset="-127"/>
                <a:ea typeface="맑은 고딕" pitchFamily="50" charset="-127"/>
              </a:rPr>
              <a:t>이행과제 및 단계별 </a:t>
            </a:r>
            <a:r>
              <a:rPr kumimoji="1" lang="en-US" altLang="ko-KR" sz="1000" kern="0" dirty="0" smtClean="0">
                <a:latin typeface="맑은 고딕" pitchFamily="50" charset="-127"/>
                <a:ea typeface="맑은 고딕" pitchFamily="50" charset="-127"/>
              </a:rPr>
              <a:t/>
            </a:r>
            <a:br>
              <a:rPr kumimoji="1" lang="en-US" altLang="ko-KR" sz="1000" kern="0" dirty="0" smtClean="0">
                <a:latin typeface="맑은 고딕" pitchFamily="50" charset="-127"/>
                <a:ea typeface="맑은 고딕" pitchFamily="50" charset="-127"/>
              </a:rPr>
            </a:br>
            <a:r>
              <a:rPr kumimoji="1" lang="ko-KR" altLang="en-US" sz="1000" kern="0" dirty="0" smtClean="0">
                <a:latin typeface="맑은 고딕" pitchFamily="50" charset="-127"/>
                <a:ea typeface="맑은 고딕" pitchFamily="50" charset="-127"/>
              </a:rPr>
              <a:t>로드맵 정의</a:t>
            </a:r>
            <a:endParaRPr kumimoji="1" lang="en-US" altLang="ko-KR" sz="1000" kern="0" dirty="0" smtClean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2" name="직사각형 191"/>
          <p:cNvSpPr/>
          <p:nvPr/>
        </p:nvSpPr>
        <p:spPr bwMode="auto">
          <a:xfrm>
            <a:off x="7425769" y="3166846"/>
            <a:ext cx="1847711" cy="488177"/>
          </a:xfrm>
          <a:prstGeom prst="rect">
            <a:avLst/>
          </a:prstGeom>
          <a:solidFill>
            <a:srgbClr val="4F81BD">
              <a:lumMod val="20000"/>
              <a:lumOff val="80000"/>
            </a:srgbClr>
          </a:solidFill>
          <a:ln w="6350" algn="ctr">
            <a:solidFill>
              <a:sysClr val="window" lastClr="FFFFFF">
                <a:lumMod val="65000"/>
              </a:sysClr>
            </a:solidFill>
            <a:miter lim="800000"/>
            <a:headEnd/>
            <a:tailEnd/>
          </a:ln>
          <a:effectLst/>
        </p:spPr>
        <p:txBody>
          <a:bodyPr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목표 시스템 구성도</a:t>
            </a:r>
            <a:endParaRPr kumimoji="1" lang="en-US" altLang="ko-KR" sz="1000" b="0" i="0" u="none" strike="noStrike" kern="0" cap="none" spc="0" normalizeH="0" baseline="0" noProof="0" dirty="0" smtClean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96" name="직선 화살표 연결선 195"/>
          <p:cNvCxnSpPr>
            <a:stCxn id="191" idx="2"/>
            <a:endCxn id="192" idx="0"/>
          </p:cNvCxnSpPr>
          <p:nvPr/>
        </p:nvCxnSpPr>
        <p:spPr bwMode="auto">
          <a:xfrm>
            <a:off x="8349625" y="2869569"/>
            <a:ext cx="0" cy="297277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triangl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4977084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4519" y="0"/>
            <a:ext cx="4598481" cy="789378"/>
          </a:xfrm>
        </p:spPr>
        <p:txBody>
          <a:bodyPr/>
          <a:lstStyle/>
          <a:p>
            <a:r>
              <a:rPr lang="en-US" altLang="ko-KR" smtClean="0"/>
              <a:t>Ⅰ-4 </a:t>
            </a:r>
            <a:r>
              <a:rPr lang="ko-KR" altLang="en-US" dirty="0" smtClean="0"/>
              <a:t>사업추진 일정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4953001" y="-1"/>
            <a:ext cx="4572508" cy="807809"/>
          </a:xfrm>
        </p:spPr>
        <p:txBody>
          <a:bodyPr/>
          <a:lstStyle/>
          <a:p>
            <a:r>
              <a:rPr lang="en-US" altLang="ko-KR" dirty="0"/>
              <a:t>Ⅰ. </a:t>
            </a:r>
            <a:r>
              <a:rPr lang="ko-KR" altLang="en-US" dirty="0"/>
              <a:t>사업의 </a:t>
            </a:r>
            <a:r>
              <a:rPr lang="ko-KR" altLang="en-US" dirty="0" smtClean="0"/>
              <a:t>개요</a:t>
            </a:r>
            <a:endParaRPr lang="en-US" altLang="ko-KR" dirty="0" smtClean="0"/>
          </a:p>
          <a:p>
            <a:r>
              <a:rPr lang="en-US" altLang="ko-KR" smtClean="0"/>
              <a:t>4. </a:t>
            </a:r>
            <a:r>
              <a:rPr lang="ko-KR" altLang="en-US" dirty="0" smtClean="0"/>
              <a:t>사업추진 일정</a:t>
            </a:r>
            <a:endParaRPr lang="en-US" altLang="ko-KR" dirty="0" smtClean="0"/>
          </a:p>
        </p:txBody>
      </p:sp>
      <p:sp>
        <p:nvSpPr>
          <p:cNvPr id="292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70736"/>
            <a:ext cx="9180512" cy="623573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 smtClean="0"/>
              <a:t>본 사업은 사업착수 </a:t>
            </a:r>
            <a:r>
              <a:rPr lang="ko-KR" altLang="en-US" sz="1600" smtClean="0"/>
              <a:t>이후 </a:t>
            </a:r>
            <a:r>
              <a:rPr lang="en-US" altLang="ko-KR" sz="1600" smtClean="0"/>
              <a:t>2.5</a:t>
            </a:r>
            <a:r>
              <a:rPr lang="ko-KR" altLang="en-US" sz="1600" smtClean="0"/>
              <a:t>개월 </a:t>
            </a:r>
            <a:r>
              <a:rPr lang="ko-KR" altLang="en-US" sz="1600" dirty="0" smtClean="0"/>
              <a:t>일정이며 방향성수립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현황 및 정보시스템 요건분석</a:t>
            </a:r>
            <a:r>
              <a:rPr lang="en-US" altLang="ko-KR" sz="1600" smtClean="0"/>
              <a:t>, </a:t>
            </a:r>
            <a:r>
              <a:rPr lang="ko-KR" altLang="en-US" sz="1600" smtClean="0"/>
              <a:t>업무 개선안 설계 </a:t>
            </a:r>
            <a:r>
              <a:rPr lang="ko-KR" altLang="en-US" sz="1600" dirty="0" smtClean="0"/>
              <a:t>및 마스터플랜 수립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이행계획 수립의 일정으로 진행됨</a:t>
            </a:r>
            <a:endParaRPr lang="ko-KR" altLang="en-US" sz="1600" dirty="0"/>
          </a:p>
        </p:txBody>
      </p:sp>
      <p:graphicFrame>
        <p:nvGraphicFramePr>
          <p:cNvPr id="293" name="표 292"/>
          <p:cNvGraphicFramePr>
            <a:graphicFrameLocks noGrp="1"/>
          </p:cNvGraphicFramePr>
          <p:nvPr>
            <p:extLst/>
          </p:nvPr>
        </p:nvGraphicFramePr>
        <p:xfrm>
          <a:off x="354519" y="1628800"/>
          <a:ext cx="9134986" cy="4608512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90358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970150"/>
                <a:gridCol w="67996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9965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996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79965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67996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679965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622238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639806"/>
                <a:gridCol w="639807"/>
                <a:gridCol w="639807"/>
                <a:gridCol w="639806"/>
              </a:tblGrid>
              <a:tr h="326744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1300" b="1" kern="0" dirty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구분       </a:t>
                      </a:r>
                    </a:p>
                  </a:txBody>
                  <a:tcPr marL="84406" marR="84406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</a:t>
                      </a:r>
                      <a:r>
                        <a:rPr lang="ko-KR" altLang="en-US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</a:t>
                      </a:r>
                      <a:r>
                        <a:rPr lang="ko-KR" altLang="en-US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3</a:t>
                      </a:r>
                      <a:r>
                        <a:rPr lang="ko-KR" altLang="en-US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4</a:t>
                      </a:r>
                      <a:r>
                        <a:rPr lang="ko-KR" altLang="en-US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5</a:t>
                      </a:r>
                      <a:r>
                        <a:rPr lang="ko-KR" altLang="en-US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6</a:t>
                      </a:r>
                      <a:r>
                        <a:rPr lang="ko-KR" altLang="en-US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7</a:t>
                      </a:r>
                      <a:r>
                        <a:rPr lang="ko-KR" altLang="en-US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+mn-ea"/>
                          <a:cs typeface="+mn-cs"/>
                        </a:rPr>
                        <a:t>주          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8</a:t>
                      </a:r>
                      <a:r>
                        <a:rPr lang="ko-KR" altLang="en-US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    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9</a:t>
                      </a:r>
                      <a:r>
                        <a:rPr lang="ko-KR" altLang="en-US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10</a:t>
                      </a:r>
                      <a:r>
                        <a:rPr lang="ko-KR" altLang="en-US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39788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11</a:t>
                      </a:r>
                      <a:r>
                        <a:rPr lang="ko-KR" altLang="en-US" sz="1300" b="1" kern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주</a:t>
                      </a:r>
                      <a:endParaRPr lang="ko-KR" altLang="en-US" sz="1300" b="1" kern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16615" marR="16615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969397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사업관리 및 지원</a:t>
                      </a:r>
                      <a:endParaRPr kumimoji="1" lang="ko-KR" altLang="en-US" sz="1300" b="0" kern="1200" spc="-60" baseline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" marR="3323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ko-KR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936104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시스템 현황 파악</a:t>
                      </a:r>
                      <a:endParaRPr kumimoji="1" lang="en-US" altLang="ko-KR" sz="1300" b="0" kern="1200" spc="-60" baseline="0" smtClean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및</a:t>
                      </a:r>
                      <a:endParaRPr kumimoji="1" lang="en-US" altLang="ko-KR" sz="1300" b="0" kern="1200" spc="-60" baseline="0" smtClean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방향성 </a:t>
                      </a:r>
                      <a:r>
                        <a:rPr kumimoji="1" lang="ko-KR" altLang="en-US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수립</a:t>
                      </a:r>
                      <a:endParaRPr kumimoji="1" lang="ko-KR" altLang="en-US" sz="1300" b="0" kern="1200" spc="-60" baseline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" marR="3323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72008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현황</a:t>
                      </a:r>
                      <a:r>
                        <a:rPr kumimoji="1" lang="en-US" altLang="ko-KR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</a:t>
                      </a: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요건 분석</a:t>
                      </a:r>
                      <a:endParaRPr kumimoji="1" lang="en-US" altLang="ko-KR" sz="1300" b="0" kern="1200" spc="-60" baseline="0" dirty="0" smtClean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en-US" altLang="ko-KR" sz="1300" b="0" kern="1200" spc="-60" baseline="0" dirty="0" smtClean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ko-KR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+</a:t>
                      </a: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en-US" altLang="ko-KR" sz="1300" b="0" kern="1200" spc="-60" baseline="0" dirty="0" smtClean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목표</a:t>
                      </a:r>
                      <a:endParaRPr kumimoji="1" lang="en-US" altLang="ko-KR" sz="1300" b="0" kern="1200" spc="-60" baseline="0" dirty="0" smtClean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모델 설계</a:t>
                      </a:r>
                      <a:endParaRPr kumimoji="1" lang="ko-KR" altLang="en-US" sz="1300" b="0" kern="1200" spc="-60" baseline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" marR="3323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업무</a:t>
                      </a:r>
                      <a:endParaRPr kumimoji="1" lang="en-US" altLang="ko-KR" sz="1300" b="0" kern="1200" spc="-60" baseline="0" dirty="0" smtClean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spc="-60" baseline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개선안 설계</a:t>
                      </a:r>
                      <a:endParaRPr kumimoji="1" lang="en-US" altLang="ko-KR" sz="1300" b="0" kern="1200" spc="-60" baseline="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" marR="3323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720080">
                <a:tc vMerge="1">
                  <a:txBody>
                    <a:bodyPr/>
                    <a:lstStyle/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나눔고딕 ExtraBold" panose="020D0904000000000000" pitchFamily="50" charset="-127"/>
                        <a:ea typeface="나눔고딕 ExtraBold" panose="020D0904000000000000" pitchFamily="50" charset="-127"/>
                        <a:cs typeface="+mn-cs"/>
                      </a:endParaRPr>
                    </a:p>
                  </a:txBody>
                  <a:tcPr marL="3600" marR="3600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dirty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정보화 </a:t>
                      </a:r>
                      <a:r>
                        <a:rPr kumimoji="1" lang="en-US" altLang="ko-KR" sz="1300" b="0" kern="120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/>
                      </a:r>
                      <a:br>
                        <a:rPr kumimoji="1" lang="en-US" altLang="ko-KR" sz="1300" b="0" kern="120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</a:br>
                      <a:r>
                        <a:rPr kumimoji="1" lang="ko-KR" altLang="en-US" sz="1300" b="0" kern="120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마스터 플랜 수립</a:t>
                      </a:r>
                      <a:endParaRPr kumimoji="1" lang="en-US" altLang="ko-KR" sz="1300" b="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" marR="3323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897987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300" b="0" kern="1200" dirty="0" smtClean="0">
                          <a:ln>
                            <a:solidFill>
                              <a:schemeClr val="bg1">
                                <a:lumMod val="75000"/>
                                <a:alpha val="7000"/>
                              </a:schemeClr>
                            </a:solidFill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이행계획 수립</a:t>
                      </a:r>
                      <a:endParaRPr kumimoji="1" lang="ko-KR" altLang="en-US" sz="1300" b="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323" marR="3323" anchor="ctr">
                    <a:lnL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algn="ctr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kumimoji="1" lang="en-US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"/>
                        </a:defRPr>
                      </a:lvl9pPr>
                    </a:lstStyle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indent="-952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Pct val="100000"/>
                        <a:buFont typeface="Arial" panose="020B0604020202020204" pitchFamily="34" charset="0"/>
                        <a:buChar char="•"/>
                      </a:pPr>
                      <a:endParaRPr kumimoji="1" lang="ko-KR" altLang="en-US" sz="1200" kern="1200" dirty="0">
                        <a:ln>
                          <a:solidFill>
                            <a:schemeClr val="bg1">
                              <a:lumMod val="75000"/>
                              <a:alpha val="700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84406" marR="84406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</a:tr>
            </a:tbl>
          </a:graphicData>
        </a:graphic>
      </p:graphicFrame>
      <p:sp>
        <p:nvSpPr>
          <p:cNvPr id="294" name="Line 662"/>
          <p:cNvSpPr>
            <a:spLocks noChangeShapeType="1"/>
          </p:cNvSpPr>
          <p:nvPr/>
        </p:nvSpPr>
        <p:spPr bwMode="gray">
          <a:xfrm>
            <a:off x="2332493" y="2369771"/>
            <a:ext cx="6913798" cy="26917"/>
          </a:xfrm>
          <a:prstGeom prst="line">
            <a:avLst/>
          </a:prstGeom>
          <a:noFill/>
          <a:ln w="25400">
            <a:solidFill>
              <a:srgbClr val="006699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/>
            <a:endParaRPr lang="ko-KR" altLang="en-US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5" name="타원 294"/>
          <p:cNvSpPr/>
          <p:nvPr/>
        </p:nvSpPr>
        <p:spPr>
          <a:xfrm>
            <a:off x="2222616" y="2333928"/>
            <a:ext cx="99197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296" name="Text Box 59"/>
          <p:cNvSpPr txBox="1">
            <a:spLocks noChangeArrowheads="1"/>
          </p:cNvSpPr>
          <p:nvPr/>
        </p:nvSpPr>
        <p:spPr bwMode="auto">
          <a:xfrm>
            <a:off x="2366632" y="2187516"/>
            <a:ext cx="564183" cy="1538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0" hangingPunct="1"/>
            <a:r>
              <a:rPr lang="ko-KR" altLang="en-US" sz="10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착수</a:t>
            </a:r>
            <a:endParaRPr lang="ko-KR" altLang="en-US" sz="10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8" name="Text Box 59"/>
          <p:cNvSpPr txBox="1">
            <a:spLocks noChangeArrowheads="1"/>
          </p:cNvSpPr>
          <p:nvPr/>
        </p:nvSpPr>
        <p:spPr bwMode="auto">
          <a:xfrm>
            <a:off x="8737571" y="2216200"/>
            <a:ext cx="658656" cy="15388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latinLnBrk="0" hangingPunct="1"/>
            <a:r>
              <a:rPr lang="ko-KR" altLang="en-US" sz="1000" spc="-7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최종보고</a:t>
            </a:r>
          </a:p>
        </p:txBody>
      </p:sp>
      <p:sp>
        <p:nvSpPr>
          <p:cNvPr id="299" name="Text Box 59"/>
          <p:cNvSpPr txBox="1">
            <a:spLocks noChangeArrowheads="1"/>
          </p:cNvSpPr>
          <p:nvPr/>
        </p:nvSpPr>
        <p:spPr bwMode="auto">
          <a:xfrm>
            <a:off x="2090795" y="2000077"/>
            <a:ext cx="1167709" cy="13849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900" spc="-7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환경 </a:t>
            </a:r>
            <a:r>
              <a:rPr lang="ko-KR" altLang="en-US" sz="9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구축 및 </a:t>
            </a:r>
            <a:r>
              <a:rPr lang="ko-KR" altLang="en-US" sz="900" spc="-70" dirty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계약</a:t>
            </a:r>
          </a:p>
        </p:txBody>
      </p:sp>
      <p:grpSp>
        <p:nvGrpSpPr>
          <p:cNvPr id="301" name="그룹 86"/>
          <p:cNvGrpSpPr/>
          <p:nvPr/>
        </p:nvGrpSpPr>
        <p:grpSpPr>
          <a:xfrm>
            <a:off x="8959451" y="2564907"/>
            <a:ext cx="421324" cy="192368"/>
            <a:chOff x="8172400" y="2060848"/>
            <a:chExt cx="426262" cy="192368"/>
          </a:xfrm>
        </p:grpSpPr>
        <p:sp>
          <p:nvSpPr>
            <p:cNvPr id="302" name="Text Box 1079"/>
            <p:cNvSpPr txBox="1">
              <a:spLocks noChangeArrowheads="1"/>
            </p:cNvSpPr>
            <p:nvPr/>
          </p:nvSpPr>
          <p:spPr bwMode="auto">
            <a:xfrm>
              <a:off x="8172400" y="2060848"/>
              <a:ext cx="285444" cy="1923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15244" tIns="15244" rIns="15244" bIns="15244" anchor="ctr">
              <a:spAutoFit/>
            </a:bodyPr>
            <a:lstStyle/>
            <a:p>
              <a:pPr marL="0" marR="0" lvl="0" indent="-90488" defTabSz="593725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>
                  <a:srgbClr val="595959"/>
                </a:buClr>
                <a:buSzPct val="80000"/>
                <a:buFontTx/>
                <a:buNone/>
                <a:tabLst/>
                <a:defRPr/>
              </a:pPr>
              <a:r>
                <a:rPr kumimoji="1" lang="ko-KR" altLang="en-US" sz="1050" b="0" i="0" u="none" strike="noStrike" kern="0" cap="none" spc="-70" normalizeH="0" baseline="0" noProof="0" dirty="0" smtClean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맑은 고딕" pitchFamily="50" charset="-127"/>
                  <a:ea typeface="맑은 고딕" pitchFamily="50" charset="-127"/>
                  <a:sym typeface="Monotype Sorts"/>
                </a:rPr>
                <a:t>종료</a:t>
              </a:r>
              <a:endParaRPr kumimoji="1" lang="ko-KR" altLang="en-US" sz="1050" b="0" i="0" u="none" strike="noStrike" kern="0" cap="none" spc="-7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sym typeface="Monotype Sorts"/>
              </a:endParaRPr>
            </a:p>
          </p:txBody>
        </p:sp>
        <p:sp>
          <p:nvSpPr>
            <p:cNvPr id="303" name="이등변 삼각형 302"/>
            <p:cNvSpPr/>
            <p:nvPr/>
          </p:nvSpPr>
          <p:spPr bwMode="auto">
            <a:xfrm rot="10800000" flipV="1">
              <a:off x="8459787" y="2096863"/>
              <a:ext cx="138875" cy="108000"/>
            </a:xfrm>
            <a:prstGeom prst="triangle">
              <a:avLst/>
            </a:prstGeom>
            <a:solidFill>
              <a:srgbClr val="C00000"/>
            </a:solidFill>
            <a:ln w="9525">
              <a:solidFill>
                <a:sysClr val="window" lastClr="FFFFFF"/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/>
            <a:lstStyle/>
            <a:p>
              <a:pPr marL="0" marR="0" lvl="0" indent="0" algn="ctr" defTabSz="1042988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271AA"/>
                </a:buClr>
                <a:buSzPct val="140000"/>
                <a:buFontTx/>
                <a:buNone/>
                <a:tabLst>
                  <a:tab pos="5648325" algn="l"/>
                </a:tabLst>
                <a:defRPr/>
              </a:pPr>
              <a:endParaRPr kumimoji="0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sym typeface="Monotype Sorts"/>
              </a:endParaRPr>
            </a:p>
          </p:txBody>
        </p:sp>
      </p:grpSp>
      <p:grpSp>
        <p:nvGrpSpPr>
          <p:cNvPr id="304" name="그룹 151"/>
          <p:cNvGrpSpPr/>
          <p:nvPr/>
        </p:nvGrpSpPr>
        <p:grpSpPr>
          <a:xfrm>
            <a:off x="2288704" y="3627032"/>
            <a:ext cx="2707426" cy="90000"/>
            <a:chOff x="708283" y="1871012"/>
            <a:chExt cx="2456414" cy="90000"/>
          </a:xfrm>
        </p:grpSpPr>
        <p:sp>
          <p:nvSpPr>
            <p:cNvPr id="305" name="Line 662"/>
            <p:cNvSpPr>
              <a:spLocks noChangeShapeType="1"/>
            </p:cNvSpPr>
            <p:nvPr/>
          </p:nvSpPr>
          <p:spPr bwMode="gray">
            <a:xfrm>
              <a:off x="798281" y="1916012"/>
              <a:ext cx="2276414" cy="0"/>
            </a:xfrm>
            <a:prstGeom prst="line">
              <a:avLst/>
            </a:prstGeom>
            <a:noFill/>
            <a:ln w="25400">
              <a:solidFill>
                <a:srgbClr val="0066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06" name="타원 305"/>
            <p:cNvSpPr/>
            <p:nvPr/>
          </p:nvSpPr>
          <p:spPr>
            <a:xfrm>
              <a:off x="708283" y="1871012"/>
              <a:ext cx="90000" cy="90000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rgbClr val="4F81BD">
                  <a:lumMod val="75000"/>
                </a:srgbClr>
              </a:solidFill>
            </a:ln>
            <a:effectLst>
              <a:outerShdw blurRad="50800" dist="254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07" name="타원 306"/>
            <p:cNvSpPr/>
            <p:nvPr/>
          </p:nvSpPr>
          <p:spPr>
            <a:xfrm>
              <a:off x="3074697" y="1871012"/>
              <a:ext cx="90000" cy="90000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rgbClr val="4F81BD">
                  <a:lumMod val="75000"/>
                </a:srgbClr>
              </a:solidFill>
            </a:ln>
            <a:effectLst>
              <a:outerShdw blurRad="50800" dist="254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</p:grpSp>
      <p:sp>
        <p:nvSpPr>
          <p:cNvPr id="308" name="Text Box 59"/>
          <p:cNvSpPr txBox="1">
            <a:spLocks noChangeArrowheads="1"/>
          </p:cNvSpPr>
          <p:nvPr/>
        </p:nvSpPr>
        <p:spPr bwMode="auto">
          <a:xfrm>
            <a:off x="2463653" y="3431153"/>
            <a:ext cx="2345331" cy="169277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100" spc="-70" dirty="0" err="1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정보화전략</a:t>
            </a:r>
            <a:r>
              <a:rPr lang="ko-KR" altLang="en-US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 검토 및 방향성 수립</a:t>
            </a:r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3" name="Text Box 59"/>
          <p:cNvSpPr txBox="1">
            <a:spLocks noChangeArrowheads="1"/>
          </p:cNvSpPr>
          <p:nvPr/>
        </p:nvSpPr>
        <p:spPr bwMode="auto">
          <a:xfrm>
            <a:off x="3392875" y="4061274"/>
            <a:ext cx="1584720" cy="169277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1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현행업무프로세스 분석</a:t>
            </a:r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4" name="Text Box 59"/>
          <p:cNvSpPr txBox="1">
            <a:spLocks noChangeArrowheads="1"/>
          </p:cNvSpPr>
          <p:nvPr/>
        </p:nvSpPr>
        <p:spPr bwMode="auto">
          <a:xfrm>
            <a:off x="5097016" y="3933056"/>
            <a:ext cx="1340963" cy="338554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업무개선과제 </a:t>
            </a:r>
            <a:endParaRPr lang="en-US" altLang="ko-KR" sz="1100" spc="-70" dirty="0" smtClean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latinLnBrk="0" hangingPunct="1"/>
            <a:r>
              <a:rPr lang="ko-KR" altLang="en-US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정의 </a:t>
            </a:r>
            <a:r>
              <a:rPr lang="ko-KR" altLang="en-US" sz="11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및 기본설계</a:t>
            </a:r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5" name="Line 662"/>
          <p:cNvSpPr>
            <a:spLocks noChangeShapeType="1"/>
          </p:cNvSpPr>
          <p:nvPr/>
        </p:nvSpPr>
        <p:spPr bwMode="gray">
          <a:xfrm flipV="1">
            <a:off x="3549611" y="5086861"/>
            <a:ext cx="3968487" cy="3845"/>
          </a:xfrm>
          <a:prstGeom prst="line">
            <a:avLst/>
          </a:prstGeom>
          <a:noFill/>
          <a:ln w="25400">
            <a:solidFill>
              <a:srgbClr val="00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/>
            <a:endParaRPr lang="ko-KR" altLang="en-US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6" name="타원 315"/>
          <p:cNvSpPr/>
          <p:nvPr/>
        </p:nvSpPr>
        <p:spPr>
          <a:xfrm>
            <a:off x="3480772" y="5045706"/>
            <a:ext cx="99196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317" name="Text Box 59"/>
          <p:cNvSpPr txBox="1">
            <a:spLocks noChangeArrowheads="1"/>
          </p:cNvSpPr>
          <p:nvPr/>
        </p:nvSpPr>
        <p:spPr bwMode="auto">
          <a:xfrm>
            <a:off x="3447707" y="4653136"/>
            <a:ext cx="2142641" cy="338554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정보시스템 현황분석 </a:t>
            </a:r>
            <a:endParaRPr lang="en-US" altLang="ko-KR" sz="1100" spc="-70" dirty="0" smtClean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 latinLnBrk="0" hangingPunct="1"/>
            <a:r>
              <a:rPr lang="ko-KR" altLang="en-US" sz="110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및 요건 정의</a:t>
            </a:r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8" name="타원 317"/>
          <p:cNvSpPr/>
          <p:nvPr/>
        </p:nvSpPr>
        <p:spPr>
          <a:xfrm>
            <a:off x="7518099" y="5038806"/>
            <a:ext cx="99197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319" name="Text Box 59"/>
          <p:cNvSpPr txBox="1">
            <a:spLocks noChangeArrowheads="1"/>
          </p:cNvSpPr>
          <p:nvPr/>
        </p:nvSpPr>
        <p:spPr bwMode="auto">
          <a:xfrm>
            <a:off x="5976414" y="4719732"/>
            <a:ext cx="1440160" cy="323165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05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정보시스템 구조 및 </a:t>
            </a:r>
            <a:r>
              <a:rPr lang="ko-KR" altLang="en-US" sz="105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상세기능 개선 방안</a:t>
            </a:r>
            <a:endParaRPr lang="ko-KR" altLang="en-US" sz="105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0" name="타원 319"/>
          <p:cNvSpPr/>
          <p:nvPr/>
        </p:nvSpPr>
        <p:spPr>
          <a:xfrm>
            <a:off x="5728579" y="5045706"/>
            <a:ext cx="99197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321" name="Line 662"/>
          <p:cNvSpPr>
            <a:spLocks noChangeShapeType="1"/>
          </p:cNvSpPr>
          <p:nvPr/>
        </p:nvSpPr>
        <p:spPr bwMode="gray">
          <a:xfrm>
            <a:off x="2603925" y="4323482"/>
            <a:ext cx="4015939" cy="1724"/>
          </a:xfrm>
          <a:prstGeom prst="line">
            <a:avLst/>
          </a:prstGeom>
          <a:noFill/>
          <a:ln w="25400">
            <a:solidFill>
              <a:srgbClr val="0066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/>
          <a:p>
            <a:pPr algn="ctr"/>
            <a:endParaRPr lang="ko-KR" altLang="en-US" b="1" dirty="0">
              <a:solidFill>
                <a:srgbClr val="FFFFFF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2" name="타원 321">
            <a:hlinkClick r:id="rId2" action="ppaction://hlinkpres?slideindex=1&amp;slidetitle="/>
          </p:cNvPr>
          <p:cNvSpPr/>
          <p:nvPr/>
        </p:nvSpPr>
        <p:spPr>
          <a:xfrm>
            <a:off x="4880992" y="4271581"/>
            <a:ext cx="99197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323" name="타원 322"/>
          <p:cNvSpPr/>
          <p:nvPr/>
        </p:nvSpPr>
        <p:spPr>
          <a:xfrm>
            <a:off x="2504728" y="4271581"/>
            <a:ext cx="99197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324" name="타원 323"/>
          <p:cNvSpPr/>
          <p:nvPr/>
        </p:nvSpPr>
        <p:spPr>
          <a:xfrm>
            <a:off x="6547856" y="4280207"/>
            <a:ext cx="99197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325" name="Text Box 59"/>
          <p:cNvSpPr txBox="1">
            <a:spLocks noChangeArrowheads="1"/>
          </p:cNvSpPr>
          <p:nvPr/>
        </p:nvSpPr>
        <p:spPr bwMode="auto">
          <a:xfrm>
            <a:off x="7761312" y="5852011"/>
            <a:ext cx="1713988" cy="169277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1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구현방안 수립</a:t>
            </a:r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26" name="그룹 146"/>
          <p:cNvGrpSpPr/>
          <p:nvPr/>
        </p:nvGrpSpPr>
        <p:grpSpPr>
          <a:xfrm>
            <a:off x="8147230" y="6074996"/>
            <a:ext cx="938152" cy="90000"/>
            <a:chOff x="1325911" y="1779349"/>
            <a:chExt cx="851180" cy="90000"/>
          </a:xfrm>
        </p:grpSpPr>
        <p:sp>
          <p:nvSpPr>
            <p:cNvPr id="327" name="Line 662"/>
            <p:cNvSpPr>
              <a:spLocks noChangeShapeType="1"/>
            </p:cNvSpPr>
            <p:nvPr/>
          </p:nvSpPr>
          <p:spPr bwMode="gray">
            <a:xfrm flipV="1">
              <a:off x="1441785" y="1824349"/>
              <a:ext cx="633152" cy="0"/>
            </a:xfrm>
            <a:prstGeom prst="line">
              <a:avLst/>
            </a:prstGeom>
            <a:noFill/>
            <a:ln w="25400">
              <a:solidFill>
                <a:srgbClr val="0066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28" name="타원 327"/>
            <p:cNvSpPr/>
            <p:nvPr/>
          </p:nvSpPr>
          <p:spPr>
            <a:xfrm>
              <a:off x="1325911" y="1779349"/>
              <a:ext cx="90000" cy="90000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rgbClr val="4F81BD">
                  <a:lumMod val="75000"/>
                </a:srgbClr>
              </a:solidFill>
            </a:ln>
            <a:effectLst>
              <a:outerShdw blurRad="50800" dist="254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29" name="타원 328"/>
            <p:cNvSpPr/>
            <p:nvPr/>
          </p:nvSpPr>
          <p:spPr>
            <a:xfrm>
              <a:off x="2087091" y="1779349"/>
              <a:ext cx="90000" cy="90000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rgbClr val="4F81BD">
                  <a:lumMod val="75000"/>
                </a:srgbClr>
              </a:solidFill>
            </a:ln>
            <a:effectLst>
              <a:outerShdw blurRad="50800" dist="254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</p:grpSp>
      <p:sp>
        <p:nvSpPr>
          <p:cNvPr id="331" name="Text Box 59"/>
          <p:cNvSpPr txBox="1">
            <a:spLocks noChangeArrowheads="1"/>
          </p:cNvSpPr>
          <p:nvPr/>
        </p:nvSpPr>
        <p:spPr bwMode="auto">
          <a:xfrm>
            <a:off x="7185248" y="5343443"/>
            <a:ext cx="1618315" cy="169277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ko-KR" altLang="en-US" sz="11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이행계획 수립</a:t>
            </a:r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32" name="그룹 146"/>
          <p:cNvGrpSpPr/>
          <p:nvPr/>
        </p:nvGrpSpPr>
        <p:grpSpPr>
          <a:xfrm>
            <a:off x="7523655" y="5556684"/>
            <a:ext cx="936606" cy="90000"/>
            <a:chOff x="1334537" y="1779349"/>
            <a:chExt cx="849778" cy="90000"/>
          </a:xfrm>
        </p:grpSpPr>
        <p:sp>
          <p:nvSpPr>
            <p:cNvPr id="333" name="Line 662"/>
            <p:cNvSpPr>
              <a:spLocks noChangeShapeType="1"/>
            </p:cNvSpPr>
            <p:nvPr/>
          </p:nvSpPr>
          <p:spPr bwMode="gray">
            <a:xfrm flipV="1">
              <a:off x="1441788" y="1824349"/>
              <a:ext cx="648003" cy="0"/>
            </a:xfrm>
            <a:prstGeom prst="line">
              <a:avLst/>
            </a:prstGeom>
            <a:noFill/>
            <a:ln w="25400">
              <a:solidFill>
                <a:srgbClr val="0066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334" name="타원 333"/>
            <p:cNvSpPr/>
            <p:nvPr/>
          </p:nvSpPr>
          <p:spPr>
            <a:xfrm>
              <a:off x="1334537" y="1779349"/>
              <a:ext cx="90000" cy="90000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rgbClr val="4F81BD">
                  <a:lumMod val="75000"/>
                </a:srgbClr>
              </a:solidFill>
            </a:ln>
            <a:effectLst>
              <a:outerShdw blurRad="50800" dist="254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335" name="타원 334"/>
            <p:cNvSpPr/>
            <p:nvPr/>
          </p:nvSpPr>
          <p:spPr>
            <a:xfrm>
              <a:off x="2094315" y="1779349"/>
              <a:ext cx="90000" cy="90000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rgbClr val="4F81BD">
                  <a:lumMod val="75000"/>
                </a:srgbClr>
              </a:solidFill>
            </a:ln>
            <a:effectLst>
              <a:outerShdw blurRad="50800" dist="254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</p:grpSp>
      <p:sp>
        <p:nvSpPr>
          <p:cNvPr id="336" name="Text Box 59"/>
          <p:cNvSpPr txBox="1">
            <a:spLocks noChangeArrowheads="1"/>
          </p:cNvSpPr>
          <p:nvPr/>
        </p:nvSpPr>
        <p:spPr bwMode="auto">
          <a:xfrm>
            <a:off x="7303092" y="5479840"/>
            <a:ext cx="1287812" cy="169277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7" name="타원 336"/>
          <p:cNvSpPr/>
          <p:nvPr/>
        </p:nvSpPr>
        <p:spPr>
          <a:xfrm>
            <a:off x="9273480" y="2348880"/>
            <a:ext cx="99197" cy="90000"/>
          </a:xfrm>
          <a:prstGeom prst="ellipse">
            <a:avLst/>
          </a:prstGeom>
          <a:solidFill>
            <a:sysClr val="window" lastClr="FFFFFF"/>
          </a:solidFill>
          <a:ln w="25400">
            <a:solidFill>
              <a:srgbClr val="4F81BD">
                <a:lumMod val="75000"/>
              </a:srgbClr>
            </a:solidFill>
          </a:ln>
          <a:effectLst>
            <a:outerShdw blurRad="50800" dist="25400" dir="2700000" algn="tl" rotWithShape="0">
              <a:prstClr val="black">
                <a:alpha val="60000"/>
              </a:prstClr>
            </a:outerShdw>
          </a:effectLst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charset="0"/>
            </a:endParaRPr>
          </a:p>
        </p:txBody>
      </p:sp>
      <p:sp>
        <p:nvSpPr>
          <p:cNvPr id="344" name="이등변 삼각형 343"/>
          <p:cNvSpPr/>
          <p:nvPr/>
        </p:nvSpPr>
        <p:spPr bwMode="auto">
          <a:xfrm rot="10800000" flipV="1">
            <a:off x="2294625" y="2240879"/>
            <a:ext cx="138875" cy="108000"/>
          </a:xfrm>
          <a:prstGeom prst="triangle">
            <a:avLst/>
          </a:prstGeom>
          <a:solidFill>
            <a:srgbClr val="00B0F0"/>
          </a:solidFill>
          <a:ln w="9525">
            <a:solidFill>
              <a:sysClr val="window" lastClr="FFFFFF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algn="ctr" defTabSz="1042988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71AA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sp>
        <p:nvSpPr>
          <p:cNvPr id="346" name="이등변 삼각형 345"/>
          <p:cNvSpPr/>
          <p:nvPr/>
        </p:nvSpPr>
        <p:spPr bwMode="auto">
          <a:xfrm rot="10800000" flipV="1">
            <a:off x="8651884" y="2240879"/>
            <a:ext cx="138875" cy="108000"/>
          </a:xfrm>
          <a:prstGeom prst="triangle">
            <a:avLst/>
          </a:prstGeom>
          <a:solidFill>
            <a:srgbClr val="00B0F0"/>
          </a:solidFill>
          <a:ln w="9525">
            <a:solidFill>
              <a:sysClr val="window" lastClr="FFFFFF"/>
            </a:solidFill>
            <a:round/>
            <a:headEnd/>
            <a:tailEnd/>
          </a:ln>
          <a:effectLst/>
        </p:spPr>
        <p:txBody>
          <a:bodyPr wrap="none" lIns="0" tIns="0" rIns="0" bIns="0" anchor="ctr"/>
          <a:lstStyle/>
          <a:p>
            <a:pPr marL="0" marR="0" lvl="0" indent="0" algn="ctr" defTabSz="1042988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71AA"/>
              </a:buClr>
              <a:buSzPct val="140000"/>
              <a:buFontTx/>
              <a:buNone/>
              <a:tabLst>
                <a:tab pos="5648325" algn="l"/>
              </a:tabLst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sp>
        <p:nvSpPr>
          <p:cNvPr id="347" name="오각형 346"/>
          <p:cNvSpPr/>
          <p:nvPr/>
        </p:nvSpPr>
        <p:spPr bwMode="auto">
          <a:xfrm>
            <a:off x="2432720" y="4370206"/>
            <a:ext cx="114589" cy="144019"/>
          </a:xfrm>
          <a:prstGeom prst="homePlate">
            <a:avLst/>
          </a:prstGeom>
          <a:solidFill>
            <a:srgbClr val="F79646"/>
          </a:solidFill>
          <a:ln>
            <a:solidFill>
              <a:srgbClr val="FF0000"/>
            </a:solidFill>
          </a:ln>
          <a:extLst/>
        </p:spPr>
        <p:txBody>
          <a:bodyPr wrap="none"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200" b="0" i="0" u="none" strike="noStrike" kern="0" cap="none" spc="0" normalizeH="0" baseline="0" noProof="0" dirty="0" err="1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9" name="Text Box 1079"/>
          <p:cNvSpPr txBox="1">
            <a:spLocks noChangeArrowheads="1"/>
          </p:cNvSpPr>
          <p:nvPr/>
        </p:nvSpPr>
        <p:spPr bwMode="auto">
          <a:xfrm>
            <a:off x="2550772" y="4354654"/>
            <a:ext cx="572601" cy="19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5244" tIns="15244" rIns="15244" bIns="15244" anchor="ctr">
            <a:spAutoFit/>
          </a:bodyPr>
          <a:lstStyle/>
          <a:p>
            <a:pPr indent="-90488" defTabSz="593725" latinLnBrk="0">
              <a:spcBef>
                <a:spcPts val="600"/>
              </a:spcBef>
              <a:buClr>
                <a:srgbClr val="595959"/>
              </a:buClr>
              <a:buSzPct val="80000"/>
              <a:defRPr/>
            </a:pPr>
            <a:r>
              <a:rPr kumimoji="1" lang="ko-KR" altLang="en-US" sz="1050" spc="-70" dirty="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rPr>
              <a:t>현업 미팅</a:t>
            </a:r>
            <a:endParaRPr kumimoji="1" lang="ko-KR" altLang="en-US" sz="105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sp>
        <p:nvSpPr>
          <p:cNvPr id="351" name="Text Box 1079"/>
          <p:cNvSpPr txBox="1">
            <a:spLocks noChangeArrowheads="1"/>
          </p:cNvSpPr>
          <p:nvPr/>
        </p:nvSpPr>
        <p:spPr bwMode="auto">
          <a:xfrm>
            <a:off x="2306417" y="2732576"/>
            <a:ext cx="204231" cy="19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5244" tIns="15244" rIns="15244" bIns="15244" anchor="ctr">
            <a:spAutoFit/>
          </a:bodyPr>
          <a:lstStyle/>
          <a:p>
            <a:pPr indent="-90488" defTabSz="593725" latinLnBrk="0">
              <a:spcBef>
                <a:spcPts val="600"/>
              </a:spcBef>
              <a:buClr>
                <a:srgbClr val="595959"/>
              </a:buClr>
              <a:buSzPct val="80000"/>
              <a:defRPr/>
            </a:pPr>
            <a:r>
              <a:rPr kumimoji="1" lang="en-US" altLang="ko-KR" sz="105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rPr>
              <a:t>9/2</a:t>
            </a:r>
            <a:endParaRPr kumimoji="1" lang="ko-KR" altLang="en-US" sz="105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sp>
        <p:nvSpPr>
          <p:cNvPr id="352" name="Text Box 1079"/>
          <p:cNvSpPr txBox="1">
            <a:spLocks noChangeArrowheads="1"/>
          </p:cNvSpPr>
          <p:nvPr/>
        </p:nvSpPr>
        <p:spPr bwMode="auto">
          <a:xfrm>
            <a:off x="8947944" y="2731099"/>
            <a:ext cx="333754" cy="1923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15244" tIns="15244" rIns="15244" bIns="15244" anchor="ctr">
            <a:spAutoFit/>
          </a:bodyPr>
          <a:lstStyle/>
          <a:p>
            <a:pPr indent="-90488" defTabSz="593725" latinLnBrk="0">
              <a:spcBef>
                <a:spcPts val="600"/>
              </a:spcBef>
              <a:buClr>
                <a:srgbClr val="595959"/>
              </a:buClr>
              <a:buSzPct val="80000"/>
              <a:defRPr/>
            </a:pPr>
            <a:r>
              <a:rPr kumimoji="1" lang="en-US" altLang="ko-KR" sz="105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  <a:sym typeface="Monotype Sorts"/>
              </a:rPr>
              <a:t>11/15</a:t>
            </a:r>
            <a:endParaRPr kumimoji="1" lang="ko-KR" altLang="en-US" sz="105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  <a:sym typeface="Monotype Sorts"/>
            </a:endParaRPr>
          </a:p>
        </p:txBody>
      </p:sp>
      <p:grpSp>
        <p:nvGrpSpPr>
          <p:cNvPr id="60" name="그룹 151"/>
          <p:cNvGrpSpPr/>
          <p:nvPr/>
        </p:nvGrpSpPr>
        <p:grpSpPr>
          <a:xfrm>
            <a:off x="2288704" y="3186358"/>
            <a:ext cx="5328592" cy="98626"/>
            <a:chOff x="708283" y="1862386"/>
            <a:chExt cx="4834567" cy="98626"/>
          </a:xfrm>
        </p:grpSpPr>
        <p:sp>
          <p:nvSpPr>
            <p:cNvPr id="61" name="Line 662"/>
            <p:cNvSpPr>
              <a:spLocks noChangeShapeType="1"/>
            </p:cNvSpPr>
            <p:nvPr/>
          </p:nvSpPr>
          <p:spPr bwMode="gray">
            <a:xfrm flipV="1">
              <a:off x="798281" y="1906920"/>
              <a:ext cx="4654567" cy="9092"/>
            </a:xfrm>
            <a:prstGeom prst="line">
              <a:avLst/>
            </a:prstGeom>
            <a:noFill/>
            <a:ln w="25400">
              <a:solidFill>
                <a:srgbClr val="006699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2" name="타원 61"/>
            <p:cNvSpPr/>
            <p:nvPr/>
          </p:nvSpPr>
          <p:spPr>
            <a:xfrm>
              <a:off x="708283" y="1871012"/>
              <a:ext cx="90000" cy="90000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rgbClr val="4F81BD">
                  <a:lumMod val="75000"/>
                </a:srgbClr>
              </a:solidFill>
            </a:ln>
            <a:effectLst>
              <a:outerShdw blurRad="50800" dist="254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  <p:sp>
          <p:nvSpPr>
            <p:cNvPr id="63" name="타원 62"/>
            <p:cNvSpPr/>
            <p:nvPr/>
          </p:nvSpPr>
          <p:spPr>
            <a:xfrm>
              <a:off x="5452850" y="1862386"/>
              <a:ext cx="90000" cy="90000"/>
            </a:xfrm>
            <a:prstGeom prst="ellipse">
              <a:avLst/>
            </a:prstGeom>
            <a:solidFill>
              <a:sysClr val="window" lastClr="FFFFFF"/>
            </a:solidFill>
            <a:ln w="25400">
              <a:solidFill>
                <a:srgbClr val="4F81BD">
                  <a:lumMod val="75000"/>
                </a:srgbClr>
              </a:solidFill>
            </a:ln>
            <a:effectLst>
              <a:outerShdw blurRad="50800" dist="25400" dir="2700000" algn="tl" rotWithShape="0">
                <a:prstClr val="black">
                  <a:alpha val="60000"/>
                </a:prstClr>
              </a:outerShdw>
            </a:effectLst>
          </p:spPr>
          <p:txBody>
            <a:bodyPr wrap="none" anchor="ctr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Arial" charset="0"/>
              </a:endParaRPr>
            </a:p>
          </p:txBody>
        </p:sp>
      </p:grpSp>
      <p:sp>
        <p:nvSpPr>
          <p:cNvPr id="64" name="Text Box 59"/>
          <p:cNvSpPr txBox="1">
            <a:spLocks noChangeArrowheads="1"/>
          </p:cNvSpPr>
          <p:nvPr/>
        </p:nvSpPr>
        <p:spPr bwMode="auto">
          <a:xfrm>
            <a:off x="2432720" y="3050968"/>
            <a:ext cx="4870372" cy="169277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36000" tIns="0" rIns="36000" bIns="0" anchor="ctr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lvl1pPr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defTabSz="593725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defTabSz="593725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latinLnBrk="0" hangingPunct="1"/>
            <a:r>
              <a:rPr lang="en-US" altLang="ko-KR" sz="11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DATABASE </a:t>
            </a:r>
            <a:r>
              <a:rPr lang="ko-KR" altLang="en-US" sz="11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분석</a:t>
            </a:r>
            <a:r>
              <a:rPr lang="en-US" altLang="ko-KR" sz="11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, TABLE COLUMN </a:t>
            </a:r>
            <a:r>
              <a:rPr lang="ko-KR" altLang="en-US" sz="11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정리</a:t>
            </a:r>
            <a:r>
              <a:rPr lang="en-US" altLang="ko-KR" sz="11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100" spc="-70" smtClean="0">
                <a:solidFill>
                  <a:prstClr val="black">
                    <a:lumMod val="65000"/>
                    <a:lumOff val="35000"/>
                  </a:prstClr>
                </a:solidFill>
                <a:latin typeface="맑은 고딕" pitchFamily="50" charset="-127"/>
                <a:ea typeface="맑은 고딕" pitchFamily="50" charset="-127"/>
              </a:rPr>
              <a:t>프로그램 분석</a:t>
            </a:r>
            <a:endParaRPr lang="ko-KR" altLang="en-US" sz="1100" spc="-70" dirty="0">
              <a:solidFill>
                <a:prstClr val="black">
                  <a:lumMod val="65000"/>
                  <a:lumOff val="35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5497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677000" y="1675837"/>
            <a:ext cx="24842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vl="0" algn="ctr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spc="-300" dirty="0">
                <a:solidFill>
                  <a:srgbClr val="00437A"/>
                </a:solidFill>
              </a:rPr>
              <a:t>Ⅱ. </a:t>
            </a:r>
            <a:r>
              <a:rPr lang="ko-KR" altLang="en-US" sz="2400" b="1" spc="-300" dirty="0">
                <a:solidFill>
                  <a:srgbClr val="00437A"/>
                </a:solidFill>
              </a:rPr>
              <a:t>방향성 수립</a:t>
            </a:r>
            <a:endParaRPr lang="en-US" altLang="ko-KR" sz="2400" b="1" spc="-300" dirty="0">
              <a:solidFill>
                <a:srgbClr val="00437A"/>
              </a:solidFill>
            </a:endParaRPr>
          </a:p>
        </p:txBody>
      </p:sp>
      <p:sp>
        <p:nvSpPr>
          <p:cNvPr id="4" name="텍스트 개체 틀 4"/>
          <p:cNvSpPr txBox="1">
            <a:spLocks/>
          </p:cNvSpPr>
          <p:nvPr/>
        </p:nvSpPr>
        <p:spPr>
          <a:xfrm>
            <a:off x="776536" y="1268760"/>
            <a:ext cx="5760640" cy="4751387"/>
          </a:xfrm>
          <a:prstGeom prst="rect">
            <a:avLst/>
          </a:prstGeom>
          <a:noFill/>
          <a:ln w="0"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marL="400050" indent="-40005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Font typeface="+mj-lt"/>
              <a:buAutoNum type="romanUcPeriod"/>
              <a:defRPr sz="1800" b="1" kern="1200">
                <a:solidFill>
                  <a:srgbClr val="00437A"/>
                </a:solidFill>
                <a:latin typeface="맑은 고딕" pitchFamily="50" charset="-127"/>
                <a:ea typeface="맑은 고딕" pitchFamily="50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b="1" kern="1200">
                <a:solidFill>
                  <a:srgbClr val="00B0F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mtClean="0">
                <a:solidFill>
                  <a:schemeClr val="bg1">
                    <a:lumMod val="65000"/>
                  </a:schemeClr>
                </a:solidFill>
              </a:rPr>
              <a:t>사업의 개요</a:t>
            </a:r>
            <a:endParaRPr lang="en-US" altLang="ko-KR" smtClean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mtClean="0">
                <a:solidFill>
                  <a:srgbClr val="002060"/>
                </a:solidFill>
              </a:rPr>
              <a:t>방향성 수립</a:t>
            </a:r>
            <a:endParaRPr lang="en-US" altLang="ko-KR" smtClean="0">
              <a:solidFill>
                <a:srgbClr val="00206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>
                <a:solidFill>
                  <a:srgbClr val="002060"/>
                </a:solidFill>
              </a:rPr>
              <a:t> </a:t>
            </a:r>
            <a:r>
              <a:rPr lang="en-US" altLang="ko-KR" smtClean="0">
                <a:solidFill>
                  <a:srgbClr val="002060"/>
                </a:solidFill>
              </a:rPr>
              <a:t>   1. </a:t>
            </a:r>
            <a:r>
              <a:rPr lang="ko-KR" altLang="en-US">
                <a:solidFill>
                  <a:srgbClr val="002060"/>
                </a:solidFill>
              </a:rPr>
              <a:t>환경 분석</a:t>
            </a:r>
            <a:endParaRPr lang="en-US" altLang="ko-KR">
              <a:solidFill>
                <a:srgbClr val="00206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mtClean="0">
                <a:solidFill>
                  <a:srgbClr val="002060"/>
                </a:solidFill>
              </a:rPr>
              <a:t>    2. </a:t>
            </a:r>
            <a:r>
              <a:rPr lang="ko-KR" altLang="en-US">
                <a:solidFill>
                  <a:srgbClr val="002060"/>
                </a:solidFill>
              </a:rPr>
              <a:t>방향성 정의</a:t>
            </a:r>
            <a:endParaRPr lang="en-US" altLang="ko-KR">
              <a:solidFill>
                <a:srgbClr val="00206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ko-KR" smtClean="0">
              <a:solidFill>
                <a:srgbClr val="00206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mtClean="0">
                <a:solidFill>
                  <a:schemeClr val="bg1">
                    <a:lumMod val="65000"/>
                  </a:schemeClr>
                </a:solidFill>
              </a:rPr>
              <a:t>Ⅲ.  </a:t>
            </a:r>
            <a:r>
              <a:rPr lang="ko-KR" altLang="en-US" smtClean="0">
                <a:solidFill>
                  <a:schemeClr val="bg1">
                    <a:lumMod val="65000"/>
                  </a:schemeClr>
                </a:solidFill>
              </a:rPr>
              <a:t>목표모델 수립</a:t>
            </a:r>
            <a:endParaRPr lang="en-US" altLang="ko-KR" smtClean="0">
              <a:solidFill>
                <a:schemeClr val="bg1">
                  <a:lumMod val="6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mtClean="0">
                <a:solidFill>
                  <a:schemeClr val="bg1">
                    <a:lumMod val="65000"/>
                  </a:schemeClr>
                </a:solidFill>
              </a:rPr>
              <a:t>Ⅳ.  </a:t>
            </a:r>
            <a:r>
              <a:rPr lang="ko-KR" altLang="en-US" smtClean="0">
                <a:solidFill>
                  <a:schemeClr val="bg1">
                    <a:lumMod val="65000"/>
                  </a:schemeClr>
                </a:solidFill>
              </a:rPr>
              <a:t>이행계획 수립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391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직사각형 186"/>
          <p:cNvSpPr/>
          <p:nvPr/>
        </p:nvSpPr>
        <p:spPr bwMode="auto">
          <a:xfrm>
            <a:off x="344488" y="1528880"/>
            <a:ext cx="9180512" cy="288000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r>
              <a:rPr lang="ko-KR" altLang="en-US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시스템 운영환경 </a:t>
            </a: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</a:t>
            </a:r>
            <a: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endParaRPr lang="ko-KR" altLang="en-US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8" name="Rectangle 4"/>
          <p:cNvSpPr>
            <a:spLocks noChangeArrowheads="1"/>
          </p:cNvSpPr>
          <p:nvPr/>
        </p:nvSpPr>
        <p:spPr bwMode="auto">
          <a:xfrm>
            <a:off x="344488" y="1814531"/>
            <a:ext cx="9180512" cy="4494789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265113" indent="-265113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  <a:defRPr/>
            </a:pPr>
            <a:endParaRPr lang="ko-KR" altLang="en-US" sz="14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경영정보시스템 개선을 </a:t>
            </a:r>
            <a:r>
              <a:rPr lang="ko-KR" altLang="en-US" sz="1600" smtClean="0"/>
              <a:t>위한 </a:t>
            </a:r>
            <a:r>
              <a:rPr lang="ko-KR" altLang="en-US" sz="1600"/>
              <a:t>대상업무의 시스템 운영환경 분석을 위해 구축시스템의 </a:t>
            </a:r>
            <a:r>
              <a:rPr lang="ko-KR" altLang="en-US" sz="1600" smtClean="0"/>
              <a:t>내용과</a:t>
            </a:r>
            <a:r>
              <a:rPr lang="en-US" altLang="ko-KR" sz="1600" smtClean="0"/>
              <a:t> </a:t>
            </a:r>
            <a:r>
              <a:rPr lang="ko-KR" altLang="en-US" sz="1600"/>
              <a:t>운영 환경 분석을 통하여 개선방향의 </a:t>
            </a:r>
            <a:r>
              <a:rPr lang="ko-KR" altLang="en-US" sz="1600" dirty="0"/>
              <a:t>시사점을 도출함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1.1 </a:t>
            </a:r>
            <a:r>
              <a:rPr lang="ko-KR" altLang="en-US"/>
              <a:t>시스템 운영환경 </a:t>
            </a:r>
            <a:r>
              <a:rPr lang="ko-KR" altLang="en-US" smtClean="0"/>
              <a:t>분석</a:t>
            </a:r>
            <a:r>
              <a:rPr lang="en-US" altLang="ko-KR" smtClean="0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smtClean="0"/>
              <a:t>1.1 </a:t>
            </a:r>
            <a:r>
              <a:rPr lang="ko-KR" altLang="en-US"/>
              <a:t>시스템 운영환경 </a:t>
            </a:r>
            <a:r>
              <a:rPr lang="ko-KR" altLang="en-US" dirty="0"/>
              <a:t>분석</a:t>
            </a:r>
            <a:endParaRPr lang="en-US" altLang="ko-KR" dirty="0"/>
          </a:p>
        </p:txBody>
      </p:sp>
      <p:sp>
        <p:nvSpPr>
          <p:cNvPr id="185" name="Rectangle 4"/>
          <p:cNvSpPr>
            <a:spLocks noChangeArrowheads="1"/>
          </p:cNvSpPr>
          <p:nvPr/>
        </p:nvSpPr>
        <p:spPr bwMode="auto">
          <a:xfrm>
            <a:off x="3656996" y="2348880"/>
            <a:ext cx="2520000" cy="281260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10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운영 조직 </a:t>
            </a:r>
            <a:endParaRPr lang="en-US" altLang="ko-KR" sz="1200" spc="-30" dirty="0">
              <a:latin typeface="맑은 고딕" pitchFamily="50" charset="-127"/>
              <a:ea typeface="맑은 고딕" pitchFamily="50" charset="-127"/>
            </a:endParaRPr>
          </a:p>
          <a:p>
            <a:pPr marL="261938" indent="-87313" defTabSz="895350">
              <a:spcBef>
                <a:spcPts val="600"/>
              </a:spcBef>
              <a:buClr>
                <a:schemeClr val="accent5"/>
              </a:buClr>
              <a:buSzPct val="90000"/>
              <a:buFont typeface="맑은 고딕" panose="020B0503020000020004" pitchFamily="50" charset="-127"/>
              <a:buChar char="-"/>
              <a:tabLst>
                <a:tab pos="0" algn="l"/>
              </a:tabLst>
            </a:pP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경영지원팀 </a:t>
            </a:r>
            <a:r>
              <a:rPr lang="en-US" altLang="ko-KR" sz="1200" spc="-3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명</a:t>
            </a:r>
            <a:endParaRPr lang="en-US" altLang="ko-KR" sz="1200" spc="-30" dirty="0">
              <a:latin typeface="맑은 고딕" pitchFamily="50" charset="-127"/>
              <a:ea typeface="맑은 고딕" pitchFamily="50" charset="-127"/>
            </a:endParaRPr>
          </a:p>
          <a:p>
            <a:pPr marL="174625" defTabSz="895350">
              <a:spcBef>
                <a:spcPts val="600"/>
              </a:spcBef>
              <a:buClr>
                <a:schemeClr val="accent5"/>
              </a:buClr>
              <a:buSzPct val="90000"/>
              <a:tabLst>
                <a:tab pos="0" algn="l"/>
              </a:tabLst>
            </a:pPr>
            <a:endParaRPr lang="ko-KR" altLang="en-US" sz="1200" spc="-30" dirty="0">
              <a:latin typeface="맑은 고딕" pitchFamily="50" charset="-127"/>
              <a:ea typeface="맑은 고딕" pitchFamily="50" charset="-127"/>
            </a:endParaRPr>
          </a:p>
          <a:p>
            <a:pPr marL="180975" lvl="0" indent="-180975" defTabSz="895350">
              <a:spcBef>
                <a:spcPts val="1000"/>
              </a:spcBef>
              <a:buClr>
                <a:srgbClr val="1428A0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유지보수 조직</a:t>
            </a:r>
            <a:endParaRPr lang="en-US" altLang="ko-KR" sz="1200" spc="-30" dirty="0">
              <a:latin typeface="맑은 고딕" pitchFamily="50" charset="-127"/>
              <a:ea typeface="맑은 고딕" pitchFamily="50" charset="-127"/>
            </a:endParaRPr>
          </a:p>
          <a:p>
            <a:pPr marL="261938" lvl="0" indent="-87313" defTabSz="895350">
              <a:spcBef>
                <a:spcPts val="600"/>
              </a:spcBef>
              <a:buClr>
                <a:srgbClr val="1428A0"/>
              </a:buClr>
              <a:buSzPct val="90000"/>
              <a:buFont typeface="맑은 고딕" panose="020B0503020000020004" pitchFamily="50" charset="-127"/>
              <a:buChar char="-"/>
              <a:tabLst>
                <a:tab pos="0" algn="l"/>
              </a:tabLst>
            </a:pPr>
            <a:r>
              <a:rPr lang="en-US" altLang="ko-KR" sz="1200" spc="-3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경영정보 </a:t>
            </a:r>
            <a:r>
              <a:rPr lang="en-US" altLang="ko-KR" sz="1200" spc="-30" dirty="0">
                <a:latin typeface="맑은 고딕" pitchFamily="50" charset="-127"/>
                <a:ea typeface="맑은 고딕" pitchFamily="50" charset="-127"/>
              </a:rPr>
              <a:t>3</a:t>
            </a: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명</a:t>
            </a:r>
            <a:endParaRPr lang="en-US" altLang="ko-KR" sz="1200" spc="-30" dirty="0">
              <a:latin typeface="맑은 고딕" pitchFamily="50" charset="-127"/>
              <a:ea typeface="맑은 고딕" pitchFamily="50" charset="-127"/>
            </a:endParaRPr>
          </a:p>
          <a:p>
            <a:pPr marL="261938" lvl="0" indent="-87313" defTabSz="895350">
              <a:spcBef>
                <a:spcPts val="600"/>
              </a:spcBef>
              <a:buClr>
                <a:srgbClr val="1428A0"/>
              </a:buClr>
              <a:buSzPct val="90000"/>
              <a:buFont typeface="맑은 고딕" panose="020B0503020000020004" pitchFamily="50" charset="-127"/>
              <a:buChar char="-"/>
              <a:tabLst>
                <a:tab pos="0" algn="l"/>
              </a:tabLst>
            </a:pPr>
            <a:r>
              <a:rPr lang="en-US" altLang="ko-KR" sz="1200" spc="-30" dirty="0">
                <a:latin typeface="맑은 고딕" pitchFamily="50" charset="-127"/>
                <a:ea typeface="맑은 고딕" pitchFamily="50" charset="-127"/>
              </a:rPr>
              <a:t> H/W, Network 2</a:t>
            </a: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명</a:t>
            </a:r>
            <a:endParaRPr lang="en-US" altLang="ko-KR" sz="1200" spc="-3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3" name="Rectangle 4"/>
          <p:cNvSpPr>
            <a:spLocks noChangeArrowheads="1"/>
          </p:cNvSpPr>
          <p:nvPr/>
        </p:nvSpPr>
        <p:spPr bwMode="auto">
          <a:xfrm>
            <a:off x="560512" y="2345182"/>
            <a:ext cx="2520000" cy="2812605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10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200" spc="-30" dirty="0">
                <a:latin typeface="맑은 고딕" pitchFamily="50" charset="-127"/>
                <a:ea typeface="맑은 고딕" pitchFamily="50" charset="-127"/>
              </a:rPr>
              <a:t>H/W ( </a:t>
            </a: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클라우드</a:t>
            </a:r>
            <a:r>
              <a:rPr lang="en-US" altLang="ko-KR" sz="1200" spc="-30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261938" lvl="0" indent="-87313" defTabSz="895350">
              <a:spcBef>
                <a:spcPts val="600"/>
              </a:spcBef>
              <a:buClr>
                <a:schemeClr val="accent5"/>
              </a:buClr>
              <a:buSzPct val="90000"/>
              <a:buFont typeface="맑은 고딕" panose="020B0503020000020004" pitchFamily="50" charset="-127"/>
              <a:buChar char="-"/>
              <a:tabLst>
                <a:tab pos="0" algn="l"/>
              </a:tabLst>
            </a:pPr>
            <a:r>
              <a:rPr lang="en-US" altLang="ko-KR" sz="1200" spc="-3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기종 </a:t>
            </a:r>
            <a:r>
              <a:rPr lang="en-US" altLang="ko-KR" sz="1200" spc="-30" dirty="0">
                <a:latin typeface="맑은 고딕" pitchFamily="50" charset="-127"/>
                <a:ea typeface="맑은 고딕" pitchFamily="50" charset="-127"/>
              </a:rPr>
              <a:t>: HP</a:t>
            </a:r>
            <a:endParaRPr lang="en-US" altLang="ko-KR" sz="1200" spc="-30" dirty="0">
              <a:latin typeface="맑은 고딕" pitchFamily="50" charset="-127"/>
            </a:endParaRPr>
          </a:p>
          <a:p>
            <a:pPr marL="261938" lvl="0" indent="-87313" defTabSz="895350">
              <a:spcBef>
                <a:spcPts val="600"/>
              </a:spcBef>
              <a:buClr>
                <a:schemeClr val="accent5"/>
              </a:buClr>
              <a:buSzPct val="90000"/>
              <a:buFont typeface="맑은 고딕" panose="020B0503020000020004" pitchFamily="50" charset="-127"/>
              <a:buChar char="-"/>
              <a:tabLst>
                <a:tab pos="0" algn="l"/>
              </a:tabLst>
            </a:pPr>
            <a:r>
              <a:rPr lang="en-US" altLang="ko-KR" sz="1200" spc="-30" dirty="0">
                <a:latin typeface="맑은 고딕" pitchFamily="50" charset="-127"/>
              </a:rPr>
              <a:t> OS   : Linux (</a:t>
            </a:r>
            <a:r>
              <a:rPr lang="en-US" altLang="ko-KR" sz="1200" spc="-30" dirty="0" err="1">
                <a:latin typeface="맑은 고딕" pitchFamily="50" charset="-127"/>
              </a:rPr>
              <a:t>Redhat</a:t>
            </a:r>
            <a:r>
              <a:rPr lang="en-US" altLang="ko-KR" sz="1200" spc="-30" dirty="0">
                <a:latin typeface="맑은 고딕" pitchFamily="50" charset="-127"/>
              </a:rPr>
              <a:t>)</a:t>
            </a:r>
            <a:endParaRPr lang="en-US" altLang="ko-KR" sz="1200" spc="-30" dirty="0">
              <a:solidFill>
                <a:srgbClr val="FF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0975" indent="-180975" defTabSz="895350">
              <a:spcBef>
                <a:spcPts val="10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200" spc="-30" dirty="0">
                <a:latin typeface="맑은 고딕" pitchFamily="50" charset="-127"/>
              </a:rPr>
              <a:t>DATABASE(</a:t>
            </a:r>
            <a:r>
              <a:rPr lang="en-US" altLang="ko-KR" sz="1200" spc="-30" dirty="0" err="1">
                <a:latin typeface="맑은 고딕" pitchFamily="50" charset="-127"/>
              </a:rPr>
              <a:t>Tibero</a:t>
            </a:r>
            <a:r>
              <a:rPr lang="en-US" altLang="ko-KR" sz="1200" spc="-30" dirty="0">
                <a:latin typeface="맑은 고딕" pitchFamily="50" charset="-127"/>
              </a:rPr>
              <a:t>)</a:t>
            </a:r>
            <a:endParaRPr lang="en-US" altLang="ko-KR" sz="1200" spc="-30" dirty="0">
              <a:solidFill>
                <a:srgbClr val="FF0000"/>
              </a:solidFill>
              <a:latin typeface="맑은 고딕" pitchFamily="50" charset="-127"/>
            </a:endParaRPr>
          </a:p>
          <a:p>
            <a:pPr marL="261938" lvl="0" indent="-87313" defTabSz="895350">
              <a:spcBef>
                <a:spcPts val="600"/>
              </a:spcBef>
              <a:buClr>
                <a:schemeClr val="accent5"/>
              </a:buClr>
              <a:buSzPct val="90000"/>
              <a:buFont typeface="맑은 고딕" panose="020B0503020000020004" pitchFamily="50" charset="-127"/>
              <a:buChar char="-"/>
              <a:tabLst>
                <a:tab pos="0" algn="l"/>
              </a:tabLst>
            </a:pP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최신</a:t>
            </a:r>
            <a:r>
              <a:rPr lang="en-US" altLang="ko-KR" sz="1200" spc="-3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트랜드 제품이나 설계 및 </a:t>
            </a:r>
            <a:r>
              <a:rPr lang="en-US" altLang="ko-KR" sz="1200" spc="-30" dirty="0">
                <a:latin typeface="맑은 고딕" pitchFamily="50" charset="-127"/>
                <a:ea typeface="맑은 고딕" pitchFamily="50" charset="-127"/>
              </a:rPr>
              <a:t>DB </a:t>
            </a:r>
            <a:r>
              <a:rPr lang="ko-KR" altLang="en-US" sz="1200" spc="-30" dirty="0" err="1">
                <a:latin typeface="맑은 고딕" pitchFamily="50" charset="-127"/>
                <a:ea typeface="맑은 고딕" pitchFamily="50" charset="-127"/>
              </a:rPr>
              <a:t>구축시</a:t>
            </a:r>
            <a:r>
              <a:rPr lang="ko-KR" altLang="en-US" sz="1200" spc="-30" dirty="0">
                <a:latin typeface="맑은 고딕" pitchFamily="50" charset="-127"/>
                <a:ea typeface="맑은 고딕" pitchFamily="50" charset="-127"/>
              </a:rPr>
              <a:t> 표준화 미흡으로 대폭적인 개선이 필요한 상태임</a:t>
            </a:r>
            <a:r>
              <a:rPr lang="en-US" altLang="ko-KR" sz="1200" spc="-30" dirty="0">
                <a:latin typeface="맑은 고딕" pitchFamily="50" charset="-127"/>
                <a:ea typeface="맑은 고딕" pitchFamily="50" charset="-127"/>
              </a:rPr>
              <a:t> </a:t>
            </a:r>
          </a:p>
          <a:p>
            <a:pPr marL="180975" indent="-180975" defTabSz="895350">
              <a:spcBef>
                <a:spcPts val="10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200" spc="-30" dirty="0">
                <a:latin typeface="맑은 고딕" pitchFamily="50" charset="-127"/>
              </a:rPr>
              <a:t>UI TOOL(</a:t>
            </a:r>
            <a:r>
              <a:rPr lang="en-US" altLang="ko-KR" sz="1200" spc="-30" dirty="0" err="1">
                <a:latin typeface="맑은 고딕" pitchFamily="50" charset="-127"/>
              </a:rPr>
              <a:t>Websquare</a:t>
            </a:r>
            <a:r>
              <a:rPr lang="en-US" altLang="ko-KR" sz="1200" spc="-30" dirty="0">
                <a:latin typeface="맑은 고딕" pitchFamily="50" charset="-127"/>
              </a:rPr>
              <a:t>)</a:t>
            </a:r>
          </a:p>
          <a:p>
            <a:pPr marL="261938" lvl="0" indent="-87313" defTabSz="895350">
              <a:spcBef>
                <a:spcPts val="600"/>
              </a:spcBef>
              <a:buClr>
                <a:schemeClr val="accent5"/>
              </a:buClr>
              <a:buSzPct val="90000"/>
              <a:buFont typeface="맑은 고딕" panose="020B0503020000020004" pitchFamily="50" charset="-127"/>
              <a:buChar char="-"/>
              <a:tabLst>
                <a:tab pos="0" algn="l"/>
              </a:tabLst>
            </a:pPr>
            <a:r>
              <a:rPr lang="en-US" altLang="ko-KR" sz="1200" spc="-30" dirty="0">
                <a:latin typeface="맑은 고딕" pitchFamily="50" charset="-127"/>
              </a:rPr>
              <a:t>HTML</a:t>
            </a:r>
            <a:r>
              <a:rPr lang="ko-KR" altLang="en-US" sz="1200" spc="-30" dirty="0">
                <a:latin typeface="맑은 고딕" pitchFamily="50" charset="-127"/>
              </a:rPr>
              <a:t>기반의 최신기술 적용 </a:t>
            </a:r>
            <a:r>
              <a:rPr lang="en-US" altLang="ko-KR" sz="1200" spc="-30" dirty="0">
                <a:latin typeface="맑은 고딕" pitchFamily="50" charset="-127"/>
              </a:rPr>
              <a:t>UI-UX</a:t>
            </a:r>
            <a:r>
              <a:rPr lang="ko-KR" altLang="en-US" sz="1200" spc="-30" dirty="0">
                <a:latin typeface="맑은 고딕" pitchFamily="50" charset="-127"/>
              </a:rPr>
              <a:t> </a:t>
            </a:r>
            <a:r>
              <a:rPr lang="en-US" altLang="ko-KR" sz="1200" spc="-30" dirty="0">
                <a:latin typeface="맑은 고딕" pitchFamily="50" charset="-127"/>
              </a:rPr>
              <a:t>TOOL</a:t>
            </a:r>
            <a:r>
              <a:rPr lang="ko-KR" altLang="en-US" sz="1200" spc="-30" dirty="0">
                <a:latin typeface="맑은 고딕" pitchFamily="50" charset="-127"/>
              </a:rPr>
              <a:t>이지만 업무 </a:t>
            </a:r>
            <a:r>
              <a:rPr lang="ko-KR" altLang="en-US" sz="1200" spc="-30" dirty="0" err="1">
                <a:latin typeface="맑은 고딕" pitchFamily="50" charset="-127"/>
              </a:rPr>
              <a:t>구축시</a:t>
            </a:r>
            <a:r>
              <a:rPr lang="ko-KR" altLang="en-US" sz="1200" spc="-30" dirty="0">
                <a:latin typeface="맑은 고딕" pitchFamily="50" charset="-127"/>
              </a:rPr>
              <a:t> 표준화 미적용</a:t>
            </a:r>
            <a:r>
              <a:rPr lang="en-US" altLang="ko-KR" sz="1200" spc="-30" dirty="0">
                <a:latin typeface="맑은 고딕" pitchFamily="50" charset="-127"/>
              </a:rPr>
              <a:t> </a:t>
            </a:r>
            <a:r>
              <a:rPr lang="ko-KR" altLang="en-US" sz="1200" spc="-30" dirty="0">
                <a:latin typeface="맑은 고딕" pitchFamily="50" charset="-127"/>
              </a:rPr>
              <a:t>및 기능 미흡으로 운영이 어려움 </a:t>
            </a:r>
            <a:r>
              <a:rPr lang="en-US" altLang="ko-KR" sz="1200" spc="-30" dirty="0">
                <a:latin typeface="맑은 고딕" pitchFamily="50" charset="-127"/>
              </a:rPr>
              <a:t> </a:t>
            </a:r>
            <a:endParaRPr lang="ko-KR" altLang="en-US" sz="1200" spc="-3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0" name="직사각형 179"/>
          <p:cNvSpPr/>
          <p:nvPr/>
        </p:nvSpPr>
        <p:spPr>
          <a:xfrm>
            <a:off x="2216696" y="5544528"/>
            <a:ext cx="5472608" cy="540000"/>
          </a:xfrm>
          <a:prstGeom prst="rect">
            <a:avLst/>
          </a:prstGeom>
          <a:solidFill>
            <a:srgbClr val="508CD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  <a:defRPr/>
            </a:pPr>
            <a:r>
              <a:rPr lang="ko-KR" altLang="en-US" sz="14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방향성 수립을 </a:t>
            </a: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위한 시스템 운영환경 </a:t>
            </a:r>
            <a:r>
              <a:rPr lang="ko-KR" altLang="en-US" sz="14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분석의 시사점 도출</a:t>
            </a:r>
          </a:p>
        </p:txBody>
      </p:sp>
      <p:sp>
        <p:nvSpPr>
          <p:cNvPr id="181" name="이등변 삼각형 180"/>
          <p:cNvSpPr/>
          <p:nvPr/>
        </p:nvSpPr>
        <p:spPr>
          <a:xfrm rot="10800000">
            <a:off x="3044032" y="5158371"/>
            <a:ext cx="3817936" cy="358860"/>
          </a:xfrm>
          <a:prstGeom prst="triangle">
            <a:avLst/>
          </a:prstGeom>
          <a:gradFill>
            <a:gsLst>
              <a:gs pos="55000">
                <a:schemeClr val="bg1">
                  <a:lumMod val="75000"/>
                </a:schemeClr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2" name="더하기 기호 4"/>
          <p:cNvSpPr/>
          <p:nvPr/>
        </p:nvSpPr>
        <p:spPr>
          <a:xfrm>
            <a:off x="3061911" y="3140968"/>
            <a:ext cx="613685" cy="636317"/>
          </a:xfrm>
          <a:prstGeom prst="mathPlus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0" name="Rectangle 4"/>
          <p:cNvSpPr>
            <a:spLocks noChangeArrowheads="1"/>
          </p:cNvSpPr>
          <p:nvPr/>
        </p:nvSpPr>
        <p:spPr bwMode="auto">
          <a:xfrm>
            <a:off x="6753480" y="2345182"/>
            <a:ext cx="2520000" cy="2812606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10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200" spc="-30">
                <a:latin typeface="맑은 고딕" pitchFamily="50" charset="-127"/>
                <a:ea typeface="맑은 고딕" pitchFamily="50" charset="-127"/>
              </a:rPr>
              <a:t>DATABASE </a:t>
            </a:r>
            <a:r>
              <a:rPr lang="ko-KR" altLang="en-US" sz="1200" spc="-30">
                <a:latin typeface="맑은 고딕" pitchFamily="50" charset="-127"/>
                <a:ea typeface="맑은 고딕" pitchFamily="50" charset="-127"/>
              </a:rPr>
              <a:t>보완</a:t>
            </a:r>
            <a:endParaRPr lang="en-US" altLang="ko-KR" sz="1200" spc="-30">
              <a:latin typeface="맑은 고딕" pitchFamily="50" charset="-127"/>
            </a:endParaRPr>
          </a:p>
          <a:p>
            <a:pPr marL="261938" indent="-87313" defTabSz="895350">
              <a:spcBef>
                <a:spcPts val="600"/>
              </a:spcBef>
              <a:buClr>
                <a:schemeClr val="accent5"/>
              </a:buClr>
              <a:buSzPct val="90000"/>
              <a:buFont typeface="맑은 고딕" panose="020B0503020000020004" pitchFamily="50" charset="-127"/>
              <a:buChar char="-"/>
              <a:tabLst>
                <a:tab pos="0" algn="l"/>
              </a:tabLst>
            </a:pPr>
            <a:r>
              <a:rPr lang="ko-KR" altLang="en-US" sz="1200" spc="-30">
                <a:latin typeface="맑은 고딕" pitchFamily="50" charset="-127"/>
              </a:rPr>
              <a:t>미사용 </a:t>
            </a:r>
            <a:r>
              <a:rPr lang="en-US" altLang="ko-KR" sz="1200" spc="-30">
                <a:latin typeface="맑은 고딕" pitchFamily="50" charset="-127"/>
              </a:rPr>
              <a:t>TABLE</a:t>
            </a:r>
            <a:r>
              <a:rPr lang="ko-KR" altLang="en-US" sz="1200" spc="-30">
                <a:latin typeface="맑은 고딕" pitchFamily="50" charset="-127"/>
              </a:rPr>
              <a:t>삭제 및 칼럼 정의</a:t>
            </a:r>
            <a:endParaRPr lang="en-US" altLang="ko-KR" sz="1200" spc="-30">
              <a:latin typeface="맑은 고딕" pitchFamily="50" charset="-127"/>
              <a:ea typeface="맑은 고딕" pitchFamily="50" charset="-127"/>
            </a:endParaRPr>
          </a:p>
          <a:p>
            <a:pPr marL="180975" indent="-180975" defTabSz="895350">
              <a:spcBef>
                <a:spcPts val="10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200" spc="-30">
                <a:latin typeface="맑은 고딕" pitchFamily="50" charset="-127"/>
                <a:ea typeface="맑은 고딕" pitchFamily="50" charset="-127"/>
              </a:rPr>
              <a:t>DATA </a:t>
            </a:r>
            <a:r>
              <a:rPr lang="ko-KR" altLang="en-US" sz="1200" spc="-30">
                <a:latin typeface="맑은 고딕" pitchFamily="50" charset="-127"/>
                <a:ea typeface="맑은 고딕" pitchFamily="50" charset="-127"/>
              </a:rPr>
              <a:t>보완</a:t>
            </a:r>
            <a:endParaRPr lang="en-US" altLang="ko-KR" sz="1200" spc="-30">
              <a:latin typeface="맑은 고딕" pitchFamily="50" charset="-127"/>
            </a:endParaRPr>
          </a:p>
          <a:p>
            <a:pPr marL="261938" indent="-87313" defTabSz="895350">
              <a:spcBef>
                <a:spcPts val="600"/>
              </a:spcBef>
              <a:buClr>
                <a:schemeClr val="accent5"/>
              </a:buClr>
              <a:buSzPct val="90000"/>
              <a:buFont typeface="맑은 고딕" panose="020B0503020000020004" pitchFamily="50" charset="-127"/>
              <a:buChar char="-"/>
              <a:tabLst>
                <a:tab pos="0" algn="l"/>
              </a:tabLst>
            </a:pPr>
            <a:r>
              <a:rPr lang="ko-KR" altLang="en-US" sz="1200" spc="-30">
                <a:latin typeface="맑은 고딕" pitchFamily="50" charset="-127"/>
              </a:rPr>
              <a:t>미사용 칼럼 삭제 및 표준화 </a:t>
            </a:r>
            <a:r>
              <a:rPr lang="en-US" altLang="ko-KR" sz="1200" spc="-30">
                <a:latin typeface="맑은 고딕" pitchFamily="50" charset="-127"/>
              </a:rPr>
              <a:t> </a:t>
            </a:r>
            <a:endParaRPr lang="en-US" altLang="ko-KR" sz="1200" spc="-30">
              <a:latin typeface="맑은 고딕" pitchFamily="50" charset="-127"/>
              <a:ea typeface="맑은 고딕" pitchFamily="50" charset="-127"/>
            </a:endParaRPr>
          </a:p>
          <a:p>
            <a:pPr marL="180975" indent="-180975" defTabSz="895350">
              <a:spcBef>
                <a:spcPts val="10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200" spc="-30">
                <a:latin typeface="맑은 고딕" pitchFamily="50" charset="-127"/>
                <a:ea typeface="맑은 고딕" pitchFamily="50" charset="-127"/>
              </a:rPr>
              <a:t>개발표준 및 </a:t>
            </a:r>
            <a:r>
              <a:rPr lang="en-US" altLang="ko-KR" sz="1200" spc="-30">
                <a:latin typeface="맑은 고딕" pitchFamily="50" charset="-127"/>
                <a:ea typeface="맑은 고딕" pitchFamily="50" charset="-127"/>
              </a:rPr>
              <a:t>UI_UX TOOL </a:t>
            </a:r>
            <a:r>
              <a:rPr lang="ko-KR" altLang="en-US" sz="1200" spc="-30">
                <a:latin typeface="맑은 고딕" pitchFamily="50" charset="-127"/>
                <a:ea typeface="맑은 고딕" pitchFamily="50" charset="-127"/>
              </a:rPr>
              <a:t>개선</a:t>
            </a:r>
            <a:endParaRPr lang="en-US" altLang="ko-KR" sz="1200" spc="-30">
              <a:latin typeface="맑은 고딕" pitchFamily="50" charset="-127"/>
            </a:endParaRPr>
          </a:p>
          <a:p>
            <a:pPr marL="261938" indent="-87313" defTabSz="895350">
              <a:spcBef>
                <a:spcPts val="600"/>
              </a:spcBef>
              <a:buClr>
                <a:schemeClr val="accent5"/>
              </a:buClr>
              <a:buSzPct val="90000"/>
              <a:buFont typeface="맑은 고딕" panose="020B0503020000020004" pitchFamily="50" charset="-127"/>
              <a:buChar char="-"/>
              <a:tabLst>
                <a:tab pos="0" algn="l"/>
              </a:tabLst>
            </a:pPr>
            <a:r>
              <a:rPr lang="ko-KR" altLang="en-US" sz="1200" spc="-30">
                <a:latin typeface="맑은 고딕" pitchFamily="50" charset="-127"/>
              </a:rPr>
              <a:t>개발 및 운영 효율성을 제고할 수 있는 </a:t>
            </a:r>
            <a:r>
              <a:rPr lang="en-US" altLang="ko-KR" sz="1200" spc="-30">
                <a:latin typeface="맑은 고딕" pitchFamily="50" charset="-127"/>
              </a:rPr>
              <a:t>UI_UX </a:t>
            </a:r>
            <a:r>
              <a:rPr lang="ko-KR" altLang="en-US" sz="1200" spc="-30">
                <a:latin typeface="맑은 고딕" pitchFamily="50" charset="-127"/>
              </a:rPr>
              <a:t>도입</a:t>
            </a:r>
            <a:endParaRPr lang="en-US" altLang="ko-KR" sz="1200" spc="-30">
              <a:latin typeface="맑은 고딕" pitchFamily="50" charset="-127"/>
            </a:endParaRPr>
          </a:p>
          <a:p>
            <a:pPr marL="261938" indent="-87313" defTabSz="895350">
              <a:spcBef>
                <a:spcPts val="600"/>
              </a:spcBef>
              <a:buClr>
                <a:schemeClr val="accent5"/>
              </a:buClr>
              <a:buSzPct val="90000"/>
              <a:buFont typeface="맑은 고딕" panose="020B0503020000020004" pitchFamily="50" charset="-127"/>
              <a:buChar char="-"/>
              <a:tabLst>
                <a:tab pos="0" algn="l"/>
              </a:tabLst>
            </a:pPr>
            <a:r>
              <a:rPr lang="ko-KR" altLang="en-US" sz="1200" spc="-30">
                <a:latin typeface="맑은 고딕" pitchFamily="50" charset="-127"/>
              </a:rPr>
              <a:t>개선 및 기능 재 구축을 위한 </a:t>
            </a:r>
            <a:r>
              <a:rPr lang="en-US" altLang="ko-KR" sz="1200" spc="-30">
                <a:latin typeface="맑은 고딕" pitchFamily="50" charset="-127"/>
              </a:rPr>
              <a:t>AI </a:t>
            </a:r>
            <a:r>
              <a:rPr lang="ko-KR" altLang="en-US" sz="1200" spc="-30">
                <a:latin typeface="맑은 고딕" pitchFamily="50" charset="-127"/>
              </a:rPr>
              <a:t>지향 개발 </a:t>
            </a:r>
            <a:r>
              <a:rPr lang="en-US" altLang="ko-KR" sz="1200" spc="-30">
                <a:latin typeface="맑은 고딕" pitchFamily="50" charset="-127"/>
              </a:rPr>
              <a:t>TOOL </a:t>
            </a:r>
            <a:r>
              <a:rPr lang="ko-KR" altLang="en-US" sz="1200" spc="-30">
                <a:latin typeface="맑은 고딕" pitchFamily="50" charset="-127"/>
              </a:rPr>
              <a:t>필요</a:t>
            </a:r>
            <a:endParaRPr lang="en-US" altLang="ko-KR" sz="1200" spc="-30">
              <a:latin typeface="맑은 고딕" pitchFamily="50" charset="-127"/>
            </a:endParaRPr>
          </a:p>
          <a:p>
            <a:pPr marL="180975" indent="-180975" defTabSz="895350">
              <a:spcBef>
                <a:spcPts val="10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200" spc="-30">
                <a:latin typeface="맑은 고딕" pitchFamily="50" charset="-127"/>
              </a:rPr>
              <a:t>입찰정보 실시간 수집 기능 </a:t>
            </a:r>
            <a:r>
              <a:rPr lang="ko-KR" altLang="en-US" sz="1200" spc="-30" smtClean="0">
                <a:latin typeface="맑은 고딕" pitchFamily="50" charset="-127"/>
              </a:rPr>
              <a:t>필요</a:t>
            </a:r>
            <a:endParaRPr lang="ko-KR" altLang="en-US" sz="1200" spc="-3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3657651" y="2002245"/>
            <a:ext cx="2518690" cy="352578"/>
          </a:xfrm>
          <a:prstGeom prst="rect">
            <a:avLst/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운영 </a:t>
            </a:r>
            <a:r>
              <a:rPr lang="ko-KR" altLang="en-US" sz="14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환경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561167" y="2001540"/>
            <a:ext cx="2518691" cy="353282"/>
          </a:xfrm>
          <a:prstGeom prst="rect">
            <a:avLst/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시스템 환경</a:t>
            </a:r>
            <a:endParaRPr lang="ko-KR" altLang="en-US" sz="14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6754135" y="2001540"/>
            <a:ext cx="2518690" cy="352578"/>
          </a:xfrm>
          <a:prstGeom prst="rect">
            <a:avLst/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400" b="1" kern="0" smtClea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시스템 환경 </a:t>
            </a: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개선 방향</a:t>
            </a:r>
            <a:endParaRPr lang="ko-KR" altLang="en-US" sz="14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6" name="Picture 2" descr="arr (27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115306" y="3316175"/>
            <a:ext cx="2755900" cy="328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56332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Rectangle 4"/>
          <p:cNvSpPr>
            <a:spLocks noChangeArrowheads="1"/>
          </p:cNvSpPr>
          <p:nvPr/>
        </p:nvSpPr>
        <p:spPr bwMode="auto">
          <a:xfrm>
            <a:off x="344488" y="1814531"/>
            <a:ext cx="9180512" cy="4494789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265113" indent="-265113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  <a:defRPr/>
            </a:pPr>
            <a:endParaRPr lang="ko-KR" altLang="en-US" sz="14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7" name="직사각형 186"/>
          <p:cNvSpPr/>
          <p:nvPr/>
        </p:nvSpPr>
        <p:spPr bwMode="auto">
          <a:xfrm>
            <a:off x="344488" y="1528880"/>
            <a:ext cx="9180512" cy="288000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r>
              <a:rPr lang="ko-KR" altLang="en-US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내부 업무 </a:t>
            </a: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</a:t>
            </a:r>
            <a: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endParaRPr lang="ko-KR" altLang="en-US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시스템 업무기능 분석은 현행 기능분석</a:t>
            </a:r>
            <a:r>
              <a:rPr lang="en-US" altLang="ko-KR" sz="1600"/>
              <a:t>, DATABASE </a:t>
            </a:r>
            <a:r>
              <a:rPr lang="ko-KR" altLang="en-US" sz="1600"/>
              <a:t>및 </a:t>
            </a:r>
            <a:r>
              <a:rPr lang="en-US" altLang="ko-KR" sz="1600"/>
              <a:t>DATA </a:t>
            </a:r>
            <a:r>
              <a:rPr lang="ko-KR" altLang="en-US" sz="1600"/>
              <a:t>분석</a:t>
            </a:r>
            <a:r>
              <a:rPr lang="en-US" altLang="ko-KR" sz="1600"/>
              <a:t>, </a:t>
            </a:r>
            <a:r>
              <a:rPr lang="ko-KR" altLang="en-US" sz="1600"/>
              <a:t>업무 운용 현황 분석 및 이해관계자 인터뷰 수행을 통하여 시스템의 기능 개선 시사점을 </a:t>
            </a:r>
            <a:r>
              <a:rPr lang="ko-KR" altLang="en-US" sz="1600" dirty="0"/>
              <a:t>도출함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 smtClean="0"/>
              <a:t>1.2 </a:t>
            </a:r>
            <a:r>
              <a:rPr lang="ko-KR" altLang="en-US"/>
              <a:t>시스템 업무기능 </a:t>
            </a:r>
            <a:r>
              <a:rPr lang="ko-KR" altLang="en-US" smtClean="0"/>
              <a:t>분석</a:t>
            </a:r>
            <a:r>
              <a:rPr lang="en-US" altLang="ko-KR" smtClean="0"/>
              <a:t> </a:t>
            </a:r>
            <a:endParaRPr lang="ko-KR" altLang="en-US" sz="18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smtClean="0"/>
              <a:t>1.2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sp>
        <p:nvSpPr>
          <p:cNvPr id="180" name="직사각형 179"/>
          <p:cNvSpPr/>
          <p:nvPr/>
        </p:nvSpPr>
        <p:spPr>
          <a:xfrm>
            <a:off x="2216696" y="5544528"/>
            <a:ext cx="5472608" cy="540000"/>
          </a:xfrm>
          <a:prstGeom prst="rect">
            <a:avLst/>
          </a:prstGeom>
          <a:solidFill>
            <a:srgbClr val="4B7DB4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  <a:defRPr/>
            </a:pPr>
            <a:r>
              <a:rPr lang="ko-KR" altLang="en-US" sz="14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방향성 수립을 </a:t>
            </a: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위한 내부업무 </a:t>
            </a:r>
            <a:r>
              <a:rPr lang="ko-KR" altLang="en-US" sz="14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분석의 시사점 도출</a:t>
            </a:r>
          </a:p>
        </p:txBody>
      </p:sp>
      <p:sp>
        <p:nvSpPr>
          <p:cNvPr id="181" name="이등변 삼각형 180"/>
          <p:cNvSpPr/>
          <p:nvPr/>
        </p:nvSpPr>
        <p:spPr>
          <a:xfrm rot="10800000">
            <a:off x="3044032" y="4956656"/>
            <a:ext cx="3817936" cy="358860"/>
          </a:xfrm>
          <a:prstGeom prst="triangle">
            <a:avLst/>
          </a:prstGeom>
          <a:gradFill>
            <a:gsLst>
              <a:gs pos="55000">
                <a:schemeClr val="bg1">
                  <a:lumMod val="75000"/>
                </a:schemeClr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5" name="그룹 31"/>
          <p:cNvGrpSpPr/>
          <p:nvPr/>
        </p:nvGrpSpPr>
        <p:grpSpPr>
          <a:xfrm>
            <a:off x="4232996" y="2767445"/>
            <a:ext cx="1368000" cy="1368000"/>
            <a:chOff x="4232920" y="2780928"/>
            <a:chExt cx="1368000" cy="1368000"/>
          </a:xfrm>
        </p:grpSpPr>
        <p:sp>
          <p:nvSpPr>
            <p:cNvPr id="31" name="타원 30"/>
            <p:cNvSpPr/>
            <p:nvPr/>
          </p:nvSpPr>
          <p:spPr bwMode="auto">
            <a:xfrm>
              <a:off x="4232920" y="2780928"/>
              <a:ext cx="1368000" cy="1368000"/>
            </a:xfrm>
            <a:prstGeom prst="ellipse">
              <a:avLst/>
            </a:prstGeom>
            <a:solidFill>
              <a:sysClr val="window" lastClr="FFFFFF"/>
            </a:solidFill>
            <a:ln w="50800" cap="flat" cmpd="sng" algn="ctr">
              <a:solidFill>
                <a:sysClr val="window" lastClr="FFFFFF">
                  <a:lumMod val="75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72000" tIns="36000" rIns="72000" bIns="36000" anchor="ctr"/>
            <a:lstStyle/>
            <a:p>
              <a:pPr marL="85725" indent="-85725" eaLnBrk="0" latinLnBrk="0" hangingPunct="0">
                <a:lnSpc>
                  <a:spcPct val="105000"/>
                </a:lnSpc>
                <a:spcBef>
                  <a:spcPct val="35000"/>
                </a:spcBef>
                <a:buClr>
                  <a:srgbClr val="008400"/>
                </a:buClr>
                <a:buFontTx/>
                <a:buChar char="•"/>
                <a:defRPr/>
              </a:pPr>
              <a:endParaRPr lang="ko-KR" altLang="en-US" sz="9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1" name="더하기 기호 4"/>
            <p:cNvSpPr/>
            <p:nvPr/>
          </p:nvSpPr>
          <p:spPr>
            <a:xfrm>
              <a:off x="4610078" y="3146770"/>
              <a:ext cx="613685" cy="636317"/>
            </a:xfrm>
            <a:prstGeom prst="mathPlus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6" name="그룹 33"/>
          <p:cNvGrpSpPr/>
          <p:nvPr/>
        </p:nvGrpSpPr>
        <p:grpSpPr>
          <a:xfrm>
            <a:off x="5364152" y="2001893"/>
            <a:ext cx="3909328" cy="2899104"/>
            <a:chOff x="5364152" y="2002245"/>
            <a:chExt cx="3909328" cy="2899104"/>
          </a:xfrm>
        </p:grpSpPr>
        <p:sp>
          <p:nvSpPr>
            <p:cNvPr id="185" name="Rectangle 4"/>
            <p:cNvSpPr>
              <a:spLocks noChangeArrowheads="1"/>
            </p:cNvSpPr>
            <p:nvPr/>
          </p:nvSpPr>
          <p:spPr bwMode="auto">
            <a:xfrm>
              <a:off x="5364152" y="2345182"/>
              <a:ext cx="3909328" cy="104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txBody>
            <a:bodyPr wrap="square" lIns="108000" tIns="36000" rIns="72000" bIns="36000" rtlCol="0" anchor="ctr">
              <a:noAutofit/>
            </a:bodyPr>
            <a:lstStyle/>
            <a:p>
              <a:pPr marL="180975" indent="-180975" defTabSz="895350">
                <a:spcBef>
                  <a:spcPts val="3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100" spc="-30">
                  <a:latin typeface="+mn-ea"/>
                </a:rPr>
                <a:t>업무별 기능 분석</a:t>
              </a:r>
              <a:r>
                <a:rPr lang="en-US" altLang="ko-KR" sz="1100" spc="-30" dirty="0">
                  <a:latin typeface="+mn-ea"/>
                </a:rPr>
                <a:t/>
              </a:r>
              <a:br>
                <a:rPr lang="en-US" altLang="ko-KR" sz="1100" spc="-30" dirty="0">
                  <a:latin typeface="+mn-ea"/>
                </a:rPr>
              </a:br>
              <a:r>
                <a:rPr lang="en-US" altLang="ko-KR" sz="1100" spc="-30">
                  <a:latin typeface="+mn-ea"/>
                </a:rPr>
                <a:t>- </a:t>
              </a:r>
              <a:r>
                <a:rPr lang="ko-KR" altLang="en-US" sz="1100" spc="-30">
                  <a:latin typeface="+mn-ea"/>
                </a:rPr>
                <a:t>업무별 구축 대비 운용</a:t>
              </a:r>
              <a:r>
                <a:rPr lang="en-US" altLang="ko-KR" sz="1100" spc="-30">
                  <a:latin typeface="+mn-ea"/>
                </a:rPr>
                <a:t>(</a:t>
              </a:r>
              <a:r>
                <a:rPr lang="ko-KR" altLang="en-US" sz="1100" spc="-30">
                  <a:latin typeface="+mn-ea"/>
                </a:rPr>
                <a:t>사용</a:t>
              </a:r>
              <a:r>
                <a:rPr lang="en-US" altLang="ko-KR" sz="1100" spc="-30">
                  <a:latin typeface="+mn-ea"/>
                </a:rPr>
                <a:t>)</a:t>
              </a:r>
              <a:r>
                <a:rPr lang="ko-KR" altLang="en-US" sz="1100" spc="-30">
                  <a:latin typeface="+mn-ea"/>
                </a:rPr>
                <a:t> 현황 분석</a:t>
              </a:r>
              <a:endParaRPr lang="en-US" altLang="ko-KR" sz="1100" spc="-30" dirty="0">
                <a:latin typeface="+mn-ea"/>
              </a:endParaRPr>
            </a:p>
            <a:p>
              <a:pPr marL="180975" indent="-180975" defTabSz="895350">
                <a:spcBef>
                  <a:spcPts val="3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100" spc="-30">
                  <a:latin typeface="+mn-ea"/>
                </a:rPr>
                <a:t>기능 </a:t>
              </a:r>
              <a:r>
                <a:rPr lang="ko-KR" altLang="en-US" sz="1100" spc="-30" dirty="0">
                  <a:latin typeface="+mn-ea"/>
                </a:rPr>
                <a:t>분석</a:t>
              </a:r>
              <a:r>
                <a:rPr lang="en-US" altLang="ko-KR" sz="1100" spc="-30" dirty="0">
                  <a:latin typeface="+mn-ea"/>
                </a:rPr>
                <a:t/>
              </a:r>
              <a:br>
                <a:rPr lang="en-US" altLang="ko-KR" sz="1100" spc="-30" dirty="0">
                  <a:latin typeface="+mn-ea"/>
                </a:rPr>
              </a:br>
              <a:r>
                <a:rPr lang="en-US" altLang="ko-KR" sz="1100" spc="-30">
                  <a:latin typeface="+mn-ea"/>
                </a:rPr>
                <a:t>- </a:t>
              </a:r>
              <a:r>
                <a:rPr lang="ko-KR" altLang="en-US" sz="1100" spc="-30">
                  <a:latin typeface="+mn-ea"/>
                </a:rPr>
                <a:t>개별 기능의 요구 대비 충족성 </a:t>
              </a:r>
              <a:r>
                <a:rPr lang="ko-KR" altLang="en-US" sz="1100">
                  <a:latin typeface="맑은 고딕" pitchFamily="50" charset="-127"/>
                  <a:ea typeface="맑은 고딕" pitchFamily="50" charset="-127"/>
                </a:rPr>
                <a:t>분석</a:t>
              </a:r>
              <a:endParaRPr lang="en-US" altLang="ko-KR" sz="1100" spc="-30" dirty="0">
                <a:latin typeface="+mn-ea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5364152" y="2002245"/>
              <a:ext cx="3907296" cy="352578"/>
            </a:xfrm>
            <a:prstGeom prst="rect">
              <a:avLst/>
            </a:prstGeom>
            <a:solidFill>
              <a:srgbClr val="508CD2"/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</a:pPr>
              <a:r>
                <a:rPr lang="ko-KR" altLang="en-US" sz="1400" b="1" kern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업무 운용 현황</a:t>
              </a:r>
              <a:r>
                <a:rPr lang="en-US" altLang="ko-KR" sz="1400" b="1" kern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endParaRPr lang="ko-KR" altLang="en-US" sz="14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7" name="Rectangle 4"/>
            <p:cNvSpPr>
              <a:spLocks noChangeArrowheads="1"/>
            </p:cNvSpPr>
            <p:nvPr/>
          </p:nvSpPr>
          <p:spPr bwMode="auto">
            <a:xfrm>
              <a:off x="5364152" y="3857349"/>
              <a:ext cx="3909328" cy="104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txBody>
            <a:bodyPr wrap="square" lIns="108000" tIns="36000" rIns="72000" bIns="36000" rtlCol="0" anchor="ctr">
              <a:noAutofit/>
            </a:bodyPr>
            <a:lstStyle/>
            <a:p>
              <a:pPr marL="180975" indent="-180975" defTabSz="895350">
                <a:spcBef>
                  <a:spcPts val="6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100" spc="-30" dirty="0">
                  <a:latin typeface="+mn-ea"/>
                </a:rPr>
                <a:t>이해관계자 분석</a:t>
              </a:r>
              <a:r>
                <a:rPr lang="en-US" altLang="ko-KR" sz="1100" spc="-30" dirty="0">
                  <a:latin typeface="+mn-ea"/>
                </a:rPr>
                <a:t/>
              </a:r>
              <a:br>
                <a:rPr lang="en-US" altLang="ko-KR" sz="1100" spc="-30" dirty="0">
                  <a:latin typeface="+mn-ea"/>
                </a:rPr>
              </a:br>
              <a:r>
                <a:rPr lang="en-US" altLang="ko-KR" sz="1100" spc="-30" dirty="0">
                  <a:latin typeface="+mn-ea"/>
                </a:rPr>
                <a:t>- </a:t>
              </a:r>
              <a:r>
                <a:rPr lang="ko-KR" altLang="en-US" sz="1100" spc="-30" dirty="0">
                  <a:latin typeface="+mn-ea"/>
                </a:rPr>
                <a:t>본 사업 </a:t>
              </a:r>
              <a:r>
                <a:rPr lang="ko-KR" altLang="en-US" sz="1100" spc="-30">
                  <a:latin typeface="+mn-ea"/>
                </a:rPr>
                <a:t>관련 내부 </a:t>
              </a:r>
              <a:r>
                <a:rPr lang="ko-KR" altLang="en-US" sz="1100" spc="-30" dirty="0">
                  <a:latin typeface="+mn-ea"/>
                </a:rPr>
                <a:t>이해관계자 식별 및 분석</a:t>
              </a:r>
              <a:endParaRPr lang="en-US" altLang="ko-KR" sz="1100" spc="-30" dirty="0">
                <a:latin typeface="+mn-ea"/>
              </a:endParaRPr>
            </a:p>
            <a:p>
              <a:pPr marL="180975" indent="-180975" defTabSz="895350">
                <a:spcBef>
                  <a:spcPts val="6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100" spc="-30">
                  <a:latin typeface="+mn-ea"/>
                </a:rPr>
                <a:t>인터뷰 결과 </a:t>
              </a:r>
              <a:r>
                <a:rPr lang="ko-KR" altLang="en-US" sz="1100" spc="-30" dirty="0">
                  <a:latin typeface="+mn-ea"/>
                </a:rPr>
                <a:t>분석</a:t>
              </a:r>
              <a:r>
                <a:rPr lang="en-US" altLang="ko-KR" sz="1100" spc="-30" dirty="0">
                  <a:latin typeface="+mn-ea"/>
                </a:rPr>
                <a:t/>
              </a:r>
              <a:br>
                <a:rPr lang="en-US" altLang="ko-KR" sz="1100" spc="-30" dirty="0">
                  <a:latin typeface="+mn-ea"/>
                </a:rPr>
              </a:br>
              <a:endParaRPr lang="en-US" altLang="ko-KR" sz="1100" spc="-30" dirty="0">
                <a:latin typeface="+mn-ea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5365168" y="3514412"/>
              <a:ext cx="3907296" cy="352578"/>
            </a:xfrm>
            <a:prstGeom prst="rect">
              <a:avLst/>
            </a:prstGeom>
            <a:solidFill>
              <a:srgbClr val="508CD2"/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</a:pPr>
              <a:r>
                <a:rPr lang="ko-KR" altLang="en-US" sz="1400" b="1" kern="0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이해관계자</a:t>
              </a:r>
              <a:r>
                <a:rPr lang="en-US" altLang="ko-KR" sz="1400" b="1" kern="0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400" b="1" kern="0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인터뷰</a:t>
              </a:r>
            </a:p>
          </p:txBody>
        </p:sp>
      </p:grpSp>
      <p:grpSp>
        <p:nvGrpSpPr>
          <p:cNvPr id="7" name="그룹 32"/>
          <p:cNvGrpSpPr/>
          <p:nvPr/>
        </p:nvGrpSpPr>
        <p:grpSpPr>
          <a:xfrm>
            <a:off x="560512" y="2001540"/>
            <a:ext cx="3909328" cy="2899810"/>
            <a:chOff x="560512" y="2001540"/>
            <a:chExt cx="3909328" cy="2899810"/>
          </a:xfrm>
        </p:grpSpPr>
        <p:sp>
          <p:nvSpPr>
            <p:cNvPr id="183" name="Rectangle 4"/>
            <p:cNvSpPr>
              <a:spLocks noChangeArrowheads="1"/>
            </p:cNvSpPr>
            <p:nvPr/>
          </p:nvSpPr>
          <p:spPr bwMode="auto">
            <a:xfrm>
              <a:off x="560512" y="2345183"/>
              <a:ext cx="3909328" cy="104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txBody>
            <a:bodyPr wrap="square" lIns="108000" tIns="36000" rIns="72000" bIns="36000" rtlCol="0" anchor="ctr">
              <a:noAutofit/>
            </a:bodyPr>
            <a:lstStyle/>
            <a:p>
              <a:pPr marL="180975" indent="-180975" defTabSz="895350">
                <a:spcBef>
                  <a:spcPts val="6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100" spc="-30">
                  <a:latin typeface="+mn-ea"/>
                </a:rPr>
                <a:t>예산</a:t>
              </a:r>
              <a:r>
                <a:rPr lang="en-US" altLang="ko-KR" sz="1100" spc="-30">
                  <a:latin typeface="+mn-ea"/>
                </a:rPr>
                <a:t>, </a:t>
              </a:r>
              <a:r>
                <a:rPr lang="ko-KR" altLang="en-US" sz="1100" spc="-30">
                  <a:latin typeface="+mn-ea"/>
                </a:rPr>
                <a:t>회계</a:t>
              </a:r>
              <a:r>
                <a:rPr lang="en-US" altLang="ko-KR" sz="1100" spc="-30">
                  <a:latin typeface="+mn-ea"/>
                </a:rPr>
                <a:t>(</a:t>
              </a:r>
              <a:r>
                <a:rPr lang="ko-KR" altLang="en-US" sz="1100" spc="-30">
                  <a:latin typeface="+mn-ea"/>
                </a:rPr>
                <a:t>재무</a:t>
              </a:r>
              <a:r>
                <a:rPr lang="en-US" altLang="ko-KR" sz="1100" spc="-30">
                  <a:latin typeface="+mn-ea"/>
                </a:rPr>
                <a:t>,</a:t>
              </a:r>
              <a:r>
                <a:rPr lang="ko-KR" altLang="en-US" sz="1100" spc="-30">
                  <a:latin typeface="+mn-ea"/>
                </a:rPr>
                <a:t>자금</a:t>
              </a:r>
              <a:r>
                <a:rPr lang="en-US" altLang="ko-KR" sz="1100" spc="-30">
                  <a:latin typeface="+mn-ea"/>
                </a:rPr>
                <a:t>,</a:t>
              </a:r>
              <a:r>
                <a:rPr lang="ko-KR" altLang="en-US" sz="1100" spc="-30">
                  <a:latin typeface="+mn-ea"/>
                </a:rPr>
                <a:t>세무</a:t>
              </a:r>
              <a:r>
                <a:rPr lang="en-US" altLang="ko-KR" sz="1100" spc="-30">
                  <a:latin typeface="+mn-ea"/>
                </a:rPr>
                <a:t>,</a:t>
              </a:r>
              <a:r>
                <a:rPr lang="ko-KR" altLang="en-US" sz="1100" spc="-30">
                  <a:latin typeface="+mn-ea"/>
                </a:rPr>
                <a:t>결산</a:t>
              </a:r>
              <a:r>
                <a:rPr lang="en-US" altLang="ko-KR" sz="1100" spc="-30">
                  <a:latin typeface="+mn-ea"/>
                </a:rPr>
                <a:t>), </a:t>
              </a:r>
              <a:r>
                <a:rPr lang="ko-KR" altLang="en-US" sz="1100" spc="-30">
                  <a:latin typeface="+mn-ea"/>
                </a:rPr>
                <a:t>구매</a:t>
              </a:r>
              <a:r>
                <a:rPr lang="en-US" altLang="ko-KR" sz="1100" spc="-30">
                  <a:latin typeface="+mn-ea"/>
                </a:rPr>
                <a:t>, </a:t>
              </a:r>
              <a:r>
                <a:rPr lang="ko-KR" altLang="en-US" sz="1100" spc="-30">
                  <a:latin typeface="+mn-ea"/>
                </a:rPr>
                <a:t>자산</a:t>
              </a:r>
              <a:r>
                <a:rPr lang="en-US" altLang="ko-KR" sz="1100" spc="-30">
                  <a:latin typeface="+mn-ea"/>
                </a:rPr>
                <a:t>, </a:t>
              </a:r>
              <a:r>
                <a:rPr lang="ko-KR" altLang="en-US" sz="1100" spc="-30">
                  <a:latin typeface="+mn-ea"/>
                </a:rPr>
                <a:t>사업관리 정보화 내역 </a:t>
              </a:r>
              <a:r>
                <a:rPr lang="ko-KR" altLang="en-US" sz="1100" spc="-30" dirty="0">
                  <a:latin typeface="+mn-ea"/>
                </a:rPr>
                <a:t>분석</a:t>
              </a:r>
              <a:r>
                <a:rPr lang="en-US" altLang="ko-KR" sz="1100" spc="-30" dirty="0">
                  <a:latin typeface="+mn-ea"/>
                </a:rPr>
                <a:t/>
              </a:r>
              <a:br>
                <a:rPr lang="en-US" altLang="ko-KR" sz="1100" spc="-30" dirty="0">
                  <a:latin typeface="+mn-ea"/>
                </a:rPr>
              </a:br>
              <a:r>
                <a:rPr lang="en-US" altLang="ko-KR" sz="1100" spc="-30">
                  <a:latin typeface="+mn-ea"/>
                </a:rPr>
                <a:t>-  </a:t>
              </a:r>
              <a:r>
                <a:rPr lang="en-US" altLang="ko-KR" sz="1100">
                  <a:latin typeface="+mn-ea"/>
                </a:rPr>
                <a:t>2022</a:t>
              </a:r>
              <a:r>
                <a:rPr lang="ko-KR" altLang="en-US" sz="1100">
                  <a:latin typeface="+mn-ea"/>
                </a:rPr>
                <a:t>년 구축된 정보시스템 구축 </a:t>
              </a:r>
              <a:r>
                <a:rPr lang="ko-KR" altLang="en-US" sz="1100" dirty="0">
                  <a:latin typeface="+mn-ea"/>
                </a:rPr>
                <a:t>결과 분석</a:t>
              </a:r>
              <a:endParaRPr lang="ko-KR" altLang="en-US" sz="1100" spc="-30" dirty="0">
                <a:latin typeface="+mn-ea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561528" y="2001540"/>
              <a:ext cx="3907298" cy="353282"/>
            </a:xfrm>
            <a:prstGeom prst="rect">
              <a:avLst/>
            </a:prstGeom>
            <a:solidFill>
              <a:srgbClr val="508CD2"/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</a:pPr>
              <a:r>
                <a:rPr lang="ko-KR" altLang="en-US" sz="1400" b="1" kern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현행 기능 분석</a:t>
              </a:r>
              <a:endParaRPr lang="ko-KR" altLang="en-US" sz="14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8" name="Rectangle 4"/>
            <p:cNvSpPr>
              <a:spLocks noChangeArrowheads="1"/>
            </p:cNvSpPr>
            <p:nvPr/>
          </p:nvSpPr>
          <p:spPr bwMode="auto">
            <a:xfrm>
              <a:off x="560512" y="3857350"/>
              <a:ext cx="3909328" cy="104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txBody>
            <a:bodyPr wrap="square" lIns="108000" tIns="36000" rIns="72000" bIns="36000" rtlCol="0" anchor="ctr">
              <a:noAutofit/>
            </a:bodyPr>
            <a:lstStyle/>
            <a:p>
              <a:pPr marL="180975" indent="-180975" defTabSz="895350">
                <a:spcBef>
                  <a:spcPts val="6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en-US" altLang="ko-KR" sz="1100" spc="-30">
                  <a:latin typeface="+mn-ea"/>
                </a:rPr>
                <a:t>DATABASE </a:t>
              </a:r>
              <a:r>
                <a:rPr lang="ko-KR" altLang="en-US" sz="1100" spc="-30">
                  <a:latin typeface="+mn-ea"/>
                </a:rPr>
                <a:t>분석</a:t>
              </a:r>
              <a:r>
                <a:rPr lang="en-US" altLang="ko-KR" sz="1100" spc="-30">
                  <a:latin typeface="+mn-ea"/>
                </a:rPr>
                <a:t/>
              </a:r>
              <a:br>
                <a:rPr lang="en-US" altLang="ko-KR" sz="1100" spc="-30">
                  <a:latin typeface="+mn-ea"/>
                </a:rPr>
              </a:br>
              <a:r>
                <a:rPr lang="en-US" altLang="ko-KR" sz="1100" spc="-30">
                  <a:latin typeface="+mn-ea"/>
                </a:rPr>
                <a:t>- DATABASE </a:t>
              </a:r>
              <a:r>
                <a:rPr lang="ko-KR" altLang="en-US" sz="1100" spc="-30">
                  <a:latin typeface="+mn-ea"/>
                </a:rPr>
                <a:t>구성 및 표준화 분석</a:t>
              </a:r>
              <a:endParaRPr lang="en-US" altLang="ko-KR" sz="1100" spc="-30" dirty="0">
                <a:latin typeface="+mn-ea"/>
              </a:endParaRPr>
            </a:p>
            <a:p>
              <a:pPr marL="180975" indent="-180975" defTabSz="895350">
                <a:spcBef>
                  <a:spcPts val="6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en-US" altLang="ko-KR" sz="1100" spc="-30">
                  <a:latin typeface="+mn-ea"/>
                </a:rPr>
                <a:t>DATA </a:t>
              </a:r>
              <a:r>
                <a:rPr lang="ko-KR" altLang="en-US" sz="1100" spc="-30">
                  <a:latin typeface="+mn-ea"/>
                </a:rPr>
                <a:t>분석</a:t>
              </a:r>
              <a:r>
                <a:rPr lang="en-US" altLang="ko-KR" sz="1100" spc="-30" dirty="0">
                  <a:latin typeface="+mn-ea"/>
                </a:rPr>
                <a:t/>
              </a:r>
              <a:br>
                <a:rPr lang="en-US" altLang="ko-KR" sz="1100" spc="-30" dirty="0">
                  <a:latin typeface="+mn-ea"/>
                </a:rPr>
              </a:br>
              <a:r>
                <a:rPr lang="en-US" altLang="ko-KR" sz="1100" spc="-30">
                  <a:latin typeface="+mn-ea"/>
                </a:rPr>
                <a:t>- DATA</a:t>
              </a:r>
              <a:r>
                <a:rPr lang="ko-KR" altLang="en-US" sz="1100" spc="-30">
                  <a:latin typeface="+mn-ea"/>
                </a:rPr>
                <a:t>의 체계</a:t>
              </a:r>
              <a:r>
                <a:rPr lang="en-US" altLang="ko-KR" sz="1100" spc="-30">
                  <a:latin typeface="+mn-ea"/>
                </a:rPr>
                <a:t>, </a:t>
              </a:r>
              <a:r>
                <a:rPr lang="ko-KR" altLang="en-US" sz="1100" spc="-30">
                  <a:latin typeface="+mn-ea"/>
                </a:rPr>
                <a:t>표준화</a:t>
              </a:r>
              <a:r>
                <a:rPr lang="en-US" altLang="ko-KR" sz="1100" spc="-30">
                  <a:latin typeface="+mn-ea"/>
                </a:rPr>
                <a:t>, </a:t>
              </a:r>
              <a:r>
                <a:rPr lang="ko-KR" altLang="en-US" sz="1100" spc="-30">
                  <a:latin typeface="+mn-ea"/>
                </a:rPr>
                <a:t>무결성 분석  </a:t>
              </a:r>
              <a:endParaRPr lang="en-US" altLang="ko-KR" sz="1100" spc="-30" dirty="0">
                <a:latin typeface="+mn-ea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561528" y="3513707"/>
              <a:ext cx="3907298" cy="353282"/>
            </a:xfrm>
            <a:prstGeom prst="rect">
              <a:avLst/>
            </a:prstGeom>
            <a:solidFill>
              <a:srgbClr val="508CD2"/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</a:pPr>
              <a:r>
                <a:rPr lang="en-US" altLang="ko-KR" sz="1400" b="1" kern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DATABASE </a:t>
              </a:r>
              <a:r>
                <a:rPr lang="ko-KR" altLang="en-US" sz="1400" b="1" kern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및 </a:t>
              </a:r>
              <a:r>
                <a:rPr lang="en-US" altLang="ko-KR" sz="1400" b="1" kern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DATA </a:t>
              </a:r>
              <a:r>
                <a:rPr lang="ko-KR" altLang="en-US" sz="1400" b="1" kern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분석</a:t>
              </a:r>
              <a:endParaRPr lang="ko-KR" altLang="en-US" sz="14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68856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직사각형 29"/>
          <p:cNvSpPr/>
          <p:nvPr/>
        </p:nvSpPr>
        <p:spPr>
          <a:xfrm>
            <a:off x="2856357" y="1910730"/>
            <a:ext cx="5474873" cy="2318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/>
              <a:t>본 사업 </a:t>
            </a:r>
            <a:r>
              <a:rPr lang="ko-KR" altLang="en-US" sz="1600"/>
              <a:t>범위인 예산</a:t>
            </a:r>
            <a:r>
              <a:rPr lang="en-US" altLang="ko-KR" sz="1600"/>
              <a:t>, </a:t>
            </a:r>
            <a:r>
              <a:rPr lang="ko-KR" altLang="en-US" sz="1600"/>
              <a:t>회계</a:t>
            </a:r>
            <a:r>
              <a:rPr lang="en-US" altLang="ko-KR" sz="1600"/>
              <a:t>(</a:t>
            </a:r>
            <a:r>
              <a:rPr lang="ko-KR" altLang="en-US" sz="1600"/>
              <a:t>재무</a:t>
            </a:r>
            <a:r>
              <a:rPr lang="en-US" altLang="ko-KR" sz="1600"/>
              <a:t>,</a:t>
            </a:r>
            <a:r>
              <a:rPr lang="ko-KR" altLang="en-US" sz="1600"/>
              <a:t>자금</a:t>
            </a:r>
            <a:r>
              <a:rPr lang="en-US" altLang="ko-KR" sz="1600"/>
              <a:t>,</a:t>
            </a:r>
            <a:r>
              <a:rPr lang="ko-KR" altLang="en-US" sz="1600"/>
              <a:t>세무</a:t>
            </a:r>
            <a:r>
              <a:rPr lang="en-US" altLang="ko-KR" sz="1600"/>
              <a:t>,</a:t>
            </a:r>
            <a:r>
              <a:rPr lang="ko-KR" altLang="en-US" sz="1600"/>
              <a:t>결산</a:t>
            </a:r>
            <a:r>
              <a:rPr lang="en-US" altLang="ko-KR" sz="1600"/>
              <a:t>), </a:t>
            </a:r>
            <a:r>
              <a:rPr lang="ko-KR" altLang="en-US" sz="1600"/>
              <a:t>구매</a:t>
            </a:r>
            <a:r>
              <a:rPr lang="en-US" altLang="ko-KR" sz="1600"/>
              <a:t>, </a:t>
            </a:r>
            <a:r>
              <a:rPr lang="ko-KR" altLang="en-US" sz="1600"/>
              <a:t>자산</a:t>
            </a:r>
            <a:r>
              <a:rPr lang="en-US" altLang="ko-KR" sz="1600"/>
              <a:t>, </a:t>
            </a:r>
            <a:r>
              <a:rPr lang="ko-KR" altLang="en-US" sz="1600"/>
              <a:t>사업관리 업무의 분류체계를 </a:t>
            </a:r>
            <a:r>
              <a:rPr lang="ko-KR" altLang="en-US" sz="1600" smtClean="0"/>
              <a:t>분석하고 </a:t>
            </a:r>
            <a:r>
              <a:rPr lang="ko-KR" altLang="en-US" sz="1600" dirty="0"/>
              <a:t>업무기능 간 </a:t>
            </a:r>
            <a:r>
              <a:rPr lang="ko-KR" altLang="en-US" sz="1600"/>
              <a:t>관계를 도식화하여 데이터 공유 및 상호 연계 처리를 식별함</a:t>
            </a:r>
            <a:endParaRPr lang="ko-KR" altLang="en-US" sz="1600" dirty="0"/>
          </a:p>
        </p:txBody>
      </p:sp>
      <p:sp>
        <p:nvSpPr>
          <p:cNvPr id="9" name="직사각형 8"/>
          <p:cNvSpPr/>
          <p:nvPr/>
        </p:nvSpPr>
        <p:spPr bwMode="auto">
          <a:xfrm>
            <a:off x="2792016" y="3765798"/>
            <a:ext cx="5539213" cy="324000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r>
              <a:rPr lang="en-US" altLang="ko-KR" sz="14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ERP </a:t>
            </a:r>
            <a:r>
              <a:rPr lang="ko-KR" altLang="en-US" sz="14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시스템</a:t>
            </a:r>
            <a:endParaRPr lang="ko-KR" altLang="en-US" sz="14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10" name="Rectangle 43"/>
          <p:cNvSpPr>
            <a:spLocks noChangeArrowheads="1"/>
          </p:cNvSpPr>
          <p:nvPr/>
        </p:nvSpPr>
        <p:spPr bwMode="auto">
          <a:xfrm>
            <a:off x="3900083" y="4716523"/>
            <a:ext cx="610539" cy="253113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0" tIns="36000" rIns="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solidFill>
                  <a:prstClr val="white"/>
                </a:solidFill>
                <a:latin typeface="+mn-ea"/>
              </a:rPr>
              <a:t>사업관리</a:t>
            </a:r>
            <a:endParaRPr lang="en-US" altLang="ko-KR" sz="11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11" name="Rectangle 43"/>
          <p:cNvSpPr>
            <a:spLocks noChangeArrowheads="1"/>
          </p:cNvSpPr>
          <p:nvPr/>
        </p:nvSpPr>
        <p:spPr bwMode="auto">
          <a:xfrm>
            <a:off x="2788011" y="4125006"/>
            <a:ext cx="2663651" cy="181765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예산</a:t>
            </a:r>
            <a:r>
              <a:rPr lang="en-US" altLang="ko-KR" sz="1100" b="1" kern="0">
                <a:solidFill>
                  <a:prstClr val="white"/>
                </a:solidFill>
                <a:latin typeface="+mn-ea"/>
              </a:rPr>
              <a:t>/</a:t>
            </a: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회계</a:t>
            </a:r>
            <a:r>
              <a:rPr lang="en-US" altLang="ko-KR" sz="1100" b="1" kern="0">
                <a:solidFill>
                  <a:prstClr val="white"/>
                </a:solidFill>
                <a:latin typeface="+mn-ea"/>
              </a:rPr>
              <a:t>/</a:t>
            </a: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구매</a:t>
            </a:r>
            <a:r>
              <a:rPr lang="en-US" altLang="ko-KR" sz="1100" b="1" kern="0">
                <a:solidFill>
                  <a:prstClr val="white"/>
                </a:solidFill>
                <a:latin typeface="+mn-ea"/>
              </a:rPr>
              <a:t>/</a:t>
            </a: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자산</a:t>
            </a:r>
            <a:endParaRPr lang="en-US" altLang="ko-KR" sz="11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" name="Rectangle 43"/>
          <p:cNvSpPr>
            <a:spLocks noChangeArrowheads="1"/>
          </p:cNvSpPr>
          <p:nvPr/>
        </p:nvSpPr>
        <p:spPr bwMode="auto">
          <a:xfrm>
            <a:off x="2788012" y="4325754"/>
            <a:ext cx="2663650" cy="10391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endParaRPr lang="en-US" altLang="ko-KR" sz="14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2873866" y="4387416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rgbClr val="0000FF"/>
                </a:solidFill>
                <a:latin typeface="+mn-ea"/>
              </a:rPr>
              <a:t>예산관리</a:t>
            </a:r>
            <a:endParaRPr lang="ko-KR" altLang="en-US" sz="800" kern="0" spc="-10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35" name="모서리가 둥근 직사각형 34"/>
          <p:cNvSpPr/>
          <p:nvPr/>
        </p:nvSpPr>
        <p:spPr>
          <a:xfrm>
            <a:off x="3534464" y="4387416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회계관리</a:t>
            </a:r>
          </a:p>
        </p:txBody>
      </p:sp>
      <p:sp>
        <p:nvSpPr>
          <p:cNvPr id="38" name="모서리가 둥근 직사각형 37"/>
          <p:cNvSpPr/>
          <p:nvPr/>
        </p:nvSpPr>
        <p:spPr>
          <a:xfrm>
            <a:off x="4195062" y="4387416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자산관리</a:t>
            </a:r>
          </a:p>
        </p:txBody>
      </p:sp>
      <p:sp>
        <p:nvSpPr>
          <p:cNvPr id="123" name="직사각형 122"/>
          <p:cNvSpPr/>
          <p:nvPr/>
        </p:nvSpPr>
        <p:spPr bwMode="auto">
          <a:xfrm>
            <a:off x="1064568" y="1412776"/>
            <a:ext cx="7266661" cy="28444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r>
              <a:rPr lang="ko-KR" altLang="en-US" sz="14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코레일테크 </a:t>
            </a:r>
            <a:r>
              <a:rPr lang="ko-KR" altLang="en-US" sz="1400" b="1" kern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시스템 구성도</a:t>
            </a:r>
            <a:endParaRPr lang="ko-KR" altLang="en-US" sz="14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571987" y="1697223"/>
            <a:ext cx="194182" cy="165976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50" b="1">
                <a:solidFill>
                  <a:schemeClr val="tx1"/>
                </a:solidFill>
                <a:latin typeface="+mn-ea"/>
              </a:rPr>
              <a:t>사용자인증</a:t>
            </a:r>
            <a:endParaRPr lang="en-US" altLang="ko-KR" sz="1050" b="1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50" b="1">
                <a:solidFill>
                  <a:schemeClr val="tx1"/>
                </a:solidFill>
                <a:latin typeface="+mn-ea"/>
              </a:rPr>
              <a:t>/</a:t>
            </a:r>
          </a:p>
          <a:p>
            <a:pPr algn="ctr"/>
            <a:r>
              <a:rPr lang="ko-KR" altLang="en-US" sz="1050" b="1">
                <a:solidFill>
                  <a:schemeClr val="tx1"/>
                </a:solidFill>
                <a:latin typeface="+mn-ea"/>
              </a:rPr>
              <a:t>사용권한</a:t>
            </a:r>
            <a:endParaRPr lang="ko-KR" altLang="en-US" sz="105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76" name="그룹 29"/>
          <p:cNvGrpSpPr>
            <a:grpSpLocks/>
          </p:cNvGrpSpPr>
          <p:nvPr/>
        </p:nvGrpSpPr>
        <p:grpSpPr bwMode="auto">
          <a:xfrm>
            <a:off x="1174118" y="2770648"/>
            <a:ext cx="449263" cy="341313"/>
            <a:chOff x="5543550" y="3667116"/>
            <a:chExt cx="558800" cy="465137"/>
          </a:xfrm>
        </p:grpSpPr>
        <p:pic>
          <p:nvPicPr>
            <p:cNvPr id="177" name="Picture 94" descr="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8" t="28798" r="65112" b="60794"/>
            <a:stretch>
              <a:fillRect/>
            </a:stretch>
          </p:blipFill>
          <p:spPr bwMode="auto">
            <a:xfrm>
              <a:off x="5543550" y="3844916"/>
              <a:ext cx="558800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8" name="Picture 102" descr="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550" t="42731" r="38626" b="42841"/>
            <a:stretch>
              <a:fillRect/>
            </a:stretch>
          </p:blipFill>
          <p:spPr bwMode="auto">
            <a:xfrm>
              <a:off x="5618163" y="3667116"/>
              <a:ext cx="411162" cy="365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87" name="Group 76"/>
          <p:cNvGrpSpPr>
            <a:grpSpLocks/>
          </p:cNvGrpSpPr>
          <p:nvPr/>
        </p:nvGrpSpPr>
        <p:grpSpPr bwMode="auto">
          <a:xfrm>
            <a:off x="1174118" y="1738554"/>
            <a:ext cx="450850" cy="384175"/>
            <a:chOff x="346" y="3835"/>
            <a:chExt cx="352" cy="328"/>
          </a:xfrm>
        </p:grpSpPr>
        <p:pic>
          <p:nvPicPr>
            <p:cNvPr id="188" name="Picture 77" descr="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8" t="28798" r="65112" b="60794"/>
            <a:stretch>
              <a:fillRect/>
            </a:stretch>
          </p:blipFill>
          <p:spPr bwMode="auto">
            <a:xfrm>
              <a:off x="346" y="3982"/>
              <a:ext cx="352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9" name="Picture 78" descr="3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586" t="26706" r="41901" b="58647"/>
            <a:stretch>
              <a:fillRect/>
            </a:stretch>
          </p:blipFill>
          <p:spPr bwMode="auto">
            <a:xfrm>
              <a:off x="419" y="3835"/>
              <a:ext cx="209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0" name="그룹 106"/>
          <p:cNvGrpSpPr>
            <a:grpSpLocks/>
          </p:cNvGrpSpPr>
          <p:nvPr/>
        </p:nvGrpSpPr>
        <p:grpSpPr bwMode="auto">
          <a:xfrm>
            <a:off x="1163800" y="2275480"/>
            <a:ext cx="471487" cy="355741"/>
            <a:chOff x="5562619" y="6852791"/>
            <a:chExt cx="558800" cy="398910"/>
          </a:xfrm>
        </p:grpSpPr>
        <p:pic>
          <p:nvPicPr>
            <p:cNvPr id="191" name="Picture 98" descr="3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8" t="28798" r="65112" b="60794"/>
            <a:stretch>
              <a:fillRect/>
            </a:stretch>
          </p:blipFill>
          <p:spPr bwMode="auto">
            <a:xfrm>
              <a:off x="5562619" y="6964363"/>
              <a:ext cx="558800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2" name="Picture 205" descr="건물"/>
            <p:cNvPicPr>
              <a:picLocks noChangeAspect="1" noChangeArrowheads="1"/>
            </p:cNvPicPr>
            <p:nvPr/>
          </p:nvPicPr>
          <p:blipFill>
            <a:blip r:embed="rId8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8854" y="6852791"/>
              <a:ext cx="426424" cy="38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8" name="TextBox 7"/>
          <p:cNvSpPr txBox="1"/>
          <p:nvPr/>
        </p:nvSpPr>
        <p:spPr>
          <a:xfrm>
            <a:off x="1178970" y="2074781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+mn-ea"/>
              </a:rPr>
              <a:t>본사</a:t>
            </a:r>
            <a:endParaRPr lang="ko-KR" altLang="en-US" sz="1000" dirty="0" err="1">
              <a:latin typeface="+mn-ea"/>
            </a:endParaRPr>
          </a:p>
        </p:txBody>
      </p:sp>
      <p:sp>
        <p:nvSpPr>
          <p:cNvPr id="201" name="TextBox 200"/>
          <p:cNvSpPr txBox="1"/>
          <p:nvPr/>
        </p:nvSpPr>
        <p:spPr>
          <a:xfrm>
            <a:off x="1114850" y="2579991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+mn-ea"/>
              </a:rPr>
              <a:t>사업소</a:t>
            </a:r>
            <a:endParaRPr lang="ko-KR" altLang="en-US" sz="1000" dirty="0" err="1">
              <a:latin typeface="+mn-ea"/>
            </a:endParaRPr>
          </a:p>
        </p:txBody>
      </p:sp>
      <p:sp>
        <p:nvSpPr>
          <p:cNvPr id="202" name="TextBox 201"/>
          <p:cNvSpPr txBox="1"/>
          <p:nvPr/>
        </p:nvSpPr>
        <p:spPr>
          <a:xfrm>
            <a:off x="1178970" y="3105851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+mn-ea"/>
              </a:rPr>
              <a:t>현장</a:t>
            </a:r>
            <a:endParaRPr lang="ko-KR" altLang="en-US" sz="1000" dirty="0" err="1">
              <a:latin typeface="+mn-ea"/>
            </a:endParaRPr>
          </a:p>
        </p:txBody>
      </p:sp>
      <p:grpSp>
        <p:nvGrpSpPr>
          <p:cNvPr id="283" name="그룹 91"/>
          <p:cNvGrpSpPr>
            <a:grpSpLocks/>
          </p:cNvGrpSpPr>
          <p:nvPr/>
        </p:nvGrpSpPr>
        <p:grpSpPr bwMode="auto">
          <a:xfrm>
            <a:off x="1148169" y="3284984"/>
            <a:ext cx="450850" cy="411162"/>
            <a:chOff x="5513406" y="8037808"/>
            <a:chExt cx="558800" cy="558530"/>
          </a:xfrm>
        </p:grpSpPr>
        <p:pic>
          <p:nvPicPr>
            <p:cNvPr id="284" name="Picture 80" descr="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8" t="28798" r="65112" b="60794"/>
            <a:stretch>
              <a:fillRect/>
            </a:stretch>
          </p:blipFill>
          <p:spPr bwMode="auto">
            <a:xfrm>
              <a:off x="5513406" y="8309001"/>
              <a:ext cx="558800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85" name="Group 85"/>
            <p:cNvGrpSpPr>
              <a:grpSpLocks/>
            </p:cNvGrpSpPr>
            <p:nvPr/>
          </p:nvGrpSpPr>
          <p:grpSpPr bwMode="auto">
            <a:xfrm>
              <a:off x="5576906" y="8037808"/>
              <a:ext cx="423863" cy="482321"/>
              <a:chOff x="134" y="3430"/>
              <a:chExt cx="355" cy="411"/>
            </a:xfrm>
          </p:grpSpPr>
          <p:pic>
            <p:nvPicPr>
              <p:cNvPr id="286" name="Picture 86" descr="Untitled-1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3" t="62222" r="84102"/>
              <a:stretch>
                <a:fillRect/>
              </a:stretch>
            </p:blipFill>
            <p:spPr bwMode="auto">
              <a:xfrm>
                <a:off x="176" y="3478"/>
                <a:ext cx="163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7" name="Picture 87" descr="Untitled-1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3" t="62222" r="84102"/>
              <a:stretch>
                <a:fillRect/>
              </a:stretch>
            </p:blipFill>
            <p:spPr bwMode="auto">
              <a:xfrm>
                <a:off x="262" y="3430"/>
                <a:ext cx="163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8" name="Picture 88" descr="Untitled-1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3" t="62222" r="84102"/>
              <a:stretch>
                <a:fillRect/>
              </a:stretch>
            </p:blipFill>
            <p:spPr bwMode="auto">
              <a:xfrm>
                <a:off x="134" y="3568"/>
                <a:ext cx="163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89" name="Picture 89" descr="Untitled-1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3" t="62222" r="84102"/>
              <a:stretch>
                <a:fillRect/>
              </a:stretch>
            </p:blipFill>
            <p:spPr bwMode="auto">
              <a:xfrm>
                <a:off x="214" y="3526"/>
                <a:ext cx="163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90" name="Picture 90" descr="Untitled-1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3" t="62222" r="84102"/>
              <a:stretch>
                <a:fillRect/>
              </a:stretch>
            </p:blipFill>
            <p:spPr bwMode="auto">
              <a:xfrm>
                <a:off x="326" y="3512"/>
                <a:ext cx="163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aphicFrame>
        <p:nvGraphicFramePr>
          <p:cNvPr id="17" name="표 16"/>
          <p:cNvGraphicFramePr>
            <a:graphicFrameLocks noGrp="1"/>
          </p:cNvGraphicFramePr>
          <p:nvPr>
            <p:extLst/>
          </p:nvPr>
        </p:nvGraphicFramePr>
        <p:xfrm>
          <a:off x="1186858" y="4077071"/>
          <a:ext cx="557157" cy="17450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</a:tblGrid>
              <a:tr h="2335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외부기관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78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대보험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78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/>
                          </a:solidFill>
                        </a:rPr>
                        <a:t>국세청</a:t>
                      </a:r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78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금융기관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78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카드사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91" name="TextBox 290"/>
          <p:cNvSpPr txBox="1"/>
          <p:nvPr/>
        </p:nvSpPr>
        <p:spPr>
          <a:xfrm>
            <a:off x="1136664" y="3645649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+mn-ea"/>
              </a:rPr>
              <a:t>대국민</a:t>
            </a:r>
            <a:endParaRPr lang="ko-KR" altLang="en-US" sz="1000" dirty="0" err="1">
              <a:latin typeface="+mn-ea"/>
            </a:endParaRPr>
          </a:p>
        </p:txBody>
      </p:sp>
      <p:graphicFrame>
        <p:nvGraphicFramePr>
          <p:cNvPr id="203" name="Object 200"/>
          <p:cNvGraphicFramePr>
            <a:graphicFrameLocks noChangeAspect="1"/>
          </p:cNvGraphicFramePr>
          <p:nvPr>
            <p:extLst/>
          </p:nvPr>
        </p:nvGraphicFramePr>
        <p:xfrm>
          <a:off x="1296948" y="4327491"/>
          <a:ext cx="277109" cy="218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8" name="클립" r:id="rId10" imgW="5600700" imgH="3589338" progId="MS_ClipArt_Gallery.2">
                  <p:embed/>
                </p:oleObj>
              </mc:Choice>
              <mc:Fallback>
                <p:oleObj name="클립" r:id="rId10" imgW="5600700" imgH="3589338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948" y="4327491"/>
                        <a:ext cx="277109" cy="218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2" name="Object 200"/>
          <p:cNvGraphicFramePr>
            <a:graphicFrameLocks noChangeAspect="1"/>
          </p:cNvGraphicFramePr>
          <p:nvPr>
            <p:extLst/>
          </p:nvPr>
        </p:nvGraphicFramePr>
        <p:xfrm>
          <a:off x="1296948" y="4688228"/>
          <a:ext cx="277109" cy="218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9" name="클립" r:id="rId12" imgW="5600700" imgH="3589338" progId="MS_ClipArt_Gallery.2">
                  <p:embed/>
                </p:oleObj>
              </mc:Choice>
              <mc:Fallback>
                <p:oleObj name="클립" r:id="rId12" imgW="5600700" imgH="3589338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948" y="4688228"/>
                        <a:ext cx="277109" cy="218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3" name="Object 200"/>
          <p:cNvGraphicFramePr>
            <a:graphicFrameLocks noChangeAspect="1"/>
          </p:cNvGraphicFramePr>
          <p:nvPr>
            <p:extLst/>
          </p:nvPr>
        </p:nvGraphicFramePr>
        <p:xfrm>
          <a:off x="1296948" y="5048591"/>
          <a:ext cx="277109" cy="218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0" name="클립" r:id="rId13" imgW="5600700" imgH="3589338" progId="MS_ClipArt_Gallery.2">
                  <p:embed/>
                </p:oleObj>
              </mc:Choice>
              <mc:Fallback>
                <p:oleObj name="클립" r:id="rId13" imgW="5600700" imgH="3589338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948" y="5048591"/>
                        <a:ext cx="277109" cy="218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4" name="Object 200"/>
          <p:cNvGraphicFramePr>
            <a:graphicFrameLocks noChangeAspect="1"/>
          </p:cNvGraphicFramePr>
          <p:nvPr>
            <p:extLst/>
          </p:nvPr>
        </p:nvGraphicFramePr>
        <p:xfrm>
          <a:off x="1296948" y="5434032"/>
          <a:ext cx="277109" cy="218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01" name="클립" r:id="rId14" imgW="5600700" imgH="3589338" progId="MS_ClipArt_Gallery.2">
                  <p:embed/>
                </p:oleObj>
              </mc:Choice>
              <mc:Fallback>
                <p:oleObj name="클립" r:id="rId14" imgW="5600700" imgH="3589338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6948" y="5434032"/>
                        <a:ext cx="277109" cy="218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5" name="AutoShape 116"/>
          <p:cNvSpPr>
            <a:spLocks noChangeAspect="1" noChangeArrowheads="1"/>
          </p:cNvSpPr>
          <p:nvPr/>
        </p:nvSpPr>
        <p:spPr bwMode="auto">
          <a:xfrm rot="5400000">
            <a:off x="1962204" y="3219115"/>
            <a:ext cx="213787" cy="900385"/>
          </a:xfrm>
          <a:prstGeom prst="upDownArrow">
            <a:avLst>
              <a:gd name="adj1" fmla="val 50000"/>
              <a:gd name="adj2" fmla="val 28648"/>
            </a:avLst>
          </a:prstGeom>
          <a:solidFill>
            <a:srgbClr val="6E9F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1800">
              <a:latin typeface="+mn-ea"/>
              <a:ea typeface="+mn-ea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615521" y="3403946"/>
            <a:ext cx="95017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+mn-ea"/>
              </a:rPr>
              <a:t>입사지원</a:t>
            </a:r>
            <a:endParaRPr lang="en-US" altLang="ko-KR" sz="900" dirty="0">
              <a:latin typeface="+mn-ea"/>
            </a:endParaRPr>
          </a:p>
          <a:p>
            <a:pPr algn="ctr"/>
            <a:endParaRPr lang="en-US" altLang="ko-KR" sz="900" dirty="0">
              <a:latin typeface="+mn-ea"/>
            </a:endParaRPr>
          </a:p>
          <a:p>
            <a:pPr algn="ctr"/>
            <a:r>
              <a:rPr lang="en-US" altLang="ko-KR" sz="900" dirty="0">
                <a:latin typeface="+mn-ea"/>
              </a:rPr>
              <a:t>VOC</a:t>
            </a:r>
            <a:endParaRPr lang="ko-KR" altLang="en-US" sz="900" dirty="0" err="1">
              <a:latin typeface="+mn-ea"/>
            </a:endParaRPr>
          </a:p>
        </p:txBody>
      </p:sp>
      <p:sp>
        <p:nvSpPr>
          <p:cNvPr id="296" name="직사각형 295"/>
          <p:cNvSpPr/>
          <p:nvPr/>
        </p:nvSpPr>
        <p:spPr bwMode="auto">
          <a:xfrm>
            <a:off x="2766170" y="1677285"/>
            <a:ext cx="5565060" cy="18679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latinLnBrk="0">
              <a:defRPr/>
            </a:pPr>
            <a:r>
              <a:rPr lang="ko-KR" altLang="en-US" sz="1200" b="1" ker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내부</a:t>
            </a:r>
            <a:r>
              <a:rPr lang="en-US" altLang="ko-KR" sz="1200" b="1" ker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ko-KR" altLang="en-US" sz="1200" b="1" ker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포털 서비스</a:t>
            </a:r>
            <a:endParaRPr lang="ko-KR" altLang="en-US" sz="1200" b="1" kern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2856357" y="2142551"/>
            <a:ext cx="5474873" cy="422353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ko-KR" altLang="en-US" sz="1100" b="1">
                <a:solidFill>
                  <a:schemeClr val="tx1"/>
                </a:solidFill>
                <a:latin typeface="+mn-ea"/>
              </a:rPr>
              <a:t>그룹웨어</a:t>
            </a:r>
            <a:endParaRPr lang="ko-KR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2911479" y="2331090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웹메일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8" name="모서리가 둥근 직사각형 297"/>
          <p:cNvSpPr/>
          <p:nvPr/>
        </p:nvSpPr>
        <p:spPr>
          <a:xfrm>
            <a:off x="4807869" y="2331090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게시판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99" name="모서리가 둥근 직사각형 298"/>
          <p:cNvSpPr/>
          <p:nvPr/>
        </p:nvSpPr>
        <p:spPr>
          <a:xfrm>
            <a:off x="6704259" y="2331090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기록물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0" name="모서리가 둥근 직사각형 299"/>
          <p:cNvSpPr/>
          <p:nvPr/>
        </p:nvSpPr>
        <p:spPr>
          <a:xfrm>
            <a:off x="5756064" y="2331090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문서수발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1" name="모서리가 둥근 직사각형 300"/>
          <p:cNvSpPr/>
          <p:nvPr/>
        </p:nvSpPr>
        <p:spPr>
          <a:xfrm>
            <a:off x="3859674" y="2331090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smtClean="0">
                <a:latin typeface="+mn-ea"/>
              </a:rPr>
              <a:t>전자결재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2" name="모서리가 둥근 직사각형 301"/>
          <p:cNvSpPr/>
          <p:nvPr/>
        </p:nvSpPr>
        <p:spPr>
          <a:xfrm>
            <a:off x="7652454" y="2331090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채팅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3" name="모서리가 둥근 직사각형 302"/>
          <p:cNvSpPr/>
          <p:nvPr/>
        </p:nvSpPr>
        <p:spPr>
          <a:xfrm>
            <a:off x="2907294" y="1927106"/>
            <a:ext cx="97945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대사우서비스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4" name="모서리가 둥근 직사각형 303"/>
          <p:cNvSpPr/>
          <p:nvPr/>
        </p:nvSpPr>
        <p:spPr>
          <a:xfrm>
            <a:off x="5823208" y="1927106"/>
            <a:ext cx="97945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일정공유</a:t>
            </a:r>
            <a:r>
              <a:rPr lang="en-US" altLang="ko-KR" sz="800" kern="0" spc="-100">
                <a:latin typeface="+mn-ea"/>
              </a:rPr>
              <a:t>.</a:t>
            </a:r>
            <a:r>
              <a:rPr lang="ko-KR" altLang="en-US" sz="800" kern="0" spc="-100">
                <a:latin typeface="+mn-ea"/>
              </a:rPr>
              <a:t>시설예약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5" name="모서리가 둥근 직사각형 304"/>
          <p:cNvSpPr/>
          <p:nvPr/>
        </p:nvSpPr>
        <p:spPr>
          <a:xfrm>
            <a:off x="7281164" y="1927106"/>
            <a:ext cx="97945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규정관리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06" name="모서리가 둥근 직사각형 305"/>
          <p:cNvSpPr/>
          <p:nvPr/>
        </p:nvSpPr>
        <p:spPr>
          <a:xfrm>
            <a:off x="4365251" y="1927106"/>
            <a:ext cx="97945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설문</a:t>
            </a:r>
            <a:r>
              <a:rPr lang="en-US" altLang="ko-KR" sz="800" kern="0" spc="-100">
                <a:latin typeface="+mn-ea"/>
              </a:rPr>
              <a:t>/</a:t>
            </a:r>
            <a:r>
              <a:rPr lang="ko-KR" altLang="en-US" sz="800" kern="0" spc="-100">
                <a:latin typeface="+mn-ea"/>
              </a:rPr>
              <a:t>의견조회</a:t>
            </a:r>
            <a:r>
              <a:rPr lang="en-US" altLang="ko-KR" sz="800" kern="0" spc="-100">
                <a:latin typeface="+mn-ea"/>
              </a:rPr>
              <a:t>/</a:t>
            </a:r>
            <a:r>
              <a:rPr lang="ko-KR" altLang="en-US" sz="800" kern="0" spc="-100" smtClean="0">
                <a:latin typeface="+mn-ea"/>
              </a:rPr>
              <a:t>소식지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0" name="모서리가 둥근 직사각형 309"/>
          <p:cNvSpPr/>
          <p:nvPr/>
        </p:nvSpPr>
        <p:spPr>
          <a:xfrm>
            <a:off x="2831957" y="2808013"/>
            <a:ext cx="4343080" cy="735091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 rtlCol="0" anchor="t" anchorCtr="0"/>
          <a:lstStyle/>
          <a:p>
            <a:pPr algn="ctr"/>
            <a:r>
              <a:rPr lang="ko-KR" altLang="en-US" sz="1100" b="1">
                <a:solidFill>
                  <a:schemeClr val="tx1"/>
                </a:solidFill>
                <a:latin typeface="+mn-ea"/>
              </a:rPr>
              <a:t>사업소</a:t>
            </a:r>
            <a:r>
              <a:rPr lang="en-US" altLang="ko-KR" sz="1100" b="1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100" b="1">
                <a:solidFill>
                  <a:schemeClr val="tx1"/>
                </a:solidFill>
                <a:latin typeface="+mn-ea"/>
              </a:rPr>
              <a:t>업무</a:t>
            </a:r>
            <a:endParaRPr lang="ko-KR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1" name="모서리가 둥근 직사각형 310"/>
          <p:cNvSpPr/>
          <p:nvPr/>
        </p:nvSpPr>
        <p:spPr>
          <a:xfrm>
            <a:off x="2918320" y="3009401"/>
            <a:ext cx="826383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latin typeface="+mn-ea"/>
              </a:rPr>
              <a:t>근태관리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2" name="모서리가 둥근 직사각형 311"/>
          <p:cNvSpPr/>
          <p:nvPr/>
        </p:nvSpPr>
        <p:spPr>
          <a:xfrm>
            <a:off x="3864235" y="3241832"/>
            <a:ext cx="826383" cy="187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전도금관리</a:t>
            </a:r>
          </a:p>
        </p:txBody>
      </p:sp>
      <p:sp>
        <p:nvSpPr>
          <p:cNvPr id="313" name="모서리가 둥근 직사각형 312"/>
          <p:cNvSpPr/>
          <p:nvPr/>
        </p:nvSpPr>
        <p:spPr>
          <a:xfrm>
            <a:off x="4810150" y="3009401"/>
            <a:ext cx="826383" cy="187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작업계획서</a:t>
            </a:r>
          </a:p>
        </p:txBody>
      </p:sp>
      <p:sp>
        <p:nvSpPr>
          <p:cNvPr id="315" name="모서리가 둥근 직사각형 314"/>
          <p:cNvSpPr/>
          <p:nvPr/>
        </p:nvSpPr>
        <p:spPr>
          <a:xfrm>
            <a:off x="7211101" y="2806215"/>
            <a:ext cx="1120129" cy="735091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 rtlCol="0" anchor="t" anchorCtr="0"/>
          <a:lstStyle/>
          <a:p>
            <a:pPr algn="ctr"/>
            <a:r>
              <a:rPr lang="en-US" altLang="ko-KR" sz="1100" b="1">
                <a:solidFill>
                  <a:schemeClr val="tx1"/>
                </a:solidFill>
                <a:latin typeface="+mn-ea"/>
              </a:rPr>
              <a:t>EHS</a:t>
            </a:r>
            <a:endParaRPr lang="ko-KR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6" name="모서리가 둥근 직사각형 315"/>
          <p:cNvSpPr/>
          <p:nvPr/>
        </p:nvSpPr>
        <p:spPr>
          <a:xfrm>
            <a:off x="7476978" y="3002562"/>
            <a:ext cx="608165" cy="139565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환경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7" name="모서리가 둥근 직사각형 316"/>
          <p:cNvSpPr/>
          <p:nvPr/>
        </p:nvSpPr>
        <p:spPr>
          <a:xfrm>
            <a:off x="7476978" y="3163525"/>
            <a:ext cx="608165" cy="139565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보건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8" name="모서리가 둥근 직사각형 317"/>
          <p:cNvSpPr/>
          <p:nvPr/>
        </p:nvSpPr>
        <p:spPr>
          <a:xfrm>
            <a:off x="7476978" y="3314215"/>
            <a:ext cx="608165" cy="139565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안전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19" name="모서리가 둥근 직사각형 318"/>
          <p:cNvSpPr/>
          <p:nvPr/>
        </p:nvSpPr>
        <p:spPr>
          <a:xfrm>
            <a:off x="2921954" y="3241832"/>
            <a:ext cx="826383" cy="187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rgbClr val="0000FF"/>
                </a:solidFill>
                <a:latin typeface="+mn-ea"/>
              </a:rPr>
              <a:t>물품관리</a:t>
            </a:r>
            <a:endParaRPr lang="ko-KR" altLang="en-US" sz="800" kern="0" spc="-10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320" name="모서리가 둥근 직사각형 319"/>
          <p:cNvSpPr/>
          <p:nvPr/>
        </p:nvSpPr>
        <p:spPr>
          <a:xfrm>
            <a:off x="3867869" y="3009401"/>
            <a:ext cx="826383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교육관리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21" name="모서리가 둥근 직사각형 320"/>
          <p:cNvSpPr/>
          <p:nvPr/>
        </p:nvSpPr>
        <p:spPr>
          <a:xfrm>
            <a:off x="4813784" y="3241832"/>
            <a:ext cx="826383" cy="187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rgbClr val="0000FF"/>
                </a:solidFill>
                <a:latin typeface="+mn-ea"/>
              </a:rPr>
              <a:t>업무일지</a:t>
            </a:r>
            <a:endParaRPr lang="ko-KR" altLang="en-US" sz="800" kern="0" spc="-10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322" name="모서리가 둥근 직사각형 321"/>
          <p:cNvSpPr/>
          <p:nvPr/>
        </p:nvSpPr>
        <p:spPr>
          <a:xfrm>
            <a:off x="5759698" y="3004245"/>
            <a:ext cx="826383" cy="419945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업무실적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932388" y="3538343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물품수불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323" name="TextBox 322"/>
          <p:cNvSpPr txBox="1"/>
          <p:nvPr/>
        </p:nvSpPr>
        <p:spPr>
          <a:xfrm>
            <a:off x="3752229" y="3538062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수입금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324" name="TextBox 323"/>
          <p:cNvSpPr txBox="1"/>
          <p:nvPr/>
        </p:nvSpPr>
        <p:spPr>
          <a:xfrm>
            <a:off x="4469478" y="3536804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근태관리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325" name="TextBox 324"/>
          <p:cNvSpPr txBox="1"/>
          <p:nvPr/>
        </p:nvSpPr>
        <p:spPr>
          <a:xfrm>
            <a:off x="5289320" y="3536804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지출결의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326" name="TextBox 325"/>
          <p:cNvSpPr txBox="1"/>
          <p:nvPr/>
        </p:nvSpPr>
        <p:spPr>
          <a:xfrm>
            <a:off x="2952575" y="2566443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휴가신청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327" name="TextBox 326"/>
          <p:cNvSpPr txBox="1"/>
          <p:nvPr/>
        </p:nvSpPr>
        <p:spPr>
          <a:xfrm>
            <a:off x="4204464" y="2566162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제증명신청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328" name="TextBox 327"/>
          <p:cNvSpPr txBox="1"/>
          <p:nvPr/>
        </p:nvSpPr>
        <p:spPr>
          <a:xfrm>
            <a:off x="5256831" y="2564904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출퇴근정보</a:t>
            </a:r>
            <a:endParaRPr lang="ko-KR" altLang="en-US" sz="800" dirty="0" err="1">
              <a:latin typeface="+mn-ea"/>
            </a:endParaRPr>
          </a:p>
        </p:txBody>
      </p:sp>
      <p:pic>
        <p:nvPicPr>
          <p:cNvPr id="330" name="Picture 186" descr="arw02dn_ico_Bmp1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1815" y="2568312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1" name="Picture 186" descr="arw02dn_ico_Bmp1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5985" y="2568312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2" name="Picture 186" descr="arw02dn_ico_Bmp1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4097" y="2568312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3" name="Picture 186" descr="arw02dn_ico_Bmp1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4160" y="3561540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4" name="Picture 186" descr="arw02dn_ico_Bmp1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6522" y="3561540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5" name="Picture 186" descr="arw02dn_ico_Bmp1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6602" y="3561540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6" name="Picture 186" descr="arw02dn_ico_Bmp1"/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238" y="3561540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" name="모서리가 둥근 직사각형 336"/>
          <p:cNvSpPr/>
          <p:nvPr/>
        </p:nvSpPr>
        <p:spPr>
          <a:xfrm>
            <a:off x="4855661" y="4387416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구매관리</a:t>
            </a:r>
          </a:p>
        </p:txBody>
      </p:sp>
      <p:sp>
        <p:nvSpPr>
          <p:cNvPr id="340" name="Rectangle 43"/>
          <p:cNvSpPr>
            <a:spLocks noChangeArrowheads="1"/>
          </p:cNvSpPr>
          <p:nvPr/>
        </p:nvSpPr>
        <p:spPr bwMode="auto">
          <a:xfrm>
            <a:off x="2785611" y="5473378"/>
            <a:ext cx="2663651" cy="181765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인사</a:t>
            </a:r>
            <a:r>
              <a:rPr lang="en-US" altLang="ko-KR" sz="1100" b="1" kern="0">
                <a:solidFill>
                  <a:prstClr val="white"/>
                </a:solidFill>
                <a:latin typeface="+mn-ea"/>
              </a:rPr>
              <a:t>/</a:t>
            </a: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급여</a:t>
            </a:r>
            <a:endParaRPr lang="en-US" altLang="ko-KR" sz="11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41" name="Rectangle 43"/>
          <p:cNvSpPr>
            <a:spLocks noChangeArrowheads="1"/>
          </p:cNvSpPr>
          <p:nvPr/>
        </p:nvSpPr>
        <p:spPr bwMode="auto">
          <a:xfrm>
            <a:off x="2785612" y="5692231"/>
            <a:ext cx="2663650" cy="33763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endParaRPr lang="en-US" altLang="ko-KR" sz="14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43" name="모서리가 둥근 직사각형 342"/>
          <p:cNvSpPr/>
          <p:nvPr/>
        </p:nvSpPr>
        <p:spPr>
          <a:xfrm>
            <a:off x="2882306" y="5759112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인사관리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44" name="모서리가 둥근 직사각형 343"/>
          <p:cNvSpPr/>
          <p:nvPr/>
        </p:nvSpPr>
        <p:spPr>
          <a:xfrm>
            <a:off x="3542904" y="5759112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latin typeface="+mn-ea"/>
              </a:rPr>
              <a:t>근태</a:t>
            </a:r>
            <a:r>
              <a:rPr lang="ko-KR" altLang="en-US" sz="800" kern="0" spc="-100" dirty="0">
                <a:solidFill>
                  <a:schemeClr val="tx1"/>
                </a:solidFill>
                <a:latin typeface="+mn-ea"/>
              </a:rPr>
              <a:t>관리</a:t>
            </a:r>
          </a:p>
        </p:txBody>
      </p:sp>
      <p:sp>
        <p:nvSpPr>
          <p:cNvPr id="348" name="모서리가 둥근 직사각형 347"/>
          <p:cNvSpPr/>
          <p:nvPr/>
        </p:nvSpPr>
        <p:spPr>
          <a:xfrm>
            <a:off x="4203503" y="5759112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chemeClr val="tx1"/>
                </a:solidFill>
                <a:latin typeface="+mn-ea"/>
              </a:rPr>
              <a:t>급상여관리</a:t>
            </a:r>
          </a:p>
        </p:txBody>
      </p:sp>
      <p:sp>
        <p:nvSpPr>
          <p:cNvPr id="350" name="모서리가 둥근 직사각형 349"/>
          <p:cNvSpPr/>
          <p:nvPr/>
        </p:nvSpPr>
        <p:spPr>
          <a:xfrm>
            <a:off x="2860019" y="5065845"/>
            <a:ext cx="2499642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일반업무 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행정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차량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보안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안전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동호회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54" name="Rectangle 43"/>
          <p:cNvSpPr>
            <a:spLocks noChangeArrowheads="1"/>
          </p:cNvSpPr>
          <p:nvPr/>
        </p:nvSpPr>
        <p:spPr bwMode="auto">
          <a:xfrm>
            <a:off x="5673725" y="5473378"/>
            <a:ext cx="2663651" cy="181765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지속가능경영</a:t>
            </a:r>
            <a:endParaRPr lang="en-US" altLang="ko-KR" sz="11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55" name="Rectangle 43"/>
          <p:cNvSpPr>
            <a:spLocks noChangeArrowheads="1"/>
          </p:cNvSpPr>
          <p:nvPr/>
        </p:nvSpPr>
        <p:spPr bwMode="auto">
          <a:xfrm>
            <a:off x="5673726" y="5692232"/>
            <a:ext cx="2663650" cy="340693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endParaRPr lang="en-US" altLang="ko-KR" sz="14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58" name="모서리가 둥근 직사각형 357"/>
          <p:cNvSpPr/>
          <p:nvPr/>
        </p:nvSpPr>
        <p:spPr>
          <a:xfrm>
            <a:off x="5761272" y="5759112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chemeClr val="tx1"/>
                </a:solidFill>
                <a:latin typeface="+mn-ea"/>
              </a:rPr>
              <a:t>규정관리</a:t>
            </a:r>
          </a:p>
        </p:txBody>
      </p:sp>
      <p:sp>
        <p:nvSpPr>
          <p:cNvPr id="359" name="모서리가 둥근 직사각형 358"/>
          <p:cNvSpPr/>
          <p:nvPr/>
        </p:nvSpPr>
        <p:spPr>
          <a:xfrm>
            <a:off x="4850638" y="5759112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chemeClr val="tx1"/>
                </a:solidFill>
                <a:latin typeface="+mn-ea"/>
              </a:rPr>
              <a:t>총무관리</a:t>
            </a:r>
          </a:p>
        </p:txBody>
      </p:sp>
      <p:sp>
        <p:nvSpPr>
          <p:cNvPr id="360" name="모서리가 둥근 직사각형 359"/>
          <p:cNvSpPr/>
          <p:nvPr/>
        </p:nvSpPr>
        <p:spPr>
          <a:xfrm>
            <a:off x="7746869" y="5759112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사회가치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2" name="모서리가 둥근 직사각형 361"/>
          <p:cNvSpPr/>
          <p:nvPr/>
        </p:nvSpPr>
        <p:spPr>
          <a:xfrm>
            <a:off x="7085004" y="5759112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국감관리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363" name="모서리가 둥근 직사각형 362"/>
          <p:cNvSpPr/>
          <p:nvPr/>
        </p:nvSpPr>
        <p:spPr>
          <a:xfrm>
            <a:off x="6423138" y="5759112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chemeClr val="tx1"/>
                </a:solidFill>
                <a:latin typeface="+mn-ea"/>
              </a:rPr>
              <a:t>공시관리</a:t>
            </a:r>
          </a:p>
        </p:txBody>
      </p:sp>
      <p:sp>
        <p:nvSpPr>
          <p:cNvPr id="364" name="Rectangle 43"/>
          <p:cNvSpPr>
            <a:spLocks noChangeArrowheads="1"/>
          </p:cNvSpPr>
          <p:nvPr/>
        </p:nvSpPr>
        <p:spPr bwMode="auto">
          <a:xfrm>
            <a:off x="5668976" y="4125006"/>
            <a:ext cx="2663651" cy="181765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사업관리</a:t>
            </a:r>
            <a:endParaRPr lang="en-US" altLang="ko-KR" sz="11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66" name="Rectangle 43"/>
          <p:cNvSpPr>
            <a:spLocks noChangeArrowheads="1"/>
          </p:cNvSpPr>
          <p:nvPr/>
        </p:nvSpPr>
        <p:spPr bwMode="auto">
          <a:xfrm>
            <a:off x="5667579" y="4323493"/>
            <a:ext cx="2663650" cy="10391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endParaRPr lang="en-US" altLang="ko-KR" sz="14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67" name="모서리가 둥근 직사각형 366"/>
          <p:cNvSpPr/>
          <p:nvPr/>
        </p:nvSpPr>
        <p:spPr>
          <a:xfrm>
            <a:off x="6080132" y="4395582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기준관리</a:t>
            </a:r>
          </a:p>
        </p:txBody>
      </p:sp>
      <p:sp>
        <p:nvSpPr>
          <p:cNvPr id="368" name="모서리가 둥근 직사각형 367"/>
          <p:cNvSpPr/>
          <p:nvPr/>
        </p:nvSpPr>
        <p:spPr>
          <a:xfrm>
            <a:off x="6740730" y="4395582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사업실적</a:t>
            </a:r>
          </a:p>
        </p:txBody>
      </p:sp>
      <p:sp>
        <p:nvSpPr>
          <p:cNvPr id="369" name="모서리가 둥근 직사각형 368"/>
          <p:cNvSpPr/>
          <p:nvPr/>
        </p:nvSpPr>
        <p:spPr>
          <a:xfrm>
            <a:off x="7401328" y="4395582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사업이력</a:t>
            </a:r>
          </a:p>
        </p:txBody>
      </p:sp>
      <p:sp>
        <p:nvSpPr>
          <p:cNvPr id="370" name="모서리가 둥근 직사각형 369"/>
          <p:cNvSpPr/>
          <p:nvPr/>
        </p:nvSpPr>
        <p:spPr>
          <a:xfrm>
            <a:off x="7398232" y="4701597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업면허관리</a:t>
            </a:r>
          </a:p>
        </p:txBody>
      </p:sp>
      <p:sp>
        <p:nvSpPr>
          <p:cNvPr id="371" name="모서리가 둥근 직사각형 370"/>
          <p:cNvSpPr/>
          <p:nvPr/>
        </p:nvSpPr>
        <p:spPr>
          <a:xfrm>
            <a:off x="6089185" y="4716523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차량청소</a:t>
            </a:r>
          </a:p>
        </p:txBody>
      </p:sp>
      <p:sp>
        <p:nvSpPr>
          <p:cNvPr id="372" name="모서리가 둥근 직사각형 371"/>
          <p:cNvSpPr/>
          <p:nvPr/>
        </p:nvSpPr>
        <p:spPr>
          <a:xfrm>
            <a:off x="6749783" y="4716523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비품작업</a:t>
            </a:r>
          </a:p>
        </p:txBody>
      </p:sp>
      <p:sp>
        <p:nvSpPr>
          <p:cNvPr id="396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smtClean="0"/>
              <a:t>1.3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sp>
        <p:nvSpPr>
          <p:cNvPr id="39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/>
              <a:t>1</a:t>
            </a:r>
            <a:r>
              <a:rPr lang="en-US" altLang="ko-KR" smtClean="0"/>
              <a:t>.3 </a:t>
            </a:r>
            <a:r>
              <a:rPr lang="ko-KR" altLang="en-US"/>
              <a:t>시스템 업무기능 분석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z="1800" smtClean="0"/>
              <a:t>1.3.1 </a:t>
            </a:r>
            <a:r>
              <a:rPr lang="ko-KR" altLang="en-US" sz="1800"/>
              <a:t>현행 업무 구성도</a:t>
            </a:r>
            <a:endParaRPr lang="ko-KR" altLang="en-US" sz="1800" dirty="0"/>
          </a:p>
        </p:txBody>
      </p:sp>
      <p:pic>
        <p:nvPicPr>
          <p:cNvPr id="398" name="Picture 143" descr="arrow_4area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41"/>
          <a:stretch>
            <a:fillRect/>
          </a:stretch>
        </p:blipFill>
        <p:spPr bwMode="auto">
          <a:xfrm>
            <a:off x="1964408" y="4077072"/>
            <a:ext cx="468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" name="Picture 143" descr="arrow_4area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41"/>
          <a:stretch>
            <a:fillRect/>
          </a:stretch>
        </p:blipFill>
        <p:spPr bwMode="auto">
          <a:xfrm rot="10800000">
            <a:off x="1964408" y="4365451"/>
            <a:ext cx="468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73544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52249"/>
            <a:ext cx="9180512" cy="623391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6111176" cy="781320"/>
          </a:xfrm>
        </p:spPr>
        <p:txBody>
          <a:bodyPr>
            <a:normAutofit/>
          </a:bodyPr>
          <a:lstStyle/>
          <a:p>
            <a:r>
              <a:rPr lang="en-US" altLang="ko-KR" smtClean="0"/>
              <a:t>1.3 </a:t>
            </a:r>
            <a:r>
              <a:rPr lang="ko-KR" altLang="en-US"/>
              <a:t>시스템 업무기능 </a:t>
            </a:r>
            <a:r>
              <a:rPr lang="ko-KR" altLang="en-US" smtClean="0"/>
              <a:t>분석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1.3.2 </a:t>
            </a:r>
            <a:r>
              <a:rPr lang="ko-KR" altLang="en-US" sz="1800"/>
              <a:t>업무별 기능 분석</a:t>
            </a:r>
            <a:r>
              <a:rPr lang="en-US" altLang="ko-KR" sz="1800"/>
              <a:t>(1/4)</a:t>
            </a:r>
            <a:endParaRPr lang="ko-KR" altLang="en-US" sz="1800" dirty="0"/>
          </a:p>
        </p:txBody>
      </p:sp>
      <p:sp>
        <p:nvSpPr>
          <p:cNvPr id="396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smtClean="0"/>
              <a:t>환경분석</a:t>
            </a:r>
            <a:endParaRPr lang="en-US" altLang="ko-KR" dirty="0"/>
          </a:p>
          <a:p>
            <a:r>
              <a:rPr lang="en-US" altLang="ko-KR" smtClean="0"/>
              <a:t>1.3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8576115"/>
              </p:ext>
            </p:extLst>
          </p:nvPr>
        </p:nvGraphicFramePr>
        <p:xfrm>
          <a:off x="345000" y="827470"/>
          <a:ext cx="9180000" cy="5472110"/>
        </p:xfrm>
        <a:graphic>
          <a:graphicData uri="http://schemas.openxmlformats.org/drawingml/2006/table">
            <a:tbl>
              <a:tblPr/>
              <a:tblGrid>
                <a:gridCol w="50675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485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1835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0026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00261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74176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26774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3132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 기능</a:t>
                      </a:r>
                      <a:r>
                        <a:rPr lang="ko-KR" altLang="en-US" sz="1000" b="1" i="0" u="none" strike="noStrike" baseline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내용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313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구축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570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예산관리</a:t>
                      </a:r>
                      <a:endParaRPr lang="en-US" altLang="ko-KR" sz="1000" b="0" i="0" u="none" strike="noStrike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(54/68)</a:t>
                      </a:r>
                      <a:endParaRPr lang="ko-KR" alt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기초자료 관리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예산코드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사업코드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비목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세비목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등록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예산편성차수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급여연결코드 등록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및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계정코드별 비목연결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비목 별 </a:t>
                      </a:r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세비목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연결 등의 예산 기초자료 관리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편성 및 관리를 위한 기준이며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권한관리 및  추경예산 차수관리 등의 기능 필요 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570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예산편성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관리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부문별 예산 등록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부문별 예산서 취합 및 조정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종합예산안 조회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종합예산안 승인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실행예산 편성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실행예산 편성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실행예산 편성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실행예산서 조회 및 실행예산서 요약 조회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항목별 편성내역 입력에 의한 금액 계산 및 편성차수별 이력 보관 관리 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9839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예산조정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예산조정신청 및 확정처리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en-US" altLang="ko-KR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조정 내역  및 집계표 조회 등</a:t>
                      </a:r>
                      <a:endParaRPr lang="en-US" altLang="ko-KR" sz="900" b="0" i="0" u="none" strike="noStrike" spc="-150" baseline="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예산항목별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월별로 편성된 예산 한도 내에서 부서간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예산항목간 배정금액을 조정하고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전결권자 승인  후  예산의 변경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조정 내역을 확정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과부족에 대한 예산조정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이용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의 신청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승인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전자결재 연동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470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예산배정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예산배정 신청 및 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배정 조정 및 확정 요청 및 예산파트장 승인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배정  확정 요청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승인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전자결재  연계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470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 </a:t>
                      </a:r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장부관리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집행내역에 대한 수입부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지출부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수입집계표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지출집계표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예산원장 등 조회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집행 내역 조회</a:t>
                      </a:r>
                      <a:r>
                        <a:rPr lang="en-US" altLang="ko-KR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사업별 예실대비표 필요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470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예산결산 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편성 내역 및 총괄표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집계표 등을 조회하고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결산서를 출력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예산결산 처리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이월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불용처리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기능 </a:t>
                      </a:r>
                      <a:r>
                        <a:rPr lang="ko-KR" altLang="en-US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필요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470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법인카드 출납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법인카드의  발급신청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반납 처리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법인카드 대장관리 </a:t>
                      </a:r>
                      <a:r>
                        <a:rPr lang="ko-KR" altLang="en-US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기능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법인카드 발급요청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불출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반납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법인카드 대장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3570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경영평가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직급별평균인원 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인건비코드 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인건비계정 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인건비실적집계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노동생산성계산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계량관리업무비 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총인건비인상율 등록 및 조회 기능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경영평가 자료를 단순 입력하는 기능</a:t>
                      </a:r>
                      <a:endParaRPr lang="en-US" altLang="ko-KR" sz="900" b="0" i="0" u="none" strike="noStrike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시스템에서  경영평가 자료의 추출기능 필요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0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회계관리</a:t>
                      </a:r>
                      <a:endParaRPr lang="en-US" altLang="ko-KR" sz="1000" b="0" i="0" u="none" strike="noStrike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(129/216)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회계기준정보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계정코드등록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은행계좌등록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법인카드등록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거래처등록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표준계정관리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자금코드 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</a:p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지결미설정계정연결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예산편성별계정연결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급여연결코드 등록 등의 기능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회계처리 기준인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계정코드별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관리항목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추가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470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수입신청관리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전시관 수입내역 업로드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여입신청서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수입신청서현황 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수입 유형별 수입결의서 필요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9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지급신청관리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여비지급신청서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징수결의서입력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소액구매지급신청서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계정대체지급신청서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산재보험지급신청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지급신청서현황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법인카드사용내역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법인카드자료조회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계약요청승인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급여지급신청서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지출부대장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지출결의서 관리 필요</a:t>
                      </a:r>
                      <a:endParaRPr lang="en-US" altLang="ko-KR" sz="900" b="0" i="0" u="none" strike="noStrike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일반지출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카드지출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예산외지출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여입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계좌이체 등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839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회계전표관리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19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회계전표입력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분개장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전표출력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삭제전표조회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일반이체 연동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급여이체 연동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지출내역서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계좌거래내역 및 잔액조회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법인카드내역조회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선급비용 전표및 결의서 작성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퇴직지급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(DB)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전표작성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회계전표→지출결의서작성 </a:t>
                      </a:r>
                      <a:r>
                        <a:rPr lang="en-US" altLang="ko-KR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전표입력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대체결의서 입력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전표는 결의서의 확정에 의해 자동 생성처리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결산전표 생성기능은 별도의 메뉴관리 필요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70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미지급반제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입금계좌조회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미결항목관리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지급리스트조회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지급리스트확정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입금계좌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거래처등록시 처리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지급대상의선택</a:t>
                      </a:r>
                      <a:r>
                        <a:rPr lang="en-US" altLang="ko-KR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승인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570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일마감관리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일계정별 전표상세조회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일마감처리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일월계표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일마감 검증내역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자금일보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경비등송금명세서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여비명세서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일일 장부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일마감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2470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마감관리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월마감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년마감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시산이월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기초시산자료입력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월 결산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 결산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및 연도별 마감처리 기능 필요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95944" y="665904"/>
            <a:ext cx="12426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mtClean="0">
                <a:solidFill>
                  <a:srgbClr val="0000FF"/>
                </a:solidFill>
              </a:rPr>
              <a:t>(</a:t>
            </a:r>
            <a:r>
              <a:rPr lang="ko-KR" altLang="en-US" sz="900" b="1" smtClean="0">
                <a:solidFill>
                  <a:srgbClr val="0000FF"/>
                </a:solidFill>
              </a:rPr>
              <a:t>사용본수</a:t>
            </a:r>
            <a:r>
              <a:rPr lang="en-US" altLang="ko-KR" sz="900" b="1" smtClean="0">
                <a:solidFill>
                  <a:srgbClr val="0000FF"/>
                </a:solidFill>
              </a:rPr>
              <a:t>/</a:t>
            </a:r>
            <a:r>
              <a:rPr lang="ko-KR" altLang="en-US" sz="900" b="1" smtClean="0">
                <a:solidFill>
                  <a:srgbClr val="0000FF"/>
                </a:solidFill>
              </a:rPr>
              <a:t>구축본수</a:t>
            </a:r>
            <a:r>
              <a:rPr lang="en-US" altLang="ko-KR" sz="900" b="1" smtClean="0">
                <a:solidFill>
                  <a:srgbClr val="0000FF"/>
                </a:solidFill>
              </a:rPr>
              <a:t>)</a:t>
            </a:r>
            <a:endParaRPr lang="ko-KR" altLang="en-US" sz="900" b="1" dirty="0" err="1" smtClean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295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/>
          </p:nvPr>
        </p:nvGraphicFramePr>
        <p:xfrm>
          <a:off x="345000" y="836616"/>
          <a:ext cx="9180000" cy="5413920"/>
        </p:xfrm>
        <a:graphic>
          <a:graphicData uri="http://schemas.openxmlformats.org/drawingml/2006/table">
            <a:tbl>
              <a:tblPr/>
              <a:tblGrid>
                <a:gridCol w="50675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485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1835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0026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00261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74176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26774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2684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smtClean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 기능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내용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2684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구축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198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회계관리</a:t>
                      </a:r>
                      <a:endParaRPr lang="en-US" altLang="ko-KR" sz="1000" b="0" i="0" u="none" strike="noStrike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(129/216)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장부관리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19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법인카드 결의서사용 내역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현금출납장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현금과예금명세서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총계정원장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계정별원장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보조원장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계정잔액명세서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계정별 사업잔액명세서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자금시재보고서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계정별잔액명세서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선급비용입력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기간비용현황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법인카드사용집계표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각종 회계장부 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EXCEL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다운로드 기능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집계된 금액에 대한 추적 기능 필수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1198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신청관리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원인행위입력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구매요구서입력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원인행위승인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원인행위조정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원인행위종결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원인행위조회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원인행위잔액명세서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수입결의서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수입결의서승인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수입결의서분개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일반지출결의서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일반지출결의서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여비지출결의서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구입지출결의서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소득지출결의서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급여지출결의서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퇴직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4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대보험지출결의서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지방소득세지출결의서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지출결의서승인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지출결의서분개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급여지출결의서분개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퇴직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지출결의서분개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선급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통합결의서 계산서 연결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지출분개 데이타 검증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세금계산서연결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구매요청등록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수입결의서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일반수입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세입외수입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수입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반납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일반지출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카드지출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세출외지출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여입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               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계좌이체결의서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대체결의서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일반대체결의서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예산대체결의서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분개장 열람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결재가 완료된 결의서의 분개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증빙 확인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전표확정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결의서 확정처리로 회계전표 생성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75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28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합계잔액시산표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재무상태표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재무상태표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손익계산서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손익계산서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원가명세서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계정잔액명세서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자본명세서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채권채무명세서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유형자산명세서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무형자산 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감가상각누계액명세서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지출증빙서류검토표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현금흐름표등록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현금흐름표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자본변동표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결산마감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이익잉여금처분계산서 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업무용차량비용명세서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토지평가명세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공사원가명세서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월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연마감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결산자료입력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합계잔액시산표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재무상태표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손익계산서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원가보고서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이익잉여금처분계산서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현금흐름표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자본변동표 및 사업별 손익계산서 조회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결산전표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생성 및  주석조회 기능 구축 요구됨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2417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손익실적분석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배부기초자료등록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배부실행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배부결과조회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배부관점별조회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손익실적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   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프로젝트별 손익실적 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손익 분석을 위한 손익센터관리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배부기준 관리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원가 배부 및  원가계산서 조회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원가집계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및 배부를 위한 기준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배부 방법 정의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12087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자금관리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유가증권입력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차입금입력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대여금입력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유가증권명세서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차입금명세서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대여금명세서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     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예적금현황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자금계획수립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기간손익인식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수정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자금수지계획상세조회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자금수지실적상세조회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계획대비실적조회 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예적금현황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자금계획수립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자금수지계획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실적조회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등의 자금관리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8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경영정보</a:t>
                      </a:r>
                      <a:endParaRPr lang="en-US" altLang="ko-KR" sz="1000" b="0" i="0" u="none" strike="noStrike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재무관리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예산대비결산수지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요약 재무상태표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요약 손익계산서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요약 원가명세서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주요자산 보유현황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분기별 집행현황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주요재무지표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성장성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년도별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주요재무지표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수지운영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년도별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주요재무지표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안정성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년도별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주요재무지표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총괄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추정수지계산서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목별비용예산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지출예산현황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연간자금수지계획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재료비 지급 현황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경영공시 재무현황 제공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8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부가세자료관리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29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부가가치세가산세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부동산임대내역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부동산임대공급가액명세서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공제받지못할매입세액명세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공통매앱세액안분계산내역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공통매입세액정산내역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매입자발행세금계산서합계표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부가가치세수입금액등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신용카드매출전표등발행집계표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건물등감가상각자산취득명세서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세금계산서작성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세금계산서조회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매입매출장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세금계산서집계표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세금계산서명세서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계산서명세서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카드매입명세서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세금계산서합계표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계산서합계표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매출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매입 부가세 신고자료 생성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98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부가세신고관리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부가가치세공통코드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카드매출전표수령명세서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부가가치세공제감면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부가가치세가산세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공제받지못할매입세액명세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공제받지못할매입세액합계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세금계산서합계표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신고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계산서합계표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신고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부가세신고자료생성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부가가치세수입금액등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신용카드매출전표등발행집계표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건물등감가상각자산취득명세서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부가세전산매체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부가세마감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부가세 신고파일 생성 및 홈택스 신고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32520" y="663892"/>
            <a:ext cx="12426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사용본수</a:t>
            </a:r>
            <a:r>
              <a:rPr lang="en-US" altLang="ko-KR" sz="900" b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구축본수</a:t>
            </a:r>
            <a:r>
              <a:rPr lang="en-US" altLang="ko-KR" sz="900" b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b="1" dirty="0" err="1" smtClean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3873217" y="3244334"/>
            <a:ext cx="2159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/>
              <a:t>시스템 업무기능 분석</a:t>
            </a:r>
            <a:endParaRPr lang="en-US" altLang="ko-KR" dirty="0"/>
          </a:p>
        </p:txBody>
      </p:sp>
      <p:sp>
        <p:nvSpPr>
          <p:cNvPr id="10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6111176" cy="781320"/>
          </a:xfrm>
        </p:spPr>
        <p:txBody>
          <a:bodyPr>
            <a:normAutofit/>
          </a:bodyPr>
          <a:lstStyle/>
          <a:p>
            <a:r>
              <a:rPr lang="en-US" altLang="ko-KR" smtClean="0"/>
              <a:t>1.3 </a:t>
            </a:r>
            <a:r>
              <a:rPr lang="ko-KR" altLang="en-US"/>
              <a:t>시스템 업무기능 </a:t>
            </a:r>
            <a:r>
              <a:rPr lang="ko-KR" altLang="en-US" smtClean="0"/>
              <a:t>분석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1.3.2 </a:t>
            </a:r>
            <a:r>
              <a:rPr lang="ko-KR" altLang="en-US" sz="1800"/>
              <a:t>업무별 기능 분석</a:t>
            </a:r>
            <a:r>
              <a:rPr lang="en-US" altLang="ko-KR" sz="1800" smtClean="0"/>
              <a:t>(2/4</a:t>
            </a:r>
            <a:r>
              <a:rPr lang="en-US" altLang="ko-KR" sz="1800"/>
              <a:t>)</a:t>
            </a:r>
            <a:endParaRPr lang="ko-KR" altLang="en-US" sz="1800" dirty="0"/>
          </a:p>
        </p:txBody>
      </p:sp>
      <p:sp>
        <p:nvSpPr>
          <p:cNvPr id="11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smtClean="0"/>
              <a:t>1.3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79130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" name="표 140"/>
          <p:cNvGraphicFramePr>
            <a:graphicFrameLocks noGrp="1"/>
          </p:cNvGraphicFramePr>
          <p:nvPr>
            <p:extLst/>
          </p:nvPr>
        </p:nvGraphicFramePr>
        <p:xfrm>
          <a:off x="345000" y="836713"/>
          <a:ext cx="9180000" cy="5521680"/>
        </p:xfrm>
        <a:graphic>
          <a:graphicData uri="http://schemas.openxmlformats.org/drawingml/2006/table">
            <a:tbl>
              <a:tblPr/>
              <a:tblGrid>
                <a:gridCol w="50675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485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1835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0026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97613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74441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26774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8626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 기능</a:t>
                      </a:r>
                      <a:r>
                        <a:rPr lang="ko-KR" altLang="en-US" sz="1000" b="1" i="0" u="none" strike="noStrike" baseline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내용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862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구축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891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1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자산관리</a:t>
                      </a:r>
                      <a:endParaRPr lang="en-US" altLang="ko-KR" sz="1000" b="0" i="0" u="none" strike="noStrike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(28/72)</a:t>
                      </a:r>
                      <a:endParaRPr lang="ko-KR" alt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기초자료관리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자산공통코드등록  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내용연수 및 감가상각 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계정별 감가상각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프로젝트별경비계정등록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자산의 대 중분류별 내용연수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874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자산정보관리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자산자료입력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자산외자료입력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자산변동 일괄상태변환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자산변동내역입력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구매자산등재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구매계약 자산등재입력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구매자산등재변경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자본적지출입력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자본적지출명세서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취득시 세부 정보 등록에 의한 관리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배치시 개별자산 정보생성 및 바코드 출력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자산분류에 따른 내용연수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874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반출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반납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반출 신청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반출신청 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반출신청내역 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반출 처리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반납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반출조회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달력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반출입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874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자산장부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자산관리대장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자산외관리대장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계정과목별자산 보유현황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부서별자산보유현황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품목별자산보유현황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장소별자산보유현황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내용연수별 자산보유현황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자산변동내역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자산처분내역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 대장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자산이력 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 계정별 명새서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267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자산불용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자산불용신청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자산불용승인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자산불용 승인조회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자산불용 처분시행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 불용 신청 및 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확정처리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874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부동산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부동산관리대장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부동산용도별보유목록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부동산용도별보유현황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부동산지목별보유목록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부동산지목별보유현황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부동산취득및지분현황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부동산지목변경현황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부동산면적변경현황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토지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건물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874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감가상각명세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감가상각계산처리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감가상각 시뮬레이션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월별감가상각명세서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연도별 감가상각명세서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감가상각집계표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고정자산명세서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상세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유형고정자산명세서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무형고정자산명세서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월별 감가상각  계산 및 감가상각 전표 처리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267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마감및이월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년마감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차기이월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회계전표생성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마감 및 전표 생성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874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자산실사관리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자산대장 및 실사확인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자산실사관리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조회 및 실사담당자등록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실사 계획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부서별 보유자산 목록 및  부착할 자산카드 출력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재물조사 후 결과 등록 및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조치계획  보고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승인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874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연구장비관리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연구장비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MASTER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연구장비사용신청입력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연구장비사용신청승인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연구장비활용현황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연구장비활용현황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NTIS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정보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4013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차량등록관리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차량등록연결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차량예약신청등록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차량사용신청승인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차량운행일지입력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운행전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차량운행일지입력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운행종료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차량운행일지입력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관리자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차량운행일지조회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차량운행일지출력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차량유류수불대장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차량정비이력연결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차량정비이력관리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차량정비이력조회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 예약 및 운행관리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2673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사업관리</a:t>
                      </a:r>
                      <a:endParaRPr lang="en-US" altLang="ko-KR" sz="1000" b="0" i="0" u="none" strike="noStrike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(23/53)</a:t>
                      </a:r>
                      <a:endParaRPr lang="ko-KR" alt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기준관리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코드등록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정원관리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정현원 현황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사업관리를 위한 사업분류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표준정보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0189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물품등록관리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품목코드 등록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품목 입고 등록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품목 사용내역 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품목 입고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사용현황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사업관리 투입 물품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구매에서 관리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2874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물품관리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품목기본정보등록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품목입고등록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품목사용내역등록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품목입고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사용현황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품목사용내역현황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보유물품확인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수불 관리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구매에서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5151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사업실적관리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16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사업예산안수립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사업별계획등록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사업별계획대비실적조회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기성금청구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기술자경력관리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사업예산안수립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일일보고현황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차량청소실적등록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비품작업현황등록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집계실적분류등록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집계실적조회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집계실적분류등록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집계실적조회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출장자 상시점검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대기차량청소입력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대기차량청소현황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사업구분별</a:t>
                      </a:r>
                      <a:r>
                        <a:rPr lang="en-US" altLang="ko-KR" sz="9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실적 정보 취합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2520" y="663892"/>
            <a:ext cx="12426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사용본수</a:t>
            </a:r>
            <a:r>
              <a:rPr lang="en-US" altLang="ko-KR" sz="900" b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구축본수</a:t>
            </a:r>
            <a:r>
              <a:rPr lang="en-US" altLang="ko-KR" sz="900" b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b="1" dirty="0" err="1" smtClean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6111176" cy="781320"/>
          </a:xfrm>
        </p:spPr>
        <p:txBody>
          <a:bodyPr>
            <a:normAutofit/>
          </a:bodyPr>
          <a:lstStyle/>
          <a:p>
            <a:r>
              <a:rPr lang="en-US" altLang="ko-KR" smtClean="0"/>
              <a:t>1.3 </a:t>
            </a:r>
            <a:r>
              <a:rPr lang="ko-KR" altLang="en-US"/>
              <a:t>시스템 업무기능 </a:t>
            </a:r>
            <a:r>
              <a:rPr lang="ko-KR" altLang="en-US" smtClean="0"/>
              <a:t>분석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1.3.2 </a:t>
            </a:r>
            <a:r>
              <a:rPr lang="ko-KR" altLang="en-US" sz="1800"/>
              <a:t>업무별 기능 분석</a:t>
            </a:r>
            <a:r>
              <a:rPr lang="en-US" altLang="ko-KR" sz="1800" smtClean="0"/>
              <a:t>(3/4</a:t>
            </a:r>
            <a:r>
              <a:rPr lang="en-US" altLang="ko-KR" sz="1800"/>
              <a:t>)</a:t>
            </a:r>
            <a:endParaRPr lang="ko-KR" altLang="en-US" sz="1800" dirty="0"/>
          </a:p>
        </p:txBody>
      </p:sp>
      <p:sp>
        <p:nvSpPr>
          <p:cNvPr id="9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smtClean="0"/>
              <a:t>1.3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528141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3385656"/>
              </p:ext>
            </p:extLst>
          </p:nvPr>
        </p:nvGraphicFramePr>
        <p:xfrm>
          <a:off x="345000" y="836711"/>
          <a:ext cx="9180000" cy="5197041"/>
        </p:xfrm>
        <a:graphic>
          <a:graphicData uri="http://schemas.openxmlformats.org/drawingml/2006/table">
            <a:tbl>
              <a:tblPr/>
              <a:tblGrid>
                <a:gridCol w="50675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485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01835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50026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497613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74441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26774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1332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기능수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주요 기능</a:t>
                      </a:r>
                      <a:r>
                        <a:rPr lang="ko-KR" altLang="en-US" sz="1000" b="1" i="0" u="none" strike="noStrike" baseline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내용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7137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구축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898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사업관리</a:t>
                      </a:r>
                      <a:endParaRPr lang="en-US" altLang="ko-KR" sz="1000" b="0" i="0" u="none" strike="noStrike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(23/53)</a:t>
                      </a:r>
                      <a:endParaRPr lang="ko-KR" alt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사업이력관리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계약이력등록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계약이력현황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 진행이력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73485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차량청소관리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권역코드등록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청소종별코드등록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차량종별코드등록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청소차종코드등록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차종별청소종별등록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기준인공등록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차종별청소실적입력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차종별청소계획입력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청소작업완료증명서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청소작업계획대비실적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차호코드등록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차호별청소종별등록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차호별청소실적입력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차호별주요실적조회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차량청소 작업 계획 및 실적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4100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비품작업관리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비품차종코드등록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차종별차량종별등록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비품작업실적입력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객차비품취급명세서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객차비품사업실적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비품 작업 실적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898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업면허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업면허코드등록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업면허기술자등록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업면허기술자조회 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보유 업면허코드 등록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4188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구매관리</a:t>
                      </a:r>
                      <a:endParaRPr lang="en-US" altLang="ko-KR" sz="1000" b="0" i="0" u="none" strike="noStrike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(11/32)</a:t>
                      </a:r>
                      <a:endParaRPr lang="ko-KR" alt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기초자료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가격정보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나라장터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수익사업정보등록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수익사업정보조회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계약현황항목관리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소액현황항목관리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 기초자료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4188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발주관리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발주요청  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발주서현황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미지급금현황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미입고현황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구매진행현황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 진행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41005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입찰공고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나라장터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계약정보 불러오기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나라장터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계약정보등록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계약정보등록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비전자계약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계약정보현황조회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소액구매현황조회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예산실행집행율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자본예산물품수급계획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계약관리</a:t>
                      </a:r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계약변경관리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2898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감독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검사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감독조서등록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검수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검사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등록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검수현황 조회 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검수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3042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입고관리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구매물품 입고 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구매물품 입고 확인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물품입고 관리</a:t>
                      </a:r>
                      <a:endParaRPr lang="ko-KR" altLang="en-US" sz="9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6"/>
                  </a:ext>
                </a:extLst>
              </a:tr>
              <a:tr h="2837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하자관리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신규하자관리등록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하자관리현황등록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하자검사조서  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하자완료조서   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하자관리검사현황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하자 관리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7"/>
                  </a:ext>
                </a:extLst>
              </a:tr>
              <a:tr h="2837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구매실적관리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공공구매 실적조회 공공구매 실적조회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(SMPP),SMPP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업로드 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 G2B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코드 등록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구매실적 입력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7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일반업무</a:t>
                      </a:r>
                      <a:endParaRPr lang="en-US" altLang="ko-KR" sz="1000" b="0" i="0" u="none" strike="noStrike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(0/5)</a:t>
                      </a:r>
                      <a:endParaRPr lang="ko-KR" altLang="en-US" sz="1000" b="0" i="0" u="none" strike="noStrike" dirty="0"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행정서비스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검토의뢰 접수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담당자 배분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답변결과 회신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자문 관리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7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동호회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동호회코드 등록</a:t>
                      </a:r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동호회별회원리스트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동호회 관리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2520" y="663892"/>
            <a:ext cx="124264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900" b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사용본수</a:t>
            </a:r>
            <a:r>
              <a:rPr lang="en-US" altLang="ko-KR" sz="900" b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sz="900" b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구축본수</a:t>
            </a:r>
            <a:r>
              <a:rPr lang="en-US" altLang="ko-KR" sz="900" b="1" smtClean="0">
                <a:solidFill>
                  <a:srgbClr val="0000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900" b="1" dirty="0" err="1" smtClean="0">
              <a:solidFill>
                <a:srgbClr val="0000FF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6111176" cy="781320"/>
          </a:xfrm>
        </p:spPr>
        <p:txBody>
          <a:bodyPr>
            <a:normAutofit/>
          </a:bodyPr>
          <a:lstStyle/>
          <a:p>
            <a:r>
              <a:rPr lang="en-US" altLang="ko-KR" smtClean="0"/>
              <a:t>1.3 </a:t>
            </a:r>
            <a:r>
              <a:rPr lang="ko-KR" altLang="en-US"/>
              <a:t>시스템 업무기능 </a:t>
            </a:r>
            <a:r>
              <a:rPr lang="ko-KR" altLang="en-US" smtClean="0"/>
              <a:t>분석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1.3.2 </a:t>
            </a:r>
            <a:r>
              <a:rPr lang="ko-KR" altLang="en-US" sz="1800"/>
              <a:t>업무별 기능 분석</a:t>
            </a:r>
            <a:r>
              <a:rPr lang="en-US" altLang="ko-KR" sz="1800" smtClean="0"/>
              <a:t>(4/4</a:t>
            </a:r>
            <a:r>
              <a:rPr lang="en-US" altLang="ko-KR" sz="1800"/>
              <a:t>)</a:t>
            </a:r>
            <a:endParaRPr lang="ko-KR" altLang="en-US" sz="1800" dirty="0"/>
          </a:p>
        </p:txBody>
      </p:sp>
      <p:sp>
        <p:nvSpPr>
          <p:cNvPr id="9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smtClean="0"/>
              <a:t>1.3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1510737"/>
              </p:ext>
            </p:extLst>
          </p:nvPr>
        </p:nvGraphicFramePr>
        <p:xfrm>
          <a:off x="859552" y="6036819"/>
          <a:ext cx="2660888" cy="271906"/>
        </p:xfrm>
        <a:graphic>
          <a:graphicData uri="http://schemas.openxmlformats.org/drawingml/2006/table">
            <a:tbl>
              <a:tblPr/>
              <a:tblGrid>
                <a:gridCol w="867816"/>
                <a:gridCol w="932899"/>
                <a:gridCol w="860173"/>
              </a:tblGrid>
              <a:tr h="271906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사용본수 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245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총본수 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446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미사용 </a:t>
                      </a:r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27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/>
              <a:t>1.3 </a:t>
            </a:r>
            <a:r>
              <a:rPr lang="ko-KR" altLang="en-US"/>
              <a:t>시스템 업무기능 분석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1.3.3 </a:t>
            </a:r>
            <a:r>
              <a:rPr lang="ko-KR" altLang="en-US" sz="1800"/>
              <a:t>업무별 문제점 분석</a:t>
            </a:r>
            <a:r>
              <a:rPr lang="en-US" altLang="ko-KR" sz="1800"/>
              <a:t>(1/6)</a:t>
            </a:r>
            <a:endParaRPr lang="ko-KR" altLang="en-US" sz="1600" dirty="0"/>
          </a:p>
        </p:txBody>
      </p:sp>
      <p:graphicFrame>
        <p:nvGraphicFramePr>
          <p:cNvPr id="141" name="표 140"/>
          <p:cNvGraphicFramePr>
            <a:graphicFrameLocks noGrp="1"/>
          </p:cNvGraphicFramePr>
          <p:nvPr>
            <p:extLst/>
          </p:nvPr>
        </p:nvGraphicFramePr>
        <p:xfrm>
          <a:off x="345000" y="836713"/>
          <a:ext cx="9216512" cy="5688240"/>
        </p:xfrm>
        <a:graphic>
          <a:graphicData uri="http://schemas.openxmlformats.org/drawingml/2006/table">
            <a:tbl>
              <a:tblPr/>
              <a:tblGrid>
                <a:gridCol w="28752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0425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31236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01622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9855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문제점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문제점 처리 방안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855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2780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코드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사업코드와 예산코드의 체계적인  구성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사업코드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사업부문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단위사업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&gt;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세세부사업  체계의  코드 관리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예산코드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예산과목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예산세목 체계의  관리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예산항목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예산편성 항목단위의 코드화 및 계정코드와 매핑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사업체계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부문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단위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세부사업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예산코드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과목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세목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항목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lang="ko-KR" altLang="en-US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7918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예산편성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예산의 체계적인  편성 및 진행관리가 요구됨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1)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예산 편성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부서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파트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사업부문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세부사업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예산과목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예산세목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예산항목별 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예산 편성 및  편성근거 입력에 의한 예산금액 산출 내역 관리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편성 절차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요구부서 입력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부서 승인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예산파트 차수별  취합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--&gt;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조정요청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요구부서 조정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부서승인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예산부서 취합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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예산안 확정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                       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예산안 조회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/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출력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예산안 승인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예산확정 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예산서  출력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부서체계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본부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파트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사업체계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부문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단위사업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세부사업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예산코드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과목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세목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항목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차수별 편성절차 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차수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OPEN,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편성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마감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조정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확정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예산서 시스템 관리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5338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예산배정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분기별 배정 관리  체계가  요구됨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분기별 예산 집행 계획을  수립하여 자금관리 자료 및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배정 기초자료로 사용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2)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분기별 정기 배정요청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분기별로  예산 편성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 항목별로 배정요청 및 승인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sym typeface="Wingdings" panose="05000000000000000000" pitchFamily="2" charset="2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3)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수시배정 신청 관리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수시배정신청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부서장승인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예산파트 접수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-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파트장 승인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집행계획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정기배정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수시배정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0643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예산결산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이월 및 예산결산서 관리가 요구됨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예산  결산 작업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예산불용 및 이월 처리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예산  결산서의 시스템화로 결산자료의 조회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출력기능 구축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결산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예산서 시스템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0643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계정코드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K-IFRS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기준의 계정코드 체계 구축이 요구됨</a:t>
                      </a:r>
                      <a:endParaRPr lang="en-US" altLang="ko-KR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인명 계정 은 </a:t>
                      </a:r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계정별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필수항목으로 관리 필요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공기업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준정부기관 결산지침과 모기업의 계정코드를 참조하여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새로운  체계의 계정코드 마련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K-IFRS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체계의 계정코드 적용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계정코드별 필수</a:t>
                      </a:r>
                      <a:r>
                        <a:rPr lang="en-US" altLang="ko-KR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선택 관리항목</a:t>
                      </a:r>
                      <a:r>
                        <a:rPr lang="en-US" altLang="ko-KR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잔액구분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9132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결의서관리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결의서가 세분화되어 있지 않으므로 전표 </a:t>
                      </a:r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분개시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  <a:endParaRPr lang="en-US" altLang="ko-KR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 요구사항 충족이 어려움 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</a:t>
                      </a:r>
                      <a:endParaRPr lang="en-US" altLang="ko-KR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세분화된 기능의 결의서 관리로  관련정보와 연계처리 및 </a:t>
                      </a:r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분개시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발생하는 계정과목의 필수 관리항목  취득이  용이한  기능 구축</a:t>
                      </a:r>
                      <a:endParaRPr lang="en-US" altLang="ko-KR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결의서 세분화 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지출결의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일반지출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카드지출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세출외지출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회입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 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수입결의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일반수입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사업수입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세입외수입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반납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       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대체결의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일반대체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계좌대체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예산대체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자동분개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결의서 입력 확정시 가전표 분개처리 및 분개내역 제공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 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계정과목별 관리항목 정보는 결의서에서 자동 취합 기능 구축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전자증빙 관리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세금계산서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카드전표의 전자증빙화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스캔증빙의 전자화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예산 한도 관리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입력시점에 예산한도를 가감하여 실시간  예산 통제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결의 특성에 맞는 화면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기능 구성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관련정보와 입력시 연계처리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완벽한 자동분개 시스템 구축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전표분개와 계정별 필수항목 검증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전자증빙시스템 도입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 실시간 통제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집계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5491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출금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자금 집행대상을 자금 출납시점에  추출하는 형태로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취합시점별 변동자료 관리 및 출납결과 관리가 요구됨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결의서 확정시 출금예정 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DATA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를 기록하고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      저장된 자료에서 집행대상을 확정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금융기관 이첩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1)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출금 예정 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DATA  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정형화 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대상 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DATA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를 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TABLE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등록 후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건별 진행관리 </a:t>
                      </a:r>
                      <a:endParaRPr lang="en-US" altLang="ko-KR" sz="900" b="0" i="0" u="none" strike="noStrike" spc="-15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(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자금집행대상 선택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자금집행승인요청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승인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금융기관 이첩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sym typeface="Wingdings" panose="05000000000000000000" pitchFamily="2" charset="2"/>
                        </a:rPr>
                        <a:t>)</a:t>
                      </a:r>
                      <a:endParaRPr lang="en-US" altLang="ko-KR" sz="900" b="0" i="0" u="none" strike="noStrike" spc="-15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출금  결과를 받아서 미지급전표 하단에 출금전표  분개 생성</a:t>
                      </a:r>
                      <a:endParaRPr lang="en-US" altLang="ko-KR" sz="900" b="0" i="0" u="none" strike="noStrike" spc="-150" baseline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(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지출원인계정  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xxx  / 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미지급계정 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xxx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   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미지급계정  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xxx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요구불예금 </a:t>
                      </a:r>
                      <a:r>
                        <a:rPr lang="en-US" altLang="ko-KR" sz="900" b="0" i="0" u="none" strike="noStrike" spc="-150" baseline="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xxx)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출금예정 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TABLE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금액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출금계좌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거래처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입금계좌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…)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출금 절차 및 출금결과 건별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집행요청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승인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출금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출금전표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)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67053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입금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입금 내역 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를  연계하지 않고 입금전표 입력으로  </a:t>
                      </a:r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자금시재를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관리하여  시점별 시재가 맞지  않음</a:t>
                      </a:r>
                      <a:endParaRPr lang="en-US" altLang="ko-KR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indent="-171450" algn="l" fontAlgn="ctr">
                        <a:buFont typeface="Wingdings" panose="05000000000000000000" pitchFamily="2" charset="2"/>
                        <a:buChar char="è"/>
                      </a:pPr>
                      <a:r>
                        <a:rPr lang="ko-KR" altLang="en-US" sz="900" b="0" i="0" u="none" strike="noStrike" spc="-150" dirty="0" err="1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입금시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 예금가수금  전표를 생성하여 시재를 정확하게 관리하고</a:t>
                      </a:r>
                      <a:r>
                        <a:rPr lang="en-US" altLang="ko-KR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900" b="0" i="0" u="none" strike="noStrike" spc="-15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예금가수금에 대한 수납처리 시에  수납대상 미수금을 선택하여 건별  채권 관리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입금처리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예금가수금 전표 자동생성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제예금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xxx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예금가수금 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xxx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분개 처리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수납처리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입금건과 미수금 건을 연결하여 수납처리 및 전표 생성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                     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예금가수금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xxx  /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미수금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xxx )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입금 </a:t>
                      </a:r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 </a:t>
                      </a: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수신시점에 입금전표 자동 생성</a:t>
                      </a:r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(</a:t>
                      </a: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실시간 시재 관리</a:t>
                      </a:r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수납처리시에 미수금에 대한 정보 선택 후 수납처리로</a:t>
                      </a:r>
                      <a:r>
                        <a:rPr lang="ko-KR" altLang="en-US" sz="900" b="1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채권 </a:t>
                      </a:r>
                      <a:r>
                        <a:rPr lang="ko-KR" altLang="en-US" sz="900" b="1" i="0" u="none" strike="noStrike" baseline="0" dirty="0" err="1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건별관리</a:t>
                      </a:r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6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smtClean="0"/>
              <a:t>1.3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841108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8561155"/>
              </p:ext>
            </p:extLst>
          </p:nvPr>
        </p:nvGraphicFramePr>
        <p:xfrm>
          <a:off x="345000" y="836713"/>
          <a:ext cx="9216512" cy="5551080"/>
        </p:xfrm>
        <a:graphic>
          <a:graphicData uri="http://schemas.openxmlformats.org/drawingml/2006/table">
            <a:tbl>
              <a:tblPr/>
              <a:tblGrid>
                <a:gridCol w="28752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0425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31236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01622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0570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문제점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문제점 처리 방안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057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746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세무신고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부가세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원천세 전자신고 기능 미비로  전자신고 불가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부가세 신고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결의서 입력시 부터 부가세 정보 관리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원천세 신고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급여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퇴직금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기타소득 지급시부터 원천세 자료관리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부가세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자료관리 및 신고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File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생성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원천세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자료관리 및 신고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File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생성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9466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결산관리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전표 생성 기능  미비한 부분 및 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결산서의 수작업 관리 부분을  시스템화  구축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결산처리 기능이 구축되어 있지 않고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결산서와 시스템상의 결산 재무제표가 크게 상이함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결산전표 생성 기능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계정대체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선급비용 기간결산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미수수익 전표 생성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</a:p>
                    <a:p>
                      <a:pPr algn="l" fontAlgn="ctr"/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                                       건설중인자산 결산처리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감가상각 전표처리  기능구축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전표생성시 결산서 시스템화를 위한 계정별 필수항목자료  입력 검증 관리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결산 주석 생성 기능 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결산 주석에 필요한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여개의 결산주석 기능을 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                                        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구축하기 위한 기초자료 입력  기능 및 주석 조회 기능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 업무별 전표생성 기능 구축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결산이 가능하도록 전표내의 필수항목 입력시 검증 관리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결산주석 기초자료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결산주석 조회 기능 구축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1746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회계기준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과거 기업회계기준에 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의한 기준에서 </a:t>
                      </a:r>
                      <a:r>
                        <a:rPr lang="en-US" altLang="ko-KR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2022</a:t>
                      </a:r>
                      <a:r>
                        <a:rPr lang="ko-KR" altLang="en-US" sz="900" b="0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국제회계기준 도입으로  현행 회계 는 기준에 미흡한 상태임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공기업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준정부기관 결산지침과 모기업의 계정체계에 따라  데이터 정제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K-IFRS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기준에 부합되는 각종 장부 체계 구축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계정코드 체계 개선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장부 형태 개선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82039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2023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결산데이터 차이 처리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2023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결산장부와 회계시스템 의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차이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존재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sym typeface="Wingdings" panose="05000000000000000000" pitchFamily="2" charset="2"/>
                        </a:rPr>
                        <a:t>결산서에 시스템 자료가 일치하도록 처리해야 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 2022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결산자료의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2023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이월 및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2023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-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계정과목별 잔액기준에 의한 잔액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DATA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생성 및 이월 처리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계정과목별 잔액을 계정과목의 잔액구분별 잔액으로 세분화하여 이월  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2023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년 전표 자료에 계정별 잔액구분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DATA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를 보정하여  집계처리하고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결산 서와 차이가 발생하는 부분에 대한 전표 처리로 결산자료 완성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  결산서의 시스템화로 결산자료의 조회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출력기능 구축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2022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이월 자료 점검 및 세분화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2022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결산자료 이월 처리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2023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전표의 계정별 필수항목 확인 및 데이터 보정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 미생성 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의</a:t>
                      </a:r>
                      <a:r>
                        <a:rPr lang="en-US" altLang="ko-KR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 처리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689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2024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</a:t>
                      </a:r>
                      <a:endParaRPr lang="en-US" altLang="ko-KR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 준비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2024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결산을 위한  결산 기능 및 데이터 점검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2023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결산자료와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2024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시스템의 이월자료 상이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2024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생성된 전표의 계정별 필수항목 미비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2024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회계전표 미작성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존재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2023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결산 완료 후 이월 프로그램 확인 후 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24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이월 자료 생성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2024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생성된 전표의 계정별 관리항목 미비점 확인 및 데이터 보완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2024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회계전표 미작성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의  확인 및 전표처리로 계정별 원장 확인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연결산 이월 처리 기능 개선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2014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년 전표의 필수관리항목 보정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 미생성 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의</a:t>
                      </a:r>
                      <a:r>
                        <a:rPr lang="en-US" altLang="ko-KR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 처리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1746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자산분류코드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동일한 계정의 자산이라도 감가상각 내용연수를 다르게 적용할 수 있는 기준 관리가 필요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자산분류코드 관리항목에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해당 분류의 감가상각 내용연수를 관리하여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자산취득시 자산 분류코드를 선택하면  해당 내용연수가 적용되도록 처리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자산분류별 내용연수 관리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1746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 취득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용역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공사에 의한 취득 처리 시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취득금액 산정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사용권자산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리스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취득 처리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용역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공사에 의한 취득 처리는 가계정번호별로 집계된 금액으로 취득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사용권자산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리스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취득 처리는 리스자산 등록 으로 자산취득 처리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가계정번호별 취득금액 집계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리스자산 등록에 의한 자산등재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13233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감가상각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회계에서 감가상각에 적용하고 있는 자산목록과 시스템에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등록되어 있는 자산목록이 상이하여 시스템으로 감가상각을 계산하지 못하고 있음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회계의 감가상각 대장과 시스템  등록 자산의 일원화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 자산을 기준으로  시스템자산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목록과 매칭하여 일원화 작업 수행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회계에만 있는 자산은 시스템에 등록하여  장부자산으로 관리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시스템에만 있는 자산은 부외자산으로 관리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 자산금액을  시스템의 세부자산으로  동일하게 배부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-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배부가 완료된 시점부터 시스템으로  감가상각 작업 수행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감가상각 마감 작업으로 감가상각 전표 자동 생성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감가상각이 마감된 년월의 자산은 취득 외의 변경은 방지하고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감가상각 마감이 된  시점의 취득자산은 상각시점에  상각하지 못한 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금액까지 일괄 상각해서 처리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</a:t>
                      </a:r>
                      <a:r>
                        <a:rPr lang="en-US" altLang="ko-KR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실물자산 매칭</a:t>
                      </a:r>
                      <a:endParaRPr lang="en-US" altLang="ko-KR" sz="9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비 매칭 데이터 처리</a:t>
                      </a:r>
                      <a:endParaRPr lang="en-US" altLang="ko-KR" sz="9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시스템에서 감가상각 계산</a:t>
                      </a:r>
                      <a:endParaRPr lang="en-US" altLang="ko-KR" sz="9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감가상각전표 자동 생성</a:t>
                      </a:r>
                      <a:endParaRPr lang="en-US" altLang="ko-KR" sz="9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마감월의 자산 변동 방지</a:t>
                      </a:r>
                      <a:endParaRPr lang="en-US" altLang="ko-KR" sz="9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취득입력 지연 데이터의 감가상각 일괄 계산 처리</a:t>
                      </a:r>
                      <a:endParaRPr lang="en-US" altLang="ko-KR" sz="900" b="1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/>
              <a:t>1.3 </a:t>
            </a:r>
            <a:r>
              <a:rPr lang="ko-KR" altLang="en-US"/>
              <a:t>시스템 업무기능 분석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1.3.3 </a:t>
            </a:r>
            <a:r>
              <a:rPr lang="ko-KR" altLang="en-US" sz="1800"/>
              <a:t>업무별 문제점 분석</a:t>
            </a:r>
            <a:r>
              <a:rPr lang="en-US" altLang="ko-KR" sz="1800" smtClean="0"/>
              <a:t>(2/6</a:t>
            </a:r>
            <a:r>
              <a:rPr lang="en-US" altLang="ko-KR" sz="1800"/>
              <a:t>)</a:t>
            </a:r>
            <a:endParaRPr lang="ko-KR" altLang="en-US" sz="1600" dirty="0"/>
          </a:p>
        </p:txBody>
      </p:sp>
      <p:sp>
        <p:nvSpPr>
          <p:cNvPr id="8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smtClean="0"/>
              <a:t>1.3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0640646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124236"/>
              </p:ext>
            </p:extLst>
          </p:nvPr>
        </p:nvGraphicFramePr>
        <p:xfrm>
          <a:off x="345000" y="836713"/>
          <a:ext cx="9216512" cy="5472013"/>
        </p:xfrm>
        <a:graphic>
          <a:graphicData uri="http://schemas.openxmlformats.org/drawingml/2006/table">
            <a:tbl>
              <a:tblPr/>
              <a:tblGrid>
                <a:gridCol w="28752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0425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31236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01622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3300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문제점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문제점 처리 방안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330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8686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건설중인자산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건설중인 자산의 결산처리 기능 미비로 수작업으로 전표 작성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결산일자에 자산취득이 되지 않은 가계정에 집계된 금액을 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건설중인 자산으로 대체처리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건설중인 자산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xxx  /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집행시의 계정코드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xxx)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결산 익일 환원전표까지 일괄 생성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(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건설중인 자산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xxx  /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집행시의 계정코드 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-xxx))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건설중인 자산 결산 전표생성 및 환원 전표 동시 생성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92928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자산이동관리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부서편성 혹은 사업의 개시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종료 등으로 자산을 일괄이동하는 기능이 미흡하고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</a:p>
                    <a:p>
                      <a:pPr algn="l" fontAlgn="ctr"/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자산실사에서도 부서별 보유자산의 과부족을  확인하여 부서이동시키는 기능이 필요함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부서편성 혹은 사업의  시작과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종료 시 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자산을 선택해서 일괄 이동시키는 가능 구축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 실사 후  자산관리자가 부서별 과부족 자산 목록을 조회 후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부족한 부서에서 자산이 추가된 부서로 자산을 이동 처리하는 기능 구축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 이동이력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관리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4)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 이동 확정은 전자결재를 통하여 자산담당 부서장의 승인 시 확정처리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 일괄 이동기능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 결과 과부족에 대한 이동처리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자산이동 이력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자산이동 처리 전자결재 연동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ko-KR" altLang="en-US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9292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자산실사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부서별로 명시된 자산담당자가 없음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자산실사 계획의 기안 및 통보 기능 필요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실사용 부서 보유자산 목록 출력 필요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4)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 부착용  자산명패 출력기능 필요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5)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실사결과 등록 및 보고서 전자결재 연동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6)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결과처리에 대한 자산담당 의견 회신 등의 기능 필요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부서별로 자산담당자 입명 및 등록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자산실사 계획기안 및 통보처리 기능 구축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실사용 부서별 보유자산 목록과 자산에 부착할 명패  출력 기능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자산실사 결과 입력 및  이상이 있는 자산에 대한 조치계획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자산실사 결과 보고 전자결재 연동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결과보고에 대한 자산담당자의 의견 입력 및 회신 기능 구축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부서별 자산담당자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실사계획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~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결과조치까지 기능 구축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자산목록과 부착용 명패 출력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전자결재 연동 처리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9292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자산처분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자산의 불용처리 및 처분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매각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폐기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사항을 처리하고 처분전표를 생성하는 기능이 필요함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자산의 불용신청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불용취소 신청 의 그룹웨어 연계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 처분신청 및 승인처리 그룹웨어 연계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승인된 자산 처분 건은 자산담당자 확정시  처분 결의서 생성  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미수금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매각금액 있을 경우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xxx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/ 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xxx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감가상각누계액                      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xxx  /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자산처분손실                          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xxx  /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자산처분이익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 불용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불용취소 처리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자산처분 신청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승인 전자결재 연동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처분승인건의 자산담당자 확정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확정시 처분 결의서 자동 생성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78686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수급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계획 관리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수작업에 의한 사업별 자재수급계획의 정확성 미비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+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입고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출고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소요량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=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예상재고 계산 관리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재고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창고별 재고 합산 수기 입력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입고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 계획에 의한 예정입고 아닌 입고량 입력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4)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출고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소요량이 아닌 수작업 입력 출고량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재고량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창고별 재고량 취합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소요량 산출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표준소요량 관리자료에 의한 실행사업 자재소요량 계산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입고량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시점별로 안전재고량을 계산하여 안전재고 이하시점에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          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최소발주량으로 입고 소요일수를 감안하여 구매계획 생성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4)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물품코드별  안전재고량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최소발주량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입고 소요일수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등의 표준자료 관리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창고별 자재 수불관리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사업종류별 자재 표준 소요량관리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자재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투입시점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소요량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구매계획 자동생성 시스템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물품별 구매표준 정보 관리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6444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물품 청구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청구  입력 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사업장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수량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                               소요일을 입력하여 소요물량 신청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수량에 대한 물품 확인 및 발주처리 기능 미비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출납 승인 처리시 세부기능 부족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청구  입력 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사업장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소요일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수량을 입력하여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                                소요물량 신청시 신청물량 자동 집계로 예상출고량 계산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수량에 대한 물품 재고 확인 및 부족량에 대한 발주처리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출납 승인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: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창고별 재고 확인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창고별 출고량을 입력 하여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출고지시 처리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청구 입력 항목 추가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신청 수량 집계 및 발주량 산정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출고 지시 및 발주처리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/>
              <a:t>1.3 </a:t>
            </a:r>
            <a:r>
              <a:rPr lang="ko-KR" altLang="en-US"/>
              <a:t>시스템 업무기능 분석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1.3.3 </a:t>
            </a:r>
            <a:r>
              <a:rPr lang="ko-KR" altLang="en-US" sz="1800"/>
              <a:t>업무별 문제점 분석</a:t>
            </a:r>
            <a:r>
              <a:rPr lang="en-US" altLang="ko-KR" sz="1800" smtClean="0"/>
              <a:t>(3/6</a:t>
            </a:r>
            <a:r>
              <a:rPr lang="en-US" altLang="ko-KR" sz="1800"/>
              <a:t>)</a:t>
            </a:r>
            <a:endParaRPr lang="ko-KR" altLang="en-US" sz="1600" dirty="0"/>
          </a:p>
        </p:txBody>
      </p:sp>
      <p:sp>
        <p:nvSpPr>
          <p:cNvPr id="8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smtClean="0"/>
              <a:t>1.3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271708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" name="표 1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1014238"/>
              </p:ext>
            </p:extLst>
          </p:nvPr>
        </p:nvGraphicFramePr>
        <p:xfrm>
          <a:off x="345000" y="836713"/>
          <a:ext cx="9216512" cy="5463105"/>
        </p:xfrm>
        <a:graphic>
          <a:graphicData uri="http://schemas.openxmlformats.org/drawingml/2006/table">
            <a:tbl>
              <a:tblPr/>
              <a:tblGrid>
                <a:gridCol w="28752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0425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31236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01622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33308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문제점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문제점 처리 방안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8788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구매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수리구매계약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수리요청 등록의 전자결재  미 연계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수리요청 접수 시 신청자에게 알림기능 요구됨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수리요청에 대한 승인 처리 전자결재로 관리 요구됨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4)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수리 발주처리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계약사항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에 대한  정보 부족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5)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수리완료 검사 및 완료 통보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수리요청 등록의 전자결재  연계로  원활한 업무 흐름  유도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수리요청에 대한 승인 결재가 완료되면 계약부서 발주담당자에게  알림처리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승인이 디면 물품 수리요청 접수처리 시 신청자에게 알림기능 처리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4)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발주계약 상세정보 통합계약관리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거래처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지급계획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투입계획 등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5)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수리 검수 및 지급결의서 처리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자산번호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후속적지출 여부 처리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전자결재시스템 연계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수리구매 계약 상세 정보 통합관리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(</a:t>
                      </a:r>
                      <a:r>
                        <a:rPr lang="ko-KR" altLang="en-US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</a:t>
                      </a: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거래처</a:t>
                      </a: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일정</a:t>
                      </a: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지급계획</a:t>
                      </a: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투입계획 등</a:t>
                      </a: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1569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발주일정 관리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사전규격 등록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개찰결과기록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 상세정보 관리 및 계약 변경관리 기능 요구됨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*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 상세정보 관리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 일반 정보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계약명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계약종류구분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계약기간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계약금액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사업코드 등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예산정보 관리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부서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예산과목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예산항목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예산금액 관리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거래처 정보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컨소시엄 정보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하도급정보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거래처별 지분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율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계좌번호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연락처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일정계획정보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계획기간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내용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실적기간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특기사항 등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지급계획정보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지급계획일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지급구분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선금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중도금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잔금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기성율 등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검수조서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검수일자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입회자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검수자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검수내용 등의 검수정보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*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 변경 관리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계약변경 차수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사유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변경내역 정보 관리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 차수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계약건별 상세 정보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</a:t>
                      </a: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</a:t>
                      </a: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거래처</a:t>
                      </a: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일정</a:t>
                      </a: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지급계획</a:t>
                      </a: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투입계획  등</a:t>
                      </a:r>
                      <a:r>
                        <a:rPr lang="en-US" altLang="ko-KR" sz="900" b="0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lang="ko-KR" altLang="en-US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5009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저장품 수불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사업장별로 보유하고 있는 저장품 수불 관리  필요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입고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출고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재고 기타출고 등 수불내역 데이터에 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수불원장 자동 관리 기능 필요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출고시 출고금액 산정 및 전표처리기능 필요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저장품에 대한 창고별 수불 관리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창고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물품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일자별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월별 원장 관리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수량과 금액 실시간 기재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</a:t>
                      </a:r>
                    </a:p>
                    <a:p>
                      <a:pPr algn="l" fontAlgn="ctr"/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수불 데이터로 실시간 원장 집계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투입시 투입금액 계산 및 전표 생성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이동평균법에 의한 출고금액  계산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출고금액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=  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이월금액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+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입고금액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)/(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이으ㅝㄹ수량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+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입고수량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)*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출고수량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창고별 수불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수불데이터 실시간 집계로 현재고 수량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금액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출고가는 이동평균법 적용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출고 입력시 출고전표 자동 생성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ko-KR" altLang="en-US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5009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진행모니터링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모니터링을 위한 진행자료 입력 을 위해 수시로 조달 시스템을 접속해서 진행자료를 확인 후 입력해야 함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청구 모니터링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청구접수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발주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출고승인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사전규격 주요일자 수시 등록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발주시 수작업 입력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4)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주요일자별 자동 일정 생성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 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5)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사전규격의뢰 진척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Monitoring, -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실시간 정보 어려움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6)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입찰공고 진척도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Monitoring--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실시간 정보 어려움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7)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 진척도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Monitoring, -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실시간 정보 어려움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8)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예산실행 집행률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Monitoring-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집행실적 사업별 집계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                               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직접비만 실시간 집계가능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나라장터 조달 시스템의 진행정보를 모니터링 하기 위한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RPA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솔루션 도입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(RPA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(Robot Process Automation)  -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연계되지 않는 타 시스템에 접속하여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                                                       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자료를 찾아서 내부시스템에 저장할 수 있음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 청구 모니터링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물품청구 후 접수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승인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출고승인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           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발주진행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사전규격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입찰공고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개찰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낙찰정보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계약일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공정율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검수일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조달구매 모니터링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사전규격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입찰공고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개찰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 등의 정보를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                                  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en-US" altLang="ko-KR" sz="900" b="1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RPA </a:t>
                      </a:r>
                      <a:r>
                        <a:rPr lang="ko-KR" altLang="en-US" sz="900" b="1" i="0" u="none" strike="noStrike" spc="-15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솔루션으로 수시로 취득하여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실시간  모니터링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4)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 이력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Monitoring 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계약정보 상세정보 입력여부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공정율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검수일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7)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예산실행 집행률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Monitoring 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예산 집행실적 자동 집계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예실대비표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RPA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솔루션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도입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물품청구건에 대한 모니터링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조달건별 모니터링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(RPA)</a:t>
                      </a: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내용 및 계약변경 모니터링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예산집행률 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en-US" altLang="ko-KR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예실대비표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4368311" y="3662276"/>
          <a:ext cx="3096344" cy="576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694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7969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7969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7969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279694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7969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27969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279694">
                  <a:extLst>
                    <a:ext uri="{9D8B030D-6E8A-4147-A177-3AD203B41FA5}">
                      <a16:colId xmlns="" xmlns:a16="http://schemas.microsoft.com/office/drawing/2014/main" val="20007"/>
                    </a:ext>
                  </a:extLst>
                </a:gridCol>
                <a:gridCol w="279694">
                  <a:extLst>
                    <a:ext uri="{9D8B030D-6E8A-4147-A177-3AD203B41FA5}">
                      <a16:colId xmlns="" xmlns:a16="http://schemas.microsoft.com/office/drawing/2014/main" val="20008"/>
                    </a:ext>
                  </a:extLst>
                </a:gridCol>
                <a:gridCol w="289549">
                  <a:extLst>
                    <a:ext uri="{9D8B030D-6E8A-4147-A177-3AD203B41FA5}">
                      <a16:colId xmlns="" xmlns:a16="http://schemas.microsoft.com/office/drawing/2014/main" val="20009"/>
                    </a:ext>
                  </a:extLst>
                </a:gridCol>
                <a:gridCol w="289549">
                  <a:extLst>
                    <a:ext uri="{9D8B030D-6E8A-4147-A177-3AD203B41FA5}">
                      <a16:colId xmlns="" xmlns:a16="http://schemas.microsoft.com/office/drawing/2014/main" val="20010"/>
                    </a:ext>
                  </a:extLst>
                </a:gridCol>
              </a:tblGrid>
              <a:tr h="18542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창고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물품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일자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이월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입고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출고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재고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9532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금액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금액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금액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수량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>
                          <a:solidFill>
                            <a:schemeClr val="tx1"/>
                          </a:solidFill>
                        </a:rPr>
                        <a:t>금액</a:t>
                      </a: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95322"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/>
              <a:t>1.3 </a:t>
            </a:r>
            <a:r>
              <a:rPr lang="ko-KR" altLang="en-US"/>
              <a:t>시스템 업무기능 분석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1.3.3 </a:t>
            </a:r>
            <a:r>
              <a:rPr lang="ko-KR" altLang="en-US" sz="1800"/>
              <a:t>업무별 문제점 분석</a:t>
            </a:r>
            <a:r>
              <a:rPr lang="en-US" altLang="ko-KR" sz="1800" smtClean="0"/>
              <a:t>(4/6</a:t>
            </a:r>
            <a:r>
              <a:rPr lang="en-US" altLang="ko-KR" sz="1800"/>
              <a:t>)</a:t>
            </a:r>
            <a:endParaRPr lang="ko-KR" altLang="en-US" sz="1600" dirty="0"/>
          </a:p>
        </p:txBody>
      </p:sp>
      <p:sp>
        <p:nvSpPr>
          <p:cNvPr id="9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smtClean="0"/>
              <a:t>1.3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7019175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" name="표 140"/>
          <p:cNvGraphicFramePr>
            <a:graphicFrameLocks noGrp="1"/>
          </p:cNvGraphicFramePr>
          <p:nvPr>
            <p:extLst/>
          </p:nvPr>
        </p:nvGraphicFramePr>
        <p:xfrm>
          <a:off x="345000" y="836713"/>
          <a:ext cx="9216512" cy="5472011"/>
        </p:xfrm>
        <a:graphic>
          <a:graphicData uri="http://schemas.openxmlformats.org/drawingml/2006/table">
            <a:tbl>
              <a:tblPr/>
              <a:tblGrid>
                <a:gridCol w="28752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0425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31236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01622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26923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문제점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문제점 처리 방안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269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2457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사업기획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 예정 정보 등록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수주 진행 여부관리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사업계획수립 건에 대한 집계 및 보고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처리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 예정정보에 대한 사업정보 및 담당자 등록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진행 상태 관리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예상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영업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,DrROP,t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사전규격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사업설명회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견적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개찰결과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진행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검수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완료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 DROP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여부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입력에 의한 사업계획 가감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사업시기에 의한 사엽종류별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부서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사업장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기간별 사업계획 집계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보고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사업코드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등록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RPA</a:t>
                      </a:r>
                      <a:r>
                        <a:rPr lang="en-US" altLang="ko-KR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솔루션으로 조달정보 취득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 상태코드로 전표 미생성 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의</a:t>
                      </a:r>
                      <a:r>
                        <a:rPr lang="en-US" altLang="ko-KR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 처리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04796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사업전략 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 대상을 선정하고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 추진 전략을 등록하고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전략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안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을 검토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조정하여 확정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영업 대상 사업을 선정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선정일자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선정자 입력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영업일정 및 일정별 활동계획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전략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입력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전략안 보고 및 승인처리의 전자결재 연계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영업대상 사업 선정 및 전략 입력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영업전략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안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전자결재 연계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80796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수주진행정보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수주예상 사업에 대한 진행상태 뿐 아니라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수주활동에 대한 주요 정보를 입력하여 수주이력 및 진행현황을 파악할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필요가 있음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수주 대상사업에 대한 진행상태 입력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예상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영업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,DrROP,t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사전규격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사업설명회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견적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개찰결과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진행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검수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완료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영업활동 이력 입력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수주활동에 대한 주요 정보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및 특기사항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수주대상 사업에 대한 진행현황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90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사업실적관리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과거 사업실적을 입력하여 제안 및 입찰 제출용 사업실적을 출력할 수 있는 기능 필요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요청 형태 유형별로 출력할 수 있는 기능이 요구됨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 실적 입력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–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제출용 서류를 출력할 수 있는 사업실적 정보 입력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사업실적 출력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-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특정기간의 사업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지정한 부문의 실적을 일괄 조회한 후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출력할 대상을 선택하여  출력할 수 있도록 하고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</a:t>
                      </a: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출력항목과  항목배치도 사용자가 지정할 수 있도록 구축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하여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  다양한 형태의  사업실적 요구에 대응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실적자료 입력기능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제출용 사업실적 검색 및 다양한 형태의 사업실적 양식 출력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지원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90502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기술자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경력관리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제안 및 입찰 서류를 시스템으로 처리하기 위해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보유 기술자의 인적사항 및 자격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면허 관리 필요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요청 형태 유형별로 출력할 수 있는 기능이 요구됨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보유 기술자의 인적사항 및 자격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.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면허 등록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보유 기술자  목록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출력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-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지정한 자격증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면허를 소지한 기술자 목록을 일괄 조회한 후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출력할 대상을 선택하여  출력할 수 있도록 하고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출력항목과  항목배치도 사용자가 지정할 수 있도록 구축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하여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 다양한 형태의  보유 기술자  목록 제출요구에 대응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보유 기술자 정보 입력 및 수정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제출용 기술자 목록 조회 및 다양한 형태의 양식 출력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지원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62761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입찰공고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접수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입찰공고 사이트를 수시로 접속하여 수주대상 사업의 정보를 검색하여  사업 수주 정보로 입력하는 업무이므로  대표적인 단순반복작업이며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노동기피  대상 업무이고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실시간으로 정보를 취득하기가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어려움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수시로 단순반복을 처리하는 솔루션인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RPA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를 도입하여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RPA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는 관심 정보를  신속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정확하게 취득하여 담당자에게 정보를 제공하고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담당자는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RPA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에서 제공한 정보를 검토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정리하여 영업정보로 등록하여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후속작업자가 정보를 활용할 수 있도록 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PUSH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하여 원활한 업무처리를 유도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RPA</a:t>
                      </a:r>
                      <a:r>
                        <a:rPr lang="en-US" altLang="ko-KR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솔루션으로 조달정보 취득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담당자의 점검</a:t>
                      </a:r>
                      <a:r>
                        <a:rPr lang="en-US" altLang="ko-KR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및 정리</a:t>
                      </a:r>
                      <a:endParaRPr lang="en-US" altLang="ko-KR" sz="900" b="1" i="0" u="none" strike="noStrike" baseline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spc="-150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후속 작업자 의 원활한 업무처리  지원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/>
              <a:t>1.3 </a:t>
            </a:r>
            <a:r>
              <a:rPr lang="ko-KR" altLang="en-US"/>
              <a:t>시스템 업무기능 분석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1.3.3 </a:t>
            </a:r>
            <a:r>
              <a:rPr lang="ko-KR" altLang="en-US" sz="1800"/>
              <a:t>업무별 문제점 분석</a:t>
            </a:r>
            <a:r>
              <a:rPr lang="en-US" altLang="ko-KR" sz="1800" smtClean="0"/>
              <a:t>(5/6</a:t>
            </a:r>
            <a:r>
              <a:rPr lang="en-US" altLang="ko-KR" sz="1800"/>
              <a:t>)</a:t>
            </a:r>
            <a:endParaRPr lang="ko-KR" altLang="en-US" sz="1600" dirty="0"/>
          </a:p>
        </p:txBody>
      </p:sp>
      <p:sp>
        <p:nvSpPr>
          <p:cNvPr id="8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smtClean="0"/>
              <a:t>1.3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59088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1" name="표 140"/>
          <p:cNvGraphicFramePr>
            <a:graphicFrameLocks noGrp="1"/>
          </p:cNvGraphicFramePr>
          <p:nvPr>
            <p:extLst/>
          </p:nvPr>
        </p:nvGraphicFramePr>
        <p:xfrm>
          <a:off x="345000" y="836714"/>
          <a:ext cx="9216512" cy="5480324"/>
        </p:xfrm>
        <a:graphic>
          <a:graphicData uri="http://schemas.openxmlformats.org/drawingml/2006/table">
            <a:tbl>
              <a:tblPr/>
              <a:tblGrid>
                <a:gridCol w="28752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6409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30425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3312368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016224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26955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분류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문제점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문제점 처리 방안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2695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중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9051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8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입찰참여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검토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사전 규격 정보를 검토하여 입찰 참여  여부를 결정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하는 과정이 시스템화 되지 않음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 참여로 결정시 향후 일정 및 역할 배분 필요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사전규격정보 다운로드 후 사업정보의 사전규격 문서로 업로드하여 관리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입찰참여 여부를 결정는 요인을 선택해서 저장하고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담당의견 및 결정결과를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등록하여 공유할 수 있도록 구축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 -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결정요인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: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예상수익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난이도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수행실적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보유기술자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납기 등의 결정요인 관리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입찰 여부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결정에 참여한  여러 담당의 결정 요인 저료를  확인 후 최종결정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입찰 참여로 결정시 향후 역할 배분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사전규격자료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입찰참여 여부 요인별 자료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최종결정 처리 내역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참여 결정시 역할 배분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6277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현장설명회 참여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현장설명회 에서 참가자가 파악해야 할 필수 정보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참가 후 보고 등의 수작업관리 부분을 시스템으로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구축하여  표준화 할 필요 있음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ko-KR" altLang="en-US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현장설명회  일정 및 참가자 정보 입력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설명회에서 파악해야 할  정보 표준목록을 관리하여 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필수 정보의 누락 방지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현장설명회 참여자의 항목별 정보 등록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및 추가 의견  입력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4)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보고서의 전자결재 연동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영업대상 사업 선정 및 전략 입력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영업전략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안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전자결재 연계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8898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입찰실행 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작성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입찰일정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제출 서류 및 투찰가 등 입찰정보를 시스템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으로 관리하여 수주 이력 관리 및 향후 영업자료로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활용할 수 있도록 함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fontAlgn="ctr">
                        <a:buNone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입찰 일정  및 담당자 등록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입찰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서류별 준비일정 및 완료여부 관리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indent="0" algn="l" fontAlgn="ctr">
                        <a:buNone/>
                      </a:pP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3)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개찰 후 투찰금액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순위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낙찰업체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낙찰가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입찰 의견 등  정보 입력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입찰일정 및 입찰서류 관리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개찰 후 결과 등록</a:t>
                      </a: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7516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수주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나라장터의 계약정보를  확인하여 수작업으로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시스템에 입력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RPA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솔루션을 통해서 수주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정보가 자동으로 입력되도록  처리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2) 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자동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입력되는 정보 외에 내부 관리자료 추가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</a:t>
                      </a:r>
                      <a:endParaRPr lang="en-US" altLang="ko-KR" sz="900" b="0" i="0" u="none" strike="noStrike" spc="-150" smtClean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3) </a:t>
                      </a:r>
                      <a:r>
                        <a:rPr lang="ko-KR" altLang="en-US" sz="9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계약 변경 </a:t>
                      </a:r>
                      <a:r>
                        <a:rPr lang="ko-KR" altLang="en-US" sz="900" b="0" i="0" u="none" strike="noStrike" spc="-150" baseline="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관리 및 변경이력 조회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RPA</a:t>
                      </a:r>
                      <a:r>
                        <a:rPr lang="en-US" altLang="ko-KR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 baseline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솔루션으로 조달정보 취득</a:t>
                      </a:r>
                      <a:r>
                        <a:rPr lang="en-US" altLang="ko-KR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62770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34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실행계획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일정계획정보 관리의 필요성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공정명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단위공정율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계획기간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실적기간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특기사항 등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투입계획 정보 관리의 필요성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일정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공정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투입구분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자재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공종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수량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단위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특기사항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  후 실행 계획 정보관리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예산정보 관리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예산과목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예산항목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예산금액 관리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일정계획정보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–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공정명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단위공정율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계획기간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실적기간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특기사항 등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투입계획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일정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공정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투입구분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자재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공종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수량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단위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특기사항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실행예산 편성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일정계획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투입계획 관리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90515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35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사업실적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기록</a:t>
                      </a:r>
                      <a:r>
                        <a:rPr lang="en-US" altLang="ko-KR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집계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실적 집계자동화를 위해  전표내에 부서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</a:p>
                    <a:p>
                      <a:pPr algn="l" fontAlgn="ctr"/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코드를 필수항목으로 관리하고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공통비 및 간접비는 수행사업별로 배부할 수 있는 배부기준항목이 관리되 어야 함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 원가계산을 위한 투입공수 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투입 자재 실적을 집계할 수 있는 기능 구축이 필요함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실적을 집계하기 위하여 전표항목에 사업코드를 필수항목으로 설정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공통비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간접비를  사업별로 배부하기 위한 계정과목별 필수 관리항목 관리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급여를 배부하기 위한 투입공수의 집계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재료비를 배부하기 위한  사업별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투입 자재  등의 실적을 입력하는 기능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4)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배부를 위한 계정별 배부기준 관리  및  배부 기능 구축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5) 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각종  사업실적  현항 조회 기능 구축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전표항목 요건 추가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계정별 필수항목 정의</a:t>
                      </a:r>
                      <a:endParaRPr lang="en-US" altLang="ko-KR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공통비</a:t>
                      </a:r>
                      <a:r>
                        <a:rPr lang="en-US" altLang="ko-KR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간접비의 사업별  배부기준 관리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60714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36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기성청구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예산집행율에 의한 기성고 신청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-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재료비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노무비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경비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집계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기성금액을 산출하기 위한 예실대비표 관리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기성청구서를 작성 하기 위한 직접비 실시간 집계 및 공통비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.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간접비 배부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l" fontAlgn="ctr"/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     (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재료비 집계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노무비 배부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경비 집계 및 배부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예실대비표 관리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 예산 집행실적 실시간 집계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공통비</a:t>
                      </a:r>
                      <a:r>
                        <a:rPr lang="en-US" altLang="ko-KR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간접비 배부 기능 구축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8109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사업실적</a:t>
                      </a:r>
                      <a:endParaRPr lang="en-US" altLang="ko-KR" sz="10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다양한  통계 기능 구축 필요</a:t>
                      </a:r>
                      <a:endParaRPr lang="en-US" altLang="ko-KR" sz="900" b="0" i="0" u="none" strike="noStrike" spc="-150" baseline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사업장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부서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사업부문별</a:t>
                      </a:r>
                      <a:r>
                        <a:rPr lang="en-US" altLang="ko-KR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업실적의 다양한  통계 기능 구축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l"/>
                        <a:tabLst/>
                        <a:defRPr/>
                      </a:pPr>
                      <a:r>
                        <a:rPr lang="ko-KR" altLang="en-US" sz="900" b="1" i="0" u="none" strike="noStrike" spc="-15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통계  및  집계  조회 기능  구축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/>
              <a:t>1.3 </a:t>
            </a:r>
            <a:r>
              <a:rPr lang="ko-KR" altLang="en-US"/>
              <a:t>시스템 업무기능 분석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1.3.3 </a:t>
            </a:r>
            <a:r>
              <a:rPr lang="ko-KR" altLang="en-US" sz="1800"/>
              <a:t>업무별 문제점 분석</a:t>
            </a:r>
            <a:r>
              <a:rPr lang="en-US" altLang="ko-KR" sz="1800" smtClean="0"/>
              <a:t>(6/6</a:t>
            </a:r>
            <a:r>
              <a:rPr lang="en-US" altLang="ko-KR" sz="1800"/>
              <a:t>)</a:t>
            </a:r>
            <a:endParaRPr lang="ko-KR" altLang="en-US" sz="1600" dirty="0"/>
          </a:p>
        </p:txBody>
      </p:sp>
      <p:sp>
        <p:nvSpPr>
          <p:cNvPr id="8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smtClean="0"/>
              <a:t>1.3 </a:t>
            </a:r>
            <a:r>
              <a:rPr lang="ko-KR" altLang="en-US"/>
              <a:t>시스템 업무기능 분석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963105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현행 시스템이 운용</a:t>
            </a:r>
            <a:r>
              <a:rPr lang="en-US" altLang="ko-KR" sz="1600"/>
              <a:t>/</a:t>
            </a:r>
            <a:r>
              <a:rPr lang="ko-KR" altLang="en-US" sz="1600"/>
              <a:t>보관하고 있는 </a:t>
            </a:r>
            <a:r>
              <a:rPr lang="en-US" altLang="ko-KR" sz="1600"/>
              <a:t>DATABASE </a:t>
            </a:r>
            <a:r>
              <a:rPr lang="ko-KR" altLang="en-US" sz="1600"/>
              <a:t>및 </a:t>
            </a:r>
            <a:r>
              <a:rPr lang="en-US" altLang="ko-KR" sz="1600"/>
              <a:t>DATA </a:t>
            </a:r>
            <a:r>
              <a:rPr lang="ko-KR" altLang="en-US" sz="1600"/>
              <a:t>분석을 통해 시스템의 구조 및 </a:t>
            </a:r>
            <a:r>
              <a:rPr lang="en-US" altLang="ko-KR" sz="1600"/>
              <a:t>DATA</a:t>
            </a:r>
            <a:r>
              <a:rPr lang="ko-KR" altLang="en-US" sz="1600"/>
              <a:t> 무결성 지향도</a:t>
            </a:r>
            <a:r>
              <a:rPr lang="en-US" altLang="ko-KR" sz="1600"/>
              <a:t>, </a:t>
            </a:r>
            <a:r>
              <a:rPr lang="ko-KR" altLang="en-US" sz="1600"/>
              <a:t>정형화</a:t>
            </a:r>
            <a:r>
              <a:rPr lang="en-US" altLang="ko-KR" sz="1600"/>
              <a:t>/</a:t>
            </a:r>
            <a:r>
              <a:rPr lang="ko-KR" altLang="en-US" sz="1600"/>
              <a:t>표준화 수준을 식별하고자 함</a:t>
            </a:r>
            <a:r>
              <a:rPr lang="en-US" altLang="ko-KR" sz="1600"/>
              <a:t> </a:t>
            </a:r>
            <a:r>
              <a:rPr lang="ko-KR" altLang="en-US" sz="1600"/>
              <a:t> </a:t>
            </a:r>
            <a:endParaRPr lang="ko-KR" altLang="en-US" sz="1600" dirty="0"/>
          </a:p>
        </p:txBody>
      </p:sp>
      <p:sp>
        <p:nvSpPr>
          <p:cNvPr id="396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/>
              <a:t>1.4 DATABASE/DATA </a:t>
            </a:r>
            <a:r>
              <a:rPr lang="ko-KR" altLang="en-US"/>
              <a:t>분석</a:t>
            </a:r>
            <a:endParaRPr lang="en-US" altLang="ko-KR" dirty="0"/>
          </a:p>
        </p:txBody>
      </p:sp>
      <p:sp>
        <p:nvSpPr>
          <p:cNvPr id="39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 smtClean="0"/>
              <a:t>1.4 </a:t>
            </a:r>
            <a:r>
              <a:rPr lang="en-US" altLang="ko-KR"/>
              <a:t>DATABASE/DATA </a:t>
            </a:r>
            <a:r>
              <a:rPr lang="ko-KR" altLang="en-US"/>
              <a:t>분석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1.4.1 </a:t>
            </a:r>
            <a:r>
              <a:rPr lang="en-US" altLang="ko-KR" sz="1800"/>
              <a:t>DATABASE/DATA </a:t>
            </a:r>
            <a:r>
              <a:rPr lang="ko-KR" altLang="en-US" sz="1800"/>
              <a:t>분석 개요</a:t>
            </a:r>
            <a:endParaRPr lang="ko-KR" altLang="en-US" sz="1800" dirty="0"/>
          </a:p>
        </p:txBody>
      </p:sp>
      <p:sp>
        <p:nvSpPr>
          <p:cNvPr id="142" name="Rectangle 4"/>
          <p:cNvSpPr>
            <a:spLocks noChangeArrowheads="1"/>
          </p:cNvSpPr>
          <p:nvPr/>
        </p:nvSpPr>
        <p:spPr bwMode="auto">
          <a:xfrm>
            <a:off x="344488" y="1814531"/>
            <a:ext cx="9180512" cy="4494789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265113" indent="-265113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  <a:defRPr/>
            </a:pPr>
            <a:endParaRPr lang="ko-KR" altLang="en-US" sz="14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3" name="직사각형 142"/>
          <p:cNvSpPr/>
          <p:nvPr/>
        </p:nvSpPr>
        <p:spPr bwMode="auto">
          <a:xfrm>
            <a:off x="344488" y="1528880"/>
            <a:ext cx="9180512" cy="288000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r>
              <a:rPr lang="en-US" altLang="ko-KR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DATABASE</a:t>
            </a:r>
            <a:r>
              <a:rPr lang="ko-KR" altLang="en-US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 </a:t>
            </a:r>
            <a: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endParaRPr lang="ko-KR" altLang="en-US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0" name="Rectangle 4"/>
          <p:cNvSpPr>
            <a:spLocks noChangeArrowheads="1"/>
          </p:cNvSpPr>
          <p:nvPr/>
        </p:nvSpPr>
        <p:spPr bwMode="auto">
          <a:xfrm>
            <a:off x="560512" y="4797152"/>
            <a:ext cx="3909328" cy="144016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3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100" spc="-30">
                <a:latin typeface="+mn-ea"/>
              </a:rPr>
              <a:t>TABLE </a:t>
            </a:r>
            <a:r>
              <a:rPr lang="ko-KR" altLang="en-US" sz="1100" spc="-30">
                <a:latin typeface="+mn-ea"/>
              </a:rPr>
              <a:t>사용 현황 분석</a:t>
            </a:r>
            <a:r>
              <a:rPr lang="en-US" altLang="ko-KR" sz="1100" spc="-30" dirty="0">
                <a:latin typeface="+mn-ea"/>
              </a:rPr>
              <a:t/>
            </a:r>
            <a:br>
              <a:rPr lang="en-US" altLang="ko-KR" sz="1100" spc="-30" dirty="0">
                <a:latin typeface="+mn-ea"/>
              </a:rPr>
            </a:br>
            <a:r>
              <a:rPr lang="en-US" altLang="ko-KR" sz="1100" spc="-30">
                <a:latin typeface="+mn-ea"/>
              </a:rPr>
              <a:t>- </a:t>
            </a:r>
            <a:r>
              <a:rPr lang="ko-KR" altLang="en-US" sz="1100" spc="-30">
                <a:latin typeface="+mn-ea"/>
              </a:rPr>
              <a:t>테이블 구축 대비 운용</a:t>
            </a:r>
            <a:r>
              <a:rPr lang="en-US" altLang="ko-KR" sz="1100" spc="-30">
                <a:latin typeface="+mn-ea"/>
              </a:rPr>
              <a:t>(</a:t>
            </a:r>
            <a:r>
              <a:rPr lang="ko-KR" altLang="en-US" sz="1100" spc="-30">
                <a:latin typeface="+mn-ea"/>
              </a:rPr>
              <a:t>사용</a:t>
            </a:r>
            <a:r>
              <a:rPr lang="en-US" altLang="ko-KR" sz="1100" spc="-30">
                <a:latin typeface="+mn-ea"/>
              </a:rPr>
              <a:t>)</a:t>
            </a:r>
            <a:r>
              <a:rPr lang="ko-KR" altLang="en-US" sz="1100" spc="-30">
                <a:latin typeface="+mn-ea"/>
              </a:rPr>
              <a:t> 현황 분석</a:t>
            </a:r>
            <a:endParaRPr lang="en-US" altLang="ko-KR" sz="1100" spc="-30" dirty="0">
              <a:latin typeface="+mn-ea"/>
            </a:endParaRPr>
          </a:p>
          <a:p>
            <a:pPr marL="180975" indent="-180975" defTabSz="895350">
              <a:spcBef>
                <a:spcPts val="3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칼럼 사용 현황 </a:t>
            </a:r>
            <a:r>
              <a:rPr lang="ko-KR" altLang="en-US" sz="1100" spc="-30" dirty="0">
                <a:latin typeface="+mn-ea"/>
              </a:rPr>
              <a:t>분석</a:t>
            </a:r>
            <a:r>
              <a:rPr lang="en-US" altLang="ko-KR" sz="1100" spc="-30" dirty="0">
                <a:latin typeface="+mn-ea"/>
              </a:rPr>
              <a:t/>
            </a:r>
            <a:br>
              <a:rPr lang="en-US" altLang="ko-KR" sz="1100" spc="-30" dirty="0">
                <a:latin typeface="+mn-ea"/>
              </a:rPr>
            </a:br>
            <a:r>
              <a:rPr lang="en-US" altLang="ko-KR" sz="1100" spc="-30">
                <a:latin typeface="+mn-ea"/>
              </a:rPr>
              <a:t>- </a:t>
            </a:r>
            <a:r>
              <a:rPr lang="ko-KR" altLang="en-US" sz="1100" spc="-30">
                <a:latin typeface="+mn-ea"/>
              </a:rPr>
              <a:t>개별 칼럼의 </a:t>
            </a:r>
            <a:r>
              <a:rPr lang="en-US" altLang="ko-KR" sz="1100" spc="-30">
                <a:latin typeface="+mn-ea"/>
              </a:rPr>
              <a:t>DATA </a:t>
            </a:r>
            <a:r>
              <a:rPr lang="ko-KR" altLang="en-US" sz="1100" spc="-30">
                <a:latin typeface="+mn-ea"/>
              </a:rPr>
              <a:t>존재여부 </a:t>
            </a:r>
            <a:r>
              <a:rPr lang="ko-KR" altLang="en-US" sz="1100" smtClean="0">
                <a:latin typeface="맑은 고딕" pitchFamily="50" charset="-127"/>
                <a:ea typeface="맑은 고딕" pitchFamily="50" charset="-127"/>
              </a:rPr>
              <a:t>분석</a:t>
            </a:r>
            <a:endParaRPr lang="en-US" altLang="ko-KR" sz="1100" smtClean="0">
              <a:latin typeface="맑은 고딕" pitchFamily="50" charset="-127"/>
              <a:ea typeface="맑은 고딕" pitchFamily="50" charset="-127"/>
            </a:endParaRPr>
          </a:p>
          <a:p>
            <a:pPr marL="180975" indent="-180975" defTabSz="895350">
              <a:spcBef>
                <a:spcPts val="3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100" spc="-30" smtClean="0">
                <a:latin typeface="+mn-ea"/>
              </a:rPr>
              <a:t>DATABASE </a:t>
            </a:r>
            <a:r>
              <a:rPr lang="ko-KR" altLang="en-US" sz="1100" spc="-30" smtClean="0">
                <a:latin typeface="+mn-ea"/>
              </a:rPr>
              <a:t>기능 활용도</a:t>
            </a:r>
            <a:endParaRPr lang="en-US" altLang="ko-KR" sz="1100" spc="-30" smtClean="0">
              <a:latin typeface="+mn-ea"/>
            </a:endParaRPr>
          </a:p>
          <a:p>
            <a:pPr defTabSz="895350">
              <a:spcBef>
                <a:spcPts val="300"/>
              </a:spcBef>
              <a:buClr>
                <a:schemeClr val="accent5"/>
              </a:buClr>
              <a:buSzPct val="90000"/>
            </a:pPr>
            <a:r>
              <a:rPr lang="en-US" altLang="ko-KR" sz="1100" spc="-30">
                <a:latin typeface="+mn-ea"/>
                <a:ea typeface="맑은 고딕" pitchFamily="50" charset="-127"/>
              </a:rPr>
              <a:t> </a:t>
            </a:r>
            <a:r>
              <a:rPr lang="en-US" altLang="ko-KR" sz="1100" spc="-30" smtClean="0">
                <a:latin typeface="+mn-ea"/>
                <a:ea typeface="맑은 고딕" pitchFamily="50" charset="-127"/>
              </a:rPr>
              <a:t>   - DATABASE</a:t>
            </a:r>
            <a:r>
              <a:rPr lang="ko-KR" altLang="en-US" sz="1100" spc="-30" smtClean="0">
                <a:latin typeface="+mn-ea"/>
                <a:ea typeface="맑은 고딕" pitchFamily="50" charset="-127"/>
              </a:rPr>
              <a:t>에서 제공하는 정합성을 위한 기능 활용 미비</a:t>
            </a:r>
            <a:endParaRPr lang="en-US" altLang="ko-KR" sz="1100" spc="-30" smtClean="0">
              <a:latin typeface="+mn-ea"/>
              <a:ea typeface="맑은 고딕" pitchFamily="50" charset="-127"/>
            </a:endParaRPr>
          </a:p>
          <a:p>
            <a:pPr defTabSz="895350">
              <a:spcBef>
                <a:spcPts val="300"/>
              </a:spcBef>
              <a:buClr>
                <a:schemeClr val="accent5"/>
              </a:buClr>
              <a:buSzPct val="90000"/>
            </a:pPr>
            <a:r>
              <a:rPr lang="en-US" altLang="ko-KR" sz="1100" spc="-30">
                <a:latin typeface="+mn-ea"/>
                <a:ea typeface="맑은 고딕" pitchFamily="50" charset="-127"/>
              </a:rPr>
              <a:t> </a:t>
            </a:r>
            <a:r>
              <a:rPr lang="en-US" altLang="ko-KR" sz="1100" spc="-30" smtClean="0">
                <a:latin typeface="+mn-ea"/>
                <a:ea typeface="맑은 고딕" pitchFamily="50" charset="-127"/>
              </a:rPr>
              <a:t>     (TRIGGER, PROCEDURE, PACKAGE </a:t>
            </a:r>
            <a:r>
              <a:rPr lang="ko-KR" altLang="en-US" sz="1100" spc="-30" smtClean="0">
                <a:latin typeface="+mn-ea"/>
                <a:ea typeface="맑은 고딕" pitchFamily="50" charset="-127"/>
              </a:rPr>
              <a:t>등</a:t>
            </a:r>
            <a:r>
              <a:rPr lang="en-US" altLang="ko-KR" sz="1100" spc="-30" smtClean="0">
                <a:latin typeface="+mn-ea"/>
                <a:ea typeface="맑은 고딕" pitchFamily="50" charset="-127"/>
              </a:rPr>
              <a:t>)</a:t>
            </a:r>
          </a:p>
        </p:txBody>
      </p:sp>
      <p:sp>
        <p:nvSpPr>
          <p:cNvPr id="151" name="직사각형 150"/>
          <p:cNvSpPr/>
          <p:nvPr/>
        </p:nvSpPr>
        <p:spPr>
          <a:xfrm>
            <a:off x="560512" y="4437112"/>
            <a:ext cx="3907296" cy="352578"/>
          </a:xfrm>
          <a:prstGeom prst="rect">
            <a:avLst/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DATABASE</a:t>
            </a: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 현황</a:t>
            </a:r>
            <a:r>
              <a:rPr lang="en-US" altLang="ko-KR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 </a:t>
            </a:r>
            <a:endParaRPr lang="ko-KR" altLang="en-US" sz="14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5" name="Rectangle 4"/>
          <p:cNvSpPr>
            <a:spLocks noChangeArrowheads="1"/>
          </p:cNvSpPr>
          <p:nvPr/>
        </p:nvSpPr>
        <p:spPr bwMode="auto">
          <a:xfrm>
            <a:off x="560512" y="2348880"/>
            <a:ext cx="3909328" cy="78437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100" spc="-30">
                <a:latin typeface="+mn-ea"/>
              </a:rPr>
              <a:t>Nameing Rule </a:t>
            </a:r>
            <a:r>
              <a:rPr lang="ko-KR" altLang="en-US" sz="1100" spc="-30">
                <a:latin typeface="+mn-ea"/>
              </a:rPr>
              <a:t>준수 여부</a:t>
            </a:r>
            <a:endParaRPr lang="en-US" altLang="ko-KR" sz="1100" spc="-30">
              <a:latin typeface="+mn-ea"/>
            </a:endParaRPr>
          </a:p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종속성</a:t>
            </a:r>
            <a:r>
              <a:rPr lang="en-US" altLang="ko-KR" sz="1100" spc="-30">
                <a:latin typeface="+mn-ea"/>
              </a:rPr>
              <a:t>, </a:t>
            </a:r>
            <a:r>
              <a:rPr lang="ko-KR" altLang="en-US" sz="1100" spc="-30">
                <a:latin typeface="+mn-ea"/>
              </a:rPr>
              <a:t>중복성</a:t>
            </a:r>
            <a:r>
              <a:rPr lang="en-US" altLang="ko-KR" sz="1100" spc="-30">
                <a:latin typeface="+mn-ea"/>
              </a:rPr>
              <a:t>, </a:t>
            </a:r>
            <a:r>
              <a:rPr lang="ko-KR" altLang="en-US" sz="1100" spc="-30">
                <a:latin typeface="+mn-ea"/>
              </a:rPr>
              <a:t>무결성</a:t>
            </a:r>
            <a:r>
              <a:rPr lang="en-US" altLang="ko-KR" sz="1100" spc="-30">
                <a:latin typeface="+mn-ea"/>
              </a:rPr>
              <a:t>, </a:t>
            </a:r>
            <a:r>
              <a:rPr lang="ko-KR" altLang="en-US" sz="1100" spc="-30">
                <a:latin typeface="+mn-ea"/>
              </a:rPr>
              <a:t>일관성</a:t>
            </a:r>
            <a:r>
              <a:rPr lang="en-US" altLang="ko-KR" sz="1100" spc="-30">
                <a:latin typeface="+mn-ea"/>
              </a:rPr>
              <a:t>, </a:t>
            </a:r>
            <a:r>
              <a:rPr lang="ko-KR" altLang="en-US" sz="1100" spc="-30">
                <a:latin typeface="+mn-ea"/>
              </a:rPr>
              <a:t>효율성</a:t>
            </a:r>
            <a:endParaRPr lang="ko-KR" altLang="en-US" sz="1100" spc="-30" dirty="0">
              <a:latin typeface="+mn-ea"/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560512" y="2001540"/>
            <a:ext cx="3907298" cy="353282"/>
          </a:xfrm>
          <a:prstGeom prst="rect">
            <a:avLst/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DATABASE </a:t>
            </a: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필수 요건</a:t>
            </a:r>
            <a:endParaRPr lang="ko-KR" altLang="en-US" sz="14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7" name="Rectangle 4"/>
          <p:cNvSpPr>
            <a:spLocks noChangeArrowheads="1"/>
          </p:cNvSpPr>
          <p:nvPr/>
        </p:nvSpPr>
        <p:spPr bwMode="auto">
          <a:xfrm>
            <a:off x="560512" y="3494250"/>
            <a:ext cx="3909328" cy="94281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100" spc="-30">
                <a:latin typeface="+mn-ea"/>
              </a:rPr>
              <a:t>DATABASE </a:t>
            </a:r>
            <a:r>
              <a:rPr lang="ko-KR" altLang="en-US" sz="1100" spc="-30">
                <a:latin typeface="+mn-ea"/>
              </a:rPr>
              <a:t>분석</a:t>
            </a:r>
            <a:r>
              <a:rPr lang="en-US" altLang="ko-KR" sz="1100" spc="-30">
                <a:latin typeface="+mn-ea"/>
              </a:rPr>
              <a:t/>
            </a:r>
            <a:br>
              <a:rPr lang="en-US" altLang="ko-KR" sz="1100" spc="-30">
                <a:latin typeface="+mn-ea"/>
              </a:rPr>
            </a:br>
            <a:r>
              <a:rPr lang="en-US" altLang="ko-KR" sz="1100" spc="-30">
                <a:latin typeface="+mn-ea"/>
              </a:rPr>
              <a:t>- DATABASE </a:t>
            </a:r>
            <a:r>
              <a:rPr lang="ko-KR" altLang="en-US" sz="1100" spc="-30">
                <a:latin typeface="+mn-ea"/>
              </a:rPr>
              <a:t>구성 및 표준화 분석</a:t>
            </a:r>
            <a:endParaRPr lang="en-US" altLang="ko-KR" sz="1100" spc="-30" dirty="0">
              <a:latin typeface="+mn-ea"/>
            </a:endParaRPr>
          </a:p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100" spc="-30">
                <a:latin typeface="+mn-ea"/>
              </a:rPr>
              <a:t>DATA </a:t>
            </a:r>
            <a:r>
              <a:rPr lang="ko-KR" altLang="en-US" sz="1100" spc="-30">
                <a:latin typeface="+mn-ea"/>
              </a:rPr>
              <a:t>분석</a:t>
            </a:r>
            <a:r>
              <a:rPr lang="en-US" altLang="ko-KR" sz="1100" spc="-30" dirty="0">
                <a:latin typeface="+mn-ea"/>
              </a:rPr>
              <a:t/>
            </a:r>
            <a:br>
              <a:rPr lang="en-US" altLang="ko-KR" sz="1100" spc="-30" dirty="0">
                <a:latin typeface="+mn-ea"/>
              </a:rPr>
            </a:br>
            <a:r>
              <a:rPr lang="en-US" altLang="ko-KR" sz="1100" spc="-30">
                <a:latin typeface="+mn-ea"/>
              </a:rPr>
              <a:t>- DATA</a:t>
            </a:r>
            <a:r>
              <a:rPr lang="ko-KR" altLang="en-US" sz="1100" spc="-30">
                <a:latin typeface="+mn-ea"/>
              </a:rPr>
              <a:t>의 체계</a:t>
            </a:r>
            <a:r>
              <a:rPr lang="en-US" altLang="ko-KR" sz="1100" spc="-30">
                <a:latin typeface="+mn-ea"/>
              </a:rPr>
              <a:t>, </a:t>
            </a:r>
            <a:r>
              <a:rPr lang="ko-KR" altLang="en-US" sz="1100" spc="-30">
                <a:latin typeface="+mn-ea"/>
              </a:rPr>
              <a:t>표준화</a:t>
            </a:r>
            <a:r>
              <a:rPr lang="en-US" altLang="ko-KR" sz="1100" spc="-30">
                <a:latin typeface="+mn-ea"/>
              </a:rPr>
              <a:t>, </a:t>
            </a:r>
            <a:r>
              <a:rPr lang="ko-KR" altLang="en-US" sz="1100" spc="-30">
                <a:latin typeface="+mn-ea"/>
              </a:rPr>
              <a:t>정형화 분석  </a:t>
            </a:r>
            <a:endParaRPr lang="en-US" altLang="ko-KR" sz="1100" spc="-30" dirty="0">
              <a:latin typeface="+mn-ea"/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560512" y="3140968"/>
            <a:ext cx="3907298" cy="353282"/>
          </a:xfrm>
          <a:prstGeom prst="rect">
            <a:avLst/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DATABASE </a:t>
            </a: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및 </a:t>
            </a:r>
            <a:r>
              <a:rPr lang="en-US" altLang="ko-KR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DATA </a:t>
            </a: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분석</a:t>
            </a:r>
            <a:endParaRPr lang="ko-KR" altLang="en-US" sz="14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5043704" y="4293096"/>
            <a:ext cx="3909328" cy="100756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3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테이블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1,209</a:t>
            </a:r>
            <a:r>
              <a:rPr lang="ko-KR" altLang="en-US" sz="1100" spc="-30">
                <a:latin typeface="+mn-ea"/>
              </a:rPr>
              <a:t>개 중에서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831</a:t>
            </a:r>
            <a:r>
              <a:rPr lang="ko-KR" altLang="en-US" sz="1100" spc="-30">
                <a:latin typeface="+mn-ea"/>
              </a:rPr>
              <a:t>개 테이블 </a:t>
            </a:r>
            <a:r>
              <a:rPr lang="en-US" altLang="ko-KR" sz="1100" spc="-30">
                <a:latin typeface="+mn-ea"/>
              </a:rPr>
              <a:t>DATA 100</a:t>
            </a:r>
            <a:r>
              <a:rPr lang="ko-KR" altLang="en-US" sz="1100" spc="-30">
                <a:latin typeface="+mn-ea"/>
              </a:rPr>
              <a:t>건미만</a:t>
            </a:r>
            <a:endParaRPr lang="en-US" altLang="ko-KR" sz="1100" spc="-30">
              <a:latin typeface="+mn-ea"/>
            </a:endParaRPr>
          </a:p>
          <a:p>
            <a:pPr defTabSz="895350">
              <a:spcBef>
                <a:spcPts val="300"/>
              </a:spcBef>
              <a:buClr>
                <a:schemeClr val="accent5"/>
              </a:buClr>
              <a:buSzPct val="90000"/>
            </a:pPr>
            <a:r>
              <a:rPr lang="en-US" altLang="ko-KR" sz="1100" spc="-30">
                <a:latin typeface="+mn-ea"/>
              </a:rPr>
              <a:t>                                  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701</a:t>
            </a:r>
            <a:r>
              <a:rPr lang="ko-KR" altLang="en-US" sz="1100" spc="-30">
                <a:latin typeface="+mn-ea"/>
              </a:rPr>
              <a:t>개 테이블 </a:t>
            </a:r>
            <a:r>
              <a:rPr lang="en-US" altLang="ko-KR" sz="1100" spc="-30">
                <a:latin typeface="+mn-ea"/>
              </a:rPr>
              <a:t>DATA </a:t>
            </a:r>
            <a:r>
              <a:rPr lang="ko-KR" altLang="en-US" sz="1100" spc="-30">
                <a:latin typeface="+mn-ea"/>
              </a:rPr>
              <a:t>없음</a:t>
            </a:r>
            <a:r>
              <a:rPr lang="en-US" altLang="ko-KR" sz="1100" spc="-30">
                <a:latin typeface="+mn-ea"/>
              </a:rPr>
              <a:t> </a:t>
            </a:r>
          </a:p>
          <a:p>
            <a:pPr marL="180975" indent="-180975" defTabSz="895350">
              <a:spcBef>
                <a:spcPts val="3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endParaRPr lang="en-US" altLang="ko-KR" sz="1100" spc="-30" dirty="0">
              <a:latin typeface="+mn-ea"/>
            </a:endParaRPr>
          </a:p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31,200 </a:t>
            </a:r>
            <a:r>
              <a:rPr lang="ko-KR" altLang="en-US" sz="1100" spc="-30">
                <a:latin typeface="+mn-ea"/>
              </a:rPr>
              <a:t>개의</a:t>
            </a:r>
            <a:r>
              <a:rPr lang="en-US" altLang="ko-KR" sz="1100" spc="-30">
                <a:latin typeface="+mn-ea"/>
              </a:rPr>
              <a:t> </a:t>
            </a:r>
            <a:r>
              <a:rPr lang="ko-KR" altLang="en-US" sz="1100" spc="-30">
                <a:latin typeface="+mn-ea"/>
              </a:rPr>
              <a:t>칼럼 중에서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15,200</a:t>
            </a:r>
            <a:r>
              <a:rPr lang="en-US" altLang="ko-KR" sz="1100" spc="-30">
                <a:latin typeface="+mn-ea"/>
              </a:rPr>
              <a:t> </a:t>
            </a:r>
            <a:r>
              <a:rPr lang="ko-KR" altLang="en-US" sz="1100" spc="-30">
                <a:latin typeface="+mn-ea"/>
              </a:rPr>
              <a:t>개에 </a:t>
            </a:r>
            <a:r>
              <a:rPr lang="en-US" altLang="ko-KR" sz="1100" spc="-30">
                <a:latin typeface="+mn-ea"/>
              </a:rPr>
              <a:t>DATA</a:t>
            </a:r>
            <a:r>
              <a:rPr lang="ko-KR" altLang="en-US" sz="1100" spc="-30">
                <a:latin typeface="+mn-ea"/>
              </a:rPr>
              <a:t> 없음</a:t>
            </a:r>
            <a:endParaRPr lang="en-US" altLang="ko-KR" sz="1100" spc="-30">
              <a:latin typeface="+mn-ea"/>
            </a:endParaRPr>
          </a:p>
        </p:txBody>
      </p:sp>
      <p:sp>
        <p:nvSpPr>
          <p:cNvPr id="24" name="Rectangle 4"/>
          <p:cNvSpPr>
            <a:spLocks noChangeArrowheads="1"/>
          </p:cNvSpPr>
          <p:nvPr/>
        </p:nvSpPr>
        <p:spPr bwMode="auto">
          <a:xfrm>
            <a:off x="5043704" y="2006092"/>
            <a:ext cx="3909328" cy="891366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테이블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1,209</a:t>
            </a:r>
            <a:r>
              <a:rPr lang="ko-KR" altLang="en-US" sz="1100" spc="-30">
                <a:latin typeface="+mn-ea"/>
              </a:rPr>
              <a:t>개 중에서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292</a:t>
            </a:r>
            <a:r>
              <a:rPr lang="ko-KR" altLang="en-US" sz="1100" spc="-30">
                <a:latin typeface="+mn-ea"/>
              </a:rPr>
              <a:t>개 테이블 </a:t>
            </a:r>
            <a:r>
              <a:rPr lang="en-US" altLang="ko-KR" sz="1100" spc="-30">
                <a:latin typeface="+mn-ea"/>
              </a:rPr>
              <a:t>Name</a:t>
            </a:r>
            <a:r>
              <a:rPr lang="ko-KR" altLang="en-US" sz="1100" spc="-30">
                <a:latin typeface="+mn-ea"/>
              </a:rPr>
              <a:t> 없음</a:t>
            </a:r>
            <a:endParaRPr lang="en-US" altLang="ko-KR" sz="1100" spc="-30">
              <a:latin typeface="+mn-ea"/>
            </a:endParaRPr>
          </a:p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38,825 </a:t>
            </a:r>
            <a:r>
              <a:rPr lang="ko-KR" altLang="en-US" sz="1100" spc="-30">
                <a:latin typeface="+mn-ea"/>
              </a:rPr>
              <a:t>개의</a:t>
            </a:r>
            <a:r>
              <a:rPr lang="en-US" altLang="ko-KR" sz="1100" spc="-30">
                <a:latin typeface="+mn-ea"/>
              </a:rPr>
              <a:t> </a:t>
            </a:r>
            <a:r>
              <a:rPr lang="ko-KR" altLang="en-US" sz="1100" spc="-30">
                <a:latin typeface="+mn-ea"/>
              </a:rPr>
              <a:t>칼럼 중에서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10,515</a:t>
            </a:r>
            <a:r>
              <a:rPr lang="en-US" altLang="ko-KR" sz="1100" spc="-30">
                <a:latin typeface="+mn-ea"/>
              </a:rPr>
              <a:t> </a:t>
            </a:r>
            <a:r>
              <a:rPr lang="ko-KR" altLang="en-US" sz="1100" spc="-30">
                <a:latin typeface="+mn-ea"/>
              </a:rPr>
              <a:t>개의 칼럼명 없음</a:t>
            </a:r>
            <a:endParaRPr lang="en-US" altLang="ko-KR" sz="1100" spc="-30">
              <a:latin typeface="+mn-ea"/>
            </a:endParaRPr>
          </a:p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b="1" spc="-30">
                <a:solidFill>
                  <a:srgbClr val="0000FF"/>
                </a:solidFill>
                <a:latin typeface="+mn-ea"/>
              </a:rPr>
              <a:t>종속성</a:t>
            </a:r>
            <a:r>
              <a:rPr lang="en-US" altLang="ko-KR" sz="1100" b="1" spc="-3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100" b="1" spc="-30">
                <a:solidFill>
                  <a:srgbClr val="0000FF"/>
                </a:solidFill>
                <a:latin typeface="+mn-ea"/>
              </a:rPr>
              <a:t>중복성</a:t>
            </a:r>
            <a:r>
              <a:rPr lang="en-US" altLang="ko-KR" sz="1100" b="1" spc="-3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100" b="1" spc="-30">
                <a:solidFill>
                  <a:srgbClr val="0000FF"/>
                </a:solidFill>
                <a:latin typeface="+mn-ea"/>
              </a:rPr>
              <a:t>무결성</a:t>
            </a:r>
            <a:r>
              <a:rPr lang="en-US" altLang="ko-KR" sz="1100" b="1" spc="-3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100" b="1" spc="-30">
                <a:solidFill>
                  <a:srgbClr val="0000FF"/>
                </a:solidFill>
                <a:latin typeface="+mn-ea"/>
              </a:rPr>
              <a:t>일관성</a:t>
            </a:r>
            <a:r>
              <a:rPr lang="en-US" altLang="ko-KR" sz="1100" b="1" spc="-30">
                <a:solidFill>
                  <a:srgbClr val="0000FF"/>
                </a:solidFill>
                <a:latin typeface="+mn-ea"/>
              </a:rPr>
              <a:t>, </a:t>
            </a:r>
            <a:r>
              <a:rPr lang="ko-KR" altLang="en-US" sz="1100" b="1" spc="-30">
                <a:solidFill>
                  <a:srgbClr val="0000FF"/>
                </a:solidFill>
                <a:latin typeface="+mn-ea"/>
              </a:rPr>
              <a:t>효율성이 심각하게 결여됨</a:t>
            </a:r>
            <a:endParaRPr lang="ko-KR" altLang="en-US" sz="1100" b="1" spc="-3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6" name="Rectangle 4"/>
          <p:cNvSpPr>
            <a:spLocks noChangeArrowheads="1"/>
          </p:cNvSpPr>
          <p:nvPr/>
        </p:nvSpPr>
        <p:spPr bwMode="auto">
          <a:xfrm>
            <a:off x="5043704" y="2968411"/>
            <a:ext cx="3909328" cy="1252677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테이블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1,209</a:t>
            </a:r>
            <a:r>
              <a:rPr lang="ko-KR" altLang="en-US" sz="1100" spc="-30">
                <a:latin typeface="+mn-ea"/>
              </a:rPr>
              <a:t>개 중에서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97</a:t>
            </a:r>
            <a:r>
              <a:rPr lang="ko-KR" altLang="en-US" sz="1100" spc="-30">
                <a:latin typeface="+mn-ea"/>
              </a:rPr>
              <a:t>개 테이블 </a:t>
            </a:r>
            <a:r>
              <a:rPr lang="en-US" altLang="ko-KR" sz="1100" spc="-30">
                <a:latin typeface="+mn-ea"/>
              </a:rPr>
              <a:t>PK</a:t>
            </a:r>
            <a:r>
              <a:rPr lang="ko-KR" altLang="en-US" sz="1100" spc="-30">
                <a:latin typeface="+mn-ea"/>
              </a:rPr>
              <a:t> 없음</a:t>
            </a:r>
            <a:endParaRPr lang="en-US" altLang="ko-KR" sz="1100" spc="-30">
              <a:latin typeface="+mn-ea"/>
            </a:endParaRPr>
          </a:p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테이블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1,209</a:t>
            </a:r>
            <a:r>
              <a:rPr lang="ko-KR" altLang="en-US" sz="1100" spc="-30">
                <a:latin typeface="+mn-ea"/>
              </a:rPr>
              <a:t>개 중에서 </a:t>
            </a:r>
            <a:r>
              <a:rPr lang="en-US" altLang="ko-KR" sz="1100" b="1" spc="-30" smtClean="0">
                <a:solidFill>
                  <a:srgbClr val="0000FF"/>
                </a:solidFill>
                <a:latin typeface="+mn-ea"/>
              </a:rPr>
              <a:t>329</a:t>
            </a:r>
            <a:r>
              <a:rPr lang="ko-KR" altLang="en-US" sz="1100" spc="-30" smtClean="0">
                <a:latin typeface="+mn-ea"/>
              </a:rPr>
              <a:t>개 테이블만 사용중으로 인식됨 </a:t>
            </a:r>
            <a:endParaRPr lang="en-US" altLang="ko-KR" sz="1100" spc="-30">
              <a:latin typeface="+mn-ea"/>
            </a:endParaRPr>
          </a:p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100" spc="-30">
                <a:latin typeface="+mn-ea"/>
              </a:rPr>
              <a:t>TBALE </a:t>
            </a:r>
            <a:r>
              <a:rPr lang="ko-KR" altLang="en-US" sz="1100" spc="-30">
                <a:latin typeface="+mn-ea"/>
              </a:rPr>
              <a:t>칼럼 분석 </a:t>
            </a:r>
            <a:r>
              <a:rPr lang="en-US" altLang="ko-KR" sz="1100" spc="-30">
                <a:latin typeface="+mn-ea"/>
              </a:rPr>
              <a:t>(9,913 </a:t>
            </a:r>
            <a:r>
              <a:rPr lang="ko-KR" altLang="en-US" sz="1100" spc="-30">
                <a:latin typeface="+mn-ea"/>
              </a:rPr>
              <a:t>칼럼</a:t>
            </a:r>
            <a:r>
              <a:rPr lang="en-US" altLang="ko-KR" sz="1100" spc="-30">
                <a:latin typeface="+mn-ea"/>
              </a:rPr>
              <a:t>ID)</a:t>
            </a:r>
            <a:br>
              <a:rPr lang="en-US" altLang="ko-KR" sz="1100" spc="-30">
                <a:latin typeface="+mn-ea"/>
              </a:rPr>
            </a:br>
            <a:r>
              <a:rPr lang="en-US" altLang="ko-KR" sz="1100" spc="-30">
                <a:latin typeface="+mn-ea"/>
              </a:rPr>
              <a:t> -  </a:t>
            </a:r>
            <a:r>
              <a:rPr lang="ko-KR" altLang="en-US" sz="1100" spc="-30">
                <a:latin typeface="+mn-ea"/>
              </a:rPr>
              <a:t>동일 칼럼으로 규격을 다르게 사용하는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1,660</a:t>
            </a:r>
            <a:r>
              <a:rPr lang="ko-KR" altLang="en-US" sz="1100" spc="-30">
                <a:latin typeface="+mn-ea"/>
              </a:rPr>
              <a:t>건</a:t>
            </a:r>
            <a:r>
              <a:rPr lang="en-US" altLang="ko-KR" sz="1100" spc="-30">
                <a:latin typeface="+mn-ea"/>
              </a:rPr>
              <a:t>(</a:t>
            </a:r>
            <a:r>
              <a:rPr lang="en-US" altLang="ko-KR" sz="1100" b="1" spc="-30">
                <a:solidFill>
                  <a:srgbClr val="FF0000"/>
                </a:solidFill>
                <a:latin typeface="+mn-ea"/>
              </a:rPr>
              <a:t>16.7%</a:t>
            </a:r>
            <a:r>
              <a:rPr lang="en-US" altLang="ko-KR" sz="1100" spc="-30">
                <a:latin typeface="+mn-ea"/>
              </a:rPr>
              <a:t>)</a:t>
            </a:r>
          </a:p>
          <a:p>
            <a:pPr defTabSz="895350">
              <a:spcBef>
                <a:spcPts val="600"/>
              </a:spcBef>
              <a:buClr>
                <a:schemeClr val="accent5"/>
              </a:buClr>
              <a:buSzPct val="90000"/>
            </a:pPr>
            <a:r>
              <a:rPr lang="en-US" altLang="ko-KR" sz="1100" spc="-30">
                <a:latin typeface="+mn-ea"/>
              </a:rPr>
              <a:t>     -  </a:t>
            </a:r>
            <a:r>
              <a:rPr lang="ko-KR" altLang="en-US" sz="1100" spc="-30">
                <a:latin typeface="+mn-ea"/>
              </a:rPr>
              <a:t>동일 칼럼</a:t>
            </a:r>
            <a:r>
              <a:rPr lang="en-US" altLang="ko-KR" sz="1100" spc="-30">
                <a:latin typeface="+mn-ea"/>
              </a:rPr>
              <a:t>ID</a:t>
            </a:r>
            <a:r>
              <a:rPr lang="ko-KR" altLang="en-US" sz="1100" spc="-30">
                <a:latin typeface="+mn-ea"/>
              </a:rPr>
              <a:t>로 명칭을 다르게 사용하는 </a:t>
            </a:r>
            <a:r>
              <a:rPr lang="en-US" altLang="ko-KR" sz="1100" spc="-30">
                <a:solidFill>
                  <a:srgbClr val="FF0000"/>
                </a:solidFill>
                <a:latin typeface="+mn-ea"/>
              </a:rPr>
              <a:t>9,278</a:t>
            </a:r>
            <a:r>
              <a:rPr lang="ko-KR" altLang="en-US" sz="1100" spc="-30">
                <a:latin typeface="+mn-ea"/>
              </a:rPr>
              <a:t>건</a:t>
            </a:r>
            <a:r>
              <a:rPr lang="en-US" altLang="ko-KR" sz="1100" spc="-30">
                <a:latin typeface="+mn-ea"/>
              </a:rPr>
              <a:t>(</a:t>
            </a:r>
            <a:r>
              <a:rPr lang="en-US" altLang="ko-KR" sz="1100" b="1" spc="-30">
                <a:solidFill>
                  <a:srgbClr val="FF0000"/>
                </a:solidFill>
                <a:latin typeface="+mn-ea"/>
              </a:rPr>
              <a:t>93.6%</a:t>
            </a:r>
            <a:r>
              <a:rPr lang="en-US" altLang="ko-KR" sz="1100" spc="-30">
                <a:latin typeface="+mn-ea"/>
              </a:rPr>
              <a:t>)</a:t>
            </a:r>
            <a:endParaRPr lang="en-US" altLang="ko-KR" sz="1100" spc="-30" dirty="0">
              <a:latin typeface="+mn-ea"/>
            </a:endParaRPr>
          </a:p>
        </p:txBody>
      </p:sp>
      <p:sp>
        <p:nvSpPr>
          <p:cNvPr id="28" name="이등변 삼각형 27"/>
          <p:cNvSpPr/>
          <p:nvPr/>
        </p:nvSpPr>
        <p:spPr>
          <a:xfrm rot="5400000">
            <a:off x="2886729" y="4043421"/>
            <a:ext cx="3817936" cy="358860"/>
          </a:xfrm>
          <a:prstGeom prst="triangle">
            <a:avLst/>
          </a:prstGeom>
          <a:gradFill>
            <a:gsLst>
              <a:gs pos="55000">
                <a:schemeClr val="bg1">
                  <a:lumMod val="75000"/>
                </a:schemeClr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Rectangle 4"/>
          <p:cNvSpPr>
            <a:spLocks noChangeArrowheads="1"/>
          </p:cNvSpPr>
          <p:nvPr/>
        </p:nvSpPr>
        <p:spPr bwMode="auto">
          <a:xfrm>
            <a:off x="5054187" y="5372671"/>
            <a:ext cx="3909328" cy="86464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3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 smtClean="0">
                <a:latin typeface="+mn-ea"/>
              </a:rPr>
              <a:t>업무 흐름의 신속성 및 정합성을 위해 후속 업무에 </a:t>
            </a:r>
            <a:r>
              <a:rPr lang="en-US" altLang="ko-KR" sz="1100" spc="-30" smtClean="0">
                <a:latin typeface="+mn-ea"/>
              </a:rPr>
              <a:t>PUSH</a:t>
            </a:r>
            <a:r>
              <a:rPr lang="ko-KR" altLang="en-US" sz="1100" spc="-30" smtClean="0">
                <a:latin typeface="+mn-ea"/>
              </a:rPr>
              <a:t>하거나</a:t>
            </a:r>
            <a:r>
              <a:rPr lang="en-US" altLang="ko-KR" sz="1100" spc="-30" smtClean="0">
                <a:latin typeface="+mn-ea"/>
              </a:rPr>
              <a:t>, DATA </a:t>
            </a:r>
            <a:r>
              <a:rPr lang="ko-KR" altLang="en-US" sz="1100" spc="-30" smtClean="0">
                <a:latin typeface="+mn-ea"/>
              </a:rPr>
              <a:t>진행상태에 따라 자동으로 처리하는 표준화된 기능을 구축하여</a:t>
            </a:r>
            <a:r>
              <a:rPr lang="en-US" altLang="ko-KR" sz="1100" spc="-30" smtClean="0">
                <a:latin typeface="+mn-ea"/>
              </a:rPr>
              <a:t>, </a:t>
            </a:r>
            <a:r>
              <a:rPr lang="ko-KR" altLang="en-US" sz="1100" spc="-30" smtClean="0">
                <a:latin typeface="+mn-ea"/>
              </a:rPr>
              <a:t>업무와 데이터의 흐름이 일관성있고 정합성을 유지할 수 있도록 하는 기능 사용이 부족함 </a:t>
            </a:r>
            <a:endParaRPr lang="en-US" altLang="ko-KR" sz="1100" spc="-3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848528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smtClean="0"/>
              <a:t>1,4 </a:t>
            </a:r>
            <a:r>
              <a:rPr lang="en-US" altLang="ko-KR"/>
              <a:t>DATABASE/DATA </a:t>
            </a:r>
            <a:r>
              <a:rPr lang="ko-KR" altLang="en-US"/>
              <a:t>분석</a:t>
            </a:r>
            <a:endParaRPr lang="en-US" altLang="ko-KR" dirty="0"/>
          </a:p>
        </p:txBody>
      </p:sp>
      <p:sp>
        <p:nvSpPr>
          <p:cNvPr id="39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 smtClean="0"/>
              <a:t>1.4 </a:t>
            </a:r>
            <a:r>
              <a:rPr lang="en-US" altLang="ko-KR"/>
              <a:t>DATABASE/DATA </a:t>
            </a:r>
            <a:r>
              <a:rPr lang="ko-KR" altLang="en-US"/>
              <a:t>분석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1.4.2 </a:t>
            </a:r>
            <a:r>
              <a:rPr lang="en-US" altLang="ko-KR" sz="1800"/>
              <a:t>DATABASE/DATA </a:t>
            </a:r>
            <a:r>
              <a:rPr lang="ko-KR" altLang="en-US" sz="1800"/>
              <a:t>분석 내역</a:t>
            </a:r>
            <a:endParaRPr lang="ko-KR" altLang="en-US" sz="1800" dirty="0"/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/>
          </p:nvPr>
        </p:nvGraphicFramePr>
        <p:xfrm>
          <a:off x="345000" y="1196752"/>
          <a:ext cx="9180000" cy="2554953"/>
        </p:xfrm>
        <a:graphic>
          <a:graphicData uri="http://schemas.openxmlformats.org/drawingml/2006/table">
            <a:tbl>
              <a:tblPr/>
              <a:tblGrid>
                <a:gridCol w="50675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22903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7606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7606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168352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212372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9447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수량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비율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TABLE </a:t>
                      </a:r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현황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검토 의견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14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TABLE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보유 건수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1,209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시스템에서 사용하는 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TABLE</a:t>
                      </a: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은 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TABLE</a:t>
                      </a: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명과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칼럼명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칼럼별 용어표준화 및 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 </a:t>
                      </a:r>
                      <a:r>
                        <a:rPr lang="ko-KR" altLang="en-US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정형화가 요구되며</a:t>
                      </a:r>
                      <a:r>
                        <a:rPr lang="en-US" altLang="ko-KR" sz="900" b="1" i="0" u="none" strike="noStrike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TABLE</a:t>
                      </a:r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정리 작업에 많은 인력이 소요될 것으로 예상됨</a:t>
                      </a:r>
                      <a:endParaRPr lang="en-US" altLang="ko-KR" sz="900" b="1" i="0" u="none" strike="noStrike" baseline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ISP</a:t>
                      </a:r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에서 조사한 결과를 반영하여 </a:t>
                      </a:r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DATABASE</a:t>
                      </a:r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정리 작업실시 여부도 </a:t>
                      </a:r>
                      <a:r>
                        <a:rPr lang="ko-KR" altLang="en-US" sz="9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자체적인 </a:t>
                      </a:r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의사결정이 필요함</a:t>
                      </a:r>
                      <a:endParaRPr lang="en-US" altLang="ko-KR" sz="900" b="1" i="0" u="none" strike="noStrike" baseline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228600" marR="0" lvl="0" indent="-2286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arenR"/>
                        <a:tabLst/>
                        <a:defRPr/>
                      </a:pPr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시스템을 개선하기 위해서는 </a:t>
                      </a:r>
                      <a:r>
                        <a:rPr lang="en-US" altLang="ko-KR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TABLE </a:t>
                      </a:r>
                      <a:r>
                        <a:rPr lang="ko-KR" altLang="en-US" sz="900" b="1" i="0" u="none" strike="noStrike" baseline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정리가 필수적임</a:t>
                      </a:r>
                      <a:endParaRPr lang="ko-KR" altLang="en-US" sz="900" b="1" i="0" u="none" strike="noStrike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364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테이블 명이 기재되지 않은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TABLE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292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24.2%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프로그램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소스 및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DATABASE OBJECT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에서도 정확한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TABLE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정보 취득이 어려움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14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 100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건이상 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TABLE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378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31.3%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백업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TABLE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을 포함하여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30%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정도의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TABLE</a:t>
                      </a:r>
                      <a:r>
                        <a:rPr lang="en-US" altLang="ko-KR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사용하고</a:t>
                      </a:r>
                      <a:r>
                        <a:rPr lang="en-US" altLang="ko-KR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있음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4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 100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건미만 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TABLE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831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68.7%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일부는 소량의 코드를 관리하는 사용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TABLE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일</a:t>
                      </a:r>
                      <a:r>
                        <a:rPr lang="en-US" altLang="ko-KR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수 있음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14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DATA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가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건도 없는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TABLE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701</a:t>
                      </a:r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58.0%</a:t>
                      </a:r>
                      <a:endParaRPr lang="ko-KR" altLang="en-US" sz="9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사용하지 않은 기능의 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TABLE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및 불필요한 테이블 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14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Primary</a:t>
                      </a:r>
                      <a:r>
                        <a:rPr lang="en-US" altLang="ko-KR" sz="1100" b="0" i="0" u="none" strike="noStrike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Key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가 없는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TABLE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97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8.0%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임시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TABLE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인지 확인해서 삭제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14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INDEX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가 없는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TABLE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375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31.0%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임시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TABLE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인지 확인해서 삭제</a:t>
                      </a:r>
                      <a:endParaRPr lang="en-US" altLang="ko-KR" sz="900" b="0" i="0" u="none" strike="noStrike" spc="-15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i="0" u="none" strike="noStrike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9" name="직사각형 18"/>
          <p:cNvSpPr/>
          <p:nvPr/>
        </p:nvSpPr>
        <p:spPr>
          <a:xfrm>
            <a:off x="344488" y="867270"/>
            <a:ext cx="2160240" cy="291968"/>
          </a:xfrm>
          <a:prstGeom prst="rect">
            <a:avLst/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1) TABLE </a:t>
            </a: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현황</a:t>
            </a:r>
            <a:endParaRPr lang="ko-KR" altLang="en-US" sz="14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/>
          </p:nvPr>
        </p:nvGraphicFramePr>
        <p:xfrm>
          <a:off x="345000" y="4376593"/>
          <a:ext cx="9180000" cy="1949921"/>
        </p:xfrm>
        <a:graphic>
          <a:graphicData uri="http://schemas.openxmlformats.org/drawingml/2006/table">
            <a:tbl>
              <a:tblPr/>
              <a:tblGrid>
                <a:gridCol w="129563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23224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04056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04056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324036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403648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27441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구분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내용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수량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비율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검토의견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3049">
                <a:tc rowSpan="2"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칼럼명 미기재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 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DATA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칼럼 보유 건수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38,825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테이블에 존재하는 모든 컬럼 수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/>
                        <a:t>9/2</a:t>
                      </a:r>
                      <a:r>
                        <a:rPr lang="ko-KR" altLang="en-US" sz="900" b="0"/>
                        <a:t>일</a:t>
                      </a:r>
                      <a:r>
                        <a:rPr lang="en-US" altLang="ko-KR" sz="900" b="0"/>
                        <a:t>~ 9/27</a:t>
                      </a:r>
                      <a:r>
                        <a:rPr lang="ko-KR" altLang="en-US" sz="900" b="0"/>
                        <a:t>일까지 </a:t>
                      </a:r>
                      <a:r>
                        <a:rPr lang="en-US" altLang="ko-KR" sz="900" b="0"/>
                        <a:t>TABLE </a:t>
                      </a:r>
                      <a:r>
                        <a:rPr lang="ko-KR" altLang="en-US" sz="900" b="0"/>
                        <a:t>정리 작업에서</a:t>
                      </a:r>
                      <a:endParaRPr lang="ko-KR" altLang="en-US" sz="900" b="1" i="0" u="none" strike="noStrike">
                        <a:solidFill>
                          <a:srgbClr val="0000FF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11,987</a:t>
                      </a:r>
                      <a:r>
                        <a:rPr lang="ko-KR" altLang="en-US" sz="900" b="1" i="0" u="none" strike="noStrike">
                          <a:solidFill>
                            <a:srgbClr val="0000FF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건 칼럼명 기재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63137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칼럼명이 기재되지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않은 건수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10,515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27.0%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개월 작업후에도 파악할 수 없는 컬럼의 숫자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업무분석이 어려움</a:t>
                      </a:r>
                      <a:endParaRPr lang="ko-KR" altLang="en-US" sz="900" b="1" i="0" u="none" strike="noStrike" spc="-150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93049">
                <a:tc rowSpan="3">
                  <a:txBody>
                    <a:bodyPr/>
                    <a:lstStyle/>
                    <a:p>
                      <a:pPr algn="l" fontAlgn="ctr"/>
                      <a:r>
                        <a:rPr lang="ko-KR" altLang="en-US" sz="11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컬럼 정형화 미비</a:t>
                      </a:r>
                      <a:endParaRPr lang="en-US" altLang="ko-KR" sz="1100" b="1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칼럼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ID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건수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9,913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칼럼 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ID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로</a:t>
                      </a:r>
                      <a:r>
                        <a:rPr lang="en-US" altLang="ko-KR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 spc="-15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계수함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63137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칼럼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ID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는 동일하나 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규격이 상이함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1,660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16.7%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동일한 칼럼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ID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이나 속성이 틀림 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DATABASE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구축의 기본 원칙 위배됨</a:t>
                      </a:r>
                      <a:endParaRPr lang="ko-KR" altLang="en-US" sz="900" b="0" i="0" u="none" strike="noStrike" spc="-15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Nameing Rule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미적용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63137">
                <a:tc vMerge="1">
                  <a:txBody>
                    <a:bodyPr/>
                    <a:lstStyle/>
                    <a:p>
                      <a:pPr algn="l" fontAlgn="ctr"/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칼럼</a:t>
                      </a:r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ID</a:t>
                      </a:r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는 동일하나 칼럼명 상이함</a:t>
                      </a:r>
                      <a:endParaRPr lang="ko-KR" altLang="en-US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9,278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93.6%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동일한 칼럼이나 칼럼명을 다르게 사용함</a:t>
                      </a:r>
                      <a:endParaRPr lang="en-US" altLang="ko-KR" sz="9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행정용어 적용 필요</a:t>
                      </a:r>
                      <a:endParaRPr lang="ko-KR" altLang="en-US" sz="900" b="0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표준용어 미 적용</a:t>
                      </a:r>
                      <a:endParaRPr lang="en-US" altLang="ko-KR" sz="900" b="1" i="0" u="none" strike="noStrike" spc="-15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1" name="직사각형 20"/>
          <p:cNvSpPr/>
          <p:nvPr/>
        </p:nvSpPr>
        <p:spPr>
          <a:xfrm>
            <a:off x="344488" y="4043952"/>
            <a:ext cx="2160240" cy="291968"/>
          </a:xfrm>
          <a:prstGeom prst="rect">
            <a:avLst/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2) COLUMN </a:t>
            </a: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현황</a:t>
            </a:r>
            <a:endParaRPr lang="ko-KR" altLang="en-US" sz="14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535882" y="882239"/>
            <a:ext cx="47094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solidFill>
                  <a:srgbClr val="0000FF"/>
                </a:solidFill>
              </a:rPr>
              <a:t>※ 9/2</a:t>
            </a:r>
            <a:r>
              <a:rPr lang="ko-KR" altLang="en-US" sz="1200" b="1">
                <a:solidFill>
                  <a:srgbClr val="0000FF"/>
                </a:solidFill>
              </a:rPr>
              <a:t>일</a:t>
            </a:r>
            <a:r>
              <a:rPr lang="en-US" altLang="ko-KR" sz="1200" b="1">
                <a:solidFill>
                  <a:srgbClr val="0000FF"/>
                </a:solidFill>
              </a:rPr>
              <a:t>~ 9/27</a:t>
            </a:r>
            <a:r>
              <a:rPr lang="ko-KR" altLang="en-US" sz="1200" b="1">
                <a:solidFill>
                  <a:srgbClr val="0000FF"/>
                </a:solidFill>
              </a:rPr>
              <a:t>일까지 </a:t>
            </a:r>
            <a:r>
              <a:rPr lang="en-US" altLang="ko-KR" sz="1200" b="1">
                <a:solidFill>
                  <a:srgbClr val="0000FF"/>
                </a:solidFill>
              </a:rPr>
              <a:t>TABLE </a:t>
            </a:r>
            <a:r>
              <a:rPr lang="ko-KR" altLang="en-US" sz="1200" b="1">
                <a:solidFill>
                  <a:srgbClr val="0000FF"/>
                </a:solidFill>
              </a:rPr>
              <a:t>및 칼럼명 등록 작업 수행후 측정함</a:t>
            </a:r>
            <a:endParaRPr lang="ko-KR" altLang="en-US" sz="1200" b="1" dirty="0" err="1">
              <a:solidFill>
                <a:srgbClr val="0000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37464" y="3661568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sz="1200" spc="-150">
              <a:solidFill>
                <a:srgbClr val="000000"/>
              </a:solidFill>
              <a:latin typeface="맑은 고딕" pitchFamily="50" charset="-127"/>
            </a:endParaRPr>
          </a:p>
          <a:p>
            <a:endParaRPr lang="ko-KR" altLang="en-US" sz="1200" dirty="0" err="1"/>
          </a:p>
        </p:txBody>
      </p:sp>
    </p:spTree>
    <p:extLst>
      <p:ext uri="{BB962C8B-B14F-4D97-AF65-F5344CB8AC3E}">
        <p14:creationId xmlns:p14="http://schemas.microsoft.com/office/powerpoint/2010/main" val="871466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현행 시스템이 운용하고 있는 업무별 기능을 프로그램 사용 통계를 통하여 분석하고</a:t>
            </a:r>
            <a:r>
              <a:rPr lang="en-US" altLang="ko-KR" sz="1600"/>
              <a:t>, </a:t>
            </a:r>
            <a:r>
              <a:rPr lang="ko-KR" altLang="en-US" sz="1600"/>
              <a:t>각 프로그램의 추가 요구기능 및 미사용 프로그램에 대한 원인을 분석함으로써 시스템 개선점을 식별하고자 함</a:t>
            </a:r>
            <a:r>
              <a:rPr lang="en-US" altLang="ko-KR" sz="1600"/>
              <a:t> </a:t>
            </a:r>
            <a:r>
              <a:rPr lang="ko-KR" altLang="en-US" sz="1600"/>
              <a:t> </a:t>
            </a:r>
            <a:endParaRPr lang="ko-KR" altLang="en-US" sz="1600" dirty="0"/>
          </a:p>
        </p:txBody>
      </p:sp>
      <p:sp>
        <p:nvSpPr>
          <p:cNvPr id="396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smtClean="0"/>
              <a:t>1.5 </a:t>
            </a:r>
            <a:r>
              <a:rPr lang="ko-KR" altLang="en-US"/>
              <a:t>업무 운용성</a:t>
            </a:r>
            <a:r>
              <a:rPr lang="en-US" altLang="ko-KR"/>
              <a:t> </a:t>
            </a:r>
            <a:r>
              <a:rPr lang="ko-KR" altLang="en-US" smtClean="0"/>
              <a:t>분석</a:t>
            </a:r>
            <a:endParaRPr lang="en-US" altLang="ko-KR" dirty="0"/>
          </a:p>
        </p:txBody>
      </p:sp>
      <p:sp>
        <p:nvSpPr>
          <p:cNvPr id="39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752528" cy="781320"/>
          </a:xfrm>
        </p:spPr>
        <p:txBody>
          <a:bodyPr>
            <a:normAutofit/>
          </a:bodyPr>
          <a:lstStyle/>
          <a:p>
            <a:r>
              <a:rPr lang="en-US" altLang="ko-KR" smtClean="0"/>
              <a:t>1.5 </a:t>
            </a:r>
            <a:r>
              <a:rPr lang="ko-KR" altLang="en-US"/>
              <a:t>업무 운용성</a:t>
            </a:r>
            <a:r>
              <a:rPr lang="en-US" altLang="ko-KR"/>
              <a:t> </a:t>
            </a:r>
            <a:r>
              <a:rPr lang="ko-KR" altLang="en-US"/>
              <a:t>분석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1.5.1 </a:t>
            </a:r>
            <a:r>
              <a:rPr lang="ko-KR" altLang="en-US" sz="1800"/>
              <a:t>업무 운용성</a:t>
            </a:r>
            <a:r>
              <a:rPr lang="en-US" altLang="ko-KR" sz="1800"/>
              <a:t> </a:t>
            </a:r>
            <a:r>
              <a:rPr lang="ko-KR" altLang="en-US" sz="1800"/>
              <a:t>분석 개요</a:t>
            </a:r>
            <a:endParaRPr lang="ko-KR" altLang="en-US" sz="1800" dirty="0"/>
          </a:p>
        </p:txBody>
      </p:sp>
      <p:sp>
        <p:nvSpPr>
          <p:cNvPr id="142" name="Rectangle 4"/>
          <p:cNvSpPr>
            <a:spLocks noChangeArrowheads="1"/>
          </p:cNvSpPr>
          <p:nvPr/>
        </p:nvSpPr>
        <p:spPr bwMode="auto">
          <a:xfrm>
            <a:off x="381001" y="1795470"/>
            <a:ext cx="9180512" cy="4494789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265113" indent="-265113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  <a:defRPr/>
            </a:pPr>
            <a:endParaRPr lang="ko-KR" altLang="en-US" sz="14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3" name="직사각형 142"/>
          <p:cNvSpPr/>
          <p:nvPr/>
        </p:nvSpPr>
        <p:spPr bwMode="auto">
          <a:xfrm>
            <a:off x="344488" y="1528880"/>
            <a:ext cx="9180512" cy="288000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r>
              <a:rPr lang="ko-KR" altLang="en-US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업무 운용성 분석 </a:t>
            </a:r>
            <a: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Framework</a:t>
            </a:r>
            <a:endParaRPr lang="ko-KR" altLang="en-US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5" name="Rectangle 4"/>
          <p:cNvSpPr>
            <a:spLocks noChangeArrowheads="1"/>
          </p:cNvSpPr>
          <p:nvPr/>
        </p:nvSpPr>
        <p:spPr bwMode="auto">
          <a:xfrm>
            <a:off x="560512" y="2345182"/>
            <a:ext cx="3909328" cy="1697683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업무 프로세스별 처리 기능 존재 여부</a:t>
            </a:r>
            <a:endParaRPr lang="en-US" altLang="ko-KR" sz="1100" spc="-30">
              <a:latin typeface="+mn-ea"/>
            </a:endParaRPr>
          </a:p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업무를 처리하는 기능의 완성도</a:t>
            </a:r>
            <a:endParaRPr lang="en-US" altLang="ko-KR" sz="1100" spc="-30">
              <a:latin typeface="+mn-ea"/>
            </a:endParaRPr>
          </a:p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화면별 필수 기능의 충족성 및 편의성</a:t>
            </a:r>
            <a:endParaRPr lang="en-US" altLang="ko-KR" sz="1100" spc="-30">
              <a:latin typeface="+mn-ea"/>
            </a:endParaRPr>
          </a:p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업무 전후 프로세스의 연결성</a:t>
            </a:r>
            <a:endParaRPr lang="en-US" altLang="ko-KR" sz="1100" spc="-30">
              <a:latin typeface="+mn-ea"/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560512" y="2001540"/>
            <a:ext cx="3907298" cy="353282"/>
          </a:xfrm>
          <a:prstGeom prst="rect">
            <a:avLst/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업무별 기능 분석</a:t>
            </a:r>
            <a:endParaRPr lang="ko-KR" altLang="en-US" sz="14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7" name="Rectangle 4"/>
          <p:cNvSpPr>
            <a:spLocks noChangeArrowheads="1"/>
          </p:cNvSpPr>
          <p:nvPr/>
        </p:nvSpPr>
        <p:spPr bwMode="auto">
          <a:xfrm>
            <a:off x="560512" y="5078426"/>
            <a:ext cx="3909328" cy="104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현행 프로그램의 사용 여부</a:t>
            </a:r>
            <a:endParaRPr lang="en-US" altLang="ko-KR" sz="1100" spc="-30">
              <a:latin typeface="+mn-ea"/>
            </a:endParaRPr>
          </a:p>
          <a:p>
            <a:pPr marL="180975" indent="-180975" defTabSz="895350">
              <a:spcBef>
                <a:spcPts val="6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ko-KR" altLang="en-US" sz="1100" spc="-30">
                <a:latin typeface="+mn-ea"/>
              </a:rPr>
              <a:t>미 사용 프로그램에 대한 사유와</a:t>
            </a:r>
            <a:r>
              <a:rPr lang="en-US" altLang="ko-KR" sz="1100" spc="-30">
                <a:latin typeface="+mn-ea"/>
              </a:rPr>
              <a:t> </a:t>
            </a:r>
            <a:r>
              <a:rPr lang="ko-KR" altLang="en-US" sz="1100" spc="-30">
                <a:latin typeface="+mn-ea"/>
              </a:rPr>
              <a:t>대체 처리 현황</a:t>
            </a:r>
            <a:endParaRPr lang="en-US" altLang="ko-KR" sz="1100" spc="-30">
              <a:latin typeface="+mn-ea"/>
            </a:endParaRPr>
          </a:p>
        </p:txBody>
      </p:sp>
      <p:sp>
        <p:nvSpPr>
          <p:cNvPr id="158" name="직사각형 157"/>
          <p:cNvSpPr/>
          <p:nvPr/>
        </p:nvSpPr>
        <p:spPr>
          <a:xfrm>
            <a:off x="560512" y="4725144"/>
            <a:ext cx="3907298" cy="353282"/>
          </a:xfrm>
          <a:prstGeom prst="rect">
            <a:avLst/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400" b="1" kern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프로그램의 사용성 분석</a:t>
            </a:r>
            <a:endParaRPr lang="ko-KR" altLang="en-US" sz="1400" b="1" kern="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Rectangle 4"/>
          <p:cNvSpPr>
            <a:spLocks noChangeArrowheads="1"/>
          </p:cNvSpPr>
          <p:nvPr/>
        </p:nvSpPr>
        <p:spPr bwMode="auto">
          <a:xfrm>
            <a:off x="5043704" y="5362493"/>
            <a:ext cx="4229776" cy="794693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txBody>
          <a:bodyPr wrap="square" lIns="108000" tIns="36000" rIns="72000" bIns="36000" rtlCol="0" anchor="ctr">
            <a:noAutofit/>
          </a:bodyPr>
          <a:lstStyle/>
          <a:p>
            <a:pPr marL="180975" indent="-180975" defTabSz="895350">
              <a:spcBef>
                <a:spcPts val="300"/>
              </a:spcBef>
              <a:buClr>
                <a:schemeClr val="accent5"/>
              </a:buClr>
              <a:buSzPct val="90000"/>
              <a:buFont typeface="Wingdings" panose="05000000000000000000" pitchFamily="2" charset="2"/>
              <a:buChar char="§"/>
            </a:pPr>
            <a:r>
              <a:rPr lang="en-US" altLang="ko-KR" sz="1100" spc="-30" smtClean="0">
                <a:latin typeface="+mn-ea"/>
              </a:rPr>
              <a:t>446</a:t>
            </a:r>
            <a:r>
              <a:rPr lang="ko-KR" altLang="en-US" sz="1100" spc="-30" smtClean="0">
                <a:latin typeface="+mn-ea"/>
              </a:rPr>
              <a:t>본의 </a:t>
            </a:r>
            <a:r>
              <a:rPr lang="ko-KR" altLang="en-US" sz="1100" spc="-30" dirty="0">
                <a:latin typeface="+mn-ea"/>
              </a:rPr>
              <a:t>프로그램 중 </a:t>
            </a:r>
            <a:r>
              <a:rPr lang="ko-KR" altLang="en-US" sz="1100" spc="-30">
                <a:latin typeface="+mn-ea"/>
              </a:rPr>
              <a:t>미사용 </a:t>
            </a:r>
            <a:r>
              <a:rPr lang="en-US" altLang="ko-KR" sz="1100" spc="-30" smtClean="0">
                <a:solidFill>
                  <a:srgbClr val="FF0000"/>
                </a:solidFill>
                <a:latin typeface="+mn-ea"/>
              </a:rPr>
              <a:t>201</a:t>
            </a:r>
            <a:r>
              <a:rPr lang="ko-KR" altLang="en-US" sz="1100" spc="-30" smtClean="0">
                <a:latin typeface="+mn-ea"/>
              </a:rPr>
              <a:t>본으로 </a:t>
            </a:r>
            <a:r>
              <a:rPr lang="ko-KR" altLang="en-US" sz="1100" spc="-30" smtClean="0">
                <a:latin typeface="+mn-ea"/>
              </a:rPr>
              <a:t>미사용 비율</a:t>
            </a:r>
            <a:r>
              <a:rPr lang="en-US" altLang="ko-KR" sz="1100" spc="-30" smtClean="0">
                <a:latin typeface="+mn-ea"/>
              </a:rPr>
              <a:t>(</a:t>
            </a:r>
            <a:r>
              <a:rPr lang="en-US" altLang="ko-KR" sz="1100" spc="-30" smtClean="0">
                <a:solidFill>
                  <a:srgbClr val="FF0000"/>
                </a:solidFill>
                <a:latin typeface="+mn-ea"/>
              </a:rPr>
              <a:t>45.1</a:t>
            </a:r>
            <a:r>
              <a:rPr lang="en-US" altLang="ko-KR" sz="1100" spc="-30" smtClean="0">
                <a:latin typeface="+mn-ea"/>
              </a:rPr>
              <a:t>%)</a:t>
            </a:r>
            <a:r>
              <a:rPr lang="ko-KR" altLang="en-US" sz="1100" spc="-30" smtClean="0">
                <a:latin typeface="+mn-ea"/>
              </a:rPr>
              <a:t>이며</a:t>
            </a:r>
            <a:r>
              <a:rPr lang="en-US" altLang="ko-KR" sz="1100" spc="-30">
                <a:latin typeface="+mn-ea"/>
              </a:rPr>
              <a:t>,</a:t>
            </a:r>
            <a:r>
              <a:rPr lang="en-US" altLang="ko-KR" sz="1100" spc="-30" smtClean="0">
                <a:latin typeface="+mn-ea"/>
              </a:rPr>
              <a:t> </a:t>
            </a:r>
            <a:endParaRPr lang="en-US" altLang="ko-KR" sz="1100" spc="-30" dirty="0">
              <a:latin typeface="+mn-ea"/>
            </a:endParaRPr>
          </a:p>
          <a:p>
            <a:pPr defTabSz="895350">
              <a:spcBef>
                <a:spcPts val="300"/>
              </a:spcBef>
              <a:buClr>
                <a:schemeClr val="accent5"/>
              </a:buClr>
              <a:buSzPct val="90000"/>
            </a:pPr>
            <a:r>
              <a:rPr lang="ko-KR" altLang="en-US" sz="1100" spc="-30">
                <a:latin typeface="+mn-ea"/>
              </a:rPr>
              <a:t>    </a:t>
            </a:r>
            <a:r>
              <a:rPr lang="ko-KR" altLang="en-US" sz="1100" spc="-30" smtClean="0">
                <a:latin typeface="+mn-ea"/>
              </a:rPr>
              <a:t>기본적인 기능 </a:t>
            </a:r>
            <a:r>
              <a:rPr lang="ko-KR" altLang="en-US" sz="1100" spc="-30" dirty="0">
                <a:latin typeface="+mn-ea"/>
              </a:rPr>
              <a:t>보완이 필요한 </a:t>
            </a:r>
            <a:r>
              <a:rPr lang="ko-KR" altLang="en-US" sz="1100" spc="-30">
                <a:latin typeface="+mn-ea"/>
              </a:rPr>
              <a:t>프로그램 </a:t>
            </a:r>
            <a:r>
              <a:rPr lang="en-US" altLang="ko-KR" sz="1100" spc="-30" smtClean="0">
                <a:solidFill>
                  <a:srgbClr val="FF0000"/>
                </a:solidFill>
                <a:latin typeface="+mn-ea"/>
              </a:rPr>
              <a:t>40</a:t>
            </a:r>
            <a:r>
              <a:rPr lang="ko-KR" altLang="en-US" sz="1100" spc="-30" smtClean="0">
                <a:latin typeface="+mn-ea"/>
              </a:rPr>
              <a:t>본으로</a:t>
            </a:r>
            <a:r>
              <a:rPr lang="en-US" altLang="ko-KR" sz="1100" spc="-30" smtClean="0">
                <a:latin typeface="+mn-ea"/>
              </a:rPr>
              <a:t>, </a:t>
            </a:r>
            <a:endParaRPr lang="en-US" altLang="ko-KR" sz="1100" spc="-30" dirty="0">
              <a:latin typeface="+mn-ea"/>
            </a:endParaRPr>
          </a:p>
          <a:p>
            <a:pPr defTabSz="895350">
              <a:spcBef>
                <a:spcPts val="300"/>
              </a:spcBef>
              <a:buClr>
                <a:schemeClr val="accent5"/>
              </a:buClr>
              <a:buSzPct val="90000"/>
            </a:pPr>
            <a:r>
              <a:rPr lang="en-US" altLang="ko-KR" sz="1100" spc="-30">
                <a:latin typeface="+mn-ea"/>
              </a:rPr>
              <a:t>    </a:t>
            </a:r>
            <a:r>
              <a:rPr lang="ko-KR" altLang="en-US" sz="1100" spc="-30" smtClean="0">
                <a:latin typeface="+mn-ea"/>
              </a:rPr>
              <a:t>시스템의 기본적인 업무처리 기능에 대한 추가 </a:t>
            </a:r>
            <a:r>
              <a:rPr lang="ko-KR" altLang="en-US" sz="1100" spc="-30">
                <a:latin typeface="+mn-ea"/>
              </a:rPr>
              <a:t>개발이 </a:t>
            </a:r>
            <a:r>
              <a:rPr lang="ko-KR" altLang="en-US" sz="1100" spc="-30" smtClean="0">
                <a:latin typeface="+mn-ea"/>
              </a:rPr>
              <a:t>요구됨</a:t>
            </a:r>
            <a:endParaRPr lang="en-US" altLang="ko-KR" sz="1100" spc="-30" dirty="0">
              <a:latin typeface="+mn-ea"/>
            </a:endParaRPr>
          </a:p>
        </p:txBody>
      </p:sp>
      <p:sp>
        <p:nvSpPr>
          <p:cNvPr id="28" name="이등변 삼각형 27"/>
          <p:cNvSpPr/>
          <p:nvPr/>
        </p:nvSpPr>
        <p:spPr>
          <a:xfrm rot="5400000">
            <a:off x="2886729" y="4043421"/>
            <a:ext cx="3817936" cy="358860"/>
          </a:xfrm>
          <a:prstGeom prst="triangle">
            <a:avLst/>
          </a:prstGeom>
          <a:gradFill>
            <a:gsLst>
              <a:gs pos="55000">
                <a:schemeClr val="bg1">
                  <a:lumMod val="75000"/>
                </a:schemeClr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/>
          </p:nvPr>
        </p:nvGraphicFramePr>
        <p:xfrm>
          <a:off x="5043704" y="2010193"/>
          <a:ext cx="4229776" cy="2426869"/>
        </p:xfrm>
        <a:graphic>
          <a:graphicData uri="http://schemas.openxmlformats.org/drawingml/2006/table">
            <a:tbl>
              <a:tblPr/>
              <a:tblGrid>
                <a:gridCol w="359528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4807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58118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2476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576064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648072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792088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42753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업무 분류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현행본수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smtClean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사용본수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smtClean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미사용</a:t>
                      </a:r>
                      <a:endParaRPr lang="en-US" altLang="ko-KR" sz="1000" b="1" i="0" u="none" strike="noStrike" smtClean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 smtClean="0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본수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미사용</a:t>
                      </a:r>
                      <a:r>
                        <a:rPr lang="en-US" altLang="ko-KR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%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기능보완</a:t>
                      </a:r>
                      <a:endParaRPr lang="en-US" altLang="ko-KR" sz="1000" b="1" i="0" u="none" strike="noStrike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요구본수</a:t>
                      </a:r>
                      <a:endParaRPr lang="ko-KR" altLang="en-US" sz="1000" b="1" i="0" u="none" strike="noStrike" dirty="0"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9800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예산관리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68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54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15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kern="1200" smtClean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20..6%</a:t>
                      </a:r>
                      <a:endParaRPr lang="ko-KR" altLang="en-US" sz="1000" b="0" i="0" u="none" strike="noStrike" kern="1200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4179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회계관리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216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129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87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kern="1200" smtClean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40.2%</a:t>
                      </a:r>
                      <a:endParaRPr lang="ko-KR" altLang="en-US" sz="1000" b="0" i="0" u="none" strike="noStrike" kern="1200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719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자산관리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72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28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43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smtClean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61.1% </a:t>
                      </a:r>
                      <a:endParaRPr lang="ko-KR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719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사업관리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53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30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smtClean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56.6%</a:t>
                      </a:r>
                      <a:endParaRPr lang="ko-KR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719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구매관리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32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21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dirty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65.6%</a:t>
                      </a:r>
                      <a:endParaRPr lang="ko-KR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7190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일반관리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en-US" altLang="ko-KR" sz="11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smtClean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100.0%</a:t>
                      </a:r>
                      <a:endParaRPr lang="ko-KR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71906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소 계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446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245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0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</a:t>
                      </a:r>
                      <a:endParaRPr lang="ko-KR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altLang="ko-KR" sz="1000" b="0" i="0" u="none" strike="noStrike" smtClean="0"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45.1%</a:t>
                      </a:r>
                      <a:endParaRPr lang="ko-KR" altLang="en-US" sz="1000" b="0" i="0" u="none" strike="noStrike" dirty="0"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40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4852018" y="4520153"/>
            <a:ext cx="486222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>
                <a:solidFill>
                  <a:srgbClr val="0000FF"/>
                </a:solidFill>
              </a:rPr>
              <a:t>※ </a:t>
            </a:r>
            <a:r>
              <a:rPr lang="en-US" altLang="ko-KR" sz="1200" b="1" smtClean="0">
                <a:solidFill>
                  <a:srgbClr val="0000FF"/>
                </a:solidFill>
              </a:rPr>
              <a:t>10/2</a:t>
            </a:r>
            <a:r>
              <a:rPr lang="ko-KR" altLang="en-US" sz="1200" b="1">
                <a:solidFill>
                  <a:srgbClr val="0000FF"/>
                </a:solidFill>
              </a:rPr>
              <a:t>일</a:t>
            </a:r>
            <a:r>
              <a:rPr lang="en-US" altLang="ko-KR" sz="1200" b="1">
                <a:solidFill>
                  <a:srgbClr val="0000FF"/>
                </a:solidFill>
              </a:rPr>
              <a:t>~ </a:t>
            </a:r>
            <a:r>
              <a:rPr lang="en-US" altLang="ko-KR" sz="1200" b="1" smtClean="0">
                <a:solidFill>
                  <a:srgbClr val="0000FF"/>
                </a:solidFill>
              </a:rPr>
              <a:t>10/28</a:t>
            </a:r>
            <a:r>
              <a:rPr lang="ko-KR" altLang="en-US" sz="1200" b="1" smtClean="0">
                <a:solidFill>
                  <a:srgbClr val="0000FF"/>
                </a:solidFill>
              </a:rPr>
              <a:t>일까지 프로그램별 기능</a:t>
            </a:r>
            <a:r>
              <a:rPr lang="en-US" altLang="ko-KR" sz="1200" b="1" smtClean="0">
                <a:solidFill>
                  <a:srgbClr val="0000FF"/>
                </a:solidFill>
              </a:rPr>
              <a:t>/</a:t>
            </a:r>
            <a:r>
              <a:rPr lang="ko-KR" altLang="en-US" sz="1200" b="1" smtClean="0">
                <a:solidFill>
                  <a:srgbClr val="0000FF"/>
                </a:solidFill>
              </a:rPr>
              <a:t>사용횟수 조사후 </a:t>
            </a:r>
            <a:r>
              <a:rPr lang="ko-KR" altLang="en-US" sz="1200" b="1">
                <a:solidFill>
                  <a:srgbClr val="0000FF"/>
                </a:solidFill>
              </a:rPr>
              <a:t>측정함</a:t>
            </a:r>
            <a:endParaRPr lang="ko-KR" altLang="en-US" sz="1200" b="1" dirty="0" err="1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2624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/>
              <a:t>본 사업과 관련된 핵심그룹인터뷰</a:t>
            </a:r>
            <a:r>
              <a:rPr lang="en-US" altLang="ko-KR" sz="1600" dirty="0"/>
              <a:t>(FGI)</a:t>
            </a:r>
            <a:r>
              <a:rPr lang="ko-KR" altLang="en-US" sz="1600"/>
              <a:t>는 경영정보시스템 </a:t>
            </a:r>
            <a:r>
              <a:rPr lang="ko-KR" altLang="en-US" sz="1600" dirty="0"/>
              <a:t>구축의 방향성을 정의하기 위해 </a:t>
            </a:r>
            <a:r>
              <a:rPr lang="ko-KR" altLang="en-US" sz="1600"/>
              <a:t>수행하며  질의</a:t>
            </a:r>
            <a:r>
              <a:rPr lang="en-US" altLang="ko-KR" sz="1600"/>
              <a:t>/</a:t>
            </a:r>
            <a:r>
              <a:rPr lang="ko-KR" altLang="en-US" sz="1600"/>
              <a:t>응답 및 자료 요청</a:t>
            </a:r>
            <a:r>
              <a:rPr lang="en-US" altLang="ko-KR" sz="1600"/>
              <a:t>/</a:t>
            </a:r>
            <a:r>
              <a:rPr lang="ko-KR" altLang="en-US" sz="1600"/>
              <a:t>회신 </a:t>
            </a:r>
            <a:r>
              <a:rPr lang="ko-KR" altLang="en-US" sz="1600" dirty="0"/>
              <a:t>형식으로 진행함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smtClean="0"/>
              <a:t>1.6 </a:t>
            </a:r>
            <a:r>
              <a:rPr lang="ko-KR" altLang="en-US"/>
              <a:t>이해관계자 인터뷰</a:t>
            </a:r>
            <a:endParaRPr lang="en-US" altLang="ko-KR" dirty="0"/>
          </a:p>
        </p:txBody>
      </p:sp>
      <p:sp>
        <p:nvSpPr>
          <p:cNvPr id="10" name="Rectangle 68"/>
          <p:cNvSpPr>
            <a:spLocks noChangeArrowheads="1"/>
          </p:cNvSpPr>
          <p:nvPr/>
        </p:nvSpPr>
        <p:spPr bwMode="auto">
          <a:xfrm>
            <a:off x="344488" y="2031722"/>
            <a:ext cx="936104" cy="446942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r>
              <a:rPr kumimoji="1" lang="ko-KR" altLang="en-US" sz="1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대상</a:t>
            </a:r>
          </a:p>
        </p:txBody>
      </p:sp>
      <p:sp>
        <p:nvSpPr>
          <p:cNvPr id="11" name="Rectangle 62"/>
          <p:cNvSpPr>
            <a:spLocks noChangeArrowheads="1"/>
          </p:cNvSpPr>
          <p:nvPr/>
        </p:nvSpPr>
        <p:spPr bwMode="auto">
          <a:xfrm>
            <a:off x="1388632" y="2031722"/>
            <a:ext cx="8136367" cy="446942"/>
          </a:xfrm>
          <a:prstGeom prst="rect">
            <a:avLst/>
          </a:prstGeom>
          <a:solidFill>
            <a:schemeClr val="bg1"/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noProof="0">
                <a:latin typeface="맑은 고딕" pitchFamily="50" charset="-127"/>
                <a:ea typeface="맑은 고딕" pitchFamily="50" charset="-127"/>
              </a:rPr>
              <a:t>업무 담당자 </a:t>
            </a:r>
            <a:r>
              <a:rPr kumimoji="1" lang="en-US" altLang="ko-KR" sz="1400" b="1" kern="0" noProof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1" lang="ko-KR" altLang="en-US" sz="1400" b="1" kern="0" noProof="0">
                <a:latin typeface="맑은 고딕" pitchFamily="50" charset="-127"/>
                <a:ea typeface="맑은 고딕" pitchFamily="50" charset="-127"/>
              </a:rPr>
              <a:t>예산</a:t>
            </a:r>
            <a:r>
              <a:rPr kumimoji="1" lang="en-US" altLang="ko-KR" sz="1400" b="1" kern="0" noProof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400" b="1" kern="0" noProof="0">
                <a:latin typeface="맑은 고딕" pitchFamily="50" charset="-127"/>
                <a:ea typeface="맑은 고딕" pitchFamily="50" charset="-127"/>
              </a:rPr>
              <a:t>회계</a:t>
            </a:r>
            <a:r>
              <a:rPr kumimoji="1" lang="en-US" altLang="ko-KR" sz="1400" b="1" kern="0" noProof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400" b="1" kern="0" noProof="0">
                <a:latin typeface="맑은 고딕" pitchFamily="50" charset="-127"/>
                <a:ea typeface="맑은 고딕" pitchFamily="50" charset="-127"/>
              </a:rPr>
              <a:t>구매자산</a:t>
            </a:r>
            <a:r>
              <a:rPr kumimoji="1" lang="en-US" altLang="ko-KR" sz="1400" b="1" kern="0" noProof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400" b="1" kern="0" noProof="0">
                <a:latin typeface="맑은 고딕" pitchFamily="50" charset="-127"/>
                <a:ea typeface="맑은 고딕" pitchFamily="50" charset="-127"/>
              </a:rPr>
              <a:t>사업관리</a:t>
            </a:r>
            <a:r>
              <a:rPr kumimoji="1" lang="en-US" altLang="ko-KR" sz="1400" b="1" kern="0" noProof="0">
                <a:latin typeface="맑은 고딕" pitchFamily="50" charset="-127"/>
                <a:ea typeface="맑은 고딕" pitchFamily="50" charset="-127"/>
              </a:rPr>
              <a:t>)  </a:t>
            </a:r>
            <a:r>
              <a:rPr kumimoji="1" lang="ko-KR" altLang="en-US" sz="1400" b="1" kern="0" noProof="0">
                <a:latin typeface="맑은 고딕" pitchFamily="50" charset="-127"/>
                <a:ea typeface="맑은 고딕" pitchFamily="50" charset="-127"/>
              </a:rPr>
              <a:t>인터뷰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Rectangle 68"/>
          <p:cNvSpPr>
            <a:spLocks noChangeArrowheads="1"/>
          </p:cNvSpPr>
          <p:nvPr/>
        </p:nvSpPr>
        <p:spPr bwMode="auto">
          <a:xfrm>
            <a:off x="344488" y="2546194"/>
            <a:ext cx="936104" cy="994018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r>
              <a:rPr kumimoji="1" lang="ko-KR" altLang="en-US" sz="1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수행방식</a:t>
            </a:r>
          </a:p>
        </p:txBody>
      </p:sp>
      <p:sp>
        <p:nvSpPr>
          <p:cNvPr id="13" name="Rectangle 62"/>
          <p:cNvSpPr>
            <a:spLocks noChangeArrowheads="1"/>
          </p:cNvSpPr>
          <p:nvPr/>
        </p:nvSpPr>
        <p:spPr bwMode="auto">
          <a:xfrm>
            <a:off x="1388632" y="2553880"/>
            <a:ext cx="8136367" cy="994018"/>
          </a:xfrm>
          <a:prstGeom prst="rect">
            <a:avLst/>
          </a:prstGeom>
          <a:solidFill>
            <a:schemeClr val="bg1"/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endParaRPr kumimoji="1" lang="ko-KR" altLang="en-US" sz="1400" b="1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4" name="Rectangle 62"/>
          <p:cNvSpPr>
            <a:spLocks noChangeArrowheads="1"/>
          </p:cNvSpPr>
          <p:nvPr/>
        </p:nvSpPr>
        <p:spPr bwMode="auto">
          <a:xfrm>
            <a:off x="1491372" y="2613530"/>
            <a:ext cx="2237491" cy="357361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kern="0" noProof="0" dirty="0">
                <a:latin typeface="맑은 고딕" pitchFamily="50" charset="-127"/>
                <a:ea typeface="맑은 고딕" pitchFamily="50" charset="-127"/>
              </a:rPr>
              <a:t>1</a:t>
            </a:r>
            <a:r>
              <a:rPr kumimoji="1" lang="ko-KR" altLang="en-US" sz="1200" b="1" kern="0" noProof="0" dirty="0">
                <a:latin typeface="맑은 고딕" pitchFamily="50" charset="-127"/>
                <a:ea typeface="맑은 고딕" pitchFamily="50" charset="-127"/>
              </a:rPr>
              <a:t>차 </a:t>
            </a:r>
            <a:r>
              <a:rPr kumimoji="1" lang="en-US" altLang="ko-KR" sz="1200" b="1" kern="0" noProof="0" dirty="0">
                <a:latin typeface="맑은 고딕" pitchFamily="50" charset="-127"/>
                <a:ea typeface="맑은 고딕" pitchFamily="50" charset="-127"/>
              </a:rPr>
              <a:t>FGI</a:t>
            </a:r>
            <a:r>
              <a:rPr kumimoji="1" lang="ko-KR" altLang="en-US" sz="1200" b="1" kern="0" noProof="0">
                <a:latin typeface="맑은 고딕" pitchFamily="50" charset="-127"/>
                <a:ea typeface="맑은 고딕" pitchFamily="50" charset="-127"/>
              </a:rPr>
              <a:t>인터뷰</a:t>
            </a:r>
            <a:r>
              <a:rPr kumimoji="1" lang="en-US" altLang="ko-KR" sz="1200" b="1" kern="0" noProof="0">
                <a:latin typeface="맑은 고딕" pitchFamily="50" charset="-127"/>
                <a:ea typeface="맑은 고딕" pitchFamily="50" charset="-127"/>
              </a:rPr>
              <a:t>(9/3,9/4)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Rectangle 68"/>
          <p:cNvSpPr>
            <a:spLocks noChangeArrowheads="1"/>
          </p:cNvSpPr>
          <p:nvPr/>
        </p:nvSpPr>
        <p:spPr bwMode="auto">
          <a:xfrm>
            <a:off x="344488" y="3608463"/>
            <a:ext cx="936104" cy="2700261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r>
              <a:rPr kumimoji="1" lang="ko-KR" altLang="en-US" sz="1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주요 내용 및 분석방식</a:t>
            </a:r>
          </a:p>
        </p:txBody>
      </p:sp>
      <p:sp>
        <p:nvSpPr>
          <p:cNvPr id="17" name="Rectangle 62"/>
          <p:cNvSpPr>
            <a:spLocks noChangeArrowheads="1"/>
          </p:cNvSpPr>
          <p:nvPr/>
        </p:nvSpPr>
        <p:spPr bwMode="auto">
          <a:xfrm>
            <a:off x="1388632" y="3615317"/>
            <a:ext cx="8136367" cy="2693407"/>
          </a:xfrm>
          <a:prstGeom prst="rect">
            <a:avLst/>
          </a:prstGeom>
          <a:solidFill>
            <a:schemeClr val="bg1"/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endParaRPr kumimoji="1" lang="ko-KR" altLang="en-US" sz="1400" b="1" kern="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Rectangle 53">
            <a:extLst>
              <a:ext uri="{FF2B5EF4-FFF2-40B4-BE49-F238E27FC236}">
                <a16:creationId xmlns:a16="http://schemas.microsoft.com/office/drawing/2014/main" xmlns="" id="{E70F1C44-6D48-443B-B688-624666084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1372" y="3682676"/>
            <a:ext cx="3749660" cy="322121"/>
          </a:xfrm>
          <a:prstGeom prst="rect">
            <a:avLst/>
          </a:prstGeom>
          <a:solidFill>
            <a:srgbClr val="508CD2">
              <a:lumMod val="40000"/>
              <a:lumOff val="60000"/>
            </a:srgbClr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인터뷰 주요내용</a:t>
            </a:r>
          </a:p>
        </p:txBody>
      </p:sp>
      <p:sp>
        <p:nvSpPr>
          <p:cNvPr id="20" name="Rectangle 62"/>
          <p:cNvSpPr>
            <a:spLocks noChangeArrowheads="1"/>
          </p:cNvSpPr>
          <p:nvPr/>
        </p:nvSpPr>
        <p:spPr bwMode="auto">
          <a:xfrm>
            <a:off x="1491372" y="2964557"/>
            <a:ext cx="2237491" cy="536451"/>
          </a:xfrm>
          <a:prstGeom prst="rect">
            <a:avLst/>
          </a:prstGeom>
          <a:solidFill>
            <a:schemeClr val="bg1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174625" marR="0" lvl="0" indent="-174625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200" b="1" kern="0" noProof="0">
                <a:latin typeface="맑은 고딕" pitchFamily="50" charset="-127"/>
                <a:ea typeface="맑은 고딕" pitchFamily="50" charset="-127"/>
              </a:rPr>
              <a:t>회계 업무</a:t>
            </a:r>
            <a:endParaRPr kumimoji="1" lang="en-US" altLang="ko-KR" sz="1200" b="1" kern="0" noProof="0">
              <a:latin typeface="맑은 고딕" pitchFamily="50" charset="-127"/>
              <a:ea typeface="맑은 고딕" pitchFamily="50" charset="-127"/>
            </a:endParaRPr>
          </a:p>
          <a:p>
            <a:pPr marL="174625" marR="0" lvl="0" indent="-174625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200" b="1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예산</a:t>
            </a:r>
            <a:r>
              <a:rPr kumimoji="1" lang="en-US" altLang="ko-KR" sz="1200" b="1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200" b="1" i="0" u="none" strike="noStrike" kern="0" cap="none" spc="0" normalizeH="0" baseline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구매자산 업무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5" name="Rectangle 62"/>
          <p:cNvSpPr>
            <a:spLocks noChangeArrowheads="1"/>
          </p:cNvSpPr>
          <p:nvPr/>
        </p:nvSpPr>
        <p:spPr bwMode="auto">
          <a:xfrm>
            <a:off x="4203126" y="2613530"/>
            <a:ext cx="2536220" cy="357361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kern="0" dirty="0">
                <a:latin typeface="맑은 고딕" pitchFamily="50" charset="-127"/>
                <a:ea typeface="맑은 고딕" pitchFamily="50" charset="-127"/>
              </a:rPr>
              <a:t>2</a:t>
            </a:r>
            <a:r>
              <a:rPr kumimoji="1" lang="ko-KR" altLang="en-US" sz="1200" b="1" kern="0" dirty="0">
                <a:latin typeface="맑은 고딕" pitchFamily="50" charset="-127"/>
                <a:ea typeface="맑은 고딕" pitchFamily="50" charset="-127"/>
              </a:rPr>
              <a:t>차 </a:t>
            </a:r>
            <a:r>
              <a:rPr kumimoji="1" lang="en-US" altLang="ko-KR" sz="1200" b="1" kern="0" dirty="0">
                <a:latin typeface="맑은 고딕" pitchFamily="50" charset="-127"/>
                <a:ea typeface="맑은 고딕" pitchFamily="50" charset="-127"/>
              </a:rPr>
              <a:t>FGI</a:t>
            </a:r>
            <a:r>
              <a:rPr kumimoji="1" lang="ko-KR" altLang="en-US" sz="1200" b="1" kern="0">
                <a:latin typeface="맑은 고딕" pitchFamily="50" charset="-127"/>
                <a:ea typeface="맑은 고딕" pitchFamily="50" charset="-127"/>
              </a:rPr>
              <a:t>인터뷰</a:t>
            </a:r>
            <a:r>
              <a:rPr kumimoji="1" lang="en-US" altLang="ko-KR" sz="1200" b="1" kern="0" noProof="0" smtClean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1" lang="ko-KR" altLang="en-US" sz="1200" b="1" kern="0" noProof="0" smtClean="0">
                <a:latin typeface="맑은 고딕" pitchFamily="50" charset="-127"/>
                <a:ea typeface="맑은 고딕" pitchFamily="50" charset="-127"/>
              </a:rPr>
              <a:t>미시행</a:t>
            </a:r>
            <a:r>
              <a:rPr kumimoji="1" lang="en-US" altLang="ko-KR" sz="1200" b="1" kern="0" noProof="0" smtClean="0">
                <a:latin typeface="맑은 고딕" pitchFamily="50" charset="-127"/>
                <a:ea typeface="맑은 고딕" pitchFamily="50" charset="-127"/>
              </a:rPr>
              <a:t>)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" name="Rectangle 62"/>
          <p:cNvSpPr>
            <a:spLocks noChangeArrowheads="1"/>
          </p:cNvSpPr>
          <p:nvPr/>
        </p:nvSpPr>
        <p:spPr bwMode="auto">
          <a:xfrm>
            <a:off x="4203126" y="2964557"/>
            <a:ext cx="2536220" cy="536451"/>
          </a:xfrm>
          <a:prstGeom prst="rect">
            <a:avLst/>
          </a:prstGeom>
          <a:solidFill>
            <a:schemeClr val="bg1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174625" marR="0" lvl="0" indent="-174625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200" b="1" kern="0" smtClean="0">
                <a:latin typeface="맑은 고딕" pitchFamily="50" charset="-127"/>
                <a:ea typeface="맑은 고딕" pitchFamily="50" charset="-127"/>
              </a:rPr>
              <a:t>사업관리 </a:t>
            </a:r>
            <a:r>
              <a:rPr kumimoji="1" lang="en-US" altLang="ko-KR" sz="1050" b="1" kern="0" smtClean="0">
                <a:latin typeface="맑은 고딕" pitchFamily="50" charset="-127"/>
                <a:ea typeface="맑은 고딕" pitchFamily="50" charset="-127"/>
              </a:rPr>
              <a:t>– </a:t>
            </a:r>
            <a:r>
              <a:rPr kumimoji="1" lang="ko-KR" altLang="en-US" sz="1050" b="1" kern="0" smtClean="0">
                <a:latin typeface="맑은 고딕" pitchFamily="50" charset="-127"/>
                <a:ea typeface="맑은 고딕" pitchFamily="50" charset="-127"/>
              </a:rPr>
              <a:t>현황 및 자료분석</a:t>
            </a:r>
            <a:endParaRPr kumimoji="1" lang="ko-KR" altLang="en-US" sz="105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7" name="Rectangle 62"/>
          <p:cNvSpPr>
            <a:spLocks noChangeArrowheads="1"/>
          </p:cNvSpPr>
          <p:nvPr/>
        </p:nvSpPr>
        <p:spPr bwMode="auto">
          <a:xfrm>
            <a:off x="7226810" y="2613530"/>
            <a:ext cx="2160000" cy="357361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200" b="1" kern="0">
                <a:latin typeface="맑은 고딕" pitchFamily="50" charset="-127"/>
                <a:ea typeface="맑은 고딕" pitchFamily="50" charset="-127"/>
              </a:rPr>
              <a:t>분석자료</a:t>
            </a:r>
            <a:r>
              <a:rPr kumimoji="1" lang="en-US" altLang="ko-KR" sz="1200" b="1" kern="0">
                <a:latin typeface="맑은 고딕" pitchFamily="50" charset="-127"/>
                <a:ea typeface="맑은 고딕" pitchFamily="50" charset="-127"/>
              </a:rPr>
              <a:t>(9/10~10/31)</a:t>
            </a:r>
            <a:endParaRPr kumimoji="1" lang="ko-KR" altLang="en-US" sz="12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8" name="Rectangle 62"/>
          <p:cNvSpPr>
            <a:spLocks noChangeArrowheads="1"/>
          </p:cNvSpPr>
          <p:nvPr/>
        </p:nvSpPr>
        <p:spPr bwMode="auto">
          <a:xfrm>
            <a:off x="7226810" y="2964557"/>
            <a:ext cx="2160000" cy="536451"/>
          </a:xfrm>
          <a:prstGeom prst="rect">
            <a:avLst/>
          </a:prstGeom>
          <a:solidFill>
            <a:schemeClr val="bg1"/>
          </a:solidFill>
          <a:ln w="9525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174625" marR="0" lvl="0" indent="-174625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100" b="1" kern="0" dirty="0">
                <a:latin typeface="맑은 고딕" pitchFamily="50" charset="-127"/>
                <a:ea typeface="맑은 고딕" pitchFamily="50" charset="-127"/>
              </a:rPr>
              <a:t>유형분류</a:t>
            </a:r>
            <a:r>
              <a:rPr kumimoji="1" lang="en-US" altLang="ko-KR" sz="1100" b="1" kern="0" dirty="0"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1" lang="ko-KR" altLang="en-US" sz="1100" b="1" kern="0" dirty="0">
                <a:latin typeface="맑은 고딕" pitchFamily="50" charset="-127"/>
                <a:ea typeface="맑은 고딕" pitchFamily="50" charset="-127"/>
              </a:rPr>
              <a:t>공통</a:t>
            </a:r>
            <a:r>
              <a:rPr kumimoji="1" lang="en-US" altLang="ko-KR" sz="1100" b="1" ker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100" b="1" kern="0">
                <a:latin typeface="맑은 고딕" pitchFamily="50" charset="-127"/>
                <a:ea typeface="맑은 고딕" pitchFamily="50" charset="-127"/>
              </a:rPr>
              <a:t>회계</a:t>
            </a:r>
            <a:r>
              <a:rPr kumimoji="1" lang="en-US" altLang="ko-KR" sz="1100" b="1" ker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100" b="1" kern="0">
                <a:latin typeface="맑은 고딕" pitchFamily="50" charset="-127"/>
                <a:ea typeface="맑은 고딕" pitchFamily="50" charset="-127"/>
              </a:rPr>
              <a:t>예산</a:t>
            </a:r>
            <a:r>
              <a:rPr kumimoji="1" lang="en-US" altLang="ko-KR" sz="1100" b="1" ker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100" b="1" kern="0">
                <a:latin typeface="맑은 고딕" pitchFamily="50" charset="-127"/>
                <a:ea typeface="맑은 고딕" pitchFamily="50" charset="-127"/>
              </a:rPr>
              <a:t>구매</a:t>
            </a:r>
            <a:r>
              <a:rPr kumimoji="1" lang="en-US" altLang="ko-KR" sz="1100" b="1" ker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100" b="1" kern="0">
                <a:latin typeface="맑은 고딕" pitchFamily="50" charset="-127"/>
                <a:ea typeface="맑은 고딕" pitchFamily="50" charset="-127"/>
              </a:rPr>
              <a:t>자산</a:t>
            </a:r>
            <a:r>
              <a:rPr kumimoji="1" lang="en-US" altLang="ko-KR" sz="1100" b="1" kern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100" b="1" kern="0">
                <a:latin typeface="맑은 고딕" pitchFamily="50" charset="-127"/>
                <a:ea typeface="맑은 고딕" pitchFamily="50" charset="-127"/>
              </a:rPr>
              <a:t>사업관리 </a:t>
            </a:r>
            <a:r>
              <a:rPr kumimoji="1" lang="ko-KR" altLang="en-US" sz="1100" b="1" kern="0" dirty="0">
                <a:latin typeface="맑은 고딕" pitchFamily="50" charset="-127"/>
                <a:ea typeface="맑은 고딕" pitchFamily="50" charset="-127"/>
              </a:rPr>
              <a:t>등</a:t>
            </a:r>
            <a:r>
              <a:rPr kumimoji="1" lang="en-US" altLang="ko-KR" sz="1100" b="1" kern="0" dirty="0">
                <a:latin typeface="맑은 고딕" pitchFamily="50" charset="-127"/>
                <a:ea typeface="맑은 고딕" pitchFamily="50" charset="-127"/>
              </a:rPr>
              <a:t>)</a:t>
            </a:r>
          </a:p>
          <a:p>
            <a:pPr marL="174625" marR="0" lvl="0" indent="-174625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100" b="1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개선방향 식별</a:t>
            </a:r>
          </a:p>
        </p:txBody>
      </p:sp>
      <p:sp>
        <p:nvSpPr>
          <p:cNvPr id="5" name="갈매기형 수장 4"/>
          <p:cNvSpPr/>
          <p:nvPr/>
        </p:nvSpPr>
        <p:spPr>
          <a:xfrm>
            <a:off x="3764868" y="2739741"/>
            <a:ext cx="396044" cy="597214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갈매기형 수장 29"/>
          <p:cNvSpPr/>
          <p:nvPr/>
        </p:nvSpPr>
        <p:spPr>
          <a:xfrm>
            <a:off x="6789204" y="2739741"/>
            <a:ext cx="396044" cy="597214"/>
          </a:xfrm>
          <a:prstGeom prst="chevron">
            <a:avLst/>
          </a:prstGeom>
          <a:solidFill>
            <a:schemeClr val="bg1">
              <a:lumMod val="8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Rectangle 53">
            <a:extLst>
              <a:ext uri="{FF2B5EF4-FFF2-40B4-BE49-F238E27FC236}">
                <a16:creationId xmlns:a16="http://schemas.microsoft.com/office/drawing/2014/main" xmlns="" id="{E70F1C44-6D48-443B-B688-624666084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1236" y="3682676"/>
            <a:ext cx="3915574" cy="322121"/>
          </a:xfrm>
          <a:prstGeom prst="rect">
            <a:avLst/>
          </a:prstGeom>
          <a:solidFill>
            <a:srgbClr val="508CD2">
              <a:lumMod val="40000"/>
              <a:lumOff val="60000"/>
            </a:srgbClr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r>
              <a:rPr kumimoji="0" lang="ko-KR" altLang="en-US" sz="1400" b="1" i="0" u="none" strike="noStrike" kern="0" cap="none" spc="-15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분석 방식</a:t>
            </a:r>
          </a:p>
        </p:txBody>
      </p:sp>
      <p:sp>
        <p:nvSpPr>
          <p:cNvPr id="32" name="Rectangle 53">
            <a:extLst>
              <a:ext uri="{FF2B5EF4-FFF2-40B4-BE49-F238E27FC236}">
                <a16:creationId xmlns:a16="http://schemas.microsoft.com/office/drawing/2014/main" xmlns="" id="{E70F1C44-6D48-443B-B688-624666084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1372" y="4006169"/>
            <a:ext cx="3749660" cy="219513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87313" marR="0" lvl="0" indent="-87313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endParaRPr kumimoji="0" lang="ko-KR" altLang="en-US" sz="1400" b="0" i="0" u="none" strike="noStrike" kern="0" cap="none" spc="-15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Rectangle 53">
            <a:extLst>
              <a:ext uri="{FF2B5EF4-FFF2-40B4-BE49-F238E27FC236}">
                <a16:creationId xmlns:a16="http://schemas.microsoft.com/office/drawing/2014/main" xmlns="" id="{E70F1C44-6D48-443B-B688-624666084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71236" y="3997751"/>
            <a:ext cx="3915574" cy="220329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ysClr val="windowText" lastClr="000000">
                <a:lumMod val="65000"/>
                <a:lumOff val="35000"/>
              </a:sys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0" fontAlgn="auto" latinLnBrk="0" hangingPunct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28030"/>
              </a:buClr>
              <a:buSzTx/>
              <a:buFontTx/>
              <a:buNone/>
              <a:tabLst/>
              <a:defRPr/>
            </a:pPr>
            <a:endParaRPr kumimoji="0" lang="ko-KR" altLang="en-US" sz="1400" b="0" i="0" u="none" strike="noStrike" kern="0" cap="none" spc="-15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Rectangle 62"/>
          <p:cNvSpPr>
            <a:spLocks noChangeArrowheads="1"/>
          </p:cNvSpPr>
          <p:nvPr/>
        </p:nvSpPr>
        <p:spPr bwMode="auto">
          <a:xfrm>
            <a:off x="1604628" y="4123224"/>
            <a:ext cx="3492388" cy="32430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7313" marR="0" lvl="0" indent="-87313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200" b="1" kern="0">
                <a:latin typeface="맑은 고딕" pitchFamily="50" charset="-127"/>
                <a:ea typeface="맑은 고딕" pitchFamily="50" charset="-127"/>
              </a:rPr>
              <a:t>현 경영정보시스템의 운영 현황 파악</a:t>
            </a:r>
            <a:endParaRPr kumimoji="1" lang="en-US" altLang="ko-KR" sz="1200" b="1" i="0" u="none" strike="noStrike" kern="0" cap="none" spc="0" normalizeH="0" baseline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" name="타원 5"/>
          <p:cNvSpPr/>
          <p:nvPr/>
        </p:nvSpPr>
        <p:spPr>
          <a:xfrm>
            <a:off x="5745088" y="4041068"/>
            <a:ext cx="432000" cy="3960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문제</a:t>
            </a:r>
          </a:p>
        </p:txBody>
      </p:sp>
      <p:sp>
        <p:nvSpPr>
          <p:cNvPr id="35" name="타원 34"/>
          <p:cNvSpPr/>
          <p:nvPr/>
        </p:nvSpPr>
        <p:spPr>
          <a:xfrm>
            <a:off x="6741215" y="4041068"/>
            <a:ext cx="432000" cy="396000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의견</a:t>
            </a:r>
          </a:p>
        </p:txBody>
      </p:sp>
      <p:sp>
        <p:nvSpPr>
          <p:cNvPr id="36" name="타원 35"/>
          <p:cNvSpPr/>
          <p:nvPr/>
        </p:nvSpPr>
        <p:spPr>
          <a:xfrm>
            <a:off x="7737342" y="4041068"/>
            <a:ext cx="432000" cy="3960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요구</a:t>
            </a:r>
          </a:p>
        </p:txBody>
      </p:sp>
      <p:sp>
        <p:nvSpPr>
          <p:cNvPr id="37" name="타원 36"/>
          <p:cNvSpPr/>
          <p:nvPr/>
        </p:nvSpPr>
        <p:spPr>
          <a:xfrm>
            <a:off x="8733468" y="4041068"/>
            <a:ext cx="432000" cy="396000"/>
          </a:xfrm>
          <a:prstGeom prst="ellipse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현황</a:t>
            </a:r>
          </a:p>
        </p:txBody>
      </p:sp>
      <p:sp>
        <p:nvSpPr>
          <p:cNvPr id="7" name="모서리가 둥근 직사각형 6"/>
          <p:cNvSpPr/>
          <p:nvPr/>
        </p:nvSpPr>
        <p:spPr>
          <a:xfrm>
            <a:off x="5729866" y="4663620"/>
            <a:ext cx="3420380" cy="101519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u="sng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분류 및 요약</a:t>
            </a:r>
            <a:endParaRPr lang="en-US" altLang="ko-KR" sz="1100" u="sng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/>
            <a:endParaRPr lang="en-US" altLang="ko-KR" sz="12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9" name="모서리가 둥근 직사각형 38"/>
          <p:cNvSpPr/>
          <p:nvPr/>
        </p:nvSpPr>
        <p:spPr>
          <a:xfrm>
            <a:off x="5729866" y="5848795"/>
            <a:ext cx="3420380" cy="266530"/>
          </a:xfrm>
          <a:prstGeom prst="round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Key Findings </a:t>
            </a:r>
            <a:r>
              <a:rPr lang="ko-KR" altLang="en-US" sz="1400" dirty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도출</a:t>
            </a:r>
          </a:p>
        </p:txBody>
      </p:sp>
      <p:cxnSp>
        <p:nvCxnSpPr>
          <p:cNvPr id="29" name="꺾인 연결선 28"/>
          <p:cNvCxnSpPr>
            <a:stCxn id="6" idx="4"/>
            <a:endCxn id="7" idx="0"/>
          </p:cNvCxnSpPr>
          <p:nvPr/>
        </p:nvCxnSpPr>
        <p:spPr>
          <a:xfrm rot="16200000" flipH="1">
            <a:off x="6587296" y="3810860"/>
            <a:ext cx="226552" cy="1478968"/>
          </a:xfrm>
          <a:prstGeom prst="bentConnector3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35" idx="4"/>
            <a:endCxn id="7" idx="0"/>
          </p:cNvCxnSpPr>
          <p:nvPr/>
        </p:nvCxnSpPr>
        <p:spPr>
          <a:xfrm rot="16200000" flipH="1">
            <a:off x="7085359" y="4308923"/>
            <a:ext cx="226552" cy="482841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꺾인 연결선 44"/>
          <p:cNvCxnSpPr>
            <a:stCxn id="36" idx="4"/>
            <a:endCxn id="7" idx="0"/>
          </p:cNvCxnSpPr>
          <p:nvPr/>
        </p:nvCxnSpPr>
        <p:spPr>
          <a:xfrm rot="5400000">
            <a:off x="7583423" y="4293701"/>
            <a:ext cx="226552" cy="513286"/>
          </a:xfrm>
          <a:prstGeom prst="bentConnector3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37" idx="4"/>
            <a:endCxn id="7" idx="0"/>
          </p:cNvCxnSpPr>
          <p:nvPr/>
        </p:nvCxnSpPr>
        <p:spPr>
          <a:xfrm rot="5400000">
            <a:off x="8081486" y="3795638"/>
            <a:ext cx="226552" cy="1509412"/>
          </a:xfrm>
          <a:prstGeom prst="bentConnector3">
            <a:avLst>
              <a:gd name="adj1" fmla="val 50000"/>
            </a:avLst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꺾인 연결선 50"/>
          <p:cNvCxnSpPr>
            <a:stCxn id="7" idx="2"/>
            <a:endCxn id="39" idx="0"/>
          </p:cNvCxnSpPr>
          <p:nvPr/>
        </p:nvCxnSpPr>
        <p:spPr>
          <a:xfrm>
            <a:off x="7440056" y="5678810"/>
            <a:ext cx="0" cy="169985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68"/>
          <p:cNvSpPr>
            <a:spLocks noChangeArrowheads="1"/>
          </p:cNvSpPr>
          <p:nvPr/>
        </p:nvSpPr>
        <p:spPr bwMode="auto">
          <a:xfrm>
            <a:off x="344488" y="1516780"/>
            <a:ext cx="936104" cy="446942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r>
              <a:rPr kumimoji="1" lang="ko-KR" altLang="en-US" sz="1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목적</a:t>
            </a:r>
          </a:p>
        </p:txBody>
      </p:sp>
      <p:sp>
        <p:nvSpPr>
          <p:cNvPr id="60" name="Rectangle 62"/>
          <p:cNvSpPr>
            <a:spLocks noChangeArrowheads="1"/>
          </p:cNvSpPr>
          <p:nvPr/>
        </p:nvSpPr>
        <p:spPr bwMode="auto">
          <a:xfrm>
            <a:off x="1388632" y="1516780"/>
            <a:ext cx="8136367" cy="446942"/>
          </a:xfrm>
          <a:prstGeom prst="rect">
            <a:avLst/>
          </a:prstGeom>
          <a:solidFill>
            <a:schemeClr val="bg1"/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R="0" lvl="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tabLst/>
              <a:defRPr/>
            </a:pPr>
            <a:r>
              <a:rPr kumimoji="1" lang="ko-KR" altLang="en-US" sz="1400" b="1" kern="0" dirty="0">
                <a:latin typeface="맑은 고딕" pitchFamily="50" charset="-127"/>
                <a:ea typeface="맑은 고딕" pitchFamily="50" charset="-127"/>
              </a:rPr>
              <a:t>본 사업 </a:t>
            </a:r>
            <a:r>
              <a:rPr kumimoji="1" lang="ko-KR" altLang="en-US" sz="1400" b="1" kern="0" noProof="0" dirty="0">
                <a:latin typeface="맑은 고딕" pitchFamily="50" charset="-127"/>
                <a:ea typeface="맑은 고딕" pitchFamily="50" charset="-127"/>
              </a:rPr>
              <a:t>핵심그룹에 대한 인터뷰를 </a:t>
            </a:r>
            <a:r>
              <a:rPr kumimoji="1" lang="ko-KR" altLang="en-US" sz="1400" b="1" kern="0" noProof="0">
                <a:latin typeface="맑은 고딕" pitchFamily="50" charset="-127"/>
                <a:ea typeface="맑은 고딕" pitchFamily="50" charset="-127"/>
              </a:rPr>
              <a:t>통해 현행</a:t>
            </a:r>
            <a:r>
              <a:rPr kumimoji="1" lang="ko-KR" altLang="en-US" sz="1400" b="1" kern="0">
                <a:latin typeface="맑은 고딕" pitchFamily="50" charset="-127"/>
                <a:ea typeface="맑은 고딕" pitchFamily="50" charset="-127"/>
              </a:rPr>
              <a:t> 경영정보시스템 개선</a:t>
            </a:r>
            <a:r>
              <a:rPr kumimoji="1" lang="ko-KR" altLang="en-US" sz="1400" b="1" kern="0" noProof="0"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1" lang="ko-KR" altLang="en-US" sz="1400" b="1" kern="0" noProof="0" dirty="0">
                <a:latin typeface="맑은 고딕" pitchFamily="50" charset="-127"/>
                <a:ea typeface="맑은 고딕" pitchFamily="50" charset="-127"/>
              </a:rPr>
              <a:t>방향성 정의</a:t>
            </a:r>
            <a:r>
              <a:rPr kumimoji="1" lang="ko-KR" altLang="en-US" sz="1400" b="1" kern="0" dirty="0">
                <a:latin typeface="맑은 고딕" pitchFamily="50" charset="-127"/>
                <a:ea typeface="맑은 고딕" pitchFamily="50" charset="-127"/>
              </a:rPr>
              <a:t>에 반영</a:t>
            </a:r>
            <a:r>
              <a:rPr kumimoji="1" lang="ko-KR" altLang="en-US" sz="1400" b="1" kern="0" noProof="0" dirty="0">
                <a:latin typeface="맑은 고딕" pitchFamily="50" charset="-127"/>
                <a:ea typeface="맑은 고딕" pitchFamily="50" charset="-127"/>
              </a:rPr>
              <a:t> 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Rectangle 62"/>
          <p:cNvSpPr>
            <a:spLocks noChangeArrowheads="1"/>
          </p:cNvSpPr>
          <p:nvPr/>
        </p:nvSpPr>
        <p:spPr bwMode="auto">
          <a:xfrm>
            <a:off x="1604628" y="4533652"/>
            <a:ext cx="3492388" cy="32430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7313" marR="0" lvl="0" indent="-87313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200" b="1" kern="0">
                <a:latin typeface="맑은 고딕" pitchFamily="50" charset="-127"/>
                <a:ea typeface="맑은 고딕" pitchFamily="50" charset="-127"/>
              </a:rPr>
              <a:t>현 경영정보시스템 </a:t>
            </a:r>
            <a:r>
              <a:rPr kumimoji="1" lang="ko-KR" altLang="en-US" sz="1200" b="1" kern="0" dirty="0">
                <a:latin typeface="맑은 고딕" pitchFamily="50" charset="-127"/>
                <a:ea typeface="맑은 고딕" pitchFamily="50" charset="-127"/>
              </a:rPr>
              <a:t>개선방향에 대한 의견</a:t>
            </a:r>
            <a:endParaRPr kumimoji="1" lang="en-US" altLang="ko-KR" sz="1200" b="1" i="0" u="none" strike="noStrike" kern="0" cap="none" spc="0" normalizeH="0" baseline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Rectangle 62"/>
          <p:cNvSpPr>
            <a:spLocks noChangeArrowheads="1"/>
          </p:cNvSpPr>
          <p:nvPr/>
        </p:nvSpPr>
        <p:spPr bwMode="auto">
          <a:xfrm>
            <a:off x="1604628" y="4944080"/>
            <a:ext cx="3492388" cy="32430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7313" marR="0" lvl="0" indent="-87313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200" b="1" kern="0">
                <a:latin typeface="맑은 고딕" pitchFamily="50" charset="-127"/>
                <a:ea typeface="맑은 고딕" pitchFamily="50" charset="-127"/>
              </a:rPr>
              <a:t>업무별 시스템 사용 </a:t>
            </a:r>
            <a:r>
              <a:rPr kumimoji="1" lang="ko-KR" altLang="en-US" sz="1200" b="1" kern="0" dirty="0">
                <a:latin typeface="맑은 고딕" pitchFamily="50" charset="-127"/>
                <a:ea typeface="맑은 고딕" pitchFamily="50" charset="-127"/>
              </a:rPr>
              <a:t>현황 식별</a:t>
            </a:r>
            <a:endParaRPr kumimoji="1" lang="en-US" altLang="ko-KR" sz="1200" b="1" i="0" u="none" strike="noStrike" kern="0" cap="none" spc="0" normalizeH="0" baseline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3" name="Rectangle 62"/>
          <p:cNvSpPr>
            <a:spLocks noChangeArrowheads="1"/>
          </p:cNvSpPr>
          <p:nvPr/>
        </p:nvSpPr>
        <p:spPr bwMode="auto">
          <a:xfrm>
            <a:off x="1604628" y="5354508"/>
            <a:ext cx="3492388" cy="32430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7313" marR="0" lvl="0" indent="-87313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200" b="1" kern="0">
                <a:latin typeface="맑은 고딕" pitchFamily="50" charset="-127"/>
                <a:ea typeface="맑은 고딕" pitchFamily="50" charset="-127"/>
              </a:rPr>
              <a:t>시스템별 기능 미비로 </a:t>
            </a:r>
            <a:r>
              <a:rPr kumimoji="1" lang="ko-KR" altLang="en-US" sz="1200" b="1" kern="0" dirty="0">
                <a:latin typeface="맑은 고딕" pitchFamily="50" charset="-127"/>
                <a:ea typeface="맑은 고딕" pitchFamily="50" charset="-127"/>
              </a:rPr>
              <a:t>인한 문제점 식별</a:t>
            </a:r>
            <a:endParaRPr kumimoji="1" lang="en-US" altLang="ko-KR" sz="1200" b="1" i="0" u="none" strike="noStrike" kern="0" cap="none" spc="0" normalizeH="0" baseline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4" name="Rectangle 62"/>
          <p:cNvSpPr>
            <a:spLocks noChangeArrowheads="1"/>
          </p:cNvSpPr>
          <p:nvPr/>
        </p:nvSpPr>
        <p:spPr bwMode="auto">
          <a:xfrm>
            <a:off x="1604628" y="5764937"/>
            <a:ext cx="3492388" cy="324302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7313" marR="0" lvl="0" indent="-87313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1" lang="ko-KR" altLang="en-US" sz="1200" b="1" kern="0" dirty="0">
                <a:latin typeface="맑은 고딕" pitchFamily="50" charset="-127"/>
                <a:ea typeface="맑은 고딕" pitchFamily="50" charset="-127"/>
              </a:rPr>
              <a:t>시스템 상세 요구사항 식별</a:t>
            </a:r>
            <a:endParaRPr kumimoji="1" lang="en-US" altLang="ko-KR" sz="1200" b="1" i="0" u="none" strike="noStrike" kern="0" cap="none" spc="0" normalizeH="0" baseline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>
          <a:xfrm>
            <a:off x="6789204" y="4653136"/>
            <a:ext cx="1121677" cy="20481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분류 및 요약</a:t>
            </a:r>
          </a:p>
        </p:txBody>
      </p:sp>
      <p:grpSp>
        <p:nvGrpSpPr>
          <p:cNvPr id="15" name="그룹 66"/>
          <p:cNvGrpSpPr/>
          <p:nvPr/>
        </p:nvGrpSpPr>
        <p:grpSpPr>
          <a:xfrm>
            <a:off x="5699314" y="4921423"/>
            <a:ext cx="3494655" cy="729218"/>
            <a:chOff x="5720096" y="4931814"/>
            <a:chExt cx="3494655" cy="729218"/>
          </a:xfrm>
        </p:grpSpPr>
        <p:cxnSp>
          <p:nvCxnSpPr>
            <p:cNvPr id="69" name="직선 연결선 68"/>
            <p:cNvCxnSpPr/>
            <p:nvPr/>
          </p:nvCxnSpPr>
          <p:spPr>
            <a:xfrm>
              <a:off x="5817096" y="5145367"/>
              <a:ext cx="3276000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직선 연결선 69"/>
            <p:cNvCxnSpPr/>
            <p:nvPr/>
          </p:nvCxnSpPr>
          <p:spPr>
            <a:xfrm>
              <a:off x="6744355" y="5007182"/>
              <a:ext cx="0" cy="18000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연결선 70"/>
            <p:cNvCxnSpPr/>
            <p:nvPr/>
          </p:nvCxnSpPr>
          <p:spPr>
            <a:xfrm>
              <a:off x="7365268" y="5008702"/>
              <a:ext cx="0" cy="18000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연결선 71"/>
            <p:cNvCxnSpPr/>
            <p:nvPr/>
          </p:nvCxnSpPr>
          <p:spPr>
            <a:xfrm>
              <a:off x="7941332" y="5008702"/>
              <a:ext cx="0" cy="18000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연결선 72"/>
            <p:cNvCxnSpPr/>
            <p:nvPr/>
          </p:nvCxnSpPr>
          <p:spPr>
            <a:xfrm>
              <a:off x="8553400" y="5008702"/>
              <a:ext cx="0" cy="18000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" name="TextBox 73"/>
            <p:cNvSpPr txBox="1"/>
            <p:nvPr/>
          </p:nvSpPr>
          <p:spPr>
            <a:xfrm>
              <a:off x="6287860" y="4931814"/>
              <a:ext cx="44127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맑은 고딕" pitchFamily="50" charset="-127"/>
                  <a:ea typeface="맑은 고딕" pitchFamily="50" charset="-127"/>
                </a:rPr>
                <a:t>공통</a:t>
              </a:r>
              <a:endParaRPr lang="en-US" altLang="ko-KR" sz="900" dirty="0">
                <a:latin typeface="맑은 고딕" pitchFamily="50" charset="-127"/>
                <a:ea typeface="맑은 고딕" pitchFamily="50" charset="-127"/>
              </a:endParaRPr>
            </a:p>
            <a:p>
              <a:pPr algn="ctr"/>
              <a:endParaRPr lang="en-US" altLang="ko-KR" sz="5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6760928" y="4937695"/>
              <a:ext cx="5710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>
                  <a:latin typeface="맑은 고딕" pitchFamily="50" charset="-127"/>
                  <a:ea typeface="맑은 고딕" pitchFamily="50" charset="-127"/>
                </a:rPr>
                <a:t>회계</a:t>
              </a:r>
              <a:endParaRPr lang="en-US" altLang="ko-KR" sz="900" dirty="0">
                <a:latin typeface="맑은 고딕" pitchFamily="50" charset="-127"/>
                <a:ea typeface="맑은 고딕" pitchFamily="50" charset="-127"/>
              </a:endParaRPr>
            </a:p>
            <a:p>
              <a:pPr algn="ctr"/>
              <a:endParaRPr lang="en-US" altLang="ko-KR" sz="5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7417993" y="4937695"/>
              <a:ext cx="4719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>
                  <a:latin typeface="맑은 고딕" pitchFamily="50" charset="-127"/>
                  <a:ea typeface="맑은 고딕" pitchFamily="50" charset="-127"/>
                </a:rPr>
                <a:t>예산</a:t>
              </a:r>
              <a:endParaRPr lang="en-US" altLang="ko-KR" sz="900" dirty="0">
                <a:latin typeface="맑은 고딕" pitchFamily="50" charset="-127"/>
                <a:ea typeface="맑은 고딕" pitchFamily="50" charset="-127"/>
              </a:endParaRPr>
            </a:p>
            <a:p>
              <a:pPr algn="ctr"/>
              <a:endParaRPr lang="en-US" altLang="ko-KR" sz="5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7910424" y="4937695"/>
              <a:ext cx="69091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>
                  <a:latin typeface="맑은 고딕" pitchFamily="50" charset="-127"/>
                  <a:ea typeface="맑은 고딕" pitchFamily="50" charset="-127"/>
                </a:rPr>
                <a:t>구매자산</a:t>
              </a:r>
              <a:endParaRPr lang="en-US" altLang="ko-KR" sz="5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9" name="TextBox 78"/>
            <p:cNvSpPr txBox="1"/>
            <p:nvPr/>
          </p:nvSpPr>
          <p:spPr>
            <a:xfrm>
              <a:off x="8501669" y="4937695"/>
              <a:ext cx="69091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>
                  <a:latin typeface="맑은 고딕" pitchFamily="50" charset="-127"/>
                  <a:ea typeface="맑은 고딕" pitchFamily="50" charset="-127"/>
                </a:rPr>
                <a:t>사업관리</a:t>
              </a:r>
              <a:endParaRPr lang="en-US" altLang="ko-KR" sz="500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80" name="직선 연결선 79"/>
            <p:cNvCxnSpPr/>
            <p:nvPr/>
          </p:nvCxnSpPr>
          <p:spPr>
            <a:xfrm>
              <a:off x="6285148" y="4973729"/>
              <a:ext cx="0" cy="621577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연결선 80"/>
            <p:cNvCxnSpPr/>
            <p:nvPr/>
          </p:nvCxnSpPr>
          <p:spPr>
            <a:xfrm>
              <a:off x="5900255" y="5309904"/>
              <a:ext cx="396000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연결선 81"/>
            <p:cNvCxnSpPr/>
            <p:nvPr/>
          </p:nvCxnSpPr>
          <p:spPr>
            <a:xfrm>
              <a:off x="5900255" y="5462304"/>
              <a:ext cx="396000" cy="0"/>
            </a:xfrm>
            <a:prstGeom prst="line">
              <a:avLst/>
            </a:prstGeom>
            <a:ln w="6350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TextBox 82"/>
            <p:cNvSpPr txBox="1"/>
            <p:nvPr/>
          </p:nvSpPr>
          <p:spPr>
            <a:xfrm>
              <a:off x="5720096" y="5110526"/>
              <a:ext cx="66597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맑은 고딕" pitchFamily="50" charset="-127"/>
                  <a:ea typeface="맑은 고딕" pitchFamily="50" charset="-127"/>
                </a:rPr>
                <a:t>개선방향</a:t>
              </a:r>
              <a:endParaRPr lang="en-US" altLang="ko-KR" sz="5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5722786" y="5277800"/>
              <a:ext cx="66597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맑은 고딕" pitchFamily="50" charset="-127"/>
                  <a:ea typeface="맑은 고딕" pitchFamily="50" charset="-127"/>
                </a:rPr>
                <a:t>업무</a:t>
              </a:r>
              <a:endParaRPr lang="en-US" altLang="ko-KR" sz="5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5" name="TextBox 84"/>
            <p:cNvSpPr txBox="1"/>
            <p:nvPr/>
          </p:nvSpPr>
          <p:spPr>
            <a:xfrm>
              <a:off x="5731386" y="5430200"/>
              <a:ext cx="66597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900" dirty="0">
                  <a:latin typeface="맑은 고딕" pitchFamily="50" charset="-127"/>
                  <a:ea typeface="맑은 고딕" pitchFamily="50" charset="-127"/>
                </a:rPr>
                <a:t>시스템</a:t>
              </a:r>
              <a:endParaRPr lang="en-US" altLang="ko-KR" sz="500" dirty="0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8" name="그룹 88"/>
            <p:cNvGrpSpPr/>
            <p:nvPr/>
          </p:nvGrpSpPr>
          <p:grpSpPr>
            <a:xfrm>
              <a:off x="6231924" y="5123714"/>
              <a:ext cx="2982827" cy="463022"/>
              <a:chOff x="-2755079" y="2560917"/>
              <a:chExt cx="2982827" cy="463022"/>
            </a:xfrm>
          </p:grpSpPr>
          <p:sp>
            <p:nvSpPr>
              <p:cNvPr id="91" name="직사각형 90"/>
              <p:cNvSpPr/>
              <p:nvPr/>
            </p:nvSpPr>
            <p:spPr>
              <a:xfrm>
                <a:off x="-2755079" y="2562274"/>
                <a:ext cx="89997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통합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유연화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자동화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92" name="직사각형 91"/>
              <p:cNvSpPr/>
              <p:nvPr/>
            </p:nvSpPr>
            <p:spPr>
              <a:xfrm>
                <a:off x="-2334457" y="2562274"/>
                <a:ext cx="89997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규범화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편리성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사용자중심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93" name="직사각형 92"/>
              <p:cNvSpPr/>
              <p:nvPr/>
            </p:nvSpPr>
            <p:spPr>
              <a:xfrm>
                <a:off x="-1719838" y="2562274"/>
                <a:ext cx="89997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표준화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보안강화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연계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97" name="직사각형 96"/>
              <p:cNvSpPr/>
              <p:nvPr/>
            </p:nvSpPr>
            <p:spPr>
              <a:xfrm>
                <a:off x="-1207182" y="2562274"/>
                <a:ext cx="89997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통계강화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데이터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인프라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98" name="직사각형 97"/>
              <p:cNvSpPr/>
              <p:nvPr/>
            </p:nvSpPr>
            <p:spPr>
              <a:xfrm>
                <a:off x="-672224" y="2560917"/>
                <a:ext cx="899972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효율화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스마트워크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marL="93663" lvl="0" indent="-93663">
                  <a:buFont typeface="Wingdings" panose="05000000000000000000" pitchFamily="2" charset="2"/>
                  <a:buChar char="§"/>
                </a:pPr>
                <a:r>
                  <a:rPr lang="ko-KR" altLang="en-US" sz="8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정합성</a:t>
                </a:r>
                <a:endPara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</p:grpSp>
      <p:sp>
        <p:nvSpPr>
          <p:cNvPr id="9" name="TextBox 8"/>
          <p:cNvSpPr txBox="1"/>
          <p:nvPr/>
        </p:nvSpPr>
        <p:spPr>
          <a:xfrm>
            <a:off x="5816186" y="4905372"/>
            <a:ext cx="4849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dirty="0">
                <a:latin typeface="맑은 고딕" pitchFamily="50" charset="-127"/>
                <a:ea typeface="맑은 고딕" pitchFamily="50" charset="-127"/>
              </a:rPr>
              <a:t>유형</a:t>
            </a:r>
          </a:p>
        </p:txBody>
      </p:sp>
      <p:sp>
        <p:nvSpPr>
          <p:cNvPr id="6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104456" cy="781320"/>
          </a:xfrm>
        </p:spPr>
        <p:txBody>
          <a:bodyPr>
            <a:normAutofit/>
          </a:bodyPr>
          <a:lstStyle/>
          <a:p>
            <a:r>
              <a:rPr lang="en-US" altLang="ko-KR" smtClean="0"/>
              <a:t>1.6 </a:t>
            </a:r>
            <a:r>
              <a:rPr lang="ko-KR" altLang="en-US" dirty="0"/>
              <a:t>이해관계자 인터뷰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1.6.1 </a:t>
            </a:r>
            <a:r>
              <a:rPr lang="ko-KR" altLang="en-US" sz="1800"/>
              <a:t>이해관계자 인터뷰 결과분석</a:t>
            </a:r>
            <a:endParaRPr lang="ko-KR" altLang="en-US" sz="1800" dirty="0"/>
          </a:p>
        </p:txBody>
      </p:sp>
      <p:sp>
        <p:nvSpPr>
          <p:cNvPr id="3" name="TextBox 2"/>
          <p:cNvSpPr txBox="1"/>
          <p:nvPr/>
        </p:nvSpPr>
        <p:spPr>
          <a:xfrm>
            <a:off x="1492320" y="2101367"/>
            <a:ext cx="18325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smtClean="0"/>
              <a:t>(Focus Group Interview)</a:t>
            </a:r>
            <a:endParaRPr lang="ko-KR" altLang="en-US" sz="1200"/>
          </a:p>
        </p:txBody>
      </p:sp>
    </p:spTree>
    <p:extLst>
      <p:ext uri="{BB962C8B-B14F-4D97-AF65-F5344CB8AC3E}">
        <p14:creationId xmlns:p14="http://schemas.microsoft.com/office/powerpoint/2010/main" val="1857269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이해관계자 인터뷰</a:t>
            </a:r>
            <a:r>
              <a:rPr lang="en-US" altLang="ko-KR" sz="1600"/>
              <a:t> </a:t>
            </a:r>
            <a:r>
              <a:rPr lang="ko-KR" altLang="en-US" sz="1600" dirty="0"/>
              <a:t>결과를 </a:t>
            </a:r>
            <a:r>
              <a:rPr lang="ko-KR" altLang="en-US" sz="1600" dirty="0" err="1"/>
              <a:t>대분류와</a:t>
            </a:r>
            <a:r>
              <a:rPr lang="ko-KR" altLang="en-US" sz="1600" dirty="0"/>
              <a:t> 중분류 기준으로 분포에 대해 분석한 결과 </a:t>
            </a:r>
            <a:r>
              <a:rPr lang="ko-KR" altLang="en-US" sz="1600" dirty="0" err="1"/>
              <a:t>대분류로는</a:t>
            </a:r>
            <a:r>
              <a:rPr lang="ko-KR" altLang="en-US" sz="1600" dirty="0"/>
              <a:t> 공통</a:t>
            </a:r>
            <a:r>
              <a:rPr lang="en-US" altLang="ko-KR" sz="1600"/>
              <a:t>, </a:t>
            </a:r>
            <a:r>
              <a:rPr lang="ko-KR" altLang="en-US" sz="1600"/>
              <a:t>회계</a:t>
            </a:r>
            <a:r>
              <a:rPr lang="en-US" altLang="ko-KR" sz="1600"/>
              <a:t>, </a:t>
            </a:r>
            <a:r>
              <a:rPr lang="ko-KR" altLang="en-US" sz="1600"/>
              <a:t>예산관리 </a:t>
            </a:r>
            <a:r>
              <a:rPr lang="ko-KR" altLang="en-US" sz="1600" dirty="0"/>
              <a:t>순으로 의견이 많은 것으로 조사되었고 </a:t>
            </a:r>
            <a:r>
              <a:rPr lang="ko-KR" altLang="en-US" sz="1600"/>
              <a:t>중분류로는 기능성 개선 및 통합의견이 </a:t>
            </a:r>
            <a:r>
              <a:rPr lang="ko-KR" altLang="en-US" sz="1600" dirty="0"/>
              <a:t>가장 많은 것으로 조사됨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smtClean="0"/>
              <a:t>1.6 </a:t>
            </a:r>
            <a:r>
              <a:rPr lang="ko-KR" altLang="en-US" smtClean="0"/>
              <a:t>이해관계자 인터뷰</a:t>
            </a:r>
            <a:endParaRPr lang="en-US" altLang="ko-KR" dirty="0"/>
          </a:p>
        </p:txBody>
      </p:sp>
      <p:grpSp>
        <p:nvGrpSpPr>
          <p:cNvPr id="21" name="그룹 20"/>
          <p:cNvGrpSpPr/>
          <p:nvPr/>
        </p:nvGrpSpPr>
        <p:grpSpPr>
          <a:xfrm>
            <a:off x="344488" y="5543646"/>
            <a:ext cx="9180512" cy="765590"/>
            <a:chOff x="344488" y="5543646"/>
            <a:chExt cx="9180512" cy="765590"/>
          </a:xfrm>
        </p:grpSpPr>
        <p:sp>
          <p:nvSpPr>
            <p:cNvPr id="22" name="직사각형 35"/>
            <p:cNvSpPr>
              <a:spLocks noChangeArrowheads="1"/>
            </p:cNvSpPr>
            <p:nvPr/>
          </p:nvSpPr>
          <p:spPr bwMode="auto">
            <a:xfrm>
              <a:off x="1521635" y="5556709"/>
              <a:ext cx="8003365" cy="752527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round/>
              <a:headEnd type="none" w="med" len="med"/>
              <a:tailEnd type="none" w="sm" len="sm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08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182563" indent="-182563" eaLnBrk="0" fontAlgn="base" latinLnBrk="0" hangingPunct="0">
                <a:spcBef>
                  <a:spcPts val="300"/>
                </a:spcBef>
                <a:spcAft>
                  <a:spcPct val="0"/>
                </a:spcAft>
                <a:buClr>
                  <a:prstClr val="black"/>
                </a:buClr>
                <a:buFont typeface="Wingdings" pitchFamily="2" charset="2"/>
                <a:buChar char="q"/>
                <a:defRPr/>
              </a:pPr>
              <a:r>
                <a:rPr lang="en-US" altLang="ko-KR" sz="12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FGI </a:t>
              </a:r>
              <a:r>
                <a:rPr lang="ko-KR" altLang="en-US" sz="12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결과를 </a:t>
              </a:r>
              <a:r>
                <a:rPr lang="ko-KR" altLang="en-US" sz="1200" kern="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대분류와</a:t>
              </a:r>
              <a:r>
                <a:rPr lang="ko-KR" altLang="en-US" sz="12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중분류 기준으로 분포에 대해 분석한 결과 </a:t>
              </a:r>
              <a:r>
                <a:rPr lang="ko-KR" altLang="en-US" sz="1200" kern="0" dirty="0" err="1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대분류로는</a:t>
              </a:r>
              <a:r>
                <a:rPr lang="ko-KR" altLang="en-US" sz="12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 공통</a:t>
              </a:r>
              <a:r>
                <a:rPr lang="en-US" altLang="ko-KR" sz="12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lang="ko-KR" altLang="en-US" sz="1200" kern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기금지원 순으로 의견이 많은 것으로 조사되었고 중분류로는 시스템 개선의견이 가장 많은 것으로 조사됨</a:t>
              </a:r>
              <a:endParaRPr lang="en-US" altLang="ko-KR" sz="12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3" name="오각형 22"/>
            <p:cNvSpPr>
              <a:spLocks noChangeArrowheads="1"/>
            </p:cNvSpPr>
            <p:nvPr/>
          </p:nvSpPr>
          <p:spPr bwMode="gray">
            <a:xfrm>
              <a:off x="344488" y="5543646"/>
              <a:ext cx="1177147" cy="752527"/>
            </a:xfrm>
            <a:prstGeom prst="homePlate">
              <a:avLst>
                <a:gd name="adj" fmla="val 19025"/>
              </a:avLst>
            </a:prstGeom>
            <a:solidFill>
              <a:srgbClr val="003058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latinLnBrk="0">
                <a:defRPr/>
              </a:pPr>
              <a:r>
                <a:rPr kumimoji="1" lang="en-US" altLang="ko-KR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Key Findings</a:t>
              </a:r>
            </a:p>
          </p:txBody>
        </p:sp>
      </p:grpSp>
      <p:sp>
        <p:nvSpPr>
          <p:cNvPr id="24" name="직사각형 23"/>
          <p:cNvSpPr/>
          <p:nvPr/>
        </p:nvSpPr>
        <p:spPr bwMode="auto">
          <a:xfrm>
            <a:off x="344488" y="1963204"/>
            <a:ext cx="9180512" cy="3259083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180000" bIns="36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just" latinLnBrk="0">
              <a:spcBef>
                <a:spcPts val="600"/>
              </a:spcBef>
              <a:buClr>
                <a:sysClr val="windowText" lastClr="000000"/>
              </a:buClr>
              <a:buFont typeface="Wingdings" pitchFamily="2" charset="2"/>
              <a:buChar char="q"/>
            </a:pPr>
            <a:endParaRPr lang="ko-KR" altLang="en-US" sz="13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2799300" y="1583591"/>
            <a:ext cx="4419600" cy="307777"/>
            <a:chOff x="2799300" y="1583591"/>
            <a:chExt cx="4419600" cy="307777"/>
          </a:xfrm>
        </p:grpSpPr>
        <p:sp>
          <p:nvSpPr>
            <p:cNvPr id="26" name="Text Box 605"/>
            <p:cNvSpPr txBox="1">
              <a:spLocks noChangeArrowheads="1"/>
            </p:cNvSpPr>
            <p:nvPr/>
          </p:nvSpPr>
          <p:spPr bwMode="auto">
            <a:xfrm>
              <a:off x="2799300" y="1583591"/>
              <a:ext cx="4419600" cy="307777"/>
            </a:xfrm>
            <a:prstGeom prst="rect">
              <a:avLst/>
            </a:prstGeom>
            <a:noFill/>
            <a:ln w="9525" algn="ctr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vl="0" algn="ctr" eaLnBrk="0" latinLnBrk="0" hangingPunct="0">
                <a:spcBef>
                  <a:spcPct val="50000"/>
                </a:spcBef>
                <a:defRPr/>
              </a:pPr>
              <a:r>
                <a:rPr lang="en-US" altLang="ko-KR" sz="1400" b="1" kern="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FGI </a:t>
              </a:r>
              <a:r>
                <a:rPr lang="ko-KR" altLang="en-US" sz="1400" b="1" kern="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결과 유형분석 </a:t>
              </a:r>
              <a:r>
                <a:rPr lang="en-US" altLang="ko-KR" sz="1400" b="1" kern="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(1/2)</a:t>
              </a:r>
              <a:endParaRPr lang="ko-KR" altLang="en-US" sz="14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7" name="직선 연결선 12"/>
            <p:cNvCxnSpPr>
              <a:cxnSpLocks noChangeShapeType="1"/>
            </p:cNvCxnSpPr>
            <p:nvPr/>
          </p:nvCxnSpPr>
          <p:spPr bwMode="auto">
            <a:xfrm>
              <a:off x="3029100" y="1879656"/>
              <a:ext cx="3960000" cy="0"/>
            </a:xfrm>
            <a:prstGeom prst="line">
              <a:avLst/>
            </a:prstGeom>
            <a:noFill/>
            <a:ln w="12700" algn="ctr">
              <a:solidFill>
                <a:sysClr val="windowText" lastClr="000000"/>
              </a:solidFill>
              <a:round/>
              <a:headEnd/>
              <a:tailEnd/>
            </a:ln>
          </p:spPr>
        </p:cxnSp>
      </p:grpSp>
      <p:sp>
        <p:nvSpPr>
          <p:cNvPr id="28" name="직사각형 27">
            <a:extLst>
              <a:ext uri="{FF2B5EF4-FFF2-40B4-BE49-F238E27FC236}">
                <a16:creationId xmlns:a16="http://schemas.microsoft.com/office/drawing/2014/main" xmlns="" id="{CD8CFA3F-494E-43A5-97B6-1AE8A5FA4D11}"/>
              </a:ext>
            </a:extLst>
          </p:cNvPr>
          <p:cNvSpPr/>
          <p:nvPr/>
        </p:nvSpPr>
        <p:spPr bwMode="auto">
          <a:xfrm>
            <a:off x="444500" y="2073548"/>
            <a:ext cx="4378988" cy="324961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0" latinLnBrk="0" hangingPunct="0"/>
            <a:r>
              <a:rPr lang="ko-KR" altLang="en-US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이해관계자 인터뷰</a:t>
            </a:r>
            <a:r>
              <a:rPr lang="en-US" altLang="ko-KR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/</a:t>
            </a:r>
            <a:r>
              <a:rPr lang="ko-KR" altLang="en-US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업무분석</a:t>
            </a:r>
            <a:r>
              <a:rPr lang="en-US" altLang="ko-KR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결과 </a:t>
            </a:r>
            <a:r>
              <a:rPr lang="en-US" altLang="ko-KR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ko-KR" altLang="en-US" sz="1400" b="1" kern="0" dirty="0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대분류</a:t>
            </a: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기준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C9085658-EEE7-4517-8576-242999260162}"/>
              </a:ext>
            </a:extLst>
          </p:cNvPr>
          <p:cNvSpPr/>
          <p:nvPr/>
        </p:nvSpPr>
        <p:spPr bwMode="auto">
          <a:xfrm>
            <a:off x="5029512" y="2073548"/>
            <a:ext cx="4378988" cy="324961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0" latinLnBrk="0" hangingPunct="0"/>
            <a:r>
              <a:rPr lang="en-US" altLang="ko-KR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FGI </a:t>
            </a:r>
            <a:r>
              <a:rPr lang="ko-KR" altLang="en-US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결과 유형분석 </a:t>
            </a:r>
            <a:r>
              <a:rPr lang="en-US" altLang="ko-KR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중분류 기준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xmlns="" id="{B99F91F0-8348-4208-BBCD-BD58037D2491}"/>
              </a:ext>
            </a:extLst>
          </p:cNvPr>
          <p:cNvSpPr/>
          <p:nvPr/>
        </p:nvSpPr>
        <p:spPr bwMode="auto">
          <a:xfrm>
            <a:off x="444500" y="2398508"/>
            <a:ext cx="4378988" cy="271675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799E8E35-671D-48CA-825B-1F2B55811F1A}"/>
              </a:ext>
            </a:extLst>
          </p:cNvPr>
          <p:cNvSpPr/>
          <p:nvPr/>
        </p:nvSpPr>
        <p:spPr bwMode="auto">
          <a:xfrm>
            <a:off x="5029512" y="2398508"/>
            <a:ext cx="4378988" cy="271675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xmlns="" id="{BC9657B2-1A01-454D-8C34-32E9458B4978}"/>
              </a:ext>
            </a:extLst>
          </p:cNvPr>
          <p:cNvSpPr/>
          <p:nvPr/>
        </p:nvSpPr>
        <p:spPr bwMode="auto">
          <a:xfrm>
            <a:off x="5097488" y="4318000"/>
            <a:ext cx="4248000" cy="756000"/>
          </a:xfrm>
          <a:prstGeom prst="rect">
            <a:avLst/>
          </a:prstGeom>
          <a:solidFill>
            <a:srgbClr val="EFF5FF"/>
          </a:solidFill>
          <a:ln w="6350" cap="flat" cmpd="sng" algn="ctr">
            <a:noFill/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시스템에 대한 기능성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/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자동화 개선의견이 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41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개로 가장 많았으며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다음으로는 효율성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/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사용자중심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통합성 체계화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인프라 구조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/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정합성 등에 대한 의견이 많아서 전면적 개선이 필요한 것으로 조사됨</a:t>
            </a:r>
            <a:endParaRPr lang="en-US" altLang="ko-KR" sz="10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anose="020B0604020202020204" pitchFamily="34" charset="0"/>
            </a:endParaRPr>
          </a:p>
          <a:p>
            <a:pPr marL="182563" indent="-182563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기능성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/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체계화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./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사용자중심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/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통합 관련 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개선 요구사항이 전체 의견의 </a:t>
            </a:r>
            <a:r>
              <a:rPr lang="en-US" altLang="ko-KR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75%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를 차지함</a:t>
            </a:r>
            <a:endParaRPr lang="en-US" altLang="ko-KR" sz="10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35" name="AutoShape 12"/>
          <p:cNvSpPr>
            <a:spLocks noChangeArrowheads="1"/>
          </p:cNvSpPr>
          <p:nvPr/>
        </p:nvSpPr>
        <p:spPr bwMode="auto">
          <a:xfrm rot="10800000">
            <a:off x="2944864" y="5257432"/>
            <a:ext cx="4224240" cy="227579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4678B4">
                  <a:lumMod val="60000"/>
                  <a:lumOff val="40000"/>
                </a:srgbClr>
              </a:gs>
              <a:gs pos="100000">
                <a:srgbClr val="FFFFFF"/>
              </a:gs>
            </a:gsLst>
            <a:lin ang="5400000" scaled="1"/>
          </a:gradFill>
          <a:ln w="6350" algn="ctr">
            <a:solidFill>
              <a:srgbClr val="7DAFFA">
                <a:lumMod val="20000"/>
                <a:lumOff val="80000"/>
              </a:srgbClr>
            </a:solidFill>
            <a:miter lim="800000"/>
            <a:headEnd/>
            <a:tailEnd type="none" w="sm" len="sm"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xmlns="" id="{BC9657B2-1A01-454D-8C34-32E9458B4978}"/>
              </a:ext>
            </a:extLst>
          </p:cNvPr>
          <p:cNvSpPr/>
          <p:nvPr/>
        </p:nvSpPr>
        <p:spPr bwMode="auto">
          <a:xfrm>
            <a:off x="505438" y="4318000"/>
            <a:ext cx="4248000" cy="756000"/>
          </a:xfrm>
          <a:prstGeom prst="rect">
            <a:avLst/>
          </a:prstGeom>
          <a:solidFill>
            <a:srgbClr val="EFF5FF"/>
          </a:solidFill>
          <a:ln w="6350" cap="flat" cmpd="sng" algn="ctr">
            <a:noFill/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핵심그룹인터뷰 분석 및 업무분석 결과에 따르면 통합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사용자중심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인프라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자동화</a:t>
            </a:r>
            <a:r>
              <a:rPr lang="en-US" altLang="ko-KR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유연화</a:t>
            </a:r>
            <a:r>
              <a:rPr lang="en-US" altLang="ko-KR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편의성 등 업무공통에 대한 의견이 </a:t>
            </a:r>
            <a:r>
              <a:rPr lang="en-US" altLang="ko-KR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47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개로 가장 많았으며</a:t>
            </a:r>
            <a:r>
              <a:rPr lang="en-US" altLang="ko-KR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,  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다음으로 기금지원</a:t>
            </a:r>
            <a:r>
              <a:rPr lang="en-US" altLang="ko-KR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, 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통합재무가 각각 </a:t>
            </a:r>
            <a:r>
              <a:rPr lang="en-US" altLang="ko-KR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23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개</a:t>
            </a:r>
            <a:r>
              <a:rPr lang="en-US" altLang="ko-KR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, 17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panose="020B0604020202020204" pitchFamily="34" charset="0"/>
              </a:rPr>
              <a:t>개의 의견이 개진된 것으로 조사됨</a:t>
            </a:r>
          </a:p>
        </p:txBody>
      </p:sp>
      <p:graphicFrame>
        <p:nvGraphicFramePr>
          <p:cNvPr id="65" name="차트 64"/>
          <p:cNvGraphicFramePr/>
          <p:nvPr>
            <p:extLst/>
          </p:nvPr>
        </p:nvGraphicFramePr>
        <p:xfrm>
          <a:off x="554211" y="2445491"/>
          <a:ext cx="4163888" cy="19467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6" name="직사각형 65"/>
          <p:cNvSpPr/>
          <p:nvPr/>
        </p:nvSpPr>
        <p:spPr>
          <a:xfrm>
            <a:off x="571145" y="3374547"/>
            <a:ext cx="2664000" cy="189926"/>
          </a:xfrm>
          <a:prstGeom prst="rect">
            <a:avLst/>
          </a:prstGeom>
          <a:solidFill>
            <a:srgbClr val="FF0000">
              <a:alpha val="3922"/>
            </a:srgbClr>
          </a:solidFill>
          <a:ln w="28575" algn="ctr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</a:pP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69" name="차트 68"/>
          <p:cNvGraphicFramePr/>
          <p:nvPr>
            <p:extLst/>
          </p:nvPr>
        </p:nvGraphicFramePr>
        <p:xfrm>
          <a:off x="5097488" y="2439731"/>
          <a:ext cx="4248000" cy="18239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0" name="직사각형 69"/>
          <p:cNvSpPr/>
          <p:nvPr/>
        </p:nvSpPr>
        <p:spPr>
          <a:xfrm>
            <a:off x="571145" y="3860008"/>
            <a:ext cx="4104456" cy="173390"/>
          </a:xfrm>
          <a:prstGeom prst="rect">
            <a:avLst/>
          </a:prstGeom>
          <a:solidFill>
            <a:srgbClr val="FF0000">
              <a:alpha val="3922"/>
            </a:srgbClr>
          </a:solidFill>
          <a:ln w="28575" algn="ctr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</a:pP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7803674" y="2619753"/>
            <a:ext cx="1315516" cy="288000"/>
          </a:xfrm>
          <a:prstGeom prst="rect">
            <a:avLst/>
          </a:prstGeom>
          <a:solidFill>
            <a:srgbClr val="FF0000">
              <a:alpha val="3922"/>
            </a:srgbClr>
          </a:solidFill>
          <a:ln w="28575" algn="ctr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</a:pP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2" name="직사각형 71"/>
          <p:cNvSpPr/>
          <p:nvPr/>
        </p:nvSpPr>
        <p:spPr>
          <a:xfrm>
            <a:off x="6681192" y="2508854"/>
            <a:ext cx="1048849" cy="1767866"/>
          </a:xfrm>
          <a:prstGeom prst="rect">
            <a:avLst/>
          </a:prstGeom>
          <a:solidFill>
            <a:srgbClr val="FF0000">
              <a:alpha val="3922"/>
            </a:srgbClr>
          </a:solidFill>
          <a:ln w="28575" algn="ctr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</a:pP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968176" cy="781320"/>
          </a:xfrm>
        </p:spPr>
        <p:txBody>
          <a:bodyPr>
            <a:normAutofit/>
          </a:bodyPr>
          <a:lstStyle/>
          <a:p>
            <a:r>
              <a:rPr lang="en-US" altLang="ko-KR" smtClean="0"/>
              <a:t>1.6 </a:t>
            </a:r>
            <a:r>
              <a:rPr lang="ko-KR" altLang="en-US" dirty="0"/>
              <a:t>이해관계자 인터뷰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1.6.2 </a:t>
            </a:r>
            <a:r>
              <a:rPr lang="ko-KR" altLang="en-US" sz="1800"/>
              <a:t>이해관계자 인터뷰 결과 통계</a:t>
            </a:r>
            <a:r>
              <a:rPr lang="en-US" altLang="ko-KR" sz="1800"/>
              <a:t>(1/2)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6143979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핵심그룹 요구분석</a:t>
            </a:r>
            <a:r>
              <a:rPr lang="en-US" altLang="ko-KR" sz="1600"/>
              <a:t> </a:t>
            </a:r>
            <a:r>
              <a:rPr lang="ko-KR" altLang="en-US" sz="1600" dirty="0"/>
              <a:t>결과를 소분류 기준으로 </a:t>
            </a:r>
            <a:r>
              <a:rPr lang="ko-KR" altLang="en-US" sz="1600" dirty="0" err="1"/>
              <a:t>분류별</a:t>
            </a:r>
            <a:r>
              <a:rPr lang="ko-KR" altLang="en-US" sz="1600" dirty="0"/>
              <a:t> 의견분포를 분석한 결과</a:t>
            </a:r>
            <a:r>
              <a:rPr lang="en-US" altLang="ko-KR" sz="1600"/>
              <a:t>,</a:t>
            </a:r>
            <a:r>
              <a:rPr lang="ko-KR" altLang="en-US" sz="1600"/>
              <a:t> 기능성</a:t>
            </a:r>
            <a:r>
              <a:rPr lang="en-US" altLang="ko-KR" sz="1600"/>
              <a:t>/</a:t>
            </a:r>
            <a:r>
              <a:rPr lang="ko-KR" altLang="en-US" sz="1600"/>
              <a:t>체계화</a:t>
            </a:r>
            <a:r>
              <a:rPr lang="en-US" altLang="ko-KR" sz="1600"/>
              <a:t>/ </a:t>
            </a:r>
            <a:r>
              <a:rPr lang="ko-KR" altLang="en-US" sz="1600"/>
              <a:t>사용자중심</a:t>
            </a:r>
            <a:r>
              <a:rPr lang="en-US" altLang="ko-KR" sz="1600"/>
              <a:t>/</a:t>
            </a:r>
            <a:r>
              <a:rPr lang="ko-KR" altLang="en-US" sz="1600"/>
              <a:t>통합</a:t>
            </a:r>
            <a:r>
              <a:rPr lang="en-US" altLang="ko-KR" sz="1600"/>
              <a:t>/</a:t>
            </a:r>
            <a:r>
              <a:rPr lang="ko-KR" altLang="en-US" sz="1600"/>
              <a:t>인프라구조 등 시스템이 치명적인 의견이 많았으며</a:t>
            </a:r>
            <a:r>
              <a:rPr lang="en-US" altLang="ko-KR" sz="1600"/>
              <a:t>,</a:t>
            </a:r>
            <a:r>
              <a:rPr lang="ko-KR" altLang="en-US" sz="1600"/>
              <a:t> 주요 원인은 업무와 시스템 기능의  부적합</a:t>
            </a:r>
            <a:r>
              <a:rPr lang="en-US" altLang="ko-KR" sz="1600"/>
              <a:t>, </a:t>
            </a:r>
            <a:r>
              <a:rPr lang="ko-KR" altLang="en-US" sz="1600"/>
              <a:t>설계 표준화 미흡</a:t>
            </a:r>
            <a:r>
              <a:rPr lang="en-US" altLang="ko-KR" sz="1600"/>
              <a:t>, </a:t>
            </a:r>
            <a:r>
              <a:rPr lang="ko-KR" altLang="en-US" sz="1600"/>
              <a:t>기능 구축의 완전성 미흠으로 판단됨</a:t>
            </a:r>
            <a:endParaRPr lang="ko-KR" altLang="en-US" sz="1600" dirty="0"/>
          </a:p>
        </p:txBody>
      </p:sp>
      <p:grpSp>
        <p:nvGrpSpPr>
          <p:cNvPr id="22" name="그룹 21"/>
          <p:cNvGrpSpPr/>
          <p:nvPr/>
        </p:nvGrpSpPr>
        <p:grpSpPr>
          <a:xfrm>
            <a:off x="344488" y="5543646"/>
            <a:ext cx="9180512" cy="765590"/>
            <a:chOff x="344488" y="5543646"/>
            <a:chExt cx="9180512" cy="765590"/>
          </a:xfrm>
        </p:grpSpPr>
        <p:sp>
          <p:nvSpPr>
            <p:cNvPr id="23" name="직사각형 35"/>
            <p:cNvSpPr>
              <a:spLocks noChangeArrowheads="1"/>
            </p:cNvSpPr>
            <p:nvPr/>
          </p:nvSpPr>
          <p:spPr bwMode="auto">
            <a:xfrm>
              <a:off x="1521635" y="5556709"/>
              <a:ext cx="8003365" cy="752527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round/>
              <a:headEnd type="none" w="med" len="med"/>
              <a:tailEnd type="none" w="sm" len="sm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08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algn="just" latinLnBrk="0"/>
              <a:r>
                <a:rPr lang="ko-KR" altLang="en-US" sz="1200"/>
                <a:t>요구 분석 결과를 </a:t>
              </a:r>
              <a:r>
                <a:rPr lang="ko-KR" altLang="en-US" sz="1200" dirty="0"/>
                <a:t>소분류 기준으로 </a:t>
              </a:r>
              <a:r>
                <a:rPr lang="ko-KR" altLang="en-US" sz="1200" dirty="0" err="1"/>
                <a:t>분류별</a:t>
              </a:r>
              <a:r>
                <a:rPr lang="ko-KR" altLang="en-US" sz="1200" dirty="0"/>
                <a:t> 의견분포를 분석한 결과</a:t>
              </a:r>
              <a:r>
                <a:rPr lang="en-US" altLang="ko-KR" sz="1200"/>
                <a:t>,</a:t>
              </a:r>
              <a:r>
                <a:rPr lang="ko-KR" altLang="en-US" sz="1200"/>
                <a:t> 기능성</a:t>
              </a:r>
              <a:r>
                <a:rPr lang="en-US" altLang="ko-KR" sz="1200"/>
                <a:t>, </a:t>
              </a:r>
              <a:r>
                <a:rPr lang="ko-KR" altLang="en-US" sz="1200"/>
                <a:t>체계화</a:t>
              </a:r>
              <a:r>
                <a:rPr lang="en-US" altLang="ko-KR" sz="1200"/>
                <a:t>, </a:t>
              </a:r>
              <a:r>
                <a:rPr lang="ko-KR" altLang="en-US" sz="1200"/>
                <a:t>사용자 </a:t>
              </a:r>
              <a:r>
                <a:rPr lang="ko-KR" altLang="en-US" sz="1200" dirty="0"/>
                <a:t>중심에 대한 의견이 </a:t>
              </a:r>
              <a:r>
                <a:rPr lang="ko-KR" altLang="en-US" sz="1200"/>
                <a:t>가장 많았으며</a:t>
              </a:r>
              <a:r>
                <a:rPr lang="en-US" altLang="ko-KR" sz="1200"/>
                <a:t>,</a:t>
              </a:r>
              <a:r>
                <a:rPr lang="ko-KR" altLang="en-US" sz="1200"/>
                <a:t> 시스템 개선의 주요 전제사항은 </a:t>
              </a:r>
              <a:r>
                <a:rPr lang="ko-KR" altLang="en-US" sz="1200" kern="0">
                  <a:solidFill>
                    <a:srgbClr val="000000"/>
                  </a:solidFill>
                  <a:latin typeface="맑은 고딕" pitchFamily="50" charset="-127"/>
                </a:rPr>
                <a:t>시스템의 체계화 및 표준화 설계로 </a:t>
              </a:r>
              <a:r>
                <a:rPr lang="ko-KR" altLang="en-US" sz="1200"/>
                <a:t>조사됨</a:t>
              </a:r>
              <a:endParaRPr lang="ko-KR" altLang="en-US" sz="1200" dirty="0"/>
            </a:p>
          </p:txBody>
        </p:sp>
        <p:sp>
          <p:nvSpPr>
            <p:cNvPr id="24" name="오각형 23"/>
            <p:cNvSpPr>
              <a:spLocks noChangeArrowheads="1"/>
            </p:cNvSpPr>
            <p:nvPr/>
          </p:nvSpPr>
          <p:spPr bwMode="gray">
            <a:xfrm>
              <a:off x="344488" y="5543646"/>
              <a:ext cx="1177147" cy="752527"/>
            </a:xfrm>
            <a:prstGeom prst="homePlate">
              <a:avLst>
                <a:gd name="adj" fmla="val 19025"/>
              </a:avLst>
            </a:prstGeom>
            <a:solidFill>
              <a:srgbClr val="003058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latinLnBrk="0">
                <a:defRPr/>
              </a:pPr>
              <a:r>
                <a:rPr kumimoji="1" lang="en-US" altLang="ko-KR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Key Findings</a:t>
              </a:r>
            </a:p>
          </p:txBody>
        </p:sp>
      </p:grpSp>
      <p:sp>
        <p:nvSpPr>
          <p:cNvPr id="25" name="직사각형 24"/>
          <p:cNvSpPr/>
          <p:nvPr/>
        </p:nvSpPr>
        <p:spPr bwMode="auto">
          <a:xfrm>
            <a:off x="344488" y="1963204"/>
            <a:ext cx="9180512" cy="3259083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180000" bIns="36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algn="just" latinLnBrk="0">
              <a:spcBef>
                <a:spcPts val="600"/>
              </a:spcBef>
              <a:buClr>
                <a:sysClr val="windowText" lastClr="000000"/>
              </a:buClr>
              <a:buFont typeface="Wingdings" pitchFamily="2" charset="2"/>
              <a:buChar char="q"/>
            </a:pPr>
            <a:endParaRPr lang="ko-KR" altLang="en-US" sz="1300" kern="0" dirty="0">
              <a:solidFill>
                <a:sysClr val="windowText" lastClr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26" name="그룹 25"/>
          <p:cNvGrpSpPr/>
          <p:nvPr/>
        </p:nvGrpSpPr>
        <p:grpSpPr>
          <a:xfrm>
            <a:off x="2799300" y="1583591"/>
            <a:ext cx="4419600" cy="307777"/>
            <a:chOff x="2799300" y="1583591"/>
            <a:chExt cx="4419600" cy="307777"/>
          </a:xfrm>
        </p:grpSpPr>
        <p:sp>
          <p:nvSpPr>
            <p:cNvPr id="27" name="Text Box 605"/>
            <p:cNvSpPr txBox="1">
              <a:spLocks noChangeArrowheads="1"/>
            </p:cNvSpPr>
            <p:nvPr/>
          </p:nvSpPr>
          <p:spPr bwMode="auto">
            <a:xfrm>
              <a:off x="2799300" y="1583591"/>
              <a:ext cx="4419600" cy="307777"/>
            </a:xfrm>
            <a:prstGeom prst="rect">
              <a:avLst/>
            </a:prstGeom>
            <a:noFill/>
            <a:ln w="9525" algn="ctr">
              <a:noFill/>
              <a:prstDash val="dash"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lvl="0" algn="ctr" eaLnBrk="0" latinLnBrk="0" hangingPunct="0">
                <a:spcBef>
                  <a:spcPct val="50000"/>
                </a:spcBef>
                <a:defRPr/>
              </a:pPr>
              <a:r>
                <a:rPr lang="ko-KR" altLang="en-US" sz="1400" b="1" ker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요구분석 결과 </a:t>
              </a:r>
              <a:r>
                <a:rPr lang="ko-KR" altLang="en-US" sz="1400" b="1" kern="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유형분석 </a:t>
              </a:r>
              <a:r>
                <a:rPr lang="en-US" altLang="ko-KR" sz="1400" b="1" kern="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(2/2)</a:t>
              </a:r>
              <a:endParaRPr lang="ko-KR" altLang="en-US" sz="14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28" name="직선 연결선 12"/>
            <p:cNvCxnSpPr>
              <a:cxnSpLocks noChangeShapeType="1"/>
            </p:cNvCxnSpPr>
            <p:nvPr/>
          </p:nvCxnSpPr>
          <p:spPr bwMode="auto">
            <a:xfrm>
              <a:off x="3029100" y="1879656"/>
              <a:ext cx="3960000" cy="0"/>
            </a:xfrm>
            <a:prstGeom prst="line">
              <a:avLst/>
            </a:prstGeom>
            <a:noFill/>
            <a:ln w="12700" algn="ctr">
              <a:solidFill>
                <a:sysClr val="windowText" lastClr="000000"/>
              </a:solidFill>
              <a:round/>
              <a:headEnd/>
              <a:tailEnd/>
            </a:ln>
          </p:spPr>
        </p:cxnSp>
      </p:grpSp>
      <p:sp>
        <p:nvSpPr>
          <p:cNvPr id="34" name="AutoShape 12"/>
          <p:cNvSpPr>
            <a:spLocks noChangeArrowheads="1"/>
          </p:cNvSpPr>
          <p:nvPr/>
        </p:nvSpPr>
        <p:spPr bwMode="auto">
          <a:xfrm rot="10800000">
            <a:off x="2944864" y="5257432"/>
            <a:ext cx="4224240" cy="227579"/>
          </a:xfrm>
          <a:prstGeom prst="triangle">
            <a:avLst>
              <a:gd name="adj" fmla="val 50000"/>
            </a:avLst>
          </a:prstGeom>
          <a:gradFill rotWithShape="1">
            <a:gsLst>
              <a:gs pos="0">
                <a:srgbClr val="4678B4">
                  <a:lumMod val="60000"/>
                  <a:lumOff val="40000"/>
                </a:srgbClr>
              </a:gs>
              <a:gs pos="100000">
                <a:srgbClr val="FFFFFF"/>
              </a:gs>
            </a:gsLst>
            <a:lin ang="5400000" scaled="1"/>
          </a:gradFill>
          <a:ln w="6350" algn="ctr">
            <a:solidFill>
              <a:srgbClr val="7DAFFA">
                <a:lumMod val="20000"/>
                <a:lumOff val="80000"/>
              </a:srgbClr>
            </a:solidFill>
            <a:miter lim="800000"/>
            <a:headEnd/>
            <a:tailEnd type="none" w="sm" len="sm"/>
          </a:ln>
          <a:effectLst/>
        </p:spPr>
        <p:txBody>
          <a:bodyPr wrap="none" lIns="0" tIns="0" rIns="0" bIns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xmlns="" id="{CD8CFA3F-494E-43A5-97B6-1AE8A5FA4D11}"/>
              </a:ext>
            </a:extLst>
          </p:cNvPr>
          <p:cNvSpPr/>
          <p:nvPr/>
        </p:nvSpPr>
        <p:spPr bwMode="auto">
          <a:xfrm>
            <a:off x="444500" y="2073548"/>
            <a:ext cx="8972996" cy="324961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0" latinLnBrk="0" hangingPunct="0"/>
            <a:r>
              <a:rPr lang="ko-KR" altLang="en-US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요구분석</a:t>
            </a:r>
            <a:r>
              <a:rPr lang="en-US" altLang="ko-KR" sz="1400" b="1" ker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결과 유형분석 </a:t>
            </a:r>
            <a: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&gt; </a:t>
            </a: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소분류 기준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xmlns="" id="{B99F91F0-8348-4208-BBCD-BD58037D2491}"/>
              </a:ext>
            </a:extLst>
          </p:cNvPr>
          <p:cNvSpPr/>
          <p:nvPr/>
        </p:nvSpPr>
        <p:spPr bwMode="auto">
          <a:xfrm>
            <a:off x="444500" y="2398508"/>
            <a:ext cx="8972996" cy="2716752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Arial" panose="020B0604020202020204" pitchFamily="34" charset="0"/>
            </a:endParaRP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xmlns="" id="{BC9657B2-1A01-454D-8C34-32E9458B4978}"/>
              </a:ext>
            </a:extLst>
          </p:cNvPr>
          <p:cNvSpPr/>
          <p:nvPr/>
        </p:nvSpPr>
        <p:spPr bwMode="auto">
          <a:xfrm>
            <a:off x="6897217" y="2492895"/>
            <a:ext cx="2376740" cy="2520000"/>
          </a:xfrm>
          <a:prstGeom prst="rect">
            <a:avLst/>
          </a:prstGeom>
          <a:solidFill>
            <a:srgbClr val="EFF5FF"/>
          </a:solidFill>
          <a:ln w="6350" cap="flat" cmpd="sng" algn="ctr">
            <a:noFill/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요구 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분석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결과 기능성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체계화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사용자 중심 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개선방안 마련이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각각 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40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8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8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 순서로 많은 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의견을 개진한 것으로 조사됨</a:t>
            </a:r>
            <a:endParaRPr lang="en-US" altLang="ko-KR" sz="10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2563" indent="-182563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또한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인프라구조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통합화 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관점에서 설계할 것을 요구하는 의견도 </a:t>
            </a:r>
            <a:r>
              <a:rPr lang="en-US" altLang="ko-KR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12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개로 많은 수의 의견이 개진된 것으로 조사됨</a:t>
            </a:r>
            <a:endParaRPr lang="en-US" altLang="ko-KR" sz="10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2563" indent="-182563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</a:pP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요구 분석 결과의 내용을 시스템의  체계화 및 설계부문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프로그램 구현부분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기타 요구로 </a:t>
            </a:r>
            <a:r>
              <a:rPr lang="ko-KR" altLang="en-US" sz="1000" kern="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분류한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결과 프로그램 구현부분이 가장 많았으나</a:t>
            </a:r>
            <a:r>
              <a:rPr lang="en-US" altLang="ko-KR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00" ker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그 원인이 주로 체계화 및 설계부분에서 기인한 것으로 시스템의 체계화 및 표준화 설계가 개선의 주요 전제사항으로 조사됨</a:t>
            </a:r>
            <a:endParaRPr lang="en-US" altLang="ko-KR" sz="10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42" name="차트 41"/>
          <p:cNvGraphicFramePr/>
          <p:nvPr>
            <p:extLst/>
          </p:nvPr>
        </p:nvGraphicFramePr>
        <p:xfrm>
          <a:off x="456732" y="2420889"/>
          <a:ext cx="6347720" cy="27363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3" name="직사각형 42"/>
          <p:cNvSpPr/>
          <p:nvPr/>
        </p:nvSpPr>
        <p:spPr>
          <a:xfrm>
            <a:off x="6194295" y="2523923"/>
            <a:ext cx="388227" cy="1872208"/>
          </a:xfrm>
          <a:prstGeom prst="rect">
            <a:avLst/>
          </a:prstGeom>
          <a:solidFill>
            <a:srgbClr val="FF0000">
              <a:alpha val="3922"/>
            </a:srgbClr>
          </a:solidFill>
          <a:ln w="28575" algn="ctr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</a:pP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직사각형 43"/>
          <p:cNvSpPr/>
          <p:nvPr/>
        </p:nvSpPr>
        <p:spPr>
          <a:xfrm>
            <a:off x="5645782" y="3573016"/>
            <a:ext cx="388227" cy="792088"/>
          </a:xfrm>
          <a:prstGeom prst="rect">
            <a:avLst/>
          </a:prstGeom>
          <a:solidFill>
            <a:srgbClr val="FF0000">
              <a:alpha val="3922"/>
            </a:srgbClr>
          </a:solidFill>
          <a:ln w="28575" algn="ctr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</a:pP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5" name="직사각형 44"/>
          <p:cNvSpPr/>
          <p:nvPr/>
        </p:nvSpPr>
        <p:spPr>
          <a:xfrm>
            <a:off x="2442977" y="3562741"/>
            <a:ext cx="388227" cy="833389"/>
          </a:xfrm>
          <a:prstGeom prst="rect">
            <a:avLst/>
          </a:prstGeom>
          <a:solidFill>
            <a:srgbClr val="FF0000">
              <a:alpha val="3922"/>
            </a:srgbClr>
          </a:solidFill>
          <a:ln w="28575" algn="ctr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</a:pP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2" name="직사각형 31"/>
          <p:cNvSpPr/>
          <p:nvPr/>
        </p:nvSpPr>
        <p:spPr>
          <a:xfrm>
            <a:off x="1358343" y="3717032"/>
            <a:ext cx="388227" cy="676900"/>
          </a:xfrm>
          <a:prstGeom prst="rect">
            <a:avLst/>
          </a:prstGeom>
          <a:solidFill>
            <a:srgbClr val="FF0000">
              <a:alpha val="3922"/>
            </a:srgbClr>
          </a:solidFill>
          <a:ln w="28575" algn="ctr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</a:pP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827996" y="3861048"/>
            <a:ext cx="388227" cy="532884"/>
          </a:xfrm>
          <a:prstGeom prst="rect">
            <a:avLst/>
          </a:prstGeom>
          <a:solidFill>
            <a:srgbClr val="FF0000">
              <a:alpha val="3922"/>
            </a:srgbClr>
          </a:solidFill>
          <a:ln w="28575" algn="ctr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</a:pP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970323" y="3861048"/>
            <a:ext cx="388227" cy="532884"/>
          </a:xfrm>
          <a:prstGeom prst="rect">
            <a:avLst/>
          </a:prstGeom>
          <a:solidFill>
            <a:srgbClr val="FF0000">
              <a:alpha val="3922"/>
            </a:srgbClr>
          </a:solidFill>
          <a:ln w="28575" algn="ctr">
            <a:solidFill>
              <a:srgbClr val="FF6600"/>
            </a:solidFill>
            <a:round/>
            <a:headEnd/>
            <a:tailEnd/>
          </a:ln>
        </p:spPr>
        <p:txBody>
          <a:bodyPr wrap="none" anchor="ctr"/>
          <a:lstStyle/>
          <a:p>
            <a:pPr algn="ctr" fontAlgn="base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</a:pPr>
            <a:endParaRPr lang="ko-KR" altLang="en-US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0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smtClean="0"/>
              <a:t>1.6 </a:t>
            </a:r>
            <a:r>
              <a:rPr lang="ko-KR" altLang="en-US" smtClean="0"/>
              <a:t>이해관계자 인터뷰</a:t>
            </a:r>
            <a:endParaRPr lang="en-US" altLang="ko-KR" dirty="0"/>
          </a:p>
        </p:txBody>
      </p:sp>
      <p:sp>
        <p:nvSpPr>
          <p:cNvPr id="37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608512" cy="781320"/>
          </a:xfrm>
        </p:spPr>
        <p:txBody>
          <a:bodyPr>
            <a:normAutofit/>
          </a:bodyPr>
          <a:lstStyle/>
          <a:p>
            <a:r>
              <a:rPr lang="en-US" altLang="ko-KR" smtClean="0"/>
              <a:t>1.6 </a:t>
            </a:r>
            <a:r>
              <a:rPr lang="ko-KR" altLang="en-US" dirty="0"/>
              <a:t>이해관계자 인터뷰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1.6.2 </a:t>
            </a:r>
            <a:r>
              <a:rPr lang="ko-KR" altLang="en-US" sz="1800"/>
              <a:t>이해관계자 인터뷰 결과 통계</a:t>
            </a:r>
            <a:r>
              <a:rPr lang="en-US" altLang="ko-KR" sz="1800" smtClean="0"/>
              <a:t>(2/2</a:t>
            </a:r>
            <a:r>
              <a:rPr lang="en-US" altLang="ko-KR" sz="1800"/>
              <a:t>)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640234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직사각형 186"/>
          <p:cNvSpPr/>
          <p:nvPr/>
        </p:nvSpPr>
        <p:spPr bwMode="auto">
          <a:xfrm>
            <a:off x="344488" y="1528880"/>
            <a:ext cx="9180512" cy="288000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chemeClr val="tx1">
                <a:lumMod val="65000"/>
                <a:lumOff val="35000"/>
              </a:scheme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eaLnBrk="0" latinLnBrk="0" hangingPunct="0">
              <a:defRPr/>
            </a:pP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최신정보기술 동향 분석 </a:t>
            </a:r>
            <a: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Framework</a:t>
            </a:r>
            <a:endParaRPr lang="ko-KR" altLang="en-US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8" name="Rectangle 4"/>
          <p:cNvSpPr>
            <a:spLocks noChangeArrowheads="1"/>
          </p:cNvSpPr>
          <p:nvPr/>
        </p:nvSpPr>
        <p:spPr bwMode="auto">
          <a:xfrm>
            <a:off x="344488" y="1814531"/>
            <a:ext cx="9180512" cy="4494789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265113" indent="-265113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  <a:defRPr/>
            </a:pPr>
            <a:endParaRPr lang="ko-KR" altLang="en-US" sz="14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해외</a:t>
            </a:r>
            <a:r>
              <a:rPr lang="en-US" altLang="ko-KR" sz="1600"/>
              <a:t>, </a:t>
            </a:r>
            <a:r>
              <a:rPr lang="ko-KR" altLang="en-US" sz="1600"/>
              <a:t>국내 </a:t>
            </a:r>
            <a:r>
              <a:rPr lang="ko-KR" altLang="en-US" sz="1600" dirty="0"/>
              <a:t>정보기술 </a:t>
            </a:r>
            <a:r>
              <a:rPr lang="ko-KR" altLang="en-US" sz="1600" dirty="0" err="1"/>
              <a:t>트랜드를</a:t>
            </a:r>
            <a:r>
              <a:rPr lang="ko-KR" altLang="en-US" sz="1600" dirty="0"/>
              <a:t> 분석하여 적용대상 기술을 선정하고</a:t>
            </a:r>
            <a:r>
              <a:rPr lang="en-US" altLang="ko-KR" sz="1600" dirty="0"/>
              <a:t>, </a:t>
            </a:r>
            <a:r>
              <a:rPr lang="ko-KR" altLang="en-US" sz="1600" dirty="0"/>
              <a:t>선정된 대상 기술을 상세 분석 및 기술 적용 가능성을 분석하여 방향성 수립을 위한 시사점을 도출함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1.7 </a:t>
            </a:r>
            <a:r>
              <a:rPr lang="ko-KR" altLang="en-US" dirty="0"/>
              <a:t>최신 정보기술 동향 분석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1.7.1 </a:t>
            </a:r>
            <a:r>
              <a:rPr lang="ko-KR" altLang="en-US" sz="1800" dirty="0"/>
              <a:t>최신 정보기술 동향 분석 개요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smtClean="0"/>
              <a:t>1.7 </a:t>
            </a:r>
            <a:r>
              <a:rPr lang="ko-KR" altLang="en-US" dirty="0"/>
              <a:t>최신 정보기술 동향 분석</a:t>
            </a:r>
            <a:endParaRPr lang="en-US" altLang="ko-KR" dirty="0"/>
          </a:p>
        </p:txBody>
      </p:sp>
      <p:sp>
        <p:nvSpPr>
          <p:cNvPr id="180" name="직사각형 179"/>
          <p:cNvSpPr/>
          <p:nvPr/>
        </p:nvSpPr>
        <p:spPr>
          <a:xfrm>
            <a:off x="2216696" y="5544528"/>
            <a:ext cx="5472608" cy="540000"/>
          </a:xfrm>
          <a:prstGeom prst="rect">
            <a:avLst/>
          </a:prstGeom>
          <a:solidFill>
            <a:srgbClr val="4B7DB4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  <a:defRPr/>
            </a:pPr>
            <a:r>
              <a:rPr lang="ko-KR" altLang="en-US" sz="1400" b="1" kern="0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방향성 수립을 위한 최신정보기술동향 분석의 시사점 도출</a:t>
            </a:r>
          </a:p>
        </p:txBody>
      </p:sp>
      <p:sp>
        <p:nvSpPr>
          <p:cNvPr id="181" name="이등변 삼각형 180"/>
          <p:cNvSpPr/>
          <p:nvPr/>
        </p:nvSpPr>
        <p:spPr>
          <a:xfrm rot="10800000">
            <a:off x="3044032" y="4956656"/>
            <a:ext cx="3817936" cy="358860"/>
          </a:xfrm>
          <a:prstGeom prst="triangle">
            <a:avLst/>
          </a:prstGeom>
          <a:gradFill>
            <a:gsLst>
              <a:gs pos="55000">
                <a:schemeClr val="bg1">
                  <a:lumMod val="75000"/>
                </a:schemeClr>
              </a:gs>
              <a:gs pos="0">
                <a:schemeClr val="bg1">
                  <a:lumMod val="75000"/>
                </a:schemeClr>
              </a:gs>
              <a:gs pos="100000">
                <a:schemeClr val="bg1">
                  <a:lumMod val="75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36" name="그룹 35"/>
          <p:cNvGrpSpPr/>
          <p:nvPr/>
        </p:nvGrpSpPr>
        <p:grpSpPr>
          <a:xfrm>
            <a:off x="3656996" y="2001893"/>
            <a:ext cx="2520000" cy="2864117"/>
            <a:chOff x="3656995" y="2002245"/>
            <a:chExt cx="2520000" cy="2864117"/>
          </a:xfrm>
        </p:grpSpPr>
        <p:sp>
          <p:nvSpPr>
            <p:cNvPr id="185" name="Rectangle 4"/>
            <p:cNvSpPr>
              <a:spLocks noChangeArrowheads="1"/>
            </p:cNvSpPr>
            <p:nvPr/>
          </p:nvSpPr>
          <p:spPr bwMode="auto">
            <a:xfrm>
              <a:off x="3656995" y="2345182"/>
              <a:ext cx="2520000" cy="252118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txBody>
            <a:bodyPr wrap="square" lIns="108000" tIns="72000" rIns="72000" bIns="36000" numCol="2" rtlCol="0" anchor="t">
              <a:noAutofit/>
            </a:bodyPr>
            <a:lstStyle/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 dirty="0" err="1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클라우드</a:t>
              </a:r>
              <a:endParaRPr lang="en-US" altLang="ko-KR" sz="1200" spc="-3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 dirty="0" err="1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모바일</a:t>
              </a:r>
              <a:endParaRPr lang="en-US" altLang="ko-KR" sz="1200" spc="-3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 dirty="0" err="1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빅데이터</a:t>
              </a:r>
              <a:endParaRPr lang="en-US" altLang="ko-KR" sz="1200" spc="-3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인공지능</a:t>
              </a:r>
              <a:endParaRPr lang="en-US" altLang="ko-KR" sz="1200" spc="-3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en-US" altLang="ko-KR" sz="1200" spc="-30" dirty="0">
                  <a:solidFill>
                    <a:srgbClr val="0000FF"/>
                  </a:solidFill>
                  <a:latin typeface="맑은 고딕" pitchFamily="50" charset="-127"/>
                  <a:ea typeface="맑은 고딕" pitchFamily="50" charset="-127"/>
                </a:rPr>
                <a:t>UI/UX</a:t>
              </a: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en-US" altLang="ko-KR" sz="1200" spc="-3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HTML5</a:t>
              </a: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en-US" altLang="ko-KR" sz="1200" spc="-3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QR</a:t>
              </a:r>
              <a:r>
                <a:rPr lang="ko-KR" altLang="en-US" sz="1200" spc="-3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코드</a:t>
              </a:r>
              <a:endParaRPr lang="en-US" altLang="ko-KR" sz="1200" spc="-3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en-US" altLang="ko-KR" sz="1200" spc="-3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3D </a:t>
              </a:r>
              <a:r>
                <a:rPr lang="ko-KR" altLang="en-US" sz="1200" spc="-3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바코드</a:t>
              </a:r>
              <a:endParaRPr lang="en-US" altLang="ko-KR" sz="1200" spc="-3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전자서명</a:t>
              </a:r>
              <a:endParaRPr lang="en-US" altLang="ko-KR" sz="1200" spc="-3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전자정부 </a:t>
              </a:r>
              <a:r>
                <a:rPr lang="en-US" altLang="ko-KR" sz="1200" spc="-3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200" spc="-3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1200" spc="-3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프레임워크</a:t>
              </a:r>
              <a:endParaRPr lang="en-US" altLang="ko-KR" sz="1200" spc="-3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정보보호</a:t>
              </a:r>
              <a:r>
                <a:rPr lang="en-US" altLang="ko-KR" sz="1200" spc="-3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/</a:t>
              </a:r>
              <a:r>
                <a:rPr lang="ko-KR" altLang="en-US" sz="1200" spc="-3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보안</a:t>
              </a:r>
              <a:endParaRPr lang="en-US" altLang="ko-KR" sz="1200" spc="-3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>
                  <a:solidFill>
                    <a:srgbClr val="0000FF"/>
                  </a:solidFill>
                  <a:latin typeface="맑은 고딕" pitchFamily="50" charset="-127"/>
                  <a:ea typeface="맑은 고딕" pitchFamily="50" charset="-127"/>
                </a:rPr>
                <a:t>전자증빙</a:t>
              </a:r>
              <a:endParaRPr lang="en-US" altLang="ko-KR" sz="1200" spc="-3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>
                  <a:solidFill>
                    <a:srgbClr val="0000FF"/>
                  </a:solidFill>
                  <a:latin typeface="맑은 고딕" pitchFamily="50" charset="-127"/>
                  <a:ea typeface="맑은 고딕" pitchFamily="50" charset="-127"/>
                </a:rPr>
                <a:t>전자세금계산서 발행</a:t>
              </a:r>
              <a:endParaRPr lang="en-US" altLang="ko-KR" sz="1200" spc="-3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en-US" altLang="ko-KR" sz="1200" spc="-30" smtClean="0">
                  <a:solidFill>
                    <a:srgbClr val="0000FF"/>
                  </a:solidFill>
                  <a:latin typeface="맑은 고딕" pitchFamily="50" charset="-127"/>
                  <a:ea typeface="맑은 고딕" pitchFamily="50" charset="-127"/>
                </a:rPr>
                <a:t>RPA</a:t>
              </a: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en-US" altLang="ko-KR" sz="1200" spc="-30" smtClean="0">
                  <a:solidFill>
                    <a:srgbClr val="0000FF"/>
                  </a:solidFill>
                  <a:latin typeface="맑은 고딕" pitchFamily="50" charset="-127"/>
                  <a:ea typeface="맑은 고딕" pitchFamily="50" charset="-127"/>
                </a:rPr>
                <a:t>RCAM</a:t>
              </a:r>
              <a:endParaRPr lang="en-US" altLang="ko-KR" sz="1200" spc="-30" dirty="0">
                <a:solidFill>
                  <a:srgbClr val="0000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3657651" y="2002245"/>
              <a:ext cx="2518690" cy="352578"/>
            </a:xfrm>
            <a:prstGeom prst="rect">
              <a:avLst/>
            </a:prstGeom>
            <a:solidFill>
              <a:srgbClr val="508CD2"/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</a:pPr>
              <a:r>
                <a:rPr lang="ko-KR" altLang="en-US" sz="1400" b="1" kern="0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적용대상기술 상세분석</a:t>
              </a:r>
            </a:p>
          </p:txBody>
        </p:sp>
      </p:grpSp>
      <p:grpSp>
        <p:nvGrpSpPr>
          <p:cNvPr id="35" name="그룹 34"/>
          <p:cNvGrpSpPr/>
          <p:nvPr/>
        </p:nvGrpSpPr>
        <p:grpSpPr>
          <a:xfrm>
            <a:off x="560512" y="2001540"/>
            <a:ext cx="2520000" cy="2864822"/>
            <a:chOff x="560512" y="2001540"/>
            <a:chExt cx="2520000" cy="2864822"/>
          </a:xfrm>
        </p:grpSpPr>
        <p:sp>
          <p:nvSpPr>
            <p:cNvPr id="183" name="Rectangle 4"/>
            <p:cNvSpPr>
              <a:spLocks noChangeArrowheads="1"/>
            </p:cNvSpPr>
            <p:nvPr/>
          </p:nvSpPr>
          <p:spPr bwMode="auto">
            <a:xfrm>
              <a:off x="560512" y="2345183"/>
              <a:ext cx="2520000" cy="252117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txBody>
            <a:bodyPr wrap="square" lIns="108000" tIns="36000" rIns="72000" bIns="36000" rtlCol="0" anchor="ctr">
              <a:noAutofit/>
            </a:bodyPr>
            <a:lstStyle/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 dirty="0">
                  <a:latin typeface="맑은 고딕" pitchFamily="50" charset="-127"/>
                  <a:ea typeface="맑은 고딕" pitchFamily="50" charset="-127"/>
                </a:rPr>
                <a:t>기술 </a:t>
              </a:r>
              <a:r>
                <a:rPr lang="ko-KR" altLang="en-US" sz="1200" spc="-30" dirty="0" err="1">
                  <a:latin typeface="맑은 고딕" pitchFamily="50" charset="-127"/>
                  <a:ea typeface="맑은 고딕" pitchFamily="50" charset="-127"/>
                </a:rPr>
                <a:t>트랜드</a:t>
              </a:r>
              <a:r>
                <a:rPr lang="ko-KR" altLang="en-US" sz="1200" spc="-30" dirty="0">
                  <a:latin typeface="맑은 고딕" pitchFamily="50" charset="-127"/>
                  <a:ea typeface="맑은 고딕" pitchFamily="50" charset="-127"/>
                </a:rPr>
                <a:t> 분석</a:t>
              </a:r>
              <a:r>
                <a:rPr lang="en-US" altLang="ko-KR" sz="1200" spc="-30" dirty="0"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200" spc="-30" dirty="0"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1200" spc="-30" dirty="0">
                  <a:latin typeface="맑은 고딕" pitchFamily="50" charset="-127"/>
                  <a:ea typeface="맑은 고딕" pitchFamily="50" charset="-127"/>
                </a:rPr>
                <a:t>- </a:t>
              </a:r>
              <a:r>
                <a:rPr lang="ko-KR" altLang="en-US" sz="1200" spc="-30" dirty="0">
                  <a:latin typeface="맑은 고딕" pitchFamily="50" charset="-127"/>
                  <a:ea typeface="맑은 고딕" pitchFamily="50" charset="-127"/>
                </a:rPr>
                <a:t>해외 </a:t>
              </a:r>
              <a:r>
                <a:rPr lang="en-US" altLang="ko-KR" sz="1200" spc="-30" dirty="0">
                  <a:latin typeface="맑은 고딕" pitchFamily="50" charset="-127"/>
                  <a:ea typeface="맑은 고딕" pitchFamily="50" charset="-127"/>
                </a:rPr>
                <a:t>10</a:t>
              </a:r>
              <a:r>
                <a:rPr lang="ko-KR" altLang="en-US" sz="1200" spc="-30" dirty="0">
                  <a:latin typeface="맑은 고딕" pitchFamily="50" charset="-127"/>
                  <a:ea typeface="맑은 고딕" pitchFamily="50" charset="-127"/>
                </a:rPr>
                <a:t>대 기술 </a:t>
              </a:r>
              <a:r>
                <a:rPr lang="ko-KR" altLang="en-US" sz="1200" spc="-30" dirty="0" err="1">
                  <a:latin typeface="맑은 고딕" pitchFamily="50" charset="-127"/>
                  <a:ea typeface="맑은 고딕" pitchFamily="50" charset="-127"/>
                </a:rPr>
                <a:t>트랜드</a:t>
              </a:r>
              <a:r>
                <a:rPr lang="en-US" altLang="ko-KR" sz="1200" spc="-30" dirty="0"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200" spc="-30" dirty="0"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1200" spc="-30" dirty="0">
                  <a:latin typeface="맑은 고딕" pitchFamily="50" charset="-127"/>
                  <a:ea typeface="맑은 고딕" pitchFamily="50" charset="-127"/>
                </a:rPr>
                <a:t>- </a:t>
              </a:r>
              <a:r>
                <a:rPr lang="ko-KR" altLang="en-US" sz="1200" spc="-30" dirty="0">
                  <a:latin typeface="맑은 고딕" pitchFamily="50" charset="-127"/>
                  <a:ea typeface="맑은 고딕" pitchFamily="50" charset="-127"/>
                </a:rPr>
                <a:t>국내 </a:t>
              </a:r>
              <a:r>
                <a:rPr lang="en-US" altLang="ko-KR" sz="1200" spc="-30" dirty="0">
                  <a:latin typeface="맑은 고딕" pitchFamily="50" charset="-127"/>
                  <a:ea typeface="맑은 고딕" pitchFamily="50" charset="-127"/>
                </a:rPr>
                <a:t>10</a:t>
              </a:r>
              <a:r>
                <a:rPr lang="ko-KR" altLang="en-US" sz="1200" spc="-30" dirty="0">
                  <a:latin typeface="맑은 고딕" pitchFamily="50" charset="-127"/>
                  <a:ea typeface="맑은 고딕" pitchFamily="50" charset="-127"/>
                </a:rPr>
                <a:t>대 기술 </a:t>
              </a:r>
              <a:r>
                <a:rPr lang="ko-KR" altLang="en-US" sz="1200" spc="-30" dirty="0" err="1">
                  <a:latin typeface="맑은 고딕" pitchFamily="50" charset="-127"/>
                  <a:ea typeface="맑은 고딕" pitchFamily="50" charset="-127"/>
                </a:rPr>
                <a:t>트랜드</a:t>
              </a:r>
              <a:endParaRPr lang="en-US" altLang="ko-KR" sz="1200" spc="-30" dirty="0"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 dirty="0">
                  <a:latin typeface="맑은 고딕" pitchFamily="50" charset="-127"/>
                  <a:ea typeface="맑은 고딕" pitchFamily="50" charset="-127"/>
                </a:rPr>
                <a:t>분석 대상 선정</a:t>
              </a:r>
              <a:r>
                <a:rPr lang="en-US" altLang="ko-KR" sz="1200" spc="-30" dirty="0"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200" spc="-30" dirty="0"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1200" spc="-30" dirty="0">
                  <a:latin typeface="맑은 고딕" pitchFamily="50" charset="-127"/>
                  <a:ea typeface="맑은 고딕" pitchFamily="50" charset="-127"/>
                </a:rPr>
                <a:t>- </a:t>
              </a:r>
              <a:r>
                <a:rPr lang="ko-KR" altLang="en-US" sz="1200" spc="-30">
                  <a:latin typeface="맑은 고딕" pitchFamily="50" charset="-127"/>
                  <a:ea typeface="맑은 고딕" pitchFamily="50" charset="-127"/>
                </a:rPr>
                <a:t>적용</a:t>
              </a:r>
              <a:r>
                <a:rPr lang="ko-KR" altLang="en-US" sz="1200" kern="0">
                  <a:latin typeface="맑은 고딕" pitchFamily="50" charset="-127"/>
                  <a:ea typeface="맑은 고딕" pitchFamily="50" charset="-127"/>
                </a:rPr>
                <a:t>대상기술 검토</a:t>
              </a:r>
              <a:endParaRPr lang="en-US" altLang="ko-KR" sz="1200" kern="0" dirty="0"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endParaRPr lang="ko-KR" altLang="en-US" sz="1200" spc="-30" dirty="0"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endParaRPr lang="en-US" altLang="ko-KR" sz="1200" spc="-30" dirty="0"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endParaRPr lang="ko-KR" altLang="en-US" sz="1200" spc="-3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561167" y="2001540"/>
              <a:ext cx="2518691" cy="353282"/>
            </a:xfrm>
            <a:prstGeom prst="rect">
              <a:avLst/>
            </a:prstGeom>
            <a:solidFill>
              <a:srgbClr val="508CD2"/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</a:pPr>
              <a:r>
                <a:rPr lang="ko-KR" altLang="en-US" sz="1400" b="1" kern="0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정보기술 분석대상 선정</a:t>
              </a:r>
            </a:p>
          </p:txBody>
        </p:sp>
      </p:grpSp>
      <p:grpSp>
        <p:nvGrpSpPr>
          <p:cNvPr id="37" name="그룹 36"/>
          <p:cNvGrpSpPr/>
          <p:nvPr/>
        </p:nvGrpSpPr>
        <p:grpSpPr>
          <a:xfrm>
            <a:off x="6753480" y="2001540"/>
            <a:ext cx="2520000" cy="2864822"/>
            <a:chOff x="6753480" y="2001540"/>
            <a:chExt cx="2520000" cy="2864822"/>
          </a:xfrm>
        </p:grpSpPr>
        <p:sp>
          <p:nvSpPr>
            <p:cNvPr id="190" name="Rectangle 4"/>
            <p:cNvSpPr>
              <a:spLocks noChangeArrowheads="1"/>
            </p:cNvSpPr>
            <p:nvPr/>
          </p:nvSpPr>
          <p:spPr bwMode="auto">
            <a:xfrm>
              <a:off x="6753480" y="2345182"/>
              <a:ext cx="2520000" cy="252118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bg1">
                  <a:lumMod val="50000"/>
                </a:schemeClr>
              </a:solidFill>
            </a:ln>
          </p:spPr>
          <p:txBody>
            <a:bodyPr wrap="square" lIns="108000" tIns="36000" rIns="72000" bIns="36000" rtlCol="0" anchor="ctr">
              <a:noAutofit/>
            </a:bodyPr>
            <a:lstStyle/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spc="-30">
                  <a:latin typeface="맑은 고딕" pitchFamily="50" charset="-127"/>
                  <a:ea typeface="맑은 고딕" pitchFamily="50" charset="-127"/>
                </a:rPr>
                <a:t>적용가능한 기술 선정</a:t>
              </a:r>
              <a:endParaRPr lang="en-US" altLang="ko-KR" sz="1200" spc="-30" dirty="0"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r>
                <a:rPr lang="ko-KR" altLang="en-US" sz="1200" dirty="0">
                  <a:latin typeface="맑은 고딕" pitchFamily="50" charset="-127"/>
                  <a:ea typeface="맑은 고딕" pitchFamily="50" charset="-127"/>
                </a:rPr>
                <a:t>정보기술 </a:t>
              </a:r>
              <a:r>
                <a:rPr lang="ko-KR" altLang="en-US" sz="1200" dirty="0" err="1">
                  <a:latin typeface="맑은 고딕" pitchFamily="50" charset="-127"/>
                  <a:ea typeface="맑은 고딕" pitchFamily="50" charset="-127"/>
                </a:rPr>
                <a:t>적용성</a:t>
              </a:r>
              <a:r>
                <a:rPr lang="ko-KR" altLang="en-US" sz="1200" dirty="0">
                  <a:latin typeface="맑은 고딕" pitchFamily="50" charset="-127"/>
                  <a:ea typeface="맑은 고딕" pitchFamily="50" charset="-127"/>
                </a:rPr>
                <a:t> 평가</a:t>
              </a:r>
              <a:endParaRPr lang="en-US" altLang="ko-KR" sz="1200" dirty="0"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endParaRPr lang="en-US" altLang="ko-KR" sz="1200" spc="-30" dirty="0"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endParaRPr lang="en-US" altLang="ko-KR" sz="1200" spc="-30" dirty="0"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endParaRPr lang="en-US" altLang="ko-KR" sz="1200" spc="-30" dirty="0"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endParaRPr lang="en-US" altLang="ko-KR" sz="1200" spc="-30" dirty="0">
                <a:latin typeface="맑은 고딕" pitchFamily="50" charset="-127"/>
                <a:ea typeface="맑은 고딕" pitchFamily="50" charset="-127"/>
              </a:endParaRPr>
            </a:p>
            <a:p>
              <a:pPr marL="180975" indent="-180975" defTabSz="895350">
                <a:spcBef>
                  <a:spcPts val="1000"/>
                </a:spcBef>
                <a:buClr>
                  <a:schemeClr val="accent5"/>
                </a:buClr>
                <a:buSzPct val="90000"/>
                <a:buFont typeface="Wingdings" panose="05000000000000000000" pitchFamily="2" charset="2"/>
                <a:buChar char="§"/>
              </a:pPr>
              <a:endParaRPr lang="ko-KR" altLang="en-US" sz="1200" spc="-3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" name="직사각형 18"/>
            <p:cNvSpPr/>
            <p:nvPr/>
          </p:nvSpPr>
          <p:spPr>
            <a:xfrm>
              <a:off x="6754135" y="2001540"/>
              <a:ext cx="2518690" cy="352578"/>
            </a:xfrm>
            <a:prstGeom prst="rect">
              <a:avLst/>
            </a:prstGeom>
            <a:solidFill>
              <a:srgbClr val="508CD2"/>
            </a:solidFill>
            <a:ln w="9525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85725" indent="-85725" algn="ctr" eaLnBrk="0" fontAlgn="base" latinLnBrk="0" hangingPunct="0">
                <a:spcBef>
                  <a:spcPts val="600"/>
                </a:spcBef>
                <a:spcAft>
                  <a:spcPct val="0"/>
                </a:spcAft>
                <a:buClr>
                  <a:prstClr val="black"/>
                </a:buClr>
                <a:buSzPct val="90000"/>
              </a:pPr>
              <a:r>
                <a:rPr lang="ko-KR" altLang="en-US" sz="1400" b="1" kern="0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기술 적용 가능성 분석</a:t>
              </a:r>
            </a:p>
          </p:txBody>
        </p:sp>
      </p:grpSp>
      <p:sp>
        <p:nvSpPr>
          <p:cNvPr id="33" name="갈매기형 수장 32"/>
          <p:cNvSpPr/>
          <p:nvPr/>
        </p:nvSpPr>
        <p:spPr>
          <a:xfrm>
            <a:off x="3152730" y="3186118"/>
            <a:ext cx="432048" cy="648072"/>
          </a:xfrm>
          <a:prstGeom prst="chevr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spc="-3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4" name="갈매기형 수장 33"/>
          <p:cNvSpPr/>
          <p:nvPr/>
        </p:nvSpPr>
        <p:spPr>
          <a:xfrm>
            <a:off x="6249214" y="3186118"/>
            <a:ext cx="432048" cy="648072"/>
          </a:xfrm>
          <a:prstGeom prst="chevron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 spc="-3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39186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경영정보시스템 개선을 위해 최신기술 동향과 도입 가능한 기술을 검토함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1.7 </a:t>
            </a:r>
            <a:r>
              <a:rPr lang="ko-KR" altLang="en-US"/>
              <a:t>최신 정보기술 동향 분석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1.7.2 </a:t>
            </a:r>
            <a:r>
              <a:rPr lang="ko-KR" altLang="en-US" sz="1800"/>
              <a:t>기술적용 가능성 분석  </a:t>
            </a:r>
            <a:endParaRPr lang="ko-KR" altLang="en-US" sz="16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smtClean="0"/>
              <a:t>1.7 </a:t>
            </a:r>
            <a:r>
              <a:rPr lang="ko-KR" altLang="en-US"/>
              <a:t>최신 정보기술 동향 분석</a:t>
            </a:r>
            <a:endParaRPr lang="en-US" altLang="ko-KR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/>
          </p:nvPr>
        </p:nvGraphicFramePr>
        <p:xfrm>
          <a:off x="360153" y="1173087"/>
          <a:ext cx="9143999" cy="5176134"/>
        </p:xfrm>
        <a:graphic>
          <a:graphicData uri="http://schemas.openxmlformats.org/drawingml/2006/table">
            <a:tbl>
              <a:tblPr/>
              <a:tblGrid>
                <a:gridCol w="4675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9305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36004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2573399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0960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661961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endParaRPr 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기대효과</a:t>
                      </a:r>
                      <a:endParaRPr lang="ko-KR" altLang="en-US" sz="11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07898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전자증빙 시스템 도입</a:t>
                      </a:r>
                      <a:endParaRPr lang="ko-KR" altLang="en-US" sz="1200" kern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eaLnBrk="1" latinLnBrk="0" hangingPunct="1">
                        <a:lnSpc>
                          <a:spcPct val="110000"/>
                        </a:lnSpc>
                        <a:spcAft>
                          <a:spcPct val="3000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buNone/>
                      </a:pPr>
                      <a:r>
                        <a:rPr lang="ko-KR" altLang="en-US" sz="1200">
                          <a:latin typeface="+mn-ea"/>
                          <a:ea typeface="+mn-ea"/>
                        </a:rPr>
                        <a:t>업무에서 발생되는 각종 종이문서와 전자문서를 모두 전자화하여 정형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비정형 데이터로 생성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유통 및 보존 등과 관련된 통합 관리기능을 제공하고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각 업무프로세스와 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I/F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를 통하여 비즈니스 프로세스 구축을 수행하기 위한 솔루션</a:t>
                      </a:r>
                      <a:endParaRPr lang="en-US" altLang="ko-KR" sz="120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증빙을 전자화하여 관리함으로서 증빙 스캔의 수작업을 절감하고</a:t>
                      </a: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증빙을 전자화하여 보관함으로써 보관공간 절약 및 온라인 검색이 용이하게 함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연관</a:t>
                      </a:r>
                      <a:endParaRPr lang="en-US" altLang="ko-KR" sz="1200" b="0" i="0" u="none" strike="noStrike" kern="120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솔루션도입</a:t>
                      </a:r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173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매출세금계산서 발행 연계</a:t>
                      </a:r>
                      <a:endParaRPr lang="ko-KR" altLang="en-US" sz="1200" kern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ERP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에 입력한 매출정보로 </a:t>
                      </a: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(BILL36524,</a:t>
                      </a:r>
                      <a:r>
                        <a:rPr lang="en-US" altLang="ko-KR" sz="1200" kern="0" baseline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TAXBILL365 </a:t>
                      </a:r>
                      <a:r>
                        <a:rPr lang="ko-KR" altLang="en-US" sz="1200" kern="0" baseline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등</a:t>
                      </a:r>
                      <a:r>
                        <a:rPr lang="en-US" altLang="ko-KR" sz="1200" kern="0" baseline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세금계산서 발행 </a:t>
                      </a: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SITE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를 연계하여 매출전자세금계산서를 자동으로 발행하는 기능</a:t>
                      </a:r>
                      <a:endParaRPr lang="ko-KR" altLang="en-US" sz="1200" kern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ERP</a:t>
                      </a:r>
                      <a:r>
                        <a:rPr lang="en-US" altLang="ko-KR" sz="12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시스템 매출 입력화면에서 세금계산서 발행 기능을 연계하여 </a:t>
                      </a:r>
                      <a:r>
                        <a:rPr lang="en-US" altLang="ko-KR" sz="12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ERP </a:t>
                      </a:r>
                      <a:r>
                        <a:rPr lang="ko-KR" altLang="en-US" sz="12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입력 자료에 의해 세금계산서를</a:t>
                      </a:r>
                      <a:r>
                        <a:rPr lang="en-US" altLang="ko-KR" sz="12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발행함으로써 이중입력 및 오류 배제 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SITE 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연계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64391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pc="-30">
                          <a:latin typeface="+mn-ea"/>
                        </a:rPr>
                        <a:t>UI_UX TOOL </a:t>
                      </a:r>
                      <a:r>
                        <a:rPr lang="ko-KR" altLang="en-US" sz="1200" spc="-30">
                          <a:latin typeface="+mn-ea"/>
                        </a:rPr>
                        <a:t>대체 고려</a:t>
                      </a:r>
                      <a:endParaRPr lang="ko-KR" altLang="en-US" sz="1200" kern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spc="-30">
                          <a:latin typeface="+mn-ea"/>
                        </a:rPr>
                        <a:t>개발 및 운영이 용이한 </a:t>
                      </a:r>
                      <a:r>
                        <a:rPr lang="en-US" altLang="ko-KR" sz="1200" b="0" spc="-30">
                          <a:latin typeface="+mn-ea"/>
                        </a:rPr>
                        <a:t>UI_UX TOOL</a:t>
                      </a:r>
                      <a:r>
                        <a:rPr lang="ko-KR" altLang="en-US" sz="1200" b="0" spc="-30">
                          <a:latin typeface="+mn-ea"/>
                        </a:rPr>
                        <a:t>을</a:t>
                      </a:r>
                      <a:r>
                        <a:rPr lang="en-US" altLang="ko-KR" sz="1200" b="0" spc="-30">
                          <a:latin typeface="+mn-ea"/>
                        </a:rPr>
                        <a:t> </a:t>
                      </a:r>
                      <a:r>
                        <a:rPr lang="ko-KR" altLang="en-US" sz="1200" b="0" spc="-30">
                          <a:latin typeface="+mn-ea"/>
                        </a:rPr>
                        <a:t>적용하여 외부환경 변경과 사용자 요구사항에 탄력적으로 대응할 수 있는 기반 마련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b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업무 화면 표준화</a:t>
                      </a:r>
                      <a:r>
                        <a:rPr lang="en-US" altLang="ko-KR" sz="1200" b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, </a:t>
                      </a:r>
                      <a:r>
                        <a:rPr lang="ko-KR" altLang="en-US" sz="1200" b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화면 작성 단순화에 기반한 개발 및 사용자 편의성 제고 및 사용자 중심의 </a:t>
                      </a:r>
                      <a:r>
                        <a:rPr lang="en-US" altLang="ko-KR" sz="1200" b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UI/UX </a:t>
                      </a:r>
                      <a:r>
                        <a:rPr lang="ko-KR" altLang="en-US" sz="1200" b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개선</a:t>
                      </a:r>
                      <a:endParaRPr lang="ko-KR" altLang="en-US" sz="1200" b="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현행 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UI TOOL 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대체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193345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spc="-3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자동화 개발 방법론 도입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just" eaLnBrk="1" hangingPunct="1">
                        <a:lnSpc>
                          <a:spcPct val="130000"/>
                        </a:lnSpc>
                        <a:spcBef>
                          <a:spcPct val="50000"/>
                        </a:spcBef>
                      </a:pPr>
                      <a:r>
                        <a:rPr lang="ko-KR" altLang="en-US" sz="1200">
                          <a:latin typeface="+mn-ea"/>
                          <a:ea typeface="+mn-ea"/>
                        </a:rPr>
                        <a:t>화면구성 객체의 표준화 설정 작업 및 화면 형상 설계 작업에 의해 프로그램을 자동으로 생성하는 기능이며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구현 환경 분석과 요구사항 정의를 통하여 목표시스템의 표준을 설정하여 반영하고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구현 단계에서 프로세스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단위 프로그램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테이블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코드 등의 기준 자료와 화면 단위의 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UI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표준을 설계하면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설정된 </a:t>
                      </a:r>
                      <a:r>
                        <a:rPr lang="en-US" altLang="ko-KR" sz="1200">
                          <a:latin typeface="+mn-ea"/>
                          <a:ea typeface="+mn-ea"/>
                        </a:rPr>
                        <a:t>AI </a:t>
                      </a:r>
                      <a:r>
                        <a:rPr lang="ko-KR" altLang="en-US" sz="1200">
                          <a:latin typeface="+mn-ea"/>
                          <a:ea typeface="+mn-ea"/>
                        </a:rPr>
                        <a:t>표준에 의해 프로그램이 자동 생성되는 개발방법론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설정된 표준과 제공자료를 반영하여 프로그램 자동 생성</a:t>
                      </a: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설계자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사용자의 참여하에 테스트를 수행하면서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현장에서 추가 요구사항을 수렴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반영하여 사용자 만족도와 완성도 제고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각종 산출물 추출</a:t>
                      </a:r>
                      <a:endParaRPr lang="en-US" altLang="ko-KR" sz="1200" b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개발 업무의 일관성과 표준화 준수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표준화에 의한 품질 보증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산출물 현행화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코딩</a:t>
                      </a:r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2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산출물 작성에 요구되는 시간 절감</a:t>
                      </a:r>
                      <a:endParaRPr lang="ko-KR" altLang="en-US" sz="1200" b="0" i="0" u="none" strike="noStrike" kern="120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연관</a:t>
                      </a:r>
                      <a:endParaRPr lang="en-US" altLang="ko-KR" sz="1200" b="0" i="0" u="none" strike="noStrike" kern="120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솔루션도입</a:t>
                      </a:r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1169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479375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경영정보시스템 개선을 위해 시스템 환경 분석을 </a:t>
            </a:r>
            <a:r>
              <a:rPr lang="ko-KR" altLang="en-US" sz="1600" dirty="0"/>
              <a:t>통해 식별된 </a:t>
            </a:r>
            <a:r>
              <a:rPr lang="en-US" altLang="ko-KR" sz="1600" dirty="0"/>
              <a:t>Key Findings </a:t>
            </a:r>
            <a:r>
              <a:rPr lang="ko-KR" altLang="en-US" sz="1600" dirty="0"/>
              <a:t>및 시사점을 </a:t>
            </a:r>
            <a:r>
              <a:rPr lang="ko-KR" altLang="en-US" sz="1600"/>
              <a:t>종합적으로 유형화함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1.8 </a:t>
            </a:r>
            <a:r>
              <a:rPr lang="ko-KR" altLang="en-US"/>
              <a:t>환경분석 결과 종합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1.8.1 </a:t>
            </a:r>
            <a:r>
              <a:rPr lang="ko-KR" altLang="en-US" sz="1800"/>
              <a:t>시스템 환경 분석 결과</a:t>
            </a:r>
            <a:endParaRPr lang="ko-KR" altLang="en-US" sz="14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smtClean="0"/>
              <a:t>1.8 </a:t>
            </a:r>
            <a:r>
              <a:rPr lang="ko-KR" altLang="en-US" dirty="0"/>
              <a:t>환경분석 결과 종합</a:t>
            </a:r>
            <a:endParaRPr lang="en-US" altLang="ko-KR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/>
          </p:nvPr>
        </p:nvGraphicFramePr>
        <p:xfrm>
          <a:off x="381000" y="1557339"/>
          <a:ext cx="9143999" cy="4751387"/>
        </p:xfrm>
        <a:graphic>
          <a:graphicData uri="http://schemas.openxmlformats.org/drawingml/2006/table">
            <a:tbl>
              <a:tblPr/>
              <a:tblGrid>
                <a:gridCol w="4675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54001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31422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046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5691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5315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0960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42919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 Findings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시사점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291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DB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프로세스</a:t>
                      </a:r>
                      <a:endParaRPr 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17119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DATABASE(Tibero)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는 최신 트랜드의 국산 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DATABASE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이나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200" spc="-3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설계가 비표준이며</a:t>
                      </a:r>
                      <a:r>
                        <a:rPr lang="en-US" altLang="ko-KR" sz="1200" spc="-3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200" spc="-3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구축이 미흡한 상태이므로 설계 부분의 대폭적인 개선이 필요함</a:t>
                      </a:r>
                      <a:endParaRPr lang="en-US" altLang="ko-KR" sz="1200" spc="-30">
                        <a:solidFill>
                          <a:schemeClr val="tx1"/>
                        </a:solidFill>
                        <a:latin typeface="맑은 고딕" pitchFamily="50" charset="-127"/>
                      </a:endParaRPr>
                    </a:p>
                    <a:p>
                      <a:pPr algn="l" fontAlgn="ctr"/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□ 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DATABASE(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시스템 내부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와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   UI_UX(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시스템 외부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를 전면적으로 개선하여 정보시스템 관리자 및 시스템 사용자의 편의 및 효율성 제고 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전면적 개선</a:t>
                      </a:r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3609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UI_TOOL(Websquare)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는 </a:t>
                      </a:r>
                      <a:r>
                        <a:rPr lang="en-US" altLang="ko-KR" sz="1200" spc="-30">
                          <a:solidFill>
                            <a:schemeClr val="tx1"/>
                          </a:solidFill>
                          <a:latin typeface="맑은 고딕" pitchFamily="50" charset="-127"/>
                        </a:rPr>
                        <a:t>HTML</a:t>
                      </a:r>
                      <a:r>
                        <a:rPr lang="ko-KR" altLang="en-US" sz="1200" spc="-30">
                          <a:solidFill>
                            <a:schemeClr val="tx1"/>
                          </a:solidFill>
                          <a:latin typeface="맑은 고딕" pitchFamily="50" charset="-127"/>
                        </a:rPr>
                        <a:t>기반의 최신기술 적용 </a:t>
                      </a:r>
                      <a:r>
                        <a:rPr lang="en-US" altLang="ko-KR" sz="1200" spc="-30">
                          <a:solidFill>
                            <a:schemeClr val="tx1"/>
                          </a:solidFill>
                          <a:latin typeface="맑은 고딕" pitchFamily="50" charset="-127"/>
                        </a:rPr>
                        <a:t>UI-UX</a:t>
                      </a:r>
                      <a:r>
                        <a:rPr lang="ko-KR" altLang="en-US" sz="1200" spc="-30">
                          <a:solidFill>
                            <a:schemeClr val="tx1"/>
                          </a:solidFill>
                          <a:latin typeface="맑은 고딕" pitchFamily="50" charset="-127"/>
                        </a:rPr>
                        <a:t> </a:t>
                      </a:r>
                      <a:r>
                        <a:rPr lang="en-US" altLang="ko-KR" sz="1200" spc="-30">
                          <a:solidFill>
                            <a:schemeClr val="tx1"/>
                          </a:solidFill>
                          <a:latin typeface="맑은 고딕" pitchFamily="50" charset="-127"/>
                        </a:rPr>
                        <a:t>TOOL</a:t>
                      </a:r>
                      <a:r>
                        <a:rPr lang="ko-KR" altLang="en-US" sz="1200" spc="-30">
                          <a:solidFill>
                            <a:schemeClr val="tx1"/>
                          </a:solidFill>
                          <a:latin typeface="맑은 고딕" pitchFamily="50" charset="-127"/>
                        </a:rPr>
                        <a:t>이지만 대상업무 구축시 표준화 미흡으로 유지보수 어려움</a:t>
                      </a:r>
                      <a:r>
                        <a:rPr lang="en-US" altLang="ko-KR" sz="1200" spc="-3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ko-KR" altLang="en-US" sz="1200" kern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3609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2022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년 구축된 </a:t>
                      </a: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ERP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시스템의 불완전성으로 인하여 기존의 더존</a:t>
                      </a: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ERP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시스템을 동시에 사용하고 있으며</a:t>
                      </a: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데이터</a:t>
                      </a: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이중관리 및 업무 단절로 통합시스템의 구현</a:t>
                      </a: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운영이 가장 우선적으로 요구됨</a:t>
                      </a:r>
                      <a:endParaRPr lang="ko-KR" altLang="en-US" sz="1200" kern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3528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479375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경영정보시스템 개선을 위해 업무 기능 분석을 </a:t>
            </a:r>
            <a:r>
              <a:rPr lang="ko-KR" altLang="en-US" sz="1600" dirty="0"/>
              <a:t>통해 식별된 </a:t>
            </a:r>
            <a:r>
              <a:rPr lang="en-US" altLang="ko-KR" sz="1600" dirty="0"/>
              <a:t>Key Findings </a:t>
            </a:r>
            <a:r>
              <a:rPr lang="ko-KR" altLang="en-US" sz="1600" dirty="0"/>
              <a:t>및 시사점을 </a:t>
            </a:r>
            <a:r>
              <a:rPr lang="ko-KR" altLang="en-US" sz="1600"/>
              <a:t>종합적으로 유형화함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1.8 </a:t>
            </a:r>
            <a:r>
              <a:rPr lang="ko-KR" altLang="en-US"/>
              <a:t>환경분석 결과 종합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1.8.2 </a:t>
            </a:r>
            <a:r>
              <a:rPr lang="ko-KR" altLang="en-US" sz="1800"/>
              <a:t>시스템 업무기능 분석 결과  </a:t>
            </a:r>
            <a:endParaRPr lang="ko-KR" altLang="en-US" sz="16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smtClean="0"/>
              <a:t>1.8 </a:t>
            </a:r>
            <a:r>
              <a:rPr lang="ko-KR" altLang="en-US" dirty="0"/>
              <a:t>환경분석 결과 종합</a:t>
            </a:r>
            <a:endParaRPr lang="en-US" altLang="ko-KR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/>
          </p:nvPr>
        </p:nvGraphicFramePr>
        <p:xfrm>
          <a:off x="381000" y="1557339"/>
          <a:ext cx="9143999" cy="4751386"/>
        </p:xfrm>
        <a:graphic>
          <a:graphicData uri="http://schemas.openxmlformats.org/drawingml/2006/table">
            <a:tbl>
              <a:tblPr/>
              <a:tblGrid>
                <a:gridCol w="4675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0540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046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5691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5315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0960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44789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 Findings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시사점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478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DB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프로세스</a:t>
                      </a:r>
                      <a:endParaRPr 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1222218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업무별 기능 분석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□ 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2022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년 구축된 예산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회계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자산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구매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, 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사업관리 업무의 기능 미비 및 필수 기능 결여 등의 사유로 전반적인 업무 프로세스를 시스템으로 완결 처리하기가 어려움</a:t>
                      </a:r>
                      <a:endParaRPr lang="en-US" altLang="ko-KR" sz="1200" b="0" i="0" u="none" strike="noStrike" kern="120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    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전면적인 개선이나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  <a:sym typeface="Wingdings" panose="05000000000000000000" pitchFamily="2" charset="2"/>
                        </a:rPr>
                        <a:t>시스템의 재구축이 필요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전면적 개선</a:t>
                      </a:r>
                      <a:endParaRPr lang="en-US" altLang="ko-KR" sz="1200" b="0" i="0" u="none" strike="noStrike" kern="120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/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재구축</a:t>
                      </a:r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11878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DATABASE/DATA 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분석</a:t>
                      </a:r>
                      <a:endParaRPr lang="ko-KR" altLang="en-US" sz="1200" kern="0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□ 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DATABASE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설계 및 구축의 표준화 미비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DATA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의 체계의 비 표준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비 정형화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Naming Rule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미 적용 등으로  시스템 개선을 위한 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DB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재 설계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재 구축이 필요한 상태임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79791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업무별 운용</a:t>
                      </a: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사용</a:t>
                      </a:r>
                      <a:r>
                        <a:rPr lang="en-US" altLang="ko-KR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분석</a:t>
                      </a:r>
                      <a:endParaRPr lang="ko-KR" altLang="en-US" sz="1200" kern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□ 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250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개 구축 프로그램 중 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00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본 미사용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(00%)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로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미사용 프로그램에 대한 원인 분석 및 문제점 개선으로 시스템의 운용성 제고</a:t>
                      </a:r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64767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이해관계자 인터뷰 분석</a:t>
                      </a:r>
                      <a:endParaRPr lang="ko-KR" altLang="en-US" sz="1200" kern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□ 현행시스템의 이해관계자 인터뷰 및 현황 분석에 의한 개선점 도출 결과 시스템의 전면적인 개선 혹은 재구축에 의한 시스템 정상화 필요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6498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61393"/>
            <a:ext cx="9180512" cy="479375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/>
              <a:t>경영정보시스템 개선을 위해 최신기술동향 분석을 </a:t>
            </a:r>
            <a:r>
              <a:rPr lang="ko-KR" altLang="en-US" sz="1600" dirty="0"/>
              <a:t>통해 식별된 </a:t>
            </a:r>
            <a:r>
              <a:rPr lang="en-US" altLang="ko-KR" sz="1600" dirty="0"/>
              <a:t>Key Findings </a:t>
            </a:r>
            <a:r>
              <a:rPr lang="ko-KR" altLang="en-US" sz="1600" dirty="0"/>
              <a:t>및 시사점을 </a:t>
            </a:r>
            <a:r>
              <a:rPr lang="ko-KR" altLang="en-US" sz="1600"/>
              <a:t>종합적으로 유형화함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1.8 </a:t>
            </a:r>
            <a:r>
              <a:rPr lang="ko-KR" altLang="en-US"/>
              <a:t>환경분석 결과 종합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1.8.3 </a:t>
            </a:r>
            <a:r>
              <a:rPr lang="ko-KR" altLang="en-US" sz="1800"/>
              <a:t>최신 기술동향 분석 결과  </a:t>
            </a:r>
            <a:endParaRPr lang="ko-KR" altLang="en-US" sz="16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1. </a:t>
            </a:r>
            <a:r>
              <a:rPr lang="ko-KR" altLang="en-US" dirty="0"/>
              <a:t>환경분석</a:t>
            </a:r>
            <a:endParaRPr lang="en-US" altLang="ko-KR" dirty="0"/>
          </a:p>
          <a:p>
            <a:r>
              <a:rPr lang="en-US" altLang="ko-KR" smtClean="0"/>
              <a:t>1.8 </a:t>
            </a:r>
            <a:r>
              <a:rPr lang="ko-KR" altLang="en-US" dirty="0"/>
              <a:t>환경분석 결과 종합</a:t>
            </a:r>
            <a:endParaRPr lang="en-US" altLang="ko-KR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/>
          </p:nvPr>
        </p:nvGraphicFramePr>
        <p:xfrm>
          <a:off x="381000" y="1557340"/>
          <a:ext cx="9143999" cy="4751386"/>
        </p:xfrm>
        <a:graphic>
          <a:graphicData uri="http://schemas.openxmlformats.org/drawingml/2006/table">
            <a:tbl>
              <a:tblPr/>
              <a:tblGrid>
                <a:gridCol w="467544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4054034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10462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45691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53155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0960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31017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 Findings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시사점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유형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98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DB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프로세스</a:t>
                      </a:r>
                      <a:endParaRPr 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8033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전자증빙 시스템 도입</a:t>
                      </a:r>
                      <a:endParaRPr lang="ko-KR" altLang="en-US" sz="1200" kern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증빙을 전자화하여 관리함으로서 증빙 스캔에 소요되는 수작업을 절감하고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증빙을 전자화하여 보관함으로써 보관공간 절약 및 온라인 검색이 용이하게 지원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솔루션 도입</a:t>
                      </a:r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8033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매출세금계산서 발행 </a:t>
                      </a:r>
                      <a:endParaRPr lang="en-US" altLang="ko-KR" sz="1200" kern="0" smtClean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 smtClean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연계</a:t>
                      </a:r>
                      <a:endParaRPr lang="ko-KR" altLang="en-US" sz="1200" kern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시스템 매출 입력화면에서 세금계산서 발행 기능을 연계하여 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ERP 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입력 자료에 의해 세금계산서를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발행함으로써 이중입력 및 오류 배제 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8033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spc="-30">
                          <a:latin typeface="+mn-ea"/>
                        </a:rPr>
                        <a:t>UI_UX TOOL </a:t>
                      </a:r>
                      <a:r>
                        <a:rPr lang="ko-KR" altLang="en-US" sz="1200" spc="-30">
                          <a:latin typeface="+mn-ea"/>
                        </a:rPr>
                        <a:t>대체 고려</a:t>
                      </a:r>
                      <a:endParaRPr lang="ko-KR" altLang="en-US" sz="1200" kern="0" dirty="0">
                        <a:solidFill>
                          <a:sysClr val="windowText" lastClr="000000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개발 및 운영이 용이한 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UI_UX TOOL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을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적용하여 외부환경 변경과 사용자 요구사항에 탄력적으로 대응할 수 있는 기반 마련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70843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spc="-30" baseline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자동화 개발 방법론 도입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화면구성 객체의 표준화 설정 작업 및 화면 형상 설계 작업에 의해 프로그램을 자동으로 생성하는 기능 도입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9929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en-US" altLang="ko-KR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나라장터로부터 조달 관련 정보의 자동 수집 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수주예상 사업에 대한 나라장터의 정보를 실시간으로 검색하여 내부 시스템으로 제공받을 수 있는 기능을 구현할 수 있는 </a:t>
                      </a: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RPA</a:t>
                      </a:r>
                      <a:r>
                        <a:rPr lang="en-US" altLang="ko-KR" sz="12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2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솔루션  </a:t>
                      </a:r>
                      <a:endParaRPr lang="ko-KR" altLang="en-US" sz="1200" b="0" i="0" u="none" strike="noStrike" kern="120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en-US" altLang="ko-KR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※ RPA(Robotic</a:t>
                      </a:r>
                      <a:r>
                        <a:rPr lang="en-US" altLang="ko-KR" sz="12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 Process Automation)</a:t>
                      </a:r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</a:p>
                    <a:p>
                      <a:pPr marL="0" algn="ctr" defTabSz="914400" rtl="0" eaLnBrk="1" fontAlgn="ctr" latinLnBrk="1" hangingPunct="1"/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endParaRPr lang="ko-KR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0088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4519" y="0"/>
            <a:ext cx="6866733" cy="789378"/>
          </a:xfrm>
        </p:spPr>
        <p:txBody>
          <a:bodyPr/>
          <a:lstStyle/>
          <a:p>
            <a:r>
              <a:rPr lang="en-US" altLang="ko-KR" smtClean="0"/>
              <a:t>2.1 </a:t>
            </a:r>
            <a:r>
              <a:rPr lang="ko-KR" altLang="en-US" dirty="0"/>
              <a:t>분석결과 </a:t>
            </a:r>
            <a:r>
              <a:rPr lang="ko-KR" altLang="en-US"/>
              <a:t>종합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4953001" y="-1"/>
            <a:ext cx="4572508" cy="807809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2. </a:t>
            </a:r>
            <a:r>
              <a:rPr lang="ko-KR" altLang="en-US" dirty="0"/>
              <a:t>방향성 정의</a:t>
            </a:r>
            <a:endParaRPr lang="en-US" altLang="ko-KR" dirty="0"/>
          </a:p>
          <a:p>
            <a:r>
              <a:rPr lang="en-US" altLang="ko-KR" smtClean="0"/>
              <a:t>2.1 </a:t>
            </a:r>
            <a:r>
              <a:rPr lang="ko-KR" altLang="en-US" dirty="0"/>
              <a:t>분석결과 종합</a:t>
            </a:r>
            <a:endParaRPr lang="en-US" altLang="ko-KR" dirty="0"/>
          </a:p>
        </p:txBody>
      </p:sp>
      <p:sp>
        <p:nvSpPr>
          <p:cNvPr id="29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70736"/>
            <a:ext cx="9180512" cy="623573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/>
              <a:t>차세대 경영정보시스템 구축을 위한 방향성 정립을 위해 환경분석에서 도출된 </a:t>
            </a:r>
            <a:r>
              <a:rPr lang="en-US" altLang="ko-KR" sz="1600" dirty="0"/>
              <a:t>Key Findings </a:t>
            </a:r>
            <a:r>
              <a:rPr lang="ko-KR" altLang="en-US" sz="1600" dirty="0"/>
              <a:t>및 시사점은 아래와 같음</a:t>
            </a: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/>
          </p:nvPr>
        </p:nvGraphicFramePr>
        <p:xfrm>
          <a:off x="381000" y="1415112"/>
          <a:ext cx="9143999" cy="5046600"/>
        </p:xfrm>
        <a:graphic>
          <a:graphicData uri="http://schemas.openxmlformats.org/drawingml/2006/table">
            <a:tbl>
              <a:tblPr/>
              <a:tblGrid>
                <a:gridCol w="36124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786819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434006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609601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</a:tblGrid>
              <a:tr h="179814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번호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Key Findings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시사점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유형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0" i="0" u="none" strike="noStrike" dirty="0">
                          <a:solidFill>
                            <a:srgbClr val="FFFF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2847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DB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프로세스</a:t>
                      </a:r>
                      <a:endParaRPr 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UI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0" i="0" u="none" strike="noStrike">
                          <a:solidFill>
                            <a:srgbClr val="FFFFFF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문서</a:t>
                      </a:r>
                      <a:endParaRPr lang="ko-KR" altLang="en-US" sz="1200" b="0" i="0" u="none" strike="noStrike" dirty="0">
                        <a:solidFill>
                          <a:srgbClr val="FFFFFF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82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DATABASE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Tibero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는 최신 트랜드의 국산 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DATABASE</a:t>
                      </a: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이나</a:t>
                      </a:r>
                      <a:r>
                        <a:rPr lang="en-US" altLang="ko-KR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pc="-3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설계가 </a:t>
                      </a:r>
                      <a:r>
                        <a:rPr lang="ko-KR" altLang="en-US" sz="1000" spc="-3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비표준이며</a:t>
                      </a:r>
                      <a:r>
                        <a:rPr lang="en-US" altLang="ko-KR" sz="1000" spc="-3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pc="-3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구축이 미흡한 상태이므로 설계 부분의 대폭적인 개선이 필요함</a:t>
                      </a:r>
                      <a:endParaRPr lang="en-US" altLang="ko-KR" sz="1000" spc="-3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179388" marR="0" lvl="0" indent="-265113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>
                          <a:tab pos="190500" algn="l"/>
                        </a:tabLst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□ 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DATABASE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와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UI_UX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를 표준화하고 부족한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기능을 전면적으로 개선하여  사용자의 편의 및 효율성을 제고하는 통합시스템 구축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전면적 </a:t>
                      </a:r>
                      <a:endParaRPr lang="en-US" altLang="ko-KR" sz="800" b="0" i="0" u="none" strike="noStrike" kern="120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개선</a:t>
                      </a:r>
                      <a:r>
                        <a:rPr lang="en-US" altLang="ko-KR" sz="8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 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82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UI_TOOL(</a:t>
                      </a:r>
                      <a:r>
                        <a:rPr lang="en-US" altLang="ko-KR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Websquare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는 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HTML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기반의 최신기술 적용 </a:t>
                      </a:r>
                      <a:r>
                        <a:rPr lang="en-US" altLang="ko-K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UI-UX</a:t>
                      </a:r>
                      <a:r>
                        <a:rPr lang="ko-KR" alt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TOOL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이지만 대상업무 </a:t>
                      </a:r>
                      <a:r>
                        <a:rPr lang="ko-KR" altLang="en-US" sz="1000" b="0" i="0" u="none" strike="noStrike" kern="1200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구축시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표준화 미흡으로 유지보수 어려움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82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kern="0" dirty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ERP</a:t>
                      </a:r>
                      <a:r>
                        <a:rPr lang="ko-KR" altLang="en-US" sz="1000" kern="0" dirty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시스템의 불완전성으로 인하여 기존의 더존</a:t>
                      </a:r>
                      <a:r>
                        <a:rPr lang="en-US" altLang="ko-KR" sz="1000" kern="0" dirty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ERP</a:t>
                      </a:r>
                      <a:r>
                        <a:rPr lang="ko-KR" altLang="en-US" sz="1000" kern="0" dirty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 시스템을 동시에 사용하고 있으며</a:t>
                      </a:r>
                      <a:r>
                        <a:rPr lang="en-US" altLang="ko-KR" sz="1000" kern="0" dirty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1" kern="0" dirty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통합시스템</a:t>
                      </a:r>
                      <a:r>
                        <a:rPr lang="ko-KR" altLang="en-US" sz="1000" kern="0" dirty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의 구현</a:t>
                      </a:r>
                      <a:r>
                        <a:rPr lang="en-US" altLang="ko-KR" sz="1000" kern="0" dirty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/</a:t>
                      </a:r>
                      <a:r>
                        <a:rPr lang="ko-KR" altLang="en-US" sz="1000" kern="0" dirty="0">
                          <a:solidFill>
                            <a:sysClr val="windowText" lastClr="000000"/>
                          </a:solidFill>
                          <a:latin typeface="맑은 고딕" pitchFamily="50" charset="-127"/>
                          <a:ea typeface="+mn-ea"/>
                        </a:rPr>
                        <a:t>운영이 가장 우선적으로 요구됨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kern="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82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기능 미비 및 필수기능 결여로 인한 예산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회계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자산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구매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사업관리 업무의 사용성 저하를 해소할 수 있는 </a:t>
                      </a:r>
                      <a:r>
                        <a:rPr lang="ko-KR" alt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전면적인 개선 혹은 재구축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필요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127000" marR="0" lvl="0" indent="-127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□ </a:t>
                      </a:r>
                      <a:r>
                        <a:rPr lang="ko-KR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전면적인 개선 혹은 재구축에 의한 시스템 정상화 필요</a:t>
                      </a:r>
                      <a:endParaRPr lang="ko-KR" altLang="en-US" sz="1000" b="0" i="0" u="none" strike="noStrike" kern="12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27000" marR="0" lvl="0" indent="-127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◎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◎</a:t>
                      </a:r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전면적 </a:t>
                      </a:r>
                      <a:endParaRPr lang="en-US" altLang="ko-KR" sz="800" b="0" i="0" u="none" strike="noStrike" kern="120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개선</a:t>
                      </a:r>
                      <a:r>
                        <a:rPr lang="en-US" altLang="ko-KR" sz="800" b="0" i="0" u="none" strike="noStrike" kern="1200" baseline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endParaRPr lang="ko-KR" altLang="en-US" sz="800" b="0" i="0" u="none" strike="noStrike" kern="120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　</a:t>
                      </a:r>
                    </a:p>
                    <a:p>
                      <a:pPr algn="l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　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82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DATABASE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설계 및 구축의 표준화 미비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DATA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체계의 비 표준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 정형화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Naming Rule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 적용 등으로  시스템 개선을 위한 </a:t>
                      </a:r>
                      <a:r>
                        <a:rPr lang="en-US" altLang="ko-K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DB </a:t>
                      </a:r>
                      <a:r>
                        <a:rPr lang="ko-KR" alt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 설계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재 구축 필요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82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kern="120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446</a:t>
                      </a:r>
                      <a:r>
                        <a:rPr lang="ko-KR" altLang="en-US" sz="10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구축 프로그램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 </a:t>
                      </a:r>
                      <a:r>
                        <a:rPr lang="en-US" altLang="ko-KR" sz="1000" b="0" i="0" u="none" strike="noStrike" kern="120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</a:t>
                      </a:r>
                      <a:r>
                        <a:rPr lang="ko-KR" altLang="en-US" sz="10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본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미사용</a:t>
                      </a:r>
                      <a:r>
                        <a:rPr lang="en-US" altLang="ko-KR" sz="10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1000" b="0" i="0" u="none" strike="noStrike" kern="1200" smtClean="0"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45.1%)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로</a:t>
                      </a:r>
                      <a:r>
                        <a:rPr lang="en-US" altLang="ko-KR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미사용 프로그램에 대한 원인 분석 과 문제점 개선 및 부족한 기능의 추가 개발로 시스템의 </a:t>
                      </a:r>
                      <a:r>
                        <a:rPr lang="ko-KR" altLang="en-US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사용성 제고</a:t>
                      </a:r>
                      <a:r>
                        <a:rPr lang="en-US" altLang="ko-KR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000" b="1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82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현행시스템의 이해관계자 인터뷰 및 현황 분석에 의한 개선점 도출 결과 시스템의 전면적인 개선 혹은 재구축에 의한 </a:t>
                      </a:r>
                      <a:r>
                        <a:rPr lang="ko-KR" alt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시스템 정상화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필요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27000" marR="0" lvl="0" indent="-127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82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8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증빙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 </a:t>
                      </a:r>
                      <a:r>
                        <a:rPr lang="ko-KR" alt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전자화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하여 관리함으로서 증빙 스캔에 소요되는 수작업을 절감하고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증빙을 전자화하여 보관함으로써 보관공간 절약 및 온라인 검색이 용이하게 지원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127000" marR="0" lvl="0" indent="-12700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□ 전자증빙 도입과 관련 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SITE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연계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현행 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UI TOOL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대체와 효율적인 개발 솔루션 도입</a:t>
                      </a:r>
                      <a:endParaRPr lang="en-US" altLang="ko-KR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◎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800" b="0" i="0" u="none" strike="noStrike" kern="120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  <a:cs typeface="+mn-cs"/>
                        </a:rPr>
                        <a:t>◎</a:t>
                      </a: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  <a:cs typeface="+mn-cs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연계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</a:p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솔루션 </a:t>
                      </a:r>
                      <a:endParaRPr lang="en-US" altLang="ko-KR" sz="800" b="0" i="0" u="none" strike="noStrike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fontAlgn="ctr"/>
                      <a:r>
                        <a:rPr lang="ko-KR" altLang="en-US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도입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82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9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시스템 매출 입력화면에서 </a:t>
                      </a:r>
                      <a:r>
                        <a:rPr lang="ko-KR" alt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세금계산서 발행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기능을 </a:t>
                      </a:r>
                      <a:r>
                        <a:rPr lang="ko-KR" alt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연계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하여 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ERP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입력 자료에 의해 세금계산서를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발행함으로써 이중입력 및 오류 배제 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28273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10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개발 및 운영이 용이한 </a:t>
                      </a:r>
                      <a:r>
                        <a:rPr lang="en-US" altLang="ko-KR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UI_UX TOOL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을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적용하여 외부환경 변경과 사용자 요구사항에 탄력적으로 대응할 수 있는 기반 마련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25561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11</a:t>
                      </a: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화면구성 객체의 표준화 설정 작업 및 화면 형상 설계 작업에 의해 프로그램을 자동으로 생성하는 </a:t>
                      </a:r>
                      <a:r>
                        <a:rPr lang="en-US" altLang="ko-KR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lang="ko-KR" altLang="en-US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기능 도입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으로</a:t>
                      </a:r>
                      <a:r>
                        <a:rPr lang="en-US" altLang="ko-KR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신속한 목표 달성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kern="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ctr"/>
                      <a:endParaRPr lang="ko-KR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12118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나라장터로부터 조달 관련 정보를 실시감으로 자동 수집할 수 있는 로봇 기능 활용 </a:t>
                      </a:r>
                      <a:endParaRPr lang="ko-KR" altLang="en-US" sz="1000" b="0" i="0" u="none" strike="noStrike" kern="12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08457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4519" y="0"/>
            <a:ext cx="6866733" cy="789378"/>
          </a:xfrm>
        </p:spPr>
        <p:txBody>
          <a:bodyPr/>
          <a:lstStyle/>
          <a:p>
            <a:r>
              <a:rPr lang="en-US" altLang="ko-KR" smtClean="0"/>
              <a:t>2.2 </a:t>
            </a:r>
            <a:r>
              <a:rPr lang="ko-KR" altLang="en-US"/>
              <a:t>추진방향 도출</a:t>
            </a:r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4953001" y="-1"/>
            <a:ext cx="4572508" cy="807809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 smtClean="0"/>
              <a:t>2. </a:t>
            </a:r>
            <a:r>
              <a:rPr lang="ko-KR" altLang="en-US" dirty="0"/>
              <a:t>방향성 정의</a:t>
            </a:r>
            <a:endParaRPr lang="en-US" altLang="ko-KR" dirty="0"/>
          </a:p>
          <a:p>
            <a:r>
              <a:rPr lang="en-US" altLang="ko-KR" smtClean="0"/>
              <a:t>2.2 </a:t>
            </a:r>
            <a:r>
              <a:rPr lang="ko-KR" altLang="en-US" dirty="0"/>
              <a:t>추진전략 도출</a:t>
            </a:r>
            <a:endParaRPr lang="en-US" altLang="ko-KR" dirty="0"/>
          </a:p>
        </p:txBody>
      </p:sp>
      <p:sp>
        <p:nvSpPr>
          <p:cNvPr id="29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70736"/>
            <a:ext cx="9180512" cy="623573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/>
              <a:t>분석결과 종합을 근거로 추진방향성 정의를 위한 핵심키워드를 도출하여 </a:t>
            </a:r>
            <a:r>
              <a:rPr lang="en-US" altLang="ko-KR" sz="1600" dirty="0"/>
              <a:t>4</a:t>
            </a:r>
            <a:r>
              <a:rPr lang="ko-KR" altLang="en-US" sz="1600"/>
              <a:t>개의 경영정보시스템 개선 </a:t>
            </a:r>
            <a:r>
              <a:rPr lang="ko-KR" altLang="en-US" sz="1600" dirty="0"/>
              <a:t>사업추진 방향을 도출함</a:t>
            </a:r>
          </a:p>
        </p:txBody>
      </p: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7009544" y="1659428"/>
            <a:ext cx="1887824" cy="288147"/>
          </a:xfrm>
          <a:prstGeom prst="rect">
            <a:avLst/>
          </a:prstGeom>
          <a:noFill/>
          <a:ln w="6350" algn="ctr">
            <a:noFill/>
            <a:miter lim="800000"/>
            <a:headEnd/>
            <a:tailEnd type="none" w="sm" len="sm"/>
          </a:ln>
          <a:effectLst/>
        </p:spPr>
        <p:txBody>
          <a:bodyPr wrap="square" lIns="36000" tIns="36000" rIns="36000" bIns="36000">
            <a:spAutoFit/>
          </a:bodyPr>
          <a:lstStyle/>
          <a:p>
            <a:pPr marL="85725" marR="0" lvl="0" indent="-85725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ko-KR" altLang="en-US" sz="1400" b="1" i="0" u="sng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rPr>
              <a:t>추진방향 정의</a:t>
            </a:r>
          </a:p>
        </p:txBody>
      </p:sp>
      <p:grpSp>
        <p:nvGrpSpPr>
          <p:cNvPr id="22" name="Group 198"/>
          <p:cNvGrpSpPr>
            <a:grpSpLocks/>
          </p:cNvGrpSpPr>
          <p:nvPr/>
        </p:nvGrpSpPr>
        <p:grpSpPr bwMode="auto">
          <a:xfrm rot="5400000">
            <a:off x="3257059" y="3499443"/>
            <a:ext cx="4572508" cy="1180625"/>
            <a:chOff x="1120" y="2094"/>
            <a:chExt cx="3038" cy="426"/>
          </a:xfrm>
        </p:grpSpPr>
        <p:sp>
          <p:nvSpPr>
            <p:cNvPr id="23" name="Freeform 69"/>
            <p:cNvSpPr>
              <a:spLocks/>
            </p:cNvSpPr>
            <p:nvPr/>
          </p:nvSpPr>
          <p:spPr bwMode="auto">
            <a:xfrm rot="10800000" flipV="1">
              <a:off x="1120" y="2141"/>
              <a:ext cx="3038" cy="379"/>
            </a:xfrm>
            <a:custGeom>
              <a:avLst/>
              <a:gdLst>
                <a:gd name="T0" fmla="*/ 0 w 3840"/>
                <a:gd name="T1" fmla="*/ 1 h 672"/>
                <a:gd name="T2" fmla="*/ 2 w 3840"/>
                <a:gd name="T3" fmla="*/ 1 h 672"/>
                <a:gd name="T4" fmla="*/ 2 w 3840"/>
                <a:gd name="T5" fmla="*/ 1 h 672"/>
                <a:gd name="T6" fmla="*/ 2 w 3840"/>
                <a:gd name="T7" fmla="*/ 1 h 672"/>
                <a:gd name="T8" fmla="*/ 2 w 3840"/>
                <a:gd name="T9" fmla="*/ 0 h 672"/>
                <a:gd name="T10" fmla="*/ 2 w 3840"/>
                <a:gd name="T11" fmla="*/ 1 h 672"/>
                <a:gd name="T12" fmla="*/ 2 w 3840"/>
                <a:gd name="T13" fmla="*/ 1 h 672"/>
                <a:gd name="T14" fmla="*/ 2 w 3840"/>
                <a:gd name="T15" fmla="*/ 1 h 672"/>
                <a:gd name="T16" fmla="*/ 2 w 3840"/>
                <a:gd name="T17" fmla="*/ 1 h 6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840"/>
                <a:gd name="T28" fmla="*/ 0 h 672"/>
                <a:gd name="T29" fmla="*/ 3840 w 3840"/>
                <a:gd name="T30" fmla="*/ 672 h 67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840" h="672">
                  <a:moveTo>
                    <a:pt x="0" y="672"/>
                  </a:moveTo>
                  <a:cubicBezTo>
                    <a:pt x="158" y="634"/>
                    <a:pt x="700" y="524"/>
                    <a:pt x="948" y="444"/>
                  </a:cubicBezTo>
                  <a:cubicBezTo>
                    <a:pt x="1196" y="364"/>
                    <a:pt x="1470" y="234"/>
                    <a:pt x="1488" y="192"/>
                  </a:cubicBezTo>
                  <a:lnTo>
                    <a:pt x="1056" y="192"/>
                  </a:lnTo>
                  <a:lnTo>
                    <a:pt x="1920" y="0"/>
                  </a:lnTo>
                  <a:lnTo>
                    <a:pt x="2736" y="192"/>
                  </a:lnTo>
                  <a:lnTo>
                    <a:pt x="2352" y="192"/>
                  </a:lnTo>
                  <a:cubicBezTo>
                    <a:pt x="2361" y="230"/>
                    <a:pt x="2542" y="340"/>
                    <a:pt x="2790" y="420"/>
                  </a:cubicBezTo>
                  <a:cubicBezTo>
                    <a:pt x="3038" y="500"/>
                    <a:pt x="3621" y="619"/>
                    <a:pt x="3840" y="672"/>
                  </a:cubicBezTo>
                </a:path>
              </a:pathLst>
            </a:custGeom>
            <a:gradFill rotWithShape="1">
              <a:gsLst>
                <a:gs pos="0">
                  <a:srgbClr val="4A87C4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ysClr val="window" lastClr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5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008400"/>
                </a:buClr>
                <a:buSzTx/>
                <a:buFontTx/>
                <a:buNone/>
                <a:tabLst/>
                <a:defRPr/>
              </a:pPr>
              <a:endPara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" name="Freeform 70"/>
            <p:cNvSpPr>
              <a:spLocks/>
            </p:cNvSpPr>
            <p:nvPr/>
          </p:nvSpPr>
          <p:spPr bwMode="auto">
            <a:xfrm rot="10800000" flipV="1">
              <a:off x="1622" y="2094"/>
              <a:ext cx="2036" cy="425"/>
            </a:xfrm>
            <a:custGeom>
              <a:avLst/>
              <a:gdLst>
                <a:gd name="T0" fmla="*/ 0 w 3840"/>
                <a:gd name="T1" fmla="*/ 1 h 672"/>
                <a:gd name="T2" fmla="*/ 1 w 3840"/>
                <a:gd name="T3" fmla="*/ 1 h 672"/>
                <a:gd name="T4" fmla="*/ 1 w 3840"/>
                <a:gd name="T5" fmla="*/ 1 h 672"/>
                <a:gd name="T6" fmla="*/ 1 w 3840"/>
                <a:gd name="T7" fmla="*/ 1 h 672"/>
                <a:gd name="T8" fmla="*/ 1 w 3840"/>
                <a:gd name="T9" fmla="*/ 0 h 672"/>
                <a:gd name="T10" fmla="*/ 1 w 3840"/>
                <a:gd name="T11" fmla="*/ 1 h 672"/>
                <a:gd name="T12" fmla="*/ 1 w 3840"/>
                <a:gd name="T13" fmla="*/ 1 h 672"/>
                <a:gd name="T14" fmla="*/ 1 w 3840"/>
                <a:gd name="T15" fmla="*/ 1 h 672"/>
                <a:gd name="T16" fmla="*/ 1 w 3840"/>
                <a:gd name="T17" fmla="*/ 1 h 67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3840"/>
                <a:gd name="T28" fmla="*/ 0 h 672"/>
                <a:gd name="T29" fmla="*/ 3840 w 3840"/>
                <a:gd name="T30" fmla="*/ 672 h 672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3840" h="672">
                  <a:moveTo>
                    <a:pt x="0" y="672"/>
                  </a:moveTo>
                  <a:cubicBezTo>
                    <a:pt x="158" y="634"/>
                    <a:pt x="700" y="524"/>
                    <a:pt x="948" y="444"/>
                  </a:cubicBezTo>
                  <a:cubicBezTo>
                    <a:pt x="1196" y="364"/>
                    <a:pt x="1470" y="234"/>
                    <a:pt x="1488" y="192"/>
                  </a:cubicBezTo>
                  <a:lnTo>
                    <a:pt x="1056" y="192"/>
                  </a:lnTo>
                  <a:lnTo>
                    <a:pt x="1920" y="0"/>
                  </a:lnTo>
                  <a:lnTo>
                    <a:pt x="2736" y="192"/>
                  </a:lnTo>
                  <a:lnTo>
                    <a:pt x="2352" y="192"/>
                  </a:lnTo>
                  <a:cubicBezTo>
                    <a:pt x="2361" y="230"/>
                    <a:pt x="2542" y="340"/>
                    <a:pt x="2790" y="420"/>
                  </a:cubicBezTo>
                  <a:cubicBezTo>
                    <a:pt x="3038" y="500"/>
                    <a:pt x="3621" y="619"/>
                    <a:pt x="3840" y="672"/>
                  </a:cubicBezTo>
                </a:path>
              </a:pathLst>
            </a:custGeom>
            <a:gradFill rotWithShape="1">
              <a:gsLst>
                <a:gs pos="0">
                  <a:srgbClr val="88B0D8"/>
                </a:gs>
                <a:gs pos="100000">
                  <a:srgbClr val="FFFFFF"/>
                </a:gs>
              </a:gsLst>
              <a:lin ang="5400000" scaled="1"/>
            </a:gradFill>
            <a:ln w="9525">
              <a:solidFill>
                <a:sysClr val="window" lastClr="FFFF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5000"/>
                </a:lnSpc>
                <a:spcBef>
                  <a:spcPct val="35000"/>
                </a:spcBef>
                <a:spcAft>
                  <a:spcPct val="0"/>
                </a:spcAft>
                <a:buClr>
                  <a:srgbClr val="008400"/>
                </a:buClr>
                <a:buSzTx/>
                <a:buFontTx/>
                <a:buNone/>
                <a:tabLst/>
                <a:defRPr/>
              </a:pPr>
              <a:endParaRPr kumimoji="0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82" name="AutoShape 95"/>
          <p:cNvSpPr>
            <a:spLocks noChangeArrowheads="1"/>
          </p:cNvSpPr>
          <p:nvPr/>
        </p:nvSpPr>
        <p:spPr bwMode="auto">
          <a:xfrm>
            <a:off x="920552" y="1597218"/>
            <a:ext cx="4176464" cy="225425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3A4972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bg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0000"/>
                  </a:outerShdw>
                </a:effectLst>
              </a14:hiddenEffects>
            </a:ext>
          </a:extLst>
        </p:spPr>
        <p:txBody>
          <a:bodyPr lIns="90000" tIns="0" rIns="0" bIns="0" anchor="ctr"/>
          <a:lstStyle/>
          <a:p>
            <a:pPr algn="ctr" eaLnBrk="0" hangingPunct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600" b="1" u="sng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  <a:cs typeface="Arial" charset="0"/>
              </a:rPr>
              <a:t>추진방향 정의 키워드 도출</a:t>
            </a:r>
          </a:p>
        </p:txBody>
      </p:sp>
      <p:grpSp>
        <p:nvGrpSpPr>
          <p:cNvPr id="287" name="그룹 286"/>
          <p:cNvGrpSpPr/>
          <p:nvPr/>
        </p:nvGrpSpPr>
        <p:grpSpPr>
          <a:xfrm>
            <a:off x="375552" y="2290520"/>
            <a:ext cx="4742877" cy="3946792"/>
            <a:chOff x="375552" y="2290520"/>
            <a:chExt cx="4742877" cy="3946792"/>
          </a:xfrm>
        </p:grpSpPr>
        <p:cxnSp>
          <p:nvCxnSpPr>
            <p:cNvPr id="6" name="직선 연결선 5"/>
            <p:cNvCxnSpPr/>
            <p:nvPr/>
          </p:nvCxnSpPr>
          <p:spPr>
            <a:xfrm>
              <a:off x="386393" y="3501674"/>
              <a:ext cx="4657222" cy="0"/>
            </a:xfrm>
            <a:prstGeom prst="line">
              <a:avLst/>
            </a:prstGeom>
            <a:ln w="9525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직선 연결선 189"/>
            <p:cNvCxnSpPr/>
            <p:nvPr/>
          </p:nvCxnSpPr>
          <p:spPr>
            <a:xfrm>
              <a:off x="386393" y="4807982"/>
              <a:ext cx="4657222" cy="0"/>
            </a:xfrm>
            <a:prstGeom prst="line">
              <a:avLst/>
            </a:prstGeom>
            <a:ln w="9525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30" name="그룹 229"/>
            <p:cNvGrpSpPr/>
            <p:nvPr/>
          </p:nvGrpSpPr>
          <p:grpSpPr>
            <a:xfrm>
              <a:off x="386393" y="5665843"/>
              <a:ext cx="4732036" cy="571469"/>
              <a:chOff x="386393" y="5665843"/>
              <a:chExt cx="4732036" cy="571469"/>
            </a:xfrm>
          </p:grpSpPr>
          <p:sp>
            <p:nvSpPr>
              <p:cNvPr id="185" name="모서리가 둥근 직사각형 184"/>
              <p:cNvSpPr/>
              <p:nvPr/>
            </p:nvSpPr>
            <p:spPr>
              <a:xfrm>
                <a:off x="386393" y="5665843"/>
                <a:ext cx="432049" cy="571469"/>
              </a:xfrm>
              <a:prstGeom prst="roundRect">
                <a:avLst/>
              </a:prstGeom>
              <a:solidFill>
                <a:srgbClr val="508CD2">
                  <a:lumMod val="40000"/>
                  <a:lumOff val="60000"/>
                </a:srgbClr>
              </a:solidFill>
              <a:ln w="9525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36000" rIns="36000" bIns="3600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7200" eaLnBrk="0" latinLnBrk="0" hangingPunct="0">
                  <a:lnSpc>
                    <a:spcPct val="105000"/>
                  </a:lnSpc>
                  <a:buClr>
                    <a:srgbClr val="328030"/>
                  </a:buClr>
                </a:pPr>
                <a:r>
                  <a:rPr lang="ko-KR" altLang="en-US" sz="1200" b="1" kern="0" spc="-150">
                    <a:solidFill>
                      <a:srgbClr val="000000"/>
                    </a:solidFill>
                    <a:latin typeface="+mn-ea"/>
                  </a:rPr>
                  <a:t>문서</a:t>
                </a:r>
                <a:endParaRPr lang="ko-KR" altLang="en-US" sz="1200" b="1" kern="0" spc="-150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103" name="모서리가 둥근 직사각형 102"/>
              <p:cNvSpPr/>
              <p:nvPr/>
            </p:nvSpPr>
            <p:spPr bwMode="auto">
              <a:xfrm>
                <a:off x="969579" y="5685918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lang="ko-KR" altLang="en-US" sz="1000" kern="0">
                    <a:latin typeface="+mn-ea"/>
                  </a:rPr>
                  <a:t>문서 양식 표준화</a:t>
                </a:r>
                <a:endParaRPr lang="ko-KR" altLang="en-US" sz="1000" kern="0" dirty="0">
                  <a:latin typeface="+mn-ea"/>
                </a:endParaRPr>
              </a:p>
            </p:txBody>
          </p:sp>
          <p:sp>
            <p:nvSpPr>
              <p:cNvPr id="104" name="모서리가 둥근 직사각형 103"/>
              <p:cNvSpPr/>
              <p:nvPr/>
            </p:nvSpPr>
            <p:spPr bwMode="auto">
              <a:xfrm>
                <a:off x="969579" y="5965118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lang="ko-KR" altLang="en-US" sz="1000" kern="0">
                    <a:latin typeface="+mn-ea"/>
                  </a:rPr>
                  <a:t>단계별 산출물 </a:t>
                </a:r>
                <a:endParaRPr lang="ko-KR" altLang="en-US" sz="1000" kern="0" dirty="0">
                  <a:latin typeface="+mn-ea"/>
                </a:endParaRPr>
              </a:p>
            </p:txBody>
          </p:sp>
          <p:sp>
            <p:nvSpPr>
              <p:cNvPr id="107" name="모서리가 둥근 직사각형 106"/>
              <p:cNvSpPr/>
              <p:nvPr/>
            </p:nvSpPr>
            <p:spPr bwMode="auto">
              <a:xfrm>
                <a:off x="2386440" y="5685918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lang="ko-KR" altLang="en-US" sz="1000" kern="0">
                    <a:latin typeface="+mn-ea"/>
                  </a:rPr>
                  <a:t>사용자 지원 매뉴얼 </a:t>
                </a:r>
                <a:endParaRPr lang="ko-KR" altLang="en-US" sz="1000" kern="0" dirty="0">
                  <a:latin typeface="+mn-ea"/>
                </a:endParaRPr>
              </a:p>
            </p:txBody>
          </p:sp>
          <p:sp>
            <p:nvSpPr>
              <p:cNvPr id="108" name="모서리가 둥근 직사각형 107"/>
              <p:cNvSpPr/>
              <p:nvPr/>
            </p:nvSpPr>
            <p:spPr bwMode="auto">
              <a:xfrm>
                <a:off x="2386440" y="5965118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kumimoji="0" lang="ko-KR" altLang="en-US" sz="1000" b="0" kern="0">
                    <a:latin typeface="+mn-ea"/>
                  </a:rPr>
                  <a:t>산출물 현행화 지원</a:t>
                </a:r>
                <a:endParaRPr kumimoji="0" lang="ko-KR" altLang="en-US" sz="1000" b="0" kern="0" dirty="0">
                  <a:latin typeface="+mn-ea"/>
                </a:endParaRPr>
              </a:p>
            </p:txBody>
          </p:sp>
          <p:sp>
            <p:nvSpPr>
              <p:cNvPr id="111" name="모서리가 둥근 직사각형 110"/>
              <p:cNvSpPr/>
              <p:nvPr/>
            </p:nvSpPr>
            <p:spPr bwMode="auto">
              <a:xfrm>
                <a:off x="3803301" y="5685918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lang="ko-KR" altLang="en-US" sz="1000" kern="0">
                    <a:latin typeface="+mn-ea"/>
                  </a:rPr>
                  <a:t>산출물 자동화 제고</a:t>
                </a:r>
                <a:endParaRPr lang="ko-KR" altLang="en-US" sz="1000" kern="0" dirty="0">
                  <a:latin typeface="+mn-ea"/>
                </a:endParaRPr>
              </a:p>
            </p:txBody>
          </p:sp>
          <p:sp>
            <p:nvSpPr>
              <p:cNvPr id="112" name="모서리가 둥근 직사각형 111"/>
              <p:cNvSpPr/>
              <p:nvPr/>
            </p:nvSpPr>
            <p:spPr bwMode="auto">
              <a:xfrm>
                <a:off x="3803301" y="5965118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lang="ko-KR" altLang="en-US" sz="1000" kern="0">
                    <a:latin typeface="+mn-ea"/>
                  </a:rPr>
                  <a:t>온라인 매뉴얼 지원</a:t>
                </a:r>
                <a:endParaRPr kumimoji="0" lang="ko-KR" altLang="en-US" sz="1000" b="0" kern="0" dirty="0">
                  <a:latin typeface="+mn-ea"/>
                </a:endParaRPr>
              </a:p>
            </p:txBody>
          </p:sp>
        </p:grpSp>
        <p:grpSp>
          <p:nvGrpSpPr>
            <p:cNvPr id="232" name="그룹 231"/>
            <p:cNvGrpSpPr/>
            <p:nvPr/>
          </p:nvGrpSpPr>
          <p:grpSpPr>
            <a:xfrm>
              <a:off x="386393" y="4903136"/>
              <a:ext cx="4732036" cy="572400"/>
              <a:chOff x="386393" y="4981441"/>
              <a:chExt cx="4732036" cy="572400"/>
            </a:xfrm>
          </p:grpSpPr>
          <p:sp>
            <p:nvSpPr>
              <p:cNvPr id="186" name="모서리가 둥근 직사각형 185"/>
              <p:cNvSpPr/>
              <p:nvPr/>
            </p:nvSpPr>
            <p:spPr>
              <a:xfrm>
                <a:off x="386393" y="4981441"/>
                <a:ext cx="432049" cy="572400"/>
              </a:xfrm>
              <a:prstGeom prst="roundRect">
                <a:avLst/>
              </a:prstGeom>
              <a:solidFill>
                <a:srgbClr val="508CD2">
                  <a:lumMod val="40000"/>
                  <a:lumOff val="60000"/>
                </a:srgbClr>
              </a:solidFill>
              <a:ln w="9525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36000" rIns="36000" bIns="3600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7200" eaLnBrk="0" latinLnBrk="0" hangingPunct="0">
                  <a:lnSpc>
                    <a:spcPct val="105000"/>
                  </a:lnSpc>
                  <a:buClr>
                    <a:srgbClr val="328030"/>
                  </a:buClr>
                </a:pPr>
                <a:r>
                  <a:rPr lang="en-US" altLang="ko-KR" sz="1200" b="1" kern="0" spc="-150">
                    <a:solidFill>
                      <a:srgbClr val="000000"/>
                    </a:solidFill>
                    <a:latin typeface="+mn-ea"/>
                  </a:rPr>
                  <a:t>UI</a:t>
                </a:r>
                <a:endParaRPr lang="ko-KR" altLang="en-US" sz="1200" b="1" kern="0" spc="-150" dirty="0">
                  <a:solidFill>
                    <a:srgbClr val="000000"/>
                  </a:solidFill>
                  <a:latin typeface="+mn-ea"/>
                </a:endParaRPr>
              </a:p>
            </p:txBody>
          </p:sp>
          <p:sp>
            <p:nvSpPr>
              <p:cNvPr id="94" name="모서리가 둥근 직사각형 93"/>
              <p:cNvSpPr/>
              <p:nvPr/>
            </p:nvSpPr>
            <p:spPr bwMode="auto">
              <a:xfrm>
                <a:off x="969579" y="5305938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lang="ko-KR" altLang="en-US" sz="1000" kern="0">
                    <a:latin typeface="+mn-ea"/>
                  </a:rPr>
                  <a:t>표준 모듈 적용 </a:t>
                </a:r>
                <a:endParaRPr lang="ko-KR" altLang="en-US" sz="1000" kern="0" dirty="0">
                  <a:latin typeface="+mn-ea"/>
                </a:endParaRPr>
              </a:p>
            </p:txBody>
          </p:sp>
          <p:sp>
            <p:nvSpPr>
              <p:cNvPr id="97" name="모서리가 둥근 직사각형 96"/>
              <p:cNvSpPr/>
              <p:nvPr/>
            </p:nvSpPr>
            <p:spPr bwMode="auto">
              <a:xfrm>
                <a:off x="2386440" y="5305938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lang="ko-KR" altLang="en-US" sz="1000" kern="0">
                    <a:latin typeface="+mn-ea"/>
                  </a:rPr>
                  <a:t>효율적인 신기술 도입</a:t>
                </a:r>
                <a:endParaRPr lang="ko-KR" altLang="en-US" sz="1000" kern="0" dirty="0">
                  <a:latin typeface="+mn-ea"/>
                </a:endParaRPr>
              </a:p>
            </p:txBody>
          </p:sp>
          <p:sp>
            <p:nvSpPr>
              <p:cNvPr id="100" name="모서리가 둥근 직사각형 99"/>
              <p:cNvSpPr/>
              <p:nvPr/>
            </p:nvSpPr>
            <p:spPr bwMode="auto">
              <a:xfrm>
                <a:off x="3803301" y="5305938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lang="ko-KR" altLang="en-US" sz="1000" kern="0">
                    <a:latin typeface="+mn-ea"/>
                  </a:rPr>
                  <a:t>업무처리 기능성 강화</a:t>
                </a:r>
                <a:endParaRPr lang="ko-KR" altLang="en-US" sz="1000" kern="0" dirty="0">
                  <a:latin typeface="+mn-ea"/>
                </a:endParaRPr>
              </a:p>
            </p:txBody>
          </p:sp>
          <p:sp>
            <p:nvSpPr>
              <p:cNvPr id="115" name="모서리가 둥근 직사각형 114"/>
              <p:cNvSpPr/>
              <p:nvPr/>
            </p:nvSpPr>
            <p:spPr bwMode="auto">
              <a:xfrm>
                <a:off x="965264" y="5028027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lang="ko-KR" altLang="en-US" sz="1000" kern="0">
                    <a:latin typeface="+mn-ea"/>
                  </a:rPr>
                  <a:t>표준 프레임워크</a:t>
                </a:r>
                <a:endParaRPr lang="ko-KR" altLang="en-US" sz="1000" kern="0" dirty="0">
                  <a:latin typeface="+mn-ea"/>
                </a:endParaRPr>
              </a:p>
            </p:txBody>
          </p:sp>
          <p:sp>
            <p:nvSpPr>
              <p:cNvPr id="116" name="모서리가 둥근 직사각형 115"/>
              <p:cNvSpPr/>
              <p:nvPr/>
            </p:nvSpPr>
            <p:spPr bwMode="auto">
              <a:xfrm>
                <a:off x="2382125" y="5028027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lang="ko-KR" altLang="en-US" sz="1000" kern="0">
                    <a:latin typeface="+mn-ea"/>
                  </a:rPr>
                  <a:t>사용자중심의 </a:t>
                </a:r>
                <a:r>
                  <a:rPr lang="en-US" altLang="ko-KR" sz="1000" kern="0">
                    <a:latin typeface="+mn-ea"/>
                  </a:rPr>
                  <a:t>UI/UX </a:t>
                </a:r>
                <a:endParaRPr lang="ko-KR" altLang="en-US" sz="1000" kern="0" dirty="0">
                  <a:latin typeface="+mn-ea"/>
                </a:endParaRPr>
              </a:p>
            </p:txBody>
          </p:sp>
          <p:sp>
            <p:nvSpPr>
              <p:cNvPr id="117" name="모서리가 둥근 직사각형 116"/>
              <p:cNvSpPr/>
              <p:nvPr/>
            </p:nvSpPr>
            <p:spPr bwMode="auto">
              <a:xfrm>
                <a:off x="3798986" y="5028027"/>
                <a:ext cx="1315128" cy="231390"/>
              </a:xfrm>
              <a:prstGeom prst="roundRect">
                <a:avLst/>
              </a:prstGeom>
              <a:noFill/>
              <a:ln w="3175">
                <a:solidFill>
                  <a:schemeClr val="bg1">
                    <a:lumMod val="50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0" tIns="0" rIns="0" bIns="0" rtlCol="0" anchor="ctr"/>
              <a:lstStyle/>
              <a:p>
                <a:pPr algn="ctr" latinLnBrk="0"/>
                <a:r>
                  <a:rPr lang="ko-KR" altLang="en-US" sz="1000" kern="0">
                    <a:latin typeface="+mn-ea"/>
                  </a:rPr>
                  <a:t>표준화된 구축 방법론</a:t>
                </a:r>
                <a:endParaRPr lang="ko-KR" altLang="en-US" sz="1000" kern="0" dirty="0">
                  <a:latin typeface="+mn-ea"/>
                </a:endParaRPr>
              </a:p>
            </p:txBody>
          </p:sp>
        </p:grpSp>
        <p:cxnSp>
          <p:nvCxnSpPr>
            <p:cNvPr id="231" name="직선 연결선 230"/>
            <p:cNvCxnSpPr/>
            <p:nvPr/>
          </p:nvCxnSpPr>
          <p:spPr>
            <a:xfrm>
              <a:off x="386393" y="5570690"/>
              <a:ext cx="4657222" cy="0"/>
            </a:xfrm>
            <a:prstGeom prst="line">
              <a:avLst/>
            </a:prstGeom>
            <a:ln w="9525">
              <a:solidFill>
                <a:schemeClr val="tx1"/>
              </a:solidFill>
              <a:prstDash val="sys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42" name="그룹 241"/>
            <p:cNvGrpSpPr/>
            <p:nvPr/>
          </p:nvGrpSpPr>
          <p:grpSpPr>
            <a:xfrm>
              <a:off x="386393" y="3596828"/>
              <a:ext cx="4732036" cy="1116000"/>
              <a:chOff x="386393" y="3454714"/>
              <a:chExt cx="4732036" cy="1116000"/>
            </a:xfrm>
          </p:grpSpPr>
          <p:sp>
            <p:nvSpPr>
              <p:cNvPr id="184" name="모서리가 둥근 직사각형 183"/>
              <p:cNvSpPr/>
              <p:nvPr/>
            </p:nvSpPr>
            <p:spPr>
              <a:xfrm>
                <a:off x="386393" y="3454714"/>
                <a:ext cx="432049" cy="1116000"/>
              </a:xfrm>
              <a:prstGeom prst="roundRect">
                <a:avLst/>
              </a:prstGeom>
              <a:solidFill>
                <a:srgbClr val="508CD2">
                  <a:lumMod val="40000"/>
                  <a:lumOff val="60000"/>
                </a:srgbClr>
              </a:solidFill>
              <a:ln w="9525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36000" rIns="36000" bIns="3600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7200" eaLnBrk="0" latinLnBrk="0" hangingPunct="0">
                  <a:lnSpc>
                    <a:spcPct val="105000"/>
                  </a:lnSpc>
                  <a:buClr>
                    <a:srgbClr val="328030"/>
                  </a:buClr>
                </a:pPr>
                <a:r>
                  <a:rPr lang="ko-KR" altLang="en-US" sz="1200" b="1" kern="0" spc="-150">
                    <a:solidFill>
                      <a:srgbClr val="000000"/>
                    </a:solidFill>
                    <a:latin typeface="+mn-ea"/>
                  </a:rPr>
                  <a:t>프</a:t>
                </a:r>
                <a:endParaRPr lang="en-US" altLang="ko-KR" sz="1200" b="1" kern="0" spc="-150">
                  <a:solidFill>
                    <a:srgbClr val="000000"/>
                  </a:solidFill>
                  <a:latin typeface="+mn-ea"/>
                </a:endParaRPr>
              </a:p>
              <a:p>
                <a:pPr algn="ctr" defTabSz="457200" eaLnBrk="0" latinLnBrk="0" hangingPunct="0">
                  <a:lnSpc>
                    <a:spcPct val="105000"/>
                  </a:lnSpc>
                  <a:buClr>
                    <a:srgbClr val="328030"/>
                  </a:buClr>
                </a:pPr>
                <a:r>
                  <a:rPr lang="ko-KR" altLang="en-US" sz="1200" b="1" kern="0" spc="-150">
                    <a:solidFill>
                      <a:srgbClr val="000000"/>
                    </a:solidFill>
                    <a:latin typeface="+mn-ea"/>
                  </a:rPr>
                  <a:t>로</a:t>
                </a:r>
                <a:endParaRPr lang="en-US" altLang="ko-KR" sz="1200" b="1" kern="0" spc="-150">
                  <a:solidFill>
                    <a:srgbClr val="000000"/>
                  </a:solidFill>
                  <a:latin typeface="+mn-ea"/>
                </a:endParaRPr>
              </a:p>
              <a:p>
                <a:pPr algn="ctr" defTabSz="457200" eaLnBrk="0" latinLnBrk="0" hangingPunct="0">
                  <a:lnSpc>
                    <a:spcPct val="105000"/>
                  </a:lnSpc>
                  <a:buClr>
                    <a:srgbClr val="328030"/>
                  </a:buClr>
                </a:pPr>
                <a:r>
                  <a:rPr lang="ko-KR" altLang="en-US" sz="1200" b="1" kern="0" spc="-150">
                    <a:solidFill>
                      <a:srgbClr val="000000"/>
                    </a:solidFill>
                    <a:latin typeface="+mn-ea"/>
                  </a:rPr>
                  <a:t>세</a:t>
                </a:r>
                <a:endParaRPr lang="en-US" altLang="ko-KR" sz="1200" b="1" kern="0" spc="-150">
                  <a:solidFill>
                    <a:srgbClr val="000000"/>
                  </a:solidFill>
                  <a:latin typeface="+mn-ea"/>
                </a:endParaRPr>
              </a:p>
              <a:p>
                <a:pPr algn="ctr" defTabSz="457200" eaLnBrk="0" latinLnBrk="0" hangingPunct="0">
                  <a:lnSpc>
                    <a:spcPct val="105000"/>
                  </a:lnSpc>
                  <a:buClr>
                    <a:srgbClr val="328030"/>
                  </a:buClr>
                </a:pPr>
                <a:r>
                  <a:rPr lang="ko-KR" altLang="en-US" sz="1200" b="1" kern="0" spc="-150">
                    <a:solidFill>
                      <a:srgbClr val="000000"/>
                    </a:solidFill>
                    <a:latin typeface="+mn-ea"/>
                  </a:rPr>
                  <a:t>스</a:t>
                </a:r>
                <a:endParaRPr lang="ko-KR" altLang="en-US" sz="1200" b="1" kern="0" spc="-150" dirty="0">
                  <a:solidFill>
                    <a:srgbClr val="000000"/>
                  </a:solidFill>
                  <a:latin typeface="+mn-ea"/>
                </a:endParaRPr>
              </a:p>
            </p:txBody>
          </p:sp>
          <p:grpSp>
            <p:nvGrpSpPr>
              <p:cNvPr id="241" name="그룹 240"/>
              <p:cNvGrpSpPr/>
              <p:nvPr/>
            </p:nvGrpSpPr>
            <p:grpSpPr>
              <a:xfrm>
                <a:off x="965273" y="3467527"/>
                <a:ext cx="4153156" cy="1101237"/>
                <a:chOff x="965273" y="3467527"/>
                <a:chExt cx="4153156" cy="1101237"/>
              </a:xfrm>
            </p:grpSpPr>
            <p:grpSp>
              <p:nvGrpSpPr>
                <p:cNvPr id="240" name="그룹 239"/>
                <p:cNvGrpSpPr/>
                <p:nvPr/>
              </p:nvGrpSpPr>
              <p:grpSpPr>
                <a:xfrm>
                  <a:off x="969579" y="3467527"/>
                  <a:ext cx="4148850" cy="231390"/>
                  <a:chOff x="969579" y="3467527"/>
                  <a:chExt cx="4148850" cy="231390"/>
                </a:xfrm>
              </p:grpSpPr>
              <p:sp>
                <p:nvSpPr>
                  <p:cNvPr id="85" name="모서리가 둥근 직사각형 84"/>
                  <p:cNvSpPr/>
                  <p:nvPr/>
                </p:nvSpPr>
                <p:spPr bwMode="auto">
                  <a:xfrm>
                    <a:off x="969579" y="34675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 dirty="0">
                        <a:latin typeface="+mn-ea"/>
                      </a:rPr>
                      <a:t>사용자 중심 서비스</a:t>
                    </a:r>
                  </a:p>
                </p:txBody>
              </p:sp>
              <p:sp>
                <p:nvSpPr>
                  <p:cNvPr id="88" name="모서리가 둥근 직사각형 87"/>
                  <p:cNvSpPr/>
                  <p:nvPr/>
                </p:nvSpPr>
                <p:spPr bwMode="auto">
                  <a:xfrm>
                    <a:off x="2386440" y="34675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업무 프로세스 표준화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  <p:sp>
                <p:nvSpPr>
                  <p:cNvPr id="91" name="모서리가 둥근 직사각형 90"/>
                  <p:cNvSpPr/>
                  <p:nvPr/>
                </p:nvSpPr>
                <p:spPr bwMode="auto">
                  <a:xfrm>
                    <a:off x="3803301" y="34675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연계 프로세스 확대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</p:grpSp>
            <p:grpSp>
              <p:nvGrpSpPr>
                <p:cNvPr id="239" name="그룹 238"/>
                <p:cNvGrpSpPr/>
                <p:nvPr/>
              </p:nvGrpSpPr>
              <p:grpSpPr>
                <a:xfrm>
                  <a:off x="969579" y="3757476"/>
                  <a:ext cx="4148850" cy="231390"/>
                  <a:chOff x="969579" y="3746727"/>
                  <a:chExt cx="4148850" cy="231390"/>
                </a:xfrm>
              </p:grpSpPr>
              <p:sp>
                <p:nvSpPr>
                  <p:cNvPr id="86" name="모서리가 둥근 직사각형 85"/>
                  <p:cNvSpPr/>
                  <p:nvPr/>
                </p:nvSpPr>
                <p:spPr bwMode="auto">
                  <a:xfrm>
                    <a:off x="969579" y="37467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업무 절차 간소화 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  <p:sp>
                <p:nvSpPr>
                  <p:cNvPr id="89" name="모서리가 둥근 직사각형 88"/>
                  <p:cNvSpPr/>
                  <p:nvPr/>
                </p:nvSpPr>
                <p:spPr bwMode="auto">
                  <a:xfrm>
                    <a:off x="2386440" y="37467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 dirty="0">
                        <a:latin typeface="+mn-ea"/>
                      </a:rPr>
                      <a:t>수작업 시스템화</a:t>
                    </a:r>
                  </a:p>
                </p:txBody>
              </p:sp>
              <p:sp>
                <p:nvSpPr>
                  <p:cNvPr id="92" name="모서리가 둥근 직사각형 91"/>
                  <p:cNvSpPr/>
                  <p:nvPr/>
                </p:nvSpPr>
                <p:spPr bwMode="auto">
                  <a:xfrm>
                    <a:off x="3803301" y="37467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내외부 긴밀한 연계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</p:grpSp>
            <p:grpSp>
              <p:nvGrpSpPr>
                <p:cNvPr id="238" name="그룹 237"/>
                <p:cNvGrpSpPr/>
                <p:nvPr/>
              </p:nvGrpSpPr>
              <p:grpSpPr>
                <a:xfrm>
                  <a:off x="969579" y="4047425"/>
                  <a:ext cx="4148850" cy="231390"/>
                  <a:chOff x="969579" y="4025920"/>
                  <a:chExt cx="4148850" cy="231390"/>
                </a:xfrm>
              </p:grpSpPr>
              <p:sp>
                <p:nvSpPr>
                  <p:cNvPr id="87" name="모서리가 둥근 직사각형 86"/>
                  <p:cNvSpPr/>
                  <p:nvPr/>
                </p:nvSpPr>
                <p:spPr bwMode="auto">
                  <a:xfrm>
                    <a:off x="969579" y="402592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업무 처리 효율화 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  <p:sp>
                <p:nvSpPr>
                  <p:cNvPr id="90" name="모서리가 둥근 직사각형 89"/>
                  <p:cNvSpPr/>
                  <p:nvPr/>
                </p:nvSpPr>
                <p:spPr bwMode="auto">
                  <a:xfrm>
                    <a:off x="2386440" y="402592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모니터링체계 강화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  <p:sp>
                <p:nvSpPr>
                  <p:cNvPr id="93" name="모서리가 둥근 직사각형 92"/>
                  <p:cNvSpPr/>
                  <p:nvPr/>
                </p:nvSpPr>
                <p:spPr bwMode="auto">
                  <a:xfrm>
                    <a:off x="3803301" y="402592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집계 처리 자동화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</p:grpSp>
            <p:grpSp>
              <p:nvGrpSpPr>
                <p:cNvPr id="237" name="그룹 236"/>
                <p:cNvGrpSpPr/>
                <p:nvPr/>
              </p:nvGrpSpPr>
              <p:grpSpPr>
                <a:xfrm>
                  <a:off x="965273" y="4337374"/>
                  <a:ext cx="4148850" cy="231390"/>
                  <a:chOff x="965273" y="4277730"/>
                  <a:chExt cx="4148850" cy="231390"/>
                </a:xfrm>
              </p:grpSpPr>
              <p:sp>
                <p:nvSpPr>
                  <p:cNvPr id="118" name="모서리가 둥근 직사각형 117"/>
                  <p:cNvSpPr/>
                  <p:nvPr/>
                </p:nvSpPr>
                <p:spPr bwMode="auto">
                  <a:xfrm>
                    <a:off x="965273" y="427773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kumimoji="0" lang="ko-KR" altLang="en-US" sz="1000" b="0" kern="0">
                        <a:latin typeface="+mn-ea"/>
                        <a:ea typeface="+mn-ea"/>
                      </a:rPr>
                      <a:t>후속 업무 연결  </a:t>
                    </a:r>
                    <a:r>
                      <a:rPr kumimoji="0" lang="en-US" altLang="ko-KR" sz="1000" b="0" kern="0">
                        <a:latin typeface="+mn-ea"/>
                        <a:ea typeface="+mn-ea"/>
                      </a:rPr>
                      <a:t> </a:t>
                    </a:r>
                    <a:r>
                      <a:rPr kumimoji="0" lang="ko-KR" altLang="en-US" sz="1000" b="0" kern="0">
                        <a:latin typeface="+mn-ea"/>
                        <a:ea typeface="+mn-ea"/>
                      </a:rPr>
                      <a:t> </a:t>
                    </a:r>
                    <a:endParaRPr kumimoji="0" lang="ko-KR" altLang="en-US" sz="1000" b="0" kern="0" dirty="0">
                      <a:latin typeface="+mn-ea"/>
                      <a:ea typeface="+mn-ea"/>
                    </a:endParaRPr>
                  </a:p>
                </p:txBody>
              </p:sp>
              <p:sp>
                <p:nvSpPr>
                  <p:cNvPr id="119" name="모서리가 둥근 직사각형 118"/>
                  <p:cNvSpPr/>
                  <p:nvPr/>
                </p:nvSpPr>
                <p:spPr bwMode="auto">
                  <a:xfrm>
                    <a:off x="2382134" y="427773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kumimoji="0" lang="ko-KR" altLang="en-US" sz="1000" b="0" kern="0">
                        <a:latin typeface="+mn-ea"/>
                      </a:rPr>
                      <a:t>선행 정보 재 사용</a:t>
                    </a:r>
                    <a:endParaRPr kumimoji="0" lang="ko-KR" altLang="en-US" sz="1000" b="0" kern="0" dirty="0">
                      <a:latin typeface="+mn-ea"/>
                    </a:endParaRPr>
                  </a:p>
                </p:txBody>
              </p:sp>
              <p:sp>
                <p:nvSpPr>
                  <p:cNvPr id="120" name="모서리가 둥근 직사각형 119"/>
                  <p:cNvSpPr/>
                  <p:nvPr/>
                </p:nvSpPr>
                <p:spPr bwMode="auto">
                  <a:xfrm>
                    <a:off x="3798995" y="427773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관리업무 체계 강화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</p:grpSp>
          </p:grpSp>
        </p:grpSp>
        <p:grpSp>
          <p:nvGrpSpPr>
            <p:cNvPr id="268" name="그룹 267"/>
            <p:cNvGrpSpPr/>
            <p:nvPr/>
          </p:nvGrpSpPr>
          <p:grpSpPr>
            <a:xfrm>
              <a:off x="375552" y="2290520"/>
              <a:ext cx="4732036" cy="1116000"/>
              <a:chOff x="386393" y="3454714"/>
              <a:chExt cx="4732036" cy="1116000"/>
            </a:xfrm>
          </p:grpSpPr>
          <p:sp>
            <p:nvSpPr>
              <p:cNvPr id="269" name="모서리가 둥근 직사각형 268"/>
              <p:cNvSpPr/>
              <p:nvPr/>
            </p:nvSpPr>
            <p:spPr>
              <a:xfrm>
                <a:off x="386393" y="3454714"/>
                <a:ext cx="432049" cy="1116000"/>
              </a:xfrm>
              <a:prstGeom prst="roundRect">
                <a:avLst/>
              </a:prstGeom>
              <a:solidFill>
                <a:srgbClr val="508CD2">
                  <a:lumMod val="40000"/>
                  <a:lumOff val="60000"/>
                </a:srgbClr>
              </a:solidFill>
              <a:ln w="9525" cap="flat" cmpd="sng" algn="ctr">
                <a:solidFill>
                  <a:sysClr val="windowText" lastClr="000000">
                    <a:lumMod val="65000"/>
                    <a:lumOff val="35000"/>
                  </a:sys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36000" tIns="36000" rIns="36000" bIns="36000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457200" eaLnBrk="0" latinLnBrk="0" hangingPunct="0">
                  <a:lnSpc>
                    <a:spcPct val="105000"/>
                  </a:lnSpc>
                  <a:buClr>
                    <a:srgbClr val="328030"/>
                  </a:buClr>
                </a:pPr>
                <a:r>
                  <a:rPr lang="en-US" altLang="ko-KR" sz="1200" b="1" kern="0" spc="-150">
                    <a:solidFill>
                      <a:srgbClr val="000000"/>
                    </a:solidFill>
                    <a:latin typeface="+mn-ea"/>
                  </a:rPr>
                  <a:t>DB</a:t>
                </a:r>
                <a:endParaRPr lang="ko-KR" altLang="en-US" sz="1200" b="1" kern="0" spc="-150" dirty="0">
                  <a:solidFill>
                    <a:srgbClr val="000000"/>
                  </a:solidFill>
                  <a:latin typeface="+mn-ea"/>
                </a:endParaRPr>
              </a:p>
            </p:txBody>
          </p:sp>
          <p:grpSp>
            <p:nvGrpSpPr>
              <p:cNvPr id="270" name="그룹 240"/>
              <p:cNvGrpSpPr/>
              <p:nvPr/>
            </p:nvGrpSpPr>
            <p:grpSpPr>
              <a:xfrm>
                <a:off x="965273" y="3467527"/>
                <a:ext cx="4153156" cy="1101237"/>
                <a:chOff x="965273" y="3467527"/>
                <a:chExt cx="4153156" cy="1101237"/>
              </a:xfrm>
            </p:grpSpPr>
            <p:grpSp>
              <p:nvGrpSpPr>
                <p:cNvPr id="271" name="그룹 239"/>
                <p:cNvGrpSpPr/>
                <p:nvPr/>
              </p:nvGrpSpPr>
              <p:grpSpPr>
                <a:xfrm>
                  <a:off x="969579" y="3467527"/>
                  <a:ext cx="4148850" cy="231390"/>
                  <a:chOff x="969579" y="3467527"/>
                  <a:chExt cx="4148850" cy="231390"/>
                </a:xfrm>
              </p:grpSpPr>
              <p:sp>
                <p:nvSpPr>
                  <p:cNvPr id="284" name="모서리가 둥근 직사각형 283"/>
                  <p:cNvSpPr/>
                  <p:nvPr/>
                </p:nvSpPr>
                <p:spPr bwMode="auto">
                  <a:xfrm>
                    <a:off x="969579" y="34675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데이터 표준관리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  <p:sp>
                <p:nvSpPr>
                  <p:cNvPr id="285" name="모서리가 둥근 직사각형 284"/>
                  <p:cNvSpPr/>
                  <p:nvPr/>
                </p:nvSpPr>
                <p:spPr bwMode="auto">
                  <a:xfrm>
                    <a:off x="2386440" y="34675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데이터 모델 정의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  <p:sp>
                <p:nvSpPr>
                  <p:cNvPr id="286" name="모서리가 둥근 직사각형 285"/>
                  <p:cNvSpPr/>
                  <p:nvPr/>
                </p:nvSpPr>
                <p:spPr bwMode="auto">
                  <a:xfrm>
                    <a:off x="3803301" y="34675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데이터 보안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</p:grpSp>
            <p:grpSp>
              <p:nvGrpSpPr>
                <p:cNvPr id="272" name="그룹 238"/>
                <p:cNvGrpSpPr/>
                <p:nvPr/>
              </p:nvGrpSpPr>
              <p:grpSpPr>
                <a:xfrm>
                  <a:off x="969579" y="3757476"/>
                  <a:ext cx="4148850" cy="231390"/>
                  <a:chOff x="969579" y="3746727"/>
                  <a:chExt cx="4148850" cy="231390"/>
                </a:xfrm>
              </p:grpSpPr>
              <p:sp>
                <p:nvSpPr>
                  <p:cNvPr id="281" name="모서리가 둥근 직사각형 280"/>
                  <p:cNvSpPr/>
                  <p:nvPr/>
                </p:nvSpPr>
                <p:spPr bwMode="auto">
                  <a:xfrm>
                    <a:off x="969579" y="37467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표준 단어 정의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  <p:sp>
                <p:nvSpPr>
                  <p:cNvPr id="282" name="모서리가 둥근 직사각형 281"/>
                  <p:cNvSpPr/>
                  <p:nvPr/>
                </p:nvSpPr>
                <p:spPr bwMode="auto">
                  <a:xfrm>
                    <a:off x="2386440" y="37467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표준 도메인 정의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  <p:sp>
                <p:nvSpPr>
                  <p:cNvPr id="283" name="모서리가 둥근 직사각형 282"/>
                  <p:cNvSpPr/>
                  <p:nvPr/>
                </p:nvSpPr>
                <p:spPr bwMode="auto">
                  <a:xfrm>
                    <a:off x="3803301" y="3746727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명명 규칙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</p:grpSp>
            <p:grpSp>
              <p:nvGrpSpPr>
                <p:cNvPr id="273" name="그룹 237"/>
                <p:cNvGrpSpPr/>
                <p:nvPr/>
              </p:nvGrpSpPr>
              <p:grpSpPr>
                <a:xfrm>
                  <a:off x="969579" y="4047425"/>
                  <a:ext cx="4148850" cy="231390"/>
                  <a:chOff x="969579" y="4025920"/>
                  <a:chExt cx="4148850" cy="231390"/>
                </a:xfrm>
              </p:grpSpPr>
              <p:sp>
                <p:nvSpPr>
                  <p:cNvPr id="278" name="모서리가 둥근 직사각형 277"/>
                  <p:cNvSpPr/>
                  <p:nvPr/>
                </p:nvSpPr>
                <p:spPr bwMode="auto">
                  <a:xfrm>
                    <a:off x="969579" y="402592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표준 용어 정의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  <p:sp>
                <p:nvSpPr>
                  <p:cNvPr id="279" name="모서리가 둥근 직사각형 278"/>
                  <p:cNvSpPr/>
                  <p:nvPr/>
                </p:nvSpPr>
                <p:spPr bwMode="auto">
                  <a:xfrm>
                    <a:off x="2386440" y="402592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표준 데이터 도구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  <p:sp>
                <p:nvSpPr>
                  <p:cNvPr id="280" name="모서리가 둥근 직사각형 279"/>
                  <p:cNvSpPr/>
                  <p:nvPr/>
                </p:nvSpPr>
                <p:spPr bwMode="auto">
                  <a:xfrm>
                    <a:off x="3803301" y="402592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표준 코드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</p:grpSp>
            <p:grpSp>
              <p:nvGrpSpPr>
                <p:cNvPr id="274" name="그룹 236"/>
                <p:cNvGrpSpPr/>
                <p:nvPr/>
              </p:nvGrpSpPr>
              <p:grpSpPr>
                <a:xfrm>
                  <a:off x="965273" y="4337374"/>
                  <a:ext cx="4148850" cy="231390"/>
                  <a:chOff x="965273" y="4277730"/>
                  <a:chExt cx="4148850" cy="231390"/>
                </a:xfrm>
              </p:grpSpPr>
              <p:sp>
                <p:nvSpPr>
                  <p:cNvPr id="275" name="모서리가 둥근 직사각형 274"/>
                  <p:cNvSpPr/>
                  <p:nvPr/>
                </p:nvSpPr>
                <p:spPr bwMode="auto">
                  <a:xfrm>
                    <a:off x="965273" y="427773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자료 사전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  <p:sp>
                <p:nvSpPr>
                  <p:cNvPr id="276" name="모서리가 둥근 직사각형 275"/>
                  <p:cNvSpPr/>
                  <p:nvPr/>
                </p:nvSpPr>
                <p:spPr bwMode="auto">
                  <a:xfrm>
                    <a:off x="2382134" y="427773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kumimoji="0" lang="ko-KR" altLang="en-US" sz="1000" b="0" kern="0">
                        <a:latin typeface="+mn-ea"/>
                      </a:rPr>
                      <a:t>개념</a:t>
                    </a:r>
                    <a:r>
                      <a:rPr kumimoji="0" lang="en-US" altLang="ko-KR" sz="1000" b="0" kern="0">
                        <a:latin typeface="+mn-ea"/>
                      </a:rPr>
                      <a:t>/</a:t>
                    </a:r>
                    <a:r>
                      <a:rPr kumimoji="0" lang="ko-KR" altLang="en-US" sz="1000" b="0" kern="0">
                        <a:latin typeface="+mn-ea"/>
                      </a:rPr>
                      <a:t>논리</a:t>
                    </a:r>
                    <a:r>
                      <a:rPr kumimoji="0" lang="en-US" altLang="ko-KR" sz="1000" b="0" kern="0">
                        <a:latin typeface="+mn-ea"/>
                      </a:rPr>
                      <a:t>/</a:t>
                    </a:r>
                    <a:r>
                      <a:rPr kumimoji="0" lang="ko-KR" altLang="en-US" sz="1000" b="0" kern="0">
                        <a:latin typeface="+mn-ea"/>
                      </a:rPr>
                      <a:t>물리 모델</a:t>
                    </a:r>
                    <a:endParaRPr kumimoji="0" lang="ko-KR" altLang="en-US" sz="1000" b="0" kern="0" dirty="0">
                      <a:latin typeface="+mn-ea"/>
                    </a:endParaRPr>
                  </a:p>
                </p:txBody>
              </p:sp>
              <p:sp>
                <p:nvSpPr>
                  <p:cNvPr id="277" name="모서리가 둥근 직사각형 276"/>
                  <p:cNvSpPr/>
                  <p:nvPr/>
                </p:nvSpPr>
                <p:spPr bwMode="auto">
                  <a:xfrm>
                    <a:off x="3798995" y="4277730"/>
                    <a:ext cx="1315128" cy="231390"/>
                  </a:xfrm>
                  <a:prstGeom prst="roundRect">
                    <a:avLst/>
                  </a:prstGeom>
                  <a:noFill/>
                  <a:ln w="3175">
                    <a:solidFill>
                      <a:schemeClr val="bg1">
                        <a:lumMod val="50000"/>
                      </a:schemeClr>
                    </a:solidFill>
                    <a:miter lim="800000"/>
                    <a:headEnd/>
                    <a:tailEnd/>
                  </a:ln>
                  <a:effectLst/>
                </p:spPr>
                <p:txBody>
                  <a:bodyPr wrap="square" lIns="0" tIns="0" rIns="0" bIns="0" rtlCol="0" anchor="ctr"/>
                  <a:lstStyle/>
                  <a:p>
                    <a:pPr algn="ctr" latinLnBrk="0"/>
                    <a:r>
                      <a:rPr lang="ko-KR" altLang="en-US" sz="1000" kern="0">
                        <a:latin typeface="+mn-ea"/>
                      </a:rPr>
                      <a:t>데이터 품질관리</a:t>
                    </a:r>
                    <a:endParaRPr lang="ko-KR" altLang="en-US" sz="1000" kern="0" dirty="0">
                      <a:latin typeface="+mn-ea"/>
                    </a:endParaRPr>
                  </a:p>
                </p:txBody>
              </p:sp>
            </p:grpSp>
          </p:grpSp>
        </p:grpSp>
      </p:grpSp>
      <p:sp>
        <p:nvSpPr>
          <p:cNvPr id="73" name="직사각형 72">
            <a:extLst>
              <a:ext uri="{FF2B5EF4-FFF2-40B4-BE49-F238E27FC236}">
                <a16:creationId xmlns:a16="http://schemas.microsoft.com/office/drawing/2014/main" xmlns="" id="{A38BA6DF-3ACC-4AB8-89D1-F302BACBA936}"/>
              </a:ext>
            </a:extLst>
          </p:cNvPr>
          <p:cNvSpPr/>
          <p:nvPr/>
        </p:nvSpPr>
        <p:spPr bwMode="auto">
          <a:xfrm>
            <a:off x="6229379" y="2314231"/>
            <a:ext cx="3204866" cy="610713"/>
          </a:xfrm>
          <a:prstGeom prst="rect">
            <a:avLst/>
          </a:prstGeom>
          <a:solidFill>
            <a:srgbClr val="508CD2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/>
            <a:r>
              <a:rPr lang="ko-KR" altLang="en-US" sz="1200" b="1" kern="0">
                <a:solidFill>
                  <a:prstClr val="white"/>
                </a:solidFill>
              </a:rPr>
              <a:t>데이터 표준화 기반의 </a:t>
            </a:r>
            <a:r>
              <a:rPr lang="en-US" altLang="ko-KR" sz="1200" b="1" kern="0">
                <a:solidFill>
                  <a:prstClr val="white"/>
                </a:solidFill>
              </a:rPr>
              <a:t>DATABASE </a:t>
            </a:r>
            <a:r>
              <a:rPr lang="ko-KR" altLang="en-US" sz="1200" b="1" kern="0">
                <a:solidFill>
                  <a:prstClr val="white"/>
                </a:solidFill>
              </a:rPr>
              <a:t>구축</a:t>
            </a:r>
            <a:endParaRPr lang="en-US" altLang="ko-KR" sz="1200" b="1" kern="0" dirty="0">
              <a:solidFill>
                <a:prstClr val="white"/>
              </a:solidFill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xmlns="" id="{60D8057E-3C52-47D7-8165-F89D15C0428B}"/>
              </a:ext>
            </a:extLst>
          </p:cNvPr>
          <p:cNvSpPr/>
          <p:nvPr/>
        </p:nvSpPr>
        <p:spPr bwMode="auto">
          <a:xfrm>
            <a:off x="6229379" y="3326222"/>
            <a:ext cx="3204866" cy="610713"/>
          </a:xfrm>
          <a:prstGeom prst="rect">
            <a:avLst/>
          </a:prstGeom>
          <a:solidFill>
            <a:srgbClr val="508CD2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/>
            <a:r>
              <a:rPr lang="ko-KR" altLang="en-US" sz="1200" b="1" kern="0">
                <a:solidFill>
                  <a:prstClr val="white"/>
                </a:solidFill>
              </a:rPr>
              <a:t>효율적인 </a:t>
            </a:r>
            <a:r>
              <a:rPr lang="ko-KR" altLang="en-US" sz="1200" b="1" kern="0">
                <a:solidFill>
                  <a:schemeClr val="bg1"/>
                </a:solidFill>
              </a:rPr>
              <a:t>업무 처리를 위한 표준 </a:t>
            </a:r>
            <a:r>
              <a:rPr lang="ko-KR" altLang="en-US" sz="1200" b="1" kern="0">
                <a:solidFill>
                  <a:prstClr val="white"/>
                </a:solidFill>
              </a:rPr>
              <a:t>프로세스    </a:t>
            </a:r>
            <a:endParaRPr lang="en-US" altLang="ko-KR" sz="1200" b="1" kern="0" dirty="0">
              <a:solidFill>
                <a:prstClr val="white"/>
              </a:solidFill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xmlns="" id="{B68A4673-78AD-4871-A5DD-A178F9557D5E}"/>
              </a:ext>
            </a:extLst>
          </p:cNvPr>
          <p:cNvSpPr/>
          <p:nvPr/>
        </p:nvSpPr>
        <p:spPr bwMode="auto">
          <a:xfrm>
            <a:off x="6229379" y="4338213"/>
            <a:ext cx="3204866" cy="610713"/>
          </a:xfrm>
          <a:prstGeom prst="rect">
            <a:avLst/>
          </a:prstGeom>
          <a:solidFill>
            <a:srgbClr val="508CD2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/>
            <a:r>
              <a:rPr lang="ko-KR" altLang="en-US" sz="1200" b="1" kern="0">
                <a:solidFill>
                  <a:prstClr val="white"/>
                </a:solidFill>
              </a:rPr>
              <a:t>신기술</a:t>
            </a:r>
            <a:r>
              <a:rPr lang="en-US" altLang="ko-KR" sz="1200" b="1" kern="0">
                <a:solidFill>
                  <a:prstClr val="white"/>
                </a:solidFill>
              </a:rPr>
              <a:t> </a:t>
            </a:r>
            <a:r>
              <a:rPr lang="ko-KR" altLang="en-US" sz="1200" b="1" kern="0">
                <a:solidFill>
                  <a:prstClr val="white"/>
                </a:solidFill>
              </a:rPr>
              <a:t>활용과 표준 기법으로 사용자 중심의 기능 구축</a:t>
            </a:r>
            <a:endParaRPr lang="en-US" altLang="ko-KR" sz="1200" b="1" kern="0" dirty="0">
              <a:solidFill>
                <a:prstClr val="white"/>
              </a:solidFill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xmlns="" id="{AC02841D-18A3-47A9-A0FA-D0D67B09681E}"/>
              </a:ext>
            </a:extLst>
          </p:cNvPr>
          <p:cNvSpPr/>
          <p:nvPr/>
        </p:nvSpPr>
        <p:spPr bwMode="auto">
          <a:xfrm>
            <a:off x="6229379" y="5350205"/>
            <a:ext cx="3204866" cy="610713"/>
          </a:xfrm>
          <a:prstGeom prst="rect">
            <a:avLst/>
          </a:prstGeom>
          <a:solidFill>
            <a:srgbClr val="508CD2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/>
            <a:r>
              <a:rPr lang="ko-KR" altLang="en-US" sz="1200" b="1" kern="0">
                <a:solidFill>
                  <a:prstClr val="white"/>
                </a:solidFill>
              </a:rPr>
              <a:t>산출물의 표준화</a:t>
            </a:r>
            <a:r>
              <a:rPr lang="en-US" altLang="ko-KR" sz="1200" b="1" kern="0">
                <a:solidFill>
                  <a:prstClr val="white"/>
                </a:solidFill>
              </a:rPr>
              <a:t>, </a:t>
            </a:r>
            <a:r>
              <a:rPr lang="ko-KR" altLang="en-US" sz="1200" b="1" kern="0">
                <a:solidFill>
                  <a:prstClr val="white"/>
                </a:solidFill>
              </a:rPr>
              <a:t>자동화로 온라인 </a:t>
            </a:r>
            <a:r>
              <a:rPr lang="ko-KR" altLang="en-US" sz="1200" b="1" kern="0" smtClean="0">
                <a:solidFill>
                  <a:prstClr val="white"/>
                </a:solidFill>
              </a:rPr>
              <a:t>사용 지원</a:t>
            </a:r>
            <a:endParaRPr lang="en-US" altLang="ko-KR" sz="1200" b="1" kern="0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6092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직사각형 279">
            <a:extLst>
              <a:ext uri="{FF2B5EF4-FFF2-40B4-BE49-F238E27FC236}">
                <a16:creationId xmlns:a16="http://schemas.microsoft.com/office/drawing/2014/main" xmlns="" id="{61498CA1-6DC0-A388-7115-BCDCC07BA3EC}"/>
              </a:ext>
            </a:extLst>
          </p:cNvPr>
          <p:cNvSpPr/>
          <p:nvPr/>
        </p:nvSpPr>
        <p:spPr>
          <a:xfrm>
            <a:off x="344488" y="1520826"/>
            <a:ext cx="7443414" cy="4796732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54519" y="0"/>
            <a:ext cx="6866733" cy="789378"/>
          </a:xfrm>
        </p:spPr>
        <p:txBody>
          <a:bodyPr/>
          <a:lstStyle/>
          <a:p>
            <a:r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2.3 </a:t>
            </a:r>
            <a:r>
              <a:rPr lang="ko-KR" altLang="en-US">
                <a:latin typeface="맑은 고딕" panose="020B0503020000020004" pitchFamily="50" charset="-127"/>
                <a:ea typeface="맑은 고딕" panose="020B0503020000020004" pitchFamily="50" charset="-127"/>
              </a:rPr>
              <a:t>추진범위 정의</a:t>
            </a:r>
            <a:r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ko-KR" altLang="en-US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4953001" y="-1"/>
            <a:ext cx="4572508" cy="807809"/>
          </a:xfrm>
        </p:spPr>
        <p:txBody>
          <a:bodyPr/>
          <a:lstStyle/>
          <a:p>
            <a:r>
              <a:rPr lang="en-US" altLang="ko-KR" dirty="0"/>
              <a:t>Ⅱ. </a:t>
            </a:r>
            <a:r>
              <a:rPr lang="ko-KR" altLang="en-US" dirty="0"/>
              <a:t>방향성 수립</a:t>
            </a:r>
            <a:endParaRPr lang="en-US" altLang="ko-KR" dirty="0"/>
          </a:p>
          <a:p>
            <a:r>
              <a:rPr lang="en-US" altLang="ko-KR"/>
              <a:t>3. </a:t>
            </a:r>
            <a:r>
              <a:rPr lang="ko-KR" altLang="en-US" dirty="0"/>
              <a:t>방향성 정의</a:t>
            </a:r>
            <a:endParaRPr lang="en-US" altLang="ko-KR" dirty="0"/>
          </a:p>
          <a:p>
            <a:r>
              <a:rPr lang="en-US" altLang="ko-KR" smtClean="0"/>
              <a:t>2.3 </a:t>
            </a:r>
            <a:r>
              <a:rPr lang="ko-KR" altLang="en-US" dirty="0"/>
              <a:t>추진범위 정의</a:t>
            </a:r>
            <a:endParaRPr lang="en-US" altLang="ko-KR" dirty="0"/>
          </a:p>
        </p:txBody>
      </p:sp>
      <p:sp>
        <p:nvSpPr>
          <p:cNvPr id="216" name="텍스트 개체 틀 1"/>
          <p:cNvSpPr>
            <a:spLocks noGrp="1"/>
          </p:cNvSpPr>
          <p:nvPr>
            <p:ph type="body" idx="1"/>
          </p:nvPr>
        </p:nvSpPr>
        <p:spPr>
          <a:xfrm>
            <a:off x="344488" y="870736"/>
            <a:ext cx="9180512" cy="623573"/>
          </a:xfrm>
        </p:spPr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dirty="0"/>
              <a:t>사업추진을 위한 정보시스템의 </a:t>
            </a:r>
            <a:r>
              <a:rPr lang="ko-KR" altLang="en-US" sz="1600"/>
              <a:t>추진범위를 </a:t>
            </a:r>
            <a:r>
              <a:rPr lang="en-US" altLang="ko-KR" sz="1600"/>
              <a:t>5</a:t>
            </a:r>
            <a:r>
              <a:rPr lang="ko-KR" altLang="en-US" sz="1600"/>
              <a:t>개의 </a:t>
            </a:r>
            <a:r>
              <a:rPr lang="ko-KR" altLang="en-US" sz="1600" dirty="0"/>
              <a:t>경영정보 시스템과 그와 관련된 내</a:t>
            </a:r>
            <a:r>
              <a:rPr lang="en-US" altLang="ko-KR" sz="1600" dirty="0"/>
              <a:t>/</a:t>
            </a:r>
            <a:r>
              <a:rPr lang="ko-KR" altLang="en-US" sz="1600" dirty="0"/>
              <a:t>외부 유관시스템의 연계를 추진범위로 정의함</a:t>
            </a:r>
          </a:p>
        </p:txBody>
      </p:sp>
      <p:sp>
        <p:nvSpPr>
          <p:cNvPr id="217" name="직사각형 35"/>
          <p:cNvSpPr>
            <a:spLocks noChangeArrowheads="1"/>
          </p:cNvSpPr>
          <p:nvPr/>
        </p:nvSpPr>
        <p:spPr bwMode="auto">
          <a:xfrm>
            <a:off x="7905328" y="1795047"/>
            <a:ext cx="1619672" cy="4513677"/>
          </a:xfrm>
          <a:prstGeom prst="rect">
            <a:avLst/>
          </a:prstGeom>
          <a:solidFill>
            <a:sysClr val="window" lastClr="FFFF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08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228600" indent="-228600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Font typeface="+mj-ea"/>
              <a:buAutoNum type="circleNumDbPlain"/>
            </a:pPr>
            <a:r>
              <a:rPr lang="ko-KR" altLang="en-US" sz="1200" kern="0" dirty="0">
                <a:solidFill>
                  <a:srgbClr val="000000"/>
                </a:solidFill>
              </a:rPr>
              <a:t>경영정보 시스템</a:t>
            </a:r>
            <a:endParaRPr lang="en-US" altLang="ko-KR" sz="1200" kern="0" dirty="0">
              <a:solidFill>
                <a:srgbClr val="000000"/>
              </a:solidFill>
            </a:endParaRPr>
          </a:p>
          <a:p>
            <a:pPr eaLnBrk="0" fontAlgn="base" latinLnBrk="0" hangingPunct="0">
              <a:lnSpc>
                <a:spcPts val="700"/>
              </a:lnSpc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en-US" altLang="ko-KR" sz="1200" kern="0" dirty="0">
                <a:solidFill>
                  <a:srgbClr val="000000"/>
                </a:solidFill>
              </a:rPr>
              <a:t>  - </a:t>
            </a:r>
            <a:r>
              <a:rPr lang="ko-KR" altLang="en-US" sz="1200" kern="0" dirty="0">
                <a:solidFill>
                  <a:srgbClr val="000000"/>
                </a:solidFill>
              </a:rPr>
              <a:t>예산관리</a:t>
            </a:r>
            <a:r>
              <a:rPr lang="en-US" altLang="ko-KR" sz="1200" kern="0" dirty="0">
                <a:solidFill>
                  <a:srgbClr val="000000"/>
                </a:solidFill>
              </a:rPr>
              <a:t> </a:t>
            </a:r>
          </a:p>
          <a:p>
            <a:pPr eaLnBrk="0" fontAlgn="base" latinLnBrk="0" hangingPunct="0">
              <a:lnSpc>
                <a:spcPts val="700"/>
              </a:lnSpc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en-US" altLang="ko-KR" sz="1200" kern="0" dirty="0">
                <a:solidFill>
                  <a:srgbClr val="000000"/>
                </a:solidFill>
              </a:rPr>
              <a:t>  - </a:t>
            </a:r>
            <a:r>
              <a:rPr lang="ko-KR" altLang="en-US" sz="1200" kern="0" dirty="0">
                <a:solidFill>
                  <a:srgbClr val="000000"/>
                </a:solidFill>
              </a:rPr>
              <a:t>회계관리</a:t>
            </a:r>
            <a:endParaRPr lang="en-US" altLang="ko-KR" sz="1200" kern="0" dirty="0">
              <a:solidFill>
                <a:srgbClr val="000000"/>
              </a:solidFill>
            </a:endParaRPr>
          </a:p>
          <a:p>
            <a:pPr eaLnBrk="0" fontAlgn="base" latinLnBrk="0" hangingPunct="0">
              <a:lnSpc>
                <a:spcPts val="700"/>
              </a:lnSpc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en-US" altLang="ko-KR" sz="1200" kern="0" dirty="0">
                <a:solidFill>
                  <a:srgbClr val="000000"/>
                </a:solidFill>
              </a:rPr>
              <a:t>  - </a:t>
            </a:r>
            <a:r>
              <a:rPr lang="ko-KR" altLang="en-US" sz="1200" kern="0" dirty="0">
                <a:solidFill>
                  <a:srgbClr val="000000"/>
                </a:solidFill>
              </a:rPr>
              <a:t>자산관리</a:t>
            </a:r>
            <a:endParaRPr lang="en-US" altLang="ko-KR" sz="1200" kern="0" dirty="0">
              <a:solidFill>
                <a:srgbClr val="000000"/>
              </a:solidFill>
            </a:endParaRPr>
          </a:p>
          <a:p>
            <a:pPr eaLnBrk="0" fontAlgn="base" latinLnBrk="0" hangingPunct="0">
              <a:lnSpc>
                <a:spcPts val="700"/>
              </a:lnSpc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en-US" altLang="ko-KR" sz="1200" kern="0" dirty="0">
                <a:solidFill>
                  <a:srgbClr val="000000"/>
                </a:solidFill>
              </a:rPr>
              <a:t>  - </a:t>
            </a:r>
            <a:r>
              <a:rPr lang="ko-KR" altLang="en-US" sz="1200" kern="0" dirty="0">
                <a:solidFill>
                  <a:srgbClr val="000000"/>
                </a:solidFill>
              </a:rPr>
              <a:t>구매관리</a:t>
            </a:r>
            <a:endParaRPr lang="en-US" altLang="ko-KR" sz="1200" kern="0" dirty="0">
              <a:solidFill>
                <a:srgbClr val="000000"/>
              </a:solidFill>
            </a:endParaRPr>
          </a:p>
          <a:p>
            <a:pPr eaLnBrk="0" fontAlgn="base" latinLnBrk="0" hangingPunct="0">
              <a:lnSpc>
                <a:spcPts val="700"/>
              </a:lnSpc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en-US" altLang="ko-KR" sz="1200" kern="0" dirty="0">
                <a:solidFill>
                  <a:srgbClr val="000000"/>
                </a:solidFill>
              </a:rPr>
              <a:t>  - </a:t>
            </a:r>
            <a:r>
              <a:rPr lang="ko-KR" altLang="en-US" sz="1200" kern="0" dirty="0">
                <a:solidFill>
                  <a:srgbClr val="000000"/>
                </a:solidFill>
              </a:rPr>
              <a:t>사업관리</a:t>
            </a:r>
            <a:r>
              <a:rPr lang="en-US" altLang="ko-KR" sz="1200" kern="0" dirty="0">
                <a:solidFill>
                  <a:srgbClr val="000000"/>
                </a:solidFill>
              </a:rPr>
              <a:t> </a:t>
            </a:r>
          </a:p>
          <a:p>
            <a:pPr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endParaRPr lang="en-US" altLang="ko-KR" sz="1200" kern="0" dirty="0">
              <a:solidFill>
                <a:srgbClr val="000000"/>
              </a:solidFill>
            </a:endParaRPr>
          </a:p>
          <a:p>
            <a:pPr marL="228600" indent="-228600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Font typeface="+mj-ea"/>
              <a:buAutoNum type="circleNumDbPlain" startAt="2"/>
            </a:pPr>
            <a:r>
              <a:rPr lang="ko-KR" altLang="en-US" sz="1200" kern="0" dirty="0">
                <a:solidFill>
                  <a:srgbClr val="000000"/>
                </a:solidFill>
              </a:rPr>
              <a:t>유관시스템 연계</a:t>
            </a:r>
            <a:endParaRPr lang="en-US" altLang="ko-KR" sz="1200" kern="0" dirty="0">
              <a:solidFill>
                <a:srgbClr val="000000"/>
              </a:solidFill>
            </a:endParaRPr>
          </a:p>
          <a:p>
            <a:pPr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en-US" altLang="ko-KR" sz="1200" kern="0" dirty="0">
                <a:solidFill>
                  <a:srgbClr val="000000"/>
                </a:solidFill>
              </a:rPr>
              <a:t>  - </a:t>
            </a:r>
            <a:r>
              <a:rPr lang="ko-KR" altLang="en-US" sz="1200" kern="0" dirty="0">
                <a:solidFill>
                  <a:srgbClr val="000000"/>
                </a:solidFill>
              </a:rPr>
              <a:t>금융기관 연계</a:t>
            </a:r>
            <a:endParaRPr lang="en-US" altLang="ko-KR" sz="1200" kern="0" dirty="0">
              <a:solidFill>
                <a:srgbClr val="000000"/>
              </a:solidFill>
            </a:endParaRPr>
          </a:p>
          <a:p>
            <a:pPr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en-US" altLang="ko-KR" sz="1200" kern="0" dirty="0">
                <a:solidFill>
                  <a:srgbClr val="000000"/>
                </a:solidFill>
              </a:rPr>
              <a:t>  - </a:t>
            </a:r>
            <a:r>
              <a:rPr lang="ko-KR" altLang="en-US" sz="1200" kern="0" dirty="0">
                <a:solidFill>
                  <a:srgbClr val="000000"/>
                </a:solidFill>
              </a:rPr>
              <a:t>세금계산서 발행</a:t>
            </a:r>
            <a:endParaRPr lang="en-US" altLang="ko-KR" sz="1200" kern="0" dirty="0">
              <a:solidFill>
                <a:srgbClr val="000000"/>
              </a:solidFill>
            </a:endParaRPr>
          </a:p>
          <a:p>
            <a:pPr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1200" kern="0" dirty="0">
                <a:solidFill>
                  <a:srgbClr val="000000"/>
                </a:solidFill>
              </a:rPr>
              <a:t>  </a:t>
            </a:r>
            <a:r>
              <a:rPr lang="en-US" altLang="ko-KR" sz="1200" kern="0" dirty="0">
                <a:solidFill>
                  <a:srgbClr val="000000"/>
                </a:solidFill>
              </a:rPr>
              <a:t>- </a:t>
            </a:r>
            <a:r>
              <a:rPr lang="ko-KR" altLang="en-US" sz="1200" kern="0" dirty="0">
                <a:solidFill>
                  <a:srgbClr val="000000"/>
                </a:solidFill>
              </a:rPr>
              <a:t>경영정보 시스템</a:t>
            </a:r>
            <a:r>
              <a:rPr lang="en-US" altLang="ko-KR" sz="1200" kern="0" dirty="0">
                <a:solidFill>
                  <a:srgbClr val="000000"/>
                </a:solidFill>
              </a:rPr>
              <a:t/>
            </a:r>
            <a:br>
              <a:rPr lang="en-US" altLang="ko-KR" sz="1200" kern="0" dirty="0">
                <a:solidFill>
                  <a:srgbClr val="000000"/>
                </a:solidFill>
              </a:rPr>
            </a:br>
            <a:r>
              <a:rPr lang="en-US" altLang="ko-KR" sz="1200" kern="0" dirty="0">
                <a:solidFill>
                  <a:srgbClr val="000000"/>
                </a:solidFill>
              </a:rPr>
              <a:t>    </a:t>
            </a:r>
            <a:r>
              <a:rPr lang="ko-KR" altLang="en-US" sz="1200" kern="0" dirty="0">
                <a:solidFill>
                  <a:srgbClr val="000000"/>
                </a:solidFill>
              </a:rPr>
              <a:t>유관 내</a:t>
            </a:r>
            <a:r>
              <a:rPr lang="en-US" altLang="ko-KR" sz="1200" kern="0" dirty="0">
                <a:solidFill>
                  <a:srgbClr val="000000"/>
                </a:solidFill>
              </a:rPr>
              <a:t>/</a:t>
            </a:r>
            <a:r>
              <a:rPr lang="ko-KR" altLang="en-US" sz="1200" kern="0" dirty="0">
                <a:solidFill>
                  <a:srgbClr val="000000"/>
                </a:solidFill>
              </a:rPr>
              <a:t>외부</a:t>
            </a:r>
            <a:r>
              <a:rPr lang="en-US" altLang="ko-KR" sz="1200" kern="0" dirty="0">
                <a:solidFill>
                  <a:srgbClr val="000000"/>
                </a:solidFill>
              </a:rPr>
              <a:t/>
            </a:r>
            <a:br>
              <a:rPr lang="en-US" altLang="ko-KR" sz="1200" kern="0" dirty="0">
                <a:solidFill>
                  <a:srgbClr val="000000"/>
                </a:solidFill>
              </a:rPr>
            </a:br>
            <a:r>
              <a:rPr lang="en-US" altLang="ko-KR" sz="1200" kern="0" dirty="0">
                <a:solidFill>
                  <a:srgbClr val="000000"/>
                </a:solidFill>
              </a:rPr>
              <a:t>    </a:t>
            </a:r>
            <a:r>
              <a:rPr lang="ko-KR" altLang="en-US" sz="1200" kern="0" dirty="0">
                <a:solidFill>
                  <a:srgbClr val="000000"/>
                </a:solidFill>
              </a:rPr>
              <a:t>시스템 연계</a:t>
            </a:r>
            <a:endParaRPr lang="en-US" altLang="ko-KR" sz="1200" kern="0" dirty="0">
              <a:solidFill>
                <a:srgbClr val="000000"/>
              </a:solidFill>
            </a:endParaRPr>
          </a:p>
          <a:p>
            <a:pPr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endParaRPr lang="en-US" altLang="ko-KR" sz="1200" kern="0" dirty="0">
              <a:solidFill>
                <a:srgbClr val="000000"/>
              </a:solidFill>
            </a:endParaRPr>
          </a:p>
          <a:p>
            <a:pPr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endParaRPr lang="en-US" altLang="ko-KR" sz="1200" kern="0" dirty="0">
              <a:solidFill>
                <a:srgbClr val="000000"/>
              </a:solidFill>
            </a:endParaRPr>
          </a:p>
        </p:txBody>
      </p:sp>
      <p:sp>
        <p:nvSpPr>
          <p:cNvPr id="218" name="직사각형 217"/>
          <p:cNvSpPr>
            <a:spLocks noChangeArrowheads="1"/>
          </p:cNvSpPr>
          <p:nvPr/>
        </p:nvSpPr>
        <p:spPr bwMode="gray">
          <a:xfrm>
            <a:off x="7905328" y="1520826"/>
            <a:ext cx="1633339" cy="309104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>
            <a:defPPr>
              <a:defRPr lang="en-US"/>
            </a:defPPr>
            <a:lvl1pPr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1pPr>
            <a:lvl2pPr marL="455582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2pPr>
            <a:lvl3pPr marL="912750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3pPr>
            <a:lvl4pPr marL="1369918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4pPr>
            <a:lvl5pPr marL="1827086" indent="1588" algn="ctr" rtl="0" fontAlgn="base" latinLnBrk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5pPr>
            <a:lvl6pPr marL="2285841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6pPr>
            <a:lvl7pPr marL="2743010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7pPr>
            <a:lvl8pPr marL="3200179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8pPr>
            <a:lvl9pPr marL="3657346" algn="l" defTabSz="914336" rtl="0" eaLnBrk="1" latinLnBrk="1" hangingPunct="1">
              <a:defRPr kumimoji="1" sz="1400" b="1" kern="1200">
                <a:solidFill>
                  <a:srgbClr val="000000"/>
                </a:solidFill>
                <a:latin typeface="뫼비우스 Regular" pitchFamily="2" charset="-127"/>
                <a:ea typeface="뫼비우스 Regular" pitchFamily="2" charset="-127"/>
                <a:cs typeface="+mn-cs"/>
              </a:defRPr>
            </a:lvl9pPr>
          </a:lstStyle>
          <a:p>
            <a:pPr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kern="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</a:rPr>
              <a:t>추진 범위</a:t>
            </a:r>
            <a:endParaRPr lang="en-US" altLang="ko-KR" kern="0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xmlns="" id="{B6282273-808C-E3EB-7DFC-0EB12136E19E}"/>
              </a:ext>
            </a:extLst>
          </p:cNvPr>
          <p:cNvSpPr/>
          <p:nvPr/>
        </p:nvSpPr>
        <p:spPr>
          <a:xfrm>
            <a:off x="2208285" y="2056796"/>
            <a:ext cx="5474873" cy="231821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" name="직사각형 4">
            <a:hlinkClick r:id="rId3" action="ppaction://hlinkpres?slideindex=1&amp;slidetitle="/>
            <a:extLst>
              <a:ext uri="{FF2B5EF4-FFF2-40B4-BE49-F238E27FC236}">
                <a16:creationId xmlns:a16="http://schemas.microsoft.com/office/drawing/2014/main" xmlns="" id="{AAD2E8BE-97E4-5D0C-2800-2A28378CAC5F}"/>
              </a:ext>
            </a:extLst>
          </p:cNvPr>
          <p:cNvSpPr/>
          <p:nvPr/>
        </p:nvSpPr>
        <p:spPr bwMode="auto">
          <a:xfrm>
            <a:off x="2143944" y="3911864"/>
            <a:ext cx="5539213" cy="324000"/>
          </a:xfrm>
          <a:prstGeom prst="rect">
            <a:avLst/>
          </a:prstGeom>
          <a:solidFill>
            <a:srgbClr val="003058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latinLnBrk="0">
              <a:defRPr/>
            </a:pPr>
            <a:r>
              <a:rPr lang="en-US" altLang="ko-KR" sz="14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ERP </a:t>
            </a:r>
            <a:r>
              <a:rPr lang="ko-KR" altLang="en-US" sz="14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시스템</a:t>
            </a:r>
            <a:endParaRPr lang="ko-KR" altLang="en-US" sz="14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6" name="Rectangle 43">
            <a:extLst>
              <a:ext uri="{FF2B5EF4-FFF2-40B4-BE49-F238E27FC236}">
                <a16:creationId xmlns:a16="http://schemas.microsoft.com/office/drawing/2014/main" xmlns="" id="{E50ED6EC-881C-8305-CDC5-29A43242F3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2011" y="4862589"/>
            <a:ext cx="610539" cy="253113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0" tIns="36000" rIns="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solidFill>
                  <a:prstClr val="white"/>
                </a:solidFill>
                <a:latin typeface="+mn-ea"/>
              </a:rPr>
              <a:t>사업관리</a:t>
            </a:r>
            <a:endParaRPr lang="en-US" altLang="ko-KR" sz="11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7" name="Rectangle 43">
            <a:extLst>
              <a:ext uri="{FF2B5EF4-FFF2-40B4-BE49-F238E27FC236}">
                <a16:creationId xmlns:a16="http://schemas.microsoft.com/office/drawing/2014/main" xmlns="" id="{74D9AE04-55EB-74FA-F278-7E40E2B11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939" y="4271072"/>
            <a:ext cx="2663651" cy="181765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예산</a:t>
            </a:r>
            <a:r>
              <a:rPr lang="en-US" altLang="ko-KR" sz="1100" b="1" kern="0">
                <a:solidFill>
                  <a:prstClr val="white"/>
                </a:solidFill>
                <a:latin typeface="+mn-ea"/>
              </a:rPr>
              <a:t>/</a:t>
            </a: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회계</a:t>
            </a:r>
            <a:r>
              <a:rPr lang="en-US" altLang="ko-KR" sz="1100" b="1" kern="0">
                <a:solidFill>
                  <a:prstClr val="white"/>
                </a:solidFill>
                <a:latin typeface="+mn-ea"/>
              </a:rPr>
              <a:t>/</a:t>
            </a: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구매</a:t>
            </a:r>
            <a:r>
              <a:rPr lang="en-US" altLang="ko-KR" sz="1100" b="1" kern="0">
                <a:solidFill>
                  <a:prstClr val="white"/>
                </a:solidFill>
                <a:latin typeface="+mn-ea"/>
              </a:rPr>
              <a:t>/</a:t>
            </a: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자산</a:t>
            </a:r>
            <a:endParaRPr lang="en-US" altLang="ko-KR" sz="11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" name="Rectangle 43">
            <a:extLst>
              <a:ext uri="{FF2B5EF4-FFF2-40B4-BE49-F238E27FC236}">
                <a16:creationId xmlns:a16="http://schemas.microsoft.com/office/drawing/2014/main" xmlns="" id="{99C4F93C-711B-5D4C-B080-010FF356D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9940" y="4471820"/>
            <a:ext cx="2663650" cy="10391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endParaRPr lang="en-US" altLang="ko-KR" sz="14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9" name="모서리가 둥근 직사각형 33">
            <a:extLst>
              <a:ext uri="{FF2B5EF4-FFF2-40B4-BE49-F238E27FC236}">
                <a16:creationId xmlns:a16="http://schemas.microsoft.com/office/drawing/2014/main" xmlns="" id="{D1D5769C-722D-FE7A-F862-787072FA903F}"/>
              </a:ext>
            </a:extLst>
          </p:cNvPr>
          <p:cNvSpPr/>
          <p:nvPr/>
        </p:nvSpPr>
        <p:spPr>
          <a:xfrm>
            <a:off x="2225794" y="4687230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예산관리</a:t>
            </a:r>
          </a:p>
        </p:txBody>
      </p:sp>
      <p:sp>
        <p:nvSpPr>
          <p:cNvPr id="10" name="모서리가 둥근 직사각형 34">
            <a:extLst>
              <a:ext uri="{FF2B5EF4-FFF2-40B4-BE49-F238E27FC236}">
                <a16:creationId xmlns:a16="http://schemas.microsoft.com/office/drawing/2014/main" xmlns="" id="{5AFF53A6-AA3B-DAA6-538D-A185258BE310}"/>
              </a:ext>
            </a:extLst>
          </p:cNvPr>
          <p:cNvSpPr/>
          <p:nvPr/>
        </p:nvSpPr>
        <p:spPr>
          <a:xfrm>
            <a:off x="2886392" y="4687230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회계관리</a:t>
            </a:r>
          </a:p>
        </p:txBody>
      </p:sp>
      <p:sp>
        <p:nvSpPr>
          <p:cNvPr id="11" name="모서리가 둥근 직사각형 37">
            <a:extLst>
              <a:ext uri="{FF2B5EF4-FFF2-40B4-BE49-F238E27FC236}">
                <a16:creationId xmlns:a16="http://schemas.microsoft.com/office/drawing/2014/main" xmlns="" id="{9F26213D-2262-4F9B-C7EE-0225132AA561}"/>
              </a:ext>
            </a:extLst>
          </p:cNvPr>
          <p:cNvSpPr/>
          <p:nvPr/>
        </p:nvSpPr>
        <p:spPr>
          <a:xfrm>
            <a:off x="3546990" y="4687230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자산관리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xmlns="" id="{C892794B-32F5-F5D1-EF59-26BCB732C378}"/>
              </a:ext>
            </a:extLst>
          </p:cNvPr>
          <p:cNvSpPr/>
          <p:nvPr/>
        </p:nvSpPr>
        <p:spPr bwMode="auto">
          <a:xfrm>
            <a:off x="416496" y="1558842"/>
            <a:ext cx="7266661" cy="28444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latinLnBrk="0">
              <a:defRPr/>
            </a:pPr>
            <a:r>
              <a:rPr lang="ko-KR" altLang="en-US" sz="1400" b="1" ker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코레일테크 목표 모델</a:t>
            </a:r>
            <a:endParaRPr lang="ko-KR" altLang="en-US" sz="1400" b="1" kern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xmlns="" id="{1A922050-609D-AEAF-864C-B8DC57E8DABC}"/>
              </a:ext>
            </a:extLst>
          </p:cNvPr>
          <p:cNvSpPr/>
          <p:nvPr/>
        </p:nvSpPr>
        <p:spPr>
          <a:xfrm>
            <a:off x="1923915" y="1843289"/>
            <a:ext cx="194182" cy="1659769"/>
          </a:xfrm>
          <a:prstGeom prst="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50" b="1">
                <a:solidFill>
                  <a:schemeClr val="tx1"/>
                </a:solidFill>
                <a:latin typeface="+mn-ea"/>
              </a:rPr>
              <a:t>사용자인증</a:t>
            </a:r>
            <a:endParaRPr lang="en-US" altLang="ko-KR" sz="1050" b="1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en-US" altLang="ko-KR" sz="1050" b="1">
                <a:solidFill>
                  <a:schemeClr val="tx1"/>
                </a:solidFill>
                <a:latin typeface="+mn-ea"/>
              </a:rPr>
              <a:t>/</a:t>
            </a:r>
          </a:p>
          <a:p>
            <a:pPr algn="ctr"/>
            <a:r>
              <a:rPr lang="ko-KR" altLang="en-US" sz="1050" b="1">
                <a:solidFill>
                  <a:schemeClr val="tx1"/>
                </a:solidFill>
                <a:latin typeface="+mn-ea"/>
              </a:rPr>
              <a:t>사용권한</a:t>
            </a:r>
            <a:endParaRPr lang="ko-KR" altLang="en-US" sz="1050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22" name="그룹 29">
            <a:extLst>
              <a:ext uri="{FF2B5EF4-FFF2-40B4-BE49-F238E27FC236}">
                <a16:creationId xmlns:a16="http://schemas.microsoft.com/office/drawing/2014/main" xmlns="" id="{580FD49B-EF94-E007-256D-5B220AB31B1C}"/>
              </a:ext>
            </a:extLst>
          </p:cNvPr>
          <p:cNvGrpSpPr>
            <a:grpSpLocks/>
          </p:cNvGrpSpPr>
          <p:nvPr/>
        </p:nvGrpSpPr>
        <p:grpSpPr bwMode="auto">
          <a:xfrm>
            <a:off x="526046" y="2916714"/>
            <a:ext cx="449263" cy="341313"/>
            <a:chOff x="5543550" y="3667116"/>
            <a:chExt cx="558800" cy="465137"/>
          </a:xfrm>
        </p:grpSpPr>
        <p:pic>
          <p:nvPicPr>
            <p:cNvPr id="123" name="Picture 94" descr="3">
              <a:extLst>
                <a:ext uri="{FF2B5EF4-FFF2-40B4-BE49-F238E27FC236}">
                  <a16:creationId xmlns:a16="http://schemas.microsoft.com/office/drawing/2014/main" xmlns="" id="{C5563BF3-7859-09C9-91BD-F424A6250F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8" t="28798" r="65112" b="60794"/>
            <a:stretch>
              <a:fillRect/>
            </a:stretch>
          </p:blipFill>
          <p:spPr bwMode="auto">
            <a:xfrm>
              <a:off x="5543550" y="3844916"/>
              <a:ext cx="558800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4" name="Picture 102" descr="3">
              <a:extLst>
                <a:ext uri="{FF2B5EF4-FFF2-40B4-BE49-F238E27FC236}">
                  <a16:creationId xmlns:a16="http://schemas.microsoft.com/office/drawing/2014/main" xmlns="" id="{216BFB31-970E-EEAD-490F-B6B8804A9E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550" t="42731" r="38626" b="42841"/>
            <a:stretch>
              <a:fillRect/>
            </a:stretch>
          </p:blipFill>
          <p:spPr bwMode="auto">
            <a:xfrm>
              <a:off x="5618163" y="3667116"/>
              <a:ext cx="411162" cy="365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25" name="Group 76">
            <a:extLst>
              <a:ext uri="{FF2B5EF4-FFF2-40B4-BE49-F238E27FC236}">
                <a16:creationId xmlns:a16="http://schemas.microsoft.com/office/drawing/2014/main" xmlns="" id="{3F3ABD48-D593-921D-E934-5E917485E8C9}"/>
              </a:ext>
            </a:extLst>
          </p:cNvPr>
          <p:cNvGrpSpPr>
            <a:grpSpLocks/>
          </p:cNvGrpSpPr>
          <p:nvPr/>
        </p:nvGrpSpPr>
        <p:grpSpPr bwMode="auto">
          <a:xfrm>
            <a:off x="526046" y="1884620"/>
            <a:ext cx="450850" cy="384175"/>
            <a:chOff x="346" y="3835"/>
            <a:chExt cx="352" cy="328"/>
          </a:xfrm>
        </p:grpSpPr>
        <p:pic>
          <p:nvPicPr>
            <p:cNvPr id="126" name="Picture 77" descr="3">
              <a:extLst>
                <a:ext uri="{FF2B5EF4-FFF2-40B4-BE49-F238E27FC236}">
                  <a16:creationId xmlns:a16="http://schemas.microsoft.com/office/drawing/2014/main" xmlns="" id="{8525C745-2B45-D7E4-1D30-555D65FC59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8" t="28798" r="65112" b="60794"/>
            <a:stretch>
              <a:fillRect/>
            </a:stretch>
          </p:blipFill>
          <p:spPr bwMode="auto">
            <a:xfrm>
              <a:off x="346" y="3982"/>
              <a:ext cx="352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7" name="Picture 78" descr="3">
              <a:extLst>
                <a:ext uri="{FF2B5EF4-FFF2-40B4-BE49-F238E27FC236}">
                  <a16:creationId xmlns:a16="http://schemas.microsoft.com/office/drawing/2014/main" xmlns="" id="{D645C1C7-2CAF-4BAE-1A5A-0C104AA348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1586" t="26706" r="41901" b="58647"/>
            <a:stretch>
              <a:fillRect/>
            </a:stretch>
          </p:blipFill>
          <p:spPr bwMode="auto">
            <a:xfrm>
              <a:off x="419" y="3835"/>
              <a:ext cx="209" cy="2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2" name="그룹 106">
            <a:extLst>
              <a:ext uri="{FF2B5EF4-FFF2-40B4-BE49-F238E27FC236}">
                <a16:creationId xmlns:a16="http://schemas.microsoft.com/office/drawing/2014/main" xmlns="" id="{8C9A820A-F426-4E99-F801-E06BF30C9765}"/>
              </a:ext>
            </a:extLst>
          </p:cNvPr>
          <p:cNvGrpSpPr>
            <a:grpSpLocks/>
          </p:cNvGrpSpPr>
          <p:nvPr/>
        </p:nvGrpSpPr>
        <p:grpSpPr bwMode="auto">
          <a:xfrm>
            <a:off x="515728" y="2421546"/>
            <a:ext cx="471487" cy="355741"/>
            <a:chOff x="5562619" y="6852791"/>
            <a:chExt cx="558800" cy="398910"/>
          </a:xfrm>
        </p:grpSpPr>
        <p:pic>
          <p:nvPicPr>
            <p:cNvPr id="193" name="Picture 98" descr="3">
              <a:extLst>
                <a:ext uri="{FF2B5EF4-FFF2-40B4-BE49-F238E27FC236}">
                  <a16:creationId xmlns:a16="http://schemas.microsoft.com/office/drawing/2014/main" xmlns="" id="{B218110A-3327-C6F9-57DF-09B7D050777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8" t="28798" r="65112" b="60794"/>
            <a:stretch>
              <a:fillRect/>
            </a:stretch>
          </p:blipFill>
          <p:spPr bwMode="auto">
            <a:xfrm>
              <a:off x="5562619" y="6964363"/>
              <a:ext cx="558800" cy="287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4" name="Picture 205" descr="건물">
              <a:extLst>
                <a:ext uri="{FF2B5EF4-FFF2-40B4-BE49-F238E27FC236}">
                  <a16:creationId xmlns:a16="http://schemas.microsoft.com/office/drawing/2014/main" xmlns="" id="{A632CF54-9899-B1A5-1FCA-F110CCD606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68854" y="6852791"/>
              <a:ext cx="426424" cy="3839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95" name="TextBox 194">
            <a:extLst>
              <a:ext uri="{FF2B5EF4-FFF2-40B4-BE49-F238E27FC236}">
                <a16:creationId xmlns:a16="http://schemas.microsoft.com/office/drawing/2014/main" xmlns="" id="{7F01C717-AD0A-A202-ED26-D7CC3948C293}"/>
              </a:ext>
            </a:extLst>
          </p:cNvPr>
          <p:cNvSpPr txBox="1"/>
          <p:nvPr/>
        </p:nvSpPr>
        <p:spPr>
          <a:xfrm>
            <a:off x="530898" y="2220847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+mn-ea"/>
              </a:rPr>
              <a:t>본사</a:t>
            </a:r>
            <a:endParaRPr lang="ko-KR" altLang="en-US" sz="1000" dirty="0" err="1">
              <a:latin typeface="+mn-ea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xmlns="" id="{C859D33F-AE0D-1C74-0D8B-B2F05BD52FC4}"/>
              </a:ext>
            </a:extLst>
          </p:cNvPr>
          <p:cNvSpPr txBox="1"/>
          <p:nvPr/>
        </p:nvSpPr>
        <p:spPr>
          <a:xfrm>
            <a:off x="466778" y="2726057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+mn-ea"/>
              </a:rPr>
              <a:t>사업소</a:t>
            </a:r>
            <a:endParaRPr lang="ko-KR" altLang="en-US" sz="1000" dirty="0" err="1">
              <a:latin typeface="+mn-ea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xmlns="" id="{07E438DB-9EA5-33E6-150B-EC3B06041BDE}"/>
              </a:ext>
            </a:extLst>
          </p:cNvPr>
          <p:cNvSpPr txBox="1"/>
          <p:nvPr/>
        </p:nvSpPr>
        <p:spPr>
          <a:xfrm>
            <a:off x="530898" y="3251917"/>
            <a:ext cx="4411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+mn-ea"/>
              </a:rPr>
              <a:t>현장</a:t>
            </a:r>
            <a:endParaRPr lang="ko-KR" altLang="en-US" sz="1000" dirty="0" err="1">
              <a:latin typeface="+mn-ea"/>
            </a:endParaRPr>
          </a:p>
        </p:txBody>
      </p:sp>
      <p:grpSp>
        <p:nvGrpSpPr>
          <p:cNvPr id="198" name="그룹 91">
            <a:extLst>
              <a:ext uri="{FF2B5EF4-FFF2-40B4-BE49-F238E27FC236}">
                <a16:creationId xmlns:a16="http://schemas.microsoft.com/office/drawing/2014/main" xmlns="" id="{4A609D0C-50F0-A164-304D-56C9F0B5971E}"/>
              </a:ext>
            </a:extLst>
          </p:cNvPr>
          <p:cNvGrpSpPr>
            <a:grpSpLocks/>
          </p:cNvGrpSpPr>
          <p:nvPr/>
        </p:nvGrpSpPr>
        <p:grpSpPr bwMode="auto">
          <a:xfrm>
            <a:off x="500097" y="3431050"/>
            <a:ext cx="450850" cy="411162"/>
            <a:chOff x="5513406" y="8037808"/>
            <a:chExt cx="558800" cy="558530"/>
          </a:xfrm>
        </p:grpSpPr>
        <p:pic>
          <p:nvPicPr>
            <p:cNvPr id="199" name="Picture 80" descr="3">
              <a:extLst>
                <a:ext uri="{FF2B5EF4-FFF2-40B4-BE49-F238E27FC236}">
                  <a16:creationId xmlns:a16="http://schemas.microsoft.com/office/drawing/2014/main" xmlns="" id="{74856995-BB17-D2E7-00A4-DC6361751BB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78" t="28798" r="65112" b="60794"/>
            <a:stretch>
              <a:fillRect/>
            </a:stretch>
          </p:blipFill>
          <p:spPr bwMode="auto">
            <a:xfrm>
              <a:off x="5513406" y="8309001"/>
              <a:ext cx="558800" cy="28733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00" name="Group 85">
              <a:extLst>
                <a:ext uri="{FF2B5EF4-FFF2-40B4-BE49-F238E27FC236}">
                  <a16:creationId xmlns:a16="http://schemas.microsoft.com/office/drawing/2014/main" xmlns="" id="{5712FA4C-F093-E11E-DDEF-401D8B8448C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76906" y="8037808"/>
              <a:ext cx="423863" cy="482321"/>
              <a:chOff x="134" y="3430"/>
              <a:chExt cx="355" cy="411"/>
            </a:xfrm>
          </p:grpSpPr>
          <p:pic>
            <p:nvPicPr>
              <p:cNvPr id="201" name="Picture 86" descr="Untitled-1">
                <a:extLst>
                  <a:ext uri="{FF2B5EF4-FFF2-40B4-BE49-F238E27FC236}">
                    <a16:creationId xmlns:a16="http://schemas.microsoft.com/office/drawing/2014/main" xmlns="" id="{A777EC61-1061-8AB9-D73C-C620D35BFFB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3" t="62222" r="84102"/>
              <a:stretch>
                <a:fillRect/>
              </a:stretch>
            </p:blipFill>
            <p:spPr bwMode="auto">
              <a:xfrm>
                <a:off x="176" y="3478"/>
                <a:ext cx="163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2" name="Picture 87" descr="Untitled-1">
                <a:extLst>
                  <a:ext uri="{FF2B5EF4-FFF2-40B4-BE49-F238E27FC236}">
                    <a16:creationId xmlns:a16="http://schemas.microsoft.com/office/drawing/2014/main" xmlns="" id="{D6E270DF-EAEC-8ECD-4962-C681F587D9E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3" t="62222" r="84102"/>
              <a:stretch>
                <a:fillRect/>
              </a:stretch>
            </p:blipFill>
            <p:spPr bwMode="auto">
              <a:xfrm>
                <a:off x="262" y="3430"/>
                <a:ext cx="163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3" name="Picture 88" descr="Untitled-1">
                <a:extLst>
                  <a:ext uri="{FF2B5EF4-FFF2-40B4-BE49-F238E27FC236}">
                    <a16:creationId xmlns:a16="http://schemas.microsoft.com/office/drawing/2014/main" xmlns="" id="{EE251CF4-815C-5B87-E1C7-6F7D7827C26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3" t="62222" r="84102"/>
              <a:stretch>
                <a:fillRect/>
              </a:stretch>
            </p:blipFill>
            <p:spPr bwMode="auto">
              <a:xfrm>
                <a:off x="134" y="3568"/>
                <a:ext cx="163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4" name="Picture 89" descr="Untitled-1">
                <a:extLst>
                  <a:ext uri="{FF2B5EF4-FFF2-40B4-BE49-F238E27FC236}">
                    <a16:creationId xmlns:a16="http://schemas.microsoft.com/office/drawing/2014/main" xmlns="" id="{096A67EC-DB03-8030-80CE-910C99E3462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3" t="62222" r="84102"/>
              <a:stretch>
                <a:fillRect/>
              </a:stretch>
            </p:blipFill>
            <p:spPr bwMode="auto">
              <a:xfrm>
                <a:off x="214" y="3526"/>
                <a:ext cx="163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05" name="Picture 90" descr="Untitled-1">
                <a:extLst>
                  <a:ext uri="{FF2B5EF4-FFF2-40B4-BE49-F238E27FC236}">
                    <a16:creationId xmlns:a16="http://schemas.microsoft.com/office/drawing/2014/main" xmlns="" id="{6E855269-C331-38E1-259B-A249B6FEDA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0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143" t="62222" r="84102"/>
              <a:stretch>
                <a:fillRect/>
              </a:stretch>
            </p:blipFill>
            <p:spPr bwMode="auto">
              <a:xfrm>
                <a:off x="326" y="3512"/>
                <a:ext cx="163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aphicFrame>
        <p:nvGraphicFramePr>
          <p:cNvPr id="206" name="표 205">
            <a:extLst>
              <a:ext uri="{FF2B5EF4-FFF2-40B4-BE49-F238E27FC236}">
                <a16:creationId xmlns:a16="http://schemas.microsoft.com/office/drawing/2014/main" xmlns="" id="{32EBF8AD-431B-1F5D-1B62-9AB00334CFAD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38786" y="4077072"/>
          <a:ext cx="557157" cy="21229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71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</a:tblGrid>
              <a:tr h="23355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외부기관</a:t>
                      </a:r>
                    </a:p>
                  </a:txBody>
                  <a:tcPr marL="0" marR="0" marT="0" marB="0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787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대보험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78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/>
                          </a:solidFill>
                        </a:rPr>
                        <a:t>국세청</a:t>
                      </a:r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78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>
                          <a:solidFill>
                            <a:schemeClr val="tx1"/>
                          </a:solidFill>
                        </a:rPr>
                        <a:t>금융기관</a:t>
                      </a: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78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/>
                          </a:solidFill>
                        </a:rPr>
                        <a:t>카드사</a:t>
                      </a:r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787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smtClean="0">
                          <a:solidFill>
                            <a:schemeClr val="tx1"/>
                          </a:solidFill>
                        </a:rPr>
                        <a:t>조달청</a:t>
                      </a:r>
                      <a:endParaRPr lang="ko-KR" altLang="en-US" sz="900">
                        <a:solidFill>
                          <a:schemeClr val="tx1"/>
                        </a:solidFill>
                      </a:endParaRPr>
                    </a:p>
                  </a:txBody>
                  <a:tcPr marL="0" marR="0" marT="0" marB="0" anchor="b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CFFCC"/>
                    </a:solidFill>
                  </a:tcPr>
                </a:tc>
              </a:tr>
            </a:tbl>
          </a:graphicData>
        </a:graphic>
      </p:graphicFrame>
      <p:sp>
        <p:nvSpPr>
          <p:cNvPr id="207" name="TextBox 206">
            <a:extLst>
              <a:ext uri="{FF2B5EF4-FFF2-40B4-BE49-F238E27FC236}">
                <a16:creationId xmlns:a16="http://schemas.microsoft.com/office/drawing/2014/main" xmlns="" id="{48167E18-6DD4-F894-482D-76CBC5792BED}"/>
              </a:ext>
            </a:extLst>
          </p:cNvPr>
          <p:cNvSpPr txBox="1"/>
          <p:nvPr/>
        </p:nvSpPr>
        <p:spPr>
          <a:xfrm>
            <a:off x="488592" y="3791715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>
                <a:latin typeface="+mn-ea"/>
              </a:rPr>
              <a:t>대국민</a:t>
            </a:r>
            <a:endParaRPr lang="ko-KR" altLang="en-US" sz="1000" dirty="0" err="1">
              <a:latin typeface="+mn-ea"/>
            </a:endParaRPr>
          </a:p>
        </p:txBody>
      </p:sp>
      <p:graphicFrame>
        <p:nvGraphicFramePr>
          <p:cNvPr id="208" name="Object 200">
            <a:extLst>
              <a:ext uri="{FF2B5EF4-FFF2-40B4-BE49-F238E27FC236}">
                <a16:creationId xmlns:a16="http://schemas.microsoft.com/office/drawing/2014/main" xmlns="" id="{CD7D7726-C18D-8E82-D82A-292DD96E331D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48876" y="4336226"/>
          <a:ext cx="277109" cy="218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0" name="클립" r:id="rId11" imgW="5600700" imgH="3589338" progId="MS_ClipArt_Gallery.2">
                  <p:embed/>
                </p:oleObj>
              </mc:Choice>
              <mc:Fallback>
                <p:oleObj name="클립" r:id="rId11" imgW="5600700" imgH="3589338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876" y="4336226"/>
                        <a:ext cx="277109" cy="218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9" name="Object 200">
            <a:extLst>
              <a:ext uri="{FF2B5EF4-FFF2-40B4-BE49-F238E27FC236}">
                <a16:creationId xmlns:a16="http://schemas.microsoft.com/office/drawing/2014/main" xmlns="" id="{6CCB9520-B35E-BFEA-AD90-9FAC1FB03B8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48876" y="4696963"/>
          <a:ext cx="277109" cy="218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" name="클립" r:id="rId13" imgW="5600700" imgH="3589338" progId="MS_ClipArt_Gallery.2">
                  <p:embed/>
                </p:oleObj>
              </mc:Choice>
              <mc:Fallback>
                <p:oleObj name="클립" r:id="rId13" imgW="5600700" imgH="3589338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876" y="4696963"/>
                        <a:ext cx="277109" cy="218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0" name="Object 200">
            <a:extLst>
              <a:ext uri="{FF2B5EF4-FFF2-40B4-BE49-F238E27FC236}">
                <a16:creationId xmlns:a16="http://schemas.microsoft.com/office/drawing/2014/main" xmlns="" id="{2563FFCE-38CD-10CF-19F7-CCD322183F63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48876" y="5057326"/>
          <a:ext cx="277109" cy="218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2" name="클립" r:id="rId14" imgW="5600700" imgH="3589338" progId="MS_ClipArt_Gallery.2">
                  <p:embed/>
                </p:oleObj>
              </mc:Choice>
              <mc:Fallback>
                <p:oleObj name="클립" r:id="rId14" imgW="5600700" imgH="3589338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876" y="5057326"/>
                        <a:ext cx="277109" cy="218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1" name="Object 200">
            <a:extLst>
              <a:ext uri="{FF2B5EF4-FFF2-40B4-BE49-F238E27FC236}">
                <a16:creationId xmlns:a16="http://schemas.microsoft.com/office/drawing/2014/main" xmlns="" id="{42E66646-ADA2-1BF7-DC3B-DEC03ADA296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48876" y="5442854"/>
          <a:ext cx="277109" cy="218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3" name="클립" r:id="rId15" imgW="5600700" imgH="3589338" progId="MS_ClipArt_Gallery.2">
                  <p:embed/>
                </p:oleObj>
              </mc:Choice>
              <mc:Fallback>
                <p:oleObj name="클립" r:id="rId15" imgW="5600700" imgH="3589338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8876" y="5442854"/>
                        <a:ext cx="277109" cy="218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2" name="AutoShape 116">
            <a:extLst>
              <a:ext uri="{FF2B5EF4-FFF2-40B4-BE49-F238E27FC236}">
                <a16:creationId xmlns:a16="http://schemas.microsoft.com/office/drawing/2014/main" xmlns="" id="{363127BD-AB85-0B2F-48EA-EA4646754E0B}"/>
              </a:ext>
            </a:extLst>
          </p:cNvPr>
          <p:cNvSpPr>
            <a:spLocks noChangeAspect="1" noChangeArrowheads="1"/>
          </p:cNvSpPr>
          <p:nvPr/>
        </p:nvSpPr>
        <p:spPr bwMode="auto">
          <a:xfrm rot="5400000">
            <a:off x="1314132" y="3365181"/>
            <a:ext cx="213787" cy="900385"/>
          </a:xfrm>
          <a:prstGeom prst="upDownArrow">
            <a:avLst>
              <a:gd name="adj1" fmla="val 50000"/>
              <a:gd name="adj2" fmla="val 28648"/>
            </a:avLst>
          </a:prstGeom>
          <a:solidFill>
            <a:srgbClr val="6E9FD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ko-KR" altLang="en-US" sz="1800">
              <a:latin typeface="+mn-ea"/>
              <a:ea typeface="+mn-ea"/>
            </a:endParaRP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xmlns="" id="{4ADEC42B-FF9F-B438-496F-F040B3E048F6}"/>
              </a:ext>
            </a:extLst>
          </p:cNvPr>
          <p:cNvSpPr txBox="1"/>
          <p:nvPr/>
        </p:nvSpPr>
        <p:spPr>
          <a:xfrm>
            <a:off x="967449" y="3550012"/>
            <a:ext cx="950173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dirty="0">
                <a:latin typeface="+mn-ea"/>
              </a:rPr>
              <a:t>입사지원</a:t>
            </a:r>
            <a:endParaRPr lang="en-US" altLang="ko-KR" sz="900" dirty="0">
              <a:latin typeface="+mn-ea"/>
            </a:endParaRPr>
          </a:p>
          <a:p>
            <a:pPr algn="ctr"/>
            <a:endParaRPr lang="en-US" altLang="ko-KR" sz="900" dirty="0">
              <a:latin typeface="+mn-ea"/>
            </a:endParaRPr>
          </a:p>
          <a:p>
            <a:pPr algn="ctr"/>
            <a:r>
              <a:rPr lang="en-US" altLang="ko-KR" sz="900" dirty="0">
                <a:latin typeface="+mn-ea"/>
              </a:rPr>
              <a:t>VOC</a:t>
            </a:r>
            <a:endParaRPr lang="ko-KR" altLang="en-US" sz="900" dirty="0" err="1">
              <a:latin typeface="+mn-ea"/>
            </a:endParaRPr>
          </a:p>
        </p:txBody>
      </p:sp>
      <p:sp>
        <p:nvSpPr>
          <p:cNvPr id="214" name="직사각형 213">
            <a:extLst>
              <a:ext uri="{FF2B5EF4-FFF2-40B4-BE49-F238E27FC236}">
                <a16:creationId xmlns:a16="http://schemas.microsoft.com/office/drawing/2014/main" xmlns="" id="{20367614-523D-EE3F-F290-D5E0205E40C1}"/>
              </a:ext>
            </a:extLst>
          </p:cNvPr>
          <p:cNvSpPr/>
          <p:nvPr/>
        </p:nvSpPr>
        <p:spPr bwMode="auto">
          <a:xfrm>
            <a:off x="2118098" y="1823351"/>
            <a:ext cx="5565060" cy="186799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latinLnBrk="0">
              <a:defRPr/>
            </a:pPr>
            <a:r>
              <a:rPr lang="ko-KR" altLang="en-US" sz="1200" b="1" ker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내부</a:t>
            </a:r>
            <a:r>
              <a:rPr lang="en-US" altLang="ko-KR" sz="1200" b="1" ker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ko-KR" altLang="en-US" sz="1200" b="1" ker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포털 서비스</a:t>
            </a:r>
            <a:endParaRPr lang="ko-KR" altLang="en-US" sz="1200" b="1" kern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215" name="직사각형 214">
            <a:extLst>
              <a:ext uri="{FF2B5EF4-FFF2-40B4-BE49-F238E27FC236}">
                <a16:creationId xmlns:a16="http://schemas.microsoft.com/office/drawing/2014/main" xmlns="" id="{4C80FC02-2490-4BB3-C2AD-7C34230B5B93}"/>
              </a:ext>
            </a:extLst>
          </p:cNvPr>
          <p:cNvSpPr/>
          <p:nvPr/>
        </p:nvSpPr>
        <p:spPr>
          <a:xfrm>
            <a:off x="2208285" y="2288617"/>
            <a:ext cx="5474873" cy="422353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ko-KR" altLang="en-US" sz="1100" b="1">
                <a:solidFill>
                  <a:schemeClr val="tx1"/>
                </a:solidFill>
                <a:latin typeface="+mn-ea"/>
              </a:rPr>
              <a:t>그룹웨어</a:t>
            </a:r>
            <a:endParaRPr lang="ko-KR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19" name="모서리가 둥근 직사각형 296">
            <a:extLst>
              <a:ext uri="{FF2B5EF4-FFF2-40B4-BE49-F238E27FC236}">
                <a16:creationId xmlns:a16="http://schemas.microsoft.com/office/drawing/2014/main" xmlns="" id="{CB54BA9F-9987-8C95-CB42-FA92F804CC73}"/>
              </a:ext>
            </a:extLst>
          </p:cNvPr>
          <p:cNvSpPr/>
          <p:nvPr/>
        </p:nvSpPr>
        <p:spPr>
          <a:xfrm>
            <a:off x="2263407" y="2477156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웹메일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1" name="모서리가 둥근 직사각형 297">
            <a:extLst>
              <a:ext uri="{FF2B5EF4-FFF2-40B4-BE49-F238E27FC236}">
                <a16:creationId xmlns:a16="http://schemas.microsoft.com/office/drawing/2014/main" xmlns="" id="{0F8F0B8A-E779-FF19-2453-DCCFA40CAA18}"/>
              </a:ext>
            </a:extLst>
          </p:cNvPr>
          <p:cNvSpPr/>
          <p:nvPr/>
        </p:nvSpPr>
        <p:spPr>
          <a:xfrm>
            <a:off x="4159797" y="2477156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게시판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2" name="모서리가 둥근 직사각형 298">
            <a:extLst>
              <a:ext uri="{FF2B5EF4-FFF2-40B4-BE49-F238E27FC236}">
                <a16:creationId xmlns:a16="http://schemas.microsoft.com/office/drawing/2014/main" xmlns="" id="{2793CAE0-5E33-D55B-A06B-3030F61C18A1}"/>
              </a:ext>
            </a:extLst>
          </p:cNvPr>
          <p:cNvSpPr/>
          <p:nvPr/>
        </p:nvSpPr>
        <p:spPr>
          <a:xfrm>
            <a:off x="6056187" y="2477156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기록물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3" name="모서리가 둥근 직사각형 299">
            <a:extLst>
              <a:ext uri="{FF2B5EF4-FFF2-40B4-BE49-F238E27FC236}">
                <a16:creationId xmlns:a16="http://schemas.microsoft.com/office/drawing/2014/main" xmlns="" id="{47FC0233-CB1A-C404-664F-37E833B63AAC}"/>
              </a:ext>
            </a:extLst>
          </p:cNvPr>
          <p:cNvSpPr/>
          <p:nvPr/>
        </p:nvSpPr>
        <p:spPr>
          <a:xfrm>
            <a:off x="5107992" y="2477156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문서수발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4" name="모서리가 둥근 직사각형 300">
            <a:extLst>
              <a:ext uri="{FF2B5EF4-FFF2-40B4-BE49-F238E27FC236}">
                <a16:creationId xmlns:a16="http://schemas.microsoft.com/office/drawing/2014/main" xmlns="" id="{B2475CD8-FFDA-7881-DFAE-AEC1342477B8}"/>
              </a:ext>
            </a:extLst>
          </p:cNvPr>
          <p:cNvSpPr/>
          <p:nvPr/>
        </p:nvSpPr>
        <p:spPr>
          <a:xfrm>
            <a:off x="3211602" y="2477156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전저결재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5" name="모서리가 둥근 직사각형 301">
            <a:extLst>
              <a:ext uri="{FF2B5EF4-FFF2-40B4-BE49-F238E27FC236}">
                <a16:creationId xmlns:a16="http://schemas.microsoft.com/office/drawing/2014/main" xmlns="" id="{3B6AAF4E-058C-C08F-BF39-32B316ECECCA}"/>
              </a:ext>
            </a:extLst>
          </p:cNvPr>
          <p:cNvSpPr/>
          <p:nvPr/>
        </p:nvSpPr>
        <p:spPr>
          <a:xfrm>
            <a:off x="7004382" y="2477156"/>
            <a:ext cx="60816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채팅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6" name="모서리가 둥근 직사각형 302">
            <a:extLst>
              <a:ext uri="{FF2B5EF4-FFF2-40B4-BE49-F238E27FC236}">
                <a16:creationId xmlns:a16="http://schemas.microsoft.com/office/drawing/2014/main" xmlns="" id="{171A37E0-C041-C46E-2588-8955AFD94AAA}"/>
              </a:ext>
            </a:extLst>
          </p:cNvPr>
          <p:cNvSpPr/>
          <p:nvPr/>
        </p:nvSpPr>
        <p:spPr>
          <a:xfrm>
            <a:off x="2259222" y="2073172"/>
            <a:ext cx="97945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대사우서비스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7" name="모서리가 둥근 직사각형 303">
            <a:extLst>
              <a:ext uri="{FF2B5EF4-FFF2-40B4-BE49-F238E27FC236}">
                <a16:creationId xmlns:a16="http://schemas.microsoft.com/office/drawing/2014/main" xmlns="" id="{F30099A6-CD98-1AED-B1D4-3444E013B040}"/>
              </a:ext>
            </a:extLst>
          </p:cNvPr>
          <p:cNvSpPr/>
          <p:nvPr/>
        </p:nvSpPr>
        <p:spPr>
          <a:xfrm>
            <a:off x="5175136" y="2073172"/>
            <a:ext cx="97945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일정공유</a:t>
            </a:r>
            <a:r>
              <a:rPr lang="en-US" altLang="ko-KR" sz="800" kern="0" spc="-100">
                <a:latin typeface="+mn-ea"/>
              </a:rPr>
              <a:t>.</a:t>
            </a:r>
            <a:r>
              <a:rPr lang="ko-KR" altLang="en-US" sz="800" kern="0" spc="-100">
                <a:latin typeface="+mn-ea"/>
              </a:rPr>
              <a:t>시설예약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8" name="모서리가 둥근 직사각형 304">
            <a:extLst>
              <a:ext uri="{FF2B5EF4-FFF2-40B4-BE49-F238E27FC236}">
                <a16:creationId xmlns:a16="http://schemas.microsoft.com/office/drawing/2014/main" xmlns="" id="{12AA792A-B1D9-6757-55A1-6F6368E606CF}"/>
              </a:ext>
            </a:extLst>
          </p:cNvPr>
          <p:cNvSpPr/>
          <p:nvPr/>
        </p:nvSpPr>
        <p:spPr>
          <a:xfrm>
            <a:off x="6633092" y="2073172"/>
            <a:ext cx="97945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규정관리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29" name="모서리가 둥근 직사각형 305">
            <a:extLst>
              <a:ext uri="{FF2B5EF4-FFF2-40B4-BE49-F238E27FC236}">
                <a16:creationId xmlns:a16="http://schemas.microsoft.com/office/drawing/2014/main" xmlns="" id="{4A20E526-67C5-F232-9EA9-EE085BD3FEE3}"/>
              </a:ext>
            </a:extLst>
          </p:cNvPr>
          <p:cNvSpPr/>
          <p:nvPr/>
        </p:nvSpPr>
        <p:spPr>
          <a:xfrm>
            <a:off x="3717179" y="2073172"/>
            <a:ext cx="979455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설문</a:t>
            </a:r>
            <a:r>
              <a:rPr lang="en-US" altLang="ko-KR" sz="800" kern="0" spc="-100">
                <a:latin typeface="+mn-ea"/>
              </a:rPr>
              <a:t>/</a:t>
            </a:r>
            <a:r>
              <a:rPr lang="ko-KR" altLang="en-US" sz="800" kern="0" spc="-100">
                <a:latin typeface="+mn-ea"/>
              </a:rPr>
              <a:t>의견조회</a:t>
            </a:r>
            <a:r>
              <a:rPr lang="en-US" altLang="ko-KR" sz="800" kern="0" spc="-100">
                <a:latin typeface="+mn-ea"/>
              </a:rPr>
              <a:t>/</a:t>
            </a:r>
            <a:r>
              <a:rPr lang="ko-KR" altLang="en-US" sz="800" kern="0" spc="-100">
                <a:latin typeface="+mn-ea"/>
              </a:rPr>
              <a:t>소식지</a:t>
            </a:r>
            <a:r>
              <a:rPr lang="en-US" altLang="ko-KR" sz="800" kern="0" spc="-100">
                <a:latin typeface="+mn-ea"/>
              </a:rPr>
              <a:t>;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0" name="모서리가 둥근 직사각형 309">
            <a:extLst>
              <a:ext uri="{FF2B5EF4-FFF2-40B4-BE49-F238E27FC236}">
                <a16:creationId xmlns:a16="http://schemas.microsoft.com/office/drawing/2014/main" xmlns="" id="{636C28ED-E0FA-B266-741A-93F7C8F9B11E}"/>
              </a:ext>
            </a:extLst>
          </p:cNvPr>
          <p:cNvSpPr/>
          <p:nvPr/>
        </p:nvSpPr>
        <p:spPr>
          <a:xfrm>
            <a:off x="2183885" y="2954079"/>
            <a:ext cx="4343080" cy="735091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 rtlCol="0" anchor="t" anchorCtr="0"/>
          <a:lstStyle/>
          <a:p>
            <a:pPr algn="ctr"/>
            <a:r>
              <a:rPr lang="ko-KR" altLang="en-US" sz="1100" b="1">
                <a:solidFill>
                  <a:schemeClr val="tx1"/>
                </a:solidFill>
                <a:latin typeface="+mn-ea"/>
              </a:rPr>
              <a:t>사업소</a:t>
            </a:r>
            <a:r>
              <a:rPr lang="en-US" altLang="ko-KR" sz="1100" b="1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100" b="1">
                <a:solidFill>
                  <a:schemeClr val="tx1"/>
                </a:solidFill>
                <a:latin typeface="+mn-ea"/>
              </a:rPr>
              <a:t>업무</a:t>
            </a:r>
            <a:endParaRPr lang="ko-KR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1" name="모서리가 둥근 직사각형 310">
            <a:extLst>
              <a:ext uri="{FF2B5EF4-FFF2-40B4-BE49-F238E27FC236}">
                <a16:creationId xmlns:a16="http://schemas.microsoft.com/office/drawing/2014/main" xmlns="" id="{4B2E61D7-C603-CE96-1277-5A859ECCEE30}"/>
              </a:ext>
            </a:extLst>
          </p:cNvPr>
          <p:cNvSpPr/>
          <p:nvPr/>
        </p:nvSpPr>
        <p:spPr>
          <a:xfrm>
            <a:off x="2270248" y="3155467"/>
            <a:ext cx="826383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latin typeface="+mn-ea"/>
              </a:rPr>
              <a:t>근태관리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2" name="모서리가 둥근 직사각형 311">
            <a:extLst>
              <a:ext uri="{FF2B5EF4-FFF2-40B4-BE49-F238E27FC236}">
                <a16:creationId xmlns:a16="http://schemas.microsoft.com/office/drawing/2014/main" xmlns="" id="{2EF2A400-E89F-2CD9-B7EA-00D18E02843A}"/>
              </a:ext>
            </a:extLst>
          </p:cNvPr>
          <p:cNvSpPr/>
          <p:nvPr/>
        </p:nvSpPr>
        <p:spPr>
          <a:xfrm>
            <a:off x="3216163" y="3387898"/>
            <a:ext cx="826383" cy="187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전도금관리</a:t>
            </a:r>
          </a:p>
        </p:txBody>
      </p:sp>
      <p:sp>
        <p:nvSpPr>
          <p:cNvPr id="233" name="모서리가 둥근 직사각형 312">
            <a:extLst>
              <a:ext uri="{FF2B5EF4-FFF2-40B4-BE49-F238E27FC236}">
                <a16:creationId xmlns:a16="http://schemas.microsoft.com/office/drawing/2014/main" xmlns="" id="{7E445112-4502-4E59-425E-460FFD23DBCB}"/>
              </a:ext>
            </a:extLst>
          </p:cNvPr>
          <p:cNvSpPr/>
          <p:nvPr/>
        </p:nvSpPr>
        <p:spPr>
          <a:xfrm>
            <a:off x="4162078" y="3155467"/>
            <a:ext cx="826383" cy="187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작업계획서</a:t>
            </a:r>
          </a:p>
        </p:txBody>
      </p:sp>
      <p:sp>
        <p:nvSpPr>
          <p:cNvPr id="234" name="모서리가 둥근 직사각형 314">
            <a:extLst>
              <a:ext uri="{FF2B5EF4-FFF2-40B4-BE49-F238E27FC236}">
                <a16:creationId xmlns:a16="http://schemas.microsoft.com/office/drawing/2014/main" xmlns="" id="{B74316B1-4B1B-5033-653C-64B5676EC364}"/>
              </a:ext>
            </a:extLst>
          </p:cNvPr>
          <p:cNvSpPr/>
          <p:nvPr/>
        </p:nvSpPr>
        <p:spPr>
          <a:xfrm>
            <a:off x="6563029" y="2952281"/>
            <a:ext cx="1120129" cy="735091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tIns="0" bIns="0" rtlCol="0" anchor="t" anchorCtr="0"/>
          <a:lstStyle/>
          <a:p>
            <a:pPr algn="ctr"/>
            <a:r>
              <a:rPr lang="en-US" altLang="ko-KR" sz="1100" b="1">
                <a:solidFill>
                  <a:schemeClr val="tx1"/>
                </a:solidFill>
                <a:latin typeface="+mn-ea"/>
              </a:rPr>
              <a:t>EHS</a:t>
            </a:r>
            <a:endParaRPr lang="ko-KR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5" name="모서리가 둥근 직사각형 315">
            <a:extLst>
              <a:ext uri="{FF2B5EF4-FFF2-40B4-BE49-F238E27FC236}">
                <a16:creationId xmlns:a16="http://schemas.microsoft.com/office/drawing/2014/main" xmlns="" id="{87685720-D4F9-82A1-5BFC-58DFED3A2383}"/>
              </a:ext>
            </a:extLst>
          </p:cNvPr>
          <p:cNvSpPr/>
          <p:nvPr/>
        </p:nvSpPr>
        <p:spPr>
          <a:xfrm>
            <a:off x="6828906" y="3148628"/>
            <a:ext cx="608165" cy="139565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환경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6" name="모서리가 둥근 직사각형 316">
            <a:extLst>
              <a:ext uri="{FF2B5EF4-FFF2-40B4-BE49-F238E27FC236}">
                <a16:creationId xmlns:a16="http://schemas.microsoft.com/office/drawing/2014/main" xmlns="" id="{775A54A2-CEE5-9E41-96C7-4E0CA77E3E9F}"/>
              </a:ext>
            </a:extLst>
          </p:cNvPr>
          <p:cNvSpPr/>
          <p:nvPr/>
        </p:nvSpPr>
        <p:spPr>
          <a:xfrm>
            <a:off x="6828906" y="3309591"/>
            <a:ext cx="608165" cy="139565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보건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7" name="모서리가 둥근 직사각형 317">
            <a:extLst>
              <a:ext uri="{FF2B5EF4-FFF2-40B4-BE49-F238E27FC236}">
                <a16:creationId xmlns:a16="http://schemas.microsoft.com/office/drawing/2014/main" xmlns="" id="{E84A44FE-C9BF-A408-8682-FFBB022EDC5C}"/>
              </a:ext>
            </a:extLst>
          </p:cNvPr>
          <p:cNvSpPr/>
          <p:nvPr/>
        </p:nvSpPr>
        <p:spPr>
          <a:xfrm>
            <a:off x="6828906" y="3460281"/>
            <a:ext cx="608165" cy="139565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안전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38" name="모서리가 둥근 직사각형 318">
            <a:extLst>
              <a:ext uri="{FF2B5EF4-FFF2-40B4-BE49-F238E27FC236}">
                <a16:creationId xmlns:a16="http://schemas.microsoft.com/office/drawing/2014/main" xmlns="" id="{D905EA21-893C-14AD-D4D4-E61A27E634AA}"/>
              </a:ext>
            </a:extLst>
          </p:cNvPr>
          <p:cNvSpPr/>
          <p:nvPr/>
        </p:nvSpPr>
        <p:spPr>
          <a:xfrm>
            <a:off x="2273882" y="3387898"/>
            <a:ext cx="826383" cy="187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rgbClr val="0000FF"/>
                </a:solidFill>
                <a:latin typeface="+mn-ea"/>
              </a:rPr>
              <a:t>물품관리</a:t>
            </a:r>
            <a:endParaRPr lang="ko-KR" altLang="en-US" sz="800" kern="0" spc="-10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39" name="모서리가 둥근 직사각형 319">
            <a:extLst>
              <a:ext uri="{FF2B5EF4-FFF2-40B4-BE49-F238E27FC236}">
                <a16:creationId xmlns:a16="http://schemas.microsoft.com/office/drawing/2014/main" xmlns="" id="{2F1E3706-634A-1B4E-A8FD-0F0B33DBAF54}"/>
              </a:ext>
            </a:extLst>
          </p:cNvPr>
          <p:cNvSpPr/>
          <p:nvPr/>
        </p:nvSpPr>
        <p:spPr>
          <a:xfrm>
            <a:off x="3219797" y="3155467"/>
            <a:ext cx="826383" cy="187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교육관리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40" name="모서리가 둥근 직사각형 320">
            <a:extLst>
              <a:ext uri="{FF2B5EF4-FFF2-40B4-BE49-F238E27FC236}">
                <a16:creationId xmlns:a16="http://schemas.microsoft.com/office/drawing/2014/main" xmlns="" id="{2B3488A0-A1DC-E9F7-5C79-7E3FCF93F1A0}"/>
              </a:ext>
            </a:extLst>
          </p:cNvPr>
          <p:cNvSpPr/>
          <p:nvPr/>
        </p:nvSpPr>
        <p:spPr>
          <a:xfrm>
            <a:off x="4165712" y="3387898"/>
            <a:ext cx="826383" cy="187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rgbClr val="0000FF"/>
                </a:solidFill>
                <a:latin typeface="+mn-ea"/>
              </a:rPr>
              <a:t>업무일지</a:t>
            </a:r>
            <a:endParaRPr lang="ko-KR" altLang="en-US" sz="800" kern="0" spc="-100" dirty="0">
              <a:solidFill>
                <a:srgbClr val="0000FF"/>
              </a:solidFill>
              <a:latin typeface="+mn-ea"/>
            </a:endParaRPr>
          </a:p>
        </p:txBody>
      </p:sp>
      <p:sp>
        <p:nvSpPr>
          <p:cNvPr id="241" name="모서리가 둥근 직사각형 321">
            <a:extLst>
              <a:ext uri="{FF2B5EF4-FFF2-40B4-BE49-F238E27FC236}">
                <a16:creationId xmlns:a16="http://schemas.microsoft.com/office/drawing/2014/main" xmlns="" id="{4499B41C-D1AD-A4D7-A9DC-E3F5B65F16C2}"/>
              </a:ext>
            </a:extLst>
          </p:cNvPr>
          <p:cNvSpPr/>
          <p:nvPr/>
        </p:nvSpPr>
        <p:spPr>
          <a:xfrm>
            <a:off x="5111626" y="3150311"/>
            <a:ext cx="826383" cy="419945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업무실적</a:t>
            </a:r>
          </a:p>
        </p:txBody>
      </p:sp>
      <p:sp>
        <p:nvSpPr>
          <p:cNvPr id="242" name="TextBox 241">
            <a:extLst>
              <a:ext uri="{FF2B5EF4-FFF2-40B4-BE49-F238E27FC236}">
                <a16:creationId xmlns:a16="http://schemas.microsoft.com/office/drawing/2014/main" xmlns="" id="{DC1945D6-7EF4-FD85-F09E-2355BAEA1F14}"/>
              </a:ext>
            </a:extLst>
          </p:cNvPr>
          <p:cNvSpPr txBox="1"/>
          <p:nvPr/>
        </p:nvSpPr>
        <p:spPr>
          <a:xfrm>
            <a:off x="2284316" y="3684409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물품수불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243" name="TextBox 242">
            <a:extLst>
              <a:ext uri="{FF2B5EF4-FFF2-40B4-BE49-F238E27FC236}">
                <a16:creationId xmlns:a16="http://schemas.microsoft.com/office/drawing/2014/main" xmlns="" id="{E7FD60C0-12C1-F502-8790-0992CAFDFF01}"/>
              </a:ext>
            </a:extLst>
          </p:cNvPr>
          <p:cNvSpPr txBox="1"/>
          <p:nvPr/>
        </p:nvSpPr>
        <p:spPr>
          <a:xfrm>
            <a:off x="3104157" y="3684128"/>
            <a:ext cx="4924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수입금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xmlns="" id="{3066DE54-4035-F05B-0C65-9BD3B4A54945}"/>
              </a:ext>
            </a:extLst>
          </p:cNvPr>
          <p:cNvSpPr txBox="1"/>
          <p:nvPr/>
        </p:nvSpPr>
        <p:spPr>
          <a:xfrm>
            <a:off x="3821406" y="3682870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근태관리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xmlns="" id="{4DD8E862-CDA8-5091-327D-9BB4D9B45438}"/>
              </a:ext>
            </a:extLst>
          </p:cNvPr>
          <p:cNvSpPr txBox="1"/>
          <p:nvPr/>
        </p:nvSpPr>
        <p:spPr>
          <a:xfrm>
            <a:off x="4641248" y="3682870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지출결의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246" name="TextBox 245">
            <a:extLst>
              <a:ext uri="{FF2B5EF4-FFF2-40B4-BE49-F238E27FC236}">
                <a16:creationId xmlns:a16="http://schemas.microsoft.com/office/drawing/2014/main" xmlns="" id="{3A0FB53B-7798-14F4-831C-5EE6F2425A67}"/>
              </a:ext>
            </a:extLst>
          </p:cNvPr>
          <p:cNvSpPr txBox="1"/>
          <p:nvPr/>
        </p:nvSpPr>
        <p:spPr>
          <a:xfrm>
            <a:off x="2304503" y="2712509"/>
            <a:ext cx="59503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휴가신청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xmlns="" id="{AC7D032C-E4A6-5C47-3749-13155E8A9833}"/>
              </a:ext>
            </a:extLst>
          </p:cNvPr>
          <p:cNvSpPr txBox="1"/>
          <p:nvPr/>
        </p:nvSpPr>
        <p:spPr>
          <a:xfrm>
            <a:off x="3556392" y="2712228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제증명신청</a:t>
            </a:r>
            <a:endParaRPr lang="ko-KR" altLang="en-US" sz="800" dirty="0" err="1">
              <a:latin typeface="+mn-ea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xmlns="" id="{65A0E031-8598-019D-FB1C-E69344B5F04E}"/>
              </a:ext>
            </a:extLst>
          </p:cNvPr>
          <p:cNvSpPr txBox="1"/>
          <p:nvPr/>
        </p:nvSpPr>
        <p:spPr>
          <a:xfrm>
            <a:off x="4608759" y="2710970"/>
            <a:ext cx="69762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>
                <a:latin typeface="+mn-ea"/>
              </a:rPr>
              <a:t>출퇴근정보</a:t>
            </a:r>
            <a:endParaRPr lang="ko-KR" altLang="en-US" sz="800" dirty="0" err="1">
              <a:latin typeface="+mn-ea"/>
            </a:endParaRPr>
          </a:p>
        </p:txBody>
      </p:sp>
      <p:pic>
        <p:nvPicPr>
          <p:cNvPr id="249" name="Picture 186" descr="arw02dn_ico_Bmp1">
            <a:extLst>
              <a:ext uri="{FF2B5EF4-FFF2-40B4-BE49-F238E27FC236}">
                <a16:creationId xmlns:a16="http://schemas.microsoft.com/office/drawing/2014/main" xmlns="" id="{C2FE4D12-2BE6-1943-B559-E1C78D5DE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3743" y="2714378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0" name="Picture 186" descr="arw02dn_ico_Bmp1">
            <a:extLst>
              <a:ext uri="{FF2B5EF4-FFF2-40B4-BE49-F238E27FC236}">
                <a16:creationId xmlns:a16="http://schemas.microsoft.com/office/drawing/2014/main" xmlns="" id="{D0976CBA-6B58-C70A-9349-EFDFEEF763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7913" y="2714378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1" name="Picture 186" descr="arw02dn_ico_Bmp1">
            <a:extLst>
              <a:ext uri="{FF2B5EF4-FFF2-40B4-BE49-F238E27FC236}">
                <a16:creationId xmlns:a16="http://schemas.microsoft.com/office/drawing/2014/main" xmlns="" id="{B9555E66-1431-76FF-E19E-49054B3B98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6025" y="2714378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2" name="Picture 186" descr="arw02dn_ico_Bmp1">
            <a:extLst>
              <a:ext uri="{FF2B5EF4-FFF2-40B4-BE49-F238E27FC236}">
                <a16:creationId xmlns:a16="http://schemas.microsoft.com/office/drawing/2014/main" xmlns="" id="{084A50F3-BE17-925D-181E-2F8E9E0DCE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088" y="3707606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3" name="Picture 186" descr="arw02dn_ico_Bmp1">
            <a:extLst>
              <a:ext uri="{FF2B5EF4-FFF2-40B4-BE49-F238E27FC236}">
                <a16:creationId xmlns:a16="http://schemas.microsoft.com/office/drawing/2014/main" xmlns="" id="{AFD83BB3-8A7D-8E0F-1132-6CBCB89EE8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450" y="3707606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4" name="Picture 186" descr="arw02dn_ico_Bmp1">
            <a:extLst>
              <a:ext uri="{FF2B5EF4-FFF2-40B4-BE49-F238E27FC236}">
                <a16:creationId xmlns:a16="http://schemas.microsoft.com/office/drawing/2014/main" xmlns="" id="{B7EA1BEA-32E3-8EC3-DE55-249B8BB0F4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8530" y="3707606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5" name="Picture 186" descr="arw02dn_ico_Bmp1">
            <a:extLst>
              <a:ext uri="{FF2B5EF4-FFF2-40B4-BE49-F238E27FC236}">
                <a16:creationId xmlns:a16="http://schemas.microsoft.com/office/drawing/2014/main" xmlns="" id="{7398B847-6959-0F1E-0E02-14F2E5E82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166" y="3707606"/>
            <a:ext cx="151061" cy="1510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" name="모서리가 둥근 직사각형 336">
            <a:extLst>
              <a:ext uri="{FF2B5EF4-FFF2-40B4-BE49-F238E27FC236}">
                <a16:creationId xmlns:a16="http://schemas.microsoft.com/office/drawing/2014/main" xmlns="" id="{7DAEE9AD-54F7-0635-51DE-03AFEC67A367}"/>
              </a:ext>
            </a:extLst>
          </p:cNvPr>
          <p:cNvSpPr/>
          <p:nvPr/>
        </p:nvSpPr>
        <p:spPr>
          <a:xfrm>
            <a:off x="4207589" y="4687230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구매관리</a:t>
            </a:r>
          </a:p>
        </p:txBody>
      </p:sp>
      <p:sp>
        <p:nvSpPr>
          <p:cNvPr id="257" name="Rectangle 43">
            <a:extLst>
              <a:ext uri="{FF2B5EF4-FFF2-40B4-BE49-F238E27FC236}">
                <a16:creationId xmlns:a16="http://schemas.microsoft.com/office/drawing/2014/main" xmlns="" id="{5BFB19AD-F661-5981-7BFA-39EAB50900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7539" y="5570016"/>
            <a:ext cx="2663651" cy="181765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인사</a:t>
            </a:r>
            <a:r>
              <a:rPr lang="en-US" altLang="ko-KR" sz="1100" b="1" kern="0">
                <a:solidFill>
                  <a:prstClr val="white"/>
                </a:solidFill>
                <a:latin typeface="+mn-ea"/>
              </a:rPr>
              <a:t>/</a:t>
            </a: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급여</a:t>
            </a:r>
            <a:endParaRPr lang="en-US" altLang="ko-KR" sz="11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8" name="Rectangle 43">
            <a:extLst>
              <a:ext uri="{FF2B5EF4-FFF2-40B4-BE49-F238E27FC236}">
                <a16:creationId xmlns:a16="http://schemas.microsoft.com/office/drawing/2014/main" xmlns="" id="{5CD431AF-EBC6-F7A7-02D4-581C589463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7540" y="5788869"/>
            <a:ext cx="2663650" cy="47495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endParaRPr lang="en-US" altLang="ko-KR" sz="14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59" name="모서리가 둥근 직사각형 342">
            <a:extLst>
              <a:ext uri="{FF2B5EF4-FFF2-40B4-BE49-F238E27FC236}">
                <a16:creationId xmlns:a16="http://schemas.microsoft.com/office/drawing/2014/main" xmlns="" id="{65AA52ED-3DA3-7680-5F77-2F912F41392D}"/>
              </a:ext>
            </a:extLst>
          </p:cNvPr>
          <p:cNvSpPr/>
          <p:nvPr/>
        </p:nvSpPr>
        <p:spPr>
          <a:xfrm>
            <a:off x="2234234" y="5941831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latin typeface="+mn-ea"/>
              </a:rPr>
              <a:t>인사관리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0" name="모서리가 둥근 직사각형 343">
            <a:extLst>
              <a:ext uri="{FF2B5EF4-FFF2-40B4-BE49-F238E27FC236}">
                <a16:creationId xmlns:a16="http://schemas.microsoft.com/office/drawing/2014/main" xmlns="" id="{C6ADDD8B-D936-30B5-B8FD-959DF3576ED0}"/>
              </a:ext>
            </a:extLst>
          </p:cNvPr>
          <p:cNvSpPr/>
          <p:nvPr/>
        </p:nvSpPr>
        <p:spPr>
          <a:xfrm>
            <a:off x="2894832" y="5941831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latin typeface="+mn-ea"/>
              </a:rPr>
              <a:t>근태</a:t>
            </a:r>
            <a:r>
              <a:rPr lang="ko-KR" altLang="en-US" sz="800" kern="0" spc="-100" dirty="0">
                <a:solidFill>
                  <a:schemeClr val="tx1"/>
                </a:solidFill>
                <a:latin typeface="+mn-ea"/>
              </a:rPr>
              <a:t>관리</a:t>
            </a:r>
          </a:p>
        </p:txBody>
      </p:sp>
      <p:sp>
        <p:nvSpPr>
          <p:cNvPr id="261" name="모서리가 둥근 직사각형 347">
            <a:extLst>
              <a:ext uri="{FF2B5EF4-FFF2-40B4-BE49-F238E27FC236}">
                <a16:creationId xmlns:a16="http://schemas.microsoft.com/office/drawing/2014/main" xmlns="" id="{F47CC438-BFBE-EB50-2E61-D5F26EA493C9}"/>
              </a:ext>
            </a:extLst>
          </p:cNvPr>
          <p:cNvSpPr/>
          <p:nvPr/>
        </p:nvSpPr>
        <p:spPr>
          <a:xfrm>
            <a:off x="3555431" y="5941831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chemeClr val="tx1"/>
                </a:solidFill>
                <a:latin typeface="+mn-ea"/>
              </a:rPr>
              <a:t>급상여관리</a:t>
            </a:r>
          </a:p>
        </p:txBody>
      </p:sp>
      <p:sp>
        <p:nvSpPr>
          <p:cNvPr id="262" name="모서리가 둥근 직사각형 349">
            <a:extLst>
              <a:ext uri="{FF2B5EF4-FFF2-40B4-BE49-F238E27FC236}">
                <a16:creationId xmlns:a16="http://schemas.microsoft.com/office/drawing/2014/main" xmlns="" id="{D75B0C0A-9C59-1458-E4D1-9CF21575643D}"/>
              </a:ext>
            </a:extLst>
          </p:cNvPr>
          <p:cNvSpPr/>
          <p:nvPr/>
        </p:nvSpPr>
        <p:spPr>
          <a:xfrm>
            <a:off x="2211947" y="5211911"/>
            <a:ext cx="2499642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일반업무 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행정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차량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보안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안전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동호회</a:t>
            </a:r>
            <a:r>
              <a:rPr lang="en-US" altLang="ko-KR" sz="800" kern="0" spc="-10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3" name="Rectangle 43">
            <a:extLst>
              <a:ext uri="{FF2B5EF4-FFF2-40B4-BE49-F238E27FC236}">
                <a16:creationId xmlns:a16="http://schemas.microsoft.com/office/drawing/2014/main" xmlns="" id="{D210C592-728E-844D-76DF-F16F20D07D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5653" y="5570016"/>
            <a:ext cx="2663651" cy="181765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지속가능경영</a:t>
            </a:r>
            <a:endParaRPr lang="en-US" altLang="ko-KR" sz="11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64" name="Rectangle 43">
            <a:extLst>
              <a:ext uri="{FF2B5EF4-FFF2-40B4-BE49-F238E27FC236}">
                <a16:creationId xmlns:a16="http://schemas.microsoft.com/office/drawing/2014/main" xmlns="" id="{01B24B2E-8B40-F482-524D-3F77986DB6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5654" y="5788870"/>
            <a:ext cx="2663650" cy="47926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endParaRPr lang="en-US" altLang="ko-KR" sz="14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65" name="모서리가 둥근 직사각형 357">
            <a:extLst>
              <a:ext uri="{FF2B5EF4-FFF2-40B4-BE49-F238E27FC236}">
                <a16:creationId xmlns:a16="http://schemas.microsoft.com/office/drawing/2014/main" xmlns="" id="{BF23A7F8-E548-B7DD-CFFF-F132ED123802}"/>
              </a:ext>
            </a:extLst>
          </p:cNvPr>
          <p:cNvSpPr/>
          <p:nvPr/>
        </p:nvSpPr>
        <p:spPr>
          <a:xfrm>
            <a:off x="5160863" y="5958660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chemeClr val="tx1"/>
                </a:solidFill>
                <a:latin typeface="+mn-ea"/>
              </a:rPr>
              <a:t>규정관리</a:t>
            </a:r>
          </a:p>
        </p:txBody>
      </p:sp>
      <p:sp>
        <p:nvSpPr>
          <p:cNvPr id="266" name="모서리가 둥근 직사각형 358">
            <a:extLst>
              <a:ext uri="{FF2B5EF4-FFF2-40B4-BE49-F238E27FC236}">
                <a16:creationId xmlns:a16="http://schemas.microsoft.com/office/drawing/2014/main" xmlns="" id="{0F1F2606-C8EF-CDCD-12D2-39EA75C57E88}"/>
              </a:ext>
            </a:extLst>
          </p:cNvPr>
          <p:cNvSpPr/>
          <p:nvPr/>
        </p:nvSpPr>
        <p:spPr>
          <a:xfrm>
            <a:off x="4202566" y="5941831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chemeClr val="tx1"/>
                </a:solidFill>
                <a:latin typeface="+mn-ea"/>
              </a:rPr>
              <a:t>총무관리</a:t>
            </a:r>
          </a:p>
        </p:txBody>
      </p:sp>
      <p:sp>
        <p:nvSpPr>
          <p:cNvPr id="267" name="모서리가 둥근 직사각형 359">
            <a:extLst>
              <a:ext uri="{FF2B5EF4-FFF2-40B4-BE49-F238E27FC236}">
                <a16:creationId xmlns:a16="http://schemas.microsoft.com/office/drawing/2014/main" xmlns="" id="{384D3C1B-FA5E-3332-518E-7491AFECA76E}"/>
              </a:ext>
            </a:extLst>
          </p:cNvPr>
          <p:cNvSpPr/>
          <p:nvPr/>
        </p:nvSpPr>
        <p:spPr>
          <a:xfrm>
            <a:off x="7146460" y="5958660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사회가치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8" name="모서리가 둥근 직사각형 361">
            <a:extLst>
              <a:ext uri="{FF2B5EF4-FFF2-40B4-BE49-F238E27FC236}">
                <a16:creationId xmlns:a16="http://schemas.microsoft.com/office/drawing/2014/main" xmlns="" id="{3DCBE3B5-04CF-624C-C62B-C3A143DDFE28}"/>
              </a:ext>
            </a:extLst>
          </p:cNvPr>
          <p:cNvSpPr/>
          <p:nvPr/>
        </p:nvSpPr>
        <p:spPr>
          <a:xfrm>
            <a:off x="6484595" y="5958660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>
                <a:solidFill>
                  <a:schemeClr val="tx1"/>
                </a:solidFill>
                <a:latin typeface="+mn-ea"/>
              </a:rPr>
              <a:t>국감관리</a:t>
            </a:r>
            <a:endParaRPr lang="ko-KR" altLang="en-US" sz="800" kern="0" spc="-1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69" name="모서리가 둥근 직사각형 362">
            <a:extLst>
              <a:ext uri="{FF2B5EF4-FFF2-40B4-BE49-F238E27FC236}">
                <a16:creationId xmlns:a16="http://schemas.microsoft.com/office/drawing/2014/main" xmlns="" id="{DC5ECFF8-A187-2C99-EB20-876B6823C630}"/>
              </a:ext>
            </a:extLst>
          </p:cNvPr>
          <p:cNvSpPr/>
          <p:nvPr/>
        </p:nvSpPr>
        <p:spPr>
          <a:xfrm>
            <a:off x="5822729" y="5958660"/>
            <a:ext cx="504000" cy="190168"/>
          </a:xfrm>
          <a:prstGeom prst="roundRect">
            <a:avLst/>
          </a:prstGeom>
          <a:solidFill>
            <a:srgbClr val="E5F1FF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chemeClr val="tx1"/>
                </a:solidFill>
                <a:latin typeface="+mn-ea"/>
              </a:rPr>
              <a:t>공시관리</a:t>
            </a:r>
          </a:p>
        </p:txBody>
      </p:sp>
      <p:sp>
        <p:nvSpPr>
          <p:cNvPr id="270" name="Rectangle 43">
            <a:extLst>
              <a:ext uri="{FF2B5EF4-FFF2-40B4-BE49-F238E27FC236}">
                <a16:creationId xmlns:a16="http://schemas.microsoft.com/office/drawing/2014/main" xmlns="" id="{4B2FB3BC-CE83-64F4-5E62-539158963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0904" y="4271072"/>
            <a:ext cx="2663651" cy="181765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>
                <a:solidFill>
                  <a:prstClr val="white"/>
                </a:solidFill>
                <a:latin typeface="+mn-ea"/>
              </a:rPr>
              <a:t>사업관리</a:t>
            </a:r>
            <a:endParaRPr lang="en-US" altLang="ko-KR" sz="11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71" name="Rectangle 43">
            <a:extLst>
              <a:ext uri="{FF2B5EF4-FFF2-40B4-BE49-F238E27FC236}">
                <a16:creationId xmlns:a16="http://schemas.microsoft.com/office/drawing/2014/main" xmlns="" id="{E31C7AAB-268F-62BD-9712-E4EC3AA5AE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19507" y="4469559"/>
            <a:ext cx="2663650" cy="1039171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endParaRPr lang="en-US" altLang="ko-KR" sz="14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272" name="모서리가 둥근 직사각형 366">
            <a:extLst>
              <a:ext uri="{FF2B5EF4-FFF2-40B4-BE49-F238E27FC236}">
                <a16:creationId xmlns:a16="http://schemas.microsoft.com/office/drawing/2014/main" xmlns="" id="{CE9F335A-0B69-677D-5350-5505AEA4D89A}"/>
              </a:ext>
            </a:extLst>
          </p:cNvPr>
          <p:cNvSpPr/>
          <p:nvPr/>
        </p:nvSpPr>
        <p:spPr>
          <a:xfrm>
            <a:off x="5432060" y="4678992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기준관리</a:t>
            </a:r>
          </a:p>
        </p:txBody>
      </p:sp>
      <p:sp>
        <p:nvSpPr>
          <p:cNvPr id="273" name="모서리가 둥근 직사각형 367">
            <a:extLst>
              <a:ext uri="{FF2B5EF4-FFF2-40B4-BE49-F238E27FC236}">
                <a16:creationId xmlns:a16="http://schemas.microsoft.com/office/drawing/2014/main" xmlns="" id="{6DB33A85-9F2B-247E-0C32-7E8A6984AAF0}"/>
              </a:ext>
            </a:extLst>
          </p:cNvPr>
          <p:cNvSpPr/>
          <p:nvPr/>
        </p:nvSpPr>
        <p:spPr>
          <a:xfrm>
            <a:off x="6092658" y="4678992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사업실적</a:t>
            </a:r>
          </a:p>
        </p:txBody>
      </p:sp>
      <p:sp>
        <p:nvSpPr>
          <p:cNvPr id="274" name="모서리가 둥근 직사각형 368">
            <a:extLst>
              <a:ext uri="{FF2B5EF4-FFF2-40B4-BE49-F238E27FC236}">
                <a16:creationId xmlns:a16="http://schemas.microsoft.com/office/drawing/2014/main" xmlns="" id="{544C6308-35F5-0814-F6DC-A9FFB9A3D5C2}"/>
              </a:ext>
            </a:extLst>
          </p:cNvPr>
          <p:cNvSpPr/>
          <p:nvPr/>
        </p:nvSpPr>
        <p:spPr>
          <a:xfrm>
            <a:off x="6753256" y="4678992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사업이력</a:t>
            </a:r>
          </a:p>
        </p:txBody>
      </p:sp>
      <p:sp>
        <p:nvSpPr>
          <p:cNvPr id="275" name="모서리가 둥근 직사각형 369">
            <a:extLst>
              <a:ext uri="{FF2B5EF4-FFF2-40B4-BE49-F238E27FC236}">
                <a16:creationId xmlns:a16="http://schemas.microsoft.com/office/drawing/2014/main" xmlns="" id="{BFDDE91A-9C1E-0019-29F6-D6EAC9A5218E}"/>
              </a:ext>
            </a:extLst>
          </p:cNvPr>
          <p:cNvSpPr/>
          <p:nvPr/>
        </p:nvSpPr>
        <p:spPr>
          <a:xfrm>
            <a:off x="6750160" y="5024106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업면허관리</a:t>
            </a:r>
          </a:p>
        </p:txBody>
      </p:sp>
      <p:sp>
        <p:nvSpPr>
          <p:cNvPr id="276" name="모서리가 둥근 직사각형 370">
            <a:extLst>
              <a:ext uri="{FF2B5EF4-FFF2-40B4-BE49-F238E27FC236}">
                <a16:creationId xmlns:a16="http://schemas.microsoft.com/office/drawing/2014/main" xmlns="" id="{F967A586-71B9-B452-2269-E25EC5182589}"/>
              </a:ext>
            </a:extLst>
          </p:cNvPr>
          <p:cNvSpPr/>
          <p:nvPr/>
        </p:nvSpPr>
        <p:spPr>
          <a:xfrm>
            <a:off x="5441113" y="5039032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차량청소</a:t>
            </a:r>
          </a:p>
        </p:txBody>
      </p:sp>
      <p:sp>
        <p:nvSpPr>
          <p:cNvPr id="277" name="모서리가 둥근 직사각형 371">
            <a:extLst>
              <a:ext uri="{FF2B5EF4-FFF2-40B4-BE49-F238E27FC236}">
                <a16:creationId xmlns:a16="http://schemas.microsoft.com/office/drawing/2014/main" xmlns="" id="{D03A0859-7C03-9ED7-B015-BEDE4D0E4BFE}"/>
              </a:ext>
            </a:extLst>
          </p:cNvPr>
          <p:cNvSpPr/>
          <p:nvPr/>
        </p:nvSpPr>
        <p:spPr>
          <a:xfrm>
            <a:off x="6101711" y="5039032"/>
            <a:ext cx="504000" cy="190168"/>
          </a:xfrm>
          <a:prstGeom prst="roundRect">
            <a:avLst/>
          </a:prstGeom>
          <a:solidFill>
            <a:srgbClr val="CCFFCC"/>
          </a:solidFill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</a:pPr>
            <a:r>
              <a:rPr lang="ko-KR" altLang="en-US" sz="800" kern="0" spc="-100" dirty="0">
                <a:solidFill>
                  <a:srgbClr val="0000FF"/>
                </a:solidFill>
                <a:latin typeface="+mn-ea"/>
              </a:rPr>
              <a:t>비품작업</a:t>
            </a:r>
          </a:p>
        </p:txBody>
      </p:sp>
      <p:pic>
        <p:nvPicPr>
          <p:cNvPr id="278" name="Picture 143" descr="arrow_4area">
            <a:extLst>
              <a:ext uri="{FF2B5EF4-FFF2-40B4-BE49-F238E27FC236}">
                <a16:creationId xmlns:a16="http://schemas.microsoft.com/office/drawing/2014/main" xmlns="" id="{5FF737DC-A313-E786-0787-B6FAA7BC4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41"/>
          <a:stretch>
            <a:fillRect/>
          </a:stretch>
        </p:blipFill>
        <p:spPr bwMode="auto">
          <a:xfrm>
            <a:off x="1316336" y="4223138"/>
            <a:ext cx="468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9" name="Picture 143" descr="arrow_4area">
            <a:extLst>
              <a:ext uri="{FF2B5EF4-FFF2-40B4-BE49-F238E27FC236}">
                <a16:creationId xmlns:a16="http://schemas.microsoft.com/office/drawing/2014/main" xmlns="" id="{EF11B298-0E40-0894-8A6A-2092E79EA9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9041"/>
          <a:stretch>
            <a:fillRect/>
          </a:stretch>
        </p:blipFill>
        <p:spPr bwMode="auto">
          <a:xfrm rot="10800000">
            <a:off x="1316336" y="4511517"/>
            <a:ext cx="468312" cy="23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8" name="Object 200">
            <a:extLst>
              <a:ext uri="{FF2B5EF4-FFF2-40B4-BE49-F238E27FC236}">
                <a16:creationId xmlns:a16="http://schemas.microsoft.com/office/drawing/2014/main" xmlns="" id="{42E66646-ADA2-1BF7-DC3B-DEC03ADA296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649772" y="5802894"/>
          <a:ext cx="277109" cy="218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4" name="클립" r:id="rId18" imgW="5600700" imgH="3589338" progId="MS_ClipArt_Gallery.2">
                  <p:embed/>
                </p:oleObj>
              </mc:Choice>
              <mc:Fallback>
                <p:oleObj name="클립" r:id="rId18" imgW="5600700" imgH="3589338" progId="MS_ClipArt_Gallery.2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772" y="5802894"/>
                        <a:ext cx="277109" cy="21839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" name="꺾인 연결선 14"/>
          <p:cNvCxnSpPr>
            <a:endCxn id="8" idx="1"/>
          </p:cNvCxnSpPr>
          <p:nvPr/>
        </p:nvCxnSpPr>
        <p:spPr>
          <a:xfrm flipV="1">
            <a:off x="871857" y="4991406"/>
            <a:ext cx="1268083" cy="967254"/>
          </a:xfrm>
          <a:prstGeom prst="bentConnector3">
            <a:avLst/>
          </a:prstGeom>
          <a:ln w="38100">
            <a:solidFill>
              <a:schemeClr val="tx2">
                <a:lumMod val="60000"/>
                <a:lumOff val="4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" name="Picture 203" descr="comp10"/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048" y="4742721"/>
            <a:ext cx="592622" cy="5926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1446055" y="5219834"/>
            <a:ext cx="463588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b="1" smtClean="0"/>
              <a:t>RPA</a:t>
            </a:r>
            <a:endParaRPr lang="ko-KR" altLang="en-US" sz="1050" b="1" dirty="0" err="1" smtClean="0"/>
          </a:p>
        </p:txBody>
      </p:sp>
    </p:spTree>
    <p:extLst>
      <p:ext uri="{BB962C8B-B14F-4D97-AF65-F5344CB8AC3E}">
        <p14:creationId xmlns:p14="http://schemas.microsoft.com/office/powerpoint/2010/main" val="2002750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677000" y="1675837"/>
            <a:ext cx="24842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vl="0" algn="ctr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spc="-300" smtClean="0">
                <a:solidFill>
                  <a:srgbClr val="00437A"/>
                </a:solidFill>
                <a:latin typeface="+mn-ea"/>
              </a:rPr>
              <a:t>Ⅲ. </a:t>
            </a:r>
            <a:r>
              <a:rPr lang="ko-KR" altLang="en-US" sz="2400" b="1" spc="-300" smtClean="0">
                <a:solidFill>
                  <a:srgbClr val="00437A"/>
                </a:solidFill>
                <a:latin typeface="+mn-ea"/>
              </a:rPr>
              <a:t>목표모델 설계</a:t>
            </a:r>
            <a:endParaRPr lang="en-US" altLang="ko-KR" sz="2400" b="1" spc="-300" dirty="0">
              <a:solidFill>
                <a:srgbClr val="00437A"/>
              </a:solidFill>
              <a:latin typeface="+mn-ea"/>
            </a:endParaRPr>
          </a:p>
        </p:txBody>
      </p:sp>
      <p:sp>
        <p:nvSpPr>
          <p:cNvPr id="8" name="텍스트 개체 틀 4"/>
          <p:cNvSpPr>
            <a:spLocks noGrp="1"/>
          </p:cNvSpPr>
          <p:nvPr>
            <p:ph idx="1"/>
          </p:nvPr>
        </p:nvSpPr>
        <p:spPr>
          <a:xfrm>
            <a:off x="916360" y="1292388"/>
            <a:ext cx="5760640" cy="4525963"/>
          </a:xfr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smtClean="0"/>
              <a:t>목표모델 </a:t>
            </a:r>
            <a:r>
              <a:rPr lang="ko-KR" altLang="en-US" dirty="0"/>
              <a:t>개선과제 정의</a:t>
            </a:r>
            <a:endParaRPr lang="en-US" altLang="ko-KR" dirty="0"/>
          </a:p>
          <a:p>
            <a:pPr marL="457200" lvl="1" indent="0">
              <a:buNone/>
            </a:pPr>
            <a:r>
              <a:rPr lang="en-US" altLang="ko-KR" sz="1600" smtClean="0">
                <a:solidFill>
                  <a:srgbClr val="00437A"/>
                </a:solidFill>
              </a:rPr>
              <a:t>1.1 </a:t>
            </a:r>
            <a:r>
              <a:rPr lang="ko-KR" altLang="en-US" sz="1600" smtClean="0">
                <a:solidFill>
                  <a:srgbClr val="00437A"/>
                </a:solidFill>
              </a:rPr>
              <a:t>기준정보 체계 </a:t>
            </a:r>
            <a:r>
              <a:rPr lang="ko-KR" altLang="en-US" sz="1600" dirty="0">
                <a:solidFill>
                  <a:srgbClr val="00437A"/>
                </a:solidFill>
              </a:rPr>
              <a:t>마련</a:t>
            </a:r>
            <a:endParaRPr lang="en-US" altLang="ko-KR" sz="1600" dirty="0">
              <a:solidFill>
                <a:srgbClr val="00437A"/>
              </a:solidFill>
            </a:endParaRPr>
          </a:p>
          <a:p>
            <a:pPr marL="457200" lvl="1" indent="0">
              <a:buNone/>
            </a:pPr>
            <a:r>
              <a:rPr lang="en-US" altLang="ko-KR" sz="1600" smtClean="0">
                <a:solidFill>
                  <a:srgbClr val="00437A"/>
                </a:solidFill>
              </a:rPr>
              <a:t>1.2 </a:t>
            </a:r>
            <a:r>
              <a:rPr lang="ko-KR" altLang="en-US" sz="1600" smtClean="0">
                <a:solidFill>
                  <a:srgbClr val="00437A"/>
                </a:solidFill>
              </a:rPr>
              <a:t>예산관리 개선 </a:t>
            </a:r>
            <a:r>
              <a:rPr lang="ko-KR" altLang="en-US" sz="1600">
                <a:solidFill>
                  <a:srgbClr val="00437A"/>
                </a:solidFill>
              </a:rPr>
              <a:t>및 </a:t>
            </a:r>
            <a:r>
              <a:rPr lang="ko-KR" altLang="en-US" sz="1600" smtClean="0">
                <a:solidFill>
                  <a:srgbClr val="00437A"/>
                </a:solidFill>
              </a:rPr>
              <a:t>업무 효율화</a:t>
            </a:r>
            <a:endParaRPr lang="en-US" altLang="ko-KR" sz="1600" smtClean="0">
              <a:solidFill>
                <a:srgbClr val="00437A"/>
              </a:solidFill>
            </a:endParaRPr>
          </a:p>
          <a:p>
            <a:pPr marL="457200" lvl="1" indent="0">
              <a:buNone/>
            </a:pPr>
            <a:r>
              <a:rPr lang="en-US" altLang="ko-KR" sz="1600" smtClean="0">
                <a:solidFill>
                  <a:srgbClr val="00437A"/>
                </a:solidFill>
              </a:rPr>
              <a:t>1.3 </a:t>
            </a:r>
            <a:r>
              <a:rPr lang="ko-KR" altLang="en-US" sz="1600" smtClean="0">
                <a:solidFill>
                  <a:srgbClr val="00437A"/>
                </a:solidFill>
              </a:rPr>
              <a:t>회계관리 </a:t>
            </a:r>
            <a:r>
              <a:rPr lang="ko-KR" altLang="en-US" sz="1600">
                <a:solidFill>
                  <a:srgbClr val="00437A"/>
                </a:solidFill>
              </a:rPr>
              <a:t>개선 및 업무 </a:t>
            </a:r>
            <a:r>
              <a:rPr lang="ko-KR" altLang="en-US" sz="1600" smtClean="0">
                <a:solidFill>
                  <a:srgbClr val="00437A"/>
                </a:solidFill>
              </a:rPr>
              <a:t>효율화</a:t>
            </a:r>
            <a:endParaRPr lang="en-US" altLang="ko-KR" sz="1600">
              <a:solidFill>
                <a:srgbClr val="00437A"/>
              </a:solidFill>
            </a:endParaRPr>
          </a:p>
          <a:p>
            <a:pPr marL="457200" lvl="1" indent="0">
              <a:buNone/>
            </a:pPr>
            <a:r>
              <a:rPr lang="en-US" altLang="ko-KR" sz="1600" smtClean="0">
                <a:solidFill>
                  <a:srgbClr val="00437A"/>
                </a:solidFill>
              </a:rPr>
              <a:t>1.4 </a:t>
            </a:r>
            <a:r>
              <a:rPr lang="ko-KR" altLang="en-US" sz="1600" smtClean="0">
                <a:solidFill>
                  <a:srgbClr val="00437A"/>
                </a:solidFill>
              </a:rPr>
              <a:t>구매관리 개선 및 </a:t>
            </a:r>
            <a:r>
              <a:rPr lang="ko-KR" altLang="en-US" sz="1600">
                <a:solidFill>
                  <a:srgbClr val="00437A"/>
                </a:solidFill>
              </a:rPr>
              <a:t>업무 효율화</a:t>
            </a:r>
            <a:endParaRPr lang="en-US" altLang="ko-KR" sz="1600">
              <a:solidFill>
                <a:srgbClr val="00437A"/>
              </a:solidFill>
            </a:endParaRPr>
          </a:p>
          <a:p>
            <a:pPr marL="457200" lvl="1" indent="0">
              <a:buNone/>
            </a:pPr>
            <a:r>
              <a:rPr lang="en-US" altLang="ko-KR" sz="1600" smtClean="0">
                <a:solidFill>
                  <a:srgbClr val="00437A"/>
                </a:solidFill>
              </a:rPr>
              <a:t>1.5 </a:t>
            </a:r>
            <a:r>
              <a:rPr lang="ko-KR" altLang="en-US" sz="1600" smtClean="0">
                <a:solidFill>
                  <a:srgbClr val="00437A"/>
                </a:solidFill>
              </a:rPr>
              <a:t>자산관리 개선 및 업무 </a:t>
            </a:r>
            <a:r>
              <a:rPr lang="ko-KR" altLang="en-US" sz="1600">
                <a:solidFill>
                  <a:srgbClr val="00437A"/>
                </a:solidFill>
              </a:rPr>
              <a:t>효율화</a:t>
            </a:r>
            <a:endParaRPr lang="en-US" altLang="ko-KR" sz="1600">
              <a:solidFill>
                <a:srgbClr val="00437A"/>
              </a:solidFill>
            </a:endParaRPr>
          </a:p>
          <a:p>
            <a:pPr marL="457200" lvl="1" indent="0">
              <a:buNone/>
            </a:pPr>
            <a:r>
              <a:rPr lang="en-US" altLang="ko-KR" sz="1600" smtClean="0">
                <a:solidFill>
                  <a:srgbClr val="00437A"/>
                </a:solidFill>
              </a:rPr>
              <a:t>1.6 </a:t>
            </a:r>
            <a:r>
              <a:rPr lang="ko-KR" altLang="en-US" sz="1600" smtClean="0">
                <a:solidFill>
                  <a:srgbClr val="00437A"/>
                </a:solidFill>
              </a:rPr>
              <a:t>사업관리 개선 및 업무 </a:t>
            </a:r>
            <a:r>
              <a:rPr lang="ko-KR" altLang="en-US" sz="1600">
                <a:solidFill>
                  <a:srgbClr val="00437A"/>
                </a:solidFill>
              </a:rPr>
              <a:t>효율화</a:t>
            </a:r>
            <a:endParaRPr lang="en-US" altLang="ko-KR" sz="1600">
              <a:solidFill>
                <a:srgbClr val="00437A"/>
              </a:solidFill>
            </a:endParaRPr>
          </a:p>
          <a:p>
            <a:pPr marL="457200" lvl="1" indent="0">
              <a:buNone/>
            </a:pPr>
            <a:r>
              <a:rPr lang="en-US" altLang="ko-KR" sz="1600" smtClean="0">
                <a:solidFill>
                  <a:srgbClr val="00437A"/>
                </a:solidFill>
              </a:rPr>
              <a:t>1.7 </a:t>
            </a:r>
            <a:r>
              <a:rPr lang="ko-KR" altLang="en-US" sz="1600" smtClean="0">
                <a:solidFill>
                  <a:srgbClr val="00437A"/>
                </a:solidFill>
              </a:rPr>
              <a:t>응용 아키텍쳐</a:t>
            </a:r>
            <a:r>
              <a:rPr lang="en-US" altLang="ko-KR" sz="1600" smtClean="0">
                <a:solidFill>
                  <a:srgbClr val="00437A"/>
                </a:solidFill>
              </a:rPr>
              <a:t>(</a:t>
            </a:r>
            <a:r>
              <a:rPr lang="en-US" altLang="ko-KR" sz="1600">
                <a:solidFill>
                  <a:srgbClr val="00437A"/>
                </a:solidFill>
              </a:rPr>
              <a:t>AA</a:t>
            </a:r>
            <a:r>
              <a:rPr lang="en-US" altLang="ko-KR" sz="1600" smtClean="0">
                <a:solidFill>
                  <a:srgbClr val="00437A"/>
                </a:solidFill>
              </a:rPr>
              <a:t>) </a:t>
            </a:r>
            <a:r>
              <a:rPr lang="ko-KR" altLang="en-US" sz="1600" smtClean="0">
                <a:solidFill>
                  <a:srgbClr val="00437A"/>
                </a:solidFill>
              </a:rPr>
              <a:t>표준</a:t>
            </a:r>
            <a:endParaRPr lang="en-US" altLang="ko-KR" sz="1600">
              <a:solidFill>
                <a:srgbClr val="00437A"/>
              </a:solidFill>
            </a:endParaRPr>
          </a:p>
          <a:p>
            <a:pPr marL="457200" lvl="1" indent="0">
              <a:buNone/>
            </a:pPr>
            <a:r>
              <a:rPr lang="en-US" altLang="ko-KR" sz="1600" smtClean="0">
                <a:solidFill>
                  <a:srgbClr val="00437A"/>
                </a:solidFill>
              </a:rPr>
              <a:t>1.8 </a:t>
            </a:r>
            <a:r>
              <a:rPr lang="ko-KR" altLang="en-US" sz="1600">
                <a:solidFill>
                  <a:srgbClr val="00437A"/>
                </a:solidFill>
              </a:rPr>
              <a:t>데이터</a:t>
            </a:r>
            <a:r>
              <a:rPr lang="en-US" altLang="ko-KR" sz="1600">
                <a:solidFill>
                  <a:srgbClr val="00437A"/>
                </a:solidFill>
              </a:rPr>
              <a:t> </a:t>
            </a:r>
            <a:r>
              <a:rPr lang="ko-KR" altLang="en-US" sz="1600">
                <a:solidFill>
                  <a:srgbClr val="00437A"/>
                </a:solidFill>
              </a:rPr>
              <a:t>아키텍쳐</a:t>
            </a:r>
            <a:r>
              <a:rPr lang="en-US" altLang="ko-KR" sz="1600">
                <a:solidFill>
                  <a:srgbClr val="00437A"/>
                </a:solidFill>
              </a:rPr>
              <a:t>(DA</a:t>
            </a:r>
            <a:r>
              <a:rPr lang="en-US" altLang="ko-KR" sz="1600" smtClean="0">
                <a:solidFill>
                  <a:srgbClr val="00437A"/>
                </a:solidFill>
              </a:rPr>
              <a:t>) </a:t>
            </a:r>
            <a:r>
              <a:rPr lang="ko-KR" altLang="en-US" sz="1600" smtClean="0">
                <a:solidFill>
                  <a:srgbClr val="00437A"/>
                </a:solidFill>
              </a:rPr>
              <a:t>표준</a:t>
            </a:r>
            <a:endParaRPr lang="en-US" altLang="ko-KR" sz="1600">
              <a:solidFill>
                <a:srgbClr val="00437A"/>
              </a:solidFill>
            </a:endParaRPr>
          </a:p>
          <a:p>
            <a:pPr marL="457200" lvl="1" indent="0">
              <a:buNone/>
            </a:pPr>
            <a:r>
              <a:rPr lang="en-US" altLang="ko-KR" sz="1600" smtClean="0">
                <a:solidFill>
                  <a:srgbClr val="00437A"/>
                </a:solidFill>
              </a:rPr>
              <a:t>1.9 </a:t>
            </a:r>
            <a:r>
              <a:rPr lang="ko-KR" altLang="en-US" sz="1600">
                <a:solidFill>
                  <a:srgbClr val="00437A"/>
                </a:solidFill>
              </a:rPr>
              <a:t>데이터</a:t>
            </a:r>
            <a:r>
              <a:rPr lang="en-US" altLang="ko-KR" sz="1600">
                <a:solidFill>
                  <a:srgbClr val="00437A"/>
                </a:solidFill>
              </a:rPr>
              <a:t> </a:t>
            </a:r>
            <a:r>
              <a:rPr lang="ko-KR" altLang="en-US" sz="1600" smtClean="0">
                <a:solidFill>
                  <a:srgbClr val="00437A"/>
                </a:solidFill>
              </a:rPr>
              <a:t>관리체계 표준화 방안 수립</a:t>
            </a:r>
            <a:r>
              <a:rPr lang="en-US" altLang="ko-KR" sz="1600" smtClean="0">
                <a:solidFill>
                  <a:srgbClr val="00437A"/>
                </a:solidFill>
              </a:rPr>
              <a:t> </a:t>
            </a:r>
            <a:endParaRPr lang="en-US" altLang="ko-KR" sz="1600">
              <a:solidFill>
                <a:srgbClr val="00437A"/>
              </a:solidFill>
            </a:endParaRPr>
          </a:p>
          <a:p>
            <a:pPr>
              <a:lnSpc>
                <a:spcPct val="100000"/>
              </a:lnSpc>
              <a:buAutoNum type="arabicPeriod"/>
            </a:pPr>
            <a:r>
              <a:rPr lang="ko-KR" altLang="en-US" smtClean="0">
                <a:solidFill>
                  <a:schemeClr val="bg1">
                    <a:lumMod val="65000"/>
                  </a:schemeClr>
                </a:solidFill>
              </a:rPr>
              <a:t>목표 업무프로세스 설계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80817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="" xmlns:a16="http://schemas.microsoft.com/office/drawing/2014/main" id="{C48F1281-2FAE-4B96-9A70-44A2551C8C9E}"/>
              </a:ext>
            </a:extLst>
          </p:cNvPr>
          <p:cNvGrpSpPr/>
          <p:nvPr/>
        </p:nvGrpSpPr>
        <p:grpSpPr>
          <a:xfrm>
            <a:off x="347847" y="1650531"/>
            <a:ext cx="9177153" cy="4715929"/>
            <a:chOff x="350833" y="1650531"/>
            <a:chExt cx="9177153" cy="4715929"/>
          </a:xfrm>
        </p:grpSpPr>
        <p:sp>
          <p:nvSpPr>
            <p:cNvPr id="193" name="직사각형 192">
              <a:extLst>
                <a:ext uri="{FF2B5EF4-FFF2-40B4-BE49-F238E27FC236}">
                  <a16:creationId xmlns="" xmlns:a16="http://schemas.microsoft.com/office/drawing/2014/main" id="{B9CCFF9F-D826-4F53-A031-AAA0CDD8979D}"/>
                </a:ext>
              </a:extLst>
            </p:cNvPr>
            <p:cNvSpPr/>
            <p:nvPr/>
          </p:nvSpPr>
          <p:spPr bwMode="auto">
            <a:xfrm>
              <a:off x="350833" y="1650531"/>
              <a:ext cx="9174167" cy="324000"/>
            </a:xfrm>
            <a:prstGeom prst="rect">
              <a:avLst/>
            </a:prstGeom>
            <a:solidFill>
              <a:srgbClr val="233C5A"/>
            </a:solidFill>
            <a:ln w="12699">
              <a:solidFill>
                <a:srgbClr val="000000">
                  <a:lumMod val="50000"/>
                  <a:lumOff val="50000"/>
                </a:srgbClr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72000" tIns="72000" rIns="72000" bIns="7200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맑은 고딕" pitchFamily="50" charset="-127"/>
                  <a:ea typeface="맑은 고딕" pitchFamily="50" charset="-127"/>
                </a:rPr>
                <a:t>통합 가능한 기준정보 도출</a:t>
              </a:r>
              <a:r>
                <a:rPr lang="ko-KR" altLang="en-US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방안</a:t>
              </a:r>
              <a:endParaRPr kumimoji="0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94" name="Rectangle 4">
              <a:extLst>
                <a:ext uri="{FF2B5EF4-FFF2-40B4-BE49-F238E27FC236}">
                  <a16:creationId xmlns="" xmlns:a16="http://schemas.microsoft.com/office/drawing/2014/main" id="{EE7531E9-E1A0-4046-9870-699013DB9E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19" y="1974531"/>
              <a:ext cx="9174167" cy="4391929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round/>
              <a:headEnd type="none" w="med" len="med"/>
              <a:tailEnd type="none" w="sm" len="sm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80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265113" marR="0" lvl="0" indent="-265113" defTabSz="914400" eaLnBrk="0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ct val="0"/>
                </a:spcAft>
                <a:buClr>
                  <a:prstClr val="black"/>
                </a:buClr>
                <a:buSzTx/>
                <a:buFont typeface="Wingdings" pitchFamily="2" charset="2"/>
                <a:buChar char="q"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5" name="직사각형 4"/>
          <p:cNvSpPr/>
          <p:nvPr/>
        </p:nvSpPr>
        <p:spPr>
          <a:xfrm>
            <a:off x="526357" y="2219811"/>
            <a:ext cx="3491552" cy="3891776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latinLnBrk="0"/>
            <a:r>
              <a:rPr lang="ko-KR" altLang="en-US" sz="1600" smtClean="0"/>
              <a:t>예산관리</a:t>
            </a:r>
            <a:r>
              <a:rPr lang="en-US" altLang="ko-KR" sz="1600" smtClean="0"/>
              <a:t>, </a:t>
            </a:r>
            <a:r>
              <a:rPr lang="ko-KR" altLang="en-US" sz="1600" smtClean="0"/>
              <a:t>회계관리</a:t>
            </a:r>
            <a:r>
              <a:rPr lang="en-US" altLang="ko-KR" sz="1600" smtClean="0"/>
              <a:t>, </a:t>
            </a:r>
            <a:r>
              <a:rPr lang="ko-KR" altLang="en-US" sz="1600" smtClean="0"/>
              <a:t>자산관리</a:t>
            </a:r>
            <a:r>
              <a:rPr lang="en-US" altLang="ko-KR" sz="1600" smtClean="0"/>
              <a:t>, </a:t>
            </a:r>
            <a:r>
              <a:rPr lang="ko-KR" altLang="en-US" sz="1600" smtClean="0"/>
              <a:t>구매관리</a:t>
            </a:r>
            <a:r>
              <a:rPr lang="en-US" altLang="ko-KR" sz="1600" smtClean="0"/>
              <a:t>, </a:t>
            </a:r>
            <a:r>
              <a:rPr lang="ko-KR" altLang="en-US" sz="1600" smtClean="0"/>
              <a:t>사업관리 시스템 운영에 필요한 각종 기준정보를 통합관리하고</a:t>
            </a:r>
            <a:r>
              <a:rPr lang="en-US" altLang="ko-KR" sz="1600" smtClean="0"/>
              <a:t>, </a:t>
            </a:r>
            <a:r>
              <a:rPr lang="ko-KR" altLang="en-US" sz="1600" smtClean="0"/>
              <a:t>업무별 기준자료의 관리항목을 추가하여 업무처리를 용이하게 하며</a:t>
            </a:r>
            <a:r>
              <a:rPr lang="en-US" altLang="ko-KR" sz="1600" smtClean="0"/>
              <a:t>, </a:t>
            </a:r>
            <a:r>
              <a:rPr lang="ko-KR" altLang="en-US" sz="1600" smtClean="0"/>
              <a:t>코드화 되는 항목은 코드를 통합관리하여 동일한 성격의 </a:t>
            </a:r>
            <a:r>
              <a:rPr lang="en-US" altLang="ko-KR" sz="1600" smtClean="0"/>
              <a:t>DATA</a:t>
            </a:r>
            <a:r>
              <a:rPr lang="ko-KR" altLang="en-US" sz="1600" smtClean="0"/>
              <a:t>가 이중으로 관리되지 않도록 함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ko-KR" sz="1800" kern="0" smtClean="0">
                <a:solidFill>
                  <a:prstClr val="black"/>
                </a:solidFill>
              </a:rPr>
              <a:t>1.1 </a:t>
            </a:r>
            <a:r>
              <a:rPr lang="ko-KR" altLang="en-US" sz="1800"/>
              <a:t>기준정보 관리체계 개선 </a:t>
            </a:r>
            <a:r>
              <a:rPr lang="en-US" altLang="ko-KR" sz="1800" smtClean="0"/>
              <a:t/>
            </a:r>
            <a:br>
              <a:rPr lang="en-US" altLang="ko-KR" sz="1800" smtClean="0"/>
            </a:br>
            <a:r>
              <a:rPr kumimoji="1" lang="en-US" altLang="ko-KR" sz="1600" kern="0" smtClean="0">
                <a:solidFill>
                  <a:prstClr val="black"/>
                </a:solidFill>
              </a:rPr>
              <a:t>1.1.1 </a:t>
            </a:r>
            <a:r>
              <a:rPr kumimoji="1" lang="ko-KR" altLang="en-US" sz="1600" kern="0" dirty="0">
                <a:solidFill>
                  <a:prstClr val="black"/>
                </a:solidFill>
              </a:rPr>
              <a:t>통합 가능한 기준정보 도출</a:t>
            </a:r>
            <a:endParaRPr lang="ko-KR" altLang="en-US" sz="16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ts val="288"/>
              </a:spcBef>
            </a:pPr>
            <a:r>
              <a:rPr lang="en-US" altLang="ko-KR" smtClean="0"/>
              <a:t>Ⅲ. </a:t>
            </a:r>
            <a:r>
              <a:rPr lang="ko-KR" altLang="en-US" smtClean="0"/>
              <a:t>목표모델 설계</a:t>
            </a:r>
            <a:endParaRPr lang="en-US" altLang="ko-KR" dirty="0"/>
          </a:p>
          <a:p>
            <a:pPr>
              <a:spcBef>
                <a:spcPts val="288"/>
              </a:spcBef>
            </a:pPr>
            <a:r>
              <a:rPr lang="en-US" altLang="ko-KR" smtClean="0"/>
              <a:t>1. </a:t>
            </a:r>
            <a:r>
              <a:rPr lang="ko-KR" altLang="en-US" dirty="0"/>
              <a:t>목표모델</a:t>
            </a:r>
            <a:r>
              <a:rPr lang="en-US" altLang="ko-KR" dirty="0"/>
              <a:t> </a:t>
            </a:r>
            <a:r>
              <a:rPr lang="ko-KR" altLang="en-US" dirty="0"/>
              <a:t>개선과제 정의</a:t>
            </a:r>
            <a:endParaRPr lang="en-US" altLang="ko-KR" dirty="0"/>
          </a:p>
          <a:p>
            <a:pPr>
              <a:spcBef>
                <a:spcPts val="288"/>
              </a:spcBef>
            </a:pPr>
            <a:r>
              <a:rPr lang="en-US" altLang="ko-KR" smtClean="0"/>
              <a:t>1.1 </a:t>
            </a:r>
            <a:r>
              <a:rPr kumimoji="1" lang="ko-KR" altLang="en-US" kern="0">
                <a:solidFill>
                  <a:prstClr val="black"/>
                </a:solidFill>
              </a:rPr>
              <a:t>기준정보 관리체계 개선</a:t>
            </a:r>
            <a:endParaRPr lang="en-US" altLang="ko-KR" dirty="0"/>
          </a:p>
        </p:txBody>
      </p:sp>
      <p:pic>
        <p:nvPicPr>
          <p:cNvPr id="22" name="그림 21">
            <a:extLst>
              <a:ext uri="{FF2B5EF4-FFF2-40B4-BE49-F238E27FC236}">
                <a16:creationId xmlns="" xmlns:a16="http://schemas.microsoft.com/office/drawing/2014/main" id="{8C383B12-3F0A-4C24-9214-F906FB45204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 rot="5400000">
            <a:off x="2777252" y="4010836"/>
            <a:ext cx="3034072" cy="410767"/>
          </a:xfrm>
          <a:prstGeom prst="rect">
            <a:avLst/>
          </a:prstGeom>
        </p:spPr>
      </p:pic>
      <p:sp>
        <p:nvSpPr>
          <p:cNvPr id="7" name="직사각형 6"/>
          <p:cNvSpPr/>
          <p:nvPr/>
        </p:nvSpPr>
        <p:spPr>
          <a:xfrm>
            <a:off x="632520" y="2276872"/>
            <a:ext cx="1512168" cy="261610"/>
          </a:xfrm>
          <a:prstGeom prst="rect">
            <a:avLst/>
          </a:prstGeom>
          <a:solidFill>
            <a:srgbClr val="00437A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예산관리</a:t>
            </a:r>
            <a:endParaRPr lang="ko-KR" altLang="en-US" sz="11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384369" y="2277389"/>
            <a:ext cx="1512000" cy="261610"/>
          </a:xfrm>
          <a:prstGeom prst="rect">
            <a:avLst/>
          </a:prstGeom>
          <a:solidFill>
            <a:srgbClr val="00437A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회계관리</a:t>
            </a:r>
            <a:endParaRPr lang="ko-KR" altLang="en-US" sz="11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632520" y="3573016"/>
            <a:ext cx="1512000" cy="261610"/>
          </a:xfrm>
          <a:prstGeom prst="rect">
            <a:avLst/>
          </a:prstGeom>
          <a:solidFill>
            <a:srgbClr val="00437A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자산관리</a:t>
            </a:r>
            <a:endParaRPr lang="ko-KR" altLang="en-US" sz="11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381955" y="3573016"/>
            <a:ext cx="1512000" cy="261610"/>
          </a:xfrm>
          <a:prstGeom prst="rect">
            <a:avLst/>
          </a:prstGeom>
          <a:solidFill>
            <a:srgbClr val="00437A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구매관리</a:t>
            </a:r>
            <a:endParaRPr lang="ko-KR" altLang="en-US" sz="11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모서리가 접힌 도형 7"/>
          <p:cNvSpPr/>
          <p:nvPr/>
        </p:nvSpPr>
        <p:spPr>
          <a:xfrm>
            <a:off x="632520" y="2564904"/>
            <a:ext cx="1512168" cy="864096"/>
          </a:xfrm>
          <a:prstGeom prst="foldedCorner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endParaRPr lang="ko-KR" altLang="en-US" sz="11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6" name="모서리가 접힌 도형 15"/>
          <p:cNvSpPr/>
          <p:nvPr/>
        </p:nvSpPr>
        <p:spPr>
          <a:xfrm>
            <a:off x="2384369" y="2564904"/>
            <a:ext cx="1512000" cy="864096"/>
          </a:xfrm>
          <a:prstGeom prst="foldedCorner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endParaRPr lang="ko-KR" altLang="en-US" sz="11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92960" y="2232912"/>
            <a:ext cx="4824090" cy="276999"/>
          </a:xfrm>
          <a:prstGeom prst="rect">
            <a:avLst/>
          </a:prstGeom>
          <a:solidFill>
            <a:srgbClr val="00437A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기준정보 통합 방안 절차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4592960" y="2634085"/>
            <a:ext cx="4824090" cy="3490603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4" name="꺾인 연결선 23"/>
          <p:cNvCxnSpPr>
            <a:stCxn id="32" idx="3"/>
            <a:endCxn id="36" idx="1"/>
          </p:cNvCxnSpPr>
          <p:nvPr/>
        </p:nvCxnSpPr>
        <p:spPr>
          <a:xfrm flipH="1">
            <a:off x="5187527" y="2971467"/>
            <a:ext cx="2500916" cy="958334"/>
          </a:xfrm>
          <a:prstGeom prst="bentConnector5">
            <a:avLst>
              <a:gd name="adj1" fmla="val -9141"/>
              <a:gd name="adj2" fmla="val 50000"/>
              <a:gd name="adj3" fmla="val 109141"/>
            </a:avLst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stCxn id="36" idx="3"/>
            <a:endCxn id="40" idx="1"/>
          </p:cNvCxnSpPr>
          <p:nvPr/>
        </p:nvCxnSpPr>
        <p:spPr>
          <a:xfrm flipH="1">
            <a:off x="5695067" y="3929801"/>
            <a:ext cx="2543718" cy="942614"/>
          </a:xfrm>
          <a:prstGeom prst="bentConnector5">
            <a:avLst>
              <a:gd name="adj1" fmla="val -8987"/>
              <a:gd name="adj2" fmla="val 50000"/>
              <a:gd name="adj3" fmla="val 108987"/>
            </a:avLst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꺾인 연결선 30"/>
          <p:cNvCxnSpPr>
            <a:stCxn id="40" idx="3"/>
            <a:endCxn id="50" idx="1"/>
          </p:cNvCxnSpPr>
          <p:nvPr/>
        </p:nvCxnSpPr>
        <p:spPr>
          <a:xfrm flipH="1">
            <a:off x="6314343" y="4872415"/>
            <a:ext cx="2431982" cy="910359"/>
          </a:xfrm>
          <a:prstGeom prst="bentConnector5">
            <a:avLst>
              <a:gd name="adj1" fmla="val -9400"/>
              <a:gd name="adj2" fmla="val 50000"/>
              <a:gd name="adj3" fmla="val 109400"/>
            </a:avLst>
          </a:prstGeom>
          <a:ln w="381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/>
          <p:cNvSpPr/>
          <p:nvPr/>
        </p:nvSpPr>
        <p:spPr>
          <a:xfrm>
            <a:off x="4637185" y="2680180"/>
            <a:ext cx="3051258" cy="58257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44208" y="2828801"/>
            <a:ext cx="2403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각 시스템 기준정보 리스트 도출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5187527" y="3638514"/>
            <a:ext cx="3051258" cy="58257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373513" y="3704034"/>
            <a:ext cx="29530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smtClean="0">
                <a:latin typeface="맑은 고딕" pitchFamily="50" charset="-127"/>
                <a:ea typeface="맑은 고딕" pitchFamily="50" charset="-127"/>
              </a:rPr>
              <a:t>경영정보시스템 개선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시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,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 각 시스템에서 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200" dirty="0"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사용하는 기준정보의</a:t>
            </a:r>
            <a:r>
              <a:rPr lang="en-US" altLang="ko-KR" sz="120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필요여부 분석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5695067" y="4581128"/>
            <a:ext cx="3051258" cy="58257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793451" y="4636495"/>
            <a:ext cx="28583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특정 업무에만 사용되는 기준정보인지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모든 업무에서 사용되는 정보인지 도출</a:t>
            </a:r>
          </a:p>
        </p:txBody>
      </p:sp>
      <p:sp>
        <p:nvSpPr>
          <p:cNvPr id="50" name="직사각형 49"/>
          <p:cNvSpPr/>
          <p:nvPr/>
        </p:nvSpPr>
        <p:spPr>
          <a:xfrm>
            <a:off x="6314343" y="5491487"/>
            <a:ext cx="3051258" cy="582574"/>
          </a:xfrm>
          <a:prstGeom prst="rect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62347" y="5560734"/>
            <a:ext cx="2765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모든 업무에서 사용되는 기준정보의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  <a:p>
            <a:r>
              <a:rPr lang="ko-KR" altLang="en-US" sz="1200" dirty="0">
                <a:latin typeface="맑은 고딕" pitchFamily="50" charset="-127"/>
                <a:ea typeface="맑은 고딕" pitchFamily="50" charset="-127"/>
              </a:rPr>
              <a:t>통합방안 수립 및 마이그레이션 수립</a:t>
            </a:r>
            <a:endParaRPr lang="en-US" altLang="ko-KR" sz="1200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3156" y="2582442"/>
            <a:ext cx="1505540" cy="85408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50">
                <a:latin typeface="맑은 고딕" pitchFamily="50" charset="-127"/>
              </a:rPr>
              <a:t>사업코드</a:t>
            </a:r>
            <a:r>
              <a:rPr lang="en-US" altLang="ko-KR" sz="1050">
                <a:latin typeface="맑은 고딕" pitchFamily="50" charset="-127"/>
              </a:rPr>
              <a:t>, </a:t>
            </a:r>
            <a:r>
              <a:rPr lang="ko-KR" altLang="en-US" sz="1050">
                <a:latin typeface="맑은 고딕" pitchFamily="50" charset="-127"/>
              </a:rPr>
              <a:t>예산코드</a:t>
            </a:r>
            <a:r>
              <a:rPr lang="en-US" altLang="ko-KR" sz="1050">
                <a:latin typeface="맑은 고딕" pitchFamily="50" charset="-127"/>
              </a:rPr>
              <a:t>,</a:t>
            </a:r>
          </a:p>
          <a:p>
            <a:r>
              <a:rPr lang="ko-KR" altLang="en-US" sz="1050">
                <a:latin typeface="맑은 고딕" pitchFamily="50" charset="-127"/>
              </a:rPr>
              <a:t>예산항목</a:t>
            </a:r>
            <a:r>
              <a:rPr lang="en-US" altLang="ko-KR" sz="1050">
                <a:latin typeface="맑은 고딕" pitchFamily="50" charset="-127"/>
              </a:rPr>
              <a:t>, </a:t>
            </a:r>
          </a:p>
          <a:p>
            <a:r>
              <a:rPr lang="ko-KR" altLang="en-US" sz="1050">
                <a:latin typeface="맑은 고딕" pitchFamily="50" charset="-127"/>
              </a:rPr>
              <a:t>일반코드</a:t>
            </a:r>
            <a:endParaRPr lang="en-US" altLang="ko-KR" sz="900">
              <a:latin typeface="맑은 고딕" pitchFamily="50" charset="-127"/>
            </a:endParaRPr>
          </a:p>
          <a:p>
            <a:r>
              <a:rPr lang="en-US" altLang="ko-KR" sz="900">
                <a:latin typeface="맑은 고딕" pitchFamily="50" charset="-127"/>
              </a:rPr>
              <a:t>(</a:t>
            </a:r>
            <a:r>
              <a:rPr lang="ko-KR" altLang="en-US" sz="900">
                <a:latin typeface="맑은 고딕" pitchFamily="50" charset="-127"/>
              </a:rPr>
              <a:t>예산통제</a:t>
            </a:r>
            <a:r>
              <a:rPr lang="en-US" altLang="ko-KR" sz="900">
                <a:latin typeface="맑은 고딕" pitchFamily="50" charset="-127"/>
              </a:rPr>
              <a:t>, </a:t>
            </a:r>
            <a:r>
              <a:rPr lang="ko-KR" altLang="en-US" sz="900">
                <a:latin typeface="맑은 고딕" pitchFamily="50" charset="-127"/>
              </a:rPr>
              <a:t>예산편성</a:t>
            </a:r>
            <a:r>
              <a:rPr lang="en-US" altLang="ko-KR" sz="900">
                <a:latin typeface="맑은 고딕" pitchFamily="50" charset="-127"/>
              </a:rPr>
              <a:t>, </a:t>
            </a:r>
            <a:r>
              <a:rPr lang="ko-KR" altLang="en-US" sz="900">
                <a:latin typeface="맑은 고딕" pitchFamily="50" charset="-127"/>
              </a:rPr>
              <a:t>예산</a:t>
            </a:r>
            <a:endParaRPr lang="en-US" altLang="ko-KR" sz="900">
              <a:latin typeface="맑은 고딕" pitchFamily="50" charset="-127"/>
            </a:endParaRPr>
          </a:p>
          <a:p>
            <a:r>
              <a:rPr lang="ko-KR" altLang="en-US" sz="900">
                <a:latin typeface="맑은 고딕" pitchFamily="50" charset="-127"/>
              </a:rPr>
              <a:t>변경</a:t>
            </a:r>
            <a:r>
              <a:rPr lang="en-US" altLang="ko-KR" sz="900">
                <a:latin typeface="맑은 고딕" pitchFamily="50" charset="-127"/>
              </a:rPr>
              <a:t>, </a:t>
            </a:r>
            <a:r>
              <a:rPr lang="ko-KR" altLang="en-US" sz="900">
                <a:latin typeface="맑은 고딕" pitchFamily="50" charset="-127"/>
              </a:rPr>
              <a:t>예산이월 구분 등</a:t>
            </a:r>
            <a:r>
              <a:rPr lang="en-US" altLang="ko-KR" sz="900">
                <a:latin typeface="맑은 고딕" pitchFamily="50" charset="-127"/>
              </a:rPr>
              <a:t>)</a:t>
            </a:r>
            <a:endParaRPr lang="ko-KR" altLang="en-US" sz="1050" dirty="0">
              <a:latin typeface="맑은 고딕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395274" y="2538482"/>
            <a:ext cx="156485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>
                <a:latin typeface="맑은 고딕" pitchFamily="50" charset="-127"/>
              </a:rPr>
              <a:t>계정코드</a:t>
            </a:r>
            <a:r>
              <a:rPr lang="en-US" altLang="ko-KR" sz="1100">
                <a:latin typeface="맑은 고딕" pitchFamily="50" charset="-127"/>
              </a:rPr>
              <a:t>, </a:t>
            </a:r>
            <a:r>
              <a:rPr lang="ko-KR" altLang="en-US" sz="1100">
                <a:latin typeface="맑은 고딕" pitchFamily="50" charset="-127"/>
              </a:rPr>
              <a:t>거래처코드</a:t>
            </a:r>
            <a:r>
              <a:rPr lang="en-US" altLang="ko-KR" sz="1100">
                <a:latin typeface="맑은 고딕" pitchFamily="50" charset="-127"/>
              </a:rPr>
              <a:t>,</a:t>
            </a:r>
          </a:p>
          <a:p>
            <a:r>
              <a:rPr lang="ko-KR" altLang="en-US" sz="1100">
                <a:latin typeface="맑은 고딕" pitchFamily="50" charset="-127"/>
              </a:rPr>
              <a:t>사업장코드</a:t>
            </a:r>
            <a:r>
              <a:rPr lang="en-US" altLang="ko-KR" sz="1100">
                <a:latin typeface="맑은 고딕" pitchFamily="50" charset="-127"/>
              </a:rPr>
              <a:t>,</a:t>
            </a:r>
          </a:p>
          <a:p>
            <a:r>
              <a:rPr lang="ko-KR" altLang="en-US" sz="1100">
                <a:latin typeface="맑은 고딕" pitchFamily="50" charset="-127"/>
              </a:rPr>
              <a:t>일반코드</a:t>
            </a:r>
            <a:endParaRPr lang="en-US" altLang="ko-KR" sz="1100">
              <a:latin typeface="맑은 고딕" pitchFamily="50" charset="-127"/>
            </a:endParaRPr>
          </a:p>
          <a:p>
            <a:r>
              <a:rPr lang="en-US" altLang="ko-KR" sz="900">
                <a:latin typeface="맑은 고딕" pitchFamily="50" charset="-127"/>
              </a:rPr>
              <a:t>(</a:t>
            </a:r>
            <a:r>
              <a:rPr lang="ko-KR" altLang="en-US" sz="900">
                <a:latin typeface="맑은 고딕" pitchFamily="50" charset="-127"/>
              </a:rPr>
              <a:t>금융기관</a:t>
            </a:r>
            <a:r>
              <a:rPr lang="en-US" altLang="ko-KR" sz="900">
                <a:latin typeface="맑은 고딕" pitchFamily="50" charset="-127"/>
              </a:rPr>
              <a:t>, </a:t>
            </a:r>
            <a:r>
              <a:rPr lang="ko-KR" altLang="en-US" sz="900">
                <a:latin typeface="맑은 고딕" pitchFamily="50" charset="-127"/>
              </a:rPr>
              <a:t>대차구분</a:t>
            </a:r>
            <a:r>
              <a:rPr lang="en-US" altLang="ko-KR" sz="900">
                <a:latin typeface="맑은 고딕" pitchFamily="50" charset="-127"/>
              </a:rPr>
              <a:t>,</a:t>
            </a:r>
          </a:p>
          <a:p>
            <a:r>
              <a:rPr lang="ko-KR" altLang="en-US" sz="900">
                <a:latin typeface="맑은 고딕" pitchFamily="50" charset="-127"/>
              </a:rPr>
              <a:t>공제구분</a:t>
            </a:r>
            <a:r>
              <a:rPr lang="en-US" altLang="ko-KR" sz="900">
                <a:latin typeface="맑은 고딕" pitchFamily="50" charset="-127"/>
              </a:rPr>
              <a:t>,</a:t>
            </a:r>
            <a:r>
              <a:rPr lang="ko-KR" altLang="en-US" sz="900">
                <a:latin typeface="맑은 고딕" pitchFamily="50" charset="-127"/>
              </a:rPr>
              <a:t>결의구분 등</a:t>
            </a:r>
            <a:r>
              <a:rPr lang="en-US" altLang="ko-KR" sz="900" smtClean="0">
                <a:latin typeface="맑은 고딕" pitchFamily="50" charset="-127"/>
              </a:rPr>
              <a:t>)</a:t>
            </a:r>
            <a:endParaRPr lang="ko-KR" altLang="en-US" sz="1050" dirty="0" err="1" smtClean="0"/>
          </a:p>
        </p:txBody>
      </p:sp>
      <p:sp>
        <p:nvSpPr>
          <p:cNvPr id="37" name="모서리가 접힌 도형 36"/>
          <p:cNvSpPr/>
          <p:nvPr/>
        </p:nvSpPr>
        <p:spPr>
          <a:xfrm>
            <a:off x="639632" y="3865271"/>
            <a:ext cx="1512168" cy="864096"/>
          </a:xfrm>
          <a:prstGeom prst="foldedCorner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endParaRPr lang="ko-KR" altLang="en-US" sz="11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8" name="모서리가 접힌 도형 37"/>
          <p:cNvSpPr/>
          <p:nvPr/>
        </p:nvSpPr>
        <p:spPr>
          <a:xfrm>
            <a:off x="2391481" y="3865271"/>
            <a:ext cx="1512000" cy="864096"/>
          </a:xfrm>
          <a:prstGeom prst="foldedCorner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endParaRPr lang="ko-KR" altLang="en-US" sz="11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416944" y="3858737"/>
            <a:ext cx="1364476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smtClean="0">
                <a:latin typeface="맑은 고딕" pitchFamily="50" charset="-127"/>
              </a:rPr>
              <a:t>물품코드</a:t>
            </a:r>
            <a:r>
              <a:rPr lang="en-US" altLang="ko-KR" sz="1100" smtClean="0">
                <a:latin typeface="맑은 고딕" pitchFamily="50" charset="-127"/>
              </a:rPr>
              <a:t>, </a:t>
            </a:r>
          </a:p>
          <a:p>
            <a:r>
              <a:rPr lang="ko-KR" altLang="en-US" sz="1100" smtClean="0">
                <a:latin typeface="맑은 고딕" pitchFamily="50" charset="-127"/>
              </a:rPr>
              <a:t>물품분류코드</a:t>
            </a:r>
            <a:r>
              <a:rPr lang="en-US" altLang="ko-KR" sz="1100" smtClean="0">
                <a:latin typeface="맑은 고딕" pitchFamily="50" charset="-127"/>
              </a:rPr>
              <a:t>,</a:t>
            </a:r>
          </a:p>
          <a:p>
            <a:r>
              <a:rPr lang="ko-KR" altLang="en-US" sz="1100" smtClean="0">
                <a:latin typeface="맑은 고딕" pitchFamily="50" charset="-127"/>
              </a:rPr>
              <a:t>일반코드</a:t>
            </a:r>
            <a:endParaRPr lang="en-US" altLang="ko-KR" sz="1050" smtClean="0">
              <a:latin typeface="맑은 고딕" pitchFamily="50" charset="-127"/>
            </a:endParaRPr>
          </a:p>
          <a:p>
            <a:r>
              <a:rPr lang="en-US" altLang="ko-KR" sz="900" smtClean="0">
                <a:latin typeface="맑은 고딕" pitchFamily="50" charset="-127"/>
              </a:rPr>
              <a:t>(</a:t>
            </a:r>
            <a:r>
              <a:rPr lang="ko-KR" altLang="en-US" sz="900" smtClean="0">
                <a:latin typeface="맑은 고딕" pitchFamily="50" charset="-127"/>
              </a:rPr>
              <a:t>수불구분</a:t>
            </a:r>
            <a:r>
              <a:rPr lang="en-US" altLang="ko-KR" sz="900" smtClean="0">
                <a:latin typeface="맑은 고딕" pitchFamily="50" charset="-127"/>
              </a:rPr>
              <a:t>, </a:t>
            </a:r>
            <a:r>
              <a:rPr lang="ko-KR" altLang="en-US" sz="900" smtClean="0">
                <a:latin typeface="맑은 고딕" pitchFamily="50" charset="-127"/>
              </a:rPr>
              <a:t>구매단위</a:t>
            </a:r>
            <a:r>
              <a:rPr lang="en-US" altLang="ko-KR" sz="900" smtClean="0">
                <a:latin typeface="맑은 고딕" pitchFamily="50" charset="-127"/>
              </a:rPr>
              <a:t>, </a:t>
            </a:r>
          </a:p>
          <a:p>
            <a:r>
              <a:rPr lang="ko-KR" altLang="en-US" sz="900" smtClean="0">
                <a:latin typeface="맑은 고딕" pitchFamily="50" charset="-127"/>
              </a:rPr>
              <a:t>재원코드</a:t>
            </a:r>
            <a:r>
              <a:rPr lang="en-US" altLang="ko-KR" sz="900" smtClean="0">
                <a:latin typeface="맑은 고딕" pitchFamily="50" charset="-127"/>
              </a:rPr>
              <a:t>, </a:t>
            </a:r>
            <a:r>
              <a:rPr lang="ko-KR" altLang="en-US" sz="900" smtClean="0">
                <a:latin typeface="맑은 고딕" pitchFamily="50" charset="-127"/>
              </a:rPr>
              <a:t>조달구분</a:t>
            </a:r>
            <a:r>
              <a:rPr lang="en-US" altLang="ko-KR" sz="900" smtClean="0">
                <a:latin typeface="맑은 고딕" pitchFamily="50" charset="-127"/>
              </a:rPr>
              <a:t> </a:t>
            </a:r>
            <a:r>
              <a:rPr lang="ko-KR" altLang="en-US" sz="900" smtClean="0">
                <a:latin typeface="맑은 고딕" pitchFamily="50" charset="-127"/>
              </a:rPr>
              <a:t>등</a:t>
            </a:r>
            <a:r>
              <a:rPr lang="en-US" altLang="ko-KR" sz="900" smtClean="0">
                <a:latin typeface="맑은 고딕" pitchFamily="50" charset="-127"/>
              </a:rPr>
              <a:t>)</a:t>
            </a:r>
            <a:endParaRPr lang="ko-KR" altLang="en-US" sz="1050" dirty="0" err="1" smtClean="0"/>
          </a:p>
        </p:txBody>
      </p:sp>
      <p:sp>
        <p:nvSpPr>
          <p:cNvPr id="25" name="TextBox 24"/>
          <p:cNvSpPr txBox="1"/>
          <p:nvPr/>
        </p:nvSpPr>
        <p:spPr>
          <a:xfrm>
            <a:off x="622553" y="3834626"/>
            <a:ext cx="132440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smtClean="0"/>
              <a:t>자산분류코드</a:t>
            </a:r>
            <a:r>
              <a:rPr lang="en-US" altLang="ko-KR" sz="1100" smtClean="0"/>
              <a:t>,</a:t>
            </a:r>
          </a:p>
          <a:p>
            <a:r>
              <a:rPr lang="ko-KR" altLang="en-US" sz="1100" smtClean="0"/>
              <a:t>건중가계정코드</a:t>
            </a:r>
            <a:r>
              <a:rPr lang="en-US" altLang="ko-KR" sz="1100" smtClean="0"/>
              <a:t>,</a:t>
            </a:r>
          </a:p>
          <a:p>
            <a:r>
              <a:rPr lang="ko-KR" altLang="en-US" sz="1100" smtClean="0"/>
              <a:t>일반코드</a:t>
            </a:r>
            <a:endParaRPr lang="en-US" altLang="ko-KR" sz="900" smtClean="0"/>
          </a:p>
          <a:p>
            <a:r>
              <a:rPr lang="en-US" altLang="ko-KR" sz="900" smtClean="0"/>
              <a:t>(</a:t>
            </a:r>
            <a:r>
              <a:rPr lang="ko-KR" altLang="en-US" sz="900" smtClean="0"/>
              <a:t>취득구분</a:t>
            </a:r>
            <a:r>
              <a:rPr lang="en-US" altLang="ko-KR" sz="900" smtClean="0"/>
              <a:t>,</a:t>
            </a:r>
            <a:r>
              <a:rPr lang="ko-KR" altLang="en-US" sz="900" smtClean="0"/>
              <a:t>재원구분</a:t>
            </a:r>
            <a:r>
              <a:rPr lang="en-US" altLang="ko-KR" sz="900" smtClean="0"/>
              <a:t>,</a:t>
            </a:r>
          </a:p>
          <a:p>
            <a:r>
              <a:rPr lang="ko-KR" altLang="en-US" sz="900" smtClean="0"/>
              <a:t>자산상태</a:t>
            </a:r>
            <a:r>
              <a:rPr lang="en-US" altLang="ko-KR" sz="900" smtClean="0"/>
              <a:t>,</a:t>
            </a:r>
            <a:r>
              <a:rPr lang="ko-KR" altLang="en-US" sz="900" smtClean="0"/>
              <a:t>진행상태 등</a:t>
            </a:r>
            <a:r>
              <a:rPr lang="en-US" altLang="ko-KR" sz="900" smtClean="0"/>
              <a:t>)</a:t>
            </a:r>
            <a:endParaRPr lang="ko-KR" altLang="en-US" sz="900" dirty="0" err="1" smtClean="0"/>
          </a:p>
        </p:txBody>
      </p:sp>
      <p:sp>
        <p:nvSpPr>
          <p:cNvPr id="42" name="직사각형 41"/>
          <p:cNvSpPr/>
          <p:nvPr/>
        </p:nvSpPr>
        <p:spPr>
          <a:xfrm>
            <a:off x="625408" y="4851737"/>
            <a:ext cx="1512000" cy="261610"/>
          </a:xfrm>
          <a:prstGeom prst="rect">
            <a:avLst/>
          </a:prstGeom>
          <a:solidFill>
            <a:srgbClr val="00437A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smtClean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사업관리</a:t>
            </a:r>
            <a:endParaRPr lang="ko-KR" altLang="en-US" sz="1100" b="1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3" name="모서리가 접힌 도형 42"/>
          <p:cNvSpPr/>
          <p:nvPr/>
        </p:nvSpPr>
        <p:spPr>
          <a:xfrm>
            <a:off x="632520" y="5143992"/>
            <a:ext cx="1512168" cy="864096"/>
          </a:xfrm>
          <a:prstGeom prst="foldedCorner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endParaRPr lang="ko-KR" altLang="en-US" sz="11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15441" y="5113347"/>
            <a:ext cx="1425390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smtClean="0"/>
              <a:t>사업코드</a:t>
            </a:r>
            <a:r>
              <a:rPr lang="en-US" altLang="ko-KR" sz="1100" smtClean="0"/>
              <a:t>,</a:t>
            </a:r>
          </a:p>
          <a:p>
            <a:r>
              <a:rPr lang="ko-KR" altLang="en-US" sz="1100" smtClean="0"/>
              <a:t>사업장코드</a:t>
            </a:r>
            <a:r>
              <a:rPr lang="en-US" altLang="ko-KR" sz="1100" smtClean="0"/>
              <a:t>,</a:t>
            </a:r>
          </a:p>
          <a:p>
            <a:r>
              <a:rPr lang="ko-KR" altLang="en-US" sz="1100" smtClean="0"/>
              <a:t>일반코드</a:t>
            </a:r>
            <a:endParaRPr lang="en-US" altLang="ko-KR" sz="900" smtClean="0"/>
          </a:p>
          <a:p>
            <a:r>
              <a:rPr lang="en-US" altLang="ko-KR" sz="900" smtClean="0"/>
              <a:t>(</a:t>
            </a:r>
            <a:r>
              <a:rPr lang="ko-KR" altLang="en-US" sz="900" smtClean="0"/>
              <a:t>수주진행코드</a:t>
            </a:r>
            <a:r>
              <a:rPr lang="en-US" altLang="ko-KR" sz="900" smtClean="0"/>
              <a:t>,</a:t>
            </a:r>
            <a:r>
              <a:rPr lang="ko-KR" altLang="en-US" sz="900" smtClean="0"/>
              <a:t>입찰구분</a:t>
            </a:r>
            <a:r>
              <a:rPr lang="en-US" altLang="ko-KR" sz="900" smtClean="0"/>
              <a:t>,</a:t>
            </a:r>
          </a:p>
          <a:p>
            <a:r>
              <a:rPr lang="ko-KR" altLang="en-US" sz="900" smtClean="0"/>
              <a:t>계약구분</a:t>
            </a:r>
            <a:r>
              <a:rPr lang="en-US" altLang="ko-KR" sz="900" smtClean="0"/>
              <a:t>,</a:t>
            </a:r>
            <a:r>
              <a:rPr lang="ko-KR" altLang="en-US" sz="900" smtClean="0"/>
              <a:t>진행상태 등</a:t>
            </a:r>
            <a:r>
              <a:rPr lang="en-US" altLang="ko-KR" sz="900" smtClean="0"/>
              <a:t>)</a:t>
            </a:r>
            <a:endParaRPr lang="ko-KR" altLang="en-US" sz="900" dirty="0" err="1" smtClean="0"/>
          </a:p>
        </p:txBody>
      </p:sp>
      <p:sp>
        <p:nvSpPr>
          <p:cNvPr id="45" name="직사각형 44"/>
          <p:cNvSpPr/>
          <p:nvPr/>
        </p:nvSpPr>
        <p:spPr>
          <a:xfrm>
            <a:off x="2375577" y="4859328"/>
            <a:ext cx="1512000" cy="26161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sz="1100" b="1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HR</a:t>
            </a:r>
            <a:endParaRPr lang="ko-KR" altLang="en-US" sz="1100" b="1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6" name="모서리가 접힌 도형 45"/>
          <p:cNvSpPr/>
          <p:nvPr/>
        </p:nvSpPr>
        <p:spPr>
          <a:xfrm>
            <a:off x="2382689" y="5151583"/>
            <a:ext cx="1512168" cy="864096"/>
          </a:xfrm>
          <a:prstGeom prst="foldedCorner">
            <a:avLst/>
          </a:prstGeom>
          <a:solidFill>
            <a:schemeClr val="bg1">
              <a:lumMod val="8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0" rIns="36000" bIns="0" rtlCol="0" anchor="ctr"/>
          <a:lstStyle/>
          <a:p>
            <a:endParaRPr lang="ko-KR" altLang="en-US" sz="1100" dirty="0">
              <a:solidFill>
                <a:schemeClr val="tx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2365610" y="5120938"/>
            <a:ext cx="1324402" cy="8771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100" smtClean="0"/>
              <a:t>부서코드</a:t>
            </a:r>
            <a:r>
              <a:rPr lang="en-US" altLang="ko-KR" sz="1100" smtClean="0"/>
              <a:t>,</a:t>
            </a:r>
          </a:p>
          <a:p>
            <a:r>
              <a:rPr lang="ko-KR" altLang="en-US" sz="1100" smtClean="0"/>
              <a:t>사원번호</a:t>
            </a:r>
            <a:r>
              <a:rPr lang="en-US" altLang="ko-KR" sz="1100" smtClean="0"/>
              <a:t>,</a:t>
            </a:r>
          </a:p>
          <a:p>
            <a:r>
              <a:rPr lang="ko-KR" altLang="en-US" sz="1100" smtClean="0"/>
              <a:t>일반코드</a:t>
            </a:r>
            <a:endParaRPr lang="en-US" altLang="ko-KR" sz="900" smtClean="0"/>
          </a:p>
          <a:p>
            <a:r>
              <a:rPr lang="en-US" altLang="ko-KR" sz="900" smtClean="0"/>
              <a:t>(</a:t>
            </a:r>
            <a:r>
              <a:rPr lang="ko-KR" altLang="en-US" sz="900" smtClean="0"/>
              <a:t>직급구분</a:t>
            </a:r>
            <a:r>
              <a:rPr lang="en-US" altLang="ko-KR" sz="900" smtClean="0"/>
              <a:t>,</a:t>
            </a:r>
            <a:r>
              <a:rPr lang="ko-KR" altLang="en-US" sz="900" smtClean="0"/>
              <a:t>입사구분</a:t>
            </a:r>
            <a:r>
              <a:rPr lang="en-US" altLang="ko-KR" sz="900" smtClean="0"/>
              <a:t>,</a:t>
            </a:r>
          </a:p>
          <a:p>
            <a:r>
              <a:rPr lang="ko-KR" altLang="en-US" sz="900" smtClean="0"/>
              <a:t>근태구분</a:t>
            </a:r>
            <a:r>
              <a:rPr lang="en-US" altLang="ko-KR" sz="900" smtClean="0"/>
              <a:t>,</a:t>
            </a:r>
            <a:r>
              <a:rPr lang="ko-KR" altLang="en-US" sz="900" smtClean="0"/>
              <a:t>출장구분 등</a:t>
            </a:r>
            <a:r>
              <a:rPr lang="en-US" altLang="ko-KR" sz="900" smtClean="0"/>
              <a:t>)</a:t>
            </a:r>
            <a:endParaRPr lang="ko-KR" altLang="en-US" sz="900" dirty="0" err="1" smtClean="0"/>
          </a:p>
        </p:txBody>
      </p:sp>
    </p:spTree>
    <p:extLst>
      <p:ext uri="{BB962C8B-B14F-4D97-AF65-F5344CB8AC3E}">
        <p14:creationId xmlns:p14="http://schemas.microsoft.com/office/powerpoint/2010/main" val="27661701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ko-KR" altLang="en-US" smtClean="0"/>
              <a:t>현행 시스템의 문제점을 분석하고</a:t>
            </a:r>
            <a:r>
              <a:rPr lang="en-US" altLang="ko-KR" smtClean="0"/>
              <a:t>, </a:t>
            </a:r>
            <a:r>
              <a:rPr lang="ko-KR" altLang="en-US" smtClean="0"/>
              <a:t>이해관계자 </a:t>
            </a:r>
            <a:r>
              <a:rPr lang="ko-KR" altLang="en-US"/>
              <a:t>요구에 대한 </a:t>
            </a:r>
            <a:r>
              <a:rPr lang="ko-KR" altLang="en-US" smtClean="0"/>
              <a:t>해결점을 모색하여 업무의 효율성과 사용자 중심의 편의성을 제공할 수 있는 체계적인 예산관리 시스템으로 개선하고자 함</a:t>
            </a:r>
            <a:endParaRPr lang="ko-KR" altLang="en-US" sz="1600" dirty="0"/>
          </a:p>
        </p:txBody>
      </p:sp>
      <p:sp>
        <p:nvSpPr>
          <p:cNvPr id="36" name="제목 3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1.2 </a:t>
            </a:r>
            <a:r>
              <a:rPr lang="ko-KR" altLang="en-US">
                <a:solidFill>
                  <a:schemeClr val="tx1"/>
                </a:solidFill>
              </a:rPr>
              <a:t>예산관리 개선 및 업무 효율화</a:t>
            </a:r>
            <a:r>
              <a:rPr lang="en-US" altLang="ko-KR">
                <a:solidFill>
                  <a:srgbClr val="00437A"/>
                </a:solidFill>
              </a:rPr>
              <a:t/>
            </a:r>
            <a:br>
              <a:rPr lang="en-US" altLang="ko-KR">
                <a:solidFill>
                  <a:srgbClr val="00437A"/>
                </a:solidFill>
              </a:rPr>
            </a:br>
            <a:r>
              <a:rPr lang="en-US" altLang="ko-KR" sz="1800" smtClean="0"/>
              <a:t>1.2.1 </a:t>
            </a:r>
            <a:r>
              <a:rPr lang="ko-KR" altLang="en-US" sz="1800" smtClean="0"/>
              <a:t>예산관리 개선 </a:t>
            </a:r>
            <a:r>
              <a:rPr lang="ko-KR" altLang="en-US" sz="1800"/>
              <a:t>방안</a:t>
            </a:r>
            <a:endParaRPr lang="ko-KR" altLang="en-US" sz="1800" dirty="0"/>
          </a:p>
        </p:txBody>
      </p:sp>
      <p:grpSp>
        <p:nvGrpSpPr>
          <p:cNvPr id="3" name="그룹 77">
            <a:extLst>
              <a:ext uri="{FF2B5EF4-FFF2-40B4-BE49-F238E27FC236}">
                <a16:creationId xmlns="" xmlns:a16="http://schemas.microsoft.com/office/drawing/2014/main" id="{B0511B2C-F5D4-492B-8A5A-D90A0D0B3868}"/>
              </a:ext>
            </a:extLst>
          </p:cNvPr>
          <p:cNvGrpSpPr/>
          <p:nvPr/>
        </p:nvGrpSpPr>
        <p:grpSpPr>
          <a:xfrm>
            <a:off x="355147" y="1592796"/>
            <a:ext cx="9180512" cy="4788532"/>
            <a:chOff x="200025" y="1592796"/>
            <a:chExt cx="6733195" cy="4788532"/>
          </a:xfrm>
        </p:grpSpPr>
        <p:sp>
          <p:nvSpPr>
            <p:cNvPr id="79" name="직사각형 78">
              <a:extLst>
                <a:ext uri="{FF2B5EF4-FFF2-40B4-BE49-F238E27FC236}">
                  <a16:creationId xmlns="" xmlns:a16="http://schemas.microsoft.com/office/drawing/2014/main" id="{7A02AF25-67DB-49E8-A9F5-7456F591158A}"/>
                </a:ext>
              </a:extLst>
            </p:cNvPr>
            <p:cNvSpPr/>
            <p:nvPr/>
          </p:nvSpPr>
          <p:spPr bwMode="auto">
            <a:xfrm>
              <a:off x="200025" y="1592796"/>
              <a:ext cx="6733195" cy="324000"/>
            </a:xfrm>
            <a:prstGeom prst="rect">
              <a:avLst/>
            </a:prstGeom>
            <a:solidFill>
              <a:srgbClr val="233C5A"/>
            </a:solidFill>
            <a:ln w="6350" cap="flat" cmpd="sng" algn="ctr">
              <a:solidFill>
                <a:srgbClr val="00437A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과제 개요</a:t>
              </a:r>
            </a:p>
          </p:txBody>
        </p:sp>
        <p:sp>
          <p:nvSpPr>
            <p:cNvPr id="80" name="Rectangle 4">
              <a:extLst>
                <a:ext uri="{FF2B5EF4-FFF2-40B4-BE49-F238E27FC236}">
                  <a16:creationId xmlns="" xmlns:a16="http://schemas.microsoft.com/office/drawing/2014/main" id="{2D8432D5-5596-482C-A21A-563B582C8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25" y="1916832"/>
              <a:ext cx="6733195" cy="4464496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round/>
              <a:headEnd type="none" w="med" len="med"/>
              <a:tailEnd type="none" w="sm" len="sm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80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265113" marR="0" lvl="0" indent="-265113" defTabSz="914400" eaLnBrk="0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ct val="0"/>
                </a:spcAft>
                <a:buClr>
                  <a:prstClr val="black"/>
                </a:buClr>
                <a:buSzTx/>
                <a:buFont typeface="Wingdings" pitchFamily="2" charset="2"/>
                <a:buChar char="q"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8" name="자유형: 도형 7">
            <a:extLst>
              <a:ext uri="{FF2B5EF4-FFF2-40B4-BE49-F238E27FC236}">
                <a16:creationId xmlns="" xmlns:a16="http://schemas.microsoft.com/office/drawing/2014/main" id="{DC8F9B3D-33EF-48D3-A461-A50900D519EB}"/>
              </a:ext>
            </a:extLst>
          </p:cNvPr>
          <p:cNvSpPr/>
          <p:nvPr/>
        </p:nvSpPr>
        <p:spPr>
          <a:xfrm>
            <a:off x="2472277" y="2002612"/>
            <a:ext cx="521540" cy="4299947"/>
          </a:xfrm>
          <a:custGeom>
            <a:avLst/>
            <a:gdLst>
              <a:gd name="connsiteX0" fmla="*/ 0 w 528992"/>
              <a:gd name="connsiteY0" fmla="*/ 324952 h 4299947"/>
              <a:gd name="connsiteX1" fmla="*/ 37785 w 528992"/>
              <a:gd name="connsiteY1" fmla="*/ 4012780 h 4299947"/>
              <a:gd name="connsiteX2" fmla="*/ 521435 w 528992"/>
              <a:gd name="connsiteY2" fmla="*/ 4299947 h 4299947"/>
              <a:gd name="connsiteX3" fmla="*/ 528992 w 528992"/>
              <a:gd name="connsiteY3" fmla="*/ 0 h 4299947"/>
              <a:gd name="connsiteX4" fmla="*/ 0 w 528992"/>
              <a:gd name="connsiteY4" fmla="*/ 324952 h 4299947"/>
              <a:gd name="connsiteX0" fmla="*/ 0 w 528992"/>
              <a:gd name="connsiteY0" fmla="*/ 324952 h 4299947"/>
              <a:gd name="connsiteX1" fmla="*/ 8650 w 528992"/>
              <a:gd name="connsiteY1" fmla="*/ 3613946 h 4299947"/>
              <a:gd name="connsiteX2" fmla="*/ 521435 w 528992"/>
              <a:gd name="connsiteY2" fmla="*/ 4299947 h 4299947"/>
              <a:gd name="connsiteX3" fmla="*/ 528992 w 528992"/>
              <a:gd name="connsiteY3" fmla="*/ 0 h 4299947"/>
              <a:gd name="connsiteX4" fmla="*/ 0 w 528992"/>
              <a:gd name="connsiteY4" fmla="*/ 324952 h 4299947"/>
              <a:gd name="connsiteX0" fmla="*/ 11113 w 520681"/>
              <a:gd name="connsiteY0" fmla="*/ 714058 h 4299947"/>
              <a:gd name="connsiteX1" fmla="*/ 339 w 520681"/>
              <a:gd name="connsiteY1" fmla="*/ 3613946 h 4299947"/>
              <a:gd name="connsiteX2" fmla="*/ 513124 w 520681"/>
              <a:gd name="connsiteY2" fmla="*/ 4299947 h 4299947"/>
              <a:gd name="connsiteX3" fmla="*/ 520681 w 520681"/>
              <a:gd name="connsiteY3" fmla="*/ 0 h 4299947"/>
              <a:gd name="connsiteX4" fmla="*/ 11113 w 520681"/>
              <a:gd name="connsiteY4" fmla="*/ 714058 h 4299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681" h="4299947">
                <a:moveTo>
                  <a:pt x="11113" y="714058"/>
                </a:moveTo>
                <a:cubicBezTo>
                  <a:pt x="13996" y="1810389"/>
                  <a:pt x="-2544" y="2517615"/>
                  <a:pt x="339" y="3613946"/>
                </a:cubicBezTo>
                <a:lnTo>
                  <a:pt x="513124" y="4299947"/>
                </a:lnTo>
                <a:lnTo>
                  <a:pt x="520681" y="0"/>
                </a:lnTo>
                <a:lnTo>
                  <a:pt x="11113" y="714058"/>
                </a:lnTo>
                <a:close/>
              </a:path>
            </a:pathLst>
          </a:custGeom>
          <a:gradFill>
            <a:gsLst>
              <a:gs pos="82000">
                <a:schemeClr val="bg1">
                  <a:lumMod val="85000"/>
                </a:schemeClr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모서리가 둥근 직사각형 19">
            <a:extLst>
              <a:ext uri="{FF2B5EF4-FFF2-40B4-BE49-F238E27FC236}">
                <a16:creationId xmlns="" xmlns:a16="http://schemas.microsoft.com/office/drawing/2014/main" id="{539E2FF8-462F-4EA5-A32E-3A3A41EAC070}"/>
              </a:ext>
            </a:extLst>
          </p:cNvPr>
          <p:cNvSpPr/>
          <p:nvPr/>
        </p:nvSpPr>
        <p:spPr>
          <a:xfrm>
            <a:off x="476077" y="2035656"/>
            <a:ext cx="2028386" cy="673957"/>
          </a:xfrm>
          <a:prstGeom prst="roundRect">
            <a:avLst>
              <a:gd name="adj" fmla="val 7000"/>
            </a:avLst>
          </a:prstGeom>
          <a:solidFill>
            <a:sysClr val="window" lastClr="FFFFFF"/>
          </a:solidFill>
          <a:ln w="28575" cap="flat" cmpd="sng" algn="ctr">
            <a:solidFill>
              <a:srgbClr val="4678B4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SzTx/>
              <a:buFontTx/>
              <a:buNone/>
              <a:tabLst/>
              <a:defRPr/>
            </a:pPr>
            <a:r>
              <a:rPr lang="ko-KR" altLang="en-US" sz="1400" b="1" kern="0" spc="-150" smtClean="0">
                <a:solidFill>
                  <a:prstClr val="black"/>
                </a:solidFill>
                <a:latin typeface="+mn-ea"/>
              </a:rPr>
              <a:t>예산관리 개선 및</a:t>
            </a:r>
            <a:endParaRPr lang="en-US" altLang="ko-KR" sz="1400" b="1" kern="0" spc="-150" smtClean="0">
              <a:solidFill>
                <a:prstClr val="black"/>
              </a:solidFill>
              <a:latin typeface="+mn-ea"/>
            </a:endParaRPr>
          </a:p>
          <a:p>
            <a:pPr marL="0" marR="0" lvl="0" indent="0" algn="ctr" defTabSz="914400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SzTx/>
              <a:buFontTx/>
              <a:buNone/>
              <a:tabLst/>
              <a:defRPr/>
            </a:pPr>
            <a:r>
              <a:rPr lang="ko-KR" altLang="en-US" sz="1400" b="1" kern="0" spc="-150" smtClean="0">
                <a:solidFill>
                  <a:prstClr val="black"/>
                </a:solidFill>
                <a:latin typeface="+mn-ea"/>
              </a:rPr>
              <a:t>업무 효율화</a:t>
            </a:r>
            <a:endParaRPr kumimoji="0" lang="ko-KR" altLang="en-US" sz="1400" b="1" i="0" u="none" strike="noStrike" kern="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5" name="그룹 81">
            <a:extLst>
              <a:ext uri="{FF2B5EF4-FFF2-40B4-BE49-F238E27FC236}">
                <a16:creationId xmlns="" xmlns:a16="http://schemas.microsoft.com/office/drawing/2014/main" id="{D792162E-1A2F-4430-8D94-E50C5C7DDD9D}"/>
              </a:ext>
            </a:extLst>
          </p:cNvPr>
          <p:cNvGrpSpPr/>
          <p:nvPr/>
        </p:nvGrpSpPr>
        <p:grpSpPr>
          <a:xfrm>
            <a:off x="476077" y="2776125"/>
            <a:ext cx="2028386" cy="453937"/>
            <a:chOff x="401216" y="2918940"/>
            <a:chExt cx="2310143" cy="551723"/>
          </a:xfrm>
        </p:grpSpPr>
        <p:sp>
          <p:nvSpPr>
            <p:cNvPr id="83" name="모서리가 둥근 직사각형 24">
              <a:extLst>
                <a:ext uri="{FF2B5EF4-FFF2-40B4-BE49-F238E27FC236}">
                  <a16:creationId xmlns="" xmlns:a16="http://schemas.microsoft.com/office/drawing/2014/main" id="{5EEF05A2-CF17-4500-8CD5-18B4D1D2D591}"/>
                </a:ext>
              </a:extLst>
            </p:cNvPr>
            <p:cNvSpPr/>
            <p:nvPr/>
          </p:nvSpPr>
          <p:spPr>
            <a:xfrm>
              <a:off x="401216" y="2918943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79488" latinLnBrk="0">
                <a:spcBef>
                  <a:spcPct val="50000"/>
                </a:spcBef>
              </a:pPr>
              <a:r>
                <a:rPr lang="ko-KR" altLang="en-US" sz="1000" b="1"/>
                <a:t>예산코드 체계 개선</a:t>
              </a:r>
              <a:endParaRPr kumimoji="1" lang="ko-KR" altLang="en-US" sz="1000" b="1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4" name="직사각형 10">
              <a:extLst>
                <a:ext uri="{FF2B5EF4-FFF2-40B4-BE49-F238E27FC236}">
                  <a16:creationId xmlns="" xmlns:a16="http://schemas.microsoft.com/office/drawing/2014/main" id="{485F56EC-22C4-4812-984A-A12C60678EBC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1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6" name="그룹 98">
            <a:extLst>
              <a:ext uri="{FF2B5EF4-FFF2-40B4-BE49-F238E27FC236}">
                <a16:creationId xmlns="" xmlns:a16="http://schemas.microsoft.com/office/drawing/2014/main" id="{9656F7BF-411B-4097-9FB1-3E53ADE28258}"/>
              </a:ext>
            </a:extLst>
          </p:cNvPr>
          <p:cNvGrpSpPr/>
          <p:nvPr/>
        </p:nvGrpSpPr>
        <p:grpSpPr>
          <a:xfrm>
            <a:off x="476077" y="3298491"/>
            <a:ext cx="2028386" cy="453935"/>
            <a:chOff x="401216" y="2918940"/>
            <a:chExt cx="2310143" cy="551720"/>
          </a:xfrm>
        </p:grpSpPr>
        <p:sp>
          <p:nvSpPr>
            <p:cNvPr id="100" name="모서리가 둥근 직사각형 44">
              <a:extLst>
                <a:ext uri="{FF2B5EF4-FFF2-40B4-BE49-F238E27FC236}">
                  <a16:creationId xmlns="" xmlns:a16="http://schemas.microsoft.com/office/drawing/2014/main" id="{FF82C688-A0DF-4BE3-8351-56F6BB3CF5FC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lvl="0" algn="ctr" defTabSz="979488" latinLnBrk="0">
                <a:spcBef>
                  <a:spcPct val="50000"/>
                </a:spcBef>
                <a:defRPr/>
              </a:pPr>
              <a:r>
                <a:rPr lang="ko-KR" altLang="en-US" sz="1000" b="1" smtClean="0"/>
                <a:t>예산편성 절차 </a:t>
              </a:r>
              <a:r>
                <a:rPr lang="ko-KR" altLang="en-US" sz="1000" b="1"/>
                <a:t>체계화 및 </a:t>
              </a:r>
              <a:endParaRPr lang="en-US" altLang="ko-KR" sz="1000" b="1" smtClean="0"/>
            </a:p>
            <a:p>
              <a:pPr lvl="0" algn="ctr" defTabSz="979488" latinLnBrk="0">
                <a:spcBef>
                  <a:spcPct val="50000"/>
                </a:spcBef>
                <a:defRPr/>
              </a:pPr>
              <a:r>
                <a:rPr lang="ko-KR" altLang="en-US" sz="1000" b="1" smtClean="0"/>
                <a:t>입력 </a:t>
              </a:r>
              <a:r>
                <a:rPr lang="ko-KR" altLang="en-US" sz="1000" b="1"/>
                <a:t>화면 재구성</a:t>
              </a:r>
              <a:endPara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01" name="직사각형 10">
              <a:extLst>
                <a:ext uri="{FF2B5EF4-FFF2-40B4-BE49-F238E27FC236}">
                  <a16:creationId xmlns="" xmlns:a16="http://schemas.microsoft.com/office/drawing/2014/main" id="{56B6DA92-25D8-43A6-AE8B-408C4FFF4AAA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2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7" name="그룹 104">
            <a:extLst>
              <a:ext uri="{FF2B5EF4-FFF2-40B4-BE49-F238E27FC236}">
                <a16:creationId xmlns="" xmlns:a16="http://schemas.microsoft.com/office/drawing/2014/main" id="{0A95ACFA-2726-46C1-AD8F-1D87F34F9A7C}"/>
              </a:ext>
            </a:extLst>
          </p:cNvPr>
          <p:cNvGrpSpPr/>
          <p:nvPr/>
        </p:nvGrpSpPr>
        <p:grpSpPr>
          <a:xfrm>
            <a:off x="476077" y="3820854"/>
            <a:ext cx="2028386" cy="453935"/>
            <a:chOff x="401216" y="2918940"/>
            <a:chExt cx="2310143" cy="551720"/>
          </a:xfrm>
        </p:grpSpPr>
        <p:sp>
          <p:nvSpPr>
            <p:cNvPr id="106" name="모서리가 둥근 직사각형 55">
              <a:extLst>
                <a:ext uri="{FF2B5EF4-FFF2-40B4-BE49-F238E27FC236}">
                  <a16:creationId xmlns="" xmlns:a16="http://schemas.microsoft.com/office/drawing/2014/main" id="{04CE164E-A277-4A8C-80F7-9A57D5BDEB44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lvl="0" algn="ctr" defTabSz="979488" latinLnBrk="0">
                <a:defRPr/>
              </a:pPr>
              <a:r>
                <a:rPr lang="ko-KR" altLang="en-US" sz="1000" b="1"/>
                <a:t>예산 배정 체계 변경</a:t>
              </a:r>
              <a:endPara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07" name="직사각형 10">
              <a:extLst>
                <a:ext uri="{FF2B5EF4-FFF2-40B4-BE49-F238E27FC236}">
                  <a16:creationId xmlns="" xmlns:a16="http://schemas.microsoft.com/office/drawing/2014/main" id="{2BECFB51-2DF0-4032-B0F9-BE080AC78865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3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9" name="그룹 110">
            <a:extLst>
              <a:ext uri="{FF2B5EF4-FFF2-40B4-BE49-F238E27FC236}">
                <a16:creationId xmlns="" xmlns:a16="http://schemas.microsoft.com/office/drawing/2014/main" id="{01D653F6-8988-40E3-B1E2-1DCADFAA862B}"/>
              </a:ext>
            </a:extLst>
          </p:cNvPr>
          <p:cNvGrpSpPr/>
          <p:nvPr/>
        </p:nvGrpSpPr>
        <p:grpSpPr>
          <a:xfrm>
            <a:off x="476077" y="4343217"/>
            <a:ext cx="2028386" cy="453935"/>
            <a:chOff x="401216" y="2918940"/>
            <a:chExt cx="2310143" cy="551720"/>
          </a:xfrm>
        </p:grpSpPr>
        <p:sp>
          <p:nvSpPr>
            <p:cNvPr id="112" name="모서리가 둥근 직사각형 68">
              <a:extLst>
                <a:ext uri="{FF2B5EF4-FFF2-40B4-BE49-F238E27FC236}">
                  <a16:creationId xmlns="" xmlns:a16="http://schemas.microsoft.com/office/drawing/2014/main" id="{520DC5EA-0151-4A4B-876E-90A97C34C9B8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lvl="0" algn="ctr" defTabSz="979488" latinLnBrk="0">
                <a:defRPr/>
              </a:pPr>
              <a:r>
                <a:rPr lang="ko-KR" altLang="en-US" sz="1000" b="1"/>
                <a:t>예산 절감목표 관리 도입</a:t>
              </a:r>
              <a:endPara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13" name="직사각형 10">
              <a:extLst>
                <a:ext uri="{FF2B5EF4-FFF2-40B4-BE49-F238E27FC236}">
                  <a16:creationId xmlns="" xmlns:a16="http://schemas.microsoft.com/office/drawing/2014/main" id="{F245562B-A3CA-4671-93E0-C42AEAE43791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4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85" name="직사각형 84">
            <a:extLst>
              <a:ext uri="{FF2B5EF4-FFF2-40B4-BE49-F238E27FC236}">
                <a16:creationId xmlns="" xmlns:a16="http://schemas.microsoft.com/office/drawing/2014/main" id="{3D81FFC0-71B9-46DA-943A-B129A730D4BD}"/>
              </a:ext>
            </a:extLst>
          </p:cNvPr>
          <p:cNvSpPr/>
          <p:nvPr/>
        </p:nvSpPr>
        <p:spPr>
          <a:xfrm>
            <a:off x="2923626" y="1975288"/>
            <a:ext cx="6433414" cy="4345672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" lastClr="FFFFFF">
                <a:lumMod val="50000"/>
              </a:sys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7969" tIns="48984" rIns="97969" bIns="48984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79488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="" xmlns:a16="http://schemas.microsoft.com/office/drawing/2014/main" id="{3BD8B947-9794-4DA9-A8A0-A2416C4E54C6}"/>
              </a:ext>
            </a:extLst>
          </p:cNvPr>
          <p:cNvSpPr/>
          <p:nvPr/>
        </p:nvSpPr>
        <p:spPr>
          <a:xfrm>
            <a:off x="2993826" y="2026778"/>
            <a:ext cx="853646" cy="4255416"/>
          </a:xfrm>
          <a:prstGeom prst="rect">
            <a:avLst/>
          </a:prstGeom>
          <a:solidFill>
            <a:srgbClr val="C7DDFD"/>
          </a:solidFill>
          <a:ln>
            <a:noFill/>
          </a:ln>
        </p:spPr>
        <p:txBody>
          <a:bodyPr vert="horz" wrap="square" lIns="97969" tIns="48984" rIns="97969" bIns="48984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79488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3060274" y="2102569"/>
            <a:ext cx="6110824" cy="504000"/>
            <a:chOff x="3060274" y="2102569"/>
            <a:chExt cx="6110824" cy="504000"/>
          </a:xfrm>
        </p:grpSpPr>
        <p:sp>
          <p:nvSpPr>
            <p:cNvPr id="88" name="직사각형 87">
              <a:extLst>
                <a:ext uri="{FF2B5EF4-FFF2-40B4-BE49-F238E27FC236}">
                  <a16:creationId xmlns="" xmlns:a16="http://schemas.microsoft.com/office/drawing/2014/main" id="{462C3777-4666-48F1-B8E7-F560F769B567}"/>
                </a:ext>
              </a:extLst>
            </p:cNvPr>
            <p:cNvSpPr/>
            <p:nvPr/>
          </p:nvSpPr>
          <p:spPr>
            <a:xfrm>
              <a:off x="3060274" y="2102570"/>
              <a:ext cx="968366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과제 정의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="" xmlns:a16="http://schemas.microsoft.com/office/drawing/2014/main" id="{3197124E-28D4-472B-9558-9173E8CA2836}"/>
                </a:ext>
              </a:extLst>
            </p:cNvPr>
            <p:cNvSpPr/>
            <p:nvPr/>
          </p:nvSpPr>
          <p:spPr>
            <a:xfrm>
              <a:off x="4095098" y="2102569"/>
              <a:ext cx="5076000" cy="504000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예산업무의 체계적인 관리 및 기능 세분화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, </a:t>
              </a:r>
              <a:r>
                <a:rPr kumimoji="1" lang="ko-KR" altLang="en-US" sz="1000" kern="0">
                  <a:solidFill>
                    <a:prstClr val="black"/>
                  </a:solidFill>
                  <a:latin typeface="+mn-ea"/>
                </a:rPr>
                <a:t>실시간 실적집계 및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단계별 자료 </a:t>
              </a:r>
              <a:r>
                <a:rPr kumimoji="1" lang="ko-KR" altLang="en-US" sz="1000" kern="0">
                  <a:solidFill>
                    <a:prstClr val="black"/>
                  </a:solidFill>
                  <a:latin typeface="+mn-ea"/>
                </a:rPr>
                <a:t>제공</a:t>
              </a:r>
              <a:r>
                <a:rPr kumimoji="1" lang="en-US" altLang="ko-KR" sz="1000" kern="0">
                  <a:solidFill>
                    <a:prstClr val="black"/>
                  </a:solidFill>
                  <a:latin typeface="+mn-ea"/>
                </a:rPr>
                <a:t>, </a:t>
              </a:r>
              <a:r>
                <a:rPr kumimoji="1" lang="ko-KR" altLang="en-US" sz="1000" kern="0">
                  <a:solidFill>
                    <a:prstClr val="black"/>
                  </a:solidFill>
                  <a:latin typeface="+mn-ea"/>
                </a:rPr>
                <a:t>예산결산 기능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구축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</a:rPr>
                <a:t>,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 </a:t>
              </a:r>
              <a:r>
                <a:rPr kumimoji="1" lang="ko-KR" altLang="en-US" sz="1000" kern="0">
                  <a:solidFill>
                    <a:prstClr val="black"/>
                  </a:solidFill>
                  <a:latin typeface="+mn-ea"/>
                </a:rPr>
                <a:t>전자결재에 의한 원활한 진행관리를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통해 예산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관리의 </a:t>
              </a: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효율성 증대방안 마련</a:t>
              </a: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3060274" y="3135363"/>
            <a:ext cx="6110824" cy="648000"/>
            <a:chOff x="3060274" y="3130407"/>
            <a:chExt cx="6110824" cy="648000"/>
          </a:xfrm>
        </p:grpSpPr>
        <p:sp>
          <p:nvSpPr>
            <p:cNvPr id="90" name="직사각형 89">
              <a:extLst>
                <a:ext uri="{FF2B5EF4-FFF2-40B4-BE49-F238E27FC236}">
                  <a16:creationId xmlns="" xmlns:a16="http://schemas.microsoft.com/office/drawing/2014/main" id="{4A3DA6E3-91CE-4B46-AB40-3122683B6F23}"/>
                </a:ext>
              </a:extLst>
            </p:cNvPr>
            <p:cNvSpPr/>
            <p:nvPr/>
          </p:nvSpPr>
          <p:spPr>
            <a:xfrm>
              <a:off x="3060274" y="3130407"/>
              <a:ext cx="968366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현황 및 문제점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="" xmlns:a16="http://schemas.microsoft.com/office/drawing/2014/main" id="{3645D26A-84A7-4B58-98CD-009CE5F34953}"/>
                </a:ext>
              </a:extLst>
            </p:cNvPr>
            <p:cNvSpPr/>
            <p:nvPr/>
          </p:nvSpPr>
          <p:spPr>
            <a:xfrm>
              <a:off x="4095098" y="3130407"/>
              <a:ext cx="5076000" cy="648000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예산편성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수작업 작성 및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엑셀 업로드로 정확한 편성내역 관리 미흡 </a:t>
              </a:r>
              <a:endParaRPr kumimoji="1" lang="en-US" altLang="ko-KR" sz="1000" kern="0" smtClean="0">
                <a:solidFill>
                  <a:prstClr val="black"/>
                </a:solidFill>
                <a:latin typeface="+mn-ea"/>
              </a:endParaRPr>
            </a:p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명확한 통제기준에 의한 실시간 예산통제 및 단계별 실적 집계 요구 </a:t>
              </a:r>
              <a:endParaRPr kumimoji="1" lang="en-US" altLang="ko-KR" sz="1000" kern="0" smtClean="0">
                <a:solidFill>
                  <a:prstClr val="black"/>
                </a:solidFill>
                <a:latin typeface="+mn-ea"/>
              </a:endParaRPr>
            </a:p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예산 편성 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</a:rPr>
                <a:t>~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예산 결산까지의 전 과정 전재결재 연동 및 시스템화 미비</a:t>
              </a:r>
              <a:endPara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3060274" y="2665766"/>
            <a:ext cx="6110824" cy="410400"/>
            <a:chOff x="3060274" y="2658560"/>
            <a:chExt cx="6110824" cy="410400"/>
          </a:xfrm>
        </p:grpSpPr>
        <p:sp>
          <p:nvSpPr>
            <p:cNvPr id="92" name="직사각형 91">
              <a:extLst>
                <a:ext uri="{FF2B5EF4-FFF2-40B4-BE49-F238E27FC236}">
                  <a16:creationId xmlns="" xmlns:a16="http://schemas.microsoft.com/office/drawing/2014/main" id="{B22CB68C-1A52-4323-9BA6-715C4CA74F06}"/>
                </a:ext>
              </a:extLst>
            </p:cNvPr>
            <p:cNvSpPr/>
            <p:nvPr/>
          </p:nvSpPr>
          <p:spPr>
            <a:xfrm>
              <a:off x="3060274" y="2658560"/>
              <a:ext cx="968366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목적 및 필요성</a:t>
              </a: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="" xmlns:a16="http://schemas.microsoft.com/office/drawing/2014/main" id="{746CCBF5-18E3-4846-B382-B28F40C95B89}"/>
                </a:ext>
              </a:extLst>
            </p:cNvPr>
            <p:cNvSpPr/>
            <p:nvPr/>
          </p:nvSpPr>
          <p:spPr>
            <a:xfrm>
              <a:off x="4095098" y="2658560"/>
              <a:ext cx="5076000" cy="410400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예산관리의 체계화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,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표준화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,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명확하고 원활한 절차 관리로 업무 편의성 제고</a:t>
              </a:r>
              <a:endPara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3060274" y="3842560"/>
            <a:ext cx="6110823" cy="1458103"/>
            <a:chOff x="3060274" y="3840310"/>
            <a:chExt cx="6110823" cy="1458103"/>
          </a:xfrm>
        </p:grpSpPr>
        <p:sp>
          <p:nvSpPr>
            <p:cNvPr id="94" name="직사각형 93">
              <a:extLst>
                <a:ext uri="{FF2B5EF4-FFF2-40B4-BE49-F238E27FC236}">
                  <a16:creationId xmlns="" xmlns:a16="http://schemas.microsoft.com/office/drawing/2014/main" id="{C70CC1FB-D735-4714-A12C-D27BF40CD53F}"/>
                </a:ext>
              </a:extLst>
            </p:cNvPr>
            <p:cNvSpPr/>
            <p:nvPr/>
          </p:nvSpPr>
          <p:spPr>
            <a:xfrm>
              <a:off x="3060274" y="3840310"/>
              <a:ext cx="968366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개선 방향</a:t>
              </a: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="" xmlns:a16="http://schemas.microsoft.com/office/drawing/2014/main" id="{5FC3F293-C2CE-4C3A-A082-2985541B2A49}"/>
                </a:ext>
              </a:extLst>
            </p:cNvPr>
            <p:cNvSpPr/>
            <p:nvPr/>
          </p:nvSpPr>
          <p:spPr>
            <a:xfrm>
              <a:off x="4095097" y="3840310"/>
              <a:ext cx="5076000" cy="1458103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예산편성</a:t>
              </a:r>
              <a:r>
                <a:rPr kumimoji="1" lang="ko-KR" altLang="en-US" sz="1000" b="0" i="0" u="none" strike="noStrike" kern="0" cap="none" spc="0" normalizeH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 업무를 </a:t>
              </a:r>
              <a:r>
                <a:rPr kumimoji="1" lang="en-US" altLang="ko-KR" sz="1000" kern="0" dirty="0">
                  <a:solidFill>
                    <a:prstClr val="black"/>
                  </a:solidFill>
                  <a:latin typeface="+mn-ea"/>
                </a:rPr>
                <a:t>Analog </a:t>
              </a:r>
              <a:r>
                <a:rPr kumimoji="1" lang="ko-KR" altLang="en-US" sz="1000" kern="0" dirty="0">
                  <a:solidFill>
                    <a:prstClr val="black"/>
                  </a:solidFill>
                  <a:latin typeface="+mn-ea"/>
                </a:rPr>
                <a:t>방식에서 정형화되고 세분화된 </a:t>
              </a:r>
              <a:r>
                <a:rPr kumimoji="1" lang="en-US" altLang="ko-KR" sz="1000" kern="0" dirty="0">
                  <a:solidFill>
                    <a:prstClr val="black"/>
                  </a:solidFill>
                  <a:latin typeface="+mn-ea"/>
                </a:rPr>
                <a:t>Digital </a:t>
              </a:r>
              <a:r>
                <a:rPr kumimoji="1" lang="ko-KR" altLang="en-US" sz="1000" kern="0" dirty="0">
                  <a:solidFill>
                    <a:prstClr val="black"/>
                  </a:solidFill>
                  <a:latin typeface="+mn-ea"/>
                </a:rPr>
                <a:t>방식으로 전환하여 일관되고 명확한 예산편성과 다양한 예산분석 체계 설계 </a:t>
              </a:r>
              <a:endPara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예산 편성 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&gt;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배정 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&gt;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조정 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&gt;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집행통제 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&gt;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실적집계 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&gt;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예산결산 체계화</a:t>
              </a:r>
              <a:endParaRPr kumimoji="1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수주사업에 대한 예산관리 기준 마련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</a:rPr>
                <a:t>(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부문별 예산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  <a:sym typeface="Wingdings" panose="05000000000000000000" pitchFamily="2" charset="2"/>
                </a:rPr>
                <a:t>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  <a:sym typeface="Wingdings" panose="05000000000000000000" pitchFamily="2" charset="2"/>
                </a:rPr>
                <a:t>실행예산 관리 체계</a:t>
              </a:r>
              <a:endParaRPr kumimoji="1" lang="en-US" altLang="ko-KR" sz="1000" kern="0" smtClean="0">
                <a:solidFill>
                  <a:prstClr val="black"/>
                </a:solidFill>
                <a:latin typeface="+mn-ea"/>
                <a:sym typeface="Wingdings" panose="05000000000000000000" pitchFamily="2" charset="2"/>
              </a:endParaRPr>
            </a:p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예산편성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</a:rPr>
                <a:t>~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예산결산 전 과정의 신청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</a:rPr>
                <a:t>/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승인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</a:rPr>
                <a:t>/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확정 처리의 전자결재 연동 처리</a:t>
              </a:r>
              <a:endParaRPr kumimoji="1" lang="en-US" altLang="ko-KR" sz="1000" kern="0" smtClean="0">
                <a:solidFill>
                  <a:prstClr val="black"/>
                </a:solidFill>
                <a:latin typeface="+mn-ea"/>
              </a:endParaRPr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3060274" y="5444757"/>
            <a:ext cx="6110823" cy="728295"/>
            <a:chOff x="3060274" y="5588825"/>
            <a:chExt cx="6110823" cy="758942"/>
          </a:xfrm>
        </p:grpSpPr>
        <p:sp>
          <p:nvSpPr>
            <p:cNvPr id="96" name="직사각형 95">
              <a:extLst>
                <a:ext uri="{FF2B5EF4-FFF2-40B4-BE49-F238E27FC236}">
                  <a16:creationId xmlns="" xmlns:a16="http://schemas.microsoft.com/office/drawing/2014/main" id="{9F60708A-697A-422E-84EB-603677EFF344}"/>
                </a:ext>
              </a:extLst>
            </p:cNvPr>
            <p:cNvSpPr/>
            <p:nvPr/>
          </p:nvSpPr>
          <p:spPr>
            <a:xfrm>
              <a:off x="3060274" y="5589313"/>
              <a:ext cx="968366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고려사항</a:t>
              </a: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="" xmlns:a16="http://schemas.microsoft.com/office/drawing/2014/main" id="{F3587659-245E-46A2-96B1-18B88C25A318}"/>
                </a:ext>
              </a:extLst>
            </p:cNvPr>
            <p:cNvSpPr/>
            <p:nvPr/>
          </p:nvSpPr>
          <p:spPr>
            <a:xfrm>
              <a:off x="4095097" y="5588825"/>
              <a:ext cx="5076000" cy="758942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예산코드 체계 재 편성</a:t>
              </a:r>
              <a:endParaRPr kumimoji="1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수주사업의 예산관리 기준 마련  </a:t>
              </a:r>
              <a:endParaRPr kumimoji="1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신청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~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승인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~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적용처리 프로세스의 표준화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 </a:t>
              </a:r>
              <a:endPara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44" name="그룹 98">
            <a:extLst>
              <a:ext uri="{FF2B5EF4-FFF2-40B4-BE49-F238E27FC236}">
                <a16:creationId xmlns="" xmlns:a16="http://schemas.microsoft.com/office/drawing/2014/main" id="{9656F7BF-411B-4097-9FB1-3E53ADE28258}"/>
              </a:ext>
            </a:extLst>
          </p:cNvPr>
          <p:cNvGrpSpPr/>
          <p:nvPr/>
        </p:nvGrpSpPr>
        <p:grpSpPr>
          <a:xfrm>
            <a:off x="488504" y="4859635"/>
            <a:ext cx="2028386" cy="453935"/>
            <a:chOff x="401216" y="2918940"/>
            <a:chExt cx="2310143" cy="551720"/>
          </a:xfrm>
        </p:grpSpPr>
        <p:sp>
          <p:nvSpPr>
            <p:cNvPr id="45" name="모서리가 둥근 직사각형 44">
              <a:extLst>
                <a:ext uri="{FF2B5EF4-FFF2-40B4-BE49-F238E27FC236}">
                  <a16:creationId xmlns="" xmlns:a16="http://schemas.microsoft.com/office/drawing/2014/main" id="{FF82C688-A0DF-4BE3-8351-56F6BB3CF5FC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lvl="0" algn="ctr" defTabSz="979488" latinLnBrk="0">
                <a:spcBef>
                  <a:spcPct val="50000"/>
                </a:spcBef>
                <a:defRPr/>
              </a:pPr>
              <a:r>
                <a:rPr lang="ko-KR" altLang="en-US" sz="1000" b="1"/>
                <a:t>예산 조정</a:t>
              </a:r>
              <a:r>
                <a:rPr lang="en-US" altLang="ko-KR" sz="1000" b="1"/>
                <a:t>(</a:t>
              </a:r>
              <a:r>
                <a:rPr lang="ko-KR" altLang="en-US" sz="1000" b="1"/>
                <a:t>전용</a:t>
              </a:r>
              <a:r>
                <a:rPr lang="en-US" altLang="ko-KR" sz="1000" b="1"/>
                <a:t>/</a:t>
              </a:r>
              <a:r>
                <a:rPr lang="ko-KR" altLang="en-US" sz="1000" b="1"/>
                <a:t>이용</a:t>
              </a:r>
              <a:r>
                <a:rPr lang="en-US" altLang="ko-KR" sz="1000" b="1"/>
                <a:t>) </a:t>
              </a:r>
              <a:r>
                <a:rPr lang="ko-KR" altLang="en-US" sz="1000" b="1"/>
                <a:t>절차 </a:t>
              </a:r>
              <a:endParaRPr lang="en-US" altLang="ko-KR" sz="1000" b="1" smtClean="0"/>
            </a:p>
            <a:p>
              <a:pPr lvl="0" algn="ctr" defTabSz="979488" latinLnBrk="0">
                <a:spcBef>
                  <a:spcPct val="50000"/>
                </a:spcBef>
                <a:defRPr/>
              </a:pPr>
              <a:r>
                <a:rPr lang="ko-KR" altLang="en-US" sz="1000" b="1" smtClean="0"/>
                <a:t>전자결재 적용</a:t>
              </a:r>
              <a:endPara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46" name="직사각형 10">
              <a:extLst>
                <a:ext uri="{FF2B5EF4-FFF2-40B4-BE49-F238E27FC236}">
                  <a16:creationId xmlns="" xmlns:a16="http://schemas.microsoft.com/office/drawing/2014/main" id="{56B6DA92-25D8-43A6-AE8B-408C4FFF4AAA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5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47" name="그룹 104">
            <a:extLst>
              <a:ext uri="{FF2B5EF4-FFF2-40B4-BE49-F238E27FC236}">
                <a16:creationId xmlns="" xmlns:a16="http://schemas.microsoft.com/office/drawing/2014/main" id="{0A95ACFA-2726-46C1-AD8F-1D87F34F9A7C}"/>
              </a:ext>
            </a:extLst>
          </p:cNvPr>
          <p:cNvGrpSpPr/>
          <p:nvPr/>
        </p:nvGrpSpPr>
        <p:grpSpPr>
          <a:xfrm>
            <a:off x="488504" y="5381998"/>
            <a:ext cx="2028386" cy="453935"/>
            <a:chOff x="401216" y="2918940"/>
            <a:chExt cx="2310143" cy="551720"/>
          </a:xfrm>
        </p:grpSpPr>
        <p:sp>
          <p:nvSpPr>
            <p:cNvPr id="48" name="모서리가 둥근 직사각형 55">
              <a:extLst>
                <a:ext uri="{FF2B5EF4-FFF2-40B4-BE49-F238E27FC236}">
                  <a16:creationId xmlns="" xmlns:a16="http://schemas.microsoft.com/office/drawing/2014/main" id="{04CE164E-A277-4A8C-80F7-9A57D5BDEB44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lvl="0" algn="ctr" defTabSz="979488" latinLnBrk="0">
                <a:defRPr/>
              </a:pPr>
              <a:r>
                <a:rPr lang="ko-KR" altLang="en-US" sz="1000" b="1" smtClean="0"/>
                <a:t>단계별 예산실적 </a:t>
              </a:r>
              <a:endParaRPr lang="en-US" altLang="ko-KR" sz="1000" b="1" smtClean="0"/>
            </a:p>
            <a:p>
              <a:pPr lvl="0" algn="ctr" defTabSz="979488" latinLnBrk="0">
                <a:defRPr/>
              </a:pPr>
              <a:r>
                <a:rPr lang="ko-KR" altLang="en-US" sz="1000" b="1" smtClean="0"/>
                <a:t>실시간 집계</a:t>
              </a:r>
              <a:endPara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49" name="직사각형 10">
              <a:extLst>
                <a:ext uri="{FF2B5EF4-FFF2-40B4-BE49-F238E27FC236}">
                  <a16:creationId xmlns="" xmlns:a16="http://schemas.microsoft.com/office/drawing/2014/main" id="{2BECFB51-2DF0-4032-B0F9-BE080AC78865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6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50" name="그룹 110">
            <a:extLst>
              <a:ext uri="{FF2B5EF4-FFF2-40B4-BE49-F238E27FC236}">
                <a16:creationId xmlns="" xmlns:a16="http://schemas.microsoft.com/office/drawing/2014/main" id="{01D653F6-8988-40E3-B1E2-1DCADFAA862B}"/>
              </a:ext>
            </a:extLst>
          </p:cNvPr>
          <p:cNvGrpSpPr/>
          <p:nvPr/>
        </p:nvGrpSpPr>
        <p:grpSpPr>
          <a:xfrm>
            <a:off x="488504" y="5904361"/>
            <a:ext cx="2028386" cy="453935"/>
            <a:chOff x="401216" y="2918940"/>
            <a:chExt cx="2310143" cy="551720"/>
          </a:xfrm>
        </p:grpSpPr>
        <p:sp>
          <p:nvSpPr>
            <p:cNvPr id="51" name="모서리가 둥근 직사각형 68">
              <a:extLst>
                <a:ext uri="{FF2B5EF4-FFF2-40B4-BE49-F238E27FC236}">
                  <a16:creationId xmlns="" xmlns:a16="http://schemas.microsoft.com/office/drawing/2014/main" id="{520DC5EA-0151-4A4B-876E-90A97C34C9B8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lvl="0" algn="ctr" defTabSz="979488" latinLnBrk="0">
                <a:defRPr/>
              </a:pPr>
              <a:r>
                <a:rPr lang="ko-KR" altLang="en-US" sz="1000" b="1"/>
                <a:t>예산 결산처리 체계화</a:t>
              </a:r>
              <a:endPara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52" name="직사각형 10">
              <a:extLst>
                <a:ext uri="{FF2B5EF4-FFF2-40B4-BE49-F238E27FC236}">
                  <a16:creationId xmlns="" xmlns:a16="http://schemas.microsoft.com/office/drawing/2014/main" id="{F245562B-A3CA-4671-93E0-C42AEAE43791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7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53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pPr>
              <a:spcBef>
                <a:spcPts val="288"/>
              </a:spcBef>
            </a:pPr>
            <a:r>
              <a:rPr lang="en-US" altLang="ko-KR" smtClean="0"/>
              <a:t>Ⅲ. </a:t>
            </a:r>
            <a:r>
              <a:rPr lang="ko-KR" altLang="en-US" smtClean="0"/>
              <a:t>목표모델 설계</a:t>
            </a:r>
            <a:endParaRPr lang="en-US" altLang="ko-KR" dirty="0"/>
          </a:p>
          <a:p>
            <a:pPr>
              <a:spcBef>
                <a:spcPts val="288"/>
              </a:spcBef>
            </a:pPr>
            <a:r>
              <a:rPr lang="en-US" altLang="ko-KR" smtClean="0"/>
              <a:t>1. </a:t>
            </a:r>
            <a:r>
              <a:rPr lang="ko-KR" altLang="en-US" dirty="0"/>
              <a:t>목표모델</a:t>
            </a:r>
            <a:r>
              <a:rPr lang="en-US" altLang="ko-KR" dirty="0"/>
              <a:t> </a:t>
            </a:r>
            <a:r>
              <a:rPr lang="ko-KR" altLang="en-US" dirty="0"/>
              <a:t>개선과제 정의</a:t>
            </a:r>
            <a:endParaRPr lang="en-US" altLang="ko-KR" dirty="0"/>
          </a:p>
          <a:p>
            <a:pPr>
              <a:spcBef>
                <a:spcPts val="288"/>
              </a:spcBef>
            </a:pPr>
            <a:r>
              <a:rPr lang="en-US" altLang="ko-KR" smtClean="0"/>
              <a:t>1.2 </a:t>
            </a:r>
            <a:r>
              <a:rPr lang="ko-KR" altLang="en-US"/>
              <a:t>예산관리 개선 및 업무 효율화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145509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ko-KR" altLang="en-US" smtClean="0"/>
              <a:t>국제회계기준 도입에 의한 회계 전반적인 업무처리 부분을 개선하고</a:t>
            </a:r>
            <a:r>
              <a:rPr lang="en-US" altLang="ko-KR" smtClean="0"/>
              <a:t>, </a:t>
            </a:r>
            <a:r>
              <a:rPr lang="ko-KR" altLang="en-US" smtClean="0"/>
              <a:t>예산</a:t>
            </a:r>
            <a:r>
              <a:rPr lang="en-US" altLang="ko-KR" smtClean="0"/>
              <a:t>, </a:t>
            </a:r>
            <a:r>
              <a:rPr lang="ko-KR" altLang="en-US" smtClean="0"/>
              <a:t>자산</a:t>
            </a:r>
            <a:r>
              <a:rPr lang="en-US" altLang="ko-KR" smtClean="0"/>
              <a:t>, </a:t>
            </a:r>
            <a:r>
              <a:rPr lang="ko-KR" altLang="en-US" smtClean="0"/>
              <a:t>구매</a:t>
            </a:r>
            <a:r>
              <a:rPr lang="en-US" altLang="ko-KR" smtClean="0"/>
              <a:t>, </a:t>
            </a:r>
            <a:r>
              <a:rPr lang="ko-KR" altLang="en-US" smtClean="0"/>
              <a:t>사업</a:t>
            </a:r>
            <a:r>
              <a:rPr lang="en-US" altLang="ko-KR" smtClean="0"/>
              <a:t>, </a:t>
            </a:r>
            <a:r>
              <a:rPr lang="ko-KR" altLang="en-US" smtClean="0"/>
              <a:t>급여 등의 타 시스템에서 발생하는 재무변동사항을 전표형태로 용이하게 취합할 수 있는 구조로 개선하고</a:t>
            </a:r>
            <a:r>
              <a:rPr lang="en-US" altLang="ko-KR" smtClean="0"/>
              <a:t>, </a:t>
            </a:r>
            <a:r>
              <a:rPr lang="ko-KR" altLang="en-US" smtClean="0"/>
              <a:t>외부 시스템과의 긴밀한 연계를 통하여 업무의 정확성과 효율성을 강화하는 방향으로 개선하고자 함</a:t>
            </a:r>
            <a:endParaRPr lang="ko-KR" altLang="en-US" sz="1600" dirty="0"/>
          </a:p>
        </p:txBody>
      </p:sp>
      <p:sp>
        <p:nvSpPr>
          <p:cNvPr id="36" name="제목 35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1.3 </a:t>
            </a:r>
            <a:r>
              <a:rPr lang="ko-KR" altLang="en-US" smtClean="0"/>
              <a:t>회계</a:t>
            </a:r>
            <a:r>
              <a:rPr lang="ko-KR" altLang="en-US" smtClean="0">
                <a:solidFill>
                  <a:schemeClr val="tx1"/>
                </a:solidFill>
              </a:rPr>
              <a:t>관리 </a:t>
            </a:r>
            <a:r>
              <a:rPr lang="ko-KR" altLang="en-US">
                <a:solidFill>
                  <a:schemeClr val="tx1"/>
                </a:solidFill>
              </a:rPr>
              <a:t>개선 및 업무 효율화</a:t>
            </a:r>
            <a:r>
              <a:rPr lang="en-US" altLang="ko-KR">
                <a:solidFill>
                  <a:srgbClr val="00437A"/>
                </a:solidFill>
              </a:rPr>
              <a:t/>
            </a:r>
            <a:br>
              <a:rPr lang="en-US" altLang="ko-KR">
                <a:solidFill>
                  <a:srgbClr val="00437A"/>
                </a:solidFill>
              </a:rPr>
            </a:br>
            <a:r>
              <a:rPr lang="en-US" altLang="ko-KR" sz="1800" smtClean="0"/>
              <a:t>1.3.1 </a:t>
            </a:r>
            <a:r>
              <a:rPr lang="ko-KR" altLang="en-US" sz="1800" smtClean="0"/>
              <a:t>회계관리 개선 </a:t>
            </a:r>
            <a:r>
              <a:rPr lang="ko-KR" altLang="en-US" sz="1800"/>
              <a:t>방안</a:t>
            </a:r>
            <a:endParaRPr lang="ko-KR" altLang="en-US" sz="1800" dirty="0"/>
          </a:p>
        </p:txBody>
      </p:sp>
      <p:grpSp>
        <p:nvGrpSpPr>
          <p:cNvPr id="3" name="그룹 77">
            <a:extLst>
              <a:ext uri="{FF2B5EF4-FFF2-40B4-BE49-F238E27FC236}">
                <a16:creationId xmlns="" xmlns:a16="http://schemas.microsoft.com/office/drawing/2014/main" id="{B0511B2C-F5D4-492B-8A5A-D90A0D0B3868}"/>
              </a:ext>
            </a:extLst>
          </p:cNvPr>
          <p:cNvGrpSpPr/>
          <p:nvPr/>
        </p:nvGrpSpPr>
        <p:grpSpPr>
          <a:xfrm>
            <a:off x="355147" y="1592796"/>
            <a:ext cx="9180512" cy="4788532"/>
            <a:chOff x="200025" y="1592796"/>
            <a:chExt cx="6733195" cy="4788532"/>
          </a:xfrm>
        </p:grpSpPr>
        <p:sp>
          <p:nvSpPr>
            <p:cNvPr id="79" name="직사각형 78">
              <a:extLst>
                <a:ext uri="{FF2B5EF4-FFF2-40B4-BE49-F238E27FC236}">
                  <a16:creationId xmlns="" xmlns:a16="http://schemas.microsoft.com/office/drawing/2014/main" id="{7A02AF25-67DB-49E8-A9F5-7456F591158A}"/>
                </a:ext>
              </a:extLst>
            </p:cNvPr>
            <p:cNvSpPr/>
            <p:nvPr/>
          </p:nvSpPr>
          <p:spPr bwMode="auto">
            <a:xfrm>
              <a:off x="200025" y="1592796"/>
              <a:ext cx="6733195" cy="324000"/>
            </a:xfrm>
            <a:prstGeom prst="rect">
              <a:avLst/>
            </a:prstGeom>
            <a:solidFill>
              <a:srgbClr val="233C5A"/>
            </a:solidFill>
            <a:ln w="6350" cap="flat" cmpd="sng" algn="ctr">
              <a:solidFill>
                <a:srgbClr val="00437A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과제 개요</a:t>
              </a:r>
            </a:p>
          </p:txBody>
        </p:sp>
        <p:sp>
          <p:nvSpPr>
            <p:cNvPr id="80" name="Rectangle 4">
              <a:extLst>
                <a:ext uri="{FF2B5EF4-FFF2-40B4-BE49-F238E27FC236}">
                  <a16:creationId xmlns="" xmlns:a16="http://schemas.microsoft.com/office/drawing/2014/main" id="{2D8432D5-5596-482C-A21A-563B582C8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25" y="1916832"/>
              <a:ext cx="6733195" cy="4464496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round/>
              <a:headEnd type="none" w="med" len="med"/>
              <a:tailEnd type="none" w="sm" len="sm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80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265113" marR="0" lvl="0" indent="-265113" defTabSz="914400" eaLnBrk="0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ct val="0"/>
                </a:spcAft>
                <a:buClr>
                  <a:prstClr val="black"/>
                </a:buClr>
                <a:buSzTx/>
                <a:buFont typeface="Wingdings" pitchFamily="2" charset="2"/>
                <a:buChar char="q"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8" name="자유형: 도형 7">
            <a:extLst>
              <a:ext uri="{FF2B5EF4-FFF2-40B4-BE49-F238E27FC236}">
                <a16:creationId xmlns="" xmlns:a16="http://schemas.microsoft.com/office/drawing/2014/main" id="{DC8F9B3D-33EF-48D3-A461-A50900D519EB}"/>
              </a:ext>
            </a:extLst>
          </p:cNvPr>
          <p:cNvSpPr/>
          <p:nvPr/>
        </p:nvSpPr>
        <p:spPr>
          <a:xfrm>
            <a:off x="2472277" y="2002612"/>
            <a:ext cx="521540" cy="4299947"/>
          </a:xfrm>
          <a:custGeom>
            <a:avLst/>
            <a:gdLst>
              <a:gd name="connsiteX0" fmla="*/ 0 w 528992"/>
              <a:gd name="connsiteY0" fmla="*/ 324952 h 4299947"/>
              <a:gd name="connsiteX1" fmla="*/ 37785 w 528992"/>
              <a:gd name="connsiteY1" fmla="*/ 4012780 h 4299947"/>
              <a:gd name="connsiteX2" fmla="*/ 521435 w 528992"/>
              <a:gd name="connsiteY2" fmla="*/ 4299947 h 4299947"/>
              <a:gd name="connsiteX3" fmla="*/ 528992 w 528992"/>
              <a:gd name="connsiteY3" fmla="*/ 0 h 4299947"/>
              <a:gd name="connsiteX4" fmla="*/ 0 w 528992"/>
              <a:gd name="connsiteY4" fmla="*/ 324952 h 4299947"/>
              <a:gd name="connsiteX0" fmla="*/ 0 w 528992"/>
              <a:gd name="connsiteY0" fmla="*/ 324952 h 4299947"/>
              <a:gd name="connsiteX1" fmla="*/ 8650 w 528992"/>
              <a:gd name="connsiteY1" fmla="*/ 3613946 h 4299947"/>
              <a:gd name="connsiteX2" fmla="*/ 521435 w 528992"/>
              <a:gd name="connsiteY2" fmla="*/ 4299947 h 4299947"/>
              <a:gd name="connsiteX3" fmla="*/ 528992 w 528992"/>
              <a:gd name="connsiteY3" fmla="*/ 0 h 4299947"/>
              <a:gd name="connsiteX4" fmla="*/ 0 w 528992"/>
              <a:gd name="connsiteY4" fmla="*/ 324952 h 4299947"/>
              <a:gd name="connsiteX0" fmla="*/ 11113 w 520681"/>
              <a:gd name="connsiteY0" fmla="*/ 714058 h 4299947"/>
              <a:gd name="connsiteX1" fmla="*/ 339 w 520681"/>
              <a:gd name="connsiteY1" fmla="*/ 3613946 h 4299947"/>
              <a:gd name="connsiteX2" fmla="*/ 513124 w 520681"/>
              <a:gd name="connsiteY2" fmla="*/ 4299947 h 4299947"/>
              <a:gd name="connsiteX3" fmla="*/ 520681 w 520681"/>
              <a:gd name="connsiteY3" fmla="*/ 0 h 4299947"/>
              <a:gd name="connsiteX4" fmla="*/ 11113 w 520681"/>
              <a:gd name="connsiteY4" fmla="*/ 714058 h 4299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0681" h="4299947">
                <a:moveTo>
                  <a:pt x="11113" y="714058"/>
                </a:moveTo>
                <a:cubicBezTo>
                  <a:pt x="13996" y="1810389"/>
                  <a:pt x="-2544" y="2517615"/>
                  <a:pt x="339" y="3613946"/>
                </a:cubicBezTo>
                <a:lnTo>
                  <a:pt x="513124" y="4299947"/>
                </a:lnTo>
                <a:lnTo>
                  <a:pt x="520681" y="0"/>
                </a:lnTo>
                <a:lnTo>
                  <a:pt x="11113" y="714058"/>
                </a:lnTo>
                <a:close/>
              </a:path>
            </a:pathLst>
          </a:custGeom>
          <a:gradFill>
            <a:gsLst>
              <a:gs pos="82000">
                <a:schemeClr val="bg1">
                  <a:lumMod val="85000"/>
                </a:schemeClr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모서리가 둥근 직사각형 19">
            <a:extLst>
              <a:ext uri="{FF2B5EF4-FFF2-40B4-BE49-F238E27FC236}">
                <a16:creationId xmlns="" xmlns:a16="http://schemas.microsoft.com/office/drawing/2014/main" id="{539E2FF8-462F-4EA5-A32E-3A3A41EAC070}"/>
              </a:ext>
            </a:extLst>
          </p:cNvPr>
          <p:cNvSpPr/>
          <p:nvPr/>
        </p:nvSpPr>
        <p:spPr>
          <a:xfrm>
            <a:off x="476077" y="2035656"/>
            <a:ext cx="2028386" cy="673957"/>
          </a:xfrm>
          <a:prstGeom prst="roundRect">
            <a:avLst>
              <a:gd name="adj" fmla="val 7000"/>
            </a:avLst>
          </a:prstGeom>
          <a:solidFill>
            <a:sysClr val="window" lastClr="FFFFFF"/>
          </a:solidFill>
          <a:ln w="28575" cap="flat" cmpd="sng" algn="ctr">
            <a:solidFill>
              <a:srgbClr val="4678B4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SzTx/>
              <a:buFontTx/>
              <a:buNone/>
              <a:tabLst/>
              <a:defRPr/>
            </a:pPr>
            <a:r>
              <a:rPr lang="ko-KR" altLang="en-US" sz="1400" b="1" kern="0" spc="-150" smtClean="0">
                <a:solidFill>
                  <a:prstClr val="black"/>
                </a:solidFill>
                <a:latin typeface="+mn-ea"/>
              </a:rPr>
              <a:t>회계관리 개선 및</a:t>
            </a:r>
            <a:endParaRPr lang="en-US" altLang="ko-KR" sz="1400" b="1" kern="0" spc="-150" smtClean="0">
              <a:solidFill>
                <a:prstClr val="black"/>
              </a:solidFill>
              <a:latin typeface="+mn-ea"/>
            </a:endParaRPr>
          </a:p>
          <a:p>
            <a:pPr marL="0" marR="0" lvl="0" indent="0" algn="ctr" defTabSz="914400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buSzTx/>
              <a:buFontTx/>
              <a:buNone/>
              <a:tabLst/>
              <a:defRPr/>
            </a:pPr>
            <a:r>
              <a:rPr lang="ko-KR" altLang="en-US" sz="1400" b="1" kern="0" spc="-150" smtClean="0">
                <a:solidFill>
                  <a:prstClr val="black"/>
                </a:solidFill>
                <a:latin typeface="+mn-ea"/>
              </a:rPr>
              <a:t>업무 효율화</a:t>
            </a:r>
            <a:endParaRPr kumimoji="0" lang="ko-KR" altLang="en-US" sz="1400" b="1" i="0" u="none" strike="noStrike" kern="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5" name="그룹 81">
            <a:extLst>
              <a:ext uri="{FF2B5EF4-FFF2-40B4-BE49-F238E27FC236}">
                <a16:creationId xmlns="" xmlns:a16="http://schemas.microsoft.com/office/drawing/2014/main" id="{D792162E-1A2F-4430-8D94-E50C5C7DDD9D}"/>
              </a:ext>
            </a:extLst>
          </p:cNvPr>
          <p:cNvGrpSpPr/>
          <p:nvPr/>
        </p:nvGrpSpPr>
        <p:grpSpPr>
          <a:xfrm>
            <a:off x="476077" y="2776125"/>
            <a:ext cx="2028386" cy="453937"/>
            <a:chOff x="401216" y="2918940"/>
            <a:chExt cx="2310143" cy="551723"/>
          </a:xfrm>
        </p:grpSpPr>
        <p:sp>
          <p:nvSpPr>
            <p:cNvPr id="83" name="모서리가 둥근 직사각형 24">
              <a:extLst>
                <a:ext uri="{FF2B5EF4-FFF2-40B4-BE49-F238E27FC236}">
                  <a16:creationId xmlns="" xmlns:a16="http://schemas.microsoft.com/office/drawing/2014/main" id="{5EEF05A2-CF17-4500-8CD5-18B4D1D2D591}"/>
                </a:ext>
              </a:extLst>
            </p:cNvPr>
            <p:cNvSpPr/>
            <p:nvPr/>
          </p:nvSpPr>
          <p:spPr>
            <a:xfrm>
              <a:off x="401216" y="2918943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79488" latinLnBrk="0">
                <a:spcBef>
                  <a:spcPct val="50000"/>
                </a:spcBef>
              </a:pPr>
              <a:r>
                <a:rPr lang="ko-KR" altLang="en-US" sz="1000" b="1" smtClean="0"/>
                <a:t>회계</a:t>
              </a:r>
              <a:r>
                <a:rPr lang="en-US" altLang="ko-KR" sz="1000" b="1" smtClean="0"/>
                <a:t> </a:t>
              </a:r>
              <a:r>
                <a:rPr lang="ko-KR" altLang="en-US" sz="1000" b="1" smtClean="0"/>
                <a:t>기준정보 개선</a:t>
              </a:r>
              <a:endParaRPr kumimoji="1" lang="ko-KR" altLang="en-US" sz="1000" b="1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4" name="직사각형 10">
              <a:extLst>
                <a:ext uri="{FF2B5EF4-FFF2-40B4-BE49-F238E27FC236}">
                  <a16:creationId xmlns="" xmlns:a16="http://schemas.microsoft.com/office/drawing/2014/main" id="{485F56EC-22C4-4812-984A-A12C60678EBC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1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6" name="그룹 98">
            <a:extLst>
              <a:ext uri="{FF2B5EF4-FFF2-40B4-BE49-F238E27FC236}">
                <a16:creationId xmlns="" xmlns:a16="http://schemas.microsoft.com/office/drawing/2014/main" id="{9656F7BF-411B-4097-9FB1-3E53ADE28258}"/>
              </a:ext>
            </a:extLst>
          </p:cNvPr>
          <p:cNvGrpSpPr/>
          <p:nvPr/>
        </p:nvGrpSpPr>
        <p:grpSpPr>
          <a:xfrm>
            <a:off x="476077" y="3298491"/>
            <a:ext cx="2028386" cy="453935"/>
            <a:chOff x="401216" y="2918940"/>
            <a:chExt cx="2310143" cy="551720"/>
          </a:xfrm>
        </p:grpSpPr>
        <p:sp>
          <p:nvSpPr>
            <p:cNvPr id="100" name="모서리가 둥근 직사각형 44">
              <a:extLst>
                <a:ext uri="{FF2B5EF4-FFF2-40B4-BE49-F238E27FC236}">
                  <a16:creationId xmlns="" xmlns:a16="http://schemas.microsoft.com/office/drawing/2014/main" id="{FF82C688-A0DF-4BE3-8351-56F6BB3CF5FC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lvl="0" algn="ctr" defTabSz="979488" latinLnBrk="0">
                <a:spcBef>
                  <a:spcPct val="50000"/>
                </a:spcBef>
                <a:defRPr/>
              </a:pPr>
              <a:r>
                <a:rPr lang="ko-KR" altLang="en-US" sz="1000" b="1"/>
                <a:t>결의서 종류 및 </a:t>
              </a:r>
              <a:endParaRPr lang="en-US" altLang="ko-KR" sz="1000" b="1" smtClean="0"/>
            </a:p>
            <a:p>
              <a:pPr lvl="0" algn="ctr" defTabSz="979488" latinLnBrk="0">
                <a:spcBef>
                  <a:spcPct val="50000"/>
                </a:spcBef>
                <a:defRPr/>
              </a:pPr>
              <a:r>
                <a:rPr lang="ko-KR" altLang="en-US" sz="1000" b="1" smtClean="0"/>
                <a:t>기능 </a:t>
              </a:r>
              <a:r>
                <a:rPr lang="ko-KR" altLang="en-US" sz="1000" b="1"/>
                <a:t>세분화</a:t>
              </a:r>
              <a:endPara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01" name="직사각형 10">
              <a:extLst>
                <a:ext uri="{FF2B5EF4-FFF2-40B4-BE49-F238E27FC236}">
                  <a16:creationId xmlns="" xmlns:a16="http://schemas.microsoft.com/office/drawing/2014/main" id="{56B6DA92-25D8-43A6-AE8B-408C4FFF4AAA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2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7" name="그룹 104">
            <a:extLst>
              <a:ext uri="{FF2B5EF4-FFF2-40B4-BE49-F238E27FC236}">
                <a16:creationId xmlns="" xmlns:a16="http://schemas.microsoft.com/office/drawing/2014/main" id="{0A95ACFA-2726-46C1-AD8F-1D87F34F9A7C}"/>
              </a:ext>
            </a:extLst>
          </p:cNvPr>
          <p:cNvGrpSpPr/>
          <p:nvPr/>
        </p:nvGrpSpPr>
        <p:grpSpPr>
          <a:xfrm>
            <a:off x="476077" y="3820854"/>
            <a:ext cx="2028386" cy="453935"/>
            <a:chOff x="401216" y="2918940"/>
            <a:chExt cx="2310143" cy="551720"/>
          </a:xfrm>
        </p:grpSpPr>
        <p:sp>
          <p:nvSpPr>
            <p:cNvPr id="106" name="모서리가 둥근 직사각형 55">
              <a:extLst>
                <a:ext uri="{FF2B5EF4-FFF2-40B4-BE49-F238E27FC236}">
                  <a16:creationId xmlns="" xmlns:a16="http://schemas.microsoft.com/office/drawing/2014/main" id="{04CE164E-A277-4A8C-80F7-9A57D5BDEB44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lvl="0" algn="ctr" defTabSz="979488" latinLnBrk="0">
                <a:defRPr/>
              </a:pPr>
              <a:r>
                <a:rPr lang="ko-KR" altLang="en-US" sz="1000" b="1" smtClean="0"/>
                <a:t>자금집행 프로세스 개선</a:t>
              </a:r>
              <a:endPara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07" name="직사각형 10">
              <a:extLst>
                <a:ext uri="{FF2B5EF4-FFF2-40B4-BE49-F238E27FC236}">
                  <a16:creationId xmlns="" xmlns:a16="http://schemas.microsoft.com/office/drawing/2014/main" id="{2BECFB51-2DF0-4032-B0F9-BE080AC78865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3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9" name="그룹 110">
            <a:extLst>
              <a:ext uri="{FF2B5EF4-FFF2-40B4-BE49-F238E27FC236}">
                <a16:creationId xmlns="" xmlns:a16="http://schemas.microsoft.com/office/drawing/2014/main" id="{01D653F6-8988-40E3-B1E2-1DCADFAA862B}"/>
              </a:ext>
            </a:extLst>
          </p:cNvPr>
          <p:cNvGrpSpPr/>
          <p:nvPr/>
        </p:nvGrpSpPr>
        <p:grpSpPr>
          <a:xfrm>
            <a:off x="476077" y="4343217"/>
            <a:ext cx="2028386" cy="453935"/>
            <a:chOff x="401216" y="2918940"/>
            <a:chExt cx="2310143" cy="551720"/>
          </a:xfrm>
        </p:grpSpPr>
        <p:sp>
          <p:nvSpPr>
            <p:cNvPr id="112" name="모서리가 둥근 직사각형 68">
              <a:extLst>
                <a:ext uri="{FF2B5EF4-FFF2-40B4-BE49-F238E27FC236}">
                  <a16:creationId xmlns="" xmlns:a16="http://schemas.microsoft.com/office/drawing/2014/main" id="{520DC5EA-0151-4A4B-876E-90A97C34C9B8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lvl="0" algn="ctr" defTabSz="979488" latinLnBrk="0">
                <a:defRPr/>
              </a:pPr>
              <a:r>
                <a:rPr lang="ko-KR" altLang="en-US" sz="1000" b="1" smtClean="0"/>
                <a:t>입금 관리 개선</a:t>
              </a:r>
              <a:endPara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13" name="직사각형 10">
              <a:extLst>
                <a:ext uri="{FF2B5EF4-FFF2-40B4-BE49-F238E27FC236}">
                  <a16:creationId xmlns="" xmlns:a16="http://schemas.microsoft.com/office/drawing/2014/main" id="{F245562B-A3CA-4671-93E0-C42AEAE43791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4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85" name="직사각형 84">
            <a:extLst>
              <a:ext uri="{FF2B5EF4-FFF2-40B4-BE49-F238E27FC236}">
                <a16:creationId xmlns="" xmlns:a16="http://schemas.microsoft.com/office/drawing/2014/main" id="{3D81FFC0-71B9-46DA-943A-B129A730D4BD}"/>
              </a:ext>
            </a:extLst>
          </p:cNvPr>
          <p:cNvSpPr/>
          <p:nvPr/>
        </p:nvSpPr>
        <p:spPr>
          <a:xfrm>
            <a:off x="2923626" y="1975288"/>
            <a:ext cx="6433414" cy="4345672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" lastClr="FFFFFF">
                <a:lumMod val="50000"/>
              </a:sys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7969" tIns="48984" rIns="97969" bIns="48984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79488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="" xmlns:a16="http://schemas.microsoft.com/office/drawing/2014/main" id="{3BD8B947-9794-4DA9-A8A0-A2416C4E54C6}"/>
              </a:ext>
            </a:extLst>
          </p:cNvPr>
          <p:cNvSpPr/>
          <p:nvPr/>
        </p:nvSpPr>
        <p:spPr>
          <a:xfrm>
            <a:off x="2993826" y="2026778"/>
            <a:ext cx="853646" cy="4255416"/>
          </a:xfrm>
          <a:prstGeom prst="rect">
            <a:avLst/>
          </a:prstGeom>
          <a:solidFill>
            <a:srgbClr val="C7DDFD"/>
          </a:solidFill>
          <a:ln>
            <a:noFill/>
          </a:ln>
        </p:spPr>
        <p:txBody>
          <a:bodyPr vert="horz" wrap="square" lIns="97969" tIns="48984" rIns="97969" bIns="48984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79488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38" name="그룹 37"/>
          <p:cNvGrpSpPr/>
          <p:nvPr/>
        </p:nvGrpSpPr>
        <p:grpSpPr>
          <a:xfrm>
            <a:off x="3060274" y="2102569"/>
            <a:ext cx="6110824" cy="504000"/>
            <a:chOff x="3060274" y="2102569"/>
            <a:chExt cx="6110824" cy="504000"/>
          </a:xfrm>
        </p:grpSpPr>
        <p:sp>
          <p:nvSpPr>
            <p:cNvPr id="88" name="직사각형 87">
              <a:extLst>
                <a:ext uri="{FF2B5EF4-FFF2-40B4-BE49-F238E27FC236}">
                  <a16:creationId xmlns="" xmlns:a16="http://schemas.microsoft.com/office/drawing/2014/main" id="{462C3777-4666-48F1-B8E7-F560F769B567}"/>
                </a:ext>
              </a:extLst>
            </p:cNvPr>
            <p:cNvSpPr/>
            <p:nvPr/>
          </p:nvSpPr>
          <p:spPr>
            <a:xfrm>
              <a:off x="3060274" y="2102570"/>
              <a:ext cx="968366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과제 정의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="" xmlns:a16="http://schemas.microsoft.com/office/drawing/2014/main" id="{3197124E-28D4-472B-9558-9173E8CA2836}"/>
                </a:ext>
              </a:extLst>
            </p:cNvPr>
            <p:cNvSpPr/>
            <p:nvPr/>
          </p:nvSpPr>
          <p:spPr>
            <a:xfrm>
              <a:off x="4095098" y="2102569"/>
              <a:ext cx="5076000" cy="504000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분산되어 운영되고 있는 회계시스템의 결의서 신청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,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자금관리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,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세무관리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,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결산 관리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등의 기능을 정상화하여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예산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,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구매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,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자산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,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사업관리 시스템과 통합된 시스템으로 운영할 수 있도록 기능 개선 </a:t>
              </a:r>
              <a:endPara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3060274" y="3135363"/>
            <a:ext cx="6110824" cy="648000"/>
            <a:chOff x="3060274" y="3130407"/>
            <a:chExt cx="6110824" cy="648000"/>
          </a:xfrm>
        </p:grpSpPr>
        <p:sp>
          <p:nvSpPr>
            <p:cNvPr id="90" name="직사각형 89">
              <a:extLst>
                <a:ext uri="{FF2B5EF4-FFF2-40B4-BE49-F238E27FC236}">
                  <a16:creationId xmlns="" xmlns:a16="http://schemas.microsoft.com/office/drawing/2014/main" id="{4A3DA6E3-91CE-4B46-AB40-3122683B6F23}"/>
                </a:ext>
              </a:extLst>
            </p:cNvPr>
            <p:cNvSpPr/>
            <p:nvPr/>
          </p:nvSpPr>
          <p:spPr>
            <a:xfrm>
              <a:off x="3060274" y="3130407"/>
              <a:ext cx="968366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현황 및 문제점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="" xmlns:a16="http://schemas.microsoft.com/office/drawing/2014/main" id="{3645D26A-84A7-4B58-98CD-009CE5F34953}"/>
                </a:ext>
              </a:extLst>
            </p:cNvPr>
            <p:cNvSpPr/>
            <p:nvPr/>
          </p:nvSpPr>
          <p:spPr>
            <a:xfrm>
              <a:off x="4095098" y="3130407"/>
              <a:ext cx="5076000" cy="648000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lvl="0" indent="-93663" defTabSz="979488" latinLnBrk="0">
                <a:spcBef>
                  <a:spcPts val="3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kern="0">
                  <a:solidFill>
                    <a:prstClr val="black"/>
                  </a:solidFill>
                  <a:latin typeface="+mn-ea"/>
                </a:rPr>
                <a:t>결의서 신청에서부터 결산까지의 전체적인 업무 </a:t>
              </a:r>
              <a:r>
                <a:rPr kumimoji="1" lang="en-US" altLang="ko-KR" sz="1000" kern="0">
                  <a:solidFill>
                    <a:prstClr val="black"/>
                  </a:solidFill>
                  <a:latin typeface="+mn-ea"/>
                </a:rPr>
                <a:t>FLOW </a:t>
              </a:r>
              <a:r>
                <a:rPr kumimoji="1" lang="ko-KR" altLang="en-US" sz="1000" kern="0">
                  <a:solidFill>
                    <a:prstClr val="black"/>
                  </a:solidFill>
                  <a:latin typeface="+mn-ea"/>
                </a:rPr>
                <a:t>불안정 </a:t>
              </a:r>
              <a:endParaRPr kumimoji="1" lang="en-US" altLang="ko-KR" sz="1000" kern="0" smtClean="0">
                <a:solidFill>
                  <a:prstClr val="black"/>
                </a:solidFill>
                <a:latin typeface="+mn-ea"/>
              </a:endParaRPr>
            </a:p>
            <a:p>
              <a:pPr marL="93663" lvl="0" indent="-93663" defTabSz="979488" latinLnBrk="0">
                <a:spcBef>
                  <a:spcPts val="3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개별 업무를 처리하는 기능의 완성도 미비 및 사용자중심의 편의성 미비</a:t>
              </a:r>
              <a:endParaRPr kumimoji="1" lang="en-US" altLang="ko-KR" sz="1000" kern="0" smtClean="0">
                <a:solidFill>
                  <a:prstClr val="black"/>
                </a:solidFill>
                <a:latin typeface="+mn-ea"/>
              </a:endParaRPr>
            </a:p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결의서 신청관리 외의 기능 불안정으로 더존시스템과 이중으로 운영되고 있음</a:t>
              </a:r>
              <a:endPara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39" name="그룹 38"/>
          <p:cNvGrpSpPr/>
          <p:nvPr/>
        </p:nvGrpSpPr>
        <p:grpSpPr>
          <a:xfrm>
            <a:off x="3060274" y="2665766"/>
            <a:ext cx="6110824" cy="410400"/>
            <a:chOff x="3060274" y="2658560"/>
            <a:chExt cx="6110824" cy="410400"/>
          </a:xfrm>
        </p:grpSpPr>
        <p:sp>
          <p:nvSpPr>
            <p:cNvPr id="92" name="직사각형 91">
              <a:extLst>
                <a:ext uri="{FF2B5EF4-FFF2-40B4-BE49-F238E27FC236}">
                  <a16:creationId xmlns="" xmlns:a16="http://schemas.microsoft.com/office/drawing/2014/main" id="{B22CB68C-1A52-4323-9BA6-715C4CA74F06}"/>
                </a:ext>
              </a:extLst>
            </p:cNvPr>
            <p:cNvSpPr/>
            <p:nvPr/>
          </p:nvSpPr>
          <p:spPr>
            <a:xfrm>
              <a:off x="3060274" y="2658560"/>
              <a:ext cx="968366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목적 및 필요성</a:t>
              </a: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="" xmlns:a16="http://schemas.microsoft.com/office/drawing/2014/main" id="{746CCBF5-18E3-4846-B382-B28F40C95B89}"/>
                </a:ext>
              </a:extLst>
            </p:cNvPr>
            <p:cNvSpPr/>
            <p:nvPr/>
          </p:nvSpPr>
          <p:spPr>
            <a:xfrm>
              <a:off x="4095098" y="2658560"/>
              <a:ext cx="5076000" cy="410400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회계시스템의 기능 정상화로 다시스템과 연계되고 단일화된 시스템 운영 </a:t>
              </a:r>
              <a:endParaRPr kumimoji="1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회계관리의 체계화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,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표준화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,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명확하고 원활한 절차 관리로 정확성과 편의성 제고</a:t>
              </a:r>
              <a:endPara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41" name="그룹 40"/>
          <p:cNvGrpSpPr/>
          <p:nvPr/>
        </p:nvGrpSpPr>
        <p:grpSpPr>
          <a:xfrm>
            <a:off x="3060274" y="3842560"/>
            <a:ext cx="6110823" cy="1742782"/>
            <a:chOff x="3060274" y="3840310"/>
            <a:chExt cx="6110823" cy="1742782"/>
          </a:xfrm>
        </p:grpSpPr>
        <p:sp>
          <p:nvSpPr>
            <p:cNvPr id="94" name="직사각형 93">
              <a:extLst>
                <a:ext uri="{FF2B5EF4-FFF2-40B4-BE49-F238E27FC236}">
                  <a16:creationId xmlns="" xmlns:a16="http://schemas.microsoft.com/office/drawing/2014/main" id="{C70CC1FB-D735-4714-A12C-D27BF40CD53F}"/>
                </a:ext>
              </a:extLst>
            </p:cNvPr>
            <p:cNvSpPr/>
            <p:nvPr/>
          </p:nvSpPr>
          <p:spPr>
            <a:xfrm>
              <a:off x="3060274" y="3840310"/>
              <a:ext cx="968366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개선 방향</a:t>
              </a: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="" xmlns:a16="http://schemas.microsoft.com/office/drawing/2014/main" id="{5FC3F293-C2CE-4C3A-A082-2985541B2A49}"/>
                </a:ext>
              </a:extLst>
            </p:cNvPr>
            <p:cNvSpPr/>
            <p:nvPr/>
          </p:nvSpPr>
          <p:spPr>
            <a:xfrm>
              <a:off x="4095097" y="3840310"/>
              <a:ext cx="5076000" cy="1742782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171450" indent="-171450" fontAlgn="ctr">
                <a:buFont typeface="Wingdings" panose="05000000000000000000" pitchFamily="2" charset="2"/>
                <a:buChar char="§"/>
              </a:pPr>
              <a:r>
                <a:rPr lang="en-US" altLang="ko-KR" sz="1000" smtClean="0"/>
                <a:t>K-IFRS </a:t>
              </a:r>
              <a:r>
                <a:rPr lang="ko-KR" altLang="ko-KR" sz="1000"/>
                <a:t>체계의 계정코드 </a:t>
              </a:r>
              <a:r>
                <a:rPr lang="ko-KR" altLang="ko-KR" sz="1000" smtClean="0"/>
                <a:t>적용</a:t>
              </a:r>
              <a:r>
                <a:rPr lang="en-US" altLang="ko-KR" sz="1000" smtClean="0"/>
                <a:t>, </a:t>
              </a:r>
              <a:r>
                <a:rPr lang="ko-KR" altLang="en-US" sz="1000" smtClean="0"/>
                <a:t>필수항목의 추가관리</a:t>
              </a:r>
              <a:r>
                <a:rPr lang="en-US" altLang="ko-KR" sz="1000" smtClean="0"/>
                <a:t> </a:t>
              </a:r>
              <a:r>
                <a:rPr lang="ko-KR" altLang="en-US" sz="1000" smtClean="0"/>
                <a:t>등 회계 기준정보를 개선</a:t>
              </a:r>
              <a:r>
                <a:rPr lang="en-US" altLang="ko-KR" sz="1000" smtClean="0"/>
                <a:t> </a:t>
              </a:r>
              <a:endParaRPr lang="ko-KR" altLang="ko-KR" sz="1000"/>
            </a:p>
            <a:p>
              <a:pPr marL="171450" indent="-171450" fontAlgn="ctr">
                <a:buFont typeface="Wingdings" panose="05000000000000000000" pitchFamily="2" charset="2"/>
                <a:buChar char="§"/>
              </a:pPr>
              <a:r>
                <a:rPr lang="ko-KR" altLang="ko-KR" sz="1000" smtClean="0"/>
                <a:t>결의</a:t>
              </a:r>
              <a:r>
                <a:rPr lang="ko-KR" altLang="en-US" sz="1000" smtClean="0"/>
                <a:t>서</a:t>
              </a:r>
              <a:r>
                <a:rPr lang="ko-KR" altLang="ko-KR" sz="1000" smtClean="0"/>
                <a:t> </a:t>
              </a:r>
              <a:r>
                <a:rPr lang="ko-KR" altLang="ko-KR" sz="1000"/>
                <a:t>특성에 맞는 </a:t>
              </a:r>
              <a:r>
                <a:rPr lang="ko-KR" altLang="ko-KR" sz="1000" smtClean="0"/>
                <a:t>화면</a:t>
              </a:r>
              <a:r>
                <a:rPr lang="ko-KR" altLang="en-US" sz="1000" smtClean="0"/>
                <a:t>과 처리</a:t>
              </a:r>
              <a:r>
                <a:rPr lang="ko-KR" altLang="ko-KR" sz="1000" smtClean="0"/>
                <a:t>기능 </a:t>
              </a:r>
              <a:r>
                <a:rPr lang="ko-KR" altLang="en-US" sz="1000" smtClean="0"/>
                <a:t>재 </a:t>
              </a:r>
              <a:r>
                <a:rPr lang="ko-KR" altLang="ko-KR" sz="1000" smtClean="0"/>
                <a:t>구성</a:t>
              </a:r>
              <a:r>
                <a:rPr lang="ko-KR" altLang="en-US" sz="1000" smtClean="0"/>
                <a:t>으로 관련시스템과 연계처리하고</a:t>
              </a:r>
              <a:r>
                <a:rPr lang="en-US" altLang="ko-KR" sz="1000" smtClean="0"/>
                <a:t>,</a:t>
              </a:r>
              <a:endParaRPr lang="ko-KR" altLang="ko-KR" sz="1000"/>
            </a:p>
            <a:p>
              <a:pPr fontAlgn="ctr"/>
              <a:r>
                <a:rPr lang="en-US" altLang="ko-KR" sz="1000" smtClean="0"/>
                <a:t>    </a:t>
              </a:r>
              <a:r>
                <a:rPr lang="ko-KR" altLang="ko-KR" sz="1000" smtClean="0"/>
                <a:t>계정별 </a:t>
              </a:r>
              <a:r>
                <a:rPr lang="ko-KR" altLang="ko-KR" sz="1000"/>
                <a:t>필수항목 </a:t>
              </a:r>
              <a:r>
                <a:rPr lang="ko-KR" altLang="ko-KR" sz="1000" smtClean="0"/>
                <a:t>검증</a:t>
              </a:r>
              <a:r>
                <a:rPr lang="ko-KR" altLang="en-US" sz="1000" smtClean="0"/>
                <a:t>을 통한</a:t>
              </a:r>
              <a:r>
                <a:rPr lang="ko-KR" altLang="ko-KR" sz="1000" smtClean="0"/>
                <a:t> 완벽한 </a:t>
              </a:r>
              <a:r>
                <a:rPr lang="ko-KR" altLang="ko-KR" sz="1000"/>
                <a:t>자동분개 시스템 </a:t>
              </a:r>
              <a:r>
                <a:rPr lang="ko-KR" altLang="ko-KR" sz="1000" smtClean="0"/>
                <a:t>구축</a:t>
              </a:r>
            </a:p>
            <a:p>
              <a:pPr fontAlgn="ctr"/>
              <a:r>
                <a:rPr lang="en-US" altLang="ko-KR" sz="1000" smtClean="0"/>
                <a:t>    - </a:t>
              </a:r>
              <a:r>
                <a:rPr lang="ko-KR" altLang="ko-KR" sz="1000" smtClean="0"/>
                <a:t>전자증빙시스템 도입</a:t>
              </a:r>
              <a:r>
                <a:rPr lang="en-US" altLang="ko-KR" sz="1000" smtClean="0"/>
                <a:t>, </a:t>
              </a:r>
              <a:r>
                <a:rPr lang="ko-KR" altLang="ko-KR" sz="1000" smtClean="0"/>
                <a:t>예산 실시간 통제</a:t>
              </a:r>
              <a:r>
                <a:rPr lang="en-US" altLang="ko-KR" sz="1000" smtClean="0"/>
                <a:t>/</a:t>
              </a:r>
              <a:r>
                <a:rPr lang="ko-KR" altLang="ko-KR" sz="1000" smtClean="0"/>
                <a:t>집계</a:t>
              </a:r>
            </a:p>
            <a:p>
              <a:pPr marL="171450" indent="-171450" fontAlgn="ctr">
                <a:buFont typeface="Wingdings" panose="05000000000000000000" pitchFamily="2" charset="2"/>
                <a:buChar char="§"/>
              </a:pPr>
              <a:r>
                <a:rPr lang="ko-KR" altLang="en-US" sz="1000" smtClean="0"/>
                <a:t>자금 집행대상</a:t>
              </a:r>
              <a:r>
                <a:rPr lang="en-US" altLang="ko-KR" sz="1000" smtClean="0"/>
                <a:t>TABLE</a:t>
              </a:r>
              <a:r>
                <a:rPr lang="ko-KR" altLang="en-US" sz="1000" smtClean="0"/>
                <a:t>의 생성</a:t>
              </a:r>
              <a:r>
                <a:rPr lang="en-US" altLang="ko-KR" sz="1000" smtClean="0"/>
                <a:t>/</a:t>
              </a:r>
              <a:r>
                <a:rPr lang="ko-KR" altLang="en-US" sz="1000" smtClean="0"/>
                <a:t>과정관리로 신청</a:t>
              </a:r>
              <a:r>
                <a:rPr lang="en-US" altLang="ko-KR" sz="1000" smtClean="0"/>
                <a:t>~</a:t>
              </a:r>
              <a:r>
                <a:rPr lang="ko-KR" altLang="en-US" sz="1000" smtClean="0"/>
                <a:t>출금완료까지의 이력 관리</a:t>
              </a:r>
              <a:endParaRPr lang="en-US" altLang="ko-KR" sz="1000" smtClean="0"/>
            </a:p>
            <a:p>
              <a:pPr fontAlgn="ctr"/>
              <a:r>
                <a:rPr lang="en-US" altLang="ko-KR" sz="1000"/>
                <a:t> </a:t>
              </a:r>
              <a:r>
                <a:rPr lang="en-US" altLang="ko-KR" sz="1000" smtClean="0"/>
                <a:t>   (</a:t>
              </a:r>
              <a:r>
                <a:rPr lang="ko-KR" altLang="ko-KR" sz="1000" smtClean="0"/>
                <a:t>출금 </a:t>
              </a:r>
              <a:r>
                <a:rPr lang="ko-KR" altLang="ko-KR" sz="1000"/>
                <a:t>절차 및 출금결과 건별 </a:t>
              </a:r>
              <a:r>
                <a:rPr lang="ko-KR" altLang="ko-KR" sz="1000" smtClean="0"/>
                <a:t>관리</a:t>
              </a:r>
              <a:r>
                <a:rPr lang="en-US" altLang="ko-KR" sz="1000" smtClean="0"/>
                <a:t> : </a:t>
              </a:r>
              <a:r>
                <a:rPr lang="ko-KR" altLang="ko-KR" sz="1000" smtClean="0"/>
                <a:t>집행요청</a:t>
              </a:r>
              <a:r>
                <a:rPr lang="en-US" altLang="ko-KR" sz="1000">
                  <a:sym typeface="Wingdings" panose="05000000000000000000" pitchFamily="2" charset="2"/>
                </a:rPr>
                <a:t></a:t>
              </a:r>
              <a:r>
                <a:rPr lang="ko-KR" altLang="ko-KR" sz="1000"/>
                <a:t>승인</a:t>
              </a:r>
              <a:r>
                <a:rPr lang="en-US" altLang="ko-KR" sz="1000">
                  <a:sym typeface="Wingdings" panose="05000000000000000000" pitchFamily="2" charset="2"/>
                </a:rPr>
                <a:t></a:t>
              </a:r>
              <a:r>
                <a:rPr lang="ko-KR" altLang="ko-KR" sz="1000"/>
                <a:t>출금</a:t>
              </a:r>
              <a:r>
                <a:rPr lang="en-US" altLang="ko-KR" sz="1000">
                  <a:sym typeface="Wingdings" panose="05000000000000000000" pitchFamily="2" charset="2"/>
                </a:rPr>
                <a:t></a:t>
              </a:r>
              <a:r>
                <a:rPr lang="ko-KR" altLang="ko-KR" sz="1000"/>
                <a:t>출금전표</a:t>
              </a:r>
              <a:r>
                <a:rPr lang="en-US" altLang="ko-KR" sz="1000"/>
                <a:t>)  </a:t>
              </a:r>
              <a:endParaRPr lang="ko-KR" altLang="ko-KR" sz="1000"/>
            </a:p>
            <a:p>
              <a:pPr marL="171450" indent="-171450" fontAlgn="ctr">
                <a:buFont typeface="Wingdings" panose="05000000000000000000" pitchFamily="2" charset="2"/>
                <a:buChar char="§"/>
              </a:pPr>
              <a:r>
                <a:rPr lang="ko-KR" altLang="ko-KR" sz="1000" smtClean="0"/>
                <a:t>입금 </a:t>
              </a:r>
              <a:r>
                <a:rPr lang="en-US" altLang="ko-KR" sz="1000" smtClean="0"/>
                <a:t>DATA </a:t>
              </a:r>
              <a:r>
                <a:rPr lang="ko-KR" altLang="ko-KR" sz="1000" smtClean="0"/>
                <a:t>수신시점에 입금전표 자동 생성</a:t>
              </a:r>
              <a:r>
                <a:rPr lang="en-US" altLang="ko-KR" sz="1000" smtClean="0"/>
                <a:t> (</a:t>
              </a:r>
              <a:r>
                <a:rPr lang="ko-KR" altLang="ko-KR" sz="1000" smtClean="0"/>
                <a:t>실시간 시재 관리</a:t>
              </a:r>
              <a:r>
                <a:rPr lang="en-US" altLang="ko-KR" sz="1000" smtClean="0"/>
                <a:t>) </a:t>
              </a:r>
              <a:r>
                <a:rPr lang="ko-KR" altLang="en-US" sz="1000" smtClean="0"/>
                <a:t>및 </a:t>
              </a:r>
            </a:p>
            <a:p>
              <a:pPr fontAlgn="ctr"/>
              <a:r>
                <a:rPr lang="en-US" altLang="ko-KR" sz="1000" smtClean="0"/>
                <a:t>    </a:t>
              </a:r>
              <a:r>
                <a:rPr lang="ko-KR" altLang="ko-KR" sz="1000" smtClean="0"/>
                <a:t>수납처리시에 미수금에 대한 정보 선택 후 수납처리로 건별</a:t>
              </a:r>
              <a:r>
                <a:rPr lang="en-US" altLang="ko-KR" sz="1000" smtClean="0"/>
                <a:t> </a:t>
              </a:r>
              <a:r>
                <a:rPr lang="ko-KR" altLang="en-US" sz="1000" smtClean="0"/>
                <a:t>채권회수 </a:t>
              </a:r>
              <a:r>
                <a:rPr lang="ko-KR" altLang="ko-KR" sz="1000" smtClean="0"/>
                <a:t>관리</a:t>
              </a:r>
              <a:endParaRPr lang="ko-KR" altLang="ko-KR" sz="1000"/>
            </a:p>
            <a:p>
              <a:pPr marL="171450" indent="-171450" fontAlgn="ctr">
                <a:buFont typeface="Wingdings" panose="05000000000000000000" pitchFamily="2" charset="2"/>
                <a:buChar char="§"/>
              </a:pPr>
              <a:r>
                <a:rPr lang="ko-KR" altLang="en-US" sz="1000" smtClean="0"/>
                <a:t>부가세 및 원천세의 전자신고 체제 구축</a:t>
              </a:r>
              <a:endParaRPr lang="en-US" altLang="ko-KR" sz="1000" smtClean="0"/>
            </a:p>
            <a:p>
              <a:pPr marL="171450" indent="-171450" fontAlgn="ctr">
                <a:buFont typeface="Wingdings" panose="05000000000000000000" pitchFamily="2" charset="2"/>
                <a:buChar char="§"/>
              </a:pPr>
              <a:r>
                <a:rPr lang="ko-KR" altLang="en-US" sz="1000" smtClean="0"/>
                <a:t>결산전표 자동생성 및 주석 기초자료 입력에 의한 결산주석 자료 추출</a:t>
              </a:r>
              <a:r>
                <a:rPr lang="en-US" altLang="ko-KR" sz="1000" smtClean="0"/>
                <a:t>  </a:t>
              </a:r>
              <a:endParaRPr lang="ko-KR" altLang="ko-KR" sz="1000"/>
            </a:p>
          </p:txBody>
        </p:sp>
      </p:grpSp>
      <p:grpSp>
        <p:nvGrpSpPr>
          <p:cNvPr id="42" name="그룹 41"/>
          <p:cNvGrpSpPr/>
          <p:nvPr/>
        </p:nvGrpSpPr>
        <p:grpSpPr>
          <a:xfrm>
            <a:off x="3060274" y="5733253"/>
            <a:ext cx="6110823" cy="439796"/>
            <a:chOff x="3060274" y="5889464"/>
            <a:chExt cx="6110823" cy="458303"/>
          </a:xfrm>
        </p:grpSpPr>
        <p:sp>
          <p:nvSpPr>
            <p:cNvPr id="96" name="직사각형 95">
              <a:extLst>
                <a:ext uri="{FF2B5EF4-FFF2-40B4-BE49-F238E27FC236}">
                  <a16:creationId xmlns="" xmlns:a16="http://schemas.microsoft.com/office/drawing/2014/main" id="{9F60708A-697A-422E-84EB-603677EFF344}"/>
                </a:ext>
              </a:extLst>
            </p:cNvPr>
            <p:cNvSpPr/>
            <p:nvPr/>
          </p:nvSpPr>
          <p:spPr>
            <a:xfrm>
              <a:off x="3060274" y="5889467"/>
              <a:ext cx="968366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고려사항</a:t>
              </a: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="" xmlns:a16="http://schemas.microsoft.com/office/drawing/2014/main" id="{F3587659-245E-46A2-96B1-18B88C25A318}"/>
                </a:ext>
              </a:extLst>
            </p:cNvPr>
            <p:cNvSpPr/>
            <p:nvPr/>
          </p:nvSpPr>
          <p:spPr>
            <a:xfrm>
              <a:off x="4095097" y="5889464"/>
              <a:ext cx="5076000" cy="458303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2022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년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, 2023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년 전표 처리로 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2024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년 이월 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DATA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현행화</a:t>
              </a:r>
              <a:endParaRPr kumimoji="1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증빙관리시스템 도입에 의한 사용자 편의성 제고 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 </a:t>
              </a:r>
              <a:endPara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44" name="그룹 98">
            <a:extLst>
              <a:ext uri="{FF2B5EF4-FFF2-40B4-BE49-F238E27FC236}">
                <a16:creationId xmlns="" xmlns:a16="http://schemas.microsoft.com/office/drawing/2014/main" id="{9656F7BF-411B-4097-9FB1-3E53ADE28258}"/>
              </a:ext>
            </a:extLst>
          </p:cNvPr>
          <p:cNvGrpSpPr/>
          <p:nvPr/>
        </p:nvGrpSpPr>
        <p:grpSpPr>
          <a:xfrm>
            <a:off x="488504" y="4859635"/>
            <a:ext cx="2028386" cy="453935"/>
            <a:chOff x="401216" y="2918940"/>
            <a:chExt cx="2310143" cy="551720"/>
          </a:xfrm>
        </p:grpSpPr>
        <p:sp>
          <p:nvSpPr>
            <p:cNvPr id="45" name="모서리가 둥근 직사각형 44">
              <a:extLst>
                <a:ext uri="{FF2B5EF4-FFF2-40B4-BE49-F238E27FC236}">
                  <a16:creationId xmlns="" xmlns:a16="http://schemas.microsoft.com/office/drawing/2014/main" id="{FF82C688-A0DF-4BE3-8351-56F6BB3CF5FC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lvl="0" algn="ctr" defTabSz="979488" latinLnBrk="0">
                <a:spcBef>
                  <a:spcPct val="50000"/>
                </a:spcBef>
                <a:defRPr/>
              </a:pPr>
              <a:r>
                <a:rPr lang="ko-KR" altLang="en-US" sz="1000" b="1"/>
                <a:t>세무 전자신고관리 체제 구축</a:t>
              </a:r>
              <a:endPara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46" name="직사각형 10">
              <a:extLst>
                <a:ext uri="{FF2B5EF4-FFF2-40B4-BE49-F238E27FC236}">
                  <a16:creationId xmlns="" xmlns:a16="http://schemas.microsoft.com/office/drawing/2014/main" id="{56B6DA92-25D8-43A6-AE8B-408C4FFF4AAA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5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47" name="그룹 104">
            <a:extLst>
              <a:ext uri="{FF2B5EF4-FFF2-40B4-BE49-F238E27FC236}">
                <a16:creationId xmlns="" xmlns:a16="http://schemas.microsoft.com/office/drawing/2014/main" id="{0A95ACFA-2726-46C1-AD8F-1D87F34F9A7C}"/>
              </a:ext>
            </a:extLst>
          </p:cNvPr>
          <p:cNvGrpSpPr/>
          <p:nvPr/>
        </p:nvGrpSpPr>
        <p:grpSpPr>
          <a:xfrm>
            <a:off x="488504" y="5381998"/>
            <a:ext cx="2028386" cy="453935"/>
            <a:chOff x="401216" y="2918940"/>
            <a:chExt cx="2310143" cy="551720"/>
          </a:xfrm>
        </p:grpSpPr>
        <p:sp>
          <p:nvSpPr>
            <p:cNvPr id="48" name="모서리가 둥근 직사각형 55">
              <a:extLst>
                <a:ext uri="{FF2B5EF4-FFF2-40B4-BE49-F238E27FC236}">
                  <a16:creationId xmlns="" xmlns:a16="http://schemas.microsoft.com/office/drawing/2014/main" id="{04CE164E-A277-4A8C-80F7-9A57D5BDEB44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lvl="0" algn="ctr" defTabSz="979488" latinLnBrk="0">
                <a:defRPr/>
              </a:pPr>
              <a:r>
                <a:rPr lang="ko-KR" altLang="en-US" sz="1000" b="1" smtClean="0"/>
                <a:t>결산 처리 자동화</a:t>
              </a:r>
              <a:endPara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49" name="직사각형 10">
              <a:extLst>
                <a:ext uri="{FF2B5EF4-FFF2-40B4-BE49-F238E27FC236}">
                  <a16:creationId xmlns="" xmlns:a16="http://schemas.microsoft.com/office/drawing/2014/main" id="{2BECFB51-2DF0-4032-B0F9-BE080AC78865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6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50" name="그룹 110">
            <a:extLst>
              <a:ext uri="{FF2B5EF4-FFF2-40B4-BE49-F238E27FC236}">
                <a16:creationId xmlns="" xmlns:a16="http://schemas.microsoft.com/office/drawing/2014/main" id="{01D653F6-8988-40E3-B1E2-1DCADFAA862B}"/>
              </a:ext>
            </a:extLst>
          </p:cNvPr>
          <p:cNvGrpSpPr/>
          <p:nvPr/>
        </p:nvGrpSpPr>
        <p:grpSpPr>
          <a:xfrm>
            <a:off x="488504" y="5904361"/>
            <a:ext cx="2028386" cy="453935"/>
            <a:chOff x="401216" y="2918940"/>
            <a:chExt cx="2310143" cy="551720"/>
          </a:xfrm>
        </p:grpSpPr>
        <p:sp>
          <p:nvSpPr>
            <p:cNvPr id="51" name="모서리가 둥근 직사각형 68">
              <a:extLst>
                <a:ext uri="{FF2B5EF4-FFF2-40B4-BE49-F238E27FC236}">
                  <a16:creationId xmlns="" xmlns:a16="http://schemas.microsoft.com/office/drawing/2014/main" id="{520DC5EA-0151-4A4B-876E-90A97C34C9B8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lvl="0" algn="ctr" defTabSz="979488" latinLnBrk="0">
                <a:defRPr/>
              </a:pPr>
              <a:r>
                <a:rPr lang="en-US" altLang="ko-KR" sz="1000" b="1"/>
                <a:t>2022</a:t>
              </a:r>
              <a:r>
                <a:rPr lang="ko-KR" altLang="en-US" sz="1000" b="1"/>
                <a:t>년</a:t>
              </a:r>
              <a:r>
                <a:rPr lang="en-US" altLang="ko-KR" sz="1000" b="1"/>
                <a:t>,2023</a:t>
              </a:r>
              <a:r>
                <a:rPr lang="ko-KR" altLang="en-US" sz="1000" b="1"/>
                <a:t>년 </a:t>
              </a:r>
              <a:r>
                <a:rPr lang="ko-KR" altLang="en-US" sz="1000" b="1" smtClean="0"/>
                <a:t>결산자료의</a:t>
              </a:r>
              <a:endParaRPr lang="en-US" altLang="ko-KR" sz="1000" b="1" smtClean="0"/>
            </a:p>
            <a:p>
              <a:pPr lvl="0" algn="ctr" defTabSz="979488" latinLnBrk="0">
                <a:defRPr/>
              </a:pPr>
              <a:r>
                <a:rPr lang="ko-KR" altLang="en-US" sz="1000" b="1" smtClean="0"/>
                <a:t> </a:t>
              </a:r>
              <a:r>
                <a:rPr lang="ko-KR" altLang="en-US" sz="1000" b="1"/>
                <a:t>시스템 반영</a:t>
              </a:r>
              <a:endPara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52" name="직사각형 10">
              <a:extLst>
                <a:ext uri="{FF2B5EF4-FFF2-40B4-BE49-F238E27FC236}">
                  <a16:creationId xmlns="" xmlns:a16="http://schemas.microsoft.com/office/drawing/2014/main" id="{F245562B-A3CA-4671-93E0-C42AEAE43791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7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53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pPr>
              <a:spcBef>
                <a:spcPts val="288"/>
              </a:spcBef>
            </a:pPr>
            <a:r>
              <a:rPr lang="en-US" altLang="ko-KR" smtClean="0"/>
              <a:t>Ⅲ. </a:t>
            </a:r>
            <a:r>
              <a:rPr lang="ko-KR" altLang="en-US" smtClean="0"/>
              <a:t>목표모델 설계</a:t>
            </a:r>
            <a:endParaRPr lang="en-US" altLang="ko-KR" dirty="0"/>
          </a:p>
          <a:p>
            <a:pPr>
              <a:spcBef>
                <a:spcPts val="288"/>
              </a:spcBef>
            </a:pPr>
            <a:r>
              <a:rPr lang="en-US" altLang="ko-KR" smtClean="0"/>
              <a:t>1. </a:t>
            </a:r>
            <a:r>
              <a:rPr lang="ko-KR" altLang="en-US" dirty="0"/>
              <a:t>목표모델</a:t>
            </a:r>
            <a:r>
              <a:rPr lang="en-US" altLang="ko-KR" dirty="0"/>
              <a:t> </a:t>
            </a:r>
            <a:r>
              <a:rPr lang="ko-KR" altLang="en-US" dirty="0"/>
              <a:t>개선과제 정의</a:t>
            </a:r>
            <a:endParaRPr lang="en-US" altLang="ko-KR" dirty="0"/>
          </a:p>
          <a:p>
            <a:pPr>
              <a:spcBef>
                <a:spcPts val="288"/>
              </a:spcBef>
            </a:pPr>
            <a:r>
              <a:rPr lang="en-US" altLang="ko-KR" smtClean="0"/>
              <a:t>1.3 </a:t>
            </a:r>
            <a:r>
              <a:rPr lang="ko-KR" altLang="en-US" smtClean="0"/>
              <a:t>회계관리 </a:t>
            </a:r>
            <a:r>
              <a:rPr lang="ko-KR" altLang="en-US"/>
              <a:t>개선 및 업무 효율화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529341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ko-KR" altLang="en-US" smtClean="0">
                <a:latin typeface="+mn-ea"/>
                <a:ea typeface="+mn-ea"/>
              </a:rPr>
              <a:t>예산</a:t>
            </a:r>
            <a:r>
              <a:rPr lang="en-US" altLang="ko-KR">
                <a:latin typeface="+mn-ea"/>
                <a:ea typeface="+mn-ea"/>
              </a:rPr>
              <a:t>, </a:t>
            </a:r>
            <a:r>
              <a:rPr lang="ko-KR" altLang="en-US">
                <a:latin typeface="+mn-ea"/>
                <a:ea typeface="+mn-ea"/>
              </a:rPr>
              <a:t>회계</a:t>
            </a:r>
            <a:r>
              <a:rPr lang="en-US" altLang="ko-KR">
                <a:latin typeface="+mn-ea"/>
                <a:ea typeface="+mn-ea"/>
              </a:rPr>
              <a:t>, </a:t>
            </a:r>
            <a:r>
              <a:rPr lang="ko-KR" altLang="en-US">
                <a:latin typeface="+mn-ea"/>
                <a:ea typeface="+mn-ea"/>
              </a:rPr>
              <a:t>자산관리 </a:t>
            </a:r>
            <a:r>
              <a:rPr lang="ko-KR" altLang="en-US" smtClean="0">
                <a:latin typeface="+mn-ea"/>
                <a:ea typeface="+mn-ea"/>
              </a:rPr>
              <a:t>시스템과 추진 단계별로 연계하고</a:t>
            </a:r>
            <a:r>
              <a:rPr lang="en-US" altLang="ko-KR" smtClean="0">
                <a:latin typeface="+mn-ea"/>
                <a:ea typeface="+mn-ea"/>
              </a:rPr>
              <a:t>, </a:t>
            </a:r>
            <a:r>
              <a:rPr lang="ko-KR" altLang="en-US" smtClean="0">
                <a:latin typeface="+mn-ea"/>
                <a:ea typeface="+mn-ea"/>
              </a:rPr>
              <a:t>각 </a:t>
            </a:r>
            <a:r>
              <a:rPr lang="ko-KR" altLang="en-US" smtClean="0">
                <a:latin typeface="+mn-ea"/>
              </a:rPr>
              <a:t>단계별로 </a:t>
            </a:r>
            <a:r>
              <a:rPr lang="ko-KR" altLang="en-US" dirty="0">
                <a:latin typeface="+mn-ea"/>
              </a:rPr>
              <a:t>요구되는 승인요청 및 </a:t>
            </a:r>
            <a:r>
              <a:rPr lang="ko-KR" altLang="en-US">
                <a:latin typeface="+mn-ea"/>
              </a:rPr>
              <a:t>승인처리를 </a:t>
            </a:r>
            <a:r>
              <a:rPr lang="ko-KR" altLang="en-US" smtClean="0">
                <a:latin typeface="+mn-ea"/>
              </a:rPr>
              <a:t>전자결재시스템과 </a:t>
            </a:r>
            <a:r>
              <a:rPr lang="ko-KR" altLang="en-US" dirty="0">
                <a:latin typeface="+mn-ea"/>
              </a:rPr>
              <a:t>연계하여 </a:t>
            </a:r>
            <a:r>
              <a:rPr lang="ko-KR" altLang="en-US">
                <a:latin typeface="+mn-ea"/>
              </a:rPr>
              <a:t>각종 </a:t>
            </a:r>
            <a:r>
              <a:rPr lang="ko-KR" altLang="en-US" smtClean="0">
                <a:latin typeface="+mn-ea"/>
              </a:rPr>
              <a:t>문서를 </a:t>
            </a:r>
            <a:r>
              <a:rPr lang="ko-KR" altLang="en-US" dirty="0">
                <a:latin typeface="+mn-ea"/>
              </a:rPr>
              <a:t>처리할 수 있도록 </a:t>
            </a:r>
            <a:r>
              <a:rPr lang="ko-KR" altLang="en-US">
                <a:latin typeface="+mn-ea"/>
              </a:rPr>
              <a:t>하며</a:t>
            </a:r>
            <a:r>
              <a:rPr lang="en-US" altLang="ko-KR">
                <a:latin typeface="+mn-ea"/>
              </a:rPr>
              <a:t> </a:t>
            </a:r>
            <a:r>
              <a:rPr lang="en-US" altLang="ko-KR" smtClean="0">
                <a:latin typeface="+mn-ea"/>
              </a:rPr>
              <a:t>RPA</a:t>
            </a:r>
            <a:r>
              <a:rPr lang="ko-KR" altLang="en-US" smtClean="0">
                <a:latin typeface="+mn-ea"/>
              </a:rPr>
              <a:t>도입에 의해 단계별 </a:t>
            </a:r>
            <a:r>
              <a:rPr lang="ko-KR" altLang="en-US">
                <a:latin typeface="+mn-ea"/>
              </a:rPr>
              <a:t>진행현황을 </a:t>
            </a:r>
            <a:r>
              <a:rPr lang="ko-KR" altLang="en-US" smtClean="0">
                <a:latin typeface="+mn-ea"/>
              </a:rPr>
              <a:t>실시간으로 추출하여 제공함으로써 </a:t>
            </a:r>
            <a:r>
              <a:rPr lang="ko-KR" altLang="en-US" smtClean="0">
                <a:latin typeface="+mn-ea"/>
                <a:ea typeface="+mn-ea"/>
              </a:rPr>
              <a:t>사용자의 </a:t>
            </a:r>
            <a:r>
              <a:rPr lang="ko-KR" altLang="en-US">
                <a:latin typeface="+mn-ea"/>
                <a:ea typeface="+mn-ea"/>
              </a:rPr>
              <a:t>편의와 </a:t>
            </a:r>
            <a:r>
              <a:rPr lang="ko-KR" altLang="en-US" smtClean="0">
                <a:latin typeface="+mn-ea"/>
                <a:ea typeface="+mn-ea"/>
              </a:rPr>
              <a:t>업무의 </a:t>
            </a:r>
            <a:r>
              <a:rPr lang="ko-KR" altLang="en-US">
                <a:latin typeface="+mn-ea"/>
                <a:ea typeface="+mn-ea"/>
              </a:rPr>
              <a:t>효율성을 </a:t>
            </a:r>
            <a:r>
              <a:rPr lang="ko-KR" altLang="en-US" smtClean="0">
                <a:latin typeface="+mn-ea"/>
                <a:ea typeface="+mn-ea"/>
              </a:rPr>
              <a:t>제고</a:t>
            </a:r>
            <a:endParaRPr lang="ko-KR" altLang="en-US" sz="1600" dirty="0">
              <a:latin typeface="+mn-ea"/>
              <a:ea typeface="+mn-ea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mtClean="0"/>
              <a:t>1.4 </a:t>
            </a:r>
            <a:r>
              <a:rPr lang="ko-KR" altLang="en-US" smtClean="0"/>
              <a:t>구매관리 </a:t>
            </a:r>
            <a:r>
              <a:rPr lang="ko-KR" altLang="en-US" dirty="0"/>
              <a:t>업무 효율화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z="1800" smtClean="0"/>
              <a:t>1.4.1 </a:t>
            </a:r>
            <a:r>
              <a:rPr lang="ko-KR" altLang="en-US" sz="1800" dirty="0"/>
              <a:t>과제</a:t>
            </a:r>
            <a:r>
              <a:rPr lang="en-US" altLang="ko-KR" sz="1800" dirty="0"/>
              <a:t> </a:t>
            </a:r>
            <a:r>
              <a:rPr lang="ko-KR" altLang="en-US" sz="1800" dirty="0"/>
              <a:t>정의서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 vert="horz" lIns="0" tIns="45720" rIns="0" bIns="45720" rtlCol="0" anchor="ctr">
            <a:noAutofit/>
          </a:bodyPr>
          <a:lstStyle/>
          <a:p>
            <a:pPr>
              <a:spcBef>
                <a:spcPts val="288"/>
              </a:spcBef>
            </a:pPr>
            <a:r>
              <a:rPr lang="en-US" altLang="ko-KR" smtClean="0"/>
              <a:t>Ⅲ. </a:t>
            </a:r>
            <a:r>
              <a:rPr lang="ko-KR" altLang="en-US" smtClean="0"/>
              <a:t>목표모델 설계</a:t>
            </a:r>
            <a:endParaRPr lang="en-US" altLang="ko-KR" dirty="0"/>
          </a:p>
          <a:p>
            <a:pPr>
              <a:spcBef>
                <a:spcPts val="288"/>
              </a:spcBef>
            </a:pPr>
            <a:r>
              <a:rPr lang="en-US" altLang="ko-KR" smtClean="0"/>
              <a:t>1. </a:t>
            </a:r>
            <a:r>
              <a:rPr lang="ko-KR" altLang="en-US" dirty="0"/>
              <a:t>목표모델</a:t>
            </a:r>
            <a:r>
              <a:rPr lang="en-US" altLang="ko-KR" dirty="0"/>
              <a:t> </a:t>
            </a:r>
            <a:r>
              <a:rPr lang="ko-KR" altLang="en-US" dirty="0"/>
              <a:t>개선과제 정의</a:t>
            </a:r>
            <a:endParaRPr lang="en-US" altLang="ko-KR" dirty="0"/>
          </a:p>
          <a:p>
            <a:pPr>
              <a:spcBef>
                <a:spcPts val="288"/>
              </a:spcBef>
            </a:pPr>
            <a:r>
              <a:rPr lang="en-US" altLang="ko-KR" smtClean="0"/>
              <a:t>1.4 </a:t>
            </a:r>
            <a:r>
              <a:rPr lang="ko-KR" altLang="en-US" smtClean="0"/>
              <a:t>구매관리 개선 및 </a:t>
            </a:r>
            <a:r>
              <a:rPr lang="ko-KR" altLang="en-US" dirty="0"/>
              <a:t>업무 효율화</a:t>
            </a:r>
            <a:endParaRPr lang="en-US" altLang="ko-KR" dirty="0"/>
          </a:p>
        </p:txBody>
      </p:sp>
      <p:grpSp>
        <p:nvGrpSpPr>
          <p:cNvPr id="5" name="그룹 77">
            <a:extLst>
              <a:ext uri="{FF2B5EF4-FFF2-40B4-BE49-F238E27FC236}">
                <a16:creationId xmlns="" xmlns:a16="http://schemas.microsoft.com/office/drawing/2014/main" id="{B0511B2C-F5D4-492B-8A5A-D90A0D0B3868}"/>
              </a:ext>
            </a:extLst>
          </p:cNvPr>
          <p:cNvGrpSpPr/>
          <p:nvPr/>
        </p:nvGrpSpPr>
        <p:grpSpPr>
          <a:xfrm>
            <a:off x="355147" y="1592796"/>
            <a:ext cx="9180512" cy="4788532"/>
            <a:chOff x="200025" y="1592796"/>
            <a:chExt cx="6733195" cy="4788532"/>
          </a:xfrm>
        </p:grpSpPr>
        <p:sp>
          <p:nvSpPr>
            <p:cNvPr id="79" name="직사각형 78">
              <a:extLst>
                <a:ext uri="{FF2B5EF4-FFF2-40B4-BE49-F238E27FC236}">
                  <a16:creationId xmlns="" xmlns:a16="http://schemas.microsoft.com/office/drawing/2014/main" id="{7A02AF25-67DB-49E8-A9F5-7456F591158A}"/>
                </a:ext>
              </a:extLst>
            </p:cNvPr>
            <p:cNvSpPr/>
            <p:nvPr/>
          </p:nvSpPr>
          <p:spPr bwMode="auto">
            <a:xfrm>
              <a:off x="200025" y="1592796"/>
              <a:ext cx="6733195" cy="324000"/>
            </a:xfrm>
            <a:prstGeom prst="rect">
              <a:avLst/>
            </a:prstGeom>
            <a:solidFill>
              <a:srgbClr val="233C5A"/>
            </a:solidFill>
            <a:ln w="6350" cap="flat" cmpd="sng" algn="ctr">
              <a:solidFill>
                <a:srgbClr val="00437A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과제 개요</a:t>
              </a:r>
            </a:p>
          </p:txBody>
        </p:sp>
        <p:sp>
          <p:nvSpPr>
            <p:cNvPr id="80" name="Rectangle 4">
              <a:extLst>
                <a:ext uri="{FF2B5EF4-FFF2-40B4-BE49-F238E27FC236}">
                  <a16:creationId xmlns="" xmlns:a16="http://schemas.microsoft.com/office/drawing/2014/main" id="{2D8432D5-5596-482C-A21A-563B582C8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25" y="1916832"/>
              <a:ext cx="6733195" cy="4464496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round/>
              <a:headEnd type="none" w="med" len="med"/>
              <a:tailEnd type="none" w="sm" len="sm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80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265113" marR="0" lvl="0" indent="-265113" defTabSz="914400" eaLnBrk="0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ct val="0"/>
                </a:spcAft>
                <a:buClr>
                  <a:prstClr val="black"/>
                </a:buClr>
                <a:buSzTx/>
                <a:buFont typeface="Wingdings" pitchFamily="2" charset="2"/>
                <a:buChar char="q"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8" name="자유형: 도형 7">
            <a:extLst>
              <a:ext uri="{FF2B5EF4-FFF2-40B4-BE49-F238E27FC236}">
                <a16:creationId xmlns="" xmlns:a16="http://schemas.microsoft.com/office/drawing/2014/main" id="{DC8F9B3D-33EF-48D3-A461-A50900D519EB}"/>
              </a:ext>
            </a:extLst>
          </p:cNvPr>
          <p:cNvSpPr/>
          <p:nvPr/>
        </p:nvSpPr>
        <p:spPr>
          <a:xfrm>
            <a:off x="2463951" y="2002612"/>
            <a:ext cx="529865" cy="4299947"/>
          </a:xfrm>
          <a:custGeom>
            <a:avLst/>
            <a:gdLst>
              <a:gd name="connsiteX0" fmla="*/ 0 w 528992"/>
              <a:gd name="connsiteY0" fmla="*/ 324952 h 4299947"/>
              <a:gd name="connsiteX1" fmla="*/ 37785 w 528992"/>
              <a:gd name="connsiteY1" fmla="*/ 4012780 h 4299947"/>
              <a:gd name="connsiteX2" fmla="*/ 521435 w 528992"/>
              <a:gd name="connsiteY2" fmla="*/ 4299947 h 4299947"/>
              <a:gd name="connsiteX3" fmla="*/ 528992 w 528992"/>
              <a:gd name="connsiteY3" fmla="*/ 0 h 4299947"/>
              <a:gd name="connsiteX4" fmla="*/ 0 w 528992"/>
              <a:gd name="connsiteY4" fmla="*/ 324952 h 4299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992" h="4299947">
                <a:moveTo>
                  <a:pt x="0" y="324952"/>
                </a:moveTo>
                <a:lnTo>
                  <a:pt x="37785" y="4012780"/>
                </a:lnTo>
                <a:lnTo>
                  <a:pt x="521435" y="4299947"/>
                </a:lnTo>
                <a:lnTo>
                  <a:pt x="528992" y="0"/>
                </a:lnTo>
                <a:lnTo>
                  <a:pt x="0" y="324952"/>
                </a:lnTo>
                <a:close/>
              </a:path>
            </a:pathLst>
          </a:custGeom>
          <a:gradFill>
            <a:gsLst>
              <a:gs pos="82000">
                <a:schemeClr val="bg1">
                  <a:lumMod val="85000"/>
                </a:schemeClr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모서리가 둥근 직사각형 19">
            <a:extLst>
              <a:ext uri="{FF2B5EF4-FFF2-40B4-BE49-F238E27FC236}">
                <a16:creationId xmlns="" xmlns:a16="http://schemas.microsoft.com/office/drawing/2014/main" id="{539E2FF8-462F-4EA5-A32E-3A3A41EAC070}"/>
              </a:ext>
            </a:extLst>
          </p:cNvPr>
          <p:cNvSpPr/>
          <p:nvPr/>
        </p:nvSpPr>
        <p:spPr>
          <a:xfrm>
            <a:off x="476077" y="2035656"/>
            <a:ext cx="2028386" cy="673957"/>
          </a:xfrm>
          <a:prstGeom prst="roundRect">
            <a:avLst>
              <a:gd name="adj" fmla="val 7000"/>
            </a:avLst>
          </a:prstGeom>
          <a:solidFill>
            <a:sysClr val="window" lastClr="FFFFFF"/>
          </a:solidFill>
          <a:ln w="28575" cap="flat" cmpd="sng" algn="ctr">
            <a:solidFill>
              <a:srgbClr val="4678B4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defRPr/>
            </a:pPr>
            <a:r>
              <a:rPr lang="ko-KR" altLang="en-US" sz="1400" b="1" kern="0" spc="-150" smtClean="0">
                <a:solidFill>
                  <a:prstClr val="black"/>
                </a:solidFill>
                <a:latin typeface="+mn-ea"/>
              </a:rPr>
              <a:t>구매관리 </a:t>
            </a:r>
            <a:r>
              <a:rPr lang="ko-KR" altLang="en-US" sz="1400" b="1" kern="0" spc="-150" dirty="0">
                <a:solidFill>
                  <a:prstClr val="black"/>
                </a:solidFill>
                <a:latin typeface="+mn-ea"/>
              </a:rPr>
              <a:t>업무 효율화</a:t>
            </a:r>
            <a:endParaRPr kumimoji="0" lang="ko-KR" altLang="en-US" sz="1400" b="1" i="0" u="none" strike="noStrike" kern="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6" name="그룹 81">
            <a:extLst>
              <a:ext uri="{FF2B5EF4-FFF2-40B4-BE49-F238E27FC236}">
                <a16:creationId xmlns="" xmlns:a16="http://schemas.microsoft.com/office/drawing/2014/main" id="{D792162E-1A2F-4430-8D94-E50C5C7DDD9D}"/>
              </a:ext>
            </a:extLst>
          </p:cNvPr>
          <p:cNvGrpSpPr/>
          <p:nvPr/>
        </p:nvGrpSpPr>
        <p:grpSpPr>
          <a:xfrm>
            <a:off x="476077" y="2776129"/>
            <a:ext cx="2028386" cy="527511"/>
            <a:chOff x="401216" y="2918940"/>
            <a:chExt cx="2310143" cy="551720"/>
          </a:xfrm>
        </p:grpSpPr>
        <p:sp>
          <p:nvSpPr>
            <p:cNvPr id="83" name="모서리가 둥근 직사각형 24">
              <a:extLst>
                <a:ext uri="{FF2B5EF4-FFF2-40B4-BE49-F238E27FC236}">
                  <a16:creationId xmlns="" xmlns:a16="http://schemas.microsoft.com/office/drawing/2014/main" id="{5EEF05A2-CF17-4500-8CD5-18B4D1D2D591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79488" latinLnBrk="0">
                <a:spcBef>
                  <a:spcPct val="50000"/>
                </a:spcBef>
              </a:pPr>
              <a:r>
                <a:rPr kumimoji="1" lang="ko-KR" altLang="en-US" sz="1000" b="1" kern="0" smtClean="0">
                  <a:solidFill>
                    <a:prstClr val="black"/>
                  </a:solidFill>
                  <a:latin typeface="+mn-ea"/>
                </a:rPr>
                <a:t>구매 기초자료 개선</a:t>
              </a:r>
              <a:endParaRPr kumimoji="1" lang="ko-KR" altLang="en-US" sz="1000" b="1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4" name="직사각형 10">
              <a:extLst>
                <a:ext uri="{FF2B5EF4-FFF2-40B4-BE49-F238E27FC236}">
                  <a16:creationId xmlns="" xmlns:a16="http://schemas.microsoft.com/office/drawing/2014/main" id="{485F56EC-22C4-4812-984A-A12C60678EBC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1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7" name="그룹 98">
            <a:extLst>
              <a:ext uri="{FF2B5EF4-FFF2-40B4-BE49-F238E27FC236}">
                <a16:creationId xmlns="" xmlns:a16="http://schemas.microsoft.com/office/drawing/2014/main" id="{9656F7BF-411B-4097-9FB1-3E53ADE28258}"/>
              </a:ext>
            </a:extLst>
          </p:cNvPr>
          <p:cNvGrpSpPr/>
          <p:nvPr/>
        </p:nvGrpSpPr>
        <p:grpSpPr>
          <a:xfrm>
            <a:off x="476077" y="3370156"/>
            <a:ext cx="2028386" cy="527511"/>
            <a:chOff x="401216" y="2918940"/>
            <a:chExt cx="2310143" cy="551720"/>
          </a:xfrm>
        </p:grpSpPr>
        <p:sp>
          <p:nvSpPr>
            <p:cNvPr id="100" name="모서리가 둥근 직사각형 44">
              <a:extLst>
                <a:ext uri="{FF2B5EF4-FFF2-40B4-BE49-F238E27FC236}">
                  <a16:creationId xmlns="" xmlns:a16="http://schemas.microsoft.com/office/drawing/2014/main" id="{FF82C688-A0DF-4BE3-8351-56F6BB3CF5FC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lvl="0" algn="ctr" defTabSz="979488" latinLnBrk="0">
                <a:spcBef>
                  <a:spcPct val="50000"/>
                </a:spcBef>
                <a:defRPr/>
              </a:pPr>
              <a:r>
                <a:rPr kumimoji="1" lang="ko-KR" altLang="en-US" sz="1000" b="1" kern="0">
                  <a:solidFill>
                    <a:prstClr val="black"/>
                  </a:solidFill>
                  <a:latin typeface="+mn-ea"/>
                </a:rPr>
                <a:t>구매 진행정보 실시간 제공</a:t>
              </a:r>
              <a:endParaRPr kumimoji="1" lang="ko-KR" altLang="en-US" sz="1000" b="1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101" name="직사각형 10">
              <a:extLst>
                <a:ext uri="{FF2B5EF4-FFF2-40B4-BE49-F238E27FC236}">
                  <a16:creationId xmlns="" xmlns:a16="http://schemas.microsoft.com/office/drawing/2014/main" id="{56B6DA92-25D8-43A6-AE8B-408C4FFF4AAA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2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85" name="직사각형 84">
            <a:extLst>
              <a:ext uri="{FF2B5EF4-FFF2-40B4-BE49-F238E27FC236}">
                <a16:creationId xmlns="" xmlns:a16="http://schemas.microsoft.com/office/drawing/2014/main" id="{3D81FFC0-71B9-46DA-943A-B129A730D4BD}"/>
              </a:ext>
            </a:extLst>
          </p:cNvPr>
          <p:cNvSpPr/>
          <p:nvPr/>
        </p:nvSpPr>
        <p:spPr>
          <a:xfrm>
            <a:off x="2923626" y="1975288"/>
            <a:ext cx="6433414" cy="4345672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" lastClr="FFFFFF">
                <a:lumMod val="50000"/>
              </a:sys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7969" tIns="48984" rIns="97969" bIns="48984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79488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9" name="그룹 85">
            <a:extLst>
              <a:ext uri="{FF2B5EF4-FFF2-40B4-BE49-F238E27FC236}">
                <a16:creationId xmlns="" xmlns:a16="http://schemas.microsoft.com/office/drawing/2014/main" id="{73987A2F-326C-4CD0-B79A-54DB536D835A}"/>
              </a:ext>
            </a:extLst>
          </p:cNvPr>
          <p:cNvGrpSpPr/>
          <p:nvPr/>
        </p:nvGrpSpPr>
        <p:grpSpPr>
          <a:xfrm>
            <a:off x="2993826" y="2026778"/>
            <a:ext cx="6177272" cy="4255416"/>
            <a:chOff x="2748955" y="2035656"/>
            <a:chExt cx="6071105" cy="4255416"/>
          </a:xfrm>
        </p:grpSpPr>
        <p:sp>
          <p:nvSpPr>
            <p:cNvPr id="87" name="직사각형 86">
              <a:extLst>
                <a:ext uri="{FF2B5EF4-FFF2-40B4-BE49-F238E27FC236}">
                  <a16:creationId xmlns="" xmlns:a16="http://schemas.microsoft.com/office/drawing/2014/main" id="{3BD8B947-9794-4DA9-A8A0-A2416C4E54C6}"/>
                </a:ext>
              </a:extLst>
            </p:cNvPr>
            <p:cNvSpPr/>
            <p:nvPr/>
          </p:nvSpPr>
          <p:spPr>
            <a:xfrm>
              <a:off x="2748955" y="2035656"/>
              <a:ext cx="838975" cy="4255416"/>
            </a:xfrm>
            <a:prstGeom prst="rect">
              <a:avLst/>
            </a:prstGeom>
            <a:solidFill>
              <a:srgbClr val="C7DDFD"/>
            </a:solidFill>
            <a:ln>
              <a:noFill/>
            </a:ln>
          </p:spPr>
          <p:txBody>
            <a:bodyPr vert="horz" wrap="square" lIns="97969" tIns="48984" rIns="97969" bIns="48984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="" xmlns:a16="http://schemas.microsoft.com/office/drawing/2014/main" id="{462C3777-4666-48F1-B8E7-F560F769B567}"/>
                </a:ext>
              </a:extLst>
            </p:cNvPr>
            <p:cNvSpPr/>
            <p:nvPr/>
          </p:nvSpPr>
          <p:spPr>
            <a:xfrm>
              <a:off x="2814261" y="2111448"/>
              <a:ext cx="951723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과제 정의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="" xmlns:a16="http://schemas.microsoft.com/office/drawing/2014/main" id="{3197124E-28D4-472B-9558-9173E8CA2836}"/>
                </a:ext>
              </a:extLst>
            </p:cNvPr>
            <p:cNvSpPr/>
            <p:nvPr/>
          </p:nvSpPr>
          <p:spPr>
            <a:xfrm>
              <a:off x="3831300" y="2111448"/>
              <a:ext cx="4988760" cy="410375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구매요청에서부터 검수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.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입고까지의 각 단계별 업무처리 과정을 관련시스템과 연계하여 업무를 효율적으로 처리하고 실시간으로 진행 정보를 제공 </a:t>
              </a:r>
              <a:endPara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="" xmlns:a16="http://schemas.microsoft.com/office/drawing/2014/main" id="{4A3DA6E3-91CE-4B46-AB40-3122683B6F23}"/>
                </a:ext>
              </a:extLst>
            </p:cNvPr>
            <p:cNvSpPr/>
            <p:nvPr/>
          </p:nvSpPr>
          <p:spPr>
            <a:xfrm>
              <a:off x="2814261" y="3284714"/>
              <a:ext cx="951723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현황 및 문제점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="" xmlns:a16="http://schemas.microsoft.com/office/drawing/2014/main" id="{3645D26A-84A7-4B58-98CD-009CE5F34953}"/>
                </a:ext>
              </a:extLst>
            </p:cNvPr>
            <p:cNvSpPr/>
            <p:nvPr/>
          </p:nvSpPr>
          <p:spPr>
            <a:xfrm>
              <a:off x="3831300" y="3284714"/>
              <a:ext cx="4988760" cy="873244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구매 요청자료의 입력 후 구매요청자의 진행과정 파악이 어려움</a:t>
              </a:r>
              <a:endParaRPr kumimoji="1" lang="en-US" altLang="ko-KR" sz="1000" kern="0" smtClean="0">
                <a:solidFill>
                  <a:prstClr val="black"/>
                </a:solidFill>
                <a:latin typeface="+mn-ea"/>
              </a:endParaRPr>
            </a:p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조달청에서 진행되는 구매 진행과정</a:t>
              </a:r>
              <a:r>
                <a:rPr kumimoji="1" lang="en-US" altLang="ko-KR" sz="1000" kern="0">
                  <a:solidFill>
                    <a:prstClr val="black"/>
                  </a:solidFill>
                  <a:latin typeface="+mn-ea"/>
                </a:rPr>
                <a:t> 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</a:rPr>
                <a:t>                                               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 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</a:rPr>
                <a:t>(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사전규격등록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  <a:sym typeface="Wingdings" panose="05000000000000000000" pitchFamily="2" charset="2"/>
                </a:rPr>
                <a:t>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구매입찰공고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  <a:sym typeface="Wingdings" panose="05000000000000000000" pitchFamily="2" charset="2"/>
                </a:rPr>
                <a:t>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  <a:sym typeface="Wingdings" panose="05000000000000000000" pitchFamily="2" charset="2"/>
                </a:rPr>
                <a:t>구매협상시담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  <a:sym typeface="Wingdings" panose="05000000000000000000" pitchFamily="2" charset="2"/>
                </a:rPr>
                <a:t>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  <a:sym typeface="Wingdings" panose="05000000000000000000" pitchFamily="2" charset="2"/>
                </a:rPr>
                <a:t>구매계약체결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  <a:sym typeface="Wingdings" panose="05000000000000000000" pitchFamily="2" charset="2"/>
                </a:rPr>
                <a:t>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  <a:sym typeface="Wingdings" panose="05000000000000000000" pitchFamily="2" charset="2"/>
                </a:rPr>
                <a:t>계약변경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  <a:sym typeface="Wingdings" panose="05000000000000000000" pitchFamily="2" charset="2"/>
                </a:rPr>
                <a:t>)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  <a:sym typeface="Wingdings" panose="05000000000000000000" pitchFamily="2" charset="2"/>
                </a:rPr>
                <a:t>의 실시간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  <a:sym typeface="Wingdings" panose="05000000000000000000" pitchFamily="2" charset="2"/>
                </a:rPr>
                <a:t>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  <a:sym typeface="Wingdings" panose="05000000000000000000" pitchFamily="2" charset="2"/>
                </a:rPr>
                <a:t>정보 파악이 어려움</a:t>
              </a:r>
              <a:endParaRPr kumimoji="1" lang="ko-KR" altLang="en-US" sz="1000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="" xmlns:a16="http://schemas.microsoft.com/office/drawing/2014/main" id="{B22CB68C-1A52-4323-9BA6-715C4CA74F06}"/>
                </a:ext>
              </a:extLst>
            </p:cNvPr>
            <p:cNvSpPr/>
            <p:nvPr/>
          </p:nvSpPr>
          <p:spPr>
            <a:xfrm>
              <a:off x="2814261" y="2596957"/>
              <a:ext cx="951723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목적 및 필요성</a:t>
              </a: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="" xmlns:a16="http://schemas.microsoft.com/office/drawing/2014/main" id="{746CCBF5-18E3-4846-B382-B28F40C95B89}"/>
                </a:ext>
              </a:extLst>
            </p:cNvPr>
            <p:cNvSpPr/>
            <p:nvPr/>
          </p:nvSpPr>
          <p:spPr>
            <a:xfrm>
              <a:off x="3831300" y="2596957"/>
              <a:ext cx="4988760" cy="619567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내부시스템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</a:rPr>
                <a:t>(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예산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</a:rPr>
                <a:t>,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회계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</a:rPr>
                <a:t>,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자산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</a:rPr>
                <a:t>)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과 상세정보 공유를 </a:t>
              </a:r>
              <a:r>
                <a:rPr kumimoji="1" lang="ko-KR" altLang="en-US" sz="1000" kern="0" dirty="0">
                  <a:solidFill>
                    <a:prstClr val="black"/>
                  </a:solidFill>
                  <a:latin typeface="+mn-ea"/>
                </a:rPr>
                <a:t>통한 업무 </a:t>
              </a:r>
              <a:r>
                <a:rPr kumimoji="1" lang="ko-KR" altLang="en-US" sz="1000" kern="0">
                  <a:solidFill>
                    <a:prstClr val="black"/>
                  </a:solidFill>
                  <a:latin typeface="+mn-ea"/>
                </a:rPr>
                <a:t>편의성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증대</a:t>
              </a:r>
              <a:endParaRPr kumimoji="1" lang="en-US" altLang="ko-KR" sz="1000" kern="0" smtClean="0">
                <a:solidFill>
                  <a:prstClr val="black"/>
                </a:solidFill>
                <a:latin typeface="+mn-ea"/>
              </a:endParaRPr>
            </a:p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조달청의 단계별 구매 진행사항을 실시간으로 공유하여 원활한 업무처리 </a:t>
              </a:r>
              <a:endPara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="" xmlns:a16="http://schemas.microsoft.com/office/drawing/2014/main" id="{C70CC1FB-D735-4714-A12C-D27BF40CD53F}"/>
                </a:ext>
              </a:extLst>
            </p:cNvPr>
            <p:cNvSpPr/>
            <p:nvPr/>
          </p:nvSpPr>
          <p:spPr>
            <a:xfrm>
              <a:off x="2814261" y="4216414"/>
              <a:ext cx="951723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개선 방향</a:t>
              </a: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="" xmlns:a16="http://schemas.microsoft.com/office/drawing/2014/main" id="{5FC3F293-C2CE-4C3A-A082-2985541B2A49}"/>
                </a:ext>
              </a:extLst>
            </p:cNvPr>
            <p:cNvSpPr/>
            <p:nvPr/>
          </p:nvSpPr>
          <p:spPr>
            <a:xfrm>
              <a:off x="3831299" y="4216414"/>
              <a:ext cx="4988760" cy="1436887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구매요청 시 예산정보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,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물품 선택시 향후 자산취득 정보 연계 처리</a:t>
              </a:r>
              <a:endParaRPr kumimoji="1" lang="en-US" altLang="ko-KR" sz="1000" kern="0" smtClean="0">
                <a:solidFill>
                  <a:prstClr val="black"/>
                </a:solidFill>
                <a:latin typeface="+mn-ea"/>
              </a:endParaRPr>
            </a:p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</a:rPr>
                <a:t>RPA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도입으로 실시간 조달시스템 진행정보 취득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</a:rPr>
                <a:t>,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제공</a:t>
              </a:r>
              <a:endParaRPr kumimoji="1" lang="ko-KR" altLang="en-US" sz="1000" kern="0">
                <a:solidFill>
                  <a:prstClr val="black"/>
                </a:solidFill>
                <a:latin typeface="+mn-ea"/>
              </a:endParaRPr>
            </a:p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계약등록시 지급계획 정보를 등록하고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,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계약조건에 따라 선금 지출결의 처리</a:t>
              </a:r>
              <a:endParaRPr kumimoji="1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계약변경 발생시 차수별 계약정보 관리</a:t>
              </a:r>
              <a:endParaRPr kumimoji="1" lang="en-US" altLang="ko-KR" sz="1000" kern="0" smtClean="0">
                <a:solidFill>
                  <a:prstClr val="black"/>
                </a:solidFill>
                <a:latin typeface="+mn-ea"/>
              </a:endParaRPr>
            </a:p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검수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/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입고시 대급지급 결의서 자동 생성 및 자산품목 취득예정자료 자동생성</a:t>
              </a:r>
              <a:endPara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="" xmlns:a16="http://schemas.microsoft.com/office/drawing/2014/main" id="{9F60708A-697A-422E-84EB-603677EFF344}"/>
                </a:ext>
              </a:extLst>
            </p:cNvPr>
            <p:cNvSpPr/>
            <p:nvPr/>
          </p:nvSpPr>
          <p:spPr>
            <a:xfrm>
              <a:off x="2814261" y="5713669"/>
              <a:ext cx="951723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고려사항</a:t>
              </a: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="" xmlns:a16="http://schemas.microsoft.com/office/drawing/2014/main" id="{F3587659-245E-46A2-96B1-18B88C25A318}"/>
                </a:ext>
              </a:extLst>
            </p:cNvPr>
            <p:cNvSpPr/>
            <p:nvPr/>
          </p:nvSpPr>
          <p:spPr>
            <a:xfrm>
              <a:off x="3831300" y="5713669"/>
              <a:ext cx="4988760" cy="505551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구매 기초자료 추가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(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정부권장정책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-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중소기업청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,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사회적기업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,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중증장애인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,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자활용사촌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)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 </a:t>
              </a:r>
              <a:endParaRPr kumimoji="1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RPA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시스템 도입에 대한 적극적인 검토</a:t>
              </a:r>
              <a:endPara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10" name="그룹 31">
            <a:extLst>
              <a:ext uri="{FF2B5EF4-FFF2-40B4-BE49-F238E27FC236}">
                <a16:creationId xmlns="" xmlns:a16="http://schemas.microsoft.com/office/drawing/2014/main" id="{9656F7BF-411B-4097-9FB1-3E53ADE28258}"/>
              </a:ext>
            </a:extLst>
          </p:cNvPr>
          <p:cNvGrpSpPr/>
          <p:nvPr/>
        </p:nvGrpSpPr>
        <p:grpSpPr>
          <a:xfrm>
            <a:off x="476077" y="3963824"/>
            <a:ext cx="2028386" cy="527511"/>
            <a:chOff x="401216" y="2918940"/>
            <a:chExt cx="2310143" cy="551720"/>
          </a:xfrm>
        </p:grpSpPr>
        <p:sp>
          <p:nvSpPr>
            <p:cNvPr id="33" name="모서리가 둥근 직사각형 44">
              <a:extLst>
                <a:ext uri="{FF2B5EF4-FFF2-40B4-BE49-F238E27FC236}">
                  <a16:creationId xmlns="" xmlns:a16="http://schemas.microsoft.com/office/drawing/2014/main" id="{FF82C688-A0DF-4BE3-8351-56F6BB3CF5FC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lvl="0" algn="ctr" defTabSz="979488" latinLnBrk="0">
                <a:spcBef>
                  <a:spcPct val="50000"/>
                </a:spcBef>
                <a:defRPr/>
              </a:pPr>
              <a:r>
                <a:rPr kumimoji="1" lang="ko-KR" altLang="en-US" sz="1000" b="1" kern="0" smtClean="0">
                  <a:solidFill>
                    <a:prstClr val="black"/>
                  </a:solidFill>
                  <a:latin typeface="+mn-ea"/>
                </a:rPr>
                <a:t>계약정보의 관리 체계화</a:t>
              </a:r>
              <a:endParaRPr kumimoji="1" lang="ko-KR" altLang="en-US" sz="1000" b="1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34" name="직사각형 10">
              <a:extLst>
                <a:ext uri="{FF2B5EF4-FFF2-40B4-BE49-F238E27FC236}">
                  <a16:creationId xmlns="" xmlns:a16="http://schemas.microsoft.com/office/drawing/2014/main" id="{56B6DA92-25D8-43A6-AE8B-408C4FFF4AAA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3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35" name="그룹 31">
            <a:extLst>
              <a:ext uri="{FF2B5EF4-FFF2-40B4-BE49-F238E27FC236}">
                <a16:creationId xmlns="" xmlns:a16="http://schemas.microsoft.com/office/drawing/2014/main" id="{9656F7BF-411B-4097-9FB1-3E53ADE28258}"/>
              </a:ext>
            </a:extLst>
          </p:cNvPr>
          <p:cNvGrpSpPr/>
          <p:nvPr/>
        </p:nvGrpSpPr>
        <p:grpSpPr>
          <a:xfrm>
            <a:off x="467956" y="4570854"/>
            <a:ext cx="2028386" cy="527511"/>
            <a:chOff x="401216" y="2918940"/>
            <a:chExt cx="2310143" cy="551720"/>
          </a:xfrm>
        </p:grpSpPr>
        <p:sp>
          <p:nvSpPr>
            <p:cNvPr id="36" name="모서리가 둥근 직사각형 44">
              <a:extLst>
                <a:ext uri="{FF2B5EF4-FFF2-40B4-BE49-F238E27FC236}">
                  <a16:creationId xmlns="" xmlns:a16="http://schemas.microsoft.com/office/drawing/2014/main" id="{FF82C688-A0DF-4BE3-8351-56F6BB3CF5FC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lvl="0" algn="ctr" defTabSz="979488" latinLnBrk="0">
                <a:spcBef>
                  <a:spcPct val="50000"/>
                </a:spcBef>
                <a:defRPr/>
              </a:pPr>
              <a:r>
                <a:rPr kumimoji="1" lang="ko-KR" altLang="en-US" sz="1000" b="1" kern="0" smtClean="0">
                  <a:solidFill>
                    <a:prstClr val="black"/>
                  </a:solidFill>
                  <a:latin typeface="+mn-ea"/>
                </a:rPr>
                <a:t>검사</a:t>
              </a:r>
              <a:r>
                <a:rPr kumimoji="1" lang="en-US" altLang="ko-KR" sz="1000" b="1" kern="0" smtClean="0">
                  <a:solidFill>
                    <a:prstClr val="black"/>
                  </a:solidFill>
                  <a:latin typeface="+mn-ea"/>
                </a:rPr>
                <a:t>/</a:t>
              </a:r>
              <a:r>
                <a:rPr kumimoji="1" lang="ko-KR" altLang="en-US" sz="1000" b="1" kern="0" smtClean="0">
                  <a:solidFill>
                    <a:prstClr val="black"/>
                  </a:solidFill>
                  <a:latin typeface="+mn-ea"/>
                </a:rPr>
                <a:t>검수 절차 정보화</a:t>
              </a:r>
              <a:endParaRPr kumimoji="1" lang="ko-KR" altLang="en-US" sz="1000" b="1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37" name="직사각형 10">
              <a:extLst>
                <a:ext uri="{FF2B5EF4-FFF2-40B4-BE49-F238E27FC236}">
                  <a16:creationId xmlns="" xmlns:a16="http://schemas.microsoft.com/office/drawing/2014/main" id="{56B6DA92-25D8-43A6-AE8B-408C4FFF4AAA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4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38" name="그룹 31">
            <a:extLst>
              <a:ext uri="{FF2B5EF4-FFF2-40B4-BE49-F238E27FC236}">
                <a16:creationId xmlns="" xmlns:a16="http://schemas.microsoft.com/office/drawing/2014/main" id="{9656F7BF-411B-4097-9FB1-3E53ADE28258}"/>
              </a:ext>
            </a:extLst>
          </p:cNvPr>
          <p:cNvGrpSpPr/>
          <p:nvPr/>
        </p:nvGrpSpPr>
        <p:grpSpPr>
          <a:xfrm>
            <a:off x="476342" y="5185197"/>
            <a:ext cx="2028386" cy="527511"/>
            <a:chOff x="401216" y="2918940"/>
            <a:chExt cx="2310143" cy="551720"/>
          </a:xfrm>
        </p:grpSpPr>
        <p:sp>
          <p:nvSpPr>
            <p:cNvPr id="39" name="모서리가 둥근 직사각형 44">
              <a:extLst>
                <a:ext uri="{FF2B5EF4-FFF2-40B4-BE49-F238E27FC236}">
                  <a16:creationId xmlns="" xmlns:a16="http://schemas.microsoft.com/office/drawing/2014/main" id="{FF82C688-A0DF-4BE3-8351-56F6BB3CF5FC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lvl="0" algn="ctr" defTabSz="979488" latinLnBrk="0">
                <a:spcBef>
                  <a:spcPct val="50000"/>
                </a:spcBef>
                <a:defRPr/>
              </a:pPr>
              <a:r>
                <a:rPr kumimoji="1" lang="ko-KR" altLang="en-US" sz="1000" b="1" kern="0">
                  <a:solidFill>
                    <a:prstClr val="black"/>
                  </a:solidFill>
                  <a:latin typeface="+mn-ea"/>
                </a:rPr>
                <a:t>지출결의서 자동 생성</a:t>
              </a:r>
              <a:endParaRPr kumimoji="1" lang="ko-KR" altLang="en-US" sz="1000" b="1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40" name="직사각형 10">
              <a:extLst>
                <a:ext uri="{FF2B5EF4-FFF2-40B4-BE49-F238E27FC236}">
                  <a16:creationId xmlns="" xmlns:a16="http://schemas.microsoft.com/office/drawing/2014/main" id="{56B6DA92-25D8-43A6-AE8B-408C4FFF4AAA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5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15775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>
              <a:spcAft>
                <a:spcPct val="30000"/>
              </a:spcAft>
              <a:buClr>
                <a:schemeClr val="bg2"/>
              </a:buClr>
            </a:pPr>
            <a:r>
              <a:rPr lang="ko-KR" altLang="en-US">
                <a:latin typeface="+mn-ea"/>
                <a:ea typeface="+mn-ea"/>
              </a:rPr>
              <a:t>자산의 취득에서부터 배치</a:t>
            </a:r>
            <a:r>
              <a:rPr lang="en-US" altLang="ko-KR">
                <a:latin typeface="+mn-ea"/>
                <a:ea typeface="+mn-ea"/>
              </a:rPr>
              <a:t>, </a:t>
            </a:r>
            <a:r>
              <a:rPr lang="ko-KR" altLang="en-US">
                <a:latin typeface="+mn-ea"/>
                <a:ea typeface="+mn-ea"/>
              </a:rPr>
              <a:t>이동</a:t>
            </a:r>
            <a:r>
              <a:rPr lang="en-US" altLang="ko-KR">
                <a:latin typeface="+mn-ea"/>
                <a:ea typeface="+mn-ea"/>
              </a:rPr>
              <a:t>, </a:t>
            </a:r>
            <a:r>
              <a:rPr lang="ko-KR" altLang="en-US">
                <a:latin typeface="+mn-ea"/>
                <a:ea typeface="+mn-ea"/>
              </a:rPr>
              <a:t>후속지출</a:t>
            </a:r>
            <a:r>
              <a:rPr lang="en-US" altLang="ko-KR">
                <a:latin typeface="+mn-ea"/>
                <a:ea typeface="+mn-ea"/>
              </a:rPr>
              <a:t>, </a:t>
            </a:r>
            <a:r>
              <a:rPr lang="ko-KR" altLang="en-US" smtClean="0">
                <a:latin typeface="+mn-ea"/>
                <a:ea typeface="+mn-ea"/>
              </a:rPr>
              <a:t>자산실사</a:t>
            </a:r>
            <a:r>
              <a:rPr lang="en-US" altLang="ko-KR" smtClean="0">
                <a:latin typeface="+mn-ea"/>
                <a:ea typeface="+mn-ea"/>
              </a:rPr>
              <a:t>, </a:t>
            </a:r>
            <a:r>
              <a:rPr lang="ko-KR" altLang="en-US" smtClean="0">
                <a:latin typeface="+mn-ea"/>
                <a:ea typeface="+mn-ea"/>
              </a:rPr>
              <a:t>불용</a:t>
            </a:r>
            <a:r>
              <a:rPr lang="en-US" altLang="ko-KR" smtClean="0">
                <a:latin typeface="+mn-ea"/>
                <a:ea typeface="+mn-ea"/>
              </a:rPr>
              <a:t>, </a:t>
            </a:r>
            <a:r>
              <a:rPr lang="ko-KR" altLang="en-US">
                <a:latin typeface="+mn-ea"/>
                <a:ea typeface="+mn-ea"/>
              </a:rPr>
              <a:t>처분</a:t>
            </a:r>
            <a:r>
              <a:rPr lang="en-US" altLang="ko-KR">
                <a:latin typeface="+mn-ea"/>
                <a:ea typeface="+mn-ea"/>
              </a:rPr>
              <a:t>, </a:t>
            </a:r>
            <a:r>
              <a:rPr lang="ko-KR" altLang="en-US" smtClean="0">
                <a:latin typeface="+mn-ea"/>
                <a:ea typeface="+mn-ea"/>
              </a:rPr>
              <a:t>감가상각 </a:t>
            </a:r>
            <a:r>
              <a:rPr lang="ko-KR" altLang="en-US">
                <a:latin typeface="+mn-ea"/>
                <a:ea typeface="+mn-ea"/>
              </a:rPr>
              <a:t>등 각종 자산변동이력을 </a:t>
            </a:r>
            <a:r>
              <a:rPr lang="ko-KR" altLang="en-US" smtClean="0">
                <a:latin typeface="+mn-ea"/>
                <a:ea typeface="+mn-ea"/>
              </a:rPr>
              <a:t>개별자산별로 관리하고</a:t>
            </a:r>
            <a:r>
              <a:rPr lang="en-US" altLang="ko-KR" smtClean="0">
                <a:latin typeface="+mn-ea"/>
                <a:ea typeface="+mn-ea"/>
              </a:rPr>
              <a:t>, </a:t>
            </a:r>
            <a:r>
              <a:rPr lang="ko-KR" altLang="en-US" smtClean="0">
                <a:latin typeface="+mn-ea"/>
                <a:ea typeface="+mn-ea"/>
              </a:rPr>
              <a:t>취득</a:t>
            </a:r>
            <a:r>
              <a:rPr lang="en-US" altLang="ko-KR" smtClean="0">
                <a:latin typeface="+mn-ea"/>
                <a:ea typeface="+mn-ea"/>
              </a:rPr>
              <a:t>, </a:t>
            </a:r>
            <a:r>
              <a:rPr lang="ko-KR" altLang="en-US" smtClean="0">
                <a:latin typeface="+mn-ea"/>
                <a:ea typeface="+mn-ea"/>
              </a:rPr>
              <a:t>처분</a:t>
            </a:r>
            <a:r>
              <a:rPr lang="en-US" altLang="ko-KR" smtClean="0">
                <a:latin typeface="+mn-ea"/>
                <a:ea typeface="+mn-ea"/>
              </a:rPr>
              <a:t>,</a:t>
            </a:r>
            <a:r>
              <a:rPr lang="ko-KR" altLang="en-US" smtClean="0">
                <a:latin typeface="+mn-ea"/>
                <a:ea typeface="+mn-ea"/>
              </a:rPr>
              <a:t> </a:t>
            </a:r>
            <a:r>
              <a:rPr lang="ko-KR" altLang="en-US">
                <a:latin typeface="+mn-ea"/>
                <a:ea typeface="+mn-ea"/>
              </a:rPr>
              <a:t>감가상각 결과를 회계시스템에 제공하는 등 타 시스템과의 긴밀한 연계를 통하여 자산관리 담당자가 효율적으로 자산관리 업무를 처리할 수 있도록 </a:t>
            </a:r>
            <a:r>
              <a:rPr lang="ko-KR" altLang="en-US" smtClean="0">
                <a:latin typeface="+mn-ea"/>
                <a:ea typeface="+mn-ea"/>
              </a:rPr>
              <a:t>함</a:t>
            </a:r>
            <a:endParaRPr lang="en-US" altLang="ko-KR" dirty="0">
              <a:latin typeface="+mn-ea"/>
              <a:ea typeface="+mn-ea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mtClean="0"/>
              <a:t>1.5 </a:t>
            </a:r>
            <a:r>
              <a:rPr lang="ko-KR" altLang="en-US" smtClean="0"/>
              <a:t>자산관리 개선 및 업무 </a:t>
            </a:r>
            <a:r>
              <a:rPr lang="ko-KR" altLang="en-US" dirty="0"/>
              <a:t>효율화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z="1800" smtClean="0"/>
              <a:t>1.5.1 </a:t>
            </a:r>
            <a:r>
              <a:rPr lang="ko-KR" altLang="en-US" sz="1800" dirty="0"/>
              <a:t>과제</a:t>
            </a:r>
            <a:r>
              <a:rPr lang="en-US" altLang="ko-KR" sz="1800" dirty="0"/>
              <a:t> </a:t>
            </a:r>
            <a:r>
              <a:rPr lang="ko-KR" altLang="en-US" sz="1800" dirty="0"/>
              <a:t>정의서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 vert="horz" lIns="0" tIns="45720" rIns="0" bIns="45720" rtlCol="0" anchor="ctr">
            <a:noAutofit/>
          </a:bodyPr>
          <a:lstStyle/>
          <a:p>
            <a:pPr>
              <a:spcBef>
                <a:spcPts val="288"/>
              </a:spcBef>
            </a:pPr>
            <a:r>
              <a:rPr lang="en-US" altLang="ko-KR" smtClean="0"/>
              <a:t>Ⅲ. </a:t>
            </a:r>
            <a:r>
              <a:rPr lang="ko-KR" altLang="en-US" smtClean="0"/>
              <a:t>목표모델 설계</a:t>
            </a:r>
            <a:endParaRPr lang="en-US" altLang="ko-KR" dirty="0"/>
          </a:p>
          <a:p>
            <a:pPr>
              <a:spcBef>
                <a:spcPts val="288"/>
              </a:spcBef>
            </a:pPr>
            <a:r>
              <a:rPr lang="en-US" altLang="ko-KR" smtClean="0"/>
              <a:t>1. </a:t>
            </a:r>
            <a:r>
              <a:rPr lang="ko-KR" altLang="en-US" dirty="0"/>
              <a:t>목표모델</a:t>
            </a:r>
            <a:r>
              <a:rPr lang="en-US" altLang="ko-KR" dirty="0"/>
              <a:t> </a:t>
            </a:r>
            <a:r>
              <a:rPr lang="ko-KR" altLang="en-US" dirty="0"/>
              <a:t>개선과제 정의</a:t>
            </a:r>
            <a:endParaRPr lang="en-US" altLang="ko-KR" dirty="0"/>
          </a:p>
          <a:p>
            <a:pPr>
              <a:spcBef>
                <a:spcPts val="288"/>
              </a:spcBef>
            </a:pPr>
            <a:r>
              <a:rPr lang="en-US" altLang="ko-KR" smtClean="0"/>
              <a:t>1.5 </a:t>
            </a:r>
            <a:r>
              <a:rPr lang="ko-KR" altLang="en-US" smtClean="0"/>
              <a:t>자산관리 개선 및 업무 </a:t>
            </a:r>
            <a:r>
              <a:rPr lang="ko-KR" altLang="en-US" dirty="0"/>
              <a:t>효율화</a:t>
            </a:r>
            <a:endParaRPr lang="en-US" altLang="ko-KR" dirty="0"/>
          </a:p>
        </p:txBody>
      </p:sp>
      <p:grpSp>
        <p:nvGrpSpPr>
          <p:cNvPr id="5" name="그룹 77">
            <a:extLst>
              <a:ext uri="{FF2B5EF4-FFF2-40B4-BE49-F238E27FC236}">
                <a16:creationId xmlns="" xmlns:a16="http://schemas.microsoft.com/office/drawing/2014/main" id="{B0511B2C-F5D4-492B-8A5A-D90A0D0B3868}"/>
              </a:ext>
            </a:extLst>
          </p:cNvPr>
          <p:cNvGrpSpPr/>
          <p:nvPr/>
        </p:nvGrpSpPr>
        <p:grpSpPr>
          <a:xfrm>
            <a:off x="355147" y="1592796"/>
            <a:ext cx="9180512" cy="4788532"/>
            <a:chOff x="200025" y="1592796"/>
            <a:chExt cx="6733195" cy="4788532"/>
          </a:xfrm>
        </p:grpSpPr>
        <p:sp>
          <p:nvSpPr>
            <p:cNvPr id="79" name="직사각형 78">
              <a:extLst>
                <a:ext uri="{FF2B5EF4-FFF2-40B4-BE49-F238E27FC236}">
                  <a16:creationId xmlns="" xmlns:a16="http://schemas.microsoft.com/office/drawing/2014/main" id="{7A02AF25-67DB-49E8-A9F5-7456F591158A}"/>
                </a:ext>
              </a:extLst>
            </p:cNvPr>
            <p:cNvSpPr/>
            <p:nvPr/>
          </p:nvSpPr>
          <p:spPr bwMode="auto">
            <a:xfrm>
              <a:off x="200025" y="1592796"/>
              <a:ext cx="6733195" cy="324000"/>
            </a:xfrm>
            <a:prstGeom prst="rect">
              <a:avLst/>
            </a:prstGeom>
            <a:solidFill>
              <a:srgbClr val="233C5A"/>
            </a:solidFill>
            <a:ln w="6350" cap="flat" cmpd="sng" algn="ctr">
              <a:solidFill>
                <a:srgbClr val="00437A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과제 개요</a:t>
              </a:r>
            </a:p>
          </p:txBody>
        </p:sp>
        <p:sp>
          <p:nvSpPr>
            <p:cNvPr id="80" name="Rectangle 4">
              <a:extLst>
                <a:ext uri="{FF2B5EF4-FFF2-40B4-BE49-F238E27FC236}">
                  <a16:creationId xmlns="" xmlns:a16="http://schemas.microsoft.com/office/drawing/2014/main" id="{2D8432D5-5596-482C-A21A-563B582C8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25" y="1916832"/>
              <a:ext cx="6733195" cy="4464496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round/>
              <a:headEnd type="none" w="med" len="med"/>
              <a:tailEnd type="none" w="sm" len="sm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80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265113" marR="0" lvl="0" indent="-265113" defTabSz="914400" eaLnBrk="0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ct val="0"/>
                </a:spcAft>
                <a:buClr>
                  <a:prstClr val="black"/>
                </a:buClr>
                <a:buSzTx/>
                <a:buFont typeface="Wingdings" pitchFamily="2" charset="2"/>
                <a:buChar char="q"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8" name="자유형: 도형 7">
            <a:extLst>
              <a:ext uri="{FF2B5EF4-FFF2-40B4-BE49-F238E27FC236}">
                <a16:creationId xmlns="" xmlns:a16="http://schemas.microsoft.com/office/drawing/2014/main" id="{DC8F9B3D-33EF-48D3-A461-A50900D519EB}"/>
              </a:ext>
            </a:extLst>
          </p:cNvPr>
          <p:cNvSpPr/>
          <p:nvPr/>
        </p:nvSpPr>
        <p:spPr>
          <a:xfrm>
            <a:off x="2463951" y="2002612"/>
            <a:ext cx="529865" cy="4299947"/>
          </a:xfrm>
          <a:custGeom>
            <a:avLst/>
            <a:gdLst>
              <a:gd name="connsiteX0" fmla="*/ 0 w 528992"/>
              <a:gd name="connsiteY0" fmla="*/ 324952 h 4299947"/>
              <a:gd name="connsiteX1" fmla="*/ 37785 w 528992"/>
              <a:gd name="connsiteY1" fmla="*/ 4012780 h 4299947"/>
              <a:gd name="connsiteX2" fmla="*/ 521435 w 528992"/>
              <a:gd name="connsiteY2" fmla="*/ 4299947 h 4299947"/>
              <a:gd name="connsiteX3" fmla="*/ 528992 w 528992"/>
              <a:gd name="connsiteY3" fmla="*/ 0 h 4299947"/>
              <a:gd name="connsiteX4" fmla="*/ 0 w 528992"/>
              <a:gd name="connsiteY4" fmla="*/ 324952 h 4299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992" h="4299947">
                <a:moveTo>
                  <a:pt x="0" y="324952"/>
                </a:moveTo>
                <a:lnTo>
                  <a:pt x="37785" y="4012780"/>
                </a:lnTo>
                <a:lnTo>
                  <a:pt x="521435" y="4299947"/>
                </a:lnTo>
                <a:lnTo>
                  <a:pt x="528992" y="0"/>
                </a:lnTo>
                <a:lnTo>
                  <a:pt x="0" y="324952"/>
                </a:lnTo>
                <a:close/>
              </a:path>
            </a:pathLst>
          </a:custGeom>
          <a:gradFill>
            <a:gsLst>
              <a:gs pos="82000">
                <a:schemeClr val="bg1">
                  <a:lumMod val="85000"/>
                </a:schemeClr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모서리가 둥근 직사각형 19">
            <a:extLst>
              <a:ext uri="{FF2B5EF4-FFF2-40B4-BE49-F238E27FC236}">
                <a16:creationId xmlns="" xmlns:a16="http://schemas.microsoft.com/office/drawing/2014/main" id="{539E2FF8-462F-4EA5-A32E-3A3A41EAC070}"/>
              </a:ext>
            </a:extLst>
          </p:cNvPr>
          <p:cNvSpPr/>
          <p:nvPr/>
        </p:nvSpPr>
        <p:spPr>
          <a:xfrm>
            <a:off x="476077" y="2035656"/>
            <a:ext cx="2028386" cy="673957"/>
          </a:xfrm>
          <a:prstGeom prst="roundRect">
            <a:avLst>
              <a:gd name="adj" fmla="val 7000"/>
            </a:avLst>
          </a:prstGeom>
          <a:solidFill>
            <a:sysClr val="window" lastClr="FFFFFF"/>
          </a:solidFill>
          <a:ln w="28575" cap="flat" cmpd="sng" algn="ctr">
            <a:solidFill>
              <a:srgbClr val="4678B4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defRPr/>
            </a:pPr>
            <a:r>
              <a:rPr lang="ko-KR" altLang="en-US" sz="1400" b="1" kern="0" spc="-150" smtClean="0">
                <a:solidFill>
                  <a:prstClr val="black"/>
                </a:solidFill>
                <a:latin typeface="+mn-ea"/>
              </a:rPr>
              <a:t>자산관리 </a:t>
            </a:r>
            <a:r>
              <a:rPr lang="ko-KR" altLang="en-US" sz="1400" b="1" kern="0" spc="-150" dirty="0">
                <a:solidFill>
                  <a:prstClr val="black"/>
                </a:solidFill>
                <a:latin typeface="+mn-ea"/>
              </a:rPr>
              <a:t>업무 효율화</a:t>
            </a:r>
            <a:endParaRPr kumimoji="0" lang="ko-KR" altLang="en-US" sz="1400" b="1" i="0" u="none" strike="noStrike" kern="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6" name="그룹 81">
            <a:extLst>
              <a:ext uri="{FF2B5EF4-FFF2-40B4-BE49-F238E27FC236}">
                <a16:creationId xmlns="" xmlns:a16="http://schemas.microsoft.com/office/drawing/2014/main" id="{D792162E-1A2F-4430-8D94-E50C5C7DDD9D}"/>
              </a:ext>
            </a:extLst>
          </p:cNvPr>
          <p:cNvGrpSpPr/>
          <p:nvPr/>
        </p:nvGrpSpPr>
        <p:grpSpPr>
          <a:xfrm>
            <a:off x="476077" y="2776129"/>
            <a:ext cx="2028386" cy="527511"/>
            <a:chOff x="401216" y="2918940"/>
            <a:chExt cx="2310143" cy="551720"/>
          </a:xfrm>
        </p:grpSpPr>
        <p:sp>
          <p:nvSpPr>
            <p:cNvPr id="83" name="모서리가 둥근 직사각형 24">
              <a:extLst>
                <a:ext uri="{FF2B5EF4-FFF2-40B4-BE49-F238E27FC236}">
                  <a16:creationId xmlns="" xmlns:a16="http://schemas.microsoft.com/office/drawing/2014/main" id="{5EEF05A2-CF17-4500-8CD5-18B4D1D2D591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79488" latinLnBrk="0">
                <a:spcBef>
                  <a:spcPct val="50000"/>
                </a:spcBef>
              </a:pPr>
              <a:r>
                <a:rPr kumimoji="1" lang="ko-KR" altLang="en-US" sz="1000" b="1" kern="0" smtClean="0">
                  <a:solidFill>
                    <a:prstClr val="black"/>
                  </a:solidFill>
                  <a:latin typeface="+mn-ea"/>
                </a:rPr>
                <a:t>시스템자산과 회계자산의 일치</a:t>
              </a:r>
              <a:endParaRPr kumimoji="1" lang="ko-KR" altLang="en-US" sz="1000" b="1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4" name="직사각형 10">
              <a:extLst>
                <a:ext uri="{FF2B5EF4-FFF2-40B4-BE49-F238E27FC236}">
                  <a16:creationId xmlns="" xmlns:a16="http://schemas.microsoft.com/office/drawing/2014/main" id="{485F56EC-22C4-4812-984A-A12C60678EBC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1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7" name="그룹 98">
            <a:extLst>
              <a:ext uri="{FF2B5EF4-FFF2-40B4-BE49-F238E27FC236}">
                <a16:creationId xmlns="" xmlns:a16="http://schemas.microsoft.com/office/drawing/2014/main" id="{9656F7BF-411B-4097-9FB1-3E53ADE28258}"/>
              </a:ext>
            </a:extLst>
          </p:cNvPr>
          <p:cNvGrpSpPr/>
          <p:nvPr/>
        </p:nvGrpSpPr>
        <p:grpSpPr>
          <a:xfrm>
            <a:off x="476077" y="3370156"/>
            <a:ext cx="2028386" cy="527511"/>
            <a:chOff x="401216" y="2918940"/>
            <a:chExt cx="2310143" cy="551720"/>
          </a:xfrm>
        </p:grpSpPr>
        <p:sp>
          <p:nvSpPr>
            <p:cNvPr id="100" name="모서리가 둥근 직사각형 44">
              <a:extLst>
                <a:ext uri="{FF2B5EF4-FFF2-40B4-BE49-F238E27FC236}">
                  <a16:creationId xmlns="" xmlns:a16="http://schemas.microsoft.com/office/drawing/2014/main" id="{FF82C688-A0DF-4BE3-8351-56F6BB3CF5FC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79488" latinLnBrk="0">
                <a:spcBef>
                  <a:spcPct val="50000"/>
                </a:spcBef>
              </a:pPr>
              <a:r>
                <a:rPr kumimoji="1" lang="ko-KR" altLang="en-US" sz="1000" b="1" kern="0" smtClean="0">
                  <a:solidFill>
                    <a:prstClr val="black"/>
                  </a:solidFill>
                  <a:latin typeface="+mn-ea"/>
                </a:rPr>
                <a:t>자산 취득관리 기능 개선</a:t>
              </a:r>
              <a:endParaRPr kumimoji="1" lang="ko-KR" altLang="en-US" sz="1000" b="1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101" name="직사각형 10">
              <a:extLst>
                <a:ext uri="{FF2B5EF4-FFF2-40B4-BE49-F238E27FC236}">
                  <a16:creationId xmlns="" xmlns:a16="http://schemas.microsoft.com/office/drawing/2014/main" id="{56B6DA92-25D8-43A6-AE8B-408C4FFF4AAA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2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85" name="직사각형 84">
            <a:extLst>
              <a:ext uri="{FF2B5EF4-FFF2-40B4-BE49-F238E27FC236}">
                <a16:creationId xmlns="" xmlns:a16="http://schemas.microsoft.com/office/drawing/2014/main" id="{3D81FFC0-71B9-46DA-943A-B129A730D4BD}"/>
              </a:ext>
            </a:extLst>
          </p:cNvPr>
          <p:cNvSpPr/>
          <p:nvPr/>
        </p:nvSpPr>
        <p:spPr>
          <a:xfrm>
            <a:off x="2923626" y="1975288"/>
            <a:ext cx="6433414" cy="4345672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" lastClr="FFFFFF">
                <a:lumMod val="50000"/>
              </a:sys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7969" tIns="48984" rIns="97969" bIns="48984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79488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9" name="그룹 85">
            <a:extLst>
              <a:ext uri="{FF2B5EF4-FFF2-40B4-BE49-F238E27FC236}">
                <a16:creationId xmlns="" xmlns:a16="http://schemas.microsoft.com/office/drawing/2014/main" id="{73987A2F-326C-4CD0-B79A-54DB536D835A}"/>
              </a:ext>
            </a:extLst>
          </p:cNvPr>
          <p:cNvGrpSpPr/>
          <p:nvPr/>
        </p:nvGrpSpPr>
        <p:grpSpPr>
          <a:xfrm>
            <a:off x="2993826" y="2026778"/>
            <a:ext cx="6177272" cy="4255416"/>
            <a:chOff x="2748955" y="2035656"/>
            <a:chExt cx="6071105" cy="4255416"/>
          </a:xfrm>
        </p:grpSpPr>
        <p:sp>
          <p:nvSpPr>
            <p:cNvPr id="87" name="직사각형 86">
              <a:extLst>
                <a:ext uri="{FF2B5EF4-FFF2-40B4-BE49-F238E27FC236}">
                  <a16:creationId xmlns="" xmlns:a16="http://schemas.microsoft.com/office/drawing/2014/main" id="{3BD8B947-9794-4DA9-A8A0-A2416C4E54C6}"/>
                </a:ext>
              </a:extLst>
            </p:cNvPr>
            <p:cNvSpPr/>
            <p:nvPr/>
          </p:nvSpPr>
          <p:spPr>
            <a:xfrm>
              <a:off x="2748955" y="2035656"/>
              <a:ext cx="838975" cy="4255416"/>
            </a:xfrm>
            <a:prstGeom prst="rect">
              <a:avLst/>
            </a:prstGeom>
            <a:solidFill>
              <a:srgbClr val="C7DDFD"/>
            </a:solidFill>
            <a:ln>
              <a:noFill/>
            </a:ln>
          </p:spPr>
          <p:txBody>
            <a:bodyPr vert="horz" wrap="square" lIns="97969" tIns="48984" rIns="97969" bIns="48984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="" xmlns:a16="http://schemas.microsoft.com/office/drawing/2014/main" id="{462C3777-4666-48F1-B8E7-F560F769B567}"/>
                </a:ext>
              </a:extLst>
            </p:cNvPr>
            <p:cNvSpPr/>
            <p:nvPr/>
          </p:nvSpPr>
          <p:spPr>
            <a:xfrm>
              <a:off x="2814261" y="2111448"/>
              <a:ext cx="951723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과제 정의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="" xmlns:a16="http://schemas.microsoft.com/office/drawing/2014/main" id="{3197124E-28D4-472B-9558-9173E8CA2836}"/>
                </a:ext>
              </a:extLst>
            </p:cNvPr>
            <p:cNvSpPr/>
            <p:nvPr/>
          </p:nvSpPr>
          <p:spPr>
            <a:xfrm>
              <a:off x="3831300" y="2111448"/>
              <a:ext cx="4988760" cy="410375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시스템에서 관리하고 있는 자산과 회계의 감가상각 자산을 일치시키고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, </a:t>
              </a:r>
              <a:r>
                <a:rPr kumimoji="1" lang="ko-KR" altLang="en-US" sz="1000" kern="0">
                  <a:solidFill>
                    <a:prstClr val="black"/>
                  </a:solidFill>
                  <a:latin typeface="+mn-ea"/>
                </a:rPr>
                <a:t>구매</a:t>
              </a:r>
              <a:r>
                <a:rPr kumimoji="1" lang="en-US" altLang="ko-KR" sz="1000" kern="0">
                  <a:solidFill>
                    <a:prstClr val="black"/>
                  </a:solidFill>
                  <a:latin typeface="+mn-ea"/>
                </a:rPr>
                <a:t>, </a:t>
              </a:r>
              <a:r>
                <a:rPr kumimoji="1" lang="ko-KR" altLang="en-US" sz="1000" kern="0">
                  <a:solidFill>
                    <a:prstClr val="black"/>
                  </a:solidFill>
                  <a:latin typeface="+mn-ea"/>
                </a:rPr>
                <a:t>회계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업무와 연계하여 </a:t>
              </a:r>
              <a:r>
                <a:rPr kumimoji="1" lang="ko-KR" altLang="en-US" sz="1000" kern="0">
                  <a:solidFill>
                    <a:prstClr val="black"/>
                  </a:solidFill>
                  <a:latin typeface="+mn-ea"/>
                </a:rPr>
                <a:t>취득에서 처분까지의 자산관리 업무를 효율적으로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처리</a:t>
              </a:r>
              <a:endPara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="" xmlns:a16="http://schemas.microsoft.com/office/drawing/2014/main" id="{4A3DA6E3-91CE-4B46-AB40-3122683B6F23}"/>
                </a:ext>
              </a:extLst>
            </p:cNvPr>
            <p:cNvSpPr/>
            <p:nvPr/>
          </p:nvSpPr>
          <p:spPr>
            <a:xfrm>
              <a:off x="2814261" y="3284714"/>
              <a:ext cx="951723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현황 및 문제점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="" xmlns:a16="http://schemas.microsoft.com/office/drawing/2014/main" id="{3645D26A-84A7-4B58-98CD-009CE5F34953}"/>
                </a:ext>
              </a:extLst>
            </p:cNvPr>
            <p:cNvSpPr/>
            <p:nvPr/>
          </p:nvSpPr>
          <p:spPr>
            <a:xfrm>
              <a:off x="3831300" y="3284714"/>
              <a:ext cx="4988760" cy="873244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시스템에서 관리하는 실물자산과 회계 감가상각용 자산의 불일치</a:t>
              </a:r>
              <a:endParaRPr kumimoji="1" lang="en-US" altLang="ko-KR" sz="1000" kern="0" smtClean="0">
                <a:solidFill>
                  <a:prstClr val="black"/>
                </a:solidFill>
                <a:latin typeface="+mn-ea"/>
              </a:endParaRPr>
            </a:p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자산 취득시 자산 취득금액의 정확한 산정을 위한 기능 필요</a:t>
              </a:r>
              <a:endParaRPr kumimoji="1" lang="ko-KR" altLang="en-US" sz="1000" kern="0" dirty="0">
                <a:solidFill>
                  <a:prstClr val="black"/>
                </a:solidFill>
                <a:latin typeface="+mn-ea"/>
              </a:endParaRPr>
            </a:p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자산 실사 및 이동처리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</a:rPr>
                <a:t>,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불용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</a:rPr>
                <a:t>,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처분 등의 자산 업무 기능 고도화 요구</a:t>
              </a:r>
              <a:endParaRPr kumimoji="1" lang="en-US" altLang="ko-KR" sz="1000" kern="0" dirty="0">
                <a:solidFill>
                  <a:prstClr val="black"/>
                </a:solidFill>
                <a:latin typeface="+mn-ea"/>
              </a:endParaRPr>
            </a:p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취득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</a:rPr>
                <a:t>,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처분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</a:rPr>
                <a:t>,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감가상각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</a:rPr>
                <a:t>,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자산결산 등의 자산관련 전표 수기 입력 개선</a:t>
              </a:r>
              <a:endParaRPr kumimoji="1" lang="ko-KR" altLang="en-US" sz="1000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="" xmlns:a16="http://schemas.microsoft.com/office/drawing/2014/main" id="{B22CB68C-1A52-4323-9BA6-715C4CA74F06}"/>
                </a:ext>
              </a:extLst>
            </p:cNvPr>
            <p:cNvSpPr/>
            <p:nvPr/>
          </p:nvSpPr>
          <p:spPr>
            <a:xfrm>
              <a:off x="2814261" y="2596957"/>
              <a:ext cx="951723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목적 및 필요성</a:t>
              </a: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="" xmlns:a16="http://schemas.microsoft.com/office/drawing/2014/main" id="{746CCBF5-18E3-4846-B382-B28F40C95B89}"/>
                </a:ext>
              </a:extLst>
            </p:cNvPr>
            <p:cNvSpPr/>
            <p:nvPr/>
          </p:nvSpPr>
          <p:spPr>
            <a:xfrm>
              <a:off x="3831300" y="2596957"/>
              <a:ext cx="4988760" cy="619567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구매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</a:rPr>
                <a:t>,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회계 업무와 상세정보 </a:t>
              </a:r>
              <a:r>
                <a:rPr kumimoji="1" lang="ko-KR" altLang="en-US" sz="1000" kern="0" dirty="0">
                  <a:solidFill>
                    <a:prstClr val="black"/>
                  </a:solidFill>
                  <a:latin typeface="+mn-ea"/>
                </a:rPr>
                <a:t>공유를 통한 </a:t>
              </a:r>
              <a:r>
                <a:rPr kumimoji="1" lang="ko-KR" altLang="en-US" sz="1000" kern="0">
                  <a:solidFill>
                    <a:prstClr val="black"/>
                  </a:solidFill>
                  <a:latin typeface="+mn-ea"/>
                </a:rPr>
                <a:t>업무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처리 정확성 및 편의성 제고</a:t>
              </a:r>
              <a:endParaRPr kumimoji="1" lang="en-US" altLang="ko-KR" sz="1000" kern="0" dirty="0">
                <a:solidFill>
                  <a:prstClr val="black"/>
                </a:solidFill>
                <a:latin typeface="+mn-ea"/>
              </a:endParaRPr>
            </a:p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회계 자산대장과 </a:t>
              </a:r>
              <a:r>
                <a:rPr kumimoji="1" lang="ko-KR" altLang="en-US" sz="1000" kern="0" dirty="0">
                  <a:solidFill>
                    <a:prstClr val="black"/>
                  </a:solidFill>
                  <a:latin typeface="+mn-ea"/>
                </a:rPr>
                <a:t>실물자산의 </a:t>
              </a:r>
              <a:r>
                <a:rPr kumimoji="1" lang="ko-KR" altLang="en-US" sz="1000" kern="0">
                  <a:solidFill>
                    <a:prstClr val="black"/>
                  </a:solidFill>
                  <a:latin typeface="+mn-ea"/>
                </a:rPr>
                <a:t>불일치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해소 및 자산결산과 감가상각 시스템화</a:t>
              </a:r>
              <a:endPara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="" xmlns:a16="http://schemas.microsoft.com/office/drawing/2014/main" id="{C70CC1FB-D735-4714-A12C-D27BF40CD53F}"/>
                </a:ext>
              </a:extLst>
            </p:cNvPr>
            <p:cNvSpPr/>
            <p:nvPr/>
          </p:nvSpPr>
          <p:spPr>
            <a:xfrm>
              <a:off x="2814261" y="4216414"/>
              <a:ext cx="951723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개선 방향</a:t>
              </a: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="" xmlns:a16="http://schemas.microsoft.com/office/drawing/2014/main" id="{5FC3F293-C2CE-4C3A-A082-2985541B2A49}"/>
                </a:ext>
              </a:extLst>
            </p:cNvPr>
            <p:cNvSpPr/>
            <p:nvPr/>
          </p:nvSpPr>
          <p:spPr>
            <a:xfrm>
              <a:off x="3831299" y="4216414"/>
              <a:ext cx="4988760" cy="1436887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kern="0">
                  <a:solidFill>
                    <a:prstClr val="black"/>
                  </a:solidFill>
                  <a:latin typeface="+mn-ea"/>
                </a:rPr>
                <a:t>회계</a:t>
              </a:r>
              <a:r>
                <a:rPr kumimoji="1" lang="en-US" altLang="ko-KR" sz="1000" kern="0">
                  <a:solidFill>
                    <a:prstClr val="black"/>
                  </a:solidFill>
                  <a:latin typeface="+mn-ea"/>
                </a:rPr>
                <a:t>- </a:t>
              </a:r>
              <a:r>
                <a:rPr kumimoji="1" lang="ko-KR" altLang="en-US" sz="1000" kern="0">
                  <a:solidFill>
                    <a:prstClr val="black"/>
                  </a:solidFill>
                  <a:latin typeface="+mn-ea"/>
                </a:rPr>
                <a:t>실물자산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매칭에 의해 회계기준으로 자산 목록 정비</a:t>
              </a:r>
              <a:endParaRPr kumimoji="1" lang="ko-KR" altLang="en-US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kern="0">
                  <a:solidFill>
                    <a:prstClr val="black"/>
                  </a:solidFill>
                  <a:latin typeface="+mn-ea"/>
                </a:rPr>
                <a:t>구매 및 자산취득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결의서에서의 </a:t>
              </a:r>
              <a:r>
                <a:rPr kumimoji="1" lang="ko-KR" altLang="en-US" sz="1000" kern="0">
                  <a:solidFill>
                    <a:prstClr val="black"/>
                  </a:solidFill>
                  <a:latin typeface="+mn-ea"/>
                </a:rPr>
                <a:t>자산 가계정 관리로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취득원가 집계 및 취득시 반영</a:t>
              </a:r>
              <a:endParaRPr kumimoji="1" lang="en-US" altLang="ko-KR" sz="1000" kern="0" smtClean="0">
                <a:solidFill>
                  <a:prstClr val="black"/>
                </a:solidFill>
                <a:latin typeface="+mn-ea"/>
              </a:endParaRPr>
            </a:p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부서별 자산담당자 관리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</a:rPr>
                <a:t>,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자산실사 계획 및 결과관리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</a:rPr>
                <a:t>,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과부족 일괄 이동처리</a:t>
              </a:r>
              <a:endParaRPr kumimoji="1" lang="en-US" altLang="ko-KR" sz="1000" kern="0" smtClean="0">
                <a:solidFill>
                  <a:prstClr val="black"/>
                </a:solidFill>
                <a:latin typeface="+mn-ea"/>
              </a:endParaRPr>
            </a:p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불용 자산의 처분 신청 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  <a:sym typeface="Wingdings" panose="05000000000000000000" pitchFamily="2" charset="2"/>
                </a:rPr>
                <a:t>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  <a:sym typeface="Wingdings" panose="05000000000000000000" pitchFamily="2" charset="2"/>
                </a:rPr>
                <a:t>승인 </a:t>
              </a:r>
              <a:r>
                <a:rPr kumimoji="1" lang="en-US" altLang="ko-KR" sz="1000" kern="0" smtClean="0">
                  <a:solidFill>
                    <a:prstClr val="black"/>
                  </a:solidFill>
                  <a:latin typeface="+mn-ea"/>
                  <a:sym typeface="Wingdings" panose="05000000000000000000" pitchFamily="2" charset="2"/>
                </a:rPr>
                <a:t>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  <a:sym typeface="Wingdings" panose="05000000000000000000" pitchFamily="2" charset="2"/>
                </a:rPr>
                <a:t>자산관리자 처리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에 의한 처분 전표 자동생성</a:t>
              </a:r>
              <a:endParaRPr kumimoji="1" lang="en-US" altLang="ko-KR" sz="1000" kern="0" smtClean="0">
                <a:solidFill>
                  <a:prstClr val="black"/>
                </a:solidFill>
                <a:latin typeface="+mn-ea"/>
              </a:endParaRPr>
            </a:p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당해년도 취득이 완료되지 않은 건설중인 자산에 대한 결산전표 자동 생성</a:t>
              </a:r>
              <a:endPara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="" xmlns:a16="http://schemas.microsoft.com/office/drawing/2014/main" id="{9F60708A-697A-422E-84EB-603677EFF344}"/>
                </a:ext>
              </a:extLst>
            </p:cNvPr>
            <p:cNvSpPr/>
            <p:nvPr/>
          </p:nvSpPr>
          <p:spPr>
            <a:xfrm>
              <a:off x="2814261" y="5713669"/>
              <a:ext cx="951723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고려사항</a:t>
              </a: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="" xmlns:a16="http://schemas.microsoft.com/office/drawing/2014/main" id="{F3587659-245E-46A2-96B1-18B88C25A318}"/>
                </a:ext>
              </a:extLst>
            </p:cNvPr>
            <p:cNvSpPr/>
            <p:nvPr/>
          </p:nvSpPr>
          <p:spPr>
            <a:xfrm>
              <a:off x="3831300" y="5713669"/>
              <a:ext cx="4988760" cy="505551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회계의 감가상각용 자산목록과 시스템의 실물자산 목록 일치가 최우선 전제사항임</a:t>
              </a:r>
              <a:endPara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10" name="그룹 31">
            <a:extLst>
              <a:ext uri="{FF2B5EF4-FFF2-40B4-BE49-F238E27FC236}">
                <a16:creationId xmlns="" xmlns:a16="http://schemas.microsoft.com/office/drawing/2014/main" id="{9656F7BF-411B-4097-9FB1-3E53ADE28258}"/>
              </a:ext>
            </a:extLst>
          </p:cNvPr>
          <p:cNvGrpSpPr/>
          <p:nvPr/>
        </p:nvGrpSpPr>
        <p:grpSpPr>
          <a:xfrm>
            <a:off x="476077" y="3963824"/>
            <a:ext cx="2028386" cy="527511"/>
            <a:chOff x="401216" y="2918940"/>
            <a:chExt cx="2310143" cy="551720"/>
          </a:xfrm>
        </p:grpSpPr>
        <p:sp>
          <p:nvSpPr>
            <p:cNvPr id="33" name="모서리가 둥근 직사각형 44">
              <a:extLst>
                <a:ext uri="{FF2B5EF4-FFF2-40B4-BE49-F238E27FC236}">
                  <a16:creationId xmlns="" xmlns:a16="http://schemas.microsoft.com/office/drawing/2014/main" id="{FF82C688-A0DF-4BE3-8351-56F6BB3CF5FC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lvl="0" algn="ctr" defTabSz="979488" latinLnBrk="0">
                <a:spcBef>
                  <a:spcPct val="50000"/>
                </a:spcBef>
                <a:defRPr/>
              </a:pPr>
              <a:r>
                <a:rPr kumimoji="1" lang="ko-KR" altLang="en-US" sz="1000" b="1" kern="0" smtClean="0">
                  <a:solidFill>
                    <a:prstClr val="black"/>
                  </a:solidFill>
                  <a:latin typeface="+mn-ea"/>
                </a:rPr>
                <a:t>자산실사 및 자산이동 관리</a:t>
              </a:r>
              <a:endPara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4" name="직사각형 10">
              <a:extLst>
                <a:ext uri="{FF2B5EF4-FFF2-40B4-BE49-F238E27FC236}">
                  <a16:creationId xmlns="" xmlns:a16="http://schemas.microsoft.com/office/drawing/2014/main" id="{56B6DA92-25D8-43A6-AE8B-408C4FFF4AAA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3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35" name="그룹 31">
            <a:extLst>
              <a:ext uri="{FF2B5EF4-FFF2-40B4-BE49-F238E27FC236}">
                <a16:creationId xmlns="" xmlns:a16="http://schemas.microsoft.com/office/drawing/2014/main" id="{9656F7BF-411B-4097-9FB1-3E53ADE28258}"/>
              </a:ext>
            </a:extLst>
          </p:cNvPr>
          <p:cNvGrpSpPr/>
          <p:nvPr/>
        </p:nvGrpSpPr>
        <p:grpSpPr>
          <a:xfrm>
            <a:off x="467956" y="4581128"/>
            <a:ext cx="2028386" cy="527511"/>
            <a:chOff x="401216" y="2918940"/>
            <a:chExt cx="2310143" cy="551720"/>
          </a:xfrm>
        </p:grpSpPr>
        <p:sp>
          <p:nvSpPr>
            <p:cNvPr id="36" name="모서리가 둥근 직사각형 44">
              <a:extLst>
                <a:ext uri="{FF2B5EF4-FFF2-40B4-BE49-F238E27FC236}">
                  <a16:creationId xmlns="" xmlns:a16="http://schemas.microsoft.com/office/drawing/2014/main" id="{FF82C688-A0DF-4BE3-8351-56F6BB3CF5FC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lvl="0" algn="ctr" defTabSz="979488" latinLnBrk="0">
                <a:spcBef>
                  <a:spcPct val="50000"/>
                </a:spcBef>
                <a:defRPr/>
              </a:pPr>
              <a:r>
                <a:rPr kumimoji="1" lang="ko-KR" altLang="en-US" sz="1000" b="1" kern="0" smtClean="0">
                  <a:solidFill>
                    <a:prstClr val="black"/>
                  </a:solidFill>
                  <a:latin typeface="+mn-ea"/>
                </a:rPr>
                <a:t>자산 불용 및 처분 관리</a:t>
              </a:r>
              <a:endPara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7" name="직사각형 10">
              <a:extLst>
                <a:ext uri="{FF2B5EF4-FFF2-40B4-BE49-F238E27FC236}">
                  <a16:creationId xmlns="" xmlns:a16="http://schemas.microsoft.com/office/drawing/2014/main" id="{56B6DA92-25D8-43A6-AE8B-408C4FFF4AAA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4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38" name="그룹 31">
            <a:extLst>
              <a:ext uri="{FF2B5EF4-FFF2-40B4-BE49-F238E27FC236}">
                <a16:creationId xmlns="" xmlns:a16="http://schemas.microsoft.com/office/drawing/2014/main" id="{9656F7BF-411B-4097-9FB1-3E53ADE28258}"/>
              </a:ext>
            </a:extLst>
          </p:cNvPr>
          <p:cNvGrpSpPr/>
          <p:nvPr/>
        </p:nvGrpSpPr>
        <p:grpSpPr>
          <a:xfrm>
            <a:off x="478230" y="5205745"/>
            <a:ext cx="2028386" cy="527511"/>
            <a:chOff x="401216" y="2918940"/>
            <a:chExt cx="2310143" cy="551720"/>
          </a:xfrm>
        </p:grpSpPr>
        <p:sp>
          <p:nvSpPr>
            <p:cNvPr id="39" name="모서리가 둥근 직사각형 44">
              <a:extLst>
                <a:ext uri="{FF2B5EF4-FFF2-40B4-BE49-F238E27FC236}">
                  <a16:creationId xmlns="" xmlns:a16="http://schemas.microsoft.com/office/drawing/2014/main" id="{FF82C688-A0DF-4BE3-8351-56F6BB3CF5FC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lvl="0" algn="ctr" defTabSz="979488" latinLnBrk="0">
                <a:spcBef>
                  <a:spcPct val="50000"/>
                </a:spcBef>
                <a:defRPr/>
              </a:pPr>
              <a:r>
                <a:rPr kumimoji="1" lang="ko-KR" altLang="en-US" sz="1000" b="1" kern="0" smtClean="0">
                  <a:solidFill>
                    <a:prstClr val="black"/>
                  </a:solidFill>
                  <a:latin typeface="+mn-ea"/>
                </a:rPr>
                <a:t>자산 전표 처리 자동화</a:t>
              </a:r>
              <a:endPara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40" name="직사각형 10">
              <a:extLst>
                <a:ext uri="{FF2B5EF4-FFF2-40B4-BE49-F238E27FC236}">
                  <a16:creationId xmlns="" xmlns:a16="http://schemas.microsoft.com/office/drawing/2014/main" id="{56B6DA92-25D8-43A6-AE8B-408C4FFF4AAA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5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11306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smtClean="0"/>
              <a:t>사업계획부터 수주과정의 진행정보를 관리하고</a:t>
            </a:r>
            <a:r>
              <a:rPr lang="en-US" altLang="ko-KR" sz="1600" smtClean="0"/>
              <a:t>, </a:t>
            </a:r>
            <a:r>
              <a:rPr lang="ko-KR" altLang="en-US" sz="1600" smtClean="0"/>
              <a:t>수주확</a:t>
            </a:r>
            <a:r>
              <a:rPr lang="ko-KR" altLang="en-US" smtClean="0"/>
              <a:t>정된 사업은 표준 사업계획</a:t>
            </a:r>
            <a:r>
              <a:rPr lang="en-US" altLang="ko-KR"/>
              <a:t> </a:t>
            </a:r>
            <a:r>
              <a:rPr lang="ko-KR" altLang="en-US" smtClean="0"/>
              <a:t>체제를 도입하여 표준 일정에 의한 인력과 자재 투입 계획을 세부공정별로 계획하고</a:t>
            </a:r>
            <a:r>
              <a:rPr lang="en-US" altLang="ko-KR" smtClean="0"/>
              <a:t>, </a:t>
            </a:r>
            <a:r>
              <a:rPr lang="ko-KR" altLang="en-US" smtClean="0"/>
              <a:t>계획 기준으로 실적을 취합하고 일정을 관리하여 기성 신청 및 사업별 원가계산을 용이하게 함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mtClean="0"/>
              <a:t>1.6 </a:t>
            </a:r>
            <a:r>
              <a:rPr lang="ko-KR" altLang="en-US" smtClean="0"/>
              <a:t>사업관리 </a:t>
            </a:r>
            <a:r>
              <a:rPr lang="ko-KR" altLang="en-US" dirty="0"/>
              <a:t>업무 효율화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z="1800" smtClean="0"/>
              <a:t>1.6.1 </a:t>
            </a:r>
            <a:r>
              <a:rPr lang="ko-KR" altLang="en-US" sz="1800" dirty="0"/>
              <a:t>과제</a:t>
            </a:r>
            <a:r>
              <a:rPr lang="en-US" altLang="ko-KR" sz="1800" dirty="0"/>
              <a:t> </a:t>
            </a:r>
            <a:r>
              <a:rPr lang="ko-KR" altLang="en-US" sz="1800" dirty="0"/>
              <a:t>정의서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 vert="horz" lIns="0" tIns="45720" rIns="0" bIns="45720" rtlCol="0" anchor="ctr">
            <a:noAutofit/>
          </a:bodyPr>
          <a:lstStyle/>
          <a:p>
            <a:pPr>
              <a:spcBef>
                <a:spcPts val="288"/>
              </a:spcBef>
            </a:pPr>
            <a:r>
              <a:rPr lang="en-US" altLang="ko-KR" smtClean="0"/>
              <a:t>Ⅲ. </a:t>
            </a:r>
            <a:r>
              <a:rPr lang="ko-KR" altLang="en-US" smtClean="0"/>
              <a:t>목표모델 설계</a:t>
            </a:r>
            <a:endParaRPr lang="en-US" altLang="ko-KR" dirty="0"/>
          </a:p>
          <a:p>
            <a:pPr>
              <a:spcBef>
                <a:spcPts val="288"/>
              </a:spcBef>
            </a:pPr>
            <a:r>
              <a:rPr lang="en-US" altLang="ko-KR" smtClean="0"/>
              <a:t>1. </a:t>
            </a:r>
            <a:r>
              <a:rPr lang="ko-KR" altLang="en-US" dirty="0"/>
              <a:t>목표모델</a:t>
            </a:r>
            <a:r>
              <a:rPr lang="en-US" altLang="ko-KR" dirty="0"/>
              <a:t> </a:t>
            </a:r>
            <a:r>
              <a:rPr lang="ko-KR" altLang="en-US" dirty="0"/>
              <a:t>개선과제 정의</a:t>
            </a:r>
            <a:endParaRPr lang="en-US" altLang="ko-KR" dirty="0"/>
          </a:p>
          <a:p>
            <a:pPr>
              <a:spcBef>
                <a:spcPts val="288"/>
              </a:spcBef>
            </a:pPr>
            <a:r>
              <a:rPr lang="en-US" altLang="ko-KR" smtClean="0"/>
              <a:t>1.6 </a:t>
            </a:r>
            <a:r>
              <a:rPr lang="ko-KR" altLang="en-US" smtClean="0"/>
              <a:t>사업관리 </a:t>
            </a:r>
            <a:r>
              <a:rPr lang="ko-KR" altLang="en-US" dirty="0"/>
              <a:t>업무 효율화</a:t>
            </a:r>
            <a:endParaRPr lang="en-US" altLang="ko-KR" dirty="0"/>
          </a:p>
        </p:txBody>
      </p:sp>
      <p:grpSp>
        <p:nvGrpSpPr>
          <p:cNvPr id="5" name="그룹 77">
            <a:extLst>
              <a:ext uri="{FF2B5EF4-FFF2-40B4-BE49-F238E27FC236}">
                <a16:creationId xmlns="" xmlns:a16="http://schemas.microsoft.com/office/drawing/2014/main" id="{B0511B2C-F5D4-492B-8A5A-D90A0D0B3868}"/>
              </a:ext>
            </a:extLst>
          </p:cNvPr>
          <p:cNvGrpSpPr/>
          <p:nvPr/>
        </p:nvGrpSpPr>
        <p:grpSpPr>
          <a:xfrm>
            <a:off x="355147" y="1592796"/>
            <a:ext cx="9180512" cy="4788532"/>
            <a:chOff x="200025" y="1592796"/>
            <a:chExt cx="6733195" cy="4788532"/>
          </a:xfrm>
        </p:grpSpPr>
        <p:sp>
          <p:nvSpPr>
            <p:cNvPr id="79" name="직사각형 78">
              <a:extLst>
                <a:ext uri="{FF2B5EF4-FFF2-40B4-BE49-F238E27FC236}">
                  <a16:creationId xmlns="" xmlns:a16="http://schemas.microsoft.com/office/drawing/2014/main" id="{7A02AF25-67DB-49E8-A9F5-7456F591158A}"/>
                </a:ext>
              </a:extLst>
            </p:cNvPr>
            <p:cNvSpPr/>
            <p:nvPr/>
          </p:nvSpPr>
          <p:spPr bwMode="auto">
            <a:xfrm>
              <a:off x="200025" y="1592796"/>
              <a:ext cx="6733195" cy="324000"/>
            </a:xfrm>
            <a:prstGeom prst="rect">
              <a:avLst/>
            </a:prstGeom>
            <a:solidFill>
              <a:srgbClr val="233C5A"/>
            </a:solidFill>
            <a:ln w="6350" cap="flat" cmpd="sng" algn="ctr">
              <a:solidFill>
                <a:srgbClr val="00437A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marR="0" lvl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과제 개요</a:t>
              </a:r>
            </a:p>
          </p:txBody>
        </p:sp>
        <p:sp>
          <p:nvSpPr>
            <p:cNvPr id="80" name="Rectangle 4">
              <a:extLst>
                <a:ext uri="{FF2B5EF4-FFF2-40B4-BE49-F238E27FC236}">
                  <a16:creationId xmlns="" xmlns:a16="http://schemas.microsoft.com/office/drawing/2014/main" id="{2D8432D5-5596-482C-A21A-563B582C88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025" y="1916832"/>
              <a:ext cx="6733195" cy="4464496"/>
            </a:xfrm>
            <a:prstGeom prst="rect">
              <a:avLst/>
            </a:prstGeom>
            <a:solidFill>
              <a:sysClr val="window" lastClr="FFFFFF"/>
            </a:solidFill>
            <a:ln w="6350" cap="flat" cmpd="sng" algn="ctr">
              <a:solidFill>
                <a:sysClr val="windowText" lastClr="000000">
                  <a:lumMod val="50000"/>
                  <a:lumOff val="50000"/>
                </a:sysClr>
              </a:solidFill>
              <a:prstDash val="solid"/>
              <a:round/>
              <a:headEnd type="none" w="med" len="med"/>
              <a:tailEnd type="none" w="sm" len="sm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80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265113" marR="0" lvl="0" indent="-265113" defTabSz="914400" eaLnBrk="0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ct val="0"/>
                </a:spcAft>
                <a:buClr>
                  <a:prstClr val="black"/>
                </a:buClr>
                <a:buSzTx/>
                <a:buFont typeface="Wingdings" pitchFamily="2" charset="2"/>
                <a:buChar char="q"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8" name="자유형: 도형 7">
            <a:extLst>
              <a:ext uri="{FF2B5EF4-FFF2-40B4-BE49-F238E27FC236}">
                <a16:creationId xmlns="" xmlns:a16="http://schemas.microsoft.com/office/drawing/2014/main" id="{DC8F9B3D-33EF-48D3-A461-A50900D519EB}"/>
              </a:ext>
            </a:extLst>
          </p:cNvPr>
          <p:cNvSpPr/>
          <p:nvPr/>
        </p:nvSpPr>
        <p:spPr>
          <a:xfrm>
            <a:off x="2463951" y="2002612"/>
            <a:ext cx="529865" cy="4299947"/>
          </a:xfrm>
          <a:custGeom>
            <a:avLst/>
            <a:gdLst>
              <a:gd name="connsiteX0" fmla="*/ 0 w 528992"/>
              <a:gd name="connsiteY0" fmla="*/ 324952 h 4299947"/>
              <a:gd name="connsiteX1" fmla="*/ 37785 w 528992"/>
              <a:gd name="connsiteY1" fmla="*/ 4012780 h 4299947"/>
              <a:gd name="connsiteX2" fmla="*/ 521435 w 528992"/>
              <a:gd name="connsiteY2" fmla="*/ 4299947 h 4299947"/>
              <a:gd name="connsiteX3" fmla="*/ 528992 w 528992"/>
              <a:gd name="connsiteY3" fmla="*/ 0 h 4299947"/>
              <a:gd name="connsiteX4" fmla="*/ 0 w 528992"/>
              <a:gd name="connsiteY4" fmla="*/ 324952 h 4299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8992" h="4299947">
                <a:moveTo>
                  <a:pt x="0" y="324952"/>
                </a:moveTo>
                <a:lnTo>
                  <a:pt x="37785" y="4012780"/>
                </a:lnTo>
                <a:lnTo>
                  <a:pt x="521435" y="4299947"/>
                </a:lnTo>
                <a:lnTo>
                  <a:pt x="528992" y="0"/>
                </a:lnTo>
                <a:lnTo>
                  <a:pt x="0" y="324952"/>
                </a:lnTo>
                <a:close/>
              </a:path>
            </a:pathLst>
          </a:custGeom>
          <a:gradFill>
            <a:gsLst>
              <a:gs pos="82000">
                <a:schemeClr val="bg1">
                  <a:lumMod val="85000"/>
                </a:schemeClr>
              </a:gs>
              <a:gs pos="0">
                <a:schemeClr val="bg1">
                  <a:lumMod val="95000"/>
                </a:schemeClr>
              </a:gs>
            </a:gsLst>
            <a:lin ang="0" scaled="0"/>
          </a:gra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1" name="모서리가 둥근 직사각형 19">
            <a:extLst>
              <a:ext uri="{FF2B5EF4-FFF2-40B4-BE49-F238E27FC236}">
                <a16:creationId xmlns="" xmlns:a16="http://schemas.microsoft.com/office/drawing/2014/main" id="{539E2FF8-462F-4EA5-A32E-3A3A41EAC070}"/>
              </a:ext>
            </a:extLst>
          </p:cNvPr>
          <p:cNvSpPr/>
          <p:nvPr/>
        </p:nvSpPr>
        <p:spPr>
          <a:xfrm>
            <a:off x="476077" y="2035656"/>
            <a:ext cx="2028386" cy="673957"/>
          </a:xfrm>
          <a:prstGeom prst="roundRect">
            <a:avLst>
              <a:gd name="adj" fmla="val 7000"/>
            </a:avLst>
          </a:prstGeom>
          <a:solidFill>
            <a:sysClr val="window" lastClr="FFFFFF"/>
          </a:solidFill>
          <a:ln w="28575" cap="flat" cmpd="sng" algn="ctr">
            <a:solidFill>
              <a:srgbClr val="4678B4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lvl="0" algn="ctr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defRPr/>
            </a:pPr>
            <a:r>
              <a:rPr lang="ko-KR" altLang="en-US" sz="1400" b="1" kern="0" spc="-150" smtClean="0">
                <a:solidFill>
                  <a:prstClr val="black"/>
                </a:solidFill>
                <a:latin typeface="+mn-ea"/>
              </a:rPr>
              <a:t>사업관리 </a:t>
            </a:r>
            <a:r>
              <a:rPr lang="ko-KR" altLang="en-US" sz="1400" b="1" kern="0" spc="-150" dirty="0">
                <a:solidFill>
                  <a:prstClr val="black"/>
                </a:solidFill>
                <a:latin typeface="+mn-ea"/>
              </a:rPr>
              <a:t>업무 효율화</a:t>
            </a:r>
            <a:endParaRPr kumimoji="0" lang="ko-KR" altLang="en-US" sz="1400" b="1" i="0" u="none" strike="noStrike" kern="0" cap="none" spc="-15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6" name="그룹 81">
            <a:extLst>
              <a:ext uri="{FF2B5EF4-FFF2-40B4-BE49-F238E27FC236}">
                <a16:creationId xmlns="" xmlns:a16="http://schemas.microsoft.com/office/drawing/2014/main" id="{D792162E-1A2F-4430-8D94-E50C5C7DDD9D}"/>
              </a:ext>
            </a:extLst>
          </p:cNvPr>
          <p:cNvGrpSpPr/>
          <p:nvPr/>
        </p:nvGrpSpPr>
        <p:grpSpPr>
          <a:xfrm>
            <a:off x="476077" y="2776129"/>
            <a:ext cx="2028386" cy="527511"/>
            <a:chOff x="401216" y="2918940"/>
            <a:chExt cx="2310143" cy="551720"/>
          </a:xfrm>
        </p:grpSpPr>
        <p:sp>
          <p:nvSpPr>
            <p:cNvPr id="83" name="모서리가 둥근 직사각형 24">
              <a:extLst>
                <a:ext uri="{FF2B5EF4-FFF2-40B4-BE49-F238E27FC236}">
                  <a16:creationId xmlns="" xmlns:a16="http://schemas.microsoft.com/office/drawing/2014/main" id="{5EEF05A2-CF17-4500-8CD5-18B4D1D2D591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79488" latinLnBrk="0">
                <a:spcBef>
                  <a:spcPct val="50000"/>
                </a:spcBef>
              </a:pPr>
              <a:r>
                <a:rPr kumimoji="1" lang="ko-KR" altLang="en-US" sz="1000" b="1" kern="0" smtClean="0">
                  <a:solidFill>
                    <a:prstClr val="black"/>
                  </a:solidFill>
                  <a:latin typeface="+mn-ea"/>
                </a:rPr>
                <a:t>단계별 수주 진행관리</a:t>
              </a:r>
              <a:endParaRPr kumimoji="1" lang="ko-KR" altLang="en-US" sz="1000" b="1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4" name="직사각형 10">
              <a:extLst>
                <a:ext uri="{FF2B5EF4-FFF2-40B4-BE49-F238E27FC236}">
                  <a16:creationId xmlns="" xmlns:a16="http://schemas.microsoft.com/office/drawing/2014/main" id="{485F56EC-22C4-4812-984A-A12C60678EBC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1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7" name="그룹 98">
            <a:extLst>
              <a:ext uri="{FF2B5EF4-FFF2-40B4-BE49-F238E27FC236}">
                <a16:creationId xmlns="" xmlns:a16="http://schemas.microsoft.com/office/drawing/2014/main" id="{9656F7BF-411B-4097-9FB1-3E53ADE28258}"/>
              </a:ext>
            </a:extLst>
          </p:cNvPr>
          <p:cNvGrpSpPr/>
          <p:nvPr/>
        </p:nvGrpSpPr>
        <p:grpSpPr>
          <a:xfrm>
            <a:off x="476077" y="3370156"/>
            <a:ext cx="2028386" cy="527511"/>
            <a:chOff x="401216" y="2918940"/>
            <a:chExt cx="2310143" cy="551720"/>
          </a:xfrm>
        </p:grpSpPr>
        <p:sp>
          <p:nvSpPr>
            <p:cNvPr id="100" name="모서리가 둥근 직사각형 44">
              <a:extLst>
                <a:ext uri="{FF2B5EF4-FFF2-40B4-BE49-F238E27FC236}">
                  <a16:creationId xmlns="" xmlns:a16="http://schemas.microsoft.com/office/drawing/2014/main" id="{FF82C688-A0DF-4BE3-8351-56F6BB3CF5FC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lvl="0" algn="ctr" defTabSz="979488" latinLnBrk="0">
                <a:spcBef>
                  <a:spcPct val="50000"/>
                </a:spcBef>
                <a:defRPr/>
              </a:pPr>
              <a:r>
                <a:rPr lang="ko-KR" altLang="en-US" sz="1000" b="1"/>
                <a:t>체계적인 사업실행계획 관리</a:t>
              </a:r>
              <a:endPara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101" name="직사각형 10">
              <a:extLst>
                <a:ext uri="{FF2B5EF4-FFF2-40B4-BE49-F238E27FC236}">
                  <a16:creationId xmlns="" xmlns:a16="http://schemas.microsoft.com/office/drawing/2014/main" id="{56B6DA92-25D8-43A6-AE8B-408C4FFF4AAA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2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85" name="직사각형 84">
            <a:extLst>
              <a:ext uri="{FF2B5EF4-FFF2-40B4-BE49-F238E27FC236}">
                <a16:creationId xmlns="" xmlns:a16="http://schemas.microsoft.com/office/drawing/2014/main" id="{3D81FFC0-71B9-46DA-943A-B129A730D4BD}"/>
              </a:ext>
            </a:extLst>
          </p:cNvPr>
          <p:cNvSpPr/>
          <p:nvPr/>
        </p:nvSpPr>
        <p:spPr>
          <a:xfrm>
            <a:off x="2923626" y="1975288"/>
            <a:ext cx="6433414" cy="4345672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" lastClr="FFFFFF">
                <a:lumMod val="50000"/>
              </a:sys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7969" tIns="48984" rIns="97969" bIns="48984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lvl="0" indent="0" defTabSz="979488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800" b="0" i="0" u="none" strike="noStrike" kern="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+mn-ea"/>
            </a:endParaRPr>
          </a:p>
        </p:txBody>
      </p:sp>
      <p:grpSp>
        <p:nvGrpSpPr>
          <p:cNvPr id="9" name="그룹 85">
            <a:extLst>
              <a:ext uri="{FF2B5EF4-FFF2-40B4-BE49-F238E27FC236}">
                <a16:creationId xmlns="" xmlns:a16="http://schemas.microsoft.com/office/drawing/2014/main" id="{73987A2F-326C-4CD0-B79A-54DB536D835A}"/>
              </a:ext>
            </a:extLst>
          </p:cNvPr>
          <p:cNvGrpSpPr/>
          <p:nvPr/>
        </p:nvGrpSpPr>
        <p:grpSpPr>
          <a:xfrm>
            <a:off x="2993826" y="2026778"/>
            <a:ext cx="6177272" cy="4255416"/>
            <a:chOff x="2748955" y="2035656"/>
            <a:chExt cx="6071105" cy="4255416"/>
          </a:xfrm>
        </p:grpSpPr>
        <p:sp>
          <p:nvSpPr>
            <p:cNvPr id="87" name="직사각형 86">
              <a:extLst>
                <a:ext uri="{FF2B5EF4-FFF2-40B4-BE49-F238E27FC236}">
                  <a16:creationId xmlns="" xmlns:a16="http://schemas.microsoft.com/office/drawing/2014/main" id="{3BD8B947-9794-4DA9-A8A0-A2416C4E54C6}"/>
                </a:ext>
              </a:extLst>
            </p:cNvPr>
            <p:cNvSpPr/>
            <p:nvPr/>
          </p:nvSpPr>
          <p:spPr>
            <a:xfrm>
              <a:off x="2748955" y="2035656"/>
              <a:ext cx="838975" cy="4255416"/>
            </a:xfrm>
            <a:prstGeom prst="rect">
              <a:avLst/>
            </a:prstGeom>
            <a:solidFill>
              <a:srgbClr val="C7DDFD"/>
            </a:solidFill>
            <a:ln>
              <a:noFill/>
            </a:ln>
          </p:spPr>
          <p:txBody>
            <a:bodyPr vert="horz" wrap="square" lIns="97969" tIns="48984" rIns="97969" bIns="48984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="" xmlns:a16="http://schemas.microsoft.com/office/drawing/2014/main" id="{462C3777-4666-48F1-B8E7-F560F769B567}"/>
                </a:ext>
              </a:extLst>
            </p:cNvPr>
            <p:cNvSpPr/>
            <p:nvPr/>
          </p:nvSpPr>
          <p:spPr>
            <a:xfrm>
              <a:off x="2814261" y="2111448"/>
              <a:ext cx="951723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과제 정의</a:t>
              </a:r>
            </a:p>
          </p:txBody>
        </p:sp>
        <p:sp>
          <p:nvSpPr>
            <p:cNvPr id="89" name="직사각형 88">
              <a:extLst>
                <a:ext uri="{FF2B5EF4-FFF2-40B4-BE49-F238E27FC236}">
                  <a16:creationId xmlns="" xmlns:a16="http://schemas.microsoft.com/office/drawing/2014/main" id="{3197124E-28D4-472B-9558-9173E8CA2836}"/>
                </a:ext>
              </a:extLst>
            </p:cNvPr>
            <p:cNvSpPr/>
            <p:nvPr/>
          </p:nvSpPr>
          <p:spPr>
            <a:xfrm>
              <a:off x="3831300" y="2111448"/>
              <a:ext cx="4988760" cy="410375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사업 계획부터 준공까지의 표준화된 계획 및 실적 집계로 체계적이고 효율적인 관리</a:t>
              </a:r>
              <a:endPara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="" xmlns:a16="http://schemas.microsoft.com/office/drawing/2014/main" id="{4A3DA6E3-91CE-4B46-AB40-3122683B6F23}"/>
                </a:ext>
              </a:extLst>
            </p:cNvPr>
            <p:cNvSpPr/>
            <p:nvPr/>
          </p:nvSpPr>
          <p:spPr>
            <a:xfrm>
              <a:off x="2814261" y="3284714"/>
              <a:ext cx="951723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현황 및 문제점</a:t>
              </a:r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="" xmlns:a16="http://schemas.microsoft.com/office/drawing/2014/main" id="{3645D26A-84A7-4B58-98CD-009CE5F34953}"/>
                </a:ext>
              </a:extLst>
            </p:cNvPr>
            <p:cNvSpPr/>
            <p:nvPr/>
          </p:nvSpPr>
          <p:spPr>
            <a:xfrm>
              <a:off x="3831300" y="3284714"/>
              <a:ext cx="4988760" cy="873244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계획 사업에 대한 발주진행 정보 수집 및 제안서 및 입찰에 필요한 자료 작성 어려움</a:t>
              </a:r>
              <a:endParaRPr kumimoji="1" lang="en-US" altLang="ko-KR" sz="1000" kern="0" smtClean="0">
                <a:solidFill>
                  <a:prstClr val="black"/>
                </a:solidFill>
                <a:latin typeface="+mn-ea"/>
              </a:endParaRPr>
            </a:p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표준화에 의한 체계적인 사업계획 </a:t>
              </a:r>
              <a:r>
                <a:rPr kumimoji="1" lang="ko-KR" altLang="en-US" sz="1000" kern="0">
                  <a:solidFill>
                    <a:prstClr val="black"/>
                  </a:solidFill>
                  <a:latin typeface="+mn-ea"/>
                </a:rPr>
                <a:t>작성의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필요성</a:t>
              </a:r>
              <a:endParaRPr kumimoji="1" lang="en-US" altLang="ko-KR" sz="1000" kern="0" smtClean="0">
                <a:solidFill>
                  <a:prstClr val="black"/>
                </a:solidFill>
                <a:latin typeface="+mn-ea"/>
              </a:endParaRPr>
            </a:p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공정별로 세분화된 사업실적 작성을 위한 기준이 되는 계획 자료 필요</a:t>
              </a:r>
              <a:endParaRPr kumimoji="1" lang="en-US" altLang="ko-KR" sz="1000" kern="0" smtClean="0">
                <a:solidFill>
                  <a:prstClr val="black"/>
                </a:solidFill>
                <a:latin typeface="+mn-ea"/>
              </a:endParaRPr>
            </a:p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기성고 신청 및 합리적인 원가계산을 위한 체계적인 일정 진행 및 실적 관리 요구</a:t>
              </a:r>
              <a:endParaRPr kumimoji="1" lang="ko-KR" altLang="en-US" sz="1000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="" xmlns:a16="http://schemas.microsoft.com/office/drawing/2014/main" id="{B22CB68C-1A52-4323-9BA6-715C4CA74F06}"/>
                </a:ext>
              </a:extLst>
            </p:cNvPr>
            <p:cNvSpPr/>
            <p:nvPr/>
          </p:nvSpPr>
          <p:spPr>
            <a:xfrm>
              <a:off x="2814261" y="2596957"/>
              <a:ext cx="951723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목적 및 필요성</a:t>
              </a:r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="" xmlns:a16="http://schemas.microsoft.com/office/drawing/2014/main" id="{746CCBF5-18E3-4846-B382-B28F40C95B89}"/>
                </a:ext>
              </a:extLst>
            </p:cNvPr>
            <p:cNvSpPr/>
            <p:nvPr/>
          </p:nvSpPr>
          <p:spPr>
            <a:xfrm>
              <a:off x="3831300" y="2596957"/>
              <a:ext cx="4988760" cy="619567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사업계획에서부터 수주진행과정의 진행이력 관리</a:t>
              </a:r>
              <a:endParaRPr kumimoji="1" lang="en-US" altLang="ko-KR" sz="1000" kern="0" smtClean="0">
                <a:solidFill>
                  <a:prstClr val="black"/>
                </a:solidFill>
                <a:latin typeface="+mn-ea"/>
              </a:endParaRPr>
            </a:p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사업계획 표준화 및 세분화된 실적 집계로 기성신청 및 원가계산 자료 제공 </a:t>
              </a:r>
              <a:endPara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="" xmlns:a16="http://schemas.microsoft.com/office/drawing/2014/main" id="{C70CC1FB-D735-4714-A12C-D27BF40CD53F}"/>
                </a:ext>
              </a:extLst>
            </p:cNvPr>
            <p:cNvSpPr/>
            <p:nvPr/>
          </p:nvSpPr>
          <p:spPr>
            <a:xfrm>
              <a:off x="2814261" y="4216414"/>
              <a:ext cx="951723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개선 방향</a:t>
              </a:r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="" xmlns:a16="http://schemas.microsoft.com/office/drawing/2014/main" id="{5FC3F293-C2CE-4C3A-A082-2985541B2A49}"/>
                </a:ext>
              </a:extLst>
            </p:cNvPr>
            <p:cNvSpPr/>
            <p:nvPr/>
          </p:nvSpPr>
          <p:spPr>
            <a:xfrm>
              <a:off x="3831299" y="4216414"/>
              <a:ext cx="4988760" cy="1436887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계획사업에 대한 진행정보 수집 자동화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(RPA-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조달정보 자동 수집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)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도입</a:t>
              </a:r>
              <a:endParaRPr kumimoji="1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사업부문 유형별 표준자료 관리에 의해 표준 일정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,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투입계획 생성 후 사업별 현행화</a:t>
              </a:r>
              <a:endParaRPr kumimoji="1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사업실적의 세분화된 집계로 다양한 자료 제공 및 기성고 신청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,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원가계산 자료 제공</a:t>
              </a:r>
              <a:endParaRPr kumimoji="1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  <a:p>
              <a:pPr marL="93663" lvl="0" indent="-93663" defTabSz="979488" latinLnBrk="0">
                <a:spcBef>
                  <a:spcPct val="50000"/>
                </a:spcBef>
                <a:buFont typeface="Wingdings" pitchFamily="2" charset="2"/>
                <a:buChar char="§"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사업별 예실대비표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,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기성고</a:t>
              </a:r>
              <a:r>
                <a:rPr kumimoji="1" lang="ko-KR" altLang="en-US" sz="1000" b="0" i="0" u="none" strike="noStrike" kern="0" cap="none" spc="0" normalizeH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 수입결의서 자동생성 등 </a:t>
              </a:r>
              <a:r>
                <a:rPr kumimoji="1" lang="ko-KR" altLang="en-US" sz="1000" kern="0">
                  <a:solidFill>
                    <a:prstClr val="black"/>
                  </a:solidFill>
                  <a:latin typeface="+mn-ea"/>
                </a:rPr>
                <a:t>예산</a:t>
              </a:r>
              <a:r>
                <a:rPr kumimoji="1" lang="en-US" altLang="ko-KR" sz="1000" kern="0">
                  <a:solidFill>
                    <a:prstClr val="black"/>
                  </a:solidFill>
                  <a:latin typeface="+mn-ea"/>
                </a:rPr>
                <a:t>, </a:t>
              </a:r>
              <a:r>
                <a:rPr kumimoji="1" lang="ko-KR" altLang="en-US" sz="1000" kern="0">
                  <a:solidFill>
                    <a:prstClr val="black"/>
                  </a:solidFill>
                  <a:latin typeface="+mn-ea"/>
                </a:rPr>
                <a:t>회계시스템과 긴밀한 </a:t>
              </a: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연계</a:t>
              </a:r>
              <a:endParaRPr kumimoji="1" lang="en-US" altLang="ko-KR" sz="1000" b="0" i="0" u="none" strike="noStrike" kern="0" cap="none" spc="0" normalizeH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세분화되고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신뢰성있는 실적 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DATA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에 의한 합리적인 원가계산 </a:t>
              </a:r>
              <a:r>
                <a:rPr kumimoji="1" lang="ko-KR" altLang="en-US" sz="10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및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분석자료 제공</a:t>
              </a:r>
              <a:endParaRPr kumimoji="1" lang="en-US" altLang="ko-KR" sz="1000" b="0" i="0" u="none" strike="noStrike" kern="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kern="0" smtClean="0">
                  <a:solidFill>
                    <a:prstClr val="black"/>
                  </a:solidFill>
                  <a:latin typeface="+mn-ea"/>
                </a:rPr>
                <a:t>사업관리 부문의 주력 정보화로 중점 관리대상 업무 도출 및 체계적인 관리 유도</a:t>
              </a:r>
              <a:endParaRPr kumimoji="1" lang="en-US" altLang="ko-KR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="" xmlns:a16="http://schemas.microsoft.com/office/drawing/2014/main" id="{9F60708A-697A-422E-84EB-603677EFF344}"/>
                </a:ext>
              </a:extLst>
            </p:cNvPr>
            <p:cNvSpPr/>
            <p:nvPr/>
          </p:nvSpPr>
          <p:spPr>
            <a:xfrm>
              <a:off x="2814261" y="5713669"/>
              <a:ext cx="951723" cy="410375"/>
            </a:xfrm>
            <a:prstGeom prst="rect">
              <a:avLst/>
            </a:prstGeom>
            <a:pattFill prst="pct20">
              <a:fgClr>
                <a:srgbClr val="C7DDFD"/>
              </a:fgClr>
              <a:bgClr>
                <a:sysClr val="window" lastClr="FFFFFF"/>
              </a:bgClr>
            </a:patt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고려사항</a:t>
              </a:r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="" xmlns:a16="http://schemas.microsoft.com/office/drawing/2014/main" id="{F3587659-245E-46A2-96B1-18B88C25A318}"/>
                </a:ext>
              </a:extLst>
            </p:cNvPr>
            <p:cNvSpPr/>
            <p:nvPr/>
          </p:nvSpPr>
          <p:spPr>
            <a:xfrm>
              <a:off x="3831300" y="5713669"/>
              <a:ext cx="4988760" cy="505551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marL="93663" marR="0" lvl="0" indent="-93663" defTabSz="979488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 typeface="Wingdings" pitchFamily="2" charset="2"/>
                <a:buChar char="§"/>
                <a:tabLst/>
                <a:defRPr/>
              </a:pP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수주정보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파악을 위한 </a:t>
              </a:r>
              <a:r>
                <a:rPr kumimoji="1" lang="en-US" altLang="ko-KR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RPA </a:t>
              </a:r>
              <a:r>
                <a:rPr kumimoji="1" lang="ko-KR" altLang="en-US" sz="1000" b="0" i="0" u="none" strike="noStrike" kern="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도입 및 사업부문 유형별 표준 계획 체제 도입</a:t>
              </a:r>
              <a:endParaRPr kumimoji="1" lang="ko-KR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10" name="그룹 31">
            <a:extLst>
              <a:ext uri="{FF2B5EF4-FFF2-40B4-BE49-F238E27FC236}">
                <a16:creationId xmlns="" xmlns:a16="http://schemas.microsoft.com/office/drawing/2014/main" id="{9656F7BF-411B-4097-9FB1-3E53ADE28258}"/>
              </a:ext>
            </a:extLst>
          </p:cNvPr>
          <p:cNvGrpSpPr/>
          <p:nvPr/>
        </p:nvGrpSpPr>
        <p:grpSpPr>
          <a:xfrm>
            <a:off x="476077" y="3963824"/>
            <a:ext cx="2028386" cy="527511"/>
            <a:chOff x="401216" y="2918940"/>
            <a:chExt cx="2310143" cy="551720"/>
          </a:xfrm>
        </p:grpSpPr>
        <p:sp>
          <p:nvSpPr>
            <p:cNvPr id="33" name="모서리가 둥근 직사각형 44">
              <a:extLst>
                <a:ext uri="{FF2B5EF4-FFF2-40B4-BE49-F238E27FC236}">
                  <a16:creationId xmlns="" xmlns:a16="http://schemas.microsoft.com/office/drawing/2014/main" id="{FF82C688-A0DF-4BE3-8351-56F6BB3CF5FC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lvl="0" algn="ctr" defTabSz="979488" latinLnBrk="0">
                <a:spcBef>
                  <a:spcPct val="50000"/>
                </a:spcBef>
                <a:defRPr/>
              </a:pPr>
              <a:r>
                <a:rPr lang="ko-KR" altLang="en-US" sz="1000" b="1"/>
                <a:t>세부 사업계획 단위의 실적집계</a:t>
              </a:r>
              <a:endPara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4" name="직사각형 10">
              <a:extLst>
                <a:ext uri="{FF2B5EF4-FFF2-40B4-BE49-F238E27FC236}">
                  <a16:creationId xmlns="" xmlns:a16="http://schemas.microsoft.com/office/drawing/2014/main" id="{56B6DA92-25D8-43A6-AE8B-408C4FFF4AAA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3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35" name="그룹 31">
            <a:extLst>
              <a:ext uri="{FF2B5EF4-FFF2-40B4-BE49-F238E27FC236}">
                <a16:creationId xmlns="" xmlns:a16="http://schemas.microsoft.com/office/drawing/2014/main" id="{9656F7BF-411B-4097-9FB1-3E53ADE28258}"/>
              </a:ext>
            </a:extLst>
          </p:cNvPr>
          <p:cNvGrpSpPr/>
          <p:nvPr/>
        </p:nvGrpSpPr>
        <p:grpSpPr>
          <a:xfrm>
            <a:off x="476342" y="4581128"/>
            <a:ext cx="2028386" cy="527511"/>
            <a:chOff x="401216" y="2918940"/>
            <a:chExt cx="2310143" cy="551720"/>
          </a:xfrm>
        </p:grpSpPr>
        <p:sp>
          <p:nvSpPr>
            <p:cNvPr id="36" name="모서리가 둥근 직사각형 44">
              <a:extLst>
                <a:ext uri="{FF2B5EF4-FFF2-40B4-BE49-F238E27FC236}">
                  <a16:creationId xmlns="" xmlns:a16="http://schemas.microsoft.com/office/drawing/2014/main" id="{FF82C688-A0DF-4BE3-8351-56F6BB3CF5FC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lvl="0" algn="ctr" defTabSz="979488" latinLnBrk="0">
                <a:spcBef>
                  <a:spcPct val="50000"/>
                </a:spcBef>
                <a:defRPr/>
              </a:pPr>
              <a:r>
                <a:rPr lang="ko-KR" altLang="en-US" sz="1000" b="1"/>
                <a:t>사업실적 </a:t>
              </a:r>
              <a:r>
                <a:rPr lang="ko-KR" altLang="en-US" sz="1000" b="1" smtClean="0"/>
                <a:t>제공 </a:t>
              </a:r>
              <a:r>
                <a:rPr lang="ko-KR" altLang="en-US" sz="1000" b="1"/>
                <a:t>및 기성고 관리</a:t>
              </a:r>
              <a:endPara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37" name="직사각형 10">
              <a:extLst>
                <a:ext uri="{FF2B5EF4-FFF2-40B4-BE49-F238E27FC236}">
                  <a16:creationId xmlns="" xmlns:a16="http://schemas.microsoft.com/office/drawing/2014/main" id="{56B6DA92-25D8-43A6-AE8B-408C4FFF4AAA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kern="0" dirty="0">
                  <a:solidFill>
                    <a:prstClr val="white"/>
                  </a:solidFill>
                  <a:latin typeface="+mn-ea"/>
                </a:rPr>
                <a:t>4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grpSp>
        <p:nvGrpSpPr>
          <p:cNvPr id="38" name="그룹 31">
            <a:extLst>
              <a:ext uri="{FF2B5EF4-FFF2-40B4-BE49-F238E27FC236}">
                <a16:creationId xmlns="" xmlns:a16="http://schemas.microsoft.com/office/drawing/2014/main" id="{9656F7BF-411B-4097-9FB1-3E53ADE28258}"/>
              </a:ext>
            </a:extLst>
          </p:cNvPr>
          <p:cNvGrpSpPr/>
          <p:nvPr/>
        </p:nvGrpSpPr>
        <p:grpSpPr>
          <a:xfrm>
            <a:off x="488504" y="5205745"/>
            <a:ext cx="2028386" cy="527511"/>
            <a:chOff x="401216" y="2918940"/>
            <a:chExt cx="2310143" cy="551720"/>
          </a:xfrm>
        </p:grpSpPr>
        <p:sp>
          <p:nvSpPr>
            <p:cNvPr id="39" name="모서리가 둥근 직사각형 44">
              <a:extLst>
                <a:ext uri="{FF2B5EF4-FFF2-40B4-BE49-F238E27FC236}">
                  <a16:creationId xmlns="" xmlns:a16="http://schemas.microsoft.com/office/drawing/2014/main" id="{FF82C688-A0DF-4BE3-8351-56F6BB3CF5FC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lvl="0" algn="ctr" defTabSz="979488" latinLnBrk="0">
                <a:spcBef>
                  <a:spcPct val="50000"/>
                </a:spcBef>
                <a:defRPr/>
              </a:pPr>
              <a:r>
                <a:rPr lang="ko-KR" altLang="en-US" sz="1000" b="1"/>
                <a:t>합리적인 사업별 원가 계산</a:t>
              </a:r>
              <a:endParaRPr kumimoji="1" lang="ko-KR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40" name="직사각형 10">
              <a:extLst>
                <a:ext uri="{FF2B5EF4-FFF2-40B4-BE49-F238E27FC236}">
                  <a16:creationId xmlns="" xmlns:a16="http://schemas.microsoft.com/office/drawing/2014/main" id="{56B6DA92-25D8-43A6-AE8B-408C4FFF4AAA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defTabSz="979488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200" b="1" i="0" u="none" strike="noStrike" kern="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+mn-ea"/>
                </a:rPr>
                <a:t>5</a:t>
              </a:r>
              <a:endParaRPr kumimoji="1" lang="ko-KR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835114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latinLnBrk="0"/>
            <a:r>
              <a:rPr lang="ko-KR" altLang="en-US" smtClean="0"/>
              <a:t>경영정보시스템의 </a:t>
            </a:r>
            <a:r>
              <a:rPr lang="ko-KR" altLang="en-US" dirty="0"/>
              <a:t>응용 아키텍처 통합설계의 방향에 부합되는 설계 원칙</a:t>
            </a:r>
            <a:r>
              <a:rPr lang="en-US" altLang="ko-KR" dirty="0"/>
              <a:t>(</a:t>
            </a:r>
            <a:r>
              <a:rPr lang="ko-KR" altLang="en-US" dirty="0"/>
              <a:t>서비스 지원 표준화</a:t>
            </a:r>
            <a:r>
              <a:rPr lang="en-US" altLang="ko-KR" dirty="0"/>
              <a:t>, </a:t>
            </a:r>
            <a:r>
              <a:rPr lang="ko-KR" altLang="en-US" dirty="0"/>
              <a:t>서비스 수준향상</a:t>
            </a:r>
            <a:r>
              <a:rPr lang="en-US" altLang="ko-KR" dirty="0"/>
              <a:t>, </a:t>
            </a:r>
            <a:r>
              <a:rPr lang="ko-KR" altLang="en-US" dirty="0"/>
              <a:t>자원 효율성 향상</a:t>
            </a:r>
            <a:r>
              <a:rPr lang="en-US" altLang="ko-KR" dirty="0"/>
              <a:t>, </a:t>
            </a:r>
            <a:r>
              <a:rPr lang="ko-KR" altLang="en-US" dirty="0"/>
              <a:t>사용자 편의성 확보</a:t>
            </a:r>
            <a:r>
              <a:rPr lang="en-US" altLang="ko-KR" dirty="0"/>
              <a:t>)</a:t>
            </a:r>
            <a:r>
              <a:rPr lang="ko-KR" altLang="en-US" dirty="0"/>
              <a:t>을 도출함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mtClean="0"/>
              <a:t>1.7 </a:t>
            </a:r>
            <a:r>
              <a:rPr lang="ko-KR" altLang="en-US" dirty="0"/>
              <a:t>응용 아키텍처</a:t>
            </a:r>
            <a:r>
              <a:rPr lang="en-US" altLang="ko-KR" dirty="0"/>
              <a:t>(AA</a:t>
            </a:r>
            <a:r>
              <a:rPr lang="en-US" altLang="ko-KR"/>
              <a:t>) </a:t>
            </a:r>
            <a:r>
              <a:rPr lang="ko-KR" altLang="en-US" smtClean="0"/>
              <a:t>표준</a:t>
            </a:r>
            <a:r>
              <a:rPr lang="en-US" altLang="ko-KR" sz="1800" smtClean="0"/>
              <a:t/>
            </a:r>
            <a:br>
              <a:rPr lang="en-US" altLang="ko-KR" sz="1800" smtClean="0"/>
            </a:br>
            <a:r>
              <a:rPr lang="en-US" altLang="ko-KR" sz="1800" smtClean="0"/>
              <a:t>1.7.1 </a:t>
            </a:r>
            <a:r>
              <a:rPr lang="ko-KR" altLang="en-US" sz="1800" smtClean="0"/>
              <a:t>설계 원칙</a:t>
            </a:r>
            <a:endParaRPr lang="ko-KR" altLang="en-US" sz="18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Ⅲ. </a:t>
            </a:r>
            <a:r>
              <a:rPr lang="ko-KR" altLang="en-US" smtClean="0"/>
              <a:t>목표모델 설계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 </a:t>
            </a:r>
            <a:r>
              <a:rPr lang="ko-KR" altLang="en-US" dirty="0"/>
              <a:t>목표모델</a:t>
            </a:r>
            <a:r>
              <a:rPr lang="en-US" altLang="ko-KR" dirty="0"/>
              <a:t> </a:t>
            </a:r>
            <a:r>
              <a:rPr lang="ko-KR" altLang="en-US" dirty="0"/>
              <a:t>개선과제 정의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1.7 </a:t>
            </a:r>
            <a:r>
              <a:rPr lang="ko-KR" altLang="en-US" smtClean="0"/>
              <a:t>응용 아키텍쳐 표준</a:t>
            </a:r>
            <a:endParaRPr lang="en-US" altLang="ko-KR" dirty="0"/>
          </a:p>
        </p:txBody>
      </p:sp>
      <p:grpSp>
        <p:nvGrpSpPr>
          <p:cNvPr id="5" name="그룹 15">
            <a:extLst>
              <a:ext uri="{FF2B5EF4-FFF2-40B4-BE49-F238E27FC236}">
                <a16:creationId xmlns="" xmlns:a16="http://schemas.microsoft.com/office/drawing/2014/main" id="{5EA3A309-9094-4DE1-8B56-A0FF213903F2}"/>
              </a:ext>
            </a:extLst>
          </p:cNvPr>
          <p:cNvGrpSpPr/>
          <p:nvPr/>
        </p:nvGrpSpPr>
        <p:grpSpPr>
          <a:xfrm>
            <a:off x="344489" y="1592796"/>
            <a:ext cx="9171420" cy="4788035"/>
            <a:chOff x="354519" y="1592796"/>
            <a:chExt cx="6594107" cy="4788035"/>
          </a:xfrm>
        </p:grpSpPr>
        <p:sp>
          <p:nvSpPr>
            <p:cNvPr id="17" name="직사각형 16">
              <a:extLst>
                <a:ext uri="{FF2B5EF4-FFF2-40B4-BE49-F238E27FC236}">
                  <a16:creationId xmlns="" xmlns:a16="http://schemas.microsoft.com/office/drawing/2014/main" id="{21185E6B-A0BB-49C3-AD9A-D384B252AE1F}"/>
                </a:ext>
              </a:extLst>
            </p:cNvPr>
            <p:cNvSpPr/>
            <p:nvPr/>
          </p:nvSpPr>
          <p:spPr bwMode="auto">
            <a:xfrm>
              <a:off x="354519" y="1592796"/>
              <a:ext cx="6594106" cy="324000"/>
            </a:xfrm>
            <a:prstGeom prst="rect">
              <a:avLst/>
            </a:prstGeom>
            <a:solidFill>
              <a:srgbClr val="233C5A"/>
            </a:solidFill>
            <a:ln w="6350" cap="flat" cmpd="sng" algn="ctr">
              <a:solidFill>
                <a:srgbClr val="00437A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응용 아키텍처 설계 원칙 도출</a:t>
              </a:r>
              <a:endPara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" name="Rectangle 4">
              <a:extLst>
                <a:ext uri="{FF2B5EF4-FFF2-40B4-BE49-F238E27FC236}">
                  <a16:creationId xmlns="" xmlns:a16="http://schemas.microsoft.com/office/drawing/2014/main" id="{D2409568-0805-4FA2-A65A-042B5E1EA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519" y="1916831"/>
              <a:ext cx="6594107" cy="44640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sm" len="sm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80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265113" marR="0" lvl="0" indent="-265113" defTabSz="914400" eaLnBrk="0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ct val="0"/>
                </a:spcAft>
                <a:buClr>
                  <a:prstClr val="black"/>
                </a:buClr>
                <a:buSzTx/>
                <a:buFont typeface="Wingdings" pitchFamily="2" charset="2"/>
                <a:buChar char="q"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30" name="Rectangle 62">
            <a:extLst>
              <a:ext uri="{FF2B5EF4-FFF2-40B4-BE49-F238E27FC236}">
                <a16:creationId xmlns="" xmlns:a16="http://schemas.microsoft.com/office/drawing/2014/main" id="{E801D691-BC95-462B-B347-B7781CA17E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6672" y="2127684"/>
            <a:ext cx="1584120" cy="504000"/>
          </a:xfrm>
          <a:prstGeom prst="rect">
            <a:avLst/>
          </a:prstGeom>
          <a:solidFill>
            <a:srgbClr val="508CD2"/>
          </a:solidFill>
          <a:ln w="9525" algn="ctr">
            <a:solidFill>
              <a:srgbClr val="508CD2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개발환경의 표준화</a:t>
            </a:r>
          </a:p>
        </p:txBody>
      </p:sp>
      <p:sp>
        <p:nvSpPr>
          <p:cNvPr id="31" name="Rectangle 62">
            <a:extLst>
              <a:ext uri="{FF2B5EF4-FFF2-40B4-BE49-F238E27FC236}">
                <a16:creationId xmlns="" xmlns:a16="http://schemas.microsoft.com/office/drawing/2014/main" id="{BCE82A8D-03C5-4E1A-9962-51EA65044F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896" y="2127684"/>
            <a:ext cx="6228000" cy="504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전자정부 표준프레임워크를 이용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개발환경을 구축하여 개발 표준을 수립함</a:t>
            </a:r>
          </a:p>
        </p:txBody>
      </p:sp>
      <p:sp>
        <p:nvSpPr>
          <p:cNvPr id="32" name="Rectangle 62">
            <a:extLst>
              <a:ext uri="{FF2B5EF4-FFF2-40B4-BE49-F238E27FC236}">
                <a16:creationId xmlns="" xmlns:a16="http://schemas.microsoft.com/office/drawing/2014/main" id="{601AD107-2FAF-4DAA-8D46-B67D62DF53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6672" y="2679708"/>
            <a:ext cx="1584120" cy="504000"/>
          </a:xfrm>
          <a:prstGeom prst="rect">
            <a:avLst/>
          </a:prstGeom>
          <a:solidFill>
            <a:srgbClr val="508CD2"/>
          </a:solidFill>
          <a:ln w="9525" algn="ctr">
            <a:solidFill>
              <a:srgbClr val="508CD2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데이터연계 표준화</a:t>
            </a:r>
          </a:p>
        </p:txBody>
      </p:sp>
      <p:sp>
        <p:nvSpPr>
          <p:cNvPr id="33" name="Rectangle 62">
            <a:extLst>
              <a:ext uri="{FF2B5EF4-FFF2-40B4-BE49-F238E27FC236}">
                <a16:creationId xmlns="" xmlns:a16="http://schemas.microsoft.com/office/drawing/2014/main" id="{7C2A4751-778B-4AFE-9035-5F5A3264B1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896" y="2679708"/>
            <a:ext cx="6228000" cy="504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EAI/ESB 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기반 시스템 연계를 통한 메시지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연동 표준 규격을 준수함</a:t>
            </a:r>
          </a:p>
        </p:txBody>
      </p:sp>
      <p:sp>
        <p:nvSpPr>
          <p:cNvPr id="34" name="Rectangle 62">
            <a:extLst>
              <a:ext uri="{FF2B5EF4-FFF2-40B4-BE49-F238E27FC236}">
                <a16:creationId xmlns="" xmlns:a16="http://schemas.microsoft.com/office/drawing/2014/main" id="{4C7E25D4-A794-4F41-8AA7-008270BE8A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6672" y="3297646"/>
            <a:ext cx="1584120" cy="504000"/>
          </a:xfrm>
          <a:prstGeom prst="rect">
            <a:avLst/>
          </a:prstGeom>
          <a:solidFill>
            <a:srgbClr val="508CD2"/>
          </a:solidFill>
          <a:ln w="9525" algn="ctr">
            <a:solidFill>
              <a:srgbClr val="508CD2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다계층</a:t>
            </a:r>
            <a:r>
              <a:rPr kumimoji="1" lang="en-US" altLang="ko-KR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이중화</a:t>
            </a:r>
          </a:p>
        </p:txBody>
      </p:sp>
      <p:sp>
        <p:nvSpPr>
          <p:cNvPr id="35" name="Rectangle 62">
            <a:extLst>
              <a:ext uri="{FF2B5EF4-FFF2-40B4-BE49-F238E27FC236}">
                <a16:creationId xmlns="" xmlns:a16="http://schemas.microsoft.com/office/drawing/2014/main" id="{8C72C4FD-8B83-4C8B-81CD-19E10E9ACC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896" y="3297646"/>
            <a:ext cx="6228000" cy="504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WEB/WAS/DBMS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를 분리 운영하고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이중화하여 서비스 가용성을 향상 시킴</a:t>
            </a:r>
          </a:p>
        </p:txBody>
      </p:sp>
      <p:sp>
        <p:nvSpPr>
          <p:cNvPr id="36" name="Rectangle 62">
            <a:extLst>
              <a:ext uri="{FF2B5EF4-FFF2-40B4-BE49-F238E27FC236}">
                <a16:creationId xmlns="" xmlns:a16="http://schemas.microsoft.com/office/drawing/2014/main" id="{6341D111-F16E-4D59-BE5E-ECA51C6EF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6672" y="3849670"/>
            <a:ext cx="1584120" cy="504000"/>
          </a:xfrm>
          <a:prstGeom prst="rect">
            <a:avLst/>
          </a:prstGeom>
          <a:solidFill>
            <a:srgbClr val="508CD2"/>
          </a:solidFill>
          <a:ln w="9525" algn="ctr">
            <a:solidFill>
              <a:srgbClr val="508CD2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연동체계 단순화</a:t>
            </a:r>
          </a:p>
        </p:txBody>
      </p:sp>
      <p:sp>
        <p:nvSpPr>
          <p:cNvPr id="37" name="Rectangle 62">
            <a:extLst>
              <a:ext uri="{FF2B5EF4-FFF2-40B4-BE49-F238E27FC236}">
                <a16:creationId xmlns="" xmlns:a16="http://schemas.microsoft.com/office/drawing/2014/main" id="{831B9E20-82C6-4738-AE11-F87E1A767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896" y="3849670"/>
            <a:ext cx="6228000" cy="504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DBMS 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상호 간 연동부분을 통합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단순화 하여 관리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운영 효율성 향상 시킴</a:t>
            </a:r>
          </a:p>
        </p:txBody>
      </p:sp>
      <p:sp>
        <p:nvSpPr>
          <p:cNvPr id="38" name="Rectangle 62">
            <a:extLst>
              <a:ext uri="{FF2B5EF4-FFF2-40B4-BE49-F238E27FC236}">
                <a16:creationId xmlns="" xmlns:a16="http://schemas.microsoft.com/office/drawing/2014/main" id="{7FC7C71B-2FE0-48CF-9EB5-3C5E6A2319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6672" y="4503764"/>
            <a:ext cx="1584120" cy="504000"/>
          </a:xfrm>
          <a:prstGeom prst="rect">
            <a:avLst/>
          </a:prstGeom>
          <a:solidFill>
            <a:srgbClr val="508CD2"/>
          </a:solidFill>
          <a:ln w="9525" algn="ctr">
            <a:solidFill>
              <a:srgbClr val="508CD2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접속창구 서비스 통합</a:t>
            </a:r>
          </a:p>
        </p:txBody>
      </p:sp>
      <p:sp>
        <p:nvSpPr>
          <p:cNvPr id="39" name="Rectangle 62">
            <a:extLst>
              <a:ext uri="{FF2B5EF4-FFF2-40B4-BE49-F238E27FC236}">
                <a16:creationId xmlns="" xmlns:a16="http://schemas.microsoft.com/office/drawing/2014/main" id="{635580B7-041D-41AC-982A-D645A2269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896" y="4503764"/>
            <a:ext cx="6228000" cy="504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예산관리</a:t>
            </a:r>
            <a:r>
              <a:rPr kumimoji="1" lang="en-US" altLang="ko-KR" sz="1050" b="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050" b="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회계관리</a:t>
            </a:r>
            <a:r>
              <a:rPr kumimoji="1" lang="en-US" altLang="ko-KR" sz="1050" b="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050" b="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자산관리</a:t>
            </a:r>
            <a:r>
              <a:rPr kumimoji="1" lang="en-US" altLang="ko-KR" sz="1050" b="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050" b="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구매관리</a:t>
            </a:r>
            <a:r>
              <a:rPr kumimoji="1" lang="en-US" altLang="ko-KR" sz="1050" b="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050" b="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사업관리 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업무처리 서비스를 경영정보 포털로 통합함</a:t>
            </a:r>
          </a:p>
        </p:txBody>
      </p:sp>
      <p:sp>
        <p:nvSpPr>
          <p:cNvPr id="40" name="Rectangle 62">
            <a:extLst>
              <a:ext uri="{FF2B5EF4-FFF2-40B4-BE49-F238E27FC236}">
                <a16:creationId xmlns="" xmlns:a16="http://schemas.microsoft.com/office/drawing/2014/main" id="{665EC6EE-58D9-488C-841F-8E2EE25225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6672" y="5103400"/>
            <a:ext cx="1584120" cy="504000"/>
          </a:xfrm>
          <a:prstGeom prst="rect">
            <a:avLst/>
          </a:prstGeom>
          <a:solidFill>
            <a:srgbClr val="508CD2"/>
          </a:solidFill>
          <a:ln w="9525" algn="ctr">
            <a:solidFill>
              <a:srgbClr val="508CD2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사용자 인터페이스</a:t>
            </a:r>
          </a:p>
        </p:txBody>
      </p:sp>
      <p:sp>
        <p:nvSpPr>
          <p:cNvPr id="41" name="Rectangle 62">
            <a:extLst>
              <a:ext uri="{FF2B5EF4-FFF2-40B4-BE49-F238E27FC236}">
                <a16:creationId xmlns="" xmlns:a16="http://schemas.microsoft.com/office/drawing/2014/main" id="{2E0B57B0-458D-48ED-8C79-AC0E360EC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896" y="5103400"/>
            <a:ext cx="6228000" cy="504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사용자 편의성 극대화를 위해 웹 호환성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접근성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표준</a:t>
            </a:r>
            <a:r>
              <a:rPr kumimoji="1" lang="en-US" altLang="ko-KR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UI/UX </a:t>
            </a: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기반 사용자 인터페이스를 제공해야 함</a:t>
            </a:r>
          </a:p>
        </p:txBody>
      </p:sp>
      <p:sp>
        <p:nvSpPr>
          <p:cNvPr id="42" name="Rectangle 62">
            <a:extLst>
              <a:ext uri="{FF2B5EF4-FFF2-40B4-BE49-F238E27FC236}">
                <a16:creationId xmlns="" xmlns:a16="http://schemas.microsoft.com/office/drawing/2014/main" id="{746D8A99-DB64-4C26-9C43-2287C99BC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6672" y="5655424"/>
            <a:ext cx="1584120" cy="504000"/>
          </a:xfrm>
          <a:prstGeom prst="rect">
            <a:avLst/>
          </a:prstGeom>
          <a:solidFill>
            <a:srgbClr val="508CD2"/>
          </a:solidFill>
          <a:ln w="9525" algn="ctr">
            <a:solidFill>
              <a:srgbClr val="508CD2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멀티디바이스 지원</a:t>
            </a:r>
          </a:p>
        </p:txBody>
      </p:sp>
      <p:sp>
        <p:nvSpPr>
          <p:cNvPr id="43" name="Rectangle 62">
            <a:extLst>
              <a:ext uri="{FF2B5EF4-FFF2-40B4-BE49-F238E27FC236}">
                <a16:creationId xmlns="" xmlns:a16="http://schemas.microsoft.com/office/drawing/2014/main" id="{05B6ED99-F5F2-4C97-9F91-0848C6A10D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4896" y="5655424"/>
            <a:ext cx="6228000" cy="50400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모바일 디바이스에 대한 통일화된 웹 서비스 환경을 </a:t>
            </a:r>
            <a:r>
              <a:rPr kumimoji="1" lang="ko-KR" altLang="en-US" sz="1050" b="0" i="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제공해야 </a:t>
            </a:r>
            <a:r>
              <a:rPr kumimoji="1" lang="ko-KR" altLang="en-US" sz="1050" b="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함</a:t>
            </a:r>
            <a:r>
              <a:rPr kumimoji="1" lang="en-US" altLang="ko-KR" sz="1050" b="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1" lang="ko-KR" altLang="en-US" sz="1050" b="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사업관리 현장용</a:t>
            </a:r>
            <a:r>
              <a:rPr kumimoji="1" lang="en-US" altLang="ko-KR" sz="1050" b="0" i="0" u="none" strike="noStrike" kern="0" cap="none" spc="0" normalizeH="0" baseline="0" noProof="0" smtClean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)</a:t>
            </a:r>
            <a:endParaRPr kumimoji="1" lang="ko-KR" altLang="en-US" sz="10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4" name="Rectangle 62">
            <a:extLst>
              <a:ext uri="{FF2B5EF4-FFF2-40B4-BE49-F238E27FC236}">
                <a16:creationId xmlns="" xmlns:a16="http://schemas.microsoft.com/office/drawing/2014/main" id="{84B7F2C7-6AC9-4AC0-A4DC-6C08122246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370" y="2127684"/>
            <a:ext cx="945198" cy="1056024"/>
          </a:xfrm>
          <a:prstGeom prst="rect">
            <a:avLst/>
          </a:prstGeom>
          <a:solidFill>
            <a:srgbClr val="01458C"/>
          </a:solidFill>
          <a:ln w="9525" algn="ctr">
            <a:solidFill>
              <a:srgbClr val="01458C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서비스 지원 표준화</a:t>
            </a:r>
          </a:p>
        </p:txBody>
      </p:sp>
      <p:sp>
        <p:nvSpPr>
          <p:cNvPr id="45" name="Rectangle 62">
            <a:extLst>
              <a:ext uri="{FF2B5EF4-FFF2-40B4-BE49-F238E27FC236}">
                <a16:creationId xmlns="" xmlns:a16="http://schemas.microsoft.com/office/drawing/2014/main" id="{1F423B57-4C55-4E7F-9981-9439C63C8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370" y="3297646"/>
            <a:ext cx="945198" cy="1056024"/>
          </a:xfrm>
          <a:prstGeom prst="rect">
            <a:avLst/>
          </a:prstGeom>
          <a:solidFill>
            <a:srgbClr val="01458C"/>
          </a:solidFill>
          <a:ln w="9525" algn="ctr">
            <a:solidFill>
              <a:srgbClr val="01458C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서비스 수준 향상</a:t>
            </a:r>
          </a:p>
        </p:txBody>
      </p:sp>
      <p:sp>
        <p:nvSpPr>
          <p:cNvPr id="46" name="Rectangle 62">
            <a:extLst>
              <a:ext uri="{FF2B5EF4-FFF2-40B4-BE49-F238E27FC236}">
                <a16:creationId xmlns="" xmlns:a16="http://schemas.microsoft.com/office/drawing/2014/main" id="{28ABD8D4-69FF-4DE0-8A2C-BA318E655E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370" y="5109868"/>
            <a:ext cx="945198" cy="1056024"/>
          </a:xfrm>
          <a:prstGeom prst="rect">
            <a:avLst/>
          </a:prstGeom>
          <a:solidFill>
            <a:srgbClr val="01458C"/>
          </a:solidFill>
          <a:ln w="9525" algn="ctr">
            <a:solidFill>
              <a:srgbClr val="01458C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사</a:t>
            </a:r>
            <a:r>
              <a: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용자 편의성 확보</a:t>
            </a:r>
          </a:p>
        </p:txBody>
      </p:sp>
      <p:sp>
        <p:nvSpPr>
          <p:cNvPr id="47" name="Rectangle 62">
            <a:extLst>
              <a:ext uri="{FF2B5EF4-FFF2-40B4-BE49-F238E27FC236}">
                <a16:creationId xmlns="" xmlns:a16="http://schemas.microsoft.com/office/drawing/2014/main" id="{313AFBF3-2F91-4064-A60B-369A5540E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370" y="4513674"/>
            <a:ext cx="945198" cy="504000"/>
          </a:xfrm>
          <a:prstGeom prst="rect">
            <a:avLst/>
          </a:prstGeom>
          <a:solidFill>
            <a:srgbClr val="01458C"/>
          </a:solidFill>
          <a:ln w="9525" algn="ctr">
            <a:solidFill>
              <a:srgbClr val="01458C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자원 효율성 향상</a:t>
            </a:r>
          </a:p>
        </p:txBody>
      </p:sp>
    </p:spTree>
    <p:extLst>
      <p:ext uri="{BB962C8B-B14F-4D97-AF65-F5344CB8AC3E}">
        <p14:creationId xmlns:p14="http://schemas.microsoft.com/office/powerpoint/2010/main" val="10972418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latinLnBrk="0"/>
            <a:r>
              <a:rPr lang="ko-KR" altLang="en-US" smtClean="0"/>
              <a:t>경영정보시스템의 </a:t>
            </a:r>
            <a:r>
              <a:rPr lang="ko-KR" altLang="en-US" dirty="0"/>
              <a:t>응용어플리케이션 표준프레임워크 정립을 통해 중복투자를 방지하고</a:t>
            </a:r>
            <a:r>
              <a:rPr lang="en-US" altLang="ko-KR" dirty="0"/>
              <a:t>, </a:t>
            </a:r>
            <a:r>
              <a:rPr lang="ko-KR" altLang="en-US" dirty="0"/>
              <a:t>응용 시스템간 연동의 편의성 및 효율성 향상</a:t>
            </a:r>
            <a:r>
              <a:rPr lang="en-US" altLang="ko-KR" dirty="0"/>
              <a:t>, </a:t>
            </a:r>
            <a:r>
              <a:rPr lang="ko-KR" altLang="en-US" dirty="0"/>
              <a:t>향후 고도화를 위한 확장성 있는 </a:t>
            </a:r>
            <a:r>
              <a:rPr lang="en-US" altLang="ko-KR" dirty="0"/>
              <a:t>To-Be </a:t>
            </a:r>
            <a:r>
              <a:rPr lang="ko-KR" altLang="en-US" dirty="0"/>
              <a:t>모델을 도출함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mtClean="0"/>
              <a:t>1.7 </a:t>
            </a:r>
            <a:r>
              <a:rPr lang="ko-KR" altLang="en-US" smtClean="0"/>
              <a:t>응용 아키텍처</a:t>
            </a:r>
            <a:r>
              <a:rPr lang="en-US" altLang="ko-KR" smtClean="0"/>
              <a:t>(</a:t>
            </a:r>
            <a:r>
              <a:rPr lang="en-US" altLang="ko-KR"/>
              <a:t>AA) </a:t>
            </a:r>
            <a:r>
              <a:rPr lang="ko-KR" altLang="en-US"/>
              <a:t>표준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1.7.2 </a:t>
            </a:r>
            <a:r>
              <a:rPr lang="ko-KR" altLang="en-US" sz="1800" smtClean="0"/>
              <a:t>표준화 구성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Ⅲ. </a:t>
            </a:r>
            <a:r>
              <a:rPr lang="ko-KR" altLang="en-US" smtClean="0"/>
              <a:t>목표모델 설계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 </a:t>
            </a:r>
            <a:r>
              <a:rPr lang="ko-KR" altLang="en-US" dirty="0"/>
              <a:t>목표모델</a:t>
            </a:r>
            <a:r>
              <a:rPr lang="en-US" altLang="ko-KR" dirty="0"/>
              <a:t> </a:t>
            </a:r>
            <a:r>
              <a:rPr lang="ko-KR" altLang="en-US" dirty="0"/>
              <a:t>개선과제 정의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1.7 </a:t>
            </a:r>
            <a:r>
              <a:rPr lang="ko-KR" altLang="en-US" smtClean="0"/>
              <a:t>응용 아키텍쳐 표준</a:t>
            </a:r>
            <a:endParaRPr lang="en-US" altLang="ko-KR" dirty="0"/>
          </a:p>
        </p:txBody>
      </p:sp>
      <p:grpSp>
        <p:nvGrpSpPr>
          <p:cNvPr id="5" name="그룹 15">
            <a:extLst>
              <a:ext uri="{FF2B5EF4-FFF2-40B4-BE49-F238E27FC236}">
                <a16:creationId xmlns="" xmlns:a16="http://schemas.microsoft.com/office/drawing/2014/main" id="{5EA3A309-9094-4DE1-8B56-A0FF213903F2}"/>
              </a:ext>
            </a:extLst>
          </p:cNvPr>
          <p:cNvGrpSpPr/>
          <p:nvPr/>
        </p:nvGrpSpPr>
        <p:grpSpPr>
          <a:xfrm>
            <a:off x="344489" y="1593850"/>
            <a:ext cx="9171420" cy="4788035"/>
            <a:chOff x="354519" y="1592796"/>
            <a:chExt cx="6594107" cy="4788035"/>
          </a:xfrm>
        </p:grpSpPr>
        <p:sp>
          <p:nvSpPr>
            <p:cNvPr id="17" name="직사각형 16">
              <a:extLst>
                <a:ext uri="{FF2B5EF4-FFF2-40B4-BE49-F238E27FC236}">
                  <a16:creationId xmlns="" xmlns:a16="http://schemas.microsoft.com/office/drawing/2014/main" id="{21185E6B-A0BB-49C3-AD9A-D384B252AE1F}"/>
                </a:ext>
              </a:extLst>
            </p:cNvPr>
            <p:cNvSpPr/>
            <p:nvPr/>
          </p:nvSpPr>
          <p:spPr bwMode="auto">
            <a:xfrm>
              <a:off x="354519" y="1592796"/>
              <a:ext cx="6594106" cy="324000"/>
            </a:xfrm>
            <a:prstGeom prst="rect">
              <a:avLst/>
            </a:prstGeom>
            <a:solidFill>
              <a:srgbClr val="233C5A"/>
            </a:solidFill>
            <a:ln w="6350" cap="flat" cmpd="sng" algn="ctr">
              <a:solidFill>
                <a:srgbClr val="00437A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응용 아키텍처 표준화 구성</a:t>
              </a:r>
              <a:endPara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endParaRPr>
            </a:p>
          </p:txBody>
        </p:sp>
        <p:sp>
          <p:nvSpPr>
            <p:cNvPr id="18" name="Rectangle 4">
              <a:extLst>
                <a:ext uri="{FF2B5EF4-FFF2-40B4-BE49-F238E27FC236}">
                  <a16:creationId xmlns="" xmlns:a16="http://schemas.microsoft.com/office/drawing/2014/main" id="{D2409568-0805-4FA2-A65A-042B5E1EA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519" y="1916831"/>
              <a:ext cx="6594107" cy="44640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sm" len="sm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80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265113" marR="0" lvl="0" indent="-265113" defTabSz="914400" eaLnBrk="0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ct val="0"/>
                </a:spcAft>
                <a:buClr>
                  <a:prstClr val="black"/>
                </a:buClr>
                <a:buSzTx/>
                <a:buFont typeface="Wingdings" pitchFamily="2" charset="2"/>
                <a:buChar char="q"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201" name="Rectangle 62">
            <a:extLst>
              <a:ext uri="{FF2B5EF4-FFF2-40B4-BE49-F238E27FC236}">
                <a16:creationId xmlns="" xmlns:a16="http://schemas.microsoft.com/office/drawing/2014/main" id="{159E6891-B9E3-4EA6-A4F5-6FD033E051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39" y="2332850"/>
            <a:ext cx="1281545" cy="1971361"/>
          </a:xfrm>
          <a:prstGeom prst="rect">
            <a:avLst/>
          </a:prstGeom>
          <a:solidFill>
            <a:srgbClr val="508CD2"/>
          </a:solidFill>
          <a:ln w="9525" algn="ctr">
            <a:solidFill>
              <a:srgbClr val="508CD2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ctr"/>
          <a:lstStyle/>
          <a:p>
            <a:pPr marL="171450" lvl="0" indent="-171450" eaLnBrk="0" fontAlgn="base" latinLnBrk="0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ko-KR" altLang="en-US" sz="1100" b="1" kern="0" dirty="0">
                <a:solidFill>
                  <a:schemeClr val="bg1"/>
                </a:solidFill>
                <a:latin typeface="+mn-ea"/>
              </a:rPr>
              <a:t>전자정부 표준프레임워크의 구성요소를 활용하여 표준화 진행</a:t>
            </a:r>
          </a:p>
          <a:p>
            <a:pPr marL="171450" lvl="0" indent="-171450" eaLnBrk="0" fontAlgn="base" latinLnBrk="0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kumimoji="1" lang="ko-KR" altLang="en-US" sz="1100" b="1" kern="0" dirty="0">
                <a:solidFill>
                  <a:schemeClr val="bg1"/>
                </a:solidFill>
                <a:latin typeface="+mn-ea"/>
              </a:rPr>
              <a:t>재개발 및 신규 개발에 적용</a:t>
            </a:r>
            <a:endParaRPr kumimoji="1" lang="ko-KR" altLang="en-US" sz="110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03" name="Rectangle 62">
            <a:extLst>
              <a:ext uri="{FF2B5EF4-FFF2-40B4-BE49-F238E27FC236}">
                <a16:creationId xmlns="" xmlns:a16="http://schemas.microsoft.com/office/drawing/2014/main" id="{1A7F4B5A-11BA-466A-9239-0C4968C49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539" y="4664427"/>
            <a:ext cx="1281545" cy="1566556"/>
          </a:xfrm>
          <a:prstGeom prst="rect">
            <a:avLst/>
          </a:prstGeom>
          <a:solidFill>
            <a:srgbClr val="508CD2"/>
          </a:solidFill>
          <a:ln w="9525" algn="ctr">
            <a:solidFill>
              <a:srgbClr val="508CD2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ctr"/>
          <a:lstStyle/>
          <a:p>
            <a:pPr marL="171450" indent="-171450" eaLnBrk="0" fontAlgn="base" latinLnBrk="0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1" lang="en-US" altLang="ko-KR" sz="1100" b="1" kern="0" dirty="0">
                <a:solidFill>
                  <a:schemeClr val="bg1"/>
                </a:solidFill>
                <a:latin typeface="+mn-ea"/>
              </a:rPr>
              <a:t>EAI/ESB </a:t>
            </a:r>
            <a:r>
              <a:rPr kumimoji="1" lang="ko-KR" altLang="en-US" sz="1100" b="1" kern="0" dirty="0">
                <a:solidFill>
                  <a:schemeClr val="bg1"/>
                </a:solidFill>
                <a:latin typeface="+mn-ea"/>
              </a:rPr>
              <a:t>기반의 아키텍처로 구현</a:t>
            </a:r>
          </a:p>
          <a:p>
            <a:pPr marL="171450" indent="-171450" eaLnBrk="0" fontAlgn="base" latinLnBrk="0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1" lang="ko-KR" altLang="en-US" sz="1100" b="1" kern="0" dirty="0">
                <a:solidFill>
                  <a:schemeClr val="bg1"/>
                </a:solidFill>
                <a:latin typeface="+mn-ea"/>
              </a:rPr>
              <a:t>시스템 및 유관기관 외부시스템과 효율적 연동</a:t>
            </a:r>
          </a:p>
        </p:txBody>
      </p:sp>
      <p:grpSp>
        <p:nvGrpSpPr>
          <p:cNvPr id="8" name="그룹 295">
            <a:extLst>
              <a:ext uri="{FF2B5EF4-FFF2-40B4-BE49-F238E27FC236}">
                <a16:creationId xmlns="" xmlns:a16="http://schemas.microsoft.com/office/drawing/2014/main" id="{CA5759BB-99E7-4925-8AF9-863F6C2F6B26}"/>
              </a:ext>
            </a:extLst>
          </p:cNvPr>
          <p:cNvGrpSpPr/>
          <p:nvPr/>
        </p:nvGrpSpPr>
        <p:grpSpPr>
          <a:xfrm>
            <a:off x="1784647" y="2045799"/>
            <a:ext cx="6247972" cy="4191489"/>
            <a:chOff x="1784647" y="2045799"/>
            <a:chExt cx="6247972" cy="4191489"/>
          </a:xfrm>
        </p:grpSpPr>
        <p:sp>
          <p:nvSpPr>
            <p:cNvPr id="10" name="Border">
              <a:extLst>
                <a:ext uri="{FF2B5EF4-FFF2-40B4-BE49-F238E27FC236}">
                  <a16:creationId xmlns="" xmlns:a16="http://schemas.microsoft.com/office/drawing/2014/main" id="{D05091E1-DAB6-4F0C-9BD2-BAD021BF03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647" y="2060848"/>
              <a:ext cx="3065545" cy="343956"/>
            </a:xfrm>
            <a:prstGeom prst="roundRect">
              <a:avLst>
                <a:gd name="adj" fmla="val 31606"/>
              </a:avLst>
            </a:prstGeom>
            <a:solidFill>
              <a:srgbClr val="01458C"/>
            </a:solidFill>
            <a:ln w="6350">
              <a:solidFill>
                <a:srgbClr val="0145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45720" rIns="72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b="1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="" xmlns:a16="http://schemas.microsoft.com/office/drawing/2014/main" id="{70C45A6E-4BE0-420E-B6D9-49ED9A19EDF8}"/>
                </a:ext>
              </a:extLst>
            </p:cNvPr>
            <p:cNvSpPr/>
            <p:nvPr/>
          </p:nvSpPr>
          <p:spPr>
            <a:xfrm>
              <a:off x="2087222" y="2068305"/>
              <a:ext cx="2267638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solidFill>
                    <a:schemeClr val="bg1"/>
                  </a:solidFill>
                  <a:latin typeface="+mn-ea"/>
                </a:rPr>
                <a:t>프레임워크 표준화</a:t>
              </a:r>
            </a:p>
          </p:txBody>
        </p:sp>
        <p:sp>
          <p:nvSpPr>
            <p:cNvPr id="12" name="Border">
              <a:extLst>
                <a:ext uri="{FF2B5EF4-FFF2-40B4-BE49-F238E27FC236}">
                  <a16:creationId xmlns="" xmlns:a16="http://schemas.microsoft.com/office/drawing/2014/main" id="{997D896C-4477-48EA-942C-73E848644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647" y="2321848"/>
              <a:ext cx="3065545" cy="1968562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45720" rIns="72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b="1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="" xmlns:a16="http://schemas.microsoft.com/office/drawing/2014/main" id="{A114B962-799D-46AF-AD65-2A4B8F8E94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38575" y="2365313"/>
              <a:ext cx="3008911" cy="1889589"/>
            </a:xfrm>
            <a:prstGeom prst="rect">
              <a:avLst/>
            </a:prstGeom>
          </p:spPr>
        </p:pic>
        <p:sp>
          <p:nvSpPr>
            <p:cNvPr id="144" name="Border">
              <a:extLst>
                <a:ext uri="{FF2B5EF4-FFF2-40B4-BE49-F238E27FC236}">
                  <a16:creationId xmlns="" xmlns:a16="http://schemas.microsoft.com/office/drawing/2014/main" id="{2F97DC86-F564-46B0-B9E6-E080B1A1AD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647" y="4381045"/>
              <a:ext cx="3065545" cy="343956"/>
            </a:xfrm>
            <a:prstGeom prst="roundRect">
              <a:avLst>
                <a:gd name="adj" fmla="val 31606"/>
              </a:avLst>
            </a:prstGeom>
            <a:solidFill>
              <a:srgbClr val="01458C"/>
            </a:solidFill>
            <a:ln w="6350">
              <a:solidFill>
                <a:srgbClr val="0145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45720" rIns="72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b="1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45" name="직사각형 144">
              <a:extLst>
                <a:ext uri="{FF2B5EF4-FFF2-40B4-BE49-F238E27FC236}">
                  <a16:creationId xmlns="" xmlns:a16="http://schemas.microsoft.com/office/drawing/2014/main" id="{013CFF9E-5161-4FEC-8CD2-2E626202665F}"/>
                </a:ext>
              </a:extLst>
            </p:cNvPr>
            <p:cNvSpPr/>
            <p:nvPr/>
          </p:nvSpPr>
          <p:spPr>
            <a:xfrm>
              <a:off x="2087222" y="4388502"/>
              <a:ext cx="2267638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solidFill>
                    <a:schemeClr val="bg1"/>
                  </a:solidFill>
                  <a:latin typeface="+mn-ea"/>
                </a:rPr>
                <a:t>연계 표준화</a:t>
              </a:r>
            </a:p>
          </p:txBody>
        </p:sp>
        <p:sp>
          <p:nvSpPr>
            <p:cNvPr id="146" name="Border">
              <a:extLst>
                <a:ext uri="{FF2B5EF4-FFF2-40B4-BE49-F238E27FC236}">
                  <a16:creationId xmlns="" xmlns:a16="http://schemas.microsoft.com/office/drawing/2014/main" id="{3D66B696-DFAB-4809-9E3D-5E0DEDE09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4647" y="4642045"/>
              <a:ext cx="3065545" cy="1595243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45720" rIns="72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b="1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47" name="Border">
              <a:extLst>
                <a:ext uri="{FF2B5EF4-FFF2-40B4-BE49-F238E27FC236}">
                  <a16:creationId xmlns="" xmlns:a16="http://schemas.microsoft.com/office/drawing/2014/main" id="{B6BAB40E-1CD7-4699-95AD-6A976D09D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074" y="2045799"/>
              <a:ext cx="3065545" cy="343956"/>
            </a:xfrm>
            <a:prstGeom prst="roundRect">
              <a:avLst>
                <a:gd name="adj" fmla="val 31606"/>
              </a:avLst>
            </a:prstGeom>
            <a:solidFill>
              <a:srgbClr val="01458C"/>
            </a:solidFill>
            <a:ln w="6350">
              <a:solidFill>
                <a:srgbClr val="01458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45720" rIns="72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b="1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48" name="직사각형 147">
              <a:extLst>
                <a:ext uri="{FF2B5EF4-FFF2-40B4-BE49-F238E27FC236}">
                  <a16:creationId xmlns="" xmlns:a16="http://schemas.microsoft.com/office/drawing/2014/main" id="{66C7F769-5F79-40BD-90F2-AB62D89BF3DD}"/>
                </a:ext>
              </a:extLst>
            </p:cNvPr>
            <p:cNvSpPr/>
            <p:nvPr/>
          </p:nvSpPr>
          <p:spPr>
            <a:xfrm>
              <a:off x="5269649" y="2053256"/>
              <a:ext cx="2267638" cy="25391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50" b="1" dirty="0">
                  <a:solidFill>
                    <a:schemeClr val="bg1"/>
                  </a:solidFill>
                  <a:latin typeface="+mn-ea"/>
                </a:rPr>
                <a:t>기술구조 표준화</a:t>
              </a:r>
            </a:p>
          </p:txBody>
        </p:sp>
        <p:sp>
          <p:nvSpPr>
            <p:cNvPr id="149" name="Border">
              <a:extLst>
                <a:ext uri="{FF2B5EF4-FFF2-40B4-BE49-F238E27FC236}">
                  <a16:creationId xmlns="" xmlns:a16="http://schemas.microsoft.com/office/drawing/2014/main" id="{217FB170-FB74-4EF3-BAFF-FAEA33DEC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074" y="2306799"/>
              <a:ext cx="3065545" cy="3924184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72000" tIns="45720" rIns="7200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b="1" dirty="0">
                <a:solidFill>
                  <a:schemeClr val="bg1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150" name="Rectangle 65">
              <a:extLst>
                <a:ext uri="{FF2B5EF4-FFF2-40B4-BE49-F238E27FC236}">
                  <a16:creationId xmlns="" xmlns:a16="http://schemas.microsoft.com/office/drawing/2014/main" id="{438E1FFB-521E-423C-AF56-A2659E54EA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2201" y="4940919"/>
              <a:ext cx="284495" cy="1080369"/>
            </a:xfrm>
            <a:prstGeom prst="rect">
              <a:avLst/>
            </a:prstGeom>
            <a:solidFill>
              <a:sysClr val="window" lastClr="FFFFFF">
                <a:lumMod val="75000"/>
              </a:sysClr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내부시스템</a:t>
              </a:r>
            </a:p>
          </p:txBody>
        </p:sp>
        <p:sp>
          <p:nvSpPr>
            <p:cNvPr id="151" name="Rectangle 65">
              <a:extLst>
                <a:ext uri="{FF2B5EF4-FFF2-40B4-BE49-F238E27FC236}">
                  <a16:creationId xmlns="" xmlns:a16="http://schemas.microsoft.com/office/drawing/2014/main" id="{AFD7A2C1-3E04-4D99-BD19-121FCEDE7A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3939" y="4940919"/>
              <a:ext cx="284495" cy="1080369"/>
            </a:xfrm>
            <a:prstGeom prst="rect">
              <a:avLst/>
            </a:prstGeom>
            <a:solidFill>
              <a:sysClr val="window" lastClr="FFFFFF">
                <a:lumMod val="75000"/>
              </a:sysClr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</a:rPr>
                <a:t>외부시스템</a:t>
              </a:r>
            </a:p>
          </p:txBody>
        </p:sp>
        <p:grpSp>
          <p:nvGrpSpPr>
            <p:cNvPr id="9" name="그룹 155">
              <a:extLst>
                <a:ext uri="{FF2B5EF4-FFF2-40B4-BE49-F238E27FC236}">
                  <a16:creationId xmlns="" xmlns:a16="http://schemas.microsoft.com/office/drawing/2014/main" id="{19F35035-45D8-4AC0-8BA3-9F0F09CD408A}"/>
                </a:ext>
              </a:extLst>
            </p:cNvPr>
            <p:cNvGrpSpPr/>
            <p:nvPr/>
          </p:nvGrpSpPr>
          <p:grpSpPr>
            <a:xfrm>
              <a:off x="2252975" y="4971167"/>
              <a:ext cx="392853" cy="252285"/>
              <a:chOff x="-2336563" y="1803296"/>
              <a:chExt cx="765559" cy="369369"/>
            </a:xfrm>
          </p:grpSpPr>
          <p:sp>
            <p:nvSpPr>
              <p:cNvPr id="157" name="사각형: 둥근 모서리 156">
                <a:extLst>
                  <a:ext uri="{FF2B5EF4-FFF2-40B4-BE49-F238E27FC236}">
                    <a16:creationId xmlns="" xmlns:a16="http://schemas.microsoft.com/office/drawing/2014/main" id="{C93276E2-FB8A-4DB4-970D-68E12F0C3E6C}"/>
                  </a:ext>
                </a:extLst>
              </p:cNvPr>
              <p:cNvSpPr/>
              <p:nvPr/>
            </p:nvSpPr>
            <p:spPr>
              <a:xfrm>
                <a:off x="-2225954" y="1803296"/>
                <a:ext cx="654950" cy="369369"/>
              </a:xfrm>
              <a:prstGeom prst="round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36000" rIns="72000" bIns="36000" anchor="ctr"/>
              <a:lstStyle/>
              <a:p>
                <a:pPr eaLnBrk="0" fontAlgn="base" latinLnBrk="0" hangingPunct="0">
                  <a:spcAft>
                    <a:spcPct val="0"/>
                  </a:spcAft>
                </a:pPr>
                <a:endParaRPr kumimoji="1" lang="ko-KR" altLang="en-US" kern="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58" name="Rectangle 62">
                <a:extLst>
                  <a:ext uri="{FF2B5EF4-FFF2-40B4-BE49-F238E27FC236}">
                    <a16:creationId xmlns="" xmlns:a16="http://schemas.microsoft.com/office/drawing/2014/main" id="{D24DCCE5-B4A2-471C-8041-8BFE65D55C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36563" y="1899719"/>
                <a:ext cx="198107" cy="65826"/>
              </a:xfrm>
              <a:prstGeom prst="rect">
                <a:avLst/>
              </a:prstGeom>
              <a:solidFill>
                <a:srgbClr val="BFBFBF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36000" rIns="72000" bIns="360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59" name="Rectangle 62">
                <a:extLst>
                  <a:ext uri="{FF2B5EF4-FFF2-40B4-BE49-F238E27FC236}">
                    <a16:creationId xmlns="" xmlns:a16="http://schemas.microsoft.com/office/drawing/2014/main" id="{5092E7E4-D9D7-43D2-A6E8-7F9E5E4C76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36563" y="2007890"/>
                <a:ext cx="198107" cy="65826"/>
              </a:xfrm>
              <a:prstGeom prst="rect">
                <a:avLst/>
              </a:prstGeom>
              <a:solidFill>
                <a:srgbClr val="BFBFBF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36000" rIns="72000" bIns="360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grpSp>
          <p:nvGrpSpPr>
            <p:cNvPr id="13" name="그룹 159">
              <a:extLst>
                <a:ext uri="{FF2B5EF4-FFF2-40B4-BE49-F238E27FC236}">
                  <a16:creationId xmlns="" xmlns:a16="http://schemas.microsoft.com/office/drawing/2014/main" id="{B63E0643-04E4-4F0F-9248-6EA4848FA7E3}"/>
                </a:ext>
              </a:extLst>
            </p:cNvPr>
            <p:cNvGrpSpPr/>
            <p:nvPr/>
          </p:nvGrpSpPr>
          <p:grpSpPr>
            <a:xfrm>
              <a:off x="2252975" y="5356081"/>
              <a:ext cx="392853" cy="252285"/>
              <a:chOff x="-2336563" y="1803296"/>
              <a:chExt cx="765559" cy="369369"/>
            </a:xfrm>
          </p:grpSpPr>
          <p:sp>
            <p:nvSpPr>
              <p:cNvPr id="161" name="사각형: 둥근 모서리 160">
                <a:extLst>
                  <a:ext uri="{FF2B5EF4-FFF2-40B4-BE49-F238E27FC236}">
                    <a16:creationId xmlns="" xmlns:a16="http://schemas.microsoft.com/office/drawing/2014/main" id="{71EB368B-0BEA-40F8-A058-E81A1F5F3B00}"/>
                  </a:ext>
                </a:extLst>
              </p:cNvPr>
              <p:cNvSpPr/>
              <p:nvPr/>
            </p:nvSpPr>
            <p:spPr>
              <a:xfrm>
                <a:off x="-2225954" y="1803296"/>
                <a:ext cx="654950" cy="369369"/>
              </a:xfrm>
              <a:prstGeom prst="round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36000" rIns="72000" bIns="36000" anchor="ctr"/>
              <a:lstStyle/>
              <a:p>
                <a:pPr eaLnBrk="0" fontAlgn="base" latinLnBrk="0" hangingPunct="0">
                  <a:spcAft>
                    <a:spcPct val="0"/>
                  </a:spcAft>
                </a:pPr>
                <a:endParaRPr kumimoji="1" lang="ko-KR" altLang="en-US" kern="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62" name="Rectangle 62">
                <a:extLst>
                  <a:ext uri="{FF2B5EF4-FFF2-40B4-BE49-F238E27FC236}">
                    <a16:creationId xmlns="" xmlns:a16="http://schemas.microsoft.com/office/drawing/2014/main" id="{4F675789-D310-45BD-BDD4-CFD94E1ECA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36563" y="1899719"/>
                <a:ext cx="198107" cy="65826"/>
              </a:xfrm>
              <a:prstGeom prst="rect">
                <a:avLst/>
              </a:prstGeom>
              <a:solidFill>
                <a:srgbClr val="BFBFBF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36000" rIns="72000" bIns="360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63" name="Rectangle 62">
                <a:extLst>
                  <a:ext uri="{FF2B5EF4-FFF2-40B4-BE49-F238E27FC236}">
                    <a16:creationId xmlns="" xmlns:a16="http://schemas.microsoft.com/office/drawing/2014/main" id="{01F14CEF-C3F9-4D81-8FEF-2BCB885E1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36563" y="2007890"/>
                <a:ext cx="198107" cy="65826"/>
              </a:xfrm>
              <a:prstGeom prst="rect">
                <a:avLst/>
              </a:prstGeom>
              <a:solidFill>
                <a:srgbClr val="BFBFBF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36000" rIns="72000" bIns="360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grpSp>
          <p:nvGrpSpPr>
            <p:cNvPr id="14" name="그룹 163">
              <a:extLst>
                <a:ext uri="{FF2B5EF4-FFF2-40B4-BE49-F238E27FC236}">
                  <a16:creationId xmlns="" xmlns:a16="http://schemas.microsoft.com/office/drawing/2014/main" id="{EC348209-7FE8-4BE3-86E1-7B6B6B1610A8}"/>
                </a:ext>
              </a:extLst>
            </p:cNvPr>
            <p:cNvGrpSpPr/>
            <p:nvPr/>
          </p:nvGrpSpPr>
          <p:grpSpPr>
            <a:xfrm>
              <a:off x="2252975" y="5740994"/>
              <a:ext cx="392853" cy="252285"/>
              <a:chOff x="-2336563" y="1803296"/>
              <a:chExt cx="765559" cy="369369"/>
            </a:xfrm>
          </p:grpSpPr>
          <p:sp>
            <p:nvSpPr>
              <p:cNvPr id="165" name="사각형: 둥근 모서리 164">
                <a:extLst>
                  <a:ext uri="{FF2B5EF4-FFF2-40B4-BE49-F238E27FC236}">
                    <a16:creationId xmlns="" xmlns:a16="http://schemas.microsoft.com/office/drawing/2014/main" id="{4DF1C586-13A4-4460-9B58-B9D261F1B186}"/>
                  </a:ext>
                </a:extLst>
              </p:cNvPr>
              <p:cNvSpPr/>
              <p:nvPr/>
            </p:nvSpPr>
            <p:spPr>
              <a:xfrm>
                <a:off x="-2225954" y="1803296"/>
                <a:ext cx="654950" cy="369369"/>
              </a:xfrm>
              <a:prstGeom prst="round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36000" rIns="72000" bIns="36000" anchor="ctr"/>
              <a:lstStyle/>
              <a:p>
                <a:pPr eaLnBrk="0" fontAlgn="base" latinLnBrk="0" hangingPunct="0">
                  <a:spcAft>
                    <a:spcPct val="0"/>
                  </a:spcAft>
                </a:pPr>
                <a:endParaRPr kumimoji="1" lang="ko-KR" altLang="en-US" kern="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66" name="Rectangle 62">
                <a:extLst>
                  <a:ext uri="{FF2B5EF4-FFF2-40B4-BE49-F238E27FC236}">
                    <a16:creationId xmlns="" xmlns:a16="http://schemas.microsoft.com/office/drawing/2014/main" id="{A90C2FFE-3E78-4D1D-8607-7F3408558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36563" y="1899719"/>
                <a:ext cx="198107" cy="65826"/>
              </a:xfrm>
              <a:prstGeom prst="rect">
                <a:avLst/>
              </a:prstGeom>
              <a:solidFill>
                <a:srgbClr val="BFBFBF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36000" rIns="72000" bIns="360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67" name="Rectangle 62">
                <a:extLst>
                  <a:ext uri="{FF2B5EF4-FFF2-40B4-BE49-F238E27FC236}">
                    <a16:creationId xmlns="" xmlns:a16="http://schemas.microsoft.com/office/drawing/2014/main" id="{8C086A4F-3EA6-4817-AC99-9D86D3DE4E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36563" y="2007890"/>
                <a:ext cx="198107" cy="65826"/>
              </a:xfrm>
              <a:prstGeom prst="rect">
                <a:avLst/>
              </a:prstGeom>
              <a:solidFill>
                <a:srgbClr val="BFBFBF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36000" rIns="72000" bIns="360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grpSp>
          <p:nvGrpSpPr>
            <p:cNvPr id="15" name="그룹 167">
              <a:extLst>
                <a:ext uri="{FF2B5EF4-FFF2-40B4-BE49-F238E27FC236}">
                  <a16:creationId xmlns="" xmlns:a16="http://schemas.microsoft.com/office/drawing/2014/main" id="{F70B772E-0BF5-483C-92D5-A54C1FD1AB9D}"/>
                </a:ext>
              </a:extLst>
            </p:cNvPr>
            <p:cNvGrpSpPr/>
            <p:nvPr/>
          </p:nvGrpSpPr>
          <p:grpSpPr>
            <a:xfrm flipH="1">
              <a:off x="4016896" y="4971167"/>
              <a:ext cx="392853" cy="252285"/>
              <a:chOff x="-2336563" y="1803296"/>
              <a:chExt cx="765559" cy="369369"/>
            </a:xfrm>
          </p:grpSpPr>
          <p:sp>
            <p:nvSpPr>
              <p:cNvPr id="169" name="사각형: 둥근 모서리 168">
                <a:extLst>
                  <a:ext uri="{FF2B5EF4-FFF2-40B4-BE49-F238E27FC236}">
                    <a16:creationId xmlns="" xmlns:a16="http://schemas.microsoft.com/office/drawing/2014/main" id="{BD130669-53B3-4298-84A7-6BA00A2CF23D}"/>
                  </a:ext>
                </a:extLst>
              </p:cNvPr>
              <p:cNvSpPr/>
              <p:nvPr/>
            </p:nvSpPr>
            <p:spPr>
              <a:xfrm>
                <a:off x="-2225954" y="1803296"/>
                <a:ext cx="654950" cy="369369"/>
              </a:xfrm>
              <a:prstGeom prst="round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36000" rIns="72000" bIns="36000" anchor="ctr"/>
              <a:lstStyle/>
              <a:p>
                <a:pPr eaLnBrk="0" fontAlgn="base" latinLnBrk="0" hangingPunct="0">
                  <a:spcAft>
                    <a:spcPct val="0"/>
                  </a:spcAft>
                </a:pPr>
                <a:endParaRPr kumimoji="1" lang="ko-KR" altLang="en-US" kern="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70" name="Rectangle 62">
                <a:extLst>
                  <a:ext uri="{FF2B5EF4-FFF2-40B4-BE49-F238E27FC236}">
                    <a16:creationId xmlns="" xmlns:a16="http://schemas.microsoft.com/office/drawing/2014/main" id="{5BAA0F8F-F1B0-4BC6-85AC-DAAEC67406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36563" y="1899719"/>
                <a:ext cx="198107" cy="65826"/>
              </a:xfrm>
              <a:prstGeom prst="rect">
                <a:avLst/>
              </a:prstGeom>
              <a:solidFill>
                <a:srgbClr val="BFBFBF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36000" rIns="72000" bIns="360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71" name="Rectangle 62">
                <a:extLst>
                  <a:ext uri="{FF2B5EF4-FFF2-40B4-BE49-F238E27FC236}">
                    <a16:creationId xmlns="" xmlns:a16="http://schemas.microsoft.com/office/drawing/2014/main" id="{842744EA-7500-416A-B54F-D99C34D938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36563" y="2007890"/>
                <a:ext cx="198107" cy="65826"/>
              </a:xfrm>
              <a:prstGeom prst="rect">
                <a:avLst/>
              </a:prstGeom>
              <a:solidFill>
                <a:srgbClr val="BFBFBF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36000" rIns="72000" bIns="360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grpSp>
          <p:nvGrpSpPr>
            <p:cNvPr id="16" name="그룹 171">
              <a:extLst>
                <a:ext uri="{FF2B5EF4-FFF2-40B4-BE49-F238E27FC236}">
                  <a16:creationId xmlns="" xmlns:a16="http://schemas.microsoft.com/office/drawing/2014/main" id="{6AAE6F5A-5823-4759-B515-5DA60B5BB141}"/>
                </a:ext>
              </a:extLst>
            </p:cNvPr>
            <p:cNvGrpSpPr/>
            <p:nvPr/>
          </p:nvGrpSpPr>
          <p:grpSpPr>
            <a:xfrm flipH="1">
              <a:off x="4016896" y="5356081"/>
              <a:ext cx="392853" cy="252285"/>
              <a:chOff x="-2336563" y="1803296"/>
              <a:chExt cx="765559" cy="369369"/>
            </a:xfrm>
          </p:grpSpPr>
          <p:sp>
            <p:nvSpPr>
              <p:cNvPr id="173" name="사각형: 둥근 모서리 172">
                <a:extLst>
                  <a:ext uri="{FF2B5EF4-FFF2-40B4-BE49-F238E27FC236}">
                    <a16:creationId xmlns="" xmlns:a16="http://schemas.microsoft.com/office/drawing/2014/main" id="{293A223E-67B2-4D9B-8FB3-C65D69E0A898}"/>
                  </a:ext>
                </a:extLst>
              </p:cNvPr>
              <p:cNvSpPr/>
              <p:nvPr/>
            </p:nvSpPr>
            <p:spPr>
              <a:xfrm>
                <a:off x="-2225954" y="1803296"/>
                <a:ext cx="654950" cy="369369"/>
              </a:xfrm>
              <a:prstGeom prst="round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36000" rIns="72000" bIns="36000" anchor="ctr"/>
              <a:lstStyle/>
              <a:p>
                <a:pPr eaLnBrk="0" fontAlgn="base" latinLnBrk="0" hangingPunct="0">
                  <a:spcAft>
                    <a:spcPct val="0"/>
                  </a:spcAft>
                </a:pPr>
                <a:endParaRPr kumimoji="1" lang="ko-KR" altLang="en-US" kern="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74" name="Rectangle 62">
                <a:extLst>
                  <a:ext uri="{FF2B5EF4-FFF2-40B4-BE49-F238E27FC236}">
                    <a16:creationId xmlns="" xmlns:a16="http://schemas.microsoft.com/office/drawing/2014/main" id="{B875537A-01E6-4964-9DFB-BAF58D8DF0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36563" y="1899719"/>
                <a:ext cx="198107" cy="65826"/>
              </a:xfrm>
              <a:prstGeom prst="rect">
                <a:avLst/>
              </a:prstGeom>
              <a:solidFill>
                <a:srgbClr val="BFBFBF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36000" rIns="72000" bIns="360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75" name="Rectangle 62">
                <a:extLst>
                  <a:ext uri="{FF2B5EF4-FFF2-40B4-BE49-F238E27FC236}">
                    <a16:creationId xmlns="" xmlns:a16="http://schemas.microsoft.com/office/drawing/2014/main" id="{6177C966-9709-4FEE-87A0-359D717E62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36563" y="2007890"/>
                <a:ext cx="198107" cy="65826"/>
              </a:xfrm>
              <a:prstGeom prst="rect">
                <a:avLst/>
              </a:prstGeom>
              <a:solidFill>
                <a:srgbClr val="BFBFBF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36000" rIns="72000" bIns="360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grpSp>
          <p:nvGrpSpPr>
            <p:cNvPr id="19" name="그룹 175">
              <a:extLst>
                <a:ext uri="{FF2B5EF4-FFF2-40B4-BE49-F238E27FC236}">
                  <a16:creationId xmlns="" xmlns:a16="http://schemas.microsoft.com/office/drawing/2014/main" id="{6C3E1C18-1D74-4060-AE34-2E98AA6119D5}"/>
                </a:ext>
              </a:extLst>
            </p:cNvPr>
            <p:cNvGrpSpPr/>
            <p:nvPr/>
          </p:nvGrpSpPr>
          <p:grpSpPr>
            <a:xfrm flipH="1">
              <a:off x="4016896" y="5740994"/>
              <a:ext cx="392853" cy="252285"/>
              <a:chOff x="-2336563" y="1803296"/>
              <a:chExt cx="765559" cy="369369"/>
            </a:xfrm>
          </p:grpSpPr>
          <p:sp>
            <p:nvSpPr>
              <p:cNvPr id="177" name="사각형: 둥근 모서리 176">
                <a:extLst>
                  <a:ext uri="{FF2B5EF4-FFF2-40B4-BE49-F238E27FC236}">
                    <a16:creationId xmlns="" xmlns:a16="http://schemas.microsoft.com/office/drawing/2014/main" id="{C3DE570E-CD21-4E69-9137-2D2D3C45D9D0}"/>
                  </a:ext>
                </a:extLst>
              </p:cNvPr>
              <p:cNvSpPr/>
              <p:nvPr/>
            </p:nvSpPr>
            <p:spPr>
              <a:xfrm>
                <a:off x="-2225954" y="1803296"/>
                <a:ext cx="654950" cy="369369"/>
              </a:xfrm>
              <a:prstGeom prst="roundRect">
                <a:avLst/>
              </a:prstGeom>
              <a:solidFill>
                <a:schemeClr val="bg1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36000" rIns="72000" bIns="36000" anchor="ctr"/>
              <a:lstStyle/>
              <a:p>
                <a:pPr eaLnBrk="0" fontAlgn="base" latinLnBrk="0" hangingPunct="0">
                  <a:spcAft>
                    <a:spcPct val="0"/>
                  </a:spcAft>
                </a:pPr>
                <a:endParaRPr kumimoji="1" lang="ko-KR" altLang="en-US" kern="0" dirty="0">
                  <a:solidFill>
                    <a:srgbClr val="FFFFFF"/>
                  </a:solidFill>
                  <a:latin typeface="+mn-ea"/>
                </a:endParaRPr>
              </a:p>
            </p:txBody>
          </p:sp>
          <p:sp>
            <p:nvSpPr>
              <p:cNvPr id="178" name="Rectangle 62">
                <a:extLst>
                  <a:ext uri="{FF2B5EF4-FFF2-40B4-BE49-F238E27FC236}">
                    <a16:creationId xmlns="" xmlns:a16="http://schemas.microsoft.com/office/drawing/2014/main" id="{3E6EE013-B7B7-49B6-9EF1-BC2E152F6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36563" y="1899719"/>
                <a:ext cx="198107" cy="65826"/>
              </a:xfrm>
              <a:prstGeom prst="rect">
                <a:avLst/>
              </a:prstGeom>
              <a:solidFill>
                <a:srgbClr val="BFBFBF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36000" rIns="72000" bIns="360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79" name="Rectangle 62">
                <a:extLst>
                  <a:ext uri="{FF2B5EF4-FFF2-40B4-BE49-F238E27FC236}">
                    <a16:creationId xmlns="" xmlns:a16="http://schemas.microsoft.com/office/drawing/2014/main" id="{248B2415-141C-463D-8967-C0C73A6758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-2336563" y="2007890"/>
                <a:ext cx="198107" cy="65826"/>
              </a:xfrm>
              <a:prstGeom prst="rect">
                <a:avLst/>
              </a:prstGeom>
              <a:solidFill>
                <a:srgbClr val="BFBFBF"/>
              </a:solidFill>
              <a:ln w="6350" algn="ctr">
                <a:solidFill>
                  <a:schemeClr val="tx1">
                    <a:lumMod val="65000"/>
                    <a:lumOff val="3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square" lIns="72000" tIns="36000" rIns="72000" bIns="36000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ko-KR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+mn-ea"/>
                </a:endParaRPr>
              </a:p>
            </p:txBody>
          </p:sp>
        </p:grpSp>
        <p:sp>
          <p:nvSpPr>
            <p:cNvPr id="7" name="십자형 6">
              <a:extLst>
                <a:ext uri="{FF2B5EF4-FFF2-40B4-BE49-F238E27FC236}">
                  <a16:creationId xmlns="" xmlns:a16="http://schemas.microsoft.com/office/drawing/2014/main" id="{B2E8F4B7-5EB2-492C-A5FA-6D8940D35CD2}"/>
                </a:ext>
              </a:extLst>
            </p:cNvPr>
            <p:cNvSpPr/>
            <p:nvPr/>
          </p:nvSpPr>
          <p:spPr>
            <a:xfrm>
              <a:off x="2890499" y="5258441"/>
              <a:ext cx="910373" cy="391666"/>
            </a:xfrm>
            <a:prstGeom prst="plus">
              <a:avLst/>
            </a:prstGeom>
            <a:solidFill>
              <a:srgbClr val="BFBFBF"/>
            </a:solidFill>
            <a:ln w="6350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>
                  <a:solidFill>
                    <a:schemeClr val="tx1"/>
                  </a:solidFill>
                  <a:latin typeface="+mn-ea"/>
                </a:rPr>
                <a:t>EAI/ESB</a:t>
              </a:r>
              <a:endParaRPr lang="ko-KR" altLang="en-US" sz="1200" dirty="0">
                <a:solidFill>
                  <a:schemeClr val="tx1"/>
                </a:solidFill>
                <a:latin typeface="+mn-ea"/>
              </a:endParaRPr>
            </a:p>
          </p:txBody>
        </p:sp>
        <p:cxnSp>
          <p:nvCxnSpPr>
            <p:cNvPr id="183" name="직선 화살표 연결선 182">
              <a:extLst>
                <a:ext uri="{FF2B5EF4-FFF2-40B4-BE49-F238E27FC236}">
                  <a16:creationId xmlns="" xmlns:a16="http://schemas.microsoft.com/office/drawing/2014/main" id="{7087A633-DF96-4CCF-A19F-43C53B41A43B}"/>
                </a:ext>
              </a:extLst>
            </p:cNvPr>
            <p:cNvCxnSpPr>
              <a:cxnSpLocks/>
              <a:stCxn id="157" idx="3"/>
              <a:endCxn id="7" idx="1"/>
            </p:cNvCxnSpPr>
            <p:nvPr/>
          </p:nvCxnSpPr>
          <p:spPr>
            <a:xfrm>
              <a:off x="2645828" y="5097310"/>
              <a:ext cx="244671" cy="356964"/>
            </a:xfrm>
            <a:prstGeom prst="straightConnector1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직선 화살표 연결선 185">
              <a:extLst>
                <a:ext uri="{FF2B5EF4-FFF2-40B4-BE49-F238E27FC236}">
                  <a16:creationId xmlns="" xmlns:a16="http://schemas.microsoft.com/office/drawing/2014/main" id="{F6CC3D4B-DCA9-49E1-940B-BFEC5E37730E}"/>
                </a:ext>
              </a:extLst>
            </p:cNvPr>
            <p:cNvCxnSpPr>
              <a:cxnSpLocks/>
              <a:stCxn id="161" idx="3"/>
              <a:endCxn id="7" idx="1"/>
            </p:cNvCxnSpPr>
            <p:nvPr/>
          </p:nvCxnSpPr>
          <p:spPr>
            <a:xfrm flipV="1">
              <a:off x="2645828" y="5454274"/>
              <a:ext cx="244671" cy="27950"/>
            </a:xfrm>
            <a:prstGeom prst="straightConnector1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직선 화살표 연결선 188">
              <a:extLst>
                <a:ext uri="{FF2B5EF4-FFF2-40B4-BE49-F238E27FC236}">
                  <a16:creationId xmlns="" xmlns:a16="http://schemas.microsoft.com/office/drawing/2014/main" id="{A66D2EE5-AEE3-4528-BCC4-2D26E4370B3B}"/>
                </a:ext>
              </a:extLst>
            </p:cNvPr>
            <p:cNvCxnSpPr>
              <a:cxnSpLocks/>
              <a:stCxn id="165" idx="3"/>
              <a:endCxn id="7" idx="1"/>
            </p:cNvCxnSpPr>
            <p:nvPr/>
          </p:nvCxnSpPr>
          <p:spPr>
            <a:xfrm flipV="1">
              <a:off x="2645828" y="5454274"/>
              <a:ext cx="244671" cy="412863"/>
            </a:xfrm>
            <a:prstGeom prst="straightConnector1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직선 화살표 연결선 191">
              <a:extLst>
                <a:ext uri="{FF2B5EF4-FFF2-40B4-BE49-F238E27FC236}">
                  <a16:creationId xmlns="" xmlns:a16="http://schemas.microsoft.com/office/drawing/2014/main" id="{05DBE6FE-1C02-434B-868A-237E2D4E0C3C}"/>
                </a:ext>
              </a:extLst>
            </p:cNvPr>
            <p:cNvCxnSpPr>
              <a:cxnSpLocks/>
              <a:stCxn id="7" idx="3"/>
              <a:endCxn id="169" idx="3"/>
            </p:cNvCxnSpPr>
            <p:nvPr/>
          </p:nvCxnSpPr>
          <p:spPr>
            <a:xfrm flipV="1">
              <a:off x="3800872" y="5097310"/>
              <a:ext cx="216024" cy="356964"/>
            </a:xfrm>
            <a:prstGeom prst="straightConnector1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직선 화살표 연결선 194">
              <a:extLst>
                <a:ext uri="{FF2B5EF4-FFF2-40B4-BE49-F238E27FC236}">
                  <a16:creationId xmlns="" xmlns:a16="http://schemas.microsoft.com/office/drawing/2014/main" id="{9DB6EB7D-E7F1-494E-853D-0468395B7EDF}"/>
                </a:ext>
              </a:extLst>
            </p:cNvPr>
            <p:cNvCxnSpPr>
              <a:cxnSpLocks/>
              <a:stCxn id="7" idx="3"/>
              <a:endCxn id="173" idx="3"/>
            </p:cNvCxnSpPr>
            <p:nvPr/>
          </p:nvCxnSpPr>
          <p:spPr>
            <a:xfrm>
              <a:off x="3800872" y="5454274"/>
              <a:ext cx="216024" cy="27950"/>
            </a:xfrm>
            <a:prstGeom prst="straightConnector1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직선 화살표 연결선 197">
              <a:extLst>
                <a:ext uri="{FF2B5EF4-FFF2-40B4-BE49-F238E27FC236}">
                  <a16:creationId xmlns="" xmlns:a16="http://schemas.microsoft.com/office/drawing/2014/main" id="{C370B7CE-9CC9-460D-9BC1-6B9D8440ED77}"/>
                </a:ext>
              </a:extLst>
            </p:cNvPr>
            <p:cNvCxnSpPr>
              <a:cxnSpLocks/>
              <a:stCxn id="7" idx="3"/>
              <a:endCxn id="177" idx="3"/>
            </p:cNvCxnSpPr>
            <p:nvPr/>
          </p:nvCxnSpPr>
          <p:spPr>
            <a:xfrm>
              <a:off x="3800872" y="5454274"/>
              <a:ext cx="216024" cy="412863"/>
            </a:xfrm>
            <a:prstGeom prst="straightConnector1">
              <a:avLst/>
            </a:prstGeom>
            <a:ln w="6350">
              <a:solidFill>
                <a:schemeClr val="tx1">
                  <a:lumMod val="65000"/>
                  <a:lumOff val="35000"/>
                </a:schemeClr>
              </a:solidFill>
              <a:headEnd type="triangle" w="sm" len="sm"/>
              <a:tailEnd type="triangl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" name="Rectangle 65">
              <a:extLst>
                <a:ext uri="{FF2B5EF4-FFF2-40B4-BE49-F238E27FC236}">
                  <a16:creationId xmlns="" xmlns:a16="http://schemas.microsoft.com/office/drawing/2014/main" id="{8170CE34-8F3F-4A2F-B4DF-A6D54375D5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2458" y="2372120"/>
              <a:ext cx="2934877" cy="128072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11" name="Rectangle 65">
              <a:extLst>
                <a:ext uri="{FF2B5EF4-FFF2-40B4-BE49-F238E27FC236}">
                  <a16:creationId xmlns="" xmlns:a16="http://schemas.microsoft.com/office/drawing/2014/main" id="{25A3B527-E33F-45B6-B7FF-C611D7069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2458" y="3715245"/>
              <a:ext cx="2934877" cy="13275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12" name="Rectangle 65">
              <a:extLst>
                <a:ext uri="{FF2B5EF4-FFF2-40B4-BE49-F238E27FC236}">
                  <a16:creationId xmlns="" xmlns:a16="http://schemas.microsoft.com/office/drawing/2014/main" id="{F8F89131-B352-49EE-B3F0-FF2250A2F4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2458" y="5081985"/>
              <a:ext cx="2934877" cy="108332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ea"/>
              </a:endParaRPr>
            </a:p>
          </p:txBody>
        </p:sp>
        <p:sp>
          <p:nvSpPr>
            <p:cNvPr id="213" name="사각형: 둥근 모서리 212">
              <a:extLst>
                <a:ext uri="{FF2B5EF4-FFF2-40B4-BE49-F238E27FC236}">
                  <a16:creationId xmlns="" xmlns:a16="http://schemas.microsoft.com/office/drawing/2014/main" id="{3B954378-AD02-4B51-B728-8A9D7A33E810}"/>
                </a:ext>
              </a:extLst>
            </p:cNvPr>
            <p:cNvSpPr/>
            <p:nvPr/>
          </p:nvSpPr>
          <p:spPr>
            <a:xfrm>
              <a:off x="5787649" y="2479970"/>
              <a:ext cx="1444494" cy="221964"/>
            </a:xfrm>
            <a:prstGeom prst="round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algn="ctr" eaLnBrk="0" fontAlgn="base" latinLnBrk="0" hangingPunct="0">
                <a:spcAft>
                  <a:spcPct val="0"/>
                </a:spcAft>
              </a:pPr>
              <a:r>
                <a:rPr kumimoji="1" lang="en-US" altLang="ko-KR" sz="1050" kern="0" dirty="0">
                  <a:latin typeface="+mn-ea"/>
                </a:rPr>
                <a:t>SLB(L4</a:t>
              </a:r>
              <a:r>
                <a:rPr kumimoji="1" lang="ko-KR" altLang="en-US" sz="1050" kern="0" dirty="0">
                  <a:latin typeface="+mn-ea"/>
                </a:rPr>
                <a:t> 스위치</a:t>
              </a:r>
              <a:r>
                <a:rPr kumimoji="1" lang="en-US" altLang="ko-KR" sz="1050" kern="0" dirty="0">
                  <a:latin typeface="+mn-ea"/>
                </a:rPr>
                <a:t>)</a:t>
              </a:r>
              <a:endParaRPr kumimoji="1" lang="ko-KR" altLang="en-US" sz="1050" kern="0" dirty="0">
                <a:latin typeface="+mn-ea"/>
              </a:endParaRPr>
            </a:p>
          </p:txBody>
        </p:sp>
        <p:sp>
          <p:nvSpPr>
            <p:cNvPr id="215" name="사각형: 둥근 모서리 214">
              <a:extLst>
                <a:ext uri="{FF2B5EF4-FFF2-40B4-BE49-F238E27FC236}">
                  <a16:creationId xmlns="" xmlns:a16="http://schemas.microsoft.com/office/drawing/2014/main" id="{B73CEAEB-3407-47F6-BF8E-053D6175AF3B}"/>
                </a:ext>
              </a:extLst>
            </p:cNvPr>
            <p:cNvSpPr/>
            <p:nvPr/>
          </p:nvSpPr>
          <p:spPr>
            <a:xfrm>
              <a:off x="5132448" y="3208447"/>
              <a:ext cx="896916" cy="221964"/>
            </a:xfrm>
            <a:prstGeom prst="round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algn="ctr" eaLnBrk="0" fontAlgn="base" latinLnBrk="0" hangingPunct="0">
                <a:spcAft>
                  <a:spcPct val="0"/>
                </a:spcAft>
              </a:pPr>
              <a:r>
                <a:rPr kumimoji="1" lang="en-US" altLang="ko-KR" sz="1050" kern="0" dirty="0">
                  <a:latin typeface="+mn-ea"/>
                </a:rPr>
                <a:t>WEB/WAS</a:t>
              </a:r>
              <a:endParaRPr kumimoji="1" lang="ko-KR" altLang="en-US" sz="1050" kern="0" dirty="0">
                <a:latin typeface="+mn-ea"/>
              </a:endParaRPr>
            </a:p>
          </p:txBody>
        </p:sp>
        <p:sp>
          <p:nvSpPr>
            <p:cNvPr id="216" name="사각형: 둥근 모서리 215">
              <a:extLst>
                <a:ext uri="{FF2B5EF4-FFF2-40B4-BE49-F238E27FC236}">
                  <a16:creationId xmlns="" xmlns:a16="http://schemas.microsoft.com/office/drawing/2014/main" id="{CFC86DC6-D5C8-4327-943B-519AD0973756}"/>
                </a:ext>
              </a:extLst>
            </p:cNvPr>
            <p:cNvSpPr/>
            <p:nvPr/>
          </p:nvSpPr>
          <p:spPr>
            <a:xfrm>
              <a:off x="6075989" y="3208447"/>
              <a:ext cx="896916" cy="221964"/>
            </a:xfrm>
            <a:prstGeom prst="round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algn="ctr" eaLnBrk="0" fontAlgn="base" latinLnBrk="0" hangingPunct="0">
                <a:spcAft>
                  <a:spcPct val="0"/>
                </a:spcAft>
              </a:pPr>
              <a:r>
                <a:rPr kumimoji="1" lang="en-US" altLang="ko-KR" sz="1050" kern="0" dirty="0">
                  <a:latin typeface="+mn-ea"/>
                </a:rPr>
                <a:t>WEB/WAS</a:t>
              </a:r>
              <a:endParaRPr kumimoji="1" lang="ko-KR" altLang="en-US" sz="1050" kern="0" dirty="0">
                <a:latin typeface="+mn-ea"/>
              </a:endParaRPr>
            </a:p>
          </p:txBody>
        </p:sp>
        <p:sp>
          <p:nvSpPr>
            <p:cNvPr id="217" name="사각형: 둥근 모서리 216">
              <a:extLst>
                <a:ext uri="{FF2B5EF4-FFF2-40B4-BE49-F238E27FC236}">
                  <a16:creationId xmlns="" xmlns:a16="http://schemas.microsoft.com/office/drawing/2014/main" id="{D9ED9ECF-5BBA-4318-9B59-2D872705C6B3}"/>
                </a:ext>
              </a:extLst>
            </p:cNvPr>
            <p:cNvSpPr/>
            <p:nvPr/>
          </p:nvSpPr>
          <p:spPr>
            <a:xfrm>
              <a:off x="7019530" y="3208447"/>
              <a:ext cx="896916" cy="221964"/>
            </a:xfrm>
            <a:prstGeom prst="round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algn="ctr" eaLnBrk="0" fontAlgn="base" latinLnBrk="0" hangingPunct="0">
                <a:spcAft>
                  <a:spcPct val="0"/>
                </a:spcAft>
              </a:pPr>
              <a:r>
                <a:rPr kumimoji="1" lang="en-US" altLang="ko-KR" sz="1050" kern="0" dirty="0">
                  <a:latin typeface="+mn-ea"/>
                </a:rPr>
                <a:t>WEB/WAS</a:t>
              </a:r>
              <a:endParaRPr kumimoji="1" lang="ko-KR" altLang="en-US" sz="1050" kern="0" dirty="0">
                <a:latin typeface="+mn-ea"/>
              </a:endParaRPr>
            </a:p>
          </p:txBody>
        </p:sp>
        <p:sp>
          <p:nvSpPr>
            <p:cNvPr id="218" name="원통형 217">
              <a:extLst>
                <a:ext uri="{FF2B5EF4-FFF2-40B4-BE49-F238E27FC236}">
                  <a16:creationId xmlns="" xmlns:a16="http://schemas.microsoft.com/office/drawing/2014/main" id="{9F541E68-DFC1-48D0-9087-F71E1A59418A}"/>
                </a:ext>
              </a:extLst>
            </p:cNvPr>
            <p:cNvSpPr/>
            <p:nvPr/>
          </p:nvSpPr>
          <p:spPr>
            <a:xfrm>
              <a:off x="5189809" y="4001241"/>
              <a:ext cx="566844" cy="375981"/>
            </a:xfrm>
            <a:prstGeom prst="can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50" kern="0" dirty="0">
                  <a:solidFill>
                    <a:prstClr val="black"/>
                  </a:solidFill>
                  <a:latin typeface="+mn-ea"/>
                </a:rPr>
                <a:t>주</a:t>
              </a:r>
              <a:r>
                <a:rPr kumimoji="1" lang="en-US" altLang="ko-KR" sz="1050" kern="0" dirty="0">
                  <a:solidFill>
                    <a:prstClr val="black"/>
                  </a:solidFill>
                  <a:latin typeface="+mn-ea"/>
                </a:rPr>
                <a:t>DB</a:t>
              </a:r>
              <a:endParaRPr kumimoji="1" lang="ko-KR" altLang="en-US" sz="1050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19" name="원통형 218">
              <a:extLst>
                <a:ext uri="{FF2B5EF4-FFF2-40B4-BE49-F238E27FC236}">
                  <a16:creationId xmlns="" xmlns:a16="http://schemas.microsoft.com/office/drawing/2014/main" id="{752F9488-79D8-4FD1-AF7C-DD41B916249C}"/>
                </a:ext>
              </a:extLst>
            </p:cNvPr>
            <p:cNvSpPr/>
            <p:nvPr/>
          </p:nvSpPr>
          <p:spPr>
            <a:xfrm>
              <a:off x="5880138" y="4001241"/>
              <a:ext cx="566844" cy="375981"/>
            </a:xfrm>
            <a:prstGeom prst="can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50" kern="0" dirty="0">
                  <a:solidFill>
                    <a:prstClr val="black"/>
                  </a:solidFill>
                  <a:latin typeface="+mn-ea"/>
                </a:rPr>
                <a:t>주</a:t>
              </a:r>
              <a:r>
                <a:rPr kumimoji="1" lang="en-US" altLang="ko-KR" sz="1050" kern="0" dirty="0">
                  <a:solidFill>
                    <a:prstClr val="black"/>
                  </a:solidFill>
                  <a:latin typeface="+mn-ea"/>
                </a:rPr>
                <a:t>DB</a:t>
              </a:r>
              <a:endParaRPr kumimoji="1" lang="ko-KR" altLang="en-US" sz="1050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20" name="원통형 219">
              <a:extLst>
                <a:ext uri="{FF2B5EF4-FFF2-40B4-BE49-F238E27FC236}">
                  <a16:creationId xmlns="" xmlns:a16="http://schemas.microsoft.com/office/drawing/2014/main" id="{58675111-6A24-4AB6-BCF4-E73128B25FDA}"/>
                </a:ext>
              </a:extLst>
            </p:cNvPr>
            <p:cNvSpPr/>
            <p:nvPr/>
          </p:nvSpPr>
          <p:spPr>
            <a:xfrm>
              <a:off x="6570467" y="4001241"/>
              <a:ext cx="566844" cy="375981"/>
            </a:xfrm>
            <a:prstGeom prst="can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50" kern="0" dirty="0">
                  <a:solidFill>
                    <a:prstClr val="black"/>
                  </a:solidFill>
                  <a:latin typeface="+mn-ea"/>
                </a:rPr>
                <a:t>주</a:t>
              </a:r>
              <a:r>
                <a:rPr kumimoji="1" lang="en-US" altLang="ko-KR" sz="1050" kern="0" dirty="0">
                  <a:solidFill>
                    <a:prstClr val="black"/>
                  </a:solidFill>
                  <a:latin typeface="+mn-ea"/>
                </a:rPr>
                <a:t>DB</a:t>
              </a:r>
              <a:endParaRPr kumimoji="1" lang="ko-KR" altLang="en-US" sz="1050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21" name="원통형 220">
              <a:extLst>
                <a:ext uri="{FF2B5EF4-FFF2-40B4-BE49-F238E27FC236}">
                  <a16:creationId xmlns="" xmlns:a16="http://schemas.microsoft.com/office/drawing/2014/main" id="{B1FA55C3-B2CA-45F1-A127-523399EC44BA}"/>
                </a:ext>
              </a:extLst>
            </p:cNvPr>
            <p:cNvSpPr/>
            <p:nvPr/>
          </p:nvSpPr>
          <p:spPr>
            <a:xfrm>
              <a:off x="7260795" y="4001241"/>
              <a:ext cx="566844" cy="375981"/>
            </a:xfrm>
            <a:prstGeom prst="can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50" kern="0" dirty="0">
                  <a:solidFill>
                    <a:prstClr val="black"/>
                  </a:solidFill>
                  <a:latin typeface="+mn-ea"/>
                </a:rPr>
                <a:t>주</a:t>
              </a:r>
              <a:r>
                <a:rPr kumimoji="1" lang="en-US" altLang="ko-KR" sz="1050" kern="0" dirty="0">
                  <a:solidFill>
                    <a:prstClr val="black"/>
                  </a:solidFill>
                  <a:latin typeface="+mn-ea"/>
                </a:rPr>
                <a:t>DB</a:t>
              </a:r>
              <a:endParaRPr kumimoji="1" lang="ko-KR" altLang="en-US" sz="1050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22" name="원통형 221">
              <a:extLst>
                <a:ext uri="{FF2B5EF4-FFF2-40B4-BE49-F238E27FC236}">
                  <a16:creationId xmlns="" xmlns:a16="http://schemas.microsoft.com/office/drawing/2014/main" id="{AD073C6D-4483-485A-A608-227BD15A327C}"/>
                </a:ext>
              </a:extLst>
            </p:cNvPr>
            <p:cNvSpPr/>
            <p:nvPr/>
          </p:nvSpPr>
          <p:spPr>
            <a:xfrm>
              <a:off x="5189809" y="4503975"/>
              <a:ext cx="566844" cy="293177"/>
            </a:xfrm>
            <a:prstGeom prst="can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36000" rIns="36000" bIns="36000" anchor="ctr"/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50" kern="0" dirty="0">
                  <a:solidFill>
                    <a:prstClr val="black"/>
                  </a:solidFill>
                  <a:latin typeface="+mn-ea"/>
                </a:rPr>
                <a:t>보조</a:t>
              </a:r>
              <a:r>
                <a:rPr kumimoji="1" lang="en-US" altLang="ko-KR" sz="1050" kern="0" dirty="0">
                  <a:solidFill>
                    <a:prstClr val="black"/>
                  </a:solidFill>
                  <a:latin typeface="+mn-ea"/>
                </a:rPr>
                <a:t>DB</a:t>
              </a:r>
              <a:endParaRPr kumimoji="1" lang="ko-KR" altLang="en-US" sz="1050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23" name="원통형 222">
              <a:extLst>
                <a:ext uri="{FF2B5EF4-FFF2-40B4-BE49-F238E27FC236}">
                  <a16:creationId xmlns="" xmlns:a16="http://schemas.microsoft.com/office/drawing/2014/main" id="{F587624C-93EB-4661-BD43-BFB8D3FA12D2}"/>
                </a:ext>
              </a:extLst>
            </p:cNvPr>
            <p:cNvSpPr/>
            <p:nvPr/>
          </p:nvSpPr>
          <p:spPr>
            <a:xfrm>
              <a:off x="5880138" y="4503975"/>
              <a:ext cx="566844" cy="293177"/>
            </a:xfrm>
            <a:prstGeom prst="can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36000" rIns="36000" bIns="36000" anchor="ctr"/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50" kern="0" dirty="0">
                  <a:solidFill>
                    <a:prstClr val="black"/>
                  </a:solidFill>
                  <a:latin typeface="+mn-ea"/>
                </a:rPr>
                <a:t>보조</a:t>
              </a:r>
              <a:r>
                <a:rPr kumimoji="1" lang="en-US" altLang="ko-KR" sz="1050" kern="0" dirty="0">
                  <a:solidFill>
                    <a:prstClr val="black"/>
                  </a:solidFill>
                  <a:latin typeface="+mn-ea"/>
                </a:rPr>
                <a:t>DB</a:t>
              </a:r>
              <a:endParaRPr kumimoji="1" lang="ko-KR" altLang="en-US" sz="1050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24" name="원통형 223">
              <a:extLst>
                <a:ext uri="{FF2B5EF4-FFF2-40B4-BE49-F238E27FC236}">
                  <a16:creationId xmlns="" xmlns:a16="http://schemas.microsoft.com/office/drawing/2014/main" id="{070A87C3-CF7A-4A3A-9756-7E03113E4FE6}"/>
                </a:ext>
              </a:extLst>
            </p:cNvPr>
            <p:cNvSpPr/>
            <p:nvPr/>
          </p:nvSpPr>
          <p:spPr>
            <a:xfrm>
              <a:off x="6570467" y="4503975"/>
              <a:ext cx="566844" cy="293177"/>
            </a:xfrm>
            <a:prstGeom prst="can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36000" rIns="36000" bIns="36000" anchor="ctr"/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50" kern="0" dirty="0">
                  <a:solidFill>
                    <a:prstClr val="black"/>
                  </a:solidFill>
                  <a:latin typeface="+mn-ea"/>
                </a:rPr>
                <a:t>보조</a:t>
              </a:r>
              <a:r>
                <a:rPr kumimoji="1" lang="en-US" altLang="ko-KR" sz="1050" kern="0" dirty="0">
                  <a:solidFill>
                    <a:prstClr val="black"/>
                  </a:solidFill>
                  <a:latin typeface="+mn-ea"/>
                </a:rPr>
                <a:t>DB</a:t>
              </a:r>
              <a:endParaRPr kumimoji="1" lang="ko-KR" altLang="en-US" sz="1050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25" name="원통형 224">
              <a:extLst>
                <a:ext uri="{FF2B5EF4-FFF2-40B4-BE49-F238E27FC236}">
                  <a16:creationId xmlns="" xmlns:a16="http://schemas.microsoft.com/office/drawing/2014/main" id="{53C7E901-5CE9-45AC-880E-32C7FF07BB0E}"/>
                </a:ext>
              </a:extLst>
            </p:cNvPr>
            <p:cNvSpPr/>
            <p:nvPr/>
          </p:nvSpPr>
          <p:spPr>
            <a:xfrm>
              <a:off x="7260795" y="4503975"/>
              <a:ext cx="566844" cy="293177"/>
            </a:xfrm>
            <a:prstGeom prst="can">
              <a:avLst/>
            </a:prstGeom>
            <a:solidFill>
              <a:schemeClr val="accent2">
                <a:lumMod val="60000"/>
                <a:lumOff val="40000"/>
              </a:schemeClr>
            </a:solidFill>
            <a:ln w="1270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36000" tIns="36000" rIns="36000" bIns="36000" anchor="ctr"/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50" kern="0" dirty="0">
                  <a:solidFill>
                    <a:prstClr val="black"/>
                  </a:solidFill>
                  <a:latin typeface="+mn-ea"/>
                </a:rPr>
                <a:t>보조</a:t>
              </a:r>
              <a:r>
                <a:rPr kumimoji="1" lang="en-US" altLang="ko-KR" sz="1050" kern="0" dirty="0">
                  <a:solidFill>
                    <a:prstClr val="black"/>
                  </a:solidFill>
                  <a:latin typeface="+mn-ea"/>
                </a:rPr>
                <a:t>DB</a:t>
              </a:r>
              <a:endParaRPr kumimoji="1" lang="ko-KR" altLang="en-US" sz="1050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226" name="Rectangle 67">
              <a:extLst>
                <a:ext uri="{FF2B5EF4-FFF2-40B4-BE49-F238E27FC236}">
                  <a16:creationId xmlns="" xmlns:a16="http://schemas.microsoft.com/office/drawing/2014/main" id="{EE308917-931E-4E05-9496-DA91B15C27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756" y="4314301"/>
              <a:ext cx="2520280" cy="216986"/>
            </a:xfrm>
            <a:prstGeom prst="rect">
              <a:avLst/>
            </a:prstGeom>
            <a:solidFill>
              <a:srgbClr val="003058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algn="ctr" eaLnBrk="0" fontAlgn="base" latinLnBrk="0" hangingPunct="0">
                <a:spcAft>
                  <a:spcPct val="0"/>
                </a:spcAft>
              </a:pPr>
              <a:r>
                <a:rPr kumimoji="1" lang="en-US" altLang="ko-KR" sz="1050" kern="0" dirty="0">
                  <a:solidFill>
                    <a:srgbClr val="FFFFFF"/>
                  </a:solidFill>
                  <a:latin typeface="+mn-ea"/>
                </a:rPr>
                <a:t>DB </a:t>
              </a:r>
              <a:r>
                <a:rPr kumimoji="1" lang="ko-KR" altLang="en-US" sz="1050" kern="0" dirty="0">
                  <a:solidFill>
                    <a:srgbClr val="FFFFFF"/>
                  </a:solidFill>
                  <a:latin typeface="+mn-ea"/>
                </a:rPr>
                <a:t>복제</a:t>
              </a:r>
              <a:r>
                <a:rPr kumimoji="1" lang="en-US" altLang="ko-KR" sz="1050" kern="0" dirty="0">
                  <a:solidFill>
                    <a:srgbClr val="FFFFFF"/>
                  </a:solidFill>
                  <a:latin typeface="+mn-ea"/>
                </a:rPr>
                <a:t>(</a:t>
              </a:r>
              <a:r>
                <a:rPr kumimoji="1" lang="ko-KR" altLang="en-US" sz="1050" kern="0" dirty="0">
                  <a:solidFill>
                    <a:srgbClr val="FFFFFF"/>
                  </a:solidFill>
                  <a:latin typeface="+mn-ea"/>
                </a:rPr>
                <a:t>이중화</a:t>
              </a:r>
              <a:r>
                <a:rPr kumimoji="1" lang="en-US" altLang="ko-KR" sz="1050" kern="0" dirty="0">
                  <a:solidFill>
                    <a:srgbClr val="FFFFFF"/>
                  </a:solidFill>
                  <a:latin typeface="+mn-ea"/>
                </a:rPr>
                <a:t>)</a:t>
              </a:r>
              <a:endParaRPr kumimoji="1" lang="ko-KR" altLang="en-US" sz="1050" kern="0" dirty="0">
                <a:solidFill>
                  <a:srgbClr val="FFFFFF"/>
                </a:solidFill>
                <a:latin typeface="+mn-ea"/>
              </a:endParaRPr>
            </a:p>
          </p:txBody>
        </p:sp>
        <p:sp>
          <p:nvSpPr>
            <p:cNvPr id="227" name="Rectangle 67">
              <a:extLst>
                <a:ext uri="{FF2B5EF4-FFF2-40B4-BE49-F238E27FC236}">
                  <a16:creationId xmlns="" xmlns:a16="http://schemas.microsoft.com/office/drawing/2014/main" id="{696EEC2D-D706-414E-AF0D-3CA809B90F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1741" y="5937304"/>
              <a:ext cx="2856311" cy="196435"/>
            </a:xfrm>
            <a:prstGeom prst="rect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algn="ctr">
              <a:solidFill>
                <a:srgbClr val="000000"/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algn="ctr" eaLnBrk="0" fontAlgn="base" latinLnBrk="0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ko-KR" altLang="en-US" sz="1050" kern="0" dirty="0">
                  <a:solidFill>
                    <a:schemeClr val="bg1"/>
                  </a:solidFill>
                  <a:latin typeface="+mn-ea"/>
                </a:rPr>
                <a:t>가상화 관리 시스템</a:t>
              </a:r>
            </a:p>
          </p:txBody>
        </p:sp>
        <p:sp>
          <p:nvSpPr>
            <p:cNvPr id="228" name="Rectangle 67">
              <a:extLst>
                <a:ext uri="{FF2B5EF4-FFF2-40B4-BE49-F238E27FC236}">
                  <a16:creationId xmlns="" xmlns:a16="http://schemas.microsoft.com/office/drawing/2014/main" id="{DE157340-0019-431F-913C-1C4F9B3FA4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81741" y="5676602"/>
              <a:ext cx="1224000" cy="216986"/>
            </a:xfrm>
            <a:prstGeom prst="rect">
              <a:avLst/>
            </a:prstGeom>
            <a:solidFill>
              <a:srgbClr val="003058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algn="ctr" eaLnBrk="0" fontAlgn="base" latinLnBrk="0" hangingPunct="0">
                <a:spcAft>
                  <a:spcPct val="0"/>
                </a:spcAft>
              </a:pPr>
              <a:r>
                <a:rPr kumimoji="1" lang="ko-KR" altLang="en-US" sz="1050" kern="0" dirty="0">
                  <a:solidFill>
                    <a:srgbClr val="FFFFFF"/>
                  </a:solidFill>
                  <a:latin typeface="+mn-ea"/>
                </a:rPr>
                <a:t>하이퍼바이저</a:t>
              </a:r>
            </a:p>
          </p:txBody>
        </p:sp>
        <p:sp>
          <p:nvSpPr>
            <p:cNvPr id="229" name="Rectangle 67">
              <a:extLst>
                <a:ext uri="{FF2B5EF4-FFF2-40B4-BE49-F238E27FC236}">
                  <a16:creationId xmlns="" xmlns:a16="http://schemas.microsoft.com/office/drawing/2014/main" id="{F70F423F-28F5-49D4-ACCF-6E34FA38A8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14052" y="5676602"/>
              <a:ext cx="1224000" cy="216986"/>
            </a:xfrm>
            <a:prstGeom prst="rect">
              <a:avLst/>
            </a:prstGeom>
            <a:solidFill>
              <a:srgbClr val="003058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algn="ctr" eaLnBrk="0" fontAlgn="base" latinLnBrk="0" hangingPunct="0">
                <a:spcAft>
                  <a:spcPct val="0"/>
                </a:spcAft>
              </a:pPr>
              <a:r>
                <a:rPr kumimoji="1" lang="ko-KR" altLang="en-US" sz="1050" kern="0" dirty="0">
                  <a:solidFill>
                    <a:srgbClr val="FFFFFF"/>
                  </a:solidFill>
                  <a:latin typeface="+mn-ea"/>
                </a:rPr>
                <a:t>하이퍼바이저</a:t>
              </a:r>
            </a:p>
          </p:txBody>
        </p:sp>
        <p:sp>
          <p:nvSpPr>
            <p:cNvPr id="230" name="사각형: 둥근 모서리 229">
              <a:extLst>
                <a:ext uri="{FF2B5EF4-FFF2-40B4-BE49-F238E27FC236}">
                  <a16:creationId xmlns="" xmlns:a16="http://schemas.microsoft.com/office/drawing/2014/main" id="{9624A669-5547-439D-89A5-76E794486777}"/>
                </a:ext>
              </a:extLst>
            </p:cNvPr>
            <p:cNvSpPr/>
            <p:nvPr/>
          </p:nvSpPr>
          <p:spPr>
            <a:xfrm>
              <a:off x="5071077" y="5115664"/>
              <a:ext cx="612000" cy="54396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0" anchor="b"/>
            <a:lstStyle/>
            <a:p>
              <a:pPr algn="ctr" eaLnBrk="0" fontAlgn="base" latinLnBrk="0" hangingPunct="0">
                <a:spcAft>
                  <a:spcPct val="0"/>
                </a:spcAft>
              </a:pPr>
              <a:r>
                <a:rPr kumimoji="1" lang="en-US" altLang="ko-KR" sz="1050" kern="0" dirty="0">
                  <a:latin typeface="+mn-ea"/>
                </a:rPr>
                <a:t>VM</a:t>
              </a:r>
              <a:endParaRPr kumimoji="1" lang="ko-KR" altLang="en-US" sz="1050" kern="0" dirty="0">
                <a:latin typeface="+mn-ea"/>
              </a:endParaRPr>
            </a:p>
          </p:txBody>
        </p:sp>
        <p:sp>
          <p:nvSpPr>
            <p:cNvPr id="231" name="사각형: 둥근 모서리 230">
              <a:extLst>
                <a:ext uri="{FF2B5EF4-FFF2-40B4-BE49-F238E27FC236}">
                  <a16:creationId xmlns="" xmlns:a16="http://schemas.microsoft.com/office/drawing/2014/main" id="{830447E5-F313-4ED1-92CF-AD45ACBFAAFD}"/>
                </a:ext>
              </a:extLst>
            </p:cNvPr>
            <p:cNvSpPr/>
            <p:nvPr/>
          </p:nvSpPr>
          <p:spPr>
            <a:xfrm>
              <a:off x="5693741" y="5115664"/>
              <a:ext cx="612000" cy="54396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0" anchor="b"/>
            <a:lstStyle/>
            <a:p>
              <a:pPr algn="ctr" eaLnBrk="0" fontAlgn="base" latinLnBrk="0" hangingPunct="0">
                <a:spcAft>
                  <a:spcPct val="0"/>
                </a:spcAft>
              </a:pPr>
              <a:r>
                <a:rPr kumimoji="1" lang="en-US" altLang="ko-KR" sz="1050" kern="0" dirty="0">
                  <a:latin typeface="+mn-ea"/>
                </a:rPr>
                <a:t>VM</a:t>
              </a:r>
              <a:endParaRPr kumimoji="1" lang="ko-KR" altLang="en-US" sz="1050" kern="0" dirty="0">
                <a:latin typeface="+mn-ea"/>
              </a:endParaRPr>
            </a:p>
          </p:txBody>
        </p:sp>
        <p:sp>
          <p:nvSpPr>
            <p:cNvPr id="232" name="사각형: 둥근 모서리 231">
              <a:extLst>
                <a:ext uri="{FF2B5EF4-FFF2-40B4-BE49-F238E27FC236}">
                  <a16:creationId xmlns="" xmlns:a16="http://schemas.microsoft.com/office/drawing/2014/main" id="{607017B5-C7BE-43C6-B6A6-B9DDFA371FAC}"/>
                </a:ext>
              </a:extLst>
            </p:cNvPr>
            <p:cNvSpPr/>
            <p:nvPr/>
          </p:nvSpPr>
          <p:spPr>
            <a:xfrm>
              <a:off x="5102760" y="5141952"/>
              <a:ext cx="535697" cy="166765"/>
            </a:xfrm>
            <a:prstGeom prst="round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algn="ctr" eaLnBrk="0" fontAlgn="base" latinLnBrk="0" hangingPunct="0">
                <a:spcAft>
                  <a:spcPct val="0"/>
                </a:spcAft>
              </a:pPr>
              <a:r>
                <a:rPr kumimoji="1" lang="en-US" altLang="ko-KR" sz="1000" kern="0" dirty="0">
                  <a:latin typeface="+mn-ea"/>
                </a:rPr>
                <a:t>SW</a:t>
              </a:r>
              <a:endParaRPr kumimoji="1" lang="ko-KR" altLang="en-US" sz="1000" kern="0" dirty="0">
                <a:latin typeface="+mn-ea"/>
              </a:endParaRPr>
            </a:p>
          </p:txBody>
        </p:sp>
        <p:sp>
          <p:nvSpPr>
            <p:cNvPr id="233" name="사각형: 둥근 모서리 232">
              <a:extLst>
                <a:ext uri="{FF2B5EF4-FFF2-40B4-BE49-F238E27FC236}">
                  <a16:creationId xmlns="" xmlns:a16="http://schemas.microsoft.com/office/drawing/2014/main" id="{2235A77F-A5BE-48EB-A913-66C96AA32B89}"/>
                </a:ext>
              </a:extLst>
            </p:cNvPr>
            <p:cNvSpPr/>
            <p:nvPr/>
          </p:nvSpPr>
          <p:spPr>
            <a:xfrm>
              <a:off x="5102760" y="5352433"/>
              <a:ext cx="535697" cy="166765"/>
            </a:xfrm>
            <a:prstGeom prst="round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algn="ctr" eaLnBrk="0" fontAlgn="base" latinLnBrk="0" hangingPunct="0">
                <a:spcAft>
                  <a:spcPct val="0"/>
                </a:spcAft>
              </a:pPr>
              <a:r>
                <a:rPr kumimoji="1" lang="en-US" altLang="ko-KR" sz="1000" kern="0" dirty="0">
                  <a:latin typeface="+mn-ea"/>
                </a:rPr>
                <a:t>OS</a:t>
              </a:r>
              <a:endParaRPr kumimoji="1" lang="ko-KR" altLang="en-US" sz="1000" kern="0" dirty="0">
                <a:latin typeface="+mn-ea"/>
              </a:endParaRPr>
            </a:p>
          </p:txBody>
        </p:sp>
        <p:sp>
          <p:nvSpPr>
            <p:cNvPr id="234" name="사각형: 둥근 모서리 233">
              <a:extLst>
                <a:ext uri="{FF2B5EF4-FFF2-40B4-BE49-F238E27FC236}">
                  <a16:creationId xmlns="" xmlns:a16="http://schemas.microsoft.com/office/drawing/2014/main" id="{1DE5064B-88FD-4B8D-B686-00694921D5D0}"/>
                </a:ext>
              </a:extLst>
            </p:cNvPr>
            <p:cNvSpPr/>
            <p:nvPr/>
          </p:nvSpPr>
          <p:spPr>
            <a:xfrm>
              <a:off x="5741485" y="5141952"/>
              <a:ext cx="535697" cy="166765"/>
            </a:xfrm>
            <a:prstGeom prst="round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algn="ctr" eaLnBrk="0" fontAlgn="base" latinLnBrk="0" hangingPunct="0">
                <a:spcAft>
                  <a:spcPct val="0"/>
                </a:spcAft>
              </a:pPr>
              <a:r>
                <a:rPr kumimoji="1" lang="en-US" altLang="ko-KR" sz="1000" kern="0" dirty="0">
                  <a:latin typeface="+mn-ea"/>
                </a:rPr>
                <a:t>SW</a:t>
              </a:r>
              <a:endParaRPr kumimoji="1" lang="ko-KR" altLang="en-US" sz="1000" kern="0" dirty="0">
                <a:latin typeface="+mn-ea"/>
              </a:endParaRPr>
            </a:p>
          </p:txBody>
        </p:sp>
        <p:sp>
          <p:nvSpPr>
            <p:cNvPr id="235" name="사각형: 둥근 모서리 234">
              <a:extLst>
                <a:ext uri="{FF2B5EF4-FFF2-40B4-BE49-F238E27FC236}">
                  <a16:creationId xmlns="" xmlns:a16="http://schemas.microsoft.com/office/drawing/2014/main" id="{F2626A67-5517-47E7-AB89-A4EECC3ACAD8}"/>
                </a:ext>
              </a:extLst>
            </p:cNvPr>
            <p:cNvSpPr/>
            <p:nvPr/>
          </p:nvSpPr>
          <p:spPr>
            <a:xfrm>
              <a:off x="5741485" y="5352433"/>
              <a:ext cx="535697" cy="166765"/>
            </a:xfrm>
            <a:prstGeom prst="round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algn="ctr" eaLnBrk="0" fontAlgn="base" latinLnBrk="0" hangingPunct="0">
                <a:spcAft>
                  <a:spcPct val="0"/>
                </a:spcAft>
              </a:pPr>
              <a:r>
                <a:rPr kumimoji="1" lang="en-US" altLang="ko-KR" sz="1000" kern="0" dirty="0">
                  <a:latin typeface="+mn-ea"/>
                </a:rPr>
                <a:t>OS</a:t>
              </a:r>
              <a:endParaRPr kumimoji="1" lang="ko-KR" altLang="en-US" sz="1000" kern="0" dirty="0">
                <a:latin typeface="+mn-ea"/>
              </a:endParaRPr>
            </a:p>
          </p:txBody>
        </p:sp>
        <p:sp>
          <p:nvSpPr>
            <p:cNvPr id="236" name="사각형: 둥근 모서리 235">
              <a:extLst>
                <a:ext uri="{FF2B5EF4-FFF2-40B4-BE49-F238E27FC236}">
                  <a16:creationId xmlns="" xmlns:a16="http://schemas.microsoft.com/office/drawing/2014/main" id="{48B0FA50-430A-42AE-B281-F1DBA659165A}"/>
                </a:ext>
              </a:extLst>
            </p:cNvPr>
            <p:cNvSpPr/>
            <p:nvPr/>
          </p:nvSpPr>
          <p:spPr>
            <a:xfrm>
              <a:off x="6700242" y="5115664"/>
              <a:ext cx="612000" cy="54396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0" anchor="b"/>
            <a:lstStyle/>
            <a:p>
              <a:pPr algn="ctr" eaLnBrk="0" fontAlgn="base" latinLnBrk="0" hangingPunct="0">
                <a:spcAft>
                  <a:spcPct val="0"/>
                </a:spcAft>
              </a:pPr>
              <a:r>
                <a:rPr kumimoji="1" lang="en-US" altLang="ko-KR" sz="1050" kern="0" dirty="0">
                  <a:latin typeface="+mn-ea"/>
                </a:rPr>
                <a:t>VM</a:t>
              </a:r>
              <a:endParaRPr kumimoji="1" lang="ko-KR" altLang="en-US" sz="1050" kern="0" dirty="0">
                <a:latin typeface="+mn-ea"/>
              </a:endParaRPr>
            </a:p>
          </p:txBody>
        </p:sp>
        <p:sp>
          <p:nvSpPr>
            <p:cNvPr id="237" name="사각형: 둥근 모서리 236">
              <a:extLst>
                <a:ext uri="{FF2B5EF4-FFF2-40B4-BE49-F238E27FC236}">
                  <a16:creationId xmlns="" xmlns:a16="http://schemas.microsoft.com/office/drawing/2014/main" id="{78465B70-3AF3-4E02-89CE-AF15FE4FDD9C}"/>
                </a:ext>
              </a:extLst>
            </p:cNvPr>
            <p:cNvSpPr/>
            <p:nvPr/>
          </p:nvSpPr>
          <p:spPr>
            <a:xfrm>
              <a:off x="7322906" y="5115664"/>
              <a:ext cx="612000" cy="54396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0" anchor="b"/>
            <a:lstStyle/>
            <a:p>
              <a:pPr algn="ctr" eaLnBrk="0" fontAlgn="base" latinLnBrk="0" hangingPunct="0">
                <a:spcAft>
                  <a:spcPct val="0"/>
                </a:spcAft>
              </a:pPr>
              <a:r>
                <a:rPr kumimoji="1" lang="en-US" altLang="ko-KR" sz="1050" kern="0" dirty="0">
                  <a:latin typeface="+mn-ea"/>
                </a:rPr>
                <a:t>VM</a:t>
              </a:r>
              <a:endParaRPr kumimoji="1" lang="ko-KR" altLang="en-US" sz="1050" kern="0" dirty="0">
                <a:latin typeface="+mn-ea"/>
              </a:endParaRPr>
            </a:p>
          </p:txBody>
        </p:sp>
        <p:sp>
          <p:nvSpPr>
            <p:cNvPr id="238" name="사각형: 둥근 모서리 237">
              <a:extLst>
                <a:ext uri="{FF2B5EF4-FFF2-40B4-BE49-F238E27FC236}">
                  <a16:creationId xmlns="" xmlns:a16="http://schemas.microsoft.com/office/drawing/2014/main" id="{53B72D97-01D5-406C-9B0F-4B140B060D94}"/>
                </a:ext>
              </a:extLst>
            </p:cNvPr>
            <p:cNvSpPr/>
            <p:nvPr/>
          </p:nvSpPr>
          <p:spPr>
            <a:xfrm>
              <a:off x="6731925" y="5141952"/>
              <a:ext cx="535697" cy="166765"/>
            </a:xfrm>
            <a:prstGeom prst="round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algn="ctr" eaLnBrk="0" fontAlgn="base" latinLnBrk="0" hangingPunct="0">
                <a:spcAft>
                  <a:spcPct val="0"/>
                </a:spcAft>
              </a:pPr>
              <a:r>
                <a:rPr kumimoji="1" lang="en-US" altLang="ko-KR" sz="1000" kern="0" dirty="0">
                  <a:latin typeface="+mn-ea"/>
                </a:rPr>
                <a:t>SW</a:t>
              </a:r>
              <a:endParaRPr kumimoji="1" lang="ko-KR" altLang="en-US" sz="1000" kern="0" dirty="0">
                <a:latin typeface="+mn-ea"/>
              </a:endParaRPr>
            </a:p>
          </p:txBody>
        </p:sp>
        <p:sp>
          <p:nvSpPr>
            <p:cNvPr id="239" name="사각형: 둥근 모서리 238">
              <a:extLst>
                <a:ext uri="{FF2B5EF4-FFF2-40B4-BE49-F238E27FC236}">
                  <a16:creationId xmlns="" xmlns:a16="http://schemas.microsoft.com/office/drawing/2014/main" id="{EEA487FF-25D2-487D-8DCF-CA383445C7D6}"/>
                </a:ext>
              </a:extLst>
            </p:cNvPr>
            <p:cNvSpPr/>
            <p:nvPr/>
          </p:nvSpPr>
          <p:spPr>
            <a:xfrm>
              <a:off x="6731925" y="5352433"/>
              <a:ext cx="535697" cy="166765"/>
            </a:xfrm>
            <a:prstGeom prst="round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algn="ctr" eaLnBrk="0" fontAlgn="base" latinLnBrk="0" hangingPunct="0">
                <a:spcAft>
                  <a:spcPct val="0"/>
                </a:spcAft>
              </a:pPr>
              <a:r>
                <a:rPr kumimoji="1" lang="en-US" altLang="ko-KR" sz="1000" kern="0" dirty="0">
                  <a:latin typeface="+mn-ea"/>
                </a:rPr>
                <a:t>OS</a:t>
              </a:r>
              <a:endParaRPr kumimoji="1" lang="ko-KR" altLang="en-US" sz="1000" kern="0" dirty="0">
                <a:latin typeface="+mn-ea"/>
              </a:endParaRPr>
            </a:p>
          </p:txBody>
        </p:sp>
        <p:sp>
          <p:nvSpPr>
            <p:cNvPr id="240" name="사각형: 둥근 모서리 239">
              <a:extLst>
                <a:ext uri="{FF2B5EF4-FFF2-40B4-BE49-F238E27FC236}">
                  <a16:creationId xmlns="" xmlns:a16="http://schemas.microsoft.com/office/drawing/2014/main" id="{9663E4BD-4F37-4F44-843E-44829C7C7C01}"/>
                </a:ext>
              </a:extLst>
            </p:cNvPr>
            <p:cNvSpPr/>
            <p:nvPr/>
          </p:nvSpPr>
          <p:spPr>
            <a:xfrm>
              <a:off x="7370650" y="5141952"/>
              <a:ext cx="535697" cy="166765"/>
            </a:xfrm>
            <a:prstGeom prst="round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algn="ctr" eaLnBrk="0" fontAlgn="base" latinLnBrk="0" hangingPunct="0">
                <a:spcAft>
                  <a:spcPct val="0"/>
                </a:spcAft>
              </a:pPr>
              <a:r>
                <a:rPr kumimoji="1" lang="en-US" altLang="ko-KR" sz="1000" kern="0" dirty="0">
                  <a:latin typeface="+mn-ea"/>
                </a:rPr>
                <a:t>SW</a:t>
              </a:r>
              <a:endParaRPr kumimoji="1" lang="ko-KR" altLang="en-US" sz="1000" kern="0" dirty="0">
                <a:latin typeface="+mn-ea"/>
              </a:endParaRPr>
            </a:p>
          </p:txBody>
        </p:sp>
        <p:sp>
          <p:nvSpPr>
            <p:cNvPr id="241" name="사각형: 둥근 모서리 240">
              <a:extLst>
                <a:ext uri="{FF2B5EF4-FFF2-40B4-BE49-F238E27FC236}">
                  <a16:creationId xmlns="" xmlns:a16="http://schemas.microsoft.com/office/drawing/2014/main" id="{6245E709-9B2D-497C-8630-25B70E4463D1}"/>
                </a:ext>
              </a:extLst>
            </p:cNvPr>
            <p:cNvSpPr/>
            <p:nvPr/>
          </p:nvSpPr>
          <p:spPr>
            <a:xfrm>
              <a:off x="7370650" y="5352433"/>
              <a:ext cx="535697" cy="166765"/>
            </a:xfrm>
            <a:prstGeom prst="roundRect">
              <a:avLst/>
            </a:prstGeom>
            <a:solidFill>
              <a:schemeClr val="bg1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algn="ctr" eaLnBrk="0" fontAlgn="base" latinLnBrk="0" hangingPunct="0">
                <a:spcAft>
                  <a:spcPct val="0"/>
                </a:spcAft>
              </a:pPr>
              <a:r>
                <a:rPr kumimoji="1" lang="en-US" altLang="ko-KR" sz="1000" kern="0" dirty="0">
                  <a:latin typeface="+mn-ea"/>
                </a:rPr>
                <a:t>OS</a:t>
              </a:r>
              <a:endParaRPr kumimoji="1" lang="ko-KR" altLang="en-US" sz="1000" kern="0" dirty="0">
                <a:latin typeface="+mn-ea"/>
              </a:endParaRPr>
            </a:p>
          </p:txBody>
        </p:sp>
        <p:sp>
          <p:nvSpPr>
            <p:cNvPr id="242" name="AutoShape 35">
              <a:extLst>
                <a:ext uri="{FF2B5EF4-FFF2-40B4-BE49-F238E27FC236}">
                  <a16:creationId xmlns="" xmlns:a16="http://schemas.microsoft.com/office/drawing/2014/main" id="{6560324D-0A67-41D3-B4A9-D966576853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4384" y="5366048"/>
              <a:ext cx="468488" cy="151184"/>
            </a:xfrm>
            <a:prstGeom prst="rect">
              <a:avLst/>
            </a:prstGeom>
            <a:noFill/>
            <a:effectLst>
              <a:glow rad="101600">
                <a:srgbClr val="E6E6E6">
                  <a:alpha val="60000"/>
                </a:srgbClr>
              </a:glow>
            </a:effectLst>
            <a:extLst/>
          </p:spPr>
          <p:txBody>
            <a:bodyPr wrap="square" rtlCol="0" anchor="ctr">
              <a:noAutofit/>
            </a:bodyPr>
            <a:lstStyle/>
            <a:p>
              <a:pPr algn="ctr" fontAlgn="base">
                <a:spcAft>
                  <a:spcPts val="120"/>
                </a:spcAft>
                <a:buClr>
                  <a:srgbClr val="7F7F7F"/>
                </a:buClr>
                <a:buSzPct val="110000"/>
                <a:tabLst>
                  <a:tab pos="628650" algn="l"/>
                </a:tabLst>
              </a:pPr>
              <a:r>
                <a:rPr lang="en-US" altLang="ko-KR" b="1" kern="0" dirty="0">
                  <a:ln>
                    <a:solidFill>
                      <a:srgbClr val="808080">
                        <a:alpha val="0"/>
                      </a:srgbClr>
                    </a:solidFill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…</a:t>
              </a:r>
              <a:endParaRPr lang="ko-KR" altLang="en-US" b="1" kern="0" dirty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endParaRPr>
            </a:p>
          </p:txBody>
        </p:sp>
        <p:cxnSp>
          <p:nvCxnSpPr>
            <p:cNvPr id="243" name="직선 화살표 연결선 242">
              <a:extLst>
                <a:ext uri="{FF2B5EF4-FFF2-40B4-BE49-F238E27FC236}">
                  <a16:creationId xmlns="" xmlns:a16="http://schemas.microsoft.com/office/drawing/2014/main" id="{5BB64EA3-50AD-4F62-89A7-3F9E42FA2AF8}"/>
                </a:ext>
              </a:extLst>
            </p:cNvPr>
            <p:cNvCxnSpPr>
              <a:cxnSpLocks/>
              <a:stCxn id="213" idx="2"/>
              <a:endCxn id="215" idx="0"/>
            </p:cNvCxnSpPr>
            <p:nvPr/>
          </p:nvCxnSpPr>
          <p:spPr>
            <a:xfrm flipH="1">
              <a:off x="5580906" y="2701934"/>
              <a:ext cx="928990" cy="506513"/>
            </a:xfrm>
            <a:prstGeom prst="straightConnector1">
              <a:avLst/>
            </a:prstGeom>
            <a:ln w="12700">
              <a:solidFill>
                <a:srgbClr val="0070C0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직선 화살표 연결선 245">
              <a:extLst>
                <a:ext uri="{FF2B5EF4-FFF2-40B4-BE49-F238E27FC236}">
                  <a16:creationId xmlns="" xmlns:a16="http://schemas.microsoft.com/office/drawing/2014/main" id="{1422B56D-543A-4302-9F5E-60B3BBDBBC8F}"/>
                </a:ext>
              </a:extLst>
            </p:cNvPr>
            <p:cNvCxnSpPr>
              <a:cxnSpLocks/>
              <a:stCxn id="213" idx="2"/>
              <a:endCxn id="216" idx="0"/>
            </p:cNvCxnSpPr>
            <p:nvPr/>
          </p:nvCxnSpPr>
          <p:spPr>
            <a:xfrm>
              <a:off x="6509896" y="2701934"/>
              <a:ext cx="14551" cy="506513"/>
            </a:xfrm>
            <a:prstGeom prst="straightConnector1">
              <a:avLst/>
            </a:prstGeom>
            <a:ln w="12700">
              <a:solidFill>
                <a:srgbClr val="0070C0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직선 화살표 연결선 248">
              <a:extLst>
                <a:ext uri="{FF2B5EF4-FFF2-40B4-BE49-F238E27FC236}">
                  <a16:creationId xmlns="" xmlns:a16="http://schemas.microsoft.com/office/drawing/2014/main" id="{DC374383-9DD6-4457-8469-DAF0B0F34E08}"/>
                </a:ext>
              </a:extLst>
            </p:cNvPr>
            <p:cNvCxnSpPr>
              <a:cxnSpLocks/>
              <a:stCxn id="213" idx="2"/>
              <a:endCxn id="217" idx="0"/>
            </p:cNvCxnSpPr>
            <p:nvPr/>
          </p:nvCxnSpPr>
          <p:spPr>
            <a:xfrm>
              <a:off x="6509896" y="2701934"/>
              <a:ext cx="958092" cy="506513"/>
            </a:xfrm>
            <a:prstGeom prst="straightConnector1">
              <a:avLst/>
            </a:prstGeom>
            <a:ln w="12700">
              <a:solidFill>
                <a:srgbClr val="0070C0"/>
              </a:solidFill>
              <a:headEnd type="oval" w="sm" len="sm"/>
              <a:tailEnd type="oval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Rectangle 67">
              <a:extLst>
                <a:ext uri="{FF2B5EF4-FFF2-40B4-BE49-F238E27FC236}">
                  <a16:creationId xmlns="" xmlns:a16="http://schemas.microsoft.com/office/drawing/2014/main" id="{0CE0B543-8CF3-466C-B70C-4A681EFB9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756" y="2851792"/>
              <a:ext cx="2520280" cy="196435"/>
            </a:xfrm>
            <a:prstGeom prst="rect">
              <a:avLst/>
            </a:prstGeom>
            <a:solidFill>
              <a:srgbClr val="003058"/>
            </a:solidFill>
            <a:ln w="6350" algn="ctr">
              <a:solidFill>
                <a:schemeClr val="tx1">
                  <a:lumMod val="65000"/>
                  <a:lumOff val="35000"/>
                </a:schemeClr>
              </a:solidFill>
              <a:miter lim="800000"/>
              <a:headEnd/>
              <a:tailEnd/>
            </a:ln>
            <a:effectLst/>
          </p:spPr>
          <p:txBody>
            <a:bodyPr wrap="square" lIns="72000" tIns="36000" rIns="72000" bIns="36000" anchor="ctr"/>
            <a:lstStyle/>
            <a:p>
              <a:pPr algn="ctr" eaLnBrk="0" fontAlgn="base" latinLnBrk="0" hangingPunct="0">
                <a:spcAft>
                  <a:spcPct val="0"/>
                </a:spcAft>
              </a:pPr>
              <a:r>
                <a:rPr kumimoji="1" lang="ko-KR" altLang="en-US" sz="1050" kern="0" dirty="0">
                  <a:solidFill>
                    <a:srgbClr val="FFFFFF"/>
                  </a:solidFill>
                  <a:latin typeface="+mn-ea"/>
                </a:rPr>
                <a:t>웹</a:t>
              </a:r>
              <a:r>
                <a:rPr kumimoji="1" lang="en-US" altLang="ko-KR" sz="1050" kern="0" dirty="0">
                  <a:solidFill>
                    <a:srgbClr val="FFFFFF"/>
                  </a:solidFill>
                  <a:latin typeface="+mn-ea"/>
                </a:rPr>
                <a:t> Load Balance / </a:t>
              </a:r>
              <a:r>
                <a:rPr kumimoji="1" lang="ko-KR" altLang="en-US" sz="1050" kern="0" dirty="0">
                  <a:solidFill>
                    <a:srgbClr val="FFFFFF"/>
                  </a:solidFill>
                  <a:latin typeface="+mn-ea"/>
                </a:rPr>
                <a:t>세션 </a:t>
              </a:r>
              <a:r>
                <a:rPr kumimoji="1" lang="en-US" altLang="ko-KR" sz="1050" kern="0" dirty="0">
                  <a:solidFill>
                    <a:srgbClr val="FFFFFF"/>
                  </a:solidFill>
                  <a:latin typeface="+mn-ea"/>
                </a:rPr>
                <a:t>Cluster</a:t>
              </a:r>
              <a:endParaRPr kumimoji="1" lang="ko-KR" altLang="en-US" sz="1050" kern="0" dirty="0">
                <a:solidFill>
                  <a:srgbClr val="FFFFFF"/>
                </a:solidFill>
                <a:latin typeface="+mn-ea"/>
              </a:endParaRPr>
            </a:p>
          </p:txBody>
        </p:sp>
        <p:cxnSp>
          <p:nvCxnSpPr>
            <p:cNvPr id="253" name="직선 화살표 연결선 252">
              <a:extLst>
                <a:ext uri="{FF2B5EF4-FFF2-40B4-BE49-F238E27FC236}">
                  <a16:creationId xmlns="" xmlns:a16="http://schemas.microsoft.com/office/drawing/2014/main" id="{FFBD6091-5F61-4DED-9A17-675F82711146}"/>
                </a:ext>
              </a:extLst>
            </p:cNvPr>
            <p:cNvCxnSpPr>
              <a:cxnSpLocks/>
              <a:stCxn id="215" idx="2"/>
              <a:endCxn id="218" idx="1"/>
            </p:cNvCxnSpPr>
            <p:nvPr/>
          </p:nvCxnSpPr>
          <p:spPr>
            <a:xfrm flipH="1">
              <a:off x="5473231" y="3430411"/>
              <a:ext cx="107675" cy="570830"/>
            </a:xfrm>
            <a:prstGeom prst="straightConnector1">
              <a:avLst/>
            </a:prstGeom>
            <a:ln w="1270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직선 화살표 연결선 255">
              <a:extLst>
                <a:ext uri="{FF2B5EF4-FFF2-40B4-BE49-F238E27FC236}">
                  <a16:creationId xmlns="" xmlns:a16="http://schemas.microsoft.com/office/drawing/2014/main" id="{9096EBEC-5008-4203-9C2E-0956F34B6701}"/>
                </a:ext>
              </a:extLst>
            </p:cNvPr>
            <p:cNvCxnSpPr>
              <a:cxnSpLocks/>
              <a:stCxn id="215" idx="2"/>
              <a:endCxn id="219" idx="1"/>
            </p:cNvCxnSpPr>
            <p:nvPr/>
          </p:nvCxnSpPr>
          <p:spPr>
            <a:xfrm>
              <a:off x="5580906" y="3430411"/>
              <a:ext cx="582654" cy="570830"/>
            </a:xfrm>
            <a:prstGeom prst="straightConnector1">
              <a:avLst/>
            </a:prstGeom>
            <a:ln w="1270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직선 화살표 연결선 258">
              <a:extLst>
                <a:ext uri="{FF2B5EF4-FFF2-40B4-BE49-F238E27FC236}">
                  <a16:creationId xmlns="" xmlns:a16="http://schemas.microsoft.com/office/drawing/2014/main" id="{96ADD271-9B63-4946-A87D-392F6E3742E9}"/>
                </a:ext>
              </a:extLst>
            </p:cNvPr>
            <p:cNvCxnSpPr>
              <a:cxnSpLocks/>
              <a:stCxn id="215" idx="2"/>
              <a:endCxn id="220" idx="1"/>
            </p:cNvCxnSpPr>
            <p:nvPr/>
          </p:nvCxnSpPr>
          <p:spPr>
            <a:xfrm>
              <a:off x="5580906" y="3430411"/>
              <a:ext cx="1272983" cy="570830"/>
            </a:xfrm>
            <a:prstGeom prst="straightConnector1">
              <a:avLst/>
            </a:prstGeom>
            <a:ln w="1270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직선 화살표 연결선 263">
              <a:extLst>
                <a:ext uri="{FF2B5EF4-FFF2-40B4-BE49-F238E27FC236}">
                  <a16:creationId xmlns="" xmlns:a16="http://schemas.microsoft.com/office/drawing/2014/main" id="{2922E267-478D-4E55-BE6F-44A697BDE0A8}"/>
                </a:ext>
              </a:extLst>
            </p:cNvPr>
            <p:cNvCxnSpPr>
              <a:cxnSpLocks/>
              <a:stCxn id="215" idx="2"/>
              <a:endCxn id="221" idx="1"/>
            </p:cNvCxnSpPr>
            <p:nvPr/>
          </p:nvCxnSpPr>
          <p:spPr>
            <a:xfrm>
              <a:off x="5580906" y="3430411"/>
              <a:ext cx="1963311" cy="570830"/>
            </a:xfrm>
            <a:prstGeom prst="straightConnector1">
              <a:avLst/>
            </a:prstGeom>
            <a:ln w="1270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직선 화살표 연결선 266">
              <a:extLst>
                <a:ext uri="{FF2B5EF4-FFF2-40B4-BE49-F238E27FC236}">
                  <a16:creationId xmlns="" xmlns:a16="http://schemas.microsoft.com/office/drawing/2014/main" id="{37E9C460-A4DC-4D4C-8D61-4554FDCF36A8}"/>
                </a:ext>
              </a:extLst>
            </p:cNvPr>
            <p:cNvCxnSpPr>
              <a:cxnSpLocks/>
              <a:stCxn id="216" idx="2"/>
              <a:endCxn id="218" idx="1"/>
            </p:cNvCxnSpPr>
            <p:nvPr/>
          </p:nvCxnSpPr>
          <p:spPr>
            <a:xfrm flipH="1">
              <a:off x="5473231" y="3430411"/>
              <a:ext cx="1051216" cy="570830"/>
            </a:xfrm>
            <a:prstGeom prst="straightConnector1">
              <a:avLst/>
            </a:prstGeom>
            <a:ln w="1270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직선 화살표 연결선 270">
              <a:extLst>
                <a:ext uri="{FF2B5EF4-FFF2-40B4-BE49-F238E27FC236}">
                  <a16:creationId xmlns="" xmlns:a16="http://schemas.microsoft.com/office/drawing/2014/main" id="{C0C4383A-D4F3-438E-8984-1ADEA9806F5B}"/>
                </a:ext>
              </a:extLst>
            </p:cNvPr>
            <p:cNvCxnSpPr>
              <a:cxnSpLocks/>
              <a:stCxn id="216" idx="2"/>
              <a:endCxn id="219" idx="1"/>
            </p:cNvCxnSpPr>
            <p:nvPr/>
          </p:nvCxnSpPr>
          <p:spPr>
            <a:xfrm flipH="1">
              <a:off x="6163560" y="3430411"/>
              <a:ext cx="360887" cy="570830"/>
            </a:xfrm>
            <a:prstGeom prst="straightConnector1">
              <a:avLst/>
            </a:prstGeom>
            <a:ln w="1270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직선 화살표 연결선 273">
              <a:extLst>
                <a:ext uri="{FF2B5EF4-FFF2-40B4-BE49-F238E27FC236}">
                  <a16:creationId xmlns="" xmlns:a16="http://schemas.microsoft.com/office/drawing/2014/main" id="{BEC0B531-F8E4-4F00-A03E-A6FD248CEDD1}"/>
                </a:ext>
              </a:extLst>
            </p:cNvPr>
            <p:cNvCxnSpPr>
              <a:cxnSpLocks/>
              <a:stCxn id="216" idx="2"/>
              <a:endCxn id="220" idx="1"/>
            </p:cNvCxnSpPr>
            <p:nvPr/>
          </p:nvCxnSpPr>
          <p:spPr>
            <a:xfrm>
              <a:off x="6524447" y="3430411"/>
              <a:ext cx="329442" cy="570830"/>
            </a:xfrm>
            <a:prstGeom prst="straightConnector1">
              <a:avLst/>
            </a:prstGeom>
            <a:ln w="1270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직선 화살표 연결선 276">
              <a:extLst>
                <a:ext uri="{FF2B5EF4-FFF2-40B4-BE49-F238E27FC236}">
                  <a16:creationId xmlns="" xmlns:a16="http://schemas.microsoft.com/office/drawing/2014/main" id="{B85F2A16-5791-48B6-B5F0-BBEF3C2F20EF}"/>
                </a:ext>
              </a:extLst>
            </p:cNvPr>
            <p:cNvCxnSpPr>
              <a:cxnSpLocks/>
              <a:stCxn id="216" idx="2"/>
              <a:endCxn id="221" idx="1"/>
            </p:cNvCxnSpPr>
            <p:nvPr/>
          </p:nvCxnSpPr>
          <p:spPr>
            <a:xfrm>
              <a:off x="6524447" y="3430411"/>
              <a:ext cx="1019770" cy="570830"/>
            </a:xfrm>
            <a:prstGeom prst="straightConnector1">
              <a:avLst/>
            </a:prstGeom>
            <a:ln w="1270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직선 화살표 연결선 279">
              <a:extLst>
                <a:ext uri="{FF2B5EF4-FFF2-40B4-BE49-F238E27FC236}">
                  <a16:creationId xmlns="" xmlns:a16="http://schemas.microsoft.com/office/drawing/2014/main" id="{F1481AF6-E479-4630-9E83-1FAF5256A5BD}"/>
                </a:ext>
              </a:extLst>
            </p:cNvPr>
            <p:cNvCxnSpPr>
              <a:cxnSpLocks/>
              <a:stCxn id="217" idx="2"/>
            </p:cNvCxnSpPr>
            <p:nvPr/>
          </p:nvCxnSpPr>
          <p:spPr>
            <a:xfrm flipH="1">
              <a:off x="5499365" y="3430411"/>
              <a:ext cx="1968623" cy="567891"/>
            </a:xfrm>
            <a:prstGeom prst="straightConnector1">
              <a:avLst/>
            </a:prstGeom>
            <a:ln w="1270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직선 화살표 연결선 283">
              <a:extLst>
                <a:ext uri="{FF2B5EF4-FFF2-40B4-BE49-F238E27FC236}">
                  <a16:creationId xmlns="" xmlns:a16="http://schemas.microsoft.com/office/drawing/2014/main" id="{4FBB1D2B-0A32-49DC-B2F7-84E2BB0408A2}"/>
                </a:ext>
              </a:extLst>
            </p:cNvPr>
            <p:cNvCxnSpPr>
              <a:cxnSpLocks/>
              <a:stCxn id="217" idx="2"/>
              <a:endCxn id="219" idx="1"/>
            </p:cNvCxnSpPr>
            <p:nvPr/>
          </p:nvCxnSpPr>
          <p:spPr>
            <a:xfrm flipH="1">
              <a:off x="6163560" y="3430411"/>
              <a:ext cx="1304428" cy="570830"/>
            </a:xfrm>
            <a:prstGeom prst="straightConnector1">
              <a:avLst/>
            </a:prstGeom>
            <a:ln w="1270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직선 화살표 연결선 286">
              <a:extLst>
                <a:ext uri="{FF2B5EF4-FFF2-40B4-BE49-F238E27FC236}">
                  <a16:creationId xmlns="" xmlns:a16="http://schemas.microsoft.com/office/drawing/2014/main" id="{49887B8F-8B63-4301-B7C1-3C96DE8E5EB9}"/>
                </a:ext>
              </a:extLst>
            </p:cNvPr>
            <p:cNvCxnSpPr>
              <a:cxnSpLocks/>
              <a:stCxn id="217" idx="2"/>
              <a:endCxn id="220" idx="1"/>
            </p:cNvCxnSpPr>
            <p:nvPr/>
          </p:nvCxnSpPr>
          <p:spPr>
            <a:xfrm flipH="1">
              <a:off x="6853889" y="3430411"/>
              <a:ext cx="614099" cy="570830"/>
            </a:xfrm>
            <a:prstGeom prst="straightConnector1">
              <a:avLst/>
            </a:prstGeom>
            <a:ln w="1270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직선 화살표 연결선 289">
              <a:extLst>
                <a:ext uri="{FF2B5EF4-FFF2-40B4-BE49-F238E27FC236}">
                  <a16:creationId xmlns="" xmlns:a16="http://schemas.microsoft.com/office/drawing/2014/main" id="{42ECA1A7-68F1-4350-93ED-14352C91ABCB}"/>
                </a:ext>
              </a:extLst>
            </p:cNvPr>
            <p:cNvCxnSpPr>
              <a:cxnSpLocks/>
              <a:stCxn id="217" idx="2"/>
              <a:endCxn id="221" idx="1"/>
            </p:cNvCxnSpPr>
            <p:nvPr/>
          </p:nvCxnSpPr>
          <p:spPr>
            <a:xfrm>
              <a:off x="7467988" y="3430411"/>
              <a:ext cx="76229" cy="570830"/>
            </a:xfrm>
            <a:prstGeom prst="straightConnector1">
              <a:avLst/>
            </a:prstGeom>
            <a:ln w="12700">
              <a:solidFill>
                <a:srgbClr val="0070C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3" name="Rectangle 62">
            <a:extLst>
              <a:ext uri="{FF2B5EF4-FFF2-40B4-BE49-F238E27FC236}">
                <a16:creationId xmlns="" xmlns:a16="http://schemas.microsoft.com/office/drawing/2014/main" id="{C4BFA594-ACB8-4FFD-886E-7CE869A966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4844" y="2045799"/>
            <a:ext cx="1401607" cy="1607047"/>
          </a:xfrm>
          <a:prstGeom prst="rect">
            <a:avLst/>
          </a:prstGeom>
          <a:solidFill>
            <a:srgbClr val="508CD2"/>
          </a:solidFill>
          <a:ln w="9525" algn="ctr">
            <a:solidFill>
              <a:srgbClr val="508CD2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ctr"/>
          <a:lstStyle/>
          <a:p>
            <a:pPr marL="171450" indent="-171450" eaLnBrk="0" fontAlgn="base" latinLnBrk="0" hangingPunct="0"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1" lang="ko-KR" altLang="en-US" sz="1100" b="1" kern="0" dirty="0">
                <a:solidFill>
                  <a:schemeClr val="bg1"/>
                </a:solidFill>
                <a:latin typeface="+mn-ea"/>
              </a:rPr>
              <a:t>서비스 부하 분산을 위한 로드 밸런싱</a:t>
            </a:r>
          </a:p>
          <a:p>
            <a:pPr marL="171450" indent="-171450" eaLnBrk="0" fontAlgn="base" latinLnBrk="0" hangingPunct="0"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1" lang="ko-KR" altLang="en-US" sz="1100" b="1" kern="0" dirty="0">
                <a:solidFill>
                  <a:schemeClr val="bg1"/>
                </a:solidFill>
                <a:latin typeface="+mn-ea"/>
              </a:rPr>
              <a:t>서비스 중단 최소화를 위한 </a:t>
            </a:r>
            <a:r>
              <a:rPr kumimoji="1" lang="en-US" altLang="ko-KR" sz="1100" b="1" kern="0" dirty="0">
                <a:solidFill>
                  <a:schemeClr val="bg1"/>
                </a:solidFill>
                <a:latin typeface="+mn-ea"/>
              </a:rPr>
              <a:t>fail-over, </a:t>
            </a:r>
            <a:r>
              <a:rPr kumimoji="1" lang="ko-KR" altLang="en-US" sz="1100" b="1" kern="0" dirty="0">
                <a:solidFill>
                  <a:schemeClr val="bg1"/>
                </a:solidFill>
                <a:latin typeface="+mn-ea"/>
              </a:rPr>
              <a:t>세션 클러스터링</a:t>
            </a:r>
          </a:p>
          <a:p>
            <a:pPr marL="171450" indent="-171450" eaLnBrk="0" fontAlgn="base" latinLnBrk="0" hangingPunct="0">
              <a:spcBef>
                <a:spcPts val="3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1" lang="ko-KR" altLang="en-US" sz="1100" b="1" kern="0" dirty="0">
                <a:solidFill>
                  <a:schemeClr val="bg1"/>
                </a:solidFill>
                <a:latin typeface="+mn-ea"/>
              </a:rPr>
              <a:t>서버 가상화 기반 가상머신 할당</a:t>
            </a:r>
          </a:p>
        </p:txBody>
      </p:sp>
      <p:sp>
        <p:nvSpPr>
          <p:cNvPr id="294" name="Rectangle 62">
            <a:extLst>
              <a:ext uri="{FF2B5EF4-FFF2-40B4-BE49-F238E27FC236}">
                <a16:creationId xmlns="" xmlns:a16="http://schemas.microsoft.com/office/drawing/2014/main" id="{B1DD0325-58EB-4EA6-8429-8DE6D662E0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4844" y="3714356"/>
            <a:ext cx="1401607" cy="1305555"/>
          </a:xfrm>
          <a:prstGeom prst="rect">
            <a:avLst/>
          </a:prstGeom>
          <a:solidFill>
            <a:srgbClr val="508CD2"/>
          </a:solidFill>
          <a:ln w="9525" algn="ctr">
            <a:solidFill>
              <a:srgbClr val="508CD2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ctr"/>
          <a:lstStyle/>
          <a:p>
            <a:pPr marL="171450" indent="-171450" eaLnBrk="0" fontAlgn="base" latinLnBrk="0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1" lang="en-US" altLang="ko-KR" sz="1100" b="1" kern="0" dirty="0">
                <a:solidFill>
                  <a:schemeClr val="bg1"/>
                </a:solidFill>
                <a:latin typeface="+mn-ea"/>
              </a:rPr>
              <a:t>DB</a:t>
            </a:r>
            <a:r>
              <a:rPr kumimoji="1" lang="ko-KR" altLang="en-US" sz="1100" b="1" kern="0" dirty="0">
                <a:solidFill>
                  <a:schemeClr val="bg1"/>
                </a:solidFill>
                <a:latin typeface="+mn-ea"/>
              </a:rPr>
              <a:t>이중화</a:t>
            </a:r>
            <a:r>
              <a:rPr kumimoji="1" lang="en-US" altLang="ko-KR" sz="1100" b="1" kern="0" dirty="0">
                <a:solidFill>
                  <a:schemeClr val="bg1"/>
                </a:solidFill>
                <a:latin typeface="+mn-ea"/>
              </a:rPr>
              <a:t>(HA)</a:t>
            </a:r>
          </a:p>
          <a:p>
            <a:pPr marL="171450" indent="-171450" eaLnBrk="0" fontAlgn="base" latinLnBrk="0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1" lang="ko-KR" altLang="en-US" sz="1100" b="1" kern="0" dirty="0">
                <a:solidFill>
                  <a:schemeClr val="bg1"/>
                </a:solidFill>
                <a:latin typeface="+mn-ea"/>
              </a:rPr>
              <a:t>데이터복제 기능</a:t>
            </a:r>
          </a:p>
          <a:p>
            <a:pPr marL="171450" indent="-171450" eaLnBrk="0" fontAlgn="base" latinLnBrk="0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1" lang="ko-KR" altLang="en-US" sz="1100" b="1" kern="0" dirty="0">
                <a:solidFill>
                  <a:schemeClr val="bg1"/>
                </a:solidFill>
                <a:latin typeface="+mn-ea"/>
              </a:rPr>
              <a:t>통합</a:t>
            </a:r>
            <a:r>
              <a:rPr kumimoji="1" lang="en-US" altLang="ko-KR" sz="1100" b="1" kern="0" dirty="0">
                <a:solidFill>
                  <a:schemeClr val="bg1"/>
                </a:solidFill>
                <a:latin typeface="+mn-ea"/>
              </a:rPr>
              <a:t>DB </a:t>
            </a:r>
            <a:r>
              <a:rPr kumimoji="1" lang="ko-KR" altLang="en-US" sz="1100" b="1" kern="0" dirty="0">
                <a:solidFill>
                  <a:schemeClr val="bg1"/>
                </a:solidFill>
                <a:latin typeface="+mn-ea"/>
              </a:rPr>
              <a:t>또는 시스템별 </a:t>
            </a:r>
            <a:r>
              <a:rPr kumimoji="1" lang="en-US" altLang="ko-KR" sz="1100" b="1" kern="0" dirty="0">
                <a:solidFill>
                  <a:schemeClr val="bg1"/>
                </a:solidFill>
                <a:latin typeface="+mn-ea"/>
              </a:rPr>
              <a:t>DB </a:t>
            </a:r>
            <a:r>
              <a:rPr kumimoji="1" lang="ko-KR" altLang="en-US" sz="1100" b="1" kern="0" dirty="0">
                <a:solidFill>
                  <a:schemeClr val="bg1"/>
                </a:solidFill>
                <a:latin typeface="+mn-ea"/>
              </a:rPr>
              <a:t>분리 구성</a:t>
            </a:r>
          </a:p>
        </p:txBody>
      </p:sp>
      <p:sp>
        <p:nvSpPr>
          <p:cNvPr id="295" name="Rectangle 62">
            <a:extLst>
              <a:ext uri="{FF2B5EF4-FFF2-40B4-BE49-F238E27FC236}">
                <a16:creationId xmlns="" xmlns:a16="http://schemas.microsoft.com/office/drawing/2014/main" id="{70BC97B2-B388-4AD8-A40C-CC8870652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4844" y="5097310"/>
            <a:ext cx="1401607" cy="1133674"/>
          </a:xfrm>
          <a:prstGeom prst="rect">
            <a:avLst/>
          </a:prstGeom>
          <a:solidFill>
            <a:srgbClr val="508CD2"/>
          </a:solidFill>
          <a:ln w="9525" algn="ctr">
            <a:solidFill>
              <a:srgbClr val="508CD2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ctr"/>
          <a:lstStyle/>
          <a:p>
            <a:pPr marL="171450" indent="-171450" eaLnBrk="0" fontAlgn="base" latinLnBrk="0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1" lang="ko-KR" altLang="en-US" sz="1100" b="1" kern="0" dirty="0">
                <a:solidFill>
                  <a:schemeClr val="bg1"/>
                </a:solidFill>
                <a:latin typeface="+mn-ea"/>
              </a:rPr>
              <a:t>자원 동적배치</a:t>
            </a:r>
          </a:p>
          <a:p>
            <a:pPr marL="171450" indent="-171450" eaLnBrk="0" fontAlgn="base" latinLnBrk="0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kumimoji="1" lang="ko-KR" altLang="en-US" sz="1100" b="1" kern="0" dirty="0">
                <a:solidFill>
                  <a:schemeClr val="bg1"/>
                </a:solidFill>
                <a:latin typeface="+mn-ea"/>
              </a:rPr>
              <a:t>매니저 기반의 가상화 통합 시스템 구축</a:t>
            </a:r>
          </a:p>
        </p:txBody>
      </p:sp>
    </p:spTree>
    <p:extLst>
      <p:ext uri="{BB962C8B-B14F-4D97-AF65-F5344CB8AC3E}">
        <p14:creationId xmlns:p14="http://schemas.microsoft.com/office/powerpoint/2010/main" val="4971595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latinLnBrk="0"/>
            <a:r>
              <a:rPr lang="ko-KR" altLang="en-US" smtClean="0"/>
              <a:t>경영정보시스템 </a:t>
            </a:r>
            <a:r>
              <a:rPr lang="ko-KR" altLang="en-US" dirty="0"/>
              <a:t>응용 아키텍처는 계층별로</a:t>
            </a:r>
            <a:r>
              <a:rPr lang="en-US" altLang="ko-KR" dirty="0"/>
              <a:t>(Layered) </a:t>
            </a:r>
            <a:r>
              <a:rPr lang="ko-KR" altLang="en-US" dirty="0"/>
              <a:t>어플리케이션을 구성하는 컴포넌트</a:t>
            </a:r>
            <a:r>
              <a:rPr lang="en-US" altLang="ko-KR" dirty="0"/>
              <a:t>, </a:t>
            </a:r>
            <a:r>
              <a:rPr lang="ko-KR" altLang="en-US" dirty="0"/>
              <a:t>컴포넌트의 상호 관계</a:t>
            </a:r>
            <a:r>
              <a:rPr lang="en-US" altLang="ko-KR" dirty="0"/>
              <a:t>, </a:t>
            </a:r>
            <a:r>
              <a:rPr lang="ko-KR" altLang="en-US" dirty="0"/>
              <a:t>각 컴포넌트간의 호출 통신 인터페이스에 대한 패턴과 프로토콜로 구성함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mtClean="0"/>
              <a:t>1.7 </a:t>
            </a:r>
            <a:r>
              <a:rPr lang="ko-KR" altLang="en-US" smtClean="0"/>
              <a:t>응용 아키텍처</a:t>
            </a:r>
            <a:r>
              <a:rPr lang="en-US" altLang="ko-KR" smtClean="0"/>
              <a:t>(</a:t>
            </a:r>
            <a:r>
              <a:rPr lang="en-US" altLang="ko-KR"/>
              <a:t>AA) </a:t>
            </a:r>
            <a:r>
              <a:rPr lang="ko-KR" altLang="en-US"/>
              <a:t>표준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1.7.3 </a:t>
            </a:r>
            <a:r>
              <a:rPr lang="ko-KR" altLang="en-US" sz="1800" smtClean="0"/>
              <a:t>아키덱쳐 구성도</a:t>
            </a:r>
            <a:endParaRPr lang="ko-KR" altLang="en-US" dirty="0"/>
          </a:p>
        </p:txBody>
      </p:sp>
      <p:grpSp>
        <p:nvGrpSpPr>
          <p:cNvPr id="5" name="그룹 15">
            <a:extLst>
              <a:ext uri="{FF2B5EF4-FFF2-40B4-BE49-F238E27FC236}">
                <a16:creationId xmlns="" xmlns:a16="http://schemas.microsoft.com/office/drawing/2014/main" id="{5EA3A309-9094-4DE1-8B56-A0FF213903F2}"/>
              </a:ext>
            </a:extLst>
          </p:cNvPr>
          <p:cNvGrpSpPr/>
          <p:nvPr/>
        </p:nvGrpSpPr>
        <p:grpSpPr>
          <a:xfrm>
            <a:off x="344489" y="1592796"/>
            <a:ext cx="9171420" cy="4788035"/>
            <a:chOff x="354519" y="1592796"/>
            <a:chExt cx="6594107" cy="4788035"/>
          </a:xfrm>
        </p:grpSpPr>
        <p:sp>
          <p:nvSpPr>
            <p:cNvPr id="17" name="직사각형 16">
              <a:extLst>
                <a:ext uri="{FF2B5EF4-FFF2-40B4-BE49-F238E27FC236}">
                  <a16:creationId xmlns="" xmlns:a16="http://schemas.microsoft.com/office/drawing/2014/main" id="{21185E6B-A0BB-49C3-AD9A-D384B252AE1F}"/>
                </a:ext>
              </a:extLst>
            </p:cNvPr>
            <p:cNvSpPr/>
            <p:nvPr/>
          </p:nvSpPr>
          <p:spPr bwMode="auto">
            <a:xfrm>
              <a:off x="354519" y="1592796"/>
              <a:ext cx="6594106" cy="324000"/>
            </a:xfrm>
            <a:prstGeom prst="rect">
              <a:avLst/>
            </a:prstGeom>
            <a:solidFill>
              <a:srgbClr val="233C5A"/>
            </a:solidFill>
            <a:ln w="6350" cap="flat" cmpd="sng" algn="ctr">
              <a:solidFill>
                <a:srgbClr val="00437A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응용 아키텍처 구성도</a:t>
              </a:r>
              <a:endPara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endParaRPr>
            </a:p>
          </p:txBody>
        </p:sp>
        <p:sp>
          <p:nvSpPr>
            <p:cNvPr id="18" name="Rectangle 4">
              <a:extLst>
                <a:ext uri="{FF2B5EF4-FFF2-40B4-BE49-F238E27FC236}">
                  <a16:creationId xmlns="" xmlns:a16="http://schemas.microsoft.com/office/drawing/2014/main" id="{D2409568-0805-4FA2-A65A-042B5E1EA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519" y="1916831"/>
              <a:ext cx="6594107" cy="44640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sm" len="sm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80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265113" marR="0" lvl="0" indent="-265113" defTabSz="914400" eaLnBrk="0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ct val="0"/>
                </a:spcAft>
                <a:buClr>
                  <a:prstClr val="black"/>
                </a:buClr>
                <a:buSzTx/>
                <a:buFont typeface="Wingdings" pitchFamily="2" charset="2"/>
                <a:buChar char="q"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</a:endParaRPr>
            </a:p>
          </p:txBody>
        </p:sp>
      </p:grpSp>
      <p:sp>
        <p:nvSpPr>
          <p:cNvPr id="8" name="직사각형 7">
            <a:extLst>
              <a:ext uri="{FF2B5EF4-FFF2-40B4-BE49-F238E27FC236}">
                <a16:creationId xmlns="" xmlns:a16="http://schemas.microsoft.com/office/drawing/2014/main" id="{2E4B1E08-689C-4392-9027-B6B0723A1BB2}"/>
              </a:ext>
            </a:extLst>
          </p:cNvPr>
          <p:cNvSpPr/>
          <p:nvPr/>
        </p:nvSpPr>
        <p:spPr>
          <a:xfrm>
            <a:off x="488483" y="2295846"/>
            <a:ext cx="2015556" cy="4012880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" lastClr="FFFFFF">
                <a:lumMod val="50000"/>
              </a:sysClr>
            </a:solidFill>
          </a:ln>
        </p:spPr>
        <p:txBody>
          <a:bodyPr vert="horz" wrap="square" lIns="97969" tIns="48984" rIns="97969" bIns="48984" numCol="1" rtlCol="0" anchor="t" anchorCtr="0" compatLnSpc="1">
            <a:prstTxWarp prst="textNoShape">
              <a:avLst/>
            </a:prstTxWarp>
            <a:noAutofit/>
          </a:bodyPr>
          <a:lstStyle/>
          <a:p>
            <a:pPr marL="93663" indent="-93663" defTabSz="979488" latinLnBrk="0">
              <a:spcBef>
                <a:spcPct val="50000"/>
              </a:spcBef>
              <a:buFont typeface="Wingdings" pitchFamily="2" charset="2"/>
              <a:buChar char="§"/>
              <a:defRPr/>
            </a:pPr>
            <a:endParaRPr kumimoji="1" lang="ko-KR" altLang="en-US" sz="10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="" xmlns:a16="http://schemas.microsoft.com/office/drawing/2014/main" id="{45449F05-C501-4DB3-AAD2-050BC3C538D8}"/>
              </a:ext>
            </a:extLst>
          </p:cNvPr>
          <p:cNvSpPr/>
          <p:nvPr/>
        </p:nvSpPr>
        <p:spPr bwMode="auto">
          <a:xfrm>
            <a:off x="488483" y="1989984"/>
            <a:ext cx="2015556" cy="291600"/>
          </a:xfrm>
          <a:prstGeom prst="rect">
            <a:avLst/>
          </a:prstGeom>
          <a:solidFill>
            <a:srgbClr val="01458C"/>
          </a:solidFill>
          <a:ln w="6350" cap="flat" cmpd="sng" algn="ctr">
            <a:solidFill>
              <a:srgbClr val="01458C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User</a:t>
            </a:r>
            <a:r>
              <a:rPr lang="ko-KR" altLang="en-US" sz="1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 </a:t>
            </a:r>
            <a:r>
              <a:rPr lang="en-US" altLang="ko-KR" sz="1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Interface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="" xmlns:a16="http://schemas.microsoft.com/office/drawing/2014/main" id="{8B2AC2B7-60C6-43FA-BB93-1F04E179C9BA}"/>
              </a:ext>
            </a:extLst>
          </p:cNvPr>
          <p:cNvSpPr/>
          <p:nvPr/>
        </p:nvSpPr>
        <p:spPr>
          <a:xfrm>
            <a:off x="2772631" y="2295846"/>
            <a:ext cx="2015556" cy="4012880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" lastClr="FFFFFF">
                <a:lumMod val="50000"/>
              </a:sysClr>
            </a:solidFill>
          </a:ln>
        </p:spPr>
        <p:txBody>
          <a:bodyPr vert="horz" wrap="square" lIns="97969" tIns="48984" rIns="97969" bIns="48984" numCol="1" rtlCol="0" anchor="t" anchorCtr="0" compatLnSpc="1">
            <a:prstTxWarp prst="textNoShape">
              <a:avLst/>
            </a:prstTxWarp>
            <a:noAutofit/>
          </a:bodyPr>
          <a:lstStyle/>
          <a:p>
            <a:pPr marL="93663" indent="-93663" defTabSz="979488" latinLnBrk="0">
              <a:spcBef>
                <a:spcPct val="50000"/>
              </a:spcBef>
              <a:buFont typeface="Wingdings" pitchFamily="2" charset="2"/>
              <a:buChar char="§"/>
              <a:defRPr/>
            </a:pPr>
            <a:endParaRPr kumimoji="1" lang="ko-KR" altLang="en-US" sz="10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="" xmlns:a16="http://schemas.microsoft.com/office/drawing/2014/main" id="{BC38D9ED-E3F0-444D-AFFD-77FA5E67D4D6}"/>
              </a:ext>
            </a:extLst>
          </p:cNvPr>
          <p:cNvSpPr/>
          <p:nvPr/>
        </p:nvSpPr>
        <p:spPr bwMode="auto">
          <a:xfrm>
            <a:off x="2772631" y="1989984"/>
            <a:ext cx="2015556" cy="291600"/>
          </a:xfrm>
          <a:prstGeom prst="rect">
            <a:avLst/>
          </a:prstGeom>
          <a:solidFill>
            <a:srgbClr val="01458C"/>
          </a:solidFill>
          <a:ln w="6350" cap="flat" cmpd="sng" algn="ctr">
            <a:solidFill>
              <a:srgbClr val="01458C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Access Layer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="" xmlns:a16="http://schemas.microsoft.com/office/drawing/2014/main" id="{3B7F6ADA-EBA6-4A16-BB09-37A709AEED9D}"/>
              </a:ext>
            </a:extLst>
          </p:cNvPr>
          <p:cNvSpPr/>
          <p:nvPr/>
        </p:nvSpPr>
        <p:spPr>
          <a:xfrm>
            <a:off x="5056779" y="2295846"/>
            <a:ext cx="2015556" cy="4012880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" lastClr="FFFFFF">
                <a:lumMod val="50000"/>
              </a:sysClr>
            </a:solidFill>
          </a:ln>
        </p:spPr>
        <p:txBody>
          <a:bodyPr vert="horz" wrap="square" lIns="97969" tIns="48984" rIns="97969" bIns="48984" numCol="1" rtlCol="0" anchor="t" anchorCtr="0" compatLnSpc="1">
            <a:prstTxWarp prst="textNoShape">
              <a:avLst/>
            </a:prstTxWarp>
            <a:noAutofit/>
          </a:bodyPr>
          <a:lstStyle/>
          <a:p>
            <a:pPr marL="93663" indent="-93663" defTabSz="979488" latinLnBrk="0">
              <a:spcBef>
                <a:spcPct val="50000"/>
              </a:spcBef>
              <a:buFont typeface="Wingdings" pitchFamily="2" charset="2"/>
              <a:buChar char="§"/>
              <a:defRPr/>
            </a:pPr>
            <a:endParaRPr kumimoji="1" lang="ko-KR" altLang="en-US" sz="10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="" xmlns:a16="http://schemas.microsoft.com/office/drawing/2014/main" id="{384330B7-8807-49C4-BF74-2E97A6C8CB28}"/>
              </a:ext>
            </a:extLst>
          </p:cNvPr>
          <p:cNvSpPr/>
          <p:nvPr/>
        </p:nvSpPr>
        <p:spPr bwMode="auto">
          <a:xfrm>
            <a:off x="5056779" y="1989984"/>
            <a:ext cx="2015556" cy="291600"/>
          </a:xfrm>
          <a:prstGeom prst="rect">
            <a:avLst/>
          </a:prstGeom>
          <a:solidFill>
            <a:srgbClr val="01458C"/>
          </a:solidFill>
          <a:ln w="6350" cap="flat" cmpd="sng" algn="ctr">
            <a:solidFill>
              <a:srgbClr val="01458C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Business Layer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="" xmlns:a16="http://schemas.microsoft.com/office/drawing/2014/main" id="{8B652D9F-698A-400A-AC79-E695B80971A9}"/>
              </a:ext>
            </a:extLst>
          </p:cNvPr>
          <p:cNvSpPr/>
          <p:nvPr/>
        </p:nvSpPr>
        <p:spPr>
          <a:xfrm>
            <a:off x="7340926" y="2295846"/>
            <a:ext cx="2015556" cy="4012880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" lastClr="FFFFFF">
                <a:lumMod val="50000"/>
              </a:sysClr>
            </a:solidFill>
          </a:ln>
        </p:spPr>
        <p:txBody>
          <a:bodyPr vert="horz" wrap="square" lIns="97969" tIns="48984" rIns="97969" bIns="48984" numCol="1" rtlCol="0" anchor="t" anchorCtr="0" compatLnSpc="1">
            <a:prstTxWarp prst="textNoShape">
              <a:avLst/>
            </a:prstTxWarp>
            <a:noAutofit/>
          </a:bodyPr>
          <a:lstStyle/>
          <a:p>
            <a:pPr marL="93663" indent="-93663" defTabSz="979488" latinLnBrk="0">
              <a:spcBef>
                <a:spcPct val="50000"/>
              </a:spcBef>
              <a:buFont typeface="Wingdings" pitchFamily="2" charset="2"/>
              <a:buChar char="§"/>
              <a:defRPr/>
            </a:pPr>
            <a:endParaRPr kumimoji="1" lang="ko-KR" altLang="en-US" sz="1000" kern="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="" xmlns:a16="http://schemas.microsoft.com/office/drawing/2014/main" id="{A1D53C1B-29B8-4FED-B595-8B7BD7D8A501}"/>
              </a:ext>
            </a:extLst>
          </p:cNvPr>
          <p:cNvSpPr/>
          <p:nvPr/>
        </p:nvSpPr>
        <p:spPr bwMode="auto">
          <a:xfrm>
            <a:off x="7340926" y="1989984"/>
            <a:ext cx="2015556" cy="291600"/>
          </a:xfrm>
          <a:prstGeom prst="rect">
            <a:avLst/>
          </a:prstGeom>
          <a:solidFill>
            <a:srgbClr val="01458C"/>
          </a:solidFill>
          <a:ln w="6350" cap="flat" cmpd="sng" algn="ctr">
            <a:solidFill>
              <a:srgbClr val="01458C"/>
            </a:solidFill>
            <a:prstDash val="solid"/>
            <a:round/>
            <a:headEnd type="none" w="med" len="med"/>
            <a:tailEnd type="none" w="med" len="med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anchor="ctr"/>
          <a:lstStyle/>
          <a:p>
            <a:pPr algn="ctr" fontAlgn="auto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Storage Layer</a:t>
            </a:r>
          </a:p>
        </p:txBody>
      </p:sp>
      <p:sp>
        <p:nvSpPr>
          <p:cNvPr id="25" name="Border">
            <a:extLst>
              <a:ext uri="{FF2B5EF4-FFF2-40B4-BE49-F238E27FC236}">
                <a16:creationId xmlns="" xmlns:a16="http://schemas.microsoft.com/office/drawing/2014/main" id="{0DFED57E-ED36-4E4E-8B8A-ACE0D2640451}"/>
              </a:ext>
            </a:extLst>
          </p:cNvPr>
          <p:cNvSpPr>
            <a:spLocks/>
          </p:cNvSpPr>
          <p:nvPr/>
        </p:nvSpPr>
        <p:spPr bwMode="auto">
          <a:xfrm>
            <a:off x="776536" y="2924944"/>
            <a:ext cx="1430099" cy="343956"/>
          </a:xfrm>
          <a:prstGeom prst="roundRect">
            <a:avLst>
              <a:gd name="adj" fmla="val 19791"/>
            </a:avLst>
          </a:prstGeom>
          <a:solidFill>
            <a:srgbClr val="508CD2"/>
          </a:solidFill>
          <a:ln w="6350">
            <a:solidFill>
              <a:srgbClr val="0145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45720" rIns="72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="" xmlns:a16="http://schemas.microsoft.com/office/drawing/2014/main" id="{6BD28C59-561C-4172-A8D6-766CABA69098}"/>
              </a:ext>
            </a:extLst>
          </p:cNvPr>
          <p:cNvSpPr/>
          <p:nvPr/>
        </p:nvSpPr>
        <p:spPr>
          <a:xfrm>
            <a:off x="1130315" y="2932401"/>
            <a:ext cx="72254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050" b="1" dirty="0">
                <a:solidFill>
                  <a:schemeClr val="bg1"/>
                </a:solidFill>
                <a:latin typeface="+mn-ea"/>
              </a:rPr>
              <a:t>WEB UI</a:t>
            </a:r>
            <a:endParaRPr lang="ko-KR" altLang="en-US" sz="105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7" name="Border">
            <a:extLst>
              <a:ext uri="{FF2B5EF4-FFF2-40B4-BE49-F238E27FC236}">
                <a16:creationId xmlns="" xmlns:a16="http://schemas.microsoft.com/office/drawing/2014/main" id="{7E24125B-394A-4F89-B9A8-754292DEC187}"/>
              </a:ext>
            </a:extLst>
          </p:cNvPr>
          <p:cNvSpPr>
            <a:spLocks/>
          </p:cNvSpPr>
          <p:nvPr/>
        </p:nvSpPr>
        <p:spPr bwMode="auto">
          <a:xfrm>
            <a:off x="776536" y="3185944"/>
            <a:ext cx="1430099" cy="1755224"/>
          </a:xfrm>
          <a:prstGeom prst="roundRect">
            <a:avLst>
              <a:gd name="adj" fmla="val 0"/>
            </a:avLst>
          </a:prstGeom>
          <a:solidFill>
            <a:srgbClr val="BFBFB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45720" rIns="72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="" xmlns:a16="http://schemas.microsoft.com/office/drawing/2014/main" id="{167713C9-1C55-4C73-BEB6-41671A6A1E91}"/>
              </a:ext>
            </a:extLst>
          </p:cNvPr>
          <p:cNvSpPr/>
          <p:nvPr/>
        </p:nvSpPr>
        <p:spPr>
          <a:xfrm>
            <a:off x="856154" y="3264027"/>
            <a:ext cx="1288534" cy="268578"/>
          </a:xfrm>
          <a:prstGeom prst="round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en-US" altLang="ko-KR" sz="1000" kern="0" dirty="0">
                <a:latin typeface="+mn-ea"/>
              </a:rPr>
              <a:t>WYSIWYG</a:t>
            </a:r>
            <a:endParaRPr kumimoji="1" lang="ko-KR" altLang="en-US" sz="1000" kern="0" dirty="0">
              <a:latin typeface="+mn-ea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="" xmlns:a16="http://schemas.microsoft.com/office/drawing/2014/main" id="{1B7CAF2F-23C8-4BB7-9D7D-FCDFC544C9D7}"/>
              </a:ext>
            </a:extLst>
          </p:cNvPr>
          <p:cNvSpPr/>
          <p:nvPr/>
        </p:nvSpPr>
        <p:spPr>
          <a:xfrm>
            <a:off x="856154" y="3593542"/>
            <a:ext cx="1288534" cy="268578"/>
          </a:xfrm>
          <a:prstGeom prst="round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ko-KR" altLang="en-US" sz="1000" kern="0" dirty="0">
                <a:latin typeface="+mn-ea"/>
              </a:rPr>
              <a:t>표준 </a:t>
            </a:r>
            <a:r>
              <a:rPr kumimoji="1" lang="en-US" altLang="ko-KR" sz="1000" kern="0" dirty="0">
                <a:latin typeface="+mn-ea"/>
              </a:rPr>
              <a:t>CSS</a:t>
            </a:r>
            <a:endParaRPr kumimoji="1" lang="ko-KR" altLang="en-US" sz="1000" kern="0" dirty="0">
              <a:latin typeface="+mn-ea"/>
            </a:endParaRPr>
          </a:p>
        </p:txBody>
      </p:sp>
      <p:sp>
        <p:nvSpPr>
          <p:cNvPr id="32" name="사각형: 둥근 모서리 31">
            <a:extLst>
              <a:ext uri="{FF2B5EF4-FFF2-40B4-BE49-F238E27FC236}">
                <a16:creationId xmlns="" xmlns:a16="http://schemas.microsoft.com/office/drawing/2014/main" id="{753972A0-33BE-4C78-977B-A9F8D3F87BAA}"/>
              </a:ext>
            </a:extLst>
          </p:cNvPr>
          <p:cNvSpPr/>
          <p:nvPr/>
        </p:nvSpPr>
        <p:spPr>
          <a:xfrm>
            <a:off x="856154" y="3923057"/>
            <a:ext cx="1288534" cy="268578"/>
          </a:xfrm>
          <a:prstGeom prst="round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en-US" altLang="ko-KR" sz="1000" kern="0" dirty="0">
                <a:latin typeface="+mn-ea"/>
              </a:rPr>
              <a:t>HTML5</a:t>
            </a:r>
            <a:endParaRPr kumimoji="1" lang="ko-KR" altLang="en-US" sz="1000" kern="0" dirty="0">
              <a:latin typeface="+mn-ea"/>
            </a:endParaRPr>
          </a:p>
        </p:txBody>
      </p:sp>
      <p:sp>
        <p:nvSpPr>
          <p:cNvPr id="33" name="Workstation">
            <a:extLst>
              <a:ext uri="{FF2B5EF4-FFF2-40B4-BE49-F238E27FC236}">
                <a16:creationId xmlns="" xmlns:a16="http://schemas.microsoft.com/office/drawing/2014/main" id="{6EFE45DC-D36E-4F65-9F88-4779FE596D06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1035978" y="4304667"/>
            <a:ext cx="347102" cy="347102"/>
          </a:xfrm>
          <a:custGeom>
            <a:avLst/>
            <a:gdLst>
              <a:gd name="T0" fmla="*/ 162 w 1411"/>
              <a:gd name="T1" fmla="*/ 0 h 1411"/>
              <a:gd name="T2" fmla="*/ 0 w 1411"/>
              <a:gd name="T3" fmla="*/ 162 h 1411"/>
              <a:gd name="T4" fmla="*/ 0 w 1411"/>
              <a:gd name="T5" fmla="*/ 868 h 1411"/>
              <a:gd name="T6" fmla="*/ 162 w 1411"/>
              <a:gd name="T7" fmla="*/ 1031 h 1411"/>
              <a:gd name="T8" fmla="*/ 1248 w 1411"/>
              <a:gd name="T9" fmla="*/ 1031 h 1411"/>
              <a:gd name="T10" fmla="*/ 1411 w 1411"/>
              <a:gd name="T11" fmla="*/ 868 h 1411"/>
              <a:gd name="T12" fmla="*/ 1411 w 1411"/>
              <a:gd name="T13" fmla="*/ 162 h 1411"/>
              <a:gd name="T14" fmla="*/ 1248 w 1411"/>
              <a:gd name="T15" fmla="*/ 0 h 1411"/>
              <a:gd name="T16" fmla="*/ 162 w 1411"/>
              <a:gd name="T17" fmla="*/ 0 h 1411"/>
              <a:gd name="T18" fmla="*/ 162 w 1411"/>
              <a:gd name="T19" fmla="*/ 108 h 1411"/>
              <a:gd name="T20" fmla="*/ 1248 w 1411"/>
              <a:gd name="T21" fmla="*/ 108 h 1411"/>
              <a:gd name="T22" fmla="*/ 1302 w 1411"/>
              <a:gd name="T23" fmla="*/ 162 h 1411"/>
              <a:gd name="T24" fmla="*/ 1302 w 1411"/>
              <a:gd name="T25" fmla="*/ 759 h 1411"/>
              <a:gd name="T26" fmla="*/ 1248 w 1411"/>
              <a:gd name="T27" fmla="*/ 814 h 1411"/>
              <a:gd name="T28" fmla="*/ 162 w 1411"/>
              <a:gd name="T29" fmla="*/ 814 h 1411"/>
              <a:gd name="T30" fmla="*/ 108 w 1411"/>
              <a:gd name="T31" fmla="*/ 759 h 1411"/>
              <a:gd name="T32" fmla="*/ 108 w 1411"/>
              <a:gd name="T33" fmla="*/ 162 h 1411"/>
              <a:gd name="T34" fmla="*/ 162 w 1411"/>
              <a:gd name="T35" fmla="*/ 108 h 1411"/>
              <a:gd name="T36" fmla="*/ 54 w 1411"/>
              <a:gd name="T37" fmla="*/ 1085 h 1411"/>
              <a:gd name="T38" fmla="*/ 0 w 1411"/>
              <a:gd name="T39" fmla="*/ 1139 h 1411"/>
              <a:gd name="T40" fmla="*/ 0 w 1411"/>
              <a:gd name="T41" fmla="*/ 1356 h 1411"/>
              <a:gd name="T42" fmla="*/ 54 w 1411"/>
              <a:gd name="T43" fmla="*/ 1411 h 1411"/>
              <a:gd name="T44" fmla="*/ 1356 w 1411"/>
              <a:gd name="T45" fmla="*/ 1411 h 1411"/>
              <a:gd name="T46" fmla="*/ 1411 w 1411"/>
              <a:gd name="T47" fmla="*/ 1356 h 1411"/>
              <a:gd name="T48" fmla="*/ 1411 w 1411"/>
              <a:gd name="T49" fmla="*/ 1139 h 1411"/>
              <a:gd name="T50" fmla="*/ 1356 w 1411"/>
              <a:gd name="T51" fmla="*/ 1085 h 1411"/>
              <a:gd name="T52" fmla="*/ 54 w 1411"/>
              <a:gd name="T53" fmla="*/ 1085 h 1411"/>
              <a:gd name="T54" fmla="*/ 1248 w 1411"/>
              <a:gd name="T55" fmla="*/ 1183 h 1411"/>
              <a:gd name="T56" fmla="*/ 1312 w 1411"/>
              <a:gd name="T57" fmla="*/ 1248 h 1411"/>
              <a:gd name="T58" fmla="*/ 1248 w 1411"/>
              <a:gd name="T59" fmla="*/ 1312 h 1411"/>
              <a:gd name="T60" fmla="*/ 1183 w 1411"/>
              <a:gd name="T61" fmla="*/ 1248 h 1411"/>
              <a:gd name="T62" fmla="*/ 1248 w 1411"/>
              <a:gd name="T63" fmla="*/ 1183 h 1411"/>
              <a:gd name="T64" fmla="*/ 108 w 1411"/>
              <a:gd name="T65" fmla="*/ 1194 h 1411"/>
              <a:gd name="T66" fmla="*/ 814 w 1411"/>
              <a:gd name="T67" fmla="*/ 1194 h 1411"/>
              <a:gd name="T68" fmla="*/ 814 w 1411"/>
              <a:gd name="T69" fmla="*/ 1248 h 1411"/>
              <a:gd name="T70" fmla="*/ 108 w 1411"/>
              <a:gd name="T71" fmla="*/ 1248 h 1411"/>
              <a:gd name="T72" fmla="*/ 108 w 1411"/>
              <a:gd name="T73" fmla="*/ 1194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411" h="1411">
                <a:moveTo>
                  <a:pt x="162" y="0"/>
                </a:moveTo>
                <a:cubicBezTo>
                  <a:pt x="72" y="0"/>
                  <a:pt x="0" y="72"/>
                  <a:pt x="0" y="162"/>
                </a:cubicBezTo>
                <a:lnTo>
                  <a:pt x="0" y="868"/>
                </a:lnTo>
                <a:cubicBezTo>
                  <a:pt x="0" y="958"/>
                  <a:pt x="72" y="1031"/>
                  <a:pt x="162" y="1031"/>
                </a:cubicBezTo>
                <a:lnTo>
                  <a:pt x="1248" y="1031"/>
                </a:lnTo>
                <a:cubicBezTo>
                  <a:pt x="1338" y="1031"/>
                  <a:pt x="1411" y="958"/>
                  <a:pt x="1411" y="868"/>
                </a:cubicBezTo>
                <a:lnTo>
                  <a:pt x="1411" y="162"/>
                </a:lnTo>
                <a:cubicBezTo>
                  <a:pt x="1411" y="72"/>
                  <a:pt x="1338" y="0"/>
                  <a:pt x="1248" y="0"/>
                </a:cubicBezTo>
                <a:lnTo>
                  <a:pt x="162" y="0"/>
                </a:lnTo>
                <a:close/>
                <a:moveTo>
                  <a:pt x="162" y="108"/>
                </a:moveTo>
                <a:lnTo>
                  <a:pt x="1248" y="108"/>
                </a:lnTo>
                <a:cubicBezTo>
                  <a:pt x="1278" y="108"/>
                  <a:pt x="1302" y="132"/>
                  <a:pt x="1302" y="162"/>
                </a:cubicBezTo>
                <a:lnTo>
                  <a:pt x="1302" y="759"/>
                </a:lnTo>
                <a:cubicBezTo>
                  <a:pt x="1302" y="789"/>
                  <a:pt x="1278" y="814"/>
                  <a:pt x="1248" y="814"/>
                </a:cubicBezTo>
                <a:lnTo>
                  <a:pt x="162" y="814"/>
                </a:lnTo>
                <a:cubicBezTo>
                  <a:pt x="132" y="814"/>
                  <a:pt x="108" y="789"/>
                  <a:pt x="108" y="759"/>
                </a:cubicBezTo>
                <a:lnTo>
                  <a:pt x="108" y="162"/>
                </a:lnTo>
                <a:cubicBezTo>
                  <a:pt x="108" y="132"/>
                  <a:pt x="132" y="108"/>
                  <a:pt x="162" y="108"/>
                </a:cubicBezTo>
                <a:close/>
                <a:moveTo>
                  <a:pt x="54" y="1085"/>
                </a:moveTo>
                <a:cubicBezTo>
                  <a:pt x="24" y="1085"/>
                  <a:pt x="0" y="1109"/>
                  <a:pt x="0" y="1139"/>
                </a:cubicBezTo>
                <a:lnTo>
                  <a:pt x="0" y="1356"/>
                </a:lnTo>
                <a:cubicBezTo>
                  <a:pt x="0" y="1386"/>
                  <a:pt x="24" y="1411"/>
                  <a:pt x="54" y="1411"/>
                </a:cubicBezTo>
                <a:lnTo>
                  <a:pt x="1356" y="1411"/>
                </a:lnTo>
                <a:cubicBezTo>
                  <a:pt x="1386" y="1411"/>
                  <a:pt x="1411" y="1386"/>
                  <a:pt x="1411" y="1356"/>
                </a:cubicBezTo>
                <a:lnTo>
                  <a:pt x="1411" y="1139"/>
                </a:lnTo>
                <a:cubicBezTo>
                  <a:pt x="1411" y="1109"/>
                  <a:pt x="1386" y="1085"/>
                  <a:pt x="1356" y="1085"/>
                </a:cubicBezTo>
                <a:lnTo>
                  <a:pt x="54" y="1085"/>
                </a:lnTo>
                <a:close/>
                <a:moveTo>
                  <a:pt x="1248" y="1183"/>
                </a:moveTo>
                <a:cubicBezTo>
                  <a:pt x="1283" y="1183"/>
                  <a:pt x="1312" y="1212"/>
                  <a:pt x="1312" y="1248"/>
                </a:cubicBezTo>
                <a:cubicBezTo>
                  <a:pt x="1312" y="1283"/>
                  <a:pt x="1283" y="1312"/>
                  <a:pt x="1248" y="1312"/>
                </a:cubicBezTo>
                <a:cubicBezTo>
                  <a:pt x="1212" y="1312"/>
                  <a:pt x="1183" y="1283"/>
                  <a:pt x="1183" y="1248"/>
                </a:cubicBezTo>
                <a:cubicBezTo>
                  <a:pt x="1183" y="1212"/>
                  <a:pt x="1212" y="1183"/>
                  <a:pt x="1248" y="1183"/>
                </a:cubicBezTo>
                <a:close/>
                <a:moveTo>
                  <a:pt x="108" y="1194"/>
                </a:moveTo>
                <a:lnTo>
                  <a:pt x="814" y="1194"/>
                </a:lnTo>
                <a:lnTo>
                  <a:pt x="814" y="1248"/>
                </a:lnTo>
                <a:lnTo>
                  <a:pt x="108" y="1248"/>
                </a:lnTo>
                <a:lnTo>
                  <a:pt x="108" y="1194"/>
                </a:ln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+mn-ea"/>
              <a:cs typeface="Segoe UI" panose="020B0502040204020203" pitchFamily="34" charset="0"/>
            </a:endParaRPr>
          </a:p>
        </p:txBody>
      </p:sp>
      <p:grpSp>
        <p:nvGrpSpPr>
          <p:cNvPr id="6" name="Smartphone">
            <a:extLst>
              <a:ext uri="{FF2B5EF4-FFF2-40B4-BE49-F238E27FC236}">
                <a16:creationId xmlns="" xmlns:a16="http://schemas.microsoft.com/office/drawing/2014/main" id="{0702C0BC-405E-441E-9876-29C0914F8E6F}"/>
              </a:ext>
            </a:extLst>
          </p:cNvPr>
          <p:cNvGrpSpPr>
            <a:grpSpLocks noChangeAspect="1"/>
          </p:cNvGrpSpPr>
          <p:nvPr/>
        </p:nvGrpSpPr>
        <p:grpSpPr>
          <a:xfrm>
            <a:off x="1679587" y="4275952"/>
            <a:ext cx="192429" cy="377160"/>
            <a:chOff x="9165945" y="1228296"/>
            <a:chExt cx="2479208" cy="4859248"/>
          </a:xfrm>
        </p:grpSpPr>
        <p:sp>
          <p:nvSpPr>
            <p:cNvPr id="41" name="Case">
              <a:extLst>
                <a:ext uri="{FF2B5EF4-FFF2-40B4-BE49-F238E27FC236}">
                  <a16:creationId xmlns="" xmlns:a16="http://schemas.microsoft.com/office/drawing/2014/main" id="{FCBBF11D-36E0-472F-B2AF-285C88130C4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5945" y="1228296"/>
              <a:ext cx="2479208" cy="4859248"/>
            </a:xfrm>
            <a:custGeom>
              <a:avLst/>
              <a:gdLst>
                <a:gd name="T0" fmla="*/ 403 w 4052"/>
                <a:gd name="T1" fmla="*/ 0 h 7922"/>
                <a:gd name="T2" fmla="*/ 3649 w 4052"/>
                <a:gd name="T3" fmla="*/ 0 h 7922"/>
                <a:gd name="T4" fmla="*/ 4052 w 4052"/>
                <a:gd name="T5" fmla="*/ 403 h 7922"/>
                <a:gd name="T6" fmla="*/ 4052 w 4052"/>
                <a:gd name="T7" fmla="*/ 7519 h 7922"/>
                <a:gd name="T8" fmla="*/ 3649 w 4052"/>
                <a:gd name="T9" fmla="*/ 7922 h 7922"/>
                <a:gd name="T10" fmla="*/ 403 w 4052"/>
                <a:gd name="T11" fmla="*/ 7922 h 7922"/>
                <a:gd name="T12" fmla="*/ 0 w 4052"/>
                <a:gd name="T13" fmla="*/ 7519 h 7922"/>
                <a:gd name="T14" fmla="*/ 0 w 4052"/>
                <a:gd name="T15" fmla="*/ 403 h 7922"/>
                <a:gd name="T16" fmla="*/ 403 w 4052"/>
                <a:gd name="T17" fmla="*/ 0 h 7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52" h="7922">
                  <a:moveTo>
                    <a:pt x="403" y="0"/>
                  </a:moveTo>
                  <a:lnTo>
                    <a:pt x="3649" y="0"/>
                  </a:lnTo>
                  <a:cubicBezTo>
                    <a:pt x="3872" y="0"/>
                    <a:pt x="4052" y="179"/>
                    <a:pt x="4052" y="403"/>
                  </a:cubicBezTo>
                  <a:lnTo>
                    <a:pt x="4052" y="7519"/>
                  </a:lnTo>
                  <a:cubicBezTo>
                    <a:pt x="4052" y="7742"/>
                    <a:pt x="3872" y="7922"/>
                    <a:pt x="3649" y="7922"/>
                  </a:cubicBezTo>
                  <a:lnTo>
                    <a:pt x="403" y="7922"/>
                  </a:lnTo>
                  <a:cubicBezTo>
                    <a:pt x="180" y="7922"/>
                    <a:pt x="0" y="7742"/>
                    <a:pt x="0" y="7519"/>
                  </a:cubicBezTo>
                  <a:lnTo>
                    <a:pt x="0" y="403"/>
                  </a:lnTo>
                  <a:cubicBezTo>
                    <a:pt x="0" y="179"/>
                    <a:pt x="180" y="0"/>
                    <a:pt x="403" y="0"/>
                  </a:cubicBezTo>
                  <a:close/>
                </a:path>
              </a:pathLst>
            </a:custGeom>
            <a:solidFill>
              <a:srgbClr val="FFFFFF"/>
            </a:solidFill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  <a:extLst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2" name="Button">
              <a:extLst>
                <a:ext uri="{FF2B5EF4-FFF2-40B4-BE49-F238E27FC236}">
                  <a16:creationId xmlns="" xmlns:a16="http://schemas.microsoft.com/office/drawing/2014/main" id="{D9444804-1F48-417A-87F6-80ABAF9B6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61072" y="5811732"/>
              <a:ext cx="488955" cy="161837"/>
            </a:xfrm>
            <a:custGeom>
              <a:avLst/>
              <a:gdLst>
                <a:gd name="T0" fmla="*/ 131 w 796"/>
                <a:gd name="T1" fmla="*/ 0 h 262"/>
                <a:gd name="T2" fmla="*/ 665 w 796"/>
                <a:gd name="T3" fmla="*/ 0 h 262"/>
                <a:gd name="T4" fmla="*/ 796 w 796"/>
                <a:gd name="T5" fmla="*/ 131 h 262"/>
                <a:gd name="T6" fmla="*/ 665 w 796"/>
                <a:gd name="T7" fmla="*/ 262 h 262"/>
                <a:gd name="T8" fmla="*/ 131 w 796"/>
                <a:gd name="T9" fmla="*/ 262 h 262"/>
                <a:gd name="T10" fmla="*/ 0 w 796"/>
                <a:gd name="T11" fmla="*/ 131 h 262"/>
                <a:gd name="T12" fmla="*/ 131 w 796"/>
                <a:gd name="T13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96" h="262">
                  <a:moveTo>
                    <a:pt x="131" y="0"/>
                  </a:moveTo>
                  <a:lnTo>
                    <a:pt x="665" y="0"/>
                  </a:lnTo>
                  <a:cubicBezTo>
                    <a:pt x="738" y="0"/>
                    <a:pt x="796" y="59"/>
                    <a:pt x="796" y="131"/>
                  </a:cubicBezTo>
                  <a:cubicBezTo>
                    <a:pt x="796" y="204"/>
                    <a:pt x="738" y="262"/>
                    <a:pt x="665" y="262"/>
                  </a:cubicBezTo>
                  <a:lnTo>
                    <a:pt x="131" y="262"/>
                  </a:lnTo>
                  <a:cubicBezTo>
                    <a:pt x="58" y="262"/>
                    <a:pt x="0" y="204"/>
                    <a:pt x="0" y="131"/>
                  </a:cubicBezTo>
                  <a:cubicBezTo>
                    <a:pt x="0" y="59"/>
                    <a:pt x="58" y="0"/>
                    <a:pt x="131" y="0"/>
                  </a:cubicBezTo>
                  <a:close/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3" name="Camera">
              <a:extLst>
                <a:ext uri="{FF2B5EF4-FFF2-40B4-BE49-F238E27FC236}">
                  <a16:creationId xmlns="" xmlns:a16="http://schemas.microsoft.com/office/drawing/2014/main" id="{9C6C0109-0055-4643-ABB2-8921C79560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31952" y="1352256"/>
              <a:ext cx="123960" cy="123960"/>
            </a:xfrm>
            <a:prstGeom prst="ellipse">
              <a:avLst/>
            </a:pr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4" name="Speaker">
              <a:extLst>
                <a:ext uri="{FF2B5EF4-FFF2-40B4-BE49-F238E27FC236}">
                  <a16:creationId xmlns="" xmlns:a16="http://schemas.microsoft.com/office/drawing/2014/main" id="{7E0AFB3D-BF72-4C6C-A0BD-4814DEF59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0411" y="1414237"/>
              <a:ext cx="530275" cy="61980"/>
            </a:xfrm>
            <a:custGeom>
              <a:avLst/>
              <a:gdLst>
                <a:gd name="T0" fmla="*/ 50 w 866"/>
                <a:gd name="T1" fmla="*/ 0 h 101"/>
                <a:gd name="T2" fmla="*/ 816 w 866"/>
                <a:gd name="T3" fmla="*/ 0 h 101"/>
                <a:gd name="T4" fmla="*/ 866 w 866"/>
                <a:gd name="T5" fmla="*/ 50 h 101"/>
                <a:gd name="T6" fmla="*/ 816 w 866"/>
                <a:gd name="T7" fmla="*/ 101 h 101"/>
                <a:gd name="T8" fmla="*/ 50 w 866"/>
                <a:gd name="T9" fmla="*/ 101 h 101"/>
                <a:gd name="T10" fmla="*/ 0 w 866"/>
                <a:gd name="T11" fmla="*/ 50 h 101"/>
                <a:gd name="T12" fmla="*/ 50 w 866"/>
                <a:gd name="T13" fmla="*/ 0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66" h="101">
                  <a:moveTo>
                    <a:pt x="50" y="0"/>
                  </a:moveTo>
                  <a:lnTo>
                    <a:pt x="816" y="0"/>
                  </a:lnTo>
                  <a:cubicBezTo>
                    <a:pt x="844" y="0"/>
                    <a:pt x="866" y="22"/>
                    <a:pt x="866" y="50"/>
                  </a:cubicBezTo>
                  <a:cubicBezTo>
                    <a:pt x="866" y="78"/>
                    <a:pt x="844" y="101"/>
                    <a:pt x="816" y="101"/>
                  </a:cubicBezTo>
                  <a:lnTo>
                    <a:pt x="50" y="101"/>
                  </a:lnTo>
                  <a:cubicBezTo>
                    <a:pt x="22" y="101"/>
                    <a:pt x="0" y="78"/>
                    <a:pt x="0" y="50"/>
                  </a:cubicBezTo>
                  <a:cubicBezTo>
                    <a:pt x="0" y="22"/>
                    <a:pt x="22" y="0"/>
                    <a:pt x="50" y="0"/>
                  </a:cubicBezTo>
                  <a:close/>
                </a:path>
              </a:pathLst>
            </a:custGeom>
            <a:noFill/>
            <a:ln w="6350" cap="sq">
              <a:solidFill>
                <a:srgbClr val="808080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  <p:sp>
          <p:nvSpPr>
            <p:cNvPr id="45" name="Display">
              <a:extLst>
                <a:ext uri="{FF2B5EF4-FFF2-40B4-BE49-F238E27FC236}">
                  <a16:creationId xmlns="" xmlns:a16="http://schemas.microsoft.com/office/drawing/2014/main" id="{8BB0F1F2-B99C-4FD3-9564-6A360D82DA8C}"/>
                </a:ext>
              </a:extLst>
            </p:cNvPr>
            <p:cNvSpPr/>
            <p:nvPr/>
          </p:nvSpPr>
          <p:spPr>
            <a:xfrm>
              <a:off x="9262549" y="1643046"/>
              <a:ext cx="2286000" cy="406400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80808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sz="900" dirty="0">
                <a:solidFill>
                  <a:srgbClr val="5F5F5F"/>
                </a:solidFill>
                <a:latin typeface="+mn-ea"/>
                <a:cs typeface="Segoe UI" panose="020B0502040204020203" pitchFamily="34" charset="0"/>
              </a:endParaRPr>
            </a:p>
          </p:txBody>
        </p:sp>
      </p:grpSp>
      <p:sp>
        <p:nvSpPr>
          <p:cNvPr id="46" name="AutoShape 35">
            <a:extLst>
              <a:ext uri="{FF2B5EF4-FFF2-40B4-BE49-F238E27FC236}">
                <a16:creationId xmlns="" xmlns:a16="http://schemas.microsoft.com/office/drawing/2014/main" id="{A9D3DB13-23BA-477A-AAAD-0851AB4D1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318" y="4654127"/>
            <a:ext cx="351982" cy="221348"/>
          </a:xfrm>
          <a:prstGeom prst="rect">
            <a:avLst/>
          </a:prstGeom>
          <a:noFill/>
          <a:effectLst>
            <a:glow rad="101600">
              <a:srgbClr val="E6E6E6">
                <a:alpha val="60000"/>
              </a:srgbClr>
            </a:glow>
          </a:effectLst>
          <a:extLst/>
        </p:spPr>
        <p:txBody>
          <a:bodyPr wrap="square" rtlCol="0" anchor="ctr">
            <a:noAutofit/>
          </a:bodyPr>
          <a:lstStyle/>
          <a:p>
            <a:pPr algn="ctr" fontAlgn="base">
              <a:spcAft>
                <a:spcPts val="120"/>
              </a:spcAft>
              <a:buClr>
                <a:srgbClr val="7F7F7F"/>
              </a:buClr>
              <a:buSzPct val="110000"/>
              <a:tabLst>
                <a:tab pos="628650" algn="l"/>
              </a:tabLst>
            </a:pPr>
            <a:r>
              <a:rPr lang="en-US" altLang="ko-KR" sz="900" kern="0" dirty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PC</a:t>
            </a:r>
            <a:endParaRPr lang="ko-KR" altLang="en-US" sz="900" kern="0" dirty="0">
              <a:ln>
                <a:solidFill>
                  <a:srgbClr val="808080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48" name="AutoShape 35">
            <a:extLst>
              <a:ext uri="{FF2B5EF4-FFF2-40B4-BE49-F238E27FC236}">
                <a16:creationId xmlns="" xmlns:a16="http://schemas.microsoft.com/office/drawing/2014/main" id="{F5760521-5D2B-4388-ADCC-37B39F006A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5869" y="4654127"/>
            <a:ext cx="566871" cy="221348"/>
          </a:xfrm>
          <a:prstGeom prst="rect">
            <a:avLst/>
          </a:prstGeom>
          <a:noFill/>
          <a:effectLst>
            <a:glow rad="101600">
              <a:srgbClr val="E6E6E6">
                <a:alpha val="60000"/>
              </a:srgbClr>
            </a:glow>
          </a:effectLst>
          <a:extLst/>
        </p:spPr>
        <p:txBody>
          <a:bodyPr wrap="square" rtlCol="0" anchor="ctr">
            <a:noAutofit/>
          </a:bodyPr>
          <a:lstStyle/>
          <a:p>
            <a:pPr algn="ctr" fontAlgn="base">
              <a:spcAft>
                <a:spcPts val="120"/>
              </a:spcAft>
              <a:buClr>
                <a:srgbClr val="7F7F7F"/>
              </a:buClr>
              <a:buSzPct val="110000"/>
              <a:tabLst>
                <a:tab pos="628650" algn="l"/>
              </a:tabLst>
            </a:pPr>
            <a:r>
              <a:rPr lang="en-US" altLang="ko-KR" sz="900" kern="0" dirty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Mobile</a:t>
            </a:r>
            <a:r>
              <a:rPr lang="ko-KR" altLang="en-US" sz="900" kern="0" dirty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</a:p>
        </p:txBody>
      </p:sp>
      <p:sp>
        <p:nvSpPr>
          <p:cNvPr id="49" name="Border">
            <a:extLst>
              <a:ext uri="{FF2B5EF4-FFF2-40B4-BE49-F238E27FC236}">
                <a16:creationId xmlns="" xmlns:a16="http://schemas.microsoft.com/office/drawing/2014/main" id="{973551D8-5901-446C-B386-1EBCB03C1518}"/>
              </a:ext>
            </a:extLst>
          </p:cNvPr>
          <p:cNvSpPr>
            <a:spLocks/>
          </p:cNvSpPr>
          <p:nvPr/>
        </p:nvSpPr>
        <p:spPr bwMode="auto">
          <a:xfrm>
            <a:off x="3047739" y="2420888"/>
            <a:ext cx="1430099" cy="343956"/>
          </a:xfrm>
          <a:prstGeom prst="roundRect">
            <a:avLst>
              <a:gd name="adj" fmla="val 19791"/>
            </a:avLst>
          </a:prstGeom>
          <a:solidFill>
            <a:srgbClr val="508CD2"/>
          </a:solidFill>
          <a:ln w="6350">
            <a:solidFill>
              <a:srgbClr val="0145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45720" rIns="72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0" name="Border">
            <a:extLst>
              <a:ext uri="{FF2B5EF4-FFF2-40B4-BE49-F238E27FC236}">
                <a16:creationId xmlns="" xmlns:a16="http://schemas.microsoft.com/office/drawing/2014/main" id="{18F89838-9F74-406D-A953-889E278CF3FF}"/>
              </a:ext>
            </a:extLst>
          </p:cNvPr>
          <p:cNvSpPr>
            <a:spLocks/>
          </p:cNvSpPr>
          <p:nvPr/>
        </p:nvSpPr>
        <p:spPr bwMode="auto">
          <a:xfrm>
            <a:off x="3047739" y="2681888"/>
            <a:ext cx="1430099" cy="948269"/>
          </a:xfrm>
          <a:prstGeom prst="roundRect">
            <a:avLst>
              <a:gd name="adj" fmla="val 0"/>
            </a:avLst>
          </a:prstGeom>
          <a:solidFill>
            <a:srgbClr val="BFBFB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45720" rIns="72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1" name="사각형: 둥근 모서리 50">
            <a:extLst>
              <a:ext uri="{FF2B5EF4-FFF2-40B4-BE49-F238E27FC236}">
                <a16:creationId xmlns="" xmlns:a16="http://schemas.microsoft.com/office/drawing/2014/main" id="{34486A59-FDDF-4483-A00C-C66F44408F3E}"/>
              </a:ext>
            </a:extLst>
          </p:cNvPr>
          <p:cNvSpPr/>
          <p:nvPr/>
        </p:nvSpPr>
        <p:spPr>
          <a:xfrm>
            <a:off x="3127357" y="2741832"/>
            <a:ext cx="1288534" cy="244162"/>
          </a:xfrm>
          <a:prstGeom prst="round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en-US" altLang="ko-KR" sz="1000" kern="0" dirty="0">
                <a:latin typeface="+mn-ea"/>
              </a:rPr>
              <a:t>Load</a:t>
            </a:r>
            <a:r>
              <a:rPr kumimoji="1" lang="ko-KR" altLang="en-US" sz="1000" kern="0" dirty="0">
                <a:latin typeface="+mn-ea"/>
              </a:rPr>
              <a:t> </a:t>
            </a:r>
            <a:r>
              <a:rPr kumimoji="1" lang="en-US" altLang="ko-KR" sz="1000" kern="0" dirty="0">
                <a:latin typeface="+mn-ea"/>
              </a:rPr>
              <a:t>Balancing</a:t>
            </a:r>
            <a:endParaRPr kumimoji="1" lang="ko-KR" altLang="en-US" sz="1000" kern="0" dirty="0">
              <a:latin typeface="+mn-ea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="" xmlns:a16="http://schemas.microsoft.com/office/drawing/2014/main" id="{344EDD4F-F0E6-43F5-A5E2-86E5AC181812}"/>
              </a:ext>
            </a:extLst>
          </p:cNvPr>
          <p:cNvSpPr/>
          <p:nvPr/>
        </p:nvSpPr>
        <p:spPr>
          <a:xfrm>
            <a:off x="3127357" y="3035343"/>
            <a:ext cx="1288534" cy="244162"/>
          </a:xfrm>
          <a:prstGeom prst="round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en-US" altLang="ko-KR" sz="1000" kern="0" dirty="0">
                <a:latin typeface="+mn-ea"/>
              </a:rPr>
              <a:t>Logging</a:t>
            </a:r>
            <a:endParaRPr kumimoji="1" lang="ko-KR" altLang="en-US" sz="1000" kern="0" dirty="0">
              <a:latin typeface="+mn-ea"/>
            </a:endParaRPr>
          </a:p>
        </p:txBody>
      </p:sp>
      <p:sp>
        <p:nvSpPr>
          <p:cNvPr id="53" name="사각형: 둥근 모서리 52">
            <a:extLst>
              <a:ext uri="{FF2B5EF4-FFF2-40B4-BE49-F238E27FC236}">
                <a16:creationId xmlns="" xmlns:a16="http://schemas.microsoft.com/office/drawing/2014/main" id="{27832891-71D2-4F86-B23A-FEA78C0D72A4}"/>
              </a:ext>
            </a:extLst>
          </p:cNvPr>
          <p:cNvSpPr/>
          <p:nvPr/>
        </p:nvSpPr>
        <p:spPr>
          <a:xfrm>
            <a:off x="3127357" y="3328854"/>
            <a:ext cx="1288534" cy="244162"/>
          </a:xfrm>
          <a:prstGeom prst="round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en-US" altLang="ko-KR" sz="1000" kern="0" dirty="0">
                <a:latin typeface="+mn-ea"/>
              </a:rPr>
              <a:t>Filtering</a:t>
            </a:r>
            <a:endParaRPr kumimoji="1" lang="ko-KR" altLang="en-US" sz="1000" kern="0" dirty="0">
              <a:latin typeface="+mn-ea"/>
            </a:endParaRPr>
          </a:p>
        </p:txBody>
      </p:sp>
      <p:sp>
        <p:nvSpPr>
          <p:cNvPr id="55" name="직사각형 54">
            <a:extLst>
              <a:ext uri="{FF2B5EF4-FFF2-40B4-BE49-F238E27FC236}">
                <a16:creationId xmlns="" xmlns:a16="http://schemas.microsoft.com/office/drawing/2014/main" id="{37020FB6-7E71-407A-8D89-98A6ED732E09}"/>
              </a:ext>
            </a:extLst>
          </p:cNvPr>
          <p:cNvSpPr/>
          <p:nvPr/>
        </p:nvSpPr>
        <p:spPr>
          <a:xfrm>
            <a:off x="3107052" y="2408696"/>
            <a:ext cx="1280026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050" b="1" dirty="0">
                <a:solidFill>
                  <a:schemeClr val="bg1"/>
                </a:solidFill>
                <a:latin typeface="+mn-ea"/>
              </a:rPr>
              <a:t>Gateway /</a:t>
            </a:r>
            <a:r>
              <a:rPr lang="ko-KR" altLang="en-US" sz="105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050" b="1" dirty="0">
                <a:solidFill>
                  <a:schemeClr val="bg1"/>
                </a:solidFill>
                <a:latin typeface="+mn-ea"/>
              </a:rPr>
              <a:t>Proxy</a:t>
            </a:r>
            <a:endParaRPr lang="ko-KR" altLang="en-US" sz="105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56" name="Border">
            <a:extLst>
              <a:ext uri="{FF2B5EF4-FFF2-40B4-BE49-F238E27FC236}">
                <a16:creationId xmlns="" xmlns:a16="http://schemas.microsoft.com/office/drawing/2014/main" id="{7357A71C-A5AB-4B4D-B78F-CD7747DF9B4C}"/>
              </a:ext>
            </a:extLst>
          </p:cNvPr>
          <p:cNvSpPr>
            <a:spLocks/>
          </p:cNvSpPr>
          <p:nvPr/>
        </p:nvSpPr>
        <p:spPr bwMode="auto">
          <a:xfrm>
            <a:off x="3047739" y="3758560"/>
            <a:ext cx="1430099" cy="343956"/>
          </a:xfrm>
          <a:prstGeom prst="roundRect">
            <a:avLst>
              <a:gd name="adj" fmla="val 19791"/>
            </a:avLst>
          </a:prstGeom>
          <a:solidFill>
            <a:srgbClr val="508CD2"/>
          </a:solidFill>
          <a:ln w="6350">
            <a:solidFill>
              <a:srgbClr val="0145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45720" rIns="72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7" name="Border">
            <a:extLst>
              <a:ext uri="{FF2B5EF4-FFF2-40B4-BE49-F238E27FC236}">
                <a16:creationId xmlns="" xmlns:a16="http://schemas.microsoft.com/office/drawing/2014/main" id="{F4DCCD90-78F8-4B0F-9CBA-A5270FE3D31E}"/>
              </a:ext>
            </a:extLst>
          </p:cNvPr>
          <p:cNvSpPr>
            <a:spLocks/>
          </p:cNvSpPr>
          <p:nvPr/>
        </p:nvSpPr>
        <p:spPr bwMode="auto">
          <a:xfrm>
            <a:off x="3047739" y="4019559"/>
            <a:ext cx="1430099" cy="1219025"/>
          </a:xfrm>
          <a:prstGeom prst="roundRect">
            <a:avLst>
              <a:gd name="adj" fmla="val 0"/>
            </a:avLst>
          </a:prstGeom>
          <a:solidFill>
            <a:srgbClr val="BFBFB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45720" rIns="72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58" name="사각형: 둥근 모서리 57">
            <a:extLst>
              <a:ext uri="{FF2B5EF4-FFF2-40B4-BE49-F238E27FC236}">
                <a16:creationId xmlns="" xmlns:a16="http://schemas.microsoft.com/office/drawing/2014/main" id="{02DE58FC-FE1C-4996-82B8-5B73D5F34F61}"/>
              </a:ext>
            </a:extLst>
          </p:cNvPr>
          <p:cNvSpPr/>
          <p:nvPr/>
        </p:nvSpPr>
        <p:spPr>
          <a:xfrm>
            <a:off x="3127357" y="4073275"/>
            <a:ext cx="1288534" cy="244162"/>
          </a:xfrm>
          <a:prstGeom prst="round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en-US" altLang="ko-KR" sz="1000" kern="0" dirty="0">
                <a:latin typeface="+mn-ea"/>
              </a:rPr>
              <a:t>User Profile</a:t>
            </a:r>
            <a:endParaRPr kumimoji="1" lang="ko-KR" altLang="en-US" sz="1000" kern="0" dirty="0">
              <a:latin typeface="+mn-ea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="" xmlns:a16="http://schemas.microsoft.com/office/drawing/2014/main" id="{BA07C552-C57E-4100-B233-BA83FA5F2528}"/>
              </a:ext>
            </a:extLst>
          </p:cNvPr>
          <p:cNvSpPr/>
          <p:nvPr/>
        </p:nvSpPr>
        <p:spPr>
          <a:xfrm>
            <a:off x="3127357" y="4352681"/>
            <a:ext cx="1288534" cy="244162"/>
          </a:xfrm>
          <a:prstGeom prst="round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en-US" altLang="ko-KR" sz="1000" kern="0" dirty="0">
                <a:latin typeface="+mn-ea"/>
              </a:rPr>
              <a:t>Authenticator</a:t>
            </a:r>
            <a:endParaRPr kumimoji="1" lang="ko-KR" altLang="en-US" sz="1000" kern="0" dirty="0">
              <a:latin typeface="+mn-ea"/>
            </a:endParaRPr>
          </a:p>
        </p:txBody>
      </p:sp>
      <p:sp>
        <p:nvSpPr>
          <p:cNvPr id="60" name="사각형: 둥근 모서리 59">
            <a:extLst>
              <a:ext uri="{FF2B5EF4-FFF2-40B4-BE49-F238E27FC236}">
                <a16:creationId xmlns="" xmlns:a16="http://schemas.microsoft.com/office/drawing/2014/main" id="{57B7CE29-1E99-483A-B1E5-2D38ADCA01E6}"/>
              </a:ext>
            </a:extLst>
          </p:cNvPr>
          <p:cNvSpPr/>
          <p:nvPr/>
        </p:nvSpPr>
        <p:spPr>
          <a:xfrm>
            <a:off x="3127357" y="4640713"/>
            <a:ext cx="1288534" cy="244162"/>
          </a:xfrm>
          <a:prstGeom prst="round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en-US" altLang="ko-KR" sz="1000" kern="0" dirty="0">
                <a:latin typeface="+mn-ea"/>
              </a:rPr>
              <a:t>Single-Sign-On</a:t>
            </a:r>
            <a:endParaRPr kumimoji="1" lang="ko-KR" altLang="en-US" sz="1000" kern="0" dirty="0">
              <a:latin typeface="+mn-ea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="" xmlns:a16="http://schemas.microsoft.com/office/drawing/2014/main" id="{DA5438AF-D27D-4F2A-80AE-13A2042615ED}"/>
              </a:ext>
            </a:extLst>
          </p:cNvPr>
          <p:cNvSpPr/>
          <p:nvPr/>
        </p:nvSpPr>
        <p:spPr>
          <a:xfrm>
            <a:off x="2919592" y="3764656"/>
            <a:ext cx="170371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050" b="1" dirty="0">
                <a:solidFill>
                  <a:schemeClr val="bg1"/>
                </a:solidFill>
                <a:latin typeface="+mn-ea"/>
              </a:rPr>
              <a:t>Identity Management</a:t>
            </a:r>
            <a:endParaRPr lang="ko-KR" altLang="en-US" sz="105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2" name="Border">
            <a:extLst>
              <a:ext uri="{FF2B5EF4-FFF2-40B4-BE49-F238E27FC236}">
                <a16:creationId xmlns="" xmlns:a16="http://schemas.microsoft.com/office/drawing/2014/main" id="{8D5882E3-0F03-444E-BAF8-A6BDA56307E9}"/>
              </a:ext>
            </a:extLst>
          </p:cNvPr>
          <p:cNvSpPr>
            <a:spLocks/>
          </p:cNvSpPr>
          <p:nvPr/>
        </p:nvSpPr>
        <p:spPr bwMode="auto">
          <a:xfrm>
            <a:off x="3047739" y="5301208"/>
            <a:ext cx="1430099" cy="343956"/>
          </a:xfrm>
          <a:prstGeom prst="roundRect">
            <a:avLst>
              <a:gd name="adj" fmla="val 19791"/>
            </a:avLst>
          </a:prstGeom>
          <a:solidFill>
            <a:srgbClr val="508CD2"/>
          </a:solidFill>
          <a:ln w="6350">
            <a:solidFill>
              <a:srgbClr val="0145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45720" rIns="72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3" name="Border">
            <a:extLst>
              <a:ext uri="{FF2B5EF4-FFF2-40B4-BE49-F238E27FC236}">
                <a16:creationId xmlns="" xmlns:a16="http://schemas.microsoft.com/office/drawing/2014/main" id="{13810FC1-0DD7-4F27-89CB-49B1031CA8EA}"/>
              </a:ext>
            </a:extLst>
          </p:cNvPr>
          <p:cNvSpPr>
            <a:spLocks/>
          </p:cNvSpPr>
          <p:nvPr/>
        </p:nvSpPr>
        <p:spPr bwMode="auto">
          <a:xfrm>
            <a:off x="3047739" y="5562208"/>
            <a:ext cx="1430099" cy="675080"/>
          </a:xfrm>
          <a:prstGeom prst="roundRect">
            <a:avLst>
              <a:gd name="adj" fmla="val 0"/>
            </a:avLst>
          </a:prstGeom>
          <a:solidFill>
            <a:srgbClr val="BFBFB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45720" rIns="72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64" name="사각형: 둥근 모서리 63">
            <a:extLst>
              <a:ext uri="{FF2B5EF4-FFF2-40B4-BE49-F238E27FC236}">
                <a16:creationId xmlns="" xmlns:a16="http://schemas.microsoft.com/office/drawing/2014/main" id="{A0D03215-EE06-4D2A-B285-10007C490177}"/>
              </a:ext>
            </a:extLst>
          </p:cNvPr>
          <p:cNvSpPr/>
          <p:nvPr/>
        </p:nvSpPr>
        <p:spPr>
          <a:xfrm>
            <a:off x="3127357" y="5652499"/>
            <a:ext cx="1288534" cy="244162"/>
          </a:xfrm>
          <a:prstGeom prst="round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en-US" altLang="ko-KR" sz="1000" kern="0" dirty="0">
                <a:latin typeface="+mn-ea"/>
              </a:rPr>
              <a:t>Virus Protection</a:t>
            </a:r>
            <a:endParaRPr kumimoji="1" lang="ko-KR" altLang="en-US" sz="1000" kern="0" dirty="0">
              <a:latin typeface="+mn-ea"/>
            </a:endParaRPr>
          </a:p>
        </p:txBody>
      </p:sp>
      <p:sp>
        <p:nvSpPr>
          <p:cNvPr id="67" name="직사각형 66">
            <a:extLst>
              <a:ext uri="{FF2B5EF4-FFF2-40B4-BE49-F238E27FC236}">
                <a16:creationId xmlns="" xmlns:a16="http://schemas.microsoft.com/office/drawing/2014/main" id="{486C0200-8090-44BE-8DF1-B982DE0A07CB}"/>
              </a:ext>
            </a:extLst>
          </p:cNvPr>
          <p:cNvSpPr/>
          <p:nvPr/>
        </p:nvSpPr>
        <p:spPr>
          <a:xfrm>
            <a:off x="2907400" y="5307059"/>
            <a:ext cx="170371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050" b="1" dirty="0">
                <a:solidFill>
                  <a:schemeClr val="bg1"/>
                </a:solidFill>
                <a:latin typeface="+mn-ea"/>
              </a:rPr>
              <a:t>Security</a:t>
            </a:r>
            <a:r>
              <a:rPr lang="ko-KR" altLang="en-US" sz="105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050" b="1" dirty="0">
                <a:solidFill>
                  <a:schemeClr val="bg1"/>
                </a:solidFill>
                <a:latin typeface="+mn-ea"/>
              </a:rPr>
              <a:t>Management</a:t>
            </a:r>
            <a:endParaRPr lang="ko-KR" altLang="en-US" sz="105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8" name="사각형: 둥근 모서리 67">
            <a:extLst>
              <a:ext uri="{FF2B5EF4-FFF2-40B4-BE49-F238E27FC236}">
                <a16:creationId xmlns="" xmlns:a16="http://schemas.microsoft.com/office/drawing/2014/main" id="{F7D3D213-BDFE-4ACE-BE6B-0EB813BD274C}"/>
              </a:ext>
            </a:extLst>
          </p:cNvPr>
          <p:cNvSpPr/>
          <p:nvPr/>
        </p:nvSpPr>
        <p:spPr>
          <a:xfrm>
            <a:off x="3127357" y="4924766"/>
            <a:ext cx="1288534" cy="244162"/>
          </a:xfrm>
          <a:prstGeom prst="round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en-US" altLang="ko-KR" sz="1000" kern="0" dirty="0">
                <a:latin typeface="+mn-ea"/>
              </a:rPr>
              <a:t>Provisioning</a:t>
            </a:r>
            <a:endParaRPr kumimoji="1" lang="ko-KR" altLang="en-US" sz="1000" kern="0" dirty="0">
              <a:latin typeface="+mn-ea"/>
            </a:endParaRPr>
          </a:p>
        </p:txBody>
      </p:sp>
      <p:sp>
        <p:nvSpPr>
          <p:cNvPr id="70" name="사각형: 둥근 모서리 69">
            <a:extLst>
              <a:ext uri="{FF2B5EF4-FFF2-40B4-BE49-F238E27FC236}">
                <a16:creationId xmlns="" xmlns:a16="http://schemas.microsoft.com/office/drawing/2014/main" id="{8CD35003-4B83-4DF9-B568-B79D6F9D6231}"/>
              </a:ext>
            </a:extLst>
          </p:cNvPr>
          <p:cNvSpPr/>
          <p:nvPr/>
        </p:nvSpPr>
        <p:spPr>
          <a:xfrm>
            <a:off x="3127357" y="5937088"/>
            <a:ext cx="1288534" cy="244162"/>
          </a:xfrm>
          <a:prstGeom prst="round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en-US" altLang="ko-KR" sz="1000" kern="0" dirty="0">
                <a:latin typeface="+mn-ea"/>
              </a:rPr>
              <a:t>Contents Filter</a:t>
            </a:r>
            <a:endParaRPr kumimoji="1" lang="ko-KR" altLang="en-US" sz="1000" kern="0" dirty="0">
              <a:latin typeface="+mn-ea"/>
            </a:endParaRPr>
          </a:p>
        </p:txBody>
      </p:sp>
      <p:sp>
        <p:nvSpPr>
          <p:cNvPr id="72" name="Border">
            <a:extLst>
              <a:ext uri="{FF2B5EF4-FFF2-40B4-BE49-F238E27FC236}">
                <a16:creationId xmlns="" xmlns:a16="http://schemas.microsoft.com/office/drawing/2014/main" id="{163F3028-0F72-4C15-916C-6CF131920792}"/>
              </a:ext>
            </a:extLst>
          </p:cNvPr>
          <p:cNvSpPr>
            <a:spLocks/>
          </p:cNvSpPr>
          <p:nvPr/>
        </p:nvSpPr>
        <p:spPr bwMode="auto">
          <a:xfrm>
            <a:off x="5107396" y="2420888"/>
            <a:ext cx="1903462" cy="343956"/>
          </a:xfrm>
          <a:prstGeom prst="roundRect">
            <a:avLst>
              <a:gd name="adj" fmla="val 19791"/>
            </a:avLst>
          </a:prstGeom>
          <a:solidFill>
            <a:srgbClr val="508CD2"/>
          </a:solidFill>
          <a:ln w="6350">
            <a:solidFill>
              <a:srgbClr val="0145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45720" rIns="72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3" name="Border">
            <a:extLst>
              <a:ext uri="{FF2B5EF4-FFF2-40B4-BE49-F238E27FC236}">
                <a16:creationId xmlns="" xmlns:a16="http://schemas.microsoft.com/office/drawing/2014/main" id="{08B3609E-C010-4983-AC90-2F1EF2F2E906}"/>
              </a:ext>
            </a:extLst>
          </p:cNvPr>
          <p:cNvSpPr>
            <a:spLocks/>
          </p:cNvSpPr>
          <p:nvPr/>
        </p:nvSpPr>
        <p:spPr bwMode="auto">
          <a:xfrm>
            <a:off x="5107396" y="2681888"/>
            <a:ext cx="1903462" cy="1603685"/>
          </a:xfrm>
          <a:prstGeom prst="roundRect">
            <a:avLst>
              <a:gd name="adj" fmla="val 0"/>
            </a:avLst>
          </a:prstGeom>
          <a:solidFill>
            <a:srgbClr val="BFBFB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45720" rIns="72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="" xmlns:a16="http://schemas.microsoft.com/office/drawing/2014/main" id="{71A4A980-1D31-4B88-B800-D9FAF44ABC07}"/>
              </a:ext>
            </a:extLst>
          </p:cNvPr>
          <p:cNvSpPr/>
          <p:nvPr/>
        </p:nvSpPr>
        <p:spPr>
          <a:xfrm>
            <a:off x="5284711" y="2430290"/>
            <a:ext cx="1548832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050" b="1" dirty="0">
                <a:solidFill>
                  <a:schemeClr val="bg1"/>
                </a:solidFill>
                <a:latin typeface="+mn-ea"/>
              </a:rPr>
              <a:t>Internal</a:t>
            </a:r>
            <a:r>
              <a:rPr lang="ko-KR" altLang="en-US" sz="105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050" b="1" dirty="0">
                <a:solidFill>
                  <a:schemeClr val="bg1"/>
                </a:solidFill>
                <a:latin typeface="+mn-ea"/>
              </a:rPr>
              <a:t>Transaction</a:t>
            </a:r>
            <a:endParaRPr lang="ko-KR" altLang="en-US" sz="105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5" name="Border">
            <a:extLst>
              <a:ext uri="{FF2B5EF4-FFF2-40B4-BE49-F238E27FC236}">
                <a16:creationId xmlns="" xmlns:a16="http://schemas.microsoft.com/office/drawing/2014/main" id="{43DADCB3-8D49-46C0-A05A-05A356C8630C}"/>
              </a:ext>
            </a:extLst>
          </p:cNvPr>
          <p:cNvSpPr>
            <a:spLocks/>
          </p:cNvSpPr>
          <p:nvPr/>
        </p:nvSpPr>
        <p:spPr bwMode="auto">
          <a:xfrm>
            <a:off x="5107396" y="4451601"/>
            <a:ext cx="1903462" cy="343956"/>
          </a:xfrm>
          <a:prstGeom prst="roundRect">
            <a:avLst>
              <a:gd name="adj" fmla="val 19791"/>
            </a:avLst>
          </a:prstGeom>
          <a:solidFill>
            <a:srgbClr val="508CD2"/>
          </a:solidFill>
          <a:ln w="6350">
            <a:solidFill>
              <a:srgbClr val="0145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45720" rIns="72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6" name="Border">
            <a:extLst>
              <a:ext uri="{FF2B5EF4-FFF2-40B4-BE49-F238E27FC236}">
                <a16:creationId xmlns="" xmlns:a16="http://schemas.microsoft.com/office/drawing/2014/main" id="{54483DD0-5D05-41FA-B1B3-C9DE55A165C1}"/>
              </a:ext>
            </a:extLst>
          </p:cNvPr>
          <p:cNvSpPr>
            <a:spLocks/>
          </p:cNvSpPr>
          <p:nvPr/>
        </p:nvSpPr>
        <p:spPr bwMode="auto">
          <a:xfrm>
            <a:off x="5107396" y="4712601"/>
            <a:ext cx="1903462" cy="1020655"/>
          </a:xfrm>
          <a:prstGeom prst="roundRect">
            <a:avLst>
              <a:gd name="adj" fmla="val 0"/>
            </a:avLst>
          </a:prstGeom>
          <a:solidFill>
            <a:srgbClr val="BFBFBF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45720" rIns="72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77" name="직사각형 76">
            <a:extLst>
              <a:ext uri="{FF2B5EF4-FFF2-40B4-BE49-F238E27FC236}">
                <a16:creationId xmlns="" xmlns:a16="http://schemas.microsoft.com/office/drawing/2014/main" id="{AD438B5B-4AF0-4674-995E-F517BB99B4FA}"/>
              </a:ext>
            </a:extLst>
          </p:cNvPr>
          <p:cNvSpPr/>
          <p:nvPr/>
        </p:nvSpPr>
        <p:spPr>
          <a:xfrm>
            <a:off x="5284711" y="4471646"/>
            <a:ext cx="1548832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1050" b="1" dirty="0">
                <a:solidFill>
                  <a:schemeClr val="bg1"/>
                </a:solidFill>
                <a:latin typeface="+mn-ea"/>
              </a:rPr>
              <a:t>External</a:t>
            </a:r>
            <a:r>
              <a:rPr lang="ko-KR" altLang="en-US" sz="1050" b="1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050" b="1" dirty="0">
                <a:solidFill>
                  <a:schemeClr val="bg1"/>
                </a:solidFill>
                <a:latin typeface="+mn-ea"/>
              </a:rPr>
              <a:t>Transaction</a:t>
            </a:r>
            <a:endParaRPr lang="ko-KR" altLang="en-US" sz="105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78" name="사각형: 둥근 모서리 77">
            <a:extLst>
              <a:ext uri="{FF2B5EF4-FFF2-40B4-BE49-F238E27FC236}">
                <a16:creationId xmlns="" xmlns:a16="http://schemas.microsoft.com/office/drawing/2014/main" id="{85E610A9-16F4-4832-B16B-82A908495D14}"/>
              </a:ext>
            </a:extLst>
          </p:cNvPr>
          <p:cNvSpPr/>
          <p:nvPr/>
        </p:nvSpPr>
        <p:spPr>
          <a:xfrm>
            <a:off x="5188126" y="4791079"/>
            <a:ext cx="1715039" cy="244162"/>
          </a:xfrm>
          <a:prstGeom prst="round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en-US" altLang="ko-KR" sz="1000" kern="0" dirty="0">
                <a:latin typeface="+mn-ea"/>
              </a:rPr>
              <a:t>Gathering</a:t>
            </a:r>
            <a:endParaRPr kumimoji="1" lang="ko-KR" altLang="en-US" sz="1000" kern="0" dirty="0">
              <a:latin typeface="+mn-ea"/>
            </a:endParaRPr>
          </a:p>
        </p:txBody>
      </p:sp>
      <p:sp>
        <p:nvSpPr>
          <p:cNvPr id="79" name="사각형: 둥근 모서리 78">
            <a:extLst>
              <a:ext uri="{FF2B5EF4-FFF2-40B4-BE49-F238E27FC236}">
                <a16:creationId xmlns="" xmlns:a16="http://schemas.microsoft.com/office/drawing/2014/main" id="{554F9531-C5E7-40EC-8EBC-3BA24E442426}"/>
              </a:ext>
            </a:extLst>
          </p:cNvPr>
          <p:cNvSpPr/>
          <p:nvPr/>
        </p:nvSpPr>
        <p:spPr>
          <a:xfrm>
            <a:off x="5188126" y="5084590"/>
            <a:ext cx="1715039" cy="244162"/>
          </a:xfrm>
          <a:prstGeom prst="round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en-US" altLang="ko-KR" sz="1000" kern="0" dirty="0">
                <a:latin typeface="+mn-ea"/>
              </a:rPr>
              <a:t>Transform</a:t>
            </a:r>
            <a:endParaRPr kumimoji="1" lang="ko-KR" altLang="en-US" sz="1000" kern="0" dirty="0">
              <a:latin typeface="+mn-ea"/>
            </a:endParaRPr>
          </a:p>
        </p:txBody>
      </p:sp>
      <p:sp>
        <p:nvSpPr>
          <p:cNvPr id="80" name="사각형: 둥근 모서리 79">
            <a:extLst>
              <a:ext uri="{FF2B5EF4-FFF2-40B4-BE49-F238E27FC236}">
                <a16:creationId xmlns="" xmlns:a16="http://schemas.microsoft.com/office/drawing/2014/main" id="{C6DABD0F-B9B4-4947-B5AD-3D2FB038D67E}"/>
              </a:ext>
            </a:extLst>
          </p:cNvPr>
          <p:cNvSpPr/>
          <p:nvPr/>
        </p:nvSpPr>
        <p:spPr>
          <a:xfrm>
            <a:off x="5188126" y="5378101"/>
            <a:ext cx="1715039" cy="244162"/>
          </a:xfrm>
          <a:prstGeom prst="round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en-US" altLang="ko-KR" sz="1000" kern="0" dirty="0">
                <a:latin typeface="+mn-ea"/>
              </a:rPr>
              <a:t>Interworking</a:t>
            </a:r>
            <a:endParaRPr kumimoji="1" lang="ko-KR" altLang="en-US" sz="1000" kern="0" dirty="0">
              <a:latin typeface="+mn-ea"/>
            </a:endParaRPr>
          </a:p>
        </p:txBody>
      </p:sp>
      <p:sp>
        <p:nvSpPr>
          <p:cNvPr id="81" name="사각형: 둥근 모서리 80">
            <a:extLst>
              <a:ext uri="{FF2B5EF4-FFF2-40B4-BE49-F238E27FC236}">
                <a16:creationId xmlns="" xmlns:a16="http://schemas.microsoft.com/office/drawing/2014/main" id="{3291F95F-54BE-426D-B058-3DF9BFF6816F}"/>
              </a:ext>
            </a:extLst>
          </p:cNvPr>
          <p:cNvSpPr/>
          <p:nvPr/>
        </p:nvSpPr>
        <p:spPr>
          <a:xfrm>
            <a:off x="5124593" y="4001310"/>
            <a:ext cx="908528" cy="244162"/>
          </a:xfrm>
          <a:prstGeom prst="round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ko-KR" altLang="en-US" sz="1000" kern="0" dirty="0">
                <a:latin typeface="+mn-ea"/>
              </a:rPr>
              <a:t>공통모듈</a:t>
            </a:r>
          </a:p>
        </p:txBody>
      </p:sp>
      <p:sp>
        <p:nvSpPr>
          <p:cNvPr id="82" name="사각형: 둥근 모서리 81">
            <a:extLst>
              <a:ext uri="{FF2B5EF4-FFF2-40B4-BE49-F238E27FC236}">
                <a16:creationId xmlns="" xmlns:a16="http://schemas.microsoft.com/office/drawing/2014/main" id="{7901E09C-B7F0-47F7-A586-00541CA907BF}"/>
              </a:ext>
            </a:extLst>
          </p:cNvPr>
          <p:cNvSpPr/>
          <p:nvPr/>
        </p:nvSpPr>
        <p:spPr>
          <a:xfrm>
            <a:off x="6075272" y="4001310"/>
            <a:ext cx="908528" cy="244162"/>
          </a:xfrm>
          <a:prstGeom prst="roundRect">
            <a:avLst/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ko-KR" altLang="en-US" sz="1000" kern="0" dirty="0">
                <a:latin typeface="+mn-ea"/>
              </a:rPr>
              <a:t>응용모듈</a:t>
            </a:r>
          </a:p>
        </p:txBody>
      </p:sp>
      <p:sp>
        <p:nvSpPr>
          <p:cNvPr id="83" name="사각형: 둥근 모서리 82">
            <a:extLst>
              <a:ext uri="{FF2B5EF4-FFF2-40B4-BE49-F238E27FC236}">
                <a16:creationId xmlns="" xmlns:a16="http://schemas.microsoft.com/office/drawing/2014/main" id="{6B988C06-7D4D-4EF9-A3FF-74007CF8957D}"/>
              </a:ext>
            </a:extLst>
          </p:cNvPr>
          <p:cNvSpPr/>
          <p:nvPr/>
        </p:nvSpPr>
        <p:spPr>
          <a:xfrm>
            <a:off x="6075272" y="3722772"/>
            <a:ext cx="908528" cy="24416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ko-KR" altLang="en-US" sz="1000" kern="0" dirty="0">
                <a:latin typeface="+mn-ea"/>
              </a:rPr>
              <a:t>업무로직</a:t>
            </a:r>
            <a:r>
              <a:rPr kumimoji="1" lang="en-US" altLang="ko-KR" sz="1000" kern="0" dirty="0">
                <a:latin typeface="+mn-ea"/>
              </a:rPr>
              <a:t>N</a:t>
            </a:r>
            <a:endParaRPr kumimoji="1" lang="ko-KR" altLang="en-US" sz="1000" kern="0" dirty="0">
              <a:latin typeface="+mn-ea"/>
            </a:endParaRPr>
          </a:p>
        </p:txBody>
      </p:sp>
      <p:sp>
        <p:nvSpPr>
          <p:cNvPr id="84" name="사각형: 둥근 모서리 83">
            <a:extLst>
              <a:ext uri="{FF2B5EF4-FFF2-40B4-BE49-F238E27FC236}">
                <a16:creationId xmlns="" xmlns:a16="http://schemas.microsoft.com/office/drawing/2014/main" id="{50FDBAA4-3790-4748-8D6B-7A7F05CBB7AD}"/>
              </a:ext>
            </a:extLst>
          </p:cNvPr>
          <p:cNvSpPr/>
          <p:nvPr/>
        </p:nvSpPr>
        <p:spPr>
          <a:xfrm>
            <a:off x="6075272" y="2733304"/>
            <a:ext cx="908528" cy="24416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ko-KR" altLang="en-US" sz="1000" kern="0" dirty="0">
                <a:latin typeface="+mn-ea"/>
              </a:rPr>
              <a:t>업무로직</a:t>
            </a:r>
            <a:r>
              <a:rPr kumimoji="1" lang="en-US" altLang="ko-KR" sz="1000" kern="0" dirty="0">
                <a:latin typeface="+mn-ea"/>
              </a:rPr>
              <a:t>1</a:t>
            </a:r>
            <a:endParaRPr kumimoji="1" lang="ko-KR" altLang="en-US" sz="1000" kern="0" dirty="0">
              <a:latin typeface="+mn-ea"/>
            </a:endParaRPr>
          </a:p>
        </p:txBody>
      </p:sp>
      <p:sp>
        <p:nvSpPr>
          <p:cNvPr id="85" name="사각형: 둥근 모서리 84">
            <a:extLst>
              <a:ext uri="{FF2B5EF4-FFF2-40B4-BE49-F238E27FC236}">
                <a16:creationId xmlns="" xmlns:a16="http://schemas.microsoft.com/office/drawing/2014/main" id="{7F53413A-0BD3-446D-9A95-9DE0DC2EF4D1}"/>
              </a:ext>
            </a:extLst>
          </p:cNvPr>
          <p:cNvSpPr/>
          <p:nvPr/>
        </p:nvSpPr>
        <p:spPr>
          <a:xfrm>
            <a:off x="6075272" y="3005250"/>
            <a:ext cx="908528" cy="24416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ko-KR" altLang="en-US" sz="1000" kern="0" dirty="0">
                <a:latin typeface="+mn-ea"/>
              </a:rPr>
              <a:t>업무로직</a:t>
            </a:r>
            <a:r>
              <a:rPr kumimoji="1" lang="en-US" altLang="ko-KR" sz="1000" kern="0" dirty="0">
                <a:latin typeface="+mn-ea"/>
              </a:rPr>
              <a:t>2</a:t>
            </a:r>
            <a:endParaRPr kumimoji="1" lang="ko-KR" altLang="en-US" sz="1000" kern="0" dirty="0">
              <a:latin typeface="+mn-ea"/>
            </a:endParaRPr>
          </a:p>
        </p:txBody>
      </p:sp>
      <p:sp>
        <p:nvSpPr>
          <p:cNvPr id="86" name="사각형: 둥근 모서리 85">
            <a:extLst>
              <a:ext uri="{FF2B5EF4-FFF2-40B4-BE49-F238E27FC236}">
                <a16:creationId xmlns="" xmlns:a16="http://schemas.microsoft.com/office/drawing/2014/main" id="{E21C9D5C-1C06-461C-843A-5DB62CBFE231}"/>
              </a:ext>
            </a:extLst>
          </p:cNvPr>
          <p:cNvSpPr/>
          <p:nvPr/>
        </p:nvSpPr>
        <p:spPr>
          <a:xfrm>
            <a:off x="6075272" y="3265216"/>
            <a:ext cx="908528" cy="244162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ko-KR" altLang="en-US" sz="1000" kern="0" dirty="0">
                <a:latin typeface="+mn-ea"/>
              </a:rPr>
              <a:t>업무로직</a:t>
            </a:r>
            <a:r>
              <a:rPr kumimoji="1" lang="en-US" altLang="ko-KR" sz="1000" kern="0" dirty="0">
                <a:latin typeface="+mn-ea"/>
              </a:rPr>
              <a:t>3</a:t>
            </a:r>
            <a:endParaRPr kumimoji="1" lang="ko-KR" altLang="en-US" sz="1000" kern="0" dirty="0">
              <a:latin typeface="+mn-ea"/>
            </a:endParaRPr>
          </a:p>
        </p:txBody>
      </p:sp>
      <p:sp>
        <p:nvSpPr>
          <p:cNvPr id="87" name="AutoShape 35">
            <a:extLst>
              <a:ext uri="{FF2B5EF4-FFF2-40B4-BE49-F238E27FC236}">
                <a16:creationId xmlns="" xmlns:a16="http://schemas.microsoft.com/office/drawing/2014/main" id="{EB06782A-5839-469D-B2B7-6896E8D43D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4384" y="3468440"/>
            <a:ext cx="468488" cy="151184"/>
          </a:xfrm>
          <a:prstGeom prst="rect">
            <a:avLst/>
          </a:prstGeom>
          <a:noFill/>
          <a:effectLst>
            <a:glow rad="101600">
              <a:srgbClr val="E6E6E6">
                <a:alpha val="60000"/>
              </a:srgbClr>
            </a:glow>
          </a:effectLst>
          <a:extLst/>
        </p:spPr>
        <p:txBody>
          <a:bodyPr wrap="square" rtlCol="0" anchor="ctr">
            <a:noAutofit/>
          </a:bodyPr>
          <a:lstStyle/>
          <a:p>
            <a:pPr algn="ctr" fontAlgn="base">
              <a:spcAft>
                <a:spcPts val="120"/>
              </a:spcAft>
              <a:buClr>
                <a:srgbClr val="7F7F7F"/>
              </a:buClr>
              <a:buSzPct val="110000"/>
              <a:tabLst>
                <a:tab pos="628650" algn="l"/>
              </a:tabLst>
            </a:pPr>
            <a:r>
              <a:rPr lang="en-US" altLang="ko-KR" b="1" kern="0" dirty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…</a:t>
            </a:r>
            <a:endParaRPr lang="ko-KR" altLang="en-US" b="1" kern="0" dirty="0">
              <a:ln>
                <a:solidFill>
                  <a:srgbClr val="808080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88" name="사각형: 둥근 모서리 87">
            <a:extLst>
              <a:ext uri="{FF2B5EF4-FFF2-40B4-BE49-F238E27FC236}">
                <a16:creationId xmlns="" xmlns:a16="http://schemas.microsoft.com/office/drawing/2014/main" id="{E1F3007C-605E-4E15-8C58-2B9E8E60E624}"/>
              </a:ext>
            </a:extLst>
          </p:cNvPr>
          <p:cNvSpPr/>
          <p:nvPr/>
        </p:nvSpPr>
        <p:spPr>
          <a:xfrm>
            <a:off x="5130630" y="2733303"/>
            <a:ext cx="259432" cy="12445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en-US" altLang="ko-KR" sz="1000" kern="0" dirty="0">
                <a:latin typeface="+mn-ea"/>
              </a:rPr>
              <a:t>NW</a:t>
            </a:r>
          </a:p>
          <a:p>
            <a:pPr algn="ctr" eaLnBrk="0" fontAlgn="base" latinLnBrk="0" hangingPunct="0">
              <a:spcAft>
                <a:spcPct val="0"/>
              </a:spcAft>
            </a:pPr>
            <a:r>
              <a:rPr kumimoji="1" lang="ko-KR" altLang="en-US" sz="1000" kern="0" dirty="0">
                <a:latin typeface="+mn-ea"/>
              </a:rPr>
              <a:t>통신모듈</a:t>
            </a:r>
          </a:p>
        </p:txBody>
      </p:sp>
      <p:sp>
        <p:nvSpPr>
          <p:cNvPr id="90" name="사각형: 둥근 모서리 89">
            <a:extLst>
              <a:ext uri="{FF2B5EF4-FFF2-40B4-BE49-F238E27FC236}">
                <a16:creationId xmlns="" xmlns:a16="http://schemas.microsoft.com/office/drawing/2014/main" id="{B90E41D8-CB22-44DE-A884-8BB8A3E1F4E8}"/>
              </a:ext>
            </a:extLst>
          </p:cNvPr>
          <p:cNvSpPr/>
          <p:nvPr/>
        </p:nvSpPr>
        <p:spPr>
          <a:xfrm>
            <a:off x="5446324" y="2733303"/>
            <a:ext cx="259432" cy="12445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en-US" altLang="ko-KR" sz="1000" kern="0" dirty="0">
                <a:latin typeface="+mn-ea"/>
              </a:rPr>
              <a:t>DB</a:t>
            </a:r>
          </a:p>
          <a:p>
            <a:pPr algn="ctr" eaLnBrk="0" fontAlgn="base" latinLnBrk="0" hangingPunct="0">
              <a:spcAft>
                <a:spcPct val="0"/>
              </a:spcAft>
            </a:pPr>
            <a:r>
              <a:rPr kumimoji="1" lang="ko-KR" altLang="en-US" sz="1000" kern="0" dirty="0">
                <a:latin typeface="+mn-ea"/>
              </a:rPr>
              <a:t>처리모듈</a:t>
            </a:r>
          </a:p>
        </p:txBody>
      </p:sp>
      <p:sp>
        <p:nvSpPr>
          <p:cNvPr id="91" name="사각형: 둥근 모서리 90">
            <a:extLst>
              <a:ext uri="{FF2B5EF4-FFF2-40B4-BE49-F238E27FC236}">
                <a16:creationId xmlns="" xmlns:a16="http://schemas.microsoft.com/office/drawing/2014/main" id="{639D596B-B12C-4BE7-B6D3-0FA8DCB054F2}"/>
              </a:ext>
            </a:extLst>
          </p:cNvPr>
          <p:cNvSpPr/>
          <p:nvPr/>
        </p:nvSpPr>
        <p:spPr>
          <a:xfrm>
            <a:off x="5762017" y="2733303"/>
            <a:ext cx="259432" cy="124456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ko-KR" altLang="en-US" sz="1000" kern="0" dirty="0">
                <a:latin typeface="+mn-ea"/>
              </a:rPr>
              <a:t>흐름제어모듈</a:t>
            </a:r>
          </a:p>
        </p:txBody>
      </p:sp>
      <p:sp>
        <p:nvSpPr>
          <p:cNvPr id="92" name="십자형 91">
            <a:extLst>
              <a:ext uri="{FF2B5EF4-FFF2-40B4-BE49-F238E27FC236}">
                <a16:creationId xmlns="" xmlns:a16="http://schemas.microsoft.com/office/drawing/2014/main" id="{252CA960-8FC1-400B-BF26-BDDDDBF7B6F7}"/>
              </a:ext>
            </a:extLst>
          </p:cNvPr>
          <p:cNvSpPr/>
          <p:nvPr/>
        </p:nvSpPr>
        <p:spPr>
          <a:xfrm>
            <a:off x="5087373" y="5890554"/>
            <a:ext cx="467165" cy="221086"/>
          </a:xfrm>
          <a:prstGeom prst="plus">
            <a:avLst/>
          </a:prstGeom>
          <a:solidFill>
            <a:srgbClr val="BFBFBF"/>
          </a:solidFill>
          <a:ln w="63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EAI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3" name="십자형 92">
            <a:extLst>
              <a:ext uri="{FF2B5EF4-FFF2-40B4-BE49-F238E27FC236}">
                <a16:creationId xmlns="" xmlns:a16="http://schemas.microsoft.com/office/drawing/2014/main" id="{F16170E7-2CC4-411D-B192-0BEA5686AB2E}"/>
              </a:ext>
            </a:extLst>
          </p:cNvPr>
          <p:cNvSpPr/>
          <p:nvPr/>
        </p:nvSpPr>
        <p:spPr>
          <a:xfrm>
            <a:off x="5582083" y="5890554"/>
            <a:ext cx="467165" cy="221086"/>
          </a:xfrm>
          <a:prstGeom prst="plus">
            <a:avLst/>
          </a:prstGeom>
          <a:solidFill>
            <a:srgbClr val="BFBFBF"/>
          </a:solidFill>
          <a:ln w="63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ESB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4" name="십자형 93">
            <a:extLst>
              <a:ext uri="{FF2B5EF4-FFF2-40B4-BE49-F238E27FC236}">
                <a16:creationId xmlns="" xmlns:a16="http://schemas.microsoft.com/office/drawing/2014/main" id="{CB5335B1-AFD8-4EE6-AAFE-64871054CEDA}"/>
              </a:ext>
            </a:extLst>
          </p:cNvPr>
          <p:cNvSpPr/>
          <p:nvPr/>
        </p:nvSpPr>
        <p:spPr>
          <a:xfrm>
            <a:off x="6085710" y="5890554"/>
            <a:ext cx="467165" cy="221086"/>
          </a:xfrm>
          <a:prstGeom prst="plus">
            <a:avLst/>
          </a:prstGeom>
          <a:solidFill>
            <a:srgbClr val="BFBFBF"/>
          </a:solidFill>
          <a:ln w="63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>
                <a:solidFill>
                  <a:schemeClr val="tx1"/>
                </a:solidFill>
                <a:latin typeface="+mn-ea"/>
              </a:rPr>
              <a:t>ETL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5" name="십자형 94">
            <a:extLst>
              <a:ext uri="{FF2B5EF4-FFF2-40B4-BE49-F238E27FC236}">
                <a16:creationId xmlns="" xmlns:a16="http://schemas.microsoft.com/office/drawing/2014/main" id="{9A3DC3A6-8FC7-472B-9D8A-553AA3C670AA}"/>
              </a:ext>
            </a:extLst>
          </p:cNvPr>
          <p:cNvSpPr/>
          <p:nvPr/>
        </p:nvSpPr>
        <p:spPr>
          <a:xfrm>
            <a:off x="6580420" y="5890554"/>
            <a:ext cx="467165" cy="221086"/>
          </a:xfrm>
          <a:prstGeom prst="plus">
            <a:avLst/>
          </a:prstGeom>
          <a:solidFill>
            <a:srgbClr val="BFBFBF"/>
          </a:solidFill>
          <a:ln w="6350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dirty="0">
                <a:solidFill>
                  <a:schemeClr val="tx1"/>
                </a:solidFill>
                <a:latin typeface="+mn-ea"/>
              </a:rPr>
              <a:t>CDC</a:t>
            </a:r>
            <a:endParaRPr lang="ko-KR" altLang="en-US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6" name="Border">
            <a:extLst>
              <a:ext uri="{FF2B5EF4-FFF2-40B4-BE49-F238E27FC236}">
                <a16:creationId xmlns="" xmlns:a16="http://schemas.microsoft.com/office/drawing/2014/main" id="{470A8F72-6594-41C9-8AA2-4E4600C095CA}"/>
              </a:ext>
            </a:extLst>
          </p:cNvPr>
          <p:cNvSpPr>
            <a:spLocks/>
          </p:cNvSpPr>
          <p:nvPr/>
        </p:nvSpPr>
        <p:spPr bwMode="auto">
          <a:xfrm>
            <a:off x="7613619" y="2712102"/>
            <a:ext cx="1430099" cy="343956"/>
          </a:xfrm>
          <a:prstGeom prst="roundRect">
            <a:avLst>
              <a:gd name="adj" fmla="val 19791"/>
            </a:avLst>
          </a:prstGeom>
          <a:solidFill>
            <a:srgbClr val="508CD2"/>
          </a:solidFill>
          <a:ln w="6350">
            <a:solidFill>
              <a:srgbClr val="0145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45720" rIns="72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7" name="Border">
            <a:extLst>
              <a:ext uri="{FF2B5EF4-FFF2-40B4-BE49-F238E27FC236}">
                <a16:creationId xmlns="" xmlns:a16="http://schemas.microsoft.com/office/drawing/2014/main" id="{359306FC-B42E-42EA-8C9A-E5728CCE1F83}"/>
              </a:ext>
            </a:extLst>
          </p:cNvPr>
          <p:cNvSpPr>
            <a:spLocks/>
          </p:cNvSpPr>
          <p:nvPr/>
        </p:nvSpPr>
        <p:spPr bwMode="auto">
          <a:xfrm>
            <a:off x="7613619" y="2973102"/>
            <a:ext cx="1430099" cy="6750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45720" rIns="72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99" name="직사각형 98">
            <a:extLst>
              <a:ext uri="{FF2B5EF4-FFF2-40B4-BE49-F238E27FC236}">
                <a16:creationId xmlns="" xmlns:a16="http://schemas.microsoft.com/office/drawing/2014/main" id="{99A1DB33-4956-4D8F-8867-ABA668245698}"/>
              </a:ext>
            </a:extLst>
          </p:cNvPr>
          <p:cNvSpPr/>
          <p:nvPr/>
        </p:nvSpPr>
        <p:spPr>
          <a:xfrm>
            <a:off x="7473280" y="2692553"/>
            <a:ext cx="170371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050" b="1" dirty="0">
                <a:solidFill>
                  <a:schemeClr val="bg1"/>
                </a:solidFill>
                <a:latin typeface="+mn-ea"/>
              </a:rPr>
              <a:t>통합 </a:t>
            </a:r>
            <a:r>
              <a:rPr lang="en-US" altLang="ko-KR" sz="1050" b="1" dirty="0">
                <a:solidFill>
                  <a:schemeClr val="bg1"/>
                </a:solidFill>
                <a:latin typeface="+mn-ea"/>
              </a:rPr>
              <a:t>DB</a:t>
            </a:r>
            <a:endParaRPr lang="ko-KR" altLang="en-US" sz="1050" b="1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1" name="Border">
            <a:extLst>
              <a:ext uri="{FF2B5EF4-FFF2-40B4-BE49-F238E27FC236}">
                <a16:creationId xmlns="" xmlns:a16="http://schemas.microsoft.com/office/drawing/2014/main" id="{2E74C340-02CE-4551-8BC2-CB0EF647FDAA}"/>
              </a:ext>
            </a:extLst>
          </p:cNvPr>
          <p:cNvSpPr>
            <a:spLocks/>
          </p:cNvSpPr>
          <p:nvPr/>
        </p:nvSpPr>
        <p:spPr bwMode="auto">
          <a:xfrm>
            <a:off x="7613619" y="3726555"/>
            <a:ext cx="1430099" cy="343956"/>
          </a:xfrm>
          <a:prstGeom prst="roundRect">
            <a:avLst>
              <a:gd name="adj" fmla="val 19791"/>
            </a:avLst>
          </a:prstGeom>
          <a:solidFill>
            <a:srgbClr val="508CD2"/>
          </a:solidFill>
          <a:ln w="6350">
            <a:solidFill>
              <a:srgbClr val="0145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45720" rIns="72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2" name="Border">
            <a:extLst>
              <a:ext uri="{FF2B5EF4-FFF2-40B4-BE49-F238E27FC236}">
                <a16:creationId xmlns="" xmlns:a16="http://schemas.microsoft.com/office/drawing/2014/main" id="{B94564B6-B0C5-4EFF-9E7E-7A1353A1E42D}"/>
              </a:ext>
            </a:extLst>
          </p:cNvPr>
          <p:cNvSpPr>
            <a:spLocks/>
          </p:cNvSpPr>
          <p:nvPr/>
        </p:nvSpPr>
        <p:spPr bwMode="auto">
          <a:xfrm>
            <a:off x="7613619" y="3987555"/>
            <a:ext cx="1430099" cy="6750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45720" rIns="72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4" name="직사각형 103">
            <a:extLst>
              <a:ext uri="{FF2B5EF4-FFF2-40B4-BE49-F238E27FC236}">
                <a16:creationId xmlns="" xmlns:a16="http://schemas.microsoft.com/office/drawing/2014/main" id="{CF61822F-EEE7-4800-8F1A-41239D7B185D}"/>
              </a:ext>
            </a:extLst>
          </p:cNvPr>
          <p:cNvSpPr/>
          <p:nvPr/>
        </p:nvSpPr>
        <p:spPr>
          <a:xfrm>
            <a:off x="7473280" y="3722246"/>
            <a:ext cx="170371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050" b="1" dirty="0">
                <a:solidFill>
                  <a:schemeClr val="bg1"/>
                </a:solidFill>
                <a:latin typeface="+mn-ea"/>
              </a:rPr>
              <a:t>가상화</a:t>
            </a:r>
          </a:p>
        </p:txBody>
      </p:sp>
      <p:sp>
        <p:nvSpPr>
          <p:cNvPr id="106" name="Border">
            <a:extLst>
              <a:ext uri="{FF2B5EF4-FFF2-40B4-BE49-F238E27FC236}">
                <a16:creationId xmlns="" xmlns:a16="http://schemas.microsoft.com/office/drawing/2014/main" id="{3151AD56-7FA1-471B-BA76-28B16EE90895}"/>
              </a:ext>
            </a:extLst>
          </p:cNvPr>
          <p:cNvSpPr>
            <a:spLocks/>
          </p:cNvSpPr>
          <p:nvPr/>
        </p:nvSpPr>
        <p:spPr bwMode="auto">
          <a:xfrm>
            <a:off x="7613619" y="4725168"/>
            <a:ext cx="1430099" cy="343956"/>
          </a:xfrm>
          <a:prstGeom prst="roundRect">
            <a:avLst>
              <a:gd name="adj" fmla="val 19791"/>
            </a:avLst>
          </a:prstGeom>
          <a:solidFill>
            <a:srgbClr val="508CD2"/>
          </a:solidFill>
          <a:ln w="6350">
            <a:solidFill>
              <a:srgbClr val="0145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45720" rIns="72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7" name="Border">
            <a:extLst>
              <a:ext uri="{FF2B5EF4-FFF2-40B4-BE49-F238E27FC236}">
                <a16:creationId xmlns="" xmlns:a16="http://schemas.microsoft.com/office/drawing/2014/main" id="{6629260B-CDCB-4167-A6B6-9054BDE340D8}"/>
              </a:ext>
            </a:extLst>
          </p:cNvPr>
          <p:cNvSpPr>
            <a:spLocks/>
          </p:cNvSpPr>
          <p:nvPr/>
        </p:nvSpPr>
        <p:spPr bwMode="auto">
          <a:xfrm>
            <a:off x="7613619" y="4986168"/>
            <a:ext cx="1430099" cy="6750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72000" tIns="45720" rIns="7200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sz="900" b="1" dirty="0">
              <a:solidFill>
                <a:schemeClr val="bg1"/>
              </a:solidFill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="" xmlns:a16="http://schemas.microsoft.com/office/drawing/2014/main" id="{571327E4-C7A8-45D1-86B3-88FDC3A059C7}"/>
              </a:ext>
            </a:extLst>
          </p:cNvPr>
          <p:cNvSpPr/>
          <p:nvPr/>
        </p:nvSpPr>
        <p:spPr>
          <a:xfrm>
            <a:off x="7473280" y="4720859"/>
            <a:ext cx="1703715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1050" b="1" dirty="0">
                <a:solidFill>
                  <a:schemeClr val="bg1"/>
                </a:solidFill>
                <a:latin typeface="+mn-ea"/>
              </a:rPr>
              <a:t>백업</a:t>
            </a:r>
          </a:p>
        </p:txBody>
      </p:sp>
      <p:sp>
        <p:nvSpPr>
          <p:cNvPr id="116" name="Database">
            <a:extLst>
              <a:ext uri="{FF2B5EF4-FFF2-40B4-BE49-F238E27FC236}">
                <a16:creationId xmlns="" xmlns:a16="http://schemas.microsoft.com/office/drawing/2014/main" id="{E2C3FB17-532E-4F4A-AA34-6A702121B8E0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801952" y="3056191"/>
            <a:ext cx="491602" cy="559015"/>
          </a:xfrm>
          <a:custGeom>
            <a:avLst/>
            <a:gdLst>
              <a:gd name="T0" fmla="*/ 587 w 1173"/>
              <a:gd name="T1" fmla="*/ 0 h 1337"/>
              <a:gd name="T2" fmla="*/ 0 w 1173"/>
              <a:gd name="T3" fmla="*/ 262 h 1337"/>
              <a:gd name="T4" fmla="*/ 587 w 1173"/>
              <a:gd name="T5" fmla="*/ 523 h 1337"/>
              <a:gd name="T6" fmla="*/ 1173 w 1173"/>
              <a:gd name="T7" fmla="*/ 262 h 1337"/>
              <a:gd name="T8" fmla="*/ 587 w 1173"/>
              <a:gd name="T9" fmla="*/ 0 h 1337"/>
              <a:gd name="T10" fmla="*/ 0 w 1173"/>
              <a:gd name="T11" fmla="*/ 333 h 1337"/>
              <a:gd name="T12" fmla="*/ 0 w 1173"/>
              <a:gd name="T13" fmla="*/ 533 h 1337"/>
              <a:gd name="T14" fmla="*/ 587 w 1173"/>
              <a:gd name="T15" fmla="*/ 794 h 1337"/>
              <a:gd name="T16" fmla="*/ 1173 w 1173"/>
              <a:gd name="T17" fmla="*/ 533 h 1337"/>
              <a:gd name="T18" fmla="*/ 1173 w 1173"/>
              <a:gd name="T19" fmla="*/ 333 h 1337"/>
              <a:gd name="T20" fmla="*/ 587 w 1173"/>
              <a:gd name="T21" fmla="*/ 594 h 1337"/>
              <a:gd name="T22" fmla="*/ 0 w 1173"/>
              <a:gd name="T23" fmla="*/ 333 h 1337"/>
              <a:gd name="T24" fmla="*/ 0 w 1173"/>
              <a:gd name="T25" fmla="*/ 604 h 1337"/>
              <a:gd name="T26" fmla="*/ 0 w 1173"/>
              <a:gd name="T27" fmla="*/ 804 h 1337"/>
              <a:gd name="T28" fmla="*/ 587 w 1173"/>
              <a:gd name="T29" fmla="*/ 1066 h 1337"/>
              <a:gd name="T30" fmla="*/ 1173 w 1173"/>
              <a:gd name="T31" fmla="*/ 804 h 1337"/>
              <a:gd name="T32" fmla="*/ 1173 w 1173"/>
              <a:gd name="T33" fmla="*/ 604 h 1337"/>
              <a:gd name="T34" fmla="*/ 587 w 1173"/>
              <a:gd name="T35" fmla="*/ 865 h 1337"/>
              <a:gd name="T36" fmla="*/ 0 w 1173"/>
              <a:gd name="T37" fmla="*/ 604 h 1337"/>
              <a:gd name="T38" fmla="*/ 0 w 1173"/>
              <a:gd name="T39" fmla="*/ 876 h 1337"/>
              <a:gd name="T40" fmla="*/ 0 w 1173"/>
              <a:gd name="T41" fmla="*/ 1076 h 1337"/>
              <a:gd name="T42" fmla="*/ 587 w 1173"/>
              <a:gd name="T43" fmla="*/ 1337 h 1337"/>
              <a:gd name="T44" fmla="*/ 1173 w 1173"/>
              <a:gd name="T45" fmla="*/ 1076 h 1337"/>
              <a:gd name="T46" fmla="*/ 1173 w 1173"/>
              <a:gd name="T47" fmla="*/ 876 h 1337"/>
              <a:gd name="T48" fmla="*/ 587 w 1173"/>
              <a:gd name="T49" fmla="*/ 1137 h 1337"/>
              <a:gd name="T50" fmla="*/ 0 w 1173"/>
              <a:gd name="T51" fmla="*/ 876 h 1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73" h="1337">
                <a:moveTo>
                  <a:pt x="587" y="0"/>
                </a:moveTo>
                <a:cubicBezTo>
                  <a:pt x="262" y="0"/>
                  <a:pt x="0" y="117"/>
                  <a:pt x="0" y="262"/>
                </a:cubicBezTo>
                <a:cubicBezTo>
                  <a:pt x="0" y="406"/>
                  <a:pt x="262" y="523"/>
                  <a:pt x="587" y="523"/>
                </a:cubicBezTo>
                <a:cubicBezTo>
                  <a:pt x="911" y="523"/>
                  <a:pt x="1173" y="406"/>
                  <a:pt x="1173" y="262"/>
                </a:cubicBezTo>
                <a:cubicBezTo>
                  <a:pt x="1173" y="117"/>
                  <a:pt x="911" y="0"/>
                  <a:pt x="587" y="0"/>
                </a:cubicBezTo>
                <a:close/>
                <a:moveTo>
                  <a:pt x="0" y="333"/>
                </a:moveTo>
                <a:lnTo>
                  <a:pt x="0" y="533"/>
                </a:lnTo>
                <a:cubicBezTo>
                  <a:pt x="0" y="677"/>
                  <a:pt x="262" y="794"/>
                  <a:pt x="587" y="794"/>
                </a:cubicBezTo>
                <a:cubicBezTo>
                  <a:pt x="911" y="794"/>
                  <a:pt x="1173" y="677"/>
                  <a:pt x="1173" y="533"/>
                </a:cubicBezTo>
                <a:lnTo>
                  <a:pt x="1173" y="333"/>
                </a:lnTo>
                <a:cubicBezTo>
                  <a:pt x="1173" y="477"/>
                  <a:pt x="911" y="594"/>
                  <a:pt x="587" y="594"/>
                </a:cubicBezTo>
                <a:cubicBezTo>
                  <a:pt x="262" y="594"/>
                  <a:pt x="0" y="477"/>
                  <a:pt x="0" y="333"/>
                </a:cubicBezTo>
                <a:close/>
                <a:moveTo>
                  <a:pt x="0" y="604"/>
                </a:moveTo>
                <a:lnTo>
                  <a:pt x="0" y="804"/>
                </a:lnTo>
                <a:cubicBezTo>
                  <a:pt x="0" y="949"/>
                  <a:pt x="262" y="1066"/>
                  <a:pt x="587" y="1066"/>
                </a:cubicBezTo>
                <a:cubicBezTo>
                  <a:pt x="911" y="1066"/>
                  <a:pt x="1173" y="949"/>
                  <a:pt x="1173" y="804"/>
                </a:cubicBezTo>
                <a:lnTo>
                  <a:pt x="1173" y="604"/>
                </a:lnTo>
                <a:cubicBezTo>
                  <a:pt x="1173" y="749"/>
                  <a:pt x="911" y="865"/>
                  <a:pt x="587" y="865"/>
                </a:cubicBezTo>
                <a:cubicBezTo>
                  <a:pt x="262" y="865"/>
                  <a:pt x="0" y="749"/>
                  <a:pt x="0" y="604"/>
                </a:cubicBezTo>
                <a:close/>
                <a:moveTo>
                  <a:pt x="0" y="876"/>
                </a:moveTo>
                <a:lnTo>
                  <a:pt x="0" y="1076"/>
                </a:lnTo>
                <a:cubicBezTo>
                  <a:pt x="0" y="1220"/>
                  <a:pt x="262" y="1337"/>
                  <a:pt x="587" y="1337"/>
                </a:cubicBezTo>
                <a:cubicBezTo>
                  <a:pt x="911" y="1337"/>
                  <a:pt x="1173" y="1220"/>
                  <a:pt x="1173" y="1076"/>
                </a:cubicBezTo>
                <a:lnTo>
                  <a:pt x="1173" y="876"/>
                </a:lnTo>
                <a:cubicBezTo>
                  <a:pt x="1173" y="1020"/>
                  <a:pt x="911" y="1137"/>
                  <a:pt x="587" y="1137"/>
                </a:cubicBezTo>
                <a:cubicBezTo>
                  <a:pt x="262" y="1137"/>
                  <a:pt x="0" y="1020"/>
                  <a:pt x="0" y="87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17" name="AutoShape 35">
            <a:extLst>
              <a:ext uri="{FF2B5EF4-FFF2-40B4-BE49-F238E27FC236}">
                <a16:creationId xmlns="" xmlns:a16="http://schemas.microsoft.com/office/drawing/2014/main" id="{2F0922AA-C3B8-40F4-B8C8-1FA954D70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81833" y="3091347"/>
            <a:ext cx="566871" cy="151184"/>
          </a:xfrm>
          <a:prstGeom prst="rect">
            <a:avLst/>
          </a:prstGeom>
          <a:noFill/>
          <a:effectLst>
            <a:glow rad="101600">
              <a:srgbClr val="E6E6E6">
                <a:alpha val="60000"/>
              </a:srgbClr>
            </a:glow>
          </a:effectLst>
          <a:extLst/>
        </p:spPr>
        <p:txBody>
          <a:bodyPr wrap="square" rtlCol="0" anchor="ctr">
            <a:noAutofit/>
          </a:bodyPr>
          <a:lstStyle/>
          <a:p>
            <a:pPr algn="ctr" fontAlgn="base">
              <a:spcAft>
                <a:spcPts val="120"/>
              </a:spcAft>
              <a:buClr>
                <a:srgbClr val="7F7F7F"/>
              </a:buClr>
              <a:buSzPct val="110000"/>
              <a:tabLst>
                <a:tab pos="628650" algn="l"/>
              </a:tabLst>
            </a:pPr>
            <a:r>
              <a:rPr lang="en-US" altLang="ko-KR" sz="900" b="1" kern="0" dirty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DBMS</a:t>
            </a:r>
            <a:endParaRPr lang="ko-KR" altLang="en-US" sz="900" b="1" kern="0" dirty="0">
              <a:ln>
                <a:solidFill>
                  <a:srgbClr val="808080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19" name="Database">
            <a:extLst>
              <a:ext uri="{FF2B5EF4-FFF2-40B4-BE49-F238E27FC236}">
                <a16:creationId xmlns="" xmlns:a16="http://schemas.microsoft.com/office/drawing/2014/main" id="{C024C3D2-73A5-4CB8-BC34-6FC4E6194E3D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389609" y="3056191"/>
            <a:ext cx="491602" cy="559015"/>
          </a:xfrm>
          <a:custGeom>
            <a:avLst/>
            <a:gdLst>
              <a:gd name="T0" fmla="*/ 587 w 1173"/>
              <a:gd name="T1" fmla="*/ 0 h 1337"/>
              <a:gd name="T2" fmla="*/ 0 w 1173"/>
              <a:gd name="T3" fmla="*/ 262 h 1337"/>
              <a:gd name="T4" fmla="*/ 587 w 1173"/>
              <a:gd name="T5" fmla="*/ 523 h 1337"/>
              <a:gd name="T6" fmla="*/ 1173 w 1173"/>
              <a:gd name="T7" fmla="*/ 262 h 1337"/>
              <a:gd name="T8" fmla="*/ 587 w 1173"/>
              <a:gd name="T9" fmla="*/ 0 h 1337"/>
              <a:gd name="T10" fmla="*/ 0 w 1173"/>
              <a:gd name="T11" fmla="*/ 333 h 1337"/>
              <a:gd name="T12" fmla="*/ 0 w 1173"/>
              <a:gd name="T13" fmla="*/ 533 h 1337"/>
              <a:gd name="T14" fmla="*/ 587 w 1173"/>
              <a:gd name="T15" fmla="*/ 794 h 1337"/>
              <a:gd name="T16" fmla="*/ 1173 w 1173"/>
              <a:gd name="T17" fmla="*/ 533 h 1337"/>
              <a:gd name="T18" fmla="*/ 1173 w 1173"/>
              <a:gd name="T19" fmla="*/ 333 h 1337"/>
              <a:gd name="T20" fmla="*/ 587 w 1173"/>
              <a:gd name="T21" fmla="*/ 594 h 1337"/>
              <a:gd name="T22" fmla="*/ 0 w 1173"/>
              <a:gd name="T23" fmla="*/ 333 h 1337"/>
              <a:gd name="T24" fmla="*/ 0 w 1173"/>
              <a:gd name="T25" fmla="*/ 604 h 1337"/>
              <a:gd name="T26" fmla="*/ 0 w 1173"/>
              <a:gd name="T27" fmla="*/ 804 h 1337"/>
              <a:gd name="T28" fmla="*/ 587 w 1173"/>
              <a:gd name="T29" fmla="*/ 1066 h 1337"/>
              <a:gd name="T30" fmla="*/ 1173 w 1173"/>
              <a:gd name="T31" fmla="*/ 804 h 1337"/>
              <a:gd name="T32" fmla="*/ 1173 w 1173"/>
              <a:gd name="T33" fmla="*/ 604 h 1337"/>
              <a:gd name="T34" fmla="*/ 587 w 1173"/>
              <a:gd name="T35" fmla="*/ 865 h 1337"/>
              <a:gd name="T36" fmla="*/ 0 w 1173"/>
              <a:gd name="T37" fmla="*/ 604 h 1337"/>
              <a:gd name="T38" fmla="*/ 0 w 1173"/>
              <a:gd name="T39" fmla="*/ 876 h 1337"/>
              <a:gd name="T40" fmla="*/ 0 w 1173"/>
              <a:gd name="T41" fmla="*/ 1076 h 1337"/>
              <a:gd name="T42" fmla="*/ 587 w 1173"/>
              <a:gd name="T43" fmla="*/ 1337 h 1337"/>
              <a:gd name="T44" fmla="*/ 1173 w 1173"/>
              <a:gd name="T45" fmla="*/ 1076 h 1337"/>
              <a:gd name="T46" fmla="*/ 1173 w 1173"/>
              <a:gd name="T47" fmla="*/ 876 h 1337"/>
              <a:gd name="T48" fmla="*/ 587 w 1173"/>
              <a:gd name="T49" fmla="*/ 1137 h 1337"/>
              <a:gd name="T50" fmla="*/ 0 w 1173"/>
              <a:gd name="T51" fmla="*/ 876 h 1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73" h="1337">
                <a:moveTo>
                  <a:pt x="587" y="0"/>
                </a:moveTo>
                <a:cubicBezTo>
                  <a:pt x="262" y="0"/>
                  <a:pt x="0" y="117"/>
                  <a:pt x="0" y="262"/>
                </a:cubicBezTo>
                <a:cubicBezTo>
                  <a:pt x="0" y="406"/>
                  <a:pt x="262" y="523"/>
                  <a:pt x="587" y="523"/>
                </a:cubicBezTo>
                <a:cubicBezTo>
                  <a:pt x="911" y="523"/>
                  <a:pt x="1173" y="406"/>
                  <a:pt x="1173" y="262"/>
                </a:cubicBezTo>
                <a:cubicBezTo>
                  <a:pt x="1173" y="117"/>
                  <a:pt x="911" y="0"/>
                  <a:pt x="587" y="0"/>
                </a:cubicBezTo>
                <a:close/>
                <a:moveTo>
                  <a:pt x="0" y="333"/>
                </a:moveTo>
                <a:lnTo>
                  <a:pt x="0" y="533"/>
                </a:lnTo>
                <a:cubicBezTo>
                  <a:pt x="0" y="677"/>
                  <a:pt x="262" y="794"/>
                  <a:pt x="587" y="794"/>
                </a:cubicBezTo>
                <a:cubicBezTo>
                  <a:pt x="911" y="794"/>
                  <a:pt x="1173" y="677"/>
                  <a:pt x="1173" y="533"/>
                </a:cubicBezTo>
                <a:lnTo>
                  <a:pt x="1173" y="333"/>
                </a:lnTo>
                <a:cubicBezTo>
                  <a:pt x="1173" y="477"/>
                  <a:pt x="911" y="594"/>
                  <a:pt x="587" y="594"/>
                </a:cubicBezTo>
                <a:cubicBezTo>
                  <a:pt x="262" y="594"/>
                  <a:pt x="0" y="477"/>
                  <a:pt x="0" y="333"/>
                </a:cubicBezTo>
                <a:close/>
                <a:moveTo>
                  <a:pt x="0" y="604"/>
                </a:moveTo>
                <a:lnTo>
                  <a:pt x="0" y="804"/>
                </a:lnTo>
                <a:cubicBezTo>
                  <a:pt x="0" y="949"/>
                  <a:pt x="262" y="1066"/>
                  <a:pt x="587" y="1066"/>
                </a:cubicBezTo>
                <a:cubicBezTo>
                  <a:pt x="911" y="1066"/>
                  <a:pt x="1173" y="949"/>
                  <a:pt x="1173" y="804"/>
                </a:cubicBezTo>
                <a:lnTo>
                  <a:pt x="1173" y="604"/>
                </a:lnTo>
                <a:cubicBezTo>
                  <a:pt x="1173" y="749"/>
                  <a:pt x="911" y="865"/>
                  <a:pt x="587" y="865"/>
                </a:cubicBezTo>
                <a:cubicBezTo>
                  <a:pt x="262" y="865"/>
                  <a:pt x="0" y="749"/>
                  <a:pt x="0" y="604"/>
                </a:cubicBezTo>
                <a:close/>
                <a:moveTo>
                  <a:pt x="0" y="876"/>
                </a:moveTo>
                <a:lnTo>
                  <a:pt x="0" y="1076"/>
                </a:lnTo>
                <a:cubicBezTo>
                  <a:pt x="0" y="1220"/>
                  <a:pt x="262" y="1337"/>
                  <a:pt x="587" y="1337"/>
                </a:cubicBezTo>
                <a:cubicBezTo>
                  <a:pt x="911" y="1337"/>
                  <a:pt x="1173" y="1220"/>
                  <a:pt x="1173" y="1076"/>
                </a:cubicBezTo>
                <a:lnTo>
                  <a:pt x="1173" y="876"/>
                </a:lnTo>
                <a:cubicBezTo>
                  <a:pt x="1173" y="1020"/>
                  <a:pt x="911" y="1137"/>
                  <a:pt x="587" y="1137"/>
                </a:cubicBezTo>
                <a:cubicBezTo>
                  <a:pt x="262" y="1137"/>
                  <a:pt x="0" y="1020"/>
                  <a:pt x="0" y="87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20" name="AutoShape 35">
            <a:extLst>
              <a:ext uri="{FF2B5EF4-FFF2-40B4-BE49-F238E27FC236}">
                <a16:creationId xmlns="" xmlns:a16="http://schemas.microsoft.com/office/drawing/2014/main" id="{89F8BF94-9F8B-428B-B190-DE13BE5973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4711" y="3091347"/>
            <a:ext cx="566871" cy="151184"/>
          </a:xfrm>
          <a:prstGeom prst="rect">
            <a:avLst/>
          </a:prstGeom>
          <a:noFill/>
          <a:effectLst>
            <a:glow rad="101600">
              <a:srgbClr val="E6E6E6">
                <a:alpha val="60000"/>
              </a:srgbClr>
            </a:glow>
          </a:effectLst>
          <a:extLst/>
        </p:spPr>
        <p:txBody>
          <a:bodyPr wrap="square" rtlCol="0" anchor="ctr">
            <a:noAutofit/>
          </a:bodyPr>
          <a:lstStyle/>
          <a:p>
            <a:pPr algn="ctr" fontAlgn="base">
              <a:spcAft>
                <a:spcPts val="120"/>
              </a:spcAft>
              <a:buClr>
                <a:srgbClr val="7F7F7F"/>
              </a:buClr>
              <a:buSzPct val="110000"/>
              <a:tabLst>
                <a:tab pos="628650" algn="l"/>
              </a:tabLst>
            </a:pPr>
            <a:r>
              <a:rPr lang="en-US" altLang="ko-KR" sz="900" b="1" kern="0" dirty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DBMS</a:t>
            </a:r>
            <a:endParaRPr lang="ko-KR" altLang="en-US" sz="900" b="1" kern="0" dirty="0">
              <a:ln>
                <a:solidFill>
                  <a:srgbClr val="808080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21" name="Database">
            <a:extLst>
              <a:ext uri="{FF2B5EF4-FFF2-40B4-BE49-F238E27FC236}">
                <a16:creationId xmlns="" xmlns:a16="http://schemas.microsoft.com/office/drawing/2014/main" id="{F0F657DF-12C5-4705-B849-695BD79A63F7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066055" y="4059182"/>
            <a:ext cx="491602" cy="559015"/>
          </a:xfrm>
          <a:custGeom>
            <a:avLst/>
            <a:gdLst>
              <a:gd name="T0" fmla="*/ 587 w 1173"/>
              <a:gd name="T1" fmla="*/ 0 h 1337"/>
              <a:gd name="T2" fmla="*/ 0 w 1173"/>
              <a:gd name="T3" fmla="*/ 262 h 1337"/>
              <a:gd name="T4" fmla="*/ 587 w 1173"/>
              <a:gd name="T5" fmla="*/ 523 h 1337"/>
              <a:gd name="T6" fmla="*/ 1173 w 1173"/>
              <a:gd name="T7" fmla="*/ 262 h 1337"/>
              <a:gd name="T8" fmla="*/ 587 w 1173"/>
              <a:gd name="T9" fmla="*/ 0 h 1337"/>
              <a:gd name="T10" fmla="*/ 0 w 1173"/>
              <a:gd name="T11" fmla="*/ 333 h 1337"/>
              <a:gd name="T12" fmla="*/ 0 w 1173"/>
              <a:gd name="T13" fmla="*/ 533 h 1337"/>
              <a:gd name="T14" fmla="*/ 587 w 1173"/>
              <a:gd name="T15" fmla="*/ 794 h 1337"/>
              <a:gd name="T16" fmla="*/ 1173 w 1173"/>
              <a:gd name="T17" fmla="*/ 533 h 1337"/>
              <a:gd name="T18" fmla="*/ 1173 w 1173"/>
              <a:gd name="T19" fmla="*/ 333 h 1337"/>
              <a:gd name="T20" fmla="*/ 587 w 1173"/>
              <a:gd name="T21" fmla="*/ 594 h 1337"/>
              <a:gd name="T22" fmla="*/ 0 w 1173"/>
              <a:gd name="T23" fmla="*/ 333 h 1337"/>
              <a:gd name="T24" fmla="*/ 0 w 1173"/>
              <a:gd name="T25" fmla="*/ 604 h 1337"/>
              <a:gd name="T26" fmla="*/ 0 w 1173"/>
              <a:gd name="T27" fmla="*/ 804 h 1337"/>
              <a:gd name="T28" fmla="*/ 587 w 1173"/>
              <a:gd name="T29" fmla="*/ 1066 h 1337"/>
              <a:gd name="T30" fmla="*/ 1173 w 1173"/>
              <a:gd name="T31" fmla="*/ 804 h 1337"/>
              <a:gd name="T32" fmla="*/ 1173 w 1173"/>
              <a:gd name="T33" fmla="*/ 604 h 1337"/>
              <a:gd name="T34" fmla="*/ 587 w 1173"/>
              <a:gd name="T35" fmla="*/ 865 h 1337"/>
              <a:gd name="T36" fmla="*/ 0 w 1173"/>
              <a:gd name="T37" fmla="*/ 604 h 1337"/>
              <a:gd name="T38" fmla="*/ 0 w 1173"/>
              <a:gd name="T39" fmla="*/ 876 h 1337"/>
              <a:gd name="T40" fmla="*/ 0 w 1173"/>
              <a:gd name="T41" fmla="*/ 1076 h 1337"/>
              <a:gd name="T42" fmla="*/ 587 w 1173"/>
              <a:gd name="T43" fmla="*/ 1337 h 1337"/>
              <a:gd name="T44" fmla="*/ 1173 w 1173"/>
              <a:gd name="T45" fmla="*/ 1076 h 1337"/>
              <a:gd name="T46" fmla="*/ 1173 w 1173"/>
              <a:gd name="T47" fmla="*/ 876 h 1337"/>
              <a:gd name="T48" fmla="*/ 587 w 1173"/>
              <a:gd name="T49" fmla="*/ 1137 h 1337"/>
              <a:gd name="T50" fmla="*/ 0 w 1173"/>
              <a:gd name="T51" fmla="*/ 876 h 13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173" h="1337">
                <a:moveTo>
                  <a:pt x="587" y="0"/>
                </a:moveTo>
                <a:cubicBezTo>
                  <a:pt x="262" y="0"/>
                  <a:pt x="0" y="117"/>
                  <a:pt x="0" y="262"/>
                </a:cubicBezTo>
                <a:cubicBezTo>
                  <a:pt x="0" y="406"/>
                  <a:pt x="262" y="523"/>
                  <a:pt x="587" y="523"/>
                </a:cubicBezTo>
                <a:cubicBezTo>
                  <a:pt x="911" y="523"/>
                  <a:pt x="1173" y="406"/>
                  <a:pt x="1173" y="262"/>
                </a:cubicBezTo>
                <a:cubicBezTo>
                  <a:pt x="1173" y="117"/>
                  <a:pt x="911" y="0"/>
                  <a:pt x="587" y="0"/>
                </a:cubicBezTo>
                <a:close/>
                <a:moveTo>
                  <a:pt x="0" y="333"/>
                </a:moveTo>
                <a:lnTo>
                  <a:pt x="0" y="533"/>
                </a:lnTo>
                <a:cubicBezTo>
                  <a:pt x="0" y="677"/>
                  <a:pt x="262" y="794"/>
                  <a:pt x="587" y="794"/>
                </a:cubicBezTo>
                <a:cubicBezTo>
                  <a:pt x="911" y="794"/>
                  <a:pt x="1173" y="677"/>
                  <a:pt x="1173" y="533"/>
                </a:cubicBezTo>
                <a:lnTo>
                  <a:pt x="1173" y="333"/>
                </a:lnTo>
                <a:cubicBezTo>
                  <a:pt x="1173" y="477"/>
                  <a:pt x="911" y="594"/>
                  <a:pt x="587" y="594"/>
                </a:cubicBezTo>
                <a:cubicBezTo>
                  <a:pt x="262" y="594"/>
                  <a:pt x="0" y="477"/>
                  <a:pt x="0" y="333"/>
                </a:cubicBezTo>
                <a:close/>
                <a:moveTo>
                  <a:pt x="0" y="604"/>
                </a:moveTo>
                <a:lnTo>
                  <a:pt x="0" y="804"/>
                </a:lnTo>
                <a:cubicBezTo>
                  <a:pt x="0" y="949"/>
                  <a:pt x="262" y="1066"/>
                  <a:pt x="587" y="1066"/>
                </a:cubicBezTo>
                <a:cubicBezTo>
                  <a:pt x="911" y="1066"/>
                  <a:pt x="1173" y="949"/>
                  <a:pt x="1173" y="804"/>
                </a:cubicBezTo>
                <a:lnTo>
                  <a:pt x="1173" y="604"/>
                </a:lnTo>
                <a:cubicBezTo>
                  <a:pt x="1173" y="749"/>
                  <a:pt x="911" y="865"/>
                  <a:pt x="587" y="865"/>
                </a:cubicBezTo>
                <a:cubicBezTo>
                  <a:pt x="262" y="865"/>
                  <a:pt x="0" y="749"/>
                  <a:pt x="0" y="604"/>
                </a:cubicBezTo>
                <a:close/>
                <a:moveTo>
                  <a:pt x="0" y="876"/>
                </a:moveTo>
                <a:lnTo>
                  <a:pt x="0" y="1076"/>
                </a:lnTo>
                <a:cubicBezTo>
                  <a:pt x="0" y="1220"/>
                  <a:pt x="262" y="1337"/>
                  <a:pt x="587" y="1337"/>
                </a:cubicBezTo>
                <a:cubicBezTo>
                  <a:pt x="911" y="1337"/>
                  <a:pt x="1173" y="1220"/>
                  <a:pt x="1173" y="1076"/>
                </a:cubicBezTo>
                <a:lnTo>
                  <a:pt x="1173" y="876"/>
                </a:lnTo>
                <a:cubicBezTo>
                  <a:pt x="1173" y="1020"/>
                  <a:pt x="911" y="1137"/>
                  <a:pt x="587" y="1137"/>
                </a:cubicBezTo>
                <a:cubicBezTo>
                  <a:pt x="262" y="1137"/>
                  <a:pt x="0" y="1020"/>
                  <a:pt x="0" y="876"/>
                </a:cubicBezTo>
                <a:close/>
              </a:path>
            </a:pathLst>
          </a:custGeom>
          <a:solidFill>
            <a:schemeClr val="bg1">
              <a:lumMod val="65000"/>
            </a:schemeClr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22" name="AutoShape 35">
            <a:extLst>
              <a:ext uri="{FF2B5EF4-FFF2-40B4-BE49-F238E27FC236}">
                <a16:creationId xmlns="" xmlns:a16="http://schemas.microsoft.com/office/drawing/2014/main" id="{1ECEAD50-B786-4194-B325-63921CB93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5936" y="4094338"/>
            <a:ext cx="566871" cy="151184"/>
          </a:xfrm>
          <a:prstGeom prst="rect">
            <a:avLst/>
          </a:prstGeom>
          <a:noFill/>
          <a:effectLst>
            <a:glow rad="101600">
              <a:srgbClr val="E6E6E6">
                <a:alpha val="60000"/>
              </a:srgbClr>
            </a:glow>
          </a:effectLst>
          <a:extLst/>
        </p:spPr>
        <p:txBody>
          <a:bodyPr wrap="square" rtlCol="0" anchor="ctr">
            <a:noAutofit/>
          </a:bodyPr>
          <a:lstStyle/>
          <a:p>
            <a:pPr algn="ctr" fontAlgn="base">
              <a:spcAft>
                <a:spcPts val="120"/>
              </a:spcAft>
              <a:buClr>
                <a:srgbClr val="7F7F7F"/>
              </a:buClr>
              <a:buSzPct val="110000"/>
              <a:tabLst>
                <a:tab pos="628650" algn="l"/>
              </a:tabLst>
            </a:pPr>
            <a:r>
              <a:rPr lang="en-US" altLang="ko-KR" sz="900" b="1" kern="0" dirty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VM</a:t>
            </a:r>
            <a:endParaRPr lang="ko-KR" altLang="en-US" sz="900" b="1" kern="0" dirty="0">
              <a:ln>
                <a:solidFill>
                  <a:srgbClr val="808080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23" name="Server Rack">
            <a:extLst>
              <a:ext uri="{FF2B5EF4-FFF2-40B4-BE49-F238E27FC236}">
                <a16:creationId xmlns="" xmlns:a16="http://schemas.microsoft.com/office/drawing/2014/main" id="{06E6C695-0AD3-49E7-9FCC-CEBD8CC0048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7820457" y="5091467"/>
            <a:ext cx="424109" cy="424107"/>
          </a:xfrm>
          <a:custGeom>
            <a:avLst/>
            <a:gdLst>
              <a:gd name="T0" fmla="*/ 271 w 1411"/>
              <a:gd name="T1" fmla="*/ 0 h 1411"/>
              <a:gd name="T2" fmla="*/ 109 w 1411"/>
              <a:gd name="T3" fmla="*/ 163 h 1411"/>
              <a:gd name="T4" fmla="*/ 3 w 1411"/>
              <a:gd name="T5" fmla="*/ 448 h 1411"/>
              <a:gd name="T6" fmla="*/ 54 w 1411"/>
              <a:gd name="T7" fmla="*/ 434 h 1411"/>
              <a:gd name="T8" fmla="*/ 1357 w 1411"/>
              <a:gd name="T9" fmla="*/ 434 h 1411"/>
              <a:gd name="T10" fmla="*/ 1408 w 1411"/>
              <a:gd name="T11" fmla="*/ 448 h 1411"/>
              <a:gd name="T12" fmla="*/ 1303 w 1411"/>
              <a:gd name="T13" fmla="*/ 163 h 1411"/>
              <a:gd name="T14" fmla="*/ 1140 w 1411"/>
              <a:gd name="T15" fmla="*/ 0 h 1411"/>
              <a:gd name="T16" fmla="*/ 271 w 1411"/>
              <a:gd name="T17" fmla="*/ 0 h 1411"/>
              <a:gd name="T18" fmla="*/ 54 w 1411"/>
              <a:gd name="T19" fmla="*/ 488 h 1411"/>
              <a:gd name="T20" fmla="*/ 0 w 1411"/>
              <a:gd name="T21" fmla="*/ 543 h 1411"/>
              <a:gd name="T22" fmla="*/ 0 w 1411"/>
              <a:gd name="T23" fmla="*/ 706 h 1411"/>
              <a:gd name="T24" fmla="*/ 54 w 1411"/>
              <a:gd name="T25" fmla="*/ 760 h 1411"/>
              <a:gd name="T26" fmla="*/ 1357 w 1411"/>
              <a:gd name="T27" fmla="*/ 760 h 1411"/>
              <a:gd name="T28" fmla="*/ 1411 w 1411"/>
              <a:gd name="T29" fmla="*/ 706 h 1411"/>
              <a:gd name="T30" fmla="*/ 1411 w 1411"/>
              <a:gd name="T31" fmla="*/ 543 h 1411"/>
              <a:gd name="T32" fmla="*/ 1357 w 1411"/>
              <a:gd name="T33" fmla="*/ 488 h 1411"/>
              <a:gd name="T34" fmla="*/ 54 w 1411"/>
              <a:gd name="T35" fmla="*/ 488 h 1411"/>
              <a:gd name="T36" fmla="*/ 1221 w 1411"/>
              <a:gd name="T37" fmla="*/ 543 h 1411"/>
              <a:gd name="T38" fmla="*/ 1303 w 1411"/>
              <a:gd name="T39" fmla="*/ 624 h 1411"/>
              <a:gd name="T40" fmla="*/ 1221 w 1411"/>
              <a:gd name="T41" fmla="*/ 706 h 1411"/>
              <a:gd name="T42" fmla="*/ 1140 w 1411"/>
              <a:gd name="T43" fmla="*/ 624 h 1411"/>
              <a:gd name="T44" fmla="*/ 1221 w 1411"/>
              <a:gd name="T45" fmla="*/ 543 h 1411"/>
              <a:gd name="T46" fmla="*/ 54 w 1411"/>
              <a:gd name="T47" fmla="*/ 814 h 1411"/>
              <a:gd name="T48" fmla="*/ 0 w 1411"/>
              <a:gd name="T49" fmla="*/ 868 h 1411"/>
              <a:gd name="T50" fmla="*/ 0 w 1411"/>
              <a:gd name="T51" fmla="*/ 1031 h 1411"/>
              <a:gd name="T52" fmla="*/ 54 w 1411"/>
              <a:gd name="T53" fmla="*/ 1085 h 1411"/>
              <a:gd name="T54" fmla="*/ 1357 w 1411"/>
              <a:gd name="T55" fmla="*/ 1085 h 1411"/>
              <a:gd name="T56" fmla="*/ 1411 w 1411"/>
              <a:gd name="T57" fmla="*/ 1031 h 1411"/>
              <a:gd name="T58" fmla="*/ 1411 w 1411"/>
              <a:gd name="T59" fmla="*/ 868 h 1411"/>
              <a:gd name="T60" fmla="*/ 1357 w 1411"/>
              <a:gd name="T61" fmla="*/ 814 h 1411"/>
              <a:gd name="T62" fmla="*/ 54 w 1411"/>
              <a:gd name="T63" fmla="*/ 814 h 1411"/>
              <a:gd name="T64" fmla="*/ 1221 w 1411"/>
              <a:gd name="T65" fmla="*/ 868 h 1411"/>
              <a:gd name="T66" fmla="*/ 1303 w 1411"/>
              <a:gd name="T67" fmla="*/ 950 h 1411"/>
              <a:gd name="T68" fmla="*/ 1221 w 1411"/>
              <a:gd name="T69" fmla="*/ 1031 h 1411"/>
              <a:gd name="T70" fmla="*/ 1140 w 1411"/>
              <a:gd name="T71" fmla="*/ 950 h 1411"/>
              <a:gd name="T72" fmla="*/ 1221 w 1411"/>
              <a:gd name="T73" fmla="*/ 868 h 1411"/>
              <a:gd name="T74" fmla="*/ 54 w 1411"/>
              <a:gd name="T75" fmla="*/ 1140 h 1411"/>
              <a:gd name="T76" fmla="*/ 0 w 1411"/>
              <a:gd name="T77" fmla="*/ 1194 h 1411"/>
              <a:gd name="T78" fmla="*/ 0 w 1411"/>
              <a:gd name="T79" fmla="*/ 1357 h 1411"/>
              <a:gd name="T80" fmla="*/ 54 w 1411"/>
              <a:gd name="T81" fmla="*/ 1411 h 1411"/>
              <a:gd name="T82" fmla="*/ 1357 w 1411"/>
              <a:gd name="T83" fmla="*/ 1411 h 1411"/>
              <a:gd name="T84" fmla="*/ 1411 w 1411"/>
              <a:gd name="T85" fmla="*/ 1357 h 1411"/>
              <a:gd name="T86" fmla="*/ 1411 w 1411"/>
              <a:gd name="T87" fmla="*/ 1194 h 1411"/>
              <a:gd name="T88" fmla="*/ 1357 w 1411"/>
              <a:gd name="T89" fmla="*/ 1140 h 1411"/>
              <a:gd name="T90" fmla="*/ 54 w 1411"/>
              <a:gd name="T91" fmla="*/ 1140 h 1411"/>
              <a:gd name="T92" fmla="*/ 1221 w 1411"/>
              <a:gd name="T93" fmla="*/ 1194 h 1411"/>
              <a:gd name="T94" fmla="*/ 1303 w 1411"/>
              <a:gd name="T95" fmla="*/ 1275 h 1411"/>
              <a:gd name="T96" fmla="*/ 1221 w 1411"/>
              <a:gd name="T97" fmla="*/ 1357 h 1411"/>
              <a:gd name="T98" fmla="*/ 1140 w 1411"/>
              <a:gd name="T99" fmla="*/ 1275 h 1411"/>
              <a:gd name="T100" fmla="*/ 1221 w 1411"/>
              <a:gd name="T101" fmla="*/ 1194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11" h="1411">
                <a:moveTo>
                  <a:pt x="271" y="0"/>
                </a:moveTo>
                <a:cubicBezTo>
                  <a:pt x="181" y="0"/>
                  <a:pt x="142" y="77"/>
                  <a:pt x="109" y="163"/>
                </a:cubicBezTo>
                <a:lnTo>
                  <a:pt x="3" y="448"/>
                </a:lnTo>
                <a:cubicBezTo>
                  <a:pt x="19" y="439"/>
                  <a:pt x="35" y="434"/>
                  <a:pt x="54" y="434"/>
                </a:cubicBezTo>
                <a:lnTo>
                  <a:pt x="1357" y="434"/>
                </a:lnTo>
                <a:cubicBezTo>
                  <a:pt x="1376" y="434"/>
                  <a:pt x="1392" y="439"/>
                  <a:pt x="1408" y="448"/>
                </a:cubicBezTo>
                <a:lnTo>
                  <a:pt x="1303" y="163"/>
                </a:lnTo>
                <a:cubicBezTo>
                  <a:pt x="1264" y="80"/>
                  <a:pt x="1230" y="0"/>
                  <a:pt x="1140" y="0"/>
                </a:cubicBezTo>
                <a:lnTo>
                  <a:pt x="271" y="0"/>
                </a:lnTo>
                <a:close/>
                <a:moveTo>
                  <a:pt x="54" y="488"/>
                </a:moveTo>
                <a:cubicBezTo>
                  <a:pt x="24" y="488"/>
                  <a:pt x="0" y="513"/>
                  <a:pt x="0" y="543"/>
                </a:cubicBezTo>
                <a:lnTo>
                  <a:pt x="0" y="706"/>
                </a:lnTo>
                <a:cubicBezTo>
                  <a:pt x="0" y="735"/>
                  <a:pt x="24" y="760"/>
                  <a:pt x="54" y="760"/>
                </a:cubicBezTo>
                <a:lnTo>
                  <a:pt x="1357" y="760"/>
                </a:lnTo>
                <a:cubicBezTo>
                  <a:pt x="1387" y="760"/>
                  <a:pt x="1411" y="735"/>
                  <a:pt x="1411" y="706"/>
                </a:cubicBezTo>
                <a:lnTo>
                  <a:pt x="1411" y="543"/>
                </a:lnTo>
                <a:cubicBezTo>
                  <a:pt x="1411" y="513"/>
                  <a:pt x="1387" y="488"/>
                  <a:pt x="1357" y="488"/>
                </a:cubicBezTo>
                <a:lnTo>
                  <a:pt x="54" y="488"/>
                </a:lnTo>
                <a:close/>
                <a:moveTo>
                  <a:pt x="1221" y="543"/>
                </a:moveTo>
                <a:cubicBezTo>
                  <a:pt x="1266" y="543"/>
                  <a:pt x="1303" y="579"/>
                  <a:pt x="1303" y="624"/>
                </a:cubicBezTo>
                <a:cubicBezTo>
                  <a:pt x="1303" y="669"/>
                  <a:pt x="1266" y="706"/>
                  <a:pt x="1221" y="706"/>
                </a:cubicBezTo>
                <a:cubicBezTo>
                  <a:pt x="1176" y="706"/>
                  <a:pt x="1140" y="669"/>
                  <a:pt x="1140" y="624"/>
                </a:cubicBezTo>
                <a:cubicBezTo>
                  <a:pt x="1140" y="579"/>
                  <a:pt x="1176" y="543"/>
                  <a:pt x="1221" y="543"/>
                </a:cubicBezTo>
                <a:close/>
                <a:moveTo>
                  <a:pt x="54" y="814"/>
                </a:moveTo>
                <a:cubicBezTo>
                  <a:pt x="24" y="814"/>
                  <a:pt x="0" y="838"/>
                  <a:pt x="0" y="868"/>
                </a:cubicBezTo>
                <a:lnTo>
                  <a:pt x="0" y="1031"/>
                </a:lnTo>
                <a:cubicBezTo>
                  <a:pt x="0" y="1061"/>
                  <a:pt x="24" y="1085"/>
                  <a:pt x="54" y="1085"/>
                </a:cubicBezTo>
                <a:lnTo>
                  <a:pt x="1357" y="1085"/>
                </a:lnTo>
                <a:cubicBezTo>
                  <a:pt x="1387" y="1085"/>
                  <a:pt x="1411" y="1061"/>
                  <a:pt x="1411" y="1031"/>
                </a:cubicBezTo>
                <a:lnTo>
                  <a:pt x="1411" y="868"/>
                </a:lnTo>
                <a:cubicBezTo>
                  <a:pt x="1411" y="838"/>
                  <a:pt x="1387" y="814"/>
                  <a:pt x="1357" y="814"/>
                </a:cubicBezTo>
                <a:lnTo>
                  <a:pt x="54" y="814"/>
                </a:lnTo>
                <a:close/>
                <a:moveTo>
                  <a:pt x="1221" y="868"/>
                </a:moveTo>
                <a:cubicBezTo>
                  <a:pt x="1266" y="868"/>
                  <a:pt x="1303" y="905"/>
                  <a:pt x="1303" y="950"/>
                </a:cubicBezTo>
                <a:cubicBezTo>
                  <a:pt x="1303" y="995"/>
                  <a:pt x="1266" y="1031"/>
                  <a:pt x="1221" y="1031"/>
                </a:cubicBezTo>
                <a:cubicBezTo>
                  <a:pt x="1176" y="1031"/>
                  <a:pt x="1140" y="995"/>
                  <a:pt x="1140" y="950"/>
                </a:cubicBezTo>
                <a:cubicBezTo>
                  <a:pt x="1140" y="905"/>
                  <a:pt x="1176" y="868"/>
                  <a:pt x="1221" y="868"/>
                </a:cubicBezTo>
                <a:close/>
                <a:moveTo>
                  <a:pt x="54" y="1140"/>
                </a:moveTo>
                <a:cubicBezTo>
                  <a:pt x="24" y="1140"/>
                  <a:pt x="0" y="1164"/>
                  <a:pt x="0" y="1194"/>
                </a:cubicBezTo>
                <a:lnTo>
                  <a:pt x="0" y="1357"/>
                </a:lnTo>
                <a:cubicBezTo>
                  <a:pt x="0" y="1387"/>
                  <a:pt x="24" y="1411"/>
                  <a:pt x="54" y="1411"/>
                </a:cubicBezTo>
                <a:lnTo>
                  <a:pt x="1357" y="1411"/>
                </a:lnTo>
                <a:cubicBezTo>
                  <a:pt x="1387" y="1411"/>
                  <a:pt x="1411" y="1387"/>
                  <a:pt x="1411" y="1357"/>
                </a:cubicBezTo>
                <a:lnTo>
                  <a:pt x="1411" y="1194"/>
                </a:lnTo>
                <a:cubicBezTo>
                  <a:pt x="1411" y="1164"/>
                  <a:pt x="1387" y="1140"/>
                  <a:pt x="1357" y="1140"/>
                </a:cubicBezTo>
                <a:lnTo>
                  <a:pt x="54" y="1140"/>
                </a:lnTo>
                <a:close/>
                <a:moveTo>
                  <a:pt x="1221" y="1194"/>
                </a:moveTo>
                <a:cubicBezTo>
                  <a:pt x="1266" y="1194"/>
                  <a:pt x="1303" y="1230"/>
                  <a:pt x="1303" y="1275"/>
                </a:cubicBezTo>
                <a:cubicBezTo>
                  <a:pt x="1303" y="1320"/>
                  <a:pt x="1266" y="1357"/>
                  <a:pt x="1221" y="1357"/>
                </a:cubicBezTo>
                <a:cubicBezTo>
                  <a:pt x="1176" y="1357"/>
                  <a:pt x="1140" y="1320"/>
                  <a:pt x="1140" y="1275"/>
                </a:cubicBezTo>
                <a:cubicBezTo>
                  <a:pt x="1140" y="1230"/>
                  <a:pt x="1176" y="1194"/>
                  <a:pt x="1221" y="1194"/>
                </a:cubicBez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24" name="Server Rack">
            <a:extLst>
              <a:ext uri="{FF2B5EF4-FFF2-40B4-BE49-F238E27FC236}">
                <a16:creationId xmlns="" xmlns:a16="http://schemas.microsoft.com/office/drawing/2014/main" id="{15D4523F-A142-4871-AC9E-9DD178418044}"/>
              </a:ext>
            </a:extLst>
          </p:cNvPr>
          <p:cNvSpPr>
            <a:spLocks noChangeAspect="1" noEditPoints="1"/>
          </p:cNvSpPr>
          <p:nvPr/>
        </p:nvSpPr>
        <p:spPr bwMode="auto">
          <a:xfrm>
            <a:off x="8409384" y="5091467"/>
            <a:ext cx="424109" cy="424107"/>
          </a:xfrm>
          <a:custGeom>
            <a:avLst/>
            <a:gdLst>
              <a:gd name="T0" fmla="*/ 271 w 1411"/>
              <a:gd name="T1" fmla="*/ 0 h 1411"/>
              <a:gd name="T2" fmla="*/ 109 w 1411"/>
              <a:gd name="T3" fmla="*/ 163 h 1411"/>
              <a:gd name="T4" fmla="*/ 3 w 1411"/>
              <a:gd name="T5" fmla="*/ 448 h 1411"/>
              <a:gd name="T6" fmla="*/ 54 w 1411"/>
              <a:gd name="T7" fmla="*/ 434 h 1411"/>
              <a:gd name="T8" fmla="*/ 1357 w 1411"/>
              <a:gd name="T9" fmla="*/ 434 h 1411"/>
              <a:gd name="T10" fmla="*/ 1408 w 1411"/>
              <a:gd name="T11" fmla="*/ 448 h 1411"/>
              <a:gd name="T12" fmla="*/ 1303 w 1411"/>
              <a:gd name="T13" fmla="*/ 163 h 1411"/>
              <a:gd name="T14" fmla="*/ 1140 w 1411"/>
              <a:gd name="T15" fmla="*/ 0 h 1411"/>
              <a:gd name="T16" fmla="*/ 271 w 1411"/>
              <a:gd name="T17" fmla="*/ 0 h 1411"/>
              <a:gd name="T18" fmla="*/ 54 w 1411"/>
              <a:gd name="T19" fmla="*/ 488 h 1411"/>
              <a:gd name="T20" fmla="*/ 0 w 1411"/>
              <a:gd name="T21" fmla="*/ 543 h 1411"/>
              <a:gd name="T22" fmla="*/ 0 w 1411"/>
              <a:gd name="T23" fmla="*/ 706 h 1411"/>
              <a:gd name="T24" fmla="*/ 54 w 1411"/>
              <a:gd name="T25" fmla="*/ 760 h 1411"/>
              <a:gd name="T26" fmla="*/ 1357 w 1411"/>
              <a:gd name="T27" fmla="*/ 760 h 1411"/>
              <a:gd name="T28" fmla="*/ 1411 w 1411"/>
              <a:gd name="T29" fmla="*/ 706 h 1411"/>
              <a:gd name="T30" fmla="*/ 1411 w 1411"/>
              <a:gd name="T31" fmla="*/ 543 h 1411"/>
              <a:gd name="T32" fmla="*/ 1357 w 1411"/>
              <a:gd name="T33" fmla="*/ 488 h 1411"/>
              <a:gd name="T34" fmla="*/ 54 w 1411"/>
              <a:gd name="T35" fmla="*/ 488 h 1411"/>
              <a:gd name="T36" fmla="*/ 1221 w 1411"/>
              <a:gd name="T37" fmla="*/ 543 h 1411"/>
              <a:gd name="T38" fmla="*/ 1303 w 1411"/>
              <a:gd name="T39" fmla="*/ 624 h 1411"/>
              <a:gd name="T40" fmla="*/ 1221 w 1411"/>
              <a:gd name="T41" fmla="*/ 706 h 1411"/>
              <a:gd name="T42" fmla="*/ 1140 w 1411"/>
              <a:gd name="T43" fmla="*/ 624 h 1411"/>
              <a:gd name="T44" fmla="*/ 1221 w 1411"/>
              <a:gd name="T45" fmla="*/ 543 h 1411"/>
              <a:gd name="T46" fmla="*/ 54 w 1411"/>
              <a:gd name="T47" fmla="*/ 814 h 1411"/>
              <a:gd name="T48" fmla="*/ 0 w 1411"/>
              <a:gd name="T49" fmla="*/ 868 h 1411"/>
              <a:gd name="T50" fmla="*/ 0 w 1411"/>
              <a:gd name="T51" fmla="*/ 1031 h 1411"/>
              <a:gd name="T52" fmla="*/ 54 w 1411"/>
              <a:gd name="T53" fmla="*/ 1085 h 1411"/>
              <a:gd name="T54" fmla="*/ 1357 w 1411"/>
              <a:gd name="T55" fmla="*/ 1085 h 1411"/>
              <a:gd name="T56" fmla="*/ 1411 w 1411"/>
              <a:gd name="T57" fmla="*/ 1031 h 1411"/>
              <a:gd name="T58" fmla="*/ 1411 w 1411"/>
              <a:gd name="T59" fmla="*/ 868 h 1411"/>
              <a:gd name="T60" fmla="*/ 1357 w 1411"/>
              <a:gd name="T61" fmla="*/ 814 h 1411"/>
              <a:gd name="T62" fmla="*/ 54 w 1411"/>
              <a:gd name="T63" fmla="*/ 814 h 1411"/>
              <a:gd name="T64" fmla="*/ 1221 w 1411"/>
              <a:gd name="T65" fmla="*/ 868 h 1411"/>
              <a:gd name="T66" fmla="*/ 1303 w 1411"/>
              <a:gd name="T67" fmla="*/ 950 h 1411"/>
              <a:gd name="T68" fmla="*/ 1221 w 1411"/>
              <a:gd name="T69" fmla="*/ 1031 h 1411"/>
              <a:gd name="T70" fmla="*/ 1140 w 1411"/>
              <a:gd name="T71" fmla="*/ 950 h 1411"/>
              <a:gd name="T72" fmla="*/ 1221 w 1411"/>
              <a:gd name="T73" fmla="*/ 868 h 1411"/>
              <a:gd name="T74" fmla="*/ 54 w 1411"/>
              <a:gd name="T75" fmla="*/ 1140 h 1411"/>
              <a:gd name="T76" fmla="*/ 0 w 1411"/>
              <a:gd name="T77" fmla="*/ 1194 h 1411"/>
              <a:gd name="T78" fmla="*/ 0 w 1411"/>
              <a:gd name="T79" fmla="*/ 1357 h 1411"/>
              <a:gd name="T80" fmla="*/ 54 w 1411"/>
              <a:gd name="T81" fmla="*/ 1411 h 1411"/>
              <a:gd name="T82" fmla="*/ 1357 w 1411"/>
              <a:gd name="T83" fmla="*/ 1411 h 1411"/>
              <a:gd name="T84" fmla="*/ 1411 w 1411"/>
              <a:gd name="T85" fmla="*/ 1357 h 1411"/>
              <a:gd name="T86" fmla="*/ 1411 w 1411"/>
              <a:gd name="T87" fmla="*/ 1194 h 1411"/>
              <a:gd name="T88" fmla="*/ 1357 w 1411"/>
              <a:gd name="T89" fmla="*/ 1140 h 1411"/>
              <a:gd name="T90" fmla="*/ 54 w 1411"/>
              <a:gd name="T91" fmla="*/ 1140 h 1411"/>
              <a:gd name="T92" fmla="*/ 1221 w 1411"/>
              <a:gd name="T93" fmla="*/ 1194 h 1411"/>
              <a:gd name="T94" fmla="*/ 1303 w 1411"/>
              <a:gd name="T95" fmla="*/ 1275 h 1411"/>
              <a:gd name="T96" fmla="*/ 1221 w 1411"/>
              <a:gd name="T97" fmla="*/ 1357 h 1411"/>
              <a:gd name="T98" fmla="*/ 1140 w 1411"/>
              <a:gd name="T99" fmla="*/ 1275 h 1411"/>
              <a:gd name="T100" fmla="*/ 1221 w 1411"/>
              <a:gd name="T101" fmla="*/ 1194 h 1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</a:cxnLst>
            <a:rect l="0" t="0" r="r" b="b"/>
            <a:pathLst>
              <a:path w="1411" h="1411">
                <a:moveTo>
                  <a:pt x="271" y="0"/>
                </a:moveTo>
                <a:cubicBezTo>
                  <a:pt x="181" y="0"/>
                  <a:pt x="142" y="77"/>
                  <a:pt x="109" y="163"/>
                </a:cubicBezTo>
                <a:lnTo>
                  <a:pt x="3" y="448"/>
                </a:lnTo>
                <a:cubicBezTo>
                  <a:pt x="19" y="439"/>
                  <a:pt x="35" y="434"/>
                  <a:pt x="54" y="434"/>
                </a:cubicBezTo>
                <a:lnTo>
                  <a:pt x="1357" y="434"/>
                </a:lnTo>
                <a:cubicBezTo>
                  <a:pt x="1376" y="434"/>
                  <a:pt x="1392" y="439"/>
                  <a:pt x="1408" y="448"/>
                </a:cubicBezTo>
                <a:lnTo>
                  <a:pt x="1303" y="163"/>
                </a:lnTo>
                <a:cubicBezTo>
                  <a:pt x="1264" y="80"/>
                  <a:pt x="1230" y="0"/>
                  <a:pt x="1140" y="0"/>
                </a:cubicBezTo>
                <a:lnTo>
                  <a:pt x="271" y="0"/>
                </a:lnTo>
                <a:close/>
                <a:moveTo>
                  <a:pt x="54" y="488"/>
                </a:moveTo>
                <a:cubicBezTo>
                  <a:pt x="24" y="488"/>
                  <a:pt x="0" y="513"/>
                  <a:pt x="0" y="543"/>
                </a:cubicBezTo>
                <a:lnTo>
                  <a:pt x="0" y="706"/>
                </a:lnTo>
                <a:cubicBezTo>
                  <a:pt x="0" y="735"/>
                  <a:pt x="24" y="760"/>
                  <a:pt x="54" y="760"/>
                </a:cubicBezTo>
                <a:lnTo>
                  <a:pt x="1357" y="760"/>
                </a:lnTo>
                <a:cubicBezTo>
                  <a:pt x="1387" y="760"/>
                  <a:pt x="1411" y="735"/>
                  <a:pt x="1411" y="706"/>
                </a:cubicBezTo>
                <a:lnTo>
                  <a:pt x="1411" y="543"/>
                </a:lnTo>
                <a:cubicBezTo>
                  <a:pt x="1411" y="513"/>
                  <a:pt x="1387" y="488"/>
                  <a:pt x="1357" y="488"/>
                </a:cubicBezTo>
                <a:lnTo>
                  <a:pt x="54" y="488"/>
                </a:lnTo>
                <a:close/>
                <a:moveTo>
                  <a:pt x="1221" y="543"/>
                </a:moveTo>
                <a:cubicBezTo>
                  <a:pt x="1266" y="543"/>
                  <a:pt x="1303" y="579"/>
                  <a:pt x="1303" y="624"/>
                </a:cubicBezTo>
                <a:cubicBezTo>
                  <a:pt x="1303" y="669"/>
                  <a:pt x="1266" y="706"/>
                  <a:pt x="1221" y="706"/>
                </a:cubicBezTo>
                <a:cubicBezTo>
                  <a:pt x="1176" y="706"/>
                  <a:pt x="1140" y="669"/>
                  <a:pt x="1140" y="624"/>
                </a:cubicBezTo>
                <a:cubicBezTo>
                  <a:pt x="1140" y="579"/>
                  <a:pt x="1176" y="543"/>
                  <a:pt x="1221" y="543"/>
                </a:cubicBezTo>
                <a:close/>
                <a:moveTo>
                  <a:pt x="54" y="814"/>
                </a:moveTo>
                <a:cubicBezTo>
                  <a:pt x="24" y="814"/>
                  <a:pt x="0" y="838"/>
                  <a:pt x="0" y="868"/>
                </a:cubicBezTo>
                <a:lnTo>
                  <a:pt x="0" y="1031"/>
                </a:lnTo>
                <a:cubicBezTo>
                  <a:pt x="0" y="1061"/>
                  <a:pt x="24" y="1085"/>
                  <a:pt x="54" y="1085"/>
                </a:cubicBezTo>
                <a:lnTo>
                  <a:pt x="1357" y="1085"/>
                </a:lnTo>
                <a:cubicBezTo>
                  <a:pt x="1387" y="1085"/>
                  <a:pt x="1411" y="1061"/>
                  <a:pt x="1411" y="1031"/>
                </a:cubicBezTo>
                <a:lnTo>
                  <a:pt x="1411" y="868"/>
                </a:lnTo>
                <a:cubicBezTo>
                  <a:pt x="1411" y="838"/>
                  <a:pt x="1387" y="814"/>
                  <a:pt x="1357" y="814"/>
                </a:cubicBezTo>
                <a:lnTo>
                  <a:pt x="54" y="814"/>
                </a:lnTo>
                <a:close/>
                <a:moveTo>
                  <a:pt x="1221" y="868"/>
                </a:moveTo>
                <a:cubicBezTo>
                  <a:pt x="1266" y="868"/>
                  <a:pt x="1303" y="905"/>
                  <a:pt x="1303" y="950"/>
                </a:cubicBezTo>
                <a:cubicBezTo>
                  <a:pt x="1303" y="995"/>
                  <a:pt x="1266" y="1031"/>
                  <a:pt x="1221" y="1031"/>
                </a:cubicBezTo>
                <a:cubicBezTo>
                  <a:pt x="1176" y="1031"/>
                  <a:pt x="1140" y="995"/>
                  <a:pt x="1140" y="950"/>
                </a:cubicBezTo>
                <a:cubicBezTo>
                  <a:pt x="1140" y="905"/>
                  <a:pt x="1176" y="868"/>
                  <a:pt x="1221" y="868"/>
                </a:cubicBezTo>
                <a:close/>
                <a:moveTo>
                  <a:pt x="54" y="1140"/>
                </a:moveTo>
                <a:cubicBezTo>
                  <a:pt x="24" y="1140"/>
                  <a:pt x="0" y="1164"/>
                  <a:pt x="0" y="1194"/>
                </a:cubicBezTo>
                <a:lnTo>
                  <a:pt x="0" y="1357"/>
                </a:lnTo>
                <a:cubicBezTo>
                  <a:pt x="0" y="1387"/>
                  <a:pt x="24" y="1411"/>
                  <a:pt x="54" y="1411"/>
                </a:cubicBezTo>
                <a:lnTo>
                  <a:pt x="1357" y="1411"/>
                </a:lnTo>
                <a:cubicBezTo>
                  <a:pt x="1387" y="1411"/>
                  <a:pt x="1411" y="1387"/>
                  <a:pt x="1411" y="1357"/>
                </a:cubicBezTo>
                <a:lnTo>
                  <a:pt x="1411" y="1194"/>
                </a:lnTo>
                <a:cubicBezTo>
                  <a:pt x="1411" y="1164"/>
                  <a:pt x="1387" y="1140"/>
                  <a:pt x="1357" y="1140"/>
                </a:cubicBezTo>
                <a:lnTo>
                  <a:pt x="54" y="1140"/>
                </a:lnTo>
                <a:close/>
                <a:moveTo>
                  <a:pt x="1221" y="1194"/>
                </a:moveTo>
                <a:cubicBezTo>
                  <a:pt x="1266" y="1194"/>
                  <a:pt x="1303" y="1230"/>
                  <a:pt x="1303" y="1275"/>
                </a:cubicBezTo>
                <a:cubicBezTo>
                  <a:pt x="1303" y="1320"/>
                  <a:pt x="1266" y="1357"/>
                  <a:pt x="1221" y="1357"/>
                </a:cubicBezTo>
                <a:cubicBezTo>
                  <a:pt x="1176" y="1357"/>
                  <a:pt x="1140" y="1320"/>
                  <a:pt x="1140" y="1275"/>
                </a:cubicBezTo>
                <a:cubicBezTo>
                  <a:pt x="1140" y="1230"/>
                  <a:pt x="1176" y="1194"/>
                  <a:pt x="1221" y="1194"/>
                </a:cubicBezTo>
                <a:close/>
              </a:path>
            </a:pathLst>
          </a:custGeom>
          <a:solidFill>
            <a:srgbClr val="5F5F5F"/>
          </a:solidFill>
          <a:ln w="9525">
            <a:noFill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+mn-ea"/>
              <a:cs typeface="Segoe UI" panose="020B0502040204020203" pitchFamily="34" charset="0"/>
            </a:endParaRPr>
          </a:p>
        </p:txBody>
      </p:sp>
      <p:sp>
        <p:nvSpPr>
          <p:cNvPr id="126" name="AutoShape 35">
            <a:extLst>
              <a:ext uri="{FF2B5EF4-FFF2-40B4-BE49-F238E27FC236}">
                <a16:creationId xmlns="" xmlns:a16="http://schemas.microsoft.com/office/drawing/2014/main" id="{A69C5FE6-D143-4558-9456-EC1142753B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7140" y="5480600"/>
            <a:ext cx="425898" cy="182932"/>
          </a:xfrm>
          <a:prstGeom prst="rect">
            <a:avLst/>
          </a:prstGeom>
          <a:noFill/>
          <a:effectLst>
            <a:glow rad="101600">
              <a:srgbClr val="E6E6E6">
                <a:alpha val="60000"/>
              </a:srgbClr>
            </a:glow>
          </a:effectLst>
          <a:extLst/>
        </p:spPr>
        <p:txBody>
          <a:bodyPr wrap="square" rtlCol="0" anchor="ctr">
            <a:noAutofit/>
          </a:bodyPr>
          <a:lstStyle/>
          <a:p>
            <a:pPr algn="ctr" fontAlgn="base">
              <a:spcAft>
                <a:spcPts val="120"/>
              </a:spcAft>
              <a:buClr>
                <a:srgbClr val="7F7F7F"/>
              </a:buClr>
              <a:buSzPct val="110000"/>
              <a:tabLst>
                <a:tab pos="628650" algn="l"/>
              </a:tabLst>
            </a:pPr>
            <a:r>
              <a:rPr lang="en-US" altLang="ko-KR" sz="900" kern="0" dirty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LTO</a:t>
            </a:r>
            <a:endParaRPr lang="ko-KR" altLang="en-US" sz="900" kern="0" dirty="0">
              <a:ln>
                <a:solidFill>
                  <a:srgbClr val="808080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27" name="AutoShape 35">
            <a:extLst>
              <a:ext uri="{FF2B5EF4-FFF2-40B4-BE49-F238E27FC236}">
                <a16:creationId xmlns="" xmlns:a16="http://schemas.microsoft.com/office/drawing/2014/main" id="{22A49DDF-3ED7-442D-B0D7-DB8627269A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98580" y="5483318"/>
            <a:ext cx="425898" cy="182932"/>
          </a:xfrm>
          <a:prstGeom prst="rect">
            <a:avLst/>
          </a:prstGeom>
          <a:noFill/>
          <a:effectLst>
            <a:glow rad="101600">
              <a:srgbClr val="E6E6E6">
                <a:alpha val="60000"/>
              </a:srgbClr>
            </a:glow>
          </a:effectLst>
          <a:extLst/>
        </p:spPr>
        <p:txBody>
          <a:bodyPr wrap="square" rtlCol="0" anchor="ctr">
            <a:noAutofit/>
          </a:bodyPr>
          <a:lstStyle/>
          <a:p>
            <a:pPr algn="ctr" fontAlgn="base">
              <a:spcAft>
                <a:spcPts val="120"/>
              </a:spcAft>
              <a:buClr>
                <a:srgbClr val="7F7F7F"/>
              </a:buClr>
              <a:buSzPct val="110000"/>
              <a:tabLst>
                <a:tab pos="628650" algn="l"/>
              </a:tabLst>
            </a:pPr>
            <a:r>
              <a:rPr lang="en-US" altLang="ko-KR" sz="900" kern="0" dirty="0">
                <a:ln>
                  <a:solidFill>
                    <a:srgbClr val="808080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VTL</a:t>
            </a:r>
            <a:endParaRPr lang="ko-KR" altLang="en-US" sz="900" kern="0" dirty="0">
              <a:ln>
                <a:solidFill>
                  <a:srgbClr val="808080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cxnSp>
        <p:nvCxnSpPr>
          <p:cNvPr id="130" name="연결선: 꺾임 129">
            <a:extLst>
              <a:ext uri="{FF2B5EF4-FFF2-40B4-BE49-F238E27FC236}">
                <a16:creationId xmlns="" xmlns:a16="http://schemas.microsoft.com/office/drawing/2014/main" id="{4BE7C604-5984-4BE6-934B-1ED82A787823}"/>
              </a:ext>
            </a:extLst>
          </p:cNvPr>
          <p:cNvCxnSpPr>
            <a:cxnSpLocks/>
            <a:stCxn id="27" idx="3"/>
            <a:endCxn id="50" idx="1"/>
          </p:cNvCxnSpPr>
          <p:nvPr/>
        </p:nvCxnSpPr>
        <p:spPr>
          <a:xfrm flipV="1">
            <a:off x="2206635" y="3156023"/>
            <a:ext cx="841104" cy="907533"/>
          </a:xfrm>
          <a:prstGeom prst="bentConnector3">
            <a:avLst/>
          </a:prstGeom>
          <a:ln w="127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연결선: 꺾임 132">
            <a:extLst>
              <a:ext uri="{FF2B5EF4-FFF2-40B4-BE49-F238E27FC236}">
                <a16:creationId xmlns="" xmlns:a16="http://schemas.microsoft.com/office/drawing/2014/main" id="{03BFB1E7-01EB-44EC-BF98-948A59F3A988}"/>
              </a:ext>
            </a:extLst>
          </p:cNvPr>
          <p:cNvCxnSpPr>
            <a:cxnSpLocks/>
          </p:cNvCxnSpPr>
          <p:nvPr/>
        </p:nvCxnSpPr>
        <p:spPr>
          <a:xfrm>
            <a:off x="4477838" y="2852936"/>
            <a:ext cx="629558" cy="327708"/>
          </a:xfrm>
          <a:prstGeom prst="bentConnector3">
            <a:avLst>
              <a:gd name="adj1" fmla="val 60288"/>
            </a:avLst>
          </a:prstGeom>
          <a:ln w="127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연결선: 꺾임 145">
            <a:extLst>
              <a:ext uri="{FF2B5EF4-FFF2-40B4-BE49-F238E27FC236}">
                <a16:creationId xmlns="" xmlns:a16="http://schemas.microsoft.com/office/drawing/2014/main" id="{EE92C737-32EF-4BC7-82AF-170CE4B7F53B}"/>
              </a:ext>
            </a:extLst>
          </p:cNvPr>
          <p:cNvCxnSpPr>
            <a:cxnSpLocks/>
            <a:stCxn id="73" idx="2"/>
            <a:endCxn id="75" idx="0"/>
          </p:cNvCxnSpPr>
          <p:nvPr/>
        </p:nvCxnSpPr>
        <p:spPr>
          <a:xfrm rot="5400000">
            <a:off x="5982463" y="4374937"/>
            <a:ext cx="166028" cy="0"/>
          </a:xfrm>
          <a:prstGeom prst="bentConnector3">
            <a:avLst>
              <a:gd name="adj1" fmla="val 50000"/>
            </a:avLst>
          </a:prstGeom>
          <a:ln w="127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연결선: 꺾임 151">
            <a:extLst>
              <a:ext uri="{FF2B5EF4-FFF2-40B4-BE49-F238E27FC236}">
                <a16:creationId xmlns="" xmlns:a16="http://schemas.microsoft.com/office/drawing/2014/main" id="{95EACC60-4FB1-40A2-A307-D82CC5AD7416}"/>
              </a:ext>
            </a:extLst>
          </p:cNvPr>
          <p:cNvCxnSpPr>
            <a:cxnSpLocks/>
            <a:stCxn id="63" idx="3"/>
            <a:endCxn id="50" idx="3"/>
          </p:cNvCxnSpPr>
          <p:nvPr/>
        </p:nvCxnSpPr>
        <p:spPr>
          <a:xfrm flipV="1">
            <a:off x="4477838" y="3156023"/>
            <a:ext cx="12700" cy="2743725"/>
          </a:xfrm>
          <a:prstGeom prst="bentConnector3">
            <a:avLst>
              <a:gd name="adj1" fmla="val 1800000"/>
            </a:avLst>
          </a:prstGeom>
          <a:ln w="12700">
            <a:solidFill>
              <a:srgbClr val="0070C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연결선: 꺾임 154">
            <a:extLst>
              <a:ext uri="{FF2B5EF4-FFF2-40B4-BE49-F238E27FC236}">
                <a16:creationId xmlns="" xmlns:a16="http://schemas.microsoft.com/office/drawing/2014/main" id="{632E8339-89EA-4797-A5FE-8A73ED8E47B2}"/>
              </a:ext>
            </a:extLst>
          </p:cNvPr>
          <p:cNvCxnSpPr>
            <a:cxnSpLocks/>
            <a:stCxn id="107" idx="3"/>
            <a:endCxn id="97" idx="3"/>
          </p:cNvCxnSpPr>
          <p:nvPr/>
        </p:nvCxnSpPr>
        <p:spPr>
          <a:xfrm flipV="1">
            <a:off x="9043718" y="3310642"/>
            <a:ext cx="12700" cy="2013066"/>
          </a:xfrm>
          <a:prstGeom prst="bentConnector3">
            <a:avLst>
              <a:gd name="adj1" fmla="val 1800000"/>
            </a:avLst>
          </a:prstGeom>
          <a:ln w="12700">
            <a:solidFill>
              <a:srgbClr val="0070C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연결선: 꺾임 158">
            <a:extLst>
              <a:ext uri="{FF2B5EF4-FFF2-40B4-BE49-F238E27FC236}">
                <a16:creationId xmlns="" xmlns:a16="http://schemas.microsoft.com/office/drawing/2014/main" id="{8DBB60DE-EC8B-4B6F-81FD-3E210BE1B201}"/>
              </a:ext>
            </a:extLst>
          </p:cNvPr>
          <p:cNvCxnSpPr>
            <a:cxnSpLocks/>
            <a:stCxn id="107" idx="3"/>
            <a:endCxn id="102" idx="3"/>
          </p:cNvCxnSpPr>
          <p:nvPr/>
        </p:nvCxnSpPr>
        <p:spPr>
          <a:xfrm flipV="1">
            <a:off x="9043718" y="4325095"/>
            <a:ext cx="12700" cy="998613"/>
          </a:xfrm>
          <a:prstGeom prst="bentConnector3">
            <a:avLst>
              <a:gd name="adj1" fmla="val 1320000"/>
            </a:avLst>
          </a:prstGeom>
          <a:ln w="12700">
            <a:solidFill>
              <a:srgbClr val="0070C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화살표: 왼쪽/오른쪽 162">
            <a:extLst>
              <a:ext uri="{FF2B5EF4-FFF2-40B4-BE49-F238E27FC236}">
                <a16:creationId xmlns="" xmlns:a16="http://schemas.microsoft.com/office/drawing/2014/main" id="{6E6A0390-663D-47C0-8B78-691E2040A70F}"/>
              </a:ext>
            </a:extLst>
          </p:cNvPr>
          <p:cNvSpPr/>
          <p:nvPr/>
        </p:nvSpPr>
        <p:spPr>
          <a:xfrm>
            <a:off x="2450579" y="4218711"/>
            <a:ext cx="372965" cy="292069"/>
          </a:xfrm>
          <a:prstGeom prst="leftRightArrow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49" name="연결선: 꺾임 148">
            <a:extLst>
              <a:ext uri="{FF2B5EF4-FFF2-40B4-BE49-F238E27FC236}">
                <a16:creationId xmlns="" xmlns:a16="http://schemas.microsoft.com/office/drawing/2014/main" id="{4C8B5756-6022-412F-A2D4-78429AA58E53}"/>
              </a:ext>
            </a:extLst>
          </p:cNvPr>
          <p:cNvCxnSpPr>
            <a:cxnSpLocks/>
          </p:cNvCxnSpPr>
          <p:nvPr/>
        </p:nvCxnSpPr>
        <p:spPr>
          <a:xfrm rot="10800000">
            <a:off x="3047739" y="3396111"/>
            <a:ext cx="12700" cy="1473049"/>
          </a:xfrm>
          <a:prstGeom prst="bentConnector3">
            <a:avLst>
              <a:gd name="adj1" fmla="val 1800000"/>
            </a:avLst>
          </a:prstGeom>
          <a:ln w="12700">
            <a:solidFill>
              <a:srgbClr val="0070C0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화살표: 왼쪽/오른쪽 164">
            <a:extLst>
              <a:ext uri="{FF2B5EF4-FFF2-40B4-BE49-F238E27FC236}">
                <a16:creationId xmlns="" xmlns:a16="http://schemas.microsoft.com/office/drawing/2014/main" id="{6F68EEA0-C5D1-4C1B-B375-098DE4A13600}"/>
              </a:ext>
            </a:extLst>
          </p:cNvPr>
          <p:cNvSpPr/>
          <p:nvPr/>
        </p:nvSpPr>
        <p:spPr>
          <a:xfrm>
            <a:off x="4704812" y="4218711"/>
            <a:ext cx="372965" cy="292069"/>
          </a:xfrm>
          <a:prstGeom prst="leftRightArrow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6" name="화살표: 왼쪽/오른쪽 165">
            <a:extLst>
              <a:ext uri="{FF2B5EF4-FFF2-40B4-BE49-F238E27FC236}">
                <a16:creationId xmlns="" xmlns:a16="http://schemas.microsoft.com/office/drawing/2014/main" id="{11F14E60-383B-48C4-BE09-30AC99724E36}"/>
              </a:ext>
            </a:extLst>
          </p:cNvPr>
          <p:cNvSpPr/>
          <p:nvPr/>
        </p:nvSpPr>
        <p:spPr>
          <a:xfrm>
            <a:off x="7008174" y="4218711"/>
            <a:ext cx="372965" cy="292069"/>
          </a:xfrm>
          <a:prstGeom prst="leftRightArrow">
            <a:avLst/>
          </a:prstGeom>
          <a:solidFill>
            <a:schemeClr val="bg1">
              <a:lumMod val="6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39" name="연결선: 꺾임 138">
            <a:extLst>
              <a:ext uri="{FF2B5EF4-FFF2-40B4-BE49-F238E27FC236}">
                <a16:creationId xmlns="" xmlns:a16="http://schemas.microsoft.com/office/drawing/2014/main" id="{868E7DA1-472D-49A4-B1E6-C90EDD4F8A2F}"/>
              </a:ext>
            </a:extLst>
          </p:cNvPr>
          <p:cNvCxnSpPr>
            <a:cxnSpLocks/>
            <a:stCxn id="76" idx="3"/>
            <a:endCxn id="97" idx="1"/>
          </p:cNvCxnSpPr>
          <p:nvPr/>
        </p:nvCxnSpPr>
        <p:spPr>
          <a:xfrm flipV="1">
            <a:off x="7010858" y="3310642"/>
            <a:ext cx="602761" cy="1912287"/>
          </a:xfrm>
          <a:prstGeom prst="bentConnector3">
            <a:avLst>
              <a:gd name="adj1" fmla="val 39255"/>
            </a:avLst>
          </a:prstGeom>
          <a:ln w="12700">
            <a:solidFill>
              <a:srgbClr val="0070C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Ⅲ. </a:t>
            </a:r>
            <a:r>
              <a:rPr lang="ko-KR" altLang="en-US" smtClean="0"/>
              <a:t>목표모델 설계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 </a:t>
            </a:r>
            <a:r>
              <a:rPr lang="ko-KR" altLang="en-US" dirty="0"/>
              <a:t>목표모델</a:t>
            </a:r>
            <a:r>
              <a:rPr lang="en-US" altLang="ko-KR" dirty="0"/>
              <a:t> </a:t>
            </a:r>
            <a:r>
              <a:rPr lang="ko-KR" altLang="en-US" dirty="0"/>
              <a:t>개선과제 정의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1.7 </a:t>
            </a:r>
            <a:r>
              <a:rPr lang="ko-KR" altLang="en-US" smtClean="0"/>
              <a:t>응용 아키텍쳐 표준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2071916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latinLnBrk="0"/>
            <a:r>
              <a:rPr lang="ko-KR" altLang="en-US" dirty="0"/>
              <a:t>데이터 아키텍처는 데이터 품질 방침</a:t>
            </a:r>
            <a:r>
              <a:rPr lang="en-US" altLang="ko-KR" dirty="0"/>
              <a:t>, </a:t>
            </a:r>
            <a:r>
              <a:rPr lang="ko-KR" altLang="en-US" dirty="0"/>
              <a:t>데이터 관리 조직</a:t>
            </a:r>
            <a:r>
              <a:rPr lang="en-US" altLang="ko-KR" dirty="0"/>
              <a:t>, </a:t>
            </a:r>
            <a:r>
              <a:rPr lang="ko-KR" altLang="en-US" dirty="0"/>
              <a:t>데이터 품질지표 관리</a:t>
            </a:r>
            <a:r>
              <a:rPr lang="en-US" altLang="ko-KR" dirty="0"/>
              <a:t>, </a:t>
            </a:r>
            <a:r>
              <a:rPr lang="ko-KR" altLang="en-US" dirty="0"/>
              <a:t>데이터 구조관리</a:t>
            </a:r>
            <a:r>
              <a:rPr lang="en-US" altLang="ko-KR" dirty="0"/>
              <a:t>, </a:t>
            </a:r>
            <a:r>
              <a:rPr lang="ko-KR" altLang="en-US" dirty="0"/>
              <a:t>연계정보 관리</a:t>
            </a:r>
            <a:r>
              <a:rPr lang="en-US" altLang="ko-KR" dirty="0"/>
              <a:t>, </a:t>
            </a:r>
            <a:r>
              <a:rPr lang="ko-KR" altLang="en-US" dirty="0"/>
              <a:t>데이터 표준관리</a:t>
            </a:r>
            <a:r>
              <a:rPr lang="en-US" altLang="ko-KR" dirty="0"/>
              <a:t>, </a:t>
            </a:r>
            <a:r>
              <a:rPr lang="ko-KR" altLang="en-US" dirty="0"/>
              <a:t>데이터 품질관리 프로세스로 구분하여 설계 원칙을 수립함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mtClean="0"/>
              <a:t>1.8 </a:t>
            </a:r>
            <a:r>
              <a:rPr lang="ko-KR" altLang="en-US" smtClean="0"/>
              <a:t>데이터 아키텍처</a:t>
            </a:r>
            <a:r>
              <a:rPr lang="en-US" altLang="ko-KR" smtClean="0"/>
              <a:t>(</a:t>
            </a:r>
            <a:r>
              <a:rPr lang="en-US" altLang="ko-KR"/>
              <a:t>DA</a:t>
            </a:r>
            <a:r>
              <a:rPr lang="en-US" altLang="ko-KR" smtClean="0"/>
              <a:t>) </a:t>
            </a:r>
            <a:r>
              <a:rPr lang="ko-KR" altLang="en-US" smtClean="0"/>
              <a:t>표준</a:t>
            </a:r>
            <a:r>
              <a:rPr lang="en-US" altLang="ko-KR" sz="1800" smtClean="0"/>
              <a:t/>
            </a:r>
            <a:br>
              <a:rPr lang="en-US" altLang="ko-KR" sz="1800" smtClean="0"/>
            </a:br>
            <a:r>
              <a:rPr lang="en-US" altLang="ko-KR" sz="1800" smtClean="0"/>
              <a:t>1.8.1 </a:t>
            </a:r>
            <a:r>
              <a:rPr lang="ko-KR" altLang="en-US" sz="1800" dirty="0"/>
              <a:t>설계 원칙</a:t>
            </a:r>
          </a:p>
        </p:txBody>
      </p:sp>
      <p:grpSp>
        <p:nvGrpSpPr>
          <p:cNvPr id="5" name="그룹 15">
            <a:extLst>
              <a:ext uri="{FF2B5EF4-FFF2-40B4-BE49-F238E27FC236}">
                <a16:creationId xmlns="" xmlns:a16="http://schemas.microsoft.com/office/drawing/2014/main" id="{5EA3A309-9094-4DE1-8B56-A0FF213903F2}"/>
              </a:ext>
            </a:extLst>
          </p:cNvPr>
          <p:cNvGrpSpPr/>
          <p:nvPr/>
        </p:nvGrpSpPr>
        <p:grpSpPr>
          <a:xfrm>
            <a:off x="344489" y="1592796"/>
            <a:ext cx="9171420" cy="4788035"/>
            <a:chOff x="354519" y="1592796"/>
            <a:chExt cx="6594107" cy="4788035"/>
          </a:xfrm>
        </p:grpSpPr>
        <p:sp>
          <p:nvSpPr>
            <p:cNvPr id="17" name="직사각형 16">
              <a:extLst>
                <a:ext uri="{FF2B5EF4-FFF2-40B4-BE49-F238E27FC236}">
                  <a16:creationId xmlns="" xmlns:a16="http://schemas.microsoft.com/office/drawing/2014/main" id="{21185E6B-A0BB-49C3-AD9A-D384B252AE1F}"/>
                </a:ext>
              </a:extLst>
            </p:cNvPr>
            <p:cNvSpPr/>
            <p:nvPr/>
          </p:nvSpPr>
          <p:spPr bwMode="auto">
            <a:xfrm>
              <a:off x="354519" y="1592796"/>
              <a:ext cx="6594106" cy="324000"/>
            </a:xfrm>
            <a:prstGeom prst="rect">
              <a:avLst/>
            </a:prstGeom>
            <a:solidFill>
              <a:srgbClr val="233C5A"/>
            </a:solidFill>
            <a:ln w="6350" cap="flat" cmpd="sng" algn="ctr">
              <a:solidFill>
                <a:srgbClr val="00437A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 데이터 아키텍처 설계 원칙</a:t>
              </a:r>
              <a:endPara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" name="Rectangle 4">
              <a:extLst>
                <a:ext uri="{FF2B5EF4-FFF2-40B4-BE49-F238E27FC236}">
                  <a16:creationId xmlns="" xmlns:a16="http://schemas.microsoft.com/office/drawing/2014/main" id="{D2409568-0805-4FA2-A65A-042B5E1EA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519" y="1916831"/>
              <a:ext cx="6594107" cy="44640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sm" len="sm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80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265113" marR="0" lvl="0" indent="-265113" defTabSz="914400" eaLnBrk="0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ct val="0"/>
                </a:spcAft>
                <a:buClr>
                  <a:prstClr val="black"/>
                </a:buClr>
                <a:buSzTx/>
                <a:buFont typeface="Wingdings" pitchFamily="2" charset="2"/>
                <a:buChar char="q"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9" name="Rectangle 62">
            <a:extLst>
              <a:ext uri="{FF2B5EF4-FFF2-40B4-BE49-F238E27FC236}">
                <a16:creationId xmlns="" xmlns:a16="http://schemas.microsoft.com/office/drawing/2014/main" id="{4554A362-00B3-4D83-A423-18E46D656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96" y="2012335"/>
            <a:ext cx="1584120" cy="579624"/>
          </a:xfrm>
          <a:prstGeom prst="rect">
            <a:avLst/>
          </a:prstGeom>
          <a:solidFill>
            <a:srgbClr val="508CD2"/>
          </a:solidFill>
          <a:ln w="9525" algn="ctr">
            <a:solidFill>
              <a:srgbClr val="508CD2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데이터 품질 방침</a:t>
            </a:r>
            <a:endParaRPr kumimoji="1" lang="ko-KR" altLang="en-US" sz="105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9" name="Rectangle 62">
            <a:extLst>
              <a:ext uri="{FF2B5EF4-FFF2-40B4-BE49-F238E27FC236}">
                <a16:creationId xmlns="" xmlns:a16="http://schemas.microsoft.com/office/drawing/2014/main" id="{D8A4FF40-8468-43CF-9B6F-96B692017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4719" y="2012349"/>
            <a:ext cx="7348843" cy="57979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lvl="0" eaLnBrk="0" fontAlgn="base" latinLnBrk="0" hangingPunct="0">
              <a:spcAft>
                <a:spcPct val="0"/>
              </a:spcAft>
              <a:defRPr/>
            </a:pP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데이터 표준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데이터 구조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데이터 품질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데이터 교환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데이터 보안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 </a:t>
            </a:r>
            <a:r>
              <a:rPr lang="ko-KR" altLang="en-US" sz="1050">
                <a:latin typeface="맑은 고딕" pitchFamily="50" charset="-127"/>
                <a:ea typeface="맑은 고딕" pitchFamily="50" charset="-127"/>
              </a:rPr>
              <a:t>대상으로 </a:t>
            </a:r>
            <a:r>
              <a:rPr lang="ko-KR" altLang="en-US" sz="1050" smtClean="0">
                <a:latin typeface="맑은 고딕" pitchFamily="50" charset="-127"/>
                <a:ea typeface="맑은 고딕" pitchFamily="50" charset="-127"/>
              </a:rPr>
              <a:t>데이터 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품질 목표 달성을 위한 원칙을 수립함</a:t>
            </a:r>
            <a:endParaRPr kumimoji="1" lang="ko-KR" altLang="en-US" sz="10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Rectangle 62">
            <a:extLst>
              <a:ext uri="{FF2B5EF4-FFF2-40B4-BE49-F238E27FC236}">
                <a16:creationId xmlns="" xmlns:a16="http://schemas.microsoft.com/office/drawing/2014/main" id="{D67817C8-3A7E-4C8F-B60A-1AAD9859F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96" y="2636903"/>
            <a:ext cx="1584120" cy="579624"/>
          </a:xfrm>
          <a:prstGeom prst="rect">
            <a:avLst/>
          </a:prstGeom>
          <a:solidFill>
            <a:srgbClr val="508CD2"/>
          </a:solidFill>
          <a:ln w="9525" algn="ctr">
            <a:solidFill>
              <a:srgbClr val="508CD2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데이터 관리조직</a:t>
            </a:r>
          </a:p>
        </p:txBody>
      </p:sp>
      <p:sp>
        <p:nvSpPr>
          <p:cNvPr id="34" name="Rectangle 62">
            <a:extLst>
              <a:ext uri="{FF2B5EF4-FFF2-40B4-BE49-F238E27FC236}">
                <a16:creationId xmlns="" xmlns:a16="http://schemas.microsoft.com/office/drawing/2014/main" id="{D6DC7053-4087-4F25-9689-AA3BEFEA6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4719" y="2636884"/>
            <a:ext cx="7348843" cy="57979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lvl="0" eaLnBrk="0" fontAlgn="base" latinLnBrk="0" hangingPunct="0">
              <a:spcAft>
                <a:spcPct val="0"/>
              </a:spcAft>
              <a:defRPr/>
            </a:pP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데이터 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Ownership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이 있는 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『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데이터 소유부문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』, 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데이터 설계 및 구축을 담당하는 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『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데이터 설계 부문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』, 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데이터 품질관리와 부문별 이해관계 조정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·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통제를 담당하는 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『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데이터 관리 부문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』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과 각 부문 간 상호 시너지를 낼 수 있도록 조직 체계 구성을 위한 원칙을 설계함</a:t>
            </a:r>
            <a:endParaRPr kumimoji="1" lang="ko-KR" altLang="en-US" sz="10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5" name="Rectangle 62">
            <a:extLst>
              <a:ext uri="{FF2B5EF4-FFF2-40B4-BE49-F238E27FC236}">
                <a16:creationId xmlns="" xmlns:a16="http://schemas.microsoft.com/office/drawing/2014/main" id="{943FF63B-9357-458D-A896-7165342D8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96" y="3261471"/>
            <a:ext cx="1584120" cy="579624"/>
          </a:xfrm>
          <a:prstGeom prst="rect">
            <a:avLst/>
          </a:prstGeom>
          <a:solidFill>
            <a:srgbClr val="508CD2"/>
          </a:solidFill>
          <a:ln w="9525" algn="ctr">
            <a:solidFill>
              <a:srgbClr val="508CD2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데이터 품질지표 관리</a:t>
            </a:r>
            <a:endParaRPr kumimoji="1" lang="ko-KR" altLang="en-US" sz="105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6" name="Rectangle 62">
            <a:extLst>
              <a:ext uri="{FF2B5EF4-FFF2-40B4-BE49-F238E27FC236}">
                <a16:creationId xmlns="" xmlns:a16="http://schemas.microsoft.com/office/drawing/2014/main" id="{DE48648A-6B8D-4EC7-9037-4B78545F78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4719" y="3261419"/>
            <a:ext cx="7348843" cy="57979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lvl="0" eaLnBrk="0" fontAlgn="base" latinLnBrk="0" hangingPunct="0">
              <a:spcAft>
                <a:spcPct val="0"/>
              </a:spcAft>
              <a:defRPr/>
            </a:pP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데이터 품질을 정량적으로 관리하기 위한 원칙을 설계함</a:t>
            </a:r>
            <a:endParaRPr kumimoji="1" lang="ko-KR" altLang="en-US" sz="10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7" name="Rectangle 62">
            <a:extLst>
              <a:ext uri="{FF2B5EF4-FFF2-40B4-BE49-F238E27FC236}">
                <a16:creationId xmlns="" xmlns:a16="http://schemas.microsoft.com/office/drawing/2014/main" id="{923C4A4B-70BA-46DF-B767-198FB2EBF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96" y="3886039"/>
            <a:ext cx="1584120" cy="579624"/>
          </a:xfrm>
          <a:prstGeom prst="rect">
            <a:avLst/>
          </a:prstGeom>
          <a:solidFill>
            <a:srgbClr val="508CD2"/>
          </a:solidFill>
          <a:ln w="9525" algn="ctr">
            <a:solidFill>
              <a:srgbClr val="508CD2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데이터 구조관리</a:t>
            </a:r>
          </a:p>
        </p:txBody>
      </p:sp>
      <p:sp>
        <p:nvSpPr>
          <p:cNvPr id="56" name="Rectangle 62">
            <a:extLst>
              <a:ext uri="{FF2B5EF4-FFF2-40B4-BE49-F238E27FC236}">
                <a16:creationId xmlns="" xmlns:a16="http://schemas.microsoft.com/office/drawing/2014/main" id="{19A084ED-7257-4092-8E96-EEF9D7FF07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4719" y="3885954"/>
            <a:ext cx="7348843" cy="57979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개념 데이터 모델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데이터 참조 모델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논리 데이터 모델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물리 데이터 모델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, DB 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관리구조 요소별 관리 방안과 데이터 개발 산출물 관리 방안의 원칙을 수립함</a:t>
            </a:r>
          </a:p>
        </p:txBody>
      </p:sp>
      <p:sp>
        <p:nvSpPr>
          <p:cNvPr id="57" name="Rectangle 62">
            <a:extLst>
              <a:ext uri="{FF2B5EF4-FFF2-40B4-BE49-F238E27FC236}">
                <a16:creationId xmlns="" xmlns:a16="http://schemas.microsoft.com/office/drawing/2014/main" id="{A773A3D6-4058-41A1-8C6B-B2B617E3A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96" y="4510607"/>
            <a:ext cx="1584120" cy="579624"/>
          </a:xfrm>
          <a:prstGeom prst="rect">
            <a:avLst/>
          </a:prstGeom>
          <a:solidFill>
            <a:srgbClr val="508CD2"/>
          </a:solidFill>
          <a:ln w="9525" algn="ctr">
            <a:solidFill>
              <a:srgbClr val="508CD2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데이터 표준관리</a:t>
            </a:r>
            <a:endParaRPr kumimoji="1" lang="ko-KR" altLang="en-US" sz="1050" b="1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8" name="Rectangle 62">
            <a:extLst>
              <a:ext uri="{FF2B5EF4-FFF2-40B4-BE49-F238E27FC236}">
                <a16:creationId xmlns="" xmlns:a16="http://schemas.microsoft.com/office/drawing/2014/main" id="{9A490B6B-2C86-4F15-8C33-C6804041BD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4719" y="4510489"/>
            <a:ext cx="7348843" cy="57979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데이터 표준화 및 데이터 표준관리 방안을 수립하기 위해 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5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개의 데이터 표준화 대상별 관리 방안과 표준화 방안을 제시함</a:t>
            </a:r>
          </a:p>
        </p:txBody>
      </p:sp>
      <p:sp>
        <p:nvSpPr>
          <p:cNvPr id="59" name="Rectangle 62">
            <a:extLst>
              <a:ext uri="{FF2B5EF4-FFF2-40B4-BE49-F238E27FC236}">
                <a16:creationId xmlns="" xmlns:a16="http://schemas.microsoft.com/office/drawing/2014/main" id="{7D694B5F-C5CE-4A8A-A6D8-7CFAA146A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96" y="5135175"/>
            <a:ext cx="1584120" cy="579624"/>
          </a:xfrm>
          <a:prstGeom prst="rect">
            <a:avLst/>
          </a:prstGeom>
          <a:solidFill>
            <a:srgbClr val="508CD2"/>
          </a:solidFill>
          <a:ln w="9525" algn="ctr">
            <a:solidFill>
              <a:srgbClr val="508CD2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연계정보 관리</a:t>
            </a:r>
          </a:p>
        </p:txBody>
      </p:sp>
      <p:sp>
        <p:nvSpPr>
          <p:cNvPr id="60" name="Rectangle 62">
            <a:extLst>
              <a:ext uri="{FF2B5EF4-FFF2-40B4-BE49-F238E27FC236}">
                <a16:creationId xmlns="" xmlns:a16="http://schemas.microsoft.com/office/drawing/2014/main" id="{383BE2B4-64AC-4A5D-9730-58FF92061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4719" y="5135024"/>
            <a:ext cx="7348843" cy="57979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lvl="0" eaLnBrk="0" fontAlgn="base" latinLnBrk="0" hangingPunct="0">
              <a:spcAft>
                <a:spcPct val="0"/>
              </a:spcAft>
              <a:defRPr/>
            </a:pP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연계 데이터의 품질과 성능 개선을 위한 연계 정보 관리를 위한 표준 연계 정보 관리 항목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연계 정보 관리 절차 및 품질 관리 방안의 원칙을 설계함</a:t>
            </a:r>
            <a:endParaRPr kumimoji="1" lang="ko-KR" altLang="en-US" sz="10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1" name="Rectangle 62">
            <a:extLst>
              <a:ext uri="{FF2B5EF4-FFF2-40B4-BE49-F238E27FC236}">
                <a16:creationId xmlns="" xmlns:a16="http://schemas.microsoft.com/office/drawing/2014/main" id="{2322F7CA-2197-4E12-B138-E0690FB10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96" y="5759742"/>
            <a:ext cx="1584120" cy="579624"/>
          </a:xfrm>
          <a:prstGeom prst="rect">
            <a:avLst/>
          </a:prstGeom>
          <a:solidFill>
            <a:srgbClr val="508CD2"/>
          </a:solidFill>
          <a:ln w="9525" algn="ctr">
            <a:solidFill>
              <a:srgbClr val="508CD2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5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데이터 품질관리 프로세스</a:t>
            </a:r>
          </a:p>
        </p:txBody>
      </p:sp>
      <p:sp>
        <p:nvSpPr>
          <p:cNvPr id="62" name="Rectangle 62">
            <a:extLst>
              <a:ext uri="{FF2B5EF4-FFF2-40B4-BE49-F238E27FC236}">
                <a16:creationId xmlns="" xmlns:a16="http://schemas.microsoft.com/office/drawing/2014/main" id="{D974F42D-6A45-4681-9E84-82D8E4993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4719" y="5759559"/>
            <a:ext cx="7348843" cy="579795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9525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lvl="0" eaLnBrk="0" fontAlgn="base" latinLnBrk="0" hangingPunct="0">
              <a:spcAft>
                <a:spcPct val="0"/>
              </a:spcAft>
              <a:defRPr/>
            </a:pP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데이터 표준관리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데이터 구조관리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데이터 연계관리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데이터 품질관리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데이터베이스 관리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데이터 보안관리의 </a:t>
            </a:r>
            <a:r>
              <a:rPr lang="en-US" altLang="ko-KR" sz="1050" dirty="0">
                <a:latin typeface="맑은 고딕" pitchFamily="50" charset="-127"/>
                <a:ea typeface="맑은 고딕" pitchFamily="50" charset="-127"/>
              </a:rPr>
              <a:t>6</a:t>
            </a:r>
            <a:r>
              <a:rPr lang="ko-KR" altLang="en-US" sz="1050" dirty="0">
                <a:latin typeface="맑은 고딕" pitchFamily="50" charset="-127"/>
                <a:ea typeface="맑은 고딕" pitchFamily="50" charset="-127"/>
              </a:rPr>
              <a:t>개 표준 프로세스 관리 절차의 원칙을 설계함</a:t>
            </a:r>
            <a:endParaRPr kumimoji="1" lang="ko-KR" altLang="en-US" sz="105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Ⅲ. </a:t>
            </a:r>
            <a:r>
              <a:rPr lang="ko-KR" altLang="en-US" smtClean="0"/>
              <a:t>목표모델 설계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 </a:t>
            </a:r>
            <a:r>
              <a:rPr lang="ko-KR" altLang="en-US" dirty="0"/>
              <a:t>목표모델</a:t>
            </a:r>
            <a:r>
              <a:rPr lang="en-US" altLang="ko-KR" dirty="0"/>
              <a:t> </a:t>
            </a:r>
            <a:r>
              <a:rPr lang="ko-KR" altLang="en-US" dirty="0"/>
              <a:t>개선과제 정의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1.8 </a:t>
            </a:r>
            <a:r>
              <a:rPr lang="ko-KR" altLang="en-US"/>
              <a:t>데이터 </a:t>
            </a:r>
            <a:r>
              <a:rPr lang="ko-KR" altLang="en-US" smtClean="0"/>
              <a:t>아키텍처 표준</a:t>
            </a:r>
            <a:endParaRPr lang="en-US" altLang="ko-KR" dirty="0"/>
          </a:p>
        </p:txBody>
      </p:sp>
      <p:sp>
        <p:nvSpPr>
          <p:cNvPr id="7" name="폭발 1 6"/>
          <p:cNvSpPr/>
          <p:nvPr/>
        </p:nvSpPr>
        <p:spPr>
          <a:xfrm>
            <a:off x="1742985" y="4525303"/>
            <a:ext cx="257631" cy="372407"/>
          </a:xfrm>
          <a:prstGeom prst="irregularSeal1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55478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/>
            <a:r>
              <a:rPr lang="en-US" altLang="ko-KR" dirty="0"/>
              <a:t>DB </a:t>
            </a:r>
            <a:r>
              <a:rPr lang="ko-KR" altLang="en-US" dirty="0"/>
              <a:t>설계와 개발을 지원하고</a:t>
            </a:r>
            <a:r>
              <a:rPr lang="en-US" altLang="ko-KR" dirty="0"/>
              <a:t>, </a:t>
            </a:r>
            <a:r>
              <a:rPr lang="ko-KR" altLang="en-US" dirty="0"/>
              <a:t>전사적인 데이터 표준의 사용 및 재사용을 통해 시스템 간 상호 운용성</a:t>
            </a:r>
            <a:r>
              <a:rPr lang="en-US" altLang="ko-KR" dirty="0"/>
              <a:t>, </a:t>
            </a:r>
            <a:r>
              <a:rPr lang="ko-KR" altLang="en-US" dirty="0"/>
              <a:t>데이터 공유</a:t>
            </a:r>
            <a:r>
              <a:rPr lang="en-US" altLang="ko-KR" dirty="0"/>
              <a:t>, </a:t>
            </a:r>
            <a:r>
              <a:rPr lang="ko-KR" altLang="en-US" dirty="0"/>
              <a:t>시스템 통합</a:t>
            </a:r>
            <a:r>
              <a:rPr lang="en-US" altLang="ko-KR" dirty="0"/>
              <a:t>, </a:t>
            </a:r>
            <a:r>
              <a:rPr lang="ko-KR" altLang="en-US" dirty="0"/>
              <a:t>프로세스 개선 등을 지원하도록 데이터 표준 원칙을 수립하여 적용함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5839663" cy="781320"/>
          </a:xfrm>
        </p:spPr>
        <p:txBody>
          <a:bodyPr>
            <a:noAutofit/>
          </a:bodyPr>
          <a:lstStyle/>
          <a:p>
            <a:r>
              <a:rPr lang="en-US" altLang="ko-KR" smtClean="0"/>
              <a:t>1.8 </a:t>
            </a:r>
            <a:r>
              <a:rPr lang="ko-KR" altLang="en-US" smtClean="0"/>
              <a:t>데이터 아키텍처</a:t>
            </a:r>
            <a:r>
              <a:rPr lang="en-US" altLang="ko-KR" smtClean="0"/>
              <a:t>(</a:t>
            </a:r>
            <a:r>
              <a:rPr lang="en-US" altLang="ko-KR"/>
              <a:t>DA) </a:t>
            </a:r>
            <a:r>
              <a:rPr lang="ko-KR" altLang="en-US"/>
              <a:t>표준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z="1800" smtClean="0"/>
              <a:t>1.8.2 </a:t>
            </a:r>
            <a:r>
              <a:rPr lang="ko-KR" altLang="en-US" sz="1800" smtClean="0"/>
              <a:t>데이터 </a:t>
            </a:r>
            <a:r>
              <a:rPr lang="ko-KR" altLang="en-US" sz="1800"/>
              <a:t>표준관리 </a:t>
            </a:r>
            <a:r>
              <a:rPr lang="en-US" altLang="ko-KR" sz="1800" smtClean="0"/>
              <a:t> </a:t>
            </a:r>
            <a:endParaRPr lang="ko-KR" altLang="en-US" sz="1800" dirty="0"/>
          </a:p>
        </p:txBody>
      </p:sp>
      <p:grpSp>
        <p:nvGrpSpPr>
          <p:cNvPr id="6" name="그룹 15">
            <a:extLst>
              <a:ext uri="{FF2B5EF4-FFF2-40B4-BE49-F238E27FC236}">
                <a16:creationId xmlns="" xmlns:a16="http://schemas.microsoft.com/office/drawing/2014/main" id="{5EA3A309-9094-4DE1-8B56-A0FF213903F2}"/>
              </a:ext>
            </a:extLst>
          </p:cNvPr>
          <p:cNvGrpSpPr/>
          <p:nvPr/>
        </p:nvGrpSpPr>
        <p:grpSpPr>
          <a:xfrm>
            <a:off x="344489" y="1592796"/>
            <a:ext cx="9171420" cy="4788035"/>
            <a:chOff x="354519" y="1592796"/>
            <a:chExt cx="6594107" cy="4788035"/>
          </a:xfrm>
        </p:grpSpPr>
        <p:sp>
          <p:nvSpPr>
            <p:cNvPr id="17" name="직사각형 16">
              <a:extLst>
                <a:ext uri="{FF2B5EF4-FFF2-40B4-BE49-F238E27FC236}">
                  <a16:creationId xmlns="" xmlns:a16="http://schemas.microsoft.com/office/drawing/2014/main" id="{21185E6B-A0BB-49C3-AD9A-D384B252AE1F}"/>
                </a:ext>
              </a:extLst>
            </p:cNvPr>
            <p:cNvSpPr/>
            <p:nvPr/>
          </p:nvSpPr>
          <p:spPr bwMode="auto">
            <a:xfrm>
              <a:off x="354519" y="1592796"/>
              <a:ext cx="6594106" cy="324000"/>
            </a:xfrm>
            <a:prstGeom prst="rect">
              <a:avLst/>
            </a:prstGeom>
            <a:solidFill>
              <a:srgbClr val="233C5A"/>
            </a:solidFill>
            <a:ln w="6350" cap="flat" cmpd="sng" algn="ctr">
              <a:solidFill>
                <a:srgbClr val="00437A"/>
              </a:solidFill>
              <a:prstDash val="solid"/>
              <a:round/>
              <a:headEnd type="none" w="med" len="med"/>
              <a:tailEnd type="none" w="med" len="med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 데이터 표준화 대상 및 데이터 표준</a:t>
              </a:r>
              <a:endPara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8" name="Rectangle 4">
              <a:extLst>
                <a:ext uri="{FF2B5EF4-FFF2-40B4-BE49-F238E27FC236}">
                  <a16:creationId xmlns="" xmlns:a16="http://schemas.microsoft.com/office/drawing/2014/main" id="{D2409568-0805-4FA2-A65A-042B5E1EA3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519" y="1916831"/>
              <a:ext cx="6594107" cy="446400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sm" len="sm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80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265113" marR="0" lvl="0" indent="-265113" defTabSz="914400" eaLnBrk="0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ct val="0"/>
                </a:spcAft>
                <a:buClr>
                  <a:prstClr val="black"/>
                </a:buClr>
                <a:buSzTx/>
                <a:buFont typeface="Wingdings" pitchFamily="2" charset="2"/>
                <a:buChar char="q"/>
                <a:tabLst/>
                <a:defRPr/>
              </a:pPr>
              <a:endPara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22" name="직사각형 21">
            <a:extLst>
              <a:ext uri="{FF2B5EF4-FFF2-40B4-BE49-F238E27FC236}">
                <a16:creationId xmlns="" xmlns:a16="http://schemas.microsoft.com/office/drawing/2014/main" id="{408703FC-F8F8-410C-A1EC-2DB393200318}"/>
              </a:ext>
            </a:extLst>
          </p:cNvPr>
          <p:cNvSpPr/>
          <p:nvPr/>
        </p:nvSpPr>
        <p:spPr bwMode="auto">
          <a:xfrm>
            <a:off x="416496" y="1988840"/>
            <a:ext cx="1966119" cy="320792"/>
          </a:xfrm>
          <a:prstGeom prst="rect">
            <a:avLst/>
          </a:prstGeom>
          <a:solidFill>
            <a:srgbClr val="01458C"/>
          </a:solidFill>
          <a:ln w="9525" algn="ctr">
            <a:solidFill>
              <a:srgbClr val="508CD2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lang="ko-KR" altLang="en-US" sz="12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데이터 아키텍처 설계 원칙</a:t>
            </a:r>
            <a:endParaRPr kumimoji="1" lang="en-US" altLang="ko-KR" sz="12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Rectangle 4">
            <a:extLst>
              <a:ext uri="{FF2B5EF4-FFF2-40B4-BE49-F238E27FC236}">
                <a16:creationId xmlns="" xmlns:a16="http://schemas.microsoft.com/office/drawing/2014/main" id="{B538C675-C12A-4351-90DD-A29139591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496" y="2315979"/>
            <a:ext cx="1368152" cy="3992745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72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265113" lvl="0" indent="-265113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Font typeface="Wingdings" pitchFamily="2" charset="2"/>
              <a:buChar char="q"/>
              <a:defRPr/>
            </a:pPr>
            <a:endParaRPr lang="en-US" altLang="ko-KR" sz="1200" kern="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1" name="Rectangle 62">
            <a:extLst>
              <a:ext uri="{FF2B5EF4-FFF2-40B4-BE49-F238E27FC236}">
                <a16:creationId xmlns="" xmlns:a16="http://schemas.microsoft.com/office/drawing/2014/main" id="{D67817C8-3A7E-4C8F-B60A-1AAD9859F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512" y="2645484"/>
            <a:ext cx="1584120" cy="241200"/>
          </a:xfrm>
          <a:prstGeom prst="rect">
            <a:avLst/>
          </a:prstGeom>
          <a:solidFill>
            <a:srgbClr val="A6A6A6"/>
          </a:solidFill>
          <a:ln w="9525" algn="ctr">
            <a:solidFill>
              <a:srgbClr val="A6A6A6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ko-KR" altLang="en-US" sz="9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데이터 관리조직</a:t>
            </a:r>
          </a:p>
        </p:txBody>
      </p:sp>
      <p:sp>
        <p:nvSpPr>
          <p:cNvPr id="35" name="Rectangle 62">
            <a:extLst>
              <a:ext uri="{FF2B5EF4-FFF2-40B4-BE49-F238E27FC236}">
                <a16:creationId xmlns="" xmlns:a16="http://schemas.microsoft.com/office/drawing/2014/main" id="{943FF63B-9357-458D-A896-7165342D8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512" y="2931040"/>
            <a:ext cx="1584120" cy="241200"/>
          </a:xfrm>
          <a:prstGeom prst="rect">
            <a:avLst/>
          </a:prstGeom>
          <a:solidFill>
            <a:srgbClr val="A6A6A6"/>
          </a:solidFill>
          <a:ln w="9525" algn="ctr">
            <a:solidFill>
              <a:srgbClr val="A6A6A6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ko-KR" altLang="en-US" sz="9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데이터 품질지표 관리</a:t>
            </a:r>
          </a:p>
        </p:txBody>
      </p:sp>
      <p:sp>
        <p:nvSpPr>
          <p:cNvPr id="59" name="Rectangle 62">
            <a:extLst>
              <a:ext uri="{FF2B5EF4-FFF2-40B4-BE49-F238E27FC236}">
                <a16:creationId xmlns="" xmlns:a16="http://schemas.microsoft.com/office/drawing/2014/main" id="{7D694B5F-C5CE-4A8A-A6D8-7CFAA146A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512" y="5714580"/>
            <a:ext cx="1584120" cy="242366"/>
          </a:xfrm>
          <a:prstGeom prst="rect">
            <a:avLst/>
          </a:prstGeom>
          <a:solidFill>
            <a:srgbClr val="A6A6A6"/>
          </a:solidFill>
          <a:ln w="9525" algn="ctr">
            <a:solidFill>
              <a:srgbClr val="A6A6A6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연계정보 관리</a:t>
            </a:r>
          </a:p>
        </p:txBody>
      </p:sp>
      <p:sp>
        <p:nvSpPr>
          <p:cNvPr id="61" name="Rectangle 62">
            <a:extLst>
              <a:ext uri="{FF2B5EF4-FFF2-40B4-BE49-F238E27FC236}">
                <a16:creationId xmlns="" xmlns:a16="http://schemas.microsoft.com/office/drawing/2014/main" id="{2322F7CA-2197-4E12-B138-E0690FB10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512" y="5999181"/>
            <a:ext cx="1584120" cy="242366"/>
          </a:xfrm>
          <a:prstGeom prst="rect">
            <a:avLst/>
          </a:prstGeom>
          <a:solidFill>
            <a:srgbClr val="A6A6A6"/>
          </a:solidFill>
          <a:ln w="9525" algn="ctr">
            <a:solidFill>
              <a:srgbClr val="A6A6A6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900" b="1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데이터 품질관리 프로세스</a:t>
            </a:r>
          </a:p>
        </p:txBody>
      </p:sp>
      <p:sp>
        <p:nvSpPr>
          <p:cNvPr id="5" name="이등변 삼각형 4">
            <a:extLst>
              <a:ext uri="{FF2B5EF4-FFF2-40B4-BE49-F238E27FC236}">
                <a16:creationId xmlns="" xmlns:a16="http://schemas.microsoft.com/office/drawing/2014/main" id="{63CD5287-5CB8-41AF-883B-666B9D445D8B}"/>
              </a:ext>
            </a:extLst>
          </p:cNvPr>
          <p:cNvSpPr/>
          <p:nvPr/>
        </p:nvSpPr>
        <p:spPr>
          <a:xfrm rot="5400000">
            <a:off x="2126440" y="3591344"/>
            <a:ext cx="371770" cy="240790"/>
          </a:xfrm>
          <a:prstGeom prst="triangle">
            <a:avLst/>
          </a:prstGeom>
          <a:gradFill>
            <a:gsLst>
              <a:gs pos="100000">
                <a:schemeClr val="accent1">
                  <a:lumMod val="5000"/>
                  <a:lumOff val="95000"/>
                </a:schemeClr>
              </a:gs>
              <a:gs pos="80000">
                <a:srgbClr val="508CD2"/>
              </a:gs>
            </a:gsLst>
            <a:lin ang="5400000" scaled="1"/>
          </a:gradFill>
          <a:ln w="9525" algn="ctr">
            <a:noFill/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endParaRPr kumimoji="1" lang="ko-KR" altLang="en-US" sz="105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Rectangle 62">
            <a:extLst>
              <a:ext uri="{FF2B5EF4-FFF2-40B4-BE49-F238E27FC236}">
                <a16:creationId xmlns="" xmlns:a16="http://schemas.microsoft.com/office/drawing/2014/main" id="{4554A362-00B3-4D83-A423-18E46D656E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512" y="2367548"/>
            <a:ext cx="1584120" cy="241200"/>
          </a:xfrm>
          <a:prstGeom prst="rect">
            <a:avLst/>
          </a:prstGeom>
          <a:solidFill>
            <a:srgbClr val="A6A6A6"/>
          </a:solidFill>
          <a:ln w="9525" algn="ctr">
            <a:solidFill>
              <a:srgbClr val="A6A6A6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ko-KR" altLang="en-US" sz="9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데이터 품질 방침</a:t>
            </a:r>
          </a:p>
        </p:txBody>
      </p:sp>
      <p:sp>
        <p:nvSpPr>
          <p:cNvPr id="57" name="Rectangle 62">
            <a:extLst>
              <a:ext uri="{FF2B5EF4-FFF2-40B4-BE49-F238E27FC236}">
                <a16:creationId xmlns="" xmlns:a16="http://schemas.microsoft.com/office/drawing/2014/main" id="{A773A3D6-4058-41A1-8C6B-B2B617E3A5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512" y="3482720"/>
            <a:ext cx="1584120" cy="478800"/>
          </a:xfrm>
          <a:prstGeom prst="rect">
            <a:avLst/>
          </a:prstGeom>
          <a:solidFill>
            <a:srgbClr val="508CD2"/>
          </a:solidFill>
          <a:ln w="9525" algn="ctr">
            <a:solidFill>
              <a:srgbClr val="508CD2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ko-KR" altLang="en-US" sz="105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데이터 표준관리</a:t>
            </a:r>
          </a:p>
        </p:txBody>
      </p:sp>
      <p:sp>
        <p:nvSpPr>
          <p:cNvPr id="37" name="Rectangle 62">
            <a:extLst>
              <a:ext uri="{FF2B5EF4-FFF2-40B4-BE49-F238E27FC236}">
                <a16:creationId xmlns="" xmlns:a16="http://schemas.microsoft.com/office/drawing/2014/main" id="{923C4A4B-70BA-46DF-B767-198FB2EBF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512" y="3205736"/>
            <a:ext cx="1584120" cy="241200"/>
          </a:xfrm>
          <a:prstGeom prst="rect">
            <a:avLst/>
          </a:prstGeom>
          <a:solidFill>
            <a:srgbClr val="A6A6A6"/>
          </a:solidFill>
          <a:ln w="9525" algn="ctr">
            <a:solidFill>
              <a:srgbClr val="A6A6A6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ko-KR" altLang="en-US" sz="9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데이터 구조관리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="" xmlns:a16="http://schemas.microsoft.com/office/drawing/2014/main" id="{E3A77B2C-42FA-4416-A45B-A5B31E65254A}"/>
              </a:ext>
            </a:extLst>
          </p:cNvPr>
          <p:cNvSpPr/>
          <p:nvPr/>
        </p:nvSpPr>
        <p:spPr bwMode="auto">
          <a:xfrm>
            <a:off x="2504728" y="1998112"/>
            <a:ext cx="1463434" cy="238630"/>
          </a:xfrm>
          <a:prstGeom prst="rect">
            <a:avLst/>
          </a:prstGeom>
          <a:solidFill>
            <a:srgbClr val="01458C"/>
          </a:solidFill>
          <a:ln w="9525" algn="ctr">
            <a:solidFill>
              <a:srgbClr val="01458C"/>
            </a:solidFill>
            <a:miter lim="800000"/>
            <a:headEnd/>
            <a:tailEnd/>
          </a:ln>
          <a:effectLst/>
        </p:spPr>
        <p:txBody>
          <a:bodyPr wrap="square" lIns="36000" tIns="0" rIns="36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데이터 표준화 대상</a:t>
            </a:r>
            <a:endParaRPr kumimoji="1" lang="en-US" altLang="ko-KR" sz="12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6" name="Rectangle 4">
            <a:extLst>
              <a:ext uri="{FF2B5EF4-FFF2-40B4-BE49-F238E27FC236}">
                <a16:creationId xmlns="" xmlns:a16="http://schemas.microsoft.com/office/drawing/2014/main" id="{3638363D-0701-4436-AAFA-F4BE59E211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4728" y="2235216"/>
            <a:ext cx="1463434" cy="4073508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180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265113" marR="0" lvl="0" indent="-265113" defTabSz="91440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SzTx/>
              <a:buFont typeface="Wingdings" pitchFamily="2" charset="2"/>
              <a:buChar char="q"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="" xmlns:a16="http://schemas.microsoft.com/office/drawing/2014/main" id="{AF2E66B7-D455-40CF-92DB-E3FF88C3EEDB}"/>
              </a:ext>
            </a:extLst>
          </p:cNvPr>
          <p:cNvSpPr/>
          <p:nvPr/>
        </p:nvSpPr>
        <p:spPr bwMode="auto">
          <a:xfrm>
            <a:off x="4160912" y="1998112"/>
            <a:ext cx="1837372" cy="238630"/>
          </a:xfrm>
          <a:prstGeom prst="rect">
            <a:avLst/>
          </a:prstGeom>
          <a:solidFill>
            <a:srgbClr val="01458C"/>
          </a:solidFill>
          <a:ln w="9525" algn="ctr">
            <a:solidFill>
              <a:srgbClr val="01458C"/>
            </a:solidFill>
            <a:miter lim="800000"/>
            <a:headEnd/>
            <a:tailEnd/>
          </a:ln>
          <a:effectLst/>
        </p:spPr>
        <p:txBody>
          <a:bodyPr wrap="square" lIns="36000" tIns="0" rIns="36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데이터 표준</a:t>
            </a:r>
            <a:endParaRPr kumimoji="1" lang="en-US" altLang="ko-KR" sz="12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8" name="Rectangle 4">
            <a:extLst>
              <a:ext uri="{FF2B5EF4-FFF2-40B4-BE49-F238E27FC236}">
                <a16:creationId xmlns="" xmlns:a16="http://schemas.microsoft.com/office/drawing/2014/main" id="{A28F9B60-46ED-4F94-B969-65C86EB12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912" y="2235216"/>
            <a:ext cx="1837372" cy="4073508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180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265113" marR="0" lvl="0" indent="-265113" defTabSz="91440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>
                <a:prstClr val="black"/>
              </a:buClr>
              <a:buSzTx/>
              <a:buFont typeface="Wingdings" pitchFamily="2" charset="2"/>
              <a:buChar char="q"/>
              <a:tabLst/>
              <a:defRPr/>
            </a:pPr>
            <a:endParaRPr kumimoji="0" lang="ko-KR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="" xmlns:a16="http://schemas.microsoft.com/office/drawing/2014/main" id="{F06F9774-9FE3-45D9-B3B8-D682FC5497A0}"/>
              </a:ext>
            </a:extLst>
          </p:cNvPr>
          <p:cNvSpPr/>
          <p:nvPr/>
        </p:nvSpPr>
        <p:spPr bwMode="auto">
          <a:xfrm>
            <a:off x="7498334" y="1998112"/>
            <a:ext cx="1947830" cy="238630"/>
          </a:xfrm>
          <a:prstGeom prst="rect">
            <a:avLst/>
          </a:prstGeom>
          <a:solidFill>
            <a:srgbClr val="01458C"/>
          </a:solidFill>
          <a:ln w="9525" algn="ctr">
            <a:solidFill>
              <a:srgbClr val="01458C"/>
            </a:solidFill>
            <a:miter lim="800000"/>
            <a:headEnd/>
            <a:tailEnd/>
          </a:ln>
          <a:effectLst/>
        </p:spPr>
        <p:txBody>
          <a:bodyPr wrap="square" lIns="36000" tIns="0" rIns="36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ko-KR" altLang="en-US" sz="1200" b="1" kern="0" dirty="0">
                <a:solidFill>
                  <a:schemeClr val="bg1"/>
                </a:solidFill>
                <a:latin typeface="맑은 고딕" pitchFamily="50" charset="-127"/>
                <a:ea typeface="맑은 고딕" pitchFamily="50" charset="-127"/>
              </a:rPr>
              <a:t>데이터 표준관리 방침</a:t>
            </a:r>
            <a:endParaRPr kumimoji="1" lang="en-US" altLang="ko-KR" sz="1200" b="1" kern="0" dirty="0">
              <a:solidFill>
                <a:schemeClr val="bg1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62" name="Rectangle 4">
            <a:extLst>
              <a:ext uri="{FF2B5EF4-FFF2-40B4-BE49-F238E27FC236}">
                <a16:creationId xmlns="" xmlns:a16="http://schemas.microsoft.com/office/drawing/2014/main" id="{76296A4A-C7B6-4DD0-A4CE-CD49334E3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8334" y="2235216"/>
            <a:ext cx="1947830" cy="4073508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ysClr val="window" lastClr="FFFFFF">
                <a:lumMod val="50000"/>
              </a:sysClr>
            </a:solidFill>
            <a:prstDash val="solid"/>
            <a:round/>
            <a:headEnd type="none" w="med" len="med"/>
            <a:tailEnd type="none" w="sm" len="sm"/>
          </a:ln>
          <a:effectLst/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182563" indent="-182563">
              <a:spcBef>
                <a:spcPts val="300"/>
              </a:spcBef>
              <a:buClr>
                <a:srgbClr val="000000"/>
              </a:buClr>
              <a:buFont typeface="Wingdings" pitchFamily="2" charset="2"/>
              <a:buChar char="q"/>
            </a:pPr>
            <a:r>
              <a:rPr kumimoji="1" lang="ko-KR" altLang="en-US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경영정보시스템 </a:t>
            </a:r>
            <a:r>
              <a:rPr kumimoji="1"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구축 시 데이터 객체의 명명 시  적용하는 단어사전과       용어사전 정의</a:t>
            </a:r>
          </a:p>
          <a:p>
            <a:pPr marL="182563" indent="-182563">
              <a:spcBef>
                <a:spcPts val="300"/>
              </a:spcBef>
              <a:buClr>
                <a:srgbClr val="000000"/>
              </a:buClr>
              <a:buFont typeface="Wingdings" pitchFamily="2" charset="2"/>
              <a:buChar char="q"/>
            </a:pPr>
            <a:r>
              <a:rPr kumimoji="1"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엔티티의 공통 속성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1"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데이터 타입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데이터 사이즈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제약 조건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검증 조건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)</a:t>
            </a:r>
            <a:r>
              <a:rPr kumimoji="1"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을 정의</a:t>
            </a:r>
          </a:p>
          <a:p>
            <a:pPr marL="182563" indent="-182563">
              <a:spcBef>
                <a:spcPts val="300"/>
              </a:spcBef>
              <a:buClr>
                <a:srgbClr val="000000"/>
              </a:buClr>
              <a:buFont typeface="Wingdings" pitchFamily="2" charset="2"/>
              <a:buChar char="q"/>
            </a:pPr>
            <a:r>
              <a:rPr kumimoji="1"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데이터 객체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1"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논리 모델</a:t>
            </a:r>
            <a:r>
              <a:rPr kumimoji="1" lang="en-US" altLang="ko-KR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,    </a:t>
            </a:r>
            <a:r>
              <a:rPr kumimoji="1"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물리 모델에 적용하는 명명 규칙 정의</a:t>
            </a:r>
            <a:endParaRPr kumimoji="1" lang="en-US" altLang="ko-KR" sz="1000" dirty="0">
              <a:solidFill>
                <a:srgbClr val="000000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2563" indent="-182563">
              <a:spcBef>
                <a:spcPts val="300"/>
              </a:spcBef>
              <a:buClr>
                <a:srgbClr val="000000"/>
              </a:buClr>
              <a:buFont typeface="Wingdings" pitchFamily="2" charset="2"/>
              <a:buChar char="q"/>
            </a:pPr>
            <a:r>
              <a:rPr kumimoji="1" lang="ko-KR" altLang="en-US" sz="1000" smtClean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경영정보시스템 </a:t>
            </a:r>
            <a:r>
              <a:rPr kumimoji="1"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표준 코드체계와 표준코드 목록을 정의</a:t>
            </a:r>
          </a:p>
          <a:p>
            <a:pPr marL="182563" indent="-182563">
              <a:spcBef>
                <a:spcPts val="300"/>
              </a:spcBef>
              <a:buClr>
                <a:srgbClr val="000000"/>
              </a:buClr>
              <a:buFont typeface="Wingdings" pitchFamily="2" charset="2"/>
              <a:buChar char="q"/>
            </a:pPr>
            <a:r>
              <a:rPr kumimoji="1" lang="ko-KR" altLang="en-US" sz="1000" spc="-8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데이터 관리</a:t>
            </a:r>
            <a:r>
              <a:rPr kumimoji="1" lang="en-US" altLang="ko-KR" sz="1000" spc="-8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·</a:t>
            </a:r>
            <a:r>
              <a:rPr kumimoji="1" lang="ko-KR" altLang="en-US" sz="1000" spc="-8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개발에 사용되는</a:t>
            </a:r>
            <a:r>
              <a:rPr kumimoji="1" lang="ko-KR" altLang="en-US" sz="10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rPr>
              <a:t> 표준 데이터 도구를 정의</a:t>
            </a:r>
          </a:p>
        </p:txBody>
      </p:sp>
      <p:grpSp>
        <p:nvGrpSpPr>
          <p:cNvPr id="7" name="그룹 62">
            <a:extLst>
              <a:ext uri="{FF2B5EF4-FFF2-40B4-BE49-F238E27FC236}">
                <a16:creationId xmlns="" xmlns:a16="http://schemas.microsoft.com/office/drawing/2014/main" id="{9A9972A0-DA01-4C5E-9717-408F3D53F0EB}"/>
              </a:ext>
            </a:extLst>
          </p:cNvPr>
          <p:cNvGrpSpPr/>
          <p:nvPr/>
        </p:nvGrpSpPr>
        <p:grpSpPr>
          <a:xfrm rot="10800000" flipH="1">
            <a:off x="6969225" y="2643488"/>
            <a:ext cx="491902" cy="2901300"/>
            <a:chOff x="4781869" y="2101850"/>
            <a:chExt cx="671538" cy="3082852"/>
          </a:xfrm>
        </p:grpSpPr>
        <p:sp>
          <p:nvSpPr>
            <p:cNvPr id="69" name="이등변 삼각형 68">
              <a:extLst>
                <a:ext uri="{FF2B5EF4-FFF2-40B4-BE49-F238E27FC236}">
                  <a16:creationId xmlns="" xmlns:a16="http://schemas.microsoft.com/office/drawing/2014/main" id="{92573E2D-B098-4C1B-9B78-A102AD752AD5}"/>
                </a:ext>
              </a:extLst>
            </p:cNvPr>
            <p:cNvSpPr/>
            <p:nvPr/>
          </p:nvSpPr>
          <p:spPr bwMode="auto">
            <a:xfrm rot="5400000">
              <a:off x="3650665" y="3381960"/>
              <a:ext cx="3082852" cy="522632"/>
            </a:xfrm>
            <a:prstGeom prst="triangle">
              <a:avLst/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100000">
                  <a:schemeClr val="tx1">
                    <a:lumMod val="50000"/>
                    <a:lumOff val="50000"/>
                    <a:alpha val="50000"/>
                  </a:schemeClr>
                </a:gs>
              </a:gsLst>
              <a:lin ang="16200000" scaled="1"/>
              <a:tileRect/>
            </a:gradFill>
            <a:ln w="9525">
              <a:noFill/>
              <a:miter lim="800000"/>
              <a:headEnd/>
              <a:tailEnd/>
            </a:ln>
          </p:spPr>
          <p:txBody>
            <a:bodyPr rot="10800000" wrap="none" bIns="0" anchor="ctr"/>
            <a:lstStyle/>
            <a:p>
              <a:pPr algn="ctr" defTabSz="2057400"/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1" name="이등변 삼각형 70">
              <a:extLst>
                <a:ext uri="{FF2B5EF4-FFF2-40B4-BE49-F238E27FC236}">
                  <a16:creationId xmlns="" xmlns:a16="http://schemas.microsoft.com/office/drawing/2014/main" id="{E0161BF4-F9B5-4071-810C-B55B6299DCBA}"/>
                </a:ext>
              </a:extLst>
            </p:cNvPr>
            <p:cNvSpPr/>
            <p:nvPr/>
          </p:nvSpPr>
          <p:spPr bwMode="auto">
            <a:xfrm rot="5400000">
              <a:off x="3919084" y="3315388"/>
              <a:ext cx="2381346" cy="655776"/>
            </a:xfrm>
            <a:prstGeom prst="triangle">
              <a:avLst/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16200000" scaled="1"/>
              <a:tileRect/>
            </a:gradFill>
            <a:ln w="9525">
              <a:noFill/>
              <a:miter lim="800000"/>
              <a:headEnd/>
              <a:tailEnd/>
            </a:ln>
          </p:spPr>
          <p:txBody>
            <a:bodyPr rot="10800000" wrap="none" bIns="0" anchor="ctr"/>
            <a:lstStyle/>
            <a:p>
              <a:pPr algn="ctr" defTabSz="2057400"/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98" name="AutoShape 27">
            <a:extLst>
              <a:ext uri="{FF2B5EF4-FFF2-40B4-BE49-F238E27FC236}">
                <a16:creationId xmlns="" xmlns:a16="http://schemas.microsoft.com/office/drawing/2014/main" id="{38ED6ECE-2259-4420-A4A6-CF7DDF80D9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2774" y="4892318"/>
            <a:ext cx="1138098" cy="399338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BABABA"/>
            </a:solidFill>
            <a:prstDash val="sysDash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코드 데이터</a:t>
            </a:r>
          </a:p>
        </p:txBody>
      </p:sp>
      <p:sp>
        <p:nvSpPr>
          <p:cNvPr id="99" name="AutoShape 27">
            <a:extLst>
              <a:ext uri="{FF2B5EF4-FFF2-40B4-BE49-F238E27FC236}">
                <a16:creationId xmlns="" xmlns:a16="http://schemas.microsoft.com/office/drawing/2014/main" id="{B30AD412-53A0-4F01-997B-2E76D24C53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2774" y="5428615"/>
            <a:ext cx="1138098" cy="399339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BABABA"/>
            </a:solidFill>
            <a:prstDash val="sysDash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데이터 관련 도구</a:t>
            </a:r>
          </a:p>
        </p:txBody>
      </p:sp>
      <p:sp>
        <p:nvSpPr>
          <p:cNvPr id="100" name="AutoShape 27">
            <a:extLst>
              <a:ext uri="{FF2B5EF4-FFF2-40B4-BE49-F238E27FC236}">
                <a16:creationId xmlns="" xmlns:a16="http://schemas.microsoft.com/office/drawing/2014/main" id="{A6021A6C-0F93-4175-B871-D21529AAD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2774" y="2747129"/>
            <a:ext cx="1138098" cy="399338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BABABA"/>
            </a:solidFill>
            <a:prstDash val="sysDash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단어 사전</a:t>
            </a:r>
          </a:p>
        </p:txBody>
      </p:sp>
      <p:sp>
        <p:nvSpPr>
          <p:cNvPr id="101" name="AutoShape 27">
            <a:extLst>
              <a:ext uri="{FF2B5EF4-FFF2-40B4-BE49-F238E27FC236}">
                <a16:creationId xmlns="" xmlns:a16="http://schemas.microsoft.com/office/drawing/2014/main" id="{2FE295A7-A41F-4AC2-9CA4-CE38C7B15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2774" y="3283426"/>
            <a:ext cx="1138098" cy="399338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BABABA"/>
            </a:solidFill>
            <a:prstDash val="sysDash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용어 사전</a:t>
            </a:r>
          </a:p>
        </p:txBody>
      </p:sp>
      <p:sp>
        <p:nvSpPr>
          <p:cNvPr id="102" name="AutoShape 27">
            <a:extLst>
              <a:ext uri="{FF2B5EF4-FFF2-40B4-BE49-F238E27FC236}">
                <a16:creationId xmlns="" xmlns:a16="http://schemas.microsoft.com/office/drawing/2014/main" id="{70BA28E5-9E6D-403C-BA2C-1E0EFE09F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2774" y="3819723"/>
            <a:ext cx="1138098" cy="399339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BABABA"/>
            </a:solidFill>
            <a:prstDash val="sysDash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도메인</a:t>
            </a:r>
          </a:p>
        </p:txBody>
      </p:sp>
      <p:sp>
        <p:nvSpPr>
          <p:cNvPr id="103" name="AutoShape 27">
            <a:extLst>
              <a:ext uri="{FF2B5EF4-FFF2-40B4-BE49-F238E27FC236}">
                <a16:creationId xmlns="" xmlns:a16="http://schemas.microsoft.com/office/drawing/2014/main" id="{C63BA6F8-4100-413A-8943-24185FD3B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62774" y="4356021"/>
            <a:ext cx="1138098" cy="399338"/>
          </a:xfrm>
          <a:prstGeom prst="rect">
            <a:avLst/>
          </a:prstGeom>
          <a:solidFill>
            <a:sysClr val="window" lastClr="FFFFFF"/>
          </a:solidFill>
          <a:ln w="9525" cap="flat" cmpd="sng" algn="ctr">
            <a:solidFill>
              <a:srgbClr val="BABABA"/>
            </a:solidFill>
            <a:prstDash val="sysDash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HY중고딕" pitchFamily="18" charset="-127"/>
                <a:ea typeface="HY중고딕" pitchFamily="18" charset="-127"/>
                <a:cs typeface="+mn-cs"/>
              </a:defRPr>
            </a:lvl9pPr>
          </a:lstStyle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데이터 객체의 </a:t>
            </a:r>
            <a:endParaRPr kumimoji="1" lang="en-US" altLang="ko-KR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  <a:p>
            <a:pPr marL="0" marR="0" lvl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네이밍</a:t>
            </a:r>
          </a:p>
        </p:txBody>
      </p:sp>
      <p:sp>
        <p:nvSpPr>
          <p:cNvPr id="104" name="AutoShape 27">
            <a:extLst>
              <a:ext uri="{FF2B5EF4-FFF2-40B4-BE49-F238E27FC236}">
                <a16:creationId xmlns="" xmlns:a16="http://schemas.microsoft.com/office/drawing/2014/main" id="{AAA4C203-992E-45B0-B83B-BF64667D2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6118" y="4758243"/>
            <a:ext cx="1138098" cy="399338"/>
          </a:xfrm>
          <a:prstGeom prst="rect">
            <a:avLst/>
          </a:prstGeom>
          <a:solidFill>
            <a:srgbClr val="B1CFFC"/>
          </a:solidFill>
          <a:ln w="9525" algn="ctr">
            <a:solidFill>
              <a:srgbClr val="B1CFFC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ko-KR" altLang="en-US" sz="900" b="1" kern="0" dirty="0">
                <a:latin typeface="맑은 고딕" pitchFamily="50" charset="-127"/>
                <a:ea typeface="맑은 고딕" pitchFamily="50" charset="-127"/>
              </a:rPr>
              <a:t>표준 코드</a:t>
            </a:r>
          </a:p>
        </p:txBody>
      </p:sp>
      <p:sp>
        <p:nvSpPr>
          <p:cNvPr id="105" name="AutoShape 27">
            <a:extLst>
              <a:ext uri="{FF2B5EF4-FFF2-40B4-BE49-F238E27FC236}">
                <a16:creationId xmlns="" xmlns:a16="http://schemas.microsoft.com/office/drawing/2014/main" id="{58A66676-CEDA-4EDC-A6B9-2D6FCF5E8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6118" y="5428615"/>
            <a:ext cx="1138098" cy="399339"/>
          </a:xfrm>
          <a:prstGeom prst="rect">
            <a:avLst/>
          </a:prstGeom>
          <a:solidFill>
            <a:srgbClr val="B1CFFC"/>
          </a:solidFill>
          <a:ln w="9525" algn="ctr">
            <a:solidFill>
              <a:srgbClr val="B1CFFC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ko-KR" altLang="en-US" sz="900" b="1" kern="0" dirty="0">
                <a:latin typeface="맑은 고딕" pitchFamily="50" charset="-127"/>
                <a:ea typeface="맑은 고딕" pitchFamily="50" charset="-127"/>
              </a:rPr>
              <a:t>표준 데이터 도구</a:t>
            </a:r>
          </a:p>
        </p:txBody>
      </p:sp>
      <p:sp>
        <p:nvSpPr>
          <p:cNvPr id="106" name="AutoShape 27">
            <a:extLst>
              <a:ext uri="{FF2B5EF4-FFF2-40B4-BE49-F238E27FC236}">
                <a16:creationId xmlns="" xmlns:a16="http://schemas.microsoft.com/office/drawing/2014/main" id="{E8C21FD9-A18F-4863-A03E-9E62472FF2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6118" y="2747129"/>
            <a:ext cx="1138098" cy="399338"/>
          </a:xfrm>
          <a:prstGeom prst="rect">
            <a:avLst/>
          </a:prstGeom>
          <a:solidFill>
            <a:srgbClr val="B1CFFC"/>
          </a:solidFill>
          <a:ln w="9525" algn="ctr">
            <a:solidFill>
              <a:srgbClr val="B1CFFC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ko-KR" altLang="en-US" sz="900" b="1" kern="0" dirty="0">
                <a:latin typeface="맑은 고딕" pitchFamily="50" charset="-127"/>
                <a:ea typeface="맑은 고딕" pitchFamily="50" charset="-127"/>
              </a:rPr>
              <a:t>표준 자료 사전</a:t>
            </a:r>
          </a:p>
        </p:txBody>
      </p:sp>
      <p:sp>
        <p:nvSpPr>
          <p:cNvPr id="107" name="AutoShape 27">
            <a:extLst>
              <a:ext uri="{FF2B5EF4-FFF2-40B4-BE49-F238E27FC236}">
                <a16:creationId xmlns="" xmlns:a16="http://schemas.microsoft.com/office/drawing/2014/main" id="{B2C494E3-D038-4198-8D74-542641685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6118" y="3417500"/>
            <a:ext cx="1138098" cy="399339"/>
          </a:xfrm>
          <a:prstGeom prst="rect">
            <a:avLst/>
          </a:prstGeom>
          <a:solidFill>
            <a:srgbClr val="B1CFFC"/>
          </a:solidFill>
          <a:ln w="9525" algn="ctr">
            <a:solidFill>
              <a:srgbClr val="B1CFFC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ko-KR" altLang="en-US" sz="900" b="1" kern="0" dirty="0">
                <a:latin typeface="맑은 고딕" pitchFamily="50" charset="-127"/>
                <a:ea typeface="맑은 고딕" pitchFamily="50" charset="-127"/>
              </a:rPr>
              <a:t>표준 도메인</a:t>
            </a:r>
          </a:p>
        </p:txBody>
      </p:sp>
      <p:sp>
        <p:nvSpPr>
          <p:cNvPr id="108" name="AutoShape 27">
            <a:extLst>
              <a:ext uri="{FF2B5EF4-FFF2-40B4-BE49-F238E27FC236}">
                <a16:creationId xmlns="" xmlns:a16="http://schemas.microsoft.com/office/drawing/2014/main" id="{A4AB38A9-06CC-4881-BB96-8C5E5AFAFD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6118" y="4087872"/>
            <a:ext cx="1138098" cy="399338"/>
          </a:xfrm>
          <a:prstGeom prst="rect">
            <a:avLst/>
          </a:prstGeom>
          <a:solidFill>
            <a:srgbClr val="B1CFFC"/>
          </a:solidFill>
          <a:ln w="9525" algn="ctr">
            <a:solidFill>
              <a:srgbClr val="B1CFFC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</a:pPr>
            <a:r>
              <a:rPr kumimoji="1" lang="ko-KR" altLang="en-US" sz="900" b="1" kern="0" dirty="0">
                <a:latin typeface="맑은 고딕" pitchFamily="50" charset="-127"/>
                <a:ea typeface="맑은 고딕" pitchFamily="50" charset="-127"/>
              </a:rPr>
              <a:t>표준 네이밍 룰</a:t>
            </a:r>
          </a:p>
        </p:txBody>
      </p:sp>
      <p:cxnSp>
        <p:nvCxnSpPr>
          <p:cNvPr id="109" name="직선 연결선 108">
            <a:extLst>
              <a:ext uri="{FF2B5EF4-FFF2-40B4-BE49-F238E27FC236}">
                <a16:creationId xmlns="" xmlns:a16="http://schemas.microsoft.com/office/drawing/2014/main" id="{FB8A00DF-253C-4D57-AECD-1E43AD969385}"/>
              </a:ext>
            </a:extLst>
          </p:cNvPr>
          <p:cNvCxnSpPr>
            <a:stCxn id="100" idx="3"/>
            <a:endCxn id="106" idx="1"/>
          </p:cNvCxnSpPr>
          <p:nvPr/>
        </p:nvCxnSpPr>
        <p:spPr bwMode="auto">
          <a:xfrm>
            <a:off x="3800872" y="2946798"/>
            <a:ext cx="695246" cy="0"/>
          </a:xfrm>
          <a:prstGeom prst="line">
            <a:avLst/>
          </a:prstGeom>
          <a:solidFill>
            <a:srgbClr val="FBB779"/>
          </a:solidFill>
          <a:ln w="12700" cap="rnd" cmpd="sng" algn="ctr">
            <a:solidFill>
              <a:srgbClr val="BABABA"/>
            </a:solidFill>
            <a:prstDash val="solid"/>
            <a:round/>
            <a:headEnd type="oval" w="med" len="med"/>
            <a:tailEnd type="oval" w="med" len="med"/>
          </a:ln>
          <a:effectLst/>
        </p:spPr>
      </p:cxnSp>
      <p:cxnSp>
        <p:nvCxnSpPr>
          <p:cNvPr id="110" name="직선 연결선 109">
            <a:extLst>
              <a:ext uri="{FF2B5EF4-FFF2-40B4-BE49-F238E27FC236}">
                <a16:creationId xmlns="" xmlns:a16="http://schemas.microsoft.com/office/drawing/2014/main" id="{AA5D047D-1F9A-4F99-890D-86D818124D1C}"/>
              </a:ext>
            </a:extLst>
          </p:cNvPr>
          <p:cNvCxnSpPr>
            <a:stCxn id="101" idx="3"/>
            <a:endCxn id="106" idx="1"/>
          </p:cNvCxnSpPr>
          <p:nvPr/>
        </p:nvCxnSpPr>
        <p:spPr bwMode="auto">
          <a:xfrm flipV="1">
            <a:off x="3800872" y="2946798"/>
            <a:ext cx="695246" cy="536297"/>
          </a:xfrm>
          <a:prstGeom prst="line">
            <a:avLst/>
          </a:prstGeom>
          <a:solidFill>
            <a:srgbClr val="FBB779"/>
          </a:solidFill>
          <a:ln w="12700" cap="rnd" cmpd="sng" algn="ctr">
            <a:solidFill>
              <a:srgbClr val="BABABA"/>
            </a:solidFill>
            <a:prstDash val="solid"/>
            <a:round/>
            <a:headEnd type="oval" w="med" len="med"/>
            <a:tailEnd type="oval" w="med" len="med"/>
          </a:ln>
          <a:effectLst/>
        </p:spPr>
      </p:cxnSp>
      <p:cxnSp>
        <p:nvCxnSpPr>
          <p:cNvPr id="111" name="직선 연결선 110">
            <a:extLst>
              <a:ext uri="{FF2B5EF4-FFF2-40B4-BE49-F238E27FC236}">
                <a16:creationId xmlns="" xmlns:a16="http://schemas.microsoft.com/office/drawing/2014/main" id="{4DB28940-2741-48FF-B8FD-BC0459A93AB1}"/>
              </a:ext>
            </a:extLst>
          </p:cNvPr>
          <p:cNvCxnSpPr>
            <a:stCxn id="102" idx="3"/>
            <a:endCxn id="107" idx="1"/>
          </p:cNvCxnSpPr>
          <p:nvPr/>
        </p:nvCxnSpPr>
        <p:spPr bwMode="auto">
          <a:xfrm flipV="1">
            <a:off x="3800872" y="3617170"/>
            <a:ext cx="695246" cy="402223"/>
          </a:xfrm>
          <a:prstGeom prst="line">
            <a:avLst/>
          </a:prstGeom>
          <a:solidFill>
            <a:srgbClr val="FBB779"/>
          </a:solidFill>
          <a:ln w="12700" cap="rnd" cmpd="sng" algn="ctr">
            <a:solidFill>
              <a:srgbClr val="BABABA"/>
            </a:solidFill>
            <a:prstDash val="solid"/>
            <a:round/>
            <a:headEnd type="oval" w="med" len="med"/>
            <a:tailEnd type="oval" w="med" len="med"/>
          </a:ln>
          <a:effectLst/>
        </p:spPr>
      </p:cxnSp>
      <p:cxnSp>
        <p:nvCxnSpPr>
          <p:cNvPr id="112" name="직선 연결선 111">
            <a:extLst>
              <a:ext uri="{FF2B5EF4-FFF2-40B4-BE49-F238E27FC236}">
                <a16:creationId xmlns="" xmlns:a16="http://schemas.microsoft.com/office/drawing/2014/main" id="{060007DA-C5E2-46C3-8EA0-E8BE0DEE0F1F}"/>
              </a:ext>
            </a:extLst>
          </p:cNvPr>
          <p:cNvCxnSpPr>
            <a:stCxn id="103" idx="3"/>
            <a:endCxn id="108" idx="1"/>
          </p:cNvCxnSpPr>
          <p:nvPr/>
        </p:nvCxnSpPr>
        <p:spPr bwMode="auto">
          <a:xfrm flipV="1">
            <a:off x="3800872" y="4287541"/>
            <a:ext cx="695246" cy="268149"/>
          </a:xfrm>
          <a:prstGeom prst="line">
            <a:avLst/>
          </a:prstGeom>
          <a:solidFill>
            <a:srgbClr val="FBB779"/>
          </a:solidFill>
          <a:ln w="12700" cap="rnd" cmpd="sng" algn="ctr">
            <a:solidFill>
              <a:srgbClr val="BABABA"/>
            </a:solidFill>
            <a:prstDash val="solid"/>
            <a:round/>
            <a:headEnd type="oval" w="med" len="med"/>
            <a:tailEnd type="oval" w="med" len="med"/>
          </a:ln>
          <a:effectLst/>
        </p:spPr>
      </p:cxnSp>
      <p:cxnSp>
        <p:nvCxnSpPr>
          <p:cNvPr id="113" name="직선 연결선 112">
            <a:extLst>
              <a:ext uri="{FF2B5EF4-FFF2-40B4-BE49-F238E27FC236}">
                <a16:creationId xmlns="" xmlns:a16="http://schemas.microsoft.com/office/drawing/2014/main" id="{FEB490DA-1E46-497A-BF8E-6379F3A3D08C}"/>
              </a:ext>
            </a:extLst>
          </p:cNvPr>
          <p:cNvCxnSpPr>
            <a:stCxn id="98" idx="3"/>
            <a:endCxn id="104" idx="1"/>
          </p:cNvCxnSpPr>
          <p:nvPr/>
        </p:nvCxnSpPr>
        <p:spPr bwMode="auto">
          <a:xfrm flipV="1">
            <a:off x="3800872" y="4957912"/>
            <a:ext cx="695246" cy="134075"/>
          </a:xfrm>
          <a:prstGeom prst="line">
            <a:avLst/>
          </a:prstGeom>
          <a:solidFill>
            <a:srgbClr val="FBB779"/>
          </a:solidFill>
          <a:ln w="12700" cap="rnd" cmpd="sng" algn="ctr">
            <a:solidFill>
              <a:srgbClr val="BABABA"/>
            </a:solidFill>
            <a:prstDash val="solid"/>
            <a:round/>
            <a:headEnd type="oval" w="med" len="med"/>
            <a:tailEnd type="oval" w="med" len="med"/>
          </a:ln>
          <a:effectLst/>
        </p:spPr>
      </p:cxnSp>
      <p:cxnSp>
        <p:nvCxnSpPr>
          <p:cNvPr id="114" name="직선 연결선 113">
            <a:extLst>
              <a:ext uri="{FF2B5EF4-FFF2-40B4-BE49-F238E27FC236}">
                <a16:creationId xmlns="" xmlns:a16="http://schemas.microsoft.com/office/drawing/2014/main" id="{62682524-C33A-48F7-A54B-383DE46142D3}"/>
              </a:ext>
            </a:extLst>
          </p:cNvPr>
          <p:cNvCxnSpPr>
            <a:stCxn id="99" idx="3"/>
            <a:endCxn id="105" idx="1"/>
          </p:cNvCxnSpPr>
          <p:nvPr/>
        </p:nvCxnSpPr>
        <p:spPr bwMode="auto">
          <a:xfrm>
            <a:off x="3800872" y="5628285"/>
            <a:ext cx="695246" cy="0"/>
          </a:xfrm>
          <a:prstGeom prst="line">
            <a:avLst/>
          </a:prstGeom>
          <a:solidFill>
            <a:srgbClr val="FBB779"/>
          </a:solidFill>
          <a:ln w="12700" cap="rnd" cmpd="sng" algn="ctr">
            <a:solidFill>
              <a:srgbClr val="BABABA"/>
            </a:solidFill>
            <a:prstDash val="solid"/>
            <a:round/>
            <a:headEnd type="oval" w="med" len="med"/>
            <a:tailEnd type="oval" w="med" len="med"/>
          </a:ln>
          <a:effectLst/>
        </p:spPr>
      </p:cxnSp>
      <p:sp>
        <p:nvSpPr>
          <p:cNvPr id="115" name="원통 114">
            <a:extLst>
              <a:ext uri="{FF2B5EF4-FFF2-40B4-BE49-F238E27FC236}">
                <a16:creationId xmlns="" xmlns:a16="http://schemas.microsoft.com/office/drawing/2014/main" id="{1F8BAF3C-E8A5-43A9-A4B5-13BC7382131A}"/>
              </a:ext>
            </a:extLst>
          </p:cNvPr>
          <p:cNvSpPr/>
          <p:nvPr/>
        </p:nvSpPr>
        <p:spPr>
          <a:xfrm>
            <a:off x="6284576" y="3769690"/>
            <a:ext cx="942904" cy="791223"/>
          </a:xfrm>
          <a:prstGeom prst="can">
            <a:avLst/>
          </a:prstGeom>
          <a:gradFill flip="none" rotWithShape="1">
            <a:gsLst>
              <a:gs pos="0">
                <a:srgbClr val="7DAFFA">
                  <a:tint val="66000"/>
                  <a:satMod val="160000"/>
                </a:srgbClr>
              </a:gs>
              <a:gs pos="50000">
                <a:srgbClr val="7DAFFA">
                  <a:tint val="44500"/>
                  <a:satMod val="160000"/>
                </a:srgbClr>
              </a:gs>
              <a:gs pos="100000">
                <a:srgbClr val="7DAFFA">
                  <a:tint val="23500"/>
                  <a:satMod val="160000"/>
                </a:srgbClr>
              </a:gs>
            </a:gsLst>
            <a:lin ang="10800000" scaled="1"/>
            <a:tileRect/>
          </a:gradFill>
          <a:ln>
            <a:solidFill>
              <a:srgbClr val="BABABA"/>
            </a:solidFill>
          </a:ln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메타데이터</a:t>
            </a:r>
            <a:r>
              <a:rPr kumimoji="0" lang="en-US" altLang="ko-KR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ko-KR" alt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리파지토리</a:t>
            </a:r>
          </a:p>
        </p:txBody>
      </p:sp>
      <p:cxnSp>
        <p:nvCxnSpPr>
          <p:cNvPr id="116" name="직선 연결선 115">
            <a:extLst>
              <a:ext uri="{FF2B5EF4-FFF2-40B4-BE49-F238E27FC236}">
                <a16:creationId xmlns="" xmlns:a16="http://schemas.microsoft.com/office/drawing/2014/main" id="{9DC9C2ED-F376-4D31-BD83-F7A1B3336013}"/>
              </a:ext>
            </a:extLst>
          </p:cNvPr>
          <p:cNvCxnSpPr>
            <a:stCxn id="106" idx="3"/>
            <a:endCxn id="115" idx="2"/>
          </p:cNvCxnSpPr>
          <p:nvPr/>
        </p:nvCxnSpPr>
        <p:spPr bwMode="auto">
          <a:xfrm>
            <a:off x="5634216" y="2946798"/>
            <a:ext cx="650360" cy="1218504"/>
          </a:xfrm>
          <a:prstGeom prst="line">
            <a:avLst/>
          </a:prstGeom>
          <a:solidFill>
            <a:srgbClr val="FBB779"/>
          </a:solidFill>
          <a:ln w="12700" cap="rnd" cmpd="sng" algn="ctr">
            <a:solidFill>
              <a:srgbClr val="BABABA"/>
            </a:solidFill>
            <a:prstDash val="solid"/>
            <a:round/>
            <a:headEnd type="oval" w="med" len="med"/>
            <a:tailEnd type="oval" w="med" len="med"/>
          </a:ln>
          <a:effectLst/>
        </p:spPr>
      </p:cxnSp>
      <p:cxnSp>
        <p:nvCxnSpPr>
          <p:cNvPr id="117" name="직선 연결선 116">
            <a:extLst>
              <a:ext uri="{FF2B5EF4-FFF2-40B4-BE49-F238E27FC236}">
                <a16:creationId xmlns="" xmlns:a16="http://schemas.microsoft.com/office/drawing/2014/main" id="{13BE9627-8722-4A83-A728-09A40747716D}"/>
              </a:ext>
            </a:extLst>
          </p:cNvPr>
          <p:cNvCxnSpPr>
            <a:stCxn id="108" idx="3"/>
            <a:endCxn id="115" idx="2"/>
          </p:cNvCxnSpPr>
          <p:nvPr/>
        </p:nvCxnSpPr>
        <p:spPr bwMode="auto">
          <a:xfrm flipV="1">
            <a:off x="5634216" y="4165302"/>
            <a:ext cx="650360" cy="122239"/>
          </a:xfrm>
          <a:prstGeom prst="line">
            <a:avLst/>
          </a:prstGeom>
          <a:solidFill>
            <a:srgbClr val="FBB779"/>
          </a:solidFill>
          <a:ln w="12700" cap="rnd" cmpd="sng" algn="ctr">
            <a:solidFill>
              <a:srgbClr val="BABABA"/>
            </a:solidFill>
            <a:prstDash val="solid"/>
            <a:round/>
            <a:headEnd type="oval" w="med" len="med"/>
            <a:tailEnd type="oval" w="med" len="med"/>
          </a:ln>
          <a:effectLst/>
        </p:spPr>
      </p:cxnSp>
      <p:cxnSp>
        <p:nvCxnSpPr>
          <p:cNvPr id="118" name="직선 연결선 117">
            <a:extLst>
              <a:ext uri="{FF2B5EF4-FFF2-40B4-BE49-F238E27FC236}">
                <a16:creationId xmlns="" xmlns:a16="http://schemas.microsoft.com/office/drawing/2014/main" id="{0CBA30EA-0765-4811-920B-C93DBDBFF374}"/>
              </a:ext>
            </a:extLst>
          </p:cNvPr>
          <p:cNvCxnSpPr>
            <a:stCxn id="107" idx="3"/>
            <a:endCxn id="115" idx="2"/>
          </p:cNvCxnSpPr>
          <p:nvPr/>
        </p:nvCxnSpPr>
        <p:spPr bwMode="auto">
          <a:xfrm>
            <a:off x="5634216" y="3617170"/>
            <a:ext cx="650360" cy="548132"/>
          </a:xfrm>
          <a:prstGeom prst="line">
            <a:avLst/>
          </a:prstGeom>
          <a:solidFill>
            <a:srgbClr val="FBB779"/>
          </a:solidFill>
          <a:ln w="12700" cap="rnd" cmpd="sng" algn="ctr">
            <a:solidFill>
              <a:srgbClr val="BABABA"/>
            </a:solidFill>
            <a:prstDash val="solid"/>
            <a:round/>
            <a:headEnd type="oval" w="med" len="med"/>
            <a:tailEnd type="oval" w="med" len="med"/>
          </a:ln>
          <a:effectLst/>
        </p:spPr>
      </p:cxnSp>
      <p:cxnSp>
        <p:nvCxnSpPr>
          <p:cNvPr id="119" name="직선 연결선 118">
            <a:extLst>
              <a:ext uri="{FF2B5EF4-FFF2-40B4-BE49-F238E27FC236}">
                <a16:creationId xmlns="" xmlns:a16="http://schemas.microsoft.com/office/drawing/2014/main" id="{5E46B2D5-5528-47DB-B1A8-8BB39333A466}"/>
              </a:ext>
            </a:extLst>
          </p:cNvPr>
          <p:cNvCxnSpPr>
            <a:stCxn id="104" idx="3"/>
            <a:endCxn id="115" idx="2"/>
          </p:cNvCxnSpPr>
          <p:nvPr/>
        </p:nvCxnSpPr>
        <p:spPr bwMode="auto">
          <a:xfrm flipV="1">
            <a:off x="5634216" y="4165302"/>
            <a:ext cx="650360" cy="792610"/>
          </a:xfrm>
          <a:prstGeom prst="line">
            <a:avLst/>
          </a:prstGeom>
          <a:solidFill>
            <a:srgbClr val="FBB779"/>
          </a:solidFill>
          <a:ln w="12700" cap="rnd" cmpd="sng" algn="ctr">
            <a:solidFill>
              <a:srgbClr val="BABABA"/>
            </a:solidFill>
            <a:prstDash val="solid"/>
            <a:round/>
            <a:headEnd type="oval" w="med" len="med"/>
            <a:tailEnd type="oval" w="med" len="med"/>
          </a:ln>
          <a:effectLst/>
        </p:spPr>
      </p:cxnSp>
      <p:cxnSp>
        <p:nvCxnSpPr>
          <p:cNvPr id="120" name="직선 연결선 119">
            <a:extLst>
              <a:ext uri="{FF2B5EF4-FFF2-40B4-BE49-F238E27FC236}">
                <a16:creationId xmlns="" xmlns:a16="http://schemas.microsoft.com/office/drawing/2014/main" id="{C63F006F-7942-4F10-83E8-A083B3B89B7D}"/>
              </a:ext>
            </a:extLst>
          </p:cNvPr>
          <p:cNvCxnSpPr>
            <a:stCxn id="105" idx="3"/>
            <a:endCxn id="115" idx="2"/>
          </p:cNvCxnSpPr>
          <p:nvPr/>
        </p:nvCxnSpPr>
        <p:spPr bwMode="auto">
          <a:xfrm flipV="1">
            <a:off x="5634216" y="4165302"/>
            <a:ext cx="650360" cy="1462983"/>
          </a:xfrm>
          <a:prstGeom prst="line">
            <a:avLst/>
          </a:prstGeom>
          <a:solidFill>
            <a:srgbClr val="FBB779"/>
          </a:solidFill>
          <a:ln w="12700" cap="rnd" cmpd="sng" algn="ctr">
            <a:solidFill>
              <a:srgbClr val="BABABA"/>
            </a:solidFill>
            <a:prstDash val="solid"/>
            <a:round/>
            <a:headEnd type="oval" w="med" len="med"/>
            <a:tailEnd type="oval" w="med" len="med"/>
          </a:ln>
          <a:effectLst/>
        </p:spPr>
      </p:cxnSp>
      <p:sp>
        <p:nvSpPr>
          <p:cNvPr id="121" name="AutoShape 88">
            <a:extLst>
              <a:ext uri="{FF2B5EF4-FFF2-40B4-BE49-F238E27FC236}">
                <a16:creationId xmlns="" xmlns:a16="http://schemas.microsoft.com/office/drawing/2014/main" id="{947BFFDA-E172-46DC-A6A2-FC279572C9F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45088" y="2917894"/>
            <a:ext cx="439063" cy="2528595"/>
          </a:xfrm>
          <a:prstGeom prst="rightArrow">
            <a:avLst>
              <a:gd name="adj1" fmla="val 74847"/>
              <a:gd name="adj2" fmla="val 49627"/>
            </a:avLst>
          </a:prstGeom>
          <a:solidFill>
            <a:schemeClr val="bg1">
              <a:lumMod val="85000"/>
            </a:schemeClr>
          </a:solidFill>
          <a:ln>
            <a:solidFill>
              <a:srgbClr val="BABABA"/>
            </a:solidFill>
          </a:ln>
          <a:effectLst/>
          <a:extLst/>
        </p:spPr>
        <p:txBody>
          <a:bodyPr vert="eaVert" wrap="none" lIns="14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메타 데이터리파지토리 저장</a:t>
            </a:r>
          </a:p>
        </p:txBody>
      </p:sp>
      <p:sp>
        <p:nvSpPr>
          <p:cNvPr id="122" name="AutoShape 88">
            <a:extLst>
              <a:ext uri="{FF2B5EF4-FFF2-40B4-BE49-F238E27FC236}">
                <a16:creationId xmlns="" xmlns:a16="http://schemas.microsoft.com/office/drawing/2014/main" id="{F565D146-3BD0-4DE9-BDD5-4DC5E07673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21957" y="3009027"/>
            <a:ext cx="454979" cy="2620255"/>
          </a:xfrm>
          <a:prstGeom prst="rightArrow">
            <a:avLst>
              <a:gd name="adj1" fmla="val 74847"/>
              <a:gd name="adj2" fmla="val 49627"/>
            </a:avLst>
          </a:prstGeom>
          <a:solidFill>
            <a:schemeClr val="bg1">
              <a:lumMod val="85000"/>
            </a:schemeClr>
          </a:solidFill>
          <a:ln>
            <a:solidFill>
              <a:srgbClr val="BABABA"/>
            </a:solidFill>
          </a:ln>
          <a:effectLst/>
          <a:extLst/>
        </p:spPr>
        <p:txBody>
          <a:bodyPr vert="eaVert" wrap="none" lIns="14400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0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데이터 표준화</a:t>
            </a:r>
          </a:p>
        </p:txBody>
      </p:sp>
      <p:sp>
        <p:nvSpPr>
          <p:cNvPr id="53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Ⅲ. </a:t>
            </a:r>
            <a:r>
              <a:rPr lang="ko-KR" altLang="en-US" smtClean="0"/>
              <a:t>목표모델 설계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 </a:t>
            </a:r>
            <a:r>
              <a:rPr lang="ko-KR" altLang="en-US" dirty="0"/>
              <a:t>목표모델</a:t>
            </a:r>
            <a:r>
              <a:rPr lang="en-US" altLang="ko-KR" dirty="0"/>
              <a:t> </a:t>
            </a:r>
            <a:r>
              <a:rPr lang="ko-KR" altLang="en-US" dirty="0"/>
              <a:t>개선과제 정의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1.8 </a:t>
            </a:r>
            <a:r>
              <a:rPr lang="ko-KR" altLang="en-US"/>
              <a:t>데이터 </a:t>
            </a:r>
            <a:r>
              <a:rPr lang="ko-KR" altLang="en-US" smtClean="0"/>
              <a:t>아키텍처 표준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93874125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5"/>
          <p:cNvGrpSpPr/>
          <p:nvPr/>
        </p:nvGrpSpPr>
        <p:grpSpPr>
          <a:xfrm>
            <a:off x="344489" y="1592796"/>
            <a:ext cx="9217024" cy="4715929"/>
            <a:chOff x="354519" y="1592796"/>
            <a:chExt cx="6594107" cy="4715929"/>
          </a:xfrm>
        </p:grpSpPr>
        <p:sp>
          <p:nvSpPr>
            <p:cNvPr id="47" name="직사각형 46">
              <a:extLst>
                <a:ext uri="{FF2B5EF4-FFF2-40B4-BE49-F238E27FC236}">
                  <a16:creationId xmlns="" xmlns:a16="http://schemas.microsoft.com/office/drawing/2014/main" id="{F85AD92B-57B0-41A7-92B3-9A234F990FF5}"/>
                </a:ext>
              </a:extLst>
            </p:cNvPr>
            <p:cNvSpPr/>
            <p:nvPr/>
          </p:nvSpPr>
          <p:spPr bwMode="auto">
            <a:xfrm>
              <a:off x="354519" y="1592796"/>
              <a:ext cx="6594106" cy="324000"/>
            </a:xfrm>
            <a:prstGeom prst="rect">
              <a:avLst/>
            </a:prstGeom>
            <a:solidFill>
              <a:srgbClr val="233C5A"/>
            </a:solidFill>
            <a:ln w="12699">
              <a:solidFill>
                <a:srgbClr val="000000">
                  <a:lumMod val="50000"/>
                  <a:lumOff val="50000"/>
                </a:srgbClr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72000" tIns="72000" rIns="72000" bIns="72000" anchor="ctr"/>
            <a:lstStyle/>
            <a:p>
              <a:pPr algn="ctr" latinLnBrk="0">
                <a:defRPr/>
              </a:pPr>
              <a:r>
                <a:rPr lang="ko-KR" altLang="en-US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과제개요</a:t>
              </a:r>
              <a:endPara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endParaRPr>
            </a:p>
          </p:txBody>
        </p:sp>
        <p:sp>
          <p:nvSpPr>
            <p:cNvPr id="48" name="Rectangle 4">
              <a:extLst>
                <a:ext uri="{FF2B5EF4-FFF2-40B4-BE49-F238E27FC236}">
                  <a16:creationId xmlns="" xmlns:a16="http://schemas.microsoft.com/office/drawing/2014/main" id="{92183456-9CC2-436B-B685-C002B7E7E2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519" y="1916832"/>
              <a:ext cx="6594107" cy="4391893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ysClr val="window" lastClr="FFFFFF">
                  <a:lumMod val="50000"/>
                </a:sysClr>
              </a:solidFill>
              <a:prstDash val="solid"/>
              <a:round/>
              <a:headEnd type="none" w="med" len="med"/>
              <a:tailEnd type="none" w="sm" len="sm"/>
            </a:ln>
            <a:effectLst>
              <a:outerShdw blurRad="381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180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265113" indent="-265113" eaLnBrk="0" fontAlgn="base" latinLnBrk="0" hangingPunct="0">
                <a:spcBef>
                  <a:spcPts val="1200"/>
                </a:spcBef>
                <a:spcAft>
                  <a:spcPct val="0"/>
                </a:spcAft>
                <a:buClr>
                  <a:prstClr val="black"/>
                </a:buClr>
                <a:buFont typeface="Wingdings" pitchFamily="2" charset="2"/>
                <a:buChar char="q"/>
                <a:defRPr/>
              </a:pPr>
              <a:endParaRPr lang="ko-KR" altLang="en-US" sz="1400" kern="0" dirty="0">
                <a:solidFill>
                  <a:srgbClr val="000000"/>
                </a:solidFill>
                <a:latin typeface="+mn-ea"/>
              </a:endParaRPr>
            </a:p>
          </p:txBody>
        </p:sp>
      </p:grpSp>
      <p:grpSp>
        <p:nvGrpSpPr>
          <p:cNvPr id="6" name="그룹 4"/>
          <p:cNvGrpSpPr/>
          <p:nvPr/>
        </p:nvGrpSpPr>
        <p:grpSpPr>
          <a:xfrm>
            <a:off x="2463951" y="1975288"/>
            <a:ext cx="7026124" cy="4248000"/>
            <a:chOff x="2463951" y="1975288"/>
            <a:chExt cx="6893089" cy="4345672"/>
          </a:xfrm>
        </p:grpSpPr>
        <p:sp>
          <p:nvSpPr>
            <p:cNvPr id="8" name="자유형: 도형 7">
              <a:extLst>
                <a:ext uri="{FF2B5EF4-FFF2-40B4-BE49-F238E27FC236}">
                  <a16:creationId xmlns="" xmlns:a16="http://schemas.microsoft.com/office/drawing/2014/main" id="{DC8F9B3D-33EF-48D3-A461-A50900D519EB}"/>
                </a:ext>
              </a:extLst>
            </p:cNvPr>
            <p:cNvSpPr/>
            <p:nvPr/>
          </p:nvSpPr>
          <p:spPr>
            <a:xfrm>
              <a:off x="2463951" y="2002612"/>
              <a:ext cx="529865" cy="4299947"/>
            </a:xfrm>
            <a:custGeom>
              <a:avLst/>
              <a:gdLst>
                <a:gd name="connsiteX0" fmla="*/ 0 w 528992"/>
                <a:gd name="connsiteY0" fmla="*/ 324952 h 4299947"/>
                <a:gd name="connsiteX1" fmla="*/ 37785 w 528992"/>
                <a:gd name="connsiteY1" fmla="*/ 4012780 h 4299947"/>
                <a:gd name="connsiteX2" fmla="*/ 521435 w 528992"/>
                <a:gd name="connsiteY2" fmla="*/ 4299947 h 4299947"/>
                <a:gd name="connsiteX3" fmla="*/ 528992 w 528992"/>
                <a:gd name="connsiteY3" fmla="*/ 0 h 4299947"/>
                <a:gd name="connsiteX4" fmla="*/ 0 w 528992"/>
                <a:gd name="connsiteY4" fmla="*/ 324952 h 4299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8992" h="4299947">
                  <a:moveTo>
                    <a:pt x="0" y="324952"/>
                  </a:moveTo>
                  <a:lnTo>
                    <a:pt x="37785" y="4012780"/>
                  </a:lnTo>
                  <a:lnTo>
                    <a:pt x="521435" y="4299947"/>
                  </a:lnTo>
                  <a:lnTo>
                    <a:pt x="528992" y="0"/>
                  </a:lnTo>
                  <a:lnTo>
                    <a:pt x="0" y="324952"/>
                  </a:lnTo>
                  <a:close/>
                </a:path>
              </a:pathLst>
            </a:custGeom>
            <a:gradFill>
              <a:gsLst>
                <a:gs pos="82000">
                  <a:schemeClr val="bg1">
                    <a:lumMod val="85000"/>
                  </a:schemeClr>
                </a:gs>
                <a:gs pos="0">
                  <a:schemeClr val="bg1">
                    <a:lumMod val="95000"/>
                  </a:schemeClr>
                </a:gs>
              </a:gsLst>
              <a:lin ang="0" scaled="0"/>
            </a:gradFill>
            <a:ln w="63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="" xmlns:a16="http://schemas.microsoft.com/office/drawing/2014/main" id="{3D81FFC0-71B9-46DA-943A-B129A730D4BD}"/>
                </a:ext>
              </a:extLst>
            </p:cNvPr>
            <p:cNvSpPr/>
            <p:nvPr/>
          </p:nvSpPr>
          <p:spPr>
            <a:xfrm>
              <a:off x="2923626" y="1975288"/>
              <a:ext cx="6433414" cy="4345672"/>
            </a:xfrm>
            <a:prstGeom prst="rect">
              <a:avLst/>
            </a:prstGeom>
            <a:solidFill>
              <a:sysClr val="window" lastClr="FFFFFF"/>
            </a:solidFill>
            <a:ln>
              <a:solidFill>
                <a:sysClr val="window" lastClr="FFFFFF">
                  <a:lumMod val="50000"/>
                </a:sys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97969" tIns="48984" rIns="97969" bIns="48984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defTabSz="979488" latinLnBrk="0">
                <a:spcBef>
                  <a:spcPct val="50000"/>
                </a:spcBef>
                <a:defRPr/>
              </a:pPr>
              <a:endParaRPr kumimoji="1" lang="ko-KR" altLang="en-US" kern="0" dirty="0">
                <a:solidFill>
                  <a:srgbClr val="000099"/>
                </a:solidFill>
                <a:latin typeface="+mn-ea"/>
              </a:endParaRPr>
            </a:p>
          </p:txBody>
        </p:sp>
        <p:grpSp>
          <p:nvGrpSpPr>
            <p:cNvPr id="7" name="그룹 85">
              <a:extLst>
                <a:ext uri="{FF2B5EF4-FFF2-40B4-BE49-F238E27FC236}">
                  <a16:creationId xmlns="" xmlns:a16="http://schemas.microsoft.com/office/drawing/2014/main" id="{73987A2F-326C-4CD0-B79A-54DB536D835A}"/>
                </a:ext>
              </a:extLst>
            </p:cNvPr>
            <p:cNvGrpSpPr/>
            <p:nvPr/>
          </p:nvGrpSpPr>
          <p:grpSpPr>
            <a:xfrm>
              <a:off x="2993826" y="2026778"/>
              <a:ext cx="6177272" cy="4255416"/>
              <a:chOff x="2748955" y="2035656"/>
              <a:chExt cx="6071105" cy="4255416"/>
            </a:xfrm>
          </p:grpSpPr>
          <p:sp>
            <p:nvSpPr>
              <p:cNvPr id="87" name="직사각형 86">
                <a:extLst>
                  <a:ext uri="{FF2B5EF4-FFF2-40B4-BE49-F238E27FC236}">
                    <a16:creationId xmlns="" xmlns:a16="http://schemas.microsoft.com/office/drawing/2014/main" id="{3BD8B947-9794-4DA9-A8A0-A2416C4E54C6}"/>
                  </a:ext>
                </a:extLst>
              </p:cNvPr>
              <p:cNvSpPr/>
              <p:nvPr/>
            </p:nvSpPr>
            <p:spPr>
              <a:xfrm>
                <a:off x="2748955" y="2035656"/>
                <a:ext cx="838975" cy="4255416"/>
              </a:xfrm>
              <a:prstGeom prst="rect">
                <a:avLst/>
              </a:prstGeom>
              <a:solidFill>
                <a:srgbClr val="C7DDFD"/>
              </a:solidFill>
              <a:ln>
                <a:noFill/>
              </a:ln>
            </p:spPr>
            <p:txBody>
              <a:bodyPr vert="horz" wrap="square" lIns="97969" tIns="48984" rIns="97969" bIns="48984" numCol="1" rtlCol="0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 defTabSz="979488" latinLnBrk="0">
                  <a:spcBef>
                    <a:spcPct val="50000"/>
                  </a:spcBef>
                  <a:defRPr/>
                </a:pPr>
                <a:endParaRPr kumimoji="1" lang="ko-KR" altLang="en-US" kern="0" dirty="0">
                  <a:solidFill>
                    <a:srgbClr val="000099"/>
                  </a:solidFill>
                  <a:latin typeface="+mn-ea"/>
                </a:endParaRPr>
              </a:p>
            </p:txBody>
          </p:sp>
          <p:sp>
            <p:nvSpPr>
              <p:cNvPr id="88" name="직사각형 87">
                <a:extLst>
                  <a:ext uri="{FF2B5EF4-FFF2-40B4-BE49-F238E27FC236}">
                    <a16:creationId xmlns="" xmlns:a16="http://schemas.microsoft.com/office/drawing/2014/main" id="{462C3777-4666-48F1-B8E7-F560F769B567}"/>
                  </a:ext>
                </a:extLst>
              </p:cNvPr>
              <p:cNvSpPr/>
              <p:nvPr/>
            </p:nvSpPr>
            <p:spPr>
              <a:xfrm>
                <a:off x="2814261" y="2111448"/>
                <a:ext cx="951723" cy="410375"/>
              </a:xfrm>
              <a:prstGeom prst="rect">
                <a:avLst/>
              </a:prstGeom>
              <a:pattFill prst="pct20">
                <a:fgClr>
                  <a:srgbClr val="C7DDFD"/>
                </a:fgClr>
                <a:bgClr>
                  <a:sysClr val="window" lastClr="FFFFFF"/>
                </a:bgClr>
              </a:pattFill>
              <a:ln>
                <a:solidFill>
                  <a:sysClr val="window" lastClr="FFFFFF">
                    <a:lumMod val="50000"/>
                  </a:sysClr>
                </a:solidFill>
              </a:ln>
            </p:spPr>
            <p:txBody>
              <a:bodyPr vert="horz" wrap="square" lIns="97969" tIns="48984" rIns="97969" bIns="48984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79488" latinLnBrk="0">
                  <a:spcBef>
                    <a:spcPct val="50000"/>
                  </a:spcBef>
                  <a:defRPr/>
                </a:pPr>
                <a:r>
                  <a:rPr kumimoji="1" lang="ko-KR" altLang="en-US" sz="1000" kern="0" dirty="0">
                    <a:solidFill>
                      <a:prstClr val="black"/>
                    </a:solidFill>
                    <a:latin typeface="+mn-ea"/>
                  </a:rPr>
                  <a:t>과제 정의</a:t>
                </a:r>
              </a:p>
            </p:txBody>
          </p:sp>
          <p:sp>
            <p:nvSpPr>
              <p:cNvPr id="89" name="직사각형 88">
                <a:extLst>
                  <a:ext uri="{FF2B5EF4-FFF2-40B4-BE49-F238E27FC236}">
                    <a16:creationId xmlns="" xmlns:a16="http://schemas.microsoft.com/office/drawing/2014/main" id="{3197124E-28D4-472B-9558-9173E8CA2836}"/>
                  </a:ext>
                </a:extLst>
              </p:cNvPr>
              <p:cNvSpPr/>
              <p:nvPr/>
            </p:nvSpPr>
            <p:spPr>
              <a:xfrm>
                <a:off x="3831300" y="2111448"/>
                <a:ext cx="4988760" cy="410375"/>
              </a:xfrm>
              <a:prstGeom prst="rect">
                <a:avLst/>
              </a:prstGeom>
              <a:solidFill>
                <a:sysClr val="window" lastClr="FFFFFF"/>
              </a:solidFill>
              <a:ln>
                <a:solidFill>
                  <a:sysClr val="window" lastClr="FFFFFF">
                    <a:lumMod val="50000"/>
                  </a:sysClr>
                </a:solidFill>
              </a:ln>
            </p:spPr>
            <p:txBody>
              <a:bodyPr vert="horz" wrap="square" lIns="97969" tIns="48984" rIns="97969" bIns="48984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93663" indent="-93663" defTabSz="979488" latinLnBrk="0">
                  <a:spcBef>
                    <a:spcPct val="50000"/>
                  </a:spcBef>
                  <a:buFont typeface="Wingdings" pitchFamily="2" charset="2"/>
                  <a:buChar char="§"/>
                  <a:defRPr/>
                </a:pPr>
                <a:r>
                  <a:rPr kumimoji="1" lang="ko-KR" altLang="en-US" sz="1000" kern="0" smtClean="0">
                    <a:solidFill>
                      <a:prstClr val="black"/>
                    </a:solidFill>
                    <a:latin typeface="+mn-ea"/>
                  </a:rPr>
                  <a:t>데이터 품질관리 체계를 </a:t>
                </a:r>
                <a:r>
                  <a:rPr kumimoji="1" lang="ko-KR" altLang="en-US" sz="1000" kern="0" dirty="0">
                    <a:solidFill>
                      <a:prstClr val="black"/>
                    </a:solidFill>
                    <a:latin typeface="+mn-ea"/>
                  </a:rPr>
                  <a:t>강화하고 체계적인 품질관리 업무 지원을 위한 </a:t>
                </a:r>
                <a:r>
                  <a:rPr kumimoji="1" lang="ko-KR" altLang="en-US" sz="1000" kern="0">
                    <a:solidFill>
                      <a:prstClr val="black"/>
                    </a:solidFill>
                    <a:latin typeface="+mn-ea"/>
                  </a:rPr>
                  <a:t>데이터 </a:t>
                </a:r>
                <a:r>
                  <a:rPr kumimoji="1" lang="ko-KR" altLang="en-US" sz="1000" kern="0" smtClean="0">
                    <a:solidFill>
                      <a:prstClr val="black"/>
                    </a:solidFill>
                    <a:latin typeface="+mn-ea"/>
                  </a:rPr>
                  <a:t>품질관리 표준화 방안 수립</a:t>
                </a:r>
                <a:endParaRPr kumimoji="1" lang="ko-KR" altLang="en-US" sz="10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="" xmlns:a16="http://schemas.microsoft.com/office/drawing/2014/main" id="{4A3DA6E3-91CE-4B46-AB40-3122683B6F23}"/>
                  </a:ext>
                </a:extLst>
              </p:cNvPr>
              <p:cNvSpPr/>
              <p:nvPr/>
            </p:nvSpPr>
            <p:spPr>
              <a:xfrm>
                <a:off x="2814261" y="3306469"/>
                <a:ext cx="951723" cy="410375"/>
              </a:xfrm>
              <a:prstGeom prst="rect">
                <a:avLst/>
              </a:prstGeom>
              <a:pattFill prst="pct20">
                <a:fgClr>
                  <a:srgbClr val="C7DDFD"/>
                </a:fgClr>
                <a:bgClr>
                  <a:sysClr val="window" lastClr="FFFFFF"/>
                </a:bgClr>
              </a:pattFill>
              <a:ln>
                <a:solidFill>
                  <a:sysClr val="window" lastClr="FFFFFF">
                    <a:lumMod val="50000"/>
                  </a:sysClr>
                </a:solidFill>
              </a:ln>
            </p:spPr>
            <p:txBody>
              <a:bodyPr vert="horz" wrap="square" lIns="97969" tIns="48984" rIns="97969" bIns="48984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79488" latinLnBrk="0">
                  <a:spcBef>
                    <a:spcPct val="50000"/>
                  </a:spcBef>
                  <a:defRPr/>
                </a:pPr>
                <a:r>
                  <a:rPr kumimoji="1" lang="ko-KR" altLang="en-US" sz="1000" kern="0" dirty="0">
                    <a:solidFill>
                      <a:prstClr val="black"/>
                    </a:solidFill>
                    <a:latin typeface="+mn-ea"/>
                  </a:rPr>
                  <a:t>현황 및 문제점</a:t>
                </a:r>
              </a:p>
            </p:txBody>
          </p:sp>
          <p:sp>
            <p:nvSpPr>
              <p:cNvPr id="91" name="직사각형 90">
                <a:extLst>
                  <a:ext uri="{FF2B5EF4-FFF2-40B4-BE49-F238E27FC236}">
                    <a16:creationId xmlns="" xmlns:a16="http://schemas.microsoft.com/office/drawing/2014/main" id="{3645D26A-84A7-4B58-98CD-009CE5F34953}"/>
                  </a:ext>
                </a:extLst>
              </p:cNvPr>
              <p:cNvSpPr/>
              <p:nvPr/>
            </p:nvSpPr>
            <p:spPr>
              <a:xfrm>
                <a:off x="3831300" y="3306469"/>
                <a:ext cx="4988760" cy="810210"/>
              </a:xfrm>
              <a:prstGeom prst="rect">
                <a:avLst/>
              </a:prstGeom>
              <a:solidFill>
                <a:sysClr val="window" lastClr="FFFFFF"/>
              </a:solidFill>
              <a:ln>
                <a:solidFill>
                  <a:sysClr val="window" lastClr="FFFFFF">
                    <a:lumMod val="50000"/>
                  </a:sysClr>
                </a:solidFill>
              </a:ln>
            </p:spPr>
            <p:txBody>
              <a:bodyPr vert="horz" wrap="square" lIns="97969" tIns="48984" rIns="97969" bIns="48984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93663" indent="-93663" defTabSz="979488" latinLnBrk="0">
                  <a:spcBef>
                    <a:spcPts val="300"/>
                  </a:spcBef>
                  <a:buFont typeface="Wingdings" pitchFamily="2" charset="2"/>
                  <a:buChar char="§"/>
                  <a:defRPr/>
                </a:pPr>
                <a:r>
                  <a:rPr kumimoji="1" lang="ko-KR" altLang="en-US" sz="1000" kern="0" dirty="0">
                    <a:solidFill>
                      <a:prstClr val="black"/>
                    </a:solidFill>
                    <a:latin typeface="+mn-ea"/>
                  </a:rPr>
                  <a:t>데이터베이스 설계 및 관리 미흡으로 산출물의 현행화가 되지 않음</a:t>
                </a:r>
                <a:endParaRPr kumimoji="1" lang="en-US" altLang="ko-KR" sz="1000" kern="0" dirty="0">
                  <a:solidFill>
                    <a:prstClr val="black"/>
                  </a:solidFill>
                  <a:latin typeface="+mn-ea"/>
                </a:endParaRPr>
              </a:p>
              <a:p>
                <a:pPr marL="93663" indent="-93663" defTabSz="979488" latinLnBrk="0">
                  <a:spcBef>
                    <a:spcPts val="300"/>
                  </a:spcBef>
                  <a:buFont typeface="Wingdings" pitchFamily="2" charset="2"/>
                  <a:buChar char="§"/>
                  <a:defRPr/>
                </a:pPr>
                <a:r>
                  <a:rPr kumimoji="1" lang="ko-KR" altLang="en-US" sz="1000" kern="0" dirty="0">
                    <a:solidFill>
                      <a:prstClr val="black"/>
                    </a:solidFill>
                    <a:latin typeface="+mn-ea"/>
                  </a:rPr>
                  <a:t>데이터 표준화 등 일관된 데이터 품질관리 미흡으로 데이터 품질 저하</a:t>
                </a:r>
                <a:endParaRPr kumimoji="1" lang="en-US" altLang="ko-KR" sz="1000" kern="0" dirty="0">
                  <a:solidFill>
                    <a:prstClr val="black"/>
                  </a:solidFill>
                  <a:latin typeface="+mn-ea"/>
                </a:endParaRPr>
              </a:p>
              <a:p>
                <a:pPr marL="93663" indent="-93663" defTabSz="979488" latinLnBrk="0">
                  <a:spcBef>
                    <a:spcPts val="300"/>
                  </a:spcBef>
                  <a:buFont typeface="Wingdings" pitchFamily="2" charset="2"/>
                  <a:buChar char="§"/>
                  <a:defRPr/>
                </a:pPr>
                <a:r>
                  <a:rPr kumimoji="1" lang="ko-KR" altLang="en-US" sz="1000" kern="0" dirty="0">
                    <a:solidFill>
                      <a:prstClr val="black"/>
                    </a:solidFill>
                    <a:latin typeface="+mn-ea"/>
                  </a:rPr>
                  <a:t>데이터 품질관리 업무를 수작업에 의존하여 엄격한 데이터 품질관리 제약</a:t>
                </a:r>
              </a:p>
            </p:txBody>
          </p:sp>
          <p:sp>
            <p:nvSpPr>
              <p:cNvPr id="92" name="직사각형 91">
                <a:extLst>
                  <a:ext uri="{FF2B5EF4-FFF2-40B4-BE49-F238E27FC236}">
                    <a16:creationId xmlns="" xmlns:a16="http://schemas.microsoft.com/office/drawing/2014/main" id="{B22CB68C-1A52-4323-9BA6-715C4CA74F06}"/>
                  </a:ext>
                </a:extLst>
              </p:cNvPr>
              <p:cNvSpPr/>
              <p:nvPr/>
            </p:nvSpPr>
            <p:spPr>
              <a:xfrm>
                <a:off x="2814261" y="2596957"/>
                <a:ext cx="951723" cy="410375"/>
              </a:xfrm>
              <a:prstGeom prst="rect">
                <a:avLst/>
              </a:prstGeom>
              <a:pattFill prst="pct20">
                <a:fgClr>
                  <a:srgbClr val="C7DDFD"/>
                </a:fgClr>
                <a:bgClr>
                  <a:sysClr val="window" lastClr="FFFFFF"/>
                </a:bgClr>
              </a:pattFill>
              <a:ln>
                <a:solidFill>
                  <a:sysClr val="window" lastClr="FFFFFF">
                    <a:lumMod val="50000"/>
                  </a:sysClr>
                </a:solidFill>
              </a:ln>
            </p:spPr>
            <p:txBody>
              <a:bodyPr vert="horz" wrap="square" lIns="97969" tIns="48984" rIns="97969" bIns="48984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79488" latinLnBrk="0">
                  <a:spcBef>
                    <a:spcPct val="50000"/>
                  </a:spcBef>
                  <a:defRPr/>
                </a:pPr>
                <a:r>
                  <a:rPr kumimoji="1" lang="ko-KR" altLang="en-US" sz="1000" kern="0" dirty="0">
                    <a:solidFill>
                      <a:prstClr val="black"/>
                    </a:solidFill>
                    <a:latin typeface="+mn-ea"/>
                  </a:rPr>
                  <a:t>목적 및 필요성</a:t>
                </a:r>
              </a:p>
            </p:txBody>
          </p:sp>
          <p:sp>
            <p:nvSpPr>
              <p:cNvPr id="93" name="직사각형 92">
                <a:extLst>
                  <a:ext uri="{FF2B5EF4-FFF2-40B4-BE49-F238E27FC236}">
                    <a16:creationId xmlns="" xmlns:a16="http://schemas.microsoft.com/office/drawing/2014/main" id="{746CCBF5-18E3-4846-B382-B28F40C95B89}"/>
                  </a:ext>
                </a:extLst>
              </p:cNvPr>
              <p:cNvSpPr/>
              <p:nvPr/>
            </p:nvSpPr>
            <p:spPr>
              <a:xfrm>
                <a:off x="3831300" y="2596957"/>
                <a:ext cx="4988760" cy="619567"/>
              </a:xfrm>
              <a:prstGeom prst="rect">
                <a:avLst/>
              </a:prstGeom>
              <a:solidFill>
                <a:sysClr val="window" lastClr="FFFFFF"/>
              </a:solidFill>
              <a:ln>
                <a:solidFill>
                  <a:sysClr val="window" lastClr="FFFFFF">
                    <a:lumMod val="50000"/>
                  </a:sysClr>
                </a:solidFill>
              </a:ln>
            </p:spPr>
            <p:txBody>
              <a:bodyPr vert="horz" wrap="square" lIns="97969" tIns="48984" rIns="97969" bIns="48984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93663" indent="-93663" defTabSz="979488" latinLnBrk="0">
                  <a:spcBef>
                    <a:spcPct val="50000"/>
                  </a:spcBef>
                  <a:buFont typeface="Wingdings" pitchFamily="2" charset="2"/>
                  <a:buChar char="§"/>
                  <a:defRPr/>
                </a:pPr>
                <a:r>
                  <a:rPr kumimoji="1" lang="ko-KR" altLang="en-US" sz="1000" kern="0" smtClean="0">
                    <a:solidFill>
                      <a:prstClr val="black"/>
                    </a:solidFill>
                    <a:latin typeface="+mn-ea"/>
                  </a:rPr>
                  <a:t>데이터 </a:t>
                </a:r>
                <a:r>
                  <a:rPr kumimoji="1" lang="ko-KR" altLang="en-US" sz="1000" kern="0">
                    <a:solidFill>
                      <a:prstClr val="black"/>
                    </a:solidFill>
                    <a:latin typeface="+mn-ea"/>
                  </a:rPr>
                  <a:t>품질관리 </a:t>
                </a:r>
                <a:r>
                  <a:rPr kumimoji="1" lang="ko-KR" altLang="en-US" sz="1000" kern="0" smtClean="0">
                    <a:solidFill>
                      <a:prstClr val="black"/>
                    </a:solidFill>
                    <a:latin typeface="+mn-ea"/>
                  </a:rPr>
                  <a:t>활동 미비로 </a:t>
                </a:r>
                <a:r>
                  <a:rPr kumimoji="1" lang="ko-KR" altLang="en-US" sz="1000" kern="0" dirty="0">
                    <a:solidFill>
                      <a:prstClr val="black"/>
                    </a:solidFill>
                    <a:latin typeface="+mn-ea"/>
                  </a:rPr>
                  <a:t>데이터 품질 및 신뢰도 저하</a:t>
                </a:r>
                <a:endParaRPr kumimoji="1" lang="en-US" altLang="ko-KR" sz="1000" kern="0" dirty="0">
                  <a:solidFill>
                    <a:prstClr val="black"/>
                  </a:solidFill>
                  <a:latin typeface="+mn-ea"/>
                </a:endParaRPr>
              </a:p>
              <a:p>
                <a:pPr marL="93663" indent="-93663" defTabSz="979488" latinLnBrk="0">
                  <a:spcBef>
                    <a:spcPct val="50000"/>
                  </a:spcBef>
                  <a:buFont typeface="Wingdings" pitchFamily="2" charset="2"/>
                  <a:buChar char="§"/>
                  <a:defRPr/>
                </a:pPr>
                <a:r>
                  <a:rPr kumimoji="1" lang="ko-KR" altLang="en-US" sz="1000" kern="0" smtClean="0">
                    <a:solidFill>
                      <a:prstClr val="black"/>
                    </a:solidFill>
                    <a:latin typeface="+mn-ea"/>
                  </a:rPr>
                  <a:t>경영정보시스템 </a:t>
                </a:r>
                <a:r>
                  <a:rPr kumimoji="1" lang="ko-KR" altLang="en-US" sz="1000" kern="0" dirty="0">
                    <a:solidFill>
                      <a:prstClr val="black"/>
                    </a:solidFill>
                    <a:latin typeface="+mn-ea"/>
                  </a:rPr>
                  <a:t>구축에 따른 전사적인 데이터 표준화 및 지속적 적용 필요</a:t>
                </a:r>
              </a:p>
            </p:txBody>
          </p:sp>
          <p:sp>
            <p:nvSpPr>
              <p:cNvPr id="94" name="직사각형 93">
                <a:extLst>
                  <a:ext uri="{FF2B5EF4-FFF2-40B4-BE49-F238E27FC236}">
                    <a16:creationId xmlns="" xmlns:a16="http://schemas.microsoft.com/office/drawing/2014/main" id="{C70CC1FB-D735-4714-A12C-D27BF40CD53F}"/>
                  </a:ext>
                </a:extLst>
              </p:cNvPr>
              <p:cNvSpPr/>
              <p:nvPr/>
            </p:nvSpPr>
            <p:spPr>
              <a:xfrm>
                <a:off x="2814261" y="4207938"/>
                <a:ext cx="951723" cy="410375"/>
              </a:xfrm>
              <a:prstGeom prst="rect">
                <a:avLst/>
              </a:prstGeom>
              <a:pattFill prst="pct20">
                <a:fgClr>
                  <a:srgbClr val="C7DDFD"/>
                </a:fgClr>
                <a:bgClr>
                  <a:sysClr val="window" lastClr="FFFFFF"/>
                </a:bgClr>
              </a:pattFill>
              <a:ln>
                <a:solidFill>
                  <a:sysClr val="window" lastClr="FFFFFF">
                    <a:lumMod val="50000"/>
                  </a:sysClr>
                </a:solidFill>
              </a:ln>
            </p:spPr>
            <p:txBody>
              <a:bodyPr vert="horz" wrap="square" lIns="97969" tIns="48984" rIns="97969" bIns="48984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79488" latinLnBrk="0">
                  <a:spcBef>
                    <a:spcPct val="50000"/>
                  </a:spcBef>
                  <a:defRPr/>
                </a:pPr>
                <a:r>
                  <a:rPr kumimoji="1" lang="ko-KR" altLang="en-US" sz="1000" kern="0" dirty="0">
                    <a:solidFill>
                      <a:prstClr val="black"/>
                    </a:solidFill>
                    <a:latin typeface="+mn-ea"/>
                  </a:rPr>
                  <a:t>개선 방향</a:t>
                </a:r>
              </a:p>
            </p:txBody>
          </p:sp>
          <p:sp>
            <p:nvSpPr>
              <p:cNvPr id="95" name="직사각형 94">
                <a:extLst>
                  <a:ext uri="{FF2B5EF4-FFF2-40B4-BE49-F238E27FC236}">
                    <a16:creationId xmlns="" xmlns:a16="http://schemas.microsoft.com/office/drawing/2014/main" id="{5FC3F293-C2CE-4C3A-A082-2985541B2A49}"/>
                  </a:ext>
                </a:extLst>
              </p:cNvPr>
              <p:cNvSpPr/>
              <p:nvPr/>
            </p:nvSpPr>
            <p:spPr>
              <a:xfrm>
                <a:off x="3831299" y="4207938"/>
                <a:ext cx="4988760" cy="1420811"/>
              </a:xfrm>
              <a:prstGeom prst="rect">
                <a:avLst/>
              </a:prstGeom>
              <a:solidFill>
                <a:sysClr val="window" lastClr="FFFFFF"/>
              </a:solidFill>
              <a:ln>
                <a:solidFill>
                  <a:sysClr val="window" lastClr="FFFFFF">
                    <a:lumMod val="50000"/>
                  </a:sysClr>
                </a:solidFill>
              </a:ln>
            </p:spPr>
            <p:txBody>
              <a:bodyPr vert="horz" wrap="square" lIns="97969" tIns="48984" rIns="97969" bIns="48984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93663" indent="-93663" defTabSz="979488" latinLnBrk="0">
                  <a:spcBef>
                    <a:spcPct val="50000"/>
                  </a:spcBef>
                  <a:buFont typeface="Wingdings" pitchFamily="2" charset="2"/>
                  <a:buChar char="§"/>
                  <a:defRPr/>
                </a:pPr>
                <a:r>
                  <a:rPr kumimoji="1" lang="ko-KR" altLang="en-US" sz="1000" kern="0" dirty="0">
                    <a:solidFill>
                      <a:prstClr val="black"/>
                    </a:solidFill>
                    <a:latin typeface="+mn-ea"/>
                  </a:rPr>
                  <a:t>데이터 표준화</a:t>
                </a:r>
                <a:r>
                  <a:rPr kumimoji="1" lang="en-US" altLang="ko-KR" sz="1000" kern="0" dirty="0">
                    <a:solidFill>
                      <a:prstClr val="black"/>
                    </a:solidFill>
                    <a:latin typeface="+mn-ea"/>
                  </a:rPr>
                  <a:t>, </a:t>
                </a:r>
                <a:r>
                  <a:rPr kumimoji="1" lang="ko-KR" altLang="en-US" sz="1000" kern="0" dirty="0">
                    <a:solidFill>
                      <a:prstClr val="black"/>
                    </a:solidFill>
                    <a:latin typeface="+mn-ea"/>
                  </a:rPr>
                  <a:t>데이터 품질관리 프로세스</a:t>
                </a:r>
                <a:r>
                  <a:rPr kumimoji="1" lang="en-US" altLang="ko-KR" sz="1000" kern="0" dirty="0">
                    <a:solidFill>
                      <a:prstClr val="black"/>
                    </a:solidFill>
                    <a:latin typeface="+mn-ea"/>
                  </a:rPr>
                  <a:t>, </a:t>
                </a:r>
                <a:r>
                  <a:rPr kumimoji="1" lang="ko-KR" altLang="en-US" sz="1000" kern="0" dirty="0">
                    <a:solidFill>
                      <a:prstClr val="black"/>
                    </a:solidFill>
                    <a:latin typeface="+mn-ea"/>
                  </a:rPr>
                  <a:t>데이터 품질 조직 등 핵심적인 데이터 품질관리 영역 강화 방안 제시</a:t>
                </a:r>
                <a:endParaRPr kumimoji="1" lang="en-US" altLang="ko-KR" sz="1000" kern="0" dirty="0">
                  <a:solidFill>
                    <a:prstClr val="black"/>
                  </a:solidFill>
                  <a:latin typeface="+mn-ea"/>
                </a:endParaRPr>
              </a:p>
              <a:p>
                <a:pPr marL="93663" indent="-93663" defTabSz="979488" latinLnBrk="0">
                  <a:spcBef>
                    <a:spcPct val="50000"/>
                  </a:spcBef>
                  <a:buFont typeface="Wingdings" pitchFamily="2" charset="2"/>
                  <a:buChar char="§"/>
                  <a:defRPr/>
                </a:pPr>
                <a:r>
                  <a:rPr kumimoji="1" lang="ko-KR" altLang="en-US" sz="1000" kern="0" dirty="0">
                    <a:solidFill>
                      <a:prstClr val="black"/>
                    </a:solidFill>
                    <a:latin typeface="+mn-ea"/>
                  </a:rPr>
                  <a:t>수작업에 의해 이루어지고 있는 데이터 품질관리 업무를 </a:t>
                </a:r>
                <a:r>
                  <a:rPr kumimoji="1" lang="ko-KR" altLang="en-US" sz="1000" kern="0">
                    <a:solidFill>
                      <a:prstClr val="black"/>
                    </a:solidFill>
                    <a:latin typeface="+mn-ea"/>
                  </a:rPr>
                  <a:t>지원하기 </a:t>
                </a:r>
                <a:r>
                  <a:rPr kumimoji="1" lang="ko-KR" altLang="en-US" sz="1000" kern="0" smtClean="0">
                    <a:solidFill>
                      <a:prstClr val="black"/>
                    </a:solidFill>
                    <a:latin typeface="+mn-ea"/>
                  </a:rPr>
                  <a:t>위한 데이터 품질관리 표준화 방안 </a:t>
                </a:r>
                <a:r>
                  <a:rPr kumimoji="1" lang="ko-KR" altLang="en-US" sz="1000" kern="0" dirty="0">
                    <a:solidFill>
                      <a:prstClr val="black"/>
                    </a:solidFill>
                    <a:latin typeface="+mn-ea"/>
                  </a:rPr>
                  <a:t>제시</a:t>
                </a:r>
                <a:endParaRPr kumimoji="1" lang="en-US" altLang="ko-KR" sz="1000" kern="0" dirty="0">
                  <a:solidFill>
                    <a:prstClr val="black"/>
                  </a:solidFill>
                  <a:latin typeface="+mn-ea"/>
                </a:endParaRPr>
              </a:p>
              <a:p>
                <a:pPr marL="93663" indent="-93663" defTabSz="979488" latinLnBrk="0">
                  <a:spcBef>
                    <a:spcPct val="50000"/>
                  </a:spcBef>
                  <a:buFont typeface="Wingdings" pitchFamily="2" charset="2"/>
                  <a:buChar char="§"/>
                  <a:defRPr/>
                </a:pPr>
                <a:r>
                  <a:rPr kumimoji="1" lang="ko-KR" altLang="en-US" sz="1000" kern="0" dirty="0">
                    <a:solidFill>
                      <a:prstClr val="black"/>
                    </a:solidFill>
                    <a:latin typeface="+mn-ea"/>
                  </a:rPr>
                  <a:t>목표 데이터품질관리 체계 및 데이터품질관리 도구를 </a:t>
                </a:r>
                <a:r>
                  <a:rPr kumimoji="1" lang="ko-KR" altLang="en-US" sz="1000" kern="0">
                    <a:solidFill>
                      <a:prstClr val="black"/>
                    </a:solidFill>
                    <a:latin typeface="+mn-ea"/>
                  </a:rPr>
                  <a:t>활용하여 </a:t>
                </a:r>
                <a:r>
                  <a:rPr kumimoji="1" lang="ko-KR" altLang="en-US" sz="1000" kern="0" smtClean="0">
                    <a:solidFill>
                      <a:prstClr val="black"/>
                    </a:solidFill>
                    <a:latin typeface="+mn-ea"/>
                  </a:rPr>
                  <a:t>경영정보스템 </a:t>
                </a:r>
                <a:r>
                  <a:rPr kumimoji="1" lang="ko-KR" altLang="en-US" sz="1000" kern="0" dirty="0">
                    <a:solidFill>
                      <a:prstClr val="black"/>
                    </a:solidFill>
                    <a:latin typeface="+mn-ea"/>
                  </a:rPr>
                  <a:t>구축에 적용할 상세 데이터 표준화 수립 방안을 제시</a:t>
                </a:r>
                <a:endParaRPr kumimoji="1" lang="en-US" altLang="ko-KR" sz="10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  <p:sp>
            <p:nvSpPr>
              <p:cNvPr id="96" name="직사각형 95">
                <a:extLst>
                  <a:ext uri="{FF2B5EF4-FFF2-40B4-BE49-F238E27FC236}">
                    <a16:creationId xmlns="" xmlns:a16="http://schemas.microsoft.com/office/drawing/2014/main" id="{9F60708A-697A-422E-84EB-603677EFF344}"/>
                  </a:ext>
                </a:extLst>
              </p:cNvPr>
              <p:cNvSpPr/>
              <p:nvPr/>
            </p:nvSpPr>
            <p:spPr>
              <a:xfrm>
                <a:off x="2814261" y="5713669"/>
                <a:ext cx="951723" cy="410375"/>
              </a:xfrm>
              <a:prstGeom prst="rect">
                <a:avLst/>
              </a:prstGeom>
              <a:pattFill prst="pct20">
                <a:fgClr>
                  <a:srgbClr val="C7DDFD"/>
                </a:fgClr>
                <a:bgClr>
                  <a:sysClr val="window" lastClr="FFFFFF"/>
                </a:bgClr>
              </a:pattFill>
              <a:ln>
                <a:solidFill>
                  <a:sysClr val="window" lastClr="FFFFFF">
                    <a:lumMod val="50000"/>
                  </a:sysClr>
                </a:solidFill>
              </a:ln>
            </p:spPr>
            <p:txBody>
              <a:bodyPr vert="horz" wrap="square" lIns="97969" tIns="48984" rIns="97969" bIns="48984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 defTabSz="979488" latinLnBrk="0">
                  <a:spcBef>
                    <a:spcPct val="50000"/>
                  </a:spcBef>
                  <a:defRPr/>
                </a:pPr>
                <a:r>
                  <a:rPr kumimoji="1" lang="ko-KR" altLang="en-US" sz="1000" kern="0" dirty="0">
                    <a:solidFill>
                      <a:prstClr val="black"/>
                    </a:solidFill>
                    <a:latin typeface="+mn-ea"/>
                  </a:rPr>
                  <a:t>고려사항</a:t>
                </a:r>
              </a:p>
            </p:txBody>
          </p:sp>
          <p:sp>
            <p:nvSpPr>
              <p:cNvPr id="97" name="직사각형 96">
                <a:extLst>
                  <a:ext uri="{FF2B5EF4-FFF2-40B4-BE49-F238E27FC236}">
                    <a16:creationId xmlns="" xmlns:a16="http://schemas.microsoft.com/office/drawing/2014/main" id="{F3587659-245E-46A2-96B1-18B88C25A318}"/>
                  </a:ext>
                </a:extLst>
              </p:cNvPr>
              <p:cNvSpPr/>
              <p:nvPr/>
            </p:nvSpPr>
            <p:spPr>
              <a:xfrm>
                <a:off x="3831300" y="5713669"/>
                <a:ext cx="4988760" cy="505551"/>
              </a:xfrm>
              <a:prstGeom prst="rect">
                <a:avLst/>
              </a:prstGeom>
              <a:solidFill>
                <a:sysClr val="window" lastClr="FFFFFF"/>
              </a:solidFill>
              <a:ln>
                <a:solidFill>
                  <a:sysClr val="window" lastClr="FFFFFF">
                    <a:lumMod val="50000"/>
                  </a:sysClr>
                </a:solidFill>
              </a:ln>
            </p:spPr>
            <p:txBody>
              <a:bodyPr vert="horz" wrap="square" lIns="97969" tIns="48984" rIns="97969" bIns="48984" numCol="1" rtlCol="0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93663" indent="-93663" defTabSz="979488" latinLnBrk="0">
                  <a:spcBef>
                    <a:spcPct val="50000"/>
                  </a:spcBef>
                  <a:buFont typeface="Wingdings" pitchFamily="2" charset="2"/>
                  <a:buChar char="§"/>
                  <a:defRPr/>
                </a:pPr>
                <a:r>
                  <a:rPr kumimoji="1" lang="ko-KR" altLang="en-US" sz="1000" kern="0" smtClean="0">
                    <a:solidFill>
                      <a:prstClr val="black"/>
                    </a:solidFill>
                    <a:latin typeface="+mn-ea"/>
                  </a:rPr>
                  <a:t>현행 시스템의 구축된 </a:t>
                </a:r>
                <a:r>
                  <a:rPr kumimoji="1" lang="en-US" altLang="ko-KR" sz="1000" kern="0" smtClean="0">
                    <a:solidFill>
                      <a:prstClr val="black"/>
                    </a:solidFill>
                    <a:latin typeface="+mn-ea"/>
                  </a:rPr>
                  <a:t>DATABASE</a:t>
                </a:r>
                <a:r>
                  <a:rPr kumimoji="1" lang="ko-KR" altLang="en-US" sz="1000" kern="0" smtClean="0">
                    <a:solidFill>
                      <a:prstClr val="black"/>
                    </a:solidFill>
                    <a:latin typeface="+mn-ea"/>
                  </a:rPr>
                  <a:t>의 개선 및 재 구축에 대한 내부 정책 방향 선결</a:t>
                </a:r>
                <a:endParaRPr kumimoji="1" lang="ko-KR" altLang="en-US" sz="1000" kern="0" dirty="0">
                  <a:solidFill>
                    <a:prstClr val="black"/>
                  </a:solidFill>
                  <a:latin typeface="+mn-ea"/>
                </a:endParaRPr>
              </a:p>
            </p:txBody>
          </p:sp>
        </p:grpSp>
      </p:grpSp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mtClean="0"/>
              <a:t>현행 </a:t>
            </a:r>
            <a:r>
              <a:rPr lang="en-US" altLang="ko-KR" smtClean="0"/>
              <a:t>DATABASE </a:t>
            </a:r>
            <a:r>
              <a:rPr lang="ko-KR" altLang="en-US" smtClean="0"/>
              <a:t>점검 결과 데이터품질관리체계를 </a:t>
            </a:r>
            <a:r>
              <a:rPr lang="ko-KR" altLang="en-US" dirty="0"/>
              <a:t>강화하고 체계적인 품질관리 업무 지원을 위한 </a:t>
            </a:r>
            <a:r>
              <a:rPr lang="ko-KR" altLang="en-US"/>
              <a:t>데이터 </a:t>
            </a:r>
            <a:r>
              <a:rPr lang="ko-KR" altLang="en-US" smtClean="0"/>
              <a:t>품질관리 표준화 방안 수립이 가장 우선 과제로 식별됨 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5936913" cy="781320"/>
          </a:xfrm>
        </p:spPr>
        <p:txBody>
          <a:bodyPr/>
          <a:lstStyle/>
          <a:p>
            <a:r>
              <a:rPr lang="en-US" altLang="ko-KR" smtClean="0"/>
              <a:t>1.9 </a:t>
            </a:r>
            <a:r>
              <a:rPr lang="ko-KR" altLang="en-US"/>
              <a:t>데이터관리체계 </a:t>
            </a:r>
            <a:r>
              <a:rPr lang="ko-KR" altLang="en-US" smtClean="0"/>
              <a:t>표준화 방안 수립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z="1800" smtClean="0"/>
              <a:t>1.9.1 </a:t>
            </a:r>
            <a:r>
              <a:rPr lang="ko-KR" altLang="en-US" sz="1800" dirty="0"/>
              <a:t>과제 정의서</a:t>
            </a:r>
          </a:p>
        </p:txBody>
      </p:sp>
      <p:sp>
        <p:nvSpPr>
          <p:cNvPr id="81" name="모서리가 둥근 직사각형 19">
            <a:extLst>
              <a:ext uri="{FF2B5EF4-FFF2-40B4-BE49-F238E27FC236}">
                <a16:creationId xmlns="" xmlns:a16="http://schemas.microsoft.com/office/drawing/2014/main" id="{539E2FF8-462F-4EA5-A32E-3A3A41EAC070}"/>
              </a:ext>
            </a:extLst>
          </p:cNvPr>
          <p:cNvSpPr/>
          <p:nvPr/>
        </p:nvSpPr>
        <p:spPr>
          <a:xfrm>
            <a:off x="476077" y="2035656"/>
            <a:ext cx="2028386" cy="673957"/>
          </a:xfrm>
          <a:prstGeom prst="roundRect">
            <a:avLst>
              <a:gd name="adj" fmla="val 7000"/>
            </a:avLst>
          </a:prstGeom>
          <a:solidFill>
            <a:sysClr val="window" lastClr="FFFFFF"/>
          </a:solidFill>
          <a:ln w="28575" cap="flat" cmpd="sng" algn="ctr">
            <a:solidFill>
              <a:srgbClr val="4678B4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algn="ctr" eaLnBrk="0" fontAlgn="base" latinLnBrk="0" hangingPunct="0">
              <a:lnSpc>
                <a:spcPct val="105000"/>
              </a:lnSpc>
              <a:spcBef>
                <a:spcPct val="35000"/>
              </a:spcBef>
              <a:spcAft>
                <a:spcPct val="0"/>
              </a:spcAft>
              <a:buClr>
                <a:srgbClr val="008400"/>
              </a:buClr>
              <a:defRPr/>
            </a:pPr>
            <a:r>
              <a:rPr lang="ko-KR" altLang="en-US" sz="1400" b="1" kern="0" spc="-150">
                <a:solidFill>
                  <a:prstClr val="black"/>
                </a:solidFill>
                <a:latin typeface="+mn-ea"/>
              </a:rPr>
              <a:t>데이터관리체계 </a:t>
            </a:r>
            <a:r>
              <a:rPr lang="ko-KR" altLang="en-US" sz="1400" b="1" kern="0" spc="-150" smtClean="0">
                <a:solidFill>
                  <a:prstClr val="black"/>
                </a:solidFill>
                <a:latin typeface="+mn-ea"/>
              </a:rPr>
              <a:t>표준화 방안 수립</a:t>
            </a:r>
            <a:endParaRPr lang="ko-KR" altLang="en-US" sz="1400" b="1" kern="0" spc="-150" dirty="0">
              <a:solidFill>
                <a:prstClr val="black"/>
              </a:solidFill>
              <a:latin typeface="+mn-ea"/>
            </a:endParaRPr>
          </a:p>
        </p:txBody>
      </p:sp>
      <p:grpSp>
        <p:nvGrpSpPr>
          <p:cNvPr id="9" name="그룹 81">
            <a:extLst>
              <a:ext uri="{FF2B5EF4-FFF2-40B4-BE49-F238E27FC236}">
                <a16:creationId xmlns="" xmlns:a16="http://schemas.microsoft.com/office/drawing/2014/main" id="{D792162E-1A2F-4430-8D94-E50C5C7DDD9D}"/>
              </a:ext>
            </a:extLst>
          </p:cNvPr>
          <p:cNvGrpSpPr/>
          <p:nvPr/>
        </p:nvGrpSpPr>
        <p:grpSpPr>
          <a:xfrm>
            <a:off x="476077" y="2776129"/>
            <a:ext cx="2028386" cy="527511"/>
            <a:chOff x="401216" y="2918940"/>
            <a:chExt cx="2310143" cy="551720"/>
          </a:xfrm>
        </p:grpSpPr>
        <p:sp>
          <p:nvSpPr>
            <p:cNvPr id="83" name="모서리가 둥근 직사각형 24">
              <a:extLst>
                <a:ext uri="{FF2B5EF4-FFF2-40B4-BE49-F238E27FC236}">
                  <a16:creationId xmlns="" xmlns:a16="http://schemas.microsoft.com/office/drawing/2014/main" id="{5EEF05A2-CF17-4500-8CD5-18B4D1D2D591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79488" latinLnBrk="0">
                <a:spcBef>
                  <a:spcPct val="50000"/>
                </a:spcBef>
              </a:pPr>
              <a:r>
                <a:rPr kumimoji="1" lang="ko-KR" altLang="en-US" sz="1000" b="1" kern="0" smtClean="0">
                  <a:solidFill>
                    <a:prstClr val="black"/>
                  </a:solidFill>
                  <a:latin typeface="+mn-ea"/>
                </a:rPr>
                <a:t>데이터 품질관리 체계 수립</a:t>
              </a:r>
              <a:endParaRPr kumimoji="1" lang="ko-KR" altLang="en-US" sz="1000" b="1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84" name="직사각형 10">
              <a:extLst>
                <a:ext uri="{FF2B5EF4-FFF2-40B4-BE49-F238E27FC236}">
                  <a16:creationId xmlns="" xmlns:a16="http://schemas.microsoft.com/office/drawing/2014/main" id="{485F56EC-22C4-4812-984A-A12C60678EBC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79488" fontAlgn="base" latinLnBrk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ko-KR" sz="1200" b="1" kern="0" dirty="0">
                  <a:solidFill>
                    <a:prstClr val="white"/>
                  </a:solidFill>
                  <a:latin typeface="+mn-ea"/>
                </a:rPr>
                <a:t>1</a:t>
              </a:r>
              <a:endParaRPr kumimoji="1" lang="ko-KR" altLang="en-US" sz="1200" b="1" kern="0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0" name="그룹 98">
            <a:extLst>
              <a:ext uri="{FF2B5EF4-FFF2-40B4-BE49-F238E27FC236}">
                <a16:creationId xmlns="" xmlns:a16="http://schemas.microsoft.com/office/drawing/2014/main" id="{9656F7BF-411B-4097-9FB1-3E53ADE28258}"/>
              </a:ext>
            </a:extLst>
          </p:cNvPr>
          <p:cNvGrpSpPr/>
          <p:nvPr/>
        </p:nvGrpSpPr>
        <p:grpSpPr>
          <a:xfrm>
            <a:off x="476077" y="3370156"/>
            <a:ext cx="2028386" cy="527511"/>
            <a:chOff x="401216" y="2918940"/>
            <a:chExt cx="2310143" cy="551720"/>
          </a:xfrm>
        </p:grpSpPr>
        <p:sp>
          <p:nvSpPr>
            <p:cNvPr id="100" name="모서리가 둥근 직사각형 44">
              <a:extLst>
                <a:ext uri="{FF2B5EF4-FFF2-40B4-BE49-F238E27FC236}">
                  <a16:creationId xmlns="" xmlns:a16="http://schemas.microsoft.com/office/drawing/2014/main" id="{FF82C688-A0DF-4BE3-8351-56F6BB3CF5FC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79488" latinLnBrk="0">
                <a:spcBef>
                  <a:spcPct val="50000"/>
                </a:spcBef>
                <a:defRPr/>
              </a:pPr>
              <a:r>
                <a:rPr kumimoji="1" lang="ko-KR" altLang="en-US" sz="1000" b="1" kern="0" smtClean="0">
                  <a:solidFill>
                    <a:prstClr val="black"/>
                  </a:solidFill>
                  <a:latin typeface="+mn-ea"/>
                </a:rPr>
                <a:t>데이터 관리조직 체계 정립</a:t>
              </a:r>
              <a:endParaRPr kumimoji="1" lang="ko-KR" altLang="en-US" sz="1000" b="1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101" name="직사각형 10">
              <a:extLst>
                <a:ext uri="{FF2B5EF4-FFF2-40B4-BE49-F238E27FC236}">
                  <a16:creationId xmlns="" xmlns:a16="http://schemas.microsoft.com/office/drawing/2014/main" id="{56B6DA92-25D8-43A6-AE8B-408C4FFF4AAA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79488" fontAlgn="base" latinLnBrk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ko-KR" sz="1200" b="1" kern="0" dirty="0">
                  <a:solidFill>
                    <a:prstClr val="white"/>
                  </a:solidFill>
                  <a:latin typeface="+mn-ea"/>
                </a:rPr>
                <a:t>2</a:t>
              </a:r>
              <a:endParaRPr kumimoji="1" lang="ko-KR" altLang="en-US" sz="1200" b="1" kern="0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11" name="그룹 101">
            <a:extLst>
              <a:ext uri="{FF2B5EF4-FFF2-40B4-BE49-F238E27FC236}">
                <a16:creationId xmlns="" xmlns:a16="http://schemas.microsoft.com/office/drawing/2014/main" id="{4A90894C-1414-4BBD-B13D-1A1AED9AE969}"/>
              </a:ext>
            </a:extLst>
          </p:cNvPr>
          <p:cNvGrpSpPr/>
          <p:nvPr/>
        </p:nvGrpSpPr>
        <p:grpSpPr>
          <a:xfrm>
            <a:off x="476077" y="3964183"/>
            <a:ext cx="2028386" cy="527511"/>
            <a:chOff x="401216" y="2918940"/>
            <a:chExt cx="2310143" cy="551720"/>
          </a:xfrm>
        </p:grpSpPr>
        <p:sp>
          <p:nvSpPr>
            <p:cNvPr id="103" name="모서리가 둥근 직사각형 48">
              <a:extLst>
                <a:ext uri="{FF2B5EF4-FFF2-40B4-BE49-F238E27FC236}">
                  <a16:creationId xmlns="" xmlns:a16="http://schemas.microsoft.com/office/drawing/2014/main" id="{BF190D8A-3A6B-4191-A5FB-BBE74A772C53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79488" latinLnBrk="0">
                <a:spcBef>
                  <a:spcPct val="50000"/>
                </a:spcBef>
                <a:defRPr/>
              </a:pPr>
              <a:r>
                <a:rPr kumimoji="1" lang="ko-KR" altLang="en-US" sz="1000" b="1" kern="0" smtClean="0">
                  <a:solidFill>
                    <a:prstClr val="black"/>
                  </a:solidFill>
                  <a:latin typeface="+mn-ea"/>
                </a:rPr>
                <a:t>데이터 품질지표 관리방안</a:t>
              </a:r>
              <a:endParaRPr kumimoji="1" lang="ko-KR" altLang="en-US" sz="1000" b="1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104" name="직사각형 10">
              <a:extLst>
                <a:ext uri="{FF2B5EF4-FFF2-40B4-BE49-F238E27FC236}">
                  <a16:creationId xmlns="" xmlns:a16="http://schemas.microsoft.com/office/drawing/2014/main" id="{7B8613EB-FA98-4B37-959E-E19C865BE43B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79488" fontAlgn="base" latinLnBrk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ko-KR" sz="1200" b="1" kern="0" dirty="0">
                  <a:solidFill>
                    <a:prstClr val="white"/>
                  </a:solidFill>
                  <a:latin typeface="+mn-ea"/>
                </a:rPr>
                <a:t>3</a:t>
              </a:r>
              <a:endParaRPr kumimoji="1" lang="ko-KR" altLang="en-US" sz="1200" b="1" kern="0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33" name="그룹 101">
            <a:extLst>
              <a:ext uri="{FF2B5EF4-FFF2-40B4-BE49-F238E27FC236}">
                <a16:creationId xmlns="" xmlns:a16="http://schemas.microsoft.com/office/drawing/2014/main" id="{4A90894C-1414-4BBD-B13D-1A1AED9AE969}"/>
              </a:ext>
            </a:extLst>
          </p:cNvPr>
          <p:cNvGrpSpPr/>
          <p:nvPr/>
        </p:nvGrpSpPr>
        <p:grpSpPr>
          <a:xfrm>
            <a:off x="488504" y="4581128"/>
            <a:ext cx="2028386" cy="527511"/>
            <a:chOff x="401216" y="2918940"/>
            <a:chExt cx="2310143" cy="551720"/>
          </a:xfrm>
        </p:grpSpPr>
        <p:sp>
          <p:nvSpPr>
            <p:cNvPr id="34" name="모서리가 둥근 직사각형 48">
              <a:extLst>
                <a:ext uri="{FF2B5EF4-FFF2-40B4-BE49-F238E27FC236}">
                  <a16:creationId xmlns="" xmlns:a16="http://schemas.microsoft.com/office/drawing/2014/main" id="{BF190D8A-3A6B-4191-A5FB-BBE74A772C53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79488" latinLnBrk="0">
                <a:spcBef>
                  <a:spcPct val="50000"/>
                </a:spcBef>
                <a:defRPr/>
              </a:pPr>
              <a:r>
                <a:rPr kumimoji="1" lang="ko-KR" altLang="en-US" sz="1000" b="1" kern="0" smtClean="0">
                  <a:solidFill>
                    <a:prstClr val="black"/>
                  </a:solidFill>
                  <a:latin typeface="+mn-ea"/>
                </a:rPr>
                <a:t>데이터 구조 관리방안</a:t>
              </a:r>
              <a:endParaRPr kumimoji="1" lang="ko-KR" altLang="en-US" sz="1000" b="1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35" name="직사각형 10">
              <a:extLst>
                <a:ext uri="{FF2B5EF4-FFF2-40B4-BE49-F238E27FC236}">
                  <a16:creationId xmlns="" xmlns:a16="http://schemas.microsoft.com/office/drawing/2014/main" id="{7B8613EB-FA98-4B37-959E-E19C865BE43B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79488" fontAlgn="base" latinLnBrk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ko-KR" sz="1200" b="1" kern="0" smtClean="0">
                  <a:solidFill>
                    <a:prstClr val="white"/>
                  </a:solidFill>
                  <a:latin typeface="+mn-ea"/>
                </a:rPr>
                <a:t>4</a:t>
              </a:r>
              <a:endParaRPr kumimoji="1" lang="ko-KR" altLang="en-US" sz="1200" b="1" kern="0" dirty="0">
                <a:solidFill>
                  <a:prstClr val="white"/>
                </a:solidFill>
                <a:latin typeface="+mn-ea"/>
              </a:endParaRPr>
            </a:p>
          </p:txBody>
        </p:sp>
      </p:grpSp>
      <p:grpSp>
        <p:nvGrpSpPr>
          <p:cNvPr id="36" name="그룹 101">
            <a:extLst>
              <a:ext uri="{FF2B5EF4-FFF2-40B4-BE49-F238E27FC236}">
                <a16:creationId xmlns="" xmlns:a16="http://schemas.microsoft.com/office/drawing/2014/main" id="{4A90894C-1414-4BBD-B13D-1A1AED9AE969}"/>
              </a:ext>
            </a:extLst>
          </p:cNvPr>
          <p:cNvGrpSpPr/>
          <p:nvPr/>
        </p:nvGrpSpPr>
        <p:grpSpPr>
          <a:xfrm>
            <a:off x="488504" y="5301208"/>
            <a:ext cx="2028386" cy="527511"/>
            <a:chOff x="401216" y="2918940"/>
            <a:chExt cx="2310143" cy="551720"/>
          </a:xfrm>
        </p:grpSpPr>
        <p:sp>
          <p:nvSpPr>
            <p:cNvPr id="37" name="모서리가 둥근 직사각형 48">
              <a:extLst>
                <a:ext uri="{FF2B5EF4-FFF2-40B4-BE49-F238E27FC236}">
                  <a16:creationId xmlns="" xmlns:a16="http://schemas.microsoft.com/office/drawing/2014/main" id="{BF190D8A-3A6B-4191-A5FB-BBE74A772C53}"/>
                </a:ext>
              </a:extLst>
            </p:cNvPr>
            <p:cNvSpPr/>
            <p:nvPr/>
          </p:nvSpPr>
          <p:spPr>
            <a:xfrm>
              <a:off x="401216" y="2918940"/>
              <a:ext cx="2310143" cy="551720"/>
            </a:xfrm>
            <a:prstGeom prst="roundRect">
              <a:avLst>
                <a:gd name="adj" fmla="val 8624"/>
              </a:avLst>
            </a:prstGeom>
            <a:solidFill>
              <a:sysClr val="window" lastClr="FFFFFF"/>
            </a:solidFill>
            <a:ln>
              <a:solidFill>
                <a:sysClr val="window" lastClr="FFFFFF">
                  <a:lumMod val="65000"/>
                </a:sysClr>
              </a:solidFill>
            </a:ln>
          </p:spPr>
          <p:txBody>
            <a:bodyPr vert="horz" wrap="square" lIns="97969" tIns="48984" rIns="97969" bIns="48984" numCol="1" rtlCol="0" anchor="ctr" anchorCtr="0" compatLnSpc="1">
              <a:prstTxWarp prst="textNoShape">
                <a:avLst/>
              </a:prstTxWarp>
              <a:noAutofit/>
            </a:bodyPr>
            <a:lstStyle/>
            <a:p>
              <a:pPr algn="ctr" defTabSz="979488" latinLnBrk="0">
                <a:spcBef>
                  <a:spcPct val="50000"/>
                </a:spcBef>
                <a:defRPr/>
              </a:pPr>
              <a:r>
                <a:rPr kumimoji="1" lang="ko-KR" altLang="en-US" sz="1000" b="1" kern="0" smtClean="0">
                  <a:solidFill>
                    <a:prstClr val="black"/>
                  </a:solidFill>
                  <a:latin typeface="+mn-ea"/>
                </a:rPr>
                <a:t>연계정보 관리방안</a:t>
              </a:r>
              <a:endParaRPr kumimoji="1" lang="ko-KR" altLang="en-US" sz="1000" b="1" kern="0" dirty="0">
                <a:solidFill>
                  <a:prstClr val="black"/>
                </a:solidFill>
                <a:latin typeface="+mn-ea"/>
              </a:endParaRPr>
            </a:p>
          </p:txBody>
        </p:sp>
        <p:sp>
          <p:nvSpPr>
            <p:cNvPr id="38" name="직사각형 10">
              <a:extLst>
                <a:ext uri="{FF2B5EF4-FFF2-40B4-BE49-F238E27FC236}">
                  <a16:creationId xmlns="" xmlns:a16="http://schemas.microsoft.com/office/drawing/2014/main" id="{7B8613EB-FA98-4B37-959E-E19C865BE43B}"/>
                </a:ext>
              </a:extLst>
            </p:cNvPr>
            <p:cNvSpPr/>
            <p:nvPr/>
          </p:nvSpPr>
          <p:spPr>
            <a:xfrm>
              <a:off x="401216" y="2918940"/>
              <a:ext cx="326572" cy="326572"/>
            </a:xfrm>
            <a:custGeom>
              <a:avLst/>
              <a:gdLst/>
              <a:ahLst/>
              <a:cxnLst/>
              <a:rect l="l" t="t" r="r" b="b"/>
              <a:pathLst>
                <a:path w="429243" h="429243">
                  <a:moveTo>
                    <a:pt x="0" y="0"/>
                  </a:moveTo>
                  <a:lnTo>
                    <a:pt x="429243" y="0"/>
                  </a:lnTo>
                  <a:lnTo>
                    <a:pt x="429243" y="26427"/>
                  </a:lnTo>
                  <a:lnTo>
                    <a:pt x="26427" y="429243"/>
                  </a:lnTo>
                  <a:lnTo>
                    <a:pt x="0" y="429243"/>
                  </a:lnTo>
                  <a:close/>
                </a:path>
              </a:pathLst>
            </a:custGeom>
            <a:solidFill>
              <a:srgbClr val="82AFFA"/>
            </a:solidFill>
            <a:ln>
              <a:solidFill>
                <a:srgbClr val="82AFFA"/>
              </a:solidFill>
            </a:ln>
          </p:spPr>
          <p:txBody>
            <a:bodyPr rot="0" spcFirstLastPara="0" vertOverflow="overflow" horzOverflow="overflow" vert="horz" wrap="square" lIns="54000" tIns="18000" rIns="18000" bIns="468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defTabSz="979488" fontAlgn="base" latinLnBrk="0">
                <a:spcBef>
                  <a:spcPct val="50000"/>
                </a:spcBef>
                <a:spcAft>
                  <a:spcPct val="0"/>
                </a:spcAft>
                <a:defRPr/>
              </a:pPr>
              <a:r>
                <a:rPr kumimoji="1" lang="en-US" altLang="ko-KR" sz="1200" b="1" kern="0" smtClean="0">
                  <a:solidFill>
                    <a:prstClr val="white"/>
                  </a:solidFill>
                  <a:latin typeface="+mn-ea"/>
                </a:rPr>
                <a:t>5</a:t>
              </a:r>
              <a:endParaRPr kumimoji="1" lang="ko-KR" altLang="en-US" sz="1200" b="1" kern="0" dirty="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40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Ⅲ. </a:t>
            </a:r>
            <a:r>
              <a:rPr lang="ko-KR" altLang="en-US" smtClean="0"/>
              <a:t>목표모델 설계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 </a:t>
            </a:r>
            <a:r>
              <a:rPr lang="ko-KR" altLang="en-US" dirty="0"/>
              <a:t>목표모델</a:t>
            </a:r>
            <a:r>
              <a:rPr lang="en-US" altLang="ko-KR" dirty="0"/>
              <a:t> </a:t>
            </a:r>
            <a:r>
              <a:rPr lang="ko-KR" altLang="en-US" dirty="0"/>
              <a:t>개선과제 정의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1.9 </a:t>
            </a:r>
            <a:r>
              <a:rPr lang="ko-KR" altLang="en-US"/>
              <a:t>데이터관리체계 표준화 방안 수립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29895899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latinLnBrk="0"/>
            <a:r>
              <a:rPr lang="ko-KR" altLang="en-US" sz="1600" dirty="0"/>
              <a:t>데이터품질관리체계를 강화하고 체계적인 품질관리 업무 지원을 위한 </a:t>
            </a:r>
            <a:r>
              <a:rPr lang="ko-KR" altLang="en-US" sz="1600"/>
              <a:t>데이터 </a:t>
            </a:r>
            <a:r>
              <a:rPr lang="ko-KR" altLang="en-US" sz="1600" smtClean="0"/>
              <a:t>품질관리 표준화 방안을 수립함 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mtClean="0"/>
              <a:t>2.10 </a:t>
            </a:r>
            <a:r>
              <a:rPr lang="ko-KR" altLang="en-US" smtClean="0"/>
              <a:t>데이터관리체계 표준화 </a:t>
            </a:r>
            <a:r>
              <a:rPr lang="ko-KR" altLang="en-US"/>
              <a:t>방안 수립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z="1800" smtClean="0"/>
              <a:t>2.10.2 </a:t>
            </a:r>
            <a:r>
              <a:rPr lang="ko-KR" altLang="en-US" sz="1800" smtClean="0"/>
              <a:t>데이터 관리체계 </a:t>
            </a:r>
            <a:r>
              <a:rPr lang="en-US" altLang="ko-KR" sz="1800" smtClean="0"/>
              <a:t>AS-IS </a:t>
            </a:r>
            <a:r>
              <a:rPr lang="en-US" altLang="ko-KR" sz="1800" dirty="0"/>
              <a:t>vs. TO-BE</a:t>
            </a:r>
            <a:endParaRPr lang="ko-KR" altLang="en-US" dirty="0"/>
          </a:p>
        </p:txBody>
      </p:sp>
      <p:sp>
        <p:nvSpPr>
          <p:cNvPr id="50" name="한쪽 모서리가 둥근 사각형 171">
            <a:extLst>
              <a:ext uri="{FF2B5EF4-FFF2-40B4-BE49-F238E27FC236}">
                <a16:creationId xmlns="" xmlns:a16="http://schemas.microsoft.com/office/drawing/2014/main" id="{F440E0BD-FC52-4568-A55B-EFE81922B993}"/>
              </a:ext>
            </a:extLst>
          </p:cNvPr>
          <p:cNvSpPr/>
          <p:nvPr/>
        </p:nvSpPr>
        <p:spPr>
          <a:xfrm flipH="1">
            <a:off x="416673" y="1916832"/>
            <a:ext cx="4421662" cy="439189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>
              <a:bevelT w="1270"/>
              <a:contourClr>
                <a:schemeClr val="bg1"/>
              </a:contourClr>
            </a:sp3d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pc="-7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굴림" pitchFamily="50" charset="-127"/>
            </a:endParaRPr>
          </a:p>
        </p:txBody>
      </p:sp>
      <p:sp>
        <p:nvSpPr>
          <p:cNvPr id="51" name="한쪽 모서리가 둥근 사각형 171">
            <a:extLst>
              <a:ext uri="{FF2B5EF4-FFF2-40B4-BE49-F238E27FC236}">
                <a16:creationId xmlns="" xmlns:a16="http://schemas.microsoft.com/office/drawing/2014/main" id="{7C6F345D-B31C-4312-B099-9E39D6D7F717}"/>
              </a:ext>
            </a:extLst>
          </p:cNvPr>
          <p:cNvSpPr/>
          <p:nvPr/>
        </p:nvSpPr>
        <p:spPr>
          <a:xfrm flipH="1">
            <a:off x="416677" y="1628800"/>
            <a:ext cx="4421662" cy="313445"/>
          </a:xfrm>
          <a:prstGeom prst="round2Same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cene3d>
              <a:camera prst="orthographicFront"/>
              <a:lightRig rig="threePt" dir="t"/>
            </a:scene3d>
            <a:sp3d>
              <a:bevelT w="0" h="12700"/>
              <a:bevelB w="0" h="0"/>
            </a:sp3d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buSzPct val="80000"/>
              <a:defRPr/>
            </a:pP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현황 및 이슈</a:t>
            </a:r>
            <a: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(AS-IS)</a:t>
            </a:r>
            <a:endParaRPr lang="ko-KR" altLang="en-US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3" name="한쪽 모서리가 둥근 사각형 171">
            <a:extLst>
              <a:ext uri="{FF2B5EF4-FFF2-40B4-BE49-F238E27FC236}">
                <a16:creationId xmlns="" xmlns:a16="http://schemas.microsoft.com/office/drawing/2014/main" id="{44C65E04-1D62-4189-BB18-0393D5A4D0F7}"/>
              </a:ext>
            </a:extLst>
          </p:cNvPr>
          <p:cNvSpPr/>
          <p:nvPr/>
        </p:nvSpPr>
        <p:spPr>
          <a:xfrm flipH="1">
            <a:off x="5086143" y="1916832"/>
            <a:ext cx="4403181" cy="4391893"/>
          </a:xfrm>
          <a:prstGeom prst="rect">
            <a:avLst/>
          </a:prstGeom>
          <a:solidFill>
            <a:srgbClr val="FFFFFF">
              <a:alpha val="69804"/>
            </a:srgbClr>
          </a:solidFill>
          <a:ln w="12700" cap="flat" cmpd="sng" algn="ctr">
            <a:solidFill>
              <a:schemeClr val="bg1">
                <a:lumMod val="75000"/>
              </a:schemeClr>
            </a:solidFill>
            <a:prstDash val="solid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  <a:scene3d>
              <a:camera prst="orthographicFront"/>
              <a:lightRig rig="threePt" dir="t"/>
            </a:scene3d>
            <a:sp3d>
              <a:bevelT w="1270"/>
              <a:contourClr>
                <a:schemeClr val="bg1"/>
              </a:contourClr>
            </a:sp3d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kumimoji="1" lang="ko-KR" altLang="en-US" spc="-70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  <a:cs typeface="굴림" pitchFamily="50" charset="-127"/>
            </a:endParaRPr>
          </a:p>
        </p:txBody>
      </p:sp>
      <p:sp>
        <p:nvSpPr>
          <p:cNvPr id="54" name="한쪽 모서리가 둥근 사각형 171">
            <a:extLst>
              <a:ext uri="{FF2B5EF4-FFF2-40B4-BE49-F238E27FC236}">
                <a16:creationId xmlns="" xmlns:a16="http://schemas.microsoft.com/office/drawing/2014/main" id="{FD7AD837-E838-454F-88B7-41578D5ED5E8}"/>
              </a:ext>
            </a:extLst>
          </p:cNvPr>
          <p:cNvSpPr/>
          <p:nvPr/>
        </p:nvSpPr>
        <p:spPr>
          <a:xfrm flipH="1">
            <a:off x="5086147" y="1628800"/>
            <a:ext cx="4403181" cy="313445"/>
          </a:xfrm>
          <a:prstGeom prst="round2SameRect">
            <a:avLst/>
          </a:prstGeom>
          <a:solidFill>
            <a:srgbClr val="233C5A"/>
          </a:solidFill>
          <a:ln w="12699">
            <a:solidFill>
              <a:srgbClr val="000000">
                <a:lumMod val="50000"/>
                <a:lumOff val="5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buSzPct val="80000"/>
              <a:defRPr/>
            </a:pP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개선방향</a:t>
            </a:r>
            <a: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rPr>
              <a:t>(TO-BE)</a:t>
            </a:r>
            <a:endParaRPr lang="ko-KR" altLang="en-US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5" name="그룹 54">
            <a:extLst>
              <a:ext uri="{FF2B5EF4-FFF2-40B4-BE49-F238E27FC236}">
                <a16:creationId xmlns="" xmlns:a16="http://schemas.microsoft.com/office/drawing/2014/main" id="{92E908EA-6A32-4D95-AEFE-FC1DD92DDF66}"/>
              </a:ext>
            </a:extLst>
          </p:cNvPr>
          <p:cNvGrpSpPr/>
          <p:nvPr/>
        </p:nvGrpSpPr>
        <p:grpSpPr>
          <a:xfrm rot="10800000" flipH="1">
            <a:off x="4601872" y="2706760"/>
            <a:ext cx="491902" cy="2901300"/>
            <a:chOff x="4781869" y="2101850"/>
            <a:chExt cx="671538" cy="3082852"/>
          </a:xfrm>
        </p:grpSpPr>
        <p:sp>
          <p:nvSpPr>
            <p:cNvPr id="56" name="이등변 삼각형 55">
              <a:extLst>
                <a:ext uri="{FF2B5EF4-FFF2-40B4-BE49-F238E27FC236}">
                  <a16:creationId xmlns="" xmlns:a16="http://schemas.microsoft.com/office/drawing/2014/main" id="{0858A7C5-1BA7-4C28-BD26-56CE0E472FA0}"/>
                </a:ext>
              </a:extLst>
            </p:cNvPr>
            <p:cNvSpPr/>
            <p:nvPr/>
          </p:nvSpPr>
          <p:spPr bwMode="auto">
            <a:xfrm rot="5400000">
              <a:off x="3650665" y="3381960"/>
              <a:ext cx="3082852" cy="522632"/>
            </a:xfrm>
            <a:prstGeom prst="triangle">
              <a:avLst/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100000">
                  <a:schemeClr val="tx1">
                    <a:lumMod val="50000"/>
                    <a:lumOff val="50000"/>
                    <a:alpha val="50000"/>
                  </a:schemeClr>
                </a:gs>
              </a:gsLst>
              <a:lin ang="16200000" scaled="1"/>
              <a:tileRect/>
            </a:gradFill>
            <a:ln w="9525">
              <a:noFill/>
              <a:miter lim="800000"/>
              <a:headEnd/>
              <a:tailEnd/>
            </a:ln>
          </p:spPr>
          <p:txBody>
            <a:bodyPr rot="10800000" wrap="none" bIns="0" anchor="ctr"/>
            <a:lstStyle/>
            <a:p>
              <a:pPr algn="ctr" defTabSz="2057400"/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7" name="이등변 삼각형 56">
              <a:extLst>
                <a:ext uri="{FF2B5EF4-FFF2-40B4-BE49-F238E27FC236}">
                  <a16:creationId xmlns="" xmlns:a16="http://schemas.microsoft.com/office/drawing/2014/main" id="{99C93141-6D52-4507-BBC6-3902F8E2FD7B}"/>
                </a:ext>
              </a:extLst>
            </p:cNvPr>
            <p:cNvSpPr/>
            <p:nvPr/>
          </p:nvSpPr>
          <p:spPr bwMode="auto">
            <a:xfrm rot="5400000">
              <a:off x="3919084" y="3315388"/>
              <a:ext cx="2381346" cy="655776"/>
            </a:xfrm>
            <a:prstGeom prst="triangle">
              <a:avLst/>
            </a:prstGeom>
            <a:gradFill flip="none" rotWithShape="1">
              <a:gsLst>
                <a:gs pos="0">
                  <a:srgbClr val="FFFFFF">
                    <a:alpha val="0"/>
                  </a:srgbClr>
                </a:gs>
                <a:gs pos="100000">
                  <a:schemeClr val="bg1"/>
                </a:gs>
              </a:gsLst>
              <a:lin ang="16200000" scaled="1"/>
              <a:tileRect/>
            </a:gradFill>
            <a:ln w="9525">
              <a:noFill/>
              <a:miter lim="800000"/>
              <a:headEnd/>
              <a:tailEnd/>
            </a:ln>
          </p:spPr>
          <p:txBody>
            <a:bodyPr rot="10800000" wrap="none" bIns="0" anchor="ctr"/>
            <a:lstStyle/>
            <a:p>
              <a:pPr algn="ctr" defTabSz="2057400"/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58" name="Rectangle 8">
            <a:extLst>
              <a:ext uri="{FF2B5EF4-FFF2-40B4-BE49-F238E27FC236}">
                <a16:creationId xmlns="" xmlns:a16="http://schemas.microsoft.com/office/drawing/2014/main" id="{4A407563-C429-4381-B8D1-0810EBF920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95" y="4873155"/>
            <a:ext cx="3887572" cy="1401087"/>
          </a:xfrm>
          <a:prstGeom prst="roundRect">
            <a:avLst>
              <a:gd name="adj" fmla="val 3936"/>
            </a:avLst>
          </a:prstGeom>
          <a:solidFill>
            <a:schemeClr val="bg1"/>
          </a:solidFill>
          <a:ln w="12700" algn="ctr">
            <a:solidFill>
              <a:schemeClr val="bg1">
                <a:lumMod val="65000"/>
              </a:schemeClr>
            </a:solidFill>
            <a:round/>
            <a:headEnd/>
            <a:tailEnd/>
          </a:ln>
          <a:effectLst>
            <a:innerShdw blurRad="50800">
              <a:schemeClr val="bg1">
                <a:lumMod val="65000"/>
              </a:schemeClr>
            </a:innerShdw>
          </a:effectLst>
        </p:spPr>
        <p:txBody>
          <a:bodyPr wrap="square" lIns="3600" tIns="3600" rIns="3600" bIns="3600" anchor="ctr">
            <a:no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latinLnBrk="0"/>
            <a:endParaRPr lang="ko-KR" altLang="en-US" sz="11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6" name="그룹 48">
            <a:extLst>
              <a:ext uri="{FF2B5EF4-FFF2-40B4-BE49-F238E27FC236}">
                <a16:creationId xmlns="" xmlns:a16="http://schemas.microsoft.com/office/drawing/2014/main" id="{81BCFD9C-E25B-40AA-A3D0-E41891F4D5B4}"/>
              </a:ext>
            </a:extLst>
          </p:cNvPr>
          <p:cNvGrpSpPr/>
          <p:nvPr/>
        </p:nvGrpSpPr>
        <p:grpSpPr>
          <a:xfrm>
            <a:off x="453197" y="5069620"/>
            <a:ext cx="898248" cy="1010172"/>
            <a:chOff x="444286" y="5164143"/>
            <a:chExt cx="898248" cy="1010172"/>
          </a:xfrm>
        </p:grpSpPr>
        <p:cxnSp>
          <p:nvCxnSpPr>
            <p:cNvPr id="60" name="직선 연결선 59">
              <a:extLst>
                <a:ext uri="{FF2B5EF4-FFF2-40B4-BE49-F238E27FC236}">
                  <a16:creationId xmlns="" xmlns:a16="http://schemas.microsoft.com/office/drawing/2014/main" id="{33F2187A-B155-4C99-B579-2E330BA9BC93}"/>
                </a:ext>
              </a:extLst>
            </p:cNvPr>
            <p:cNvCxnSpPr/>
            <p:nvPr/>
          </p:nvCxnSpPr>
          <p:spPr bwMode="auto">
            <a:xfrm>
              <a:off x="881884" y="5164143"/>
              <a:ext cx="0" cy="101017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CB1F6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7" name="그룹 52">
              <a:extLst>
                <a:ext uri="{FF2B5EF4-FFF2-40B4-BE49-F238E27FC236}">
                  <a16:creationId xmlns="" xmlns:a16="http://schemas.microsoft.com/office/drawing/2014/main" id="{7272409B-F782-41E4-985A-7DFBA7833292}"/>
                </a:ext>
              </a:extLst>
            </p:cNvPr>
            <p:cNvGrpSpPr/>
            <p:nvPr/>
          </p:nvGrpSpPr>
          <p:grpSpPr>
            <a:xfrm>
              <a:off x="444286" y="5224644"/>
              <a:ext cx="898248" cy="898244"/>
              <a:chOff x="2095477" y="7685016"/>
              <a:chExt cx="742607" cy="742604"/>
            </a:xfrm>
          </p:grpSpPr>
          <p:sp>
            <p:nvSpPr>
              <p:cNvPr id="62" name="타원 61">
                <a:extLst>
                  <a:ext uri="{FF2B5EF4-FFF2-40B4-BE49-F238E27FC236}">
                    <a16:creationId xmlns="" xmlns:a16="http://schemas.microsoft.com/office/drawing/2014/main" id="{EDF0B940-635A-4126-849E-310352F4ECEA}"/>
                  </a:ext>
                </a:extLst>
              </p:cNvPr>
              <p:cNvSpPr/>
              <p:nvPr/>
            </p:nvSpPr>
            <p:spPr>
              <a:xfrm>
                <a:off x="2095477" y="7685016"/>
                <a:ext cx="742607" cy="74260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63" name="타원 62">
                <a:extLst>
                  <a:ext uri="{FF2B5EF4-FFF2-40B4-BE49-F238E27FC236}">
                    <a16:creationId xmlns="" xmlns:a16="http://schemas.microsoft.com/office/drawing/2014/main" id="{8F87BD12-95E7-4C04-9477-AA0F9F8B412A}"/>
                  </a:ext>
                </a:extLst>
              </p:cNvPr>
              <p:cNvSpPr/>
              <p:nvPr/>
            </p:nvSpPr>
            <p:spPr>
              <a:xfrm>
                <a:off x="2178270" y="7767808"/>
                <a:ext cx="577019" cy="577018"/>
              </a:xfrm>
              <a:prstGeom prst="ellipse">
                <a:avLst/>
              </a:prstGeom>
              <a:solidFill>
                <a:srgbClr val="508C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>
                  <a:bevelT w="0" h="12700"/>
                  <a:bevelB w="0" h="0"/>
                </a:sp3d>
              </a:bodyPr>
              <a:lstStyle/>
              <a:p>
                <a:pPr algn="ctr" latinLnBrk="0">
                  <a:buSzPct val="80000"/>
                  <a:defRPr/>
                </a:pPr>
                <a:endParaRPr lang="ko-KR" altLang="en-US" b="1" kern="0" dirty="0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64" name="타원 63">
                <a:extLst>
                  <a:ext uri="{FF2B5EF4-FFF2-40B4-BE49-F238E27FC236}">
                    <a16:creationId xmlns="" xmlns:a16="http://schemas.microsoft.com/office/drawing/2014/main" id="{E59E3111-5E90-4746-BB32-80298CEF3096}"/>
                  </a:ext>
                </a:extLst>
              </p:cNvPr>
              <p:cNvSpPr/>
              <p:nvPr/>
            </p:nvSpPr>
            <p:spPr>
              <a:xfrm>
                <a:off x="2144816" y="7734357"/>
                <a:ext cx="643932" cy="643926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65" name="제목 1">
                <a:extLst>
                  <a:ext uri="{FF2B5EF4-FFF2-40B4-BE49-F238E27FC236}">
                    <a16:creationId xmlns="" xmlns:a16="http://schemas.microsoft.com/office/drawing/2014/main" id="{9F85DC7E-B07F-400A-8EC9-2A365039238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77017" y="7948176"/>
                <a:ext cx="360468" cy="216280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threePt" dir="t"/>
                </a:scene3d>
                <a:sp3d>
                  <a:bevelT w="0" h="12700"/>
                </a:sp3d>
              </a:bodyPr>
              <a:lstStyle>
                <a:lvl1pPr algn="ctr" defTabSz="914400" rtl="0" eaLnBrk="1" latinLnBrk="1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atinLnBrk="0">
                  <a:defRPr/>
                </a:pPr>
                <a:r>
                  <a:rPr lang="ko-KR" altLang="en-US" sz="1700" b="1" dirty="0">
                    <a:solidFill>
                      <a:prstClr val="white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rPr>
                  <a:t>현황</a:t>
                </a:r>
              </a:p>
            </p:txBody>
          </p:sp>
        </p:grpSp>
      </p:grpSp>
      <p:sp>
        <p:nvSpPr>
          <p:cNvPr id="66" name="AutoShape 35">
            <a:extLst>
              <a:ext uri="{FF2B5EF4-FFF2-40B4-BE49-F238E27FC236}">
                <a16:creationId xmlns="" xmlns:a16="http://schemas.microsoft.com/office/drawing/2014/main" id="{BBDB1B9B-D4BC-41C2-939D-79F1D4A69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0801" y="4906681"/>
            <a:ext cx="3239006" cy="1333185"/>
          </a:xfrm>
          <a:prstGeom prst="rect">
            <a:avLst/>
          </a:prstGeom>
          <a:noFill/>
          <a:extLst/>
        </p:spPr>
        <p:txBody>
          <a:bodyPr wrap="squar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12700"/>
            </a:sp3d>
          </a:bodyPr>
          <a:lstStyle/>
          <a:p>
            <a:pPr marL="182563" indent="-182563" latinLnBrk="0">
              <a:spcBef>
                <a:spcPts val="500"/>
              </a:spcBef>
              <a:buClr>
                <a:srgbClr val="7F7F7F"/>
              </a:buClr>
              <a:buSzPct val="110000"/>
              <a:buFontTx/>
              <a:buBlip>
                <a:blip r:embed="rId2"/>
              </a:buBlip>
              <a:tabLst>
                <a:tab pos="628650" algn="l"/>
              </a:tabLst>
            </a:pP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데이터품질관리체계의 미비로 무결성 오류 등 데이터 품질저하 및 관리 복잡도 증가</a:t>
            </a:r>
            <a:endParaRPr lang="en-US" altLang="ko-KR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2563" indent="-182563" latinLnBrk="0">
              <a:spcBef>
                <a:spcPts val="500"/>
              </a:spcBef>
              <a:buClr>
                <a:srgbClr val="7F7F7F"/>
              </a:buClr>
              <a:buSzPct val="110000"/>
              <a:buFontTx/>
              <a:buBlip>
                <a:blip r:embed="rId2"/>
              </a:buBlip>
              <a:tabLst>
                <a:tab pos="628650" algn="l"/>
              </a:tabLst>
            </a:pP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구축 사업별 개별 표준 적용으로 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DB</a:t>
            </a: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간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b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사업 간 일관성 없는 데이터 객체 생성</a:t>
            </a:r>
            <a:endParaRPr lang="en-US" altLang="ko-KR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2563" indent="-182563" latinLnBrk="0">
              <a:spcBef>
                <a:spcPts val="500"/>
              </a:spcBef>
              <a:buClr>
                <a:srgbClr val="7F7F7F"/>
              </a:buClr>
              <a:buSzPct val="110000"/>
              <a:buFontTx/>
              <a:buBlip>
                <a:blip r:embed="rId2"/>
              </a:buBlip>
              <a:tabLst>
                <a:tab pos="628650" algn="l"/>
              </a:tabLst>
            </a:pP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데이터품질관리 지원 도구 부재로 품질관리 업무 효율 저하 및 관리활동의 적극성 제약</a:t>
            </a:r>
          </a:p>
        </p:txBody>
      </p:sp>
      <p:pic>
        <p:nvPicPr>
          <p:cNvPr id="67" name="Picture 4" descr="C:\Users\hoya\Desktop\Vector Smart Object1.png">
            <a:extLst>
              <a:ext uri="{FF2B5EF4-FFF2-40B4-BE49-F238E27FC236}">
                <a16:creationId xmlns="" xmlns:a16="http://schemas.microsoft.com/office/drawing/2014/main" id="{8A0901CE-BC68-4488-8948-47E82A1F81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4367961" y="4884076"/>
            <a:ext cx="368204" cy="312202"/>
          </a:xfrm>
          <a:prstGeom prst="rect">
            <a:avLst/>
          </a:prstGeom>
          <a:noFill/>
        </p:spPr>
      </p:pic>
      <p:sp>
        <p:nvSpPr>
          <p:cNvPr id="68" name="Rectangle 8">
            <a:extLst>
              <a:ext uri="{FF2B5EF4-FFF2-40B4-BE49-F238E27FC236}">
                <a16:creationId xmlns="" xmlns:a16="http://schemas.microsoft.com/office/drawing/2014/main" id="{41E58178-AC62-478A-9953-01EA059EEC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3977" y="4873155"/>
            <a:ext cx="3887572" cy="1401087"/>
          </a:xfrm>
          <a:prstGeom prst="roundRect">
            <a:avLst>
              <a:gd name="adj" fmla="val 3936"/>
            </a:avLst>
          </a:prstGeom>
          <a:solidFill>
            <a:schemeClr val="bg1"/>
          </a:solidFill>
          <a:ln w="12700" algn="ctr">
            <a:solidFill>
              <a:schemeClr val="bg1">
                <a:lumMod val="65000"/>
              </a:schemeClr>
            </a:solidFill>
            <a:round/>
            <a:headEnd/>
            <a:tailEnd/>
          </a:ln>
          <a:effectLst>
            <a:innerShdw blurRad="50800">
              <a:schemeClr val="bg1">
                <a:lumMod val="65000"/>
              </a:schemeClr>
            </a:innerShdw>
          </a:effectLst>
        </p:spPr>
        <p:txBody>
          <a:bodyPr wrap="square" lIns="3600" tIns="3600" rIns="3600" bIns="3600" anchor="ctr">
            <a:noAutofit/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latinLnBrk="0"/>
            <a:endParaRPr lang="ko-KR" altLang="en-US" sz="11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8" name="그룹 59">
            <a:extLst>
              <a:ext uri="{FF2B5EF4-FFF2-40B4-BE49-F238E27FC236}">
                <a16:creationId xmlns="" xmlns:a16="http://schemas.microsoft.com/office/drawing/2014/main" id="{FC14CC47-C9C1-4395-9A5E-CF186D7E6D4F}"/>
              </a:ext>
            </a:extLst>
          </p:cNvPr>
          <p:cNvGrpSpPr/>
          <p:nvPr/>
        </p:nvGrpSpPr>
        <p:grpSpPr>
          <a:xfrm>
            <a:off x="5116379" y="5069620"/>
            <a:ext cx="898248" cy="1010172"/>
            <a:chOff x="444286" y="5164143"/>
            <a:chExt cx="898248" cy="1010172"/>
          </a:xfrm>
        </p:grpSpPr>
        <p:cxnSp>
          <p:nvCxnSpPr>
            <p:cNvPr id="70" name="직선 연결선 69">
              <a:extLst>
                <a:ext uri="{FF2B5EF4-FFF2-40B4-BE49-F238E27FC236}">
                  <a16:creationId xmlns="" xmlns:a16="http://schemas.microsoft.com/office/drawing/2014/main" id="{457C5B12-D204-490D-9D8C-0C75A56CF030}"/>
                </a:ext>
              </a:extLst>
            </p:cNvPr>
            <p:cNvCxnSpPr/>
            <p:nvPr/>
          </p:nvCxnSpPr>
          <p:spPr bwMode="auto">
            <a:xfrm>
              <a:off x="881884" y="5164143"/>
              <a:ext cx="0" cy="101017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CB1F69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9" name="그룹 63">
              <a:extLst>
                <a:ext uri="{FF2B5EF4-FFF2-40B4-BE49-F238E27FC236}">
                  <a16:creationId xmlns="" xmlns:a16="http://schemas.microsoft.com/office/drawing/2014/main" id="{F9021DE3-78BB-45C0-8285-BA9D82EF7450}"/>
                </a:ext>
              </a:extLst>
            </p:cNvPr>
            <p:cNvGrpSpPr/>
            <p:nvPr/>
          </p:nvGrpSpPr>
          <p:grpSpPr>
            <a:xfrm>
              <a:off x="444286" y="5224644"/>
              <a:ext cx="898248" cy="898244"/>
              <a:chOff x="2095477" y="7685016"/>
              <a:chExt cx="742607" cy="742604"/>
            </a:xfrm>
          </p:grpSpPr>
          <p:sp>
            <p:nvSpPr>
              <p:cNvPr id="72" name="타원 71">
                <a:extLst>
                  <a:ext uri="{FF2B5EF4-FFF2-40B4-BE49-F238E27FC236}">
                    <a16:creationId xmlns="" xmlns:a16="http://schemas.microsoft.com/office/drawing/2014/main" id="{CC17D912-3EA8-41E9-83AC-1E80C1BD73DD}"/>
                  </a:ext>
                </a:extLst>
              </p:cNvPr>
              <p:cNvSpPr/>
              <p:nvPr/>
            </p:nvSpPr>
            <p:spPr>
              <a:xfrm>
                <a:off x="2095477" y="7685016"/>
                <a:ext cx="742607" cy="742604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73" name="타원 72">
                <a:extLst>
                  <a:ext uri="{FF2B5EF4-FFF2-40B4-BE49-F238E27FC236}">
                    <a16:creationId xmlns="" xmlns:a16="http://schemas.microsoft.com/office/drawing/2014/main" id="{6F10D0DF-C574-4F2D-87CD-BEA3D0C58001}"/>
                  </a:ext>
                </a:extLst>
              </p:cNvPr>
              <p:cNvSpPr/>
              <p:nvPr/>
            </p:nvSpPr>
            <p:spPr>
              <a:xfrm>
                <a:off x="2178270" y="7767808"/>
                <a:ext cx="577019" cy="577018"/>
              </a:xfrm>
              <a:prstGeom prst="ellipse">
                <a:avLst/>
              </a:prstGeom>
              <a:solidFill>
                <a:srgbClr val="508C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>
                <a:scene3d>
                  <a:camera prst="orthographicFront"/>
                  <a:lightRig rig="threePt" dir="t"/>
                </a:scene3d>
                <a:sp3d>
                  <a:bevelT w="0" h="12700"/>
                  <a:bevelB w="0" h="0"/>
                </a:sp3d>
              </a:bodyPr>
              <a:lstStyle/>
              <a:p>
                <a:pPr algn="ctr" latinLnBrk="0">
                  <a:buSzPct val="80000"/>
                  <a:defRPr/>
                </a:pPr>
                <a:endParaRPr lang="ko-KR" altLang="en-US" b="1" kern="0" dirty="0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74" name="타원 73">
                <a:extLst>
                  <a:ext uri="{FF2B5EF4-FFF2-40B4-BE49-F238E27FC236}">
                    <a16:creationId xmlns="" xmlns:a16="http://schemas.microsoft.com/office/drawing/2014/main" id="{F9BC0245-1D9D-4379-9731-3507C9CD25E0}"/>
                  </a:ext>
                </a:extLst>
              </p:cNvPr>
              <p:cNvSpPr/>
              <p:nvPr/>
            </p:nvSpPr>
            <p:spPr>
              <a:xfrm>
                <a:off x="2144816" y="7734357"/>
                <a:ext cx="643932" cy="643926"/>
              </a:xfrm>
              <a:prstGeom prst="ellipse">
                <a:avLst/>
              </a:prstGeom>
              <a:noFill/>
              <a:ln w="9525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75" name="제목 1">
                <a:extLst>
                  <a:ext uri="{FF2B5EF4-FFF2-40B4-BE49-F238E27FC236}">
                    <a16:creationId xmlns="" xmlns:a16="http://schemas.microsoft.com/office/drawing/2014/main" id="{F40546FA-914F-4727-8C3A-7A1D8E1F734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77017" y="7840036"/>
                <a:ext cx="360468" cy="432561"/>
              </a:xfrm>
              <a:prstGeom prst="rect">
                <a:avLst/>
              </a:prstGeom>
            </p:spPr>
            <p:txBody>
              <a:bodyPr wrap="none" lIns="0" tIns="0" rIns="0" bIns="0" anchor="ctr">
                <a:spAutoFit/>
                <a:scene3d>
                  <a:camera prst="orthographicFront"/>
                  <a:lightRig rig="threePt" dir="t"/>
                </a:scene3d>
                <a:sp3d>
                  <a:bevelT w="0" h="12700"/>
                </a:sp3d>
              </a:bodyPr>
              <a:lstStyle>
                <a:lvl1pPr algn="ctr" defTabSz="914400" rtl="0" eaLnBrk="1" latinLnBrk="1" hangingPunct="1"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latinLnBrk="0">
                  <a:defRPr/>
                </a:pPr>
                <a:r>
                  <a:rPr lang="ko-KR" altLang="en-US" sz="1700" b="1" dirty="0">
                    <a:solidFill>
                      <a:prstClr val="white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rPr>
                  <a:t>개선</a:t>
                </a:r>
                <a:r>
                  <a:rPr lang="en-US" altLang="ko-KR" sz="1700" b="1" dirty="0">
                    <a:solidFill>
                      <a:prstClr val="white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rPr>
                  <a:t/>
                </a:r>
                <a:br>
                  <a:rPr lang="en-US" altLang="ko-KR" sz="1700" b="1" dirty="0">
                    <a:solidFill>
                      <a:prstClr val="white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rPr>
                </a:br>
                <a:r>
                  <a:rPr lang="ko-KR" altLang="en-US" sz="1700" b="1" dirty="0">
                    <a:solidFill>
                      <a:prstClr val="white"/>
                    </a:solidFill>
                    <a:latin typeface="맑은 고딕" pitchFamily="50" charset="-127"/>
                    <a:ea typeface="맑은 고딕" pitchFamily="50" charset="-127"/>
                    <a:cs typeface="Arial" pitchFamily="34" charset="0"/>
                  </a:rPr>
                  <a:t>방안</a:t>
                </a:r>
              </a:p>
            </p:txBody>
          </p:sp>
        </p:grpSp>
      </p:grpSp>
      <p:sp>
        <p:nvSpPr>
          <p:cNvPr id="76" name="AutoShape 35">
            <a:extLst>
              <a:ext uri="{FF2B5EF4-FFF2-40B4-BE49-F238E27FC236}">
                <a16:creationId xmlns="" xmlns:a16="http://schemas.microsoft.com/office/drawing/2014/main" id="{975881C9-B194-4CE8-B334-76B870F33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53983" y="5113571"/>
            <a:ext cx="3345364" cy="893065"/>
          </a:xfrm>
          <a:prstGeom prst="rect">
            <a:avLst/>
          </a:prstGeom>
          <a:noFill/>
          <a:extLst/>
        </p:spPr>
        <p:txBody>
          <a:bodyPr wrap="square" lIns="0" tIns="0" rIns="0" bIns="0" rtlCol="0" anchor="ctr" anchorCtr="0">
            <a:noAutofit/>
            <a:scene3d>
              <a:camera prst="orthographicFront"/>
              <a:lightRig rig="threePt" dir="t"/>
            </a:scene3d>
            <a:sp3d>
              <a:bevelT w="0" h="12700"/>
            </a:sp3d>
          </a:bodyPr>
          <a:lstStyle/>
          <a:p>
            <a:pPr marL="182563" indent="-182563" latinLnBrk="0">
              <a:spcBef>
                <a:spcPts val="500"/>
              </a:spcBef>
              <a:buClr>
                <a:srgbClr val="7F7F7F"/>
              </a:buClr>
              <a:buSzPct val="110000"/>
              <a:buFontTx/>
              <a:buBlip>
                <a:blip r:embed="rId2"/>
              </a:buBlip>
              <a:tabLst>
                <a:tab pos="628650" algn="l"/>
              </a:tabLst>
            </a:pP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데이터 신뢰성 제고를 위한 견고한 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데이터 품질관리체계 수립</a:t>
            </a:r>
            <a:endParaRPr lang="en-US" altLang="ko-KR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2563" indent="-182563" latinLnBrk="0">
              <a:spcBef>
                <a:spcPts val="500"/>
              </a:spcBef>
              <a:buClr>
                <a:srgbClr val="7F7F7F"/>
              </a:buClr>
              <a:buSzPct val="110000"/>
              <a:buFontTx/>
              <a:buBlip>
                <a:blip r:embed="rId2"/>
              </a:buBlip>
              <a:tabLst>
                <a:tab pos="628650" algn="l"/>
              </a:tabLst>
            </a:pP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효율적인 데이터품질관리 수행을 </a:t>
            </a:r>
            <a:r>
              <a:rPr lang="ko-KR" altLang="en-US" sz="120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위한 </a:t>
            </a:r>
            <a:r>
              <a:rPr lang="ko-KR" altLang="en-US" sz="120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표준화 방안 수립 </a:t>
            </a:r>
            <a:r>
              <a:rPr lang="en-US" altLang="ko-KR" sz="120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/ </a:t>
            </a:r>
            <a:r>
              <a:rPr lang="ko-KR" altLang="en-US" sz="1200" smtClean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적용</a:t>
            </a:r>
            <a:endParaRPr lang="en-US" altLang="ko-KR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82563" indent="-182563" latinLnBrk="0">
              <a:spcBef>
                <a:spcPts val="500"/>
              </a:spcBef>
              <a:buClr>
                <a:srgbClr val="7F7F7F"/>
              </a:buClr>
              <a:buSzPct val="110000"/>
              <a:buFontTx/>
              <a:buBlip>
                <a:blip r:embed="rId2"/>
              </a:buBlip>
              <a:tabLst>
                <a:tab pos="628650" algn="l"/>
              </a:tabLst>
            </a:pP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데이터표준화에 의한 통합 </a:t>
            </a:r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DB</a:t>
            </a:r>
            <a:r>
              <a: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의 일관성 확보 및 데이터 품질 제고</a:t>
            </a:r>
            <a:endParaRPr lang="en-US" altLang="ko-KR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77" name="Picture 4" descr="C:\Users\hoya\Desktop\Vector Smart Object1.png">
            <a:extLst>
              <a:ext uri="{FF2B5EF4-FFF2-40B4-BE49-F238E27FC236}">
                <a16:creationId xmlns="" xmlns:a16="http://schemas.microsoft.com/office/drawing/2014/main" id="{FEF8D469-2E7D-4EF7-AB23-35A81E952B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9031143" y="4884076"/>
            <a:ext cx="368204" cy="312202"/>
          </a:xfrm>
          <a:prstGeom prst="rect">
            <a:avLst/>
          </a:prstGeom>
          <a:noFill/>
        </p:spPr>
      </p:pic>
      <p:grpSp>
        <p:nvGrpSpPr>
          <p:cNvPr id="10" name="그룹 113">
            <a:extLst>
              <a:ext uri="{FF2B5EF4-FFF2-40B4-BE49-F238E27FC236}">
                <a16:creationId xmlns="" xmlns:a16="http://schemas.microsoft.com/office/drawing/2014/main" id="{F96E6D34-569D-4C56-8DF5-E625B40736BC}"/>
              </a:ext>
            </a:extLst>
          </p:cNvPr>
          <p:cNvGrpSpPr/>
          <p:nvPr/>
        </p:nvGrpSpPr>
        <p:grpSpPr>
          <a:xfrm>
            <a:off x="522067" y="2013484"/>
            <a:ext cx="3719763" cy="215444"/>
            <a:chOff x="569069" y="1542072"/>
            <a:chExt cx="3719763" cy="215444"/>
          </a:xfrm>
        </p:grpSpPr>
        <p:sp>
          <p:nvSpPr>
            <p:cNvPr id="115" name="TextBox 114">
              <a:extLst>
                <a:ext uri="{FF2B5EF4-FFF2-40B4-BE49-F238E27FC236}">
                  <a16:creationId xmlns="" xmlns:a16="http://schemas.microsoft.com/office/drawing/2014/main" id="{E234C87A-9D66-4F2C-9A69-F925A618D1A5}"/>
                </a:ext>
              </a:extLst>
            </p:cNvPr>
            <p:cNvSpPr txBox="1"/>
            <p:nvPr/>
          </p:nvSpPr>
          <p:spPr>
            <a:xfrm>
              <a:off x="798929" y="1542072"/>
              <a:ext cx="3489903" cy="21544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  <a:scene3d>
                <a:camera prst="orthographicFront"/>
                <a:lightRig rig="threePt" dir="t"/>
              </a:scene3d>
              <a:sp3d>
                <a:bevelT w="0" h="38100"/>
              </a:sp3d>
            </a:bodyPr>
            <a:lstStyle>
              <a:defPPr>
                <a:defRPr lang="ko-KR"/>
              </a:defPPr>
              <a:lvl1pPr algn="ctr">
                <a:spcBef>
                  <a:spcPts val="20"/>
                </a:spcBef>
                <a:defRPr sz="1100" spc="-100"/>
              </a:lvl1pPr>
            </a:lstStyle>
            <a:p>
              <a:pPr algn="l" fontAlgn="base">
                <a:buClr>
                  <a:prstClr val="black"/>
                </a:buClr>
              </a:pPr>
              <a:r>
                <a:rPr lang="ko-KR" altLang="en-US" sz="1400" b="1" dirty="0">
                  <a:solidFill>
                    <a:prstClr val="black">
                      <a:lumMod val="50000"/>
                      <a:lumOff val="50000"/>
                    </a:prstClr>
                  </a:solidFill>
                  <a:latin typeface="맑은 고딕" pitchFamily="50" charset="-127"/>
                  <a:ea typeface="맑은 고딕" pitchFamily="50" charset="-127"/>
                </a:rPr>
                <a:t>데이터 품질관리체계 미비로 데이터 품질 저하</a:t>
              </a:r>
              <a:endParaRPr lang="en-US" altLang="ko-KR" sz="14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6" name="이등변 삼각형 115">
              <a:extLst>
                <a:ext uri="{FF2B5EF4-FFF2-40B4-BE49-F238E27FC236}">
                  <a16:creationId xmlns="" xmlns:a16="http://schemas.microsoft.com/office/drawing/2014/main" id="{7C7E0824-B05E-4817-B39D-4DEB68B59366}"/>
                </a:ext>
              </a:extLst>
            </p:cNvPr>
            <p:cNvSpPr/>
            <p:nvPr/>
          </p:nvSpPr>
          <p:spPr>
            <a:xfrm rot="5400000">
              <a:off x="569069" y="1559794"/>
              <a:ext cx="180000" cy="180000"/>
            </a:xfrm>
            <a:prstGeom prst="triangl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12700"/>
                <a:bevelB w="0" h="0"/>
              </a:sp3d>
            </a:bodyPr>
            <a:lstStyle/>
            <a:p>
              <a:pPr algn="ctr" fontAlgn="base" latinLnBrk="0">
                <a:spcBef>
                  <a:spcPct val="0"/>
                </a:spcBef>
                <a:spcAft>
                  <a:spcPct val="0"/>
                </a:spcAft>
                <a:buSzPct val="80000"/>
                <a:defRPr/>
              </a:pPr>
              <a:endParaRPr lang="ko-KR" altLang="en-US" b="1" kern="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28" name="TextBox 127">
            <a:extLst>
              <a:ext uri="{FF2B5EF4-FFF2-40B4-BE49-F238E27FC236}">
                <a16:creationId xmlns="" xmlns:a16="http://schemas.microsoft.com/office/drawing/2014/main" id="{45B81D79-9E48-476D-8B07-36FA2FFB5BE0}"/>
              </a:ext>
            </a:extLst>
          </p:cNvPr>
          <p:cNvSpPr txBox="1"/>
          <p:nvPr/>
        </p:nvSpPr>
        <p:spPr>
          <a:xfrm>
            <a:off x="5435014" y="2013484"/>
            <a:ext cx="383803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  <a:scene3d>
              <a:camera prst="orthographicFront"/>
              <a:lightRig rig="threePt" dir="t"/>
            </a:scene3d>
            <a:sp3d>
              <a:bevelT w="0" h="38100"/>
            </a:sp3d>
          </a:bodyPr>
          <a:lstStyle>
            <a:defPPr>
              <a:defRPr lang="ko-KR"/>
            </a:defPPr>
            <a:lvl1pPr algn="ctr">
              <a:spcBef>
                <a:spcPts val="20"/>
              </a:spcBef>
              <a:defRPr sz="1100" spc="-100"/>
            </a:lvl1pPr>
          </a:lstStyle>
          <a:p>
            <a:pPr algn="l" fontAlgn="base">
              <a:buClr>
                <a:prstClr val="black"/>
              </a:buClr>
            </a:pPr>
            <a:r>
              <a:rPr lang="ko-KR" altLang="en-US" sz="1400" b="1" dirty="0">
                <a:solidFill>
                  <a:prstClr val="black">
                    <a:lumMod val="50000"/>
                    <a:lumOff val="50000"/>
                  </a:prstClr>
                </a:solidFill>
                <a:latin typeface="맑은 고딕" pitchFamily="50" charset="-127"/>
                <a:ea typeface="맑은 고딕" pitchFamily="50" charset="-127"/>
              </a:rPr>
              <a:t>데이터품질관리체계 강화 및 지원 시스템 구축</a:t>
            </a:r>
            <a:endParaRPr lang="en-US" altLang="ko-KR" sz="1400" b="1" dirty="0">
              <a:solidFill>
                <a:prstClr val="black">
                  <a:lumMod val="50000"/>
                  <a:lumOff val="50000"/>
                </a:prst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29" name="이등변 삼각형 128">
            <a:extLst>
              <a:ext uri="{FF2B5EF4-FFF2-40B4-BE49-F238E27FC236}">
                <a16:creationId xmlns="" xmlns:a16="http://schemas.microsoft.com/office/drawing/2014/main" id="{3DF384F5-72E8-457F-8BFA-893B9A088190}"/>
              </a:ext>
            </a:extLst>
          </p:cNvPr>
          <p:cNvSpPr/>
          <p:nvPr/>
        </p:nvSpPr>
        <p:spPr>
          <a:xfrm rot="5400000">
            <a:off x="5205154" y="2031206"/>
            <a:ext cx="180000" cy="180000"/>
          </a:xfrm>
          <a:prstGeom prst="triangle">
            <a:avLst/>
          </a:prstGeom>
          <a:solidFill>
            <a:srgbClr val="2195C1"/>
          </a:solidFill>
          <a:ln>
            <a:solidFill>
              <a:srgbClr val="2195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prstClr val="white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grpSp>
        <p:nvGrpSpPr>
          <p:cNvPr id="11" name="그룹 78"/>
          <p:cNvGrpSpPr/>
          <p:nvPr/>
        </p:nvGrpSpPr>
        <p:grpSpPr>
          <a:xfrm>
            <a:off x="641918" y="2403251"/>
            <a:ext cx="4033433" cy="2356311"/>
            <a:chOff x="568173" y="1997214"/>
            <a:chExt cx="4349356" cy="2690441"/>
          </a:xfrm>
        </p:grpSpPr>
        <p:grpSp>
          <p:nvGrpSpPr>
            <p:cNvPr id="12" name="그룹 79"/>
            <p:cNvGrpSpPr/>
            <p:nvPr/>
          </p:nvGrpSpPr>
          <p:grpSpPr>
            <a:xfrm>
              <a:off x="3811648" y="3037668"/>
              <a:ext cx="830911" cy="699663"/>
              <a:chOff x="3901001" y="3037668"/>
              <a:chExt cx="830911" cy="699663"/>
            </a:xfrm>
          </p:grpSpPr>
          <p:pic>
            <p:nvPicPr>
              <p:cNvPr id="182" name="Picture 155" descr="3"/>
              <p:cNvPicPr>
                <a:picLocks noChangeAspect="1" noChangeArrowheads="1"/>
              </p:cNvPicPr>
              <p:nvPr/>
            </p:nvPicPr>
            <p:blipFill>
              <a:blip r:embed="rId5" cstate="print"/>
              <a:srcRect l="8655" t="63850" r="62900" b="17926"/>
              <a:stretch>
                <a:fillRect/>
              </a:stretch>
            </p:blipFill>
            <p:spPr bwMode="auto">
              <a:xfrm>
                <a:off x="3901001" y="3037668"/>
                <a:ext cx="830911" cy="52913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3" name="직사각형 182"/>
              <p:cNvSpPr/>
              <p:nvPr/>
            </p:nvSpPr>
            <p:spPr>
              <a:xfrm>
                <a:off x="4086210" y="3605549"/>
                <a:ext cx="464982" cy="1317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/>
              <a:p>
                <a:pPr algn="ctr" defTabSz="691134">
                  <a:lnSpc>
                    <a:spcPts val="907"/>
                  </a:lnSpc>
                  <a:buClr>
                    <a:srgbClr val="3271AA"/>
                  </a:buClr>
                  <a:buSzPct val="140000"/>
                  <a:tabLst>
                    <a:tab pos="5121591" algn="l"/>
                  </a:tabLst>
                </a:pPr>
                <a:r>
                  <a:rPr lang="ko-KR" altLang="en-US" sz="900" b="1" kern="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통합 </a:t>
                </a:r>
                <a:r>
                  <a:rPr lang="en-US" altLang="ko-KR" sz="900" b="1" kern="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DB</a:t>
                </a:r>
                <a:endParaRPr lang="ko-KR" altLang="en-US" sz="900" b="1" kern="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84" name="직사각형 183"/>
              <p:cNvSpPr/>
              <p:nvPr/>
            </p:nvSpPr>
            <p:spPr>
              <a:xfrm>
                <a:off x="3989832" y="3258051"/>
                <a:ext cx="201295" cy="88363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5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DATA</a:t>
                </a:r>
                <a:endParaRPr lang="ko-KR" altLang="en-US" sz="5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85" name="직사각형 184"/>
              <p:cNvSpPr/>
              <p:nvPr/>
            </p:nvSpPr>
            <p:spPr>
              <a:xfrm>
                <a:off x="4222907" y="3377106"/>
                <a:ext cx="201295" cy="88363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5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DATA</a:t>
                </a:r>
                <a:endParaRPr lang="ko-KR" altLang="en-US" sz="5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86" name="직사각형 185"/>
              <p:cNvSpPr/>
              <p:nvPr/>
            </p:nvSpPr>
            <p:spPr>
              <a:xfrm>
                <a:off x="4460877" y="3258051"/>
                <a:ext cx="201295" cy="88363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5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DATA</a:t>
                </a:r>
                <a:endParaRPr lang="ko-KR" altLang="en-US" sz="5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87" name="직사각형 186"/>
              <p:cNvSpPr/>
              <p:nvPr/>
            </p:nvSpPr>
            <p:spPr>
              <a:xfrm>
                <a:off x="4460877" y="3377106"/>
                <a:ext cx="201295" cy="88363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5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DATA</a:t>
                </a:r>
                <a:endParaRPr lang="ko-KR" altLang="en-US" sz="5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88" name="폭발 1 187"/>
              <p:cNvSpPr/>
              <p:nvPr/>
            </p:nvSpPr>
            <p:spPr>
              <a:xfrm>
                <a:off x="4249784" y="3223267"/>
                <a:ext cx="169078" cy="169077"/>
              </a:xfrm>
              <a:prstGeom prst="irregularSeal1">
                <a:avLst/>
              </a:prstGeom>
              <a:solidFill>
                <a:srgbClr val="FFC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5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error</a:t>
                </a:r>
                <a:endParaRPr lang="ko-KR" altLang="en-US" sz="5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89" name="폭발 1 188"/>
              <p:cNvSpPr/>
              <p:nvPr/>
            </p:nvSpPr>
            <p:spPr>
              <a:xfrm>
                <a:off x="4013218" y="3344703"/>
                <a:ext cx="169078" cy="169077"/>
              </a:xfrm>
              <a:prstGeom prst="irregularSeal1">
                <a:avLst/>
              </a:prstGeom>
              <a:solidFill>
                <a:srgbClr val="FFC000"/>
              </a:solidFill>
              <a:ln w="6350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5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error</a:t>
                </a:r>
                <a:endParaRPr lang="ko-KR" altLang="en-US" sz="5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81" name="오른쪽 중괄호 80"/>
            <p:cNvSpPr/>
            <p:nvPr/>
          </p:nvSpPr>
          <p:spPr>
            <a:xfrm>
              <a:off x="2945532" y="2060848"/>
              <a:ext cx="137285" cy="2573641"/>
            </a:xfrm>
            <a:prstGeom prst="rightBrace">
              <a:avLst>
                <a:gd name="adj1" fmla="val 58986"/>
                <a:gd name="adj2" fmla="val 53515"/>
              </a:avLst>
            </a:prstGeom>
            <a:ln w="1905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2" name="모서리가 둥근 직사각형 81"/>
            <p:cNvSpPr/>
            <p:nvPr/>
          </p:nvSpPr>
          <p:spPr>
            <a:xfrm>
              <a:off x="3175843" y="2060848"/>
              <a:ext cx="326555" cy="2573641"/>
            </a:xfrm>
            <a:prstGeom prst="roundRect">
              <a:avLst>
                <a:gd name="adj" fmla="val 0"/>
              </a:avLst>
            </a:prstGeom>
            <a:solidFill>
              <a:schemeClr val="bg1">
                <a:lumMod val="50000"/>
              </a:schemeClr>
            </a:solidFill>
            <a:ln w="12700">
              <a:solidFill>
                <a:schemeClr val="bg1">
                  <a:lumMod val="50000"/>
                </a:schemeClr>
              </a:solidFill>
            </a:ln>
            <a:effectLst>
              <a:outerShdw blurRad="254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36000" tIns="0" rIns="36000" bIns="0" anchor="ctr">
              <a:noAutofit/>
            </a:bodyPr>
            <a:lstStyle/>
            <a:p>
              <a:pPr algn="ctr"/>
              <a:r>
                <a:rPr lang="ko-KR" altLang="en-US" sz="11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데이터</a:t>
              </a:r>
              <a:r>
                <a:rPr lang="en-US" altLang="ko-KR" sz="11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1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11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품질관리</a:t>
              </a:r>
              <a:r>
                <a:rPr lang="en-US" altLang="ko-KR" sz="11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1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7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7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11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체계 </a:t>
              </a:r>
              <a:r>
                <a:rPr lang="en-US" altLang="ko-KR" sz="11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1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8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11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미비</a:t>
              </a:r>
            </a:p>
          </p:txBody>
        </p:sp>
        <p:grpSp>
          <p:nvGrpSpPr>
            <p:cNvPr id="13" name="그룹 82"/>
            <p:cNvGrpSpPr/>
            <p:nvPr/>
          </p:nvGrpSpPr>
          <p:grpSpPr>
            <a:xfrm>
              <a:off x="3667816" y="3753361"/>
              <a:ext cx="1194781" cy="934294"/>
              <a:chOff x="3688186" y="3753361"/>
              <a:chExt cx="1194781" cy="934294"/>
            </a:xfrm>
          </p:grpSpPr>
          <p:sp>
            <p:nvSpPr>
              <p:cNvPr id="178" name="직사각형 177"/>
              <p:cNvSpPr/>
              <p:nvPr/>
            </p:nvSpPr>
            <p:spPr>
              <a:xfrm>
                <a:off x="4021848" y="4555873"/>
                <a:ext cx="518568" cy="1317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t">
                <a:spAutoFit/>
              </a:bodyPr>
              <a:lstStyle/>
              <a:p>
                <a:pPr algn="ctr" defTabSz="691134">
                  <a:lnSpc>
                    <a:spcPts val="907"/>
                  </a:lnSpc>
                  <a:buClr>
                    <a:srgbClr val="3271AA"/>
                  </a:buClr>
                  <a:buSzPct val="140000"/>
                  <a:tabLst>
                    <a:tab pos="5121591" algn="l"/>
                  </a:tabLst>
                </a:pPr>
                <a:r>
                  <a:rPr lang="ko-KR" altLang="en-US" sz="900" kern="0" spc="-15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업무담당자</a:t>
                </a:r>
              </a:p>
            </p:txBody>
          </p:sp>
          <p:pic>
            <p:nvPicPr>
              <p:cNvPr id="179" name="Picture 50" descr="D:\모스트비주얼\아이콘 작업\왜가리\2.png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4180341" y="4158144"/>
                <a:ext cx="201581" cy="3569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180" name="직선 화살표 연결선 179"/>
              <p:cNvCxnSpPr/>
              <p:nvPr/>
            </p:nvCxnSpPr>
            <p:spPr>
              <a:xfrm flipV="1">
                <a:off x="4281131" y="3753361"/>
                <a:ext cx="0" cy="36659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1" name="직사각형 180"/>
              <p:cNvSpPr/>
              <p:nvPr/>
            </p:nvSpPr>
            <p:spPr>
              <a:xfrm>
                <a:off x="3688186" y="3796129"/>
                <a:ext cx="1194781" cy="4568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000" b="1" spc="-150" dirty="0">
                    <a:solidFill>
                      <a:srgbClr val="C00000"/>
                    </a:solidFill>
                    <a:latin typeface="맑은 고딕" pitchFamily="50" charset="-127"/>
                    <a:ea typeface="맑은 고딕" pitchFamily="50" charset="-127"/>
                  </a:rPr>
                  <a:t>낮은 데이터 신뢰도</a:t>
                </a:r>
                <a:endParaRPr lang="en-US" altLang="ko-KR" sz="1000" b="1" spc="-150" dirty="0">
                  <a:solidFill>
                    <a:srgbClr val="C00000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algn="ctr"/>
                <a:r>
                  <a:rPr lang="ko-KR" altLang="en-US" sz="1000" b="1" spc="-150" dirty="0">
                    <a:solidFill>
                      <a:srgbClr val="C00000"/>
                    </a:solidFill>
                    <a:latin typeface="맑은 고딕" pitchFamily="50" charset="-127"/>
                    <a:ea typeface="맑은 고딕" pitchFamily="50" charset="-127"/>
                  </a:rPr>
                  <a:t>업무 생산성 저하</a:t>
                </a:r>
                <a:endParaRPr lang="ko-KR" altLang="en-US" sz="1000" spc="-150" dirty="0">
                  <a:solidFill>
                    <a:srgbClr val="C0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14" name="그룹 83"/>
            <p:cNvGrpSpPr/>
            <p:nvPr/>
          </p:nvGrpSpPr>
          <p:grpSpPr>
            <a:xfrm>
              <a:off x="3612345" y="1997214"/>
              <a:ext cx="1305184" cy="1067403"/>
              <a:chOff x="3664736" y="1997214"/>
              <a:chExt cx="1305184" cy="1067403"/>
            </a:xfrm>
          </p:grpSpPr>
          <p:sp>
            <p:nvSpPr>
              <p:cNvPr id="170" name="직사각형 169"/>
              <p:cNvSpPr/>
              <p:nvPr/>
            </p:nvSpPr>
            <p:spPr>
              <a:xfrm>
                <a:off x="3737229" y="2394942"/>
                <a:ext cx="518568" cy="26356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t">
                <a:spAutoFit/>
              </a:bodyPr>
              <a:lstStyle/>
              <a:p>
                <a:pPr algn="ctr" defTabSz="691134">
                  <a:lnSpc>
                    <a:spcPts val="907"/>
                  </a:lnSpc>
                  <a:buClr>
                    <a:srgbClr val="3271AA"/>
                  </a:buClr>
                  <a:buSzPct val="140000"/>
                  <a:tabLst>
                    <a:tab pos="5121591" algn="l"/>
                  </a:tabLst>
                </a:pPr>
                <a:r>
                  <a:rPr lang="ko-KR" altLang="en-US" sz="900" kern="0" spc="-15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데이터</a:t>
                </a:r>
                <a:r>
                  <a:rPr lang="en-US" altLang="ko-KR" sz="900" kern="0" spc="-15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/>
                </a:r>
                <a:br>
                  <a:rPr lang="en-US" altLang="ko-KR" sz="900" kern="0" spc="-15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</a:br>
                <a:r>
                  <a:rPr lang="ko-KR" altLang="en-US" sz="900" kern="0" spc="-15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품질관리자</a:t>
                </a:r>
              </a:p>
            </p:txBody>
          </p:sp>
          <p:pic>
            <p:nvPicPr>
              <p:cNvPr id="171" name="Picture 50" descr="D:\모스트비주얼\아이콘 작업\왜가리\2.png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3895721" y="1997214"/>
                <a:ext cx="201581" cy="3569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172" name="직선 화살표 연결선 171"/>
              <p:cNvCxnSpPr/>
              <p:nvPr/>
            </p:nvCxnSpPr>
            <p:spPr>
              <a:xfrm rot="10800000" flipV="1">
                <a:off x="3996512" y="2554866"/>
                <a:ext cx="0" cy="504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3" name="직사각형 172"/>
              <p:cNvSpPr/>
              <p:nvPr/>
            </p:nvSpPr>
            <p:spPr>
              <a:xfrm>
                <a:off x="4360639" y="2394942"/>
                <a:ext cx="414854" cy="13178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t">
                <a:spAutoFit/>
              </a:bodyPr>
              <a:lstStyle/>
              <a:p>
                <a:pPr algn="ctr" defTabSz="691134">
                  <a:lnSpc>
                    <a:spcPts val="907"/>
                  </a:lnSpc>
                  <a:buClr>
                    <a:srgbClr val="3271AA"/>
                  </a:buClr>
                  <a:buSzPct val="140000"/>
                  <a:tabLst>
                    <a:tab pos="5121591" algn="l"/>
                  </a:tabLst>
                </a:pPr>
                <a:r>
                  <a:rPr lang="ko-KR" altLang="en-US" sz="900" kern="0" spc="-15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개발업체</a:t>
                </a:r>
              </a:p>
            </p:txBody>
          </p:sp>
          <p:pic>
            <p:nvPicPr>
              <p:cNvPr id="174" name="Picture 50" descr="D:\모스트비주얼\아이콘 작업\왜가리\2.png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4467275" y="1997214"/>
                <a:ext cx="201581" cy="35695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175" name="직선 화살표 연결선 174"/>
              <p:cNvCxnSpPr/>
              <p:nvPr/>
            </p:nvCxnSpPr>
            <p:spPr>
              <a:xfrm rot="10800000" flipV="1">
                <a:off x="4568066" y="2554866"/>
                <a:ext cx="0" cy="5040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6" name="직사각형 175"/>
              <p:cNvSpPr/>
              <p:nvPr/>
            </p:nvSpPr>
            <p:spPr>
              <a:xfrm>
                <a:off x="3664736" y="2607771"/>
                <a:ext cx="669299" cy="4568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000" b="1" spc="-150" dirty="0">
                    <a:solidFill>
                      <a:srgbClr val="C00000"/>
                    </a:solidFill>
                    <a:latin typeface="맑은 고딕" pitchFamily="50" charset="-127"/>
                    <a:ea typeface="맑은 고딕" pitchFamily="50" charset="-127"/>
                  </a:rPr>
                  <a:t>품질업무</a:t>
                </a:r>
                <a:r>
                  <a:rPr lang="en-US" altLang="ko-KR" sz="1000" b="1" spc="-150" dirty="0">
                    <a:solidFill>
                      <a:srgbClr val="C00000"/>
                    </a:solidFill>
                    <a:latin typeface="맑은 고딕" pitchFamily="50" charset="-127"/>
                    <a:ea typeface="맑은 고딕" pitchFamily="50" charset="-127"/>
                  </a:rPr>
                  <a:t/>
                </a:r>
                <a:br>
                  <a:rPr lang="en-US" altLang="ko-KR" sz="1000" b="1" spc="-150" dirty="0">
                    <a:solidFill>
                      <a:srgbClr val="C00000"/>
                    </a:solidFill>
                    <a:latin typeface="맑은 고딕" pitchFamily="50" charset="-127"/>
                    <a:ea typeface="맑은 고딕" pitchFamily="50" charset="-127"/>
                  </a:rPr>
                </a:br>
                <a:r>
                  <a:rPr lang="ko-KR" altLang="en-US" sz="1000" b="1" spc="-150" dirty="0">
                    <a:solidFill>
                      <a:srgbClr val="C00000"/>
                    </a:solidFill>
                    <a:latin typeface="맑은 고딕" pitchFamily="50" charset="-127"/>
                    <a:ea typeface="맑은 고딕" pitchFamily="50" charset="-127"/>
                  </a:rPr>
                  <a:t>비효율</a:t>
                </a:r>
                <a:endParaRPr lang="ko-KR" altLang="en-US" sz="1000" spc="-150" dirty="0">
                  <a:solidFill>
                    <a:srgbClr val="C0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177" name="직사각형 176"/>
              <p:cNvSpPr/>
              <p:nvPr/>
            </p:nvSpPr>
            <p:spPr>
              <a:xfrm>
                <a:off x="4183079" y="2607771"/>
                <a:ext cx="786841" cy="45684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ko-KR" altLang="en-US" sz="1000" b="1" spc="-150" dirty="0">
                    <a:solidFill>
                      <a:srgbClr val="C00000"/>
                    </a:solidFill>
                    <a:latin typeface="맑은 고딕" pitchFamily="50" charset="-127"/>
                    <a:ea typeface="맑은 고딕" pitchFamily="50" charset="-127"/>
                  </a:rPr>
                  <a:t>데이터설계</a:t>
                </a:r>
                <a:endParaRPr lang="en-US" altLang="ko-KR" sz="1000" b="1" spc="-150" dirty="0">
                  <a:solidFill>
                    <a:srgbClr val="C00000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algn="ctr"/>
                <a:r>
                  <a:rPr lang="ko-KR" altLang="en-US" sz="1000" b="1" spc="-150" dirty="0">
                    <a:solidFill>
                      <a:srgbClr val="C00000"/>
                    </a:solidFill>
                    <a:latin typeface="맑은 고딕" pitchFamily="50" charset="-127"/>
                    <a:ea typeface="맑은 고딕" pitchFamily="50" charset="-127"/>
                  </a:rPr>
                  <a:t>어려움</a:t>
                </a:r>
              </a:p>
            </p:txBody>
          </p:sp>
        </p:grpSp>
        <p:sp>
          <p:nvSpPr>
            <p:cNvPr id="85" name="이등변 삼각형 84"/>
            <p:cNvSpPr/>
            <p:nvPr/>
          </p:nvSpPr>
          <p:spPr>
            <a:xfrm rot="5400000">
              <a:off x="3366746" y="3242682"/>
              <a:ext cx="557566" cy="137514"/>
            </a:xfrm>
            <a:prstGeom prst="triangle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86" name="모서리가 둥근 직사각형 85"/>
            <p:cNvSpPr/>
            <p:nvPr/>
          </p:nvSpPr>
          <p:spPr>
            <a:xfrm>
              <a:off x="658161" y="4202489"/>
              <a:ext cx="2304000" cy="432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  <a:alpha val="20000"/>
              </a:schemeClr>
            </a:solidFill>
            <a:ln w="19050">
              <a:solidFill>
                <a:schemeClr val="bg1">
                  <a:lumMod val="50000"/>
                  <a:alpha val="92000"/>
                </a:schemeClr>
              </a:solidFill>
            </a:ln>
          </p:spPr>
          <p:txBody>
            <a:bodyPr wrap="square" lIns="0" rIns="540000" anchor="ctr">
              <a:noAutofit/>
            </a:bodyPr>
            <a:lstStyle/>
            <a:p>
              <a:pPr marL="88900" algn="ctr"/>
              <a:r>
                <a:rPr lang="ko-KR" altLang="en-US" sz="105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데이터품질관리 </a:t>
              </a:r>
              <a:r>
                <a:rPr lang="en-US" altLang="ko-KR" sz="105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05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105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지원 시스템 부재</a:t>
              </a:r>
            </a:p>
          </p:txBody>
        </p:sp>
        <p:sp>
          <p:nvSpPr>
            <p:cNvPr id="87" name="폭발 1 86"/>
            <p:cNvSpPr/>
            <p:nvPr/>
          </p:nvSpPr>
          <p:spPr>
            <a:xfrm>
              <a:off x="568173" y="4263182"/>
              <a:ext cx="288000" cy="299531"/>
            </a:xfrm>
            <a:prstGeom prst="irregularSeal1">
              <a:avLst/>
            </a:prstGeom>
            <a:solidFill>
              <a:srgbClr val="FFC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5" name="그룹 87"/>
            <p:cNvGrpSpPr/>
            <p:nvPr/>
          </p:nvGrpSpPr>
          <p:grpSpPr>
            <a:xfrm>
              <a:off x="2256711" y="4248837"/>
              <a:ext cx="613688" cy="335799"/>
              <a:chOff x="886041" y="4248837"/>
              <a:chExt cx="613688" cy="335799"/>
            </a:xfrm>
          </p:grpSpPr>
          <p:pic>
            <p:nvPicPr>
              <p:cNvPr id="166" name="Picture 79" descr="13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903519" y="4248837"/>
                <a:ext cx="232579" cy="28744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</p:spPr>
          </p:pic>
          <p:pic>
            <p:nvPicPr>
              <p:cNvPr id="167" name="Picture 155" descr="3"/>
              <p:cNvPicPr>
                <a:picLocks noChangeAspect="1" noChangeArrowheads="1"/>
              </p:cNvPicPr>
              <p:nvPr/>
            </p:nvPicPr>
            <p:blipFill>
              <a:blip r:embed="rId8" cstate="print"/>
              <a:srcRect l="8655" t="63850" r="62900" b="17926"/>
              <a:stretch>
                <a:fillRect/>
              </a:stretch>
            </p:blipFill>
            <p:spPr bwMode="auto">
              <a:xfrm>
                <a:off x="1234975" y="4322891"/>
                <a:ext cx="264754" cy="13933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168" name="직선 연결선 167"/>
              <p:cNvCxnSpPr>
                <a:stCxn id="166" idx="3"/>
                <a:endCxn id="167" idx="1"/>
              </p:cNvCxnSpPr>
              <p:nvPr/>
            </p:nvCxnSpPr>
            <p:spPr>
              <a:xfrm>
                <a:off x="1136098" y="4392559"/>
                <a:ext cx="98877" cy="1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9" name="직사각형 168"/>
              <p:cNvSpPr/>
              <p:nvPr/>
            </p:nvSpPr>
            <p:spPr>
              <a:xfrm>
                <a:off x="886041" y="4409146"/>
                <a:ext cx="217798" cy="17549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t">
                <a:spAutoFit/>
              </a:bodyPr>
              <a:lstStyle/>
              <a:p>
                <a:pPr algn="ctr" defTabSz="691134">
                  <a:lnSpc>
                    <a:spcPts val="907"/>
                  </a:lnSpc>
                  <a:buClr>
                    <a:srgbClr val="3271AA"/>
                  </a:buClr>
                  <a:buSzPct val="140000"/>
                  <a:tabLst>
                    <a:tab pos="5121591" algn="l"/>
                  </a:tabLst>
                </a:pPr>
                <a:r>
                  <a:rPr lang="en-US" altLang="ko-KR" sz="2400" b="1" kern="0" spc="-150" dirty="0">
                    <a:solidFill>
                      <a:srgbClr val="C00000"/>
                    </a:solidFill>
                    <a:latin typeface="맑은 고딕" pitchFamily="50" charset="-127"/>
                    <a:ea typeface="맑은 고딕" pitchFamily="50" charset="-127"/>
                  </a:rPr>
                  <a:t>×</a:t>
                </a:r>
                <a:endParaRPr lang="ko-KR" altLang="en-US" sz="2400" b="1" kern="0" spc="-150" dirty="0">
                  <a:solidFill>
                    <a:srgbClr val="C0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89" name="모서리가 둥근 직사각형 88"/>
            <p:cNvSpPr/>
            <p:nvPr/>
          </p:nvSpPr>
          <p:spPr>
            <a:xfrm>
              <a:off x="658161" y="2060849"/>
              <a:ext cx="2304000" cy="432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  <a:alpha val="20000"/>
              </a:schemeClr>
            </a:solidFill>
            <a:ln w="19050">
              <a:solidFill>
                <a:schemeClr val="bg1">
                  <a:lumMod val="50000"/>
                  <a:alpha val="92000"/>
                </a:schemeClr>
              </a:solidFill>
            </a:ln>
          </p:spPr>
          <p:txBody>
            <a:bodyPr wrap="none" lIns="108000" rIns="612000" anchor="ctr">
              <a:noAutofit/>
            </a:bodyPr>
            <a:lstStyle/>
            <a:p>
              <a:pPr marL="88900" algn="ctr"/>
              <a:r>
                <a:rPr lang="ko-KR" altLang="en-US" sz="1050" b="1" spc="-12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조직 </a:t>
              </a:r>
              <a:r>
                <a:rPr lang="en-US" altLang="ko-KR" sz="1050" b="1" spc="-12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· </a:t>
              </a:r>
              <a:r>
                <a:rPr lang="ko-KR" altLang="en-US" sz="1050" b="1" spc="-120" smtClean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전담관리자 </a:t>
              </a:r>
              <a:r>
                <a:rPr lang="ko-KR" altLang="en-US" sz="1050" b="1" spc="-12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부재</a:t>
              </a:r>
            </a:p>
          </p:txBody>
        </p:sp>
        <p:sp>
          <p:nvSpPr>
            <p:cNvPr id="90" name="폭발 1 89"/>
            <p:cNvSpPr/>
            <p:nvPr/>
          </p:nvSpPr>
          <p:spPr>
            <a:xfrm>
              <a:off x="568173" y="2119247"/>
              <a:ext cx="288000" cy="299531"/>
            </a:xfrm>
            <a:prstGeom prst="irregularSeal1">
              <a:avLst/>
            </a:prstGeom>
            <a:solidFill>
              <a:srgbClr val="FFC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6" name="그룹 90"/>
            <p:cNvGrpSpPr/>
            <p:nvPr/>
          </p:nvGrpSpPr>
          <p:grpSpPr>
            <a:xfrm>
              <a:off x="2313237" y="2147687"/>
              <a:ext cx="518115" cy="231196"/>
              <a:chOff x="1353303" y="2059985"/>
              <a:chExt cx="1221688" cy="450537"/>
            </a:xfrm>
            <a:solidFill>
              <a:schemeClr val="bg1"/>
            </a:solidFill>
          </p:grpSpPr>
          <p:sp>
            <p:nvSpPr>
              <p:cNvPr id="160" name="직사각형 159"/>
              <p:cNvSpPr/>
              <p:nvPr/>
            </p:nvSpPr>
            <p:spPr>
              <a:xfrm>
                <a:off x="1676988" y="2059985"/>
                <a:ext cx="574319" cy="172195"/>
              </a:xfrm>
              <a:prstGeom prst="rect">
                <a:avLst/>
              </a:pr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grpSp>
            <p:nvGrpSpPr>
              <p:cNvPr id="17" name="그룹 160"/>
              <p:cNvGrpSpPr/>
              <p:nvPr/>
            </p:nvGrpSpPr>
            <p:grpSpPr>
              <a:xfrm>
                <a:off x="1353303" y="2338327"/>
                <a:ext cx="1221688" cy="172195"/>
                <a:chOff x="1353303" y="2338327"/>
                <a:chExt cx="1221688" cy="172195"/>
              </a:xfrm>
              <a:grpFill/>
            </p:grpSpPr>
            <p:sp>
              <p:nvSpPr>
                <p:cNvPr id="164" name="직사각형 163"/>
                <p:cNvSpPr/>
                <p:nvPr/>
              </p:nvSpPr>
              <p:spPr>
                <a:xfrm>
                  <a:off x="1353303" y="2338327"/>
                  <a:ext cx="574319" cy="172195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prstClr val="white"/>
                    </a:solidFill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165" name="직사각형 164"/>
                <p:cNvSpPr/>
                <p:nvPr/>
              </p:nvSpPr>
              <p:spPr>
                <a:xfrm>
                  <a:off x="2000672" y="2338327"/>
                  <a:ext cx="574319" cy="172195"/>
                </a:xfrm>
                <a:prstGeom prst="rect">
                  <a:avLst/>
                </a:prstGeom>
                <a:grpFill/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solidFill>
                      <a:prstClr val="white"/>
                    </a:solidFill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  <p:cxnSp>
            <p:nvCxnSpPr>
              <p:cNvPr id="162" name="꺾인 연결선 161"/>
              <p:cNvCxnSpPr>
                <a:stCxn id="164" idx="0"/>
                <a:endCxn id="160" idx="2"/>
              </p:cNvCxnSpPr>
              <p:nvPr/>
            </p:nvCxnSpPr>
            <p:spPr>
              <a:xfrm rot="5400000" flipH="1" flipV="1">
                <a:off x="1749232" y="2123412"/>
                <a:ext cx="106147" cy="323685"/>
              </a:xfrm>
              <a:prstGeom prst="bentConnector3">
                <a:avLst/>
              </a:pr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3" name="꺾인 연결선 162"/>
              <p:cNvCxnSpPr>
                <a:stCxn id="165" idx="0"/>
                <a:endCxn id="160" idx="2"/>
              </p:cNvCxnSpPr>
              <p:nvPr/>
            </p:nvCxnSpPr>
            <p:spPr>
              <a:xfrm rot="16200000" flipV="1">
                <a:off x="2072917" y="2123412"/>
                <a:ext cx="106147" cy="323684"/>
              </a:xfrm>
              <a:prstGeom prst="bentConnector3">
                <a:avLst/>
              </a:prstGeom>
              <a:grpFill/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2" name="모서리가 둥근 직사각형 91"/>
            <p:cNvSpPr/>
            <p:nvPr/>
          </p:nvSpPr>
          <p:spPr>
            <a:xfrm>
              <a:off x="658161" y="2630729"/>
              <a:ext cx="2304000" cy="64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  <a:alpha val="20000"/>
              </a:schemeClr>
            </a:solidFill>
            <a:ln w="19050">
              <a:solidFill>
                <a:schemeClr val="bg1">
                  <a:lumMod val="50000"/>
                  <a:alpha val="92000"/>
                </a:schemeClr>
              </a:solidFill>
            </a:ln>
          </p:spPr>
          <p:txBody>
            <a:bodyPr wrap="square" lIns="0" rIns="540000" anchor="ctr">
              <a:noAutofit/>
            </a:bodyPr>
            <a:lstStyle/>
            <a:p>
              <a:pPr marL="88900" algn="ctr"/>
              <a:r>
                <a:rPr lang="ko-KR" altLang="en-US" sz="1050" b="1" spc="-15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데이터품질관리 프로세스 </a:t>
              </a:r>
              <a:r>
                <a:rPr lang="en-US" altLang="ko-KR" sz="1050" b="1" spc="-15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050" b="1" spc="-15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1050" b="1" spc="-15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· </a:t>
              </a:r>
              <a:r>
                <a:rPr lang="ko-KR" altLang="en-US" sz="1050" b="1" spc="-15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전사 데이터 표준 부재</a:t>
              </a:r>
            </a:p>
          </p:txBody>
        </p:sp>
        <p:sp>
          <p:nvSpPr>
            <p:cNvPr id="93" name="폭발 1 92"/>
            <p:cNvSpPr/>
            <p:nvPr/>
          </p:nvSpPr>
          <p:spPr>
            <a:xfrm>
              <a:off x="568173" y="2802942"/>
              <a:ext cx="288000" cy="299531"/>
            </a:xfrm>
            <a:prstGeom prst="irregularSeal1">
              <a:avLst/>
            </a:prstGeom>
            <a:solidFill>
              <a:srgbClr val="FFC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8" name="그룹 93"/>
            <p:cNvGrpSpPr/>
            <p:nvPr/>
          </p:nvGrpSpPr>
          <p:grpSpPr>
            <a:xfrm>
              <a:off x="2292198" y="2691470"/>
              <a:ext cx="560193" cy="519256"/>
              <a:chOff x="823142" y="2691470"/>
              <a:chExt cx="560193" cy="519256"/>
            </a:xfrm>
          </p:grpSpPr>
          <p:grpSp>
            <p:nvGrpSpPr>
              <p:cNvPr id="19" name="그룹 145"/>
              <p:cNvGrpSpPr/>
              <p:nvPr/>
            </p:nvGrpSpPr>
            <p:grpSpPr>
              <a:xfrm>
                <a:off x="916338" y="2691470"/>
                <a:ext cx="352571" cy="279349"/>
                <a:chOff x="932213" y="2588167"/>
                <a:chExt cx="352571" cy="371812"/>
              </a:xfrm>
            </p:grpSpPr>
            <p:grpSp>
              <p:nvGrpSpPr>
                <p:cNvPr id="20" name="그룹 150"/>
                <p:cNvGrpSpPr/>
                <p:nvPr/>
              </p:nvGrpSpPr>
              <p:grpSpPr>
                <a:xfrm>
                  <a:off x="932213" y="2588167"/>
                  <a:ext cx="352571" cy="272351"/>
                  <a:chOff x="544946" y="3019901"/>
                  <a:chExt cx="567819" cy="272351"/>
                </a:xfrm>
              </p:grpSpPr>
              <p:sp>
                <p:nvSpPr>
                  <p:cNvPr id="153" name="직사각형 152"/>
                  <p:cNvSpPr/>
                  <p:nvPr/>
                </p:nvSpPr>
                <p:spPr>
                  <a:xfrm>
                    <a:off x="544946" y="3019901"/>
                    <a:ext cx="567819" cy="272351"/>
                  </a:xfrm>
                  <a:prstGeom prst="rect">
                    <a:avLst/>
                  </a:prstGeom>
                  <a:solidFill>
                    <a:schemeClr val="bg1"/>
                  </a:solidFill>
                  <a:ln w="3175">
                    <a:solidFill>
                      <a:schemeClr val="tx1">
                        <a:lumMod val="95000"/>
                        <a:lumOff val="5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solidFill>
                        <a:prstClr val="white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  <p:grpSp>
                <p:nvGrpSpPr>
                  <p:cNvPr id="21" name="그룹 153"/>
                  <p:cNvGrpSpPr/>
                  <p:nvPr/>
                </p:nvGrpSpPr>
                <p:grpSpPr>
                  <a:xfrm>
                    <a:off x="589610" y="3048553"/>
                    <a:ext cx="478491" cy="217076"/>
                    <a:chOff x="2912783" y="2235053"/>
                    <a:chExt cx="700559" cy="401859"/>
                  </a:xfrm>
                </p:grpSpPr>
                <p:sp>
                  <p:nvSpPr>
                    <p:cNvPr id="155" name="직사각형 154"/>
                    <p:cNvSpPr/>
                    <p:nvPr/>
                  </p:nvSpPr>
                  <p:spPr>
                    <a:xfrm>
                      <a:off x="2912783" y="2235053"/>
                      <a:ext cx="243567" cy="88363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>
                        <a:solidFill>
                          <a:prstClr val="white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p:txBody>
                </p:sp>
                <p:sp>
                  <p:nvSpPr>
                    <p:cNvPr id="156" name="다이아몬드 155"/>
                    <p:cNvSpPr/>
                    <p:nvPr/>
                  </p:nvSpPr>
                  <p:spPr>
                    <a:xfrm>
                      <a:off x="3148585" y="2348880"/>
                      <a:ext cx="243567" cy="88363"/>
                    </a:xfrm>
                    <a:prstGeom prst="diamond">
                      <a:avLst/>
                    </a:prstGeom>
                    <a:solidFill>
                      <a:schemeClr val="bg1"/>
                    </a:solidFill>
                    <a:ln w="31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>
                        <a:solidFill>
                          <a:prstClr val="white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p:txBody>
                </p:sp>
                <p:sp>
                  <p:nvSpPr>
                    <p:cNvPr id="157" name="직사각형 156"/>
                    <p:cNvSpPr/>
                    <p:nvPr/>
                  </p:nvSpPr>
                  <p:spPr>
                    <a:xfrm>
                      <a:off x="3369775" y="2548549"/>
                      <a:ext cx="243567" cy="88363"/>
                    </a:xfrm>
                    <a:prstGeom prst="rect">
                      <a:avLst/>
                    </a:prstGeom>
                    <a:solidFill>
                      <a:schemeClr val="bg1"/>
                    </a:solidFill>
                    <a:ln w="31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>
                        <a:solidFill>
                          <a:prstClr val="white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p:txBody>
                </p:sp>
                <p:cxnSp>
                  <p:nvCxnSpPr>
                    <p:cNvPr id="158" name="꺾인 연결선 157"/>
                    <p:cNvCxnSpPr>
                      <a:stCxn id="157" idx="0"/>
                      <a:endCxn id="156" idx="2"/>
                    </p:cNvCxnSpPr>
                    <p:nvPr/>
                  </p:nvCxnSpPr>
                  <p:spPr>
                    <a:xfrm rot="16200000" flipV="1">
                      <a:off x="3325311" y="2382300"/>
                      <a:ext cx="111306" cy="221191"/>
                    </a:xfrm>
                    <a:prstGeom prst="bentConnector3">
                      <a:avLst/>
                    </a:prstGeom>
                    <a:solidFill>
                      <a:schemeClr val="bg1"/>
                    </a:solidFill>
                    <a:ln w="31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9" name="꺾인 연결선 158"/>
                    <p:cNvCxnSpPr>
                      <a:stCxn id="156" idx="0"/>
                      <a:endCxn id="155" idx="3"/>
                    </p:cNvCxnSpPr>
                    <p:nvPr/>
                  </p:nvCxnSpPr>
                  <p:spPr>
                    <a:xfrm rot="16200000" flipV="1">
                      <a:off x="3178537" y="2257049"/>
                      <a:ext cx="69645" cy="114018"/>
                    </a:xfrm>
                    <a:prstGeom prst="bentConnector2">
                      <a:avLst/>
                    </a:prstGeom>
                    <a:solidFill>
                      <a:schemeClr val="bg1"/>
                    </a:solidFill>
                    <a:ln w="31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52" name="직사각형 151"/>
                <p:cNvSpPr/>
                <p:nvPr/>
              </p:nvSpPr>
              <p:spPr>
                <a:xfrm>
                  <a:off x="990035" y="2726403"/>
                  <a:ext cx="212614" cy="233576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t">
                  <a:spAutoFit/>
                </a:bodyPr>
                <a:lstStyle/>
                <a:p>
                  <a:pPr algn="ctr" defTabSz="691134">
                    <a:lnSpc>
                      <a:spcPts val="907"/>
                    </a:lnSpc>
                    <a:buClr>
                      <a:srgbClr val="3271AA"/>
                    </a:buClr>
                    <a:buSzPct val="140000"/>
                    <a:tabLst>
                      <a:tab pos="5121591" algn="l"/>
                    </a:tabLst>
                  </a:pPr>
                  <a:r>
                    <a:rPr lang="en-US" altLang="ko-KR" sz="2400" kern="0" spc="-150" dirty="0">
                      <a:solidFill>
                        <a:srgbClr val="C00000"/>
                      </a:solidFill>
                      <a:latin typeface="맑은 고딕" pitchFamily="50" charset="-127"/>
                      <a:ea typeface="맑은 고딕" pitchFamily="50" charset="-127"/>
                    </a:rPr>
                    <a:t>×</a:t>
                  </a:r>
                  <a:endParaRPr lang="ko-KR" altLang="en-US" sz="2400" kern="0" spc="-150" dirty="0">
                    <a:solidFill>
                      <a:srgbClr val="C00000"/>
                    </a:solidFill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  <p:grpSp>
            <p:nvGrpSpPr>
              <p:cNvPr id="22" name="그룹 146"/>
              <p:cNvGrpSpPr/>
              <p:nvPr/>
            </p:nvGrpSpPr>
            <p:grpSpPr>
              <a:xfrm>
                <a:off x="823142" y="2957041"/>
                <a:ext cx="560193" cy="253685"/>
                <a:chOff x="1383575" y="3487490"/>
                <a:chExt cx="677833" cy="306959"/>
              </a:xfrm>
            </p:grpSpPr>
            <p:sp>
              <p:nvSpPr>
                <p:cNvPr id="148" name="직사각형 147"/>
                <p:cNvSpPr/>
                <p:nvPr/>
              </p:nvSpPr>
              <p:spPr>
                <a:xfrm>
                  <a:off x="1617595" y="3611351"/>
                  <a:ext cx="167324" cy="18133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t">
                  <a:spAutoFit/>
                </a:bodyPr>
                <a:lstStyle/>
                <a:p>
                  <a:pPr algn="ctr" defTabSz="691134">
                    <a:lnSpc>
                      <a:spcPts val="907"/>
                    </a:lnSpc>
                    <a:buClr>
                      <a:srgbClr val="3271AA"/>
                    </a:buClr>
                    <a:buSzPct val="140000"/>
                    <a:tabLst>
                      <a:tab pos="5121591" algn="l"/>
                    </a:tabLst>
                  </a:pPr>
                  <a:r>
                    <a:rPr lang="ko-KR" altLang="en-US" sz="1600" b="1" kern="0" spc="-150" dirty="0">
                      <a:solidFill>
                        <a:srgbClr val="C00000"/>
                      </a:solidFill>
                      <a:latin typeface="맑은 고딕" pitchFamily="50" charset="-127"/>
                      <a:ea typeface="맑은 고딕" pitchFamily="50" charset="-127"/>
                    </a:rPr>
                    <a:t>≠</a:t>
                  </a:r>
                </a:p>
              </p:txBody>
            </p:sp>
            <p:sp>
              <p:nvSpPr>
                <p:cNvPr id="149" name="모서리가 접힌 도형 148"/>
                <p:cNvSpPr/>
                <p:nvPr/>
              </p:nvSpPr>
              <p:spPr>
                <a:xfrm>
                  <a:off x="1383575" y="3487490"/>
                  <a:ext cx="289825" cy="306959"/>
                </a:xfrm>
                <a:prstGeom prst="foldedCorner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tIns="36000" rtlCol="0" anchor="t"/>
                <a:lstStyle/>
                <a:p>
                  <a:pPr algn="ctr"/>
                  <a:r>
                    <a:rPr lang="ko-KR" altLang="en-US" sz="600" dirty="0">
                      <a:solidFill>
                        <a:prstClr val="black"/>
                      </a:solidFill>
                      <a:latin typeface="맑은 고딕" pitchFamily="50" charset="-127"/>
                      <a:ea typeface="맑은 고딕" pitchFamily="50" charset="-127"/>
                    </a:rPr>
                    <a:t>사업 </a:t>
                  </a:r>
                  <a:r>
                    <a:rPr lang="en-US" altLang="ko-KR" sz="600" dirty="0">
                      <a:solidFill>
                        <a:prstClr val="black"/>
                      </a:solidFill>
                      <a:latin typeface="맑은 고딕" pitchFamily="50" charset="-127"/>
                      <a:ea typeface="맑은 고딕" pitchFamily="50" charset="-127"/>
                    </a:rPr>
                    <a:t>1</a:t>
                  </a:r>
                </a:p>
                <a:p>
                  <a:pPr algn="ctr"/>
                  <a:r>
                    <a:rPr lang="ko-KR" altLang="en-US" sz="600" dirty="0">
                      <a:solidFill>
                        <a:prstClr val="black"/>
                      </a:solidFill>
                      <a:latin typeface="맑은 고딕" pitchFamily="50" charset="-127"/>
                      <a:ea typeface="맑은 고딕" pitchFamily="50" charset="-127"/>
                    </a:rPr>
                    <a:t>표준 </a:t>
                  </a:r>
                  <a:r>
                    <a:rPr lang="en-US" altLang="ko-KR" sz="600" dirty="0">
                      <a:solidFill>
                        <a:prstClr val="black"/>
                      </a:solidFill>
                      <a:latin typeface="맑은 고딕" pitchFamily="50" charset="-127"/>
                      <a:ea typeface="맑은 고딕" pitchFamily="50" charset="-127"/>
                    </a:rPr>
                    <a:t>A</a:t>
                  </a:r>
                  <a:endParaRPr lang="ko-KR" altLang="en-US" sz="6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  <p:sp>
              <p:nvSpPr>
                <p:cNvPr id="150" name="모서리가 접힌 도형 149"/>
                <p:cNvSpPr/>
                <p:nvPr/>
              </p:nvSpPr>
              <p:spPr>
                <a:xfrm>
                  <a:off x="1771582" y="3487490"/>
                  <a:ext cx="289826" cy="306959"/>
                </a:xfrm>
                <a:prstGeom prst="foldedCorner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tIns="36000" rtlCol="0" anchor="t"/>
                <a:lstStyle/>
                <a:p>
                  <a:pPr algn="ctr"/>
                  <a:r>
                    <a:rPr lang="ko-KR" altLang="en-US" sz="600" dirty="0">
                      <a:solidFill>
                        <a:prstClr val="black"/>
                      </a:solidFill>
                      <a:latin typeface="맑은 고딕" pitchFamily="50" charset="-127"/>
                      <a:ea typeface="맑은 고딕" pitchFamily="50" charset="-127"/>
                    </a:rPr>
                    <a:t>사업 </a:t>
                  </a:r>
                  <a:r>
                    <a:rPr lang="en-US" altLang="ko-KR" sz="600" dirty="0">
                      <a:solidFill>
                        <a:prstClr val="black"/>
                      </a:solidFill>
                      <a:latin typeface="맑은 고딕" pitchFamily="50" charset="-127"/>
                      <a:ea typeface="맑은 고딕" pitchFamily="50" charset="-127"/>
                    </a:rPr>
                    <a:t>2</a:t>
                  </a:r>
                </a:p>
                <a:p>
                  <a:pPr algn="ctr"/>
                  <a:r>
                    <a:rPr lang="ko-KR" altLang="en-US" sz="600" dirty="0">
                      <a:solidFill>
                        <a:prstClr val="black"/>
                      </a:solidFill>
                      <a:latin typeface="맑은 고딕" pitchFamily="50" charset="-127"/>
                      <a:ea typeface="맑은 고딕" pitchFamily="50" charset="-127"/>
                    </a:rPr>
                    <a:t>표준 </a:t>
                  </a:r>
                  <a:r>
                    <a:rPr lang="en-US" altLang="ko-KR" sz="600" dirty="0">
                      <a:solidFill>
                        <a:prstClr val="black"/>
                      </a:solidFill>
                      <a:latin typeface="맑은 고딕" pitchFamily="50" charset="-127"/>
                      <a:ea typeface="맑은 고딕" pitchFamily="50" charset="-127"/>
                    </a:rPr>
                    <a:t>B</a:t>
                  </a:r>
                  <a:endParaRPr lang="ko-KR" altLang="en-US" sz="6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endParaRPr>
                </a:p>
              </p:txBody>
            </p:sp>
          </p:grpSp>
        </p:grpSp>
        <p:sp>
          <p:nvSpPr>
            <p:cNvPr id="95" name="모서리가 둥근 직사각형 94"/>
            <p:cNvSpPr/>
            <p:nvPr/>
          </p:nvSpPr>
          <p:spPr>
            <a:xfrm>
              <a:off x="658161" y="3416609"/>
              <a:ext cx="2304000" cy="64800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75000"/>
                <a:alpha val="20000"/>
              </a:schemeClr>
            </a:solidFill>
            <a:ln w="19050">
              <a:solidFill>
                <a:schemeClr val="bg1">
                  <a:lumMod val="50000"/>
                  <a:alpha val="92000"/>
                </a:schemeClr>
              </a:solidFill>
            </a:ln>
          </p:spPr>
          <p:txBody>
            <a:bodyPr wrap="none" lIns="252000" rIns="756000" anchor="ctr">
              <a:noAutofit/>
            </a:bodyPr>
            <a:lstStyle/>
            <a:p>
              <a:pPr marL="88900" algn="ctr"/>
              <a:r>
                <a:rPr lang="ko-KR" altLang="en-US" sz="105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물리설계 최적화 및</a:t>
              </a:r>
              <a:endParaRPr lang="en-US" altLang="ko-KR" sz="105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marL="88900" algn="ctr"/>
              <a:r>
                <a:rPr lang="ko-KR" altLang="en-US" sz="105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산출물 현행화 미흡</a:t>
              </a:r>
            </a:p>
          </p:txBody>
        </p:sp>
        <p:sp>
          <p:nvSpPr>
            <p:cNvPr id="96" name="폭발 1 95"/>
            <p:cNvSpPr/>
            <p:nvPr/>
          </p:nvSpPr>
          <p:spPr>
            <a:xfrm>
              <a:off x="568173" y="3570056"/>
              <a:ext cx="288000" cy="299531"/>
            </a:xfrm>
            <a:prstGeom prst="irregularSeal1">
              <a:avLst/>
            </a:prstGeom>
            <a:solidFill>
              <a:srgbClr val="FFC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23" name="그룹 96"/>
            <p:cNvGrpSpPr/>
            <p:nvPr/>
          </p:nvGrpSpPr>
          <p:grpSpPr>
            <a:xfrm>
              <a:off x="2279443" y="3455487"/>
              <a:ext cx="585702" cy="594704"/>
              <a:chOff x="2206858" y="3935124"/>
              <a:chExt cx="708699" cy="719592"/>
            </a:xfrm>
          </p:grpSpPr>
          <p:grpSp>
            <p:nvGrpSpPr>
              <p:cNvPr id="24" name="그룹 99"/>
              <p:cNvGrpSpPr/>
              <p:nvPr/>
            </p:nvGrpSpPr>
            <p:grpSpPr>
              <a:xfrm>
                <a:off x="2439123" y="3935124"/>
                <a:ext cx="267029" cy="345272"/>
                <a:chOff x="2901790" y="2012296"/>
                <a:chExt cx="438698" cy="567240"/>
              </a:xfrm>
            </p:grpSpPr>
            <p:grpSp>
              <p:nvGrpSpPr>
                <p:cNvPr id="25" name="그룹 105"/>
                <p:cNvGrpSpPr/>
                <p:nvPr/>
              </p:nvGrpSpPr>
              <p:grpSpPr>
                <a:xfrm>
                  <a:off x="2901790" y="2012296"/>
                  <a:ext cx="438698" cy="567240"/>
                  <a:chOff x="1654546" y="2059985"/>
                  <a:chExt cx="1251654" cy="387432"/>
                </a:xfrm>
                <a:solidFill>
                  <a:schemeClr val="bg1"/>
                </a:solidFill>
              </p:grpSpPr>
              <p:sp>
                <p:nvSpPr>
                  <p:cNvPr id="113" name="직사각형 112"/>
                  <p:cNvSpPr/>
                  <p:nvPr/>
                </p:nvSpPr>
                <p:spPr>
                  <a:xfrm>
                    <a:off x="1676988" y="2059985"/>
                    <a:ext cx="574319" cy="172195"/>
                  </a:xfrm>
                  <a:prstGeom prst="rect">
                    <a:avLst/>
                  </a:prstGeom>
                  <a:grpFill/>
                  <a:ln w="31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ko-KR" altLang="en-US" dirty="0">
                      <a:solidFill>
                        <a:prstClr val="white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  <p:grpSp>
                <p:nvGrpSpPr>
                  <p:cNvPr id="26" name="그룹 140"/>
                  <p:cNvGrpSpPr/>
                  <p:nvPr/>
                </p:nvGrpSpPr>
                <p:grpSpPr>
                  <a:xfrm>
                    <a:off x="1654546" y="2272700"/>
                    <a:ext cx="1251654" cy="174717"/>
                    <a:chOff x="1654546" y="2272700"/>
                    <a:chExt cx="1251654" cy="174717"/>
                  </a:xfrm>
                  <a:grpFill/>
                </p:grpSpPr>
                <p:sp>
                  <p:nvSpPr>
                    <p:cNvPr id="144" name="직사각형 143"/>
                    <p:cNvSpPr/>
                    <p:nvPr/>
                  </p:nvSpPr>
                  <p:spPr>
                    <a:xfrm>
                      <a:off x="2331880" y="2275222"/>
                      <a:ext cx="574320" cy="172195"/>
                    </a:xfrm>
                    <a:prstGeom prst="rect">
                      <a:avLst/>
                    </a:prstGeom>
                    <a:grpFill/>
                    <a:ln w="31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>
                        <a:solidFill>
                          <a:prstClr val="white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p:txBody>
                </p:sp>
                <p:sp>
                  <p:nvSpPr>
                    <p:cNvPr id="145" name="직사각형 144"/>
                    <p:cNvSpPr/>
                    <p:nvPr/>
                  </p:nvSpPr>
                  <p:spPr>
                    <a:xfrm>
                      <a:off x="1654546" y="2272700"/>
                      <a:ext cx="574320" cy="172195"/>
                    </a:xfrm>
                    <a:prstGeom prst="rect">
                      <a:avLst/>
                    </a:prstGeom>
                    <a:grpFill/>
                    <a:ln w="31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ko-KR" altLang="en-US" dirty="0">
                        <a:solidFill>
                          <a:prstClr val="white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p:txBody>
                </p:sp>
              </p:grpSp>
              <p:cxnSp>
                <p:nvCxnSpPr>
                  <p:cNvPr id="142" name="꺾인 연결선 141"/>
                  <p:cNvCxnSpPr>
                    <a:stCxn id="145" idx="0"/>
                    <a:endCxn id="113" idx="2"/>
                  </p:cNvCxnSpPr>
                  <p:nvPr/>
                </p:nvCxnSpPr>
                <p:spPr>
                  <a:xfrm rot="5400000" flipH="1" flipV="1">
                    <a:off x="1932669" y="2241219"/>
                    <a:ext cx="40520" cy="22443"/>
                  </a:xfrm>
                  <a:prstGeom prst="bentConnector3">
                    <a:avLst/>
                  </a:prstGeom>
                  <a:grpFill/>
                  <a:ln w="31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3" name="꺾인 연결선 142"/>
                  <p:cNvCxnSpPr>
                    <a:stCxn id="144" idx="0"/>
                    <a:endCxn id="113" idx="3"/>
                  </p:cNvCxnSpPr>
                  <p:nvPr/>
                </p:nvCxnSpPr>
                <p:spPr>
                  <a:xfrm rot="16200000" flipV="1">
                    <a:off x="2370606" y="2026787"/>
                    <a:ext cx="129139" cy="367732"/>
                  </a:xfrm>
                  <a:prstGeom prst="bentConnector2">
                    <a:avLst/>
                  </a:prstGeom>
                  <a:grpFill/>
                  <a:ln w="31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" name="그룹 106"/>
                <p:cNvGrpSpPr/>
                <p:nvPr/>
              </p:nvGrpSpPr>
              <p:grpSpPr>
                <a:xfrm>
                  <a:off x="3187972" y="2216395"/>
                  <a:ext cx="98322" cy="110157"/>
                  <a:chOff x="-686216" y="858445"/>
                  <a:chExt cx="134831" cy="161281"/>
                </a:xfrm>
              </p:grpSpPr>
              <p:cxnSp>
                <p:nvCxnSpPr>
                  <p:cNvPr id="108" name="직선 연결선 107"/>
                  <p:cNvCxnSpPr/>
                  <p:nvPr/>
                </p:nvCxnSpPr>
                <p:spPr bwMode="auto">
                  <a:xfrm rot="16200000">
                    <a:off x="-621580" y="890067"/>
                    <a:ext cx="0" cy="129272"/>
                  </a:xfrm>
                  <a:prstGeom prst="line">
                    <a:avLst/>
                  </a:prstGeom>
                  <a:solidFill>
                    <a:srgbClr val="FBB779"/>
                  </a:solidFill>
                  <a:ln w="6350" cap="flat" cmpd="sng" algn="ctr">
                    <a:solidFill>
                      <a:schemeClr val="tx1">
                        <a:lumMod val="75000"/>
                        <a:lumOff val="2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109" name="타원 108"/>
                  <p:cNvSpPr/>
                  <p:nvPr/>
                </p:nvSpPr>
                <p:spPr bwMode="auto">
                  <a:xfrm rot="10800000">
                    <a:off x="-666212" y="858445"/>
                    <a:ext cx="89266" cy="89266"/>
                  </a:xfrm>
                  <a:prstGeom prst="ellipse">
                    <a:avLst/>
                  </a:prstGeom>
                  <a:noFill/>
                  <a:ln w="6350" cap="flat" cmpd="sng" algn="ctr">
                    <a:solidFill>
                      <a:schemeClr val="tx1">
                        <a:lumMod val="75000"/>
                        <a:lumOff val="25000"/>
                      </a:scheme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square" lIns="72000" tIns="0" rIns="72000" bIns="3600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85725" indent="-85725" algn="ctr">
                      <a:buClr>
                        <a:prstClr val="black"/>
                      </a:buClr>
                      <a:buSzPct val="90000"/>
                    </a:pPr>
                    <a:endParaRPr lang="ko-KR" altLang="en-US" sz="1050" spc="-50" dirty="0">
                      <a:solidFill>
                        <a:prstClr val="black"/>
                      </a:solidFill>
                      <a:latin typeface="맑은 고딕" pitchFamily="50" charset="-127"/>
                      <a:ea typeface="맑은 고딕" pitchFamily="50" charset="-127"/>
                    </a:endParaRPr>
                  </a:p>
                </p:txBody>
              </p:sp>
              <p:grpSp>
                <p:nvGrpSpPr>
                  <p:cNvPr id="28" name="그룹 109"/>
                  <p:cNvGrpSpPr/>
                  <p:nvPr/>
                </p:nvGrpSpPr>
                <p:grpSpPr>
                  <a:xfrm>
                    <a:off x="-676535" y="950248"/>
                    <a:ext cx="125150" cy="69478"/>
                    <a:chOff x="-807640" y="1805972"/>
                    <a:chExt cx="432048" cy="218056"/>
                  </a:xfrm>
                </p:grpSpPr>
                <p:cxnSp>
                  <p:nvCxnSpPr>
                    <p:cNvPr id="111" name="직선 연결선 110"/>
                    <p:cNvCxnSpPr/>
                    <p:nvPr/>
                  </p:nvCxnSpPr>
                  <p:spPr>
                    <a:xfrm flipH="1">
                      <a:off x="-807640" y="1805972"/>
                      <a:ext cx="218056" cy="218056"/>
                    </a:xfrm>
                    <a:prstGeom prst="line">
                      <a:avLst/>
                    </a:prstGeom>
                    <a:grpFill/>
                    <a:ln w="31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  <p:cxnSp>
                  <p:nvCxnSpPr>
                    <p:cNvPr id="112" name="직선 연결선 111"/>
                    <p:cNvCxnSpPr/>
                    <p:nvPr/>
                  </p:nvCxnSpPr>
                  <p:spPr>
                    <a:xfrm rot="5400000" flipH="1">
                      <a:off x="-593648" y="1805972"/>
                      <a:ext cx="218056" cy="218056"/>
                    </a:xfrm>
                    <a:prstGeom prst="line">
                      <a:avLst/>
                    </a:prstGeom>
                    <a:grpFill/>
                    <a:ln w="3175">
                      <a:solidFill>
                        <a:schemeClr val="bg1">
                          <a:lumMod val="50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</p:cxnSp>
              </p:grpSp>
            </p:grpSp>
          </p:grpSp>
          <p:sp>
            <p:nvSpPr>
              <p:cNvPr id="101" name="직사각형 100"/>
              <p:cNvSpPr/>
              <p:nvPr/>
            </p:nvSpPr>
            <p:spPr>
              <a:xfrm>
                <a:off x="2537631" y="3998899"/>
                <a:ext cx="192423" cy="18913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t">
                <a:spAutoFit/>
              </a:bodyPr>
              <a:lstStyle/>
              <a:p>
                <a:pPr algn="ctr" defTabSz="691134">
                  <a:lnSpc>
                    <a:spcPts val="907"/>
                  </a:lnSpc>
                  <a:buClr>
                    <a:srgbClr val="3271AA"/>
                  </a:buClr>
                  <a:buSzPct val="140000"/>
                  <a:tabLst>
                    <a:tab pos="5121591" algn="l"/>
                  </a:tabLst>
                </a:pPr>
                <a:r>
                  <a:rPr lang="en-US" altLang="ko-KR" b="1" kern="0" spc="-150" dirty="0">
                    <a:solidFill>
                      <a:srgbClr val="C00000"/>
                    </a:solidFill>
                    <a:latin typeface="맑은 고딕" pitchFamily="50" charset="-127"/>
                    <a:ea typeface="맑은 고딕" pitchFamily="50" charset="-127"/>
                  </a:rPr>
                  <a:t>×</a:t>
                </a:r>
                <a:endParaRPr lang="ko-KR" altLang="en-US" b="1" kern="0" spc="-150" dirty="0">
                  <a:solidFill>
                    <a:srgbClr val="C00000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grpSp>
            <p:nvGrpSpPr>
              <p:cNvPr id="29" name="그룹 101"/>
              <p:cNvGrpSpPr/>
              <p:nvPr/>
            </p:nvGrpSpPr>
            <p:grpSpPr>
              <a:xfrm>
                <a:off x="2206858" y="4374360"/>
                <a:ext cx="708699" cy="280356"/>
                <a:chOff x="2139312" y="4336187"/>
                <a:chExt cx="857526" cy="373153"/>
              </a:xfrm>
            </p:grpSpPr>
            <p:pic>
              <p:nvPicPr>
                <p:cNvPr id="103" name="Picture 155" descr="3"/>
                <p:cNvPicPr>
                  <a:picLocks noChangeAspect="1" noChangeArrowheads="1"/>
                </p:cNvPicPr>
                <p:nvPr/>
              </p:nvPicPr>
              <p:blipFill>
                <a:blip r:embed="rId9" cstate="print"/>
                <a:srcRect l="8655" t="63850" r="62900" b="17926"/>
                <a:stretch>
                  <a:fillRect/>
                </a:stretch>
              </p:blipFill>
              <p:spPr bwMode="auto">
                <a:xfrm>
                  <a:off x="2139312" y="4385715"/>
                  <a:ext cx="299811" cy="204004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</p:pic>
            <p:sp>
              <p:nvSpPr>
                <p:cNvPr id="104" name="모서리가 접힌 도형 103"/>
                <p:cNvSpPr/>
                <p:nvPr/>
              </p:nvSpPr>
              <p:spPr>
                <a:xfrm>
                  <a:off x="2627885" y="4336187"/>
                  <a:ext cx="368953" cy="306959"/>
                </a:xfrm>
                <a:prstGeom prst="foldedCorner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tIns="36000" rtlCol="0" anchor="ctr"/>
                <a:lstStyle/>
                <a:p>
                  <a:pPr algn="ctr"/>
                  <a:r>
                    <a:rPr lang="ko-KR" altLang="en-US" sz="700" dirty="0">
                      <a:solidFill>
                        <a:prstClr val="black"/>
                      </a:solidFill>
                      <a:latin typeface="맑은 고딕" pitchFamily="50" charset="-127"/>
                      <a:ea typeface="맑은 고딕" pitchFamily="50" charset="-127"/>
                    </a:rPr>
                    <a:t>산출물</a:t>
                  </a:r>
                </a:p>
              </p:txBody>
            </p:sp>
            <p:sp>
              <p:nvSpPr>
                <p:cNvPr id="105" name="직사각형 104"/>
                <p:cNvSpPr/>
                <p:nvPr/>
              </p:nvSpPr>
              <p:spPr>
                <a:xfrm>
                  <a:off x="2418967" y="4457603"/>
                  <a:ext cx="232831" cy="25173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lIns="0" tIns="0" rIns="0" bIns="0" anchor="t">
                  <a:spAutoFit/>
                </a:bodyPr>
                <a:lstStyle/>
                <a:p>
                  <a:pPr algn="ctr" defTabSz="691134">
                    <a:lnSpc>
                      <a:spcPts val="907"/>
                    </a:lnSpc>
                    <a:buClr>
                      <a:srgbClr val="3271AA"/>
                    </a:buClr>
                    <a:buSzPct val="140000"/>
                    <a:tabLst>
                      <a:tab pos="5121591" algn="l"/>
                    </a:tabLst>
                  </a:pPr>
                  <a:r>
                    <a:rPr lang="ko-KR" altLang="en-US" b="1" kern="0" spc="-150" dirty="0">
                      <a:solidFill>
                        <a:srgbClr val="C00000"/>
                      </a:solidFill>
                      <a:latin typeface="맑은 고딕" pitchFamily="50" charset="-127"/>
                      <a:ea typeface="맑은 고딕" pitchFamily="50" charset="-127"/>
                    </a:rPr>
                    <a:t>≠</a:t>
                  </a:r>
                </a:p>
              </p:txBody>
            </p:sp>
          </p:grpSp>
        </p:grpSp>
        <p:sp>
          <p:nvSpPr>
            <p:cNvPr id="98" name="직사각형 97"/>
            <p:cNvSpPr/>
            <p:nvPr/>
          </p:nvSpPr>
          <p:spPr>
            <a:xfrm>
              <a:off x="2446975" y="2305320"/>
              <a:ext cx="250641" cy="1882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691134">
                <a:lnSpc>
                  <a:spcPts val="907"/>
                </a:lnSpc>
                <a:buClr>
                  <a:srgbClr val="3271AA"/>
                </a:buClr>
                <a:buSzPct val="140000"/>
                <a:tabLst>
                  <a:tab pos="5121591" algn="l"/>
                </a:tabLst>
              </a:pPr>
              <a:r>
                <a:rPr lang="en-US" altLang="ko-KR" sz="2800" kern="0" spc="-150" dirty="0">
                  <a:solidFill>
                    <a:srgbClr val="C00000"/>
                  </a:solidFill>
                  <a:latin typeface="맑은 고딕" pitchFamily="50" charset="-127"/>
                  <a:ea typeface="맑은 고딕" pitchFamily="50" charset="-127"/>
                </a:rPr>
                <a:t>×</a:t>
              </a:r>
              <a:endParaRPr lang="ko-KR" altLang="en-US" sz="2800" kern="0" spc="-150" dirty="0">
                <a:solidFill>
                  <a:srgbClr val="C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pic>
          <p:nvPicPr>
            <p:cNvPr id="99" name="Picture 50" descr="D:\모스트비주얼\아이콘 작업\왜가리\2.png"/>
            <p:cNvPicPr>
              <a:picLocks noChangeAspect="1" noChangeArrowheads="1"/>
            </p:cNvPicPr>
            <p:nvPr/>
          </p:nvPicPr>
          <p:blipFill>
            <a:blip r:embed="rId10" cstate="print"/>
            <a:srcRect/>
            <a:stretch>
              <a:fillRect/>
            </a:stretch>
          </p:blipFill>
          <p:spPr bwMode="auto">
            <a:xfrm>
              <a:off x="2716092" y="2097323"/>
              <a:ext cx="125165" cy="22164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66" name="직사각형 265"/>
          <p:cNvSpPr/>
          <p:nvPr/>
        </p:nvSpPr>
        <p:spPr>
          <a:xfrm>
            <a:off x="7308896" y="2564473"/>
            <a:ext cx="1914144" cy="22854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rgbClr val="508CD2"/>
            </a:solidFill>
          </a:ln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algn="ctr"/>
            <a:endParaRPr lang="ko-KR" altLang="en-US" sz="1000" dirty="0">
              <a:ln w="28575">
                <a:solidFill>
                  <a:srgbClr val="000000"/>
                </a:solidFill>
              </a:ln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67" name="오각형 266"/>
          <p:cNvSpPr/>
          <p:nvPr/>
        </p:nvSpPr>
        <p:spPr>
          <a:xfrm rot="16200000">
            <a:off x="8166370" y="1807848"/>
            <a:ext cx="208961" cy="1803043"/>
          </a:xfrm>
          <a:prstGeom prst="homePlate">
            <a:avLst/>
          </a:prstGeom>
          <a:solidFill>
            <a:srgbClr val="508CD2"/>
          </a:solidFill>
          <a:ln>
            <a:solidFill>
              <a:srgbClr val="508CD2"/>
            </a:solidFill>
          </a:ln>
        </p:spPr>
        <p:txBody>
          <a:bodyPr vert="eaVert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1100" b="1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rPr>
              <a:t>데이터품질관리체계</a:t>
            </a:r>
          </a:p>
        </p:txBody>
      </p:sp>
      <p:sp>
        <p:nvSpPr>
          <p:cNvPr id="268" name="직사각형 267"/>
          <p:cNvSpPr/>
          <p:nvPr/>
        </p:nvSpPr>
        <p:spPr>
          <a:xfrm>
            <a:off x="7369329" y="2842244"/>
            <a:ext cx="1552615" cy="191761"/>
          </a:xfrm>
          <a:prstGeom prst="rect">
            <a:avLst/>
          </a:prstGeom>
          <a:solidFill>
            <a:schemeClr val="bg1"/>
          </a:solidFill>
          <a:ln>
            <a:solidFill>
              <a:srgbClr val="67ADFF"/>
            </a:solidFill>
          </a:ln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데이터 품질 방침</a:t>
            </a:r>
          </a:p>
        </p:txBody>
      </p:sp>
      <p:sp>
        <p:nvSpPr>
          <p:cNvPr id="269" name="직사각형 268"/>
          <p:cNvSpPr/>
          <p:nvPr/>
        </p:nvSpPr>
        <p:spPr>
          <a:xfrm>
            <a:off x="7369329" y="3060856"/>
            <a:ext cx="1552615" cy="191761"/>
          </a:xfrm>
          <a:prstGeom prst="rect">
            <a:avLst/>
          </a:prstGeom>
          <a:solidFill>
            <a:schemeClr val="bg1"/>
          </a:solidFill>
          <a:ln>
            <a:solidFill>
              <a:srgbClr val="67ADFF"/>
            </a:solidFill>
          </a:ln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데이터 관리 조직</a:t>
            </a:r>
          </a:p>
        </p:txBody>
      </p:sp>
      <p:sp>
        <p:nvSpPr>
          <p:cNvPr id="270" name="직사각형 269"/>
          <p:cNvSpPr/>
          <p:nvPr/>
        </p:nvSpPr>
        <p:spPr>
          <a:xfrm>
            <a:off x="7369329" y="4160937"/>
            <a:ext cx="1552615" cy="191761"/>
          </a:xfrm>
          <a:prstGeom prst="rect">
            <a:avLst/>
          </a:prstGeom>
          <a:solidFill>
            <a:schemeClr val="bg1"/>
          </a:solidFill>
          <a:ln>
            <a:solidFill>
              <a:srgbClr val="67ADFF"/>
            </a:solidFill>
          </a:ln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데이터 품질관리 프로세스</a:t>
            </a:r>
          </a:p>
        </p:txBody>
      </p:sp>
      <p:sp>
        <p:nvSpPr>
          <p:cNvPr id="271" name="직사각형 270"/>
          <p:cNvSpPr/>
          <p:nvPr/>
        </p:nvSpPr>
        <p:spPr>
          <a:xfrm>
            <a:off x="7369329" y="4379549"/>
            <a:ext cx="1552615" cy="191761"/>
          </a:xfrm>
          <a:prstGeom prst="rect">
            <a:avLst/>
          </a:prstGeom>
          <a:solidFill>
            <a:schemeClr val="bg1"/>
          </a:solidFill>
          <a:ln>
            <a:solidFill>
              <a:srgbClr val="67ADFF"/>
            </a:solidFill>
          </a:ln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데이터 관리 인프라</a:t>
            </a:r>
          </a:p>
        </p:txBody>
      </p:sp>
      <p:sp>
        <p:nvSpPr>
          <p:cNvPr id="272" name="직사각형 271"/>
          <p:cNvSpPr/>
          <p:nvPr/>
        </p:nvSpPr>
        <p:spPr>
          <a:xfrm>
            <a:off x="7369329" y="4599417"/>
            <a:ext cx="1803043" cy="191761"/>
          </a:xfrm>
          <a:prstGeom prst="rect">
            <a:avLst/>
          </a:prstGeom>
          <a:solidFill>
            <a:schemeClr val="bg1"/>
          </a:solidFill>
          <a:ln>
            <a:solidFill>
              <a:srgbClr val="67ADFF"/>
            </a:solidFill>
          </a:ln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데이터 품질 법</a:t>
            </a:r>
            <a:r>
              <a:rPr lang="en-US" altLang="ko-KR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r>
              <a:rPr lang="ko-KR" altLang="en-US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제도</a:t>
            </a:r>
          </a:p>
        </p:txBody>
      </p:sp>
      <p:sp>
        <p:nvSpPr>
          <p:cNvPr id="273" name="직사각형 272"/>
          <p:cNvSpPr/>
          <p:nvPr/>
        </p:nvSpPr>
        <p:spPr>
          <a:xfrm>
            <a:off x="7369329" y="3277337"/>
            <a:ext cx="1552615" cy="855492"/>
          </a:xfrm>
          <a:prstGeom prst="rect">
            <a:avLst/>
          </a:prstGeom>
          <a:solidFill>
            <a:schemeClr val="bg1"/>
          </a:solidFill>
          <a:ln>
            <a:solidFill>
              <a:srgbClr val="67ADFF"/>
            </a:solidFill>
          </a:ln>
        </p:spPr>
        <p:txBody>
          <a:bodyPr vert="horz" wrap="square" lIns="72000" tIns="108000" rIns="72000" bIns="18000" numCol="1" rtlCol="0" anchor="b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데이터 보안</a:t>
            </a:r>
          </a:p>
        </p:txBody>
      </p:sp>
      <p:sp>
        <p:nvSpPr>
          <p:cNvPr id="274" name="직사각형 273"/>
          <p:cNvSpPr/>
          <p:nvPr/>
        </p:nvSpPr>
        <p:spPr>
          <a:xfrm>
            <a:off x="8165410" y="3323143"/>
            <a:ext cx="671308" cy="325361"/>
          </a:xfrm>
          <a:prstGeom prst="rect">
            <a:avLst/>
          </a:prstGeom>
          <a:solidFill>
            <a:schemeClr val="bg1"/>
          </a:solidFill>
          <a:ln>
            <a:solidFill>
              <a:srgbClr val="67ADFF"/>
            </a:solidFill>
          </a:ln>
        </p:spPr>
        <p:txBody>
          <a:bodyPr vert="horz" wrap="square" lIns="72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algn="r"/>
            <a:r>
              <a:rPr lang="ko-KR" altLang="en-US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데이터</a:t>
            </a:r>
            <a:r>
              <a:rPr lang="en-US" altLang="ko-KR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구조</a:t>
            </a:r>
          </a:p>
        </p:txBody>
      </p:sp>
      <p:sp>
        <p:nvSpPr>
          <p:cNvPr id="275" name="직사각형 274"/>
          <p:cNvSpPr/>
          <p:nvPr/>
        </p:nvSpPr>
        <p:spPr>
          <a:xfrm>
            <a:off x="8165410" y="3646993"/>
            <a:ext cx="671308" cy="325361"/>
          </a:xfrm>
          <a:prstGeom prst="rect">
            <a:avLst/>
          </a:prstGeom>
          <a:solidFill>
            <a:schemeClr val="bg1"/>
          </a:solidFill>
          <a:ln>
            <a:solidFill>
              <a:srgbClr val="67ADFF"/>
            </a:solidFill>
          </a:ln>
        </p:spPr>
        <p:txBody>
          <a:bodyPr vert="horz" wrap="square" lIns="72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algn="r"/>
            <a:r>
              <a:rPr lang="ko-KR" altLang="en-US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데이터</a:t>
            </a:r>
            <a:r>
              <a:rPr lang="en-US" altLang="ko-KR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교환</a:t>
            </a:r>
          </a:p>
        </p:txBody>
      </p:sp>
      <p:sp>
        <p:nvSpPr>
          <p:cNvPr id="276" name="직사각형 275"/>
          <p:cNvSpPr/>
          <p:nvPr/>
        </p:nvSpPr>
        <p:spPr>
          <a:xfrm>
            <a:off x="7494985" y="3323143"/>
            <a:ext cx="671308" cy="325361"/>
          </a:xfrm>
          <a:prstGeom prst="rect">
            <a:avLst/>
          </a:prstGeom>
          <a:solidFill>
            <a:schemeClr val="bg1"/>
          </a:solidFill>
          <a:ln>
            <a:solidFill>
              <a:srgbClr val="67ADFF"/>
            </a:solidFill>
          </a:ln>
        </p:spPr>
        <p:txBody>
          <a:bodyPr vert="horz" wrap="square" lIns="36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r>
              <a:rPr lang="ko-KR" altLang="en-US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데이터</a:t>
            </a:r>
            <a:r>
              <a:rPr lang="en-US" altLang="ko-KR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표준</a:t>
            </a:r>
          </a:p>
        </p:txBody>
      </p:sp>
      <p:sp>
        <p:nvSpPr>
          <p:cNvPr id="277" name="직사각형 276"/>
          <p:cNvSpPr/>
          <p:nvPr/>
        </p:nvSpPr>
        <p:spPr>
          <a:xfrm>
            <a:off x="7494985" y="3646993"/>
            <a:ext cx="671308" cy="325361"/>
          </a:xfrm>
          <a:prstGeom prst="rect">
            <a:avLst/>
          </a:prstGeom>
          <a:solidFill>
            <a:schemeClr val="bg1"/>
          </a:solidFill>
          <a:ln>
            <a:solidFill>
              <a:srgbClr val="67ADFF"/>
            </a:solidFill>
          </a:ln>
        </p:spPr>
        <p:txBody>
          <a:bodyPr vert="horz" wrap="square" lIns="36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r>
              <a:rPr lang="ko-KR" altLang="en-US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데이터</a:t>
            </a:r>
            <a:r>
              <a:rPr lang="en-US" altLang="ko-KR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품질</a:t>
            </a:r>
          </a:p>
        </p:txBody>
      </p:sp>
      <p:sp>
        <p:nvSpPr>
          <p:cNvPr id="278" name="직사각형 277"/>
          <p:cNvSpPr/>
          <p:nvPr/>
        </p:nvSpPr>
        <p:spPr>
          <a:xfrm>
            <a:off x="8942807" y="2842245"/>
            <a:ext cx="229564" cy="1729065"/>
          </a:xfrm>
          <a:prstGeom prst="rect">
            <a:avLst/>
          </a:prstGeom>
          <a:solidFill>
            <a:schemeClr val="bg1"/>
          </a:solidFill>
          <a:ln>
            <a:solidFill>
              <a:srgbClr val="67ADFF"/>
            </a:solidFill>
          </a:ln>
        </p:spPr>
        <p:txBody>
          <a:bodyPr vert="horz" wrap="square" lIns="72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algn="ctr"/>
            <a:r>
              <a:rPr lang="ko-KR" altLang="en-US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정보</a:t>
            </a:r>
            <a:r>
              <a:rPr lang="en-US" altLang="ko-KR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공유</a:t>
            </a:r>
            <a:r>
              <a:rPr lang="en-US" altLang="ko-KR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·</a:t>
            </a:r>
            <a:r>
              <a:rPr lang="ko-KR" altLang="en-US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공개</a:t>
            </a:r>
            <a:r>
              <a:rPr lang="en-US" altLang="ko-KR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en-US" altLang="ko-KR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·</a:t>
            </a:r>
            <a:r>
              <a:rPr lang="ko-KR" altLang="en-US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개방</a:t>
            </a:r>
          </a:p>
        </p:txBody>
      </p:sp>
      <p:grpSp>
        <p:nvGrpSpPr>
          <p:cNvPr id="30" name="그룹 38"/>
          <p:cNvGrpSpPr/>
          <p:nvPr/>
        </p:nvGrpSpPr>
        <p:grpSpPr>
          <a:xfrm>
            <a:off x="7879520" y="3402885"/>
            <a:ext cx="579676" cy="490133"/>
            <a:chOff x="-1796835" y="2999812"/>
            <a:chExt cx="1119223" cy="901549"/>
          </a:xfrm>
        </p:grpSpPr>
        <p:sp>
          <p:nvSpPr>
            <p:cNvPr id="280" name="모서리가 둥근 직사각형 279"/>
            <p:cNvSpPr/>
            <p:nvPr/>
          </p:nvSpPr>
          <p:spPr>
            <a:xfrm>
              <a:off x="-1796835" y="2999812"/>
              <a:ext cx="1119223" cy="901549"/>
            </a:xfrm>
            <a:prstGeom prst="roundRect">
              <a:avLst>
                <a:gd name="adj" fmla="val 21178"/>
              </a:avLst>
            </a:prstGeom>
            <a:solidFill>
              <a:schemeClr val="bg1"/>
            </a:solidFill>
            <a:ln>
              <a:solidFill>
                <a:srgbClr val="67ADFF"/>
              </a:solidFill>
            </a:ln>
          </p:spPr>
          <p:txBody>
            <a:bodyPr vert="horz" wrap="square" lIns="0" tIns="10800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lnSpc>
                  <a:spcPts val="130"/>
                </a:lnSpc>
                <a:spcBef>
                  <a:spcPts val="40"/>
                </a:spcBef>
              </a:pPr>
              <a:r>
                <a:rPr lang="ko-KR" altLang="en-US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데이터</a:t>
              </a:r>
              <a: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endParaRPr lang="en-US" altLang="ko-KR" sz="8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 algn="ctr"/>
              <a:r>
                <a:rPr lang="ko-KR" altLang="en-US" sz="8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분류체계</a:t>
              </a:r>
            </a:p>
          </p:txBody>
        </p:sp>
        <p:sp>
          <p:nvSpPr>
            <p:cNvPr id="281" name="타원 280"/>
            <p:cNvSpPr/>
            <p:nvPr/>
          </p:nvSpPr>
          <p:spPr>
            <a:xfrm>
              <a:off x="-1503114" y="3195951"/>
              <a:ext cx="518648" cy="498232"/>
            </a:xfrm>
            <a:prstGeom prst="ellipse">
              <a:avLst/>
            </a:prstGeom>
            <a:solidFill>
              <a:srgbClr val="0073D2"/>
            </a:solidFill>
            <a:ln>
              <a:solidFill>
                <a:srgbClr val="67ADFF"/>
              </a:solidFill>
            </a:ln>
          </p:spPr>
          <p:txBody>
            <a:bodyPr vert="horz" wrap="none" lIns="0" tIns="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en-US" altLang="ko-KR" sz="800" b="1" spc="-110" dirty="0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rPr>
                <a:t>DATA</a:t>
              </a:r>
              <a:endParaRPr lang="ko-KR" altLang="en-US" sz="800" b="1" spc="-11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grpSp>
        <p:nvGrpSpPr>
          <p:cNvPr id="31" name="그룹 191"/>
          <p:cNvGrpSpPr/>
          <p:nvPr/>
        </p:nvGrpSpPr>
        <p:grpSpPr>
          <a:xfrm>
            <a:off x="5370433" y="2936094"/>
            <a:ext cx="1779626" cy="800884"/>
            <a:chOff x="8841318" y="1689128"/>
            <a:chExt cx="1110365" cy="914451"/>
          </a:xfrm>
        </p:grpSpPr>
        <p:sp>
          <p:nvSpPr>
            <p:cNvPr id="264" name="직사각형 263"/>
            <p:cNvSpPr/>
            <p:nvPr/>
          </p:nvSpPr>
          <p:spPr bwMode="auto">
            <a:xfrm>
              <a:off x="8841318" y="1775579"/>
              <a:ext cx="1110365" cy="828000"/>
            </a:xfrm>
            <a:prstGeom prst="rect">
              <a:avLst/>
            </a:prstGeom>
            <a:noFill/>
            <a:ln w="28575" cap="flat" cmpd="sng" algn="ctr">
              <a:solidFill>
                <a:srgbClr val="508CD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72000" tIns="0" rIns="7200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85725" indent="-85725" algn="ctr">
                <a:buClr>
                  <a:prstClr val="black"/>
                </a:buClr>
                <a:buSzPct val="90000"/>
              </a:pPr>
              <a:endParaRPr lang="ko-KR" altLang="en-US" sz="1600" spc="-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65" name="직사각형 264"/>
            <p:cNvSpPr/>
            <p:nvPr/>
          </p:nvSpPr>
          <p:spPr bwMode="auto">
            <a:xfrm>
              <a:off x="8841318" y="1689128"/>
              <a:ext cx="1110365" cy="216000"/>
            </a:xfrm>
            <a:prstGeom prst="rect">
              <a:avLst/>
            </a:prstGeom>
            <a:solidFill>
              <a:srgbClr val="508CD2"/>
            </a:solidFill>
            <a:ln w="28575" cap="flat" cmpd="sng" algn="ctr">
              <a:solidFill>
                <a:srgbClr val="508CD2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</p:spPr>
          <p:txBody>
            <a:bodyPr vert="horz" wrap="square" lIns="0" tIns="36000" rIns="0" bIns="0" numCol="1" rtlCol="0" anchor="ctr" anchorCtr="0" compatLnSpc="1">
              <a:prstTxWarp prst="textNoShape">
                <a:avLst/>
              </a:prstTxWarp>
            </a:bodyPr>
            <a:lstStyle/>
            <a:p>
              <a:pPr marL="85725" indent="-85725" algn="ctr">
                <a:lnSpc>
                  <a:spcPts val="1100"/>
                </a:lnSpc>
                <a:buClr>
                  <a:prstClr val="black"/>
                </a:buClr>
                <a:buSzPct val="90000"/>
              </a:pPr>
              <a:r>
                <a:rPr lang="ko-KR" altLang="en-US" sz="1100" b="1" spc="-150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데이터 품질관리 지원 시스템</a:t>
              </a:r>
            </a:p>
          </p:txBody>
        </p:sp>
      </p:grpSp>
      <p:grpSp>
        <p:nvGrpSpPr>
          <p:cNvPr id="224" name="그룹 192"/>
          <p:cNvGrpSpPr/>
          <p:nvPr/>
        </p:nvGrpSpPr>
        <p:grpSpPr>
          <a:xfrm>
            <a:off x="5381679" y="3181353"/>
            <a:ext cx="583493" cy="549985"/>
            <a:chOff x="5264723" y="2647024"/>
            <a:chExt cx="625584" cy="627974"/>
          </a:xfrm>
        </p:grpSpPr>
        <p:pic>
          <p:nvPicPr>
            <p:cNvPr id="262" name="Picture 79" descr="13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5422733" y="2647024"/>
              <a:ext cx="309563" cy="3825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</p:pic>
        <p:sp>
          <p:nvSpPr>
            <p:cNvPr id="263" name="직사각형 262"/>
            <p:cNvSpPr/>
            <p:nvPr/>
          </p:nvSpPr>
          <p:spPr>
            <a:xfrm>
              <a:off x="5264723" y="3070004"/>
              <a:ext cx="625584" cy="2049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691134">
                <a:lnSpc>
                  <a:spcPts val="700"/>
                </a:lnSpc>
                <a:buClr>
                  <a:srgbClr val="3271AA"/>
                </a:buClr>
                <a:buSzPct val="140000"/>
                <a:tabLst>
                  <a:tab pos="5121591" algn="l"/>
                </a:tabLst>
              </a:pPr>
              <a:r>
                <a:rPr lang="ko-KR" altLang="en-US" sz="800" kern="0" spc="-15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데이터품질관리</a:t>
              </a:r>
              <a:r>
                <a:rPr lang="en-US" altLang="ko-KR" sz="800" kern="0" spc="-15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800" kern="0" spc="-15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800" kern="0" spc="-15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시스템</a:t>
              </a:r>
            </a:p>
          </p:txBody>
        </p:sp>
      </p:grpSp>
      <p:pic>
        <p:nvPicPr>
          <p:cNvPr id="194" name="Picture 79" descr="13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6047309" y="3181353"/>
            <a:ext cx="288735" cy="33507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95" name="직사각형 194"/>
          <p:cNvSpPr/>
          <p:nvPr/>
        </p:nvSpPr>
        <p:spPr>
          <a:xfrm>
            <a:off x="5974468" y="3551803"/>
            <a:ext cx="434414" cy="179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>
            <a:spAutoFit/>
          </a:bodyPr>
          <a:lstStyle/>
          <a:p>
            <a:pPr algn="ctr" defTabSz="691134">
              <a:lnSpc>
                <a:spcPts val="700"/>
              </a:lnSpc>
              <a:buClr>
                <a:srgbClr val="3271AA"/>
              </a:buClr>
              <a:buSzPct val="140000"/>
              <a:tabLst>
                <a:tab pos="5121591" algn="l"/>
              </a:tabLst>
            </a:pPr>
            <a:r>
              <a:rPr lang="ko-KR" altLang="en-US" sz="800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메타데이터 </a:t>
            </a:r>
            <a:r>
              <a:rPr lang="en-US" altLang="ko-KR" sz="800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800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800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시스템</a:t>
            </a:r>
          </a:p>
        </p:txBody>
      </p:sp>
      <p:cxnSp>
        <p:nvCxnSpPr>
          <p:cNvPr id="196" name="직선 화살표 연결선 195"/>
          <p:cNvCxnSpPr/>
          <p:nvPr/>
        </p:nvCxnSpPr>
        <p:spPr>
          <a:xfrm>
            <a:off x="5819217" y="3301939"/>
            <a:ext cx="22219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직선 화살표 연결선 196"/>
          <p:cNvCxnSpPr/>
          <p:nvPr/>
        </p:nvCxnSpPr>
        <p:spPr>
          <a:xfrm rot="10800000">
            <a:off x="5819217" y="3416079"/>
            <a:ext cx="222195" cy="0"/>
          </a:xfrm>
          <a:prstGeom prst="straightConnector1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8" name="그룹 197"/>
          <p:cNvGrpSpPr/>
          <p:nvPr/>
        </p:nvGrpSpPr>
        <p:grpSpPr>
          <a:xfrm>
            <a:off x="5969387" y="2257307"/>
            <a:ext cx="703156" cy="312626"/>
            <a:chOff x="378364" y="2190463"/>
            <a:chExt cx="753878" cy="356957"/>
          </a:xfrm>
        </p:grpSpPr>
        <p:sp>
          <p:nvSpPr>
            <p:cNvPr id="260" name="직사각형 259"/>
            <p:cNvSpPr/>
            <p:nvPr/>
          </p:nvSpPr>
          <p:spPr>
            <a:xfrm>
              <a:off x="616651" y="2283822"/>
              <a:ext cx="515591" cy="2635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691134">
                <a:lnSpc>
                  <a:spcPts val="907"/>
                </a:lnSpc>
                <a:buClr>
                  <a:srgbClr val="3271AA"/>
                </a:buClr>
                <a:buSzPct val="140000"/>
                <a:tabLst>
                  <a:tab pos="5121591" algn="l"/>
                </a:tabLst>
              </a:pPr>
              <a:r>
                <a:rPr lang="ko-KR" altLang="en-US" sz="900" kern="0" spc="-15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데이터</a:t>
              </a:r>
              <a:r>
                <a:rPr lang="en-US" altLang="ko-KR" sz="900" kern="0" spc="-15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900" kern="0" spc="-15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900" kern="0" spc="-15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품질관리자</a:t>
              </a:r>
            </a:p>
          </p:txBody>
        </p:sp>
        <p:pic>
          <p:nvPicPr>
            <p:cNvPr id="261" name="Picture 50" descr="D:\모스트비주얼\아이콘 작업\왜가리\2.png"/>
            <p:cNvPicPr>
              <a:picLocks noChangeAspect="1" noChangeArrowheads="1"/>
            </p:cNvPicPr>
            <p:nvPr/>
          </p:nvPicPr>
          <p:blipFill>
            <a:blip r:embed="rId6" cstate="print"/>
            <a:srcRect/>
            <a:stretch>
              <a:fillRect/>
            </a:stretch>
          </p:blipFill>
          <p:spPr bwMode="auto">
            <a:xfrm>
              <a:off x="378364" y="2190463"/>
              <a:ext cx="201581" cy="3569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247" name="그룹 198"/>
          <p:cNvGrpSpPr/>
          <p:nvPr/>
        </p:nvGrpSpPr>
        <p:grpSpPr>
          <a:xfrm>
            <a:off x="5479110" y="3741739"/>
            <a:ext cx="1607687" cy="1122335"/>
            <a:chOff x="5081185" y="3525503"/>
            <a:chExt cx="1723658" cy="1281484"/>
          </a:xfrm>
        </p:grpSpPr>
        <p:pic>
          <p:nvPicPr>
            <p:cNvPr id="244" name="Picture 155" descr="3"/>
            <p:cNvPicPr>
              <a:picLocks noChangeAspect="1" noChangeArrowheads="1"/>
            </p:cNvPicPr>
            <p:nvPr/>
          </p:nvPicPr>
          <p:blipFill>
            <a:blip r:embed="rId5" cstate="print"/>
            <a:srcRect l="8655" t="63850" r="62900" b="17926"/>
            <a:stretch>
              <a:fillRect/>
            </a:stretch>
          </p:blipFill>
          <p:spPr bwMode="auto">
            <a:xfrm>
              <a:off x="5273919" y="3677790"/>
              <a:ext cx="1338190" cy="98285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5" name="직사각형 244"/>
            <p:cNvSpPr/>
            <p:nvPr/>
          </p:nvSpPr>
          <p:spPr>
            <a:xfrm>
              <a:off x="5706469" y="4675205"/>
              <a:ext cx="462312" cy="1317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/>
            <a:p>
              <a:pPr algn="ctr" defTabSz="691134">
                <a:lnSpc>
                  <a:spcPts val="907"/>
                </a:lnSpc>
                <a:buClr>
                  <a:srgbClr val="3271AA"/>
                </a:buClr>
                <a:buSzPct val="140000"/>
                <a:tabLst>
                  <a:tab pos="5121591" algn="l"/>
                </a:tabLst>
              </a:pPr>
              <a:r>
                <a:rPr lang="ko-KR" altLang="en-US" sz="900" b="1" kern="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통합 </a:t>
              </a:r>
              <a:r>
                <a:rPr lang="en-US" altLang="ko-KR" sz="900" b="1" kern="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DB</a:t>
              </a:r>
              <a:endParaRPr lang="ko-KR" altLang="en-US" sz="900" b="1" kern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46" name="직사각형 245"/>
            <p:cNvSpPr/>
            <p:nvPr/>
          </p:nvSpPr>
          <p:spPr>
            <a:xfrm>
              <a:off x="5607919" y="3739456"/>
              <a:ext cx="670190" cy="178217"/>
            </a:xfrm>
            <a:prstGeom prst="rect">
              <a:avLst/>
            </a:prstGeom>
            <a:noFill/>
            <a:ln w="19050">
              <a:noFill/>
            </a:ln>
          </p:spPr>
          <p:txBody>
            <a:bodyPr wrap="none" lIns="0" tIns="36000" rIns="0" anchor="ctr">
              <a:noAutofit/>
            </a:bodyPr>
            <a:lstStyle/>
            <a:p>
              <a:pPr algn="ctr"/>
              <a:r>
                <a:rPr lang="ko-KR" altLang="en-US" sz="9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오류 </a:t>
              </a:r>
              <a:r>
                <a:rPr lang="en-US" altLang="ko-KR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248" name="그룹 246"/>
            <p:cNvGrpSpPr/>
            <p:nvPr/>
          </p:nvGrpSpPr>
          <p:grpSpPr>
            <a:xfrm>
              <a:off x="5081185" y="3957681"/>
              <a:ext cx="1723658" cy="695248"/>
              <a:chOff x="5081185" y="3900531"/>
              <a:chExt cx="1723658" cy="695248"/>
            </a:xfrm>
          </p:grpSpPr>
          <p:grpSp>
            <p:nvGrpSpPr>
              <p:cNvPr id="252" name="그룹 251"/>
              <p:cNvGrpSpPr/>
              <p:nvPr/>
            </p:nvGrpSpPr>
            <p:grpSpPr>
              <a:xfrm>
                <a:off x="5387543" y="3994627"/>
                <a:ext cx="1081812" cy="466883"/>
                <a:chOff x="5419258" y="3157967"/>
                <a:chExt cx="1081812" cy="466883"/>
              </a:xfrm>
            </p:grpSpPr>
            <p:sp>
              <p:nvSpPr>
                <p:cNvPr id="256" name="직사각형 255"/>
                <p:cNvSpPr/>
                <p:nvPr/>
              </p:nvSpPr>
              <p:spPr>
                <a:xfrm>
                  <a:off x="5419258" y="3157967"/>
                  <a:ext cx="396000" cy="189414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ko-KR" altLang="en-US" sz="800" spc="-150" dirty="0">
                      <a:solidFill>
                        <a:prstClr val="black"/>
                      </a:solidFill>
                      <a:latin typeface="맑은 고딕" pitchFamily="50" charset="-127"/>
                      <a:ea typeface="맑은 고딕" pitchFamily="50" charset="-127"/>
                    </a:rPr>
                    <a:t>통합재무</a:t>
                  </a:r>
                </a:p>
              </p:txBody>
            </p:sp>
            <p:sp>
              <p:nvSpPr>
                <p:cNvPr id="257" name="직사각형 256"/>
                <p:cNvSpPr/>
                <p:nvPr/>
              </p:nvSpPr>
              <p:spPr>
                <a:xfrm>
                  <a:off x="5419258" y="3435436"/>
                  <a:ext cx="396000" cy="189414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ko-KR" altLang="en-US" sz="800" spc="-150" dirty="0">
                      <a:solidFill>
                        <a:prstClr val="black"/>
                      </a:solidFill>
                      <a:latin typeface="맑은 고딕" pitchFamily="50" charset="-127"/>
                      <a:ea typeface="맑은 고딕" pitchFamily="50" charset="-127"/>
                    </a:rPr>
                    <a:t>인적자원</a:t>
                  </a:r>
                </a:p>
              </p:txBody>
            </p:sp>
            <p:sp>
              <p:nvSpPr>
                <p:cNvPr id="258" name="직사각형 257"/>
                <p:cNvSpPr/>
                <p:nvPr/>
              </p:nvSpPr>
              <p:spPr>
                <a:xfrm>
                  <a:off x="6105070" y="3157967"/>
                  <a:ext cx="396000" cy="189414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ko-KR" altLang="en-US" sz="800" spc="-150" dirty="0">
                      <a:solidFill>
                        <a:prstClr val="black"/>
                      </a:solidFill>
                      <a:latin typeface="맑은 고딕" pitchFamily="50" charset="-127"/>
                      <a:ea typeface="맑은 고딕" pitchFamily="50" charset="-127"/>
                    </a:rPr>
                    <a:t>계약관리</a:t>
                  </a:r>
                </a:p>
              </p:txBody>
            </p:sp>
            <p:sp>
              <p:nvSpPr>
                <p:cNvPr id="259" name="직사각형 258"/>
                <p:cNvSpPr/>
                <p:nvPr/>
              </p:nvSpPr>
              <p:spPr>
                <a:xfrm>
                  <a:off x="6105070" y="3435436"/>
                  <a:ext cx="396000" cy="189414"/>
                </a:xfrm>
                <a:prstGeom prst="rect">
                  <a:avLst/>
                </a:prstGeom>
                <a:solidFill>
                  <a:schemeClr val="bg1"/>
                </a:solidFill>
                <a:ln w="3175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/>
                  <a:r>
                    <a:rPr lang="ko-KR" altLang="en-US" sz="800" spc="-150" dirty="0">
                      <a:solidFill>
                        <a:prstClr val="black"/>
                      </a:solidFill>
                      <a:latin typeface="맑은 고딕" pitchFamily="50" charset="-127"/>
                      <a:ea typeface="맑은 고딕" pitchFamily="50" charset="-127"/>
                    </a:rPr>
                    <a:t>기금지원</a:t>
                  </a:r>
                </a:p>
              </p:txBody>
            </p:sp>
          </p:grpSp>
          <p:grpSp>
            <p:nvGrpSpPr>
              <p:cNvPr id="253" name="그룹 252"/>
              <p:cNvGrpSpPr/>
              <p:nvPr/>
            </p:nvGrpSpPr>
            <p:grpSpPr>
              <a:xfrm>
                <a:off x="5081185" y="3900531"/>
                <a:ext cx="1723658" cy="695248"/>
                <a:chOff x="5081185" y="2907847"/>
                <a:chExt cx="1723658" cy="695248"/>
              </a:xfrm>
            </p:grpSpPr>
            <p:sp>
              <p:nvSpPr>
                <p:cNvPr id="254" name="직사각형 253"/>
                <p:cNvSpPr/>
                <p:nvPr/>
              </p:nvSpPr>
              <p:spPr>
                <a:xfrm>
                  <a:off x="5081185" y="2907922"/>
                  <a:ext cx="287534" cy="695173"/>
                </a:xfrm>
                <a:prstGeom prst="rect">
                  <a:avLst/>
                </a:prstGeom>
                <a:solidFill>
                  <a:srgbClr val="FFC000"/>
                </a:solidFill>
                <a:ln w="19050">
                  <a:solidFill>
                    <a:srgbClr val="FF0000">
                      <a:alpha val="92000"/>
                    </a:srgbClr>
                  </a:solidFill>
                </a:ln>
              </p:spPr>
              <p:txBody>
                <a:bodyPr vert="eaVert" wrap="none" lIns="0" tIns="36000" rIns="0" anchor="ctr">
                  <a:noAutofit/>
                </a:bodyPr>
                <a:lstStyle/>
                <a:p>
                  <a:pPr algn="ctr"/>
                  <a:r>
                    <a:rPr lang="ko-KR" altLang="en-US" sz="900" b="1" dirty="0">
                      <a:solidFill>
                        <a:prstClr val="black"/>
                      </a:solidFill>
                      <a:latin typeface="맑은 고딕" pitchFamily="50" charset="-127"/>
                      <a:ea typeface="맑은 고딕" pitchFamily="50" charset="-127"/>
                    </a:rPr>
                    <a:t>고품질</a:t>
                  </a:r>
                </a:p>
              </p:txBody>
            </p:sp>
            <p:sp>
              <p:nvSpPr>
                <p:cNvPr id="255" name="직사각형 254"/>
                <p:cNvSpPr/>
                <p:nvPr/>
              </p:nvSpPr>
              <p:spPr>
                <a:xfrm>
                  <a:off x="6517309" y="2907847"/>
                  <a:ext cx="287534" cy="690676"/>
                </a:xfrm>
                <a:prstGeom prst="rect">
                  <a:avLst/>
                </a:prstGeom>
                <a:solidFill>
                  <a:srgbClr val="FFC000"/>
                </a:solidFill>
                <a:ln w="19050">
                  <a:solidFill>
                    <a:srgbClr val="FF0000">
                      <a:alpha val="92000"/>
                    </a:srgbClr>
                  </a:solidFill>
                </a:ln>
              </p:spPr>
              <p:txBody>
                <a:bodyPr vert="eaVert" wrap="none" lIns="0" tIns="36000" rIns="0" anchor="ctr">
                  <a:noAutofit/>
                </a:bodyPr>
                <a:lstStyle/>
                <a:p>
                  <a:r>
                    <a:rPr lang="ko-KR" altLang="en-US" sz="900" b="1" spc="-150" dirty="0">
                      <a:solidFill>
                        <a:prstClr val="black"/>
                      </a:solidFill>
                      <a:latin typeface="맑은 고딕" pitchFamily="50" charset="-127"/>
                      <a:ea typeface="맑은 고딕" pitchFamily="50" charset="-127"/>
                    </a:rPr>
                    <a:t>고신뢰성</a:t>
                  </a:r>
                </a:p>
              </p:txBody>
            </p:sp>
          </p:grpSp>
        </p:grpSp>
        <p:grpSp>
          <p:nvGrpSpPr>
            <p:cNvPr id="32" name="그룹 247"/>
            <p:cNvGrpSpPr/>
            <p:nvPr/>
          </p:nvGrpSpPr>
          <p:grpSpPr>
            <a:xfrm rot="5400000">
              <a:off x="5886587" y="3511452"/>
              <a:ext cx="162708" cy="190810"/>
              <a:chOff x="6045996" y="3003785"/>
              <a:chExt cx="196877" cy="130323"/>
            </a:xfrm>
          </p:grpSpPr>
          <p:cxnSp>
            <p:nvCxnSpPr>
              <p:cNvPr id="250" name="직선 화살표 연결선 249"/>
              <p:cNvCxnSpPr/>
              <p:nvPr/>
            </p:nvCxnSpPr>
            <p:spPr>
              <a:xfrm>
                <a:off x="6045996" y="3003785"/>
                <a:ext cx="196877" cy="0"/>
              </a:xfrm>
              <a:prstGeom prst="straightConnector1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1" name="직선 화살표 연결선 250"/>
              <p:cNvCxnSpPr/>
              <p:nvPr/>
            </p:nvCxnSpPr>
            <p:spPr>
              <a:xfrm rot="10800000">
                <a:off x="6045996" y="3134108"/>
                <a:ext cx="196877" cy="0"/>
              </a:xfrm>
              <a:prstGeom prst="straightConnector1">
                <a:avLst/>
              </a:prstGeom>
              <a:ln>
                <a:solidFill>
                  <a:schemeClr val="tx1">
                    <a:lumMod val="75000"/>
                    <a:lumOff val="2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49" name="타원 248"/>
            <p:cNvSpPr/>
            <p:nvPr/>
          </p:nvSpPr>
          <p:spPr>
            <a:xfrm>
              <a:off x="5753862" y="4092917"/>
              <a:ext cx="360000" cy="360000"/>
            </a:xfrm>
            <a:prstGeom prst="ellipse">
              <a:avLst/>
            </a:prstGeom>
            <a:solidFill>
              <a:srgbClr val="FFC000"/>
            </a:solidFill>
            <a:ln w="19050">
              <a:solidFill>
                <a:srgbClr val="FF0000">
                  <a:alpha val="92000"/>
                </a:srgbClr>
              </a:solidFill>
            </a:ln>
          </p:spPr>
          <p:txBody>
            <a:bodyPr wrap="none" lIns="0" tIns="36000" rIns="0" anchor="ctr">
              <a:noAutofit/>
            </a:bodyPr>
            <a:lstStyle/>
            <a:p>
              <a:pPr algn="ctr"/>
              <a:r>
                <a:rPr lang="ko-KR" altLang="en-US" sz="9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일관성</a:t>
              </a:r>
              <a:endParaRPr lang="ko-KR" altLang="en-US" sz="12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pic>
        <p:nvPicPr>
          <p:cNvPr id="200" name="Picture 155" descr="3"/>
          <p:cNvPicPr>
            <a:picLocks noChangeAspect="1" noChangeArrowheads="1"/>
          </p:cNvPicPr>
          <p:nvPr/>
        </p:nvPicPr>
        <p:blipFill>
          <a:blip r:embed="rId12" cstate="print"/>
          <a:srcRect l="8655" t="63850" r="62900" b="17926"/>
          <a:stretch>
            <a:fillRect/>
          </a:stretch>
        </p:blipFill>
        <p:spPr bwMode="auto">
          <a:xfrm>
            <a:off x="6459063" y="3168972"/>
            <a:ext cx="613876" cy="3708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1" name="직사각형 200"/>
          <p:cNvSpPr/>
          <p:nvPr/>
        </p:nvSpPr>
        <p:spPr>
          <a:xfrm>
            <a:off x="6548793" y="3551803"/>
            <a:ext cx="434414" cy="1795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>
            <a:spAutoFit/>
          </a:bodyPr>
          <a:lstStyle/>
          <a:p>
            <a:pPr algn="ctr" defTabSz="691134">
              <a:lnSpc>
                <a:spcPts val="700"/>
              </a:lnSpc>
              <a:buClr>
                <a:srgbClr val="3271AA"/>
              </a:buClr>
              <a:buSzPct val="140000"/>
              <a:tabLst>
                <a:tab pos="5121591" algn="l"/>
              </a:tabLst>
            </a:pPr>
            <a:r>
              <a:rPr lang="ko-KR" altLang="en-US" sz="800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메타데이터 </a:t>
            </a:r>
            <a:r>
              <a:rPr lang="en-US" altLang="ko-KR" sz="800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800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800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리파지토리</a:t>
            </a:r>
          </a:p>
        </p:txBody>
      </p:sp>
      <p:cxnSp>
        <p:nvCxnSpPr>
          <p:cNvPr id="202" name="직선 연결선 201"/>
          <p:cNvCxnSpPr>
            <a:stCxn id="194" idx="3"/>
            <a:endCxn id="200" idx="1"/>
          </p:cNvCxnSpPr>
          <p:nvPr/>
        </p:nvCxnSpPr>
        <p:spPr>
          <a:xfrm>
            <a:off x="6336044" y="3348890"/>
            <a:ext cx="123019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직사각형 202"/>
          <p:cNvSpPr/>
          <p:nvPr/>
        </p:nvSpPr>
        <p:spPr>
          <a:xfrm>
            <a:off x="6529624" y="3316009"/>
            <a:ext cx="473094" cy="16613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72000" rtlCol="0" anchor="ctr"/>
          <a:lstStyle/>
          <a:p>
            <a:pPr algn="ctr" defTabSz="691134">
              <a:lnSpc>
                <a:spcPts val="700"/>
              </a:lnSpc>
              <a:buClr>
                <a:srgbClr val="3271AA"/>
              </a:buClr>
              <a:buSzPct val="140000"/>
              <a:tabLst>
                <a:tab pos="5121591" algn="l"/>
              </a:tabLst>
            </a:pPr>
            <a:r>
              <a:rPr lang="ko-KR" altLang="en-US" sz="800" b="1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데이터표준</a:t>
            </a:r>
          </a:p>
        </p:txBody>
      </p:sp>
      <p:sp>
        <p:nvSpPr>
          <p:cNvPr id="204" name="타원 203"/>
          <p:cNvSpPr/>
          <p:nvPr/>
        </p:nvSpPr>
        <p:spPr bwMode="auto">
          <a:xfrm>
            <a:off x="5504723" y="2892427"/>
            <a:ext cx="66002" cy="61975"/>
          </a:xfrm>
          <a:prstGeom prst="ellipse">
            <a:avLst/>
          </a:prstGeom>
          <a:solidFill>
            <a:srgbClr val="FFC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85725" indent="-85725" algn="ctr">
              <a:buClr>
                <a:prstClr val="black"/>
              </a:buClr>
              <a:buSzPct val="90000"/>
            </a:pPr>
            <a:endParaRPr lang="ko-KR" altLang="en-US" sz="1050" spc="-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5" name="타원 204"/>
          <p:cNvSpPr/>
          <p:nvPr/>
        </p:nvSpPr>
        <p:spPr bwMode="auto">
          <a:xfrm>
            <a:off x="5988270" y="2892427"/>
            <a:ext cx="66002" cy="61975"/>
          </a:xfrm>
          <a:prstGeom prst="ellipse">
            <a:avLst/>
          </a:prstGeom>
          <a:solidFill>
            <a:srgbClr val="FFC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85725" indent="-85725" algn="ctr">
              <a:buClr>
                <a:prstClr val="black"/>
              </a:buClr>
              <a:buSzPct val="90000"/>
            </a:pPr>
            <a:endParaRPr lang="ko-KR" altLang="en-US" sz="1050" spc="-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6" name="타원 205"/>
          <p:cNvSpPr/>
          <p:nvPr/>
        </p:nvSpPr>
        <p:spPr bwMode="auto">
          <a:xfrm>
            <a:off x="6471817" y="2892427"/>
            <a:ext cx="66002" cy="61975"/>
          </a:xfrm>
          <a:prstGeom prst="ellipse">
            <a:avLst/>
          </a:prstGeom>
          <a:solidFill>
            <a:srgbClr val="FFC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85725" indent="-85725" algn="ctr">
              <a:buClr>
                <a:prstClr val="black"/>
              </a:buClr>
              <a:buSzPct val="90000"/>
            </a:pPr>
            <a:endParaRPr lang="ko-KR" altLang="en-US" sz="1050" spc="-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7" name="타원 206"/>
          <p:cNvSpPr/>
          <p:nvPr/>
        </p:nvSpPr>
        <p:spPr bwMode="auto">
          <a:xfrm>
            <a:off x="6955363" y="2892427"/>
            <a:ext cx="66002" cy="61975"/>
          </a:xfrm>
          <a:prstGeom prst="ellipse">
            <a:avLst/>
          </a:prstGeom>
          <a:solidFill>
            <a:srgbClr val="FFC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85725" indent="-85725" algn="ctr">
              <a:buClr>
                <a:prstClr val="black"/>
              </a:buClr>
              <a:buSzPct val="90000"/>
            </a:pPr>
            <a:endParaRPr lang="ko-KR" altLang="en-US" sz="1050" spc="-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8" name="타원 207"/>
          <p:cNvSpPr/>
          <p:nvPr/>
        </p:nvSpPr>
        <p:spPr bwMode="auto">
          <a:xfrm>
            <a:off x="6295668" y="2796585"/>
            <a:ext cx="2134" cy="2204"/>
          </a:xfrm>
          <a:prstGeom prst="ellipse">
            <a:avLst/>
          </a:prstGeom>
          <a:solidFill>
            <a:srgbClr val="CCFF66">
              <a:alpha val="0"/>
            </a:srgbClr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85725" indent="-85725" algn="ctr">
              <a:buClr>
                <a:prstClr val="black"/>
              </a:buClr>
              <a:buSzPct val="90000"/>
            </a:pPr>
            <a:endParaRPr lang="ko-KR" altLang="en-US" sz="1050" spc="-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09" name="꺾인 연결선 208"/>
          <p:cNvCxnSpPr>
            <a:stCxn id="208" idx="4"/>
            <a:endCxn id="206" idx="0"/>
          </p:cNvCxnSpPr>
          <p:nvPr/>
        </p:nvCxnSpPr>
        <p:spPr>
          <a:xfrm rot="16200000" flipH="1">
            <a:off x="6353958" y="2741567"/>
            <a:ext cx="93638" cy="208084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꺾인 연결선 209"/>
          <p:cNvCxnSpPr>
            <a:stCxn id="208" idx="4"/>
            <a:endCxn id="207" idx="0"/>
          </p:cNvCxnSpPr>
          <p:nvPr/>
        </p:nvCxnSpPr>
        <p:spPr>
          <a:xfrm rot="16200000" flipH="1">
            <a:off x="6595730" y="2499793"/>
            <a:ext cx="93638" cy="69163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꺾인 연결선 210"/>
          <p:cNvCxnSpPr>
            <a:stCxn id="208" idx="4"/>
            <a:endCxn id="205" idx="0"/>
          </p:cNvCxnSpPr>
          <p:nvPr/>
        </p:nvCxnSpPr>
        <p:spPr>
          <a:xfrm rot="5400000">
            <a:off x="6112184" y="2707877"/>
            <a:ext cx="93638" cy="27546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꺾인 연결선 211"/>
          <p:cNvCxnSpPr>
            <a:stCxn id="208" idx="4"/>
            <a:endCxn id="204" idx="0"/>
          </p:cNvCxnSpPr>
          <p:nvPr/>
        </p:nvCxnSpPr>
        <p:spPr>
          <a:xfrm rot="5400000">
            <a:off x="5870410" y="2466103"/>
            <a:ext cx="93638" cy="75901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모서리가 둥근 직사각형 212"/>
          <p:cNvSpPr/>
          <p:nvPr/>
        </p:nvSpPr>
        <p:spPr>
          <a:xfrm>
            <a:off x="5325223" y="2606395"/>
            <a:ext cx="407045" cy="255389"/>
          </a:xfrm>
          <a:prstGeom prst="round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 anchor="t">
            <a:spAutoFit/>
          </a:bodyPr>
          <a:lstStyle/>
          <a:p>
            <a:pPr algn="ctr" defTabSz="691134">
              <a:lnSpc>
                <a:spcPts val="907"/>
              </a:lnSpc>
              <a:buClr>
                <a:srgbClr val="3271AA"/>
              </a:buClr>
              <a:buSzPct val="140000"/>
              <a:tabLst>
                <a:tab pos="5121591" algn="l"/>
              </a:tabLst>
            </a:pPr>
            <a:r>
              <a:rPr lang="ko-KR" altLang="en-US" sz="900" b="1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체계적인</a:t>
            </a:r>
            <a:r>
              <a:rPr lang="en-US" altLang="ko-KR" sz="900" b="1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900" b="1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900" b="1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품질관리</a:t>
            </a:r>
          </a:p>
        </p:txBody>
      </p:sp>
      <p:sp>
        <p:nvSpPr>
          <p:cNvPr id="214" name="모서리가 둥근 직사각형 213"/>
          <p:cNvSpPr/>
          <p:nvPr/>
        </p:nvSpPr>
        <p:spPr>
          <a:xfrm>
            <a:off x="5822143" y="2606395"/>
            <a:ext cx="407045" cy="255389"/>
          </a:xfrm>
          <a:prstGeom prst="round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 anchor="t">
            <a:spAutoFit/>
          </a:bodyPr>
          <a:lstStyle/>
          <a:p>
            <a:pPr algn="ctr" defTabSz="691134">
              <a:lnSpc>
                <a:spcPts val="907"/>
              </a:lnSpc>
              <a:buClr>
                <a:srgbClr val="3271AA"/>
              </a:buClr>
              <a:buSzPct val="140000"/>
              <a:tabLst>
                <a:tab pos="5121591" algn="l"/>
              </a:tabLst>
            </a:pPr>
            <a:r>
              <a:rPr lang="ko-KR" altLang="en-US" sz="900" b="1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상시</a:t>
            </a:r>
            <a:r>
              <a:rPr lang="en-US" altLang="ko-KR" sz="900" b="1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900" b="1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900" b="1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품질관리</a:t>
            </a:r>
          </a:p>
        </p:txBody>
      </p:sp>
      <p:sp>
        <p:nvSpPr>
          <p:cNvPr id="215" name="모서리가 둥근 직사각형 214"/>
          <p:cNvSpPr/>
          <p:nvPr/>
        </p:nvSpPr>
        <p:spPr>
          <a:xfrm>
            <a:off x="6797595" y="2606395"/>
            <a:ext cx="407045" cy="255389"/>
          </a:xfrm>
          <a:prstGeom prst="round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 anchor="t">
            <a:spAutoFit/>
          </a:bodyPr>
          <a:lstStyle/>
          <a:p>
            <a:pPr algn="ctr" defTabSz="691134">
              <a:lnSpc>
                <a:spcPts val="907"/>
              </a:lnSpc>
              <a:buClr>
                <a:srgbClr val="3271AA"/>
              </a:buClr>
              <a:buSzPct val="140000"/>
              <a:tabLst>
                <a:tab pos="5121591" algn="l"/>
              </a:tabLst>
            </a:pPr>
            <a:r>
              <a:rPr lang="ko-KR" altLang="en-US" sz="900" b="1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데이터 </a:t>
            </a:r>
            <a:r>
              <a:rPr lang="en-US" altLang="ko-KR" sz="900" b="1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900" b="1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900" b="1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품질제고</a:t>
            </a:r>
          </a:p>
        </p:txBody>
      </p:sp>
      <p:sp>
        <p:nvSpPr>
          <p:cNvPr id="216" name="타원 215"/>
          <p:cNvSpPr/>
          <p:nvPr/>
        </p:nvSpPr>
        <p:spPr bwMode="auto">
          <a:xfrm>
            <a:off x="6263734" y="2562637"/>
            <a:ext cx="66002" cy="61975"/>
          </a:xfrm>
          <a:prstGeom prst="ellipse">
            <a:avLst/>
          </a:prstGeom>
          <a:solidFill>
            <a:srgbClr val="CCFF66"/>
          </a:solidFill>
          <a:ln w="12700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85725" indent="-85725" algn="ctr">
              <a:buClr>
                <a:prstClr val="black"/>
              </a:buClr>
              <a:buSzPct val="90000"/>
            </a:pPr>
            <a:endParaRPr lang="ko-KR" altLang="en-US" sz="1050" spc="-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217" name="꺾인 연결선 216"/>
          <p:cNvCxnSpPr>
            <a:stCxn id="216" idx="4"/>
            <a:endCxn id="208" idx="0"/>
          </p:cNvCxnSpPr>
          <p:nvPr/>
        </p:nvCxnSpPr>
        <p:spPr>
          <a:xfrm rot="5400000">
            <a:off x="6210750" y="2710598"/>
            <a:ext cx="171973" cy="1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모서리가 둥근 직사각형 217"/>
          <p:cNvSpPr/>
          <p:nvPr/>
        </p:nvSpPr>
        <p:spPr>
          <a:xfrm>
            <a:off x="6286433" y="2606395"/>
            <a:ext cx="504155" cy="255389"/>
          </a:xfrm>
          <a:prstGeom prst="round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wrap="none" lIns="0" tIns="0" rIns="0" bIns="0" anchor="t">
            <a:spAutoFit/>
          </a:bodyPr>
          <a:lstStyle/>
          <a:p>
            <a:pPr algn="ctr" defTabSz="691134">
              <a:lnSpc>
                <a:spcPts val="907"/>
              </a:lnSpc>
              <a:buClr>
                <a:srgbClr val="3271AA"/>
              </a:buClr>
              <a:buSzPct val="140000"/>
              <a:tabLst>
                <a:tab pos="5121591" algn="l"/>
              </a:tabLst>
            </a:pPr>
            <a:r>
              <a:rPr lang="ko-KR" altLang="en-US" sz="900" b="1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데이터문제</a:t>
            </a:r>
            <a:r>
              <a:rPr lang="en-US" altLang="ko-KR" sz="900" b="1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/>
            </a:r>
            <a:br>
              <a:rPr lang="en-US" altLang="ko-KR" sz="900" b="1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</a:br>
            <a:r>
              <a:rPr lang="ko-KR" altLang="en-US" sz="900" b="1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즉각대응</a:t>
            </a:r>
          </a:p>
        </p:txBody>
      </p:sp>
      <p:sp>
        <p:nvSpPr>
          <p:cNvPr id="219" name="직사각형 218"/>
          <p:cNvSpPr/>
          <p:nvPr/>
        </p:nvSpPr>
        <p:spPr>
          <a:xfrm>
            <a:off x="5429470" y="3770858"/>
            <a:ext cx="705321" cy="115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>
            <a:spAutoFit/>
          </a:bodyPr>
          <a:lstStyle/>
          <a:p>
            <a:pPr algn="ctr" defTabSz="691134">
              <a:lnSpc>
                <a:spcPts val="907"/>
              </a:lnSpc>
              <a:buClr>
                <a:srgbClr val="3271AA"/>
              </a:buClr>
              <a:buSzPct val="140000"/>
              <a:tabLst>
                <a:tab pos="5121591" algn="l"/>
              </a:tabLst>
            </a:pPr>
            <a:r>
              <a:rPr lang="ko-KR" altLang="en-US" sz="800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상시 </a:t>
            </a:r>
            <a:r>
              <a:rPr lang="en-US" altLang="ko-KR" sz="800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· </a:t>
            </a:r>
            <a:r>
              <a:rPr lang="ko-KR" altLang="en-US" sz="800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자동품질진단</a:t>
            </a:r>
          </a:p>
        </p:txBody>
      </p:sp>
      <p:sp>
        <p:nvSpPr>
          <p:cNvPr id="220" name="직사각형 219"/>
          <p:cNvSpPr/>
          <p:nvPr/>
        </p:nvSpPr>
        <p:spPr>
          <a:xfrm>
            <a:off x="6480487" y="3770858"/>
            <a:ext cx="416781" cy="115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>
            <a:spAutoFit/>
          </a:bodyPr>
          <a:lstStyle/>
          <a:p>
            <a:pPr algn="ctr" defTabSz="691134">
              <a:lnSpc>
                <a:spcPts val="907"/>
              </a:lnSpc>
              <a:buClr>
                <a:srgbClr val="3271AA"/>
              </a:buClr>
              <a:buSzPct val="140000"/>
              <a:tabLst>
                <a:tab pos="5121591" algn="l"/>
              </a:tabLst>
            </a:pPr>
            <a:r>
              <a:rPr lang="ko-KR" altLang="en-US" sz="800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표준화적용</a:t>
            </a:r>
          </a:p>
        </p:txBody>
      </p:sp>
      <p:grpSp>
        <p:nvGrpSpPr>
          <p:cNvPr id="33" name="그룹 220"/>
          <p:cNvGrpSpPr/>
          <p:nvPr/>
        </p:nvGrpSpPr>
        <p:grpSpPr>
          <a:xfrm>
            <a:off x="7385606" y="2266979"/>
            <a:ext cx="569913" cy="234880"/>
            <a:chOff x="403429" y="2234848"/>
            <a:chExt cx="611024" cy="268186"/>
          </a:xfrm>
        </p:grpSpPr>
        <p:sp>
          <p:nvSpPr>
            <p:cNvPr id="242" name="직사각형 241"/>
            <p:cNvSpPr/>
            <p:nvPr/>
          </p:nvSpPr>
          <p:spPr>
            <a:xfrm>
              <a:off x="601980" y="2305320"/>
              <a:ext cx="412473" cy="13178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t">
              <a:spAutoFit/>
            </a:bodyPr>
            <a:lstStyle/>
            <a:p>
              <a:pPr algn="ctr" defTabSz="691134">
                <a:lnSpc>
                  <a:spcPts val="907"/>
                </a:lnSpc>
                <a:buClr>
                  <a:srgbClr val="3271AA"/>
                </a:buClr>
                <a:buSzPct val="140000"/>
                <a:tabLst>
                  <a:tab pos="5121591" algn="l"/>
                </a:tabLst>
              </a:pPr>
              <a:r>
                <a:rPr lang="ko-KR" altLang="en-US" sz="900" kern="0" spc="-15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개발업체</a:t>
              </a:r>
            </a:p>
          </p:txBody>
        </p:sp>
        <p:pic>
          <p:nvPicPr>
            <p:cNvPr id="243" name="Picture 50" descr="D:\모스트비주얼\아이콘 작업\왜가리\2.png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403429" y="2234848"/>
              <a:ext cx="151450" cy="2681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40" name="타원 239"/>
          <p:cNvSpPr/>
          <p:nvPr/>
        </p:nvSpPr>
        <p:spPr bwMode="auto">
          <a:xfrm>
            <a:off x="8132408" y="2248461"/>
            <a:ext cx="66002" cy="61975"/>
          </a:xfrm>
          <a:prstGeom prst="ellipse">
            <a:avLst/>
          </a:prstGeom>
          <a:solidFill>
            <a:srgbClr val="FFC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85725" indent="-85725">
              <a:buClr>
                <a:prstClr val="black"/>
              </a:buClr>
              <a:buSzPct val="90000"/>
            </a:pPr>
            <a:endParaRPr lang="ko-KR" altLang="en-US" sz="1000" spc="-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1" name="직사각형 240"/>
          <p:cNvSpPr/>
          <p:nvPr/>
        </p:nvSpPr>
        <p:spPr>
          <a:xfrm>
            <a:off x="8257322" y="2228907"/>
            <a:ext cx="803106" cy="115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>
            <a:spAutoFit/>
          </a:bodyPr>
          <a:lstStyle/>
          <a:p>
            <a:pPr defTabSz="691134">
              <a:lnSpc>
                <a:spcPts val="907"/>
              </a:lnSpc>
              <a:buClr>
                <a:srgbClr val="3271AA"/>
              </a:buClr>
              <a:buSzPct val="140000"/>
              <a:tabLst>
                <a:tab pos="5121591" algn="l"/>
              </a:tabLst>
            </a:pPr>
            <a:r>
              <a:rPr lang="ko-KR" altLang="en-US" sz="800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전사 데이터 표준 준수</a:t>
            </a:r>
          </a:p>
        </p:txBody>
      </p:sp>
      <p:sp>
        <p:nvSpPr>
          <p:cNvPr id="238" name="타원 237"/>
          <p:cNvSpPr/>
          <p:nvPr/>
        </p:nvSpPr>
        <p:spPr bwMode="auto">
          <a:xfrm>
            <a:off x="8132408" y="2360652"/>
            <a:ext cx="66002" cy="61975"/>
          </a:xfrm>
          <a:prstGeom prst="ellipse">
            <a:avLst/>
          </a:prstGeom>
          <a:solidFill>
            <a:srgbClr val="FFC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85725" indent="-85725">
              <a:buClr>
                <a:prstClr val="black"/>
              </a:buClr>
              <a:buSzPct val="90000"/>
            </a:pPr>
            <a:endParaRPr lang="ko-KR" altLang="en-US" sz="1000" spc="-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9" name="직사각형 238"/>
          <p:cNvSpPr/>
          <p:nvPr/>
        </p:nvSpPr>
        <p:spPr>
          <a:xfrm>
            <a:off x="8257322" y="2341098"/>
            <a:ext cx="803106" cy="115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>
            <a:spAutoFit/>
          </a:bodyPr>
          <a:lstStyle/>
          <a:p>
            <a:pPr defTabSz="691134">
              <a:lnSpc>
                <a:spcPts val="907"/>
              </a:lnSpc>
              <a:buClr>
                <a:srgbClr val="3271AA"/>
              </a:buClr>
              <a:buSzPct val="140000"/>
              <a:tabLst>
                <a:tab pos="5121591" algn="l"/>
              </a:tabLst>
            </a:pPr>
            <a:r>
              <a:rPr lang="ko-KR" altLang="en-US" sz="800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데이터 설계 검토 수검</a:t>
            </a:r>
          </a:p>
        </p:txBody>
      </p:sp>
      <p:sp>
        <p:nvSpPr>
          <p:cNvPr id="236" name="타원 235"/>
          <p:cNvSpPr/>
          <p:nvPr/>
        </p:nvSpPr>
        <p:spPr bwMode="auto">
          <a:xfrm>
            <a:off x="8132408" y="2465365"/>
            <a:ext cx="66002" cy="61975"/>
          </a:xfrm>
          <a:prstGeom prst="ellipse">
            <a:avLst/>
          </a:prstGeom>
          <a:solidFill>
            <a:srgbClr val="FFC000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85725" indent="-85725">
              <a:buClr>
                <a:prstClr val="black"/>
              </a:buClr>
              <a:buSzPct val="90000"/>
            </a:pPr>
            <a:endParaRPr lang="ko-KR" altLang="en-US" sz="1000" spc="-5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7" name="직사각형 236"/>
          <p:cNvSpPr/>
          <p:nvPr/>
        </p:nvSpPr>
        <p:spPr>
          <a:xfrm>
            <a:off x="8257322" y="2445811"/>
            <a:ext cx="1118896" cy="115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 anchor="t">
            <a:spAutoFit/>
          </a:bodyPr>
          <a:lstStyle/>
          <a:p>
            <a:pPr defTabSz="691134">
              <a:lnSpc>
                <a:spcPts val="907"/>
              </a:lnSpc>
              <a:buClr>
                <a:srgbClr val="3271AA"/>
              </a:buClr>
              <a:buSzPct val="140000"/>
              <a:tabLst>
                <a:tab pos="5121591" algn="l"/>
              </a:tabLst>
            </a:pPr>
            <a:r>
              <a:rPr lang="ko-KR" altLang="en-US" sz="800" kern="0" spc="-15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데이터설계산출물 현행본 제출</a:t>
            </a:r>
          </a:p>
        </p:txBody>
      </p:sp>
      <p:cxnSp>
        <p:nvCxnSpPr>
          <p:cNvPr id="225" name="꺾인 연결선 224"/>
          <p:cNvCxnSpPr>
            <a:stCxn id="242" idx="3"/>
            <a:endCxn id="240" idx="2"/>
          </p:cNvCxnSpPr>
          <p:nvPr/>
        </p:nvCxnSpPr>
        <p:spPr>
          <a:xfrm flipV="1">
            <a:off x="7955520" y="2279449"/>
            <a:ext cx="176888" cy="10695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꺾인 연결선 225"/>
          <p:cNvCxnSpPr>
            <a:stCxn id="242" idx="3"/>
            <a:endCxn id="238" idx="2"/>
          </p:cNvCxnSpPr>
          <p:nvPr/>
        </p:nvCxnSpPr>
        <p:spPr>
          <a:xfrm>
            <a:off x="7955520" y="2386407"/>
            <a:ext cx="176888" cy="523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꺾인 연결선 226"/>
          <p:cNvCxnSpPr>
            <a:stCxn id="242" idx="3"/>
            <a:endCxn id="236" idx="2"/>
          </p:cNvCxnSpPr>
          <p:nvPr/>
        </p:nvCxnSpPr>
        <p:spPr>
          <a:xfrm>
            <a:off x="7955520" y="2386407"/>
            <a:ext cx="176888" cy="10994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4" name="그룹 227"/>
          <p:cNvGrpSpPr/>
          <p:nvPr/>
        </p:nvGrpSpPr>
        <p:grpSpPr>
          <a:xfrm>
            <a:off x="7161355" y="2607694"/>
            <a:ext cx="271459" cy="2209605"/>
            <a:chOff x="7098308" y="2230648"/>
            <a:chExt cx="291041" cy="2522932"/>
          </a:xfrm>
          <a:solidFill>
            <a:srgbClr val="00B0F0"/>
          </a:solidFill>
        </p:grpSpPr>
        <p:sp>
          <p:nvSpPr>
            <p:cNvPr id="229" name="왼쪽 화살표 228"/>
            <p:cNvSpPr/>
            <p:nvPr/>
          </p:nvSpPr>
          <p:spPr>
            <a:xfrm>
              <a:off x="7099314" y="2542833"/>
              <a:ext cx="88349" cy="189506"/>
            </a:xfrm>
            <a:prstGeom prst="lef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30" name="왼쪽 화살표 229"/>
            <p:cNvSpPr/>
            <p:nvPr/>
          </p:nvSpPr>
          <p:spPr>
            <a:xfrm>
              <a:off x="7099314" y="2898765"/>
              <a:ext cx="88349" cy="189506"/>
            </a:xfrm>
            <a:prstGeom prst="lef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31" name="왼쪽 화살표 230"/>
            <p:cNvSpPr/>
            <p:nvPr/>
          </p:nvSpPr>
          <p:spPr>
            <a:xfrm>
              <a:off x="7099314" y="3254697"/>
              <a:ext cx="88349" cy="189506"/>
            </a:xfrm>
            <a:prstGeom prst="lef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32" name="왼쪽 화살표 231"/>
            <p:cNvSpPr/>
            <p:nvPr/>
          </p:nvSpPr>
          <p:spPr>
            <a:xfrm>
              <a:off x="7099314" y="3966561"/>
              <a:ext cx="88349" cy="189506"/>
            </a:xfrm>
            <a:prstGeom prst="lef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33" name="왼쪽 화살표 232"/>
            <p:cNvSpPr/>
            <p:nvPr/>
          </p:nvSpPr>
          <p:spPr>
            <a:xfrm>
              <a:off x="7099314" y="4322494"/>
              <a:ext cx="88349" cy="189506"/>
            </a:xfrm>
            <a:prstGeom prst="lef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34" name="왼쪽 화살표 233"/>
            <p:cNvSpPr/>
            <p:nvPr/>
          </p:nvSpPr>
          <p:spPr>
            <a:xfrm>
              <a:off x="7098308" y="3610629"/>
              <a:ext cx="88349" cy="189506"/>
            </a:xfrm>
            <a:prstGeom prst="leftArrow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235" name="직사각형 234"/>
            <p:cNvSpPr/>
            <p:nvPr/>
          </p:nvSpPr>
          <p:spPr>
            <a:xfrm>
              <a:off x="7162181" y="2230648"/>
              <a:ext cx="227168" cy="2522932"/>
            </a:xfrm>
            <a:prstGeom prst="rect">
              <a:avLst/>
            </a:prstGeom>
            <a:grpFill/>
            <a:ln w="12700">
              <a:noFill/>
            </a:ln>
            <a:effectLst>
              <a:outerShdw blurRad="25400" dist="254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wrap="square" lIns="36000" tIns="0" rIns="36000" bIns="0" anchor="ctr">
              <a:noAutofit/>
            </a:bodyPr>
            <a:lstStyle/>
            <a:p>
              <a:pPr algn="ctr"/>
              <a:r>
                <a:rPr lang="ko-KR" altLang="en-US" sz="10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체계적인</a:t>
              </a:r>
              <a:r>
                <a:rPr lang="en-US" altLang="ko-KR" sz="10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10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7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7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7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10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데이터</a:t>
              </a:r>
              <a:r>
                <a:rPr lang="ko-KR" altLang="en-US" sz="7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0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품질관리</a:t>
              </a:r>
              <a:r>
                <a:rPr lang="en-US" altLang="ko-KR" sz="7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7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7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7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7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1000" b="1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활동</a:t>
              </a:r>
            </a:p>
          </p:txBody>
        </p:sp>
      </p:grpSp>
      <p:sp>
        <p:nvSpPr>
          <p:cNvPr id="221" name="내용 개체 틀 3"/>
          <p:cNvSpPr>
            <a:spLocks noGrp="1"/>
          </p:cNvSpPr>
          <p:nvPr>
            <p:ph sz="quarter" idx="13"/>
          </p:nvPr>
        </p:nvSpPr>
        <p:spPr>
          <a:xfrm>
            <a:off x="6281401" y="0"/>
            <a:ext cx="3234507" cy="78268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Ⅲ. </a:t>
            </a:r>
            <a:r>
              <a:rPr lang="ko-KR" altLang="en-US" smtClean="0"/>
              <a:t>목표모델 설계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 </a:t>
            </a:r>
            <a:r>
              <a:rPr lang="ko-KR" altLang="en-US" dirty="0"/>
              <a:t>목표모델</a:t>
            </a:r>
            <a:r>
              <a:rPr lang="en-US" altLang="ko-KR" dirty="0"/>
              <a:t> </a:t>
            </a:r>
            <a:r>
              <a:rPr lang="ko-KR" altLang="en-US" dirty="0"/>
              <a:t>개선과제 정의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1.9 </a:t>
            </a:r>
            <a:r>
              <a:rPr lang="ko-KR" altLang="en-US"/>
              <a:t>데이터관리체계 표준화 방안 수립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5468829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6677000" y="1675837"/>
            <a:ext cx="24842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vl="0" algn="ctr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spc="-300" smtClean="0">
                <a:solidFill>
                  <a:srgbClr val="00437A"/>
                </a:solidFill>
                <a:latin typeface="맑은 고딕" pitchFamily="50" charset="-127"/>
                <a:ea typeface="맑은 고딕" pitchFamily="50" charset="-127"/>
              </a:rPr>
              <a:t>Ⅲ. </a:t>
            </a:r>
            <a:r>
              <a:rPr lang="ko-KR" altLang="en-US" sz="2400" b="1" spc="-300" dirty="0">
                <a:solidFill>
                  <a:srgbClr val="00437A"/>
                </a:solidFill>
                <a:latin typeface="맑은 고딕" pitchFamily="50" charset="-127"/>
                <a:ea typeface="맑은 고딕" pitchFamily="50" charset="-127"/>
              </a:rPr>
              <a:t>목표모델 설계</a:t>
            </a:r>
            <a:endParaRPr lang="en-US" altLang="ko-KR" sz="2400" b="1" spc="-300" dirty="0">
              <a:solidFill>
                <a:srgbClr val="00437A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텍스트 개체 틀 4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ko-KR" altLang="en-US" smtClean="0">
                <a:solidFill>
                  <a:schemeClr val="bg1">
                    <a:lumMod val="65000"/>
                  </a:schemeClr>
                </a:solidFill>
              </a:rPr>
              <a:t>목표모델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개선과제 정의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00000"/>
              </a:lnSpc>
              <a:buFont typeface="+mj-lt"/>
              <a:buAutoNum type="arabicPeriod"/>
            </a:pPr>
            <a:r>
              <a:rPr lang="ko-KR" altLang="en-US" dirty="0"/>
              <a:t>업무별 </a:t>
            </a:r>
            <a:r>
              <a:rPr lang="ko-KR" altLang="en-US"/>
              <a:t>개선안 </a:t>
            </a:r>
            <a:r>
              <a:rPr lang="ko-KR" altLang="en-US" smtClean="0"/>
              <a:t>설계</a:t>
            </a:r>
            <a:endParaRPr lang="en-US" altLang="ko-KR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/>
              <a:t> </a:t>
            </a:r>
            <a:r>
              <a:rPr lang="en-US" altLang="ko-KR" sz="1600" smtClean="0"/>
              <a:t>    3.1 </a:t>
            </a:r>
            <a:r>
              <a:rPr lang="ko-KR" altLang="en-US" sz="1600" smtClean="0"/>
              <a:t>예산관리 </a:t>
            </a:r>
            <a:r>
              <a:rPr lang="ko-KR" altLang="en-US" sz="1600"/>
              <a:t>업무프로세스 </a:t>
            </a:r>
            <a:r>
              <a:rPr lang="ko-KR" altLang="en-US" sz="1600" smtClean="0"/>
              <a:t>개선안</a:t>
            </a:r>
            <a:endParaRPr lang="en-US" altLang="ko-KR" sz="1600" smtClean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 smtClean="0"/>
              <a:t>     3.2 </a:t>
            </a:r>
            <a:r>
              <a:rPr lang="ko-KR" altLang="en-US" sz="1600" dirty="0"/>
              <a:t>회계관리 </a:t>
            </a:r>
            <a:r>
              <a:rPr lang="ko-KR" altLang="en-US" sz="1600"/>
              <a:t>업무프로세스 </a:t>
            </a:r>
            <a:r>
              <a:rPr lang="ko-KR" altLang="en-US" sz="1600" smtClean="0"/>
              <a:t>개선안</a:t>
            </a:r>
            <a:endParaRPr lang="en-US" altLang="ko-KR" sz="1600" smtClean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/>
              <a:t> </a:t>
            </a:r>
            <a:r>
              <a:rPr lang="en-US" altLang="ko-KR" sz="1600" smtClean="0"/>
              <a:t>    3.3 </a:t>
            </a:r>
            <a:r>
              <a:rPr lang="ko-KR" altLang="en-US" sz="1600" dirty="0"/>
              <a:t>구매관리 </a:t>
            </a:r>
            <a:r>
              <a:rPr lang="ko-KR" altLang="en-US" sz="1600"/>
              <a:t>업무프로세스 </a:t>
            </a:r>
            <a:r>
              <a:rPr lang="ko-KR" altLang="en-US" sz="1600" smtClean="0"/>
              <a:t>개선안</a:t>
            </a:r>
            <a:endParaRPr lang="en-US" altLang="ko-KR" sz="1600" smtClean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/>
              <a:t> </a:t>
            </a:r>
            <a:r>
              <a:rPr lang="en-US" altLang="ko-KR" sz="1600" smtClean="0"/>
              <a:t>    3.4 </a:t>
            </a:r>
            <a:r>
              <a:rPr lang="ko-KR" altLang="en-US" sz="1600" dirty="0"/>
              <a:t>자산관리 </a:t>
            </a:r>
            <a:r>
              <a:rPr lang="ko-KR" altLang="en-US" sz="1600"/>
              <a:t>업무프로세스 </a:t>
            </a:r>
            <a:r>
              <a:rPr lang="ko-KR" altLang="en-US" sz="1600" smtClean="0"/>
              <a:t>개선안</a:t>
            </a:r>
            <a:endParaRPr lang="en-US" altLang="ko-KR" sz="1600" smtClean="0"/>
          </a:p>
          <a:p>
            <a:pPr marL="0" indent="0">
              <a:lnSpc>
                <a:spcPct val="100000"/>
              </a:lnSpc>
              <a:buNone/>
            </a:pPr>
            <a:r>
              <a:rPr lang="en-US" altLang="ko-KR" sz="1600"/>
              <a:t> </a:t>
            </a:r>
            <a:r>
              <a:rPr lang="en-US" altLang="ko-KR" sz="1600" smtClean="0"/>
              <a:t>    3.5 </a:t>
            </a:r>
            <a:r>
              <a:rPr lang="ko-KR" altLang="en-US" sz="1600" dirty="0"/>
              <a:t>사업관리 </a:t>
            </a:r>
            <a:r>
              <a:rPr lang="ko-KR" altLang="en-US" sz="1600"/>
              <a:t>업무프로세스 </a:t>
            </a:r>
            <a:r>
              <a:rPr lang="ko-KR" altLang="en-US" sz="1600" smtClean="0"/>
              <a:t>개선안</a:t>
            </a:r>
            <a:endParaRPr lang="en-US" altLang="ko-KR" sz="1600" smtClean="0"/>
          </a:p>
          <a:p>
            <a:pPr marL="0" indent="379413">
              <a:lnSpc>
                <a:spcPct val="100000"/>
              </a:lnSpc>
              <a:buNone/>
            </a:pPr>
            <a:r>
              <a:rPr lang="en-US" altLang="ko-KR" sz="1600" smtClean="0"/>
              <a:t>3.6 DATABASE </a:t>
            </a:r>
            <a:r>
              <a:rPr lang="ko-KR" altLang="en-US" sz="1600" smtClean="0"/>
              <a:t>표준화 방안</a:t>
            </a:r>
            <a:endParaRPr lang="en-US" altLang="ko-KR" sz="1600" smtClean="0"/>
          </a:p>
          <a:p>
            <a:pPr marL="0" indent="379413">
              <a:lnSpc>
                <a:spcPct val="100000"/>
              </a:lnSpc>
              <a:buNone/>
            </a:pPr>
            <a:r>
              <a:rPr lang="en-US" altLang="ko-KR" sz="1600" smtClean="0"/>
              <a:t>3.8 </a:t>
            </a:r>
            <a:r>
              <a:rPr lang="ko-KR" altLang="en-US" sz="1600" smtClean="0"/>
              <a:t>데이터 마이그레이션 방안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871138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>
          <a:xfrm>
            <a:off x="379157" y="885967"/>
            <a:ext cx="9180512" cy="623391"/>
          </a:xfrm>
          <a:noFill/>
          <a:ln w="6350"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r>
              <a:rPr lang="ko-KR" altLang="en-US" smtClean="0"/>
              <a:t>수작업으로</a:t>
            </a:r>
            <a:r>
              <a:rPr lang="en-US" altLang="ko-KR" smtClean="0"/>
              <a:t> </a:t>
            </a:r>
            <a:r>
              <a:rPr lang="ko-KR" altLang="en-US" smtClean="0"/>
              <a:t>처리하고 있는 중기사업계획을 시스템화하고</a:t>
            </a:r>
            <a:r>
              <a:rPr lang="en-US" altLang="ko-KR" dirty="0"/>
              <a:t>, </a:t>
            </a:r>
            <a:r>
              <a:rPr lang="ko-KR" altLang="en-US" dirty="0"/>
              <a:t>예산편성 효율화를 위해 각 부서에서 사업별 예산요구안을 정형화된 형태로 입력하여 신청하고</a:t>
            </a:r>
            <a:r>
              <a:rPr lang="en-US" altLang="ko-KR" dirty="0"/>
              <a:t>, </a:t>
            </a:r>
            <a:r>
              <a:rPr lang="ko-KR" altLang="en-US" dirty="0"/>
              <a:t>이를 취합</a:t>
            </a:r>
            <a:r>
              <a:rPr lang="en-US" altLang="ko-KR" dirty="0"/>
              <a:t>, </a:t>
            </a:r>
            <a:r>
              <a:rPr lang="ko-KR" altLang="en-US" dirty="0"/>
              <a:t>조정</a:t>
            </a:r>
            <a:r>
              <a:rPr lang="en-US" altLang="ko-KR" dirty="0"/>
              <a:t>, </a:t>
            </a:r>
            <a:r>
              <a:rPr lang="ko-KR" altLang="en-US" dirty="0"/>
              <a:t>심의</a:t>
            </a:r>
            <a:r>
              <a:rPr lang="en-US" altLang="ko-KR" dirty="0"/>
              <a:t>, </a:t>
            </a:r>
            <a:r>
              <a:rPr lang="ko-KR" altLang="en-US" dirty="0"/>
              <a:t>확정하는 처리와 예산 집행계획</a:t>
            </a:r>
            <a:r>
              <a:rPr lang="en-US" altLang="ko-KR" dirty="0"/>
              <a:t>/</a:t>
            </a:r>
            <a:r>
              <a:rPr lang="ko-KR" altLang="en-US" dirty="0"/>
              <a:t>배정</a:t>
            </a:r>
            <a:r>
              <a:rPr lang="en-US" altLang="ko-KR" dirty="0"/>
              <a:t>/</a:t>
            </a:r>
            <a:r>
              <a:rPr lang="ko-KR" altLang="en-US" dirty="0"/>
              <a:t>변경</a:t>
            </a:r>
            <a:r>
              <a:rPr lang="en-US" altLang="ko-KR" dirty="0"/>
              <a:t>(</a:t>
            </a:r>
            <a:r>
              <a:rPr lang="ko-KR" altLang="en-US" dirty="0"/>
              <a:t>전용</a:t>
            </a:r>
            <a:r>
              <a:rPr lang="en-US" altLang="ko-KR" dirty="0"/>
              <a:t>,</a:t>
            </a:r>
            <a:r>
              <a:rPr lang="ko-KR" altLang="en-US" dirty="0"/>
              <a:t>추경</a:t>
            </a:r>
            <a:r>
              <a:rPr lang="en-US" altLang="ko-KR" dirty="0"/>
              <a:t>)/</a:t>
            </a:r>
            <a:r>
              <a:rPr lang="ko-KR" altLang="en-US" dirty="0"/>
              <a:t>집행</a:t>
            </a:r>
            <a:r>
              <a:rPr lang="en-US" altLang="ko-KR" dirty="0"/>
              <a:t>/</a:t>
            </a:r>
            <a:r>
              <a:rPr lang="ko-KR" altLang="en-US" dirty="0"/>
              <a:t>결산하는 과정을 체계적으로 개선함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spcBef>
                <a:spcPts val="288"/>
              </a:spcBef>
            </a:pPr>
            <a:r>
              <a:rPr lang="en-US" altLang="ko-KR" smtClean="0">
                <a:solidFill>
                  <a:prstClr val="black"/>
                </a:solidFill>
              </a:rPr>
              <a:t>Ⅲ. </a:t>
            </a:r>
            <a:r>
              <a:rPr lang="ko-KR" altLang="en-US" smtClean="0">
                <a:solidFill>
                  <a:prstClr val="black"/>
                </a:solidFill>
              </a:rPr>
              <a:t>목표모델 설계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spcBef>
                <a:spcPts val="288"/>
              </a:spcBef>
            </a:pPr>
            <a:r>
              <a:rPr lang="en-US" altLang="ko-KR" dirty="0">
                <a:solidFill>
                  <a:prstClr val="black"/>
                </a:solidFill>
              </a:rPr>
              <a:t>3. </a:t>
            </a:r>
            <a:r>
              <a:rPr lang="ko-KR" altLang="en-US" dirty="0">
                <a:solidFill>
                  <a:prstClr val="black"/>
                </a:solidFill>
              </a:rPr>
              <a:t>업무별 개선안 설계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spcBef>
                <a:spcPts val="288"/>
              </a:spcBef>
            </a:pPr>
            <a:r>
              <a:rPr lang="en-US" altLang="ko-KR" smtClean="0">
                <a:solidFill>
                  <a:prstClr val="black"/>
                </a:solidFill>
              </a:rPr>
              <a:t>3.1 </a:t>
            </a:r>
            <a:r>
              <a:rPr lang="ko-KR" altLang="en-US" dirty="0">
                <a:solidFill>
                  <a:prstClr val="black"/>
                </a:solidFill>
              </a:rPr>
              <a:t>예산관리 </a:t>
            </a:r>
            <a:r>
              <a:rPr lang="ko-KR" altLang="en-US">
                <a:solidFill>
                  <a:prstClr val="black"/>
                </a:solidFill>
              </a:rPr>
              <a:t>업무프로세스 </a:t>
            </a:r>
            <a:r>
              <a:rPr lang="ko-KR" altLang="en-US" smtClean="0">
                <a:solidFill>
                  <a:prstClr val="black"/>
                </a:solidFill>
              </a:rPr>
              <a:t>개선안</a:t>
            </a:r>
            <a:endParaRPr lang="en-US" altLang="ko-KR" dirty="0">
              <a:solidFill>
                <a:prstClr val="black"/>
              </a:solidFill>
            </a:endParaRPr>
          </a:p>
        </p:txBody>
      </p:sp>
      <p:sp>
        <p:nvSpPr>
          <p:cNvPr id="311" name="직사각형 310">
            <a:extLst>
              <a:ext uri="{FF2B5EF4-FFF2-40B4-BE49-F238E27FC236}">
                <a16:creationId xmlns="" xmlns:a16="http://schemas.microsoft.com/office/drawing/2014/main" id="{834EF977-2F4F-4CFA-8644-DCEB070BA4D7}"/>
              </a:ext>
            </a:extLst>
          </p:cNvPr>
          <p:cNvSpPr/>
          <p:nvPr/>
        </p:nvSpPr>
        <p:spPr bwMode="auto">
          <a:xfrm>
            <a:off x="354519" y="1628800"/>
            <a:ext cx="9170481" cy="324000"/>
          </a:xfrm>
          <a:prstGeom prst="rect">
            <a:avLst/>
          </a:prstGeom>
          <a:solidFill>
            <a:srgbClr val="233C5A"/>
          </a:solidFill>
          <a:ln w="12699">
            <a:solidFill>
              <a:srgbClr val="000000">
                <a:lumMod val="50000"/>
                <a:lumOff val="5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buClrTx/>
              <a:buFontTx/>
              <a:buNone/>
              <a:defRPr/>
            </a:pP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업무분류 구조도 </a:t>
            </a:r>
            <a: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(TO-BE)</a:t>
            </a:r>
            <a:endParaRPr lang="ko-KR" altLang="en-US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312" name="Rectangle 4">
            <a:extLst>
              <a:ext uri="{FF2B5EF4-FFF2-40B4-BE49-F238E27FC236}">
                <a16:creationId xmlns="" xmlns:a16="http://schemas.microsoft.com/office/drawing/2014/main" id="{89D385C2-BC55-4019-B543-408E7D7B9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1952800"/>
            <a:ext cx="9170481" cy="435588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265113" indent="-265113" latinLnBrk="0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endParaRPr lang="ko-KR" altLang="en-US" sz="1400" b="0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316" name="Rectangle 43">
            <a:extLst>
              <a:ext uri="{FF2B5EF4-FFF2-40B4-BE49-F238E27FC236}">
                <a16:creationId xmlns="" xmlns:a16="http://schemas.microsoft.com/office/drawing/2014/main" id="{F6A7BD53-EDB7-4ACE-ACD6-9D9808E65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153" y="2727039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solidFill>
                  <a:srgbClr val="000000"/>
                </a:solidFill>
                <a:latin typeface="+mn-ea"/>
              </a:rPr>
              <a:t>1.2 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latin typeface="+mn-ea"/>
              </a:rPr>
              <a:t>중기사업계획</a:t>
            </a:r>
            <a:endParaRPr lang="en-US" altLang="ko-KR" sz="1100" b="1" kern="0" spc="-15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317" name="꺾인 연결선 16">
            <a:extLst>
              <a:ext uri="{FF2B5EF4-FFF2-40B4-BE49-F238E27FC236}">
                <a16:creationId xmlns="" xmlns:a16="http://schemas.microsoft.com/office/drawing/2014/main" id="{3527B8CC-4135-46EF-B509-FECE5DAD555E}"/>
              </a:ext>
            </a:extLst>
          </p:cNvPr>
          <p:cNvCxnSpPr>
            <a:cxnSpLocks/>
            <a:stCxn id="320" idx="2"/>
            <a:endCxn id="316" idx="0"/>
          </p:cNvCxnSpPr>
          <p:nvPr/>
        </p:nvCxnSpPr>
        <p:spPr bwMode="auto">
          <a:xfrm rot="5400000">
            <a:off x="3952042" y="1386945"/>
            <a:ext cx="270790" cy="2409399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318" name="Rectangle 43">
            <a:extLst>
              <a:ext uri="{FF2B5EF4-FFF2-40B4-BE49-F238E27FC236}">
                <a16:creationId xmlns="" xmlns:a16="http://schemas.microsoft.com/office/drawing/2014/main" id="{55A536C4-1F9D-4CFC-B360-5BE659245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223" y="33929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solidFill>
                  <a:srgbClr val="0000CC"/>
                </a:solidFill>
                <a:latin typeface="+mn-ea"/>
              </a:rPr>
              <a:t>1.2.1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solidFill>
                  <a:srgbClr val="0000CC"/>
                </a:solidFill>
                <a:latin typeface="+mn-ea"/>
              </a:rPr>
              <a:t>작성요청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cxnSp>
        <p:nvCxnSpPr>
          <p:cNvPr id="319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316" idx="2"/>
            <a:endCxn id="318" idx="0"/>
          </p:cNvCxnSpPr>
          <p:nvPr/>
        </p:nvCxnSpPr>
        <p:spPr bwMode="auto">
          <a:xfrm>
            <a:off x="2882737" y="3126413"/>
            <a:ext cx="35" cy="26658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0" name="Rectangle 43">
            <a:extLst>
              <a:ext uri="{FF2B5EF4-FFF2-40B4-BE49-F238E27FC236}">
                <a16:creationId xmlns="" xmlns:a16="http://schemas.microsoft.com/office/drawing/2014/main" id="{C37FE70D-B49D-4E1B-8525-B9801948F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453" y="2058161"/>
            <a:ext cx="8263366" cy="398088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300" b="1" kern="0">
                <a:solidFill>
                  <a:prstClr val="white"/>
                </a:solidFill>
                <a:latin typeface="+mn-ea"/>
              </a:rPr>
              <a:t>1</a:t>
            </a:r>
            <a:r>
              <a:rPr lang="en-US" altLang="ko-KR" sz="1300" b="1" kern="0" smtClean="0">
                <a:solidFill>
                  <a:prstClr val="white"/>
                </a:solidFill>
                <a:latin typeface="+mn-ea"/>
              </a:rPr>
              <a:t>. </a:t>
            </a:r>
            <a:r>
              <a:rPr lang="ko-KR" altLang="en-US" sz="1300" b="1" kern="0" dirty="0">
                <a:solidFill>
                  <a:prstClr val="white"/>
                </a:solidFill>
                <a:latin typeface="+mn-ea"/>
              </a:rPr>
              <a:t>예산관리</a:t>
            </a:r>
            <a:endParaRPr lang="en-US" altLang="ko-KR" sz="13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1" name="Rectangle 43">
            <a:extLst>
              <a:ext uri="{FF2B5EF4-FFF2-40B4-BE49-F238E27FC236}">
                <a16:creationId xmlns="" xmlns:a16="http://schemas.microsoft.com/office/drawing/2014/main" id="{D6022CC8-8B0F-4459-9750-B32A286F0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853" y="2727039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solidFill>
                  <a:srgbClr val="000000"/>
                </a:solidFill>
                <a:latin typeface="+mn-ea"/>
              </a:rPr>
              <a:t>1.3 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dirty="0">
                <a:solidFill>
                  <a:srgbClr val="000000"/>
                </a:solidFill>
                <a:latin typeface="+mn-ea"/>
              </a:rPr>
              <a:t>예산편성</a:t>
            </a:r>
            <a:endParaRPr lang="en-US" altLang="ko-KR" sz="1100" b="1" kern="0" spc="-15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22" name="Rectangle 43">
            <a:extLst>
              <a:ext uri="{FF2B5EF4-FFF2-40B4-BE49-F238E27FC236}">
                <a16:creationId xmlns="" xmlns:a16="http://schemas.microsoft.com/office/drawing/2014/main" id="{AAC9D106-BE04-41F1-AFEB-0A5D02642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4553" y="2727039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solidFill>
                  <a:srgbClr val="000000"/>
                </a:solidFill>
                <a:latin typeface="+mn-ea"/>
              </a:rPr>
              <a:t>1.4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dirty="0">
                <a:solidFill>
                  <a:srgbClr val="000000"/>
                </a:solidFill>
                <a:latin typeface="+mn-ea"/>
              </a:rPr>
              <a:t>예산배정</a:t>
            </a:r>
            <a:endParaRPr lang="en-US" altLang="ko-KR" sz="1100" b="1" kern="0" spc="-15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23" name="Rectangle 43">
            <a:extLst>
              <a:ext uri="{FF2B5EF4-FFF2-40B4-BE49-F238E27FC236}">
                <a16:creationId xmlns="" xmlns:a16="http://schemas.microsoft.com/office/drawing/2014/main" id="{710E7DA3-5FB4-4ACB-A8F3-7C5B8554A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9253" y="2727039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solidFill>
                  <a:srgbClr val="000000"/>
                </a:solidFill>
                <a:latin typeface="+mn-ea"/>
              </a:rPr>
              <a:t>1.5 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dirty="0">
                <a:solidFill>
                  <a:srgbClr val="000000"/>
                </a:solidFill>
                <a:latin typeface="+mn-ea"/>
              </a:rPr>
              <a:t>예산절감</a:t>
            </a:r>
            <a:endParaRPr lang="en-US" altLang="ko-KR" sz="1100" b="1" kern="0" spc="-15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24" name="Rectangle 43">
            <a:extLst>
              <a:ext uri="{FF2B5EF4-FFF2-40B4-BE49-F238E27FC236}">
                <a16:creationId xmlns="" xmlns:a16="http://schemas.microsoft.com/office/drawing/2014/main" id="{1F3C037D-8663-4BB2-8F50-67E55BF23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953" y="2727039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solidFill>
                  <a:srgbClr val="000000"/>
                </a:solidFill>
                <a:latin typeface="+mn-ea"/>
              </a:rPr>
              <a:t>1.6 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solidFill>
                  <a:srgbClr val="000000"/>
                </a:solidFill>
                <a:latin typeface="+mn-ea"/>
              </a:rPr>
              <a:t>예산변경</a:t>
            </a:r>
          </a:p>
        </p:txBody>
      </p:sp>
      <p:cxnSp>
        <p:nvCxnSpPr>
          <p:cNvPr id="325" name="꺾인 연결선 95">
            <a:extLst>
              <a:ext uri="{FF2B5EF4-FFF2-40B4-BE49-F238E27FC236}">
                <a16:creationId xmlns="" xmlns:a16="http://schemas.microsoft.com/office/drawing/2014/main" id="{4707B7F0-4A9A-48EF-A615-1016A4AB6D50}"/>
              </a:ext>
            </a:extLst>
          </p:cNvPr>
          <p:cNvCxnSpPr>
            <a:cxnSpLocks/>
            <a:stCxn id="320" idx="2"/>
            <a:endCxn id="324" idx="0"/>
          </p:cNvCxnSpPr>
          <p:nvPr/>
        </p:nvCxnSpPr>
        <p:spPr bwMode="auto">
          <a:xfrm rot="16200000" flipH="1">
            <a:off x="6361441" y="1386943"/>
            <a:ext cx="270790" cy="2409401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26" name="꺾인 연결선 98">
            <a:extLst>
              <a:ext uri="{FF2B5EF4-FFF2-40B4-BE49-F238E27FC236}">
                <a16:creationId xmlns="" xmlns:a16="http://schemas.microsoft.com/office/drawing/2014/main" id="{140F111D-6450-4FBD-BB10-FB50112D1751}"/>
              </a:ext>
            </a:extLst>
          </p:cNvPr>
          <p:cNvCxnSpPr>
            <a:cxnSpLocks/>
            <a:stCxn id="320" idx="2"/>
            <a:endCxn id="321" idx="0"/>
          </p:cNvCxnSpPr>
          <p:nvPr/>
        </p:nvCxnSpPr>
        <p:spPr bwMode="auto">
          <a:xfrm rot="5400000">
            <a:off x="4554392" y="1989295"/>
            <a:ext cx="270790" cy="1204699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27" name="꺾인 연결선 101">
            <a:extLst>
              <a:ext uri="{FF2B5EF4-FFF2-40B4-BE49-F238E27FC236}">
                <a16:creationId xmlns="" xmlns:a16="http://schemas.microsoft.com/office/drawing/2014/main" id="{BA41D50E-5184-4CAD-B9D9-E23D3EC512F4}"/>
              </a:ext>
            </a:extLst>
          </p:cNvPr>
          <p:cNvCxnSpPr>
            <a:cxnSpLocks/>
            <a:stCxn id="320" idx="2"/>
            <a:endCxn id="322" idx="0"/>
          </p:cNvCxnSpPr>
          <p:nvPr/>
        </p:nvCxnSpPr>
        <p:spPr bwMode="auto">
          <a:xfrm rot="16200000" flipH="1">
            <a:off x="5156741" y="2591643"/>
            <a:ext cx="270790" cy="1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28" name="꺾인 연결선 104">
            <a:extLst>
              <a:ext uri="{FF2B5EF4-FFF2-40B4-BE49-F238E27FC236}">
                <a16:creationId xmlns="" xmlns:a16="http://schemas.microsoft.com/office/drawing/2014/main" id="{7D6841DF-7D60-4A15-8D68-2DF204ABC742}"/>
              </a:ext>
            </a:extLst>
          </p:cNvPr>
          <p:cNvCxnSpPr>
            <a:cxnSpLocks/>
            <a:stCxn id="320" idx="2"/>
            <a:endCxn id="323" idx="0"/>
          </p:cNvCxnSpPr>
          <p:nvPr/>
        </p:nvCxnSpPr>
        <p:spPr bwMode="auto">
          <a:xfrm rot="16200000" flipH="1">
            <a:off x="5759091" y="1989293"/>
            <a:ext cx="270790" cy="1204701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329" name="Rectangle 43">
            <a:extLst>
              <a:ext uri="{FF2B5EF4-FFF2-40B4-BE49-F238E27FC236}">
                <a16:creationId xmlns="" xmlns:a16="http://schemas.microsoft.com/office/drawing/2014/main" id="{E965CCD8-2743-48F9-8315-B5DADCCDA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852" y="3392997"/>
            <a:ext cx="1035169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solidFill>
                  <a:srgbClr val="0000CC"/>
                </a:solidFill>
                <a:latin typeface="+mn-ea"/>
              </a:rPr>
              <a:t>1.3.1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solidFill>
                  <a:srgbClr val="0000CC"/>
                </a:solidFill>
                <a:latin typeface="+mn-ea"/>
              </a:rPr>
              <a:t>예산편성지침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330" name="Rectangle 43">
            <a:extLst>
              <a:ext uri="{FF2B5EF4-FFF2-40B4-BE49-F238E27FC236}">
                <a16:creationId xmlns="" xmlns:a16="http://schemas.microsoft.com/office/drawing/2014/main" id="{178EBF35-26B2-480A-87C2-82B04DC82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4623" y="33929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solidFill>
                  <a:srgbClr val="0000CC"/>
                </a:solidFill>
                <a:latin typeface="+mn-ea"/>
              </a:rPr>
              <a:t>1.4.1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solidFill>
                  <a:srgbClr val="0000CC"/>
                </a:solidFill>
                <a:latin typeface="+mn-ea"/>
              </a:rPr>
              <a:t>예산집행계획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332" name="Rectangle 43">
            <a:extLst>
              <a:ext uri="{FF2B5EF4-FFF2-40B4-BE49-F238E27FC236}">
                <a16:creationId xmlns="" xmlns:a16="http://schemas.microsoft.com/office/drawing/2014/main" id="{A402D1D2-36A2-408F-9FA1-94C47FEEA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4023" y="33929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latin typeface="+mn-ea"/>
              </a:rPr>
              <a:t>1.6.1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latin typeface="+mn-ea"/>
              </a:rPr>
              <a:t>예산변경신청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3" name="Rectangle 43">
            <a:extLst>
              <a:ext uri="{FF2B5EF4-FFF2-40B4-BE49-F238E27FC236}">
                <a16:creationId xmlns="" xmlns:a16="http://schemas.microsoft.com/office/drawing/2014/main" id="{70CCE5AE-3D2E-4940-9C11-ABFBE5F52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853" y="3946770"/>
            <a:ext cx="103516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latin typeface="+mn-ea"/>
              </a:rPr>
              <a:t>1.3.2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latin typeface="+mn-ea"/>
              </a:rPr>
              <a:t>예산요구입력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4" name="Rectangle 43">
            <a:extLst>
              <a:ext uri="{FF2B5EF4-FFF2-40B4-BE49-F238E27FC236}">
                <a16:creationId xmlns="" xmlns:a16="http://schemas.microsoft.com/office/drawing/2014/main" id="{C6AF2B82-F503-46E0-AD73-C09C27E99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853" y="4500543"/>
            <a:ext cx="103516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latin typeface="+mn-ea"/>
              </a:rPr>
              <a:t>1.3.3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latin typeface="+mn-ea"/>
              </a:rPr>
              <a:t>예산요구확정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5" name="Rectangle 43">
            <a:extLst>
              <a:ext uri="{FF2B5EF4-FFF2-40B4-BE49-F238E27FC236}">
                <a16:creationId xmlns="" xmlns:a16="http://schemas.microsoft.com/office/drawing/2014/main" id="{FB16AB14-DCB7-4BB3-B826-76FB9C0BA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853" y="5051406"/>
            <a:ext cx="103516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latin typeface="+mn-ea"/>
              </a:rPr>
              <a:t>1.3.4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latin typeface="+mn-ea"/>
              </a:rPr>
              <a:t>예산안조정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6" name="Rectangle 43">
            <a:extLst>
              <a:ext uri="{FF2B5EF4-FFF2-40B4-BE49-F238E27FC236}">
                <a16:creationId xmlns="" xmlns:a16="http://schemas.microsoft.com/office/drawing/2014/main" id="{553D359E-ECF9-404B-BF6B-276C17858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4623" y="3946770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latin typeface="+mn-ea"/>
              </a:rPr>
              <a:t>1.4.2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정기배정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337" name="꺾인 연결선 91">
            <a:extLst>
              <a:ext uri="{FF2B5EF4-FFF2-40B4-BE49-F238E27FC236}">
                <a16:creationId xmlns="" xmlns:a16="http://schemas.microsoft.com/office/drawing/2014/main" id="{46BE52CD-219C-4FE0-BAF9-A389CB6A694E}"/>
              </a:ext>
            </a:extLst>
          </p:cNvPr>
          <p:cNvCxnSpPr>
            <a:stCxn id="321" idx="2"/>
            <a:endCxn id="329" idx="0"/>
          </p:cNvCxnSpPr>
          <p:nvPr/>
        </p:nvCxnSpPr>
        <p:spPr bwMode="auto">
          <a:xfrm>
            <a:off x="4087437" y="3126413"/>
            <a:ext cx="0" cy="266584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8" name="꺾인 연결선 91">
            <a:extLst>
              <a:ext uri="{FF2B5EF4-FFF2-40B4-BE49-F238E27FC236}">
                <a16:creationId xmlns="" xmlns:a16="http://schemas.microsoft.com/office/drawing/2014/main" id="{E5264E3C-153B-4603-8339-982EA3EFD6B0}"/>
              </a:ext>
            </a:extLst>
          </p:cNvPr>
          <p:cNvCxnSpPr>
            <a:stCxn id="322" idx="2"/>
            <a:endCxn id="330" idx="0"/>
          </p:cNvCxnSpPr>
          <p:nvPr/>
        </p:nvCxnSpPr>
        <p:spPr bwMode="auto">
          <a:xfrm>
            <a:off x="5292137" y="3126413"/>
            <a:ext cx="35" cy="26658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9" name="꺾인 연결선 91">
            <a:extLst>
              <a:ext uri="{FF2B5EF4-FFF2-40B4-BE49-F238E27FC236}">
                <a16:creationId xmlns="" xmlns:a16="http://schemas.microsoft.com/office/drawing/2014/main" id="{EFB36DBF-C4D7-484B-B813-6C87C11905B8}"/>
              </a:ext>
            </a:extLst>
          </p:cNvPr>
          <p:cNvCxnSpPr>
            <a:stCxn id="323" idx="2"/>
            <a:endCxn id="349" idx="0"/>
          </p:cNvCxnSpPr>
          <p:nvPr/>
        </p:nvCxnSpPr>
        <p:spPr bwMode="auto">
          <a:xfrm>
            <a:off x="6496837" y="3126413"/>
            <a:ext cx="35" cy="27693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0" name="꺾인 연결선 91">
            <a:extLst>
              <a:ext uri="{FF2B5EF4-FFF2-40B4-BE49-F238E27FC236}">
                <a16:creationId xmlns="" xmlns:a16="http://schemas.microsoft.com/office/drawing/2014/main" id="{D538DF82-7B4A-4238-AA2A-4BD4B1FC198E}"/>
              </a:ext>
            </a:extLst>
          </p:cNvPr>
          <p:cNvCxnSpPr>
            <a:stCxn id="324" idx="2"/>
            <a:endCxn id="332" idx="0"/>
          </p:cNvCxnSpPr>
          <p:nvPr/>
        </p:nvCxnSpPr>
        <p:spPr bwMode="auto">
          <a:xfrm>
            <a:off x="7701537" y="3126413"/>
            <a:ext cx="35" cy="26658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1" name="꺾인 연결선 91">
            <a:extLst>
              <a:ext uri="{FF2B5EF4-FFF2-40B4-BE49-F238E27FC236}">
                <a16:creationId xmlns="" xmlns:a16="http://schemas.microsoft.com/office/drawing/2014/main" id="{C1093954-97D2-42CF-B1F6-164C80F61F06}"/>
              </a:ext>
            </a:extLst>
          </p:cNvPr>
          <p:cNvCxnSpPr>
            <a:stCxn id="329" idx="2"/>
            <a:endCxn id="333" idx="0"/>
          </p:cNvCxnSpPr>
          <p:nvPr/>
        </p:nvCxnSpPr>
        <p:spPr bwMode="auto">
          <a:xfrm>
            <a:off x="4087437" y="3815738"/>
            <a:ext cx="0" cy="131032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2" name="꺾인 연결선 91">
            <a:extLst>
              <a:ext uri="{FF2B5EF4-FFF2-40B4-BE49-F238E27FC236}">
                <a16:creationId xmlns="" xmlns:a16="http://schemas.microsoft.com/office/drawing/2014/main" id="{498B867C-3266-4F6D-A473-81764FDFAFA6}"/>
              </a:ext>
            </a:extLst>
          </p:cNvPr>
          <p:cNvCxnSpPr>
            <a:stCxn id="330" idx="2"/>
            <a:endCxn id="336" idx="0"/>
          </p:cNvCxnSpPr>
          <p:nvPr/>
        </p:nvCxnSpPr>
        <p:spPr bwMode="auto">
          <a:xfrm>
            <a:off x="5292172" y="3815737"/>
            <a:ext cx="0" cy="13103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3" name="꺾인 연결선 91">
            <a:extLst>
              <a:ext uri="{FF2B5EF4-FFF2-40B4-BE49-F238E27FC236}">
                <a16:creationId xmlns="" xmlns:a16="http://schemas.microsoft.com/office/drawing/2014/main" id="{0FDB1728-739B-4663-8E33-2C7F9C8B6D4C}"/>
              </a:ext>
            </a:extLst>
          </p:cNvPr>
          <p:cNvCxnSpPr>
            <a:stCxn id="333" idx="2"/>
            <a:endCxn id="334" idx="0"/>
          </p:cNvCxnSpPr>
          <p:nvPr/>
        </p:nvCxnSpPr>
        <p:spPr bwMode="auto">
          <a:xfrm>
            <a:off x="4087437" y="4369511"/>
            <a:ext cx="0" cy="131032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4" name="꺾인 연결선 91">
            <a:extLst>
              <a:ext uri="{FF2B5EF4-FFF2-40B4-BE49-F238E27FC236}">
                <a16:creationId xmlns="" xmlns:a16="http://schemas.microsoft.com/office/drawing/2014/main" id="{5A327428-C648-4BDA-8B8C-10424E53D48C}"/>
              </a:ext>
            </a:extLst>
          </p:cNvPr>
          <p:cNvCxnSpPr>
            <a:stCxn id="334" idx="2"/>
            <a:endCxn id="335" idx="0"/>
          </p:cNvCxnSpPr>
          <p:nvPr/>
        </p:nvCxnSpPr>
        <p:spPr bwMode="auto">
          <a:xfrm>
            <a:off x="4087437" y="4923284"/>
            <a:ext cx="0" cy="128122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5" name="Rectangle 43">
            <a:extLst>
              <a:ext uri="{FF2B5EF4-FFF2-40B4-BE49-F238E27FC236}">
                <a16:creationId xmlns="" xmlns:a16="http://schemas.microsoft.com/office/drawing/2014/main" id="{5EA76E40-3173-4A0C-B239-99BF3DD71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651" y="2727039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solidFill>
                  <a:srgbClr val="000000"/>
                </a:solidFill>
                <a:latin typeface="+mn-ea"/>
              </a:rPr>
              <a:t>1.7 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solidFill>
                  <a:srgbClr val="000000"/>
                </a:solidFill>
                <a:latin typeface="+mn-ea"/>
              </a:rPr>
              <a:t>예산결산</a:t>
            </a:r>
          </a:p>
        </p:txBody>
      </p:sp>
      <p:cxnSp>
        <p:nvCxnSpPr>
          <p:cNvPr id="346" name="꺾인 연결선 69">
            <a:extLst>
              <a:ext uri="{FF2B5EF4-FFF2-40B4-BE49-F238E27FC236}">
                <a16:creationId xmlns="" xmlns:a16="http://schemas.microsoft.com/office/drawing/2014/main" id="{135AD304-C4D2-4D92-8163-BDD70B7D769A}"/>
              </a:ext>
            </a:extLst>
          </p:cNvPr>
          <p:cNvCxnSpPr>
            <a:cxnSpLocks/>
            <a:stCxn id="320" idx="2"/>
            <a:endCxn id="345" idx="0"/>
          </p:cNvCxnSpPr>
          <p:nvPr/>
        </p:nvCxnSpPr>
        <p:spPr bwMode="auto">
          <a:xfrm rot="16200000" flipH="1">
            <a:off x="6963790" y="784594"/>
            <a:ext cx="270790" cy="3614099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48" name="꺾인 연결선 91">
            <a:extLst>
              <a:ext uri="{FF2B5EF4-FFF2-40B4-BE49-F238E27FC236}">
                <a16:creationId xmlns="" xmlns:a16="http://schemas.microsoft.com/office/drawing/2014/main" id="{B7342035-BFB6-4623-978A-0DD668652F6A}"/>
              </a:ext>
            </a:extLst>
          </p:cNvPr>
          <p:cNvCxnSpPr>
            <a:cxnSpLocks/>
            <a:stCxn id="345" idx="2"/>
            <a:endCxn id="63" idx="0"/>
          </p:cNvCxnSpPr>
          <p:nvPr/>
        </p:nvCxnSpPr>
        <p:spPr bwMode="auto">
          <a:xfrm>
            <a:off x="8906235" y="3126413"/>
            <a:ext cx="35" cy="26658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9" name="Rectangle 43">
            <a:extLst>
              <a:ext uri="{FF2B5EF4-FFF2-40B4-BE49-F238E27FC236}">
                <a16:creationId xmlns="" xmlns:a16="http://schemas.microsoft.com/office/drawing/2014/main" id="{516D57EA-8179-4547-AFA2-EF10E8DF8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9323" y="3403352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solidFill>
                  <a:srgbClr val="0000CC"/>
                </a:solidFill>
                <a:latin typeface="+mn-ea"/>
              </a:rPr>
              <a:t>1.5.1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CC"/>
                </a:solidFill>
                <a:latin typeface="+mn-ea"/>
              </a:rPr>
              <a:t>절감목표등록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350" name="Rectangle 43">
            <a:extLst>
              <a:ext uri="{FF2B5EF4-FFF2-40B4-BE49-F238E27FC236}">
                <a16:creationId xmlns="" xmlns:a16="http://schemas.microsoft.com/office/drawing/2014/main" id="{A9BE069A-19F1-4EFE-B1F4-D663E17A6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9323" y="3959098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solidFill>
                  <a:srgbClr val="0000CC"/>
                </a:solidFill>
                <a:latin typeface="+mn-ea"/>
              </a:rPr>
              <a:t>1.5.2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CC"/>
                </a:solidFill>
                <a:latin typeface="+mn-ea"/>
              </a:rPr>
              <a:t>절감승인요쳥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cxnSp>
        <p:nvCxnSpPr>
          <p:cNvPr id="352" name="꺾인 연결선 91">
            <a:extLst>
              <a:ext uri="{FF2B5EF4-FFF2-40B4-BE49-F238E27FC236}">
                <a16:creationId xmlns="" xmlns:a16="http://schemas.microsoft.com/office/drawing/2014/main" id="{D9020392-6D4A-4B21-8B86-95FF602905AC}"/>
              </a:ext>
            </a:extLst>
          </p:cNvPr>
          <p:cNvCxnSpPr>
            <a:stCxn id="349" idx="2"/>
            <a:endCxn id="350" idx="0"/>
          </p:cNvCxnSpPr>
          <p:nvPr/>
        </p:nvCxnSpPr>
        <p:spPr bwMode="auto">
          <a:xfrm>
            <a:off x="6496872" y="3826093"/>
            <a:ext cx="0" cy="133005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3" name="Rectangle 43">
            <a:extLst>
              <a:ext uri="{FF2B5EF4-FFF2-40B4-BE49-F238E27FC236}">
                <a16:creationId xmlns="" xmlns:a16="http://schemas.microsoft.com/office/drawing/2014/main" id="{1FE693CD-399F-49A0-809A-A7B828920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223" y="39447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solidFill>
                  <a:srgbClr val="0000CC"/>
                </a:solidFill>
                <a:latin typeface="+mn-ea"/>
              </a:rPr>
              <a:t>1.2.2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solidFill>
                  <a:srgbClr val="0000CC"/>
                </a:solidFill>
                <a:latin typeface="+mn-ea"/>
              </a:rPr>
              <a:t>사업계획작성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354" name="Rectangle 43">
            <a:extLst>
              <a:ext uri="{FF2B5EF4-FFF2-40B4-BE49-F238E27FC236}">
                <a16:creationId xmlns="" xmlns:a16="http://schemas.microsoft.com/office/drawing/2014/main" id="{3F7C3607-3FBE-4F11-994A-E5384069A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223" y="44965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solidFill>
                  <a:srgbClr val="0000CC"/>
                </a:solidFill>
                <a:latin typeface="+mn-ea"/>
              </a:rPr>
              <a:t>1.2.3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solidFill>
                  <a:srgbClr val="0000CC"/>
                </a:solidFill>
                <a:latin typeface="+mn-ea"/>
              </a:rPr>
              <a:t>사업계획취합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355" name="Rectangle 43">
            <a:extLst>
              <a:ext uri="{FF2B5EF4-FFF2-40B4-BE49-F238E27FC236}">
                <a16:creationId xmlns="" xmlns:a16="http://schemas.microsoft.com/office/drawing/2014/main" id="{376807C9-270C-4295-BADB-AB6D87D49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223" y="505140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solidFill>
                  <a:srgbClr val="0000CC"/>
                </a:solidFill>
                <a:latin typeface="+mn-ea"/>
              </a:rPr>
              <a:t>1.2.4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solidFill>
                  <a:srgbClr val="0000CC"/>
                </a:solidFill>
                <a:latin typeface="+mn-ea"/>
              </a:rPr>
              <a:t>사업계획승인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cxnSp>
        <p:nvCxnSpPr>
          <p:cNvPr id="356" name="꺾인 연결선 91">
            <a:extLst>
              <a:ext uri="{FF2B5EF4-FFF2-40B4-BE49-F238E27FC236}">
                <a16:creationId xmlns="" xmlns:a16="http://schemas.microsoft.com/office/drawing/2014/main" id="{C40C9A90-9A50-4418-A92B-D549DB775864}"/>
              </a:ext>
            </a:extLst>
          </p:cNvPr>
          <p:cNvCxnSpPr>
            <a:stCxn id="318" idx="2"/>
            <a:endCxn id="353" idx="0"/>
          </p:cNvCxnSpPr>
          <p:nvPr/>
        </p:nvCxnSpPr>
        <p:spPr bwMode="auto">
          <a:xfrm>
            <a:off x="2882772" y="3815737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7" name="꺾인 연결선 91">
            <a:extLst>
              <a:ext uri="{FF2B5EF4-FFF2-40B4-BE49-F238E27FC236}">
                <a16:creationId xmlns="" xmlns:a16="http://schemas.microsoft.com/office/drawing/2014/main" id="{B65E55FB-9ED9-49B9-A004-E4FAF0F3433F}"/>
              </a:ext>
            </a:extLst>
          </p:cNvPr>
          <p:cNvCxnSpPr>
            <a:stCxn id="353" idx="2"/>
            <a:endCxn id="354" idx="0"/>
          </p:cNvCxnSpPr>
          <p:nvPr/>
        </p:nvCxnSpPr>
        <p:spPr bwMode="auto">
          <a:xfrm>
            <a:off x="2882772" y="4367537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8" name="꺾인 연결선 91">
            <a:extLst>
              <a:ext uri="{FF2B5EF4-FFF2-40B4-BE49-F238E27FC236}">
                <a16:creationId xmlns="" xmlns:a16="http://schemas.microsoft.com/office/drawing/2014/main" id="{BC32C143-0962-4169-9BDC-CE51A8DF9DB6}"/>
              </a:ext>
            </a:extLst>
          </p:cNvPr>
          <p:cNvCxnSpPr>
            <a:stCxn id="354" idx="2"/>
            <a:endCxn id="355" idx="0"/>
          </p:cNvCxnSpPr>
          <p:nvPr/>
        </p:nvCxnSpPr>
        <p:spPr bwMode="auto">
          <a:xfrm>
            <a:off x="2882772" y="4919337"/>
            <a:ext cx="0" cy="13206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9" name="Rectangle 43">
            <a:extLst>
              <a:ext uri="{FF2B5EF4-FFF2-40B4-BE49-F238E27FC236}">
                <a16:creationId xmlns="" xmlns:a16="http://schemas.microsoft.com/office/drawing/2014/main" id="{183944B1-7232-4A5E-8628-B115F0001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223" y="560674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solidFill>
                  <a:srgbClr val="0000CC"/>
                </a:solidFill>
                <a:latin typeface="+mn-ea"/>
              </a:rPr>
              <a:t>1.2.5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solidFill>
                  <a:srgbClr val="0000CC"/>
                </a:solidFill>
                <a:latin typeface="+mn-ea"/>
              </a:rPr>
              <a:t>사업실행계획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cxnSp>
        <p:nvCxnSpPr>
          <p:cNvPr id="361" name="꺾인 연결선 91">
            <a:extLst>
              <a:ext uri="{FF2B5EF4-FFF2-40B4-BE49-F238E27FC236}">
                <a16:creationId xmlns="" xmlns:a16="http://schemas.microsoft.com/office/drawing/2014/main" id="{3D7259BF-8F70-46BF-880C-8A50AA91A40A}"/>
              </a:ext>
            </a:extLst>
          </p:cNvPr>
          <p:cNvCxnSpPr>
            <a:stCxn id="355" idx="2"/>
            <a:endCxn id="359" idx="0"/>
          </p:cNvCxnSpPr>
          <p:nvPr/>
        </p:nvCxnSpPr>
        <p:spPr bwMode="auto">
          <a:xfrm>
            <a:off x="2882772" y="5474147"/>
            <a:ext cx="0" cy="13259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62" name="Rectangle 43">
            <a:extLst>
              <a:ext uri="{FF2B5EF4-FFF2-40B4-BE49-F238E27FC236}">
                <a16:creationId xmlns="" xmlns:a16="http://schemas.microsoft.com/office/drawing/2014/main" id="{1CCFF26E-1B5E-4C0E-B6D9-8BF7DF729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853" y="5608920"/>
            <a:ext cx="103516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latin typeface="+mn-ea"/>
              </a:rPr>
              <a:t>1.3.5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latin typeface="+mn-ea"/>
              </a:rPr>
              <a:t>예산확정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363" name="꺾인 연결선 91">
            <a:extLst>
              <a:ext uri="{FF2B5EF4-FFF2-40B4-BE49-F238E27FC236}">
                <a16:creationId xmlns="" xmlns:a16="http://schemas.microsoft.com/office/drawing/2014/main" id="{857CB15F-5C89-4B02-9508-F2A9338609C1}"/>
              </a:ext>
            </a:extLst>
          </p:cNvPr>
          <p:cNvCxnSpPr>
            <a:stCxn id="335" idx="2"/>
            <a:endCxn id="362" idx="0"/>
          </p:cNvCxnSpPr>
          <p:nvPr/>
        </p:nvCxnSpPr>
        <p:spPr bwMode="auto">
          <a:xfrm>
            <a:off x="4087437" y="5474147"/>
            <a:ext cx="0" cy="13477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Rectangle 43">
            <a:extLst>
              <a:ext uri="{FF2B5EF4-FFF2-40B4-BE49-F238E27FC236}">
                <a16:creationId xmlns="" xmlns:a16="http://schemas.microsoft.com/office/drawing/2014/main" id="{78B858DD-518B-45F9-8530-B0F311347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4023" y="39447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latin typeface="+mn-ea"/>
              </a:rPr>
              <a:t>1.6.2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dirty="0">
                <a:solidFill>
                  <a:srgbClr val="000000"/>
                </a:solidFill>
                <a:latin typeface="+mn-ea"/>
              </a:rPr>
              <a:t>예산변경승인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60" name="꺾인 연결선 91">
            <a:extLst>
              <a:ext uri="{FF2B5EF4-FFF2-40B4-BE49-F238E27FC236}">
                <a16:creationId xmlns="" xmlns:a16="http://schemas.microsoft.com/office/drawing/2014/main" id="{AD7CD1B6-DB58-4971-90B4-343157356751}"/>
              </a:ext>
            </a:extLst>
          </p:cNvPr>
          <p:cNvCxnSpPr>
            <a:cxnSpLocks/>
            <a:stCxn id="59" idx="0"/>
            <a:endCxn id="332" idx="2"/>
          </p:cNvCxnSpPr>
          <p:nvPr/>
        </p:nvCxnSpPr>
        <p:spPr bwMode="auto">
          <a:xfrm flipV="1">
            <a:off x="7701572" y="3815737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3" name="Rectangle 43">
            <a:extLst>
              <a:ext uri="{FF2B5EF4-FFF2-40B4-BE49-F238E27FC236}">
                <a16:creationId xmlns="" xmlns:a16="http://schemas.microsoft.com/office/drawing/2014/main" id="{9F316396-9A47-439A-9482-653546213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721" y="33929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latin typeface="+mn-ea"/>
              </a:rPr>
              <a:t>1.7.1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잔액불용처리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64" name="Rectangle 43">
            <a:extLst>
              <a:ext uri="{FF2B5EF4-FFF2-40B4-BE49-F238E27FC236}">
                <a16:creationId xmlns="" xmlns:a16="http://schemas.microsoft.com/office/drawing/2014/main" id="{9DED2B55-68C8-41A5-BDA5-81831BDF0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721" y="3944795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solidFill>
                  <a:srgbClr val="0000CC"/>
                </a:solidFill>
                <a:latin typeface="+mn-ea"/>
              </a:rPr>
              <a:t>1.7.2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CC"/>
                </a:solidFill>
                <a:latin typeface="+mn-ea"/>
              </a:rPr>
              <a:t>예산이월처리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cxnSp>
        <p:nvCxnSpPr>
          <p:cNvPr id="65" name="꺾인 연결선 91">
            <a:extLst>
              <a:ext uri="{FF2B5EF4-FFF2-40B4-BE49-F238E27FC236}">
                <a16:creationId xmlns="" xmlns:a16="http://schemas.microsoft.com/office/drawing/2014/main" id="{2B41A8A5-8167-45A0-ABA9-096F9E17219E}"/>
              </a:ext>
            </a:extLst>
          </p:cNvPr>
          <p:cNvCxnSpPr>
            <a:cxnSpLocks/>
            <a:stCxn id="64" idx="0"/>
            <a:endCxn id="63" idx="2"/>
          </p:cNvCxnSpPr>
          <p:nvPr/>
        </p:nvCxnSpPr>
        <p:spPr bwMode="auto">
          <a:xfrm flipV="1">
            <a:off x="8906270" y="3815737"/>
            <a:ext cx="0" cy="129058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6" name="Rectangle 43">
            <a:extLst>
              <a:ext uri="{FF2B5EF4-FFF2-40B4-BE49-F238E27FC236}">
                <a16:creationId xmlns="" xmlns:a16="http://schemas.microsoft.com/office/drawing/2014/main" id="{CE600711-459B-49BE-98FC-F7DDC039C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181" y="2058161"/>
            <a:ext cx="566033" cy="389930"/>
          </a:xfrm>
          <a:prstGeom prst="roundRect">
            <a:avLst>
              <a:gd name="adj" fmla="val 0"/>
            </a:avLst>
          </a:prstGeom>
          <a:solidFill>
            <a:sysClr val="windowText" lastClr="000000">
              <a:lumMod val="75000"/>
              <a:lumOff val="2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35921" dir="2700000" algn="ctr" rotWithShape="0">
              <a:srgbClr val="E3DED1"/>
            </a:outerShdw>
          </a:effectLst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b="1" kern="0" smtClean="0">
                <a:solidFill>
                  <a:schemeClr val="bg1"/>
                </a:solidFill>
                <a:latin typeface="+mn-ea"/>
              </a:rPr>
              <a:t>Level1</a:t>
            </a:r>
            <a:endParaRPr kumimoji="1" lang="en-US" altLang="ko-KR" sz="105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7" name="Rectangle 43">
            <a:extLst>
              <a:ext uri="{FF2B5EF4-FFF2-40B4-BE49-F238E27FC236}">
                <a16:creationId xmlns="" xmlns:a16="http://schemas.microsoft.com/office/drawing/2014/main" id="{D4181FB3-E5A1-4294-AEE4-A86E412A0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181" y="2553774"/>
            <a:ext cx="566033" cy="689558"/>
          </a:xfrm>
          <a:prstGeom prst="roundRect">
            <a:avLst>
              <a:gd name="adj" fmla="val 0"/>
            </a:avLst>
          </a:prstGeom>
          <a:solidFill>
            <a:sysClr val="windowText" lastClr="000000">
              <a:lumMod val="75000"/>
              <a:lumOff val="2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35921" dir="2700000" algn="ctr" rotWithShape="0">
              <a:srgbClr val="E3DED1"/>
            </a:outerShdw>
          </a:effectLst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b="1" kern="0" smtClean="0">
                <a:solidFill>
                  <a:schemeClr val="bg1"/>
                </a:solidFill>
                <a:latin typeface="+mn-ea"/>
              </a:rPr>
              <a:t>Level2</a:t>
            </a:r>
            <a:endParaRPr kumimoji="1" lang="en-US" altLang="ko-KR" sz="105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8" name="Rectangle 43">
            <a:extLst>
              <a:ext uri="{FF2B5EF4-FFF2-40B4-BE49-F238E27FC236}">
                <a16:creationId xmlns="" xmlns:a16="http://schemas.microsoft.com/office/drawing/2014/main" id="{70FA894C-28C6-49F0-8FC0-617614258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181" y="3330295"/>
            <a:ext cx="566033" cy="2907017"/>
          </a:xfrm>
          <a:prstGeom prst="roundRect">
            <a:avLst>
              <a:gd name="adj" fmla="val 0"/>
            </a:avLst>
          </a:prstGeom>
          <a:solidFill>
            <a:sysClr val="windowText" lastClr="000000">
              <a:lumMod val="75000"/>
              <a:lumOff val="2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35921" dir="2700000" algn="ctr" rotWithShape="0">
              <a:srgbClr val="E3DED1"/>
            </a:outerShdw>
          </a:effectLst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b="1" kern="0" smtClean="0">
                <a:solidFill>
                  <a:schemeClr val="bg1"/>
                </a:solidFill>
                <a:latin typeface="+mn-ea"/>
              </a:rPr>
              <a:t>Level3</a:t>
            </a:r>
            <a:endParaRPr kumimoji="1" lang="en-US" altLang="ko-KR" sz="105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" name="Rectangle 43">
            <a:extLst>
              <a:ext uri="{FF2B5EF4-FFF2-40B4-BE49-F238E27FC236}">
                <a16:creationId xmlns="" xmlns:a16="http://schemas.microsoft.com/office/drawing/2014/main" id="{E3D82401-A830-0602-D55A-3D7323EE7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453" y="2724418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solidFill>
                  <a:srgbClr val="000000"/>
                </a:solidFill>
                <a:latin typeface="+mn-ea"/>
              </a:rPr>
              <a:t>1.1 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latin typeface="+mn-ea"/>
              </a:rPr>
              <a:t>예산기준정보</a:t>
            </a:r>
            <a:endParaRPr lang="en-US" altLang="ko-KR" sz="1100" b="1" kern="0" spc="-15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" name="Rectangle 43">
            <a:extLst>
              <a:ext uri="{FF2B5EF4-FFF2-40B4-BE49-F238E27FC236}">
                <a16:creationId xmlns="" xmlns:a16="http://schemas.microsoft.com/office/drawing/2014/main" id="{8C7218AA-FA01-AE9E-4347-DEE45D2A7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453" y="3390375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latin typeface="+mn-ea"/>
              </a:rPr>
              <a:t>1.1.1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latin typeface="+mn-ea"/>
              </a:rPr>
              <a:t>사업기준정보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22" name="Rectangle 43">
            <a:extLst>
              <a:ext uri="{FF2B5EF4-FFF2-40B4-BE49-F238E27FC236}">
                <a16:creationId xmlns="" xmlns:a16="http://schemas.microsoft.com/office/drawing/2014/main" id="{85039B3D-D699-ACE0-8607-D30FCBAC3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453" y="3942175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latin typeface="+mn-ea"/>
              </a:rPr>
              <a:t>1.1.2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 err="1">
                <a:latin typeface="+mn-ea"/>
              </a:rPr>
              <a:t>예산코드관리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23" name="Rectangle 43">
            <a:extLst>
              <a:ext uri="{FF2B5EF4-FFF2-40B4-BE49-F238E27FC236}">
                <a16:creationId xmlns="" xmlns:a16="http://schemas.microsoft.com/office/drawing/2014/main" id="{318A1D3C-FCE5-FC6A-4E77-B5408E833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453" y="4493975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latin typeface="+mn-ea"/>
              </a:rPr>
              <a:t>1.1.3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latin typeface="+mn-ea"/>
              </a:rPr>
              <a:t>예산항목정의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24" name="Rectangle 43">
            <a:extLst>
              <a:ext uri="{FF2B5EF4-FFF2-40B4-BE49-F238E27FC236}">
                <a16:creationId xmlns="" xmlns:a16="http://schemas.microsoft.com/office/drawing/2014/main" id="{F9CE4552-706A-773D-CCD3-003F657CC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453" y="5048785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solidFill>
                  <a:srgbClr val="0000CC"/>
                </a:solidFill>
                <a:latin typeface="+mn-ea"/>
              </a:rPr>
              <a:t>1.1.4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solidFill>
                  <a:srgbClr val="0000CC"/>
                </a:solidFill>
                <a:latin typeface="+mn-ea"/>
              </a:rPr>
              <a:t>예산통제기준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39" name="Rectangle 43">
            <a:extLst>
              <a:ext uri="{FF2B5EF4-FFF2-40B4-BE49-F238E27FC236}">
                <a16:creationId xmlns="" xmlns:a16="http://schemas.microsoft.com/office/drawing/2014/main" id="{3D700D45-EAF3-D7AF-CF3C-D69E7181D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721" y="4509960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dirty="0">
                <a:solidFill>
                  <a:srgbClr val="0000CC"/>
                </a:solidFill>
                <a:latin typeface="+mn-ea"/>
              </a:rPr>
              <a:t>1.7.3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dirty="0">
                <a:solidFill>
                  <a:srgbClr val="0000CC"/>
                </a:solidFill>
                <a:latin typeface="+mn-ea"/>
              </a:rPr>
              <a:t>예산결산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="" xmlns:a16="http://schemas.microsoft.com/office/drawing/2014/main" id="{470A1225-C1B3-240B-66B3-C63DA61F2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5248" y="4518427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1.6.3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solidFill>
                  <a:srgbClr val="000000"/>
                </a:solidFill>
                <a:latin typeface="+mn-ea"/>
              </a:rPr>
              <a:t>예산변경반영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42" name="꺾인 연결선 91">
            <a:extLst>
              <a:ext uri="{FF2B5EF4-FFF2-40B4-BE49-F238E27FC236}">
                <a16:creationId xmlns="" xmlns:a16="http://schemas.microsoft.com/office/drawing/2014/main" id="{5FB3F20A-8D33-C6E0-046B-666492CB4DCB}"/>
              </a:ext>
            </a:extLst>
          </p:cNvPr>
          <p:cNvCxnSpPr>
            <a:cxnSpLocks/>
            <a:stCxn id="41" idx="0"/>
            <a:endCxn id="59" idx="2"/>
          </p:cNvCxnSpPr>
          <p:nvPr/>
        </p:nvCxnSpPr>
        <p:spPr bwMode="auto">
          <a:xfrm flipH="1" flipV="1">
            <a:off x="7701572" y="4367537"/>
            <a:ext cx="1225" cy="150890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꺾인 연결선 91">
            <a:extLst>
              <a:ext uri="{FF2B5EF4-FFF2-40B4-BE49-F238E27FC236}">
                <a16:creationId xmlns="" xmlns:a16="http://schemas.microsoft.com/office/drawing/2014/main" id="{D830CFAD-B46E-C771-8872-15FC35C0916D}"/>
              </a:ext>
            </a:extLst>
          </p:cNvPr>
          <p:cNvCxnSpPr>
            <a:cxnSpLocks/>
            <a:stCxn id="39" idx="0"/>
            <a:endCxn id="64" idx="2"/>
          </p:cNvCxnSpPr>
          <p:nvPr/>
        </p:nvCxnSpPr>
        <p:spPr bwMode="auto">
          <a:xfrm flipV="1">
            <a:off x="8906270" y="4367536"/>
            <a:ext cx="0" cy="142424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1" name="제목 2">
            <a:extLst>
              <a:ext uri="{FF2B5EF4-FFF2-40B4-BE49-F238E27FC236}">
                <a16:creationId xmlns="" xmlns:a16="http://schemas.microsoft.com/office/drawing/2014/main" id="{9551AA14-AB9F-55B5-4876-85ECDC318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88" y="0"/>
            <a:ext cx="4840160" cy="781320"/>
          </a:xfrm>
        </p:spPr>
        <p:txBody>
          <a:bodyPr>
            <a:noAutofit/>
          </a:bodyPr>
          <a:lstStyle/>
          <a:p>
            <a:r>
              <a:rPr lang="en-US" altLang="ko-KR" smtClean="0"/>
              <a:t>3.1 </a:t>
            </a:r>
            <a:r>
              <a:rPr lang="ko-KR" altLang="en-US" dirty="0"/>
              <a:t>예산관리</a:t>
            </a:r>
            <a:r>
              <a:rPr lang="en-US" altLang="ko-KR" dirty="0"/>
              <a:t> </a:t>
            </a:r>
            <a:r>
              <a:rPr lang="ko-KR" altLang="en-US" dirty="0"/>
              <a:t>업무분류 및 기능 정의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z="1800" smtClean="0"/>
              <a:t>3.</a:t>
            </a:r>
            <a:r>
              <a:rPr lang="en-US" altLang="ko-KR" sz="1800" smtClean="0">
                <a:solidFill>
                  <a:prstClr val="black"/>
                </a:solidFill>
              </a:rPr>
              <a:t>1.1 </a:t>
            </a:r>
            <a:r>
              <a:rPr lang="ko-KR" altLang="en-US" sz="1800" dirty="0">
                <a:solidFill>
                  <a:prstClr val="black"/>
                </a:solidFill>
              </a:rPr>
              <a:t>예산관리 업무분류 구조도</a:t>
            </a:r>
            <a:endParaRPr lang="ko-KR" altLang="en-US" sz="1800" dirty="0"/>
          </a:p>
        </p:txBody>
      </p:sp>
      <p:sp>
        <p:nvSpPr>
          <p:cNvPr id="70" name="Rectangle 43">
            <a:extLst>
              <a:ext uri="{FF2B5EF4-FFF2-40B4-BE49-F238E27FC236}">
                <a16:creationId xmlns="" xmlns:a16="http://schemas.microsoft.com/office/drawing/2014/main" id="{553D359E-ECF9-404B-BF6B-276C17858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3396" y="4500543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CC"/>
                </a:solidFill>
                <a:latin typeface="+mn-ea"/>
              </a:rPr>
              <a:t>1.4.3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CC"/>
                </a:solidFill>
                <a:latin typeface="+mn-ea"/>
              </a:rPr>
              <a:t>수시배정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cxnSp>
        <p:nvCxnSpPr>
          <p:cNvPr id="71" name="꺾인 연결선 16">
            <a:extLst>
              <a:ext uri="{FF2B5EF4-FFF2-40B4-BE49-F238E27FC236}">
                <a16:creationId xmlns="" xmlns:a16="http://schemas.microsoft.com/office/drawing/2014/main" id="{3527B8CC-4135-46EF-B509-FECE5DAD555E}"/>
              </a:ext>
            </a:extLst>
          </p:cNvPr>
          <p:cNvCxnSpPr>
            <a:cxnSpLocks/>
            <a:stCxn id="320" idx="2"/>
            <a:endCxn id="20" idx="0"/>
          </p:cNvCxnSpPr>
          <p:nvPr/>
        </p:nvCxnSpPr>
        <p:spPr bwMode="auto">
          <a:xfrm rot="5400000">
            <a:off x="3351003" y="783284"/>
            <a:ext cx="268169" cy="3614099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4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20" idx="2"/>
            <a:endCxn id="21" idx="0"/>
          </p:cNvCxnSpPr>
          <p:nvPr/>
        </p:nvCxnSpPr>
        <p:spPr bwMode="auto">
          <a:xfrm flipH="1">
            <a:off x="1678002" y="3123792"/>
            <a:ext cx="35" cy="26658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21" idx="2"/>
            <a:endCxn id="22" idx="0"/>
          </p:cNvCxnSpPr>
          <p:nvPr/>
        </p:nvCxnSpPr>
        <p:spPr bwMode="auto">
          <a:xfrm>
            <a:off x="1678002" y="3813116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22" idx="2"/>
            <a:endCxn id="23" idx="0"/>
          </p:cNvCxnSpPr>
          <p:nvPr/>
        </p:nvCxnSpPr>
        <p:spPr bwMode="auto">
          <a:xfrm>
            <a:off x="1678002" y="4364916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23" idx="2"/>
            <a:endCxn id="24" idx="0"/>
          </p:cNvCxnSpPr>
          <p:nvPr/>
        </p:nvCxnSpPr>
        <p:spPr bwMode="auto">
          <a:xfrm>
            <a:off x="1678002" y="4916716"/>
            <a:ext cx="0" cy="13206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7" name="Rectangle 43">
            <a:extLst>
              <a:ext uri="{FF2B5EF4-FFF2-40B4-BE49-F238E27FC236}">
                <a16:creationId xmlns="" xmlns:a16="http://schemas.microsoft.com/office/drawing/2014/main" id="{470A1225-C1B3-240B-66B3-C63DA61F2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4023" y="5049239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1.6.4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solidFill>
                  <a:srgbClr val="000000"/>
                </a:solidFill>
                <a:latin typeface="+mn-ea"/>
              </a:rPr>
              <a:t>추경예산편성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88" name="꺾인 연결선 91">
            <a:extLst>
              <a:ext uri="{FF2B5EF4-FFF2-40B4-BE49-F238E27FC236}">
                <a16:creationId xmlns="" xmlns:a16="http://schemas.microsoft.com/office/drawing/2014/main" id="{5FB3F20A-8D33-C6E0-046B-666492CB4DCB}"/>
              </a:ext>
            </a:extLst>
          </p:cNvPr>
          <p:cNvCxnSpPr>
            <a:cxnSpLocks/>
            <a:stCxn id="87" idx="0"/>
            <a:endCxn id="41" idx="2"/>
          </p:cNvCxnSpPr>
          <p:nvPr/>
        </p:nvCxnSpPr>
        <p:spPr bwMode="auto">
          <a:xfrm flipV="1">
            <a:off x="7701572" y="4941168"/>
            <a:ext cx="1225" cy="108071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3" name="Rectangle 43">
            <a:extLst>
              <a:ext uri="{FF2B5EF4-FFF2-40B4-BE49-F238E27FC236}">
                <a16:creationId xmlns="" xmlns:a16="http://schemas.microsoft.com/office/drawing/2014/main" id="{A9BE069A-19F1-4EFE-B1F4-D663E17A6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75" y="4497740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CC"/>
                </a:solidFill>
                <a:latin typeface="+mn-ea"/>
              </a:rPr>
              <a:t>1.5.3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CC"/>
                </a:solidFill>
                <a:latin typeface="+mn-ea"/>
              </a:rPr>
              <a:t>절감목표반영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6987960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dirty="0">
                <a:latin typeface="+mn-ea"/>
                <a:ea typeface="+mn-ea"/>
              </a:rPr>
              <a:t>기준자료를 체계화하고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중기사업계획을 </a:t>
            </a:r>
            <a:r>
              <a:rPr lang="ko-KR" altLang="en-US" err="1">
                <a:latin typeface="+mn-ea"/>
                <a:ea typeface="+mn-ea"/>
              </a:rPr>
              <a:t>시스템화하여</a:t>
            </a:r>
            <a:r>
              <a:rPr lang="ko-KR" altLang="en-US">
                <a:latin typeface="+mn-ea"/>
                <a:ea typeface="+mn-ea"/>
              </a:rPr>
              <a:t> </a:t>
            </a:r>
            <a:r>
              <a:rPr lang="ko-KR" altLang="en-US" smtClean="0">
                <a:latin typeface="+mn-ea"/>
                <a:ea typeface="+mn-ea"/>
              </a:rPr>
              <a:t>사업기획 단계부터 </a:t>
            </a:r>
            <a:r>
              <a:rPr lang="ko-KR" altLang="en-US" dirty="0" err="1">
                <a:latin typeface="+mn-ea"/>
                <a:ea typeface="+mn-ea"/>
              </a:rPr>
              <a:t>단년도</a:t>
            </a:r>
            <a:r>
              <a:rPr lang="ko-KR" altLang="en-US" dirty="0">
                <a:latin typeface="+mn-ea"/>
                <a:ea typeface="+mn-ea"/>
              </a:rPr>
              <a:t> 예산의 편성</a:t>
            </a:r>
            <a:r>
              <a:rPr lang="en-US" altLang="ko-KR" dirty="0">
                <a:latin typeface="+mn-ea"/>
                <a:ea typeface="+mn-ea"/>
              </a:rPr>
              <a:t>/</a:t>
            </a:r>
            <a:r>
              <a:rPr lang="ko-KR" altLang="en-US" dirty="0">
                <a:latin typeface="+mn-ea"/>
                <a:ea typeface="+mn-ea"/>
              </a:rPr>
              <a:t>집행</a:t>
            </a:r>
            <a:r>
              <a:rPr lang="en-US" altLang="ko-KR" dirty="0">
                <a:latin typeface="+mn-ea"/>
                <a:ea typeface="+mn-ea"/>
              </a:rPr>
              <a:t>/</a:t>
            </a:r>
            <a:r>
              <a:rPr lang="ko-KR" altLang="en-US" dirty="0">
                <a:latin typeface="+mn-ea"/>
                <a:ea typeface="+mn-ea"/>
              </a:rPr>
              <a:t> 통제</a:t>
            </a:r>
            <a:r>
              <a:rPr lang="en-US" altLang="ko-KR" dirty="0">
                <a:latin typeface="+mn-ea"/>
                <a:ea typeface="+mn-ea"/>
              </a:rPr>
              <a:t>/</a:t>
            </a:r>
            <a:r>
              <a:rPr lang="ko-KR" altLang="en-US" dirty="0">
                <a:latin typeface="+mn-ea"/>
                <a:ea typeface="+mn-ea"/>
              </a:rPr>
              <a:t>결산하는 기능을 세분화하여 관리함</a:t>
            </a: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mtClean="0"/>
              <a:t>3.1 </a:t>
            </a:r>
            <a:r>
              <a:rPr lang="ko-KR" altLang="en-US" dirty="0"/>
              <a:t>예산관리</a:t>
            </a:r>
            <a:r>
              <a:rPr lang="en-US" altLang="ko-KR" dirty="0"/>
              <a:t> </a:t>
            </a:r>
            <a:r>
              <a:rPr lang="ko-KR" altLang="en-US" dirty="0"/>
              <a:t>업무분류 및 기능 정의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3.</a:t>
            </a:r>
            <a:r>
              <a:rPr lang="en-US" altLang="ko-KR" sz="1800" smtClean="0">
                <a:solidFill>
                  <a:prstClr val="black"/>
                </a:solidFill>
              </a:rPr>
              <a:t>1.2 </a:t>
            </a:r>
            <a:r>
              <a:rPr lang="ko-KR" altLang="en-US" sz="1800" dirty="0">
                <a:solidFill>
                  <a:prstClr val="black"/>
                </a:solidFill>
              </a:rPr>
              <a:t>예산관리 업무기능 정의 </a:t>
            </a:r>
            <a:r>
              <a:rPr lang="en-US" altLang="ko-KR" sz="1800" dirty="0">
                <a:solidFill>
                  <a:prstClr val="black"/>
                </a:solidFill>
              </a:rPr>
              <a:t>(</a:t>
            </a:r>
            <a:r>
              <a:rPr lang="en-US" altLang="ko-KR" sz="1800" dirty="0"/>
              <a:t>1/2)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spcBef>
                <a:spcPts val="288"/>
              </a:spcBef>
            </a:pPr>
            <a:r>
              <a:rPr lang="en-US" altLang="ko-KR" smtClean="0">
                <a:solidFill>
                  <a:prstClr val="black"/>
                </a:solidFill>
              </a:rPr>
              <a:t>Ⅲ. </a:t>
            </a:r>
            <a:r>
              <a:rPr lang="ko-KR" altLang="en-US" smtClean="0">
                <a:solidFill>
                  <a:prstClr val="black"/>
                </a:solidFill>
              </a:rPr>
              <a:t>목표모델 설계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spcBef>
                <a:spcPts val="288"/>
              </a:spcBef>
            </a:pPr>
            <a:r>
              <a:rPr lang="en-US" altLang="ko-KR" dirty="0">
                <a:solidFill>
                  <a:prstClr val="black"/>
                </a:solidFill>
              </a:rPr>
              <a:t>3. </a:t>
            </a:r>
            <a:r>
              <a:rPr lang="ko-KR" altLang="en-US" dirty="0">
                <a:solidFill>
                  <a:prstClr val="black"/>
                </a:solidFill>
              </a:rPr>
              <a:t>업무별 개선안 설계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spcBef>
                <a:spcPts val="288"/>
              </a:spcBef>
            </a:pPr>
            <a:r>
              <a:rPr lang="en-US" altLang="ko-KR" smtClean="0">
                <a:solidFill>
                  <a:prstClr val="black"/>
                </a:solidFill>
              </a:rPr>
              <a:t>3.1 </a:t>
            </a:r>
            <a:r>
              <a:rPr lang="ko-KR" altLang="en-US" dirty="0">
                <a:solidFill>
                  <a:prstClr val="black"/>
                </a:solidFill>
              </a:rPr>
              <a:t>예산관리 업무프로세스 개선안</a:t>
            </a:r>
            <a:endParaRPr lang="en-US" altLang="ko-KR" dirty="0">
              <a:solidFill>
                <a:prstClr val="black"/>
              </a:solidFill>
            </a:endParaRPr>
          </a:p>
        </p:txBody>
      </p:sp>
      <p:graphicFrame>
        <p:nvGraphicFramePr>
          <p:cNvPr id="70" name="표 69">
            <a:extLst>
              <a:ext uri="{FF2B5EF4-FFF2-40B4-BE49-F238E27FC236}">
                <a16:creationId xmlns="" xmlns:a16="http://schemas.microsoft.com/office/drawing/2014/main" id="{E9F2C507-AF08-4734-AD3C-A634FC74D8C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54520" y="1628775"/>
          <a:ext cx="9180512" cy="4689660"/>
        </p:xfrm>
        <a:graphic>
          <a:graphicData uri="http://schemas.openxmlformats.org/drawingml/2006/table">
            <a:tbl>
              <a:tblPr firstRow="1" bandRow="1"/>
              <a:tblGrid>
                <a:gridCol w="39482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1176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9959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6044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03470">
                  <a:extLst>
                    <a:ext uri="{9D8B030D-6E8A-4147-A177-3AD203B41FA5}">
                      <a16:colId xmlns="" xmlns:a16="http://schemas.microsoft.com/office/drawing/2014/main" val="392761856"/>
                    </a:ext>
                  </a:extLst>
                </a:gridCol>
                <a:gridCol w="803470">
                  <a:extLst>
                    <a:ext uri="{9D8B030D-6E8A-4147-A177-3AD203B41FA5}">
                      <a16:colId xmlns="" xmlns:a16="http://schemas.microsoft.com/office/drawing/2014/main" val="2283819833"/>
                    </a:ext>
                  </a:extLst>
                </a:gridCol>
                <a:gridCol w="1606940">
                  <a:extLst>
                    <a:ext uri="{9D8B030D-6E8A-4147-A177-3AD203B41FA5}">
                      <a16:colId xmlns="" xmlns:a16="http://schemas.microsoft.com/office/drawing/2014/main" val="3659144700"/>
                    </a:ext>
                  </a:extLst>
                </a:gridCol>
              </a:tblGrid>
              <a:tr h="243268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spc="-10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1000" b="1" spc="-10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업무명칭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업무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주관 조직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사용조직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개선사항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432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Lv2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Lv3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43268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기준정보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예산시스템 관리에 필요한 기준정보 및 관리기준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맑은 고딕" pitchFamily="50" charset="-127"/>
                          <a:ea typeface="+mn-ea"/>
                        </a:rPr>
                        <a:t>예산파트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사업별 세부기준자료 및 예산코드 체계화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예산편성항목의 정형화 및 통제기준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432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사업 기준정보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대분류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중분류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단위사업 체계의 사업별 기준정보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5330139"/>
                  </a:ext>
                </a:extLst>
              </a:tr>
              <a:tr h="2432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예산코드 관리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수입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지출예산의 코드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체계화 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수입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: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관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항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목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지출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목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세목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7783185"/>
                  </a:ext>
                </a:extLst>
              </a:tr>
              <a:tr h="2432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예산항목 정의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예산 편성항목별 정형화 기준과 회계연결 및 예산 통제방법 정의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148509401"/>
                  </a:ext>
                </a:extLst>
              </a:tr>
              <a:tr h="2432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예산통제 기준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 err="1">
                          <a:latin typeface="+mn-ea"/>
                          <a:ea typeface="+mn-ea"/>
                        </a:rPr>
                        <a:t>예산편성차수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연도별 </a:t>
                      </a:r>
                      <a:r>
                        <a:rPr lang="ko-KR" altLang="en-US" sz="1000" b="0" dirty="0" err="1">
                          <a:latin typeface="+mn-ea"/>
                          <a:ea typeface="+mn-ea"/>
                        </a:rPr>
                        <a:t>요율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환율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 등의 편성 기준자료와 권한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33555722"/>
                  </a:ext>
                </a:extLst>
              </a:tr>
              <a:tr h="243268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중기사업계획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중기사업계획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연도별 수입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지출계획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을 작성하여 기준정보로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맑은 고딕" pitchFamily="50" charset="-127"/>
                          <a:ea typeface="+mn-ea"/>
                        </a:rPr>
                        <a:t>예산파트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수작업으로 처리 중인  중기사업계획을 전산화하여 사업관리 기준 및 업무 편의성을 향상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58059666"/>
                  </a:ext>
                </a:extLst>
              </a:tr>
              <a:tr h="2432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dirty="0">
                          <a:latin typeface="+mn-ea"/>
                          <a:ea typeface="+mn-ea"/>
                        </a:rPr>
                        <a:t>계획작성요청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사업담당자에게 중기사업계획 작성 요청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43268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사업계획작성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사업별 중기사업계획 작성 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당해연도 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+ 4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년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43268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사업계획취합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작성된 전체 중기사업계획을 취합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43268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사업계획승인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 err="1">
                          <a:latin typeface="+mn-ea"/>
                          <a:ea typeface="+mn-ea"/>
                        </a:rPr>
                        <a:t>취합완료된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 중기사업계획에 대한 승인 요청 및 승인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43268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사업실행계획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실행되는 사업의 단계별 사업계획 등록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43268">
                <a:tc row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예산편성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각 부서의 사업별 예산요구내역을 취합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조정하여 예산을 편성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예산파트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총액 관리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방식에서 정형화되고 세분화된 </a:t>
                      </a:r>
                      <a:r>
                        <a:rPr lang="ko-KR" altLang="en-US" sz="1000" b="0" dirty="0" err="1">
                          <a:latin typeface="+mn-ea"/>
                          <a:ea typeface="+mn-ea"/>
                        </a:rPr>
                        <a:t>근거를관리하는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 방식으로 전환하여 일관되고 명확한 예산편성과 다양한 예산분석 체계를 마련하여 효율적인 예산편성과 내역사업별 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Life-Cycle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관리가 가능하도록 개선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721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편성지침관리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사업편성 기준자료의 준비 및 편성지침을 등록하여 배포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4326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예산요구입력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 부서에서 </a:t>
                      </a:r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단년도의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사업별 예산을 정형적으로 작성하는 업무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721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예산요구조정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 부서에서 작성된 예산요구내역을 전체 예산에 맞게 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43268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예산심의자료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조정완료된</a:t>
                      </a:r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예산을 심의자료로 제공하는 업무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43268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예산확정처리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심의 완료된 예산을 최종적으로 확정하는 업무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01156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 vert="horz" lIns="0" tIns="45720" rIns="0" bIns="45720" rtlCol="0" anchor="ctr">
            <a:noAutofit/>
          </a:bodyPr>
          <a:lstStyle/>
          <a:p>
            <a:pPr>
              <a:spcBef>
                <a:spcPts val="288"/>
              </a:spcBef>
            </a:pPr>
            <a:r>
              <a:rPr lang="en-US" altLang="ko-KR" sz="1200" smtClean="0">
                <a:solidFill>
                  <a:prstClr val="black"/>
                </a:solidFill>
                <a:latin typeface="+mn-lt"/>
                <a:ea typeface="+mn-ea"/>
              </a:rPr>
              <a:t>Ⅲ. </a:t>
            </a:r>
            <a:r>
              <a:rPr lang="ko-KR" altLang="en-US" sz="1200" smtClean="0">
                <a:solidFill>
                  <a:prstClr val="black"/>
                </a:solidFill>
                <a:latin typeface="+mn-lt"/>
                <a:ea typeface="+mn-ea"/>
              </a:rPr>
              <a:t>목표모델 설계</a:t>
            </a:r>
            <a:endParaRPr lang="en-US" altLang="ko-KR" sz="1200" dirty="0">
              <a:solidFill>
                <a:prstClr val="black"/>
              </a:solidFill>
              <a:latin typeface="+mn-lt"/>
              <a:ea typeface="+mn-ea"/>
            </a:endParaRPr>
          </a:p>
          <a:p>
            <a:pPr>
              <a:spcBef>
                <a:spcPts val="288"/>
              </a:spcBef>
            </a:pPr>
            <a:r>
              <a:rPr lang="en-US" altLang="ko-KR" sz="1200" dirty="0">
                <a:solidFill>
                  <a:prstClr val="black"/>
                </a:solidFill>
                <a:latin typeface="+mn-lt"/>
                <a:ea typeface="+mn-ea"/>
              </a:rPr>
              <a:t>3. </a:t>
            </a:r>
            <a:r>
              <a:rPr lang="ko-KR" altLang="en-US" sz="1200" dirty="0">
                <a:solidFill>
                  <a:prstClr val="black"/>
                </a:solidFill>
                <a:latin typeface="+mn-lt"/>
                <a:ea typeface="+mn-ea"/>
              </a:rPr>
              <a:t>업무별 개선안 설계</a:t>
            </a:r>
            <a:endParaRPr lang="en-US" altLang="ko-KR" sz="1200" dirty="0">
              <a:solidFill>
                <a:prstClr val="black"/>
              </a:solidFill>
              <a:latin typeface="+mn-lt"/>
              <a:ea typeface="+mn-ea"/>
            </a:endParaRPr>
          </a:p>
          <a:p>
            <a:pPr>
              <a:spcBef>
                <a:spcPts val="288"/>
              </a:spcBef>
            </a:pPr>
            <a:r>
              <a:rPr lang="en-US" altLang="ko-KR" sz="1200" dirty="0">
                <a:solidFill>
                  <a:prstClr val="black"/>
                </a:solidFill>
                <a:latin typeface="+mn-lt"/>
                <a:ea typeface="+mn-ea"/>
              </a:rPr>
              <a:t>3.2 </a:t>
            </a:r>
            <a:r>
              <a:rPr lang="ko-KR" altLang="en-US" sz="1200" dirty="0">
                <a:solidFill>
                  <a:prstClr val="black"/>
                </a:solidFill>
                <a:latin typeface="+mn-lt"/>
                <a:ea typeface="+mn-ea"/>
              </a:rPr>
              <a:t>예산관리 업무프로세스 개선안</a:t>
            </a:r>
            <a:endParaRPr lang="en-US" altLang="ko-KR" sz="1200" dirty="0">
              <a:solidFill>
                <a:prstClr val="black"/>
              </a:solidFill>
              <a:latin typeface="+mn-lt"/>
              <a:ea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="" xmlns:a16="http://schemas.microsoft.com/office/drawing/2014/main" id="{EA81E65E-B8D8-451B-BB56-CC5F3ED4609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50002" y="881351"/>
          <a:ext cx="9180514" cy="5427377"/>
        </p:xfrm>
        <a:graphic>
          <a:graphicData uri="http://schemas.openxmlformats.org/drawingml/2006/table">
            <a:tbl>
              <a:tblPr firstRow="1" bandRow="1"/>
              <a:tblGrid>
                <a:gridCol w="40123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9085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6044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6409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2008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61967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267475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spc="-100" baseline="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ko-KR" altLang="en-US" sz="1000" b="1" spc="-100" baseline="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업무명칭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업무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주관조직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사용조직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개선사항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7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Lv2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Lv3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23172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dirty="0"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예산배정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각 부서로부터의 예산 집행계획을 받아서 예산을 배정하는 업무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예산파트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예산을 편성한 각 부서의 연간 월별 집행계획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배정요청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을 받아서 배정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현재의 연간 배정체제를 분기배정으로 변경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3231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예산집행계획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각 부서에서 예산 </a:t>
                      </a:r>
                      <a:r>
                        <a:rPr lang="ko-KR" altLang="en-US" sz="1000" b="0" dirty="0" err="1">
                          <a:latin typeface="+mn-ea"/>
                          <a:ea typeface="+mn-ea"/>
                        </a:rPr>
                        <a:t>건별로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 연간 월별 집행계획을 작성하는 업무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67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dirty="0">
                          <a:latin typeface="+mn-ea"/>
                          <a:ea typeface="+mn-ea"/>
                        </a:rPr>
                        <a:t>예산배정처리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업무부서에서 작성한 배정요청에 따라 예산을 배정하는 업무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67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수시배정관리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긴급한 추가 배정요청사항을 받아서 승인 후 배정하는 업무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150836785"/>
                  </a:ext>
                </a:extLst>
              </a:tr>
              <a:tr h="267475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dirty="0"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절감</a:t>
                      </a:r>
                      <a:endParaRPr lang="en-US" altLang="ko-KR" sz="1000" b="1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목표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부서별로 예산절감 목표를 관리하여 예산을 절감하는 업무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예산파트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latinLnBrk="1"/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예산 절감목표를 관리할 수 있는 기능을 구현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67475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절감목표등록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예산 </a:t>
                      </a:r>
                      <a:r>
                        <a:rPr lang="ko-KR" altLang="en-US" sz="1000" b="0" dirty="0" err="1">
                          <a:latin typeface="+mn-ea"/>
                          <a:ea typeface="+mn-ea"/>
                        </a:rPr>
                        <a:t>건별로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 예산절감목표액을 등록하여 부서장이 승인하는 업무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43431688"/>
                  </a:ext>
                </a:extLst>
              </a:tr>
              <a:tr h="267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절감목표확정</a:t>
                      </a: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절감 목표액을 배정액에서 차감하여 사용하지 않도록 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76410975"/>
                  </a:ext>
                </a:extLst>
              </a:tr>
              <a:tr h="434646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예산변경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예산이용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전용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조정 등의 변경요청사항을 받아서 결재 후 반영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  <a:p>
                      <a:pPr algn="l" latinLnBrk="1"/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 추경예산 편성 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연간 예산편성에 준하는 절차로 예산 편성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예산파트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별도의 추경예산 입력 및 예산서 출력 기능 구축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372411127"/>
                  </a:ext>
                </a:extLst>
              </a:tr>
              <a:tr h="3231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예산변경신청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예산변경</a:t>
                      </a:r>
                      <a:r>
                        <a:rPr lang="ko-KR" altLang="en-US" sz="1000" b="0" baseline="0" dirty="0">
                          <a:latin typeface="+mn-ea"/>
                          <a:ea typeface="+mn-ea"/>
                        </a:rPr>
                        <a:t>사항 발생 시 예산변경을 신청하는 업무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23172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예산변경승인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b="0" baseline="0" dirty="0">
                          <a:latin typeface="+mn-ea"/>
                          <a:ea typeface="+mn-ea"/>
                        </a:rPr>
                        <a:t>신청된 예산변경사항을 승인하고 예산에 반영하는 업무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67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예산변경반영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변경이 확정된 예산을 반영하는 업무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7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추경예산편성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추경예산 편성 입력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부서장 승인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조정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확정하는 업무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75112120"/>
                  </a:ext>
                </a:extLst>
              </a:tr>
              <a:tr h="434646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dirty="0"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>
                        <a:lnSpc>
                          <a:spcPts val="1000"/>
                        </a:lnSpc>
                      </a:pPr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예산결산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예산집행실적을 관리하고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연말 결산시점에 예산잔액에 대한 불용 처리 및 사유별 이월처리를 수행하고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예산결산 자료를 조회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예산파트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예산파트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예산집행 </a:t>
                      </a:r>
                      <a:r>
                        <a:rPr lang="ko-KR" altLang="en-US" sz="1000" b="0">
                          <a:latin typeface="+mn-ea"/>
                          <a:ea typeface="+mn-ea"/>
                        </a:rPr>
                        <a:t>신청시점에 </a:t>
                      </a:r>
                      <a:r>
                        <a:rPr lang="ko-KR" altLang="en-US" sz="1000" b="0" dirty="0" err="1">
                          <a:latin typeface="+mn-ea"/>
                          <a:ea typeface="+mn-ea"/>
                        </a:rPr>
                        <a:t>예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산한도액과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비교하여 온라인 통제 시행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결산 처리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이월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불용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 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예산결산서 생성 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231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예산잔액불용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>
                          <a:latin typeface="+mn-ea"/>
                          <a:ea typeface="+mn-ea"/>
                        </a:rPr>
                        <a:t>예산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잔액을 불용처리하여 예산 집행실적을 마감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267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err="1">
                          <a:latin typeface="+mn-ea"/>
                          <a:ea typeface="+mn-ea"/>
                        </a:rPr>
                        <a:t>예산이월처리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명시이월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사고이월</a:t>
                      </a:r>
                      <a:r>
                        <a:rPr lang="en-US" altLang="ko-KR" sz="1000" b="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계속비이월 등 예산이월 처리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2674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>
                          <a:latin typeface="+mn-ea"/>
                          <a:ea typeface="+mn-ea"/>
                        </a:rPr>
                        <a:t>예산결산현황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예산결산 현황 조회 및 결산서 출력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34768325"/>
                  </a:ext>
                </a:extLst>
              </a:tr>
            </a:tbl>
          </a:graphicData>
        </a:graphic>
      </p:graphicFrame>
      <p:sp>
        <p:nvSpPr>
          <p:cNvPr id="10" name="제목 2">
            <a:extLst>
              <a:ext uri="{FF2B5EF4-FFF2-40B4-BE49-F238E27FC236}">
                <a16:creationId xmlns="" xmlns:a16="http://schemas.microsoft.com/office/drawing/2014/main" id="{C0E42CB6-E8AF-E644-9D0E-99DEEE340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88" y="0"/>
            <a:ext cx="7488832" cy="781320"/>
          </a:xfrm>
        </p:spPr>
        <p:txBody>
          <a:bodyPr>
            <a:noAutofit/>
          </a:bodyPr>
          <a:lstStyle/>
          <a:p>
            <a:r>
              <a:rPr lang="en-US" altLang="ko-KR" smtClean="0"/>
              <a:t>3.1 </a:t>
            </a:r>
            <a:r>
              <a:rPr lang="ko-KR" altLang="en-US" dirty="0"/>
              <a:t>예산관리</a:t>
            </a:r>
            <a:r>
              <a:rPr lang="en-US" altLang="ko-KR" dirty="0"/>
              <a:t> </a:t>
            </a:r>
            <a:r>
              <a:rPr lang="ko-KR" altLang="en-US" dirty="0"/>
              <a:t>업무분류 및 기능 정의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3.</a:t>
            </a:r>
            <a:r>
              <a:rPr lang="en-US" altLang="ko-KR" sz="1800" smtClean="0">
                <a:solidFill>
                  <a:prstClr val="black"/>
                </a:solidFill>
              </a:rPr>
              <a:t>1.2 </a:t>
            </a:r>
            <a:r>
              <a:rPr lang="ko-KR" altLang="en-US" sz="1800" dirty="0">
                <a:solidFill>
                  <a:prstClr val="black"/>
                </a:solidFill>
              </a:rPr>
              <a:t>예산관리 업무기능 정의 </a:t>
            </a:r>
            <a:r>
              <a:rPr lang="en-US" altLang="ko-KR" sz="1800" dirty="0">
                <a:solidFill>
                  <a:prstClr val="black"/>
                </a:solidFill>
              </a:rPr>
              <a:t>(</a:t>
            </a:r>
            <a:r>
              <a:rPr lang="en-US" altLang="ko-KR" sz="1800" dirty="0"/>
              <a:t>2/2)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13465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>
          <a:xfrm>
            <a:off x="379157" y="885967"/>
            <a:ext cx="9180512" cy="623391"/>
          </a:xfrm>
          <a:noFill/>
          <a:ln w="6350"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r>
              <a:rPr lang="ko-KR" altLang="en-US" smtClean="0"/>
              <a:t>회계업무는 회계기준자료</a:t>
            </a:r>
            <a:r>
              <a:rPr lang="en-US" altLang="ko-KR" smtClean="0"/>
              <a:t>, </a:t>
            </a:r>
            <a:r>
              <a:rPr lang="ko-KR" altLang="en-US" smtClean="0"/>
              <a:t>결의서관리</a:t>
            </a:r>
            <a:r>
              <a:rPr lang="en-US" altLang="ko-KR" smtClean="0"/>
              <a:t>, </a:t>
            </a:r>
            <a:r>
              <a:rPr lang="ko-KR" altLang="en-US" smtClean="0"/>
              <a:t>전표관리</a:t>
            </a:r>
            <a:r>
              <a:rPr lang="en-US" altLang="ko-KR" smtClean="0"/>
              <a:t>, </a:t>
            </a:r>
            <a:r>
              <a:rPr lang="ko-KR" altLang="en-US" smtClean="0"/>
              <a:t>자금관리</a:t>
            </a:r>
            <a:r>
              <a:rPr lang="en-US" altLang="ko-KR" smtClean="0"/>
              <a:t>, </a:t>
            </a:r>
            <a:r>
              <a:rPr lang="ko-KR" altLang="en-US" smtClean="0"/>
              <a:t>결산관리</a:t>
            </a:r>
            <a:r>
              <a:rPr lang="en-US" altLang="ko-KR" smtClean="0"/>
              <a:t>, </a:t>
            </a:r>
            <a:r>
              <a:rPr lang="ko-KR" altLang="en-US" smtClean="0"/>
              <a:t>세무관리</a:t>
            </a:r>
            <a:r>
              <a:rPr lang="en-US" altLang="ko-KR"/>
              <a:t> </a:t>
            </a:r>
            <a:r>
              <a:rPr lang="ko-KR" altLang="en-US" smtClean="0"/>
              <a:t>부문으로 분류하고</a:t>
            </a:r>
            <a:r>
              <a:rPr lang="en-US" altLang="ko-KR" smtClean="0"/>
              <a:t>, </a:t>
            </a:r>
            <a:r>
              <a:rPr lang="ko-KR" altLang="en-US" smtClean="0"/>
              <a:t>각 업무구분별 세부기능을 추가 및 보완하여 예산을 집행하는 시점부터 예산</a:t>
            </a:r>
            <a:r>
              <a:rPr lang="en-US" altLang="ko-KR" smtClean="0"/>
              <a:t>/</a:t>
            </a:r>
            <a:r>
              <a:rPr lang="ko-KR" altLang="en-US" smtClean="0"/>
              <a:t>회계</a:t>
            </a:r>
            <a:r>
              <a:rPr lang="en-US" altLang="ko-KR" smtClean="0"/>
              <a:t>/</a:t>
            </a:r>
            <a:r>
              <a:rPr lang="ko-KR" altLang="en-US" smtClean="0"/>
              <a:t>자산</a:t>
            </a:r>
            <a:r>
              <a:rPr lang="en-US" altLang="ko-KR" smtClean="0"/>
              <a:t>/</a:t>
            </a:r>
            <a:r>
              <a:rPr lang="ko-KR" altLang="en-US" smtClean="0"/>
              <a:t>사업 등의 관련업무가 통합처리되어 정보의 무결성을 유지하도록 함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spcBef>
                <a:spcPts val="288"/>
              </a:spcBef>
            </a:pPr>
            <a:r>
              <a:rPr lang="en-US" altLang="ko-KR" smtClean="0">
                <a:solidFill>
                  <a:prstClr val="black"/>
                </a:solidFill>
              </a:rPr>
              <a:t>Ⅲ. </a:t>
            </a:r>
            <a:r>
              <a:rPr lang="ko-KR" altLang="en-US" smtClean="0">
                <a:solidFill>
                  <a:prstClr val="black"/>
                </a:solidFill>
              </a:rPr>
              <a:t>목표모델 설계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spcBef>
                <a:spcPts val="288"/>
              </a:spcBef>
            </a:pPr>
            <a:r>
              <a:rPr lang="en-US" altLang="ko-KR" dirty="0">
                <a:solidFill>
                  <a:prstClr val="black"/>
                </a:solidFill>
              </a:rPr>
              <a:t>3. </a:t>
            </a:r>
            <a:r>
              <a:rPr lang="ko-KR" altLang="en-US" dirty="0">
                <a:solidFill>
                  <a:prstClr val="black"/>
                </a:solidFill>
              </a:rPr>
              <a:t>업무별 개선안 설계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spcBef>
                <a:spcPts val="288"/>
              </a:spcBef>
            </a:pPr>
            <a:r>
              <a:rPr lang="en-US" altLang="ko-KR" smtClean="0">
                <a:solidFill>
                  <a:prstClr val="black"/>
                </a:solidFill>
              </a:rPr>
              <a:t>3.2 </a:t>
            </a:r>
            <a:r>
              <a:rPr lang="ko-KR" altLang="en-US" smtClean="0">
                <a:solidFill>
                  <a:prstClr val="black"/>
                </a:solidFill>
              </a:rPr>
              <a:t>회계관리 </a:t>
            </a:r>
            <a:r>
              <a:rPr lang="ko-KR" altLang="en-US">
                <a:solidFill>
                  <a:prstClr val="black"/>
                </a:solidFill>
              </a:rPr>
              <a:t>업무프로세스 </a:t>
            </a:r>
            <a:r>
              <a:rPr lang="ko-KR" altLang="en-US" smtClean="0">
                <a:solidFill>
                  <a:prstClr val="black"/>
                </a:solidFill>
              </a:rPr>
              <a:t>개선안</a:t>
            </a:r>
            <a:endParaRPr lang="en-US" altLang="ko-KR" dirty="0">
              <a:solidFill>
                <a:prstClr val="black"/>
              </a:solidFill>
            </a:endParaRPr>
          </a:p>
        </p:txBody>
      </p:sp>
      <p:sp>
        <p:nvSpPr>
          <p:cNvPr id="311" name="직사각형 310">
            <a:extLst>
              <a:ext uri="{FF2B5EF4-FFF2-40B4-BE49-F238E27FC236}">
                <a16:creationId xmlns="" xmlns:a16="http://schemas.microsoft.com/office/drawing/2014/main" id="{834EF977-2F4F-4CFA-8644-DCEB070BA4D7}"/>
              </a:ext>
            </a:extLst>
          </p:cNvPr>
          <p:cNvSpPr/>
          <p:nvPr/>
        </p:nvSpPr>
        <p:spPr bwMode="auto">
          <a:xfrm>
            <a:off x="354519" y="1628800"/>
            <a:ext cx="9170481" cy="324000"/>
          </a:xfrm>
          <a:prstGeom prst="rect">
            <a:avLst/>
          </a:prstGeom>
          <a:solidFill>
            <a:srgbClr val="233C5A"/>
          </a:solidFill>
          <a:ln w="12699">
            <a:solidFill>
              <a:srgbClr val="000000">
                <a:lumMod val="50000"/>
                <a:lumOff val="5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buClrTx/>
              <a:buFontTx/>
              <a:buNone/>
              <a:defRPr/>
            </a:pP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업무분류 구조도 </a:t>
            </a:r>
            <a: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(TO-BE)</a:t>
            </a:r>
            <a:endParaRPr lang="ko-KR" altLang="en-US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312" name="Rectangle 4">
            <a:extLst>
              <a:ext uri="{FF2B5EF4-FFF2-40B4-BE49-F238E27FC236}">
                <a16:creationId xmlns="" xmlns:a16="http://schemas.microsoft.com/office/drawing/2014/main" id="{89D385C2-BC55-4019-B543-408E7D7B9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1952800"/>
            <a:ext cx="9170481" cy="435588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265113" indent="-265113" latinLnBrk="0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endParaRPr lang="ko-KR" altLang="en-US" sz="1400" b="0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316" name="Rectangle 43">
            <a:extLst>
              <a:ext uri="{FF2B5EF4-FFF2-40B4-BE49-F238E27FC236}">
                <a16:creationId xmlns="" xmlns:a16="http://schemas.microsoft.com/office/drawing/2014/main" id="{F6A7BD53-EDB7-4ACE-ACD6-9D9808E65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341" y="2727039"/>
            <a:ext cx="1128327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00"/>
                </a:solidFill>
                <a:latin typeface="+mn-ea"/>
              </a:rPr>
              <a:t>2.2 </a:t>
            </a:r>
            <a:endParaRPr lang="en-US" altLang="ko-KR" sz="1100" b="1" kern="0" dirty="0">
              <a:solidFill>
                <a:srgbClr val="000000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결의서 관리</a:t>
            </a:r>
            <a:endParaRPr lang="en-US" altLang="ko-KR" sz="1100" b="1" kern="0" spc="-15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317" name="꺾인 연결선 16">
            <a:extLst>
              <a:ext uri="{FF2B5EF4-FFF2-40B4-BE49-F238E27FC236}">
                <a16:creationId xmlns="" xmlns:a16="http://schemas.microsoft.com/office/drawing/2014/main" id="{3527B8CC-4135-46EF-B509-FECE5DAD555E}"/>
              </a:ext>
            </a:extLst>
          </p:cNvPr>
          <p:cNvCxnSpPr>
            <a:cxnSpLocks/>
            <a:stCxn id="320" idx="2"/>
            <a:endCxn id="316" idx="0"/>
          </p:cNvCxnSpPr>
          <p:nvPr/>
        </p:nvCxnSpPr>
        <p:spPr bwMode="auto">
          <a:xfrm rot="5400000">
            <a:off x="3973926" y="1408829"/>
            <a:ext cx="270790" cy="2365631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318" name="Rectangle 43">
            <a:extLst>
              <a:ext uri="{FF2B5EF4-FFF2-40B4-BE49-F238E27FC236}">
                <a16:creationId xmlns="" xmlns:a16="http://schemas.microsoft.com/office/drawing/2014/main" id="{55A536C4-1F9D-4CFC-B360-5BE659245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341" y="3392996"/>
            <a:ext cx="1128251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2.2.1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지출결의관리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319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316" idx="2"/>
            <a:endCxn id="318" idx="0"/>
          </p:cNvCxnSpPr>
          <p:nvPr/>
        </p:nvCxnSpPr>
        <p:spPr bwMode="auto">
          <a:xfrm flipH="1">
            <a:off x="2926467" y="3126413"/>
            <a:ext cx="38" cy="26658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0" name="Rectangle 43">
            <a:extLst>
              <a:ext uri="{FF2B5EF4-FFF2-40B4-BE49-F238E27FC236}">
                <a16:creationId xmlns="" xmlns:a16="http://schemas.microsoft.com/office/drawing/2014/main" id="{C37FE70D-B49D-4E1B-8525-B9801948F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453" y="2058161"/>
            <a:ext cx="8263366" cy="398088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300" b="1" kern="0" smtClean="0">
                <a:solidFill>
                  <a:prstClr val="white"/>
                </a:solidFill>
                <a:latin typeface="+mn-ea"/>
              </a:rPr>
              <a:t>2. </a:t>
            </a:r>
            <a:r>
              <a:rPr lang="ko-KR" altLang="en-US" sz="1300" b="1" kern="0" smtClean="0">
                <a:solidFill>
                  <a:prstClr val="white"/>
                </a:solidFill>
                <a:latin typeface="+mn-ea"/>
              </a:rPr>
              <a:t>회계관리</a:t>
            </a:r>
            <a:endParaRPr lang="en-US" altLang="ko-KR" sz="13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1" name="Rectangle 43">
            <a:extLst>
              <a:ext uri="{FF2B5EF4-FFF2-40B4-BE49-F238E27FC236}">
                <a16:creationId xmlns="" xmlns:a16="http://schemas.microsoft.com/office/drawing/2014/main" id="{D6022CC8-8B0F-4459-9750-B32A286F0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6590" y="2727039"/>
            <a:ext cx="1128327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00"/>
                </a:solidFill>
                <a:latin typeface="+mn-ea"/>
              </a:rPr>
              <a:t>2.3 </a:t>
            </a:r>
            <a:endParaRPr lang="en-US" altLang="ko-KR" sz="1100" b="1" kern="0" dirty="0">
              <a:solidFill>
                <a:srgbClr val="000000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solidFill>
                  <a:srgbClr val="000000"/>
                </a:solidFill>
                <a:latin typeface="+mn-ea"/>
              </a:rPr>
              <a:t>자금 관리</a:t>
            </a:r>
            <a:endParaRPr lang="en-US" altLang="ko-KR" sz="1100" b="1" kern="0" spc="-15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22" name="Rectangle 43">
            <a:extLst>
              <a:ext uri="{FF2B5EF4-FFF2-40B4-BE49-F238E27FC236}">
                <a16:creationId xmlns="" xmlns:a16="http://schemas.microsoft.com/office/drawing/2014/main" id="{AAC9D106-BE04-41F1-AFEB-0A5D02642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839" y="2727039"/>
            <a:ext cx="1128327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00"/>
                </a:solidFill>
                <a:latin typeface="+mn-ea"/>
              </a:rPr>
              <a:t>2.4</a:t>
            </a:r>
            <a:endParaRPr lang="en-US" altLang="ko-KR" sz="1100" b="1" kern="0" dirty="0">
              <a:solidFill>
                <a:srgbClr val="000000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solidFill>
                  <a:srgbClr val="000000"/>
                </a:solidFill>
                <a:latin typeface="+mn-ea"/>
              </a:rPr>
              <a:t>전표관리</a:t>
            </a:r>
            <a:endParaRPr lang="en-US" altLang="ko-KR" sz="1100" b="1" kern="0" spc="-15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23" name="Rectangle 43">
            <a:extLst>
              <a:ext uri="{FF2B5EF4-FFF2-40B4-BE49-F238E27FC236}">
                <a16:creationId xmlns="" xmlns:a16="http://schemas.microsoft.com/office/drawing/2014/main" id="{710E7DA3-5FB4-4ACB-A8F3-7C5B8554A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5088" y="2727039"/>
            <a:ext cx="1128327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00"/>
                </a:solidFill>
                <a:latin typeface="+mn-ea"/>
              </a:rPr>
              <a:t>2.5 </a:t>
            </a:r>
            <a:endParaRPr lang="en-US" altLang="ko-KR" sz="1100" b="1" kern="0" dirty="0">
              <a:solidFill>
                <a:srgbClr val="000000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solidFill>
                  <a:srgbClr val="000000"/>
                </a:solidFill>
                <a:latin typeface="+mn-ea"/>
              </a:rPr>
              <a:t>결산관리</a:t>
            </a:r>
            <a:endParaRPr lang="en-US" altLang="ko-KR" sz="1100" b="1" kern="0" spc="-15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24" name="Rectangle 43">
            <a:extLst>
              <a:ext uri="{FF2B5EF4-FFF2-40B4-BE49-F238E27FC236}">
                <a16:creationId xmlns="" xmlns:a16="http://schemas.microsoft.com/office/drawing/2014/main" id="{1F3C037D-8663-4BB2-8F50-67E55BF23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9337" y="2727039"/>
            <a:ext cx="1128327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00"/>
                </a:solidFill>
                <a:latin typeface="+mn-ea"/>
              </a:rPr>
              <a:t>2.6 </a:t>
            </a:r>
            <a:endParaRPr lang="en-US" altLang="ko-KR" sz="1100" b="1" kern="0" dirty="0">
              <a:solidFill>
                <a:srgbClr val="000000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00"/>
                </a:solidFill>
                <a:latin typeface="+mn-ea"/>
              </a:rPr>
              <a:t>세무관리</a:t>
            </a:r>
            <a:endParaRPr lang="ko-KR" altLang="en-US" sz="1100" b="1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325" name="꺾인 연결선 95">
            <a:extLst>
              <a:ext uri="{FF2B5EF4-FFF2-40B4-BE49-F238E27FC236}">
                <a16:creationId xmlns="" xmlns:a16="http://schemas.microsoft.com/office/drawing/2014/main" id="{4707B7F0-4A9A-48EF-A615-1016A4AB6D50}"/>
              </a:ext>
            </a:extLst>
          </p:cNvPr>
          <p:cNvCxnSpPr>
            <a:cxnSpLocks/>
            <a:stCxn id="320" idx="2"/>
            <a:endCxn id="324" idx="0"/>
          </p:cNvCxnSpPr>
          <p:nvPr/>
        </p:nvCxnSpPr>
        <p:spPr bwMode="auto">
          <a:xfrm rot="16200000" flipH="1">
            <a:off x="6342423" y="1405961"/>
            <a:ext cx="270790" cy="2371365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26" name="꺾인 연결선 98">
            <a:extLst>
              <a:ext uri="{FF2B5EF4-FFF2-40B4-BE49-F238E27FC236}">
                <a16:creationId xmlns="" xmlns:a16="http://schemas.microsoft.com/office/drawing/2014/main" id="{140F111D-6450-4FBD-BB10-FB50112D1751}"/>
              </a:ext>
            </a:extLst>
          </p:cNvPr>
          <p:cNvCxnSpPr>
            <a:cxnSpLocks/>
            <a:stCxn id="320" idx="2"/>
            <a:endCxn id="321" idx="0"/>
          </p:cNvCxnSpPr>
          <p:nvPr/>
        </p:nvCxnSpPr>
        <p:spPr bwMode="auto">
          <a:xfrm rot="5400000">
            <a:off x="4566050" y="2000953"/>
            <a:ext cx="270790" cy="1181382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27" name="꺾인 연결선 101">
            <a:extLst>
              <a:ext uri="{FF2B5EF4-FFF2-40B4-BE49-F238E27FC236}">
                <a16:creationId xmlns="" xmlns:a16="http://schemas.microsoft.com/office/drawing/2014/main" id="{BA41D50E-5184-4CAD-B9D9-E23D3EC512F4}"/>
              </a:ext>
            </a:extLst>
          </p:cNvPr>
          <p:cNvCxnSpPr>
            <a:cxnSpLocks/>
            <a:stCxn id="320" idx="2"/>
            <a:endCxn id="322" idx="0"/>
          </p:cNvCxnSpPr>
          <p:nvPr/>
        </p:nvCxnSpPr>
        <p:spPr bwMode="auto">
          <a:xfrm rot="16200000" flipH="1">
            <a:off x="5158174" y="2590210"/>
            <a:ext cx="270790" cy="2867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28" name="꺾인 연결선 104">
            <a:extLst>
              <a:ext uri="{FF2B5EF4-FFF2-40B4-BE49-F238E27FC236}">
                <a16:creationId xmlns="" xmlns:a16="http://schemas.microsoft.com/office/drawing/2014/main" id="{7D6841DF-7D60-4A15-8D68-2DF204ABC742}"/>
              </a:ext>
            </a:extLst>
          </p:cNvPr>
          <p:cNvCxnSpPr>
            <a:cxnSpLocks/>
            <a:stCxn id="320" idx="2"/>
            <a:endCxn id="323" idx="0"/>
          </p:cNvCxnSpPr>
          <p:nvPr/>
        </p:nvCxnSpPr>
        <p:spPr bwMode="auto">
          <a:xfrm rot="16200000" flipH="1">
            <a:off x="5750299" y="1998086"/>
            <a:ext cx="270790" cy="1187116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329" name="Rectangle 43">
            <a:extLst>
              <a:ext uri="{FF2B5EF4-FFF2-40B4-BE49-F238E27FC236}">
                <a16:creationId xmlns="" xmlns:a16="http://schemas.microsoft.com/office/drawing/2014/main" id="{E965CCD8-2743-48F9-8315-B5DADCCDA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6590" y="3392997"/>
            <a:ext cx="112832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2.3.1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자금집행관리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0" name="Rectangle 43">
            <a:extLst>
              <a:ext uri="{FF2B5EF4-FFF2-40B4-BE49-F238E27FC236}">
                <a16:creationId xmlns="" xmlns:a16="http://schemas.microsoft.com/office/drawing/2014/main" id="{178EBF35-26B2-480A-87C2-82B04DC82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839" y="3392996"/>
            <a:ext cx="1128251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2.4.1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전표내역조회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2" name="Rectangle 43">
            <a:extLst>
              <a:ext uri="{FF2B5EF4-FFF2-40B4-BE49-F238E27FC236}">
                <a16:creationId xmlns="" xmlns:a16="http://schemas.microsoft.com/office/drawing/2014/main" id="{A402D1D2-36A2-408F-9FA1-94C47FEEA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9337" y="3392996"/>
            <a:ext cx="1128251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CC"/>
                </a:solidFill>
                <a:latin typeface="+mn-ea"/>
              </a:rPr>
              <a:t>2.6.1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CC"/>
                </a:solidFill>
                <a:latin typeface="+mn-ea"/>
              </a:rPr>
              <a:t>세금계산서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333" name="Rectangle 43">
            <a:extLst>
              <a:ext uri="{FF2B5EF4-FFF2-40B4-BE49-F238E27FC236}">
                <a16:creationId xmlns="" xmlns:a16="http://schemas.microsoft.com/office/drawing/2014/main" id="{70CCE5AE-3D2E-4940-9C11-ABFBE5F52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6590" y="4509120"/>
            <a:ext cx="1128327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2.3.3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은행연계내역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4" name="Rectangle 43">
            <a:extLst>
              <a:ext uri="{FF2B5EF4-FFF2-40B4-BE49-F238E27FC236}">
                <a16:creationId xmlns="" xmlns:a16="http://schemas.microsoft.com/office/drawing/2014/main" id="{C6AF2B82-F503-46E0-AD73-C09C27E99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6590" y="5062893"/>
            <a:ext cx="1128327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2.3.4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법인카드관리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5" name="Rectangle 43">
            <a:extLst>
              <a:ext uri="{FF2B5EF4-FFF2-40B4-BE49-F238E27FC236}">
                <a16:creationId xmlns="" xmlns:a16="http://schemas.microsoft.com/office/drawing/2014/main" id="{FB16AB14-DCB7-4BB3-B826-76FB9C0BA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6590" y="5613756"/>
            <a:ext cx="1128327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2.3.5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전자세금계산서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6" name="Rectangle 43">
            <a:extLst>
              <a:ext uri="{FF2B5EF4-FFF2-40B4-BE49-F238E27FC236}">
                <a16:creationId xmlns="" xmlns:a16="http://schemas.microsoft.com/office/drawing/2014/main" id="{553D359E-ECF9-404B-BF6B-276C17858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839" y="3946770"/>
            <a:ext cx="1128251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CC"/>
                </a:solidFill>
                <a:latin typeface="+mn-ea"/>
              </a:rPr>
              <a:t>2.4.2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CC"/>
                </a:solidFill>
                <a:latin typeface="+mn-ea"/>
              </a:rPr>
              <a:t>전표마감관리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cxnSp>
        <p:nvCxnSpPr>
          <p:cNvPr id="337" name="꺾인 연결선 91">
            <a:extLst>
              <a:ext uri="{FF2B5EF4-FFF2-40B4-BE49-F238E27FC236}">
                <a16:creationId xmlns="" xmlns:a16="http://schemas.microsoft.com/office/drawing/2014/main" id="{46BE52CD-219C-4FE0-BAF9-A389CB6A694E}"/>
              </a:ext>
            </a:extLst>
          </p:cNvPr>
          <p:cNvCxnSpPr>
            <a:stCxn id="321" idx="2"/>
            <a:endCxn id="329" idx="0"/>
          </p:cNvCxnSpPr>
          <p:nvPr/>
        </p:nvCxnSpPr>
        <p:spPr bwMode="auto">
          <a:xfrm>
            <a:off x="4110754" y="3126413"/>
            <a:ext cx="0" cy="266584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8" name="꺾인 연결선 91">
            <a:extLst>
              <a:ext uri="{FF2B5EF4-FFF2-40B4-BE49-F238E27FC236}">
                <a16:creationId xmlns="" xmlns:a16="http://schemas.microsoft.com/office/drawing/2014/main" id="{E5264E3C-153B-4603-8339-982EA3EFD6B0}"/>
              </a:ext>
            </a:extLst>
          </p:cNvPr>
          <p:cNvCxnSpPr>
            <a:stCxn id="322" idx="2"/>
            <a:endCxn id="330" idx="0"/>
          </p:cNvCxnSpPr>
          <p:nvPr/>
        </p:nvCxnSpPr>
        <p:spPr bwMode="auto">
          <a:xfrm flipH="1">
            <a:off x="5294965" y="3126413"/>
            <a:ext cx="38" cy="26658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9" name="꺾인 연결선 91">
            <a:extLst>
              <a:ext uri="{FF2B5EF4-FFF2-40B4-BE49-F238E27FC236}">
                <a16:creationId xmlns="" xmlns:a16="http://schemas.microsoft.com/office/drawing/2014/main" id="{EFB36DBF-C4D7-484B-B813-6C87C11905B8}"/>
              </a:ext>
            </a:extLst>
          </p:cNvPr>
          <p:cNvCxnSpPr>
            <a:stCxn id="323" idx="2"/>
            <a:endCxn id="349" idx="0"/>
          </p:cNvCxnSpPr>
          <p:nvPr/>
        </p:nvCxnSpPr>
        <p:spPr bwMode="auto">
          <a:xfrm flipH="1">
            <a:off x="6479214" y="3126413"/>
            <a:ext cx="38" cy="27693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0" name="꺾인 연결선 91">
            <a:extLst>
              <a:ext uri="{FF2B5EF4-FFF2-40B4-BE49-F238E27FC236}">
                <a16:creationId xmlns="" xmlns:a16="http://schemas.microsoft.com/office/drawing/2014/main" id="{D538DF82-7B4A-4238-AA2A-4BD4B1FC198E}"/>
              </a:ext>
            </a:extLst>
          </p:cNvPr>
          <p:cNvCxnSpPr>
            <a:stCxn id="324" idx="2"/>
            <a:endCxn id="332" idx="0"/>
          </p:cNvCxnSpPr>
          <p:nvPr/>
        </p:nvCxnSpPr>
        <p:spPr bwMode="auto">
          <a:xfrm flipH="1">
            <a:off x="7663463" y="3126413"/>
            <a:ext cx="38" cy="26658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1" name="꺾인 연결선 91">
            <a:extLst>
              <a:ext uri="{FF2B5EF4-FFF2-40B4-BE49-F238E27FC236}">
                <a16:creationId xmlns="" xmlns:a16="http://schemas.microsoft.com/office/drawing/2014/main" id="{C1093954-97D2-42CF-B1F6-164C80F61F06}"/>
              </a:ext>
            </a:extLst>
          </p:cNvPr>
          <p:cNvCxnSpPr>
            <a:stCxn id="329" idx="2"/>
            <a:endCxn id="333" idx="0"/>
          </p:cNvCxnSpPr>
          <p:nvPr/>
        </p:nvCxnSpPr>
        <p:spPr bwMode="auto">
          <a:xfrm>
            <a:off x="4110754" y="3815738"/>
            <a:ext cx="0" cy="693382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2" name="꺾인 연결선 91">
            <a:extLst>
              <a:ext uri="{FF2B5EF4-FFF2-40B4-BE49-F238E27FC236}">
                <a16:creationId xmlns="" xmlns:a16="http://schemas.microsoft.com/office/drawing/2014/main" id="{498B867C-3266-4F6D-A473-81764FDFAFA6}"/>
              </a:ext>
            </a:extLst>
          </p:cNvPr>
          <p:cNvCxnSpPr>
            <a:stCxn id="330" idx="2"/>
            <a:endCxn id="336" idx="0"/>
          </p:cNvCxnSpPr>
          <p:nvPr/>
        </p:nvCxnSpPr>
        <p:spPr bwMode="auto">
          <a:xfrm>
            <a:off x="5294965" y="3815737"/>
            <a:ext cx="0" cy="13103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3" name="꺾인 연결선 91">
            <a:extLst>
              <a:ext uri="{FF2B5EF4-FFF2-40B4-BE49-F238E27FC236}">
                <a16:creationId xmlns="" xmlns:a16="http://schemas.microsoft.com/office/drawing/2014/main" id="{0FDB1728-739B-4663-8E33-2C7F9C8B6D4C}"/>
              </a:ext>
            </a:extLst>
          </p:cNvPr>
          <p:cNvCxnSpPr>
            <a:stCxn id="333" idx="2"/>
            <a:endCxn id="334" idx="0"/>
          </p:cNvCxnSpPr>
          <p:nvPr/>
        </p:nvCxnSpPr>
        <p:spPr bwMode="auto">
          <a:xfrm>
            <a:off x="4110754" y="4931861"/>
            <a:ext cx="0" cy="131032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4" name="꺾인 연결선 91">
            <a:extLst>
              <a:ext uri="{FF2B5EF4-FFF2-40B4-BE49-F238E27FC236}">
                <a16:creationId xmlns="" xmlns:a16="http://schemas.microsoft.com/office/drawing/2014/main" id="{5A327428-C648-4BDA-8B8C-10424E53D48C}"/>
              </a:ext>
            </a:extLst>
          </p:cNvPr>
          <p:cNvCxnSpPr>
            <a:stCxn id="334" idx="2"/>
            <a:endCxn id="335" idx="0"/>
          </p:cNvCxnSpPr>
          <p:nvPr/>
        </p:nvCxnSpPr>
        <p:spPr bwMode="auto">
          <a:xfrm>
            <a:off x="4110754" y="5485634"/>
            <a:ext cx="0" cy="128122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5" name="Rectangle 43">
            <a:extLst>
              <a:ext uri="{FF2B5EF4-FFF2-40B4-BE49-F238E27FC236}">
                <a16:creationId xmlns="" xmlns:a16="http://schemas.microsoft.com/office/drawing/2014/main" id="{5EA76E40-3173-4A0C-B239-99BF3DD71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3586" y="2727039"/>
            <a:ext cx="1128327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00"/>
                </a:solidFill>
                <a:latin typeface="+mn-ea"/>
              </a:rPr>
              <a:t>2.7 </a:t>
            </a:r>
            <a:endParaRPr lang="en-US" altLang="ko-KR" sz="1100" b="1" kern="0" dirty="0">
              <a:solidFill>
                <a:srgbClr val="000000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00"/>
                </a:solidFill>
                <a:latin typeface="+mn-ea"/>
              </a:rPr>
              <a:t>연결재무제표</a:t>
            </a:r>
            <a:endParaRPr lang="ko-KR" altLang="en-US" sz="1100" b="1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346" name="꺾인 연결선 69">
            <a:extLst>
              <a:ext uri="{FF2B5EF4-FFF2-40B4-BE49-F238E27FC236}">
                <a16:creationId xmlns="" xmlns:a16="http://schemas.microsoft.com/office/drawing/2014/main" id="{135AD304-C4D2-4D92-8163-BDD70B7D769A}"/>
              </a:ext>
            </a:extLst>
          </p:cNvPr>
          <p:cNvCxnSpPr>
            <a:cxnSpLocks/>
            <a:stCxn id="320" idx="2"/>
            <a:endCxn id="345" idx="0"/>
          </p:cNvCxnSpPr>
          <p:nvPr/>
        </p:nvCxnSpPr>
        <p:spPr bwMode="auto">
          <a:xfrm rot="16200000" flipH="1">
            <a:off x="6934548" y="813837"/>
            <a:ext cx="270790" cy="3555614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48" name="꺾인 연결선 91">
            <a:extLst>
              <a:ext uri="{FF2B5EF4-FFF2-40B4-BE49-F238E27FC236}">
                <a16:creationId xmlns="" xmlns:a16="http://schemas.microsoft.com/office/drawing/2014/main" id="{B7342035-BFB6-4623-978A-0DD668652F6A}"/>
              </a:ext>
            </a:extLst>
          </p:cNvPr>
          <p:cNvCxnSpPr>
            <a:cxnSpLocks/>
            <a:stCxn id="345" idx="2"/>
            <a:endCxn id="63" idx="0"/>
          </p:cNvCxnSpPr>
          <p:nvPr/>
        </p:nvCxnSpPr>
        <p:spPr bwMode="auto">
          <a:xfrm flipH="1">
            <a:off x="8847712" y="3126413"/>
            <a:ext cx="38" cy="26658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9" name="Rectangle 43">
            <a:extLst>
              <a:ext uri="{FF2B5EF4-FFF2-40B4-BE49-F238E27FC236}">
                <a16:creationId xmlns="" xmlns:a16="http://schemas.microsoft.com/office/drawing/2014/main" id="{516D57EA-8179-4547-AFA2-EF10E8DF8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5088" y="3403352"/>
            <a:ext cx="1128251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CC"/>
                </a:solidFill>
                <a:latin typeface="+mn-ea"/>
              </a:rPr>
              <a:t>2.5.1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CC"/>
                </a:solidFill>
                <a:latin typeface="+mn-ea"/>
              </a:rPr>
              <a:t>결산작업 처리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350" name="Rectangle 43">
            <a:extLst>
              <a:ext uri="{FF2B5EF4-FFF2-40B4-BE49-F238E27FC236}">
                <a16:creationId xmlns="" xmlns:a16="http://schemas.microsoft.com/office/drawing/2014/main" id="{A9BE069A-19F1-4EFE-B1F4-D663E17A6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5088" y="3959098"/>
            <a:ext cx="1128251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CC"/>
                </a:solidFill>
                <a:latin typeface="+mn-ea"/>
              </a:rPr>
              <a:t>2.5.2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CC"/>
                </a:solidFill>
                <a:latin typeface="+mn-ea"/>
              </a:rPr>
              <a:t>결산 마감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cxnSp>
        <p:nvCxnSpPr>
          <p:cNvPr id="352" name="꺾인 연결선 91">
            <a:extLst>
              <a:ext uri="{FF2B5EF4-FFF2-40B4-BE49-F238E27FC236}">
                <a16:creationId xmlns="" xmlns:a16="http://schemas.microsoft.com/office/drawing/2014/main" id="{D9020392-6D4A-4B21-8B86-95FF602905AC}"/>
              </a:ext>
            </a:extLst>
          </p:cNvPr>
          <p:cNvCxnSpPr>
            <a:stCxn id="349" idx="2"/>
            <a:endCxn id="350" idx="0"/>
          </p:cNvCxnSpPr>
          <p:nvPr/>
        </p:nvCxnSpPr>
        <p:spPr bwMode="auto">
          <a:xfrm>
            <a:off x="6479214" y="3826093"/>
            <a:ext cx="0" cy="133005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3" name="Rectangle 43">
            <a:extLst>
              <a:ext uri="{FF2B5EF4-FFF2-40B4-BE49-F238E27FC236}">
                <a16:creationId xmlns="" xmlns:a16="http://schemas.microsoft.com/office/drawing/2014/main" id="{1FE693CD-399F-49A0-809A-A7B828920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341" y="3944796"/>
            <a:ext cx="1128251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2.2.2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수입결의관리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54" name="Rectangle 43">
            <a:extLst>
              <a:ext uri="{FF2B5EF4-FFF2-40B4-BE49-F238E27FC236}">
                <a16:creationId xmlns="" xmlns:a16="http://schemas.microsoft.com/office/drawing/2014/main" id="{3F7C3607-3FBE-4F11-994A-E5384069A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341" y="4496596"/>
            <a:ext cx="1128251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2.2.3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수납</a:t>
            </a:r>
            <a:r>
              <a:rPr lang="en-US" altLang="ko-KR" sz="1100" b="1" kern="0" smtClean="0">
                <a:latin typeface="+mn-ea"/>
              </a:rPr>
              <a:t>/</a:t>
            </a:r>
            <a:r>
              <a:rPr lang="ko-KR" altLang="en-US" sz="1100" b="1" kern="0" smtClean="0">
                <a:latin typeface="+mn-ea"/>
              </a:rPr>
              <a:t>대체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55" name="Rectangle 43">
            <a:extLst>
              <a:ext uri="{FF2B5EF4-FFF2-40B4-BE49-F238E27FC236}">
                <a16:creationId xmlns="" xmlns:a16="http://schemas.microsoft.com/office/drawing/2014/main" id="{376807C9-270C-4295-BADB-AB6D87D49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341" y="5051406"/>
            <a:ext cx="1128251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2.2.4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전표확정처리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356" name="꺾인 연결선 91">
            <a:extLst>
              <a:ext uri="{FF2B5EF4-FFF2-40B4-BE49-F238E27FC236}">
                <a16:creationId xmlns="" xmlns:a16="http://schemas.microsoft.com/office/drawing/2014/main" id="{C40C9A90-9A50-4418-A92B-D549DB775864}"/>
              </a:ext>
            </a:extLst>
          </p:cNvPr>
          <p:cNvCxnSpPr>
            <a:stCxn id="318" idx="2"/>
            <a:endCxn id="353" idx="0"/>
          </p:cNvCxnSpPr>
          <p:nvPr/>
        </p:nvCxnSpPr>
        <p:spPr bwMode="auto">
          <a:xfrm>
            <a:off x="2926467" y="3815737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7" name="꺾인 연결선 91">
            <a:extLst>
              <a:ext uri="{FF2B5EF4-FFF2-40B4-BE49-F238E27FC236}">
                <a16:creationId xmlns="" xmlns:a16="http://schemas.microsoft.com/office/drawing/2014/main" id="{B65E55FB-9ED9-49B9-A004-E4FAF0F3433F}"/>
              </a:ext>
            </a:extLst>
          </p:cNvPr>
          <p:cNvCxnSpPr>
            <a:stCxn id="353" idx="2"/>
            <a:endCxn id="354" idx="0"/>
          </p:cNvCxnSpPr>
          <p:nvPr/>
        </p:nvCxnSpPr>
        <p:spPr bwMode="auto">
          <a:xfrm>
            <a:off x="2926467" y="4367537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8" name="꺾인 연결선 91">
            <a:extLst>
              <a:ext uri="{FF2B5EF4-FFF2-40B4-BE49-F238E27FC236}">
                <a16:creationId xmlns="" xmlns:a16="http://schemas.microsoft.com/office/drawing/2014/main" id="{BC32C143-0962-4169-9BDC-CE51A8DF9DB6}"/>
              </a:ext>
            </a:extLst>
          </p:cNvPr>
          <p:cNvCxnSpPr>
            <a:stCxn id="354" idx="2"/>
            <a:endCxn id="355" idx="0"/>
          </p:cNvCxnSpPr>
          <p:nvPr/>
        </p:nvCxnSpPr>
        <p:spPr bwMode="auto">
          <a:xfrm>
            <a:off x="2926467" y="4919337"/>
            <a:ext cx="0" cy="13206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9" name="Rectangle 43">
            <a:extLst>
              <a:ext uri="{FF2B5EF4-FFF2-40B4-BE49-F238E27FC236}">
                <a16:creationId xmlns="" xmlns:a16="http://schemas.microsoft.com/office/drawing/2014/main" id="{183944B1-7232-4A5E-8628-B115F0001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341" y="5606746"/>
            <a:ext cx="1128251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2.2.5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결의 정보검색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361" name="꺾인 연결선 91">
            <a:extLst>
              <a:ext uri="{FF2B5EF4-FFF2-40B4-BE49-F238E27FC236}">
                <a16:creationId xmlns="" xmlns:a16="http://schemas.microsoft.com/office/drawing/2014/main" id="{3D7259BF-8F70-46BF-880C-8A50AA91A40A}"/>
              </a:ext>
            </a:extLst>
          </p:cNvPr>
          <p:cNvCxnSpPr>
            <a:stCxn id="355" idx="2"/>
            <a:endCxn id="359" idx="0"/>
          </p:cNvCxnSpPr>
          <p:nvPr/>
        </p:nvCxnSpPr>
        <p:spPr bwMode="auto">
          <a:xfrm>
            <a:off x="2926467" y="5474147"/>
            <a:ext cx="0" cy="13259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62" name="Rectangle 43">
            <a:extLst>
              <a:ext uri="{FF2B5EF4-FFF2-40B4-BE49-F238E27FC236}">
                <a16:creationId xmlns="" xmlns:a16="http://schemas.microsoft.com/office/drawing/2014/main" id="{1CCFF26E-1B5E-4C0E-B6D9-8BF7DF729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839" y="5049239"/>
            <a:ext cx="1128327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2.4.4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상계처리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363" name="꺾인 연결선 91">
            <a:extLst>
              <a:ext uri="{FF2B5EF4-FFF2-40B4-BE49-F238E27FC236}">
                <a16:creationId xmlns="" xmlns:a16="http://schemas.microsoft.com/office/drawing/2014/main" id="{857CB15F-5C89-4B02-9508-F2A9338609C1}"/>
              </a:ext>
            </a:extLst>
          </p:cNvPr>
          <p:cNvCxnSpPr>
            <a:endCxn id="362" idx="0"/>
          </p:cNvCxnSpPr>
          <p:nvPr/>
        </p:nvCxnSpPr>
        <p:spPr bwMode="auto">
          <a:xfrm>
            <a:off x="5295003" y="4914466"/>
            <a:ext cx="0" cy="13477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Rectangle 43">
            <a:extLst>
              <a:ext uri="{FF2B5EF4-FFF2-40B4-BE49-F238E27FC236}">
                <a16:creationId xmlns="" xmlns:a16="http://schemas.microsoft.com/office/drawing/2014/main" id="{78B858DD-518B-45F9-8530-B0F311347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9337" y="3944796"/>
            <a:ext cx="1128251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CC"/>
                </a:solidFill>
                <a:latin typeface="+mn-ea"/>
              </a:rPr>
              <a:t>2.6.2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solidFill>
                  <a:srgbClr val="0000CC"/>
                </a:solidFill>
                <a:latin typeface="+mn-ea"/>
              </a:rPr>
              <a:t>부가세 신고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cxnSp>
        <p:nvCxnSpPr>
          <p:cNvPr id="60" name="꺾인 연결선 91">
            <a:extLst>
              <a:ext uri="{FF2B5EF4-FFF2-40B4-BE49-F238E27FC236}">
                <a16:creationId xmlns="" xmlns:a16="http://schemas.microsoft.com/office/drawing/2014/main" id="{AD7CD1B6-DB58-4971-90B4-343157356751}"/>
              </a:ext>
            </a:extLst>
          </p:cNvPr>
          <p:cNvCxnSpPr>
            <a:cxnSpLocks/>
            <a:stCxn id="59" idx="0"/>
            <a:endCxn id="332" idx="2"/>
          </p:cNvCxnSpPr>
          <p:nvPr/>
        </p:nvCxnSpPr>
        <p:spPr bwMode="auto">
          <a:xfrm flipV="1">
            <a:off x="7663463" y="3815737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3" name="Rectangle 43">
            <a:extLst>
              <a:ext uri="{FF2B5EF4-FFF2-40B4-BE49-F238E27FC236}">
                <a16:creationId xmlns="" xmlns:a16="http://schemas.microsoft.com/office/drawing/2014/main" id="{9F316396-9A47-439A-9482-653546213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3586" y="3392996"/>
            <a:ext cx="1128251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2.7.1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CC"/>
                </a:solidFill>
                <a:latin typeface="+mn-ea"/>
              </a:rPr>
              <a:t>연결기초자료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64" name="Rectangle 43">
            <a:extLst>
              <a:ext uri="{FF2B5EF4-FFF2-40B4-BE49-F238E27FC236}">
                <a16:creationId xmlns="" xmlns:a16="http://schemas.microsoft.com/office/drawing/2014/main" id="{9DED2B55-68C8-41A5-BDA5-81831BDF0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3586" y="3944795"/>
            <a:ext cx="1128251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CC"/>
                </a:solidFill>
                <a:latin typeface="+mn-ea"/>
              </a:rPr>
              <a:t>2.7.2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CC"/>
                </a:solidFill>
                <a:latin typeface="+mn-ea"/>
              </a:rPr>
              <a:t>연결자료등록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cxnSp>
        <p:nvCxnSpPr>
          <p:cNvPr id="65" name="꺾인 연결선 91">
            <a:extLst>
              <a:ext uri="{FF2B5EF4-FFF2-40B4-BE49-F238E27FC236}">
                <a16:creationId xmlns="" xmlns:a16="http://schemas.microsoft.com/office/drawing/2014/main" id="{2B41A8A5-8167-45A0-ABA9-096F9E17219E}"/>
              </a:ext>
            </a:extLst>
          </p:cNvPr>
          <p:cNvCxnSpPr>
            <a:cxnSpLocks/>
            <a:stCxn id="64" idx="0"/>
            <a:endCxn id="63" idx="2"/>
          </p:cNvCxnSpPr>
          <p:nvPr/>
        </p:nvCxnSpPr>
        <p:spPr bwMode="auto">
          <a:xfrm flipV="1">
            <a:off x="8847712" y="3815737"/>
            <a:ext cx="0" cy="129058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6" name="Rectangle 43">
            <a:extLst>
              <a:ext uri="{FF2B5EF4-FFF2-40B4-BE49-F238E27FC236}">
                <a16:creationId xmlns="" xmlns:a16="http://schemas.microsoft.com/office/drawing/2014/main" id="{CE600711-459B-49BE-98FC-F7DDC039C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181" y="2058161"/>
            <a:ext cx="566033" cy="389930"/>
          </a:xfrm>
          <a:prstGeom prst="roundRect">
            <a:avLst>
              <a:gd name="adj" fmla="val 0"/>
            </a:avLst>
          </a:prstGeom>
          <a:solidFill>
            <a:sysClr val="windowText" lastClr="000000">
              <a:lumMod val="75000"/>
              <a:lumOff val="2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35921" dir="2700000" algn="ctr" rotWithShape="0">
              <a:srgbClr val="E3DED1"/>
            </a:outerShdw>
          </a:effectLst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b="1" kern="0" smtClean="0">
                <a:solidFill>
                  <a:schemeClr val="bg1"/>
                </a:solidFill>
                <a:latin typeface="+mn-ea"/>
              </a:rPr>
              <a:t>Level1</a:t>
            </a:r>
            <a:endParaRPr kumimoji="1" lang="en-US" altLang="ko-KR" sz="105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7" name="Rectangle 43">
            <a:extLst>
              <a:ext uri="{FF2B5EF4-FFF2-40B4-BE49-F238E27FC236}">
                <a16:creationId xmlns="" xmlns:a16="http://schemas.microsoft.com/office/drawing/2014/main" id="{D4181FB3-E5A1-4294-AEE4-A86E412A0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181" y="2553774"/>
            <a:ext cx="566033" cy="689558"/>
          </a:xfrm>
          <a:prstGeom prst="roundRect">
            <a:avLst>
              <a:gd name="adj" fmla="val 0"/>
            </a:avLst>
          </a:prstGeom>
          <a:solidFill>
            <a:sysClr val="windowText" lastClr="000000">
              <a:lumMod val="75000"/>
              <a:lumOff val="2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35921" dir="2700000" algn="ctr" rotWithShape="0">
              <a:srgbClr val="E3DED1"/>
            </a:outerShdw>
          </a:effectLst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b="1" kern="0" smtClean="0">
                <a:solidFill>
                  <a:schemeClr val="bg1"/>
                </a:solidFill>
                <a:latin typeface="+mn-ea"/>
              </a:rPr>
              <a:t>Level2</a:t>
            </a:r>
            <a:endParaRPr kumimoji="1" lang="en-US" altLang="ko-KR" sz="105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8" name="Rectangle 43">
            <a:extLst>
              <a:ext uri="{FF2B5EF4-FFF2-40B4-BE49-F238E27FC236}">
                <a16:creationId xmlns="" xmlns:a16="http://schemas.microsoft.com/office/drawing/2014/main" id="{70FA894C-28C6-49F0-8FC0-617614258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181" y="3330295"/>
            <a:ext cx="566033" cy="2907017"/>
          </a:xfrm>
          <a:prstGeom prst="roundRect">
            <a:avLst>
              <a:gd name="adj" fmla="val 0"/>
            </a:avLst>
          </a:prstGeom>
          <a:solidFill>
            <a:sysClr val="windowText" lastClr="000000">
              <a:lumMod val="75000"/>
              <a:lumOff val="2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35921" dir="2700000" algn="ctr" rotWithShape="0">
              <a:srgbClr val="E3DED1"/>
            </a:outerShdw>
          </a:effectLst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b="1" kern="0" smtClean="0">
                <a:solidFill>
                  <a:schemeClr val="bg1"/>
                </a:solidFill>
                <a:latin typeface="+mn-ea"/>
              </a:rPr>
              <a:t>Level3</a:t>
            </a:r>
            <a:endParaRPr kumimoji="1" lang="en-US" altLang="ko-KR" sz="105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" name="Rectangle 43">
            <a:extLst>
              <a:ext uri="{FF2B5EF4-FFF2-40B4-BE49-F238E27FC236}">
                <a16:creationId xmlns="" xmlns:a16="http://schemas.microsoft.com/office/drawing/2014/main" id="{E3D82401-A830-0602-D55A-3D7323EE7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092" y="2724418"/>
            <a:ext cx="1128327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00"/>
                </a:solidFill>
                <a:latin typeface="+mn-ea"/>
              </a:rPr>
              <a:t>2.1 </a:t>
            </a:r>
            <a:endParaRPr lang="en-US" altLang="ko-KR" sz="1100" b="1" kern="0" dirty="0">
              <a:solidFill>
                <a:srgbClr val="000000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회계기준자료</a:t>
            </a:r>
            <a:endParaRPr lang="en-US" altLang="ko-KR" sz="1100" b="1" kern="0" spc="-15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" name="Rectangle 43">
            <a:extLst>
              <a:ext uri="{FF2B5EF4-FFF2-40B4-BE49-F238E27FC236}">
                <a16:creationId xmlns="" xmlns:a16="http://schemas.microsoft.com/office/drawing/2014/main" id="{8C7218AA-FA01-AE9E-4347-DEE45D2A7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092" y="3390375"/>
            <a:ext cx="1128251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2.1.1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계정코드관리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22" name="Rectangle 43">
            <a:extLst>
              <a:ext uri="{FF2B5EF4-FFF2-40B4-BE49-F238E27FC236}">
                <a16:creationId xmlns="" xmlns:a16="http://schemas.microsoft.com/office/drawing/2014/main" id="{85039B3D-D699-ACE0-8607-D30FCBAC3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092" y="3942175"/>
            <a:ext cx="1128251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2.1.2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계좌정보관리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23" name="Rectangle 43">
            <a:extLst>
              <a:ext uri="{FF2B5EF4-FFF2-40B4-BE49-F238E27FC236}">
                <a16:creationId xmlns="" xmlns:a16="http://schemas.microsoft.com/office/drawing/2014/main" id="{318A1D3C-FCE5-FC6A-4E77-B5408E833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092" y="4493975"/>
            <a:ext cx="1128251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2.1.3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사업장 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9" name="Rectangle 43">
            <a:extLst>
              <a:ext uri="{FF2B5EF4-FFF2-40B4-BE49-F238E27FC236}">
                <a16:creationId xmlns="" xmlns:a16="http://schemas.microsoft.com/office/drawing/2014/main" id="{3D700D45-EAF3-D7AF-CF3C-D69E7181D3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3586" y="4509960"/>
            <a:ext cx="1128251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CC"/>
                </a:solidFill>
                <a:latin typeface="+mn-ea"/>
              </a:rPr>
              <a:t>2.7.3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CC"/>
                </a:solidFill>
                <a:latin typeface="+mn-ea"/>
              </a:rPr>
              <a:t>연결재무제표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="" xmlns:a16="http://schemas.microsoft.com/office/drawing/2014/main" id="{470A1225-C1B3-240B-66B3-C63DA61F2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9337" y="4518427"/>
            <a:ext cx="1128251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CC"/>
                </a:solidFill>
                <a:latin typeface="+mn-ea"/>
              </a:rPr>
              <a:t>2.6.3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solidFill>
                  <a:srgbClr val="0000CC"/>
                </a:solidFill>
                <a:latin typeface="+mn-ea"/>
              </a:rPr>
              <a:t>원천세 신고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cxnSp>
        <p:nvCxnSpPr>
          <p:cNvPr id="42" name="꺾인 연결선 91">
            <a:extLst>
              <a:ext uri="{FF2B5EF4-FFF2-40B4-BE49-F238E27FC236}">
                <a16:creationId xmlns="" xmlns:a16="http://schemas.microsoft.com/office/drawing/2014/main" id="{5FB3F20A-8D33-C6E0-046B-666492CB4DCB}"/>
              </a:ext>
            </a:extLst>
          </p:cNvPr>
          <p:cNvCxnSpPr>
            <a:cxnSpLocks/>
            <a:stCxn id="41" idx="0"/>
            <a:endCxn id="59" idx="2"/>
          </p:cNvCxnSpPr>
          <p:nvPr/>
        </p:nvCxnSpPr>
        <p:spPr bwMode="auto">
          <a:xfrm flipV="1">
            <a:off x="7663463" y="4367537"/>
            <a:ext cx="0" cy="150890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3" name="꺾인 연결선 91">
            <a:extLst>
              <a:ext uri="{FF2B5EF4-FFF2-40B4-BE49-F238E27FC236}">
                <a16:creationId xmlns="" xmlns:a16="http://schemas.microsoft.com/office/drawing/2014/main" id="{D830CFAD-B46E-C771-8872-15FC35C0916D}"/>
              </a:ext>
            </a:extLst>
          </p:cNvPr>
          <p:cNvCxnSpPr>
            <a:cxnSpLocks/>
            <a:stCxn id="39" idx="0"/>
            <a:endCxn id="64" idx="2"/>
          </p:cNvCxnSpPr>
          <p:nvPr/>
        </p:nvCxnSpPr>
        <p:spPr bwMode="auto">
          <a:xfrm flipV="1">
            <a:off x="8847712" y="4367536"/>
            <a:ext cx="0" cy="142424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1" name="제목 2">
            <a:extLst>
              <a:ext uri="{FF2B5EF4-FFF2-40B4-BE49-F238E27FC236}">
                <a16:creationId xmlns="" xmlns:a16="http://schemas.microsoft.com/office/drawing/2014/main" id="{9551AA14-AB9F-55B5-4876-85ECDC318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88" y="0"/>
            <a:ext cx="6264696" cy="781320"/>
          </a:xfrm>
        </p:spPr>
        <p:txBody>
          <a:bodyPr>
            <a:noAutofit/>
          </a:bodyPr>
          <a:lstStyle/>
          <a:p>
            <a:r>
              <a:rPr lang="en-US" altLang="ko-KR" smtClean="0"/>
              <a:t>3.2 </a:t>
            </a:r>
            <a:r>
              <a:rPr lang="ko-KR" altLang="en-US" smtClean="0"/>
              <a:t>회계관리</a:t>
            </a:r>
            <a:r>
              <a:rPr lang="en-US" altLang="ko-KR" smtClean="0"/>
              <a:t> </a:t>
            </a:r>
            <a:r>
              <a:rPr lang="ko-KR" altLang="en-US" dirty="0"/>
              <a:t>업무분류 및 기능 정의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3.</a:t>
            </a:r>
            <a:r>
              <a:rPr lang="en-US" altLang="ko-KR" sz="1800" smtClean="0">
                <a:solidFill>
                  <a:prstClr val="black"/>
                </a:solidFill>
              </a:rPr>
              <a:t>2.1 </a:t>
            </a:r>
            <a:r>
              <a:rPr lang="ko-KR" altLang="en-US" sz="1800" smtClean="0">
                <a:solidFill>
                  <a:prstClr val="black"/>
                </a:solidFill>
              </a:rPr>
              <a:t>회계관리 </a:t>
            </a:r>
            <a:r>
              <a:rPr lang="ko-KR" altLang="en-US" sz="1800" dirty="0">
                <a:solidFill>
                  <a:prstClr val="black"/>
                </a:solidFill>
              </a:rPr>
              <a:t>업무분류 구조도</a:t>
            </a:r>
            <a:endParaRPr lang="ko-KR" altLang="en-US" dirty="0"/>
          </a:p>
        </p:txBody>
      </p:sp>
      <p:sp>
        <p:nvSpPr>
          <p:cNvPr id="70" name="Rectangle 43">
            <a:extLst>
              <a:ext uri="{FF2B5EF4-FFF2-40B4-BE49-F238E27FC236}">
                <a16:creationId xmlns="" xmlns:a16="http://schemas.microsoft.com/office/drawing/2014/main" id="{553D359E-ECF9-404B-BF6B-276C17858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839" y="4500543"/>
            <a:ext cx="1128251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2.4.3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장부조회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71" name="꺾인 연결선 16">
            <a:extLst>
              <a:ext uri="{FF2B5EF4-FFF2-40B4-BE49-F238E27FC236}">
                <a16:creationId xmlns="" xmlns:a16="http://schemas.microsoft.com/office/drawing/2014/main" id="{3527B8CC-4135-46EF-B509-FECE5DAD555E}"/>
              </a:ext>
            </a:extLst>
          </p:cNvPr>
          <p:cNvCxnSpPr>
            <a:cxnSpLocks/>
            <a:stCxn id="320" idx="2"/>
            <a:endCxn id="20" idx="0"/>
          </p:cNvCxnSpPr>
          <p:nvPr/>
        </p:nvCxnSpPr>
        <p:spPr bwMode="auto">
          <a:xfrm rot="5400000">
            <a:off x="3383112" y="815393"/>
            <a:ext cx="268169" cy="3549880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4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20" idx="2"/>
            <a:endCxn id="21" idx="0"/>
          </p:cNvCxnSpPr>
          <p:nvPr/>
        </p:nvCxnSpPr>
        <p:spPr bwMode="auto">
          <a:xfrm flipH="1">
            <a:off x="1742218" y="3123792"/>
            <a:ext cx="38" cy="26658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21" idx="2"/>
            <a:endCxn id="22" idx="0"/>
          </p:cNvCxnSpPr>
          <p:nvPr/>
        </p:nvCxnSpPr>
        <p:spPr bwMode="auto">
          <a:xfrm>
            <a:off x="1742218" y="3813116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22" idx="2"/>
            <a:endCxn id="23" idx="0"/>
          </p:cNvCxnSpPr>
          <p:nvPr/>
        </p:nvCxnSpPr>
        <p:spPr bwMode="auto">
          <a:xfrm>
            <a:off x="1742218" y="4364916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7" name="Rectangle 43">
            <a:extLst>
              <a:ext uri="{FF2B5EF4-FFF2-40B4-BE49-F238E27FC236}">
                <a16:creationId xmlns="" xmlns:a16="http://schemas.microsoft.com/office/drawing/2014/main" id="{470A1225-C1B3-240B-66B3-C63DA61F2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9337" y="5049239"/>
            <a:ext cx="1128251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CC"/>
                </a:solidFill>
                <a:latin typeface="+mn-ea"/>
              </a:rPr>
              <a:t>2.6.4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solidFill>
                  <a:srgbClr val="0000CC"/>
                </a:solidFill>
                <a:latin typeface="+mn-ea"/>
              </a:rPr>
              <a:t>원천세자료 관리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cxnSp>
        <p:nvCxnSpPr>
          <p:cNvPr id="88" name="꺾인 연결선 91">
            <a:extLst>
              <a:ext uri="{FF2B5EF4-FFF2-40B4-BE49-F238E27FC236}">
                <a16:creationId xmlns="" xmlns:a16="http://schemas.microsoft.com/office/drawing/2014/main" id="{5FB3F20A-8D33-C6E0-046B-666492CB4DCB}"/>
              </a:ext>
            </a:extLst>
          </p:cNvPr>
          <p:cNvCxnSpPr>
            <a:cxnSpLocks/>
            <a:stCxn id="87" idx="0"/>
            <a:endCxn id="41" idx="2"/>
          </p:cNvCxnSpPr>
          <p:nvPr/>
        </p:nvCxnSpPr>
        <p:spPr bwMode="auto">
          <a:xfrm flipV="1">
            <a:off x="7663463" y="4941168"/>
            <a:ext cx="0" cy="108071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3" name="Rectangle 43">
            <a:extLst>
              <a:ext uri="{FF2B5EF4-FFF2-40B4-BE49-F238E27FC236}">
                <a16:creationId xmlns="" xmlns:a16="http://schemas.microsoft.com/office/drawing/2014/main" id="{A9BE069A-19F1-4EFE-B1F4-D663E17A6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5088" y="4497740"/>
            <a:ext cx="1128251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2.5.3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재무제표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110" name="Rectangle 43">
            <a:extLst>
              <a:ext uri="{FF2B5EF4-FFF2-40B4-BE49-F238E27FC236}">
                <a16:creationId xmlns="" xmlns:a16="http://schemas.microsoft.com/office/drawing/2014/main" id="{1CCFF26E-1B5E-4C0E-B6D9-8BF7DF729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0839" y="5613756"/>
            <a:ext cx="1128327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2.4.5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기타 현황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111" name="꺾인 연결선 91">
            <a:extLst>
              <a:ext uri="{FF2B5EF4-FFF2-40B4-BE49-F238E27FC236}">
                <a16:creationId xmlns="" xmlns:a16="http://schemas.microsoft.com/office/drawing/2014/main" id="{857CB15F-5C89-4B02-9508-F2A9338609C1}"/>
              </a:ext>
            </a:extLst>
          </p:cNvPr>
          <p:cNvCxnSpPr>
            <a:stCxn id="362" idx="2"/>
            <a:endCxn id="110" idx="0"/>
          </p:cNvCxnSpPr>
          <p:nvPr/>
        </p:nvCxnSpPr>
        <p:spPr bwMode="auto">
          <a:xfrm>
            <a:off x="5295003" y="5471980"/>
            <a:ext cx="0" cy="141776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4" name="Rectangle 43">
            <a:extLst>
              <a:ext uri="{FF2B5EF4-FFF2-40B4-BE49-F238E27FC236}">
                <a16:creationId xmlns="" xmlns:a16="http://schemas.microsoft.com/office/drawing/2014/main" id="{1CCFF26E-1B5E-4C0E-B6D9-8BF7DF729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5088" y="5049239"/>
            <a:ext cx="1128327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CC"/>
                </a:solidFill>
                <a:latin typeface="+mn-ea"/>
              </a:rPr>
              <a:t>2.5.4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CC"/>
                </a:solidFill>
                <a:latin typeface="+mn-ea"/>
              </a:rPr>
              <a:t>결산 주석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cxnSp>
        <p:nvCxnSpPr>
          <p:cNvPr id="115" name="꺾인 연결선 91">
            <a:extLst>
              <a:ext uri="{FF2B5EF4-FFF2-40B4-BE49-F238E27FC236}">
                <a16:creationId xmlns="" xmlns:a16="http://schemas.microsoft.com/office/drawing/2014/main" id="{857CB15F-5C89-4B02-9508-F2A9338609C1}"/>
              </a:ext>
            </a:extLst>
          </p:cNvPr>
          <p:cNvCxnSpPr/>
          <p:nvPr/>
        </p:nvCxnSpPr>
        <p:spPr bwMode="auto">
          <a:xfrm flipH="1">
            <a:off x="5915088" y="4914466"/>
            <a:ext cx="23605" cy="13477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6" name="Rectangle 43">
            <a:extLst>
              <a:ext uri="{FF2B5EF4-FFF2-40B4-BE49-F238E27FC236}">
                <a16:creationId xmlns="" xmlns:a16="http://schemas.microsoft.com/office/drawing/2014/main" id="{470A1225-C1B3-240B-66B3-C63DA61F2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9410" y="5580051"/>
            <a:ext cx="1128251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CC"/>
                </a:solidFill>
                <a:latin typeface="+mn-ea"/>
              </a:rPr>
              <a:t>2.6.5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solidFill>
                  <a:srgbClr val="0000CC"/>
                </a:solidFill>
                <a:latin typeface="+mn-ea"/>
              </a:rPr>
              <a:t>법인세자료 관리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cxnSp>
        <p:nvCxnSpPr>
          <p:cNvPr id="117" name="꺾인 연결선 91">
            <a:extLst>
              <a:ext uri="{FF2B5EF4-FFF2-40B4-BE49-F238E27FC236}">
                <a16:creationId xmlns="" xmlns:a16="http://schemas.microsoft.com/office/drawing/2014/main" id="{5FB3F20A-8D33-C6E0-046B-666492CB4DCB}"/>
              </a:ext>
            </a:extLst>
          </p:cNvPr>
          <p:cNvCxnSpPr>
            <a:cxnSpLocks/>
            <a:stCxn id="116" idx="0"/>
          </p:cNvCxnSpPr>
          <p:nvPr/>
        </p:nvCxnSpPr>
        <p:spPr bwMode="auto">
          <a:xfrm flipV="1">
            <a:off x="7653536" y="5471980"/>
            <a:ext cx="0" cy="108071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18" name="Rectangle 43">
            <a:extLst>
              <a:ext uri="{FF2B5EF4-FFF2-40B4-BE49-F238E27FC236}">
                <a16:creationId xmlns="" xmlns:a16="http://schemas.microsoft.com/office/drawing/2014/main" id="{E965CCD8-2743-48F9-8315-B5DADCCDA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6590" y="3944796"/>
            <a:ext cx="112832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2.3.2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전도금 관리</a:t>
            </a:r>
            <a:endParaRPr lang="en-US" altLang="ko-KR" sz="1100" b="1" kern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9712950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mtClean="0">
                <a:latin typeface="+mn-ea"/>
                <a:ea typeface="+mn-ea"/>
              </a:rPr>
              <a:t>업무를 추진하는 과정에서 발생하는 재무관련 </a:t>
            </a:r>
            <a:r>
              <a:rPr lang="en-US" altLang="ko-KR" smtClean="0">
                <a:latin typeface="+mn-ea"/>
                <a:ea typeface="+mn-ea"/>
              </a:rPr>
              <a:t>DATA</a:t>
            </a:r>
            <a:r>
              <a:rPr lang="ko-KR" altLang="en-US" smtClean="0">
                <a:latin typeface="+mn-ea"/>
                <a:ea typeface="+mn-ea"/>
              </a:rPr>
              <a:t>를 일정한 양식</a:t>
            </a:r>
            <a:r>
              <a:rPr lang="en-US" altLang="ko-KR" smtClean="0">
                <a:latin typeface="+mn-ea"/>
                <a:ea typeface="+mn-ea"/>
              </a:rPr>
              <a:t>(</a:t>
            </a:r>
            <a:r>
              <a:rPr lang="ko-KR" altLang="en-US" smtClean="0">
                <a:latin typeface="+mn-ea"/>
                <a:ea typeface="+mn-ea"/>
              </a:rPr>
              <a:t>전표</a:t>
            </a:r>
            <a:r>
              <a:rPr lang="en-US" altLang="ko-KR" smtClean="0">
                <a:latin typeface="+mn-ea"/>
                <a:ea typeface="+mn-ea"/>
              </a:rPr>
              <a:t>)</a:t>
            </a:r>
            <a:r>
              <a:rPr lang="ko-KR" altLang="en-US" smtClean="0">
                <a:latin typeface="+mn-ea"/>
                <a:ea typeface="+mn-ea"/>
              </a:rPr>
              <a:t>으로 취합하고</a:t>
            </a:r>
            <a:r>
              <a:rPr lang="en-US" altLang="ko-KR" smtClean="0">
                <a:latin typeface="+mn-ea"/>
                <a:ea typeface="+mn-ea"/>
              </a:rPr>
              <a:t>, </a:t>
            </a:r>
            <a:r>
              <a:rPr lang="ko-KR" altLang="en-US" smtClean="0">
                <a:latin typeface="+mn-ea"/>
                <a:ea typeface="+mn-ea"/>
              </a:rPr>
              <a:t>재무상태를 파악할 수 있는 보고용 장부를 제공하는 것이 목표이며</a:t>
            </a:r>
            <a:r>
              <a:rPr lang="en-US" altLang="ko-KR" smtClean="0">
                <a:latin typeface="+mn-ea"/>
                <a:ea typeface="+mn-ea"/>
              </a:rPr>
              <a:t>, </a:t>
            </a:r>
            <a:r>
              <a:rPr lang="ko-KR" altLang="en-US" smtClean="0">
                <a:latin typeface="+mn-ea"/>
                <a:ea typeface="+mn-ea"/>
              </a:rPr>
              <a:t>이를 위해서 회계처리 기준에 따라 체계적으로 표준화하고</a:t>
            </a:r>
            <a:r>
              <a:rPr lang="en-US" altLang="ko-KR" smtClean="0">
                <a:latin typeface="+mn-ea"/>
                <a:ea typeface="+mn-ea"/>
              </a:rPr>
              <a:t>, </a:t>
            </a:r>
            <a:r>
              <a:rPr lang="ko-KR" altLang="en-US" smtClean="0">
                <a:latin typeface="+mn-ea"/>
                <a:ea typeface="+mn-ea"/>
              </a:rPr>
              <a:t>제반 회계처리 과정에서 발생하는 계정과목의 설정이나 분개처리</a:t>
            </a:r>
            <a:r>
              <a:rPr lang="en-US" altLang="ko-KR" smtClean="0">
                <a:latin typeface="+mn-ea"/>
                <a:ea typeface="+mn-ea"/>
              </a:rPr>
              <a:t>, </a:t>
            </a:r>
            <a:r>
              <a:rPr lang="ko-KR" altLang="en-US" smtClean="0">
                <a:latin typeface="+mn-ea"/>
                <a:ea typeface="+mn-ea"/>
              </a:rPr>
              <a:t>장부양식의 정리가 우선되어야 하며</a:t>
            </a:r>
            <a:r>
              <a:rPr lang="en-US" altLang="ko-KR" smtClean="0">
                <a:latin typeface="+mn-ea"/>
                <a:ea typeface="+mn-ea"/>
              </a:rPr>
              <a:t>, </a:t>
            </a:r>
            <a:r>
              <a:rPr lang="ko-KR" altLang="en-US" smtClean="0">
                <a:latin typeface="+mn-ea"/>
                <a:ea typeface="+mn-ea"/>
              </a:rPr>
              <a:t>시스템을 개선하는 과정에서 각 수행 부서와의 업무분장 및 </a:t>
            </a:r>
            <a:r>
              <a:rPr lang="en-US" altLang="ko-KR" smtClean="0">
                <a:latin typeface="+mn-ea"/>
                <a:ea typeface="+mn-ea"/>
              </a:rPr>
              <a:t>DATA</a:t>
            </a:r>
            <a:r>
              <a:rPr lang="ko-KR" altLang="en-US" smtClean="0">
                <a:latin typeface="+mn-ea"/>
                <a:ea typeface="+mn-ea"/>
              </a:rPr>
              <a:t>공유</a:t>
            </a:r>
            <a:r>
              <a:rPr lang="en-US" altLang="ko-KR" smtClean="0">
                <a:latin typeface="+mn-ea"/>
                <a:ea typeface="+mn-ea"/>
              </a:rPr>
              <a:t>/DATA</a:t>
            </a:r>
            <a:r>
              <a:rPr lang="ko-KR" altLang="en-US" smtClean="0">
                <a:latin typeface="+mn-ea"/>
                <a:ea typeface="+mn-ea"/>
              </a:rPr>
              <a:t> </a:t>
            </a:r>
            <a:r>
              <a:rPr lang="en-US" altLang="ko-KR" smtClean="0">
                <a:latin typeface="+mn-ea"/>
                <a:ea typeface="+mn-ea"/>
              </a:rPr>
              <a:t>interface</a:t>
            </a:r>
            <a:r>
              <a:rPr lang="ko-KR" altLang="en-US" smtClean="0">
                <a:latin typeface="+mn-ea"/>
                <a:ea typeface="+mn-ea"/>
              </a:rPr>
              <a:t>에 대한 처리기준을 명확하게 정의해야 함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6696744" cy="781320"/>
          </a:xfrm>
        </p:spPr>
        <p:txBody>
          <a:bodyPr>
            <a:noAutofit/>
          </a:bodyPr>
          <a:lstStyle/>
          <a:p>
            <a:r>
              <a:rPr lang="en-US" altLang="ko-KR" smtClean="0"/>
              <a:t>3.2 </a:t>
            </a:r>
            <a:r>
              <a:rPr lang="ko-KR" altLang="en-US" smtClean="0"/>
              <a:t>회계관리</a:t>
            </a:r>
            <a:r>
              <a:rPr lang="en-US" altLang="ko-KR" smtClean="0"/>
              <a:t> </a:t>
            </a:r>
            <a:r>
              <a:rPr lang="ko-KR" altLang="en-US" dirty="0"/>
              <a:t>업무분류 및 기능 정의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3.</a:t>
            </a:r>
            <a:r>
              <a:rPr lang="en-US" altLang="ko-KR" sz="1800" smtClean="0">
                <a:solidFill>
                  <a:prstClr val="black"/>
                </a:solidFill>
              </a:rPr>
              <a:t>2.2 </a:t>
            </a:r>
            <a:r>
              <a:rPr lang="ko-KR" altLang="en-US" sz="1800" smtClean="0">
                <a:solidFill>
                  <a:prstClr val="black"/>
                </a:solidFill>
              </a:rPr>
              <a:t>회계관리 </a:t>
            </a:r>
            <a:r>
              <a:rPr lang="ko-KR" altLang="en-US" sz="1800" dirty="0">
                <a:solidFill>
                  <a:prstClr val="black"/>
                </a:solidFill>
              </a:rPr>
              <a:t>업무기능 정의 </a:t>
            </a:r>
            <a:r>
              <a:rPr lang="en-US" altLang="ko-KR" sz="1800" dirty="0">
                <a:solidFill>
                  <a:prstClr val="black"/>
                </a:solidFill>
              </a:rPr>
              <a:t>(</a:t>
            </a:r>
            <a:r>
              <a:rPr lang="en-US" altLang="ko-KR" sz="1800" dirty="0"/>
              <a:t>1/2)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spcBef>
                <a:spcPts val="288"/>
              </a:spcBef>
            </a:pPr>
            <a:r>
              <a:rPr lang="en-US" altLang="ko-KR" smtClean="0">
                <a:solidFill>
                  <a:prstClr val="black"/>
                </a:solidFill>
              </a:rPr>
              <a:t>Ⅲ. </a:t>
            </a:r>
            <a:r>
              <a:rPr lang="ko-KR" altLang="en-US" smtClean="0">
                <a:solidFill>
                  <a:prstClr val="black"/>
                </a:solidFill>
              </a:rPr>
              <a:t>목표모델 설계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spcBef>
                <a:spcPts val="288"/>
              </a:spcBef>
            </a:pPr>
            <a:r>
              <a:rPr lang="en-US" altLang="ko-KR" dirty="0">
                <a:solidFill>
                  <a:prstClr val="black"/>
                </a:solidFill>
              </a:rPr>
              <a:t>3. </a:t>
            </a:r>
            <a:r>
              <a:rPr lang="ko-KR" altLang="en-US" dirty="0">
                <a:solidFill>
                  <a:prstClr val="black"/>
                </a:solidFill>
              </a:rPr>
              <a:t>업무별 개선안 설계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spcBef>
                <a:spcPts val="288"/>
              </a:spcBef>
            </a:pPr>
            <a:r>
              <a:rPr lang="en-US" altLang="ko-KR" smtClean="0">
                <a:solidFill>
                  <a:prstClr val="black"/>
                </a:solidFill>
              </a:rPr>
              <a:t>3.2 </a:t>
            </a:r>
            <a:r>
              <a:rPr lang="ko-KR" altLang="en-US" smtClean="0">
                <a:solidFill>
                  <a:prstClr val="black"/>
                </a:solidFill>
              </a:rPr>
              <a:t>회계관리 </a:t>
            </a:r>
            <a:r>
              <a:rPr lang="ko-KR" altLang="en-US" dirty="0">
                <a:solidFill>
                  <a:prstClr val="black"/>
                </a:solidFill>
              </a:rPr>
              <a:t>업무프로세스 개선안</a:t>
            </a:r>
            <a:endParaRPr lang="en-US" altLang="ko-KR" dirty="0">
              <a:solidFill>
                <a:prstClr val="black"/>
              </a:solidFill>
            </a:endParaRPr>
          </a:p>
        </p:txBody>
      </p:sp>
      <p:graphicFrame>
        <p:nvGraphicFramePr>
          <p:cNvPr id="70" name="표 69">
            <a:extLst>
              <a:ext uri="{FF2B5EF4-FFF2-40B4-BE49-F238E27FC236}">
                <a16:creationId xmlns="" xmlns:a16="http://schemas.microsoft.com/office/drawing/2014/main" id="{E9F2C507-AF08-4734-AD3C-A634FC74D8C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54520" y="2072568"/>
          <a:ext cx="9180512" cy="4693920"/>
        </p:xfrm>
        <a:graphic>
          <a:graphicData uri="http://schemas.openxmlformats.org/drawingml/2006/table">
            <a:tbl>
              <a:tblPr firstRow="1" bandRow="1"/>
              <a:tblGrid>
                <a:gridCol w="39482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1176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9959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6044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03470">
                  <a:extLst>
                    <a:ext uri="{9D8B030D-6E8A-4147-A177-3AD203B41FA5}">
                      <a16:colId xmlns="" xmlns:a16="http://schemas.microsoft.com/office/drawing/2014/main" val="392761856"/>
                    </a:ext>
                  </a:extLst>
                </a:gridCol>
                <a:gridCol w="803470">
                  <a:extLst>
                    <a:ext uri="{9D8B030D-6E8A-4147-A177-3AD203B41FA5}">
                      <a16:colId xmlns="" xmlns:a16="http://schemas.microsoft.com/office/drawing/2014/main" val="2283819833"/>
                    </a:ext>
                  </a:extLst>
                </a:gridCol>
                <a:gridCol w="1606940">
                  <a:extLst>
                    <a:ext uri="{9D8B030D-6E8A-4147-A177-3AD203B41FA5}">
                      <a16:colId xmlns="" xmlns:a16="http://schemas.microsoft.com/office/drawing/2014/main" val="3659144700"/>
                    </a:ext>
                  </a:extLst>
                </a:gridCol>
              </a:tblGrid>
              <a:tr h="163375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spc="-10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1000" b="1" spc="-10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업무명칭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업무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주관 조직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사용조직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개선사항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633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Lv2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Lv3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163375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기준정보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회계시스템 운영에 필요한 기초정보 및 관리기준 정보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회계파트</a:t>
                      </a: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계정별 관리항목 추가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잔액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상계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기준 항목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거래처 용도 구분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633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계정코드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계정코드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코드명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등급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상계기준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차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대변 관리항목 정의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5330139"/>
                  </a:ext>
                </a:extLst>
              </a:tr>
              <a:tr h="1633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거래처정보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상호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대표자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업태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종목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거래처 계좌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e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메일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등의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정보 관리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7783185"/>
                  </a:ext>
                </a:extLst>
              </a:tr>
              <a:tr h="1633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계좌정보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보유하고 있는 입출금 계좌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상품정보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사원계좌 등 관리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148509401"/>
                  </a:ext>
                </a:extLst>
              </a:tr>
              <a:tr h="1633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사업장정보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사업자등록번호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주소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사업장대표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계산서담당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e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메일 등 관리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33555722"/>
                  </a:ext>
                </a:extLst>
              </a:tr>
              <a:tr h="163375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결의서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예산을 집행하고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수입을 관리하는 각종 신청서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결의서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를 관리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회계파트</a:t>
                      </a: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결의서 세분화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결의 입력시 예산통제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3)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전표분개 완전 자동화</a:t>
                      </a:r>
                      <a:endParaRPr lang="en-US" altLang="ko-KR" sz="1000" b="0" baseline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4)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수납처리 기능 구축</a:t>
                      </a:r>
                      <a:endParaRPr lang="en-US" altLang="ko-KR" sz="1000" b="0" baseline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5)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세금계산서 발행 연계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58059666"/>
                  </a:ext>
                </a:extLst>
              </a:tr>
              <a:tr h="1633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mtClean="0">
                          <a:latin typeface="+mn-ea"/>
                          <a:ea typeface="+mn-ea"/>
                        </a:rPr>
                        <a:t>지출결의서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일반지출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카드지출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회입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세출외지출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예산대체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대체결의서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163375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수입결의서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사업별 수입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일반수입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반납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세입외수입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계좌이체 결의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163375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수납</a:t>
                      </a:r>
                      <a:r>
                        <a:rPr lang="en-US" altLang="ko-KR" sz="1000" b="1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대체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입금 현황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수납 처리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다중수납 처리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미결항목 상계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수납제외처리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63375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전표 확정 처리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전표분개장 열람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전표확정처리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분개장수정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매출세금계산서 발행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63375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결의서 정보 검색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결의서 검색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지출기록부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예산통제부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증빙관리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미사용 결의 현황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163375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자금관리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금융기관과 연계하여 입출금 관리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회계파트</a:t>
                      </a: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연계자료 활용도 제고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  (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입출금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-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출금전표 생성</a:t>
                      </a:r>
                      <a:endParaRPr lang="en-US" altLang="ko-KR" sz="1000" b="0" baseline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           - 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수납 처리</a:t>
                      </a:r>
                      <a:endParaRPr lang="en-US" altLang="ko-KR" sz="1000" b="0" baseline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카드 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–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카드 결의서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 2)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전자세금계산서 연계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1633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자급집행관리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자금집행승인요청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결과 수동처리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이체오류 조회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CMS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출금내역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1633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전도금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1000" smtClean="0">
                          <a:latin typeface="+mn-ea"/>
                          <a:ea typeface="+mn-ea"/>
                        </a:rPr>
                        <a:t>여러 사업장의 운영비를 충당하기 위한 전도금 지급 관리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633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연계내역관리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각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기준환율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입출금내역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입출금 처리결과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세금계산서 연계내역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633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법인카드관리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카드등록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카드승인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매입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청구 현황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미결의 현황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사용제한 현황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88338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 vert="horz" lIns="0" tIns="45720" rIns="0" bIns="45720" rtlCol="0" anchor="ctr">
            <a:noAutofit/>
          </a:bodyPr>
          <a:lstStyle/>
          <a:p>
            <a:pPr>
              <a:spcBef>
                <a:spcPts val="288"/>
              </a:spcBef>
            </a:pPr>
            <a:r>
              <a:rPr lang="en-US" altLang="ko-KR" sz="1200" smtClean="0">
                <a:solidFill>
                  <a:prstClr val="black"/>
                </a:solidFill>
              </a:rPr>
              <a:t>Ⅲ. </a:t>
            </a:r>
            <a:r>
              <a:rPr lang="ko-KR" altLang="en-US" sz="1200" smtClean="0">
                <a:solidFill>
                  <a:prstClr val="black"/>
                </a:solidFill>
              </a:rPr>
              <a:t>목표모델 설계</a:t>
            </a:r>
            <a:endParaRPr lang="en-US" altLang="ko-KR" sz="1200" dirty="0">
              <a:solidFill>
                <a:prstClr val="black"/>
              </a:solidFill>
            </a:endParaRPr>
          </a:p>
          <a:p>
            <a:pPr>
              <a:spcBef>
                <a:spcPts val="288"/>
              </a:spcBef>
            </a:pPr>
            <a:r>
              <a:rPr lang="en-US" altLang="ko-KR" sz="1200" dirty="0">
                <a:solidFill>
                  <a:prstClr val="black"/>
                </a:solidFill>
              </a:rPr>
              <a:t>3. </a:t>
            </a:r>
            <a:r>
              <a:rPr lang="ko-KR" altLang="en-US" sz="1200" dirty="0">
                <a:solidFill>
                  <a:prstClr val="black"/>
                </a:solidFill>
              </a:rPr>
              <a:t>업무별 개선안 설계</a:t>
            </a:r>
            <a:endParaRPr lang="en-US" altLang="ko-KR" sz="1200" dirty="0">
              <a:solidFill>
                <a:prstClr val="black"/>
              </a:solidFill>
            </a:endParaRPr>
          </a:p>
          <a:p>
            <a:pPr>
              <a:spcBef>
                <a:spcPts val="288"/>
              </a:spcBef>
            </a:pPr>
            <a:r>
              <a:rPr lang="en-US" altLang="ko-KR" sz="1200" smtClean="0">
                <a:solidFill>
                  <a:prstClr val="black"/>
                </a:solidFill>
              </a:rPr>
              <a:t>3.2 </a:t>
            </a:r>
            <a:r>
              <a:rPr lang="ko-KR" altLang="en-US" sz="1200" smtClean="0">
                <a:solidFill>
                  <a:prstClr val="black"/>
                </a:solidFill>
              </a:rPr>
              <a:t>회계관리 </a:t>
            </a:r>
            <a:r>
              <a:rPr lang="ko-KR" altLang="en-US" sz="1200" dirty="0">
                <a:solidFill>
                  <a:prstClr val="black"/>
                </a:solidFill>
              </a:rPr>
              <a:t>업무프로세스 개선안</a:t>
            </a:r>
            <a:endParaRPr lang="en-US" altLang="ko-KR" sz="1200" dirty="0">
              <a:solidFill>
                <a:prstClr val="black"/>
              </a:solidFill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="" xmlns:a16="http://schemas.microsoft.com/office/drawing/2014/main" id="{EA81E65E-B8D8-451B-BB56-CC5F3ED46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3617730"/>
              </p:ext>
            </p:extLst>
          </p:nvPr>
        </p:nvGraphicFramePr>
        <p:xfrm>
          <a:off x="350002" y="782616"/>
          <a:ext cx="9180514" cy="5516880"/>
        </p:xfrm>
        <a:graphic>
          <a:graphicData uri="http://schemas.openxmlformats.org/drawingml/2006/table">
            <a:tbl>
              <a:tblPr firstRow="1" bandRow="1"/>
              <a:tblGrid>
                <a:gridCol w="40123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9085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6044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6409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2008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61967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23709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spc="-100" baseline="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ko-KR" altLang="en-US" sz="1000" b="1" spc="-100" baseline="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업무명칭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업무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주관조직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사용조직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개선사항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370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Lv2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Lv3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37090">
                <a:tc row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dirty="0"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전표관리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생성된 전표내역을 조회하고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마감처리 및 회계장부를 제공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회계파트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 부서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전표 관리항목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일마감제도 도입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3) DATA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추적기능 제고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370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전표내역조회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전표 상세내역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계정별 집계표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총계정원장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입출금 전표내역 조회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370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mtClean="0">
                          <a:latin typeface="+mn-ea"/>
                          <a:ea typeface="+mn-ea"/>
                        </a:rPr>
                        <a:t>전표마감관리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일자별 전표 마감 및 마감 취소처리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마감이력 관리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370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회계장부관리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일계표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월계표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계정별 증감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보조부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세목별 잔액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잔액명세서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150836785"/>
                  </a:ext>
                </a:extLst>
              </a:tr>
              <a:tr h="2370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잔액상계관리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잔액구분별 상세내역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계정별 잔액 상계처리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잔액명세서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370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기타현황관리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대차오류 체크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결의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전표 증빙구분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부가세구분 비교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37090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dirty="0"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결산관리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결산 처리 기능의 자동화로 결산기간 단축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회계파트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회계파트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1)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결산전표 자동 생성</a:t>
                      </a:r>
                      <a:endParaRPr lang="en-US" altLang="ko-KR" sz="1000" b="0" baseline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결산 마감 이월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제무제표 실시간 조회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4)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결산 주석 관리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37090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결산작업처리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결산진행현황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계정별 결산대체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선급비용 결산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미수수익 결산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43431688"/>
                  </a:ext>
                </a:extLst>
              </a:tr>
              <a:tr h="2370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결산마감처리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결산 이월처리 및 계정별잔액 재집계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이익잉여금처분계산안 작성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76410975"/>
                  </a:ext>
                </a:extLst>
              </a:tr>
              <a:tr h="2370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재무제표 조회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재무상태표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손익계산서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사업별 손익계산서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합계잔액시산표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370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결산 주석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결산주석 기초자료 관리 및 결산 주석 조회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37090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세무관리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부가세 전자신고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원천세 전자신고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법인세신고 기초자료 제공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회계파트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 부서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부가세 전자신고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원천세 전자신고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법인세 기초자료 제공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372411127"/>
                  </a:ext>
                </a:extLst>
              </a:tr>
              <a:tr h="2370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세금계산서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매출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매입 세금계산서 현황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 전자세금계산서 연결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세무정보 수정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37090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부가세 신고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부가세 신고자료 작성 및 부가세 전자신고 파일 작성 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370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원천세 신고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원천세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근로소득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퇴직소득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기타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사업소득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 전자신고 파일 작성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370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법인세자료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접대비명세서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기부금명세서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세금과공과명세서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원천세 납부 내역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775112120"/>
                  </a:ext>
                </a:extLst>
              </a:tr>
              <a:tr h="237090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dirty="0"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>
                        <a:lnSpc>
                          <a:spcPts val="1000"/>
                        </a:lnSpc>
                      </a:pPr>
                      <a:r>
                        <a:rPr lang="ko-KR" altLang="en-US" sz="1000" b="1" kern="120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연결결산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1000" b="1" smtClean="0">
                          <a:latin typeface="+mn-ea"/>
                          <a:ea typeface="+mn-ea"/>
                        </a:rPr>
                        <a:t> 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모회사 양식에 의거 제무제표 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DATA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생성 및 모회사에 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DATA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 제공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회계파트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회계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파트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모회사 계정코드 매핑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2)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연결 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DATA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등록</a:t>
                      </a:r>
                      <a:endParaRPr lang="en-US" altLang="ko-KR" sz="1000" b="0" baseline="0" smtClean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모회사 양식 제무제표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370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연결기초자료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모회사 계정코드 매핑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370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연결자료 등록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연결 현금흐름표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자본변동표 등록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  <a:tr h="3852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연결 재무제표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연결재무제표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조회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모회사 양식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algn="l" latinLnBrk="1"/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재무상태표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포괄손익계산서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현금흐름표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자본변동표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634768325"/>
                  </a:ext>
                </a:extLst>
              </a:tr>
            </a:tbl>
          </a:graphicData>
        </a:graphic>
      </p:graphicFrame>
      <p:sp>
        <p:nvSpPr>
          <p:cNvPr id="10" name="제목 2">
            <a:extLst>
              <a:ext uri="{FF2B5EF4-FFF2-40B4-BE49-F238E27FC236}">
                <a16:creationId xmlns="" xmlns:a16="http://schemas.microsoft.com/office/drawing/2014/main" id="{C0E42CB6-E8AF-E644-9D0E-99DEEE340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88" y="0"/>
            <a:ext cx="6696744" cy="781320"/>
          </a:xfrm>
        </p:spPr>
        <p:txBody>
          <a:bodyPr>
            <a:noAutofit/>
          </a:bodyPr>
          <a:lstStyle/>
          <a:p>
            <a:r>
              <a:rPr lang="en-US" altLang="ko-KR" smtClean="0"/>
              <a:t>3.2 </a:t>
            </a:r>
            <a:r>
              <a:rPr lang="ko-KR" altLang="en-US" smtClean="0"/>
              <a:t>회계관리</a:t>
            </a:r>
            <a:r>
              <a:rPr lang="en-US" altLang="ko-KR" smtClean="0"/>
              <a:t> </a:t>
            </a:r>
            <a:r>
              <a:rPr lang="ko-KR" altLang="en-US" dirty="0"/>
              <a:t>업무분류 및 기능 정의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3.</a:t>
            </a:r>
            <a:r>
              <a:rPr lang="en-US" altLang="ko-KR" sz="1800" smtClean="0">
                <a:solidFill>
                  <a:prstClr val="black"/>
                </a:solidFill>
              </a:rPr>
              <a:t>2.2 </a:t>
            </a:r>
            <a:r>
              <a:rPr lang="ko-KR" altLang="en-US" sz="1800" smtClean="0">
                <a:solidFill>
                  <a:prstClr val="black"/>
                </a:solidFill>
              </a:rPr>
              <a:t>회계관리 </a:t>
            </a:r>
            <a:r>
              <a:rPr lang="ko-KR" altLang="en-US" sz="1800" dirty="0">
                <a:solidFill>
                  <a:prstClr val="black"/>
                </a:solidFill>
              </a:rPr>
              <a:t>업무기능 정의 </a:t>
            </a:r>
            <a:r>
              <a:rPr lang="en-US" altLang="ko-KR" sz="1800" dirty="0">
                <a:solidFill>
                  <a:prstClr val="black"/>
                </a:solidFill>
              </a:rPr>
              <a:t>(</a:t>
            </a:r>
            <a:r>
              <a:rPr lang="en-US" altLang="ko-KR" sz="1800" dirty="0"/>
              <a:t>2/2)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8285352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>
          <a:xfrm>
            <a:off x="381548" y="886681"/>
            <a:ext cx="9180512" cy="870304"/>
          </a:xfrm>
          <a:noFill/>
          <a:ln w="6350"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pPr>
              <a:spcAft>
                <a:spcPct val="30000"/>
              </a:spcAft>
              <a:buClr>
                <a:srgbClr val="808080"/>
              </a:buClr>
            </a:pPr>
            <a:r>
              <a:rPr lang="ko-KR" altLang="en-US" smtClean="0">
                <a:solidFill>
                  <a:srgbClr val="000000"/>
                </a:solidFill>
                <a:latin typeface="+mn-ea"/>
                <a:ea typeface="+mn-ea"/>
              </a:rPr>
              <a:t>구매업무의 </a:t>
            </a:r>
            <a:r>
              <a:rPr lang="ko-KR" altLang="en-US">
                <a:solidFill>
                  <a:srgbClr val="000000"/>
                </a:solidFill>
                <a:latin typeface="+mn-ea"/>
                <a:ea typeface="+mn-ea"/>
              </a:rPr>
              <a:t>전반적인 프로세스를 지원하고 예산</a:t>
            </a:r>
            <a:r>
              <a:rPr lang="en-US" altLang="ko-KR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+mn-ea"/>
                <a:ea typeface="+mn-ea"/>
              </a:rPr>
              <a:t>회계</a:t>
            </a:r>
            <a:r>
              <a:rPr lang="en-US" altLang="ko-KR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+mn-ea"/>
                <a:ea typeface="+mn-ea"/>
              </a:rPr>
              <a:t>자산관리 시스템과의 연계기능을  고도화하여 사용자의 편의와 구매 업무의 효율성을 강화합니다</a:t>
            </a:r>
            <a:r>
              <a:rPr lang="en-US" altLang="ko-KR">
                <a:solidFill>
                  <a:srgbClr val="000000"/>
                </a:solidFill>
                <a:latin typeface="+mn-ea"/>
                <a:ea typeface="+mn-ea"/>
              </a:rPr>
              <a:t>. </a:t>
            </a:r>
            <a:r>
              <a:rPr lang="ko-KR" altLang="en-US" smtClean="0">
                <a:solidFill>
                  <a:srgbClr val="000000"/>
                </a:solidFill>
                <a:latin typeface="+mn-ea"/>
                <a:ea typeface="+mn-ea"/>
              </a:rPr>
              <a:t>구매</a:t>
            </a:r>
            <a:r>
              <a:rPr lang="en-US" altLang="ko-KR" smtClean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mtClean="0">
                <a:solidFill>
                  <a:srgbClr val="000000"/>
                </a:solidFill>
                <a:latin typeface="+mn-ea"/>
                <a:ea typeface="+mn-ea"/>
              </a:rPr>
              <a:t>사전규격</a:t>
            </a:r>
            <a:r>
              <a:rPr lang="en-US" altLang="ko-KR" smtClean="0">
                <a:solidFill>
                  <a:srgbClr val="000000"/>
                </a:solidFill>
                <a:latin typeface="+mn-ea"/>
                <a:ea typeface="+mn-ea"/>
              </a:rPr>
              <a:t>/</a:t>
            </a:r>
            <a:r>
              <a:rPr lang="ko-KR" altLang="en-US" smtClean="0">
                <a:solidFill>
                  <a:srgbClr val="000000"/>
                </a:solidFill>
                <a:latin typeface="+mn-ea"/>
                <a:ea typeface="+mn-ea"/>
              </a:rPr>
              <a:t>입찰</a:t>
            </a:r>
            <a:r>
              <a:rPr lang="en-US" altLang="ko-KR" smtClean="0">
                <a:solidFill>
                  <a:srgbClr val="000000"/>
                </a:solidFill>
                <a:latin typeface="+mn-ea"/>
                <a:ea typeface="+mn-ea"/>
              </a:rPr>
              <a:t>/</a:t>
            </a:r>
            <a:r>
              <a:rPr lang="ko-KR" altLang="en-US" smtClean="0">
                <a:solidFill>
                  <a:srgbClr val="000000"/>
                </a:solidFill>
                <a:latin typeface="+mn-ea"/>
                <a:ea typeface="+mn-ea"/>
              </a:rPr>
              <a:t>계약</a:t>
            </a:r>
            <a:r>
              <a:rPr lang="en-US" altLang="ko-KR" smtClean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r>
              <a:rPr lang="ko-KR" altLang="en-US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>
                <a:solidFill>
                  <a:srgbClr val="000000"/>
                </a:solidFill>
                <a:latin typeface="+mn-ea"/>
                <a:ea typeface="+mn-ea"/>
              </a:rPr>
              <a:t>진행현황을 관리하여 </a:t>
            </a:r>
            <a:r>
              <a:rPr lang="ko-KR" altLang="en-US" smtClean="0">
                <a:solidFill>
                  <a:srgbClr val="000000"/>
                </a:solidFill>
                <a:latin typeface="+mn-ea"/>
                <a:ea typeface="+mn-ea"/>
              </a:rPr>
              <a:t>구매 </a:t>
            </a:r>
            <a:r>
              <a:rPr lang="ko-KR" altLang="en-US">
                <a:solidFill>
                  <a:srgbClr val="000000"/>
                </a:solidFill>
                <a:latin typeface="+mn-ea"/>
                <a:ea typeface="+mn-ea"/>
              </a:rPr>
              <a:t>요청자에게 정확한 진행정보를 </a:t>
            </a:r>
            <a:r>
              <a:rPr lang="ko-KR" altLang="en-US" smtClean="0">
                <a:solidFill>
                  <a:srgbClr val="000000"/>
                </a:solidFill>
                <a:latin typeface="+mn-ea"/>
                <a:ea typeface="+mn-ea"/>
              </a:rPr>
              <a:t>제공하고</a:t>
            </a:r>
            <a:r>
              <a:rPr lang="en-US" altLang="ko-KR" smtClean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mtClean="0">
                <a:solidFill>
                  <a:srgbClr val="000000"/>
                </a:solidFill>
                <a:latin typeface="+mn-ea"/>
                <a:ea typeface="+mn-ea"/>
              </a:rPr>
              <a:t>법률자문</a:t>
            </a:r>
            <a:r>
              <a:rPr lang="en-US" altLang="ko-KR" smtClean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mtClean="0">
                <a:solidFill>
                  <a:srgbClr val="000000"/>
                </a:solidFill>
                <a:latin typeface="+mn-ea"/>
                <a:ea typeface="+mn-ea"/>
              </a:rPr>
              <a:t>차량관리 업무를 처리함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spcBef>
                <a:spcPts val="288"/>
              </a:spcBef>
            </a:pPr>
            <a:r>
              <a:rPr lang="en-US" altLang="ko-KR" smtClean="0">
                <a:solidFill>
                  <a:prstClr val="black"/>
                </a:solidFill>
              </a:rPr>
              <a:t>Ⅲ. </a:t>
            </a:r>
            <a:r>
              <a:rPr lang="ko-KR" altLang="en-US" smtClean="0">
                <a:solidFill>
                  <a:prstClr val="black"/>
                </a:solidFill>
              </a:rPr>
              <a:t>목표모델 설계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spcBef>
                <a:spcPts val="288"/>
              </a:spcBef>
            </a:pPr>
            <a:r>
              <a:rPr lang="en-US" altLang="ko-KR" dirty="0">
                <a:solidFill>
                  <a:prstClr val="black"/>
                </a:solidFill>
              </a:rPr>
              <a:t>3. </a:t>
            </a:r>
            <a:r>
              <a:rPr lang="ko-KR" altLang="en-US" dirty="0">
                <a:solidFill>
                  <a:prstClr val="black"/>
                </a:solidFill>
              </a:rPr>
              <a:t>업무별 개선안 설계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spcBef>
                <a:spcPts val="288"/>
              </a:spcBef>
            </a:pPr>
            <a:r>
              <a:rPr lang="en-US" altLang="ko-KR" smtClean="0">
                <a:solidFill>
                  <a:prstClr val="black"/>
                </a:solidFill>
              </a:rPr>
              <a:t>3.3 </a:t>
            </a:r>
            <a:r>
              <a:rPr lang="ko-KR" altLang="en-US" smtClean="0">
                <a:solidFill>
                  <a:prstClr val="black"/>
                </a:solidFill>
              </a:rPr>
              <a:t>구매관리 </a:t>
            </a:r>
            <a:r>
              <a:rPr lang="ko-KR" altLang="en-US">
                <a:solidFill>
                  <a:prstClr val="black"/>
                </a:solidFill>
              </a:rPr>
              <a:t>업무프로세스 </a:t>
            </a:r>
            <a:r>
              <a:rPr lang="ko-KR" altLang="en-US" smtClean="0">
                <a:solidFill>
                  <a:prstClr val="black"/>
                </a:solidFill>
              </a:rPr>
              <a:t>개선안</a:t>
            </a:r>
            <a:endParaRPr lang="en-US" altLang="ko-KR" dirty="0">
              <a:solidFill>
                <a:prstClr val="black"/>
              </a:solidFill>
            </a:endParaRPr>
          </a:p>
        </p:txBody>
      </p:sp>
      <p:sp>
        <p:nvSpPr>
          <p:cNvPr id="311" name="직사각형 310">
            <a:extLst>
              <a:ext uri="{FF2B5EF4-FFF2-40B4-BE49-F238E27FC236}">
                <a16:creationId xmlns="" xmlns:a16="http://schemas.microsoft.com/office/drawing/2014/main" id="{834EF977-2F4F-4CFA-8644-DCEB070BA4D7}"/>
              </a:ext>
            </a:extLst>
          </p:cNvPr>
          <p:cNvSpPr/>
          <p:nvPr/>
        </p:nvSpPr>
        <p:spPr bwMode="auto">
          <a:xfrm>
            <a:off x="354519" y="1628800"/>
            <a:ext cx="9170481" cy="324000"/>
          </a:xfrm>
          <a:prstGeom prst="rect">
            <a:avLst/>
          </a:prstGeom>
          <a:solidFill>
            <a:srgbClr val="233C5A"/>
          </a:solidFill>
          <a:ln w="12699">
            <a:solidFill>
              <a:srgbClr val="000000">
                <a:lumMod val="50000"/>
                <a:lumOff val="5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buClrTx/>
              <a:buFontTx/>
              <a:buNone/>
              <a:defRPr/>
            </a:pP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업무분류 구조도 </a:t>
            </a:r>
            <a: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(TO-BE)</a:t>
            </a:r>
            <a:endParaRPr lang="ko-KR" altLang="en-US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312" name="Rectangle 4">
            <a:extLst>
              <a:ext uri="{FF2B5EF4-FFF2-40B4-BE49-F238E27FC236}">
                <a16:creationId xmlns="" xmlns:a16="http://schemas.microsoft.com/office/drawing/2014/main" id="{89D385C2-BC55-4019-B543-408E7D7B9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1921752"/>
            <a:ext cx="9170481" cy="435588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265113" indent="-265113" latinLnBrk="0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endParaRPr lang="ko-KR" altLang="en-US" sz="1400" b="0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316" name="Rectangle 43">
            <a:extLst>
              <a:ext uri="{FF2B5EF4-FFF2-40B4-BE49-F238E27FC236}">
                <a16:creationId xmlns="" xmlns:a16="http://schemas.microsoft.com/office/drawing/2014/main" id="{F6A7BD53-EDB7-4ACE-ACD6-9D9808E65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0676" y="2727039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00"/>
                </a:solidFill>
                <a:latin typeface="+mn-ea"/>
              </a:rPr>
              <a:t>3.2 </a:t>
            </a:r>
            <a:endParaRPr lang="en-US" altLang="ko-KR" sz="1100" b="1" kern="0" dirty="0">
              <a:solidFill>
                <a:srgbClr val="000000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물품청구관리</a:t>
            </a:r>
            <a:endParaRPr lang="en-US" altLang="ko-KR" sz="1100" b="1" kern="0" spc="-15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317" name="꺾인 연결선 16">
            <a:extLst>
              <a:ext uri="{FF2B5EF4-FFF2-40B4-BE49-F238E27FC236}">
                <a16:creationId xmlns="" xmlns:a16="http://schemas.microsoft.com/office/drawing/2014/main" id="{3527B8CC-4135-46EF-B509-FECE5DAD555E}"/>
              </a:ext>
            </a:extLst>
          </p:cNvPr>
          <p:cNvCxnSpPr>
            <a:cxnSpLocks/>
            <a:stCxn id="320" idx="2"/>
            <a:endCxn id="316" idx="0"/>
          </p:cNvCxnSpPr>
          <p:nvPr/>
        </p:nvCxnSpPr>
        <p:spPr bwMode="auto">
          <a:xfrm rot="5400000">
            <a:off x="3818092" y="1386418"/>
            <a:ext cx="270790" cy="2410453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318" name="Rectangle 43">
            <a:extLst>
              <a:ext uri="{FF2B5EF4-FFF2-40B4-BE49-F238E27FC236}">
                <a16:creationId xmlns="" xmlns:a16="http://schemas.microsoft.com/office/drawing/2014/main" id="{55A536C4-1F9D-4CFC-B360-5BE659245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0746" y="33929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3.2.1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물품청구입력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319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316" idx="2"/>
            <a:endCxn id="318" idx="0"/>
          </p:cNvCxnSpPr>
          <p:nvPr/>
        </p:nvCxnSpPr>
        <p:spPr bwMode="auto">
          <a:xfrm>
            <a:off x="2748260" y="3126413"/>
            <a:ext cx="35" cy="26658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0" name="Rectangle 43">
            <a:extLst>
              <a:ext uri="{FF2B5EF4-FFF2-40B4-BE49-F238E27FC236}">
                <a16:creationId xmlns="" xmlns:a16="http://schemas.microsoft.com/office/drawing/2014/main" id="{C37FE70D-B49D-4E1B-8525-B9801948F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030" y="2058161"/>
            <a:ext cx="8263366" cy="398088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300" b="1" kern="0" smtClean="0">
                <a:solidFill>
                  <a:prstClr val="white"/>
                </a:solidFill>
                <a:latin typeface="+mn-ea"/>
              </a:rPr>
              <a:t>3. </a:t>
            </a:r>
            <a:r>
              <a:rPr lang="ko-KR" altLang="en-US" sz="1300" b="1" kern="0" smtClean="0">
                <a:solidFill>
                  <a:prstClr val="white"/>
                </a:solidFill>
                <a:latin typeface="+mn-ea"/>
              </a:rPr>
              <a:t>구매관리</a:t>
            </a:r>
            <a:endParaRPr lang="en-US" altLang="ko-KR" sz="13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1" name="Rectangle 43">
            <a:extLst>
              <a:ext uri="{FF2B5EF4-FFF2-40B4-BE49-F238E27FC236}">
                <a16:creationId xmlns="" xmlns:a16="http://schemas.microsoft.com/office/drawing/2014/main" id="{D6022CC8-8B0F-4459-9750-B32A286F0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4322" y="2727039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00"/>
                </a:solidFill>
                <a:latin typeface="+mn-ea"/>
              </a:rPr>
              <a:t>3.3 </a:t>
            </a:r>
            <a:endParaRPr lang="en-US" altLang="ko-KR" sz="1100" b="1" kern="0" dirty="0">
              <a:solidFill>
                <a:srgbClr val="000000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solidFill>
                  <a:srgbClr val="000000"/>
                </a:solidFill>
                <a:latin typeface="+mn-ea"/>
              </a:rPr>
              <a:t>수리계약관리</a:t>
            </a:r>
            <a:endParaRPr lang="en-US" altLang="ko-KR" sz="1100" b="1" kern="0" spc="-15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22" name="Rectangle 43">
            <a:extLst>
              <a:ext uri="{FF2B5EF4-FFF2-40B4-BE49-F238E27FC236}">
                <a16:creationId xmlns="" xmlns:a16="http://schemas.microsoft.com/office/drawing/2014/main" id="{AAC9D106-BE04-41F1-AFEB-0A5D02642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1614" y="2727039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00"/>
                </a:solidFill>
                <a:latin typeface="+mn-ea"/>
              </a:rPr>
              <a:t>3.5</a:t>
            </a:r>
            <a:endParaRPr lang="en-US" altLang="ko-KR" sz="1100" b="1" kern="0" dirty="0">
              <a:solidFill>
                <a:srgbClr val="000000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solidFill>
                  <a:srgbClr val="000000"/>
                </a:solidFill>
                <a:latin typeface="+mn-ea"/>
              </a:rPr>
              <a:t>구매진행관리</a:t>
            </a:r>
            <a:endParaRPr lang="en-US" altLang="ko-KR" sz="1100" b="1" kern="0" spc="-15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23" name="Rectangle 43">
            <a:extLst>
              <a:ext uri="{FF2B5EF4-FFF2-40B4-BE49-F238E27FC236}">
                <a16:creationId xmlns="" xmlns:a16="http://schemas.microsoft.com/office/drawing/2014/main" id="{710E7DA3-5FB4-4ACB-A8F3-7C5B8554A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5260" y="2727039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00"/>
                </a:solidFill>
                <a:latin typeface="+mn-ea"/>
              </a:rPr>
              <a:t>3.6 </a:t>
            </a:r>
            <a:endParaRPr lang="en-US" altLang="ko-KR" sz="1100" b="1" kern="0" dirty="0">
              <a:solidFill>
                <a:srgbClr val="000000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solidFill>
                  <a:srgbClr val="000000"/>
                </a:solidFill>
                <a:latin typeface="+mn-ea"/>
              </a:rPr>
              <a:t>행정서비스</a:t>
            </a:r>
            <a:endParaRPr lang="en-US" altLang="ko-KR" sz="1100" b="1" kern="0" spc="-15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24" name="Rectangle 43">
            <a:extLst>
              <a:ext uri="{FF2B5EF4-FFF2-40B4-BE49-F238E27FC236}">
                <a16:creationId xmlns="" xmlns:a16="http://schemas.microsoft.com/office/drawing/2014/main" id="{1F3C037D-8663-4BB2-8F50-67E55BF23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8905" y="2727039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00"/>
                </a:solidFill>
                <a:latin typeface="+mn-ea"/>
              </a:rPr>
              <a:t>3.7 </a:t>
            </a:r>
            <a:endParaRPr lang="en-US" altLang="ko-KR" sz="1100" b="1" kern="0" dirty="0">
              <a:solidFill>
                <a:srgbClr val="000000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00"/>
                </a:solidFill>
                <a:latin typeface="+mn-ea"/>
              </a:rPr>
              <a:t>차량관리</a:t>
            </a:r>
            <a:endParaRPr lang="ko-KR" altLang="en-US" sz="1100" b="1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325" name="꺾인 연결선 95">
            <a:extLst>
              <a:ext uri="{FF2B5EF4-FFF2-40B4-BE49-F238E27FC236}">
                <a16:creationId xmlns="" xmlns:a16="http://schemas.microsoft.com/office/drawing/2014/main" id="{4707B7F0-4A9A-48EF-A615-1016A4AB6D50}"/>
              </a:ext>
            </a:extLst>
          </p:cNvPr>
          <p:cNvCxnSpPr>
            <a:cxnSpLocks/>
            <a:stCxn id="320" idx="2"/>
            <a:endCxn id="324" idx="0"/>
          </p:cNvCxnSpPr>
          <p:nvPr/>
        </p:nvCxnSpPr>
        <p:spPr bwMode="auto">
          <a:xfrm rot="16200000" flipH="1">
            <a:off x="6827206" y="787756"/>
            <a:ext cx="270790" cy="3607776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26" name="꺾인 연결선 98">
            <a:extLst>
              <a:ext uri="{FF2B5EF4-FFF2-40B4-BE49-F238E27FC236}">
                <a16:creationId xmlns="" xmlns:a16="http://schemas.microsoft.com/office/drawing/2014/main" id="{140F111D-6450-4FBD-BB10-FB50112D1751}"/>
              </a:ext>
            </a:extLst>
          </p:cNvPr>
          <p:cNvCxnSpPr>
            <a:cxnSpLocks/>
            <a:stCxn id="320" idx="2"/>
            <a:endCxn id="321" idx="0"/>
          </p:cNvCxnSpPr>
          <p:nvPr/>
        </p:nvCxnSpPr>
        <p:spPr bwMode="auto">
          <a:xfrm rot="5400000">
            <a:off x="4419915" y="1988241"/>
            <a:ext cx="270790" cy="1206807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27" name="꺾인 연결선 101">
            <a:extLst>
              <a:ext uri="{FF2B5EF4-FFF2-40B4-BE49-F238E27FC236}">
                <a16:creationId xmlns="" xmlns:a16="http://schemas.microsoft.com/office/drawing/2014/main" id="{BA41D50E-5184-4CAD-B9D9-E23D3EC512F4}"/>
              </a:ext>
            </a:extLst>
          </p:cNvPr>
          <p:cNvCxnSpPr>
            <a:cxnSpLocks/>
            <a:stCxn id="320" idx="2"/>
            <a:endCxn id="322" idx="0"/>
          </p:cNvCxnSpPr>
          <p:nvPr/>
        </p:nvCxnSpPr>
        <p:spPr bwMode="auto">
          <a:xfrm rot="16200000" flipH="1">
            <a:off x="5623560" y="1991401"/>
            <a:ext cx="270790" cy="1200485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28" name="꺾인 연결선 104">
            <a:extLst>
              <a:ext uri="{FF2B5EF4-FFF2-40B4-BE49-F238E27FC236}">
                <a16:creationId xmlns="" xmlns:a16="http://schemas.microsoft.com/office/drawing/2014/main" id="{7D6841DF-7D60-4A15-8D68-2DF204ABC742}"/>
              </a:ext>
            </a:extLst>
          </p:cNvPr>
          <p:cNvCxnSpPr>
            <a:cxnSpLocks/>
            <a:stCxn id="320" idx="2"/>
            <a:endCxn id="323" idx="0"/>
          </p:cNvCxnSpPr>
          <p:nvPr/>
        </p:nvCxnSpPr>
        <p:spPr bwMode="auto">
          <a:xfrm rot="16200000" flipH="1">
            <a:off x="6225383" y="1389578"/>
            <a:ext cx="270790" cy="2404131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329" name="Rectangle 43">
            <a:extLst>
              <a:ext uri="{FF2B5EF4-FFF2-40B4-BE49-F238E27FC236}">
                <a16:creationId xmlns="" xmlns:a16="http://schemas.microsoft.com/office/drawing/2014/main" id="{E965CCD8-2743-48F9-8315-B5DADCCDA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4321" y="3392997"/>
            <a:ext cx="1035169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3.3.1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수리요청입력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0" name="Rectangle 43">
            <a:extLst>
              <a:ext uri="{FF2B5EF4-FFF2-40B4-BE49-F238E27FC236}">
                <a16:creationId xmlns="" xmlns:a16="http://schemas.microsoft.com/office/drawing/2014/main" id="{178EBF35-26B2-480A-87C2-82B04DC82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1614" y="33929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3.5.1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사전규격관리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2" name="Rectangle 43">
            <a:extLst>
              <a:ext uri="{FF2B5EF4-FFF2-40B4-BE49-F238E27FC236}">
                <a16:creationId xmlns="" xmlns:a16="http://schemas.microsoft.com/office/drawing/2014/main" id="{A402D1D2-36A2-408F-9FA1-94C47FEEA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8975" y="33929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3.7.1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차량예약관리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3" name="Rectangle 43">
            <a:extLst>
              <a:ext uri="{FF2B5EF4-FFF2-40B4-BE49-F238E27FC236}">
                <a16:creationId xmlns="" xmlns:a16="http://schemas.microsoft.com/office/drawing/2014/main" id="{70CCE5AE-3D2E-4940-9C11-ABFBE5F52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4322" y="3946770"/>
            <a:ext cx="103516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3.3.2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수리요청승인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4" name="Rectangle 43">
            <a:extLst>
              <a:ext uri="{FF2B5EF4-FFF2-40B4-BE49-F238E27FC236}">
                <a16:creationId xmlns="" xmlns:a16="http://schemas.microsoft.com/office/drawing/2014/main" id="{C6AF2B82-F503-46E0-AD73-C09C27E99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4322" y="4500543"/>
            <a:ext cx="103516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3.3.3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수리계약관리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5" name="Rectangle 43">
            <a:extLst>
              <a:ext uri="{FF2B5EF4-FFF2-40B4-BE49-F238E27FC236}">
                <a16:creationId xmlns="" xmlns:a16="http://schemas.microsoft.com/office/drawing/2014/main" id="{FB16AB14-DCB7-4BB3-B826-76FB9C0BA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4322" y="5051406"/>
            <a:ext cx="103516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3.3.4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수리검수관리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6" name="Rectangle 43">
            <a:extLst>
              <a:ext uri="{FF2B5EF4-FFF2-40B4-BE49-F238E27FC236}">
                <a16:creationId xmlns="" xmlns:a16="http://schemas.microsoft.com/office/drawing/2014/main" id="{553D359E-ECF9-404B-BF6B-276C17858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1614" y="3946770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3.5.2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구매일정관리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337" name="꺾인 연결선 91">
            <a:extLst>
              <a:ext uri="{FF2B5EF4-FFF2-40B4-BE49-F238E27FC236}">
                <a16:creationId xmlns="" xmlns:a16="http://schemas.microsoft.com/office/drawing/2014/main" id="{46BE52CD-219C-4FE0-BAF9-A389CB6A694E}"/>
              </a:ext>
            </a:extLst>
          </p:cNvPr>
          <p:cNvCxnSpPr>
            <a:stCxn id="321" idx="2"/>
            <a:endCxn id="329" idx="0"/>
          </p:cNvCxnSpPr>
          <p:nvPr/>
        </p:nvCxnSpPr>
        <p:spPr bwMode="auto">
          <a:xfrm>
            <a:off x="3951906" y="3126413"/>
            <a:ext cx="0" cy="266584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8" name="꺾인 연결선 91">
            <a:extLst>
              <a:ext uri="{FF2B5EF4-FFF2-40B4-BE49-F238E27FC236}">
                <a16:creationId xmlns="" xmlns:a16="http://schemas.microsoft.com/office/drawing/2014/main" id="{E5264E3C-153B-4603-8339-982EA3EFD6B0}"/>
              </a:ext>
            </a:extLst>
          </p:cNvPr>
          <p:cNvCxnSpPr>
            <a:stCxn id="322" idx="2"/>
            <a:endCxn id="330" idx="0"/>
          </p:cNvCxnSpPr>
          <p:nvPr/>
        </p:nvCxnSpPr>
        <p:spPr bwMode="auto">
          <a:xfrm flipH="1">
            <a:off x="6359163" y="3126413"/>
            <a:ext cx="35" cy="26658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9" name="꺾인 연결선 91">
            <a:extLst>
              <a:ext uri="{FF2B5EF4-FFF2-40B4-BE49-F238E27FC236}">
                <a16:creationId xmlns="" xmlns:a16="http://schemas.microsoft.com/office/drawing/2014/main" id="{EFB36DBF-C4D7-484B-B813-6C87C11905B8}"/>
              </a:ext>
            </a:extLst>
          </p:cNvPr>
          <p:cNvCxnSpPr>
            <a:stCxn id="323" idx="2"/>
            <a:endCxn id="349" idx="0"/>
          </p:cNvCxnSpPr>
          <p:nvPr/>
        </p:nvCxnSpPr>
        <p:spPr bwMode="auto">
          <a:xfrm flipH="1">
            <a:off x="7562809" y="3126413"/>
            <a:ext cx="35" cy="27693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0" name="꺾인 연결선 91">
            <a:extLst>
              <a:ext uri="{FF2B5EF4-FFF2-40B4-BE49-F238E27FC236}">
                <a16:creationId xmlns="" xmlns:a16="http://schemas.microsoft.com/office/drawing/2014/main" id="{D538DF82-7B4A-4238-AA2A-4BD4B1FC198E}"/>
              </a:ext>
            </a:extLst>
          </p:cNvPr>
          <p:cNvCxnSpPr>
            <a:stCxn id="324" idx="2"/>
            <a:endCxn id="332" idx="0"/>
          </p:cNvCxnSpPr>
          <p:nvPr/>
        </p:nvCxnSpPr>
        <p:spPr bwMode="auto">
          <a:xfrm>
            <a:off x="8766489" y="3126413"/>
            <a:ext cx="35" cy="26658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1" name="꺾인 연결선 91">
            <a:extLst>
              <a:ext uri="{FF2B5EF4-FFF2-40B4-BE49-F238E27FC236}">
                <a16:creationId xmlns="" xmlns:a16="http://schemas.microsoft.com/office/drawing/2014/main" id="{C1093954-97D2-42CF-B1F6-164C80F61F06}"/>
              </a:ext>
            </a:extLst>
          </p:cNvPr>
          <p:cNvCxnSpPr>
            <a:stCxn id="329" idx="2"/>
            <a:endCxn id="333" idx="0"/>
          </p:cNvCxnSpPr>
          <p:nvPr/>
        </p:nvCxnSpPr>
        <p:spPr bwMode="auto">
          <a:xfrm>
            <a:off x="3951906" y="3815738"/>
            <a:ext cx="0" cy="131032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2" name="꺾인 연결선 91">
            <a:extLst>
              <a:ext uri="{FF2B5EF4-FFF2-40B4-BE49-F238E27FC236}">
                <a16:creationId xmlns="" xmlns:a16="http://schemas.microsoft.com/office/drawing/2014/main" id="{498B867C-3266-4F6D-A473-81764FDFAFA6}"/>
              </a:ext>
            </a:extLst>
          </p:cNvPr>
          <p:cNvCxnSpPr>
            <a:stCxn id="330" idx="2"/>
            <a:endCxn id="336" idx="0"/>
          </p:cNvCxnSpPr>
          <p:nvPr/>
        </p:nvCxnSpPr>
        <p:spPr bwMode="auto">
          <a:xfrm>
            <a:off x="6359163" y="3815737"/>
            <a:ext cx="0" cy="13103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3" name="꺾인 연결선 91">
            <a:extLst>
              <a:ext uri="{FF2B5EF4-FFF2-40B4-BE49-F238E27FC236}">
                <a16:creationId xmlns="" xmlns:a16="http://schemas.microsoft.com/office/drawing/2014/main" id="{0FDB1728-739B-4663-8E33-2C7F9C8B6D4C}"/>
              </a:ext>
            </a:extLst>
          </p:cNvPr>
          <p:cNvCxnSpPr>
            <a:stCxn id="333" idx="2"/>
            <a:endCxn id="334" idx="0"/>
          </p:cNvCxnSpPr>
          <p:nvPr/>
        </p:nvCxnSpPr>
        <p:spPr bwMode="auto">
          <a:xfrm>
            <a:off x="3951906" y="4369511"/>
            <a:ext cx="0" cy="131032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4" name="꺾인 연결선 91">
            <a:extLst>
              <a:ext uri="{FF2B5EF4-FFF2-40B4-BE49-F238E27FC236}">
                <a16:creationId xmlns="" xmlns:a16="http://schemas.microsoft.com/office/drawing/2014/main" id="{5A327428-C648-4BDA-8B8C-10424E53D48C}"/>
              </a:ext>
            </a:extLst>
          </p:cNvPr>
          <p:cNvCxnSpPr>
            <a:stCxn id="334" idx="2"/>
            <a:endCxn id="335" idx="0"/>
          </p:cNvCxnSpPr>
          <p:nvPr/>
        </p:nvCxnSpPr>
        <p:spPr bwMode="auto">
          <a:xfrm>
            <a:off x="3951906" y="4923284"/>
            <a:ext cx="0" cy="128122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9" name="Rectangle 43">
            <a:extLst>
              <a:ext uri="{FF2B5EF4-FFF2-40B4-BE49-F238E27FC236}">
                <a16:creationId xmlns="" xmlns:a16="http://schemas.microsoft.com/office/drawing/2014/main" id="{516D57EA-8179-4547-AFA2-EF10E8DF8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5260" y="3403352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3.6.1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법률자문 접수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50" name="Rectangle 43">
            <a:extLst>
              <a:ext uri="{FF2B5EF4-FFF2-40B4-BE49-F238E27FC236}">
                <a16:creationId xmlns="" xmlns:a16="http://schemas.microsoft.com/office/drawing/2014/main" id="{A9BE069A-19F1-4EFE-B1F4-D663E17A6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5260" y="3959098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3.6.2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법률자문 할당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352" name="꺾인 연결선 91">
            <a:extLst>
              <a:ext uri="{FF2B5EF4-FFF2-40B4-BE49-F238E27FC236}">
                <a16:creationId xmlns="" xmlns:a16="http://schemas.microsoft.com/office/drawing/2014/main" id="{D9020392-6D4A-4B21-8B86-95FF602905AC}"/>
              </a:ext>
            </a:extLst>
          </p:cNvPr>
          <p:cNvCxnSpPr>
            <a:stCxn id="349" idx="2"/>
            <a:endCxn id="350" idx="0"/>
          </p:cNvCxnSpPr>
          <p:nvPr/>
        </p:nvCxnSpPr>
        <p:spPr bwMode="auto">
          <a:xfrm>
            <a:off x="7562809" y="3826093"/>
            <a:ext cx="0" cy="133005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3" name="Rectangle 43">
            <a:extLst>
              <a:ext uri="{FF2B5EF4-FFF2-40B4-BE49-F238E27FC236}">
                <a16:creationId xmlns="" xmlns:a16="http://schemas.microsoft.com/office/drawing/2014/main" id="{1FE693CD-399F-49A0-809A-A7B828920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0746" y="39447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3.2.2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보유물품확인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54" name="Rectangle 43">
            <a:extLst>
              <a:ext uri="{FF2B5EF4-FFF2-40B4-BE49-F238E27FC236}">
                <a16:creationId xmlns="" xmlns:a16="http://schemas.microsoft.com/office/drawing/2014/main" id="{3F7C3607-3FBE-4F11-994A-E5384069A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0746" y="44965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3.2.3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보유물품출고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356" name="꺾인 연결선 91">
            <a:extLst>
              <a:ext uri="{FF2B5EF4-FFF2-40B4-BE49-F238E27FC236}">
                <a16:creationId xmlns="" xmlns:a16="http://schemas.microsoft.com/office/drawing/2014/main" id="{C40C9A90-9A50-4418-A92B-D549DB775864}"/>
              </a:ext>
            </a:extLst>
          </p:cNvPr>
          <p:cNvCxnSpPr>
            <a:stCxn id="318" idx="2"/>
            <a:endCxn id="353" idx="0"/>
          </p:cNvCxnSpPr>
          <p:nvPr/>
        </p:nvCxnSpPr>
        <p:spPr bwMode="auto">
          <a:xfrm>
            <a:off x="2748295" y="3815737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7" name="꺾인 연결선 91">
            <a:extLst>
              <a:ext uri="{FF2B5EF4-FFF2-40B4-BE49-F238E27FC236}">
                <a16:creationId xmlns="" xmlns:a16="http://schemas.microsoft.com/office/drawing/2014/main" id="{B65E55FB-9ED9-49B9-A004-E4FAF0F3433F}"/>
              </a:ext>
            </a:extLst>
          </p:cNvPr>
          <p:cNvCxnSpPr>
            <a:stCxn id="353" idx="2"/>
            <a:endCxn id="354" idx="0"/>
          </p:cNvCxnSpPr>
          <p:nvPr/>
        </p:nvCxnSpPr>
        <p:spPr bwMode="auto">
          <a:xfrm>
            <a:off x="2748295" y="4367537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Rectangle 43">
            <a:extLst>
              <a:ext uri="{FF2B5EF4-FFF2-40B4-BE49-F238E27FC236}">
                <a16:creationId xmlns="" xmlns:a16="http://schemas.microsoft.com/office/drawing/2014/main" id="{78B858DD-518B-45F9-8530-B0F311347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8975" y="39447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3.7.2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solidFill>
                  <a:srgbClr val="000000"/>
                </a:solidFill>
                <a:latin typeface="+mn-ea"/>
              </a:rPr>
              <a:t>차량운행처리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60" name="꺾인 연결선 91">
            <a:extLst>
              <a:ext uri="{FF2B5EF4-FFF2-40B4-BE49-F238E27FC236}">
                <a16:creationId xmlns="" xmlns:a16="http://schemas.microsoft.com/office/drawing/2014/main" id="{AD7CD1B6-DB58-4971-90B4-343157356751}"/>
              </a:ext>
            </a:extLst>
          </p:cNvPr>
          <p:cNvCxnSpPr>
            <a:cxnSpLocks/>
            <a:stCxn id="59" idx="0"/>
            <a:endCxn id="332" idx="2"/>
          </p:cNvCxnSpPr>
          <p:nvPr/>
        </p:nvCxnSpPr>
        <p:spPr bwMode="auto">
          <a:xfrm flipV="1">
            <a:off x="8766524" y="3815737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6" name="Rectangle 43">
            <a:extLst>
              <a:ext uri="{FF2B5EF4-FFF2-40B4-BE49-F238E27FC236}">
                <a16:creationId xmlns="" xmlns:a16="http://schemas.microsoft.com/office/drawing/2014/main" id="{CE600711-459B-49BE-98FC-F7DDC039C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758" y="2058161"/>
            <a:ext cx="566033" cy="389930"/>
          </a:xfrm>
          <a:prstGeom prst="roundRect">
            <a:avLst>
              <a:gd name="adj" fmla="val 0"/>
            </a:avLst>
          </a:prstGeom>
          <a:solidFill>
            <a:sysClr val="windowText" lastClr="000000">
              <a:lumMod val="75000"/>
              <a:lumOff val="2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35921" dir="2700000" algn="ctr" rotWithShape="0">
              <a:srgbClr val="E3DED1"/>
            </a:outerShdw>
          </a:effectLst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b="1" kern="0" smtClean="0">
                <a:solidFill>
                  <a:schemeClr val="bg1"/>
                </a:solidFill>
                <a:latin typeface="+mn-ea"/>
              </a:rPr>
              <a:t>Level1</a:t>
            </a:r>
            <a:endParaRPr kumimoji="1" lang="en-US" altLang="ko-KR" sz="105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7" name="Rectangle 43">
            <a:extLst>
              <a:ext uri="{FF2B5EF4-FFF2-40B4-BE49-F238E27FC236}">
                <a16:creationId xmlns="" xmlns:a16="http://schemas.microsoft.com/office/drawing/2014/main" id="{D4181FB3-E5A1-4294-AEE4-A86E412A0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758" y="2553774"/>
            <a:ext cx="566033" cy="689558"/>
          </a:xfrm>
          <a:prstGeom prst="roundRect">
            <a:avLst>
              <a:gd name="adj" fmla="val 0"/>
            </a:avLst>
          </a:prstGeom>
          <a:solidFill>
            <a:sysClr val="windowText" lastClr="000000">
              <a:lumMod val="75000"/>
              <a:lumOff val="2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35921" dir="2700000" algn="ctr" rotWithShape="0">
              <a:srgbClr val="E3DED1"/>
            </a:outerShdw>
          </a:effectLst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b="1" kern="0" smtClean="0">
                <a:solidFill>
                  <a:schemeClr val="bg1"/>
                </a:solidFill>
                <a:latin typeface="+mn-ea"/>
              </a:rPr>
              <a:t>Level2</a:t>
            </a:r>
            <a:endParaRPr kumimoji="1" lang="en-US" altLang="ko-KR" sz="105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8" name="Rectangle 43">
            <a:extLst>
              <a:ext uri="{FF2B5EF4-FFF2-40B4-BE49-F238E27FC236}">
                <a16:creationId xmlns="" xmlns:a16="http://schemas.microsoft.com/office/drawing/2014/main" id="{70FA894C-28C6-49F0-8FC0-617614258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8758" y="3330295"/>
            <a:ext cx="566033" cy="2907017"/>
          </a:xfrm>
          <a:prstGeom prst="roundRect">
            <a:avLst>
              <a:gd name="adj" fmla="val 0"/>
            </a:avLst>
          </a:prstGeom>
          <a:solidFill>
            <a:sysClr val="windowText" lastClr="000000">
              <a:lumMod val="75000"/>
              <a:lumOff val="2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35921" dir="2700000" algn="ctr" rotWithShape="0">
              <a:srgbClr val="E3DED1"/>
            </a:outerShdw>
          </a:effectLst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b="1" kern="0" smtClean="0">
                <a:solidFill>
                  <a:schemeClr val="bg1"/>
                </a:solidFill>
                <a:latin typeface="+mn-ea"/>
              </a:rPr>
              <a:t>Level3</a:t>
            </a:r>
            <a:endParaRPr kumimoji="1" lang="en-US" altLang="ko-KR" sz="105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" name="Rectangle 43">
            <a:extLst>
              <a:ext uri="{FF2B5EF4-FFF2-40B4-BE49-F238E27FC236}">
                <a16:creationId xmlns="" xmlns:a16="http://schemas.microsoft.com/office/drawing/2014/main" id="{E3D82401-A830-0602-D55A-3D7323EE7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030" y="2724418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00"/>
                </a:solidFill>
                <a:latin typeface="+mn-ea"/>
              </a:rPr>
              <a:t>3.1 </a:t>
            </a:r>
            <a:endParaRPr lang="en-US" altLang="ko-KR" sz="1100" b="1" kern="0" dirty="0">
              <a:solidFill>
                <a:srgbClr val="000000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구매기초자료</a:t>
            </a:r>
            <a:endParaRPr lang="en-US" altLang="ko-KR" sz="1100" b="1" kern="0" spc="-15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" name="Rectangle 43">
            <a:extLst>
              <a:ext uri="{FF2B5EF4-FFF2-40B4-BE49-F238E27FC236}">
                <a16:creationId xmlns="" xmlns:a16="http://schemas.microsoft.com/office/drawing/2014/main" id="{8C7218AA-FA01-AE9E-4347-DEE45D2A7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030" y="3390375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3.1.1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>
                <a:latin typeface="+mn-ea"/>
              </a:rPr>
              <a:t>물품코드 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22" name="Rectangle 43">
            <a:extLst>
              <a:ext uri="{FF2B5EF4-FFF2-40B4-BE49-F238E27FC236}">
                <a16:creationId xmlns="" xmlns:a16="http://schemas.microsoft.com/office/drawing/2014/main" id="{85039B3D-D699-ACE0-8607-D30FCBAC3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030" y="3942175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3.1.2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물품창고 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23" name="Rectangle 43">
            <a:extLst>
              <a:ext uri="{FF2B5EF4-FFF2-40B4-BE49-F238E27FC236}">
                <a16:creationId xmlns="" xmlns:a16="http://schemas.microsoft.com/office/drawing/2014/main" id="{318A1D3C-FCE5-FC6A-4E77-B5408E833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030" y="4493975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3.1.3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거래처 정보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24" name="Rectangle 43">
            <a:extLst>
              <a:ext uri="{FF2B5EF4-FFF2-40B4-BE49-F238E27FC236}">
                <a16:creationId xmlns="" xmlns:a16="http://schemas.microsoft.com/office/drawing/2014/main" id="{F9CE4552-706A-773D-CCD3-003F657CC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7030" y="5048785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3.1.4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물품수급관리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="" xmlns:a16="http://schemas.microsoft.com/office/drawing/2014/main" id="{470A1225-C1B3-240B-66B3-C63DA61F2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8975" y="4518427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3.7.3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solidFill>
                  <a:srgbClr val="000000"/>
                </a:solidFill>
                <a:latin typeface="+mn-ea"/>
              </a:rPr>
              <a:t>차량정비관리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42" name="꺾인 연결선 91">
            <a:extLst>
              <a:ext uri="{FF2B5EF4-FFF2-40B4-BE49-F238E27FC236}">
                <a16:creationId xmlns="" xmlns:a16="http://schemas.microsoft.com/office/drawing/2014/main" id="{5FB3F20A-8D33-C6E0-046B-666492CB4DCB}"/>
              </a:ext>
            </a:extLst>
          </p:cNvPr>
          <p:cNvCxnSpPr>
            <a:cxnSpLocks/>
            <a:stCxn id="41" idx="0"/>
            <a:endCxn id="59" idx="2"/>
          </p:cNvCxnSpPr>
          <p:nvPr/>
        </p:nvCxnSpPr>
        <p:spPr bwMode="auto">
          <a:xfrm flipV="1">
            <a:off x="8766524" y="4367537"/>
            <a:ext cx="0" cy="150890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1" name="제목 2">
            <a:extLst>
              <a:ext uri="{FF2B5EF4-FFF2-40B4-BE49-F238E27FC236}">
                <a16:creationId xmlns="" xmlns:a16="http://schemas.microsoft.com/office/drawing/2014/main" id="{9551AA14-AB9F-55B5-4876-85ECDC318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88" y="0"/>
            <a:ext cx="6552728" cy="781320"/>
          </a:xfrm>
        </p:spPr>
        <p:txBody>
          <a:bodyPr>
            <a:noAutofit/>
          </a:bodyPr>
          <a:lstStyle/>
          <a:p>
            <a:r>
              <a:rPr lang="en-US" altLang="ko-KR" smtClean="0"/>
              <a:t>3.3 </a:t>
            </a:r>
            <a:r>
              <a:rPr lang="ko-KR" altLang="en-US" smtClean="0"/>
              <a:t>구매관리</a:t>
            </a:r>
            <a:r>
              <a:rPr lang="en-US" altLang="ko-KR" smtClean="0"/>
              <a:t> </a:t>
            </a:r>
            <a:r>
              <a:rPr lang="ko-KR" altLang="en-US" dirty="0"/>
              <a:t>업무분류 및 기능 정의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3.</a:t>
            </a:r>
            <a:r>
              <a:rPr lang="en-US" altLang="ko-KR" sz="1800" smtClean="0">
                <a:solidFill>
                  <a:prstClr val="black"/>
                </a:solidFill>
              </a:rPr>
              <a:t>3.1 </a:t>
            </a:r>
            <a:r>
              <a:rPr lang="ko-KR" altLang="en-US" sz="1800" smtClean="0"/>
              <a:t>구매</a:t>
            </a:r>
            <a:r>
              <a:rPr lang="ko-KR" altLang="en-US" sz="1800" smtClean="0">
                <a:solidFill>
                  <a:prstClr val="black"/>
                </a:solidFill>
              </a:rPr>
              <a:t>관리 </a:t>
            </a:r>
            <a:r>
              <a:rPr lang="ko-KR" altLang="en-US" sz="1800">
                <a:solidFill>
                  <a:prstClr val="black"/>
                </a:solidFill>
              </a:rPr>
              <a:t>업무분류 </a:t>
            </a:r>
            <a:r>
              <a:rPr lang="ko-KR" altLang="en-US" sz="1800" smtClean="0">
                <a:solidFill>
                  <a:prstClr val="black"/>
                </a:solidFill>
              </a:rPr>
              <a:t>구조도</a:t>
            </a:r>
            <a:endParaRPr lang="ko-KR" altLang="en-US" dirty="0"/>
          </a:p>
        </p:txBody>
      </p:sp>
      <p:sp>
        <p:nvSpPr>
          <p:cNvPr id="70" name="Rectangle 43">
            <a:extLst>
              <a:ext uri="{FF2B5EF4-FFF2-40B4-BE49-F238E27FC236}">
                <a16:creationId xmlns="" xmlns:a16="http://schemas.microsoft.com/office/drawing/2014/main" id="{553D359E-ECF9-404B-BF6B-276C17858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1614" y="4500543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3.5.3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진척 모니터링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71" name="꺾인 연결선 16">
            <a:extLst>
              <a:ext uri="{FF2B5EF4-FFF2-40B4-BE49-F238E27FC236}">
                <a16:creationId xmlns="" xmlns:a16="http://schemas.microsoft.com/office/drawing/2014/main" id="{3527B8CC-4135-46EF-B509-FECE5DAD555E}"/>
              </a:ext>
            </a:extLst>
          </p:cNvPr>
          <p:cNvCxnSpPr>
            <a:cxnSpLocks/>
            <a:stCxn id="320" idx="2"/>
            <a:endCxn id="20" idx="0"/>
          </p:cNvCxnSpPr>
          <p:nvPr/>
        </p:nvCxnSpPr>
        <p:spPr bwMode="auto">
          <a:xfrm rot="5400000">
            <a:off x="3217580" y="783284"/>
            <a:ext cx="268169" cy="3614099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4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20" idx="2"/>
            <a:endCxn id="21" idx="0"/>
          </p:cNvCxnSpPr>
          <p:nvPr/>
        </p:nvCxnSpPr>
        <p:spPr bwMode="auto">
          <a:xfrm flipH="1">
            <a:off x="1544579" y="3123792"/>
            <a:ext cx="35" cy="26658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21" idx="2"/>
            <a:endCxn id="22" idx="0"/>
          </p:cNvCxnSpPr>
          <p:nvPr/>
        </p:nvCxnSpPr>
        <p:spPr bwMode="auto">
          <a:xfrm>
            <a:off x="1544579" y="3813116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22" idx="2"/>
            <a:endCxn id="23" idx="0"/>
          </p:cNvCxnSpPr>
          <p:nvPr/>
        </p:nvCxnSpPr>
        <p:spPr bwMode="auto">
          <a:xfrm>
            <a:off x="1544579" y="4364916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23" idx="2"/>
            <a:endCxn id="24" idx="0"/>
          </p:cNvCxnSpPr>
          <p:nvPr/>
        </p:nvCxnSpPr>
        <p:spPr bwMode="auto">
          <a:xfrm>
            <a:off x="1544579" y="4916716"/>
            <a:ext cx="0" cy="13206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3" name="Rectangle 43">
            <a:extLst>
              <a:ext uri="{FF2B5EF4-FFF2-40B4-BE49-F238E27FC236}">
                <a16:creationId xmlns="" xmlns:a16="http://schemas.microsoft.com/office/drawing/2014/main" id="{A9BE069A-19F1-4EFE-B1F4-D663E17A6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5260" y="4497740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3.6.3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법률자문 회신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80" name="Rectangle 43">
            <a:extLst>
              <a:ext uri="{FF2B5EF4-FFF2-40B4-BE49-F238E27FC236}">
                <a16:creationId xmlns="" xmlns:a16="http://schemas.microsoft.com/office/drawing/2014/main" id="{FB16AB14-DCB7-4BB3-B826-76FB9C0BA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4322" y="5606746"/>
            <a:ext cx="103516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3.3.5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수리진행현황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82" name="꺾인 연결선 91">
            <a:extLst>
              <a:ext uri="{FF2B5EF4-FFF2-40B4-BE49-F238E27FC236}">
                <a16:creationId xmlns="" xmlns:a16="http://schemas.microsoft.com/office/drawing/2014/main" id="{5A327428-C648-4BDA-8B8C-10424E53D48C}"/>
              </a:ext>
            </a:extLst>
          </p:cNvPr>
          <p:cNvCxnSpPr>
            <a:stCxn id="335" idx="2"/>
            <a:endCxn id="80" idx="0"/>
          </p:cNvCxnSpPr>
          <p:nvPr/>
        </p:nvCxnSpPr>
        <p:spPr bwMode="auto">
          <a:xfrm>
            <a:off x="3951906" y="5474147"/>
            <a:ext cx="0" cy="13259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6" name="꺾인 연결선 91">
            <a:extLst>
              <a:ext uri="{FF2B5EF4-FFF2-40B4-BE49-F238E27FC236}">
                <a16:creationId xmlns="" xmlns:a16="http://schemas.microsoft.com/office/drawing/2014/main" id="{498B867C-3266-4F6D-A473-81764FDFAFA6}"/>
              </a:ext>
            </a:extLst>
          </p:cNvPr>
          <p:cNvCxnSpPr>
            <a:stCxn id="336" idx="2"/>
            <a:endCxn id="70" idx="0"/>
          </p:cNvCxnSpPr>
          <p:nvPr/>
        </p:nvCxnSpPr>
        <p:spPr bwMode="auto">
          <a:xfrm>
            <a:off x="6359163" y="4369511"/>
            <a:ext cx="0" cy="131032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9" name="Rectangle 43">
            <a:extLst>
              <a:ext uri="{FF2B5EF4-FFF2-40B4-BE49-F238E27FC236}">
                <a16:creationId xmlns="" xmlns:a16="http://schemas.microsoft.com/office/drawing/2014/main" id="{553D359E-ECF9-404B-BF6B-276C17858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1614" y="505140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3.5.4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000" b="1" kern="0" smtClean="0">
                <a:latin typeface="+mn-ea"/>
              </a:rPr>
              <a:t>예산집행률관리</a:t>
            </a:r>
            <a:endParaRPr lang="en-US" altLang="ko-KR" sz="1000" b="1" kern="0" dirty="0">
              <a:latin typeface="+mn-ea"/>
            </a:endParaRPr>
          </a:p>
        </p:txBody>
      </p:sp>
      <p:cxnSp>
        <p:nvCxnSpPr>
          <p:cNvPr id="90" name="꺾인 연결선 91">
            <a:extLst>
              <a:ext uri="{FF2B5EF4-FFF2-40B4-BE49-F238E27FC236}">
                <a16:creationId xmlns="" xmlns:a16="http://schemas.microsoft.com/office/drawing/2014/main" id="{498B867C-3266-4F6D-A473-81764FDFAFA6}"/>
              </a:ext>
            </a:extLst>
          </p:cNvPr>
          <p:cNvCxnSpPr>
            <a:stCxn id="70" idx="2"/>
            <a:endCxn id="89" idx="0"/>
          </p:cNvCxnSpPr>
          <p:nvPr/>
        </p:nvCxnSpPr>
        <p:spPr bwMode="auto">
          <a:xfrm>
            <a:off x="6359163" y="4923284"/>
            <a:ext cx="0" cy="128122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4" name="Rectangle 43">
            <a:extLst>
              <a:ext uri="{FF2B5EF4-FFF2-40B4-BE49-F238E27FC236}">
                <a16:creationId xmlns="" xmlns:a16="http://schemas.microsoft.com/office/drawing/2014/main" id="{470A1225-C1B3-240B-66B3-C63DA61F2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48975" y="505140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CC"/>
                </a:solidFill>
                <a:latin typeface="+mn-ea"/>
              </a:rPr>
              <a:t>3.7.4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solidFill>
                  <a:srgbClr val="0000CC"/>
                </a:solidFill>
                <a:latin typeface="+mn-ea"/>
              </a:rPr>
              <a:t>하이패스관리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cxnSp>
        <p:nvCxnSpPr>
          <p:cNvPr id="95" name="꺾인 연결선 91">
            <a:extLst>
              <a:ext uri="{FF2B5EF4-FFF2-40B4-BE49-F238E27FC236}">
                <a16:creationId xmlns="" xmlns:a16="http://schemas.microsoft.com/office/drawing/2014/main" id="{5FB3F20A-8D33-C6E0-046B-666492CB4DCB}"/>
              </a:ext>
            </a:extLst>
          </p:cNvPr>
          <p:cNvCxnSpPr>
            <a:cxnSpLocks/>
            <a:stCxn id="94" idx="0"/>
            <a:endCxn id="41" idx="2"/>
          </p:cNvCxnSpPr>
          <p:nvPr/>
        </p:nvCxnSpPr>
        <p:spPr bwMode="auto">
          <a:xfrm flipV="1">
            <a:off x="8766524" y="4941168"/>
            <a:ext cx="0" cy="110238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8" name="Rectangle 43">
            <a:extLst>
              <a:ext uri="{FF2B5EF4-FFF2-40B4-BE49-F238E27FC236}">
                <a16:creationId xmlns="" xmlns:a16="http://schemas.microsoft.com/office/drawing/2014/main" id="{AAC9D106-BE04-41F1-AFEB-0A5D02642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968" y="2734320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00"/>
                </a:solidFill>
                <a:latin typeface="+mn-ea"/>
              </a:rPr>
              <a:t>3.4</a:t>
            </a:r>
            <a:endParaRPr lang="en-US" altLang="ko-KR" sz="1100" b="1" kern="0" dirty="0">
              <a:solidFill>
                <a:srgbClr val="000000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>
                <a:solidFill>
                  <a:srgbClr val="000000"/>
                </a:solidFill>
                <a:latin typeface="+mn-ea"/>
              </a:rPr>
              <a:t>물</a:t>
            </a:r>
            <a:r>
              <a:rPr lang="ko-KR" altLang="en-US" sz="1100" b="1" kern="0" spc="-150" smtClean="0">
                <a:solidFill>
                  <a:srgbClr val="000000"/>
                </a:solidFill>
                <a:latin typeface="+mn-ea"/>
              </a:rPr>
              <a:t>품 구매관리</a:t>
            </a:r>
            <a:endParaRPr lang="en-US" altLang="ko-KR" sz="1100" b="1" kern="0" spc="-15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9" name="Rectangle 43">
            <a:extLst>
              <a:ext uri="{FF2B5EF4-FFF2-40B4-BE49-F238E27FC236}">
                <a16:creationId xmlns="" xmlns:a16="http://schemas.microsoft.com/office/drawing/2014/main" id="{178EBF35-26B2-480A-87C2-82B04DC82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968" y="3400277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3.4.1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조달계약 의뢰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100" name="Rectangle 43">
            <a:extLst>
              <a:ext uri="{FF2B5EF4-FFF2-40B4-BE49-F238E27FC236}">
                <a16:creationId xmlns="" xmlns:a16="http://schemas.microsoft.com/office/drawing/2014/main" id="{553D359E-ECF9-404B-BF6B-276C17858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968" y="3954051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3.4.2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계약내역 </a:t>
            </a:r>
            <a:r>
              <a:rPr lang="ko-KR" altLang="en-US" sz="1100" b="1" kern="0">
                <a:latin typeface="+mn-ea"/>
              </a:rPr>
              <a:t>등록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101" name="Rectangle 43">
            <a:extLst>
              <a:ext uri="{FF2B5EF4-FFF2-40B4-BE49-F238E27FC236}">
                <a16:creationId xmlns="" xmlns:a16="http://schemas.microsoft.com/office/drawing/2014/main" id="{553D359E-ECF9-404B-BF6B-276C17858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968" y="4507824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3.4.3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선급금 지급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102" name="Rectangle 43">
            <a:extLst>
              <a:ext uri="{FF2B5EF4-FFF2-40B4-BE49-F238E27FC236}">
                <a16:creationId xmlns="" xmlns:a16="http://schemas.microsoft.com/office/drawing/2014/main" id="{553D359E-ECF9-404B-BF6B-276C17858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7968" y="5058687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3.4.4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000" b="1" kern="0">
                <a:latin typeface="+mn-ea"/>
              </a:rPr>
              <a:t>검수입고관리</a:t>
            </a:r>
            <a:endParaRPr lang="en-US" altLang="ko-KR" sz="1000" b="1" kern="0" dirty="0">
              <a:latin typeface="+mn-ea"/>
            </a:endParaRPr>
          </a:p>
        </p:txBody>
      </p:sp>
      <p:cxnSp>
        <p:nvCxnSpPr>
          <p:cNvPr id="16" name="꺾인 연결선 15"/>
          <p:cNvCxnSpPr>
            <a:endCxn id="320" idx="2"/>
          </p:cNvCxnSpPr>
          <p:nvPr/>
        </p:nvCxnSpPr>
        <p:spPr>
          <a:xfrm rot="5400000" flipH="1" flipV="1">
            <a:off x="5024628" y="2590334"/>
            <a:ext cx="268169" cy="1"/>
          </a:xfrm>
          <a:prstGeom prst="bentConnector3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/>
          <p:cNvCxnSpPr>
            <a:stCxn id="98" idx="2"/>
            <a:endCxn id="99" idx="0"/>
          </p:cNvCxnSpPr>
          <p:nvPr/>
        </p:nvCxnSpPr>
        <p:spPr>
          <a:xfrm flipH="1">
            <a:off x="5155517" y="3133694"/>
            <a:ext cx="35" cy="266583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/>
          <p:cNvCxnSpPr>
            <a:stCxn id="99" idx="2"/>
            <a:endCxn id="100" idx="0"/>
          </p:cNvCxnSpPr>
          <p:nvPr/>
        </p:nvCxnSpPr>
        <p:spPr>
          <a:xfrm>
            <a:off x="5155517" y="3823018"/>
            <a:ext cx="0" cy="131033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>
            <a:endCxn id="101" idx="0"/>
          </p:cNvCxnSpPr>
          <p:nvPr/>
        </p:nvCxnSpPr>
        <p:spPr>
          <a:xfrm flipH="1">
            <a:off x="5155517" y="4376792"/>
            <a:ext cx="3195" cy="131032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연결선 28"/>
          <p:cNvCxnSpPr>
            <a:endCxn id="102" idx="0"/>
          </p:cNvCxnSpPr>
          <p:nvPr/>
        </p:nvCxnSpPr>
        <p:spPr>
          <a:xfrm flipH="1">
            <a:off x="5155517" y="4941168"/>
            <a:ext cx="3195" cy="117519"/>
          </a:xfrm>
          <a:prstGeom prst="line">
            <a:avLst/>
          </a:prstGeom>
          <a:ln w="635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Rectangle 43">
            <a:extLst>
              <a:ext uri="{FF2B5EF4-FFF2-40B4-BE49-F238E27FC236}">
                <a16:creationId xmlns="" xmlns:a16="http://schemas.microsoft.com/office/drawing/2014/main" id="{3F7C3607-3FBE-4F11-994A-E5384069A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30746" y="5058687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3.2.4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물품수불관리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118" name="꺾인 연결선 91">
            <a:extLst>
              <a:ext uri="{FF2B5EF4-FFF2-40B4-BE49-F238E27FC236}">
                <a16:creationId xmlns="" xmlns:a16="http://schemas.microsoft.com/office/drawing/2014/main" id="{B65E55FB-9ED9-49B9-A004-E4FAF0F3433F}"/>
              </a:ext>
            </a:extLst>
          </p:cNvPr>
          <p:cNvCxnSpPr>
            <a:endCxn id="117" idx="0"/>
          </p:cNvCxnSpPr>
          <p:nvPr/>
        </p:nvCxnSpPr>
        <p:spPr bwMode="auto">
          <a:xfrm>
            <a:off x="2734245" y="4929628"/>
            <a:ext cx="1405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22604980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ko-KR" altLang="en-US" smtClean="0">
                <a:latin typeface="+mn-ea"/>
                <a:ea typeface="+mn-ea"/>
              </a:rPr>
              <a:t>물품분류 및 물품코드를 관리하여 물품의 구매</a:t>
            </a:r>
            <a:r>
              <a:rPr lang="en-US" altLang="ko-KR" smtClean="0">
                <a:latin typeface="+mn-ea"/>
                <a:ea typeface="+mn-ea"/>
              </a:rPr>
              <a:t>, </a:t>
            </a:r>
            <a:r>
              <a:rPr lang="ko-KR" altLang="en-US" smtClean="0">
                <a:latin typeface="+mn-ea"/>
                <a:ea typeface="+mn-ea"/>
              </a:rPr>
              <a:t>수불 등의 기준을 관리하고</a:t>
            </a:r>
            <a:r>
              <a:rPr lang="en-US" altLang="ko-KR" smtClean="0">
                <a:latin typeface="+mn-ea"/>
                <a:ea typeface="+mn-ea"/>
              </a:rPr>
              <a:t>, </a:t>
            </a:r>
            <a:r>
              <a:rPr lang="ko-KR" altLang="en-US" smtClean="0">
                <a:latin typeface="+mn-ea"/>
                <a:ea typeface="+mn-ea"/>
              </a:rPr>
              <a:t>물품</a:t>
            </a:r>
            <a:r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에 </a:t>
            </a:r>
            <a:r>
              <a:rPr lang="ko-KR" altLang="en-US">
                <a:latin typeface="나눔고딕" panose="020D0604000000000000" pitchFamily="50" charset="-127"/>
                <a:ea typeface="나눔고딕" panose="020D0604000000000000" pitchFamily="50" charset="-127"/>
              </a:rPr>
              <a:t>대한 </a:t>
            </a:r>
            <a:r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요청을 받아서 재고를 확인한 다음 출고처리하고 부족할 경우 구매 결정한다</a:t>
            </a:r>
            <a:r>
              <a:rPr lang="en-US" altLang="ko-KR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  <a:r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사전규격 및 입찰</a:t>
            </a:r>
            <a:r>
              <a:rPr lang="en-US" altLang="ko-KR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계약 일정을 관리하고 입고되면 검수 처리하여 대금지급</a:t>
            </a:r>
            <a:r>
              <a:rPr lang="en-US" altLang="ko-KR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지출결의</a:t>
            </a:r>
            <a:r>
              <a:rPr lang="en-US" altLang="ko-KR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r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을 생성하고</a:t>
            </a:r>
            <a:r>
              <a:rPr lang="en-US" altLang="ko-KR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lang="ko-KR" altLang="en-US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일정을 관리한다</a:t>
            </a:r>
            <a:r>
              <a:rPr lang="en-US" altLang="ko-KR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mtClean="0">
                <a:latin typeface="+mn-ea"/>
                <a:ea typeface="+mn-ea"/>
              </a:rPr>
              <a:t> 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6552728" cy="781320"/>
          </a:xfrm>
        </p:spPr>
        <p:txBody>
          <a:bodyPr>
            <a:noAutofit/>
          </a:bodyPr>
          <a:lstStyle/>
          <a:p>
            <a:r>
              <a:rPr lang="en-US" altLang="ko-KR" smtClean="0"/>
              <a:t>3.3 </a:t>
            </a:r>
            <a:r>
              <a:rPr lang="ko-KR" altLang="en-US" smtClean="0"/>
              <a:t>구매관리</a:t>
            </a:r>
            <a:r>
              <a:rPr lang="en-US" altLang="ko-KR" smtClean="0"/>
              <a:t> </a:t>
            </a:r>
            <a:r>
              <a:rPr lang="ko-KR" altLang="en-US" dirty="0"/>
              <a:t>업무분류 및 기능 정의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3.</a:t>
            </a:r>
            <a:r>
              <a:rPr lang="en-US" altLang="ko-KR" sz="1800" smtClean="0">
                <a:solidFill>
                  <a:prstClr val="black"/>
                </a:solidFill>
              </a:rPr>
              <a:t>3.2 </a:t>
            </a:r>
            <a:r>
              <a:rPr lang="ko-KR" altLang="en-US" sz="1800" smtClean="0">
                <a:solidFill>
                  <a:prstClr val="black"/>
                </a:solidFill>
              </a:rPr>
              <a:t>구매관리 </a:t>
            </a:r>
            <a:r>
              <a:rPr lang="ko-KR" altLang="en-US" sz="1800" dirty="0">
                <a:solidFill>
                  <a:prstClr val="black"/>
                </a:solidFill>
              </a:rPr>
              <a:t>업무기능 정의 </a:t>
            </a:r>
            <a:r>
              <a:rPr lang="en-US" altLang="ko-KR" sz="1800" dirty="0">
                <a:solidFill>
                  <a:prstClr val="black"/>
                </a:solidFill>
              </a:rPr>
              <a:t>(</a:t>
            </a:r>
            <a:r>
              <a:rPr lang="en-US" altLang="ko-KR" sz="1800" dirty="0"/>
              <a:t>1/2)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spcBef>
                <a:spcPts val="288"/>
              </a:spcBef>
            </a:pPr>
            <a:r>
              <a:rPr lang="en-US" altLang="ko-KR" smtClean="0">
                <a:solidFill>
                  <a:prstClr val="black"/>
                </a:solidFill>
              </a:rPr>
              <a:t>Ⅲ. </a:t>
            </a:r>
            <a:r>
              <a:rPr lang="ko-KR" altLang="en-US" smtClean="0">
                <a:solidFill>
                  <a:prstClr val="black"/>
                </a:solidFill>
              </a:rPr>
              <a:t>목표모델 설계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spcBef>
                <a:spcPts val="288"/>
              </a:spcBef>
            </a:pPr>
            <a:r>
              <a:rPr lang="en-US" altLang="ko-KR" dirty="0">
                <a:solidFill>
                  <a:prstClr val="black"/>
                </a:solidFill>
              </a:rPr>
              <a:t>3. </a:t>
            </a:r>
            <a:r>
              <a:rPr lang="ko-KR" altLang="en-US" dirty="0">
                <a:solidFill>
                  <a:prstClr val="black"/>
                </a:solidFill>
              </a:rPr>
              <a:t>업무별 개선안 설계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spcBef>
                <a:spcPts val="288"/>
              </a:spcBef>
            </a:pPr>
            <a:r>
              <a:rPr lang="en-US" altLang="ko-KR" smtClean="0">
                <a:solidFill>
                  <a:prstClr val="black"/>
                </a:solidFill>
              </a:rPr>
              <a:t>3.3 </a:t>
            </a:r>
            <a:r>
              <a:rPr lang="ko-KR" altLang="en-US" smtClean="0">
                <a:solidFill>
                  <a:prstClr val="black"/>
                </a:solidFill>
              </a:rPr>
              <a:t>구매관리 </a:t>
            </a:r>
            <a:r>
              <a:rPr lang="ko-KR" altLang="en-US" dirty="0">
                <a:solidFill>
                  <a:prstClr val="black"/>
                </a:solidFill>
              </a:rPr>
              <a:t>업무프로세스 개선안</a:t>
            </a:r>
            <a:endParaRPr lang="en-US" altLang="ko-KR" dirty="0">
              <a:solidFill>
                <a:prstClr val="black"/>
              </a:solidFill>
            </a:endParaRPr>
          </a:p>
        </p:txBody>
      </p:sp>
      <p:graphicFrame>
        <p:nvGraphicFramePr>
          <p:cNvPr id="70" name="표 69">
            <a:extLst>
              <a:ext uri="{FF2B5EF4-FFF2-40B4-BE49-F238E27FC236}">
                <a16:creationId xmlns="" xmlns:a16="http://schemas.microsoft.com/office/drawing/2014/main" id="{E9F2C507-AF08-4734-AD3C-A634FC74D8C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54520" y="1628804"/>
          <a:ext cx="9180512" cy="4608483"/>
        </p:xfrm>
        <a:graphic>
          <a:graphicData uri="http://schemas.openxmlformats.org/drawingml/2006/table">
            <a:tbl>
              <a:tblPr firstRow="1" bandRow="1"/>
              <a:tblGrid>
                <a:gridCol w="39482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1176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9959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6044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03470">
                  <a:extLst>
                    <a:ext uri="{9D8B030D-6E8A-4147-A177-3AD203B41FA5}">
                      <a16:colId xmlns="" xmlns:a16="http://schemas.microsoft.com/office/drawing/2014/main" val="392761856"/>
                    </a:ext>
                  </a:extLst>
                </a:gridCol>
                <a:gridCol w="803470">
                  <a:extLst>
                    <a:ext uri="{9D8B030D-6E8A-4147-A177-3AD203B41FA5}">
                      <a16:colId xmlns="" xmlns:a16="http://schemas.microsoft.com/office/drawing/2014/main" val="2283819833"/>
                    </a:ext>
                  </a:extLst>
                </a:gridCol>
                <a:gridCol w="1606940">
                  <a:extLst>
                    <a:ext uri="{9D8B030D-6E8A-4147-A177-3AD203B41FA5}">
                      <a16:colId xmlns="" xmlns:a16="http://schemas.microsoft.com/office/drawing/2014/main" val="3659144700"/>
                    </a:ext>
                  </a:extLst>
                </a:gridCol>
              </a:tblGrid>
              <a:tr h="254854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spc="-10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1000" b="1" spc="-10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업무명칭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업무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주관 조직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사용조직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개선사항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548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Lv2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Lv3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54854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구매기초자료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구매시스템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관리에 필요한 기준정보 및 관리기준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경영지원처</a:t>
                      </a:r>
                      <a:endParaRPr lang="en-US" altLang="ko-KR" sz="1000" b="0" smtClean="0"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구매담당</a:t>
                      </a: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물품별 표준자료 관리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물품수급계획에 의한  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 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자동 발주품목 추출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548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물품 코드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물품별 품명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단위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구매단위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적정재고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구매 소요일수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등을 관리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5330139"/>
                  </a:ext>
                </a:extLst>
              </a:tr>
              <a:tr h="2548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물품 창고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사업장별 창고 코드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창고의 특징 등을 관리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7783185"/>
                  </a:ext>
                </a:extLst>
              </a:tr>
              <a:tr h="2548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거래처 정보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직접구매할 경우 거래처정보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거래계좌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담당자 정보를 등록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 관리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148509401"/>
                  </a:ext>
                </a:extLst>
              </a:tr>
              <a:tr h="2548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물품수급계획관리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물품별 기간 소요량을 계산하여 수급계획을 생성 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33555722"/>
                  </a:ext>
                </a:extLst>
              </a:tr>
              <a:tr h="254854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물품청구관리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물품의 청구요청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출고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구매진행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검수입고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물품 수불관리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경영지원처</a:t>
                      </a:r>
                      <a:endParaRPr lang="en-US" altLang="ko-KR" sz="1000" b="0" smtClean="0"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구매담당</a:t>
                      </a: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수불자료에 의한 물품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 청구시 출고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구매 결정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입고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검수처리시 대급지급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지출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결의자동생성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58059666"/>
                  </a:ext>
                </a:extLst>
              </a:tr>
              <a:tr h="2548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mtClean="0">
                          <a:latin typeface="+mn-ea"/>
                          <a:ea typeface="+mn-ea"/>
                        </a:rPr>
                        <a:t>물품청구 입력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물품의 수량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용도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사업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공정 등을 입력하여 물품을 청구한다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 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54854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보유물품 확인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청구한 물품의 재고를 확인하고 출고처리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부족할 경우 구매요청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54854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보유물품 출고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청구한 물품을 출고처리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75965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물품 수불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창고별 물품의 입고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출고 등 물품 수불을 관리한다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.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54854">
                <a:tc row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수리계약관리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물품이나 자산의 수리 처리 진행과정을 관리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경영지원처</a:t>
                      </a:r>
                      <a:endParaRPr lang="en-US" altLang="ko-KR" sz="1000" b="0" smtClean="0"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구매담당</a:t>
                      </a: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수리 검수시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대급지급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지출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결의자동생성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548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수리 요청 입력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수리 대상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현상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수리여청부분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수리 요청내역</a:t>
                      </a:r>
                      <a:r>
                        <a:rPr lang="en-US" altLang="ko-KR" sz="1000" b="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baseline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등을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입력하여 요청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548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수리 요청 승인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수리요청한 사항을 검토하여 승인 및 수리 계약 요청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5485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수리 계약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업체 선정 및 수리계약 체결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시작일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예상완료일 등 일정관리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54854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수리 검수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수리 완료시에 검수처리 및 대금지급 결의서 처리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54854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수리 진행 현황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수리 요청건에 대한 진행현황 관리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98260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 vert="horz" lIns="0" tIns="45720" rIns="0" bIns="45720" rtlCol="0" anchor="ctr">
            <a:noAutofit/>
          </a:bodyPr>
          <a:lstStyle/>
          <a:p>
            <a:pPr>
              <a:spcBef>
                <a:spcPts val="288"/>
              </a:spcBef>
            </a:pPr>
            <a:r>
              <a:rPr lang="en-US" altLang="ko-KR" sz="1200" smtClean="0">
                <a:solidFill>
                  <a:prstClr val="black"/>
                </a:solidFill>
                <a:latin typeface="+mn-lt"/>
                <a:ea typeface="+mn-ea"/>
              </a:rPr>
              <a:t>Ⅲ. </a:t>
            </a:r>
            <a:r>
              <a:rPr lang="ko-KR" altLang="en-US" sz="1200" smtClean="0">
                <a:solidFill>
                  <a:prstClr val="black"/>
                </a:solidFill>
                <a:latin typeface="+mn-lt"/>
                <a:ea typeface="+mn-ea"/>
              </a:rPr>
              <a:t>목표모델 설계</a:t>
            </a:r>
            <a:endParaRPr lang="en-US" altLang="ko-KR" sz="1200" dirty="0">
              <a:solidFill>
                <a:prstClr val="black"/>
              </a:solidFill>
              <a:latin typeface="+mn-lt"/>
              <a:ea typeface="+mn-ea"/>
            </a:endParaRPr>
          </a:p>
          <a:p>
            <a:pPr>
              <a:spcBef>
                <a:spcPts val="288"/>
              </a:spcBef>
            </a:pPr>
            <a:r>
              <a:rPr lang="en-US" altLang="ko-KR" sz="1200" dirty="0">
                <a:solidFill>
                  <a:prstClr val="black"/>
                </a:solidFill>
                <a:latin typeface="+mn-lt"/>
                <a:ea typeface="+mn-ea"/>
              </a:rPr>
              <a:t>3. </a:t>
            </a:r>
            <a:r>
              <a:rPr lang="ko-KR" altLang="en-US" sz="1200" dirty="0">
                <a:solidFill>
                  <a:prstClr val="black"/>
                </a:solidFill>
                <a:latin typeface="+mn-lt"/>
                <a:ea typeface="+mn-ea"/>
              </a:rPr>
              <a:t>업무별 개선안 설계</a:t>
            </a:r>
            <a:endParaRPr lang="en-US" altLang="ko-KR" sz="1200" dirty="0">
              <a:solidFill>
                <a:prstClr val="black"/>
              </a:solidFill>
              <a:latin typeface="+mn-lt"/>
              <a:ea typeface="+mn-ea"/>
            </a:endParaRPr>
          </a:p>
          <a:p>
            <a:pPr>
              <a:spcBef>
                <a:spcPts val="288"/>
              </a:spcBef>
            </a:pPr>
            <a:r>
              <a:rPr lang="en-US" altLang="ko-KR" sz="1200" smtClean="0">
                <a:solidFill>
                  <a:prstClr val="black"/>
                </a:solidFill>
                <a:latin typeface="+mn-lt"/>
                <a:ea typeface="+mn-ea"/>
              </a:rPr>
              <a:t>3.3 </a:t>
            </a:r>
            <a:r>
              <a:rPr lang="ko-KR" altLang="en-US" sz="1200" smtClean="0">
                <a:solidFill>
                  <a:prstClr val="black"/>
                </a:solidFill>
                <a:latin typeface="+mn-lt"/>
                <a:ea typeface="+mn-ea"/>
              </a:rPr>
              <a:t>구매관리 </a:t>
            </a:r>
            <a:r>
              <a:rPr lang="ko-KR" altLang="en-US" sz="1200" dirty="0">
                <a:solidFill>
                  <a:prstClr val="black"/>
                </a:solidFill>
                <a:latin typeface="+mn-lt"/>
                <a:ea typeface="+mn-ea"/>
              </a:rPr>
              <a:t>업무프로세스 개선안</a:t>
            </a:r>
            <a:endParaRPr lang="en-US" altLang="ko-KR" sz="1200" dirty="0">
              <a:solidFill>
                <a:prstClr val="black"/>
              </a:solidFill>
              <a:latin typeface="+mn-lt"/>
              <a:ea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="" xmlns:a16="http://schemas.microsoft.com/office/drawing/2014/main" id="{EA81E65E-B8D8-451B-BB56-CC5F3ED46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1377292"/>
              </p:ext>
            </p:extLst>
          </p:nvPr>
        </p:nvGraphicFramePr>
        <p:xfrm>
          <a:off x="350002" y="881349"/>
          <a:ext cx="9180514" cy="5486400"/>
        </p:xfrm>
        <a:graphic>
          <a:graphicData uri="http://schemas.openxmlformats.org/drawingml/2006/table">
            <a:tbl>
              <a:tblPr firstRow="1" bandRow="1"/>
              <a:tblGrid>
                <a:gridCol w="40123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9085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6044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6409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2008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61967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241217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spc="-100" baseline="0" smtClean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구매일정을</a:t>
                      </a:r>
                      <a:endParaRPr lang="ko-KR" altLang="en-US" sz="1000" b="1" spc="-100" baseline="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업무명칭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업무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주관조직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사용조직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개선사항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0304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Lv2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Lv3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41217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dirty="0"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물품구매관리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용역 계약에 대한 일정 및 진척도를 관리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경영지원처</a:t>
                      </a:r>
                      <a:endParaRPr lang="en-US" altLang="ko-KR" sz="1000" b="0" smtClean="0"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구매담당</a:t>
                      </a: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412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조달 계약의뢰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사전규젹 등록 및 입찰공고 신청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및 계약의뢰 관리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412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계약 내역 등록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구매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용역에 대한 계약 내역 등록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412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선급금 지급 관리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선급금 계약건에 대한 선급금 지급의뢰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지출결의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생성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412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검수입고관리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검수조서 입력 및 대금지급 신청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지출결의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생성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41217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smtClean="0"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구매진행관리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조달청 사전규격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입찰의뢰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계약에 대한 일정을 관리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경영지원처</a:t>
                      </a:r>
                      <a:endParaRPr lang="en-US" altLang="ko-KR" sz="1000" b="0" smtClean="0"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구매담당</a:t>
                      </a: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전 부서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2412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사전규격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사전규격 의뢰 후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사전규격 등록일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 의견 만료일 처리 계획일 관리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412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mtClean="0">
                          <a:latin typeface="+mn-ea"/>
                          <a:ea typeface="+mn-ea"/>
                        </a:rPr>
                        <a:t>구매일정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용역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구매에 대한 주요일자를 연동 생성 및 입력 처리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412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진척 모니터링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사전규격의뢰 및 입찰공고 진척도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 계약 진척도 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Monitoring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150836785"/>
                  </a:ext>
                </a:extLst>
              </a:tr>
              <a:tr h="2412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예산 집행률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용역건에 대한 진행율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지출금액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계약금액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비율 조회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41217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smtClean="0"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행정서비스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관련부서에서 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제도</a:t>
                      </a: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법률 검토를 의뢰받아 접수</a:t>
                      </a: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할당</a:t>
                      </a:r>
                      <a:r>
                        <a:rPr lang="en-US" altLang="ko-KR" sz="1000" b="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회신 처리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경영지원처</a:t>
                      </a:r>
                      <a:endParaRPr lang="en-US" altLang="ko-KR" sz="1000" b="0" smtClean="0"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자산담당</a:t>
                      </a: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41217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법률자문 접수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제도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법률 검토 및 법령관련 질의서 의뢰 내용을 접수받고 확인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43431688"/>
                  </a:ext>
                </a:extLst>
              </a:tr>
              <a:tr h="2412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법률자문 할당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제도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법률 검토하여 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R&amp;R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을 정의하고 해당 부서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담당자에게 배포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76410975"/>
                  </a:ext>
                </a:extLst>
              </a:tr>
              <a:tr h="2412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법률자문 회신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의견수렴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자문검토 의견수신을 등록라여 관련부서 답변 회신지원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41217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smtClean="0"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차량관리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차량의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예약신청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유류 사용량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운행료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처량 정비 등을 관리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경영지원처</a:t>
                      </a:r>
                      <a:endParaRPr lang="en-US" altLang="ko-KR" sz="1000" b="0" smtClean="0"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자산담당</a:t>
                      </a: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하이패스 운행료 관리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372411127"/>
                  </a:ext>
                </a:extLst>
              </a:tr>
              <a:tr h="2412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차량예약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자산 분류를 기준으로 내용연수 일괄 수정 기능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41217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차량운행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매월 감가상각 작업을 수행하여 상각전표를 생성하여 마감처리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412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차량정비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감가상각 상세내역 및 집계표 조회 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412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하이패스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하이패스 카드 등록 및 발생 운행료 지급처리 관리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제목 2">
            <a:extLst>
              <a:ext uri="{FF2B5EF4-FFF2-40B4-BE49-F238E27FC236}">
                <a16:creationId xmlns="" xmlns:a16="http://schemas.microsoft.com/office/drawing/2014/main" id="{C0E42CB6-E8AF-E644-9D0E-99DEEE340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88" y="0"/>
            <a:ext cx="6624736" cy="781320"/>
          </a:xfrm>
        </p:spPr>
        <p:txBody>
          <a:bodyPr>
            <a:noAutofit/>
          </a:bodyPr>
          <a:lstStyle/>
          <a:p>
            <a:r>
              <a:rPr lang="en-US" altLang="ko-KR" smtClean="0"/>
              <a:t>3.3 </a:t>
            </a:r>
            <a:r>
              <a:rPr lang="ko-KR" altLang="en-US" smtClean="0"/>
              <a:t>구매관리</a:t>
            </a:r>
            <a:r>
              <a:rPr lang="en-US" altLang="ko-KR" smtClean="0"/>
              <a:t> </a:t>
            </a:r>
            <a:r>
              <a:rPr lang="ko-KR" altLang="en-US" dirty="0"/>
              <a:t>업무분류 및 기능 정의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3.</a:t>
            </a:r>
            <a:r>
              <a:rPr lang="en-US" altLang="ko-KR" sz="1800" smtClean="0">
                <a:solidFill>
                  <a:prstClr val="black"/>
                </a:solidFill>
              </a:rPr>
              <a:t>3.2 </a:t>
            </a:r>
            <a:r>
              <a:rPr lang="ko-KR" altLang="en-US" sz="1800" smtClean="0">
                <a:solidFill>
                  <a:prstClr val="black"/>
                </a:solidFill>
              </a:rPr>
              <a:t>구매관리 </a:t>
            </a:r>
            <a:r>
              <a:rPr lang="ko-KR" altLang="en-US" sz="1800" dirty="0">
                <a:solidFill>
                  <a:prstClr val="black"/>
                </a:solidFill>
              </a:rPr>
              <a:t>업무기능 정의 </a:t>
            </a:r>
            <a:r>
              <a:rPr lang="en-US" altLang="ko-KR" sz="1800" dirty="0">
                <a:solidFill>
                  <a:prstClr val="black"/>
                </a:solidFill>
              </a:rPr>
              <a:t>(</a:t>
            </a:r>
            <a:r>
              <a:rPr lang="en-US" altLang="ko-KR" sz="1800" dirty="0"/>
              <a:t>2/2)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3903795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>
          <a:xfrm>
            <a:off x="381548" y="886681"/>
            <a:ext cx="9180512" cy="870304"/>
          </a:xfrm>
          <a:noFill/>
          <a:ln w="6350"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pPr>
              <a:spcAft>
                <a:spcPct val="30000"/>
              </a:spcAft>
              <a:buClr>
                <a:srgbClr val="808080"/>
              </a:buClr>
            </a:pPr>
            <a:r>
              <a:rPr lang="ko-KR" altLang="en-US">
                <a:solidFill>
                  <a:srgbClr val="000000"/>
                </a:solidFill>
                <a:latin typeface="+mn-ea"/>
                <a:ea typeface="+mn-ea"/>
              </a:rPr>
              <a:t>자산의 취득에서부터 배치</a:t>
            </a:r>
            <a:r>
              <a:rPr lang="en-US" altLang="ko-KR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+mn-ea"/>
                <a:ea typeface="+mn-ea"/>
              </a:rPr>
              <a:t>이동</a:t>
            </a:r>
            <a:r>
              <a:rPr lang="en-US" altLang="ko-KR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+mn-ea"/>
                <a:ea typeface="+mn-ea"/>
              </a:rPr>
              <a:t>후속지출</a:t>
            </a:r>
            <a:r>
              <a:rPr lang="en-US" altLang="ko-KR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+mn-ea"/>
                <a:ea typeface="+mn-ea"/>
              </a:rPr>
              <a:t>재물조사</a:t>
            </a:r>
            <a:r>
              <a:rPr lang="en-US" altLang="ko-KR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+mn-ea"/>
                <a:ea typeface="+mn-ea"/>
              </a:rPr>
              <a:t>불용처리</a:t>
            </a:r>
            <a:r>
              <a:rPr lang="en-US" altLang="ko-KR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+mn-ea"/>
                <a:ea typeface="+mn-ea"/>
              </a:rPr>
              <a:t>처분</a:t>
            </a:r>
            <a:r>
              <a:rPr lang="en-US" altLang="ko-KR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+mn-ea"/>
                <a:ea typeface="+mn-ea"/>
              </a:rPr>
              <a:t>감가상각</a:t>
            </a:r>
            <a:r>
              <a:rPr lang="en-US" altLang="ko-KR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>
                <a:solidFill>
                  <a:srgbClr val="000000"/>
                </a:solidFill>
                <a:latin typeface="+mn-ea"/>
                <a:ea typeface="+mn-ea"/>
              </a:rPr>
              <a:t>보험가입 </a:t>
            </a:r>
            <a:r>
              <a:rPr lang="ko-KR" altLang="en-US" smtClean="0">
                <a:solidFill>
                  <a:srgbClr val="000000"/>
                </a:solidFill>
                <a:latin typeface="+mn-ea"/>
                <a:ea typeface="+mn-ea"/>
              </a:rPr>
              <a:t>등 자산의 변동이력을 </a:t>
            </a:r>
            <a:r>
              <a:rPr lang="ko-KR" altLang="en-US" smtClean="0">
                <a:latin typeface="+mn-ea"/>
                <a:ea typeface="+mn-ea"/>
              </a:rPr>
              <a:t>개별 자산별로 관리하며</a:t>
            </a:r>
            <a:r>
              <a:rPr lang="en-US" altLang="ko-KR" smtClean="0">
                <a:latin typeface="+mn-ea"/>
                <a:ea typeface="+mn-ea"/>
              </a:rPr>
              <a:t>,</a:t>
            </a:r>
            <a:r>
              <a:rPr lang="ko-KR" altLang="en-US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mtClean="0">
                <a:latin typeface="+mn-ea"/>
                <a:ea typeface="+mn-ea"/>
              </a:rPr>
              <a:t>구매 및</a:t>
            </a:r>
            <a:r>
              <a:rPr lang="en-US" altLang="ko-KR" smtClean="0">
                <a:latin typeface="+mn-ea"/>
                <a:ea typeface="+mn-ea"/>
              </a:rPr>
              <a:t> </a:t>
            </a:r>
            <a:r>
              <a:rPr lang="ko-KR" altLang="en-US" smtClean="0">
                <a:latin typeface="+mn-ea"/>
                <a:ea typeface="+mn-ea"/>
              </a:rPr>
              <a:t>지출 </a:t>
            </a:r>
            <a:r>
              <a:rPr lang="en-US" altLang="ko-KR" smtClean="0">
                <a:latin typeface="+mn-ea"/>
                <a:ea typeface="+mn-ea"/>
              </a:rPr>
              <a:t>DATA</a:t>
            </a:r>
            <a:r>
              <a:rPr lang="ko-KR" altLang="en-US" smtClean="0">
                <a:latin typeface="+mn-ea"/>
                <a:ea typeface="+mn-ea"/>
              </a:rPr>
              <a:t>에 의한 </a:t>
            </a:r>
            <a:r>
              <a:rPr lang="ko-KR" altLang="en-US" smtClean="0">
                <a:solidFill>
                  <a:srgbClr val="000000"/>
                </a:solidFill>
                <a:latin typeface="+mn-ea"/>
                <a:ea typeface="+mn-ea"/>
              </a:rPr>
              <a:t>자산 취득과</a:t>
            </a:r>
            <a:r>
              <a:rPr lang="en-US" altLang="ko-KR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mtClean="0">
                <a:solidFill>
                  <a:srgbClr val="000000"/>
                </a:solidFill>
                <a:latin typeface="+mn-ea"/>
                <a:ea typeface="+mn-ea"/>
              </a:rPr>
              <a:t>자산처분 및 </a:t>
            </a:r>
            <a:r>
              <a:rPr lang="ko-KR" altLang="en-US">
                <a:solidFill>
                  <a:srgbClr val="000000"/>
                </a:solidFill>
                <a:latin typeface="+mn-ea"/>
                <a:ea typeface="+mn-ea"/>
              </a:rPr>
              <a:t>감가상각 결과를 </a:t>
            </a:r>
            <a:r>
              <a:rPr lang="ko-KR" altLang="en-US" smtClean="0">
                <a:solidFill>
                  <a:srgbClr val="000000"/>
                </a:solidFill>
                <a:latin typeface="+mn-ea"/>
                <a:ea typeface="+mn-ea"/>
              </a:rPr>
              <a:t>회계시스템에 </a:t>
            </a:r>
            <a:r>
              <a:rPr lang="ko-KR" altLang="en-US">
                <a:solidFill>
                  <a:srgbClr val="000000"/>
                </a:solidFill>
                <a:latin typeface="+mn-ea"/>
                <a:ea typeface="+mn-ea"/>
              </a:rPr>
              <a:t>제공하는 등 </a:t>
            </a:r>
            <a:r>
              <a:rPr lang="ko-KR" altLang="en-US" smtClean="0">
                <a:solidFill>
                  <a:srgbClr val="000000"/>
                </a:solidFill>
                <a:latin typeface="+mn-ea"/>
                <a:ea typeface="+mn-ea"/>
              </a:rPr>
              <a:t>시스템간의 </a:t>
            </a:r>
            <a:r>
              <a:rPr lang="ko-KR" altLang="en-US">
                <a:solidFill>
                  <a:srgbClr val="000000"/>
                </a:solidFill>
                <a:latin typeface="+mn-ea"/>
                <a:ea typeface="+mn-ea"/>
              </a:rPr>
              <a:t>긴밀한 연계를 통하여 </a:t>
            </a:r>
            <a:r>
              <a:rPr lang="ko-KR" altLang="en-US" smtClean="0">
                <a:solidFill>
                  <a:srgbClr val="000000"/>
                </a:solidFill>
                <a:latin typeface="+mn-ea"/>
                <a:ea typeface="+mn-ea"/>
              </a:rPr>
              <a:t>효율적인 업무처리 지원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spcBef>
                <a:spcPts val="288"/>
              </a:spcBef>
            </a:pPr>
            <a:r>
              <a:rPr lang="en-US" altLang="ko-KR" smtClean="0">
                <a:solidFill>
                  <a:prstClr val="black"/>
                </a:solidFill>
              </a:rPr>
              <a:t>Ⅲ. </a:t>
            </a:r>
            <a:r>
              <a:rPr lang="ko-KR" altLang="en-US" smtClean="0">
                <a:solidFill>
                  <a:prstClr val="black"/>
                </a:solidFill>
              </a:rPr>
              <a:t>목표모델 설계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spcBef>
                <a:spcPts val="288"/>
              </a:spcBef>
            </a:pPr>
            <a:r>
              <a:rPr lang="en-US" altLang="ko-KR" dirty="0">
                <a:solidFill>
                  <a:prstClr val="black"/>
                </a:solidFill>
              </a:rPr>
              <a:t>3. </a:t>
            </a:r>
            <a:r>
              <a:rPr lang="ko-KR" altLang="en-US" dirty="0">
                <a:solidFill>
                  <a:prstClr val="black"/>
                </a:solidFill>
              </a:rPr>
              <a:t>업무별 개선안 설계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spcBef>
                <a:spcPts val="288"/>
              </a:spcBef>
            </a:pPr>
            <a:r>
              <a:rPr lang="en-US" altLang="ko-KR" smtClean="0">
                <a:solidFill>
                  <a:prstClr val="black"/>
                </a:solidFill>
              </a:rPr>
              <a:t>3.4 </a:t>
            </a:r>
            <a:r>
              <a:rPr lang="ko-KR" altLang="en-US" smtClean="0">
                <a:solidFill>
                  <a:prstClr val="black"/>
                </a:solidFill>
              </a:rPr>
              <a:t>자산관리 </a:t>
            </a:r>
            <a:r>
              <a:rPr lang="ko-KR" altLang="en-US">
                <a:solidFill>
                  <a:prstClr val="black"/>
                </a:solidFill>
              </a:rPr>
              <a:t>업무프로세스 </a:t>
            </a:r>
            <a:r>
              <a:rPr lang="ko-KR" altLang="en-US" smtClean="0">
                <a:solidFill>
                  <a:prstClr val="black"/>
                </a:solidFill>
              </a:rPr>
              <a:t>개선안</a:t>
            </a:r>
            <a:endParaRPr lang="en-US" altLang="ko-KR" dirty="0">
              <a:solidFill>
                <a:prstClr val="black"/>
              </a:solidFill>
            </a:endParaRPr>
          </a:p>
        </p:txBody>
      </p:sp>
      <p:sp>
        <p:nvSpPr>
          <p:cNvPr id="311" name="직사각형 310">
            <a:extLst>
              <a:ext uri="{FF2B5EF4-FFF2-40B4-BE49-F238E27FC236}">
                <a16:creationId xmlns="" xmlns:a16="http://schemas.microsoft.com/office/drawing/2014/main" id="{834EF977-2F4F-4CFA-8644-DCEB070BA4D7}"/>
              </a:ext>
            </a:extLst>
          </p:cNvPr>
          <p:cNvSpPr/>
          <p:nvPr/>
        </p:nvSpPr>
        <p:spPr bwMode="auto">
          <a:xfrm>
            <a:off x="354519" y="1628800"/>
            <a:ext cx="9170481" cy="324000"/>
          </a:xfrm>
          <a:prstGeom prst="rect">
            <a:avLst/>
          </a:prstGeom>
          <a:solidFill>
            <a:srgbClr val="233C5A"/>
          </a:solidFill>
          <a:ln w="12699">
            <a:solidFill>
              <a:srgbClr val="000000">
                <a:lumMod val="50000"/>
                <a:lumOff val="5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buClrTx/>
              <a:buFontTx/>
              <a:buNone/>
              <a:defRPr/>
            </a:pP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업무분류 구조도 </a:t>
            </a:r>
            <a: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(TO-BE)</a:t>
            </a:r>
            <a:endParaRPr lang="ko-KR" altLang="en-US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312" name="Rectangle 4">
            <a:extLst>
              <a:ext uri="{FF2B5EF4-FFF2-40B4-BE49-F238E27FC236}">
                <a16:creationId xmlns="" xmlns:a16="http://schemas.microsoft.com/office/drawing/2014/main" id="{89D385C2-BC55-4019-B543-408E7D7B9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1952800"/>
            <a:ext cx="9170481" cy="435588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265113" indent="-265113" latinLnBrk="0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endParaRPr lang="ko-KR" altLang="en-US" sz="1400" b="0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316" name="Rectangle 43">
            <a:extLst>
              <a:ext uri="{FF2B5EF4-FFF2-40B4-BE49-F238E27FC236}">
                <a16:creationId xmlns="" xmlns:a16="http://schemas.microsoft.com/office/drawing/2014/main" id="{F6A7BD53-EDB7-4ACE-ACD6-9D9808E65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153" y="2727039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00"/>
                </a:solidFill>
                <a:latin typeface="+mn-ea"/>
              </a:rPr>
              <a:t>4.2 </a:t>
            </a:r>
            <a:endParaRPr lang="en-US" altLang="ko-KR" sz="1100" b="1" kern="0" dirty="0">
              <a:solidFill>
                <a:srgbClr val="000000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자산취득관리</a:t>
            </a:r>
            <a:endParaRPr lang="en-US" altLang="ko-KR" sz="1100" b="1" kern="0" spc="-15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317" name="꺾인 연결선 16">
            <a:extLst>
              <a:ext uri="{FF2B5EF4-FFF2-40B4-BE49-F238E27FC236}">
                <a16:creationId xmlns="" xmlns:a16="http://schemas.microsoft.com/office/drawing/2014/main" id="{3527B8CC-4135-46EF-B509-FECE5DAD555E}"/>
              </a:ext>
            </a:extLst>
          </p:cNvPr>
          <p:cNvCxnSpPr>
            <a:cxnSpLocks/>
            <a:stCxn id="320" idx="2"/>
            <a:endCxn id="316" idx="0"/>
          </p:cNvCxnSpPr>
          <p:nvPr/>
        </p:nvCxnSpPr>
        <p:spPr bwMode="auto">
          <a:xfrm rot="5400000">
            <a:off x="3952042" y="1386945"/>
            <a:ext cx="270790" cy="2409399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318" name="Rectangle 43">
            <a:extLst>
              <a:ext uri="{FF2B5EF4-FFF2-40B4-BE49-F238E27FC236}">
                <a16:creationId xmlns="" xmlns:a16="http://schemas.microsoft.com/office/drawing/2014/main" id="{55A536C4-1F9D-4CFC-B360-5BE659245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223" y="33929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CC"/>
                </a:solidFill>
                <a:latin typeface="+mn-ea"/>
              </a:rPr>
              <a:t>4.2.1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CC"/>
                </a:solidFill>
                <a:latin typeface="+mn-ea"/>
              </a:rPr>
              <a:t>검수조서관리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cxnSp>
        <p:nvCxnSpPr>
          <p:cNvPr id="319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316" idx="2"/>
            <a:endCxn id="318" idx="0"/>
          </p:cNvCxnSpPr>
          <p:nvPr/>
        </p:nvCxnSpPr>
        <p:spPr bwMode="auto">
          <a:xfrm>
            <a:off x="2882737" y="3126413"/>
            <a:ext cx="35" cy="26658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0" name="Rectangle 43">
            <a:extLst>
              <a:ext uri="{FF2B5EF4-FFF2-40B4-BE49-F238E27FC236}">
                <a16:creationId xmlns="" xmlns:a16="http://schemas.microsoft.com/office/drawing/2014/main" id="{C37FE70D-B49D-4E1B-8525-B9801948F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453" y="2058161"/>
            <a:ext cx="8263366" cy="398088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300" b="1" kern="0" smtClean="0">
                <a:solidFill>
                  <a:prstClr val="white"/>
                </a:solidFill>
                <a:latin typeface="+mn-ea"/>
              </a:rPr>
              <a:t>4. </a:t>
            </a:r>
            <a:r>
              <a:rPr lang="ko-KR" altLang="en-US" sz="1300" b="1" kern="0" smtClean="0">
                <a:solidFill>
                  <a:prstClr val="white"/>
                </a:solidFill>
                <a:latin typeface="+mn-ea"/>
              </a:rPr>
              <a:t>자산관리</a:t>
            </a:r>
            <a:endParaRPr lang="en-US" altLang="ko-KR" sz="13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1" name="Rectangle 43">
            <a:extLst>
              <a:ext uri="{FF2B5EF4-FFF2-40B4-BE49-F238E27FC236}">
                <a16:creationId xmlns="" xmlns:a16="http://schemas.microsoft.com/office/drawing/2014/main" id="{D6022CC8-8B0F-4459-9750-B32A286F0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853" y="2727039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00"/>
                </a:solidFill>
                <a:latin typeface="+mn-ea"/>
              </a:rPr>
              <a:t>4.3 </a:t>
            </a:r>
            <a:endParaRPr lang="en-US" altLang="ko-KR" sz="1100" b="1" kern="0" dirty="0">
              <a:solidFill>
                <a:srgbClr val="000000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solidFill>
                  <a:srgbClr val="000000"/>
                </a:solidFill>
                <a:latin typeface="+mn-ea"/>
              </a:rPr>
              <a:t>자산변동관리</a:t>
            </a:r>
            <a:endParaRPr lang="en-US" altLang="ko-KR" sz="1100" b="1" kern="0" spc="-15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22" name="Rectangle 43">
            <a:extLst>
              <a:ext uri="{FF2B5EF4-FFF2-40B4-BE49-F238E27FC236}">
                <a16:creationId xmlns="" xmlns:a16="http://schemas.microsoft.com/office/drawing/2014/main" id="{AAC9D106-BE04-41F1-AFEB-0A5D02642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4553" y="2727039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00"/>
                </a:solidFill>
                <a:latin typeface="+mn-ea"/>
              </a:rPr>
              <a:t>4.4</a:t>
            </a:r>
            <a:endParaRPr lang="en-US" altLang="ko-KR" sz="1100" b="1" kern="0" dirty="0">
              <a:solidFill>
                <a:srgbClr val="000000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solidFill>
                  <a:srgbClr val="000000"/>
                </a:solidFill>
                <a:latin typeface="+mn-ea"/>
              </a:rPr>
              <a:t>재물조사</a:t>
            </a:r>
            <a:endParaRPr lang="en-US" altLang="ko-KR" sz="1100" b="1" kern="0" spc="-15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23" name="Rectangle 43">
            <a:extLst>
              <a:ext uri="{FF2B5EF4-FFF2-40B4-BE49-F238E27FC236}">
                <a16:creationId xmlns="" xmlns:a16="http://schemas.microsoft.com/office/drawing/2014/main" id="{710E7DA3-5FB4-4ACB-A8F3-7C5B8554A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9253" y="2727039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00"/>
                </a:solidFill>
                <a:latin typeface="+mn-ea"/>
              </a:rPr>
              <a:t>4.5 </a:t>
            </a:r>
            <a:endParaRPr lang="en-US" altLang="ko-KR" sz="1100" b="1" kern="0" dirty="0">
              <a:solidFill>
                <a:srgbClr val="000000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solidFill>
                  <a:srgbClr val="000000"/>
                </a:solidFill>
                <a:latin typeface="+mn-ea"/>
              </a:rPr>
              <a:t>자산처분</a:t>
            </a:r>
            <a:endParaRPr lang="en-US" altLang="ko-KR" sz="1100" b="1" kern="0" spc="-15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24" name="Rectangle 43">
            <a:extLst>
              <a:ext uri="{FF2B5EF4-FFF2-40B4-BE49-F238E27FC236}">
                <a16:creationId xmlns="" xmlns:a16="http://schemas.microsoft.com/office/drawing/2014/main" id="{1F3C037D-8663-4BB2-8F50-67E55BF23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953" y="2727039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00"/>
                </a:solidFill>
                <a:latin typeface="+mn-ea"/>
              </a:rPr>
              <a:t>4.6 </a:t>
            </a:r>
            <a:endParaRPr lang="en-US" altLang="ko-KR" sz="1100" b="1" kern="0" dirty="0">
              <a:solidFill>
                <a:srgbClr val="000000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00"/>
                </a:solidFill>
                <a:latin typeface="+mn-ea"/>
              </a:rPr>
              <a:t>감가상각</a:t>
            </a:r>
            <a:endParaRPr lang="ko-KR" altLang="en-US" sz="1100" b="1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325" name="꺾인 연결선 95">
            <a:extLst>
              <a:ext uri="{FF2B5EF4-FFF2-40B4-BE49-F238E27FC236}">
                <a16:creationId xmlns="" xmlns:a16="http://schemas.microsoft.com/office/drawing/2014/main" id="{4707B7F0-4A9A-48EF-A615-1016A4AB6D50}"/>
              </a:ext>
            </a:extLst>
          </p:cNvPr>
          <p:cNvCxnSpPr>
            <a:cxnSpLocks/>
            <a:stCxn id="320" idx="2"/>
            <a:endCxn id="324" idx="0"/>
          </p:cNvCxnSpPr>
          <p:nvPr/>
        </p:nvCxnSpPr>
        <p:spPr bwMode="auto">
          <a:xfrm rot="16200000" flipH="1">
            <a:off x="6361441" y="1386943"/>
            <a:ext cx="270790" cy="2409401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26" name="꺾인 연결선 98">
            <a:extLst>
              <a:ext uri="{FF2B5EF4-FFF2-40B4-BE49-F238E27FC236}">
                <a16:creationId xmlns="" xmlns:a16="http://schemas.microsoft.com/office/drawing/2014/main" id="{140F111D-6450-4FBD-BB10-FB50112D1751}"/>
              </a:ext>
            </a:extLst>
          </p:cNvPr>
          <p:cNvCxnSpPr>
            <a:cxnSpLocks/>
            <a:stCxn id="320" idx="2"/>
            <a:endCxn id="321" idx="0"/>
          </p:cNvCxnSpPr>
          <p:nvPr/>
        </p:nvCxnSpPr>
        <p:spPr bwMode="auto">
          <a:xfrm rot="5400000">
            <a:off x="4554392" y="1989295"/>
            <a:ext cx="270790" cy="1204699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27" name="꺾인 연결선 101">
            <a:extLst>
              <a:ext uri="{FF2B5EF4-FFF2-40B4-BE49-F238E27FC236}">
                <a16:creationId xmlns="" xmlns:a16="http://schemas.microsoft.com/office/drawing/2014/main" id="{BA41D50E-5184-4CAD-B9D9-E23D3EC512F4}"/>
              </a:ext>
            </a:extLst>
          </p:cNvPr>
          <p:cNvCxnSpPr>
            <a:cxnSpLocks/>
            <a:stCxn id="320" idx="2"/>
            <a:endCxn id="322" idx="0"/>
          </p:cNvCxnSpPr>
          <p:nvPr/>
        </p:nvCxnSpPr>
        <p:spPr bwMode="auto">
          <a:xfrm rot="16200000" flipH="1">
            <a:off x="5156741" y="2591643"/>
            <a:ext cx="270790" cy="1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28" name="꺾인 연결선 104">
            <a:extLst>
              <a:ext uri="{FF2B5EF4-FFF2-40B4-BE49-F238E27FC236}">
                <a16:creationId xmlns="" xmlns:a16="http://schemas.microsoft.com/office/drawing/2014/main" id="{7D6841DF-7D60-4A15-8D68-2DF204ABC742}"/>
              </a:ext>
            </a:extLst>
          </p:cNvPr>
          <p:cNvCxnSpPr>
            <a:cxnSpLocks/>
            <a:stCxn id="320" idx="2"/>
            <a:endCxn id="323" idx="0"/>
          </p:cNvCxnSpPr>
          <p:nvPr/>
        </p:nvCxnSpPr>
        <p:spPr bwMode="auto">
          <a:xfrm rot="16200000" flipH="1">
            <a:off x="5759091" y="1989293"/>
            <a:ext cx="270790" cy="1204701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329" name="Rectangle 43">
            <a:extLst>
              <a:ext uri="{FF2B5EF4-FFF2-40B4-BE49-F238E27FC236}">
                <a16:creationId xmlns="" xmlns:a16="http://schemas.microsoft.com/office/drawing/2014/main" id="{E965CCD8-2743-48F9-8315-B5DADCCDA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852" y="3392997"/>
            <a:ext cx="1035169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4.3.1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자산이동관리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0" name="Rectangle 43">
            <a:extLst>
              <a:ext uri="{FF2B5EF4-FFF2-40B4-BE49-F238E27FC236}">
                <a16:creationId xmlns="" xmlns:a16="http://schemas.microsoft.com/office/drawing/2014/main" id="{178EBF35-26B2-480A-87C2-82B04DC82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4623" y="33929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CC"/>
                </a:solidFill>
                <a:latin typeface="+mn-ea"/>
              </a:rPr>
              <a:t>4.4.1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CC"/>
                </a:solidFill>
                <a:latin typeface="+mn-ea"/>
              </a:rPr>
              <a:t>재물조사 계획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332" name="Rectangle 43">
            <a:extLst>
              <a:ext uri="{FF2B5EF4-FFF2-40B4-BE49-F238E27FC236}">
                <a16:creationId xmlns="" xmlns:a16="http://schemas.microsoft.com/office/drawing/2014/main" id="{A402D1D2-36A2-408F-9FA1-94C47FEEA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4023" y="33929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4.6.1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상각기준관리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3" name="Rectangle 43">
            <a:extLst>
              <a:ext uri="{FF2B5EF4-FFF2-40B4-BE49-F238E27FC236}">
                <a16:creationId xmlns="" xmlns:a16="http://schemas.microsoft.com/office/drawing/2014/main" id="{70CCE5AE-3D2E-4940-9C11-ABFBE5F52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853" y="3946770"/>
            <a:ext cx="103516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4.3.2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자산분할관리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4" name="Rectangle 43">
            <a:extLst>
              <a:ext uri="{FF2B5EF4-FFF2-40B4-BE49-F238E27FC236}">
                <a16:creationId xmlns="" xmlns:a16="http://schemas.microsoft.com/office/drawing/2014/main" id="{C6AF2B82-F503-46E0-AD73-C09C27E99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853" y="4500543"/>
            <a:ext cx="103516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4.3.3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자산합병관리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5" name="Rectangle 43">
            <a:extLst>
              <a:ext uri="{FF2B5EF4-FFF2-40B4-BE49-F238E27FC236}">
                <a16:creationId xmlns="" xmlns:a16="http://schemas.microsoft.com/office/drawing/2014/main" id="{FB16AB14-DCB7-4BB3-B826-76FB9C0BA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853" y="5051406"/>
            <a:ext cx="103516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4.3.4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후속적지출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6" name="Rectangle 43">
            <a:extLst>
              <a:ext uri="{FF2B5EF4-FFF2-40B4-BE49-F238E27FC236}">
                <a16:creationId xmlns="" xmlns:a16="http://schemas.microsoft.com/office/drawing/2014/main" id="{553D359E-ECF9-404B-BF6B-276C17858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4623" y="3946770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4.4.2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재물조사목록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337" name="꺾인 연결선 91">
            <a:extLst>
              <a:ext uri="{FF2B5EF4-FFF2-40B4-BE49-F238E27FC236}">
                <a16:creationId xmlns="" xmlns:a16="http://schemas.microsoft.com/office/drawing/2014/main" id="{46BE52CD-219C-4FE0-BAF9-A389CB6A694E}"/>
              </a:ext>
            </a:extLst>
          </p:cNvPr>
          <p:cNvCxnSpPr>
            <a:stCxn id="321" idx="2"/>
            <a:endCxn id="329" idx="0"/>
          </p:cNvCxnSpPr>
          <p:nvPr/>
        </p:nvCxnSpPr>
        <p:spPr bwMode="auto">
          <a:xfrm>
            <a:off x="4087437" y="3126413"/>
            <a:ext cx="0" cy="266584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8" name="꺾인 연결선 91">
            <a:extLst>
              <a:ext uri="{FF2B5EF4-FFF2-40B4-BE49-F238E27FC236}">
                <a16:creationId xmlns="" xmlns:a16="http://schemas.microsoft.com/office/drawing/2014/main" id="{E5264E3C-153B-4603-8339-982EA3EFD6B0}"/>
              </a:ext>
            </a:extLst>
          </p:cNvPr>
          <p:cNvCxnSpPr>
            <a:stCxn id="322" idx="2"/>
            <a:endCxn id="330" idx="0"/>
          </p:cNvCxnSpPr>
          <p:nvPr/>
        </p:nvCxnSpPr>
        <p:spPr bwMode="auto">
          <a:xfrm>
            <a:off x="5292137" y="3126413"/>
            <a:ext cx="35" cy="26658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9" name="꺾인 연결선 91">
            <a:extLst>
              <a:ext uri="{FF2B5EF4-FFF2-40B4-BE49-F238E27FC236}">
                <a16:creationId xmlns="" xmlns:a16="http://schemas.microsoft.com/office/drawing/2014/main" id="{EFB36DBF-C4D7-484B-B813-6C87C11905B8}"/>
              </a:ext>
            </a:extLst>
          </p:cNvPr>
          <p:cNvCxnSpPr>
            <a:stCxn id="323" idx="2"/>
            <a:endCxn id="349" idx="0"/>
          </p:cNvCxnSpPr>
          <p:nvPr/>
        </p:nvCxnSpPr>
        <p:spPr bwMode="auto">
          <a:xfrm>
            <a:off x="6496837" y="3126413"/>
            <a:ext cx="35" cy="27693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0" name="꺾인 연결선 91">
            <a:extLst>
              <a:ext uri="{FF2B5EF4-FFF2-40B4-BE49-F238E27FC236}">
                <a16:creationId xmlns="" xmlns:a16="http://schemas.microsoft.com/office/drawing/2014/main" id="{D538DF82-7B4A-4238-AA2A-4BD4B1FC198E}"/>
              </a:ext>
            </a:extLst>
          </p:cNvPr>
          <p:cNvCxnSpPr>
            <a:stCxn id="324" idx="2"/>
            <a:endCxn id="332" idx="0"/>
          </p:cNvCxnSpPr>
          <p:nvPr/>
        </p:nvCxnSpPr>
        <p:spPr bwMode="auto">
          <a:xfrm>
            <a:off x="7701537" y="3126413"/>
            <a:ext cx="35" cy="26658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1" name="꺾인 연결선 91">
            <a:extLst>
              <a:ext uri="{FF2B5EF4-FFF2-40B4-BE49-F238E27FC236}">
                <a16:creationId xmlns="" xmlns:a16="http://schemas.microsoft.com/office/drawing/2014/main" id="{C1093954-97D2-42CF-B1F6-164C80F61F06}"/>
              </a:ext>
            </a:extLst>
          </p:cNvPr>
          <p:cNvCxnSpPr>
            <a:stCxn id="329" idx="2"/>
            <a:endCxn id="333" idx="0"/>
          </p:cNvCxnSpPr>
          <p:nvPr/>
        </p:nvCxnSpPr>
        <p:spPr bwMode="auto">
          <a:xfrm>
            <a:off x="4087437" y="3815738"/>
            <a:ext cx="0" cy="131032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2" name="꺾인 연결선 91">
            <a:extLst>
              <a:ext uri="{FF2B5EF4-FFF2-40B4-BE49-F238E27FC236}">
                <a16:creationId xmlns="" xmlns:a16="http://schemas.microsoft.com/office/drawing/2014/main" id="{498B867C-3266-4F6D-A473-81764FDFAFA6}"/>
              </a:ext>
            </a:extLst>
          </p:cNvPr>
          <p:cNvCxnSpPr>
            <a:stCxn id="330" idx="2"/>
            <a:endCxn id="336" idx="0"/>
          </p:cNvCxnSpPr>
          <p:nvPr/>
        </p:nvCxnSpPr>
        <p:spPr bwMode="auto">
          <a:xfrm>
            <a:off x="5292172" y="3815737"/>
            <a:ext cx="0" cy="13103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3" name="꺾인 연결선 91">
            <a:extLst>
              <a:ext uri="{FF2B5EF4-FFF2-40B4-BE49-F238E27FC236}">
                <a16:creationId xmlns="" xmlns:a16="http://schemas.microsoft.com/office/drawing/2014/main" id="{0FDB1728-739B-4663-8E33-2C7F9C8B6D4C}"/>
              </a:ext>
            </a:extLst>
          </p:cNvPr>
          <p:cNvCxnSpPr>
            <a:stCxn id="333" idx="2"/>
            <a:endCxn id="334" idx="0"/>
          </p:cNvCxnSpPr>
          <p:nvPr/>
        </p:nvCxnSpPr>
        <p:spPr bwMode="auto">
          <a:xfrm>
            <a:off x="4087437" y="4369511"/>
            <a:ext cx="0" cy="131032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4" name="꺾인 연결선 91">
            <a:extLst>
              <a:ext uri="{FF2B5EF4-FFF2-40B4-BE49-F238E27FC236}">
                <a16:creationId xmlns="" xmlns:a16="http://schemas.microsoft.com/office/drawing/2014/main" id="{5A327428-C648-4BDA-8B8C-10424E53D48C}"/>
              </a:ext>
            </a:extLst>
          </p:cNvPr>
          <p:cNvCxnSpPr>
            <a:stCxn id="334" idx="2"/>
            <a:endCxn id="335" idx="0"/>
          </p:cNvCxnSpPr>
          <p:nvPr/>
        </p:nvCxnSpPr>
        <p:spPr bwMode="auto">
          <a:xfrm>
            <a:off x="4087437" y="4923284"/>
            <a:ext cx="0" cy="128122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5" name="Rectangle 43">
            <a:extLst>
              <a:ext uri="{FF2B5EF4-FFF2-40B4-BE49-F238E27FC236}">
                <a16:creationId xmlns="" xmlns:a16="http://schemas.microsoft.com/office/drawing/2014/main" id="{5EA76E40-3173-4A0C-B239-99BF3DD71B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651" y="2727039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00"/>
                </a:solidFill>
                <a:latin typeface="+mn-ea"/>
              </a:rPr>
              <a:t>4.7 </a:t>
            </a:r>
            <a:endParaRPr lang="en-US" altLang="ko-KR" sz="1100" b="1" kern="0" dirty="0">
              <a:solidFill>
                <a:srgbClr val="000000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00"/>
                </a:solidFill>
                <a:latin typeface="+mn-ea"/>
              </a:rPr>
              <a:t>자산결산</a:t>
            </a:r>
            <a:endParaRPr lang="ko-KR" altLang="en-US" sz="1100" b="1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346" name="꺾인 연결선 69">
            <a:extLst>
              <a:ext uri="{FF2B5EF4-FFF2-40B4-BE49-F238E27FC236}">
                <a16:creationId xmlns="" xmlns:a16="http://schemas.microsoft.com/office/drawing/2014/main" id="{135AD304-C4D2-4D92-8163-BDD70B7D769A}"/>
              </a:ext>
            </a:extLst>
          </p:cNvPr>
          <p:cNvCxnSpPr>
            <a:cxnSpLocks/>
            <a:stCxn id="320" idx="2"/>
            <a:endCxn id="345" idx="0"/>
          </p:cNvCxnSpPr>
          <p:nvPr/>
        </p:nvCxnSpPr>
        <p:spPr bwMode="auto">
          <a:xfrm rot="16200000" flipH="1">
            <a:off x="6963790" y="784594"/>
            <a:ext cx="270790" cy="3614099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48" name="꺾인 연결선 91">
            <a:extLst>
              <a:ext uri="{FF2B5EF4-FFF2-40B4-BE49-F238E27FC236}">
                <a16:creationId xmlns="" xmlns:a16="http://schemas.microsoft.com/office/drawing/2014/main" id="{B7342035-BFB6-4623-978A-0DD668652F6A}"/>
              </a:ext>
            </a:extLst>
          </p:cNvPr>
          <p:cNvCxnSpPr>
            <a:cxnSpLocks/>
            <a:stCxn id="345" idx="2"/>
            <a:endCxn id="63" idx="0"/>
          </p:cNvCxnSpPr>
          <p:nvPr/>
        </p:nvCxnSpPr>
        <p:spPr bwMode="auto">
          <a:xfrm>
            <a:off x="8906235" y="3126413"/>
            <a:ext cx="35" cy="26658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9" name="Rectangle 43">
            <a:extLst>
              <a:ext uri="{FF2B5EF4-FFF2-40B4-BE49-F238E27FC236}">
                <a16:creationId xmlns="" xmlns:a16="http://schemas.microsoft.com/office/drawing/2014/main" id="{516D57EA-8179-4547-AFA2-EF10E8DF8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9323" y="3403352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4.5.1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자산불용처리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50" name="Rectangle 43">
            <a:extLst>
              <a:ext uri="{FF2B5EF4-FFF2-40B4-BE49-F238E27FC236}">
                <a16:creationId xmlns="" xmlns:a16="http://schemas.microsoft.com/office/drawing/2014/main" id="{A9BE069A-19F1-4EFE-B1F4-D663E17A6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79323" y="3959098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4.5.2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자산처분신청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352" name="꺾인 연결선 91">
            <a:extLst>
              <a:ext uri="{FF2B5EF4-FFF2-40B4-BE49-F238E27FC236}">
                <a16:creationId xmlns="" xmlns:a16="http://schemas.microsoft.com/office/drawing/2014/main" id="{D9020392-6D4A-4B21-8B86-95FF602905AC}"/>
              </a:ext>
            </a:extLst>
          </p:cNvPr>
          <p:cNvCxnSpPr>
            <a:stCxn id="349" idx="2"/>
            <a:endCxn id="350" idx="0"/>
          </p:cNvCxnSpPr>
          <p:nvPr/>
        </p:nvCxnSpPr>
        <p:spPr bwMode="auto">
          <a:xfrm>
            <a:off x="6496872" y="3826093"/>
            <a:ext cx="0" cy="133005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3" name="Rectangle 43">
            <a:extLst>
              <a:ext uri="{FF2B5EF4-FFF2-40B4-BE49-F238E27FC236}">
                <a16:creationId xmlns="" xmlns:a16="http://schemas.microsoft.com/office/drawing/2014/main" id="{1FE693CD-399F-49A0-809A-A7B828920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223" y="39447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CC"/>
                </a:solidFill>
                <a:latin typeface="+mn-ea"/>
              </a:rPr>
              <a:t>4.2.2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CC"/>
                </a:solidFill>
                <a:latin typeface="+mn-ea"/>
              </a:rPr>
              <a:t>자산지출결의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354" name="Rectangle 43">
            <a:extLst>
              <a:ext uri="{FF2B5EF4-FFF2-40B4-BE49-F238E27FC236}">
                <a16:creationId xmlns="" xmlns:a16="http://schemas.microsoft.com/office/drawing/2014/main" id="{3F7C3607-3FBE-4F11-994A-E5384069A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223" y="44965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CC"/>
                </a:solidFill>
                <a:latin typeface="+mn-ea"/>
              </a:rPr>
              <a:t>4.2.3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CC"/>
                </a:solidFill>
                <a:latin typeface="+mn-ea"/>
              </a:rPr>
              <a:t>자산취득처리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355" name="Rectangle 43">
            <a:extLst>
              <a:ext uri="{FF2B5EF4-FFF2-40B4-BE49-F238E27FC236}">
                <a16:creationId xmlns="" xmlns:a16="http://schemas.microsoft.com/office/drawing/2014/main" id="{376807C9-270C-4295-BADB-AB6D87D49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223" y="505140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CC"/>
                </a:solidFill>
                <a:latin typeface="+mn-ea"/>
              </a:rPr>
              <a:t>4.2.4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CC"/>
                </a:solidFill>
                <a:latin typeface="+mn-ea"/>
              </a:rPr>
              <a:t>자산배치관리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cxnSp>
        <p:nvCxnSpPr>
          <p:cNvPr id="356" name="꺾인 연결선 91">
            <a:extLst>
              <a:ext uri="{FF2B5EF4-FFF2-40B4-BE49-F238E27FC236}">
                <a16:creationId xmlns="" xmlns:a16="http://schemas.microsoft.com/office/drawing/2014/main" id="{C40C9A90-9A50-4418-A92B-D549DB775864}"/>
              </a:ext>
            </a:extLst>
          </p:cNvPr>
          <p:cNvCxnSpPr>
            <a:stCxn id="318" idx="2"/>
            <a:endCxn id="353" idx="0"/>
          </p:cNvCxnSpPr>
          <p:nvPr/>
        </p:nvCxnSpPr>
        <p:spPr bwMode="auto">
          <a:xfrm>
            <a:off x="2882772" y="3815737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7" name="꺾인 연결선 91">
            <a:extLst>
              <a:ext uri="{FF2B5EF4-FFF2-40B4-BE49-F238E27FC236}">
                <a16:creationId xmlns="" xmlns:a16="http://schemas.microsoft.com/office/drawing/2014/main" id="{B65E55FB-9ED9-49B9-A004-E4FAF0F3433F}"/>
              </a:ext>
            </a:extLst>
          </p:cNvPr>
          <p:cNvCxnSpPr>
            <a:stCxn id="353" idx="2"/>
            <a:endCxn id="354" idx="0"/>
          </p:cNvCxnSpPr>
          <p:nvPr/>
        </p:nvCxnSpPr>
        <p:spPr bwMode="auto">
          <a:xfrm>
            <a:off x="2882772" y="4367537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8" name="꺾인 연결선 91">
            <a:extLst>
              <a:ext uri="{FF2B5EF4-FFF2-40B4-BE49-F238E27FC236}">
                <a16:creationId xmlns="" xmlns:a16="http://schemas.microsoft.com/office/drawing/2014/main" id="{BC32C143-0962-4169-9BDC-CE51A8DF9DB6}"/>
              </a:ext>
            </a:extLst>
          </p:cNvPr>
          <p:cNvCxnSpPr>
            <a:stCxn id="354" idx="2"/>
            <a:endCxn id="355" idx="0"/>
          </p:cNvCxnSpPr>
          <p:nvPr/>
        </p:nvCxnSpPr>
        <p:spPr bwMode="auto">
          <a:xfrm>
            <a:off x="2882772" y="4919337"/>
            <a:ext cx="0" cy="13206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9" name="Rectangle 43">
            <a:extLst>
              <a:ext uri="{FF2B5EF4-FFF2-40B4-BE49-F238E27FC236}">
                <a16:creationId xmlns="" xmlns:a16="http://schemas.microsoft.com/office/drawing/2014/main" id="{183944B1-7232-4A5E-8628-B115F0001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5223" y="560674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CC"/>
                </a:solidFill>
                <a:latin typeface="+mn-ea"/>
              </a:rPr>
              <a:t>4.2.5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CC"/>
                </a:solidFill>
                <a:latin typeface="+mn-ea"/>
              </a:rPr>
              <a:t>사용권자산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cxnSp>
        <p:nvCxnSpPr>
          <p:cNvPr id="361" name="꺾인 연결선 91">
            <a:extLst>
              <a:ext uri="{FF2B5EF4-FFF2-40B4-BE49-F238E27FC236}">
                <a16:creationId xmlns="" xmlns:a16="http://schemas.microsoft.com/office/drawing/2014/main" id="{3D7259BF-8F70-46BF-880C-8A50AA91A40A}"/>
              </a:ext>
            </a:extLst>
          </p:cNvPr>
          <p:cNvCxnSpPr>
            <a:stCxn id="355" idx="2"/>
            <a:endCxn id="359" idx="0"/>
          </p:cNvCxnSpPr>
          <p:nvPr/>
        </p:nvCxnSpPr>
        <p:spPr bwMode="auto">
          <a:xfrm>
            <a:off x="2882772" y="5474147"/>
            <a:ext cx="0" cy="13259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Rectangle 43">
            <a:extLst>
              <a:ext uri="{FF2B5EF4-FFF2-40B4-BE49-F238E27FC236}">
                <a16:creationId xmlns="" xmlns:a16="http://schemas.microsoft.com/office/drawing/2014/main" id="{78B858DD-518B-45F9-8530-B0F311347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4023" y="39447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4.6.2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solidFill>
                  <a:srgbClr val="000000"/>
                </a:solidFill>
                <a:latin typeface="+mn-ea"/>
              </a:rPr>
              <a:t>감가상각처리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60" name="꺾인 연결선 91">
            <a:extLst>
              <a:ext uri="{FF2B5EF4-FFF2-40B4-BE49-F238E27FC236}">
                <a16:creationId xmlns="" xmlns:a16="http://schemas.microsoft.com/office/drawing/2014/main" id="{AD7CD1B6-DB58-4971-90B4-343157356751}"/>
              </a:ext>
            </a:extLst>
          </p:cNvPr>
          <p:cNvCxnSpPr>
            <a:cxnSpLocks/>
            <a:stCxn id="59" idx="0"/>
            <a:endCxn id="332" idx="2"/>
          </p:cNvCxnSpPr>
          <p:nvPr/>
        </p:nvCxnSpPr>
        <p:spPr bwMode="auto">
          <a:xfrm flipV="1">
            <a:off x="7701572" y="3815737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3" name="Rectangle 43">
            <a:extLst>
              <a:ext uri="{FF2B5EF4-FFF2-40B4-BE49-F238E27FC236}">
                <a16:creationId xmlns="" xmlns:a16="http://schemas.microsoft.com/office/drawing/2014/main" id="{9F316396-9A47-439A-9482-653546213F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721" y="33929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4.7.1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자산결산처리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64" name="Rectangle 43">
            <a:extLst>
              <a:ext uri="{FF2B5EF4-FFF2-40B4-BE49-F238E27FC236}">
                <a16:creationId xmlns="" xmlns:a16="http://schemas.microsoft.com/office/drawing/2014/main" id="{9DED2B55-68C8-41A5-BDA5-81831BDF0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8721" y="3944795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36000" tIns="36000" rIns="36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CC"/>
                </a:solidFill>
                <a:latin typeface="+mn-ea"/>
              </a:rPr>
              <a:t>4.7.2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CC"/>
                </a:solidFill>
                <a:latin typeface="+mn-ea"/>
              </a:rPr>
              <a:t>자산대장관리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cxnSp>
        <p:nvCxnSpPr>
          <p:cNvPr id="65" name="꺾인 연결선 91">
            <a:extLst>
              <a:ext uri="{FF2B5EF4-FFF2-40B4-BE49-F238E27FC236}">
                <a16:creationId xmlns="" xmlns:a16="http://schemas.microsoft.com/office/drawing/2014/main" id="{2B41A8A5-8167-45A0-ABA9-096F9E17219E}"/>
              </a:ext>
            </a:extLst>
          </p:cNvPr>
          <p:cNvCxnSpPr>
            <a:cxnSpLocks/>
            <a:stCxn id="64" idx="0"/>
            <a:endCxn id="63" idx="2"/>
          </p:cNvCxnSpPr>
          <p:nvPr/>
        </p:nvCxnSpPr>
        <p:spPr bwMode="auto">
          <a:xfrm flipV="1">
            <a:off x="8906270" y="3815737"/>
            <a:ext cx="0" cy="129058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6" name="Rectangle 43">
            <a:extLst>
              <a:ext uri="{FF2B5EF4-FFF2-40B4-BE49-F238E27FC236}">
                <a16:creationId xmlns="" xmlns:a16="http://schemas.microsoft.com/office/drawing/2014/main" id="{CE600711-459B-49BE-98FC-F7DDC039C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181" y="2058161"/>
            <a:ext cx="566033" cy="389930"/>
          </a:xfrm>
          <a:prstGeom prst="roundRect">
            <a:avLst>
              <a:gd name="adj" fmla="val 0"/>
            </a:avLst>
          </a:prstGeom>
          <a:solidFill>
            <a:sysClr val="windowText" lastClr="000000">
              <a:lumMod val="75000"/>
              <a:lumOff val="2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35921" dir="2700000" algn="ctr" rotWithShape="0">
              <a:srgbClr val="E3DED1"/>
            </a:outerShdw>
          </a:effectLst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b="1" kern="0" smtClean="0">
                <a:solidFill>
                  <a:schemeClr val="bg1"/>
                </a:solidFill>
                <a:latin typeface="+mn-ea"/>
              </a:rPr>
              <a:t>Level1</a:t>
            </a:r>
            <a:endParaRPr kumimoji="1" lang="en-US" altLang="ko-KR" sz="105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7" name="Rectangle 43">
            <a:extLst>
              <a:ext uri="{FF2B5EF4-FFF2-40B4-BE49-F238E27FC236}">
                <a16:creationId xmlns="" xmlns:a16="http://schemas.microsoft.com/office/drawing/2014/main" id="{D4181FB3-E5A1-4294-AEE4-A86E412A0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181" y="2553774"/>
            <a:ext cx="566033" cy="689558"/>
          </a:xfrm>
          <a:prstGeom prst="roundRect">
            <a:avLst>
              <a:gd name="adj" fmla="val 0"/>
            </a:avLst>
          </a:prstGeom>
          <a:solidFill>
            <a:sysClr val="windowText" lastClr="000000">
              <a:lumMod val="75000"/>
              <a:lumOff val="2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35921" dir="2700000" algn="ctr" rotWithShape="0">
              <a:srgbClr val="E3DED1"/>
            </a:outerShdw>
          </a:effectLst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b="1" kern="0" smtClean="0">
                <a:solidFill>
                  <a:schemeClr val="bg1"/>
                </a:solidFill>
                <a:latin typeface="+mn-ea"/>
              </a:rPr>
              <a:t>Level2</a:t>
            </a:r>
            <a:endParaRPr kumimoji="1" lang="en-US" altLang="ko-KR" sz="105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8" name="Rectangle 43">
            <a:extLst>
              <a:ext uri="{FF2B5EF4-FFF2-40B4-BE49-F238E27FC236}">
                <a16:creationId xmlns="" xmlns:a16="http://schemas.microsoft.com/office/drawing/2014/main" id="{70FA894C-28C6-49F0-8FC0-617614258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181" y="3330295"/>
            <a:ext cx="566033" cy="2907017"/>
          </a:xfrm>
          <a:prstGeom prst="roundRect">
            <a:avLst>
              <a:gd name="adj" fmla="val 0"/>
            </a:avLst>
          </a:prstGeom>
          <a:solidFill>
            <a:sysClr val="windowText" lastClr="000000">
              <a:lumMod val="75000"/>
              <a:lumOff val="2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35921" dir="2700000" algn="ctr" rotWithShape="0">
              <a:srgbClr val="E3DED1"/>
            </a:outerShdw>
          </a:effectLst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b="1" kern="0" smtClean="0">
                <a:solidFill>
                  <a:schemeClr val="bg1"/>
                </a:solidFill>
                <a:latin typeface="+mn-ea"/>
              </a:rPr>
              <a:t>Level3</a:t>
            </a:r>
            <a:endParaRPr kumimoji="1" lang="en-US" altLang="ko-KR" sz="105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" name="Rectangle 43">
            <a:extLst>
              <a:ext uri="{FF2B5EF4-FFF2-40B4-BE49-F238E27FC236}">
                <a16:creationId xmlns="" xmlns:a16="http://schemas.microsoft.com/office/drawing/2014/main" id="{E3D82401-A830-0602-D55A-3D7323EE7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453" y="2724418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00"/>
                </a:solidFill>
                <a:latin typeface="+mn-ea"/>
              </a:rPr>
              <a:t>4.1 </a:t>
            </a:r>
            <a:endParaRPr lang="en-US" altLang="ko-KR" sz="1100" b="1" kern="0" dirty="0">
              <a:solidFill>
                <a:srgbClr val="000000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자산기초자료</a:t>
            </a:r>
            <a:endParaRPr lang="en-US" altLang="ko-KR" sz="1100" b="1" kern="0" spc="-15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1" name="Rectangle 43">
            <a:extLst>
              <a:ext uri="{FF2B5EF4-FFF2-40B4-BE49-F238E27FC236}">
                <a16:creationId xmlns="" xmlns:a16="http://schemas.microsoft.com/office/drawing/2014/main" id="{8C7218AA-FA01-AE9E-4347-DEE45D2A7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453" y="3390375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4.1.1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자산 분류코드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22" name="Rectangle 43">
            <a:extLst>
              <a:ext uri="{FF2B5EF4-FFF2-40B4-BE49-F238E27FC236}">
                <a16:creationId xmlns="" xmlns:a16="http://schemas.microsoft.com/office/drawing/2014/main" id="{85039B3D-D699-ACE0-8607-D30FCBAC3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453" y="3942175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4.1.2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자산 사양관리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23" name="Rectangle 43">
            <a:extLst>
              <a:ext uri="{FF2B5EF4-FFF2-40B4-BE49-F238E27FC236}">
                <a16:creationId xmlns="" xmlns:a16="http://schemas.microsoft.com/office/drawing/2014/main" id="{318A1D3C-FCE5-FC6A-4E77-B5408E833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453" y="4493975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4.1.3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자산담당자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24" name="Rectangle 43">
            <a:extLst>
              <a:ext uri="{FF2B5EF4-FFF2-40B4-BE49-F238E27FC236}">
                <a16:creationId xmlns="" xmlns:a16="http://schemas.microsoft.com/office/drawing/2014/main" id="{F9CE4552-706A-773D-CCD3-003F657CC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453" y="5048785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CC"/>
                </a:solidFill>
                <a:latin typeface="+mn-ea"/>
              </a:rPr>
              <a:t>4.1.4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CC"/>
                </a:solidFill>
                <a:latin typeface="+mn-ea"/>
              </a:rPr>
              <a:t>자산가계정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41" name="Rectangle 43">
            <a:extLst>
              <a:ext uri="{FF2B5EF4-FFF2-40B4-BE49-F238E27FC236}">
                <a16:creationId xmlns="" xmlns:a16="http://schemas.microsoft.com/office/drawing/2014/main" id="{470A1225-C1B3-240B-66B3-C63DA61F2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5248" y="4518427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4.6.3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solidFill>
                  <a:srgbClr val="000000"/>
                </a:solidFill>
                <a:latin typeface="+mn-ea"/>
              </a:rPr>
              <a:t>감가상각 현황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42" name="꺾인 연결선 91">
            <a:extLst>
              <a:ext uri="{FF2B5EF4-FFF2-40B4-BE49-F238E27FC236}">
                <a16:creationId xmlns="" xmlns:a16="http://schemas.microsoft.com/office/drawing/2014/main" id="{5FB3F20A-8D33-C6E0-046B-666492CB4DCB}"/>
              </a:ext>
            </a:extLst>
          </p:cNvPr>
          <p:cNvCxnSpPr>
            <a:cxnSpLocks/>
            <a:stCxn id="41" idx="0"/>
            <a:endCxn id="59" idx="2"/>
          </p:cNvCxnSpPr>
          <p:nvPr/>
        </p:nvCxnSpPr>
        <p:spPr bwMode="auto">
          <a:xfrm flipH="1" flipV="1">
            <a:off x="7701572" y="4367537"/>
            <a:ext cx="1225" cy="150890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1" name="제목 2">
            <a:extLst>
              <a:ext uri="{FF2B5EF4-FFF2-40B4-BE49-F238E27FC236}">
                <a16:creationId xmlns="" xmlns:a16="http://schemas.microsoft.com/office/drawing/2014/main" id="{9551AA14-AB9F-55B5-4876-85ECDC318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88" y="0"/>
            <a:ext cx="6552728" cy="781320"/>
          </a:xfrm>
        </p:spPr>
        <p:txBody>
          <a:bodyPr>
            <a:noAutofit/>
          </a:bodyPr>
          <a:lstStyle/>
          <a:p>
            <a:r>
              <a:rPr lang="en-US" altLang="ko-KR" smtClean="0"/>
              <a:t>3.4 </a:t>
            </a:r>
            <a:r>
              <a:rPr lang="ko-KR" altLang="en-US" smtClean="0"/>
              <a:t>자산관리</a:t>
            </a:r>
            <a:r>
              <a:rPr lang="en-US" altLang="ko-KR" smtClean="0"/>
              <a:t> </a:t>
            </a:r>
            <a:r>
              <a:rPr lang="ko-KR" altLang="en-US" dirty="0"/>
              <a:t>업무분류 및 기능 정의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3.4</a:t>
            </a:r>
            <a:r>
              <a:rPr lang="en-US" altLang="ko-KR" sz="1800" smtClean="0">
                <a:solidFill>
                  <a:prstClr val="black"/>
                </a:solidFill>
              </a:rPr>
              <a:t>.1 </a:t>
            </a:r>
            <a:r>
              <a:rPr lang="ko-KR" altLang="en-US" sz="1800" smtClean="0">
                <a:solidFill>
                  <a:prstClr val="black"/>
                </a:solidFill>
              </a:rPr>
              <a:t>자산관리 </a:t>
            </a:r>
            <a:r>
              <a:rPr lang="ko-KR" altLang="en-US" sz="1800">
                <a:solidFill>
                  <a:prstClr val="black"/>
                </a:solidFill>
              </a:rPr>
              <a:t>업무분류 </a:t>
            </a:r>
            <a:r>
              <a:rPr lang="ko-KR" altLang="en-US" sz="1800" smtClean="0">
                <a:solidFill>
                  <a:prstClr val="black"/>
                </a:solidFill>
              </a:rPr>
              <a:t>구조도</a:t>
            </a:r>
            <a:endParaRPr lang="ko-KR" altLang="en-US" dirty="0"/>
          </a:p>
        </p:txBody>
      </p:sp>
      <p:sp>
        <p:nvSpPr>
          <p:cNvPr id="70" name="Rectangle 43">
            <a:extLst>
              <a:ext uri="{FF2B5EF4-FFF2-40B4-BE49-F238E27FC236}">
                <a16:creationId xmlns="" xmlns:a16="http://schemas.microsoft.com/office/drawing/2014/main" id="{553D359E-ECF9-404B-BF6B-276C17858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3396" y="4500543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4.4.3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재물조사결과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71" name="꺾인 연결선 16">
            <a:extLst>
              <a:ext uri="{FF2B5EF4-FFF2-40B4-BE49-F238E27FC236}">
                <a16:creationId xmlns="" xmlns:a16="http://schemas.microsoft.com/office/drawing/2014/main" id="{3527B8CC-4135-46EF-B509-FECE5DAD555E}"/>
              </a:ext>
            </a:extLst>
          </p:cNvPr>
          <p:cNvCxnSpPr>
            <a:cxnSpLocks/>
            <a:stCxn id="320" idx="2"/>
            <a:endCxn id="20" idx="0"/>
          </p:cNvCxnSpPr>
          <p:nvPr/>
        </p:nvCxnSpPr>
        <p:spPr bwMode="auto">
          <a:xfrm rot="5400000">
            <a:off x="3351003" y="783284"/>
            <a:ext cx="268169" cy="3614099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4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20" idx="2"/>
            <a:endCxn id="21" idx="0"/>
          </p:cNvCxnSpPr>
          <p:nvPr/>
        </p:nvCxnSpPr>
        <p:spPr bwMode="auto">
          <a:xfrm flipH="1">
            <a:off x="1678002" y="3123792"/>
            <a:ext cx="35" cy="26658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21" idx="2"/>
            <a:endCxn id="22" idx="0"/>
          </p:cNvCxnSpPr>
          <p:nvPr/>
        </p:nvCxnSpPr>
        <p:spPr bwMode="auto">
          <a:xfrm>
            <a:off x="1678002" y="3813116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22" idx="2"/>
            <a:endCxn id="23" idx="0"/>
          </p:cNvCxnSpPr>
          <p:nvPr/>
        </p:nvCxnSpPr>
        <p:spPr bwMode="auto">
          <a:xfrm>
            <a:off x="1678002" y="4364916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23" idx="2"/>
            <a:endCxn id="24" idx="0"/>
          </p:cNvCxnSpPr>
          <p:nvPr/>
        </p:nvCxnSpPr>
        <p:spPr bwMode="auto">
          <a:xfrm>
            <a:off x="1678002" y="4916716"/>
            <a:ext cx="0" cy="13206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93" name="Rectangle 43">
            <a:extLst>
              <a:ext uri="{FF2B5EF4-FFF2-40B4-BE49-F238E27FC236}">
                <a16:creationId xmlns="" xmlns:a16="http://schemas.microsoft.com/office/drawing/2014/main" id="{A9BE069A-19F1-4EFE-B1F4-D663E17A6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1775" y="4497740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4.5.3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자산처분처리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80" name="Rectangle 43">
            <a:extLst>
              <a:ext uri="{FF2B5EF4-FFF2-40B4-BE49-F238E27FC236}">
                <a16:creationId xmlns="" xmlns:a16="http://schemas.microsoft.com/office/drawing/2014/main" id="{FB16AB14-DCB7-4BB3-B826-76FB9C0BA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9852" y="5606746"/>
            <a:ext cx="103516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4.3.5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자산변경이력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82" name="꺾인 연결선 91">
            <a:extLst>
              <a:ext uri="{FF2B5EF4-FFF2-40B4-BE49-F238E27FC236}">
                <a16:creationId xmlns="" xmlns:a16="http://schemas.microsoft.com/office/drawing/2014/main" id="{5A327428-C648-4BDA-8B8C-10424E53D48C}"/>
              </a:ext>
            </a:extLst>
          </p:cNvPr>
          <p:cNvCxnSpPr>
            <a:endCxn id="80" idx="0"/>
          </p:cNvCxnSpPr>
          <p:nvPr/>
        </p:nvCxnSpPr>
        <p:spPr bwMode="auto">
          <a:xfrm>
            <a:off x="4087436" y="5478624"/>
            <a:ext cx="0" cy="128122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03293581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ko-KR" altLang="en-US" smtClean="0">
                <a:latin typeface="+mn-ea"/>
                <a:ea typeface="+mn-ea"/>
              </a:rPr>
              <a:t>구매 및 자산취득 결의와 </a:t>
            </a:r>
            <a:r>
              <a:rPr lang="ko-KR" altLang="en-US">
                <a:latin typeface="+mn-ea"/>
                <a:ea typeface="+mn-ea"/>
              </a:rPr>
              <a:t>연계하여 자산 취득한 이후 이루어지는 이동</a:t>
            </a:r>
            <a:r>
              <a:rPr lang="en-US" altLang="ko-KR">
                <a:latin typeface="+mn-ea"/>
                <a:ea typeface="+mn-ea"/>
              </a:rPr>
              <a:t>, </a:t>
            </a:r>
            <a:r>
              <a:rPr lang="ko-KR" altLang="en-US">
                <a:latin typeface="+mn-ea"/>
                <a:ea typeface="+mn-ea"/>
              </a:rPr>
              <a:t>변경</a:t>
            </a:r>
            <a:r>
              <a:rPr lang="en-US" altLang="ko-KR">
                <a:latin typeface="+mn-ea"/>
                <a:ea typeface="+mn-ea"/>
              </a:rPr>
              <a:t>, </a:t>
            </a:r>
            <a:r>
              <a:rPr lang="ko-KR" altLang="en-US">
                <a:latin typeface="+mn-ea"/>
                <a:ea typeface="+mn-ea"/>
              </a:rPr>
              <a:t>감가상각</a:t>
            </a:r>
            <a:r>
              <a:rPr lang="en-US" altLang="ko-KR">
                <a:latin typeface="+mn-ea"/>
                <a:ea typeface="+mn-ea"/>
              </a:rPr>
              <a:t>, </a:t>
            </a:r>
            <a:r>
              <a:rPr lang="ko-KR" altLang="en-US">
                <a:latin typeface="+mn-ea"/>
                <a:ea typeface="+mn-ea"/>
              </a:rPr>
              <a:t>자본적 지출</a:t>
            </a:r>
            <a:r>
              <a:rPr lang="en-US" altLang="ko-KR">
                <a:latin typeface="+mn-ea"/>
                <a:ea typeface="+mn-ea"/>
              </a:rPr>
              <a:t>, </a:t>
            </a:r>
            <a:r>
              <a:rPr lang="ko-KR" altLang="en-US">
                <a:latin typeface="+mn-ea"/>
                <a:ea typeface="+mn-ea"/>
              </a:rPr>
              <a:t>분할</a:t>
            </a:r>
            <a:r>
              <a:rPr lang="en-US" altLang="ko-KR">
                <a:latin typeface="+mn-ea"/>
                <a:ea typeface="+mn-ea"/>
              </a:rPr>
              <a:t>, </a:t>
            </a:r>
            <a:r>
              <a:rPr lang="ko-KR" altLang="en-US">
                <a:latin typeface="+mn-ea"/>
                <a:ea typeface="+mn-ea"/>
              </a:rPr>
              <a:t>합병 등 모든 자산관련 </a:t>
            </a:r>
            <a:r>
              <a:rPr lang="ko-KR" altLang="en-US" smtClean="0">
                <a:latin typeface="+mn-ea"/>
                <a:ea typeface="+mn-ea"/>
              </a:rPr>
              <a:t>변동과 매각</a:t>
            </a:r>
            <a:r>
              <a:rPr lang="en-US" altLang="ko-KR" smtClean="0">
                <a:latin typeface="+mn-ea"/>
                <a:ea typeface="+mn-ea"/>
              </a:rPr>
              <a:t>,</a:t>
            </a:r>
            <a:r>
              <a:rPr lang="ko-KR" altLang="en-US" smtClean="0">
                <a:latin typeface="+mn-ea"/>
                <a:ea typeface="+mn-ea"/>
              </a:rPr>
              <a:t> </a:t>
            </a:r>
            <a:r>
              <a:rPr lang="ko-KR" altLang="en-US">
                <a:latin typeface="+mn-ea"/>
                <a:ea typeface="+mn-ea"/>
              </a:rPr>
              <a:t>폐기</a:t>
            </a:r>
            <a:r>
              <a:rPr lang="en-US" altLang="ko-KR">
                <a:latin typeface="+mn-ea"/>
                <a:ea typeface="+mn-ea"/>
              </a:rPr>
              <a:t>, </a:t>
            </a:r>
            <a:r>
              <a:rPr lang="ko-KR" altLang="en-US">
                <a:latin typeface="+mn-ea"/>
                <a:ea typeface="+mn-ea"/>
              </a:rPr>
              <a:t>손</a:t>
            </a:r>
            <a:r>
              <a:rPr lang="en-US" altLang="ko-KR">
                <a:latin typeface="+mn-ea"/>
                <a:ea typeface="+mn-ea"/>
              </a:rPr>
              <a:t>·</a:t>
            </a:r>
            <a:r>
              <a:rPr lang="ko-KR" altLang="en-US">
                <a:latin typeface="+mn-ea"/>
                <a:ea typeface="+mn-ea"/>
              </a:rPr>
              <a:t>망실 같은 자산의 처분에 이르는 전 라이프 사이클에 걸친 정보를 통합하여 관리하며</a:t>
            </a:r>
            <a:r>
              <a:rPr lang="en-US" altLang="ko-KR">
                <a:latin typeface="+mn-ea"/>
                <a:ea typeface="+mn-ea"/>
              </a:rPr>
              <a:t>, </a:t>
            </a:r>
            <a:r>
              <a:rPr lang="ko-KR" altLang="en-US">
                <a:latin typeface="+mn-ea"/>
                <a:ea typeface="+mn-ea"/>
              </a:rPr>
              <a:t>모든 회계처리는 자동으로 수행되어 </a:t>
            </a:r>
            <a:r>
              <a:rPr lang="ko-KR" altLang="en-US" smtClean="0">
                <a:latin typeface="+mn-ea"/>
                <a:ea typeface="+mn-ea"/>
              </a:rPr>
              <a:t>회계에 반영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6552728" cy="781320"/>
          </a:xfrm>
        </p:spPr>
        <p:txBody>
          <a:bodyPr>
            <a:noAutofit/>
          </a:bodyPr>
          <a:lstStyle/>
          <a:p>
            <a:r>
              <a:rPr lang="en-US" altLang="ko-KR" smtClean="0"/>
              <a:t>3.4 </a:t>
            </a:r>
            <a:r>
              <a:rPr lang="ko-KR" altLang="en-US" smtClean="0"/>
              <a:t>자산관리</a:t>
            </a:r>
            <a:r>
              <a:rPr lang="en-US" altLang="ko-KR" smtClean="0"/>
              <a:t> </a:t>
            </a:r>
            <a:r>
              <a:rPr lang="ko-KR" altLang="en-US" dirty="0"/>
              <a:t>업무분류 및 기능 정의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3.</a:t>
            </a:r>
            <a:r>
              <a:rPr lang="en-US" altLang="ko-KR" sz="1800" smtClean="0">
                <a:solidFill>
                  <a:prstClr val="black"/>
                </a:solidFill>
              </a:rPr>
              <a:t>4.2 </a:t>
            </a:r>
            <a:r>
              <a:rPr lang="ko-KR" altLang="en-US" sz="1800" smtClean="0">
                <a:solidFill>
                  <a:prstClr val="black"/>
                </a:solidFill>
              </a:rPr>
              <a:t>자산관리 </a:t>
            </a:r>
            <a:r>
              <a:rPr lang="ko-KR" altLang="en-US" sz="1800" dirty="0">
                <a:solidFill>
                  <a:prstClr val="black"/>
                </a:solidFill>
              </a:rPr>
              <a:t>업무기능 정의 </a:t>
            </a:r>
            <a:r>
              <a:rPr lang="en-US" altLang="ko-KR" sz="1800" dirty="0">
                <a:solidFill>
                  <a:prstClr val="black"/>
                </a:solidFill>
              </a:rPr>
              <a:t>(</a:t>
            </a:r>
            <a:r>
              <a:rPr lang="en-US" altLang="ko-KR" sz="1800" dirty="0"/>
              <a:t>1/2)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spcBef>
                <a:spcPts val="288"/>
              </a:spcBef>
            </a:pPr>
            <a:r>
              <a:rPr lang="en-US" altLang="ko-KR" smtClean="0">
                <a:solidFill>
                  <a:prstClr val="black"/>
                </a:solidFill>
              </a:rPr>
              <a:t>Ⅲ. </a:t>
            </a:r>
            <a:r>
              <a:rPr lang="ko-KR" altLang="en-US" smtClean="0">
                <a:solidFill>
                  <a:prstClr val="black"/>
                </a:solidFill>
              </a:rPr>
              <a:t>목표모델 설계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spcBef>
                <a:spcPts val="288"/>
              </a:spcBef>
            </a:pPr>
            <a:r>
              <a:rPr lang="en-US" altLang="ko-KR" dirty="0">
                <a:solidFill>
                  <a:prstClr val="black"/>
                </a:solidFill>
              </a:rPr>
              <a:t>3. </a:t>
            </a:r>
            <a:r>
              <a:rPr lang="ko-KR" altLang="en-US" dirty="0">
                <a:solidFill>
                  <a:prstClr val="black"/>
                </a:solidFill>
              </a:rPr>
              <a:t>업무별 개선안 설계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spcBef>
                <a:spcPts val="288"/>
              </a:spcBef>
            </a:pPr>
            <a:r>
              <a:rPr lang="en-US" altLang="ko-KR" smtClean="0">
                <a:solidFill>
                  <a:prstClr val="black"/>
                </a:solidFill>
              </a:rPr>
              <a:t>3.4 </a:t>
            </a:r>
            <a:r>
              <a:rPr lang="ko-KR" altLang="en-US" smtClean="0">
                <a:solidFill>
                  <a:prstClr val="black"/>
                </a:solidFill>
              </a:rPr>
              <a:t>자산관리 </a:t>
            </a:r>
            <a:r>
              <a:rPr lang="ko-KR" altLang="en-US" dirty="0">
                <a:solidFill>
                  <a:prstClr val="black"/>
                </a:solidFill>
              </a:rPr>
              <a:t>업무프로세스 개선안</a:t>
            </a:r>
            <a:endParaRPr lang="en-US" altLang="ko-KR" dirty="0">
              <a:solidFill>
                <a:prstClr val="black"/>
              </a:solidFill>
            </a:endParaRPr>
          </a:p>
        </p:txBody>
      </p:sp>
      <p:graphicFrame>
        <p:nvGraphicFramePr>
          <p:cNvPr id="70" name="표 69">
            <a:extLst>
              <a:ext uri="{FF2B5EF4-FFF2-40B4-BE49-F238E27FC236}">
                <a16:creationId xmlns="" xmlns:a16="http://schemas.microsoft.com/office/drawing/2014/main" id="{E9F2C507-AF08-4734-AD3C-A634FC74D8C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54520" y="1628801"/>
          <a:ext cx="9180512" cy="4632960"/>
        </p:xfrm>
        <a:graphic>
          <a:graphicData uri="http://schemas.openxmlformats.org/drawingml/2006/table">
            <a:tbl>
              <a:tblPr firstRow="1" bandRow="1"/>
              <a:tblGrid>
                <a:gridCol w="39482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1176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9959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6044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03470">
                  <a:extLst>
                    <a:ext uri="{9D8B030D-6E8A-4147-A177-3AD203B41FA5}">
                      <a16:colId xmlns="" xmlns:a16="http://schemas.microsoft.com/office/drawing/2014/main" val="392761856"/>
                    </a:ext>
                  </a:extLst>
                </a:gridCol>
                <a:gridCol w="803470">
                  <a:extLst>
                    <a:ext uri="{9D8B030D-6E8A-4147-A177-3AD203B41FA5}">
                      <a16:colId xmlns="" xmlns:a16="http://schemas.microsoft.com/office/drawing/2014/main" val="2283819833"/>
                    </a:ext>
                  </a:extLst>
                </a:gridCol>
                <a:gridCol w="1606940">
                  <a:extLst>
                    <a:ext uri="{9D8B030D-6E8A-4147-A177-3AD203B41FA5}">
                      <a16:colId xmlns="" xmlns:a16="http://schemas.microsoft.com/office/drawing/2014/main" val="3659144700"/>
                    </a:ext>
                  </a:extLst>
                </a:gridCol>
              </a:tblGrid>
              <a:tr h="242552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spc="-10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1000" b="1" spc="-10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업무명칭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업무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주관 조직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사용조직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개선사항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425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Lv2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Lv3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42552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자산기초자료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자산시스템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관리에 필요한 기준정보 및 관리기준 정보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경영지원처</a:t>
                      </a:r>
                      <a:endParaRPr lang="en-US" altLang="ko-KR" sz="1000" b="0" smtClean="0"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자산담당</a:t>
                      </a: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분류별 내용연수 관리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자산구분별 사양관리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자산담당자 관리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4.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자산건별 가계정 관리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425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자산분류코드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자산의 계정과목별 대분류</a:t>
                      </a:r>
                      <a:r>
                        <a:rPr lang="en-US" altLang="ko-KR" sz="1000" b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중분류 체계 및 내용연수 </a:t>
                      </a: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관리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5330139"/>
                  </a:ext>
                </a:extLst>
              </a:tr>
              <a:tr h="2425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자산 사양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자산구분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토지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건물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구축물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기계장치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차량 등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별 사양관리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7783185"/>
                  </a:ext>
                </a:extLst>
              </a:tr>
              <a:tr h="2425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자산담당자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각 부서의 자산담당자를 등록하여 해당 부서의 자산관리권한 부여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148509401"/>
                  </a:ext>
                </a:extLst>
              </a:tr>
              <a:tr h="2425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자산가계정관리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취득건별로 가계정번호를 부여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 투입금액을 집계 후 취득시 처리 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33555722"/>
                  </a:ext>
                </a:extLst>
              </a:tr>
              <a:tr h="242552"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자산취득관리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자산취득 대상의 인식 및 자산 취득 처리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취득전표 생성 및 배치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경영지원처</a:t>
                      </a:r>
                      <a:endParaRPr lang="en-US" altLang="ko-KR" sz="1000" b="0" smtClean="0"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자산담당</a:t>
                      </a: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검수조서 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취득품목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자산지출결의 별도관리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자산취득전표 자동생성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4.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개별자산의 배치관리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5.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사용권자산 등록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해지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58059666"/>
                  </a:ext>
                </a:extLst>
              </a:tr>
              <a:tr h="2425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mtClean="0">
                          <a:latin typeface="+mn-ea"/>
                          <a:ea typeface="+mn-ea"/>
                        </a:rPr>
                        <a:t>검수조서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구매 검수자료 취합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및 검수자료의 추가 입력으로 취득대상 확보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42552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자산지출결의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구매외의 자산 취득에 대한 지출결의 입력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토지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건물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공사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용역 등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42552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자산취득처리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자산가계정과 취득대상자산 목록을 선택하여 자산취득 처리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42552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자산 배치 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취득한 자산을 사용부서에 배치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개별자산 등록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감가상각 개시됨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42552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사용권자산관리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사용권자산의 취득 및 해지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월별 상각내역 조회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42552">
                <a:tc row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자산변경</a:t>
                      </a:r>
                      <a:endParaRPr lang="en-US" altLang="ko-KR" sz="1000" b="1" smtClean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자산이 이동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분할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합병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후속적지출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등의 변경사항을 관리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경영지원처</a:t>
                      </a:r>
                      <a:endParaRPr lang="en-US" altLang="ko-KR" sz="1000" b="0" smtClean="0"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자산담당</a:t>
                      </a: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자산 분할 관리</a:t>
                      </a:r>
                      <a:endParaRPr lang="en-US" altLang="ko-KR" sz="1000" b="0" baseline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자산 합병 관리</a:t>
                      </a:r>
                      <a:endParaRPr lang="en-US" altLang="ko-KR" sz="1000" b="0" baseline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자산변경이력 세부현황 제공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취득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이동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재물조사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합병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분할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상각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불용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처분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425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자산이동관리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인계부서의 이동 등록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숭인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인수부서 입력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승인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관리자 일괄이동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425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자산분할관리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개별자산의 분할 등록 및 승인처리로 분할된 자산으로 관리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4255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자산합병관리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자산의 합병 등록 및 승인처리로 하나의 자산으로 통합 관리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42552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후속적지출관리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기존자산에 자본적지출에 의한 자산 명목가치 증가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42552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자산변경이력조회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자산이 취득부터 처분까지의 상세이력 조회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82939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 vert="horz" lIns="0" tIns="45720" rIns="0" bIns="45720" rtlCol="0" anchor="ctr">
            <a:noAutofit/>
          </a:bodyPr>
          <a:lstStyle/>
          <a:p>
            <a:pPr>
              <a:spcBef>
                <a:spcPts val="288"/>
              </a:spcBef>
            </a:pPr>
            <a:r>
              <a:rPr lang="en-US" altLang="ko-KR" sz="1200" smtClean="0">
                <a:solidFill>
                  <a:prstClr val="black"/>
                </a:solidFill>
                <a:latin typeface="+mn-lt"/>
                <a:ea typeface="+mn-ea"/>
              </a:rPr>
              <a:t>Ⅲ. </a:t>
            </a:r>
            <a:r>
              <a:rPr lang="ko-KR" altLang="en-US" sz="1200" smtClean="0">
                <a:solidFill>
                  <a:prstClr val="black"/>
                </a:solidFill>
                <a:latin typeface="+mn-lt"/>
                <a:ea typeface="+mn-ea"/>
              </a:rPr>
              <a:t>목표모델 설계</a:t>
            </a:r>
            <a:endParaRPr lang="en-US" altLang="ko-KR" sz="1200" dirty="0">
              <a:solidFill>
                <a:prstClr val="black"/>
              </a:solidFill>
              <a:latin typeface="+mn-lt"/>
              <a:ea typeface="+mn-ea"/>
            </a:endParaRPr>
          </a:p>
          <a:p>
            <a:pPr>
              <a:spcBef>
                <a:spcPts val="288"/>
              </a:spcBef>
            </a:pPr>
            <a:r>
              <a:rPr lang="en-US" altLang="ko-KR" sz="1200" dirty="0">
                <a:solidFill>
                  <a:prstClr val="black"/>
                </a:solidFill>
                <a:latin typeface="+mn-lt"/>
                <a:ea typeface="+mn-ea"/>
              </a:rPr>
              <a:t>3. </a:t>
            </a:r>
            <a:r>
              <a:rPr lang="ko-KR" altLang="en-US" sz="1200" dirty="0">
                <a:solidFill>
                  <a:prstClr val="black"/>
                </a:solidFill>
                <a:latin typeface="+mn-lt"/>
                <a:ea typeface="+mn-ea"/>
              </a:rPr>
              <a:t>업무별 개선안 설계</a:t>
            </a:r>
            <a:endParaRPr lang="en-US" altLang="ko-KR" sz="1200" dirty="0">
              <a:solidFill>
                <a:prstClr val="black"/>
              </a:solidFill>
              <a:latin typeface="+mn-lt"/>
              <a:ea typeface="+mn-ea"/>
            </a:endParaRPr>
          </a:p>
          <a:p>
            <a:pPr>
              <a:spcBef>
                <a:spcPts val="288"/>
              </a:spcBef>
            </a:pPr>
            <a:r>
              <a:rPr lang="en-US" altLang="ko-KR" sz="1200" smtClean="0">
                <a:solidFill>
                  <a:prstClr val="black"/>
                </a:solidFill>
                <a:latin typeface="+mn-lt"/>
                <a:ea typeface="+mn-ea"/>
              </a:rPr>
              <a:t>3.4 </a:t>
            </a:r>
            <a:r>
              <a:rPr lang="ko-KR" altLang="en-US" sz="1200" smtClean="0">
                <a:solidFill>
                  <a:prstClr val="black"/>
                </a:solidFill>
                <a:latin typeface="+mn-lt"/>
                <a:ea typeface="+mn-ea"/>
              </a:rPr>
              <a:t>자산관리 </a:t>
            </a:r>
            <a:r>
              <a:rPr lang="ko-KR" altLang="en-US" sz="1200" dirty="0">
                <a:solidFill>
                  <a:prstClr val="black"/>
                </a:solidFill>
                <a:latin typeface="+mn-lt"/>
                <a:ea typeface="+mn-ea"/>
              </a:rPr>
              <a:t>업무프로세스 개선안</a:t>
            </a:r>
            <a:endParaRPr lang="en-US" altLang="ko-KR" sz="1200" dirty="0">
              <a:solidFill>
                <a:prstClr val="black"/>
              </a:solidFill>
              <a:latin typeface="+mn-lt"/>
              <a:ea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="" xmlns:a16="http://schemas.microsoft.com/office/drawing/2014/main" id="{EA81E65E-B8D8-451B-BB56-CC5F3ED4609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50002" y="881349"/>
          <a:ext cx="9180514" cy="5355938"/>
        </p:xfrm>
        <a:graphic>
          <a:graphicData uri="http://schemas.openxmlformats.org/drawingml/2006/table">
            <a:tbl>
              <a:tblPr firstRow="1" bandRow="1"/>
              <a:tblGrid>
                <a:gridCol w="40123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9085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6044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6409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2008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61967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03883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spc="-100" baseline="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ko-KR" altLang="en-US" sz="1000" b="1" spc="-100" baseline="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업무명칭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업무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주관조직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사용조직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개선사항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03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Lv2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Lv3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03883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dirty="0"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재물조사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재물조사 계획을 작성하여 배포하고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결과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 보고 및 확인 처리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경영지원처</a:t>
                      </a:r>
                      <a:endParaRPr lang="en-US" altLang="ko-KR" sz="1000" b="0" smtClean="0"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자산담당</a:t>
                      </a: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재물조사 계획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자산목록 및 라벨인쇄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3)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결과보고서 입력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확인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조치계획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조치계획에 대한 지시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승인처리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)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303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재물조사 계획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재물조사 계획을 작성하여 등록 및 각 부서에 일정을 알림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303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mtClean="0">
                          <a:latin typeface="+mn-ea"/>
                          <a:ea typeface="+mn-ea"/>
                        </a:rPr>
                        <a:t>재무조사 목록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각 부서의 재물조사 일정에 따른 보유자산 목록 및 라벨 인쇄 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303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재물조사결과관리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재물조사 결과 등록 및 보고서 작성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보고서 확인 관리</a:t>
                      </a:r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150836785"/>
                  </a:ext>
                </a:extLst>
              </a:tr>
              <a:tr h="303883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dirty="0"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자산처분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불용처리 및 볼용자산의 처분신청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처분처리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처분 전표  자동생성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1000" b="0" kern="120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</a:b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경영지원처</a:t>
                      </a:r>
                      <a:endParaRPr lang="en-US" altLang="ko-KR" sz="1000" b="0" smtClean="0"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자산담당</a:t>
                      </a: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latinLnBrk="1"/>
                      <a:endParaRPr lang="en-US" altLang="ko-KR" sz="1000" b="0" dirty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불용신청 및 처분신청의 전자결재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처분전표 생성 자동화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03883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자산불용처리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자산의 불용신청 및 불용처리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불용상태의 자산만 처분 가능함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43431688"/>
                  </a:ext>
                </a:extLst>
              </a:tr>
              <a:tr h="303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자산처분신청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각 부서에서 매각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폐가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기증 등의 형태로 자산 처분을 신청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76410975"/>
                  </a:ext>
                </a:extLst>
              </a:tr>
              <a:tr h="303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자산처분처리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부서장의 승인을 받은 처분신청에 대한 확정 및 처분전표 처리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49381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감가상각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취득시점부터 매월 감가상각을 수행하고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감가상각 전표를 자공생성하여 마감처리하고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마감된 년월은 취득을 금지하여 변동 방지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경영지원처</a:t>
                      </a:r>
                      <a:endParaRPr lang="en-US" altLang="ko-KR" sz="1000" b="0" smtClean="0"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자산담당</a:t>
                      </a: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dirty="0">
                          <a:latin typeface="+mn-ea"/>
                          <a:ea typeface="+mn-ea"/>
                        </a:rPr>
                        <a:t>전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개별자산의 감가상각 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2)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상각마감월의 취득불허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지연 취득은 일괄 상각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3)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감가상각전표 자동생성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372411127"/>
                  </a:ext>
                </a:extLst>
              </a:tr>
              <a:tr h="303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상각기준관리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자산 분류를 기준으로 내용연수 일괄 수정 기능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03883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감가상각 처리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매월 감가상각 작업을 수행하여 상각전표를 생성하여 마감처리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303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감가상각 현황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감가상각 상세내역 및 집계표 조회 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303883"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dirty="0"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>
                        <a:lnSpc>
                          <a:spcPts val="1000"/>
                        </a:lnSpc>
                      </a:pPr>
                      <a:r>
                        <a:rPr lang="ko-KR" altLang="en-US" sz="1000" b="1" kern="120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자산결산</a:t>
                      </a:r>
                      <a:endParaRPr lang="ko-KR" altLang="en-US" sz="1000" b="1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건설중인 자산에 대한 결산 및 자산 장부를 조회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경영지원처</a:t>
                      </a:r>
                      <a:endParaRPr lang="en-US" altLang="ko-KR" sz="1000" b="0" smtClean="0"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자산담당</a:t>
                      </a: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경영지원처</a:t>
                      </a:r>
                      <a:endParaRPr lang="en-US" altLang="ko-KR" sz="1000" b="0" smtClean="0"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자산담당</a:t>
                      </a: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건설중인자산 결산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자산 장부 관리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이월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증가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감소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잔액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상각누계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당월상각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잔액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303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건중자산결산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건설중인 자산에 대한 결산전표 생성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건설중인자산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투입비용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  <a:tr h="30388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자산 대장 조회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자산 대창 및 장부 조회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5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0" name="제목 2">
            <a:extLst>
              <a:ext uri="{FF2B5EF4-FFF2-40B4-BE49-F238E27FC236}">
                <a16:creationId xmlns="" xmlns:a16="http://schemas.microsoft.com/office/drawing/2014/main" id="{C0E42CB6-E8AF-E644-9D0E-99DEEE340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88" y="0"/>
            <a:ext cx="6624736" cy="781320"/>
          </a:xfrm>
        </p:spPr>
        <p:txBody>
          <a:bodyPr>
            <a:noAutofit/>
          </a:bodyPr>
          <a:lstStyle/>
          <a:p>
            <a:r>
              <a:rPr lang="en-US" altLang="ko-KR" smtClean="0"/>
              <a:t>3.4 </a:t>
            </a:r>
            <a:r>
              <a:rPr lang="ko-KR" altLang="en-US" smtClean="0"/>
              <a:t>자산관리</a:t>
            </a:r>
            <a:r>
              <a:rPr lang="en-US" altLang="ko-KR" smtClean="0"/>
              <a:t> </a:t>
            </a:r>
            <a:r>
              <a:rPr lang="ko-KR" altLang="en-US" dirty="0"/>
              <a:t>업무분류 및 기능 정의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3.</a:t>
            </a:r>
            <a:r>
              <a:rPr lang="en-US" altLang="ko-KR" sz="1800" smtClean="0">
                <a:solidFill>
                  <a:prstClr val="black"/>
                </a:solidFill>
              </a:rPr>
              <a:t>4.2 </a:t>
            </a:r>
            <a:r>
              <a:rPr lang="ko-KR" altLang="en-US" sz="1800" smtClean="0">
                <a:solidFill>
                  <a:prstClr val="black"/>
                </a:solidFill>
              </a:rPr>
              <a:t>자산관리 </a:t>
            </a:r>
            <a:r>
              <a:rPr lang="ko-KR" altLang="en-US" sz="1800" dirty="0">
                <a:solidFill>
                  <a:prstClr val="black"/>
                </a:solidFill>
              </a:rPr>
              <a:t>업무기능 정의 </a:t>
            </a:r>
            <a:r>
              <a:rPr lang="en-US" altLang="ko-KR" sz="1800" dirty="0">
                <a:solidFill>
                  <a:prstClr val="black"/>
                </a:solidFill>
              </a:rPr>
              <a:t>(</a:t>
            </a:r>
            <a:r>
              <a:rPr lang="en-US" altLang="ko-KR" sz="1800" dirty="0"/>
              <a:t>2/2)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81285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>
          <a:xfrm>
            <a:off x="381548" y="886681"/>
            <a:ext cx="9180512" cy="870304"/>
          </a:xfrm>
          <a:noFill/>
          <a:ln w="6350">
            <a:noFill/>
          </a:ln>
        </p:spPr>
        <p:txBody>
          <a:bodyPr vert="horz" lIns="0" tIns="0" rIns="0" bIns="0" rtlCol="0" anchor="t" anchorCtr="0">
            <a:noAutofit/>
          </a:bodyPr>
          <a:lstStyle/>
          <a:p>
            <a:pPr>
              <a:spcAft>
                <a:spcPct val="30000"/>
              </a:spcAft>
              <a:buClr>
                <a:srgbClr val="808080"/>
              </a:buClr>
            </a:pPr>
            <a:r>
              <a:rPr lang="ko-KR" altLang="en-US" smtClean="0">
                <a:solidFill>
                  <a:srgbClr val="000000"/>
                </a:solidFill>
                <a:latin typeface="+mn-ea"/>
                <a:ea typeface="+mn-ea"/>
              </a:rPr>
              <a:t>사업계획에서부터 사업종료까지의 사업단계별 정보를 표준화하고 체계적으로 관리하고</a:t>
            </a:r>
            <a:r>
              <a:rPr lang="en-US" altLang="ko-KR" smtClean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mtClean="0">
                <a:solidFill>
                  <a:srgbClr val="000000"/>
                </a:solidFill>
                <a:latin typeface="+mn-ea"/>
                <a:ea typeface="+mn-ea"/>
              </a:rPr>
              <a:t>예산</a:t>
            </a:r>
            <a:r>
              <a:rPr lang="en-US" altLang="ko-KR" smtClean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mtClean="0">
                <a:solidFill>
                  <a:srgbClr val="000000"/>
                </a:solidFill>
                <a:latin typeface="+mn-ea"/>
                <a:ea typeface="+mn-ea"/>
              </a:rPr>
              <a:t>회계</a:t>
            </a:r>
            <a:r>
              <a:rPr lang="en-US" altLang="ko-KR" smtClean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mtClean="0">
                <a:solidFill>
                  <a:srgbClr val="000000"/>
                </a:solidFill>
                <a:latin typeface="+mn-ea"/>
                <a:ea typeface="+mn-ea"/>
              </a:rPr>
              <a:t>구매 등의 내부 시스템과 전자결재 연동</a:t>
            </a:r>
            <a:r>
              <a:rPr lang="en-US" altLang="ko-KR" smtClean="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mtClean="0">
                <a:solidFill>
                  <a:srgbClr val="000000"/>
                </a:solidFill>
                <a:latin typeface="+mn-ea"/>
                <a:ea typeface="+mn-ea"/>
              </a:rPr>
              <a:t>조달정보의 실시간 취득 등 긴밀한 내</a:t>
            </a:r>
            <a:r>
              <a:rPr lang="en-US" altLang="ko-KR" smtClean="0">
                <a:solidFill>
                  <a:srgbClr val="000000"/>
                </a:solidFill>
                <a:latin typeface="+mn-ea"/>
                <a:ea typeface="+mn-ea"/>
              </a:rPr>
              <a:t>.</a:t>
            </a:r>
            <a:r>
              <a:rPr lang="ko-KR" altLang="en-US" smtClean="0">
                <a:solidFill>
                  <a:srgbClr val="000000"/>
                </a:solidFill>
                <a:latin typeface="+mn-ea"/>
                <a:ea typeface="+mn-ea"/>
              </a:rPr>
              <a:t>외부연계를 통해서 효율적인고 원활한 사업관리 업무 시스템을 구현</a:t>
            </a:r>
            <a:endParaRPr lang="en-US" altLang="ko-KR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spcBef>
                <a:spcPts val="288"/>
              </a:spcBef>
            </a:pPr>
            <a:r>
              <a:rPr lang="en-US" altLang="ko-KR" smtClean="0">
                <a:solidFill>
                  <a:prstClr val="black"/>
                </a:solidFill>
              </a:rPr>
              <a:t>Ⅲ. </a:t>
            </a:r>
            <a:r>
              <a:rPr lang="ko-KR" altLang="en-US" smtClean="0">
                <a:solidFill>
                  <a:prstClr val="black"/>
                </a:solidFill>
              </a:rPr>
              <a:t>목표모델 설계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spcBef>
                <a:spcPts val="288"/>
              </a:spcBef>
            </a:pPr>
            <a:r>
              <a:rPr lang="en-US" altLang="ko-KR" dirty="0">
                <a:solidFill>
                  <a:prstClr val="black"/>
                </a:solidFill>
              </a:rPr>
              <a:t>3. </a:t>
            </a:r>
            <a:r>
              <a:rPr lang="ko-KR" altLang="en-US" dirty="0">
                <a:solidFill>
                  <a:prstClr val="black"/>
                </a:solidFill>
              </a:rPr>
              <a:t>업무별 개선안 설계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spcBef>
                <a:spcPts val="288"/>
              </a:spcBef>
            </a:pPr>
            <a:r>
              <a:rPr lang="en-US" altLang="ko-KR" smtClean="0">
                <a:solidFill>
                  <a:prstClr val="black"/>
                </a:solidFill>
              </a:rPr>
              <a:t>3.5 </a:t>
            </a:r>
            <a:r>
              <a:rPr lang="ko-KR" altLang="en-US" smtClean="0">
                <a:solidFill>
                  <a:prstClr val="black"/>
                </a:solidFill>
              </a:rPr>
              <a:t>사업관리 </a:t>
            </a:r>
            <a:r>
              <a:rPr lang="ko-KR" altLang="en-US">
                <a:solidFill>
                  <a:prstClr val="black"/>
                </a:solidFill>
              </a:rPr>
              <a:t>업무프로세스 </a:t>
            </a:r>
            <a:r>
              <a:rPr lang="ko-KR" altLang="en-US" smtClean="0">
                <a:solidFill>
                  <a:prstClr val="black"/>
                </a:solidFill>
              </a:rPr>
              <a:t>개선안</a:t>
            </a:r>
            <a:endParaRPr lang="en-US" altLang="ko-KR" dirty="0">
              <a:solidFill>
                <a:prstClr val="black"/>
              </a:solidFill>
            </a:endParaRPr>
          </a:p>
        </p:txBody>
      </p:sp>
      <p:sp>
        <p:nvSpPr>
          <p:cNvPr id="311" name="직사각형 310">
            <a:extLst>
              <a:ext uri="{FF2B5EF4-FFF2-40B4-BE49-F238E27FC236}">
                <a16:creationId xmlns="" xmlns:a16="http://schemas.microsoft.com/office/drawing/2014/main" id="{834EF977-2F4F-4CFA-8644-DCEB070BA4D7}"/>
              </a:ext>
            </a:extLst>
          </p:cNvPr>
          <p:cNvSpPr/>
          <p:nvPr/>
        </p:nvSpPr>
        <p:spPr bwMode="auto">
          <a:xfrm>
            <a:off x="354519" y="1628800"/>
            <a:ext cx="9170481" cy="324000"/>
          </a:xfrm>
          <a:prstGeom prst="rect">
            <a:avLst/>
          </a:prstGeom>
          <a:solidFill>
            <a:srgbClr val="233C5A"/>
          </a:solidFill>
          <a:ln w="12699">
            <a:solidFill>
              <a:srgbClr val="000000">
                <a:lumMod val="50000"/>
                <a:lumOff val="50000"/>
              </a:srgbClr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72000" tIns="72000" rIns="72000" bIns="72000" anchor="ctr"/>
          <a:lstStyle/>
          <a:p>
            <a:pPr algn="ctr" latinLnBrk="0">
              <a:buClrTx/>
              <a:buFontTx/>
              <a:buNone/>
              <a:defRPr/>
            </a:pPr>
            <a:r>
              <a: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업무분류 구조도 </a:t>
            </a:r>
            <a:r>
              <a:rPr lang="en-US" altLang="ko-KR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(TO-BE)</a:t>
            </a:r>
            <a:endParaRPr lang="ko-KR" altLang="en-US" sz="1400" b="1" kern="0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312" name="Rectangle 4">
            <a:extLst>
              <a:ext uri="{FF2B5EF4-FFF2-40B4-BE49-F238E27FC236}">
                <a16:creationId xmlns="" xmlns:a16="http://schemas.microsoft.com/office/drawing/2014/main" id="{89D385C2-BC55-4019-B543-408E7D7B9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488" y="1952800"/>
            <a:ext cx="9170481" cy="435588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sm" len="sm"/>
          </a:ln>
          <a:effectLst>
            <a:outerShdw blurRad="38100" dist="254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180000" tIns="36000" rIns="72000" bIns="36000" numCol="1" rtlCol="0" anchor="ctr" anchorCtr="0" compatLnSpc="1">
            <a:prstTxWarp prst="textNoShape">
              <a:avLst/>
            </a:prstTxWarp>
          </a:bodyPr>
          <a:lstStyle/>
          <a:p>
            <a:pPr marL="265113" indent="-265113" latinLnBrk="0">
              <a:lnSpc>
                <a:spcPct val="100000"/>
              </a:lnSpc>
              <a:spcBef>
                <a:spcPts val="1200"/>
              </a:spcBef>
              <a:buClr>
                <a:schemeClr val="tx1"/>
              </a:buClr>
              <a:buFont typeface="Wingdings" pitchFamily="2" charset="2"/>
              <a:buChar char="q"/>
              <a:defRPr/>
            </a:pPr>
            <a:endParaRPr lang="ko-KR" altLang="en-US" sz="1400" b="0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316" name="Rectangle 43">
            <a:extLst>
              <a:ext uri="{FF2B5EF4-FFF2-40B4-BE49-F238E27FC236}">
                <a16:creationId xmlns="" xmlns:a16="http://schemas.microsoft.com/office/drawing/2014/main" id="{F6A7BD53-EDB7-4ACE-ACD6-9D9808E65A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2828" y="2727039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5.2 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수주진행관리</a:t>
            </a:r>
            <a:endParaRPr lang="en-US" altLang="ko-KR" sz="1100" b="1" kern="0" spc="-150" dirty="0">
              <a:latin typeface="+mn-ea"/>
            </a:endParaRPr>
          </a:p>
        </p:txBody>
      </p:sp>
      <p:cxnSp>
        <p:nvCxnSpPr>
          <p:cNvPr id="317" name="꺾인 연결선 16">
            <a:extLst>
              <a:ext uri="{FF2B5EF4-FFF2-40B4-BE49-F238E27FC236}">
                <a16:creationId xmlns="" xmlns:a16="http://schemas.microsoft.com/office/drawing/2014/main" id="{3527B8CC-4135-46EF-B509-FECE5DAD555E}"/>
              </a:ext>
            </a:extLst>
          </p:cNvPr>
          <p:cNvCxnSpPr>
            <a:cxnSpLocks/>
            <a:stCxn id="320" idx="2"/>
            <a:endCxn id="316" idx="0"/>
          </p:cNvCxnSpPr>
          <p:nvPr/>
        </p:nvCxnSpPr>
        <p:spPr bwMode="auto">
          <a:xfrm rot="5400000">
            <a:off x="4070879" y="1505782"/>
            <a:ext cx="270790" cy="2171724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318" name="Rectangle 43">
            <a:extLst>
              <a:ext uri="{FF2B5EF4-FFF2-40B4-BE49-F238E27FC236}">
                <a16:creationId xmlns="" xmlns:a16="http://schemas.microsoft.com/office/drawing/2014/main" id="{55A536C4-1F9D-4CFC-B360-5BE659245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2898" y="33929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5.2.1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수주진행관리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319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316" idx="2"/>
            <a:endCxn id="318" idx="0"/>
          </p:cNvCxnSpPr>
          <p:nvPr/>
        </p:nvCxnSpPr>
        <p:spPr bwMode="auto">
          <a:xfrm>
            <a:off x="3120412" y="3126413"/>
            <a:ext cx="35" cy="26658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20" name="Rectangle 43">
            <a:extLst>
              <a:ext uri="{FF2B5EF4-FFF2-40B4-BE49-F238E27FC236}">
                <a16:creationId xmlns="" xmlns:a16="http://schemas.microsoft.com/office/drawing/2014/main" id="{C37FE70D-B49D-4E1B-8525-B9801948F7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453" y="2058161"/>
            <a:ext cx="8263366" cy="398088"/>
          </a:xfrm>
          <a:prstGeom prst="roundRect">
            <a:avLst>
              <a:gd name="adj" fmla="val 0"/>
            </a:avLst>
          </a:prstGeom>
          <a:solidFill>
            <a:srgbClr val="508CD2"/>
          </a:solidFill>
          <a:ln w="9525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marL="85725" indent="-85725" algn="ctr" eaLnBrk="0" fontAlgn="base" latinLnBrk="0" hangingPunct="0">
              <a:spcBef>
                <a:spcPts val="600"/>
              </a:spcBef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300" b="1" kern="0">
                <a:solidFill>
                  <a:prstClr val="white"/>
                </a:solidFill>
                <a:latin typeface="+mn-ea"/>
              </a:rPr>
              <a:t>5</a:t>
            </a:r>
            <a:r>
              <a:rPr lang="en-US" altLang="ko-KR" sz="1300" b="1" kern="0" smtClean="0">
                <a:solidFill>
                  <a:prstClr val="white"/>
                </a:solidFill>
                <a:latin typeface="+mn-ea"/>
              </a:rPr>
              <a:t>. </a:t>
            </a:r>
            <a:r>
              <a:rPr lang="ko-KR" altLang="en-US" sz="1300" b="1" kern="0" smtClean="0">
                <a:solidFill>
                  <a:prstClr val="white"/>
                </a:solidFill>
                <a:latin typeface="+mn-ea"/>
              </a:rPr>
              <a:t>사업관리</a:t>
            </a:r>
            <a:endParaRPr lang="en-US" altLang="ko-KR" sz="13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1" name="Rectangle 43">
            <a:extLst>
              <a:ext uri="{FF2B5EF4-FFF2-40B4-BE49-F238E27FC236}">
                <a16:creationId xmlns="" xmlns:a16="http://schemas.microsoft.com/office/drawing/2014/main" id="{D6022CC8-8B0F-4459-9750-B32A286F07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5133" y="2727039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5.3 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latin typeface="+mn-ea"/>
              </a:rPr>
              <a:t>사업실행관리</a:t>
            </a:r>
            <a:endParaRPr lang="en-US" altLang="ko-KR" sz="1100" b="1" kern="0" spc="-150" dirty="0">
              <a:latin typeface="+mn-ea"/>
            </a:endParaRPr>
          </a:p>
        </p:txBody>
      </p:sp>
      <p:sp>
        <p:nvSpPr>
          <p:cNvPr id="322" name="Rectangle 43">
            <a:extLst>
              <a:ext uri="{FF2B5EF4-FFF2-40B4-BE49-F238E27FC236}">
                <a16:creationId xmlns="" xmlns:a16="http://schemas.microsoft.com/office/drawing/2014/main" id="{AAC9D106-BE04-41F1-AFEB-0A5D026428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7438" y="2727039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5.4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latin typeface="+mn-ea"/>
              </a:rPr>
              <a:t>사업실적 관리</a:t>
            </a:r>
            <a:endParaRPr lang="en-US" altLang="ko-KR" sz="1100" b="1" kern="0" spc="-150" dirty="0">
              <a:latin typeface="+mn-ea"/>
            </a:endParaRPr>
          </a:p>
        </p:txBody>
      </p:sp>
      <p:sp>
        <p:nvSpPr>
          <p:cNvPr id="323" name="Rectangle 43">
            <a:extLst>
              <a:ext uri="{FF2B5EF4-FFF2-40B4-BE49-F238E27FC236}">
                <a16:creationId xmlns="" xmlns:a16="http://schemas.microsoft.com/office/drawing/2014/main" id="{710E7DA3-5FB4-4ACB-A8F3-7C5B8554AC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9743" y="2727039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5.5 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latin typeface="+mn-ea"/>
              </a:rPr>
              <a:t>기성청구관리</a:t>
            </a:r>
            <a:endParaRPr lang="en-US" altLang="ko-KR" sz="1100" b="1" kern="0" spc="-150" dirty="0">
              <a:latin typeface="+mn-ea"/>
            </a:endParaRPr>
          </a:p>
        </p:txBody>
      </p:sp>
      <p:sp>
        <p:nvSpPr>
          <p:cNvPr id="324" name="Rectangle 43">
            <a:extLst>
              <a:ext uri="{FF2B5EF4-FFF2-40B4-BE49-F238E27FC236}">
                <a16:creationId xmlns="" xmlns:a16="http://schemas.microsoft.com/office/drawing/2014/main" id="{1F3C037D-8663-4BB2-8F50-67E55BF23C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050" y="2727039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5.6 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사업결산관리</a:t>
            </a:r>
            <a:endParaRPr lang="ko-KR" altLang="en-US" sz="1100" b="1" kern="0" dirty="0">
              <a:latin typeface="+mn-ea"/>
            </a:endParaRPr>
          </a:p>
        </p:txBody>
      </p:sp>
      <p:cxnSp>
        <p:nvCxnSpPr>
          <p:cNvPr id="325" name="꺾인 연결선 95">
            <a:extLst>
              <a:ext uri="{FF2B5EF4-FFF2-40B4-BE49-F238E27FC236}">
                <a16:creationId xmlns="" xmlns:a16="http://schemas.microsoft.com/office/drawing/2014/main" id="{4707B7F0-4A9A-48EF-A615-1016A4AB6D50}"/>
              </a:ext>
            </a:extLst>
          </p:cNvPr>
          <p:cNvCxnSpPr>
            <a:cxnSpLocks/>
            <a:stCxn id="320" idx="2"/>
            <a:endCxn id="324" idx="0"/>
          </p:cNvCxnSpPr>
          <p:nvPr/>
        </p:nvCxnSpPr>
        <p:spPr bwMode="auto">
          <a:xfrm rot="16200000" flipH="1">
            <a:off x="6955490" y="792895"/>
            <a:ext cx="270790" cy="3597498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26" name="꺾인 연결선 98">
            <a:extLst>
              <a:ext uri="{FF2B5EF4-FFF2-40B4-BE49-F238E27FC236}">
                <a16:creationId xmlns="" xmlns:a16="http://schemas.microsoft.com/office/drawing/2014/main" id="{140F111D-6450-4FBD-BB10-FB50112D1751}"/>
              </a:ext>
            </a:extLst>
          </p:cNvPr>
          <p:cNvCxnSpPr>
            <a:cxnSpLocks/>
            <a:stCxn id="320" idx="2"/>
            <a:endCxn id="321" idx="0"/>
          </p:cNvCxnSpPr>
          <p:nvPr/>
        </p:nvCxnSpPr>
        <p:spPr bwMode="auto">
          <a:xfrm rot="5400000">
            <a:off x="4792032" y="2226935"/>
            <a:ext cx="270790" cy="729419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27" name="꺾인 연결선 101">
            <a:extLst>
              <a:ext uri="{FF2B5EF4-FFF2-40B4-BE49-F238E27FC236}">
                <a16:creationId xmlns="" xmlns:a16="http://schemas.microsoft.com/office/drawing/2014/main" id="{BA41D50E-5184-4CAD-B9D9-E23D3EC512F4}"/>
              </a:ext>
            </a:extLst>
          </p:cNvPr>
          <p:cNvCxnSpPr>
            <a:cxnSpLocks/>
            <a:stCxn id="320" idx="2"/>
            <a:endCxn id="322" idx="0"/>
          </p:cNvCxnSpPr>
          <p:nvPr/>
        </p:nvCxnSpPr>
        <p:spPr bwMode="auto">
          <a:xfrm rot="16200000" flipH="1">
            <a:off x="5513184" y="2235201"/>
            <a:ext cx="270790" cy="712886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328" name="꺾인 연결선 104">
            <a:extLst>
              <a:ext uri="{FF2B5EF4-FFF2-40B4-BE49-F238E27FC236}">
                <a16:creationId xmlns="" xmlns:a16="http://schemas.microsoft.com/office/drawing/2014/main" id="{7D6841DF-7D60-4A15-8D68-2DF204ABC742}"/>
              </a:ext>
            </a:extLst>
          </p:cNvPr>
          <p:cNvCxnSpPr>
            <a:cxnSpLocks/>
            <a:stCxn id="320" idx="2"/>
            <a:endCxn id="323" idx="0"/>
          </p:cNvCxnSpPr>
          <p:nvPr/>
        </p:nvCxnSpPr>
        <p:spPr bwMode="auto">
          <a:xfrm rot="16200000" flipH="1">
            <a:off x="6234336" y="1514048"/>
            <a:ext cx="270790" cy="2155191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sp>
        <p:nvSpPr>
          <p:cNvPr id="329" name="Rectangle 43">
            <a:extLst>
              <a:ext uri="{FF2B5EF4-FFF2-40B4-BE49-F238E27FC236}">
                <a16:creationId xmlns="" xmlns:a16="http://schemas.microsoft.com/office/drawing/2014/main" id="{E965CCD8-2743-48F9-8315-B5DADCCDAB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5132" y="3392997"/>
            <a:ext cx="1035169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5.3.1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사업수주관리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0" name="Rectangle 43">
            <a:extLst>
              <a:ext uri="{FF2B5EF4-FFF2-40B4-BE49-F238E27FC236}">
                <a16:creationId xmlns="" xmlns:a16="http://schemas.microsoft.com/office/drawing/2014/main" id="{178EBF35-26B2-480A-87C2-82B04DC82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7508" y="33929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5.5.1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사업실적 현황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2" name="Rectangle 43">
            <a:extLst>
              <a:ext uri="{FF2B5EF4-FFF2-40B4-BE49-F238E27FC236}">
                <a16:creationId xmlns="" xmlns:a16="http://schemas.microsoft.com/office/drawing/2014/main" id="{A402D1D2-36A2-408F-9FA1-94C47FEEA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120" y="33929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5.6.1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선수수익결산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3" name="Rectangle 43">
            <a:extLst>
              <a:ext uri="{FF2B5EF4-FFF2-40B4-BE49-F238E27FC236}">
                <a16:creationId xmlns="" xmlns:a16="http://schemas.microsoft.com/office/drawing/2014/main" id="{70CCE5AE-3D2E-4940-9C11-ABFBE5F52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5133" y="3946770"/>
            <a:ext cx="103516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solidFill>
                  <a:srgbClr val="0000CC"/>
                </a:solidFill>
                <a:latin typeface="+mn-ea"/>
              </a:rPr>
              <a:t>5.3.2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solidFill>
                  <a:srgbClr val="0000CC"/>
                </a:solidFill>
                <a:latin typeface="+mn-ea"/>
              </a:rPr>
              <a:t>실행계획 관리</a:t>
            </a:r>
            <a:endParaRPr lang="en-US" altLang="ko-KR" sz="1100" b="1" kern="0" dirty="0">
              <a:solidFill>
                <a:srgbClr val="0000CC"/>
              </a:solidFill>
              <a:latin typeface="+mn-ea"/>
            </a:endParaRPr>
          </a:p>
        </p:txBody>
      </p:sp>
      <p:sp>
        <p:nvSpPr>
          <p:cNvPr id="334" name="Rectangle 43">
            <a:extLst>
              <a:ext uri="{FF2B5EF4-FFF2-40B4-BE49-F238E27FC236}">
                <a16:creationId xmlns="" xmlns:a16="http://schemas.microsoft.com/office/drawing/2014/main" id="{C6AF2B82-F503-46E0-AD73-C09C27E99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45133" y="4500543"/>
            <a:ext cx="103516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5.3.3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사업실적집계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36" name="Rectangle 43">
            <a:extLst>
              <a:ext uri="{FF2B5EF4-FFF2-40B4-BE49-F238E27FC236}">
                <a16:creationId xmlns="" xmlns:a16="http://schemas.microsoft.com/office/drawing/2014/main" id="{553D359E-ECF9-404B-BF6B-276C17858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7508" y="3946770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5.5.2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사업실적배부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337" name="꺾인 연결선 91">
            <a:extLst>
              <a:ext uri="{FF2B5EF4-FFF2-40B4-BE49-F238E27FC236}">
                <a16:creationId xmlns="" xmlns:a16="http://schemas.microsoft.com/office/drawing/2014/main" id="{46BE52CD-219C-4FE0-BAF9-A389CB6A694E}"/>
              </a:ext>
            </a:extLst>
          </p:cNvPr>
          <p:cNvCxnSpPr>
            <a:stCxn id="321" idx="2"/>
            <a:endCxn id="329" idx="0"/>
          </p:cNvCxnSpPr>
          <p:nvPr/>
        </p:nvCxnSpPr>
        <p:spPr bwMode="auto">
          <a:xfrm>
            <a:off x="4562717" y="3126413"/>
            <a:ext cx="0" cy="266584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8" name="꺾인 연결선 91">
            <a:extLst>
              <a:ext uri="{FF2B5EF4-FFF2-40B4-BE49-F238E27FC236}">
                <a16:creationId xmlns="" xmlns:a16="http://schemas.microsoft.com/office/drawing/2014/main" id="{E5264E3C-153B-4603-8339-982EA3EFD6B0}"/>
              </a:ext>
            </a:extLst>
          </p:cNvPr>
          <p:cNvCxnSpPr>
            <a:stCxn id="322" idx="2"/>
            <a:endCxn id="330" idx="0"/>
          </p:cNvCxnSpPr>
          <p:nvPr/>
        </p:nvCxnSpPr>
        <p:spPr bwMode="auto">
          <a:xfrm>
            <a:off x="6005022" y="3126413"/>
            <a:ext cx="35" cy="26658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39" name="꺾인 연결선 91">
            <a:extLst>
              <a:ext uri="{FF2B5EF4-FFF2-40B4-BE49-F238E27FC236}">
                <a16:creationId xmlns="" xmlns:a16="http://schemas.microsoft.com/office/drawing/2014/main" id="{EFB36DBF-C4D7-484B-B813-6C87C11905B8}"/>
              </a:ext>
            </a:extLst>
          </p:cNvPr>
          <p:cNvCxnSpPr>
            <a:stCxn id="323" idx="2"/>
            <a:endCxn id="349" idx="0"/>
          </p:cNvCxnSpPr>
          <p:nvPr/>
        </p:nvCxnSpPr>
        <p:spPr bwMode="auto">
          <a:xfrm>
            <a:off x="7447327" y="3126413"/>
            <a:ext cx="35" cy="27693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0" name="꺾인 연결선 91">
            <a:extLst>
              <a:ext uri="{FF2B5EF4-FFF2-40B4-BE49-F238E27FC236}">
                <a16:creationId xmlns="" xmlns:a16="http://schemas.microsoft.com/office/drawing/2014/main" id="{D538DF82-7B4A-4238-AA2A-4BD4B1FC198E}"/>
              </a:ext>
            </a:extLst>
          </p:cNvPr>
          <p:cNvCxnSpPr>
            <a:stCxn id="324" idx="2"/>
            <a:endCxn id="332" idx="0"/>
          </p:cNvCxnSpPr>
          <p:nvPr/>
        </p:nvCxnSpPr>
        <p:spPr bwMode="auto">
          <a:xfrm>
            <a:off x="8889634" y="3126413"/>
            <a:ext cx="35" cy="26658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1" name="꺾인 연결선 91">
            <a:extLst>
              <a:ext uri="{FF2B5EF4-FFF2-40B4-BE49-F238E27FC236}">
                <a16:creationId xmlns="" xmlns:a16="http://schemas.microsoft.com/office/drawing/2014/main" id="{C1093954-97D2-42CF-B1F6-164C80F61F06}"/>
              </a:ext>
            </a:extLst>
          </p:cNvPr>
          <p:cNvCxnSpPr>
            <a:stCxn id="329" idx="2"/>
            <a:endCxn id="333" idx="0"/>
          </p:cNvCxnSpPr>
          <p:nvPr/>
        </p:nvCxnSpPr>
        <p:spPr bwMode="auto">
          <a:xfrm>
            <a:off x="4562717" y="3815738"/>
            <a:ext cx="0" cy="131032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2" name="꺾인 연결선 91">
            <a:extLst>
              <a:ext uri="{FF2B5EF4-FFF2-40B4-BE49-F238E27FC236}">
                <a16:creationId xmlns="" xmlns:a16="http://schemas.microsoft.com/office/drawing/2014/main" id="{498B867C-3266-4F6D-A473-81764FDFAFA6}"/>
              </a:ext>
            </a:extLst>
          </p:cNvPr>
          <p:cNvCxnSpPr>
            <a:stCxn id="330" idx="2"/>
            <a:endCxn id="336" idx="0"/>
          </p:cNvCxnSpPr>
          <p:nvPr/>
        </p:nvCxnSpPr>
        <p:spPr bwMode="auto">
          <a:xfrm>
            <a:off x="6005057" y="3815737"/>
            <a:ext cx="0" cy="13103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43" name="꺾인 연결선 91">
            <a:extLst>
              <a:ext uri="{FF2B5EF4-FFF2-40B4-BE49-F238E27FC236}">
                <a16:creationId xmlns="" xmlns:a16="http://schemas.microsoft.com/office/drawing/2014/main" id="{0FDB1728-739B-4663-8E33-2C7F9C8B6D4C}"/>
              </a:ext>
            </a:extLst>
          </p:cNvPr>
          <p:cNvCxnSpPr>
            <a:stCxn id="333" idx="2"/>
            <a:endCxn id="334" idx="0"/>
          </p:cNvCxnSpPr>
          <p:nvPr/>
        </p:nvCxnSpPr>
        <p:spPr bwMode="auto">
          <a:xfrm>
            <a:off x="4562717" y="4369511"/>
            <a:ext cx="0" cy="131032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49" name="Rectangle 43">
            <a:extLst>
              <a:ext uri="{FF2B5EF4-FFF2-40B4-BE49-F238E27FC236}">
                <a16:creationId xmlns="" xmlns:a16="http://schemas.microsoft.com/office/drawing/2014/main" id="{516D57EA-8179-4547-AFA2-EF10E8DF8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9813" y="3403352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5.5.1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기성청구 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50" name="Rectangle 43">
            <a:extLst>
              <a:ext uri="{FF2B5EF4-FFF2-40B4-BE49-F238E27FC236}">
                <a16:creationId xmlns="" xmlns:a16="http://schemas.microsoft.com/office/drawing/2014/main" id="{A9BE069A-19F1-4EFE-B1F4-D663E17A6A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29813" y="3959098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5.5.2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기성청구 현황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352" name="꺾인 연결선 91">
            <a:extLst>
              <a:ext uri="{FF2B5EF4-FFF2-40B4-BE49-F238E27FC236}">
                <a16:creationId xmlns="" xmlns:a16="http://schemas.microsoft.com/office/drawing/2014/main" id="{D9020392-6D4A-4B21-8B86-95FF602905AC}"/>
              </a:ext>
            </a:extLst>
          </p:cNvPr>
          <p:cNvCxnSpPr>
            <a:stCxn id="349" idx="2"/>
            <a:endCxn id="350" idx="0"/>
          </p:cNvCxnSpPr>
          <p:nvPr/>
        </p:nvCxnSpPr>
        <p:spPr bwMode="auto">
          <a:xfrm>
            <a:off x="7447362" y="3826093"/>
            <a:ext cx="0" cy="133005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53" name="Rectangle 43">
            <a:extLst>
              <a:ext uri="{FF2B5EF4-FFF2-40B4-BE49-F238E27FC236}">
                <a16:creationId xmlns="" xmlns:a16="http://schemas.microsoft.com/office/drawing/2014/main" id="{1FE693CD-399F-49A0-809A-A7B828920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2898" y="39447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5.2.2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입찰자료 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54" name="Rectangle 43">
            <a:extLst>
              <a:ext uri="{FF2B5EF4-FFF2-40B4-BE49-F238E27FC236}">
                <a16:creationId xmlns="" xmlns:a16="http://schemas.microsoft.com/office/drawing/2014/main" id="{3F7C3607-3FBE-4F11-994A-E5384069AF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2898" y="44965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5.2.3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입찰진행관리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355" name="Rectangle 43">
            <a:extLst>
              <a:ext uri="{FF2B5EF4-FFF2-40B4-BE49-F238E27FC236}">
                <a16:creationId xmlns="" xmlns:a16="http://schemas.microsoft.com/office/drawing/2014/main" id="{376807C9-270C-4295-BADB-AB6D87D49F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02898" y="505140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5.2.4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입찰결과관리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356" name="꺾인 연결선 91">
            <a:extLst>
              <a:ext uri="{FF2B5EF4-FFF2-40B4-BE49-F238E27FC236}">
                <a16:creationId xmlns="" xmlns:a16="http://schemas.microsoft.com/office/drawing/2014/main" id="{C40C9A90-9A50-4418-A92B-D549DB775864}"/>
              </a:ext>
            </a:extLst>
          </p:cNvPr>
          <p:cNvCxnSpPr>
            <a:stCxn id="318" idx="2"/>
            <a:endCxn id="353" idx="0"/>
          </p:cNvCxnSpPr>
          <p:nvPr/>
        </p:nvCxnSpPr>
        <p:spPr bwMode="auto">
          <a:xfrm>
            <a:off x="3120447" y="3815737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7" name="꺾인 연결선 91">
            <a:extLst>
              <a:ext uri="{FF2B5EF4-FFF2-40B4-BE49-F238E27FC236}">
                <a16:creationId xmlns="" xmlns:a16="http://schemas.microsoft.com/office/drawing/2014/main" id="{B65E55FB-9ED9-49B9-A004-E4FAF0F3433F}"/>
              </a:ext>
            </a:extLst>
          </p:cNvPr>
          <p:cNvCxnSpPr>
            <a:stCxn id="353" idx="2"/>
            <a:endCxn id="354" idx="0"/>
          </p:cNvCxnSpPr>
          <p:nvPr/>
        </p:nvCxnSpPr>
        <p:spPr bwMode="auto">
          <a:xfrm>
            <a:off x="3120447" y="4367537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8" name="꺾인 연결선 91">
            <a:extLst>
              <a:ext uri="{FF2B5EF4-FFF2-40B4-BE49-F238E27FC236}">
                <a16:creationId xmlns="" xmlns:a16="http://schemas.microsoft.com/office/drawing/2014/main" id="{BC32C143-0962-4169-9BDC-CE51A8DF9DB6}"/>
              </a:ext>
            </a:extLst>
          </p:cNvPr>
          <p:cNvCxnSpPr>
            <a:stCxn id="354" idx="2"/>
            <a:endCxn id="355" idx="0"/>
          </p:cNvCxnSpPr>
          <p:nvPr/>
        </p:nvCxnSpPr>
        <p:spPr bwMode="auto">
          <a:xfrm>
            <a:off x="3120447" y="4919337"/>
            <a:ext cx="0" cy="13206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" name="Rectangle 43">
            <a:extLst>
              <a:ext uri="{FF2B5EF4-FFF2-40B4-BE49-F238E27FC236}">
                <a16:creationId xmlns="" xmlns:a16="http://schemas.microsoft.com/office/drawing/2014/main" id="{78B858DD-518B-45F9-8530-B0F3113471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120" y="3944796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5.6.2</a:t>
            </a: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pc="-150" smtClean="0">
                <a:latin typeface="+mn-ea"/>
              </a:rPr>
              <a:t>미수수익 결산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60" name="꺾인 연결선 91">
            <a:extLst>
              <a:ext uri="{FF2B5EF4-FFF2-40B4-BE49-F238E27FC236}">
                <a16:creationId xmlns="" xmlns:a16="http://schemas.microsoft.com/office/drawing/2014/main" id="{AD7CD1B6-DB58-4971-90B4-343157356751}"/>
              </a:ext>
            </a:extLst>
          </p:cNvPr>
          <p:cNvCxnSpPr>
            <a:cxnSpLocks/>
            <a:stCxn id="59" idx="0"/>
            <a:endCxn id="332" idx="2"/>
          </p:cNvCxnSpPr>
          <p:nvPr/>
        </p:nvCxnSpPr>
        <p:spPr bwMode="auto">
          <a:xfrm flipV="1">
            <a:off x="8889669" y="3815737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66" name="Rectangle 43">
            <a:extLst>
              <a:ext uri="{FF2B5EF4-FFF2-40B4-BE49-F238E27FC236}">
                <a16:creationId xmlns="" xmlns:a16="http://schemas.microsoft.com/office/drawing/2014/main" id="{CE600711-459B-49BE-98FC-F7DDC039C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181" y="2058161"/>
            <a:ext cx="566033" cy="389930"/>
          </a:xfrm>
          <a:prstGeom prst="roundRect">
            <a:avLst>
              <a:gd name="adj" fmla="val 0"/>
            </a:avLst>
          </a:prstGeom>
          <a:solidFill>
            <a:sysClr val="windowText" lastClr="000000">
              <a:lumMod val="75000"/>
              <a:lumOff val="2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35921" dir="2700000" algn="ctr" rotWithShape="0">
              <a:srgbClr val="E3DED1"/>
            </a:outerShdw>
          </a:effectLst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b="1" kern="0" smtClean="0">
                <a:solidFill>
                  <a:schemeClr val="bg1"/>
                </a:solidFill>
                <a:latin typeface="+mn-ea"/>
              </a:rPr>
              <a:t>Level1</a:t>
            </a:r>
            <a:endParaRPr kumimoji="1" lang="en-US" altLang="ko-KR" sz="105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7" name="Rectangle 43">
            <a:extLst>
              <a:ext uri="{FF2B5EF4-FFF2-40B4-BE49-F238E27FC236}">
                <a16:creationId xmlns="" xmlns:a16="http://schemas.microsoft.com/office/drawing/2014/main" id="{D4181FB3-E5A1-4294-AEE4-A86E412A0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181" y="2553774"/>
            <a:ext cx="566033" cy="689558"/>
          </a:xfrm>
          <a:prstGeom prst="roundRect">
            <a:avLst>
              <a:gd name="adj" fmla="val 0"/>
            </a:avLst>
          </a:prstGeom>
          <a:solidFill>
            <a:sysClr val="windowText" lastClr="000000">
              <a:lumMod val="75000"/>
              <a:lumOff val="2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35921" dir="2700000" algn="ctr" rotWithShape="0">
              <a:srgbClr val="E3DED1"/>
            </a:outerShdw>
          </a:effectLst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b="1" kern="0" smtClean="0">
                <a:solidFill>
                  <a:schemeClr val="bg1"/>
                </a:solidFill>
                <a:latin typeface="+mn-ea"/>
              </a:rPr>
              <a:t>Level2</a:t>
            </a:r>
            <a:endParaRPr kumimoji="1" lang="en-US" altLang="ko-KR" sz="105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68" name="Rectangle 43">
            <a:extLst>
              <a:ext uri="{FF2B5EF4-FFF2-40B4-BE49-F238E27FC236}">
                <a16:creationId xmlns="" xmlns:a16="http://schemas.microsoft.com/office/drawing/2014/main" id="{70FA894C-28C6-49F0-8FC0-6176142584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181" y="3330295"/>
            <a:ext cx="566033" cy="2907017"/>
          </a:xfrm>
          <a:prstGeom prst="roundRect">
            <a:avLst>
              <a:gd name="adj" fmla="val 0"/>
            </a:avLst>
          </a:prstGeom>
          <a:solidFill>
            <a:sysClr val="windowText" lastClr="000000">
              <a:lumMod val="75000"/>
              <a:lumOff val="25000"/>
            </a:sysClr>
          </a:solidFill>
          <a:ln w="12700" algn="ctr">
            <a:solidFill>
              <a:sysClr val="windowText" lastClr="000000"/>
            </a:solidFill>
            <a:miter lim="800000"/>
            <a:headEnd/>
            <a:tailEnd/>
          </a:ln>
          <a:effectLst>
            <a:outerShdw dist="35921" dir="2700000" algn="ctr" rotWithShape="0">
              <a:srgbClr val="E3DED1"/>
            </a:outerShdw>
          </a:effectLst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050" b="1" kern="0" smtClean="0">
                <a:solidFill>
                  <a:schemeClr val="bg1"/>
                </a:solidFill>
                <a:latin typeface="+mn-ea"/>
              </a:rPr>
              <a:t>Level3</a:t>
            </a:r>
            <a:endParaRPr kumimoji="1" lang="en-US" altLang="ko-KR" sz="1050" b="1" kern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0" name="Rectangle 43">
            <a:extLst>
              <a:ext uri="{FF2B5EF4-FFF2-40B4-BE49-F238E27FC236}">
                <a16:creationId xmlns="" xmlns:a16="http://schemas.microsoft.com/office/drawing/2014/main" id="{E3D82401-A830-0602-D55A-3D7323EE7B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523" y="2724418"/>
            <a:ext cx="1035168" cy="399374"/>
          </a:xfrm>
          <a:prstGeom prst="roundRect">
            <a:avLst>
              <a:gd name="adj" fmla="val 0"/>
            </a:avLst>
          </a:prstGeom>
          <a:solidFill>
            <a:srgbClr val="B1CFFC"/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5.1 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사업기획관리</a:t>
            </a:r>
            <a:endParaRPr lang="en-US" altLang="ko-KR" sz="1100" b="1" kern="0" spc="-150" dirty="0">
              <a:latin typeface="+mn-ea"/>
            </a:endParaRPr>
          </a:p>
        </p:txBody>
      </p:sp>
      <p:sp>
        <p:nvSpPr>
          <p:cNvPr id="21" name="Rectangle 43">
            <a:extLst>
              <a:ext uri="{FF2B5EF4-FFF2-40B4-BE49-F238E27FC236}">
                <a16:creationId xmlns="" xmlns:a16="http://schemas.microsoft.com/office/drawing/2014/main" id="{8C7218AA-FA01-AE9E-4347-DEE45D2A76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453" y="3390375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5.1.1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사업분류등록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22" name="Rectangle 43">
            <a:extLst>
              <a:ext uri="{FF2B5EF4-FFF2-40B4-BE49-F238E27FC236}">
                <a16:creationId xmlns="" xmlns:a16="http://schemas.microsoft.com/office/drawing/2014/main" id="{85039B3D-D699-ACE0-8607-D30FCBAC3A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453" y="3942175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5.1.2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사업코드 등록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23" name="Rectangle 43">
            <a:extLst>
              <a:ext uri="{FF2B5EF4-FFF2-40B4-BE49-F238E27FC236}">
                <a16:creationId xmlns="" xmlns:a16="http://schemas.microsoft.com/office/drawing/2014/main" id="{318A1D3C-FCE5-FC6A-4E77-B5408E8337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453" y="4493975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5.1.3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사업기획관리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24" name="Rectangle 43">
            <a:extLst>
              <a:ext uri="{FF2B5EF4-FFF2-40B4-BE49-F238E27FC236}">
                <a16:creationId xmlns="" xmlns:a16="http://schemas.microsoft.com/office/drawing/2014/main" id="{F9CE4552-706A-773D-CCD3-003F657CC2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0453" y="5048785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rgbClr val="015EBB"/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5.1.4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사업전략관리</a:t>
            </a:r>
            <a:endParaRPr lang="en-US" altLang="ko-KR" sz="1100" b="1" kern="0" dirty="0">
              <a:latin typeface="+mn-ea"/>
            </a:endParaRPr>
          </a:p>
        </p:txBody>
      </p:sp>
      <p:sp>
        <p:nvSpPr>
          <p:cNvPr id="51" name="제목 2">
            <a:extLst>
              <a:ext uri="{FF2B5EF4-FFF2-40B4-BE49-F238E27FC236}">
                <a16:creationId xmlns="" xmlns:a16="http://schemas.microsoft.com/office/drawing/2014/main" id="{9551AA14-AB9F-55B5-4876-85ECDC318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88" y="0"/>
            <a:ext cx="6552728" cy="781320"/>
          </a:xfrm>
        </p:spPr>
        <p:txBody>
          <a:bodyPr>
            <a:noAutofit/>
          </a:bodyPr>
          <a:lstStyle/>
          <a:p>
            <a:r>
              <a:rPr lang="en-US" altLang="ko-KR" smtClean="0"/>
              <a:t>3.5 </a:t>
            </a:r>
            <a:r>
              <a:rPr lang="ko-KR" altLang="en-US" smtClean="0"/>
              <a:t>사업관리</a:t>
            </a:r>
            <a:r>
              <a:rPr lang="en-US" altLang="ko-KR" smtClean="0"/>
              <a:t> </a:t>
            </a:r>
            <a:r>
              <a:rPr lang="ko-KR" altLang="en-US" dirty="0"/>
              <a:t>업무분류 및 기능 정의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z="1800" smtClean="0"/>
              <a:t>3.5</a:t>
            </a:r>
            <a:r>
              <a:rPr lang="en-US" altLang="ko-KR" sz="1800" smtClean="0">
                <a:solidFill>
                  <a:prstClr val="black"/>
                </a:solidFill>
              </a:rPr>
              <a:t>.1 </a:t>
            </a:r>
            <a:r>
              <a:rPr lang="ko-KR" altLang="en-US" sz="1800" smtClean="0">
                <a:solidFill>
                  <a:prstClr val="black"/>
                </a:solidFill>
              </a:rPr>
              <a:t>사업관리 </a:t>
            </a:r>
            <a:r>
              <a:rPr lang="ko-KR" altLang="en-US" sz="1800">
                <a:solidFill>
                  <a:prstClr val="black"/>
                </a:solidFill>
              </a:rPr>
              <a:t>업무분류 </a:t>
            </a:r>
            <a:r>
              <a:rPr lang="ko-KR" altLang="en-US" sz="1800" smtClean="0">
                <a:solidFill>
                  <a:prstClr val="black"/>
                </a:solidFill>
              </a:rPr>
              <a:t>구조도</a:t>
            </a:r>
            <a:endParaRPr lang="ko-KR" altLang="en-US" sz="1800" dirty="0"/>
          </a:p>
        </p:txBody>
      </p:sp>
      <p:sp>
        <p:nvSpPr>
          <p:cNvPr id="70" name="Rectangle 43">
            <a:extLst>
              <a:ext uri="{FF2B5EF4-FFF2-40B4-BE49-F238E27FC236}">
                <a16:creationId xmlns="" xmlns:a16="http://schemas.microsoft.com/office/drawing/2014/main" id="{553D359E-ECF9-404B-BF6B-276C178584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7508" y="4500543"/>
            <a:ext cx="1035098" cy="422741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/>
          </a:ln>
          <a:effectLst/>
        </p:spPr>
        <p:txBody>
          <a:bodyPr wrap="square" lIns="72000" tIns="36000" rIns="72000" bIns="36000" anchor="ctr"/>
          <a:lstStyle/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en-US" altLang="ko-KR" sz="1100" b="1" kern="0" smtClean="0">
                <a:latin typeface="+mn-ea"/>
              </a:rPr>
              <a:t>5.5.3</a:t>
            </a:r>
            <a:endParaRPr lang="en-US" altLang="ko-KR" sz="1100" b="1" kern="0" dirty="0">
              <a:latin typeface="+mn-ea"/>
            </a:endParaRPr>
          </a:p>
          <a:p>
            <a:pPr algn="ctr" eaLnBrk="0" fontAlgn="base" latinLnBrk="0" hangingPunct="0">
              <a:spcAft>
                <a:spcPct val="0"/>
              </a:spcAft>
              <a:buClr>
                <a:prstClr val="black"/>
              </a:buClr>
              <a:buSzPct val="90000"/>
            </a:pPr>
            <a:r>
              <a:rPr lang="ko-KR" altLang="en-US" sz="1100" b="1" kern="0" smtClean="0">
                <a:latin typeface="+mn-ea"/>
              </a:rPr>
              <a:t>사업별 원가</a:t>
            </a:r>
            <a:endParaRPr lang="en-US" altLang="ko-KR" sz="1100" b="1" kern="0" dirty="0">
              <a:latin typeface="+mn-ea"/>
            </a:endParaRPr>
          </a:p>
        </p:txBody>
      </p:sp>
      <p:cxnSp>
        <p:nvCxnSpPr>
          <p:cNvPr id="71" name="꺾인 연결선 16">
            <a:extLst>
              <a:ext uri="{FF2B5EF4-FFF2-40B4-BE49-F238E27FC236}">
                <a16:creationId xmlns="" xmlns:a16="http://schemas.microsoft.com/office/drawing/2014/main" id="{3527B8CC-4135-46EF-B509-FECE5DAD555E}"/>
              </a:ext>
            </a:extLst>
          </p:cNvPr>
          <p:cNvCxnSpPr>
            <a:cxnSpLocks/>
            <a:stCxn id="320" idx="2"/>
            <a:endCxn id="20" idx="0"/>
          </p:cNvCxnSpPr>
          <p:nvPr/>
        </p:nvCxnSpPr>
        <p:spPr bwMode="auto">
          <a:xfrm rot="5400000">
            <a:off x="3351038" y="783319"/>
            <a:ext cx="268169" cy="3614029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/>
          </a:ln>
          <a:effectLst/>
        </p:spPr>
      </p:cxnSp>
      <p:cxnSp>
        <p:nvCxnSpPr>
          <p:cNvPr id="74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20" idx="2"/>
            <a:endCxn id="21" idx="0"/>
          </p:cNvCxnSpPr>
          <p:nvPr/>
        </p:nvCxnSpPr>
        <p:spPr bwMode="auto">
          <a:xfrm flipH="1">
            <a:off x="1678002" y="3123792"/>
            <a:ext cx="105" cy="266583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8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21" idx="2"/>
            <a:endCxn id="22" idx="0"/>
          </p:cNvCxnSpPr>
          <p:nvPr/>
        </p:nvCxnSpPr>
        <p:spPr bwMode="auto">
          <a:xfrm>
            <a:off x="1678002" y="3813116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1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22" idx="2"/>
            <a:endCxn id="23" idx="0"/>
          </p:cNvCxnSpPr>
          <p:nvPr/>
        </p:nvCxnSpPr>
        <p:spPr bwMode="auto">
          <a:xfrm>
            <a:off x="1678002" y="4364916"/>
            <a:ext cx="0" cy="12905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꺾인 연결선 91">
            <a:extLst>
              <a:ext uri="{FF2B5EF4-FFF2-40B4-BE49-F238E27FC236}">
                <a16:creationId xmlns="" xmlns:a16="http://schemas.microsoft.com/office/drawing/2014/main" id="{B0A7D987-FCF9-44DF-AA7E-C84A8DEA1277}"/>
              </a:ext>
            </a:extLst>
          </p:cNvPr>
          <p:cNvCxnSpPr>
            <a:stCxn id="23" idx="2"/>
            <a:endCxn id="24" idx="0"/>
          </p:cNvCxnSpPr>
          <p:nvPr/>
        </p:nvCxnSpPr>
        <p:spPr bwMode="auto">
          <a:xfrm>
            <a:off x="1678002" y="4916716"/>
            <a:ext cx="0" cy="132069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꺾인 연결선 91">
            <a:extLst>
              <a:ext uri="{FF2B5EF4-FFF2-40B4-BE49-F238E27FC236}">
                <a16:creationId xmlns="" xmlns:a16="http://schemas.microsoft.com/office/drawing/2014/main" id="{498B867C-3266-4F6D-A473-81764FDFAFA6}"/>
              </a:ext>
            </a:extLst>
          </p:cNvPr>
          <p:cNvCxnSpPr>
            <a:endCxn id="70" idx="0"/>
          </p:cNvCxnSpPr>
          <p:nvPr/>
        </p:nvCxnSpPr>
        <p:spPr bwMode="auto">
          <a:xfrm>
            <a:off x="6004919" y="4381839"/>
            <a:ext cx="138" cy="118704"/>
          </a:xfrm>
          <a:prstGeom prst="straightConnector1">
            <a:avLst/>
          </a:prstGeom>
          <a:solidFill>
            <a:srgbClr val="FBB779"/>
          </a:solidFill>
          <a:ln w="12700" cap="flat" cmpd="sng" algn="ctr">
            <a:solidFill>
              <a:srgbClr val="000000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1171163084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ko-KR" altLang="en-US" smtClean="0">
                <a:latin typeface="+mn-ea"/>
                <a:ea typeface="+mn-ea"/>
              </a:rPr>
              <a:t>사업을 분류하고</a:t>
            </a:r>
            <a:r>
              <a:rPr lang="en-US" altLang="ko-KR" smtClean="0">
                <a:latin typeface="+mn-ea"/>
                <a:ea typeface="+mn-ea"/>
              </a:rPr>
              <a:t>, </a:t>
            </a:r>
            <a:r>
              <a:rPr lang="ko-KR" altLang="en-US" smtClean="0">
                <a:latin typeface="+mn-ea"/>
                <a:ea typeface="+mn-ea"/>
              </a:rPr>
              <a:t>예상사업정보를 등록하여 조달사이트에서 해당사업의 입찰진행 정보를 취합하고</a:t>
            </a:r>
            <a:r>
              <a:rPr lang="en-US" altLang="ko-KR" smtClean="0">
                <a:latin typeface="+mn-ea"/>
                <a:ea typeface="+mn-ea"/>
              </a:rPr>
              <a:t>, </a:t>
            </a:r>
            <a:r>
              <a:rPr lang="ko-KR" altLang="en-US" smtClean="0">
                <a:latin typeface="+mn-ea"/>
                <a:ea typeface="+mn-ea"/>
              </a:rPr>
              <a:t>단계별 정보를 취합하여 내부적으로 신속하게 대응할 수 있도록 자료를 제공하고</a:t>
            </a:r>
            <a:r>
              <a:rPr lang="en-US" altLang="ko-KR" smtClean="0">
                <a:latin typeface="+mn-ea"/>
                <a:ea typeface="+mn-ea"/>
              </a:rPr>
              <a:t>,</a:t>
            </a:r>
            <a:r>
              <a:rPr lang="ko-KR" altLang="en-US" smtClean="0">
                <a:latin typeface="+mn-ea"/>
                <a:ea typeface="+mn-ea"/>
              </a:rPr>
              <a:t> 수주사업에 대한 실행계획과 실시간 실적 집계로 사업별 원가</a:t>
            </a:r>
            <a:r>
              <a:rPr lang="en-US" altLang="ko-KR" smtClean="0">
                <a:latin typeface="+mn-ea"/>
                <a:ea typeface="+mn-ea"/>
              </a:rPr>
              <a:t>,</a:t>
            </a:r>
            <a:r>
              <a:rPr lang="ko-KR" altLang="en-US" smtClean="0">
                <a:latin typeface="+mn-ea"/>
                <a:ea typeface="+mn-ea"/>
              </a:rPr>
              <a:t> 기성 신청 자료를 제공하고 사업별 결산을 처리</a:t>
            </a:r>
            <a:endParaRPr lang="ko-KR" altLang="en-US" dirty="0">
              <a:latin typeface="+mn-ea"/>
              <a:ea typeface="+mn-ea"/>
            </a:endParaRPr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6552728" cy="781320"/>
          </a:xfrm>
        </p:spPr>
        <p:txBody>
          <a:bodyPr>
            <a:noAutofit/>
          </a:bodyPr>
          <a:lstStyle/>
          <a:p>
            <a:r>
              <a:rPr lang="en-US" altLang="ko-KR" smtClean="0"/>
              <a:t>3.5 </a:t>
            </a:r>
            <a:r>
              <a:rPr lang="ko-KR" altLang="en-US" smtClean="0"/>
              <a:t>사업관리</a:t>
            </a:r>
            <a:r>
              <a:rPr lang="en-US" altLang="ko-KR" smtClean="0"/>
              <a:t> </a:t>
            </a:r>
            <a:r>
              <a:rPr lang="ko-KR" altLang="en-US" dirty="0"/>
              <a:t>업무분류 및 기능 정의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z="1800" smtClean="0"/>
              <a:t>3.5.2 </a:t>
            </a:r>
            <a:r>
              <a:rPr lang="ko-KR" altLang="en-US" sz="1800" smtClean="0"/>
              <a:t>사업관리 </a:t>
            </a:r>
            <a:r>
              <a:rPr lang="ko-KR" altLang="en-US" sz="1800" smtClean="0">
                <a:solidFill>
                  <a:prstClr val="black"/>
                </a:solidFill>
              </a:rPr>
              <a:t>업무기능 </a:t>
            </a:r>
            <a:r>
              <a:rPr lang="ko-KR" altLang="en-US" sz="1800" dirty="0">
                <a:solidFill>
                  <a:prstClr val="black"/>
                </a:solidFill>
              </a:rPr>
              <a:t>정의 </a:t>
            </a:r>
            <a:r>
              <a:rPr lang="en-US" altLang="ko-KR" sz="1800" dirty="0">
                <a:solidFill>
                  <a:prstClr val="black"/>
                </a:solidFill>
              </a:rPr>
              <a:t>(</a:t>
            </a:r>
            <a:r>
              <a:rPr lang="en-US" altLang="ko-KR" sz="1800" dirty="0"/>
              <a:t>1/2)</a:t>
            </a:r>
            <a:endParaRPr lang="ko-KR" altLang="en-US" sz="18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>
              <a:spcBef>
                <a:spcPts val="288"/>
              </a:spcBef>
            </a:pPr>
            <a:r>
              <a:rPr lang="en-US" altLang="ko-KR" smtClean="0">
                <a:solidFill>
                  <a:prstClr val="black"/>
                </a:solidFill>
              </a:rPr>
              <a:t>Ⅲ. </a:t>
            </a:r>
            <a:r>
              <a:rPr lang="ko-KR" altLang="en-US" smtClean="0">
                <a:solidFill>
                  <a:prstClr val="black"/>
                </a:solidFill>
              </a:rPr>
              <a:t>목표모델 설계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spcBef>
                <a:spcPts val="288"/>
              </a:spcBef>
            </a:pPr>
            <a:r>
              <a:rPr lang="en-US" altLang="ko-KR" dirty="0">
                <a:solidFill>
                  <a:prstClr val="black"/>
                </a:solidFill>
              </a:rPr>
              <a:t>3. </a:t>
            </a:r>
            <a:r>
              <a:rPr lang="ko-KR" altLang="en-US" dirty="0">
                <a:solidFill>
                  <a:prstClr val="black"/>
                </a:solidFill>
              </a:rPr>
              <a:t>업무별 개선안 설계</a:t>
            </a:r>
            <a:endParaRPr lang="en-US" altLang="ko-KR" dirty="0">
              <a:solidFill>
                <a:prstClr val="black"/>
              </a:solidFill>
            </a:endParaRPr>
          </a:p>
          <a:p>
            <a:pPr lvl="0">
              <a:spcBef>
                <a:spcPts val="288"/>
              </a:spcBef>
            </a:pPr>
            <a:r>
              <a:rPr lang="en-US" altLang="ko-KR" smtClean="0">
                <a:solidFill>
                  <a:prstClr val="black"/>
                </a:solidFill>
              </a:rPr>
              <a:t>3.5 </a:t>
            </a:r>
            <a:r>
              <a:rPr lang="ko-KR" altLang="en-US" smtClean="0">
                <a:solidFill>
                  <a:prstClr val="black"/>
                </a:solidFill>
              </a:rPr>
              <a:t>사업관리 </a:t>
            </a:r>
            <a:r>
              <a:rPr lang="ko-KR" altLang="en-US" dirty="0">
                <a:solidFill>
                  <a:prstClr val="black"/>
                </a:solidFill>
              </a:rPr>
              <a:t>업무프로세스 개선안</a:t>
            </a:r>
            <a:endParaRPr lang="en-US" altLang="ko-KR" dirty="0">
              <a:solidFill>
                <a:prstClr val="black"/>
              </a:solidFill>
            </a:endParaRPr>
          </a:p>
        </p:txBody>
      </p:sp>
      <p:graphicFrame>
        <p:nvGraphicFramePr>
          <p:cNvPr id="70" name="표 69">
            <a:extLst>
              <a:ext uri="{FF2B5EF4-FFF2-40B4-BE49-F238E27FC236}">
                <a16:creationId xmlns="" xmlns:a16="http://schemas.microsoft.com/office/drawing/2014/main" id="{E9F2C507-AF08-4734-AD3C-A634FC74D8C1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54520" y="1628803"/>
          <a:ext cx="9180512" cy="4514841"/>
        </p:xfrm>
        <a:graphic>
          <a:graphicData uri="http://schemas.openxmlformats.org/drawingml/2006/table">
            <a:tbl>
              <a:tblPr firstRow="1" bandRow="1"/>
              <a:tblGrid>
                <a:gridCol w="394829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411765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19959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88843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936104">
                  <a:extLst>
                    <a:ext uri="{9D8B030D-6E8A-4147-A177-3AD203B41FA5}">
                      <a16:colId xmlns="" xmlns:a16="http://schemas.microsoft.com/office/drawing/2014/main" val="392761856"/>
                    </a:ext>
                  </a:extLst>
                </a:gridCol>
                <a:gridCol w="742844">
                  <a:extLst>
                    <a:ext uri="{9D8B030D-6E8A-4147-A177-3AD203B41FA5}">
                      <a16:colId xmlns="" xmlns:a16="http://schemas.microsoft.com/office/drawing/2014/main" val="2283819833"/>
                    </a:ext>
                  </a:extLst>
                </a:gridCol>
                <a:gridCol w="1606940">
                  <a:extLst>
                    <a:ext uri="{9D8B030D-6E8A-4147-A177-3AD203B41FA5}">
                      <a16:colId xmlns="" xmlns:a16="http://schemas.microsoft.com/office/drawing/2014/main" val="3659144700"/>
                    </a:ext>
                  </a:extLst>
                </a:gridCol>
              </a:tblGrid>
              <a:tr h="277202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spc="-100" baseline="0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No</a:t>
                      </a:r>
                      <a:endParaRPr lang="ko-KR" altLang="en-US" sz="1000" b="1" spc="-100" baseline="0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업무명칭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업무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주관 조직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사용조직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개선사항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772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Lv2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Lv3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77202"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사업기획관리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사업을 분류하고 사업정보를 등록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기술사업본부</a:t>
                      </a:r>
                      <a:endParaRPr lang="en-US" altLang="ko-KR" sz="1000" b="0" smtClean="0"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환경사업본부</a:t>
                      </a:r>
                      <a:endParaRPr lang="en-US" altLang="ko-KR" sz="1000" b="0" smtClean="0"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 부서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1)</a:t>
                      </a:r>
                      <a:r>
                        <a:rPr lang="en-US" altLang="ko-KR" sz="1000" b="0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사업분류코드 등록</a:t>
                      </a:r>
                      <a:endParaRPr lang="en-US" altLang="ko-KR" sz="1000" b="0" i="0" u="none" strike="noStrike" baseline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2) </a:t>
                      </a:r>
                      <a:r>
                        <a:rPr lang="ko-KR" altLang="en-US" sz="10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사업코드</a:t>
                      </a:r>
                      <a:r>
                        <a:rPr lang="en-US" altLang="ko-KR" sz="10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등록</a:t>
                      </a:r>
                      <a:r>
                        <a:rPr lang="en-US" altLang="ko-KR" sz="10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</a:p>
                    <a:p>
                      <a:pPr marL="0" marR="0" lvl="0" indent="0" algn="l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3) </a:t>
                      </a:r>
                      <a:r>
                        <a:rPr lang="ko-KR" altLang="en-US" sz="10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일정계획 관리</a:t>
                      </a:r>
                      <a:r>
                        <a:rPr lang="en-US" altLang="ko-KR" sz="1000" b="0" i="0" u="none" strike="noStrike" smtClean="0"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lang="en-US" altLang="ko-KR" sz="1000" b="0" i="0" u="none" strike="noStrike" spc="-150" smtClean="0"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2772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사업분류등록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사업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 체계를 분류하여 사업코드 등록 및 원가 배부 작업시 참조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755330139"/>
                  </a:ext>
                </a:extLst>
              </a:tr>
              <a:tr h="2772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사업코드관리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사업의 분류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명칭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수주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557783185"/>
                  </a:ext>
                </a:extLst>
              </a:tr>
              <a:tr h="2772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사업기획관리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수주예상사업을 등록하고 예상년월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담당자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진행상태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 등을 입력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148509401"/>
                  </a:ext>
                </a:extLst>
              </a:tr>
              <a:tr h="2772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사업전략관리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수주예상사업의 입찰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~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수주 일정 계획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33555722"/>
                  </a:ext>
                </a:extLst>
              </a:tr>
              <a:tr h="277202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120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수주진행관리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사전규격등록부터 수주까지의 진행 관리 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기술사업본부</a:t>
                      </a:r>
                      <a:endParaRPr lang="en-US" altLang="ko-KR" sz="1000" b="0" smtClean="0"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환경사업본부</a:t>
                      </a:r>
                      <a:endParaRPr lang="en-US" altLang="ko-KR" sz="1000" b="0" smtClean="0"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각지사</a:t>
                      </a: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algn="ctr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 부서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5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1)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사업 진행현황 관리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사업실적 등록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출력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기술자정보 등록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출력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4) RPA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입찰정보 취합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5)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현장설명회 결과 관리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6)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입찰결과 관리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 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58059666"/>
                  </a:ext>
                </a:extLst>
              </a:tr>
              <a:tr h="2772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mtClean="0">
                          <a:latin typeface="+mn-ea"/>
                          <a:ea typeface="+mn-ea"/>
                        </a:rPr>
                        <a:t>수주진행관리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수주 대상사업에 대한 진행상태를 관리 및 영업활동 이력 입력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77202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입찰자료 관리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제안 및 입찰 제출용 사업실적 및 보유기술자 정보를 입력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출력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77202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입찰진행 관리</a:t>
                      </a:r>
                      <a:endParaRPr lang="en-US" altLang="ko-KR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조달 사이트에서 건별 진행정보를 취득하여 진행정보로 등록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77202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입찰결과 관리</a:t>
                      </a:r>
                      <a:endParaRPr lang="en-US" altLang="ko-KR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투찰금액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순위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낙찰업체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낙찰가 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입찰 의견 등 결과관리 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277202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dirty="0"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smtClean="0">
                          <a:latin typeface="+mn-ea"/>
                          <a:ea typeface="+mn-ea"/>
                        </a:rPr>
                        <a:t>사업실행관리</a:t>
                      </a: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수주정보를 관리하고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실행계획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 및 실적을 집계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 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기술사업본부</a:t>
                      </a:r>
                      <a:endParaRPr lang="en-US" altLang="ko-KR" sz="1000" b="0" smtClean="0">
                        <a:latin typeface="맑은 고딕" pitchFamily="50" charset="-127"/>
                        <a:ea typeface="+mn-ea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smtClean="0">
                          <a:latin typeface="맑은 고딕" pitchFamily="50" charset="-127"/>
                          <a:ea typeface="+mn-ea"/>
                        </a:rPr>
                        <a:t>환경사업본부</a:t>
                      </a:r>
                      <a:endParaRPr lang="en-US" altLang="ko-KR" sz="1000" b="0" smtClean="0"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 부서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1)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 조달정보 취득</a:t>
                      </a: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(RPA)</a:t>
                      </a:r>
                      <a:endParaRPr lang="ko-KR" altLang="en-US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2)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실행예산 편성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3)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사업별 일정계획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4)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투입계획 관리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5) </a:t>
                      </a:r>
                      <a:r>
                        <a:rPr lang="ko-KR" altLang="en-US" sz="1000" b="0" smtClean="0">
                          <a:latin typeface="+mn-ea"/>
                          <a:ea typeface="+mn-ea"/>
                        </a:rPr>
                        <a:t>지출 실적 자동집계</a:t>
                      </a:r>
                      <a:endParaRPr lang="en-US" altLang="ko-KR" sz="1000" b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smtClean="0">
                          <a:latin typeface="+mn-ea"/>
                          <a:ea typeface="+mn-ea"/>
                        </a:rPr>
                        <a:t>6)</a:t>
                      </a: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투입인력 입력</a:t>
                      </a:r>
                      <a:endParaRPr lang="en-US" altLang="ko-KR" sz="1000" b="0" baseline="0" smtClean="0"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0" baseline="0" smtClean="0">
                          <a:latin typeface="+mn-ea"/>
                          <a:ea typeface="+mn-ea"/>
                        </a:rPr>
                        <a:t>7) </a:t>
                      </a:r>
                      <a:r>
                        <a:rPr lang="ko-KR" altLang="en-US" sz="1000" b="0" baseline="0" smtClean="0">
                          <a:latin typeface="+mn-ea"/>
                          <a:ea typeface="+mn-ea"/>
                        </a:rPr>
                        <a:t>투입자재 입력</a:t>
                      </a: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5681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latin typeface="+mn-ea"/>
                        </a:rPr>
                        <a:t>사업수주관리</a:t>
                      </a:r>
                      <a:endParaRPr lang="en-US" altLang="ko-KR" sz="1000" b="1" kern="0" dirty="0">
                        <a:latin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나라장터의 계약정보를  확인하여 시스템에 입력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772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latin typeface="+mn-ea"/>
                        </a:rPr>
                        <a:t>실행계획 관리</a:t>
                      </a:r>
                      <a:endParaRPr lang="en-US" altLang="ko-KR" sz="1000" b="1" kern="0" dirty="0">
                        <a:latin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계약 후 실행계획 정보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예산정보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일정계획정보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투입계획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)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관리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27720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latin typeface="+mn-ea"/>
                        </a:rPr>
                        <a:t>사업실적집계</a:t>
                      </a:r>
                      <a:endParaRPr lang="en-US" altLang="ko-KR" sz="1000" b="1" kern="0" dirty="0">
                        <a:latin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지출결의서의 사업별 실적 집계 및 투입 인력과</a:t>
                      </a:r>
                      <a:r>
                        <a:rPr lang="en-US" altLang="ko-KR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</a:rPr>
                        <a:t>투입자재 집계</a:t>
                      </a:r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000" b="0" dirty="0">
                        <a:solidFill>
                          <a:schemeClr val="tx1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11562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 vert="horz" lIns="0" tIns="45720" rIns="0" bIns="45720" rtlCol="0" anchor="ctr">
            <a:noAutofit/>
          </a:bodyPr>
          <a:lstStyle/>
          <a:p>
            <a:pPr>
              <a:spcBef>
                <a:spcPts val="288"/>
              </a:spcBef>
            </a:pPr>
            <a:r>
              <a:rPr lang="en-US" altLang="ko-KR" sz="1200" smtClean="0">
                <a:solidFill>
                  <a:prstClr val="black"/>
                </a:solidFill>
                <a:latin typeface="+mn-lt"/>
                <a:ea typeface="+mn-ea"/>
              </a:rPr>
              <a:t>Ⅲ. </a:t>
            </a:r>
            <a:r>
              <a:rPr lang="ko-KR" altLang="en-US" sz="1200" smtClean="0">
                <a:solidFill>
                  <a:prstClr val="black"/>
                </a:solidFill>
                <a:latin typeface="+mn-lt"/>
                <a:ea typeface="+mn-ea"/>
              </a:rPr>
              <a:t>목표모델 설계</a:t>
            </a:r>
            <a:endParaRPr lang="en-US" altLang="ko-KR" sz="1200" dirty="0">
              <a:solidFill>
                <a:prstClr val="black"/>
              </a:solidFill>
              <a:latin typeface="+mn-lt"/>
              <a:ea typeface="+mn-ea"/>
            </a:endParaRPr>
          </a:p>
          <a:p>
            <a:pPr>
              <a:spcBef>
                <a:spcPts val="288"/>
              </a:spcBef>
            </a:pPr>
            <a:r>
              <a:rPr lang="en-US" altLang="ko-KR" sz="1200" dirty="0">
                <a:solidFill>
                  <a:prstClr val="black"/>
                </a:solidFill>
                <a:latin typeface="+mn-lt"/>
                <a:ea typeface="+mn-ea"/>
              </a:rPr>
              <a:t>3. </a:t>
            </a:r>
            <a:r>
              <a:rPr lang="ko-KR" altLang="en-US" sz="1200" dirty="0">
                <a:solidFill>
                  <a:prstClr val="black"/>
                </a:solidFill>
                <a:latin typeface="+mn-lt"/>
                <a:ea typeface="+mn-ea"/>
              </a:rPr>
              <a:t>업무별 개선안 설계</a:t>
            </a:r>
            <a:endParaRPr lang="en-US" altLang="ko-KR" sz="1200" dirty="0">
              <a:solidFill>
                <a:prstClr val="black"/>
              </a:solidFill>
              <a:latin typeface="+mn-lt"/>
              <a:ea typeface="+mn-ea"/>
            </a:endParaRPr>
          </a:p>
          <a:p>
            <a:pPr>
              <a:spcBef>
                <a:spcPts val="288"/>
              </a:spcBef>
            </a:pPr>
            <a:r>
              <a:rPr lang="en-US" altLang="ko-KR" sz="1200" smtClean="0">
                <a:solidFill>
                  <a:prstClr val="black"/>
                </a:solidFill>
                <a:latin typeface="+mn-lt"/>
                <a:ea typeface="+mn-ea"/>
              </a:rPr>
              <a:t>3.5 </a:t>
            </a:r>
            <a:r>
              <a:rPr lang="ko-KR" altLang="en-US" sz="1200" smtClean="0">
                <a:solidFill>
                  <a:prstClr val="black"/>
                </a:solidFill>
                <a:latin typeface="+mn-lt"/>
                <a:ea typeface="+mn-ea"/>
              </a:rPr>
              <a:t>사업관리 </a:t>
            </a:r>
            <a:r>
              <a:rPr lang="ko-KR" altLang="en-US" sz="1200" dirty="0">
                <a:solidFill>
                  <a:prstClr val="black"/>
                </a:solidFill>
                <a:latin typeface="+mn-lt"/>
                <a:ea typeface="+mn-ea"/>
              </a:rPr>
              <a:t>업무프로세스 개선안</a:t>
            </a:r>
            <a:endParaRPr lang="en-US" altLang="ko-KR" sz="1200" dirty="0">
              <a:solidFill>
                <a:prstClr val="black"/>
              </a:solidFill>
              <a:latin typeface="+mn-lt"/>
              <a:ea typeface="+mn-ea"/>
            </a:endParaRPr>
          </a:p>
        </p:txBody>
      </p:sp>
      <p:graphicFrame>
        <p:nvGraphicFramePr>
          <p:cNvPr id="6" name="표 5">
            <a:extLst>
              <a:ext uri="{FF2B5EF4-FFF2-40B4-BE49-F238E27FC236}">
                <a16:creationId xmlns="" xmlns:a16="http://schemas.microsoft.com/office/drawing/2014/main" id="{EA81E65E-B8D8-451B-BB56-CC5F3ED4609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50002" y="881346"/>
          <a:ext cx="9180514" cy="5355941"/>
        </p:xfrm>
        <a:graphic>
          <a:graphicData uri="http://schemas.openxmlformats.org/drawingml/2006/table">
            <a:tbl>
              <a:tblPr firstRow="1" bandRow="1"/>
              <a:tblGrid>
                <a:gridCol w="40123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39085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224136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96044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64096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72008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  <a:gridCol w="1619674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276717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000" b="1" spc="-100" baseline="0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No</a:t>
                      </a:r>
                      <a:endParaRPr lang="ko-KR" altLang="en-US" sz="1000" b="1" spc="-100" baseline="0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업무명칭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업무 정의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주관조직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사용조직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개선사항</a:t>
                      </a:r>
                      <a:endParaRPr lang="ko-KR" altLang="en-US" sz="11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767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Lv2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>
                          <a:solidFill>
                            <a:schemeClr val="bg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Lv3</a:t>
                      </a:r>
                      <a:endParaRPr lang="ko-KR" altLang="en-US" sz="1000" b="1" dirty="0">
                        <a:solidFill>
                          <a:schemeClr val="bg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1458C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76717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dirty="0"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pc="-150" smtClean="0">
                          <a:solidFill>
                            <a:srgbClr val="000000"/>
                          </a:solidFill>
                          <a:latin typeface="+mn-ea"/>
                        </a:rPr>
                        <a:t>사업실적 관리</a:t>
                      </a:r>
                      <a:endParaRPr lang="en-US" altLang="ko-KR" sz="1000" b="1" kern="0" spc="-15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algn="ctr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사업별 실적 집계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공통비 간접비에 대한 배부로 사업별 손익 계산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기술사업본부</a:t>
                      </a:r>
                      <a:endParaRPr lang="en-US" altLang="ko-KR" sz="1000" b="1" kern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환경사업본부</a:t>
                      </a:r>
                      <a:endParaRPr lang="en-US" altLang="ko-KR" sz="1000" b="1" kern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 부서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1)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각종 실적 조회 기능</a:t>
                      </a:r>
                      <a:endParaRPr lang="en-US" altLang="ko-KR" sz="1000" b="1" kern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공통비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간접비의 </a:t>
                      </a:r>
                      <a:endParaRPr lang="en-US" altLang="ko-KR" sz="1000" b="1" kern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사업별  배부기준 관리</a:t>
                      </a:r>
                      <a:endParaRPr lang="en-US" altLang="ko-KR" sz="1000" b="1" kern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3)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사업별 배부 기능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58567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사업실적 현황</a:t>
                      </a:r>
                      <a:endParaRPr lang="en-US" altLang="ko-KR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각종  사업실적  현항 조회 기능 구축</a:t>
                      </a:r>
                      <a:endParaRPr lang="en-US" altLang="ko-KR" sz="1000" b="1" kern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l" fontAlgn="ctr"/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사업별로 실 투입공수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자재 용품사용 실적집계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일일 근태기록 집계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</a:p>
                    <a:p>
                      <a:pPr algn="l" fontAlgn="ctr"/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안전관리 일보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보건관리 일보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환경관리 일보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품질관리 일보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계약관련 도급 지출전표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회계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집계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자재 재고관리 집계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PO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자재발주 집계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계정별 지출전표 집계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소모용품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폐기물처리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시설재료비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간이 영수증 관련 지출전표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제초용품 사용 실적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안전관리비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기계경비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임차료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손해보험료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차량비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유류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보험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렌트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톨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정비 포함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앱사용료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급여처리 국민연금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회사부담금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건강보험 외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(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회사부담금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),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감가상각비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복리후생비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제초작업비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외주비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도장재료 투입실적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)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및 월별 집계 처리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 기성기준 집계 처리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정산 토탈 집계 처리</a:t>
                      </a:r>
                      <a:r>
                        <a:rPr lang="en-US" altLang="ko-KR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b="0" i="0" u="none" strike="noStrike" spc="-150" smtClean="0"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결산 부속 서류를 위한 집계 처리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100" b="1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767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사업 실적 배부</a:t>
                      </a:r>
                      <a:endParaRPr lang="en-US" altLang="ko-KR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계정별 배부기준 관리 및 공통비 간접비에 대한 사업별 배부 계산</a:t>
                      </a:r>
                      <a:endParaRPr lang="en-US" altLang="ko-KR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767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사업별 원가</a:t>
                      </a:r>
                      <a:endParaRPr lang="en-US" altLang="ko-KR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배부계산 후 사업별 손익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사업별 예실대비표 관리</a:t>
                      </a:r>
                      <a:endParaRPr lang="en-US" altLang="ko-KR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4150836785"/>
                  </a:ext>
                </a:extLst>
              </a:tr>
              <a:tr h="276717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r>
                        <a:rPr lang="en-US" altLang="ko-KR" sz="1100" b="1" dirty="0"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pc="-150" smtClean="0">
                          <a:solidFill>
                            <a:srgbClr val="000000"/>
                          </a:solidFill>
                          <a:latin typeface="+mn-ea"/>
                        </a:rPr>
                        <a:t>기성청구관리</a:t>
                      </a:r>
                      <a:endParaRPr lang="en-US" altLang="ko-KR" sz="1000" b="1" kern="0" spc="-15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algn="ctr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algn="l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사업별 기성관리 및 지급조건에 의한 기성 청구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매출계산서 발행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기술사업본부</a:t>
                      </a:r>
                      <a:endParaRPr lang="en-US" altLang="ko-KR" sz="1000" b="1" kern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환경사업본부</a:t>
                      </a:r>
                      <a:endParaRPr lang="en-US" altLang="ko-KR" sz="1000" b="1" kern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algn="ctr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1)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기성 청구</a:t>
                      </a:r>
                      <a:endParaRPr lang="en-US" altLang="ko-KR" sz="1000" b="1" kern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세금계산서 발행 연계</a:t>
                      </a:r>
                      <a:endParaRPr lang="en-US" altLang="ko-KR" sz="1000" b="1" kern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3)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청구 현황 및 통계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276717"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기성 청구 처리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사업별 공정율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기성율에 의한 기성 청구 관리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  <a:buFontTx/>
                        <a:buNone/>
                        <a:tabLst/>
                        <a:defRPr/>
                      </a:pP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43431688"/>
                  </a:ext>
                </a:extLst>
              </a:tr>
              <a:tr h="2767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매출 계산서 발행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기성 신청에 대한 매출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세금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계산서 발행 관리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연계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176410975"/>
                  </a:ext>
                </a:extLst>
              </a:tr>
              <a:tr h="2767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기성 청구 현황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사업별 청구내역 조회 및 공정율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기성율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조회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449664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solidFill>
                            <a:srgbClr val="000000"/>
                          </a:solidFill>
                          <a:latin typeface="+mn-ea"/>
                        </a:rPr>
                        <a:t>사업결산관리</a:t>
                      </a:r>
                      <a:endParaRPr lang="ko-KR" altLang="en-US" sz="1000" b="1" kern="0" dirty="0">
                        <a:solidFill>
                          <a:srgbClr val="000000"/>
                        </a:solidFill>
                        <a:latin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각 사업별 공정율과 기성율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선금 수납 등에 대한 결산전표 생성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기술사업본부</a:t>
                      </a:r>
                      <a:endParaRPr lang="en-US" altLang="ko-KR" sz="1000" b="1" kern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환경사업본부</a:t>
                      </a:r>
                      <a:endParaRPr lang="en-US" altLang="ko-KR" sz="1000" b="1" kern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algn="ctr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 부서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1)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선수수익 결산</a:t>
                      </a:r>
                      <a:endParaRPr lang="en-US" altLang="ko-KR" sz="1000" b="1" kern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2)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미수수익 결산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372411127"/>
                  </a:ext>
                </a:extLst>
              </a:tr>
              <a:tr h="2767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선수수익 결산</a:t>
                      </a:r>
                      <a:endParaRPr lang="en-US" altLang="ko-KR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예산집행율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공정율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대비 선금 수납분에 대한 결산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553434"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en-US" altLang="ko-KR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algn="ctr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algn="ctr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미수수익  결산</a:t>
                      </a:r>
                      <a:endParaRPr lang="en-US" altLang="ko-KR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돋움"/>
                          <a:ea typeface="돋움"/>
                        </a:defRPr>
                      </a:lvl9pPr>
                    </a:lstStyle>
                    <a:p>
                      <a:pPr marL="0" algn="l" defTabSz="914400" rtl="0" eaLnBrk="0" fontAlgn="base" latinLnBrk="0" hangingPunct="0">
                        <a:spcAft>
                          <a:spcPct val="0"/>
                        </a:spcAft>
                        <a:buClr>
                          <a:prstClr val="black"/>
                        </a:buClr>
                        <a:buSzPct val="90000"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예산집행율 대비 기성율에 대한 미수수익 결산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dirty="0"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100" b="1" dirty="0"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제목 2">
            <a:extLst>
              <a:ext uri="{FF2B5EF4-FFF2-40B4-BE49-F238E27FC236}">
                <a16:creationId xmlns="" xmlns:a16="http://schemas.microsoft.com/office/drawing/2014/main" id="{C0E42CB6-E8AF-E644-9D0E-99DEEE340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488" y="0"/>
            <a:ext cx="6624736" cy="781320"/>
          </a:xfrm>
        </p:spPr>
        <p:txBody>
          <a:bodyPr>
            <a:noAutofit/>
          </a:bodyPr>
          <a:lstStyle/>
          <a:p>
            <a:r>
              <a:rPr lang="en-US" altLang="ko-KR" smtClean="0"/>
              <a:t>3.5 </a:t>
            </a:r>
            <a:r>
              <a:rPr lang="ko-KR" altLang="en-US" smtClean="0"/>
              <a:t>사업관리</a:t>
            </a:r>
            <a:r>
              <a:rPr lang="en-US" altLang="ko-KR" smtClean="0"/>
              <a:t> </a:t>
            </a:r>
            <a:r>
              <a:rPr lang="ko-KR" altLang="en-US" dirty="0"/>
              <a:t>업무분류 및 기능 정의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z="1800" smtClean="0"/>
              <a:t>3.5.2 </a:t>
            </a:r>
            <a:r>
              <a:rPr lang="ko-KR" altLang="en-US" sz="1800" smtClean="0"/>
              <a:t>사업관리 </a:t>
            </a:r>
            <a:r>
              <a:rPr lang="ko-KR" altLang="en-US" sz="1800" smtClean="0">
                <a:solidFill>
                  <a:prstClr val="black"/>
                </a:solidFill>
              </a:rPr>
              <a:t>업무기능 </a:t>
            </a:r>
            <a:r>
              <a:rPr lang="ko-KR" altLang="en-US" sz="1800" dirty="0">
                <a:solidFill>
                  <a:prstClr val="black"/>
                </a:solidFill>
              </a:rPr>
              <a:t>정의 </a:t>
            </a:r>
            <a:r>
              <a:rPr lang="en-US" altLang="ko-KR" sz="1800" dirty="0">
                <a:solidFill>
                  <a:prstClr val="black"/>
                </a:solidFill>
              </a:rPr>
              <a:t>(</a:t>
            </a:r>
            <a:r>
              <a:rPr lang="en-US" altLang="ko-KR" sz="1800" dirty="0"/>
              <a:t>2/2)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84892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데이터 표준화 및 데이터 표준관리 방안을 수립하기 위해 </a:t>
            </a:r>
            <a:r>
              <a:rPr lang="en-US" altLang="ko-KR" dirty="0"/>
              <a:t>5</a:t>
            </a:r>
            <a:r>
              <a:rPr lang="ko-KR" altLang="en-US" dirty="0"/>
              <a:t>개의 데이터 표준화 대상별 </a:t>
            </a:r>
            <a:r>
              <a:rPr lang="ko-KR" altLang="en-US"/>
              <a:t>관리 </a:t>
            </a:r>
            <a:r>
              <a:rPr lang="ko-KR" altLang="en-US" smtClean="0"/>
              <a:t>및 </a:t>
            </a:r>
            <a:r>
              <a:rPr lang="ko-KR" altLang="en-US"/>
              <a:t>표준화 </a:t>
            </a:r>
            <a:r>
              <a:rPr lang="ko-KR" altLang="en-US" smtClean="0"/>
              <a:t>적용 방안을 </a:t>
            </a:r>
            <a:r>
              <a:rPr lang="ko-KR" altLang="en-US" dirty="0"/>
              <a:t>제시함</a:t>
            </a:r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pc="-150" smtClean="0"/>
              <a:t>3.6 DATABASE </a:t>
            </a:r>
            <a:r>
              <a:rPr lang="ko-KR" altLang="en-US" spc="-150" smtClean="0"/>
              <a:t>표준화 방안</a:t>
            </a:r>
            <a:r>
              <a:rPr lang="en-US" altLang="ko-KR" sz="1800" spc="-150"/>
              <a:t/>
            </a:r>
            <a:br>
              <a:rPr lang="en-US" altLang="ko-KR" sz="1800" spc="-150"/>
            </a:br>
            <a:r>
              <a:rPr lang="en-US" altLang="ko-KR" sz="1800" spc="-150" smtClean="0"/>
              <a:t>3.6.1 </a:t>
            </a:r>
            <a:r>
              <a:rPr lang="ko-KR" altLang="en-US" sz="1800" spc="-150" smtClean="0"/>
              <a:t>표준화 적용 개선 방안 </a:t>
            </a:r>
            <a:endParaRPr lang="ko-KR" altLang="en-US" sz="1800" spc="-15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ts val="288"/>
              </a:spcBef>
            </a:pPr>
            <a:r>
              <a:rPr lang="en-US" altLang="ko-KR">
                <a:solidFill>
                  <a:prstClr val="black"/>
                </a:solidFill>
              </a:rPr>
              <a:t>Ⅲ. </a:t>
            </a:r>
            <a:r>
              <a:rPr lang="ko-KR" altLang="en-US">
                <a:solidFill>
                  <a:prstClr val="black"/>
                </a:solidFill>
              </a:rPr>
              <a:t>목표모델 설계</a:t>
            </a:r>
            <a:endParaRPr lang="en-US" altLang="ko-KR">
              <a:solidFill>
                <a:prstClr val="black"/>
              </a:solidFill>
            </a:endParaRPr>
          </a:p>
          <a:p>
            <a:pPr>
              <a:spcBef>
                <a:spcPts val="288"/>
              </a:spcBef>
            </a:pPr>
            <a:r>
              <a:rPr lang="en-US" altLang="ko-KR">
                <a:solidFill>
                  <a:prstClr val="black"/>
                </a:solidFill>
              </a:rPr>
              <a:t>3. </a:t>
            </a:r>
            <a:r>
              <a:rPr lang="ko-KR" altLang="en-US">
                <a:solidFill>
                  <a:prstClr val="black"/>
                </a:solidFill>
              </a:rPr>
              <a:t>업무별 개선안 설계</a:t>
            </a:r>
            <a:endParaRPr lang="en-US" altLang="ko-KR">
              <a:solidFill>
                <a:prstClr val="black"/>
              </a:solidFill>
            </a:endParaRPr>
          </a:p>
          <a:p>
            <a:r>
              <a:rPr lang="en-US" altLang="ko-KR" smtClean="0"/>
              <a:t>3.6 </a:t>
            </a:r>
            <a:r>
              <a:rPr lang="en-US" altLang="ko-KR" spc="-150" smtClean="0"/>
              <a:t>DATABASE </a:t>
            </a:r>
            <a:r>
              <a:rPr lang="ko-KR" altLang="en-US" spc="-150" smtClean="0"/>
              <a:t>표준화 방안</a:t>
            </a:r>
            <a:endParaRPr lang="en-US" altLang="ko-KR" dirty="0"/>
          </a:p>
        </p:txBody>
      </p:sp>
      <p:grpSp>
        <p:nvGrpSpPr>
          <p:cNvPr id="2" name="그룹 1"/>
          <p:cNvGrpSpPr/>
          <p:nvPr/>
        </p:nvGrpSpPr>
        <p:grpSpPr>
          <a:xfrm>
            <a:off x="347048" y="1592840"/>
            <a:ext cx="9214465" cy="4788910"/>
            <a:chOff x="201528" y="1592840"/>
            <a:chExt cx="9502496" cy="4788910"/>
          </a:xfrm>
        </p:grpSpPr>
        <p:grpSp>
          <p:nvGrpSpPr>
            <p:cNvPr id="6" name="그룹 52"/>
            <p:cNvGrpSpPr/>
            <p:nvPr/>
          </p:nvGrpSpPr>
          <p:grpSpPr>
            <a:xfrm>
              <a:off x="201528" y="1592840"/>
              <a:ext cx="9502496" cy="4785734"/>
              <a:chOff x="200025" y="1592840"/>
              <a:chExt cx="4680967" cy="4785734"/>
            </a:xfrm>
          </p:grpSpPr>
          <p:sp>
            <p:nvSpPr>
              <p:cNvPr id="54" name="직사각형 53"/>
              <p:cNvSpPr/>
              <p:nvPr/>
            </p:nvSpPr>
            <p:spPr bwMode="auto">
              <a:xfrm>
                <a:off x="200025" y="1592840"/>
                <a:ext cx="4680967" cy="324000"/>
              </a:xfrm>
              <a:prstGeom prst="rect">
                <a:avLst/>
              </a:prstGeom>
              <a:solidFill>
                <a:srgbClr val="233C5A"/>
              </a:solidFill>
              <a:ln w="12699">
                <a:solidFill>
                  <a:srgbClr val="000000">
                    <a:lumMod val="50000"/>
                    <a:lumOff val="50000"/>
                  </a:srgbClr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72000" tIns="72000" rIns="72000" bIns="72000" anchor="ctr"/>
              <a:lstStyle/>
              <a:p>
                <a:pPr algn="ctr" latinLnBrk="0">
                  <a:defRPr/>
                </a:pPr>
                <a:r>
                  <a:rPr lang="ko-KR" altLang="en-US" sz="1400" b="1" kern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데이터 </a:t>
                </a:r>
                <a:r>
                  <a:rPr lang="ko-KR" altLang="en-US" sz="1400" b="1" kern="0" smtClean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표준화 적용</a:t>
                </a:r>
                <a:endParaRPr lang="ko-KR" altLang="en-US" sz="1400" b="1" kern="0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55" name="직사각형 54"/>
              <p:cNvSpPr/>
              <p:nvPr/>
            </p:nvSpPr>
            <p:spPr bwMode="auto">
              <a:xfrm>
                <a:off x="200025" y="1916831"/>
                <a:ext cx="4680967" cy="4461743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sm" len="sm"/>
              </a:ln>
              <a:effectLst>
                <a:outerShdw dist="25400" dir="2700000" algn="tl" rotWithShape="0">
                  <a:schemeClr val="bg1">
                    <a:lumMod val="50000"/>
                    <a:alpha val="40000"/>
                  </a:schemeClr>
                </a:outerShdw>
              </a:effectLst>
            </p:spPr>
            <p:txBody>
              <a:bodyPr vert="horz" wrap="square" lIns="108000" tIns="36000" rIns="72000" bIns="36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182563" indent="-182563">
                  <a:spcBef>
                    <a:spcPts val="1200"/>
                  </a:spcBef>
                  <a:buClr>
                    <a:prstClr val="black"/>
                  </a:buClr>
                  <a:buFont typeface="Wingdings" pitchFamily="2" charset="2"/>
                  <a:buChar char="q"/>
                </a:pPr>
                <a:endPara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grpSp>
          <p:nvGrpSpPr>
            <p:cNvPr id="7" name="그룹 55"/>
            <p:cNvGrpSpPr/>
            <p:nvPr/>
          </p:nvGrpSpPr>
          <p:grpSpPr>
            <a:xfrm>
              <a:off x="6969224" y="2020566"/>
              <a:ext cx="2646878" cy="4258004"/>
              <a:chOff x="2324708" y="394145"/>
              <a:chExt cx="3186842" cy="4258004"/>
            </a:xfrm>
          </p:grpSpPr>
          <p:sp>
            <p:nvSpPr>
              <p:cNvPr id="57" name="직사각형 56"/>
              <p:cNvSpPr/>
              <p:nvPr/>
            </p:nvSpPr>
            <p:spPr>
              <a:xfrm>
                <a:off x="2324709" y="692149"/>
                <a:ext cx="3186840" cy="3960000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rgbClr val="2377F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>
                  <a:buClr>
                    <a:prstClr val="black"/>
                  </a:buClr>
                  <a:buSzPct val="90000"/>
                </a:pPr>
                <a:endParaRPr lang="ko-KR" altLang="en-US" sz="800" spc="-5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  <p:sp>
            <p:nvSpPr>
              <p:cNvPr id="58" name="직사각형 57"/>
              <p:cNvSpPr/>
              <p:nvPr/>
            </p:nvSpPr>
            <p:spPr bwMode="auto">
              <a:xfrm>
                <a:off x="2324708" y="394145"/>
                <a:ext cx="3186842" cy="298005"/>
              </a:xfrm>
              <a:prstGeom prst="rect">
                <a:avLst/>
              </a:prstGeom>
              <a:solidFill>
                <a:srgbClr val="508CD2"/>
              </a:solidFill>
              <a:ln w="6350" cap="flat" cmpd="sng" algn="ctr">
                <a:solidFill>
                  <a:srgbClr val="2377F7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72000" tIns="0" rIns="7200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>
                  <a:buClr>
                    <a:prstClr val="black"/>
                  </a:buClr>
                  <a:buSzPct val="90000"/>
                </a:pPr>
                <a:r>
                  <a:rPr kumimoji="1" lang="ko-KR" altLang="en-US" sz="1200" b="1" spc="-50" dirty="0">
                    <a:solidFill>
                      <a:prstClr val="white"/>
                    </a:solidFill>
                    <a:latin typeface="맑은 고딕" pitchFamily="50" charset="-127"/>
                    <a:ea typeface="맑은 고딕" pitchFamily="50" charset="-127"/>
                  </a:rPr>
                  <a:t>방향성 정의</a:t>
                </a:r>
              </a:p>
            </p:txBody>
          </p:sp>
        </p:grpSp>
        <p:sp>
          <p:nvSpPr>
            <p:cNvPr id="59" name="AutoShape 3"/>
            <p:cNvSpPr>
              <a:spLocks noChangeArrowheads="1"/>
            </p:cNvSpPr>
            <p:nvPr/>
          </p:nvSpPr>
          <p:spPr bwMode="auto">
            <a:xfrm>
              <a:off x="3910538" y="3861048"/>
              <a:ext cx="2700000" cy="1376844"/>
            </a:xfrm>
            <a:prstGeom prst="homePlate">
              <a:avLst>
                <a:gd name="adj" fmla="val 25183"/>
              </a:avLst>
            </a:prstGeom>
            <a:solidFill>
              <a:schemeClr val="bg1">
                <a:lumMod val="75000"/>
                <a:alpha val="50000"/>
              </a:schemeClr>
            </a:solidFill>
            <a:ln w="2540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  <a:extLst/>
          </p:spPr>
          <p:txBody>
            <a:bodyPr wrap="none" lIns="72000" tIns="72000" rIns="72000" bIns="72000" anchor="t" anchorCtr="1"/>
            <a:lstStyle/>
            <a:p>
              <a:pPr algn="ctr">
                <a:spcBef>
                  <a:spcPct val="50000"/>
                </a:spcBef>
              </a:pPr>
              <a:r>
                <a: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데이터 표준화 대상 후보</a:t>
              </a:r>
            </a:p>
          </p:txBody>
        </p:sp>
        <p:sp>
          <p:nvSpPr>
            <p:cNvPr id="60" name="AutoShape 5"/>
            <p:cNvSpPr>
              <a:spLocks noChangeArrowheads="1"/>
            </p:cNvSpPr>
            <p:nvPr/>
          </p:nvSpPr>
          <p:spPr bwMode="auto">
            <a:xfrm>
              <a:off x="3910538" y="2672916"/>
              <a:ext cx="2700000" cy="540060"/>
            </a:xfrm>
            <a:prstGeom prst="homePlate">
              <a:avLst>
                <a:gd name="adj" fmla="val 25746"/>
              </a:avLst>
            </a:prstGeom>
            <a:solidFill>
              <a:schemeClr val="bg1">
                <a:lumMod val="75000"/>
                <a:alpha val="50000"/>
              </a:schemeClr>
            </a:solidFill>
            <a:ln w="2540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  <a:extLst/>
          </p:spPr>
          <p:txBody>
            <a:bodyPr wrap="none" lIns="72000" tIns="72000" rIns="72000" bIns="72000" anchor="ctr" anchorCtr="1"/>
            <a:lstStyle/>
            <a:p>
              <a:pPr algn="ctr">
                <a:spcBef>
                  <a:spcPct val="50000"/>
                </a:spcBef>
              </a:pPr>
              <a:r>
                <a:rPr lang="ko-KR" altLang="en-US" sz="1200" b="1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데이터 표준 현황 분석</a:t>
              </a:r>
            </a:p>
          </p:txBody>
        </p:sp>
        <p:sp>
          <p:nvSpPr>
            <p:cNvPr id="61" name="AutoShape 6"/>
            <p:cNvSpPr>
              <a:spLocks noChangeArrowheads="1"/>
            </p:cNvSpPr>
            <p:nvPr/>
          </p:nvSpPr>
          <p:spPr bwMode="auto">
            <a:xfrm>
              <a:off x="7049941" y="2797137"/>
              <a:ext cx="2483948" cy="755650"/>
            </a:xfrm>
            <a:prstGeom prst="homePlate">
              <a:avLst>
                <a:gd name="adj" fmla="val 0"/>
              </a:avLst>
            </a:prstGeom>
            <a:ln>
              <a:miter lim="800000"/>
              <a:headEnd/>
              <a:tailEnd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0" rIns="108000" bIns="0" anchor="ctr"/>
            <a:lstStyle/>
            <a:p>
              <a:pPr algn="ctr" defTabSz="1025315"/>
              <a:r>
                <a:rPr kumimoji="1" lang="ko-KR" altLang="en-US" sz="1100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데이터 표준화 대상 식별</a:t>
              </a:r>
            </a:p>
          </p:txBody>
        </p:sp>
        <p:sp>
          <p:nvSpPr>
            <p:cNvPr id="62" name="AutoShape 7"/>
            <p:cNvSpPr>
              <a:spLocks noChangeArrowheads="1"/>
            </p:cNvSpPr>
            <p:nvPr/>
          </p:nvSpPr>
          <p:spPr bwMode="auto">
            <a:xfrm>
              <a:off x="7049941" y="4283086"/>
              <a:ext cx="2483948" cy="755650"/>
            </a:xfrm>
            <a:prstGeom prst="homePlate">
              <a:avLst>
                <a:gd name="adj" fmla="val 0"/>
              </a:avLst>
            </a:prstGeom>
            <a:ln>
              <a:miter lim="800000"/>
              <a:headEnd/>
              <a:tailEnd/>
            </a:ln>
            <a:ex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0" rIns="108000" bIns="0" anchor="ctr"/>
            <a:lstStyle/>
            <a:p>
              <a:pPr algn="ctr" defTabSz="1025315"/>
              <a:r>
                <a:rPr kumimoji="1" lang="ko-KR" altLang="en-US" sz="1100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데이터 표준화 대상별 관리 방법</a:t>
              </a:r>
            </a:p>
          </p:txBody>
        </p:sp>
        <p:sp>
          <p:nvSpPr>
            <p:cNvPr id="63" name="Text Box 8"/>
            <p:cNvSpPr txBox="1">
              <a:spLocks noChangeArrowheads="1"/>
            </p:cNvSpPr>
            <p:nvPr/>
          </p:nvSpPr>
          <p:spPr bwMode="auto">
            <a:xfrm>
              <a:off x="7049941" y="3564222"/>
              <a:ext cx="2483948" cy="2608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72000" tIns="72000" rIns="72000" bIns="72000">
              <a:spAutoFit/>
            </a:bodyPr>
            <a:lstStyle>
              <a:lvl1pPr marL="85725" indent="-85725"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>
                <a:lnSpc>
                  <a:spcPts val="9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9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데이터 표준화 대상 정의</a:t>
              </a:r>
              <a:endPara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4" name="Text Box 9"/>
            <p:cNvSpPr txBox="1">
              <a:spLocks noChangeArrowheads="1"/>
            </p:cNvSpPr>
            <p:nvPr/>
          </p:nvSpPr>
          <p:spPr bwMode="auto">
            <a:xfrm>
              <a:off x="7049941" y="5028045"/>
              <a:ext cx="2483948" cy="453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72000" tIns="72000" rIns="72000" bIns="72000">
              <a:spAutoFit/>
            </a:bodyPr>
            <a:lstStyle>
              <a:lvl1pPr marL="85725" indent="-85725"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>
                <a:lnSpc>
                  <a:spcPts val="9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9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데이터 표준화 대상별 관리 기준</a:t>
              </a:r>
              <a:endParaRPr lang="en-US" altLang="ko-KR" sz="900" dirty="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endParaRPr>
            </a:p>
            <a:p>
              <a:pPr>
                <a:lnSpc>
                  <a:spcPts val="9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9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데이터 표준화 대상별 관리 지침</a:t>
              </a:r>
            </a:p>
          </p:txBody>
        </p:sp>
        <p:cxnSp>
          <p:nvCxnSpPr>
            <p:cNvPr id="65" name="AutoShape 10"/>
            <p:cNvCxnSpPr>
              <a:cxnSpLocks noChangeShapeType="1"/>
              <a:stCxn id="60" idx="3"/>
              <a:endCxn id="57" idx="1"/>
            </p:cNvCxnSpPr>
            <p:nvPr/>
          </p:nvCxnSpPr>
          <p:spPr bwMode="auto">
            <a:xfrm>
              <a:off x="6610538" y="2942946"/>
              <a:ext cx="358687" cy="1355624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6" name="AutoShape 11"/>
            <p:cNvCxnSpPr>
              <a:cxnSpLocks noChangeShapeType="1"/>
              <a:stCxn id="59" idx="3"/>
              <a:endCxn id="57" idx="1"/>
            </p:cNvCxnSpPr>
            <p:nvPr/>
          </p:nvCxnSpPr>
          <p:spPr bwMode="auto">
            <a:xfrm flipV="1">
              <a:off x="6610538" y="4298570"/>
              <a:ext cx="358687" cy="250900"/>
            </a:xfrm>
            <a:prstGeom prst="bentConnector3">
              <a:avLst>
                <a:gd name="adj1" fmla="val 50000"/>
              </a:avLst>
            </a:prstGeom>
            <a:noFill/>
            <a:ln w="28575">
              <a:solidFill>
                <a:schemeClr val="bg1">
                  <a:lumMod val="50000"/>
                </a:schemeClr>
              </a:solidFill>
              <a:prstDash val="solid"/>
              <a:miter lim="800000"/>
              <a:headEnd/>
              <a:tailEnd type="triangle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67" name="Text Box 12"/>
            <p:cNvSpPr txBox="1">
              <a:spLocks noChangeArrowheads="1"/>
            </p:cNvSpPr>
            <p:nvPr/>
          </p:nvSpPr>
          <p:spPr bwMode="auto">
            <a:xfrm>
              <a:off x="3910538" y="3231087"/>
              <a:ext cx="2700000" cy="53984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2000" tIns="72000" rIns="72000" bIns="72000"/>
            <a:lstStyle>
              <a:lvl1pPr marL="85725" indent="-85725"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>
                <a:lnSpc>
                  <a:spcPts val="9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ko-KR" altLang="en-US" sz="90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경영정보시스템 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관련 시스템 구축 시 적용한 데이터 표준의 현황 분석 결과를 반영</a:t>
              </a:r>
            </a:p>
          </p:txBody>
        </p:sp>
        <p:sp>
          <p:nvSpPr>
            <p:cNvPr id="68" name="Text Box 13"/>
            <p:cNvSpPr txBox="1">
              <a:spLocks noChangeArrowheads="1"/>
            </p:cNvSpPr>
            <p:nvPr/>
          </p:nvSpPr>
          <p:spPr bwMode="auto">
            <a:xfrm>
              <a:off x="3910538" y="5244815"/>
              <a:ext cx="2700000" cy="4524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6350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72000" tIns="72000" rIns="72000" bIns="72000"/>
            <a:lstStyle>
              <a:lvl1pPr marL="85725" indent="-85725"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algn="l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>
                <a:lnSpc>
                  <a:spcPts val="900"/>
                </a:lnSpc>
                <a:spcBef>
                  <a:spcPts val="600"/>
                </a:spcBef>
                <a:buFont typeface="Arial" panose="020B0604020202020204" pitchFamily="34" charset="0"/>
                <a:buChar char="•"/>
              </a:pPr>
              <a:r>
                <a:rPr lang="en-US" altLang="ko-KR" sz="9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6</a:t>
              </a:r>
              <a:r>
                <a:rPr lang="ko-KR" altLang="en-US" sz="9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개 표준화 대상 후보에 대한 표준화 방안 제시</a:t>
              </a:r>
            </a:p>
          </p:txBody>
        </p:sp>
        <p:sp>
          <p:nvSpPr>
            <p:cNvPr id="69" name="AutoShape 6"/>
            <p:cNvSpPr>
              <a:spLocks noChangeArrowheads="1"/>
            </p:cNvSpPr>
            <p:nvPr/>
          </p:nvSpPr>
          <p:spPr bwMode="auto">
            <a:xfrm>
              <a:off x="4044992" y="4221088"/>
              <a:ext cx="1080000" cy="252000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  <a:extLst/>
          </p:spPr>
          <p:txBody>
            <a:bodyPr wrap="none" lIns="36000" tIns="72000" rIns="36000" bIns="72000" anchor="ctr"/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단어사전</a:t>
              </a:r>
            </a:p>
          </p:txBody>
        </p:sp>
        <p:sp>
          <p:nvSpPr>
            <p:cNvPr id="70" name="AutoShape 6"/>
            <p:cNvSpPr>
              <a:spLocks noChangeArrowheads="1"/>
            </p:cNvSpPr>
            <p:nvPr/>
          </p:nvSpPr>
          <p:spPr bwMode="auto">
            <a:xfrm>
              <a:off x="5170845" y="4221088"/>
              <a:ext cx="1080000" cy="252000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  <a:extLst/>
          </p:spPr>
          <p:txBody>
            <a:bodyPr wrap="none" lIns="36000" tIns="72000" rIns="36000" bIns="72000" anchor="ctr"/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용어사전</a:t>
              </a:r>
            </a:p>
          </p:txBody>
        </p:sp>
        <p:sp>
          <p:nvSpPr>
            <p:cNvPr id="71" name="AutoShape 6"/>
            <p:cNvSpPr>
              <a:spLocks noChangeArrowheads="1"/>
            </p:cNvSpPr>
            <p:nvPr/>
          </p:nvSpPr>
          <p:spPr bwMode="auto">
            <a:xfrm>
              <a:off x="4044992" y="4524879"/>
              <a:ext cx="1080000" cy="252000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  <a:extLst/>
          </p:spPr>
          <p:txBody>
            <a:bodyPr wrap="none" lIns="36000" tIns="72000" rIns="36000" bIns="72000" anchor="ctr"/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도메인</a:t>
              </a:r>
            </a:p>
          </p:txBody>
        </p:sp>
        <p:sp>
          <p:nvSpPr>
            <p:cNvPr id="72" name="AutoShape 6"/>
            <p:cNvSpPr>
              <a:spLocks noChangeArrowheads="1"/>
            </p:cNvSpPr>
            <p:nvPr/>
          </p:nvSpPr>
          <p:spPr bwMode="auto">
            <a:xfrm>
              <a:off x="5170845" y="4524879"/>
              <a:ext cx="1080000" cy="252000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  <a:extLst/>
          </p:spPr>
          <p:txBody>
            <a:bodyPr wrap="none" lIns="36000" tIns="72000" rIns="36000" bIns="72000" anchor="ctr"/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데이터 객체 네이밍</a:t>
              </a:r>
            </a:p>
          </p:txBody>
        </p:sp>
        <p:sp>
          <p:nvSpPr>
            <p:cNvPr id="73" name="AutoShape 6"/>
            <p:cNvSpPr>
              <a:spLocks noChangeArrowheads="1"/>
            </p:cNvSpPr>
            <p:nvPr/>
          </p:nvSpPr>
          <p:spPr bwMode="auto">
            <a:xfrm>
              <a:off x="4043749" y="4842439"/>
              <a:ext cx="1081243" cy="252000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  <a:extLst/>
          </p:spPr>
          <p:txBody>
            <a:bodyPr wrap="none" lIns="36000" tIns="72000" rIns="36000" bIns="72000" anchor="ctr"/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코드 데이터</a:t>
              </a:r>
            </a:p>
          </p:txBody>
        </p:sp>
        <p:sp>
          <p:nvSpPr>
            <p:cNvPr id="74" name="직사각형 73"/>
            <p:cNvSpPr/>
            <p:nvPr/>
          </p:nvSpPr>
          <p:spPr bwMode="auto">
            <a:xfrm>
              <a:off x="242017" y="2059377"/>
              <a:ext cx="3186842" cy="298005"/>
            </a:xfrm>
            <a:prstGeom prst="rect">
              <a:avLst/>
            </a:prstGeom>
            <a:solidFill>
              <a:srgbClr val="508CD2"/>
            </a:solidFill>
            <a:ln w="6350" cap="flat" cmpd="sng" algn="ctr">
              <a:solidFill>
                <a:srgbClr val="2377F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2000" tIns="0" rIns="7200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buClr>
                  <a:prstClr val="black"/>
                </a:buClr>
                <a:buSzPct val="90000"/>
              </a:pPr>
              <a:r>
                <a:rPr kumimoji="1" lang="ko-KR" altLang="en-US" sz="1200" b="1" spc="-50" smtClean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경영정보시스템 </a:t>
              </a:r>
              <a:r>
                <a:rPr kumimoji="1" lang="ko-KR" altLang="en-US" sz="1200" b="1" spc="-50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데이터 품질관리 체계</a:t>
              </a: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242017" y="2500530"/>
              <a:ext cx="3186840" cy="3881220"/>
            </a:xfrm>
            <a:prstGeom prst="rect">
              <a:avLst/>
            </a:prstGeom>
            <a:solidFill>
              <a:schemeClr val="accent3"/>
            </a:solidFill>
            <a:ln w="19050">
              <a:solidFill>
                <a:schemeClr val="bg1">
                  <a:lumMod val="50000"/>
                </a:schemeClr>
              </a:solidFill>
            </a:ln>
          </p:spPr>
          <p:txBody>
            <a:bodyPr vert="horz" wrap="square" lIns="72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endParaRPr lang="ko-KR" altLang="en-US" sz="900" dirty="0">
                <a:ln w="28575">
                  <a:solidFill>
                    <a:srgbClr val="000000"/>
                  </a:solidFill>
                </a:ln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76" name="오각형 75"/>
            <p:cNvSpPr/>
            <p:nvPr/>
          </p:nvSpPr>
          <p:spPr>
            <a:xfrm rot="16200000">
              <a:off x="1677850" y="1337699"/>
              <a:ext cx="331432" cy="3001868"/>
            </a:xfrm>
            <a:prstGeom prst="homePlate">
              <a:avLst/>
            </a:prstGeom>
            <a:solidFill>
              <a:srgbClr val="508CD2"/>
            </a:solidFill>
            <a:ln w="6350" cap="flat" cmpd="sng" algn="ctr">
              <a:solidFill>
                <a:srgbClr val="2377F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eaVert" wrap="none" lIns="72000" tIns="0" rIns="7200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buClr>
                  <a:prstClr val="black"/>
                </a:buClr>
                <a:buSzPct val="90000"/>
              </a:pPr>
              <a:r>
                <a:rPr kumimoji="1" lang="ko-KR" altLang="en-US" sz="1000" spc="-50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데이터 품질관리 체계</a:t>
              </a:r>
            </a:p>
          </p:txBody>
        </p:sp>
        <p:sp>
          <p:nvSpPr>
            <p:cNvPr id="77" name="직사각형 76"/>
            <p:cNvSpPr/>
            <p:nvPr/>
          </p:nvSpPr>
          <p:spPr>
            <a:xfrm>
              <a:off x="342632" y="3049384"/>
              <a:ext cx="2584934" cy="3041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vert="horz" wrap="square" lIns="72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데이터 품질 방침</a:t>
              </a: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342632" y="3396123"/>
              <a:ext cx="2584934" cy="3041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vert="horz" wrap="square" lIns="72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데이터 관리 조직</a:t>
              </a: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342632" y="5140958"/>
              <a:ext cx="2584934" cy="3041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vert="horz" wrap="square" lIns="72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데이터 품질관리 프로세스</a:t>
              </a: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342632" y="5487698"/>
              <a:ext cx="2584934" cy="3041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vert="horz" wrap="square" lIns="72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데이터 관리 인프라</a:t>
              </a: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342632" y="5836430"/>
              <a:ext cx="3001868" cy="3041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vert="horz" wrap="square" lIns="72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데이터 품질 법</a:t>
              </a:r>
              <a:r>
                <a:rPr lang="en-US" altLang="ko-KR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.</a:t>
              </a:r>
              <a:r>
                <a:rPr lang="ko-KR" altLang="en-US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제도</a:t>
              </a:r>
            </a:p>
          </p:txBody>
        </p:sp>
        <p:sp>
          <p:nvSpPr>
            <p:cNvPr id="82" name="직사각형 81"/>
            <p:cNvSpPr/>
            <p:nvPr/>
          </p:nvSpPr>
          <p:spPr>
            <a:xfrm>
              <a:off x="342632" y="3739483"/>
              <a:ext cx="2584934" cy="13568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vert="horz" wrap="square" lIns="72000" tIns="36000" rIns="72000" bIns="36000" numCol="1" rtlCol="0" anchor="b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데이터 보안</a:t>
              </a: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1668019" y="4325794"/>
              <a:ext cx="1117654" cy="5160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vert="horz" wrap="square" lIns="72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algn="r"/>
              <a:r>
                <a:rPr lang="ko-KR" altLang="en-US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데이터 교환</a:t>
              </a: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551835" y="4325794"/>
              <a:ext cx="1117654" cy="5160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vert="horz" wrap="square" lIns="72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ko-KR" altLang="en-US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데이터 품질</a:t>
              </a:r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1668019" y="3812135"/>
              <a:ext cx="1117654" cy="51605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vert="horz" wrap="square" lIns="72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algn="r"/>
              <a:r>
                <a:rPr lang="ko-KR" altLang="en-US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데이터 구조</a:t>
              </a: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2962300" y="3049384"/>
              <a:ext cx="382200" cy="274246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txBody>
            <a:bodyPr vert="horz" wrap="square" lIns="0" tIns="36000" rIns="0" bIns="3600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데이터</a:t>
              </a:r>
              <a:r>
                <a:rPr lang="en-US" altLang="ko-KR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공개</a:t>
              </a:r>
              <a:r>
                <a:rPr lang="en-US" altLang="ko-KR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/>
              </a:r>
              <a:br>
                <a:rPr lang="en-US" altLang="ko-KR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en-US" altLang="ko-KR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· </a:t>
              </a:r>
              <a:br>
                <a:rPr lang="en-US" altLang="ko-KR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</a:br>
              <a:r>
                <a:rPr lang="ko-KR" altLang="en-US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개방</a:t>
              </a: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551835" y="3812135"/>
              <a:ext cx="1117654" cy="51605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rgbClr val="C00000"/>
              </a:solidFill>
            </a:ln>
          </p:spPr>
          <p:txBody>
            <a:bodyPr vert="horz" wrap="square" lIns="72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r>
                <a:rPr lang="ko-KR" altLang="en-US" sz="900" dirty="0">
                  <a:solidFill>
                    <a:srgbClr val="C00000"/>
                  </a:solidFill>
                  <a:latin typeface="맑은 고딕" pitchFamily="50" charset="-127"/>
                  <a:ea typeface="맑은 고딕" pitchFamily="50" charset="-127"/>
                </a:rPr>
                <a:t>데이터 표준</a:t>
              </a:r>
            </a:p>
          </p:txBody>
        </p:sp>
        <p:cxnSp>
          <p:nvCxnSpPr>
            <p:cNvPr id="88" name="AutoShape 68"/>
            <p:cNvCxnSpPr>
              <a:cxnSpLocks noChangeShapeType="1"/>
              <a:stCxn id="87" idx="3"/>
              <a:endCxn id="60" idx="1"/>
            </p:cNvCxnSpPr>
            <p:nvPr/>
          </p:nvCxnSpPr>
          <p:spPr bwMode="auto">
            <a:xfrm flipV="1">
              <a:off x="1669489" y="2942946"/>
              <a:ext cx="2241049" cy="1127216"/>
            </a:xfrm>
            <a:prstGeom prst="bentConnector3">
              <a:avLst>
                <a:gd name="adj1" fmla="val 89102"/>
              </a:avLst>
            </a:prstGeom>
            <a:noFill/>
            <a:ln w="28575">
              <a:solidFill>
                <a:srgbClr val="C00000"/>
              </a:solidFill>
              <a:miter lim="800000"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89" name="AutoShape 68"/>
            <p:cNvCxnSpPr>
              <a:cxnSpLocks noChangeShapeType="1"/>
              <a:stCxn id="87" idx="3"/>
              <a:endCxn id="59" idx="1"/>
            </p:cNvCxnSpPr>
            <p:nvPr/>
          </p:nvCxnSpPr>
          <p:spPr bwMode="auto">
            <a:xfrm>
              <a:off x="1669489" y="4070162"/>
              <a:ext cx="2241049" cy="479308"/>
            </a:xfrm>
            <a:prstGeom prst="bentConnector3">
              <a:avLst>
                <a:gd name="adj1" fmla="val 88677"/>
              </a:avLst>
            </a:prstGeom>
            <a:noFill/>
            <a:ln w="28575">
              <a:solidFill>
                <a:srgbClr val="C00000"/>
              </a:solidFill>
              <a:miter lim="800000"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grpSp>
          <p:nvGrpSpPr>
            <p:cNvPr id="8" name="그룹 89"/>
            <p:cNvGrpSpPr/>
            <p:nvPr/>
          </p:nvGrpSpPr>
          <p:grpSpPr>
            <a:xfrm>
              <a:off x="1289739" y="3942464"/>
              <a:ext cx="769700" cy="769701"/>
              <a:chOff x="-1683537" y="3004277"/>
              <a:chExt cx="892622" cy="892622"/>
            </a:xfrm>
          </p:grpSpPr>
          <p:sp>
            <p:nvSpPr>
              <p:cNvPr id="91" name="모서리가 둥근 직사각형 90"/>
              <p:cNvSpPr/>
              <p:nvPr/>
            </p:nvSpPr>
            <p:spPr>
              <a:xfrm>
                <a:off x="-1683537" y="3004277"/>
                <a:ext cx="892622" cy="892622"/>
              </a:xfrm>
              <a:prstGeom prst="roundRect">
                <a:avLst>
                  <a:gd name="adj" fmla="val 21178"/>
                </a:avLst>
              </a:prstGeom>
              <a:solidFill>
                <a:schemeClr val="bg1">
                  <a:alpha val="46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ko-KR" altLang="en-US" sz="9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데이터</a:t>
                </a:r>
                <a:endParaRPr lang="en-US" altLang="ko-KR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algn="ctr"/>
                <a:endParaRPr lang="en-US" altLang="ko-KR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algn="ctr"/>
                <a:endParaRPr lang="en-US" altLang="ko-KR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  <a:p>
                <a:pPr algn="ctr"/>
                <a:r>
                  <a:rPr lang="ko-KR" altLang="en-US" sz="900" dirty="0">
                    <a:solidFill>
                      <a:prstClr val="black"/>
                    </a:solidFill>
                    <a:latin typeface="맑은 고딕" pitchFamily="50" charset="-127"/>
                    <a:ea typeface="맑은 고딕" pitchFamily="50" charset="-127"/>
                  </a:rPr>
                  <a:t>분류체계</a:t>
                </a:r>
              </a:p>
            </p:txBody>
          </p:sp>
          <p:sp>
            <p:nvSpPr>
              <p:cNvPr id="92" name="타원 91"/>
              <p:cNvSpPr/>
              <p:nvPr/>
            </p:nvSpPr>
            <p:spPr>
              <a:xfrm>
                <a:off x="-1491716" y="3243890"/>
                <a:ext cx="490467" cy="362903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>
                <a:solidFill>
                  <a:schemeClr val="bg1">
                    <a:lumMod val="50000"/>
                  </a:schemeClr>
                </a:solidFill>
              </a:ln>
            </p:spPr>
            <p:txBody>
              <a:bodyPr vert="horz" wrap="square" lIns="0" tIns="0" rIns="0" bIns="0" numCol="1" rtlCol="0" anchor="ctr" anchorCtr="0" compatLnSpc="1">
                <a:prstTxWarp prst="textNoShape">
                  <a:avLst/>
                </a:prstTxWarp>
              </a:bodyPr>
              <a:lstStyle/>
              <a:p>
                <a:pPr algn="ctr"/>
                <a:r>
                  <a:rPr lang="en-US" altLang="ko-KR" sz="700" dirty="0">
                    <a:solidFill>
                      <a:srgbClr val="FFFFFF"/>
                    </a:solidFill>
                    <a:latin typeface="맑은 고딕" pitchFamily="50" charset="-127"/>
                    <a:ea typeface="맑은 고딕" pitchFamily="50" charset="-127"/>
                  </a:rPr>
                  <a:t>DATA</a:t>
                </a:r>
                <a:endParaRPr lang="ko-KR" altLang="en-US" sz="700" dirty="0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93" name="AutoShape 6"/>
            <p:cNvSpPr>
              <a:spLocks noChangeArrowheads="1"/>
            </p:cNvSpPr>
            <p:nvPr/>
          </p:nvSpPr>
          <p:spPr bwMode="auto">
            <a:xfrm>
              <a:off x="5170845" y="4842439"/>
              <a:ext cx="1081243" cy="252000"/>
            </a:xfrm>
            <a:prstGeom prst="homePlate">
              <a:avLst>
                <a:gd name="adj" fmla="val 0"/>
              </a:avLst>
            </a:prstGeom>
            <a:solidFill>
              <a:schemeClr val="bg1"/>
            </a:solidFill>
            <a:ln w="12700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  <a:effectLst/>
            <a:extLst/>
          </p:spPr>
          <p:txBody>
            <a:bodyPr wrap="none" lIns="36000" tIns="72000" rIns="36000" bIns="72000" anchor="ctr"/>
            <a:lstStyle/>
            <a:p>
              <a:pPr algn="ctr">
                <a:spcBef>
                  <a:spcPct val="50000"/>
                </a:spcBef>
              </a:pPr>
              <a:r>
                <a:rPr lang="ko-KR" altLang="en-US" sz="9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데이터 관련 도구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6519837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mtClean="0"/>
              <a:t>경영정보시스템의 </a:t>
            </a:r>
            <a:r>
              <a:rPr lang="en-US" altLang="ko-KR" smtClean="0"/>
              <a:t>DATABASE </a:t>
            </a:r>
            <a:r>
              <a:rPr lang="ko-KR" altLang="en-US" dirty="0"/>
              <a:t>설계와 </a:t>
            </a:r>
            <a:r>
              <a:rPr lang="ko-KR" altLang="en-US"/>
              <a:t>개발을 </a:t>
            </a:r>
            <a:r>
              <a:rPr lang="ko-KR" altLang="en-US" smtClean="0"/>
              <a:t>표준화하고</a:t>
            </a:r>
            <a:r>
              <a:rPr lang="en-US" altLang="ko-KR" dirty="0"/>
              <a:t>, </a:t>
            </a:r>
            <a:r>
              <a:rPr lang="ko-KR" altLang="en-US" dirty="0"/>
              <a:t>전사적인 데이터 표준의 사용 및 재사용을 통해 시스템 간 상호 운용성</a:t>
            </a:r>
            <a:r>
              <a:rPr lang="en-US" altLang="ko-KR" dirty="0"/>
              <a:t>, </a:t>
            </a:r>
            <a:r>
              <a:rPr lang="ko-KR" altLang="en-US" dirty="0"/>
              <a:t>데이터 공유</a:t>
            </a:r>
            <a:r>
              <a:rPr lang="en-US" altLang="ko-KR" dirty="0"/>
              <a:t>, </a:t>
            </a:r>
            <a:r>
              <a:rPr lang="ko-KR" altLang="en-US" dirty="0"/>
              <a:t>시스템 통합</a:t>
            </a:r>
            <a:r>
              <a:rPr lang="en-US" altLang="ko-KR" dirty="0"/>
              <a:t>, </a:t>
            </a:r>
            <a:r>
              <a:rPr lang="ko-KR" altLang="en-US" dirty="0"/>
              <a:t>비즈니스 프로세스 개선 등을 지원하도록 </a:t>
            </a:r>
            <a:r>
              <a:rPr lang="en-US" altLang="ko-KR" dirty="0"/>
              <a:t>5</a:t>
            </a:r>
            <a:r>
              <a:rPr lang="ko-KR" altLang="en-US" dirty="0"/>
              <a:t>개 분야의 데이터 표준을 수립함</a:t>
            </a:r>
          </a:p>
          <a:p>
            <a:endParaRPr lang="ko-KR" altLang="en-US" dirty="0"/>
          </a:p>
        </p:txBody>
      </p:sp>
      <p:sp>
        <p:nvSpPr>
          <p:cNvPr id="5" name="제목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pc="-150"/>
              <a:t>3.6 DATABASE </a:t>
            </a:r>
            <a:r>
              <a:rPr lang="ko-KR" altLang="en-US" spc="-150"/>
              <a:t>표준화 방안</a:t>
            </a:r>
            <a:r>
              <a:rPr lang="en-US" altLang="ko-KR" sz="1800" spc="-150"/>
              <a:t/>
            </a:r>
            <a:br>
              <a:rPr lang="en-US" altLang="ko-KR" sz="1800" spc="-150"/>
            </a:br>
            <a:r>
              <a:rPr lang="en-US" altLang="ko-KR" sz="1800" spc="-150" smtClean="0"/>
              <a:t>3.6.2 </a:t>
            </a:r>
            <a:r>
              <a:rPr lang="ko-KR" altLang="en-US" sz="1800" spc="-150" smtClean="0"/>
              <a:t>데이터 </a:t>
            </a:r>
            <a:r>
              <a:rPr lang="ko-KR" altLang="en-US" sz="1800" spc="-150" dirty="0"/>
              <a:t>표준화 </a:t>
            </a:r>
            <a:r>
              <a:rPr lang="ko-KR" altLang="en-US" sz="1800" spc="-150"/>
              <a:t>대상 </a:t>
            </a:r>
            <a:r>
              <a:rPr lang="ko-KR" altLang="en-US" sz="1800" spc="-150" smtClean="0"/>
              <a:t> </a:t>
            </a:r>
            <a:endParaRPr lang="ko-KR" altLang="en-US" sz="1800" spc="-15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ts val="288"/>
              </a:spcBef>
            </a:pPr>
            <a:r>
              <a:rPr lang="en-US" altLang="ko-KR">
                <a:solidFill>
                  <a:prstClr val="black"/>
                </a:solidFill>
              </a:rPr>
              <a:t>Ⅲ. </a:t>
            </a:r>
            <a:r>
              <a:rPr lang="ko-KR" altLang="en-US">
                <a:solidFill>
                  <a:prstClr val="black"/>
                </a:solidFill>
              </a:rPr>
              <a:t>목표모델 설계</a:t>
            </a:r>
            <a:endParaRPr lang="en-US" altLang="ko-KR">
              <a:solidFill>
                <a:prstClr val="black"/>
              </a:solidFill>
            </a:endParaRPr>
          </a:p>
          <a:p>
            <a:pPr>
              <a:spcBef>
                <a:spcPts val="288"/>
              </a:spcBef>
            </a:pPr>
            <a:r>
              <a:rPr lang="en-US" altLang="ko-KR">
                <a:solidFill>
                  <a:prstClr val="black"/>
                </a:solidFill>
              </a:rPr>
              <a:t>3. </a:t>
            </a:r>
            <a:r>
              <a:rPr lang="ko-KR" altLang="en-US">
                <a:solidFill>
                  <a:prstClr val="black"/>
                </a:solidFill>
              </a:rPr>
              <a:t>업무별 개선안 설계</a:t>
            </a:r>
            <a:endParaRPr lang="en-US" altLang="ko-KR">
              <a:solidFill>
                <a:prstClr val="black"/>
              </a:solidFill>
            </a:endParaRPr>
          </a:p>
          <a:p>
            <a:r>
              <a:rPr lang="en-US" altLang="ko-KR" smtClean="0"/>
              <a:t>3.5 </a:t>
            </a:r>
            <a:r>
              <a:rPr lang="en-US" altLang="ko-KR" spc="-150" smtClean="0"/>
              <a:t>DATABASE </a:t>
            </a:r>
            <a:r>
              <a:rPr lang="ko-KR" altLang="en-US" spc="-150" smtClean="0"/>
              <a:t>표준화 방안</a:t>
            </a:r>
            <a:endParaRPr lang="en-US" altLang="ko-KR" dirty="0"/>
          </a:p>
        </p:txBody>
      </p:sp>
      <p:grpSp>
        <p:nvGrpSpPr>
          <p:cNvPr id="2" name="그룹 5"/>
          <p:cNvGrpSpPr/>
          <p:nvPr/>
        </p:nvGrpSpPr>
        <p:grpSpPr>
          <a:xfrm>
            <a:off x="344488" y="1592840"/>
            <a:ext cx="9217025" cy="4785734"/>
            <a:chOff x="201528" y="1592840"/>
            <a:chExt cx="9502496" cy="4785734"/>
          </a:xfrm>
        </p:grpSpPr>
        <p:grpSp>
          <p:nvGrpSpPr>
            <p:cNvPr id="6" name="그룹 51"/>
            <p:cNvGrpSpPr/>
            <p:nvPr/>
          </p:nvGrpSpPr>
          <p:grpSpPr>
            <a:xfrm>
              <a:off x="201528" y="1592840"/>
              <a:ext cx="9502496" cy="4785734"/>
              <a:chOff x="200025" y="1592840"/>
              <a:chExt cx="4680967" cy="4785734"/>
            </a:xfrm>
          </p:grpSpPr>
          <p:sp>
            <p:nvSpPr>
              <p:cNvPr id="94" name="직사각형 93"/>
              <p:cNvSpPr/>
              <p:nvPr/>
            </p:nvSpPr>
            <p:spPr bwMode="auto">
              <a:xfrm>
                <a:off x="200025" y="1592840"/>
                <a:ext cx="4680967" cy="324000"/>
              </a:xfrm>
              <a:prstGeom prst="rect">
                <a:avLst/>
              </a:prstGeom>
              <a:solidFill>
                <a:srgbClr val="233C5A"/>
              </a:solidFill>
              <a:ln w="12699">
                <a:solidFill>
                  <a:srgbClr val="000000">
                    <a:lumMod val="50000"/>
                    <a:lumOff val="50000"/>
                  </a:srgbClr>
                </a:solidFill>
                <a:miter lim="800000"/>
                <a:headEnd/>
                <a:tailE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lIns="72000" tIns="72000" rIns="72000" bIns="72000" anchor="ctr"/>
              <a:lstStyle/>
              <a:p>
                <a:pPr algn="ctr" latinLnBrk="0">
                  <a:defRPr/>
                </a:pPr>
                <a:r>
                  <a:rPr lang="ko-KR" altLang="en-US" sz="1400" b="1" kern="0" dirty="0">
                    <a:solidFill>
                      <a:srgbClr val="FFFF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맑은 고딕" pitchFamily="50" charset="-127"/>
                    <a:ea typeface="맑은 고딕" pitchFamily="50" charset="-127"/>
                  </a:rPr>
                  <a:t>데이터 표준화 대상과 데이터 표준</a:t>
                </a:r>
              </a:p>
            </p:txBody>
          </p:sp>
          <p:sp>
            <p:nvSpPr>
              <p:cNvPr id="95" name="직사각형 94"/>
              <p:cNvSpPr/>
              <p:nvPr/>
            </p:nvSpPr>
            <p:spPr bwMode="auto">
              <a:xfrm>
                <a:off x="200025" y="1916831"/>
                <a:ext cx="4680967" cy="4461743"/>
              </a:xfrm>
              <a:prstGeom prst="rect">
                <a:avLst/>
              </a:prstGeom>
              <a:solidFill>
                <a:schemeClr val="bg1"/>
              </a:solidFill>
              <a:ln w="6350" cap="flat" cmpd="sng" algn="ctr">
                <a:solidFill>
                  <a:schemeClr val="tx1">
                    <a:lumMod val="50000"/>
                    <a:lumOff val="50000"/>
                  </a:schemeClr>
                </a:solidFill>
                <a:prstDash val="solid"/>
                <a:round/>
                <a:headEnd type="none" w="med" len="med"/>
                <a:tailEnd type="none" w="sm" len="sm"/>
              </a:ln>
              <a:effectLst>
                <a:outerShdw dist="25400" dir="2700000" algn="tl" rotWithShape="0">
                  <a:schemeClr val="bg1">
                    <a:lumMod val="50000"/>
                    <a:alpha val="40000"/>
                  </a:schemeClr>
                </a:outerShdw>
              </a:effectLst>
            </p:spPr>
            <p:txBody>
              <a:bodyPr vert="horz" wrap="square" lIns="108000" tIns="36000" rIns="72000" bIns="3600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182563" indent="-182563">
                  <a:spcBef>
                    <a:spcPts val="1200"/>
                  </a:spcBef>
                  <a:buClr>
                    <a:prstClr val="black"/>
                  </a:buClr>
                  <a:buFont typeface="Wingdings" pitchFamily="2" charset="2"/>
                  <a:buChar char="q"/>
                </a:pPr>
                <a:endParaRPr lang="en-US" altLang="ko-KR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endParaRPr>
              </a:p>
            </p:txBody>
          </p:sp>
        </p:grpSp>
        <p:sp>
          <p:nvSpPr>
            <p:cNvPr id="96" name="AutoShape 27"/>
            <p:cNvSpPr>
              <a:spLocks noChangeArrowheads="1"/>
            </p:cNvSpPr>
            <p:nvPr/>
          </p:nvSpPr>
          <p:spPr bwMode="auto">
            <a:xfrm>
              <a:off x="458392" y="4892318"/>
              <a:ext cx="1561726" cy="3993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  <a:prstDash val="sysDash"/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9pPr>
            </a:lstStyle>
            <a:p>
              <a:pPr>
                <a:defRPr/>
              </a:pPr>
              <a:r>
                <a:rPr lang="ko-KR" altLang="en-US" sz="1100" b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코드 데이터</a:t>
              </a:r>
            </a:p>
          </p:txBody>
        </p:sp>
        <p:sp>
          <p:nvSpPr>
            <p:cNvPr id="97" name="AutoShape 27"/>
            <p:cNvSpPr>
              <a:spLocks noChangeArrowheads="1"/>
            </p:cNvSpPr>
            <p:nvPr/>
          </p:nvSpPr>
          <p:spPr bwMode="auto">
            <a:xfrm>
              <a:off x="458392" y="5428615"/>
              <a:ext cx="1561726" cy="3993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  <a:prstDash val="sysDash"/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9pPr>
            </a:lstStyle>
            <a:p>
              <a:pPr>
                <a:defRPr/>
              </a:pPr>
              <a:r>
                <a:rPr lang="ko-KR" altLang="en-US" sz="1100" b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데이터 관련 도구</a:t>
              </a:r>
            </a:p>
          </p:txBody>
        </p:sp>
        <p:sp>
          <p:nvSpPr>
            <p:cNvPr id="98" name="AutoShape 27"/>
            <p:cNvSpPr>
              <a:spLocks noChangeArrowheads="1"/>
            </p:cNvSpPr>
            <p:nvPr/>
          </p:nvSpPr>
          <p:spPr bwMode="auto">
            <a:xfrm>
              <a:off x="458392" y="2747129"/>
              <a:ext cx="1561726" cy="3993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  <a:prstDash val="sysDash"/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9pPr>
            </a:lstStyle>
            <a:p>
              <a:pPr>
                <a:defRPr/>
              </a:pPr>
              <a:r>
                <a:rPr lang="ko-KR" altLang="en-US" sz="1100" b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단어 사전</a:t>
              </a:r>
            </a:p>
          </p:txBody>
        </p:sp>
        <p:sp>
          <p:nvSpPr>
            <p:cNvPr id="99" name="AutoShape 27"/>
            <p:cNvSpPr>
              <a:spLocks noChangeArrowheads="1"/>
            </p:cNvSpPr>
            <p:nvPr/>
          </p:nvSpPr>
          <p:spPr bwMode="auto">
            <a:xfrm>
              <a:off x="458392" y="3283426"/>
              <a:ext cx="1561726" cy="3993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  <a:prstDash val="sysDash"/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9pPr>
            </a:lstStyle>
            <a:p>
              <a:pPr>
                <a:defRPr/>
              </a:pPr>
              <a:r>
                <a:rPr lang="ko-KR" altLang="en-US" sz="1100" b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용어 사전</a:t>
              </a:r>
            </a:p>
          </p:txBody>
        </p:sp>
        <p:sp>
          <p:nvSpPr>
            <p:cNvPr id="100" name="AutoShape 27"/>
            <p:cNvSpPr>
              <a:spLocks noChangeArrowheads="1"/>
            </p:cNvSpPr>
            <p:nvPr/>
          </p:nvSpPr>
          <p:spPr bwMode="auto">
            <a:xfrm>
              <a:off x="458392" y="3819723"/>
              <a:ext cx="1561726" cy="3993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  <a:prstDash val="sysDash"/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9pPr>
            </a:lstStyle>
            <a:p>
              <a:pPr>
                <a:defRPr/>
              </a:pPr>
              <a:r>
                <a:rPr lang="ko-KR" altLang="en-US" sz="1100" b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도메인</a:t>
              </a:r>
            </a:p>
          </p:txBody>
        </p:sp>
        <p:sp>
          <p:nvSpPr>
            <p:cNvPr id="101" name="AutoShape 27"/>
            <p:cNvSpPr>
              <a:spLocks noChangeArrowheads="1"/>
            </p:cNvSpPr>
            <p:nvPr/>
          </p:nvSpPr>
          <p:spPr bwMode="auto">
            <a:xfrm>
              <a:off x="458392" y="4356021"/>
              <a:ext cx="1561726" cy="39933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  <a:prstDash val="sysDash"/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HY중고딕" pitchFamily="18" charset="-127"/>
                  <a:ea typeface="HY중고딕" pitchFamily="18" charset="-127"/>
                  <a:cs typeface="+mn-cs"/>
                </a:defRPr>
              </a:lvl9pPr>
            </a:lstStyle>
            <a:p>
              <a:pPr>
                <a:defRPr/>
              </a:pPr>
              <a:r>
                <a:rPr lang="ko-KR" altLang="en-US" sz="1100" b="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데이터 객체의 네이밍</a:t>
              </a:r>
            </a:p>
          </p:txBody>
        </p:sp>
        <p:sp>
          <p:nvSpPr>
            <p:cNvPr id="102" name="직사각형 101"/>
            <p:cNvSpPr/>
            <p:nvPr/>
          </p:nvSpPr>
          <p:spPr bwMode="auto">
            <a:xfrm>
              <a:off x="452500" y="2312876"/>
              <a:ext cx="1583858" cy="298005"/>
            </a:xfrm>
            <a:prstGeom prst="rect">
              <a:avLst/>
            </a:prstGeom>
            <a:solidFill>
              <a:srgbClr val="508CD2"/>
            </a:solidFill>
            <a:ln w="6350" cap="flat" cmpd="sng" algn="ctr">
              <a:solidFill>
                <a:srgbClr val="2377F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2000" tIns="0" rIns="7200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buClr>
                  <a:prstClr val="black"/>
                </a:buClr>
                <a:buSzPct val="90000"/>
              </a:pPr>
              <a:r>
                <a:rPr kumimoji="1" lang="ko-KR" altLang="en-US" sz="1200" spc="-50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데이터 표준화 대상</a:t>
              </a:r>
            </a:p>
          </p:txBody>
        </p:sp>
        <p:sp>
          <p:nvSpPr>
            <p:cNvPr id="103" name="AutoShape 27"/>
            <p:cNvSpPr>
              <a:spLocks noChangeArrowheads="1"/>
            </p:cNvSpPr>
            <p:nvPr/>
          </p:nvSpPr>
          <p:spPr bwMode="auto">
            <a:xfrm>
              <a:off x="3050680" y="4758243"/>
              <a:ext cx="1561726" cy="399338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>
              <a:solidFill>
                <a:schemeClr val="accent1">
                  <a:lumMod val="75000"/>
                </a:schemeClr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kumimoji="1" lang="ko-KR" altLang="en-US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표준 코드</a:t>
              </a:r>
            </a:p>
          </p:txBody>
        </p:sp>
        <p:sp>
          <p:nvSpPr>
            <p:cNvPr id="104" name="AutoShape 27"/>
            <p:cNvSpPr>
              <a:spLocks noChangeArrowheads="1"/>
            </p:cNvSpPr>
            <p:nvPr/>
          </p:nvSpPr>
          <p:spPr bwMode="auto">
            <a:xfrm>
              <a:off x="3050680" y="5428615"/>
              <a:ext cx="1561726" cy="399339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>
              <a:solidFill>
                <a:schemeClr val="accent1">
                  <a:lumMod val="75000"/>
                </a:schemeClr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kumimoji="1" lang="ko-KR" altLang="en-US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표준 데이터 도구</a:t>
              </a:r>
            </a:p>
          </p:txBody>
        </p:sp>
        <p:sp>
          <p:nvSpPr>
            <p:cNvPr id="105" name="AutoShape 27"/>
            <p:cNvSpPr>
              <a:spLocks noChangeArrowheads="1"/>
            </p:cNvSpPr>
            <p:nvPr/>
          </p:nvSpPr>
          <p:spPr bwMode="auto">
            <a:xfrm>
              <a:off x="3050680" y="2747129"/>
              <a:ext cx="1561726" cy="399338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>
              <a:solidFill>
                <a:schemeClr val="accent1">
                  <a:lumMod val="75000"/>
                </a:schemeClr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kumimoji="1" lang="ko-KR" altLang="en-US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표준 자료 사전</a:t>
              </a:r>
            </a:p>
          </p:txBody>
        </p:sp>
        <p:sp>
          <p:nvSpPr>
            <p:cNvPr id="106" name="AutoShape 27"/>
            <p:cNvSpPr>
              <a:spLocks noChangeArrowheads="1"/>
            </p:cNvSpPr>
            <p:nvPr/>
          </p:nvSpPr>
          <p:spPr bwMode="auto">
            <a:xfrm>
              <a:off x="3050680" y="3417500"/>
              <a:ext cx="1561726" cy="399339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>
              <a:solidFill>
                <a:schemeClr val="accent1">
                  <a:lumMod val="75000"/>
                </a:schemeClr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kumimoji="1" lang="ko-KR" altLang="en-US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표준 도메인</a:t>
              </a:r>
            </a:p>
          </p:txBody>
        </p:sp>
        <p:sp>
          <p:nvSpPr>
            <p:cNvPr id="107" name="AutoShape 27"/>
            <p:cNvSpPr>
              <a:spLocks noChangeArrowheads="1"/>
            </p:cNvSpPr>
            <p:nvPr/>
          </p:nvSpPr>
          <p:spPr bwMode="auto">
            <a:xfrm>
              <a:off x="3050680" y="4087872"/>
              <a:ext cx="1561726" cy="399338"/>
            </a:xfrm>
            <a:prstGeom prst="rect">
              <a:avLst/>
            </a:prstGeom>
            <a:solidFill>
              <a:schemeClr val="accent2">
                <a:lumMod val="90000"/>
              </a:schemeClr>
            </a:solidFill>
            <a:ln>
              <a:solidFill>
                <a:schemeClr val="accent1">
                  <a:lumMod val="75000"/>
                </a:schemeClr>
              </a:solidFill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wrap="none" anchor="ctr"/>
            <a:lstStyle/>
            <a:p>
              <a:pPr algn="ctr">
                <a:spcBef>
                  <a:spcPct val="0"/>
                </a:spcBef>
              </a:pPr>
              <a:r>
                <a:rPr kumimoji="1" lang="ko-KR" altLang="en-US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표준 네이밍 룰</a:t>
              </a:r>
            </a:p>
          </p:txBody>
        </p:sp>
        <p:sp>
          <p:nvSpPr>
            <p:cNvPr id="108" name="직사각형 107"/>
            <p:cNvSpPr/>
            <p:nvPr/>
          </p:nvSpPr>
          <p:spPr bwMode="auto">
            <a:xfrm>
              <a:off x="3044788" y="2312876"/>
              <a:ext cx="1583858" cy="298005"/>
            </a:xfrm>
            <a:prstGeom prst="rect">
              <a:avLst/>
            </a:prstGeom>
            <a:solidFill>
              <a:srgbClr val="508CD2"/>
            </a:solidFill>
            <a:ln w="6350" cap="flat" cmpd="sng" algn="ctr">
              <a:solidFill>
                <a:srgbClr val="2377F7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none" lIns="72000" tIns="0" rIns="72000" bIns="0" numCol="1" rtlCol="0" anchor="ctr" anchorCtr="0" compatLnSpc="1">
              <a:prstTxWarp prst="textNoShape">
                <a:avLst/>
              </a:prstTxWarp>
            </a:bodyPr>
            <a:lstStyle/>
            <a:p>
              <a:pPr algn="ctr">
                <a:buClr>
                  <a:prstClr val="black"/>
                </a:buClr>
                <a:buSzPct val="90000"/>
              </a:pPr>
              <a:r>
                <a:rPr kumimoji="1" lang="ko-KR" altLang="en-US" sz="1200" spc="-50" dirty="0">
                  <a:solidFill>
                    <a:prstClr val="white"/>
                  </a:solidFill>
                  <a:latin typeface="맑은 고딕" pitchFamily="50" charset="-127"/>
                  <a:ea typeface="맑은 고딕" pitchFamily="50" charset="-127"/>
                </a:rPr>
                <a:t>데이터 표준</a:t>
              </a:r>
            </a:p>
          </p:txBody>
        </p:sp>
        <p:cxnSp>
          <p:nvCxnSpPr>
            <p:cNvPr id="109" name="직선 연결선 108"/>
            <p:cNvCxnSpPr>
              <a:stCxn id="98" idx="3"/>
              <a:endCxn id="105" idx="1"/>
            </p:cNvCxnSpPr>
            <p:nvPr/>
          </p:nvCxnSpPr>
          <p:spPr bwMode="auto">
            <a:xfrm>
              <a:off x="2020118" y="2946798"/>
              <a:ext cx="1030562" cy="0"/>
            </a:xfrm>
            <a:prstGeom prst="line">
              <a:avLst/>
            </a:prstGeom>
            <a:solidFill>
              <a:srgbClr val="FBB779"/>
            </a:solidFill>
            <a:ln w="12700" cap="rnd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oval" w="med" len="med"/>
              <a:tailEnd type="oval" w="med" len="med"/>
            </a:ln>
            <a:effectLst/>
          </p:spPr>
        </p:cxnSp>
        <p:cxnSp>
          <p:nvCxnSpPr>
            <p:cNvPr id="110" name="직선 연결선 109"/>
            <p:cNvCxnSpPr>
              <a:stCxn id="99" idx="3"/>
              <a:endCxn id="105" idx="1"/>
            </p:cNvCxnSpPr>
            <p:nvPr/>
          </p:nvCxnSpPr>
          <p:spPr bwMode="auto">
            <a:xfrm flipV="1">
              <a:off x="2020118" y="2946798"/>
              <a:ext cx="1030562" cy="536297"/>
            </a:xfrm>
            <a:prstGeom prst="line">
              <a:avLst/>
            </a:prstGeom>
            <a:solidFill>
              <a:srgbClr val="FBB779"/>
            </a:solidFill>
            <a:ln w="12700" cap="rnd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oval" w="med" len="med"/>
              <a:tailEnd type="oval" w="med" len="med"/>
            </a:ln>
            <a:effectLst/>
          </p:spPr>
        </p:cxnSp>
        <p:cxnSp>
          <p:nvCxnSpPr>
            <p:cNvPr id="111" name="직선 연결선 110"/>
            <p:cNvCxnSpPr>
              <a:stCxn id="100" idx="3"/>
              <a:endCxn id="106" idx="1"/>
            </p:cNvCxnSpPr>
            <p:nvPr/>
          </p:nvCxnSpPr>
          <p:spPr bwMode="auto">
            <a:xfrm flipV="1">
              <a:off x="2020118" y="3617170"/>
              <a:ext cx="1030562" cy="402223"/>
            </a:xfrm>
            <a:prstGeom prst="line">
              <a:avLst/>
            </a:prstGeom>
            <a:solidFill>
              <a:srgbClr val="FBB779"/>
            </a:solidFill>
            <a:ln w="12700" cap="rnd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oval" w="med" len="med"/>
              <a:tailEnd type="oval" w="med" len="med"/>
            </a:ln>
            <a:effectLst/>
          </p:spPr>
        </p:cxnSp>
        <p:cxnSp>
          <p:nvCxnSpPr>
            <p:cNvPr id="112" name="직선 연결선 111"/>
            <p:cNvCxnSpPr>
              <a:stCxn id="101" idx="3"/>
              <a:endCxn id="107" idx="1"/>
            </p:cNvCxnSpPr>
            <p:nvPr/>
          </p:nvCxnSpPr>
          <p:spPr bwMode="auto">
            <a:xfrm flipV="1">
              <a:off x="2020118" y="4287541"/>
              <a:ext cx="1030562" cy="268149"/>
            </a:xfrm>
            <a:prstGeom prst="line">
              <a:avLst/>
            </a:prstGeom>
            <a:solidFill>
              <a:srgbClr val="FBB779"/>
            </a:solidFill>
            <a:ln w="12700" cap="rnd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oval" w="med" len="med"/>
              <a:tailEnd type="oval" w="med" len="med"/>
            </a:ln>
            <a:effectLst/>
          </p:spPr>
        </p:cxnSp>
        <p:cxnSp>
          <p:nvCxnSpPr>
            <p:cNvPr id="113" name="직선 연결선 112"/>
            <p:cNvCxnSpPr>
              <a:stCxn id="96" idx="3"/>
              <a:endCxn id="103" idx="1"/>
            </p:cNvCxnSpPr>
            <p:nvPr/>
          </p:nvCxnSpPr>
          <p:spPr bwMode="auto">
            <a:xfrm flipV="1">
              <a:off x="2020118" y="4957912"/>
              <a:ext cx="1030562" cy="134075"/>
            </a:xfrm>
            <a:prstGeom prst="line">
              <a:avLst/>
            </a:prstGeom>
            <a:solidFill>
              <a:srgbClr val="FBB779"/>
            </a:solidFill>
            <a:ln w="12700" cap="rnd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oval" w="med" len="med"/>
              <a:tailEnd type="oval" w="med" len="med"/>
            </a:ln>
            <a:effectLst/>
          </p:spPr>
        </p:cxnSp>
        <p:cxnSp>
          <p:nvCxnSpPr>
            <p:cNvPr id="114" name="직선 연결선 113"/>
            <p:cNvCxnSpPr>
              <a:stCxn id="97" idx="3"/>
              <a:endCxn id="104" idx="1"/>
            </p:cNvCxnSpPr>
            <p:nvPr/>
          </p:nvCxnSpPr>
          <p:spPr bwMode="auto">
            <a:xfrm>
              <a:off x="2020118" y="5628285"/>
              <a:ext cx="1030562" cy="0"/>
            </a:xfrm>
            <a:prstGeom prst="line">
              <a:avLst/>
            </a:prstGeom>
            <a:solidFill>
              <a:srgbClr val="FBB779"/>
            </a:solidFill>
            <a:ln w="12700" cap="rnd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oval" w="med" len="med"/>
              <a:tailEnd type="oval" w="med" len="med"/>
            </a:ln>
            <a:effectLst/>
          </p:spPr>
        </p:cxnSp>
        <p:sp>
          <p:nvSpPr>
            <p:cNvPr id="115" name="원통 114"/>
            <p:cNvSpPr/>
            <p:nvPr/>
          </p:nvSpPr>
          <p:spPr>
            <a:xfrm>
              <a:off x="5508807" y="3638743"/>
              <a:ext cx="972108" cy="1053117"/>
            </a:xfrm>
            <a:prstGeom prst="can">
              <a:avLst/>
            </a:prstGeom>
            <a:gradFill flip="none" rotWithShape="1">
              <a:gsLst>
                <a:gs pos="0">
                  <a:schemeClr val="accent1">
                    <a:tint val="66000"/>
                    <a:satMod val="160000"/>
                  </a:schemeClr>
                </a:gs>
                <a:gs pos="50000">
                  <a:schemeClr val="accent1">
                    <a:tint val="44500"/>
                    <a:satMod val="160000"/>
                  </a:schemeClr>
                </a:gs>
                <a:gs pos="100000">
                  <a:schemeClr val="accent1">
                    <a:tint val="23500"/>
                    <a:satMod val="160000"/>
                  </a:schemeClr>
                </a:gs>
              </a:gsLst>
              <a:lin ang="10800000" scaled="1"/>
              <a:tileRect/>
            </a:gradFill>
            <a:ln>
              <a:solidFill>
                <a:schemeClr val="bg1">
                  <a:lumMod val="50000"/>
                </a:schemeClr>
              </a:solidFill>
            </a:ln>
          </p:spPr>
          <p:txBody>
            <a:bodyPr vert="horz" wrap="square" lIns="72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algn="ctr"/>
              <a:r>
                <a:rPr lang="ko-KR" altLang="en-US" sz="12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맑은 고딕" pitchFamily="50" charset="-127"/>
                  <a:ea typeface="맑은 고딕" pitchFamily="50" charset="-127"/>
                </a:rPr>
                <a:t>메타데이터</a:t>
              </a:r>
              <a:r>
                <a:rPr lang="en-US" altLang="ko-KR" sz="12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맑은 고딕" pitchFamily="50" charset="-127"/>
                  <a:ea typeface="맑은 고딕" pitchFamily="50" charset="-127"/>
                </a:rPr>
                <a:t> </a:t>
              </a:r>
              <a:r>
                <a:rPr lang="ko-KR" altLang="en-US" sz="1200" dirty="0">
                  <a:solidFill>
                    <a:srgbClr val="000000">
                      <a:lumMod val="85000"/>
                      <a:lumOff val="15000"/>
                    </a:srgbClr>
                  </a:solidFill>
                  <a:latin typeface="맑은 고딕" pitchFamily="50" charset="-127"/>
                  <a:ea typeface="맑은 고딕" pitchFamily="50" charset="-127"/>
                </a:rPr>
                <a:t>리파지토리</a:t>
              </a:r>
            </a:p>
          </p:txBody>
        </p:sp>
        <p:cxnSp>
          <p:nvCxnSpPr>
            <p:cNvPr id="116" name="직선 연결선 115"/>
            <p:cNvCxnSpPr>
              <a:stCxn id="105" idx="3"/>
              <a:endCxn id="115" idx="2"/>
            </p:cNvCxnSpPr>
            <p:nvPr/>
          </p:nvCxnSpPr>
          <p:spPr bwMode="auto">
            <a:xfrm>
              <a:off x="4612406" y="2946798"/>
              <a:ext cx="896401" cy="1218504"/>
            </a:xfrm>
            <a:prstGeom prst="line">
              <a:avLst/>
            </a:prstGeom>
            <a:solidFill>
              <a:srgbClr val="FBB779"/>
            </a:solidFill>
            <a:ln w="12700" cap="rnd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oval" w="med" len="med"/>
              <a:tailEnd type="oval" w="med" len="med"/>
            </a:ln>
            <a:effectLst/>
          </p:spPr>
        </p:cxnSp>
        <p:cxnSp>
          <p:nvCxnSpPr>
            <p:cNvPr id="117" name="직선 연결선 116"/>
            <p:cNvCxnSpPr>
              <a:stCxn id="107" idx="3"/>
              <a:endCxn id="115" idx="2"/>
            </p:cNvCxnSpPr>
            <p:nvPr/>
          </p:nvCxnSpPr>
          <p:spPr bwMode="auto">
            <a:xfrm flipV="1">
              <a:off x="4612406" y="4165302"/>
              <a:ext cx="896401" cy="122239"/>
            </a:xfrm>
            <a:prstGeom prst="line">
              <a:avLst/>
            </a:prstGeom>
            <a:solidFill>
              <a:srgbClr val="FBB779"/>
            </a:solidFill>
            <a:ln w="12700" cap="rnd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oval" w="med" len="med"/>
              <a:tailEnd type="oval" w="med" len="med"/>
            </a:ln>
            <a:effectLst/>
          </p:spPr>
        </p:cxnSp>
        <p:cxnSp>
          <p:nvCxnSpPr>
            <p:cNvPr id="118" name="직선 연결선 117"/>
            <p:cNvCxnSpPr>
              <a:stCxn id="106" idx="3"/>
              <a:endCxn id="115" idx="2"/>
            </p:cNvCxnSpPr>
            <p:nvPr/>
          </p:nvCxnSpPr>
          <p:spPr bwMode="auto">
            <a:xfrm>
              <a:off x="4612406" y="3617170"/>
              <a:ext cx="896401" cy="548132"/>
            </a:xfrm>
            <a:prstGeom prst="line">
              <a:avLst/>
            </a:prstGeom>
            <a:solidFill>
              <a:srgbClr val="FBB779"/>
            </a:solidFill>
            <a:ln w="12700" cap="rnd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oval" w="med" len="med"/>
              <a:tailEnd type="oval" w="med" len="med"/>
            </a:ln>
            <a:effectLst/>
          </p:spPr>
        </p:cxnSp>
        <p:cxnSp>
          <p:nvCxnSpPr>
            <p:cNvPr id="119" name="직선 연결선 118"/>
            <p:cNvCxnSpPr>
              <a:stCxn id="103" idx="3"/>
              <a:endCxn id="115" idx="2"/>
            </p:cNvCxnSpPr>
            <p:nvPr/>
          </p:nvCxnSpPr>
          <p:spPr bwMode="auto">
            <a:xfrm flipV="1">
              <a:off x="4612406" y="4165302"/>
              <a:ext cx="896401" cy="792610"/>
            </a:xfrm>
            <a:prstGeom prst="line">
              <a:avLst/>
            </a:prstGeom>
            <a:solidFill>
              <a:srgbClr val="FBB779"/>
            </a:solidFill>
            <a:ln w="12700" cap="rnd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oval" w="med" len="med"/>
              <a:tailEnd type="oval" w="med" len="med"/>
            </a:ln>
            <a:effectLst/>
          </p:spPr>
        </p:cxnSp>
        <p:cxnSp>
          <p:nvCxnSpPr>
            <p:cNvPr id="120" name="직선 연결선 119"/>
            <p:cNvCxnSpPr>
              <a:stCxn id="104" idx="3"/>
              <a:endCxn id="115" idx="2"/>
            </p:cNvCxnSpPr>
            <p:nvPr/>
          </p:nvCxnSpPr>
          <p:spPr bwMode="auto">
            <a:xfrm flipV="1">
              <a:off x="4612406" y="4165302"/>
              <a:ext cx="896401" cy="1462983"/>
            </a:xfrm>
            <a:prstGeom prst="line">
              <a:avLst/>
            </a:prstGeom>
            <a:solidFill>
              <a:srgbClr val="FBB779"/>
            </a:solidFill>
            <a:ln w="12700" cap="rnd" cmpd="sng" algn="ctr">
              <a:solidFill>
                <a:schemeClr val="accent1">
                  <a:lumMod val="75000"/>
                </a:schemeClr>
              </a:solidFill>
              <a:prstDash val="solid"/>
              <a:round/>
              <a:headEnd type="oval" w="med" len="med"/>
              <a:tailEnd type="oval" w="med" len="med"/>
            </a:ln>
            <a:effectLst/>
          </p:spPr>
        </p:cxnSp>
        <p:sp>
          <p:nvSpPr>
            <p:cNvPr id="121" name="Rectangle 99"/>
            <p:cNvSpPr>
              <a:spLocks noChangeArrowheads="1"/>
            </p:cNvSpPr>
            <p:nvPr/>
          </p:nvSpPr>
          <p:spPr bwMode="auto">
            <a:xfrm>
              <a:off x="8837613" y="2948029"/>
              <a:ext cx="530891" cy="1428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  <a:effectLst/>
            <a:extLst/>
          </p:spPr>
          <p:txBody>
            <a:bodyPr wrap="none" anchor="ctr"/>
            <a:lstStyle/>
            <a:p>
              <a:pPr algn="ctr"/>
              <a:endParaRPr lang="ko-KR" altLang="en-US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2" name="AutoShape 6"/>
            <p:cNvSpPr>
              <a:spLocks noChangeArrowheads="1"/>
            </p:cNvSpPr>
            <p:nvPr/>
          </p:nvSpPr>
          <p:spPr bwMode="auto">
            <a:xfrm>
              <a:off x="7042138" y="2861639"/>
              <a:ext cx="2519374" cy="70414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08000" tIns="0" rIns="108000" bIns="0" anchor="ctr"/>
            <a:lstStyle/>
            <a:p>
              <a:pPr algn="ctr" defTabSz="1025315"/>
              <a:r>
                <a:rPr kumimoji="1" lang="ko-KR" altLang="en-US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엔티티의 공통 속성</a:t>
              </a:r>
              <a:r>
                <a:rPr kumimoji="1" lang="en-US" altLang="ko-KR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(</a:t>
              </a:r>
              <a:r>
                <a:rPr kumimoji="1" lang="ko-KR" altLang="en-US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데이터 타입</a:t>
              </a:r>
              <a:r>
                <a:rPr kumimoji="1" lang="en-US" altLang="ko-KR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1" lang="ko-KR" altLang="en-US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데이터 사이즈</a:t>
              </a:r>
              <a:r>
                <a:rPr kumimoji="1" lang="en-US" altLang="ko-KR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1" lang="ko-KR" altLang="en-US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제약조건</a:t>
              </a:r>
              <a:r>
                <a:rPr kumimoji="1" lang="en-US" altLang="ko-KR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1" lang="ko-KR" altLang="en-US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검증 조건</a:t>
              </a:r>
              <a:r>
                <a:rPr kumimoji="1" lang="en-US" altLang="ko-KR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)</a:t>
              </a:r>
              <a:r>
                <a:rPr kumimoji="1" lang="ko-KR" altLang="en-US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을 정의</a:t>
              </a:r>
            </a:p>
          </p:txBody>
        </p:sp>
        <p:sp>
          <p:nvSpPr>
            <p:cNvPr id="123" name="타원 122"/>
            <p:cNvSpPr/>
            <p:nvPr/>
          </p:nvSpPr>
          <p:spPr bwMode="auto">
            <a:xfrm>
              <a:off x="6942504" y="3117198"/>
              <a:ext cx="216024" cy="216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19050"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none" lIns="72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85725" indent="-85725" algn="ctr">
                <a:spcBef>
                  <a:spcPts val="600"/>
                </a:spcBef>
                <a:buClr>
                  <a:srgbClr val="000000"/>
                </a:buClr>
                <a:buSzPct val="90000"/>
              </a:pPr>
              <a:r>
                <a:rPr lang="en-US" altLang="ko-KR" sz="1100" dirty="0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rPr>
                <a:t>2</a:t>
              </a:r>
              <a:endParaRPr lang="ko-KR" altLang="en-US" sz="110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4" name="AutoShape 6"/>
            <p:cNvSpPr>
              <a:spLocks noChangeArrowheads="1"/>
            </p:cNvSpPr>
            <p:nvPr/>
          </p:nvSpPr>
          <p:spPr bwMode="auto">
            <a:xfrm>
              <a:off x="7042138" y="3716343"/>
              <a:ext cx="2519374" cy="637226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08000" tIns="0" rIns="108000" bIns="0" anchor="ctr"/>
            <a:lstStyle/>
            <a:p>
              <a:pPr algn="ctr" defTabSz="1025315"/>
              <a:r>
                <a:rPr kumimoji="1" lang="ko-KR" altLang="en-US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데이터 객체</a:t>
              </a:r>
              <a:r>
                <a:rPr kumimoji="1" lang="en-US" altLang="ko-KR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1" lang="ko-KR" altLang="en-US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논리 모델</a:t>
              </a:r>
              <a:r>
                <a:rPr kumimoji="1" lang="en-US" altLang="ko-KR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1" lang="ko-KR" altLang="en-US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물리 모델에 적용하는 명명 규칙 정의</a:t>
              </a:r>
            </a:p>
          </p:txBody>
        </p:sp>
        <p:sp>
          <p:nvSpPr>
            <p:cNvPr id="125" name="타원 124"/>
            <p:cNvSpPr/>
            <p:nvPr/>
          </p:nvSpPr>
          <p:spPr bwMode="auto">
            <a:xfrm>
              <a:off x="6942504" y="3938444"/>
              <a:ext cx="216024" cy="216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19050"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none" lIns="72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85725" indent="-85725" algn="ctr">
                <a:spcBef>
                  <a:spcPts val="600"/>
                </a:spcBef>
                <a:buClr>
                  <a:srgbClr val="000000"/>
                </a:buClr>
                <a:buSzPct val="90000"/>
              </a:pPr>
              <a:r>
                <a:rPr lang="en-US" altLang="ko-KR" sz="1100" dirty="0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rPr>
                <a:t>3</a:t>
              </a:r>
              <a:endParaRPr lang="ko-KR" altLang="en-US" sz="110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6" name="AutoShape 6"/>
            <p:cNvSpPr>
              <a:spLocks noChangeArrowheads="1"/>
            </p:cNvSpPr>
            <p:nvPr/>
          </p:nvSpPr>
          <p:spPr bwMode="auto">
            <a:xfrm>
              <a:off x="7042138" y="4504131"/>
              <a:ext cx="2519374" cy="918070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08000" tIns="0" rIns="108000" bIns="0" anchor="ctr"/>
            <a:lstStyle/>
            <a:p>
              <a:pPr algn="ctr" defTabSz="1025315"/>
              <a:r>
                <a:rPr kumimoji="1" lang="ko-KR" altLang="en-US" sz="110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경영정보시스템 </a:t>
              </a:r>
              <a:r>
                <a:rPr kumimoji="1" lang="ko-KR" altLang="en-US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표준 코드 체계와 표준 코드 목록을 정의</a:t>
              </a:r>
            </a:p>
          </p:txBody>
        </p:sp>
        <p:sp>
          <p:nvSpPr>
            <p:cNvPr id="127" name="타원 126"/>
            <p:cNvSpPr/>
            <p:nvPr/>
          </p:nvSpPr>
          <p:spPr bwMode="auto">
            <a:xfrm>
              <a:off x="6942504" y="4866654"/>
              <a:ext cx="216024" cy="216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19050"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none" lIns="72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85725" indent="-85725" algn="ctr">
                <a:spcBef>
                  <a:spcPts val="600"/>
                </a:spcBef>
                <a:buClr>
                  <a:srgbClr val="000000"/>
                </a:buClr>
                <a:buSzPct val="90000"/>
              </a:pPr>
              <a:r>
                <a:rPr lang="en-US" altLang="ko-KR" sz="1100" dirty="0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rPr>
                <a:t>4</a:t>
              </a:r>
              <a:endParaRPr lang="ko-KR" altLang="en-US" sz="110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8" name="AutoShape 6"/>
            <p:cNvSpPr>
              <a:spLocks noChangeArrowheads="1"/>
            </p:cNvSpPr>
            <p:nvPr/>
          </p:nvSpPr>
          <p:spPr bwMode="auto">
            <a:xfrm>
              <a:off x="7042138" y="5572764"/>
              <a:ext cx="2519374" cy="70055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08000" tIns="0" rIns="108000" bIns="0" anchor="ctr"/>
            <a:lstStyle/>
            <a:p>
              <a:pPr algn="ctr" defTabSz="1025315"/>
              <a:r>
                <a:rPr kumimoji="1" lang="ko-KR" altLang="en-US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데이터 관리</a:t>
              </a:r>
              <a:r>
                <a:rPr kumimoji="1" lang="en-US" altLang="ko-KR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, </a:t>
              </a:r>
              <a:r>
                <a:rPr kumimoji="1" lang="ko-KR" altLang="en-US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개발에 사용되는 표준 데이터 도구를 정의</a:t>
              </a:r>
            </a:p>
          </p:txBody>
        </p:sp>
        <p:sp>
          <p:nvSpPr>
            <p:cNvPr id="129" name="타원 128"/>
            <p:cNvSpPr/>
            <p:nvPr/>
          </p:nvSpPr>
          <p:spPr bwMode="auto">
            <a:xfrm>
              <a:off x="6942504" y="5826528"/>
              <a:ext cx="216024" cy="216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19050"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none" lIns="72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85725" indent="-85725" algn="ctr">
                <a:spcBef>
                  <a:spcPts val="600"/>
                </a:spcBef>
                <a:buClr>
                  <a:srgbClr val="000000"/>
                </a:buClr>
                <a:buSzPct val="90000"/>
              </a:pPr>
              <a:r>
                <a:rPr lang="en-US" altLang="ko-KR" sz="1100" dirty="0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rPr>
                <a:t>5</a:t>
              </a:r>
              <a:endParaRPr lang="ko-KR" altLang="en-US" sz="110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0" name="AutoShape 6"/>
            <p:cNvSpPr>
              <a:spLocks noChangeArrowheads="1"/>
            </p:cNvSpPr>
            <p:nvPr/>
          </p:nvSpPr>
          <p:spPr bwMode="auto">
            <a:xfrm>
              <a:off x="7042138" y="2023411"/>
              <a:ext cx="2519374" cy="70414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08000" tIns="0" rIns="108000" bIns="0" anchor="ctr"/>
            <a:lstStyle/>
            <a:p>
              <a:pPr algn="ctr" defTabSz="1025315"/>
              <a:r>
                <a:rPr kumimoji="1" lang="ko-KR" altLang="en-US" sz="1100" smtClean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경영정보시스템 </a:t>
              </a:r>
              <a:r>
                <a:rPr kumimoji="1" lang="ko-KR" altLang="en-US" sz="1100" dirty="0">
                  <a:solidFill>
                    <a:srgbClr val="000000"/>
                  </a:solidFill>
                  <a:latin typeface="맑은 고딕" pitchFamily="50" charset="-127"/>
                  <a:ea typeface="맑은 고딕" pitchFamily="50" charset="-127"/>
                </a:rPr>
                <a:t>구축 시 데이터 객체의 명명 시 적용하는 단어사전과 용어사전</a:t>
              </a:r>
            </a:p>
          </p:txBody>
        </p:sp>
        <p:sp>
          <p:nvSpPr>
            <p:cNvPr id="131" name="타원 130"/>
            <p:cNvSpPr/>
            <p:nvPr/>
          </p:nvSpPr>
          <p:spPr bwMode="auto">
            <a:xfrm>
              <a:off x="6942504" y="2278970"/>
              <a:ext cx="216024" cy="216000"/>
            </a:xfrm>
            <a:prstGeom prst="ellipse">
              <a:avLst/>
            </a:prstGeom>
            <a:solidFill>
              <a:schemeClr val="accent1">
                <a:lumMod val="50000"/>
              </a:schemeClr>
            </a:solidFill>
            <a:ln w="19050">
              <a:headEnd type="none" w="med" len="med"/>
              <a:tailEnd type="none" w="med" len="med"/>
            </a:ln>
          </p:spPr>
          <p:style>
            <a:lnRef idx="3">
              <a:schemeClr val="lt1"/>
            </a:lnRef>
            <a:fillRef idx="1">
              <a:schemeClr val="accent5"/>
            </a:fillRef>
            <a:effectRef idx="1">
              <a:schemeClr val="accent5"/>
            </a:effectRef>
            <a:fontRef idx="minor">
              <a:schemeClr val="lt1"/>
            </a:fontRef>
          </p:style>
          <p:txBody>
            <a:bodyPr vert="horz" wrap="none" lIns="72000" tIns="36000" rIns="72000" bIns="36000" numCol="1" rtlCol="0" anchor="ctr" anchorCtr="0" compatLnSpc="1">
              <a:prstTxWarp prst="textNoShape">
                <a:avLst/>
              </a:prstTxWarp>
            </a:bodyPr>
            <a:lstStyle/>
            <a:p>
              <a:pPr marL="85725" indent="-85725" algn="ctr">
                <a:spcBef>
                  <a:spcPts val="600"/>
                </a:spcBef>
                <a:buClr>
                  <a:srgbClr val="000000"/>
                </a:buClr>
                <a:buSzPct val="90000"/>
              </a:pPr>
              <a:r>
                <a:rPr lang="en-US" altLang="ko-KR" sz="1100" dirty="0">
                  <a:solidFill>
                    <a:srgbClr val="FFFFFF"/>
                  </a:solidFill>
                  <a:latin typeface="맑은 고딕" pitchFamily="50" charset="-127"/>
                  <a:ea typeface="맑은 고딕" pitchFamily="50" charset="-127"/>
                </a:rPr>
                <a:t>1</a:t>
              </a:r>
              <a:endParaRPr lang="ko-KR" altLang="en-US" sz="1100" dirty="0">
                <a:solidFill>
                  <a:srgbClr val="FFFFFF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2" name="AutoShape 12"/>
            <p:cNvSpPr>
              <a:spLocks noChangeArrowheads="1"/>
            </p:cNvSpPr>
            <p:nvPr/>
          </p:nvSpPr>
          <p:spPr bwMode="auto">
            <a:xfrm rot="5400000">
              <a:off x="4890652" y="4121266"/>
              <a:ext cx="3570248" cy="277200"/>
            </a:xfrm>
            <a:prstGeom prst="triangle">
              <a:avLst>
                <a:gd name="adj" fmla="val 50000"/>
              </a:avLst>
            </a:prstGeom>
            <a:gradFill rotWithShape="1">
              <a:gsLst>
                <a:gs pos="0">
                  <a:schemeClr val="accent1"/>
                </a:gs>
                <a:gs pos="100000">
                  <a:srgbClr val="FFFFFF"/>
                </a:gs>
              </a:gsLst>
              <a:lin ang="5400000" scaled="1"/>
            </a:gradFill>
            <a:ln w="6350" algn="ctr">
              <a:noFill/>
              <a:miter lim="800000"/>
              <a:headEnd/>
              <a:tailEnd type="none" w="sm" len="sm"/>
            </a:ln>
            <a:effectLst/>
          </p:spPr>
          <p:txBody>
            <a:bodyPr wrap="none" lIns="0" tIns="0" rIns="0" bIns="0" anchor="ctr"/>
            <a:lstStyle/>
            <a:p>
              <a:endParaRPr lang="ko-KR" altLang="en-US" kern="0" dirty="0">
                <a:solidFill>
                  <a:sysClr val="windowText" lastClr="000000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3" name="AutoShape 88"/>
            <p:cNvSpPr>
              <a:spLocks noChangeAspect="1" noChangeArrowheads="1"/>
            </p:cNvSpPr>
            <p:nvPr/>
          </p:nvSpPr>
          <p:spPr bwMode="auto">
            <a:xfrm>
              <a:off x="4802533" y="2498647"/>
              <a:ext cx="624334" cy="3487559"/>
            </a:xfrm>
            <a:prstGeom prst="rightArrow">
              <a:avLst>
                <a:gd name="adj1" fmla="val 74847"/>
                <a:gd name="adj2" fmla="val 49627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2">
                    <a:lumMod val="95000"/>
                    <a:lumOff val="5000"/>
                  </a:schemeClr>
                </a:gs>
                <a:gs pos="100000">
                  <a:schemeClr val="accent2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/>
            <a:extLst/>
          </p:spPr>
          <p:txBody>
            <a:bodyPr vert="eaVert" wrap="none" lIns="144000" anchor="ctr"/>
            <a:lstStyle/>
            <a:p>
              <a:pPr algn="ctr">
                <a:spcBef>
                  <a:spcPct val="0"/>
                </a:spcBef>
              </a:pPr>
              <a:r>
                <a:rPr kumimoji="1" lang="ko-KR" altLang="en-US" sz="1400" dirty="0">
                  <a:solidFill>
                    <a:srgbClr val="BEDCFF">
                      <a:lumMod val="25000"/>
                    </a:srgbClr>
                  </a:solidFill>
                  <a:latin typeface="맑은 고딕" pitchFamily="50" charset="-127"/>
                  <a:ea typeface="맑은 고딕" pitchFamily="50" charset="-127"/>
                </a:rPr>
                <a:t>메타 데이터리파지토리 저장</a:t>
              </a:r>
            </a:p>
          </p:txBody>
        </p:sp>
        <p:sp>
          <p:nvSpPr>
            <p:cNvPr id="134" name="AutoShape 88"/>
            <p:cNvSpPr>
              <a:spLocks noChangeAspect="1" noChangeArrowheads="1"/>
            </p:cNvSpPr>
            <p:nvPr/>
          </p:nvSpPr>
          <p:spPr bwMode="auto">
            <a:xfrm>
              <a:off x="2250336" y="2553511"/>
              <a:ext cx="624334" cy="3487559"/>
            </a:xfrm>
            <a:prstGeom prst="rightArrow">
              <a:avLst>
                <a:gd name="adj1" fmla="val 74847"/>
                <a:gd name="adj2" fmla="val 49627"/>
              </a:avLst>
            </a:prstGeom>
            <a:gradFill flip="none" rotWithShape="1">
              <a:gsLst>
                <a:gs pos="0">
                  <a:schemeClr val="accent2">
                    <a:lumMod val="40000"/>
                    <a:lumOff val="60000"/>
                  </a:schemeClr>
                </a:gs>
                <a:gs pos="46000">
                  <a:schemeClr val="accent2">
                    <a:lumMod val="95000"/>
                    <a:lumOff val="5000"/>
                  </a:schemeClr>
                </a:gs>
                <a:gs pos="100000">
                  <a:schemeClr val="accent2">
                    <a:lumMod val="6000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  <a:effectLst/>
            <a:extLst/>
          </p:spPr>
          <p:txBody>
            <a:bodyPr vert="eaVert" wrap="none" lIns="144000" anchor="ctr"/>
            <a:lstStyle/>
            <a:p>
              <a:pPr algn="ctr">
                <a:spcBef>
                  <a:spcPct val="0"/>
                </a:spcBef>
              </a:pPr>
              <a:r>
                <a:rPr kumimoji="1" lang="ko-KR" altLang="en-US" sz="1400" dirty="0">
                  <a:solidFill>
                    <a:srgbClr val="BEDCFF">
                      <a:lumMod val="25000"/>
                    </a:srgbClr>
                  </a:solidFill>
                  <a:latin typeface="맑은 고딕" pitchFamily="50" charset="-127"/>
                  <a:ea typeface="맑은 고딕" pitchFamily="50" charset="-127"/>
                </a:rPr>
                <a:t>데이터 표준화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298835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r>
              <a:rPr lang="ko-KR" altLang="en-US" smtClean="0"/>
              <a:t>분산 운영되고 있는 시스템을 통합하기 가장 먼제 </a:t>
            </a:r>
            <a:r>
              <a:rPr lang="en-US" altLang="ko-KR" smtClean="0"/>
              <a:t>DATABASE</a:t>
            </a:r>
            <a:r>
              <a:rPr lang="ko-KR" altLang="en-US" smtClean="0"/>
              <a:t>를 표준화하여 통합하고</a:t>
            </a:r>
            <a:r>
              <a:rPr lang="en-US" altLang="ko-KR" smtClean="0"/>
              <a:t>, </a:t>
            </a:r>
            <a:r>
              <a:rPr lang="ko-KR" altLang="en-US" smtClean="0"/>
              <a:t>현재 분산되어 있는 데이터를 목표시스템에 부합하도록 마이그레이션을 수행하여 목표시스템이 요구하는 데이터의 품질을 충족하여야 한다</a:t>
            </a:r>
            <a:r>
              <a:rPr lang="en-US" altLang="ko-KR" smtClean="0"/>
              <a:t>. 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mtClean="0"/>
              <a:t>3.7 </a:t>
            </a:r>
            <a:r>
              <a:rPr lang="ko-KR" altLang="en-US"/>
              <a:t>데이터 마이그레이션</a:t>
            </a:r>
            <a:r>
              <a:rPr lang="ko-KR" altLang="en-US" spc="-150"/>
              <a:t> </a:t>
            </a:r>
            <a:r>
              <a:rPr lang="ko-KR" altLang="en-US" smtClean="0"/>
              <a:t>방안 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 </a:t>
            </a:r>
            <a:endParaRPr lang="ko-KR" altLang="en-US" sz="18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ts val="288"/>
              </a:spcBef>
            </a:pPr>
            <a:r>
              <a:rPr lang="en-US" altLang="ko-KR">
                <a:solidFill>
                  <a:prstClr val="black"/>
                </a:solidFill>
              </a:rPr>
              <a:t>Ⅲ. </a:t>
            </a:r>
            <a:r>
              <a:rPr lang="ko-KR" altLang="en-US">
                <a:solidFill>
                  <a:prstClr val="black"/>
                </a:solidFill>
              </a:rPr>
              <a:t>목표모델 설계</a:t>
            </a:r>
            <a:endParaRPr lang="en-US" altLang="ko-KR">
              <a:solidFill>
                <a:prstClr val="black"/>
              </a:solidFill>
            </a:endParaRPr>
          </a:p>
          <a:p>
            <a:pPr>
              <a:spcBef>
                <a:spcPts val="288"/>
              </a:spcBef>
            </a:pPr>
            <a:r>
              <a:rPr lang="en-US" altLang="ko-KR">
                <a:solidFill>
                  <a:prstClr val="black"/>
                </a:solidFill>
              </a:rPr>
              <a:t>3. </a:t>
            </a:r>
            <a:r>
              <a:rPr lang="ko-KR" altLang="en-US">
                <a:solidFill>
                  <a:prstClr val="black"/>
                </a:solidFill>
              </a:rPr>
              <a:t>업무별 개선안 설계</a:t>
            </a:r>
            <a:endParaRPr lang="en-US" altLang="ko-KR">
              <a:solidFill>
                <a:prstClr val="black"/>
              </a:solidFill>
            </a:endParaRPr>
          </a:p>
          <a:p>
            <a:r>
              <a:rPr lang="en-US" altLang="ko-KR" smtClean="0"/>
              <a:t>3.7 </a:t>
            </a:r>
            <a:r>
              <a:rPr lang="ko-KR" altLang="en-US" smtClean="0"/>
              <a:t>데이터 마이그레이션 </a:t>
            </a:r>
            <a:r>
              <a:rPr lang="ko-KR" altLang="en-US"/>
              <a:t>방안</a:t>
            </a:r>
            <a:endParaRPr lang="en-US" altLang="ko-KR" dirty="0"/>
          </a:p>
        </p:txBody>
      </p:sp>
      <p:grpSp>
        <p:nvGrpSpPr>
          <p:cNvPr id="60" name="그룹 93"/>
          <p:cNvGrpSpPr/>
          <p:nvPr/>
        </p:nvGrpSpPr>
        <p:grpSpPr>
          <a:xfrm>
            <a:off x="344488" y="1700808"/>
            <a:ext cx="9217025" cy="4677766"/>
            <a:chOff x="200025" y="1592840"/>
            <a:chExt cx="4680967" cy="4785734"/>
          </a:xfrm>
        </p:grpSpPr>
        <p:sp>
          <p:nvSpPr>
            <p:cNvPr id="109" name="직사각형 108"/>
            <p:cNvSpPr/>
            <p:nvPr/>
          </p:nvSpPr>
          <p:spPr bwMode="auto">
            <a:xfrm>
              <a:off x="200025" y="1592840"/>
              <a:ext cx="4680967" cy="324000"/>
            </a:xfrm>
            <a:prstGeom prst="rect">
              <a:avLst/>
            </a:prstGeom>
            <a:solidFill>
              <a:srgbClr val="233C5A"/>
            </a:solidFill>
            <a:ln w="12699">
              <a:solidFill>
                <a:srgbClr val="000000">
                  <a:lumMod val="50000"/>
                  <a:lumOff val="50000"/>
                </a:srgbClr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72000" tIns="72000" rIns="72000" bIns="72000" anchor="ctr"/>
            <a:lstStyle/>
            <a:p>
              <a:pPr algn="ctr" latinLnBrk="0">
                <a:defRPr/>
              </a:pPr>
              <a:r>
                <a:rPr lang="ko-KR" altLang="en-US" sz="1400" b="1" kern="0" smtClean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맑은 고딕" pitchFamily="50" charset="-127"/>
                  <a:ea typeface="맑은 고딕" pitchFamily="50" charset="-127"/>
                </a:rPr>
                <a:t>마이그레이션 대상</a:t>
              </a:r>
              <a:endParaRPr lang="ko-KR" altLang="en-US" sz="1400" b="1" kern="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0" name="직사각형 109"/>
            <p:cNvSpPr/>
            <p:nvPr/>
          </p:nvSpPr>
          <p:spPr bwMode="auto">
            <a:xfrm>
              <a:off x="200025" y="1916831"/>
              <a:ext cx="4680967" cy="4461743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tx1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sm" len="sm"/>
            </a:ln>
            <a:effectLst>
              <a:outerShdw dist="25400" dir="2700000" algn="tl" rotWithShape="0">
                <a:schemeClr val="bg1">
                  <a:lumMod val="50000"/>
                  <a:alpha val="40000"/>
                </a:schemeClr>
              </a:outerShdw>
            </a:effectLst>
          </p:spPr>
          <p:txBody>
            <a:bodyPr vert="horz" wrap="square" lIns="108000" tIns="36000" rIns="72000" bIns="36000" numCol="1" rtlCol="0" anchor="t" anchorCtr="0" compatLnSpc="1">
              <a:prstTxWarp prst="textNoShape">
                <a:avLst/>
              </a:prstTxWarp>
            </a:bodyPr>
            <a:lstStyle/>
            <a:p>
              <a:pPr marL="182563" indent="-182563">
                <a:spcBef>
                  <a:spcPts val="1200"/>
                </a:spcBef>
                <a:buClr>
                  <a:prstClr val="black"/>
                </a:buClr>
                <a:buFont typeface="Wingdings" pitchFamily="2" charset="2"/>
                <a:buChar char="q"/>
              </a:pPr>
              <a:endParaRPr lang="en-US" altLang="ko-KR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08" name="Rectangle 19"/>
          <p:cNvSpPr>
            <a:spLocks noChangeArrowheads="1"/>
          </p:cNvSpPr>
          <p:nvPr/>
        </p:nvSpPr>
        <p:spPr bwMode="auto">
          <a:xfrm>
            <a:off x="1896841" y="2246860"/>
            <a:ext cx="878119" cy="1080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lnSpc>
                <a:spcPts val="900"/>
              </a:lnSpc>
            </a:pPr>
            <a:endParaRPr lang="ko-KR" altLang="en-US" sz="900" dirty="0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1" name="Rectangle 19"/>
          <p:cNvSpPr>
            <a:spLocks noChangeArrowheads="1"/>
          </p:cNvSpPr>
          <p:nvPr/>
        </p:nvSpPr>
        <p:spPr bwMode="auto">
          <a:xfrm>
            <a:off x="1360546" y="2488627"/>
            <a:ext cx="943812" cy="825715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lnSpc>
                <a:spcPts val="900"/>
              </a:lnSpc>
            </a:pPr>
            <a:r>
              <a:rPr lang="ko-KR" altLang="en-US" sz="1100" b="1" smtClean="0">
                <a:solidFill>
                  <a:srgbClr val="000000">
                    <a:lumMod val="95000"/>
                    <a:lumOff val="5000"/>
                  </a:srgbClr>
                </a:solidFill>
                <a:latin typeface="맑은 고딕" pitchFamily="50" charset="-127"/>
                <a:ea typeface="맑은 고딕" pitchFamily="50" charset="-127"/>
              </a:rPr>
              <a:t>자산 목록</a:t>
            </a:r>
            <a:endParaRPr lang="en-US" altLang="ko-KR" sz="1100" b="1" smtClean="0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endParaRPr lang="en-US" altLang="ko-KR" sz="1100" b="1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endParaRPr lang="en-US" altLang="ko-KR" sz="1100" b="1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endParaRPr lang="ko-KR" altLang="en-US" sz="1100" b="1" dirty="0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4" name="Rectangle 19"/>
          <p:cNvSpPr>
            <a:spLocks noChangeArrowheads="1"/>
          </p:cNvSpPr>
          <p:nvPr/>
        </p:nvSpPr>
        <p:spPr bwMode="auto">
          <a:xfrm>
            <a:off x="1780075" y="2892509"/>
            <a:ext cx="104755" cy="108000"/>
          </a:xfrm>
          <a:prstGeom prst="rect">
            <a:avLst/>
          </a:prstGeom>
          <a:noFill/>
          <a:ln w="38100" algn="ctr">
            <a:noFill/>
            <a:miter lim="800000"/>
            <a:headEnd/>
            <a:tailEnd/>
          </a:ln>
          <a:effectLst/>
          <a:extLst/>
        </p:spPr>
        <p:txBody>
          <a:bodyPr wrap="none" anchor="ctr"/>
          <a:lstStyle/>
          <a:p>
            <a:pPr algn="ctr">
              <a:lnSpc>
                <a:spcPts val="900"/>
              </a:lnSpc>
            </a:pPr>
            <a:endParaRPr lang="ko-KR" altLang="en-US" sz="1100" b="1" dirty="0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85" name="꺾인 연결선 84"/>
          <p:cNvCxnSpPr>
            <a:stCxn id="111" idx="4"/>
          </p:cNvCxnSpPr>
          <p:nvPr/>
        </p:nvCxnSpPr>
        <p:spPr bwMode="auto">
          <a:xfrm>
            <a:off x="2277197" y="4303515"/>
            <a:ext cx="5314257" cy="128953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111" name="Rectangle 19"/>
          <p:cNvSpPr>
            <a:spLocks noChangeArrowheads="1"/>
          </p:cNvSpPr>
          <p:nvPr/>
        </p:nvSpPr>
        <p:spPr bwMode="auto">
          <a:xfrm>
            <a:off x="1387708" y="3891593"/>
            <a:ext cx="889489" cy="823844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 w="127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square" anchor="ctr"/>
          <a:lstStyle/>
          <a:p>
            <a:pPr algn="ctr">
              <a:lnSpc>
                <a:spcPts val="900"/>
              </a:lnSpc>
            </a:pPr>
            <a:r>
              <a:rPr lang="ko-KR" altLang="en-US" sz="1100" b="1" smtClean="0">
                <a:solidFill>
                  <a:srgbClr val="000000">
                    <a:lumMod val="95000"/>
                    <a:lumOff val="5000"/>
                  </a:srgbClr>
                </a:solidFill>
                <a:latin typeface="맑은 고딕" pitchFamily="50" charset="-127"/>
                <a:ea typeface="맑은 고딕" pitchFamily="50" charset="-127"/>
              </a:rPr>
              <a:t>회계 전표</a:t>
            </a:r>
            <a:endParaRPr lang="ko-KR" altLang="en-US" sz="1100" b="1" dirty="0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112" name="Picture 81" descr="database_ico_Bmp2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0052" y="2943486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4" name="Rectangle 19"/>
          <p:cNvSpPr>
            <a:spLocks noChangeArrowheads="1"/>
          </p:cNvSpPr>
          <p:nvPr/>
        </p:nvSpPr>
        <p:spPr bwMode="auto">
          <a:xfrm>
            <a:off x="1387708" y="5292689"/>
            <a:ext cx="889489" cy="823844"/>
          </a:xfrm>
          <a:prstGeom prst="flowChartMagneticDisk">
            <a:avLst/>
          </a:prstGeom>
          <a:solidFill>
            <a:schemeClr val="bg1">
              <a:lumMod val="85000"/>
            </a:schemeClr>
          </a:solidFill>
          <a:ln w="127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square" anchor="ctr"/>
          <a:lstStyle/>
          <a:p>
            <a:pPr algn="ctr">
              <a:lnSpc>
                <a:spcPts val="900"/>
              </a:lnSpc>
            </a:pPr>
            <a:r>
              <a:rPr lang="ko-KR" altLang="en-US" sz="1100" b="1" smtClean="0">
                <a:solidFill>
                  <a:srgbClr val="000000">
                    <a:lumMod val="95000"/>
                    <a:lumOff val="5000"/>
                  </a:srgbClr>
                </a:solidFill>
                <a:latin typeface="맑은 고딕" pitchFamily="50" charset="-127"/>
                <a:ea typeface="맑은 고딕" pitchFamily="50" charset="-127"/>
              </a:rPr>
              <a:t>사업 실적</a:t>
            </a:r>
            <a:endParaRPr lang="ko-KR" altLang="en-US" sz="1100" b="1" dirty="0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cxnSp>
        <p:nvCxnSpPr>
          <p:cNvPr id="117" name="꺾인 연결선 116"/>
          <p:cNvCxnSpPr>
            <a:stCxn id="71" idx="3"/>
          </p:cNvCxnSpPr>
          <p:nvPr/>
        </p:nvCxnSpPr>
        <p:spPr bwMode="auto">
          <a:xfrm>
            <a:off x="2304358" y="2901485"/>
            <a:ext cx="5287096" cy="156017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cxnSp>
        <p:nvCxnSpPr>
          <p:cNvPr id="118" name="꺾인 연결선 117"/>
          <p:cNvCxnSpPr>
            <a:stCxn id="114" idx="4"/>
          </p:cNvCxnSpPr>
          <p:nvPr/>
        </p:nvCxnSpPr>
        <p:spPr bwMode="auto">
          <a:xfrm>
            <a:off x="2277197" y="5704611"/>
            <a:ext cx="5314257" cy="156783"/>
          </a:xfrm>
          <a:prstGeom prst="bentConnector3">
            <a:avLst>
              <a:gd name="adj1" fmla="val 50000"/>
            </a:avLst>
          </a:prstGeom>
          <a:solidFill>
            <a:srgbClr val="FBB779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triangle"/>
          </a:ln>
          <a:effectLst/>
        </p:spPr>
      </p:cxnSp>
      <p:sp>
        <p:nvSpPr>
          <p:cNvPr id="72" name="Rectangle 19"/>
          <p:cNvSpPr>
            <a:spLocks noChangeArrowheads="1"/>
          </p:cNvSpPr>
          <p:nvPr/>
        </p:nvSpPr>
        <p:spPr bwMode="auto">
          <a:xfrm>
            <a:off x="4467210" y="2348880"/>
            <a:ext cx="1277878" cy="3690744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2700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  <a:effectLst/>
          <a:extLst/>
        </p:spPr>
        <p:txBody>
          <a:bodyPr wrap="square" anchor="ctr"/>
          <a:lstStyle/>
          <a:p>
            <a:pPr algn="ctr">
              <a:lnSpc>
                <a:spcPts val="900"/>
              </a:lnSpc>
            </a:pPr>
            <a:endParaRPr lang="en-US" altLang="ko-KR" sz="1200" b="1" smtClean="0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endParaRPr lang="en-US" altLang="ko-KR" sz="1200" b="1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endParaRPr lang="en-US" altLang="ko-KR" sz="1200" b="1" smtClean="0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endParaRPr lang="en-US" altLang="ko-KR" sz="1200" b="1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endParaRPr lang="en-US" altLang="ko-KR" sz="1200" b="1" smtClean="0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endParaRPr lang="en-US" altLang="ko-KR" sz="1200" b="1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r>
              <a:rPr lang="ko-KR" altLang="en-US" sz="1200" b="1" smtClean="0">
                <a:solidFill>
                  <a:srgbClr val="000000">
                    <a:lumMod val="95000"/>
                    <a:lumOff val="5000"/>
                  </a:srgbClr>
                </a:solidFill>
                <a:latin typeface="맑은 고딕" pitchFamily="50" charset="-127"/>
                <a:ea typeface="맑은 고딕" pitchFamily="50" charset="-127"/>
              </a:rPr>
              <a:t>데이터베이스</a:t>
            </a:r>
            <a:endParaRPr lang="en-US" altLang="ko-KR" sz="1200" b="1" smtClean="0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endParaRPr lang="en-US" altLang="ko-KR" sz="1200" b="1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endParaRPr lang="en-US" altLang="ko-KR" sz="1200" b="1" smtClean="0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r>
              <a:rPr lang="ko-KR" altLang="en-US" sz="1200" b="1" smtClean="0">
                <a:solidFill>
                  <a:srgbClr val="000000">
                    <a:lumMod val="95000"/>
                    <a:lumOff val="5000"/>
                  </a:srgbClr>
                </a:solidFill>
                <a:latin typeface="맑은 고딕" pitchFamily="50" charset="-127"/>
                <a:ea typeface="맑은 고딕" pitchFamily="50" charset="-127"/>
              </a:rPr>
              <a:t>표준</a:t>
            </a:r>
            <a:endParaRPr lang="en-US" altLang="ko-KR" sz="1200" b="1" smtClean="0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endParaRPr lang="en-US" altLang="ko-KR" sz="1200" b="1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endParaRPr lang="en-US" altLang="ko-KR" sz="1200" b="1" smtClean="0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r>
              <a:rPr lang="en-US" altLang="ko-KR" sz="1200" b="1" smtClean="0">
                <a:solidFill>
                  <a:srgbClr val="000000">
                    <a:lumMod val="95000"/>
                    <a:lumOff val="5000"/>
                  </a:srgbClr>
                </a:solidFill>
                <a:latin typeface="맑은 고딕" pitchFamily="50" charset="-127"/>
                <a:ea typeface="맑은 고딕" pitchFamily="50" charset="-127"/>
              </a:rPr>
              <a:t>+</a:t>
            </a:r>
          </a:p>
          <a:p>
            <a:pPr algn="ctr">
              <a:lnSpc>
                <a:spcPts val="900"/>
              </a:lnSpc>
            </a:pPr>
            <a:endParaRPr lang="en-US" altLang="ko-KR" sz="1200" b="1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endParaRPr lang="en-US" altLang="ko-KR" sz="1200" b="1" smtClean="0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endParaRPr lang="en-US" altLang="ko-KR" sz="1200" b="1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r>
              <a:rPr lang="ko-KR" altLang="en-US" sz="1200" b="1" smtClean="0">
                <a:solidFill>
                  <a:srgbClr val="000000">
                    <a:lumMod val="95000"/>
                    <a:lumOff val="5000"/>
                  </a:srgbClr>
                </a:solidFill>
                <a:latin typeface="맑은 고딕" pitchFamily="50" charset="-127"/>
                <a:ea typeface="맑은 고딕" pitchFamily="50" charset="-127"/>
              </a:rPr>
              <a:t>데이터</a:t>
            </a:r>
            <a:endParaRPr lang="en-US" altLang="ko-KR" sz="1200" b="1" smtClean="0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endParaRPr lang="en-US" altLang="ko-KR" sz="1200" b="1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r>
              <a:rPr lang="ko-KR" altLang="en-US" sz="1200" b="1" smtClean="0">
                <a:solidFill>
                  <a:srgbClr val="000000">
                    <a:lumMod val="95000"/>
                    <a:lumOff val="5000"/>
                  </a:srgbClr>
                </a:solidFill>
                <a:latin typeface="맑은 고딕" pitchFamily="50" charset="-127"/>
                <a:ea typeface="맑은 고딕" pitchFamily="50" charset="-127"/>
              </a:rPr>
              <a:t>요구사양</a:t>
            </a:r>
            <a:endParaRPr lang="en-US" altLang="ko-KR" sz="1200" b="1" smtClean="0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endParaRPr lang="en-US" altLang="ko-KR" sz="1200" b="1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endParaRPr lang="en-US" altLang="ko-KR" sz="1200" b="1" smtClean="0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endParaRPr lang="en-US" altLang="ko-KR" sz="1200" b="1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endParaRPr lang="en-US" altLang="ko-KR" sz="1200" b="1" smtClean="0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  <a:p>
            <a:pPr algn="ctr">
              <a:lnSpc>
                <a:spcPts val="900"/>
              </a:lnSpc>
            </a:pPr>
            <a:endParaRPr lang="ko-KR" altLang="en-US" sz="1200" b="1" dirty="0">
              <a:solidFill>
                <a:srgbClr val="000000">
                  <a:lumMod val="95000"/>
                  <a:lumOff val="5000"/>
                </a:srgbClr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40" name="순서도: 판단 39"/>
          <p:cNvSpPr/>
          <p:nvPr/>
        </p:nvSpPr>
        <p:spPr>
          <a:xfrm>
            <a:off x="2996381" y="2726433"/>
            <a:ext cx="648072" cy="342294"/>
          </a:xfrm>
          <a:prstGeom prst="flowChartDecision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90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비교</a:t>
            </a:r>
          </a:p>
        </p:txBody>
      </p:sp>
      <p:sp>
        <p:nvSpPr>
          <p:cNvPr id="119" name="순서도: 판단 118"/>
          <p:cNvSpPr/>
          <p:nvPr/>
        </p:nvSpPr>
        <p:spPr>
          <a:xfrm>
            <a:off x="2996381" y="4132368"/>
            <a:ext cx="648072" cy="342294"/>
          </a:xfrm>
          <a:prstGeom prst="flowChartDecision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90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비교</a:t>
            </a:r>
            <a:endParaRPr lang="ko-KR" altLang="en-US" sz="9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0" name="순서도: 판단 119"/>
          <p:cNvSpPr/>
          <p:nvPr/>
        </p:nvSpPr>
        <p:spPr>
          <a:xfrm>
            <a:off x="2996381" y="5521350"/>
            <a:ext cx="648072" cy="342294"/>
          </a:xfrm>
          <a:prstGeom prst="flowChartDecision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90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비교</a:t>
            </a:r>
            <a:endParaRPr lang="ko-KR" altLang="en-US" sz="9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1" name="순서도: 종속 처리 40"/>
          <p:cNvSpPr/>
          <p:nvPr/>
        </p:nvSpPr>
        <p:spPr>
          <a:xfrm>
            <a:off x="6443397" y="2886355"/>
            <a:ext cx="576064" cy="342294"/>
          </a:xfrm>
          <a:prstGeom prst="flowChartPredefinedProcess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90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</a:t>
            </a:r>
          </a:p>
        </p:txBody>
      </p:sp>
      <p:sp>
        <p:nvSpPr>
          <p:cNvPr id="121" name="순서도: 종속 처리 120"/>
          <p:cNvSpPr/>
          <p:nvPr/>
        </p:nvSpPr>
        <p:spPr>
          <a:xfrm>
            <a:off x="6443397" y="4261321"/>
            <a:ext cx="576064" cy="342294"/>
          </a:xfrm>
          <a:prstGeom prst="flowChartPredefinedProcess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90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</a:t>
            </a:r>
            <a:endParaRPr lang="ko-KR" altLang="en-US" sz="9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2" name="순서도: 종속 처리 121"/>
          <p:cNvSpPr/>
          <p:nvPr/>
        </p:nvSpPr>
        <p:spPr>
          <a:xfrm>
            <a:off x="6443397" y="5687499"/>
            <a:ext cx="576064" cy="342294"/>
          </a:xfrm>
          <a:prstGeom prst="flowChartPredefinedProcess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r>
              <a:rPr lang="ko-KR" altLang="en-US" sz="90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</a:t>
            </a:r>
            <a:endParaRPr lang="ko-KR" altLang="en-US" sz="90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637092" y="2380530"/>
            <a:ext cx="11079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1" smtClean="0">
                <a:solidFill>
                  <a:srgbClr val="0000CC"/>
                </a:solidFill>
              </a:rPr>
              <a:t>마이그레이션</a:t>
            </a:r>
            <a:endParaRPr lang="en-US" altLang="ko-KR" sz="1200" b="1" smtClean="0">
              <a:solidFill>
                <a:srgbClr val="0000CC"/>
              </a:solidFill>
            </a:endParaRPr>
          </a:p>
          <a:p>
            <a:pPr algn="ctr"/>
            <a:r>
              <a:rPr lang="ko-KR" altLang="en-US" sz="1200" b="1" smtClean="0">
                <a:solidFill>
                  <a:srgbClr val="0000CC"/>
                </a:solidFill>
              </a:rPr>
              <a:t>프로그램</a:t>
            </a:r>
            <a:endParaRPr lang="ko-KR" altLang="en-US" sz="1200" b="1" dirty="0" err="1" smtClean="0">
              <a:solidFill>
                <a:srgbClr val="0000CC"/>
              </a:solidFill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7564872" y="2701778"/>
            <a:ext cx="1087118" cy="753269"/>
            <a:chOff x="8625408" y="2247239"/>
            <a:chExt cx="1087118" cy="753269"/>
          </a:xfrm>
        </p:grpSpPr>
        <p:pic>
          <p:nvPicPr>
            <p:cNvPr id="174" name="Picture 30" descr="db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25408" y="2247239"/>
              <a:ext cx="1087118" cy="753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" name="TextBox 42"/>
            <p:cNvSpPr txBox="1"/>
            <p:nvPr/>
          </p:nvSpPr>
          <p:spPr>
            <a:xfrm>
              <a:off x="8774072" y="2546947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mtClean="0">
                  <a:solidFill>
                    <a:srgbClr val="000000">
                      <a:lumMod val="95000"/>
                      <a:lumOff val="5000"/>
                    </a:srgbClr>
                  </a:solidFill>
                  <a:latin typeface="맑은 고딕" pitchFamily="50" charset="-127"/>
                </a:rPr>
                <a:t>자산관리</a:t>
              </a:r>
              <a:endParaRPr lang="ko-KR" altLang="en-US" sz="1200" b="1">
                <a:solidFill>
                  <a:srgbClr val="000000">
                    <a:lumMod val="95000"/>
                    <a:lumOff val="5000"/>
                  </a:srgbClr>
                </a:solidFill>
                <a:latin typeface="맑은 고딕" pitchFamily="50" charset="-127"/>
              </a:endParaRPr>
            </a:p>
          </p:txBody>
        </p:sp>
      </p:grpSp>
      <p:grpSp>
        <p:nvGrpSpPr>
          <p:cNvPr id="175" name="그룹 174"/>
          <p:cNvGrpSpPr/>
          <p:nvPr/>
        </p:nvGrpSpPr>
        <p:grpSpPr>
          <a:xfrm>
            <a:off x="7564872" y="4002846"/>
            <a:ext cx="1087118" cy="753269"/>
            <a:chOff x="8625408" y="2247239"/>
            <a:chExt cx="1087118" cy="753269"/>
          </a:xfrm>
        </p:grpSpPr>
        <p:pic>
          <p:nvPicPr>
            <p:cNvPr id="176" name="Picture 30" descr="db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25408" y="2247239"/>
              <a:ext cx="1087118" cy="753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7" name="TextBox 176"/>
            <p:cNvSpPr txBox="1"/>
            <p:nvPr/>
          </p:nvSpPr>
          <p:spPr>
            <a:xfrm>
              <a:off x="8774072" y="2546947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mtClean="0">
                  <a:solidFill>
                    <a:srgbClr val="000000">
                      <a:lumMod val="95000"/>
                      <a:lumOff val="5000"/>
                    </a:srgbClr>
                  </a:solidFill>
                  <a:latin typeface="맑은 고딕" pitchFamily="50" charset="-127"/>
                </a:rPr>
                <a:t>회계관리</a:t>
              </a:r>
              <a:endParaRPr lang="ko-KR" altLang="en-US" sz="1200" b="1">
                <a:solidFill>
                  <a:srgbClr val="000000">
                    <a:lumMod val="95000"/>
                    <a:lumOff val="5000"/>
                  </a:srgbClr>
                </a:solidFill>
                <a:latin typeface="맑은 고딕" pitchFamily="50" charset="-127"/>
              </a:endParaRPr>
            </a:p>
          </p:txBody>
        </p:sp>
      </p:grpSp>
      <p:grpSp>
        <p:nvGrpSpPr>
          <p:cNvPr id="178" name="그룹 177"/>
          <p:cNvGrpSpPr/>
          <p:nvPr/>
        </p:nvGrpSpPr>
        <p:grpSpPr>
          <a:xfrm>
            <a:off x="7564872" y="5484019"/>
            <a:ext cx="1087118" cy="753269"/>
            <a:chOff x="8625408" y="2247239"/>
            <a:chExt cx="1087118" cy="753269"/>
          </a:xfrm>
        </p:grpSpPr>
        <p:pic>
          <p:nvPicPr>
            <p:cNvPr id="179" name="Picture 30" descr="db2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25408" y="2247239"/>
              <a:ext cx="1087118" cy="753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0" name="TextBox 179"/>
            <p:cNvSpPr txBox="1"/>
            <p:nvPr/>
          </p:nvSpPr>
          <p:spPr>
            <a:xfrm>
              <a:off x="8774072" y="2546947"/>
              <a:ext cx="80021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smtClean="0">
                  <a:solidFill>
                    <a:srgbClr val="000000">
                      <a:lumMod val="95000"/>
                      <a:lumOff val="5000"/>
                    </a:srgbClr>
                  </a:solidFill>
                  <a:latin typeface="맑은 고딕" pitchFamily="50" charset="-127"/>
                </a:rPr>
                <a:t>사업관리</a:t>
              </a:r>
              <a:endParaRPr lang="ko-KR" altLang="en-US" sz="1200" b="1">
                <a:solidFill>
                  <a:srgbClr val="000000">
                    <a:lumMod val="95000"/>
                    <a:lumOff val="5000"/>
                  </a:srgbClr>
                </a:solidFill>
                <a:latin typeface="맑은 고딕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107197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50000"/>
              </a:lnSpc>
              <a:buAutoNum type="arabicPeriod"/>
            </a:pPr>
            <a:r>
              <a:rPr lang="ko-KR" altLang="en-US" smtClean="0"/>
              <a:t>추진 </a:t>
            </a:r>
            <a:r>
              <a:rPr lang="ko-KR" altLang="en-US" dirty="0"/>
              <a:t>계획 수립</a:t>
            </a:r>
            <a:r>
              <a:rPr lang="en-US" altLang="ko-KR" dirty="0">
                <a:solidFill>
                  <a:schemeClr val="bg1">
                    <a:lumMod val="65000"/>
                  </a:schemeClr>
                </a:solidFill>
              </a:rPr>
              <a:t/>
            </a:r>
            <a:br>
              <a:rPr lang="en-US" altLang="ko-KR" dirty="0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ko-KR"/>
              <a:t>2.1 </a:t>
            </a:r>
            <a:r>
              <a:rPr lang="ko-KR" altLang="en-US" smtClean="0"/>
              <a:t>최우선 이행과제 </a:t>
            </a:r>
            <a:r>
              <a:rPr lang="ko-KR" altLang="en-US" dirty="0"/>
              <a:t>정의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/>
              <a:t>2.2 </a:t>
            </a:r>
            <a:r>
              <a:rPr lang="ko-KR" altLang="en-US" smtClean="0"/>
              <a:t>이행과제의 추진방안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/>
              <a:t>2.3 </a:t>
            </a:r>
            <a:r>
              <a:rPr lang="ko-KR" altLang="en-US" dirty="0"/>
              <a:t>추진 로드맵 정의</a:t>
            </a:r>
            <a:endParaRPr lang="en-US" altLang="ko-KR" dirty="0"/>
          </a:p>
          <a:p>
            <a:pPr>
              <a:lnSpc>
                <a:spcPct val="150000"/>
              </a:lnSpc>
              <a:buAutoNum type="arabicPeriod"/>
            </a:pPr>
            <a:r>
              <a:rPr lang="ko-KR" altLang="en-US" smtClean="0">
                <a:solidFill>
                  <a:schemeClr val="bg1">
                    <a:lumMod val="65000"/>
                  </a:schemeClr>
                </a:solidFill>
              </a:rPr>
              <a:t>목표시스템 구성도</a:t>
            </a:r>
            <a:r>
              <a:rPr lang="en-US" altLang="ko-KR" smtClean="0">
                <a:solidFill>
                  <a:schemeClr val="bg1">
                    <a:lumMod val="65000"/>
                  </a:schemeClr>
                </a:solidFill>
              </a:rPr>
              <a:t> 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77000" y="1675837"/>
            <a:ext cx="24842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vl="0" algn="ctr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spc="-300" smtClean="0">
                <a:solidFill>
                  <a:srgbClr val="00437A"/>
                </a:solidFill>
              </a:rPr>
              <a:t>Ⅳ. </a:t>
            </a:r>
            <a:r>
              <a:rPr lang="ko-KR" altLang="en-US" sz="2400" b="1" spc="-300" smtClean="0">
                <a:solidFill>
                  <a:srgbClr val="00437A"/>
                </a:solidFill>
              </a:rPr>
              <a:t>이행계획 수립</a:t>
            </a:r>
            <a:endParaRPr lang="en-US" altLang="ko-KR" sz="2400" b="1" spc="-300" dirty="0">
              <a:solidFill>
                <a:srgbClr val="0043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0575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 vert="horz" lIns="0" tIns="0" rIns="0" bIns="0" rtlCol="0" anchor="t" anchorCtr="0">
            <a:noAutofit/>
          </a:bodyPr>
          <a:lstStyle/>
          <a:p>
            <a:pPr algn="just" latinLnBrk="0"/>
            <a:r>
              <a:rPr lang="ko-KR" altLang="en-US" sz="1600" smtClean="0"/>
              <a:t>시스템을 개선하기 위해 우선적으로 이행해야 할 과제를 순서대로 정의하고</a:t>
            </a:r>
            <a:r>
              <a:rPr lang="en-US" altLang="ko-KR" sz="1600" smtClean="0"/>
              <a:t>, </a:t>
            </a:r>
            <a:r>
              <a:rPr lang="ko-KR" altLang="en-US" sz="1600" smtClean="0"/>
              <a:t>이행과제를 순차적으로 추진하기 위한 방안을 제시함</a:t>
            </a:r>
            <a:endParaRPr lang="ko-KR" altLang="en-US" sz="1600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smtClean="0"/>
              <a:t>1. </a:t>
            </a:r>
            <a:r>
              <a:rPr lang="ko-KR" altLang="en-US" dirty="0"/>
              <a:t>추진 계획 </a:t>
            </a:r>
            <a:r>
              <a:rPr lang="ko-KR" altLang="en-US"/>
              <a:t>수립 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z="1800" smtClean="0"/>
              <a:t>1.1 </a:t>
            </a:r>
            <a:r>
              <a:rPr lang="ko-KR" altLang="en-US" sz="1800" smtClean="0"/>
              <a:t>우선 이행과제 정의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Ⅳ. </a:t>
            </a:r>
            <a:r>
              <a:rPr lang="ko-KR" altLang="en-US" smtClean="0"/>
              <a:t>이행계획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 </a:t>
            </a:r>
            <a:r>
              <a:rPr lang="ko-KR" altLang="en-US" dirty="0"/>
              <a:t>추진 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1.1 </a:t>
            </a:r>
            <a:r>
              <a:rPr lang="ko-KR" altLang="en-US" smtClean="0"/>
              <a:t>우선 이행과제 </a:t>
            </a:r>
            <a:r>
              <a:rPr lang="ko-KR" altLang="en-US" dirty="0"/>
              <a:t>정의</a:t>
            </a:r>
            <a:endParaRPr lang="en-US" altLang="ko-KR" dirty="0"/>
          </a:p>
        </p:txBody>
      </p:sp>
      <p:grpSp>
        <p:nvGrpSpPr>
          <p:cNvPr id="123" name="그룹 122"/>
          <p:cNvGrpSpPr/>
          <p:nvPr/>
        </p:nvGrpSpPr>
        <p:grpSpPr>
          <a:xfrm>
            <a:off x="2333899" y="1513231"/>
            <a:ext cx="2160000" cy="329005"/>
            <a:chOff x="2144688" y="1513231"/>
            <a:chExt cx="2160000" cy="329005"/>
          </a:xfrm>
        </p:grpSpPr>
        <p:sp>
          <p:nvSpPr>
            <p:cNvPr id="61" name="Text Box 4"/>
            <p:cNvSpPr txBox="1">
              <a:spLocks noChangeArrowheads="1"/>
            </p:cNvSpPr>
            <p:nvPr/>
          </p:nvSpPr>
          <p:spPr bwMode="auto">
            <a:xfrm>
              <a:off x="2774244" y="1513231"/>
              <a:ext cx="900889" cy="315984"/>
            </a:xfrm>
            <a:prstGeom prst="rect">
              <a:avLst/>
            </a:prstGeom>
            <a:noFill/>
            <a:ln w="12700" algn="ctr">
              <a:noFill/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fontAlgn="t" latinLnBrk="0" hangingPunct="0">
                <a:lnSpc>
                  <a:spcPct val="105000"/>
                </a:lnSpc>
                <a:spcBef>
                  <a:spcPct val="50000"/>
                </a:spcBef>
                <a:buClr>
                  <a:srgbClr val="008400"/>
                </a:buClr>
                <a:buNone/>
              </a:pPr>
              <a:r>
                <a:rPr lang="ko-KR" altLang="en-US" sz="1400" b="1" dirty="0">
                  <a:latin typeface="+mn-ea"/>
                </a:rPr>
                <a:t>세부과제</a:t>
              </a:r>
            </a:p>
          </p:txBody>
        </p:sp>
        <p:sp>
          <p:nvSpPr>
            <p:cNvPr id="62" name="Line 5"/>
            <p:cNvSpPr>
              <a:spLocks noChangeShapeType="1"/>
            </p:cNvSpPr>
            <p:nvPr/>
          </p:nvSpPr>
          <p:spPr bwMode="auto">
            <a:xfrm>
              <a:off x="2144688" y="1842236"/>
              <a:ext cx="2160000" cy="0"/>
            </a:xfrm>
            <a:prstGeom prst="line">
              <a:avLst/>
            </a:prstGeom>
            <a:noFill/>
            <a:ln w="127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lIns="90000" tIns="43200" rIns="90000" bIns="432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ko-KR" altLang="en-US" sz="1800" b="1" kern="0">
                <a:solidFill>
                  <a:sysClr val="windowText" lastClr="000000"/>
                </a:solidFill>
                <a:latin typeface="+mn-ea"/>
              </a:endParaRPr>
            </a:p>
          </p:txBody>
        </p:sp>
      </p:grpSp>
      <p:grpSp>
        <p:nvGrpSpPr>
          <p:cNvPr id="63" name="그룹 47"/>
          <p:cNvGrpSpPr>
            <a:grpSpLocks/>
          </p:cNvGrpSpPr>
          <p:nvPr/>
        </p:nvGrpSpPr>
        <p:grpSpPr bwMode="auto">
          <a:xfrm>
            <a:off x="6841121" y="1527446"/>
            <a:ext cx="1906587" cy="318577"/>
            <a:chOff x="7545836" y="2024545"/>
            <a:chExt cx="1907161" cy="318795"/>
          </a:xfrm>
        </p:grpSpPr>
        <p:sp>
          <p:nvSpPr>
            <p:cNvPr id="64" name="Text Box 4"/>
            <p:cNvSpPr txBox="1">
              <a:spLocks noChangeArrowheads="1"/>
            </p:cNvSpPr>
            <p:nvPr/>
          </p:nvSpPr>
          <p:spPr bwMode="auto">
            <a:xfrm>
              <a:off x="7780437" y="2024545"/>
              <a:ext cx="1427196" cy="316200"/>
            </a:xfrm>
            <a:prstGeom prst="rect">
              <a:avLst/>
            </a:prstGeom>
            <a:noFill/>
            <a:ln w="12700" algn="ctr">
              <a:noFill/>
              <a:miter lim="800000"/>
              <a:headEnd type="none" w="sm" len="sm"/>
              <a:tailEnd type="none" w="sm" len="sm"/>
            </a:ln>
          </p:spPr>
          <p:txBody>
            <a:bodyPr wrap="square" lIns="90488" tIns="44450" rIns="90488" bIns="44450">
              <a:spAutoFit/>
            </a:bodyPr>
            <a:lstStyle/>
            <a:p>
              <a:pPr algn="ctr" eaLnBrk="0" fontAlgn="t" latinLnBrk="0" hangingPunct="0">
                <a:lnSpc>
                  <a:spcPct val="105000"/>
                </a:lnSpc>
                <a:spcBef>
                  <a:spcPct val="50000"/>
                </a:spcBef>
                <a:buClr>
                  <a:srgbClr val="008400"/>
                </a:buClr>
                <a:buNone/>
              </a:pPr>
              <a:r>
                <a:rPr lang="ko-KR" altLang="en-US" sz="1400" b="1" dirty="0">
                  <a:latin typeface="+mn-ea"/>
                </a:rPr>
                <a:t>추진 내용</a:t>
              </a:r>
            </a:p>
          </p:txBody>
        </p:sp>
        <p:sp>
          <p:nvSpPr>
            <p:cNvPr id="65" name="Line 5"/>
            <p:cNvSpPr>
              <a:spLocks noChangeShapeType="1"/>
            </p:cNvSpPr>
            <p:nvPr/>
          </p:nvSpPr>
          <p:spPr bwMode="auto">
            <a:xfrm>
              <a:off x="7545836" y="2343340"/>
              <a:ext cx="1907161" cy="0"/>
            </a:xfrm>
            <a:prstGeom prst="line">
              <a:avLst/>
            </a:prstGeom>
            <a:noFill/>
            <a:ln w="127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lIns="90000" tIns="43200" rIns="90000" bIns="432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ko-KR" altLang="en-US" sz="1800" b="1" kern="0">
                <a:solidFill>
                  <a:sysClr val="windowText" lastClr="000000"/>
                </a:solidFill>
                <a:latin typeface="+mn-ea"/>
              </a:endParaRPr>
            </a:p>
          </p:txBody>
        </p:sp>
      </p:grpSp>
      <p:grpSp>
        <p:nvGrpSpPr>
          <p:cNvPr id="122" name="그룹 121"/>
          <p:cNvGrpSpPr/>
          <p:nvPr/>
        </p:nvGrpSpPr>
        <p:grpSpPr>
          <a:xfrm>
            <a:off x="531036" y="1513231"/>
            <a:ext cx="975658" cy="329005"/>
            <a:chOff x="691543" y="1513231"/>
            <a:chExt cx="975658" cy="329005"/>
          </a:xfrm>
        </p:grpSpPr>
        <p:sp>
          <p:nvSpPr>
            <p:cNvPr id="66" name="Text Box 4"/>
            <p:cNvSpPr txBox="1">
              <a:spLocks noChangeArrowheads="1"/>
            </p:cNvSpPr>
            <p:nvPr/>
          </p:nvSpPr>
          <p:spPr bwMode="auto">
            <a:xfrm>
              <a:off x="728928" y="1513231"/>
              <a:ext cx="900889" cy="315984"/>
            </a:xfrm>
            <a:prstGeom prst="rect">
              <a:avLst/>
            </a:prstGeom>
            <a:noFill/>
            <a:ln w="12700" algn="ctr">
              <a:noFill/>
              <a:miter lim="800000"/>
              <a:headEnd type="none" w="sm" len="sm"/>
              <a:tailEnd type="none" w="sm" len="sm"/>
            </a:ln>
          </p:spPr>
          <p:txBody>
            <a:bodyPr wrap="none" lIns="90488" tIns="44450" rIns="90488" bIns="44450">
              <a:spAutoFit/>
            </a:bodyPr>
            <a:lstStyle/>
            <a:p>
              <a:pPr algn="ctr" eaLnBrk="0" fontAlgn="t" latinLnBrk="0" hangingPunct="0">
                <a:lnSpc>
                  <a:spcPct val="105000"/>
                </a:lnSpc>
                <a:spcBef>
                  <a:spcPct val="50000"/>
                </a:spcBef>
                <a:buClr>
                  <a:srgbClr val="008400"/>
                </a:buClr>
                <a:buNone/>
              </a:pPr>
              <a:r>
                <a:rPr lang="ko-KR" altLang="en-US" sz="1400" b="1" dirty="0">
                  <a:latin typeface="+mn-ea"/>
                </a:rPr>
                <a:t>개선과제</a:t>
              </a:r>
            </a:p>
          </p:txBody>
        </p:sp>
        <p:sp>
          <p:nvSpPr>
            <p:cNvPr id="67" name="Line 5"/>
            <p:cNvSpPr>
              <a:spLocks noChangeShapeType="1"/>
            </p:cNvSpPr>
            <p:nvPr/>
          </p:nvSpPr>
          <p:spPr bwMode="auto">
            <a:xfrm>
              <a:off x="691543" y="1842236"/>
              <a:ext cx="975658" cy="0"/>
            </a:xfrm>
            <a:prstGeom prst="line">
              <a:avLst/>
            </a:prstGeom>
            <a:noFill/>
            <a:ln w="12700">
              <a:solidFill>
                <a:srgbClr val="808080"/>
              </a:solidFill>
              <a:round/>
              <a:headEnd/>
              <a:tailEnd/>
            </a:ln>
            <a:effectLst/>
          </p:spPr>
          <p:txBody>
            <a:bodyPr lIns="90000" tIns="43200" rIns="90000" bIns="43200" anchor="ctr"/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lang="ko-KR" altLang="en-US" sz="1800" b="1" kern="0">
                <a:solidFill>
                  <a:sysClr val="windowText" lastClr="000000"/>
                </a:solidFill>
                <a:latin typeface="+mn-ea"/>
              </a:endParaRPr>
            </a:p>
          </p:txBody>
        </p:sp>
      </p:grpSp>
      <p:sp>
        <p:nvSpPr>
          <p:cNvPr id="75" name="Rectangle 5"/>
          <p:cNvSpPr>
            <a:spLocks noChangeArrowheads="1"/>
          </p:cNvSpPr>
          <p:nvPr/>
        </p:nvSpPr>
        <p:spPr bwMode="auto">
          <a:xfrm>
            <a:off x="301111" y="2088944"/>
            <a:ext cx="4857163" cy="1504346"/>
          </a:xfrm>
          <a:prstGeom prst="rect">
            <a:avLst/>
          </a:prstGeom>
          <a:pattFill prst="dkUpDiag">
            <a:fgClr>
              <a:srgbClr val="EAEAEA"/>
            </a:fgClr>
            <a:bgClr>
              <a:srgbClr val="FFFFFF"/>
            </a:bgClr>
          </a:pattFill>
          <a:ln w="6350" algn="ctr">
            <a:solidFill>
              <a:sysClr val="window" lastClr="FFFFFF">
                <a:lumMod val="85000"/>
              </a:sysClr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굴림" pitchFamily="50" charset="-127"/>
            </a:endParaRPr>
          </a:p>
        </p:txBody>
      </p:sp>
      <p:sp>
        <p:nvSpPr>
          <p:cNvPr id="77" name="AutoShape 550" descr="박스1"/>
          <p:cNvSpPr>
            <a:spLocks noChangeArrowheads="1"/>
          </p:cNvSpPr>
          <p:nvPr/>
        </p:nvSpPr>
        <p:spPr bwMode="auto">
          <a:xfrm>
            <a:off x="1628120" y="2117773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en-US" altLang="ko-KR" sz="1000" b="1" kern="0" smtClean="0">
                <a:solidFill>
                  <a:sysClr val="windowText" lastClr="000000"/>
                </a:solidFill>
                <a:latin typeface="+mn-ea"/>
              </a:rPr>
              <a:t>DATABASE </a:t>
            </a: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기본 관리표준 준수 </a:t>
            </a:r>
            <a:endParaRPr lang="ko-KR" altLang="en-US" sz="10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8" name="AutoShape 550" descr="박스1"/>
          <p:cNvSpPr>
            <a:spLocks noChangeArrowheads="1"/>
          </p:cNvSpPr>
          <p:nvPr/>
        </p:nvSpPr>
        <p:spPr bwMode="auto">
          <a:xfrm>
            <a:off x="1628120" y="2414076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en-US" altLang="ko-KR" sz="1000" b="1" kern="0" smtClean="0">
                <a:solidFill>
                  <a:sysClr val="windowText" lastClr="000000"/>
                </a:solidFill>
                <a:latin typeface="+mn-ea"/>
              </a:rPr>
              <a:t>DATA </a:t>
            </a: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통합 및 정합성 유지</a:t>
            </a:r>
            <a:endParaRPr lang="ko-KR" altLang="en-US" sz="10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2" name="AutoShape 550" descr="박스1"/>
          <p:cNvSpPr>
            <a:spLocks noChangeArrowheads="1"/>
          </p:cNvSpPr>
          <p:nvPr/>
        </p:nvSpPr>
        <p:spPr bwMode="auto">
          <a:xfrm>
            <a:off x="1628476" y="2710379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기준정보의 통합 및 체계화</a:t>
            </a:r>
            <a:endParaRPr lang="ko-KR" altLang="en-US" sz="10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427392" y="2117773"/>
            <a:ext cx="1200906" cy="1419211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36000" tIns="0" rIns="3600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Text" lastClr="000000"/>
              </a:buClr>
              <a:buSzPct val="90000"/>
              <a:buFontTx/>
              <a:buNone/>
              <a:tabLst/>
              <a:defRPr/>
            </a:pPr>
            <a:r>
              <a:rPr kumimoji="0" lang="ko-KR" altLang="en-US" sz="1100" b="1" i="0" u="none" strike="noStrike" kern="0" cap="none" spc="0" normalizeH="0" baseline="0" noProof="0" smtClean="0">
                <a:ln>
                  <a:noFill/>
                </a:ln>
                <a:uLnTx/>
                <a:uFillTx/>
                <a:latin typeface="+mn-ea"/>
              </a:rPr>
              <a:t>시스템 기본</a:t>
            </a:r>
            <a: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+mn-ea"/>
              </a:rPr>
              <a:t/>
            </a:r>
            <a:br>
              <a:rPr kumimoji="0" lang="en-US" altLang="ko-KR" sz="1100" b="1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+mn-ea"/>
              </a:rPr>
            </a:br>
            <a:r>
              <a:rPr kumimoji="0" lang="ko-KR" altLang="en-US" sz="1100" b="1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+mn-ea"/>
              </a:rPr>
              <a:t>체계 마련</a:t>
            </a:r>
          </a:p>
        </p:txBody>
      </p:sp>
      <p:sp>
        <p:nvSpPr>
          <p:cNvPr id="128" name="Rectangle 5"/>
          <p:cNvSpPr>
            <a:spLocks noChangeArrowheads="1"/>
          </p:cNvSpPr>
          <p:nvPr/>
        </p:nvSpPr>
        <p:spPr bwMode="auto">
          <a:xfrm>
            <a:off x="293746" y="3721026"/>
            <a:ext cx="4857163" cy="2055233"/>
          </a:xfrm>
          <a:prstGeom prst="rect">
            <a:avLst/>
          </a:prstGeom>
          <a:pattFill prst="dkUpDiag">
            <a:fgClr>
              <a:srgbClr val="EAEAEA"/>
            </a:fgClr>
            <a:bgClr>
              <a:srgbClr val="FFFFFF"/>
            </a:bgClr>
          </a:pattFill>
          <a:ln w="6350" algn="ctr">
            <a:solidFill>
              <a:sysClr val="window" lastClr="FFFFFF">
                <a:lumMod val="85000"/>
              </a:sysClr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ko-KR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cs typeface="굴림" pitchFamily="50" charset="-127"/>
            </a:endParaRPr>
          </a:p>
        </p:txBody>
      </p:sp>
      <p:sp>
        <p:nvSpPr>
          <p:cNvPr id="132" name="AutoShape 550" descr="박스1"/>
          <p:cNvSpPr>
            <a:spLocks noChangeArrowheads="1"/>
          </p:cNvSpPr>
          <p:nvPr/>
        </p:nvSpPr>
        <p:spPr bwMode="auto">
          <a:xfrm>
            <a:off x="1620755" y="3762258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예산 관리 </a:t>
            </a:r>
            <a:endParaRPr lang="ko-KR" altLang="en-US" sz="10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3" name="AutoShape 550" descr="박스1"/>
          <p:cNvSpPr>
            <a:spLocks noChangeArrowheads="1"/>
          </p:cNvSpPr>
          <p:nvPr/>
        </p:nvSpPr>
        <p:spPr bwMode="auto">
          <a:xfrm>
            <a:off x="1620755" y="4056389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회계 관리</a:t>
            </a:r>
            <a:endParaRPr lang="ko-KR" altLang="en-US" sz="10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4" name="AutoShape 550" descr="박스1"/>
          <p:cNvSpPr>
            <a:spLocks noChangeArrowheads="1"/>
          </p:cNvSpPr>
          <p:nvPr/>
        </p:nvSpPr>
        <p:spPr bwMode="auto">
          <a:xfrm>
            <a:off x="1621111" y="4350520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구매 관리</a:t>
            </a:r>
            <a:endParaRPr lang="ko-KR" altLang="en-US" sz="10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135" name="AutoShape 550" descr="박스1"/>
          <p:cNvSpPr>
            <a:spLocks noChangeArrowheads="1"/>
          </p:cNvSpPr>
          <p:nvPr/>
        </p:nvSpPr>
        <p:spPr bwMode="auto">
          <a:xfrm>
            <a:off x="1621111" y="4644651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자산 관리</a:t>
            </a:r>
            <a:endParaRPr lang="ko-KR" altLang="en-US" sz="10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60" name="직선 화살표 연결선 59"/>
          <p:cNvCxnSpPr>
            <a:cxnSpLocks/>
            <a:stCxn id="77" idx="3"/>
            <a:endCxn id="85" idx="1"/>
          </p:cNvCxnSpPr>
          <p:nvPr/>
        </p:nvCxnSpPr>
        <p:spPr bwMode="auto">
          <a:xfrm flipV="1">
            <a:off x="5067234" y="2226417"/>
            <a:ext cx="854079" cy="8356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sp>
        <p:nvSpPr>
          <p:cNvPr id="58" name="AutoShape 550" descr="박스1">
            <a:extLst>
              <a:ext uri="{FF2B5EF4-FFF2-40B4-BE49-F238E27FC236}">
                <a16:creationId xmlns="" xmlns:a16="http://schemas.microsoft.com/office/drawing/2014/main" id="{92037CD7-71FD-4215-A5C9-7100A6E67C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8120" y="3006682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업무 흐름을 반영하는 프로그램 기능 </a:t>
            </a:r>
            <a:endParaRPr lang="ko-KR" altLang="en-US" sz="10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59" name="AutoShape 550" descr="박스1">
            <a:extLst>
              <a:ext uri="{FF2B5EF4-FFF2-40B4-BE49-F238E27FC236}">
                <a16:creationId xmlns="" xmlns:a16="http://schemas.microsoft.com/office/drawing/2014/main" id="{83EBECD6-97A6-4F83-A011-0B5DBB7862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8476" y="3302984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사용자</a:t>
            </a:r>
            <a:r>
              <a:rPr lang="en-US" altLang="ko-KR" sz="1000" b="1" kern="0" smtClean="0">
                <a:solidFill>
                  <a:sysClr val="windowText" lastClr="000000"/>
                </a:solidFill>
                <a:latin typeface="+mn-ea"/>
              </a:rPr>
              <a:t> </a:t>
            </a: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중심의 </a:t>
            </a:r>
            <a:r>
              <a:rPr lang="en-US" altLang="ko-KR" sz="1000" b="1" kern="0" smtClean="0">
                <a:solidFill>
                  <a:sysClr val="windowText" lastClr="000000"/>
                </a:solidFill>
                <a:latin typeface="+mn-ea"/>
              </a:rPr>
              <a:t>UI-UX </a:t>
            </a: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표준 수립</a:t>
            </a:r>
            <a:endParaRPr lang="ko-KR" altLang="en-US" sz="10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3" name="AutoShape 550" descr="박스1">
            <a:extLst>
              <a:ext uri="{FF2B5EF4-FFF2-40B4-BE49-F238E27FC236}">
                <a16:creationId xmlns="" xmlns:a16="http://schemas.microsoft.com/office/drawing/2014/main" id="{54F04050-ED3D-47B8-BB58-83AD9FBAB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755" y="4941168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ko-KR" altLang="en-US" sz="1000" b="1" kern="0" smtClean="0">
                <a:solidFill>
                  <a:sysClr val="windowText" lastClr="000000"/>
                </a:solidFill>
                <a:latin typeface="+mn-ea"/>
              </a:rPr>
              <a:t>사업 관리</a:t>
            </a:r>
            <a:endParaRPr lang="ko-KR" altLang="en-US" sz="1000" b="1" kern="0" dirty="0">
              <a:solidFill>
                <a:sysClr val="windowText" lastClr="000000"/>
              </a:solidFill>
              <a:latin typeface="+mn-ea"/>
            </a:endParaRPr>
          </a:p>
        </p:txBody>
      </p:sp>
      <p:sp>
        <p:nvSpPr>
          <p:cNvPr id="74" name="AutoShape 550" descr="박스1">
            <a:extLst>
              <a:ext uri="{FF2B5EF4-FFF2-40B4-BE49-F238E27FC236}">
                <a16:creationId xmlns="" xmlns:a16="http://schemas.microsoft.com/office/drawing/2014/main" id="{CE2599A8-D3B1-42C2-A70C-32BF55016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0755" y="5242390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en-US" altLang="ko-KR" sz="10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0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인사관리</a:t>
            </a:r>
            <a:r>
              <a:rPr lang="en-US" altLang="ko-KR" sz="10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endParaRPr lang="ko-KR" altLang="en-US" sz="1000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76" name="AutoShape 550" descr="박스1">
            <a:extLst>
              <a:ext uri="{FF2B5EF4-FFF2-40B4-BE49-F238E27FC236}">
                <a16:creationId xmlns="" xmlns:a16="http://schemas.microsoft.com/office/drawing/2014/main" id="{E94C83B9-1576-4B92-83C9-3A8E9CCF3C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1111" y="5543611"/>
            <a:ext cx="3439114" cy="234000"/>
          </a:xfrm>
          <a:prstGeom prst="rect">
            <a:avLst/>
          </a:prstGeom>
          <a:solidFill>
            <a:srgbClr val="DAE4F0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18000" tIns="18000" rIns="18000" bIns="18000" numCol="1" rtlCol="0" anchor="ctr" anchorCtr="0" compatLnSpc="1">
            <a:prstTxWarp prst="textNoShape">
              <a:avLst/>
            </a:prstTxWarp>
          </a:bodyPr>
          <a:lstStyle/>
          <a:p>
            <a:pPr algn="ctr" latinLnBrk="0">
              <a:defRPr/>
            </a:pPr>
            <a:r>
              <a:rPr lang="en-US" altLang="ko-KR" sz="10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0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급여관리</a:t>
            </a:r>
            <a:r>
              <a:rPr lang="en-US" altLang="ko-KR" sz="1000" kern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  <a:endParaRPr lang="ko-KR" altLang="en-US" sz="1000" kern="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79" name="AutoShape 550" descr="박스1">
            <a:extLst>
              <a:ext uri="{FF2B5EF4-FFF2-40B4-BE49-F238E27FC236}">
                <a16:creationId xmlns="" xmlns:a16="http://schemas.microsoft.com/office/drawing/2014/main" id="{3225198D-08D1-4600-907C-210EE4A1EA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13" y="3488378"/>
            <a:ext cx="3594596" cy="358832"/>
          </a:xfrm>
          <a:prstGeom prst="rect">
            <a:avLst/>
          </a:prstGeom>
          <a:solidFill>
            <a:srgbClr val="508CD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lvl="0" latinLnBrk="0">
              <a:defRPr/>
            </a:pPr>
            <a:r>
              <a:rPr kumimoji="0" lang="en-US" altLang="ko-KR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4. </a:t>
            </a:r>
            <a:r>
              <a:rPr kumimoji="0" lang="ko-KR" altLang="en-US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업무 흐름에 부합하는 프로그램 기능 설계</a:t>
            </a:r>
            <a:r>
              <a:rPr kumimoji="0" lang="en-US" altLang="ko-KR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/</a:t>
            </a:r>
            <a:r>
              <a:rPr kumimoji="0" lang="ko-KR" altLang="en-US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구축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0" name="AutoShape 550" descr="박스1">
            <a:extLst>
              <a:ext uri="{FF2B5EF4-FFF2-40B4-BE49-F238E27FC236}">
                <a16:creationId xmlns="" xmlns:a16="http://schemas.microsoft.com/office/drawing/2014/main" id="{01DDB0D1-25E2-4F19-A3E9-B5A85152CE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13" y="4449296"/>
            <a:ext cx="3594596" cy="358832"/>
          </a:xfrm>
          <a:prstGeom prst="rect">
            <a:avLst/>
          </a:prstGeom>
          <a:solidFill>
            <a:srgbClr val="508CD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6. </a:t>
            </a:r>
            <a:r>
              <a:rPr kumimoji="0" lang="ko-KR" altLang="en-US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신기술 도입에 의한 시</a:t>
            </a:r>
            <a:r>
              <a:rPr lang="ko-KR" altLang="en-US" sz="1200" b="1" kern="0" smtClean="0">
                <a:solidFill>
                  <a:sysClr val="window" lastClr="FFFFFF"/>
                </a:solidFill>
                <a:latin typeface="+mn-ea"/>
              </a:rPr>
              <a:t>스템</a:t>
            </a:r>
            <a:r>
              <a:rPr kumimoji="0" lang="ko-KR" altLang="en-US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구축</a:t>
            </a:r>
            <a:r>
              <a:rPr kumimoji="0" lang="en-US" altLang="ko-KR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/</a:t>
            </a:r>
            <a:r>
              <a:rPr kumimoji="0" lang="ko-KR" altLang="en-US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운영 효율화  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1" name="AutoShape 550" descr="박스1">
            <a:extLst>
              <a:ext uri="{FF2B5EF4-FFF2-40B4-BE49-F238E27FC236}">
                <a16:creationId xmlns="" xmlns:a16="http://schemas.microsoft.com/office/drawing/2014/main" id="{A1152C97-1BBF-4612-A68B-020C5FBBC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13" y="3968837"/>
            <a:ext cx="3594596" cy="358832"/>
          </a:xfrm>
          <a:prstGeom prst="rect">
            <a:avLst/>
          </a:prstGeom>
          <a:solidFill>
            <a:srgbClr val="508CD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5. </a:t>
            </a:r>
            <a:r>
              <a:rPr kumimoji="0" lang="ko-KR" altLang="en-US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사용자 편의를 제공하는 </a:t>
            </a:r>
            <a:r>
              <a:rPr kumimoji="0" lang="en-US" altLang="ko-KR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UI-UX </a:t>
            </a:r>
            <a:r>
              <a:rPr kumimoji="0" lang="ko-KR" altLang="en-US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표준 설계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2" name="AutoShape 550" descr="박스1">
            <a:extLst>
              <a:ext uri="{FF2B5EF4-FFF2-40B4-BE49-F238E27FC236}">
                <a16:creationId xmlns="" xmlns:a16="http://schemas.microsoft.com/office/drawing/2014/main" id="{10767535-FE16-48BD-B1E7-67274564A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13" y="3007919"/>
            <a:ext cx="3594596" cy="358832"/>
          </a:xfrm>
          <a:prstGeom prst="rect">
            <a:avLst/>
          </a:prstGeom>
          <a:solidFill>
            <a:srgbClr val="508CD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kern="0" smtClean="0">
                <a:solidFill>
                  <a:sysClr val="window" lastClr="FFFFFF"/>
                </a:solidFill>
                <a:latin typeface="+mn-ea"/>
              </a:rPr>
              <a:t>3. </a:t>
            </a:r>
            <a:r>
              <a:rPr lang="ko-KR" altLang="en-US" sz="1200" b="1" kern="0" smtClean="0">
                <a:solidFill>
                  <a:sysClr val="window" lastClr="FFFFFF"/>
                </a:solidFill>
                <a:latin typeface="+mn-ea"/>
              </a:rPr>
              <a:t>기준정보 체계화</a:t>
            </a:r>
            <a:r>
              <a:rPr lang="en-US" altLang="ko-KR" sz="1200" b="1" kern="0" smtClean="0">
                <a:solidFill>
                  <a:sysClr val="window" lastClr="FFFFFF"/>
                </a:solidFill>
                <a:latin typeface="+mn-ea"/>
              </a:rPr>
              <a:t>, </a:t>
            </a:r>
            <a:r>
              <a:rPr lang="ko-KR" altLang="en-US" sz="1200" b="1" kern="0" smtClean="0">
                <a:solidFill>
                  <a:sysClr val="window" lastClr="FFFFFF"/>
                </a:solidFill>
                <a:latin typeface="+mn-ea"/>
              </a:rPr>
              <a:t>기준정보의 통합 설계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3" name="AutoShape 550" descr="박스1">
            <a:extLst>
              <a:ext uri="{FF2B5EF4-FFF2-40B4-BE49-F238E27FC236}">
                <a16:creationId xmlns="" xmlns:a16="http://schemas.microsoft.com/office/drawing/2014/main" id="{7E9BDB4B-0533-45A1-B86F-32882FAAF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13" y="4929755"/>
            <a:ext cx="3594596" cy="358832"/>
          </a:xfrm>
          <a:prstGeom prst="rect">
            <a:avLst/>
          </a:prstGeom>
          <a:solidFill>
            <a:srgbClr val="508CD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7. </a:t>
            </a:r>
            <a:r>
              <a:rPr kumimoji="0" lang="ko-KR" altLang="en-US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업무별 기본기능 구축 및 필수 연계사항 처리 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4" name="AutoShape 550" descr="박스1">
            <a:extLst>
              <a:ext uri="{FF2B5EF4-FFF2-40B4-BE49-F238E27FC236}">
                <a16:creationId xmlns="" xmlns:a16="http://schemas.microsoft.com/office/drawing/2014/main" id="{E94A0262-8499-4ACB-AE25-85C72372ED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13" y="2527460"/>
            <a:ext cx="3594596" cy="358832"/>
          </a:xfrm>
          <a:prstGeom prst="rect">
            <a:avLst/>
          </a:prstGeom>
          <a:solidFill>
            <a:srgbClr val="508CD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lvl="0" latinLnBrk="0">
              <a:defRPr/>
            </a:pPr>
            <a:r>
              <a:rPr lang="en-US" altLang="ko-KR" sz="1200" b="1" kern="0" smtClean="0">
                <a:solidFill>
                  <a:sysClr val="window" lastClr="FFFFFF"/>
                </a:solidFill>
                <a:latin typeface="+mn-ea"/>
              </a:rPr>
              <a:t>2. </a:t>
            </a:r>
            <a:r>
              <a:rPr lang="ko-KR" altLang="en-US" sz="1200" b="1" kern="0" smtClean="0">
                <a:solidFill>
                  <a:sysClr val="window" lastClr="FFFFFF"/>
                </a:solidFill>
                <a:latin typeface="+mn-ea"/>
              </a:rPr>
              <a:t>자산</a:t>
            </a:r>
            <a:r>
              <a:rPr lang="en-US" altLang="ko-KR" sz="1200" b="1" kern="0" smtClean="0">
                <a:solidFill>
                  <a:sysClr val="window" lastClr="FFFFFF"/>
                </a:solidFill>
                <a:latin typeface="+mn-ea"/>
              </a:rPr>
              <a:t>, </a:t>
            </a:r>
            <a:r>
              <a:rPr lang="ko-KR" altLang="en-US" sz="1200" b="1" kern="0" smtClean="0">
                <a:solidFill>
                  <a:sysClr val="window" lastClr="FFFFFF"/>
                </a:solidFill>
                <a:latin typeface="+mn-ea"/>
              </a:rPr>
              <a:t>회계 데이터</a:t>
            </a:r>
            <a:r>
              <a:rPr lang="en-US" altLang="ko-KR" sz="1200" b="1" kern="0" smtClean="0">
                <a:solidFill>
                  <a:sysClr val="window" lastClr="FFFFFF"/>
                </a:solidFill>
                <a:latin typeface="+mn-ea"/>
              </a:rPr>
              <a:t> </a:t>
            </a:r>
            <a:r>
              <a:rPr lang="ko-KR" altLang="en-US" sz="1200" b="1" kern="0" smtClean="0">
                <a:solidFill>
                  <a:sysClr val="window" lastClr="FFFFFF"/>
                </a:solidFill>
                <a:latin typeface="+mn-ea"/>
              </a:rPr>
              <a:t>단일화 및</a:t>
            </a:r>
            <a:r>
              <a:rPr lang="en-US" altLang="ko-KR" sz="1200" b="1" kern="0" smtClean="0">
                <a:solidFill>
                  <a:sysClr val="window" lastClr="FFFFFF"/>
                </a:solidFill>
                <a:latin typeface="+mn-ea"/>
              </a:rPr>
              <a:t> </a:t>
            </a:r>
            <a:r>
              <a:rPr lang="ko-KR" altLang="en-US" sz="1200" b="1" kern="0" smtClean="0">
                <a:solidFill>
                  <a:sysClr val="window" lastClr="FFFFFF"/>
                </a:solidFill>
                <a:latin typeface="+mn-ea"/>
              </a:rPr>
              <a:t>정합성 처리</a:t>
            </a:r>
            <a:endParaRPr lang="ko-KR" altLang="en-US" sz="1200" b="1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85" name="AutoShape 550" descr="박스1">
            <a:extLst>
              <a:ext uri="{FF2B5EF4-FFF2-40B4-BE49-F238E27FC236}">
                <a16:creationId xmlns="" xmlns:a16="http://schemas.microsoft.com/office/drawing/2014/main" id="{E4199F39-19EE-4AAC-B999-0ED28B7FA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13" y="2047001"/>
            <a:ext cx="3594596" cy="358832"/>
          </a:xfrm>
          <a:prstGeom prst="rect">
            <a:avLst/>
          </a:prstGeom>
          <a:solidFill>
            <a:srgbClr val="508CD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lvl="0" latinLnBrk="0">
              <a:defRPr/>
            </a:pPr>
            <a:r>
              <a:rPr lang="en-US" altLang="ko-KR" sz="1200" b="1" kern="0" smtClean="0">
                <a:solidFill>
                  <a:sysClr val="window" lastClr="FFFFFF"/>
                </a:solidFill>
                <a:latin typeface="+mn-ea"/>
              </a:rPr>
              <a:t>1. DATABASE </a:t>
            </a:r>
            <a:r>
              <a:rPr lang="ko-KR" altLang="en-US" sz="1200" b="1" kern="0" smtClean="0">
                <a:solidFill>
                  <a:sysClr val="window" lastClr="FFFFFF"/>
                </a:solidFill>
                <a:latin typeface="+mn-ea"/>
              </a:rPr>
              <a:t>설계</a:t>
            </a:r>
            <a:r>
              <a:rPr lang="en-US" altLang="ko-KR" sz="1200" b="1" kern="0" smtClean="0">
                <a:solidFill>
                  <a:sysClr val="window" lastClr="FFFFFF"/>
                </a:solidFill>
                <a:latin typeface="+mn-ea"/>
              </a:rPr>
              <a:t> </a:t>
            </a:r>
            <a:r>
              <a:rPr lang="ko-KR" altLang="en-US" sz="1200" b="1" kern="0" smtClean="0">
                <a:solidFill>
                  <a:sysClr val="window" lastClr="FFFFFF"/>
                </a:solidFill>
                <a:latin typeface="+mn-ea"/>
              </a:rPr>
              <a:t>표준화 설계 반영</a:t>
            </a:r>
            <a:r>
              <a:rPr lang="en-US" altLang="ko-KR" sz="1200" b="1" kern="0" smtClean="0">
                <a:solidFill>
                  <a:sysClr val="window" lastClr="FFFFFF"/>
                </a:solidFill>
                <a:latin typeface="+mn-ea"/>
              </a:rPr>
              <a:t>/</a:t>
            </a:r>
            <a:r>
              <a:rPr lang="ko-KR" altLang="en-US" sz="1200" b="1" kern="0" smtClean="0">
                <a:solidFill>
                  <a:sysClr val="window" lastClr="FFFFFF"/>
                </a:solidFill>
                <a:latin typeface="+mn-ea"/>
              </a:rPr>
              <a:t>개선</a:t>
            </a:r>
            <a:r>
              <a:rPr lang="en-US" altLang="ko-KR" sz="1200" b="1" kern="0" smtClean="0">
                <a:solidFill>
                  <a:sysClr val="window" lastClr="FFFFFF"/>
                </a:solidFill>
                <a:latin typeface="+mn-ea"/>
              </a:rPr>
              <a:t> </a:t>
            </a:r>
            <a:endParaRPr lang="ko-KR" altLang="en-US" sz="1200" b="1" kern="0" dirty="0">
              <a:solidFill>
                <a:sysClr val="window" lastClr="FFFFFF"/>
              </a:solidFill>
              <a:latin typeface="+mn-ea"/>
            </a:endParaRPr>
          </a:p>
        </p:txBody>
      </p:sp>
      <p:sp>
        <p:nvSpPr>
          <p:cNvPr id="87" name="AutoShape 550" descr="박스1">
            <a:extLst>
              <a:ext uri="{FF2B5EF4-FFF2-40B4-BE49-F238E27FC236}">
                <a16:creationId xmlns="" xmlns:a16="http://schemas.microsoft.com/office/drawing/2014/main" id="{B45C6569-4347-4C06-B6EA-CF245BCA3D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1313" y="5410214"/>
            <a:ext cx="3594596" cy="358832"/>
          </a:xfrm>
          <a:prstGeom prst="rect">
            <a:avLst/>
          </a:prstGeom>
          <a:solidFill>
            <a:srgbClr val="508CD2"/>
          </a:solidFill>
          <a:ln w="63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72000" tIns="36000" rIns="36000" bIns="36000" numCol="1" rtlCol="0" anchor="ctr" anchorCtr="0" compatLnSpc="1">
            <a:prstTxWarp prst="textNoShape">
              <a:avLst/>
            </a:prstTxWarp>
          </a:bodyPr>
          <a:lstStyle/>
          <a:p>
            <a:pPr lvl="0" latinLnBrk="0">
              <a:defRPr/>
            </a:pPr>
            <a:r>
              <a:rPr kumimoji="0" lang="en-US" altLang="ko-KR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8. </a:t>
            </a:r>
            <a:r>
              <a:rPr kumimoji="0" lang="ko-KR" altLang="en-US" sz="1200" b="1" i="0" u="none" strike="noStrike" kern="0" cap="none" spc="0" normalizeH="0" baseline="0" noProof="0" smtClean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n-ea"/>
              </a:rPr>
              <a:t>업무별 기능 고도화</a:t>
            </a:r>
            <a:endParaRPr kumimoji="0" lang="ko-KR" altLang="en-US" sz="1200" b="1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95" name="직선 화살표 연결선 94">
            <a:extLst>
              <a:ext uri="{FF2B5EF4-FFF2-40B4-BE49-F238E27FC236}">
                <a16:creationId xmlns="" xmlns:a16="http://schemas.microsoft.com/office/drawing/2014/main" id="{EAECB3E1-FF03-4465-93AE-32FDBA8D0919}"/>
              </a:ext>
            </a:extLst>
          </p:cNvPr>
          <p:cNvCxnSpPr>
            <a:cxnSpLocks/>
            <a:stCxn id="133" idx="3"/>
            <a:endCxn id="84" idx="1"/>
          </p:cNvCxnSpPr>
          <p:nvPr/>
        </p:nvCxnSpPr>
        <p:spPr bwMode="auto">
          <a:xfrm flipV="1">
            <a:off x="5059869" y="2706876"/>
            <a:ext cx="861444" cy="1466513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96" name="직선 화살표 연결선 95">
            <a:extLst>
              <a:ext uri="{FF2B5EF4-FFF2-40B4-BE49-F238E27FC236}">
                <a16:creationId xmlns="" xmlns:a16="http://schemas.microsoft.com/office/drawing/2014/main" id="{0CFC9B51-BD6E-4760-8900-0E3611E6B84F}"/>
              </a:ext>
            </a:extLst>
          </p:cNvPr>
          <p:cNvCxnSpPr>
            <a:cxnSpLocks/>
            <a:endCxn id="82" idx="1"/>
          </p:cNvCxnSpPr>
          <p:nvPr/>
        </p:nvCxnSpPr>
        <p:spPr bwMode="auto">
          <a:xfrm>
            <a:off x="5067234" y="2216373"/>
            <a:ext cx="854079" cy="970962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97" name="직선 화살표 연결선 96">
            <a:extLst>
              <a:ext uri="{FF2B5EF4-FFF2-40B4-BE49-F238E27FC236}">
                <a16:creationId xmlns="" xmlns:a16="http://schemas.microsoft.com/office/drawing/2014/main" id="{1BC458F9-C41F-4B47-8B7B-D932F6E2773B}"/>
              </a:ext>
            </a:extLst>
          </p:cNvPr>
          <p:cNvCxnSpPr>
            <a:cxnSpLocks/>
            <a:stCxn id="78" idx="3"/>
            <a:endCxn id="84" idx="1"/>
          </p:cNvCxnSpPr>
          <p:nvPr/>
        </p:nvCxnSpPr>
        <p:spPr bwMode="auto">
          <a:xfrm>
            <a:off x="5067234" y="2531076"/>
            <a:ext cx="854079" cy="175800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98" name="직선 화살표 연결선 97">
            <a:extLst>
              <a:ext uri="{FF2B5EF4-FFF2-40B4-BE49-F238E27FC236}">
                <a16:creationId xmlns="" xmlns:a16="http://schemas.microsoft.com/office/drawing/2014/main" id="{825A3D4C-3C88-48B3-B2DF-38CDAE361A13}"/>
              </a:ext>
            </a:extLst>
          </p:cNvPr>
          <p:cNvCxnSpPr>
            <a:cxnSpLocks/>
            <a:stCxn id="112" idx="3"/>
            <a:endCxn id="85" idx="1"/>
          </p:cNvCxnSpPr>
          <p:nvPr/>
        </p:nvCxnSpPr>
        <p:spPr bwMode="auto">
          <a:xfrm flipV="1">
            <a:off x="5067590" y="2226417"/>
            <a:ext cx="853723" cy="600962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99" name="직선 화살표 연결선 98">
            <a:extLst>
              <a:ext uri="{FF2B5EF4-FFF2-40B4-BE49-F238E27FC236}">
                <a16:creationId xmlns="" xmlns:a16="http://schemas.microsoft.com/office/drawing/2014/main" id="{1598BC09-F3C7-4642-8309-9D5205C9902D}"/>
              </a:ext>
            </a:extLst>
          </p:cNvPr>
          <p:cNvCxnSpPr>
            <a:cxnSpLocks/>
            <a:stCxn id="58" idx="3"/>
            <a:endCxn id="81" idx="1"/>
          </p:cNvCxnSpPr>
          <p:nvPr/>
        </p:nvCxnSpPr>
        <p:spPr bwMode="auto">
          <a:xfrm>
            <a:off x="5067234" y="3123682"/>
            <a:ext cx="854079" cy="1024571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02" name="직선 화살표 연결선 101">
            <a:extLst>
              <a:ext uri="{FF2B5EF4-FFF2-40B4-BE49-F238E27FC236}">
                <a16:creationId xmlns="" xmlns:a16="http://schemas.microsoft.com/office/drawing/2014/main" id="{561B8A9D-2DA9-4BB1-BC0E-50EA795E8587}"/>
              </a:ext>
            </a:extLst>
          </p:cNvPr>
          <p:cNvCxnSpPr>
            <a:cxnSpLocks/>
            <a:stCxn id="59" idx="3"/>
            <a:endCxn id="81" idx="1"/>
          </p:cNvCxnSpPr>
          <p:nvPr/>
        </p:nvCxnSpPr>
        <p:spPr bwMode="auto">
          <a:xfrm>
            <a:off x="5067590" y="3419984"/>
            <a:ext cx="853723" cy="728269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05" name="직선 화살표 연결선 104">
            <a:extLst>
              <a:ext uri="{FF2B5EF4-FFF2-40B4-BE49-F238E27FC236}">
                <a16:creationId xmlns="" xmlns:a16="http://schemas.microsoft.com/office/drawing/2014/main" id="{ADF17A5E-5A12-40B3-B88B-73905FA62BCA}"/>
              </a:ext>
            </a:extLst>
          </p:cNvPr>
          <p:cNvCxnSpPr>
            <a:cxnSpLocks/>
            <a:stCxn id="135" idx="3"/>
            <a:endCxn id="84" idx="1"/>
          </p:cNvCxnSpPr>
          <p:nvPr/>
        </p:nvCxnSpPr>
        <p:spPr bwMode="auto">
          <a:xfrm flipV="1">
            <a:off x="5060225" y="2706876"/>
            <a:ext cx="861088" cy="2054775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08" name="직선 화살표 연결선 107">
            <a:extLst>
              <a:ext uri="{FF2B5EF4-FFF2-40B4-BE49-F238E27FC236}">
                <a16:creationId xmlns="" xmlns:a16="http://schemas.microsoft.com/office/drawing/2014/main" id="{4A049F45-BC57-46AA-A85F-1E888F315383}"/>
              </a:ext>
            </a:extLst>
          </p:cNvPr>
          <p:cNvCxnSpPr>
            <a:cxnSpLocks/>
            <a:stCxn id="112" idx="3"/>
            <a:endCxn id="82" idx="1"/>
          </p:cNvCxnSpPr>
          <p:nvPr/>
        </p:nvCxnSpPr>
        <p:spPr bwMode="auto">
          <a:xfrm>
            <a:off x="5067590" y="2827379"/>
            <a:ext cx="853723" cy="359956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11" name="직선 화살표 연결선 110">
            <a:extLst>
              <a:ext uri="{FF2B5EF4-FFF2-40B4-BE49-F238E27FC236}">
                <a16:creationId xmlns="" xmlns:a16="http://schemas.microsoft.com/office/drawing/2014/main" id="{0404A155-F2F7-46E8-BA97-57DB57B63BD3}"/>
              </a:ext>
            </a:extLst>
          </p:cNvPr>
          <p:cNvCxnSpPr>
            <a:cxnSpLocks/>
            <a:stCxn id="132" idx="3"/>
            <a:endCxn id="85" idx="1"/>
          </p:cNvCxnSpPr>
          <p:nvPr/>
        </p:nvCxnSpPr>
        <p:spPr bwMode="auto">
          <a:xfrm flipV="1">
            <a:off x="5059869" y="2226417"/>
            <a:ext cx="861444" cy="1652841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14" name="직선 화살표 연결선 113">
            <a:extLst>
              <a:ext uri="{FF2B5EF4-FFF2-40B4-BE49-F238E27FC236}">
                <a16:creationId xmlns="" xmlns:a16="http://schemas.microsoft.com/office/drawing/2014/main" id="{34E994AB-413E-4B7D-9DED-298025DE7618}"/>
              </a:ext>
            </a:extLst>
          </p:cNvPr>
          <p:cNvCxnSpPr>
            <a:cxnSpLocks/>
            <a:stCxn id="133" idx="3"/>
            <a:endCxn id="85" idx="1"/>
          </p:cNvCxnSpPr>
          <p:nvPr/>
        </p:nvCxnSpPr>
        <p:spPr bwMode="auto">
          <a:xfrm flipV="1">
            <a:off x="5059869" y="2226417"/>
            <a:ext cx="861444" cy="1946972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18" name="직선 화살표 연결선 117">
            <a:extLst>
              <a:ext uri="{FF2B5EF4-FFF2-40B4-BE49-F238E27FC236}">
                <a16:creationId xmlns="" xmlns:a16="http://schemas.microsoft.com/office/drawing/2014/main" id="{251753FC-77B0-447B-86C0-DF9018C10DD4}"/>
              </a:ext>
            </a:extLst>
          </p:cNvPr>
          <p:cNvCxnSpPr>
            <a:cxnSpLocks/>
            <a:stCxn id="134" idx="3"/>
            <a:endCxn id="85" idx="1"/>
          </p:cNvCxnSpPr>
          <p:nvPr/>
        </p:nvCxnSpPr>
        <p:spPr bwMode="auto">
          <a:xfrm flipV="1">
            <a:off x="5060225" y="2226417"/>
            <a:ext cx="861088" cy="2241103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21" name="직선 화살표 연결선 120">
            <a:extLst>
              <a:ext uri="{FF2B5EF4-FFF2-40B4-BE49-F238E27FC236}">
                <a16:creationId xmlns="" xmlns:a16="http://schemas.microsoft.com/office/drawing/2014/main" id="{E7CF2975-0CD3-4430-8444-17BC0FCE27C8}"/>
              </a:ext>
            </a:extLst>
          </p:cNvPr>
          <p:cNvCxnSpPr>
            <a:cxnSpLocks/>
            <a:stCxn id="135" idx="3"/>
            <a:endCxn id="85" idx="1"/>
          </p:cNvCxnSpPr>
          <p:nvPr/>
        </p:nvCxnSpPr>
        <p:spPr bwMode="auto">
          <a:xfrm flipV="1">
            <a:off x="5060225" y="2226417"/>
            <a:ext cx="861088" cy="2535234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27" name="직선 화살표 연결선 126">
            <a:extLst>
              <a:ext uri="{FF2B5EF4-FFF2-40B4-BE49-F238E27FC236}">
                <a16:creationId xmlns="" xmlns:a16="http://schemas.microsoft.com/office/drawing/2014/main" id="{BAB84ADC-62E7-4ACF-94A6-BEC6C3ACDE93}"/>
              </a:ext>
            </a:extLst>
          </p:cNvPr>
          <p:cNvCxnSpPr>
            <a:cxnSpLocks/>
            <a:stCxn id="73" idx="3"/>
            <a:endCxn id="85" idx="1"/>
          </p:cNvCxnSpPr>
          <p:nvPr/>
        </p:nvCxnSpPr>
        <p:spPr bwMode="auto">
          <a:xfrm flipV="1">
            <a:off x="5059869" y="2226417"/>
            <a:ext cx="861444" cy="2831751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29" name="직선 화살표 연결선 128">
            <a:extLst>
              <a:ext uri="{FF2B5EF4-FFF2-40B4-BE49-F238E27FC236}">
                <a16:creationId xmlns="" xmlns:a16="http://schemas.microsoft.com/office/drawing/2014/main" id="{6035CD46-5312-47DB-A6A5-06E9E28526CD}"/>
              </a:ext>
            </a:extLst>
          </p:cNvPr>
          <p:cNvCxnSpPr>
            <a:cxnSpLocks/>
            <a:stCxn id="74" idx="3"/>
            <a:endCxn id="85" idx="1"/>
          </p:cNvCxnSpPr>
          <p:nvPr/>
        </p:nvCxnSpPr>
        <p:spPr bwMode="auto">
          <a:xfrm flipV="1">
            <a:off x="5059869" y="2226417"/>
            <a:ext cx="861444" cy="3132973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30" name="직선 화살표 연결선 129">
            <a:extLst>
              <a:ext uri="{FF2B5EF4-FFF2-40B4-BE49-F238E27FC236}">
                <a16:creationId xmlns="" xmlns:a16="http://schemas.microsoft.com/office/drawing/2014/main" id="{8380B687-C308-4A89-9914-ABA682E5220A}"/>
              </a:ext>
            </a:extLst>
          </p:cNvPr>
          <p:cNvCxnSpPr>
            <a:cxnSpLocks/>
            <a:stCxn id="76" idx="3"/>
            <a:endCxn id="85" idx="1"/>
          </p:cNvCxnSpPr>
          <p:nvPr/>
        </p:nvCxnSpPr>
        <p:spPr bwMode="auto">
          <a:xfrm flipV="1">
            <a:off x="5060225" y="2226417"/>
            <a:ext cx="861088" cy="3434194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sp>
        <p:nvSpPr>
          <p:cNvPr id="131" name="TextBox 130"/>
          <p:cNvSpPr txBox="1"/>
          <p:nvPr/>
        </p:nvSpPr>
        <p:spPr>
          <a:xfrm>
            <a:off x="419493" y="3762258"/>
            <a:ext cx="1200906" cy="2006788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wrap="square" lIns="36000" tIns="0" rIns="36000" bIns="0" rtlCol="0" anchor="ctr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ysClr val="windowText" lastClr="000000"/>
              </a:buClr>
              <a:buSzPct val="90000"/>
              <a:buFontTx/>
              <a:buNone/>
              <a:tabLst/>
              <a:defRPr/>
            </a:pPr>
            <a:r>
              <a:rPr lang="ko-KR" altLang="en-US" sz="1100" b="1" kern="0" noProof="0" smtClean="0">
                <a:latin typeface="+mn-ea"/>
              </a:rPr>
              <a:t>업무별 개선사항 처리 및 효율화</a:t>
            </a:r>
            <a:endParaRPr kumimoji="0" lang="ko-KR" altLang="en-US" sz="1100" b="1" i="0" u="none" strike="noStrike" kern="0" cap="none" spc="0" normalizeH="0" baseline="0" noProof="0" dirty="0">
              <a:ln>
                <a:noFill/>
              </a:ln>
              <a:uLnTx/>
              <a:uFillTx/>
              <a:latin typeface="+mn-ea"/>
            </a:endParaRPr>
          </a:p>
        </p:txBody>
      </p:sp>
      <p:cxnSp>
        <p:nvCxnSpPr>
          <p:cNvPr id="89" name="직선 화살표 연결선 88">
            <a:extLst>
              <a:ext uri="{FF2B5EF4-FFF2-40B4-BE49-F238E27FC236}">
                <a16:creationId xmlns="" xmlns:a16="http://schemas.microsoft.com/office/drawing/2014/main" id="{1BC458F9-C41F-4B47-8B7B-D932F6E2773B}"/>
              </a:ext>
            </a:extLst>
          </p:cNvPr>
          <p:cNvCxnSpPr>
            <a:cxnSpLocks/>
            <a:endCxn id="79" idx="1"/>
          </p:cNvCxnSpPr>
          <p:nvPr/>
        </p:nvCxnSpPr>
        <p:spPr bwMode="auto">
          <a:xfrm>
            <a:off x="5074243" y="3133726"/>
            <a:ext cx="847070" cy="534068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93" name="직선 화살표 연결선 92">
            <a:extLst>
              <a:ext uri="{FF2B5EF4-FFF2-40B4-BE49-F238E27FC236}">
                <a16:creationId xmlns="" xmlns:a16="http://schemas.microsoft.com/office/drawing/2014/main" id="{1598BC09-F3C7-4642-8309-9D5205C9902D}"/>
              </a:ext>
            </a:extLst>
          </p:cNvPr>
          <p:cNvCxnSpPr>
            <a:cxnSpLocks/>
            <a:stCxn id="59" idx="3"/>
            <a:endCxn id="80" idx="1"/>
          </p:cNvCxnSpPr>
          <p:nvPr/>
        </p:nvCxnSpPr>
        <p:spPr bwMode="auto">
          <a:xfrm>
            <a:off x="5067590" y="3419984"/>
            <a:ext cx="853723" cy="1208728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00" name="직선 화살표 연결선 99">
            <a:extLst>
              <a:ext uri="{FF2B5EF4-FFF2-40B4-BE49-F238E27FC236}">
                <a16:creationId xmlns="" xmlns:a16="http://schemas.microsoft.com/office/drawing/2014/main" id="{1BC458F9-C41F-4B47-8B7B-D932F6E2773B}"/>
              </a:ext>
            </a:extLst>
          </p:cNvPr>
          <p:cNvCxnSpPr>
            <a:cxnSpLocks/>
            <a:stCxn id="78" idx="3"/>
            <a:endCxn id="85" idx="1"/>
          </p:cNvCxnSpPr>
          <p:nvPr/>
        </p:nvCxnSpPr>
        <p:spPr bwMode="auto">
          <a:xfrm flipV="1">
            <a:off x="5067234" y="2226417"/>
            <a:ext cx="854079" cy="304659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01" name="직선 화살표 연결선 100">
            <a:extLst>
              <a:ext uri="{FF2B5EF4-FFF2-40B4-BE49-F238E27FC236}">
                <a16:creationId xmlns="" xmlns:a16="http://schemas.microsoft.com/office/drawing/2014/main" id="{1598BC09-F3C7-4642-8309-9D5205C9902D}"/>
              </a:ext>
            </a:extLst>
          </p:cNvPr>
          <p:cNvCxnSpPr>
            <a:cxnSpLocks/>
            <a:stCxn id="58" idx="3"/>
            <a:endCxn id="83" idx="1"/>
          </p:cNvCxnSpPr>
          <p:nvPr/>
        </p:nvCxnSpPr>
        <p:spPr bwMode="auto">
          <a:xfrm>
            <a:off x="5067234" y="3123682"/>
            <a:ext cx="854079" cy="1985489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03" name="직선 화살표 연결선 102">
            <a:extLst>
              <a:ext uri="{FF2B5EF4-FFF2-40B4-BE49-F238E27FC236}">
                <a16:creationId xmlns="" xmlns:a16="http://schemas.microsoft.com/office/drawing/2014/main" id="{8380B687-C308-4A89-9914-ABA682E5220A}"/>
              </a:ext>
            </a:extLst>
          </p:cNvPr>
          <p:cNvCxnSpPr>
            <a:cxnSpLocks/>
            <a:stCxn id="76" idx="3"/>
            <a:endCxn id="82" idx="1"/>
          </p:cNvCxnSpPr>
          <p:nvPr/>
        </p:nvCxnSpPr>
        <p:spPr bwMode="auto">
          <a:xfrm flipV="1">
            <a:off x="5060225" y="3187335"/>
            <a:ext cx="861088" cy="2473276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06" name="직선 화살표 연결선 105">
            <a:extLst>
              <a:ext uri="{FF2B5EF4-FFF2-40B4-BE49-F238E27FC236}">
                <a16:creationId xmlns="" xmlns:a16="http://schemas.microsoft.com/office/drawing/2014/main" id="{8380B687-C308-4A89-9914-ABA682E5220A}"/>
              </a:ext>
            </a:extLst>
          </p:cNvPr>
          <p:cNvCxnSpPr>
            <a:cxnSpLocks/>
            <a:stCxn id="74" idx="3"/>
            <a:endCxn id="82" idx="1"/>
          </p:cNvCxnSpPr>
          <p:nvPr/>
        </p:nvCxnSpPr>
        <p:spPr bwMode="auto">
          <a:xfrm flipV="1">
            <a:off x="5059869" y="3187335"/>
            <a:ext cx="861444" cy="2172055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15" name="직선 화살표 연결선 114">
            <a:extLst>
              <a:ext uri="{FF2B5EF4-FFF2-40B4-BE49-F238E27FC236}">
                <a16:creationId xmlns="" xmlns:a16="http://schemas.microsoft.com/office/drawing/2014/main" id="{8380B687-C308-4A89-9914-ABA682E5220A}"/>
              </a:ext>
            </a:extLst>
          </p:cNvPr>
          <p:cNvCxnSpPr>
            <a:cxnSpLocks/>
            <a:stCxn id="73" idx="3"/>
            <a:endCxn id="82" idx="1"/>
          </p:cNvCxnSpPr>
          <p:nvPr/>
        </p:nvCxnSpPr>
        <p:spPr bwMode="auto">
          <a:xfrm flipV="1">
            <a:off x="5059869" y="3187335"/>
            <a:ext cx="861444" cy="1870833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16" name="직선 화살표 연결선 115">
            <a:extLst>
              <a:ext uri="{FF2B5EF4-FFF2-40B4-BE49-F238E27FC236}">
                <a16:creationId xmlns="" xmlns:a16="http://schemas.microsoft.com/office/drawing/2014/main" id="{8380B687-C308-4A89-9914-ABA682E5220A}"/>
              </a:ext>
            </a:extLst>
          </p:cNvPr>
          <p:cNvCxnSpPr>
            <a:cxnSpLocks/>
            <a:stCxn id="135" idx="3"/>
            <a:endCxn id="82" idx="1"/>
          </p:cNvCxnSpPr>
          <p:nvPr/>
        </p:nvCxnSpPr>
        <p:spPr bwMode="auto">
          <a:xfrm flipV="1">
            <a:off x="5060225" y="3187335"/>
            <a:ext cx="861088" cy="1574316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17" name="직선 화살표 연결선 116">
            <a:extLst>
              <a:ext uri="{FF2B5EF4-FFF2-40B4-BE49-F238E27FC236}">
                <a16:creationId xmlns="" xmlns:a16="http://schemas.microsoft.com/office/drawing/2014/main" id="{8380B687-C308-4A89-9914-ABA682E5220A}"/>
              </a:ext>
            </a:extLst>
          </p:cNvPr>
          <p:cNvCxnSpPr>
            <a:cxnSpLocks/>
            <a:stCxn id="134" idx="3"/>
            <a:endCxn id="82" idx="1"/>
          </p:cNvCxnSpPr>
          <p:nvPr/>
        </p:nvCxnSpPr>
        <p:spPr bwMode="auto">
          <a:xfrm flipV="1">
            <a:off x="5060225" y="3187335"/>
            <a:ext cx="861088" cy="1280185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20" name="직선 화살표 연결선 119">
            <a:extLst>
              <a:ext uri="{FF2B5EF4-FFF2-40B4-BE49-F238E27FC236}">
                <a16:creationId xmlns="" xmlns:a16="http://schemas.microsoft.com/office/drawing/2014/main" id="{8380B687-C308-4A89-9914-ABA682E5220A}"/>
              </a:ext>
            </a:extLst>
          </p:cNvPr>
          <p:cNvCxnSpPr>
            <a:cxnSpLocks/>
            <a:stCxn id="133" idx="3"/>
            <a:endCxn id="82" idx="1"/>
          </p:cNvCxnSpPr>
          <p:nvPr/>
        </p:nvCxnSpPr>
        <p:spPr bwMode="auto">
          <a:xfrm flipV="1">
            <a:off x="5059869" y="3187335"/>
            <a:ext cx="861444" cy="986054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24" name="직선 화살표 연결선 123">
            <a:extLst>
              <a:ext uri="{FF2B5EF4-FFF2-40B4-BE49-F238E27FC236}">
                <a16:creationId xmlns="" xmlns:a16="http://schemas.microsoft.com/office/drawing/2014/main" id="{8380B687-C308-4A89-9914-ABA682E5220A}"/>
              </a:ext>
            </a:extLst>
          </p:cNvPr>
          <p:cNvCxnSpPr>
            <a:cxnSpLocks/>
            <a:stCxn id="132" idx="3"/>
            <a:endCxn id="82" idx="1"/>
          </p:cNvCxnSpPr>
          <p:nvPr/>
        </p:nvCxnSpPr>
        <p:spPr bwMode="auto">
          <a:xfrm flipV="1">
            <a:off x="5059869" y="3187335"/>
            <a:ext cx="861444" cy="691923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26" name="직선 화살표 연결선 125">
            <a:extLst>
              <a:ext uri="{FF2B5EF4-FFF2-40B4-BE49-F238E27FC236}">
                <a16:creationId xmlns="" xmlns:a16="http://schemas.microsoft.com/office/drawing/2014/main" id="{1BC458F9-C41F-4B47-8B7B-D932F6E2773B}"/>
              </a:ext>
            </a:extLst>
          </p:cNvPr>
          <p:cNvCxnSpPr>
            <a:cxnSpLocks/>
            <a:stCxn id="132" idx="3"/>
            <a:endCxn id="79" idx="1"/>
          </p:cNvCxnSpPr>
          <p:nvPr/>
        </p:nvCxnSpPr>
        <p:spPr bwMode="auto">
          <a:xfrm flipV="1">
            <a:off x="5059869" y="3667794"/>
            <a:ext cx="861444" cy="211464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36" name="직선 화살표 연결선 135">
            <a:extLst>
              <a:ext uri="{FF2B5EF4-FFF2-40B4-BE49-F238E27FC236}">
                <a16:creationId xmlns="" xmlns:a16="http://schemas.microsoft.com/office/drawing/2014/main" id="{1BC458F9-C41F-4B47-8B7B-D932F6E2773B}"/>
              </a:ext>
            </a:extLst>
          </p:cNvPr>
          <p:cNvCxnSpPr>
            <a:cxnSpLocks/>
            <a:stCxn id="133" idx="3"/>
            <a:endCxn id="79" idx="1"/>
          </p:cNvCxnSpPr>
          <p:nvPr/>
        </p:nvCxnSpPr>
        <p:spPr bwMode="auto">
          <a:xfrm flipV="1">
            <a:off x="5059869" y="3667794"/>
            <a:ext cx="861444" cy="505595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37" name="직선 화살표 연결선 136">
            <a:extLst>
              <a:ext uri="{FF2B5EF4-FFF2-40B4-BE49-F238E27FC236}">
                <a16:creationId xmlns="" xmlns:a16="http://schemas.microsoft.com/office/drawing/2014/main" id="{1BC458F9-C41F-4B47-8B7B-D932F6E2773B}"/>
              </a:ext>
            </a:extLst>
          </p:cNvPr>
          <p:cNvCxnSpPr>
            <a:cxnSpLocks/>
            <a:stCxn id="134" idx="3"/>
            <a:endCxn id="79" idx="1"/>
          </p:cNvCxnSpPr>
          <p:nvPr/>
        </p:nvCxnSpPr>
        <p:spPr bwMode="auto">
          <a:xfrm flipV="1">
            <a:off x="5060225" y="3667794"/>
            <a:ext cx="861088" cy="799726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38" name="직선 화살표 연결선 137">
            <a:extLst>
              <a:ext uri="{FF2B5EF4-FFF2-40B4-BE49-F238E27FC236}">
                <a16:creationId xmlns="" xmlns:a16="http://schemas.microsoft.com/office/drawing/2014/main" id="{1BC458F9-C41F-4B47-8B7B-D932F6E2773B}"/>
              </a:ext>
            </a:extLst>
          </p:cNvPr>
          <p:cNvCxnSpPr>
            <a:cxnSpLocks/>
            <a:stCxn id="135" idx="3"/>
            <a:endCxn id="79" idx="1"/>
          </p:cNvCxnSpPr>
          <p:nvPr/>
        </p:nvCxnSpPr>
        <p:spPr bwMode="auto">
          <a:xfrm flipV="1">
            <a:off x="5060225" y="3667794"/>
            <a:ext cx="861088" cy="1093857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39" name="직선 화살표 연결선 138">
            <a:extLst>
              <a:ext uri="{FF2B5EF4-FFF2-40B4-BE49-F238E27FC236}">
                <a16:creationId xmlns="" xmlns:a16="http://schemas.microsoft.com/office/drawing/2014/main" id="{1BC458F9-C41F-4B47-8B7B-D932F6E2773B}"/>
              </a:ext>
            </a:extLst>
          </p:cNvPr>
          <p:cNvCxnSpPr>
            <a:cxnSpLocks/>
            <a:stCxn id="73" idx="3"/>
            <a:endCxn id="79" idx="1"/>
          </p:cNvCxnSpPr>
          <p:nvPr/>
        </p:nvCxnSpPr>
        <p:spPr bwMode="auto">
          <a:xfrm flipV="1">
            <a:off x="5059869" y="3667794"/>
            <a:ext cx="861444" cy="1390374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41" name="직선 화살표 연결선 140">
            <a:extLst>
              <a:ext uri="{FF2B5EF4-FFF2-40B4-BE49-F238E27FC236}">
                <a16:creationId xmlns="" xmlns:a16="http://schemas.microsoft.com/office/drawing/2014/main" id="{1BC458F9-C41F-4B47-8B7B-D932F6E2773B}"/>
              </a:ext>
            </a:extLst>
          </p:cNvPr>
          <p:cNvCxnSpPr>
            <a:cxnSpLocks/>
            <a:stCxn id="74" idx="3"/>
            <a:endCxn id="79" idx="1"/>
          </p:cNvCxnSpPr>
          <p:nvPr/>
        </p:nvCxnSpPr>
        <p:spPr bwMode="auto">
          <a:xfrm flipV="1">
            <a:off x="5059869" y="3667794"/>
            <a:ext cx="861444" cy="1691596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45" name="직선 화살표 연결선 144">
            <a:extLst>
              <a:ext uri="{FF2B5EF4-FFF2-40B4-BE49-F238E27FC236}">
                <a16:creationId xmlns="" xmlns:a16="http://schemas.microsoft.com/office/drawing/2014/main" id="{1BC458F9-C41F-4B47-8B7B-D932F6E2773B}"/>
              </a:ext>
            </a:extLst>
          </p:cNvPr>
          <p:cNvCxnSpPr>
            <a:cxnSpLocks/>
            <a:stCxn id="76" idx="3"/>
            <a:endCxn id="79" idx="1"/>
          </p:cNvCxnSpPr>
          <p:nvPr/>
        </p:nvCxnSpPr>
        <p:spPr bwMode="auto">
          <a:xfrm flipV="1">
            <a:off x="5060225" y="3667794"/>
            <a:ext cx="861088" cy="1992817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49" name="직선 화살표 연결선 148">
            <a:extLst>
              <a:ext uri="{FF2B5EF4-FFF2-40B4-BE49-F238E27FC236}">
                <a16:creationId xmlns="" xmlns:a16="http://schemas.microsoft.com/office/drawing/2014/main" id="{1598BC09-F3C7-4642-8309-9D5205C9902D}"/>
              </a:ext>
            </a:extLst>
          </p:cNvPr>
          <p:cNvCxnSpPr>
            <a:cxnSpLocks/>
            <a:stCxn id="132" idx="3"/>
            <a:endCxn id="83" idx="1"/>
          </p:cNvCxnSpPr>
          <p:nvPr/>
        </p:nvCxnSpPr>
        <p:spPr bwMode="auto">
          <a:xfrm>
            <a:off x="5059869" y="3879258"/>
            <a:ext cx="861444" cy="1229913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52" name="직선 화살표 연결선 151">
            <a:extLst>
              <a:ext uri="{FF2B5EF4-FFF2-40B4-BE49-F238E27FC236}">
                <a16:creationId xmlns="" xmlns:a16="http://schemas.microsoft.com/office/drawing/2014/main" id="{1598BC09-F3C7-4642-8309-9D5205C9902D}"/>
              </a:ext>
            </a:extLst>
          </p:cNvPr>
          <p:cNvCxnSpPr>
            <a:cxnSpLocks/>
            <a:stCxn id="133" idx="3"/>
            <a:endCxn id="83" idx="1"/>
          </p:cNvCxnSpPr>
          <p:nvPr/>
        </p:nvCxnSpPr>
        <p:spPr bwMode="auto">
          <a:xfrm>
            <a:off x="5059869" y="4173389"/>
            <a:ext cx="861444" cy="935782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55" name="직선 화살표 연결선 154">
            <a:extLst>
              <a:ext uri="{FF2B5EF4-FFF2-40B4-BE49-F238E27FC236}">
                <a16:creationId xmlns="" xmlns:a16="http://schemas.microsoft.com/office/drawing/2014/main" id="{1598BC09-F3C7-4642-8309-9D5205C9902D}"/>
              </a:ext>
            </a:extLst>
          </p:cNvPr>
          <p:cNvCxnSpPr>
            <a:cxnSpLocks/>
            <a:stCxn id="134" idx="3"/>
            <a:endCxn id="83" idx="1"/>
          </p:cNvCxnSpPr>
          <p:nvPr/>
        </p:nvCxnSpPr>
        <p:spPr bwMode="auto">
          <a:xfrm>
            <a:off x="5060225" y="4467520"/>
            <a:ext cx="861088" cy="641651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58" name="직선 화살표 연결선 157">
            <a:extLst>
              <a:ext uri="{FF2B5EF4-FFF2-40B4-BE49-F238E27FC236}">
                <a16:creationId xmlns="" xmlns:a16="http://schemas.microsoft.com/office/drawing/2014/main" id="{1598BC09-F3C7-4642-8309-9D5205C9902D}"/>
              </a:ext>
            </a:extLst>
          </p:cNvPr>
          <p:cNvCxnSpPr>
            <a:cxnSpLocks/>
            <a:stCxn id="135" idx="3"/>
            <a:endCxn id="83" idx="1"/>
          </p:cNvCxnSpPr>
          <p:nvPr/>
        </p:nvCxnSpPr>
        <p:spPr bwMode="auto">
          <a:xfrm>
            <a:off x="5060225" y="4761651"/>
            <a:ext cx="861088" cy="347520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61" name="직선 화살표 연결선 160">
            <a:extLst>
              <a:ext uri="{FF2B5EF4-FFF2-40B4-BE49-F238E27FC236}">
                <a16:creationId xmlns="" xmlns:a16="http://schemas.microsoft.com/office/drawing/2014/main" id="{1598BC09-F3C7-4642-8309-9D5205C9902D}"/>
              </a:ext>
            </a:extLst>
          </p:cNvPr>
          <p:cNvCxnSpPr>
            <a:cxnSpLocks/>
            <a:stCxn id="73" idx="3"/>
            <a:endCxn id="83" idx="1"/>
          </p:cNvCxnSpPr>
          <p:nvPr/>
        </p:nvCxnSpPr>
        <p:spPr bwMode="auto">
          <a:xfrm>
            <a:off x="5059869" y="5058168"/>
            <a:ext cx="861444" cy="51003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68" name="직선 화살표 연결선 167">
            <a:extLst>
              <a:ext uri="{FF2B5EF4-FFF2-40B4-BE49-F238E27FC236}">
                <a16:creationId xmlns="" xmlns:a16="http://schemas.microsoft.com/office/drawing/2014/main" id="{1598BC09-F3C7-4642-8309-9D5205C9902D}"/>
              </a:ext>
            </a:extLst>
          </p:cNvPr>
          <p:cNvCxnSpPr>
            <a:cxnSpLocks/>
            <a:stCxn id="73" idx="3"/>
            <a:endCxn id="87" idx="1"/>
          </p:cNvCxnSpPr>
          <p:nvPr/>
        </p:nvCxnSpPr>
        <p:spPr bwMode="auto">
          <a:xfrm>
            <a:off x="5059869" y="5058168"/>
            <a:ext cx="861444" cy="531462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71" name="직선 화살표 연결선 170">
            <a:extLst>
              <a:ext uri="{FF2B5EF4-FFF2-40B4-BE49-F238E27FC236}">
                <a16:creationId xmlns="" xmlns:a16="http://schemas.microsoft.com/office/drawing/2014/main" id="{1598BC09-F3C7-4642-8309-9D5205C9902D}"/>
              </a:ext>
            </a:extLst>
          </p:cNvPr>
          <p:cNvCxnSpPr>
            <a:cxnSpLocks/>
            <a:stCxn id="135" idx="3"/>
            <a:endCxn id="87" idx="1"/>
          </p:cNvCxnSpPr>
          <p:nvPr/>
        </p:nvCxnSpPr>
        <p:spPr bwMode="auto">
          <a:xfrm>
            <a:off x="5060225" y="4761651"/>
            <a:ext cx="861088" cy="827979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74" name="직선 화살표 연결선 173">
            <a:extLst>
              <a:ext uri="{FF2B5EF4-FFF2-40B4-BE49-F238E27FC236}">
                <a16:creationId xmlns="" xmlns:a16="http://schemas.microsoft.com/office/drawing/2014/main" id="{1598BC09-F3C7-4642-8309-9D5205C9902D}"/>
              </a:ext>
            </a:extLst>
          </p:cNvPr>
          <p:cNvCxnSpPr>
            <a:cxnSpLocks/>
            <a:stCxn id="134" idx="3"/>
            <a:endCxn id="87" idx="1"/>
          </p:cNvCxnSpPr>
          <p:nvPr/>
        </p:nvCxnSpPr>
        <p:spPr bwMode="auto">
          <a:xfrm>
            <a:off x="5060225" y="4467520"/>
            <a:ext cx="861088" cy="1122110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77" name="직선 화살표 연결선 176">
            <a:extLst>
              <a:ext uri="{FF2B5EF4-FFF2-40B4-BE49-F238E27FC236}">
                <a16:creationId xmlns="" xmlns:a16="http://schemas.microsoft.com/office/drawing/2014/main" id="{1598BC09-F3C7-4642-8309-9D5205C9902D}"/>
              </a:ext>
            </a:extLst>
          </p:cNvPr>
          <p:cNvCxnSpPr>
            <a:cxnSpLocks/>
            <a:endCxn id="87" idx="1"/>
          </p:cNvCxnSpPr>
          <p:nvPr/>
        </p:nvCxnSpPr>
        <p:spPr bwMode="auto">
          <a:xfrm>
            <a:off x="5073531" y="4187292"/>
            <a:ext cx="847782" cy="1402338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80" name="직선 화살표 연결선 179">
            <a:extLst>
              <a:ext uri="{FF2B5EF4-FFF2-40B4-BE49-F238E27FC236}">
                <a16:creationId xmlns="" xmlns:a16="http://schemas.microsoft.com/office/drawing/2014/main" id="{1598BC09-F3C7-4642-8309-9D5205C9902D}"/>
              </a:ext>
            </a:extLst>
          </p:cNvPr>
          <p:cNvCxnSpPr>
            <a:cxnSpLocks/>
            <a:stCxn id="132" idx="3"/>
            <a:endCxn id="87" idx="1"/>
          </p:cNvCxnSpPr>
          <p:nvPr/>
        </p:nvCxnSpPr>
        <p:spPr bwMode="auto">
          <a:xfrm>
            <a:off x="5059869" y="3879258"/>
            <a:ext cx="861444" cy="1710372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84" name="직선 화살표 연결선 183">
            <a:extLst>
              <a:ext uri="{FF2B5EF4-FFF2-40B4-BE49-F238E27FC236}">
                <a16:creationId xmlns="" xmlns:a16="http://schemas.microsoft.com/office/drawing/2014/main" id="{1598BC09-F3C7-4642-8309-9D5205C9902D}"/>
              </a:ext>
            </a:extLst>
          </p:cNvPr>
          <p:cNvCxnSpPr>
            <a:cxnSpLocks/>
            <a:stCxn id="134" idx="3"/>
            <a:endCxn id="80" idx="1"/>
          </p:cNvCxnSpPr>
          <p:nvPr/>
        </p:nvCxnSpPr>
        <p:spPr bwMode="auto">
          <a:xfrm>
            <a:off x="5060225" y="4467520"/>
            <a:ext cx="861088" cy="161192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87" name="직선 화살표 연결선 186">
            <a:extLst>
              <a:ext uri="{FF2B5EF4-FFF2-40B4-BE49-F238E27FC236}">
                <a16:creationId xmlns="" xmlns:a16="http://schemas.microsoft.com/office/drawing/2014/main" id="{1598BC09-F3C7-4642-8309-9D5205C9902D}"/>
              </a:ext>
            </a:extLst>
          </p:cNvPr>
          <p:cNvCxnSpPr>
            <a:cxnSpLocks/>
            <a:stCxn id="73" idx="3"/>
            <a:endCxn id="80" idx="1"/>
          </p:cNvCxnSpPr>
          <p:nvPr/>
        </p:nvCxnSpPr>
        <p:spPr bwMode="auto">
          <a:xfrm flipV="1">
            <a:off x="5059869" y="4628712"/>
            <a:ext cx="861444" cy="429456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91" name="직선 화살표 연결선 190">
            <a:extLst>
              <a:ext uri="{FF2B5EF4-FFF2-40B4-BE49-F238E27FC236}">
                <a16:creationId xmlns="" xmlns:a16="http://schemas.microsoft.com/office/drawing/2014/main" id="{561B8A9D-2DA9-4BB1-BC0E-50EA795E8587}"/>
              </a:ext>
            </a:extLst>
          </p:cNvPr>
          <p:cNvCxnSpPr>
            <a:cxnSpLocks/>
            <a:stCxn id="132" idx="3"/>
            <a:endCxn id="81" idx="1"/>
          </p:cNvCxnSpPr>
          <p:nvPr/>
        </p:nvCxnSpPr>
        <p:spPr bwMode="auto">
          <a:xfrm>
            <a:off x="5059869" y="3879258"/>
            <a:ext cx="861444" cy="268995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94" name="직선 화살표 연결선 193">
            <a:extLst>
              <a:ext uri="{FF2B5EF4-FFF2-40B4-BE49-F238E27FC236}">
                <a16:creationId xmlns="" xmlns:a16="http://schemas.microsoft.com/office/drawing/2014/main" id="{561B8A9D-2DA9-4BB1-BC0E-50EA795E8587}"/>
              </a:ext>
            </a:extLst>
          </p:cNvPr>
          <p:cNvCxnSpPr>
            <a:cxnSpLocks/>
            <a:stCxn id="133" idx="3"/>
            <a:endCxn id="81" idx="1"/>
          </p:cNvCxnSpPr>
          <p:nvPr/>
        </p:nvCxnSpPr>
        <p:spPr bwMode="auto">
          <a:xfrm flipV="1">
            <a:off x="5059869" y="4148253"/>
            <a:ext cx="861444" cy="25136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197" name="직선 화살표 연결선 196">
            <a:extLst>
              <a:ext uri="{FF2B5EF4-FFF2-40B4-BE49-F238E27FC236}">
                <a16:creationId xmlns="" xmlns:a16="http://schemas.microsoft.com/office/drawing/2014/main" id="{561B8A9D-2DA9-4BB1-BC0E-50EA795E8587}"/>
              </a:ext>
            </a:extLst>
          </p:cNvPr>
          <p:cNvCxnSpPr>
            <a:cxnSpLocks/>
            <a:stCxn id="134" idx="3"/>
            <a:endCxn id="81" idx="1"/>
          </p:cNvCxnSpPr>
          <p:nvPr/>
        </p:nvCxnSpPr>
        <p:spPr bwMode="auto">
          <a:xfrm flipV="1">
            <a:off x="5060225" y="4148253"/>
            <a:ext cx="861088" cy="319267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200" name="직선 화살표 연결선 199">
            <a:extLst>
              <a:ext uri="{FF2B5EF4-FFF2-40B4-BE49-F238E27FC236}">
                <a16:creationId xmlns="" xmlns:a16="http://schemas.microsoft.com/office/drawing/2014/main" id="{561B8A9D-2DA9-4BB1-BC0E-50EA795E8587}"/>
              </a:ext>
            </a:extLst>
          </p:cNvPr>
          <p:cNvCxnSpPr>
            <a:cxnSpLocks/>
            <a:stCxn id="135" idx="3"/>
            <a:endCxn id="81" idx="1"/>
          </p:cNvCxnSpPr>
          <p:nvPr/>
        </p:nvCxnSpPr>
        <p:spPr bwMode="auto">
          <a:xfrm flipV="1">
            <a:off x="5060225" y="4148253"/>
            <a:ext cx="861088" cy="613398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204" name="직선 화살표 연결선 203">
            <a:extLst>
              <a:ext uri="{FF2B5EF4-FFF2-40B4-BE49-F238E27FC236}">
                <a16:creationId xmlns="" xmlns:a16="http://schemas.microsoft.com/office/drawing/2014/main" id="{561B8A9D-2DA9-4BB1-BC0E-50EA795E8587}"/>
              </a:ext>
            </a:extLst>
          </p:cNvPr>
          <p:cNvCxnSpPr>
            <a:cxnSpLocks/>
            <a:stCxn id="73" idx="3"/>
            <a:endCxn id="81" idx="1"/>
          </p:cNvCxnSpPr>
          <p:nvPr/>
        </p:nvCxnSpPr>
        <p:spPr bwMode="auto">
          <a:xfrm flipV="1">
            <a:off x="5059869" y="4148253"/>
            <a:ext cx="861444" cy="909915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207" name="직선 화살표 연결선 206">
            <a:extLst>
              <a:ext uri="{FF2B5EF4-FFF2-40B4-BE49-F238E27FC236}">
                <a16:creationId xmlns="" xmlns:a16="http://schemas.microsoft.com/office/drawing/2014/main" id="{561B8A9D-2DA9-4BB1-BC0E-50EA795E8587}"/>
              </a:ext>
            </a:extLst>
          </p:cNvPr>
          <p:cNvCxnSpPr>
            <a:cxnSpLocks/>
            <a:stCxn id="133" idx="3"/>
            <a:endCxn id="80" idx="1"/>
          </p:cNvCxnSpPr>
          <p:nvPr/>
        </p:nvCxnSpPr>
        <p:spPr bwMode="auto">
          <a:xfrm>
            <a:off x="5059869" y="4173389"/>
            <a:ext cx="861444" cy="455323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oval" w="med" len="med"/>
            <a:tailEnd type="triangle"/>
          </a:ln>
          <a:effectLst/>
        </p:spPr>
      </p:cxnSp>
      <p:cxnSp>
        <p:nvCxnSpPr>
          <p:cNvPr id="211" name="직선 화살표 연결선 210">
            <a:extLst>
              <a:ext uri="{FF2B5EF4-FFF2-40B4-BE49-F238E27FC236}">
                <a16:creationId xmlns="" xmlns:a16="http://schemas.microsoft.com/office/drawing/2014/main" id="{1598BC09-F3C7-4642-8309-9D5205C9902D}"/>
              </a:ext>
            </a:extLst>
          </p:cNvPr>
          <p:cNvCxnSpPr>
            <a:cxnSpLocks/>
            <a:stCxn id="74" idx="3"/>
            <a:endCxn id="83" idx="1"/>
          </p:cNvCxnSpPr>
          <p:nvPr/>
        </p:nvCxnSpPr>
        <p:spPr bwMode="auto">
          <a:xfrm flipV="1">
            <a:off x="5059869" y="5109171"/>
            <a:ext cx="861444" cy="250219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lgDash"/>
            <a:round/>
            <a:headEnd type="oval" w="med" len="med"/>
            <a:tailEnd type="triangle"/>
          </a:ln>
          <a:effectLst/>
        </p:spPr>
      </p:cxnSp>
      <p:cxnSp>
        <p:nvCxnSpPr>
          <p:cNvPr id="220" name="직선 화살표 연결선 219">
            <a:extLst>
              <a:ext uri="{FF2B5EF4-FFF2-40B4-BE49-F238E27FC236}">
                <a16:creationId xmlns="" xmlns:a16="http://schemas.microsoft.com/office/drawing/2014/main" id="{1598BC09-F3C7-4642-8309-9D5205C9902D}"/>
              </a:ext>
            </a:extLst>
          </p:cNvPr>
          <p:cNvCxnSpPr>
            <a:cxnSpLocks/>
            <a:stCxn id="76" idx="3"/>
            <a:endCxn id="83" idx="1"/>
          </p:cNvCxnSpPr>
          <p:nvPr/>
        </p:nvCxnSpPr>
        <p:spPr bwMode="auto">
          <a:xfrm flipV="1">
            <a:off x="5060225" y="5109171"/>
            <a:ext cx="861088" cy="551440"/>
          </a:xfrm>
          <a:prstGeom prst="straightConnector1">
            <a:avLst/>
          </a:prstGeom>
          <a:solidFill>
            <a:srgbClr val="FBB779"/>
          </a:solidFill>
          <a:ln w="6350" cap="flat" cmpd="sng" algn="ctr">
            <a:solidFill>
              <a:schemeClr val="tx1">
                <a:lumMod val="50000"/>
                <a:lumOff val="50000"/>
              </a:schemeClr>
            </a:solidFill>
            <a:prstDash val="lgDash"/>
            <a:round/>
            <a:headEnd type="oval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6987625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/>
              <a:t>1. </a:t>
            </a:r>
            <a:r>
              <a:rPr lang="ko-KR" altLang="en-US"/>
              <a:t>추진 계획 수립 </a:t>
            </a:r>
            <a:r>
              <a:rPr lang="en-US" altLang="ko-KR" sz="1800" smtClean="0"/>
              <a:t/>
            </a:r>
            <a:br>
              <a:rPr lang="en-US" altLang="ko-KR" sz="1800" smtClean="0"/>
            </a:br>
            <a:r>
              <a:rPr lang="en-US" altLang="ko-KR" sz="1800" smtClean="0"/>
              <a:t>1.2 </a:t>
            </a:r>
            <a:r>
              <a:rPr lang="ko-KR" altLang="en-US" sz="1800" smtClean="0"/>
              <a:t>이행과제의 추진방안</a:t>
            </a:r>
            <a:r>
              <a:rPr lang="en-US" altLang="ko-KR" sz="1800" smtClean="0"/>
              <a:t>(1/5)</a:t>
            </a:r>
            <a:endParaRPr lang="ko-KR" altLang="en-US" sz="18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Ⅳ. </a:t>
            </a:r>
            <a:r>
              <a:rPr lang="ko-KR" altLang="en-US" smtClean="0"/>
              <a:t>이행계획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dirty="0"/>
              <a:t>2. </a:t>
            </a:r>
            <a:r>
              <a:rPr lang="ko-KR" altLang="en-US" dirty="0"/>
              <a:t>추진 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1.2 </a:t>
            </a:r>
            <a:r>
              <a:rPr lang="ko-KR" altLang="en-US" smtClean="0"/>
              <a:t>이행과제의 추진방안</a:t>
            </a:r>
            <a:endParaRPr lang="en-US" altLang="ko-KR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="" xmlns:a16="http://schemas.microsoft.com/office/drawing/2014/main" id="{A996E3CD-DF24-45D0-BEEC-DBD138CCD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5626551"/>
              </p:ext>
            </p:extLst>
          </p:nvPr>
        </p:nvGraphicFramePr>
        <p:xfrm>
          <a:off x="348871" y="988162"/>
          <a:ext cx="9136380" cy="53205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932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64738">
                  <a:extLst>
                    <a:ext uri="{9D8B030D-6E8A-4147-A177-3AD203B41FA5}">
                      <a16:colId xmlns="" xmlns:a16="http://schemas.microsoft.com/office/drawing/2014/main" val="495227927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664219012"/>
                    </a:ext>
                  </a:extLst>
                </a:gridCol>
                <a:gridCol w="15203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5440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68223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이행과제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추진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16366">
                <a:tc rowSpan="3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latinLnBrk="0">
                        <a:defRPr/>
                      </a:pPr>
                      <a:r>
                        <a:rPr lang="en-US" altLang="ko-KR" sz="1000" b="1" kern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DATABASE </a:t>
                      </a:r>
                      <a:r>
                        <a:rPr lang="ko-KR" altLang="en-US" sz="1000" b="1" kern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설계</a:t>
                      </a:r>
                      <a:r>
                        <a:rPr lang="en-US" altLang="ko-KR" sz="1000" b="1" kern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표준화 설계 반영</a:t>
                      </a:r>
                      <a:r>
                        <a:rPr lang="en-US" altLang="ko-KR" sz="1000" b="1" kern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1000" b="1" kern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개선</a:t>
                      </a:r>
                      <a:r>
                        <a:rPr lang="en-US" altLang="ko-KR" sz="1000" b="1" kern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endParaRPr lang="ko-KR" altLang="en-US" sz="1000" b="1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kumimoji="1" lang="en-US" altLang="ko-KR" sz="1000" b="1" kern="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DATABASE</a:t>
                      </a:r>
                      <a:r>
                        <a:rPr kumimoji="1" lang="en-US" altLang="ko-KR" sz="1000" b="1" kern="0" baseline="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1" kern="0" baseline="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표준화 적용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Ⅲ-3.7 DATABASE</a:t>
                      </a:r>
                      <a:r>
                        <a:rPr kumimoji="1" lang="en-US" altLang="ko-KR" sz="1000" b="1" kern="0" baseline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1000" b="1" kern="0" baseline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표준화 적용 </a:t>
                      </a:r>
                      <a:r>
                        <a:rPr kumimoji="1" lang="ko-KR" altLang="en-US" sz="1000" kern="0" baseline="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참조</a:t>
                      </a:r>
                      <a:endParaRPr kumimoji="1" lang="en-US" altLang="ko-KR" sz="1000" kern="0" baseline="0" noProof="0" smtClean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DATABASE </a:t>
                      </a:r>
                      <a:r>
                        <a:rPr lang="ko-KR" altLang="en-US" sz="1000" smtClean="0"/>
                        <a:t>설계와 개발을 표준화하고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전사적인 데이터 표준의 사용 및 재사용을 통해 시스템 간 상호 운용성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데이터 공유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시스템 통합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비즈니스 프로세스 개선 등을 지원 </a:t>
                      </a:r>
                      <a:endParaRPr kumimoji="1" lang="ko-KR" altLang="en-US" sz="1000" kern="0" noProof="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616366">
                <a:tc vMerge="1">
                  <a:txBody>
                    <a:bodyPr/>
                    <a:lstStyle/>
                    <a:p>
                      <a:pPr algn="ctr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데이터 아키텍처</a:t>
                      </a:r>
                      <a:r>
                        <a:rPr lang="en-US" altLang="ko-KR" sz="1000" b="1" smtClean="0"/>
                        <a:t>(DA) </a:t>
                      </a:r>
                      <a:r>
                        <a:rPr lang="ko-KR" altLang="en-US" sz="1000" b="1" smtClean="0"/>
                        <a:t>표준 준수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Ⅲ-2.9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데이터 아키텍처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(DA)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표준 준수 </a:t>
                      </a:r>
                      <a:r>
                        <a:rPr lang="ko-KR" altLang="en-US" sz="1000" smtClean="0"/>
                        <a:t>참조</a:t>
                      </a:r>
                      <a:endParaRPr lang="ko-KR" altLang="en-US" sz="1000" b="1" i="0" u="none" strike="noStrike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mtClean="0"/>
                        <a:t>데이터 품질 방침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데이터 관리 조직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데이터 품질지표 관리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데이터 구조관리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연계정보 관리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데이터 표준관리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데이터 품질관리 프로세스 준수</a:t>
                      </a:r>
                      <a:endParaRPr kumimoji="1" lang="ko-KR" altLang="en-US" sz="1000" kern="0" noProof="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67204475"/>
                  </a:ext>
                </a:extLst>
              </a:tr>
              <a:tr h="616366">
                <a:tc vMerge="1">
                  <a:txBody>
                    <a:bodyPr/>
                    <a:lstStyle/>
                    <a:p>
                      <a:pPr algn="ctr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데이터관리체계 표준화 방안 수립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2.10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데이터관리체계 표준화 방안 수립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mtClean="0"/>
                        <a:t>현행 </a:t>
                      </a:r>
                      <a:r>
                        <a:rPr lang="en-US" altLang="ko-KR" sz="1000" smtClean="0"/>
                        <a:t>DATABASE </a:t>
                      </a:r>
                      <a:r>
                        <a:rPr lang="ko-KR" altLang="en-US" sz="1000" smtClean="0"/>
                        <a:t>점검 결과 데이터품질관리체계를 강화하고 체계적인 품질관리 업무 지원을 위한 데이터 품질관리 표준화 방안 수립이 가장 우선 과제로 식별됨 </a:t>
                      </a:r>
                      <a:endParaRPr kumimoji="1" lang="ko-KR" altLang="en-US" sz="1000" kern="0" noProof="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76879302"/>
                  </a:ext>
                </a:extLst>
              </a:tr>
              <a:tr h="616366">
                <a:tc rowSpan="3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lvl="0" latinLnBrk="0"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자산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회계 데이터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단일화 및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정합성 처리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자산 데이터 일원화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2.6.2.1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시스템 자산목록과 회계 자산목록의 일치</a:t>
                      </a:r>
                      <a:r>
                        <a:rPr lang="ko-KR" altLang="en-US" sz="1000" smtClean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kern="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회계에서 감가상각을 위해 관리하는 자산 목록과 시스템에서 관리하는 실물 자산의 목록과 금액을 동일하게 처리하여 시스템에서 감가상각을 수행하고</a:t>
                      </a:r>
                      <a:r>
                        <a:rPr kumimoji="1" lang="en-US" altLang="ko-KR" sz="1000" kern="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1000" kern="0" noProof="0" smtClean="0">
                          <a:solidFill>
                            <a:prstClr val="black"/>
                          </a:solidFill>
                          <a:latin typeface="+mn-lt"/>
                          <a:ea typeface="+mn-ea"/>
                          <a:cs typeface="+mn-cs"/>
                        </a:rPr>
                        <a:t>감가상각 전표를 생성하는 기능 구축</a:t>
                      </a:r>
                      <a:endParaRPr kumimoji="1" lang="ko-KR" altLang="en-US" sz="1000" kern="0" noProof="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83791880"/>
                  </a:ext>
                </a:extLst>
              </a:tr>
              <a:tr h="616366">
                <a:tc vMerge="1">
                  <a:txBody>
                    <a:bodyPr/>
                    <a:lstStyle/>
                    <a:p>
                      <a:pPr algn="ctr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회계 결산자료의 시스템 반영 및 결산 기능 구축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2.4.2.7 2022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년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,2023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년 결산자료의 시스템 반영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회계시스템과 결산장부가 일치할 수 있도록 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2022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년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, 2023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년 미처리된 결의서 데이터를 전표화하고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각종 회계장부의 기능 확인 및 고도화와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결산 기능 구축에 의해 시스템으로 결산 처리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</a:t>
                      </a:r>
                      <a:endParaRPr kumimoji="1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784202">
                <a:tc vMerge="1">
                  <a:txBody>
                    <a:bodyPr/>
                    <a:lstStyle/>
                    <a:p>
                      <a:pPr algn="ctr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업무처리를 위한 가장 기본적인 기능 구축 필요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Ⅱ-2.3.4.1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업무 운용성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분석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mtClean="0"/>
                        <a:t>현행 </a:t>
                      </a:r>
                      <a:r>
                        <a:rPr lang="en-US" altLang="ko-KR" sz="1000" smtClean="0"/>
                        <a:t>ERP</a:t>
                      </a:r>
                      <a:r>
                        <a:rPr lang="ko-KR" altLang="en-US" sz="1000" smtClean="0"/>
                        <a:t>시스템에서 예산 업무 외에는 업무를 처리하기 위한 기본 기능이 결여된 상태이므로 업무별로 단일 업무의 시작점부터 종료점까지의 기본기능을 우선적으로 구축하여 단일화된 시스템에서 업무를 수행하여 데이터를 관리할 수 있도록 처리하는 사업이 필수적임</a:t>
                      </a:r>
                      <a:endParaRPr kumimoji="1" lang="ko-KR" altLang="en-US" sz="1000" kern="0" dirty="0">
                        <a:solidFill>
                          <a:prstClr val="black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63845878"/>
                  </a:ext>
                </a:extLst>
              </a:tr>
              <a:tr h="1086306"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기준정보 체계화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기준정보의 통합 설계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기준정보의 통합 관리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93663" marR="0" lvl="0" indent="-93663" algn="l" defTabSz="979488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kumimoji="1" lang="en-US" altLang="ko-KR" sz="1000" b="1" kern="0" smtClean="0">
                          <a:solidFill>
                            <a:srgbClr val="0000CC"/>
                          </a:solidFill>
                        </a:rPr>
                        <a:t>2.2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기준정보 관리체계 개선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b="1" smtClean="0">
                        <a:solidFill>
                          <a:srgbClr val="0000CC"/>
                        </a:solidFill>
                      </a:endParaRPr>
                    </a:p>
                    <a:p>
                      <a:pPr marL="0" marR="0" lvl="0" indent="0" algn="l" defTabSz="979488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각 업무별로 사용하고 있는 거래처코드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사업코드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사업장 코드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물품코드 등의 기준정보는 통합된 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TABLE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에 관리하고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각 필요에 따라 입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출력 형태를 다르게 관리할 수 있도록 설계하고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</a:p>
                    <a:p>
                      <a:pPr marL="0" marR="0" lvl="0" indent="0" algn="l" defTabSz="979488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동일한 성격의 일반코드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결재진행구분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증빙구분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단위구분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국가코드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화폐코드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조달구분 등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은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DATABASE</a:t>
                      </a:r>
                      <a:r>
                        <a:rPr kumimoji="1" lang="en-US" altLang="ko-KR" sz="1000" kern="0" baseline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표준화에 의해 동일한 칼럼아이디를 사용하여 단일화하여 관리</a:t>
                      </a:r>
                      <a:endParaRPr kumimoji="1" lang="ko-KR" altLang="en-US" sz="1000" kern="0" dirty="0">
                        <a:solidFill>
                          <a:prstClr val="black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05155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/>
              <a:t>1. </a:t>
            </a:r>
            <a:r>
              <a:rPr lang="ko-KR" altLang="en-US"/>
              <a:t>추진 계획 수립 </a:t>
            </a:r>
            <a:r>
              <a:rPr lang="en-US" altLang="ko-KR" sz="1800" smtClean="0"/>
              <a:t/>
            </a:r>
            <a:br>
              <a:rPr lang="en-US" altLang="ko-KR" sz="1800" smtClean="0"/>
            </a:br>
            <a:r>
              <a:rPr lang="en-US" altLang="ko-KR" sz="1800" smtClean="0"/>
              <a:t>1.2 </a:t>
            </a:r>
            <a:r>
              <a:rPr lang="ko-KR" altLang="en-US" sz="1800" smtClean="0"/>
              <a:t>이행과제의 추진방안</a:t>
            </a:r>
            <a:r>
              <a:rPr lang="en-US" altLang="ko-KR" sz="1800" smtClean="0"/>
              <a:t>(2/5)</a:t>
            </a:r>
            <a:endParaRPr lang="ko-KR" altLang="en-US" sz="18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6473951" y="0"/>
            <a:ext cx="3041957" cy="78268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Ⅳ. </a:t>
            </a:r>
            <a:r>
              <a:rPr lang="ko-KR" altLang="en-US" smtClean="0"/>
              <a:t>이행계획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 </a:t>
            </a:r>
            <a:r>
              <a:rPr lang="ko-KR" altLang="en-US" dirty="0"/>
              <a:t>추진 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1.1 </a:t>
            </a:r>
            <a:r>
              <a:rPr lang="ko-KR" altLang="en-US"/>
              <a:t>이행과제의 </a:t>
            </a:r>
            <a:r>
              <a:rPr lang="ko-KR" altLang="en-US" smtClean="0"/>
              <a:t>추진방안</a:t>
            </a:r>
            <a:endParaRPr lang="en-US" altLang="ko-KR"/>
          </a:p>
        </p:txBody>
      </p:sp>
      <p:graphicFrame>
        <p:nvGraphicFramePr>
          <p:cNvPr id="21" name="표 20">
            <a:extLst>
              <a:ext uri="{FF2B5EF4-FFF2-40B4-BE49-F238E27FC236}">
                <a16:creationId xmlns="" xmlns:a16="http://schemas.microsoft.com/office/drawing/2014/main" id="{A996E3CD-DF24-45D0-BEEC-DBD138CCD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725819"/>
              </p:ext>
            </p:extLst>
          </p:nvPr>
        </p:nvGraphicFramePr>
        <p:xfrm>
          <a:off x="348871" y="981074"/>
          <a:ext cx="9136380" cy="53985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932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64738">
                  <a:extLst>
                    <a:ext uri="{9D8B030D-6E8A-4147-A177-3AD203B41FA5}">
                      <a16:colId xmlns="" xmlns:a16="http://schemas.microsoft.com/office/drawing/2014/main" val="495227927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664219012"/>
                    </a:ext>
                  </a:extLst>
                </a:gridCol>
                <a:gridCol w="15203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5440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56498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이행과제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추진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701788">
                <a:tc rowSpan="3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업무 흐름에 부합하는 프로그램 기능 설계</a:t>
                      </a:r>
                      <a:r>
                        <a:rPr kumimoji="0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/</a:t>
                      </a: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구축</a:t>
                      </a:r>
                    </a:p>
                    <a:p>
                      <a:pPr lvl="0" latinLnBrk="0">
                        <a:defRPr/>
                      </a:pPr>
                      <a:r>
                        <a:rPr lang="en-US" altLang="ko-KR" sz="1000" b="1" kern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endParaRPr lang="ko-KR" altLang="en-US" sz="1000" b="1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kumimoji="1" lang="ko-KR" altLang="en-US" sz="1000" b="1" kern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업무별 기본 기능 충족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Ⅲ-3.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업무별 개선안 설계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mtClean="0"/>
                        <a:t>단위업무 분류별로 요구기능을 충족하고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업무 프로세스를 진행할 수 있는 최소한의 기능을 신속하게 구축하여 제공함으로써</a:t>
                      </a:r>
                      <a:r>
                        <a:rPr lang="en-US" altLang="ko-KR" sz="1000" smtClean="0"/>
                        <a:t>,</a:t>
                      </a:r>
                      <a:r>
                        <a:rPr lang="ko-KR" altLang="en-US" sz="1000" smtClean="0"/>
                        <a:t> 시스템 내에서 담당업무를 추진할 수 있다는 사용자의 신뢰를 바탕으로 코레일테크의 최적화시스템을 구현할 수 있음</a:t>
                      </a:r>
                      <a:r>
                        <a:rPr lang="en-US" altLang="ko-KR" sz="1000" smtClean="0"/>
                        <a:t> </a:t>
                      </a:r>
                      <a:endParaRPr kumimoji="1" lang="ko-KR" altLang="en-US" sz="1000" kern="0" dirty="0">
                        <a:solidFill>
                          <a:prstClr val="black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851985">
                <a:tc vMerge="1">
                  <a:txBody>
                    <a:bodyPr/>
                    <a:lstStyle/>
                    <a:p>
                      <a:pPr algn="ctr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사용자 중심의 기능 구축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Ⅱ- 2.3.5.5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이해관계자 인터뷰 결과 통계 </a:t>
                      </a:r>
                      <a:r>
                        <a:rPr lang="ko-KR" altLang="en-US" sz="1000" smtClean="0"/>
                        <a:t>참조</a:t>
                      </a:r>
                      <a:endParaRPr lang="ko-KR" altLang="en-US" sz="1000" b="1" i="0" u="none" strike="noStrike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이해관계자 요구 분석 결과 업무를 처리하는 기본기능 누락은 물론 사용하고 있는 기능에서도 사용자 중심의 업무흐름이 연결되지 않아서 업무처리에 대한 확신이 부족한 상태이며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이를 해소하기 위해서는 설계 및 테스트 시점에 사용자가 참여하여 단위 화면의 기능에서부터 후속 업무처리까지 확인할 수 있는 개발방법의 도입이 필요함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kumimoji="1" lang="ko-KR" altLang="en-US" sz="1000" kern="0" noProof="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67204475"/>
                  </a:ext>
                </a:extLst>
              </a:tr>
              <a:tr h="859495">
                <a:tc vMerge="1">
                  <a:txBody>
                    <a:bodyPr/>
                    <a:lstStyle/>
                    <a:p>
                      <a:pPr algn="ctr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데이터 흐름에 의한 표준화 업무 처리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Ⅱ- 2.3.3.1 DATABASE/DATA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분석 개요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ko-KR" altLang="en-US" sz="1000" spc="-30" smtClean="0">
                          <a:latin typeface="+mn-ea"/>
                        </a:rPr>
                        <a:t>데이터베이스에서 제공하는 기능을 사용하여 업무처리의 신속성과 업무 정합성을 유지할 수 있도록  설계하여 후속 업무에 진행을 </a:t>
                      </a:r>
                      <a:r>
                        <a:rPr lang="en-US" altLang="ko-KR" sz="1000" spc="-30" smtClean="0">
                          <a:latin typeface="+mn-ea"/>
                        </a:rPr>
                        <a:t>PUSH</a:t>
                      </a:r>
                      <a:r>
                        <a:rPr lang="ko-KR" altLang="en-US" sz="1000" spc="-30" smtClean="0">
                          <a:latin typeface="+mn-ea"/>
                        </a:rPr>
                        <a:t>하는 데이터를 생성하거나</a:t>
                      </a:r>
                      <a:r>
                        <a:rPr lang="en-US" altLang="ko-KR" sz="1000" spc="-30" smtClean="0">
                          <a:latin typeface="+mn-ea"/>
                        </a:rPr>
                        <a:t>,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1000" spc="-30" smtClean="0">
                          <a:latin typeface="+mn-ea"/>
                        </a:rPr>
                        <a:t>진행상태에 따라 자동으로 집계 및 자료생성을 처리하는 표준화된 기능을 구축하여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업무와 데이터의 흐름이 일관성있고 데이터의 정합성을 유지할 수 있도록 함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76879302"/>
                  </a:ext>
                </a:extLst>
              </a:tr>
              <a:tr h="1002183">
                <a:tc rowSpan="3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사용자 편의를 제공하는 </a:t>
                      </a:r>
                      <a:r>
                        <a:rPr kumimoji="0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UI-UX </a:t>
                      </a: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표준 설계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기본적인 </a:t>
                      </a:r>
                      <a:r>
                        <a:rPr lang="en-US" altLang="ko-KR" sz="1000" b="1" smtClean="0"/>
                        <a:t>UI_UX</a:t>
                      </a:r>
                      <a:r>
                        <a:rPr lang="en-US" altLang="ko-KR" sz="1000" b="1" baseline="0" smtClean="0"/>
                        <a:t> </a:t>
                      </a:r>
                      <a:r>
                        <a:rPr lang="ko-KR" altLang="en-US" sz="1000" b="1" smtClean="0"/>
                        <a:t>기능 제공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Ⅱ- 2.3.5.5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이해관계자 인터뷰 결과 통계 </a:t>
                      </a:r>
                      <a:r>
                        <a:rPr lang="ko-KR" altLang="en-US" sz="1000" smtClean="0"/>
                        <a:t>참조</a:t>
                      </a:r>
                      <a:endParaRPr lang="ko-KR" altLang="en-US" sz="1000" b="1" i="0" u="none" strike="noStrike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시스템 현황 조사 결과 업무를 처리하는 개별 프로그램별의 기능이 기본적으로 인식하고 있는 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UI-UX </a:t>
                      </a: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수준에 미치지 못하고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이해관계자 요구 분석 결과 프로그램의 기본 기능 및 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프로세스 처리 체계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사용자 중심의 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UI-UX</a:t>
                      </a:r>
                      <a:r>
                        <a:rPr lang="en-US" altLang="ko-KR" sz="1000" kern="0" baseline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00" kern="0" baseline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등에 개한 요구사항이 가장 많은 것으로 조</a:t>
                      </a: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사되었으며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이를 개선하기 위해서는 기본적인 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UI </a:t>
                      </a: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표준부터 새롭게 마련하고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업무 프로세스에 따르는 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UX</a:t>
                      </a: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를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lang="ko-KR" altLang="en-US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설계하여 기본 업무처리에 누락된 부분이 없도록 표준을 준수하는 프로그래밍 체제의 도입을 권고함</a:t>
                      </a:r>
                      <a:r>
                        <a:rPr lang="en-US" altLang="ko-KR" sz="1000" kern="0" smtClean="0">
                          <a:solidFill>
                            <a:srgbClr val="000000"/>
                          </a:solidFill>
                          <a:latin typeface="맑은 고딕" pitchFamily="50" charset="-127"/>
                          <a:ea typeface="+mn-ea"/>
                        </a:rPr>
                        <a:t> </a:t>
                      </a:r>
                      <a:endParaRPr kumimoji="1" lang="ko-KR" altLang="en-US" sz="1000" kern="0" noProof="0" dirty="0">
                        <a:solidFill>
                          <a:prstClr val="black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83791880"/>
                  </a:ext>
                </a:extLst>
              </a:tr>
              <a:tr h="851985">
                <a:tc vMerge="1">
                  <a:txBody>
                    <a:bodyPr/>
                    <a:lstStyle/>
                    <a:p>
                      <a:pPr algn="ctr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 중심의 </a:t>
                      </a:r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UI-UX </a:t>
                      </a:r>
                      <a:r>
                        <a:rPr lang="ko-KR" altLang="en-US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구축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Ⅱ-2.4.4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적용가능 기술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사용자가 요구하는 화면과 기능을 제공하기 위해서는 우선 화면 표준을 제시하고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사용자가 표준 내에서 화면의 구성이나 기능 구성을 직접 요청하는 방식으로 진행될 수 있도록 해야 하며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이를 가능하게 하는 개발방법을 도입하여 화면설계 및 테스트시점에 사용자가 직접 참여하여 의견을 제시하여 즉석에서 반영될 수 있도록 함으로써 사용자 중심의 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UI-UX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를 구현함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</a:t>
                      </a:r>
                      <a:endParaRPr kumimoji="1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695206">
                <a:tc vMerge="1">
                  <a:txBody>
                    <a:bodyPr/>
                    <a:lstStyle/>
                    <a:p>
                      <a:pPr algn="ctr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 latinLnBrk="0"/>
                      <a:r>
                        <a:rPr lang="ko-KR" altLang="en-US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규직적이고 반복적인 업무의 자동화 필요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Ⅱ-2.4.4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적용가능 기술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mtClean="0"/>
                        <a:t>연계되지 않는 시스템에서 자료를 취합하거나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내부시스템의 자료를 외부시스템에 입력하는 등의 규칙적이고 반복적인 업무를 처리하는</a:t>
                      </a:r>
                      <a:r>
                        <a:rPr lang="en-US" altLang="ko-KR" sz="1000" smtClean="0"/>
                        <a:t> </a:t>
                      </a:r>
                      <a:r>
                        <a:rPr lang="ko-KR" altLang="en-US" sz="1000" smtClean="0"/>
                        <a:t>솔루션을 도입하여 신속한 정보제공 및 보고처리를 가능하게 함으로써 고급인력의 단순업무 처리를 최소화하고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업무처리 능률을 제고함</a:t>
                      </a:r>
                      <a:r>
                        <a:rPr lang="en-US" altLang="ko-KR" sz="1000" smtClean="0"/>
                        <a:t> </a:t>
                      </a:r>
                      <a:endParaRPr kumimoji="1" lang="ko-KR" altLang="en-US" sz="1000" kern="0" dirty="0">
                        <a:solidFill>
                          <a:prstClr val="black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63845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34748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/>
              <a:t>1. </a:t>
            </a:r>
            <a:r>
              <a:rPr lang="ko-KR" altLang="en-US"/>
              <a:t>추진 계획 수립 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1.2 </a:t>
            </a:r>
            <a:r>
              <a:rPr lang="ko-KR" altLang="en-US" sz="1800"/>
              <a:t>이행과제의 </a:t>
            </a:r>
            <a:r>
              <a:rPr lang="ko-KR" altLang="en-US" sz="1800" smtClean="0"/>
              <a:t>추진방안</a:t>
            </a:r>
            <a:r>
              <a:rPr lang="en-US" altLang="ko-KR" sz="1800" smtClean="0"/>
              <a:t>(3/5)</a:t>
            </a:r>
            <a:endParaRPr lang="ko-KR" altLang="en-US" sz="18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7013447" y="0"/>
            <a:ext cx="2502461" cy="78268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Ⅳ. </a:t>
            </a:r>
            <a:r>
              <a:rPr lang="ko-KR" altLang="en-US" smtClean="0"/>
              <a:t>이행계획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 </a:t>
            </a:r>
            <a:r>
              <a:rPr lang="ko-KR" altLang="en-US" dirty="0"/>
              <a:t>추진 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1.1 </a:t>
            </a:r>
            <a:r>
              <a:rPr lang="ko-KR" altLang="en-US"/>
              <a:t>이행과제의 추진방안</a:t>
            </a:r>
            <a:endParaRPr lang="en-US" altLang="ko-KR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="" xmlns:a16="http://schemas.microsoft.com/office/drawing/2014/main" id="{A996E3CD-DF24-45D0-BEEC-DBD138CCD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4554808"/>
              </p:ext>
            </p:extLst>
          </p:nvPr>
        </p:nvGraphicFramePr>
        <p:xfrm>
          <a:off x="348871" y="988162"/>
          <a:ext cx="9136380" cy="535473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932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64738">
                  <a:extLst>
                    <a:ext uri="{9D8B030D-6E8A-4147-A177-3AD203B41FA5}">
                      <a16:colId xmlns="" xmlns:a16="http://schemas.microsoft.com/office/drawing/2014/main" val="495227927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664219012"/>
                    </a:ext>
                  </a:extLst>
                </a:gridCol>
                <a:gridCol w="15203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5440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66936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이행과제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추진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741134">
                <a:tc rowSpan="3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0">
                        <a:defRPr/>
                      </a:pPr>
                      <a:r>
                        <a:rPr lang="ko-KR" altLang="en-US" sz="1000" b="1" kern="0" smtClean="0">
                          <a:solidFill>
                            <a:sysClr val="windowText" lastClr="000000"/>
                          </a:solidFill>
                          <a:latin typeface="+mn-ea"/>
                        </a:rPr>
                        <a:t>예산관리 업무 개선 </a:t>
                      </a:r>
                    </a:p>
                    <a:p>
                      <a:pPr lvl="0" latinLnBrk="0">
                        <a:defRPr/>
                      </a:pPr>
                      <a:r>
                        <a:rPr lang="en-US" altLang="ko-KR" sz="1000" b="1" kern="0" smtClean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</a:rPr>
                        <a:t> </a:t>
                      </a:r>
                      <a:endParaRPr lang="ko-KR" altLang="en-US" sz="1000" b="1" kern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kumimoji="1" lang="ko-KR" altLang="en-US" sz="1000" b="1" kern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예산관리 업무 개선점 도출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2.3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예산관리 개선 및 업무 효율화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lvl="0" indent="0" defTabSz="979488" latinLnBrk="0">
                        <a:spcBef>
                          <a:spcPct val="50000"/>
                        </a:spcBef>
                        <a:buFont typeface="Wingdings" pitchFamily="2" charset="2"/>
                        <a:buNone/>
                        <a:defRPr/>
                      </a:pP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예산편성</a:t>
                      </a:r>
                      <a:r>
                        <a:rPr kumimoji="1" lang="ko-KR" altLang="en-US" sz="1000" b="0" i="0" u="none" strike="noStrike" kern="0" cap="none" spc="0" normalizeH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업무를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 정형화되고 세분화된 입력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방식으로 전환하여 일관되고 명확한 예산편성과 분석 체계를 설계하고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예산 편성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&gt;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배정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&gt;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조정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&gt;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집행통제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&gt;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실적집계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&gt;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예산결산 업무의 체계화와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예산편성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~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예산결산 전 과정의 신청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/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승인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/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확정 처리의 전자결재 연동 처리</a:t>
                      </a:r>
                      <a:endParaRPr kumimoji="1" lang="en-US" altLang="ko-KR" sz="1000" kern="0" smtClean="0">
                        <a:solidFill>
                          <a:prstClr val="black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15695">
                <a:tc vMerge="1">
                  <a:txBody>
                    <a:bodyPr/>
                    <a:lstStyle/>
                    <a:p>
                      <a:pPr algn="ctr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업무별 개선 방안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3.2.1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예산관리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업무분류 및 기능 정의 </a:t>
                      </a:r>
                      <a:r>
                        <a:rPr lang="ko-KR" altLang="en-US" sz="1000" smtClean="0"/>
                        <a:t>참조</a:t>
                      </a:r>
                      <a:endParaRPr lang="ko-KR" altLang="en-US" sz="1000" b="1" i="0" u="none" strike="noStrike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1000" smtClean="0"/>
                        <a:t>수작업으로</a:t>
                      </a:r>
                      <a:r>
                        <a:rPr lang="en-US" altLang="ko-KR" sz="1000" smtClean="0"/>
                        <a:t> </a:t>
                      </a:r>
                      <a:r>
                        <a:rPr lang="ko-KR" altLang="en-US" sz="1000" smtClean="0"/>
                        <a:t>처리하고 있는 중기사업계획을 시스템화하고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예산편성 효율화를 위해 각 부서에서 사업별 예산요구안을 정형화된 형태로 입력하여 신청하고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이를 취합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조정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심의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확정하는 처리와 예산 집행계획</a:t>
                      </a:r>
                      <a:r>
                        <a:rPr lang="en-US" altLang="ko-KR" sz="1000" smtClean="0"/>
                        <a:t>/</a:t>
                      </a:r>
                      <a:r>
                        <a:rPr lang="ko-KR" altLang="en-US" sz="1000" smtClean="0"/>
                        <a:t>배정</a:t>
                      </a:r>
                      <a:r>
                        <a:rPr lang="en-US" altLang="ko-KR" sz="1000" smtClean="0"/>
                        <a:t>/</a:t>
                      </a:r>
                      <a:r>
                        <a:rPr lang="ko-KR" altLang="en-US" sz="1000" smtClean="0"/>
                        <a:t>변경</a:t>
                      </a:r>
                      <a:r>
                        <a:rPr lang="en-US" altLang="ko-KR" sz="1000" smtClean="0"/>
                        <a:t>(</a:t>
                      </a:r>
                      <a:r>
                        <a:rPr lang="ko-KR" altLang="en-US" sz="1000" smtClean="0"/>
                        <a:t>전용</a:t>
                      </a:r>
                      <a:r>
                        <a:rPr lang="en-US" altLang="ko-KR" sz="1000" smtClean="0"/>
                        <a:t>,</a:t>
                      </a:r>
                      <a:r>
                        <a:rPr lang="ko-KR" altLang="en-US" sz="1000" smtClean="0"/>
                        <a:t>추경</a:t>
                      </a:r>
                      <a:r>
                        <a:rPr lang="en-US" altLang="ko-KR" sz="1000" smtClean="0"/>
                        <a:t>)/</a:t>
                      </a:r>
                      <a:r>
                        <a:rPr lang="ko-KR" altLang="en-US" sz="1000" smtClean="0"/>
                        <a:t>집행</a:t>
                      </a:r>
                      <a:r>
                        <a:rPr lang="en-US" altLang="ko-KR" sz="1000" smtClean="0"/>
                        <a:t>/</a:t>
                      </a:r>
                      <a:r>
                        <a:rPr lang="ko-KR" altLang="en-US" sz="1000" smtClean="0"/>
                        <a:t>결산하는 과정을 체계적으로 개선함</a:t>
                      </a:r>
                      <a:endParaRPr lang="ko-KR" altLang="en-US" sz="10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67204475"/>
                  </a:ext>
                </a:extLst>
              </a:tr>
              <a:tr h="860996">
                <a:tc vMerge="1">
                  <a:txBody>
                    <a:bodyPr/>
                    <a:lstStyle/>
                    <a:p>
                      <a:pPr algn="ctr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구현을 위한 요구사항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3.2.1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예산관리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업무분류 및 기능 정의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1) </a:t>
                      </a:r>
                      <a:r>
                        <a:rPr lang="ko-KR" altLang="en-US" sz="1000" spc="-30" smtClean="0">
                          <a:latin typeface="+mn-ea"/>
                        </a:rPr>
                        <a:t>예산편성 자료의 입력 및 확정처리 시스템화로 예산편성 세부내역과 편성차수별 이력을 관리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2) </a:t>
                      </a:r>
                      <a:r>
                        <a:rPr lang="ko-KR" altLang="en-US" sz="1000" spc="-30" smtClean="0">
                          <a:latin typeface="+mn-ea"/>
                        </a:rPr>
                        <a:t>추가 요구기능의 도입 </a:t>
                      </a:r>
                      <a:r>
                        <a:rPr lang="en-US" altLang="ko-KR" sz="1000" spc="-30" smtClean="0">
                          <a:latin typeface="+mn-ea"/>
                        </a:rPr>
                        <a:t>– </a:t>
                      </a:r>
                      <a:r>
                        <a:rPr lang="ko-KR" altLang="en-US" sz="1000" spc="-30" smtClean="0">
                          <a:latin typeface="+mn-ea"/>
                        </a:rPr>
                        <a:t>예산통제기능 데이터화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중기사업계획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예산절감목표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예산이월처리</a:t>
                      </a:r>
                      <a:r>
                        <a:rPr lang="en-US" altLang="ko-KR" sz="1000" spc="-30" smtClean="0">
                          <a:latin typeface="+mn-ea"/>
                        </a:rPr>
                        <a:t>  </a:t>
                      </a: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3) </a:t>
                      </a:r>
                      <a:r>
                        <a:rPr lang="ko-KR" altLang="en-US" sz="1000" spc="-30" smtClean="0">
                          <a:latin typeface="+mn-ea"/>
                        </a:rPr>
                        <a:t>예산 업무흐름의 전자결재 연동으로 신청</a:t>
                      </a:r>
                      <a:r>
                        <a:rPr lang="en-US" altLang="ko-KR" sz="1000" spc="-30" smtClean="0">
                          <a:latin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1000" spc="-30" smtClean="0">
                          <a:latin typeface="+mn-ea"/>
                          <a:sym typeface="Wingdings" panose="05000000000000000000" pitchFamily="2" charset="2"/>
                        </a:rPr>
                        <a:t>승인</a:t>
                      </a:r>
                      <a:r>
                        <a:rPr lang="en-US" altLang="ko-KR" sz="1000" spc="-30" smtClean="0">
                          <a:latin typeface="+mn-ea"/>
                          <a:sym typeface="Wingdings" panose="05000000000000000000" pitchFamily="2" charset="2"/>
                        </a:rPr>
                        <a:t></a:t>
                      </a:r>
                      <a:r>
                        <a:rPr lang="ko-KR" altLang="en-US" sz="1000" spc="-30" smtClean="0">
                          <a:latin typeface="+mn-ea"/>
                          <a:sym typeface="Wingdings" panose="05000000000000000000" pitchFamily="2" charset="2"/>
                        </a:rPr>
                        <a:t>예산파트 처리 흐름 유지</a:t>
                      </a:r>
                      <a:r>
                        <a:rPr lang="ko-KR" altLang="en-US" sz="1000" spc="-30" smtClean="0">
                          <a:latin typeface="+mn-ea"/>
                        </a:rPr>
                        <a:t> 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76879302"/>
                  </a:ext>
                </a:extLst>
              </a:tr>
              <a:tr h="1003933">
                <a:tc rowSpan="3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회계관리 업무 개선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kumimoji="1" lang="ko-KR" altLang="en-US" sz="1000" b="1" kern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회계관리 업무 개선점 도출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2.3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예산관리 개선 및 업무 효율화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r>
                        <a:rPr lang="ko-KR" altLang="en-US" sz="1000" smtClean="0"/>
                        <a:t>국제회계기준 도입에 의한 회계 전반적인 업무처리 기준을 개선하고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결의서의 기능 세분화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입출금 관리 개선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세무 전자신고 처리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마감제도 도입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결산처리 자동화 및 결산주석 관리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연결재무제표 자료 제공 등의 기능 고도화와 예산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자산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구매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사업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급여 등의 타 시스템에서 발생하는 재무변동사항을 전표형태로 용이하게 취합할 수 있는 구조로 개선하고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외부 시스템과의 긴밀한 연계를 통하여 업무의 정확성과 효율성을 강화하는 방향으로 개선하고자 함</a:t>
                      </a:r>
                      <a:endParaRPr lang="ko-KR" altLang="en-US" sz="10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83791880"/>
                  </a:ext>
                </a:extLst>
              </a:tr>
              <a:tr h="853473">
                <a:tc vMerge="1">
                  <a:txBody>
                    <a:bodyPr/>
                    <a:lstStyle/>
                    <a:p>
                      <a:pPr algn="ctr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업무별 개선 방안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3.3.1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회계관리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업무분류 및 기능 정의 </a:t>
                      </a:r>
                      <a:r>
                        <a:rPr lang="ko-KR" altLang="en-US" sz="1000" smtClean="0"/>
                        <a:t>참조</a:t>
                      </a:r>
                      <a:endParaRPr lang="ko-KR" altLang="en-US" sz="1000" b="1" i="0" u="none" strike="noStrike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r>
                        <a:rPr lang="ko-KR" altLang="en-US" sz="1000" smtClean="0"/>
                        <a:t>회계업무는 회계기준자료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결의서관리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전표관리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자금관리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결산관리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세무관리</a:t>
                      </a:r>
                      <a:r>
                        <a:rPr lang="en-US" altLang="ko-KR" sz="1000" smtClean="0"/>
                        <a:t> </a:t>
                      </a:r>
                      <a:r>
                        <a:rPr lang="ko-KR" altLang="en-US" sz="1000" smtClean="0"/>
                        <a:t>부문으로 분류하고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각 업무구분별 세부기능을 추가 및 보완하여 예산을 집행하는 시점부터 예산</a:t>
                      </a:r>
                      <a:r>
                        <a:rPr lang="en-US" altLang="ko-KR" sz="1000" smtClean="0"/>
                        <a:t>/</a:t>
                      </a:r>
                      <a:r>
                        <a:rPr lang="ko-KR" altLang="en-US" sz="1000" smtClean="0"/>
                        <a:t>회계</a:t>
                      </a:r>
                      <a:r>
                        <a:rPr lang="en-US" altLang="ko-KR" sz="1000" smtClean="0"/>
                        <a:t>/</a:t>
                      </a:r>
                      <a:r>
                        <a:rPr lang="ko-KR" altLang="en-US" sz="1000" smtClean="0"/>
                        <a:t>자산</a:t>
                      </a:r>
                      <a:r>
                        <a:rPr lang="en-US" altLang="ko-KR" sz="1000" smtClean="0"/>
                        <a:t>/</a:t>
                      </a:r>
                      <a:r>
                        <a:rPr lang="ko-KR" altLang="en-US" sz="1000" smtClean="0"/>
                        <a:t>사업 등의 관련업무가 통합처리되어 결산처리까지 정보의 무결성을 유지하도록 함</a:t>
                      </a:r>
                      <a:endParaRPr lang="ko-KR" altLang="en-US" sz="1000" dirty="0"/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778397">
                <a:tc vMerge="1">
                  <a:txBody>
                    <a:bodyPr/>
                    <a:lstStyle/>
                    <a:p>
                      <a:pPr algn="ctr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구현을 위한 요구사항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3.3.1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회계관리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업무분류 및 기능 정의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1) </a:t>
                      </a:r>
                      <a:r>
                        <a:rPr lang="ko-KR" altLang="en-US" sz="1000" spc="-30" smtClean="0">
                          <a:latin typeface="+mn-ea"/>
                        </a:rPr>
                        <a:t>결의서 세분화와 증빙관리 기능 도입으로</a:t>
                      </a:r>
                      <a:r>
                        <a:rPr lang="en-US" altLang="ko-KR" sz="1000" spc="-30" smtClean="0">
                          <a:latin typeface="+mn-ea"/>
                        </a:rPr>
                        <a:t> </a:t>
                      </a:r>
                      <a:r>
                        <a:rPr lang="ko-KR" altLang="en-US" sz="1000" spc="-30" smtClean="0">
                          <a:latin typeface="+mn-ea"/>
                        </a:rPr>
                        <a:t>예산집행 및 확정시 증빙 확인과</a:t>
                      </a:r>
                      <a:r>
                        <a:rPr lang="en-US" altLang="ko-KR" sz="1000" spc="-30" smtClean="0">
                          <a:latin typeface="+mn-ea"/>
                        </a:rPr>
                        <a:t> </a:t>
                      </a:r>
                      <a:r>
                        <a:rPr lang="ko-KR" altLang="en-US" sz="1000" spc="-30" smtClean="0">
                          <a:latin typeface="+mn-ea"/>
                        </a:rPr>
                        <a:t>전표 자동분개 처리 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2) </a:t>
                      </a:r>
                      <a:r>
                        <a:rPr lang="ko-KR" altLang="en-US" sz="1000" spc="-30" smtClean="0">
                          <a:latin typeface="+mn-ea"/>
                        </a:rPr>
                        <a:t>추가 요구기능의 도입 </a:t>
                      </a:r>
                      <a:r>
                        <a:rPr lang="en-US" altLang="ko-KR" sz="1000" spc="-30" smtClean="0">
                          <a:latin typeface="+mn-ea"/>
                        </a:rPr>
                        <a:t>– </a:t>
                      </a:r>
                      <a:r>
                        <a:rPr lang="ko-KR" altLang="en-US" sz="1000" spc="-30" smtClean="0">
                          <a:latin typeface="+mn-ea"/>
                        </a:rPr>
                        <a:t>마감관리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입출금관리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결산관리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세무전자신고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연결재무제표 처리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3) </a:t>
                      </a:r>
                      <a:r>
                        <a:rPr lang="ko-KR" altLang="en-US" sz="1000" spc="-30" smtClean="0">
                          <a:latin typeface="+mn-ea"/>
                        </a:rPr>
                        <a:t>증빙관리 솔루션 도입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매출에 대한 전자세금계산서 발행 사이트 시스템 연계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63845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39881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/>
              <a:t>1. </a:t>
            </a:r>
            <a:r>
              <a:rPr lang="ko-KR" altLang="en-US"/>
              <a:t>추진 계획 수립 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1.2 </a:t>
            </a:r>
            <a:r>
              <a:rPr lang="ko-KR" altLang="en-US" sz="1800" smtClean="0"/>
              <a:t>이행과제의 추진방안</a:t>
            </a:r>
            <a:r>
              <a:rPr lang="en-US" altLang="ko-KR" sz="1800" smtClean="0"/>
              <a:t>(4/5)</a:t>
            </a:r>
            <a:endParaRPr lang="ko-KR" altLang="en-US" sz="18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5916167" y="0"/>
            <a:ext cx="3599741" cy="78268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Ⅳ. </a:t>
            </a:r>
            <a:r>
              <a:rPr lang="ko-KR" altLang="en-US" smtClean="0"/>
              <a:t>이행계획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 </a:t>
            </a:r>
            <a:r>
              <a:rPr lang="ko-KR" altLang="en-US" dirty="0"/>
              <a:t>추진 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1.1 </a:t>
            </a:r>
            <a:r>
              <a:rPr lang="ko-KR" altLang="en-US"/>
              <a:t>이행과제의 추진방안</a:t>
            </a:r>
            <a:endParaRPr lang="en-US" altLang="ko-KR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="" xmlns:a16="http://schemas.microsoft.com/office/drawing/2014/main" id="{A996E3CD-DF24-45D0-BEEC-DBD138CCD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2117"/>
              </p:ext>
            </p:extLst>
          </p:nvPr>
        </p:nvGraphicFramePr>
        <p:xfrm>
          <a:off x="348871" y="988161"/>
          <a:ext cx="9136380" cy="5479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932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64738">
                  <a:extLst>
                    <a:ext uri="{9D8B030D-6E8A-4147-A177-3AD203B41FA5}">
                      <a16:colId xmlns="" xmlns:a16="http://schemas.microsoft.com/office/drawing/2014/main" val="495227927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664219012"/>
                    </a:ext>
                  </a:extLst>
                </a:gridCol>
                <a:gridCol w="15203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5440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235332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이행과제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추진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657466">
                <a:tc rowSpan="3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0">
                        <a:defRPr/>
                      </a:pPr>
                      <a:r>
                        <a:rPr lang="ko-KR" altLang="en-US" sz="1000" b="1" kern="0" smtClean="0">
                          <a:solidFill>
                            <a:sysClr val="windowText" lastClr="000000"/>
                          </a:solidFill>
                          <a:latin typeface="+mn-ea"/>
                        </a:rPr>
                        <a:t>구매관리 업무 개선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kumimoji="1" lang="ko-KR" altLang="en-US" sz="1000" b="1" kern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구매관리 업무 개선점 도출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2.5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구매관리 개선 및 업무 효율화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endParaRPr lang="en-US" altLang="ko-KR" sz="10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예산</a:t>
                      </a:r>
                      <a:r>
                        <a:rPr lang="en-US" altLang="ko-KR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회계</a:t>
                      </a:r>
                      <a:r>
                        <a:rPr lang="en-US" altLang="ko-KR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자산관리 시스템과 추진 단계별로 연계하고</a:t>
                      </a:r>
                      <a:r>
                        <a:rPr lang="en-US" altLang="ko-KR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각 단계별로 요구되는 승인요청 및 승인처리를 전자결재시스템과 연계하여 각종 문서를 처리할 수 있도록 하며</a:t>
                      </a:r>
                      <a:r>
                        <a:rPr lang="en-US" altLang="ko-KR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RPA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도입에 의해 단계별 진행현황을 실시간으로 추출하여 제공함으로써 사용자의 편의와 업무의 효율성을 제고</a:t>
                      </a:r>
                      <a:endParaRPr kumimoji="1" lang="en-US" altLang="ko-KR" sz="1000" kern="0" smtClean="0">
                        <a:solidFill>
                          <a:prstClr val="black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70035">
                <a:tc vMerge="1">
                  <a:txBody>
                    <a:bodyPr/>
                    <a:lstStyle/>
                    <a:p>
                      <a:pPr algn="ctr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업무별 개선 방안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3.4.1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구매관리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업무분류 및 기능 정의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endParaRPr lang="ko-KR" altLang="en-US" sz="1000" b="1" i="0" u="none" strike="noStrike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>
                        <a:spcAft>
                          <a:spcPct val="30000"/>
                        </a:spcAft>
                        <a:buClr>
                          <a:srgbClr val="808080"/>
                        </a:buClr>
                      </a:pP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물품분류 및 물품코드를 관리하여 물품의 구매</a:t>
                      </a:r>
                      <a:r>
                        <a:rPr lang="en-US" altLang="ko-KR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수불 등의 기준을 관리하고</a:t>
                      </a:r>
                      <a:r>
                        <a:rPr lang="en-US" altLang="ko-KR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물품에 대한 요청을 받아서 재고를 확인한 다음 출고처리하고 부족할 경우 구매 결정한다</a:t>
                      </a:r>
                      <a:r>
                        <a:rPr lang="en-US" altLang="ko-KR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나라장터 조달일 경우 사전규격을 등록하고</a:t>
                      </a:r>
                      <a:r>
                        <a:rPr lang="en-US" altLang="ko-KR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RPA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솔루션 도입으로 입찰</a:t>
                      </a:r>
                      <a:r>
                        <a:rPr lang="en-US" altLang="ko-KR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 진행정보를 취합하고 입고가 되면 검수 처리하여 대금지급</a:t>
                      </a:r>
                      <a:r>
                        <a:rPr lang="en-US" altLang="ko-KR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지출결의</a:t>
                      </a:r>
                      <a:r>
                        <a:rPr lang="en-US" altLang="ko-KR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을 생성하고</a:t>
                      </a:r>
                      <a:r>
                        <a:rPr lang="en-US" altLang="ko-KR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수불대상일 경우 입고처리하여 물품수불을 관리한다</a:t>
                      </a:r>
                      <a:endParaRPr lang="en-US" altLang="ko-KR" sz="1000" dirty="0">
                        <a:solidFill>
                          <a:srgbClr val="00000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67204475"/>
                  </a:ext>
                </a:extLst>
              </a:tr>
              <a:tr h="734857">
                <a:tc vMerge="1">
                  <a:txBody>
                    <a:bodyPr/>
                    <a:lstStyle/>
                    <a:p>
                      <a:pPr algn="ctr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구현을 위한 요구사항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3.4.1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구매관리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업무분류 및 기능 정의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endParaRPr lang="en-US" altLang="ko-KR" sz="10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1) </a:t>
                      </a:r>
                      <a:r>
                        <a:rPr lang="ko-KR" altLang="en-US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물품코드 관리 </a:t>
                      </a:r>
                      <a:r>
                        <a:rPr lang="en-US" altLang="ko-KR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– RPA</a:t>
                      </a:r>
                      <a:r>
                        <a:rPr lang="ko-KR" altLang="en-US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 의해 조달물품을 등록하고</a:t>
                      </a:r>
                      <a:r>
                        <a:rPr lang="en-US" altLang="ko-KR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물품 청구시 등록된 물품코드를 선택</a:t>
                      </a:r>
                      <a:r>
                        <a:rPr lang="en-US" altLang="ko-KR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</a:t>
                      </a:r>
                      <a:endParaRPr lang="en-US" altLang="ko-KR" sz="1000" spc="-3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2) </a:t>
                      </a:r>
                      <a:r>
                        <a:rPr lang="ko-KR" altLang="en-US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조달청에 사전규격 등록 후</a:t>
                      </a:r>
                      <a:r>
                        <a:rPr lang="en-US" altLang="ko-KR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입찰</a:t>
                      </a:r>
                      <a:r>
                        <a:rPr lang="en-US" altLang="ko-KR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 진행사항을 </a:t>
                      </a:r>
                      <a:r>
                        <a:rPr lang="en-US" altLang="ko-KR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RPA </a:t>
                      </a:r>
                      <a:r>
                        <a:rPr lang="ko-KR" altLang="en-US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솔루션 도입으로 실시간 파악</a:t>
                      </a:r>
                      <a:endParaRPr lang="en-US" altLang="ko-KR" sz="1000" spc="-3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3) </a:t>
                      </a:r>
                      <a:r>
                        <a:rPr lang="ko-KR" altLang="en-US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선금 및 입고시 대금지불 결의서 자동 생성 처리 및 결재처리의 전자결재 연동</a:t>
                      </a:r>
                      <a:r>
                        <a:rPr lang="en-US" altLang="ko-KR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endParaRPr lang="en-US" altLang="ko-KR" sz="1000" spc="-3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76879302"/>
                  </a:ext>
                </a:extLst>
              </a:tr>
              <a:tr h="699679">
                <a:tc rowSpan="3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자산관리 업무 개선</a:t>
                      </a:r>
                      <a:endParaRPr kumimoji="0" lang="ko-KR" altLang="en-US" sz="1000" b="1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kumimoji="1" lang="ko-KR" altLang="en-US" sz="1000" b="1" kern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자산관리 업무 개선점 도출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2.6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자산관리 개선 및 업무 효율화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endParaRPr lang="en-US" altLang="ko-KR" sz="10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lvl="0" indent="0" defTabSz="979488" latinLnBrk="0">
                        <a:spcBef>
                          <a:spcPct val="50000"/>
                        </a:spcBef>
                        <a:buFont typeface="Wingdings" pitchFamily="2" charset="2"/>
                        <a:buNone/>
                        <a:defRPr/>
                      </a:pP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회계의 자산목록과 시스템에서 관리하는 실물자산을 정비하여 일원화하여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시스템에서 감가상각 계산을 처리하며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 분류의 세분화와 자산분류별 표준 내용연수를 다르게 관리할 수 있도록 하고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 취득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처분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감가상각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자산결산 등의 전표를 자동생성하여 업무 효율성을 제고</a:t>
                      </a:r>
                      <a:endParaRPr kumimoji="1" lang="ko-KR" altLang="en-US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383791880"/>
                  </a:ext>
                </a:extLst>
              </a:tr>
              <a:tr h="910747">
                <a:tc vMerge="1">
                  <a:txBody>
                    <a:bodyPr/>
                    <a:lstStyle/>
                    <a:p>
                      <a:pPr algn="ctr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업무별 개선 방안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3.5.1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자산관리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업무분류 및 기능 정의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endParaRPr lang="ko-KR" altLang="en-US" sz="1000" b="1" i="0" u="none" strike="noStrike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>
                        <a:spcAft>
                          <a:spcPct val="30000"/>
                        </a:spcAft>
                        <a:buClr>
                          <a:schemeClr val="bg2"/>
                        </a:buClr>
                      </a:pP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자산의 취득에서부터 배치</a:t>
                      </a:r>
                      <a:r>
                        <a:rPr lang="en-US" altLang="ko-KR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후속지출 처리</a:t>
                      </a:r>
                      <a:r>
                        <a:rPr lang="en-US" altLang="ko-KR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자산의 이동과</a:t>
                      </a:r>
                      <a:r>
                        <a:rPr lang="en-US" altLang="ko-KR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 실사</a:t>
                      </a:r>
                      <a:r>
                        <a:rPr lang="en-US" altLang="ko-KR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자산의 불용과</a:t>
                      </a:r>
                      <a:r>
                        <a:rPr lang="en-US" altLang="ko-KR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처분</a:t>
                      </a:r>
                      <a:r>
                        <a:rPr lang="en-US" altLang="ko-KR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감가상각</a:t>
                      </a:r>
                      <a:r>
                        <a:rPr lang="en-US" altLang="ko-KR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 손상처리 등 각종 자산변동이력을 개별자산별로 관리하고</a:t>
                      </a:r>
                      <a:r>
                        <a:rPr lang="en-US" altLang="ko-KR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재무변동이 발생하는 자산의 취득과</a:t>
                      </a:r>
                      <a:r>
                        <a:rPr lang="en-US" altLang="ko-KR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처분 및 감가상각 결과와 결산시 건설중인자산 결산사항 등을 회계시스템에 결의서로 제공하고</a:t>
                      </a:r>
                      <a:r>
                        <a:rPr lang="en-US" altLang="ko-KR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 취득시 검수</a:t>
                      </a:r>
                      <a:r>
                        <a:rPr lang="en-US" altLang="ko-KR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 데이터에 의해 자산으로 취득되는 물품정보와 가계정에 집계된 자산취득 금액을 산출하는 등 타 시스템과의 긴밀한 연계를 통하여 자산관리 담당자가 효율적으로 자산관리 업무를 처리할 수 있도록 지원함</a:t>
                      </a:r>
                      <a:endParaRPr lang="en-US" altLang="ko-KR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910747">
                <a:tc vMerge="1">
                  <a:txBody>
                    <a:bodyPr/>
                    <a:lstStyle/>
                    <a:p>
                      <a:pPr algn="ctr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구현을 위한 요구사항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3.5.1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자산관리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업무분류 및 기능 정의 </a:t>
                      </a:r>
                      <a:r>
                        <a:rPr lang="ko-KR" altLang="en-US" sz="100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참조</a:t>
                      </a:r>
                      <a:endParaRPr lang="en-US" altLang="ko-KR" sz="100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1) </a:t>
                      </a:r>
                      <a:r>
                        <a:rPr lang="ko-KR" altLang="en-US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 분류의 세분화 및 자산 분류에 의한 표준 내용연수 관리</a:t>
                      </a:r>
                      <a:endParaRPr lang="en-US" altLang="ko-KR" sz="1000" spc="-3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2) </a:t>
                      </a:r>
                      <a:r>
                        <a:rPr lang="ko-KR" altLang="en-US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 취득건별로 가계정번호를 부여하여 자산취득에 사용된 취득금액을 집계</a:t>
                      </a:r>
                      <a:endParaRPr lang="en-US" altLang="ko-KR" sz="1000" spc="-3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3) </a:t>
                      </a:r>
                      <a:r>
                        <a:rPr lang="ko-KR" altLang="en-US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취득 처리 세분화</a:t>
                      </a:r>
                      <a:r>
                        <a:rPr lang="en-US" altLang="ko-KR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구매자산</a:t>
                      </a:r>
                      <a:r>
                        <a:rPr lang="en-US" altLang="ko-KR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공사</a:t>
                      </a:r>
                      <a:r>
                        <a:rPr lang="en-US" altLang="ko-KR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용역</a:t>
                      </a:r>
                      <a:r>
                        <a:rPr lang="en-US" altLang="ko-KR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사용권자산</a:t>
                      </a:r>
                      <a:r>
                        <a:rPr lang="en-US" altLang="ko-KR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및 취득결의서</a:t>
                      </a:r>
                      <a:r>
                        <a:rPr lang="en-US" altLang="ko-KR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전표</a:t>
                      </a:r>
                      <a:r>
                        <a:rPr lang="en-US" altLang="ko-KR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r>
                        <a:rPr lang="ko-KR" altLang="en-US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자동 생성 처리</a:t>
                      </a:r>
                      <a:endParaRPr lang="en-US" altLang="ko-KR" sz="1000" spc="-3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4) </a:t>
                      </a:r>
                      <a:r>
                        <a:rPr lang="ko-KR" altLang="en-US" sz="1000" spc="-3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자산 실사시 </a:t>
                      </a:r>
                      <a:r>
                        <a:rPr lang="ko-KR" altLang="en-US" sz="1000" spc="-30" baseline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부착용 명패 인쇄 및 부착 처리와 일괄 자산이동 기능 구축</a:t>
                      </a:r>
                      <a:endParaRPr lang="en-US" altLang="ko-KR" sz="1000" spc="-3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9638458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7780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/>
              <a:t>1. </a:t>
            </a:r>
            <a:r>
              <a:rPr lang="ko-KR" altLang="en-US"/>
              <a:t>추진 계획 수립 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 smtClean="0"/>
              <a:t>1.2 </a:t>
            </a:r>
            <a:r>
              <a:rPr lang="ko-KR" altLang="en-US" sz="1800" smtClean="0"/>
              <a:t>이행과제의 추진방안</a:t>
            </a:r>
            <a:r>
              <a:rPr lang="en-US" altLang="ko-KR" sz="1800" smtClean="0"/>
              <a:t>(5/5)</a:t>
            </a:r>
            <a:endParaRPr lang="ko-KR" altLang="en-US" sz="18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6400799" y="0"/>
            <a:ext cx="3115109" cy="78268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Ⅳ. </a:t>
            </a:r>
            <a:r>
              <a:rPr lang="ko-KR" altLang="en-US" smtClean="0"/>
              <a:t>이행계획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 </a:t>
            </a:r>
            <a:r>
              <a:rPr lang="ko-KR" altLang="en-US" dirty="0"/>
              <a:t>추진 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1.1 </a:t>
            </a:r>
            <a:r>
              <a:rPr lang="ko-KR" altLang="en-US" smtClean="0"/>
              <a:t>이행과제의 추진방안</a:t>
            </a:r>
            <a:endParaRPr lang="en-US" altLang="ko-KR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="" xmlns:a16="http://schemas.microsoft.com/office/drawing/2014/main" id="{A996E3CD-DF24-45D0-BEEC-DBD138CCD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659470"/>
              </p:ext>
            </p:extLst>
          </p:nvPr>
        </p:nvGraphicFramePr>
        <p:xfrm>
          <a:off x="348871" y="988161"/>
          <a:ext cx="9136380" cy="36035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9321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64738">
                  <a:extLst>
                    <a:ext uri="{9D8B030D-6E8A-4147-A177-3AD203B41FA5}">
                      <a16:colId xmlns="" xmlns:a16="http://schemas.microsoft.com/office/drawing/2014/main" val="495227927"/>
                    </a:ext>
                  </a:extLst>
                </a:gridCol>
                <a:gridCol w="288000">
                  <a:extLst>
                    <a:ext uri="{9D8B030D-6E8A-4147-A177-3AD203B41FA5}">
                      <a16:colId xmlns="" xmlns:a16="http://schemas.microsoft.com/office/drawing/2014/main" val="664219012"/>
                    </a:ext>
                  </a:extLst>
                </a:gridCol>
                <a:gridCol w="1520321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554400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</a:tblGrid>
              <a:tr h="365151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이행과제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추진 내용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1009067">
                <a:tc rowSpan="3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l" latinLnBrk="0">
                        <a:defRPr/>
                      </a:pPr>
                      <a:r>
                        <a:rPr lang="ko-KR" altLang="en-US" sz="1000" b="1" kern="0" smtClean="0">
                          <a:solidFill>
                            <a:sysClr val="windowText" lastClr="000000"/>
                          </a:solidFill>
                          <a:latin typeface="+mn-ea"/>
                        </a:rPr>
                        <a:t>사업관리 업무 개선 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kumimoji="1" lang="ko-KR" altLang="en-US" sz="1000" b="1" kern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사업관리 업무 개선점 도출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2.7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사업관리 개선 및 업무 효율화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marR="0" lvl="0" indent="0" defTabSz="979488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수주계획부터 수주까지의 단계별 진행정보를 체계적으로 관리하여 수주 진행상태를 파악하고</a:t>
                      </a:r>
                      <a:r>
                        <a:rPr kumimoji="1" lang="en-US" altLang="ko-KR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,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사업부문 유형별 표준자료 관리에 의해 표준 일정과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표준투입계획 생성 후 현행화로 실행계획을 생성하고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,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</a:t>
                      </a:r>
                      <a:r>
                        <a:rPr kumimoji="1" lang="ko-KR" altLang="en-US" sz="1000" kern="0" smtClean="0">
                          <a:solidFill>
                            <a:prstClr val="black"/>
                          </a:solidFill>
                          <a:latin typeface="+mn-ea"/>
                        </a:rPr>
                        <a:t>실행계획 단위별로 실적을 세분화하여 입력하도록 구현하여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다양한 실적자료 제공 및 기성고 신청</a:t>
                      </a: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, </a:t>
                      </a:r>
                      <a:r>
                        <a:rPr kumimoji="1" lang="ko-KR" altLang="en-US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사업별 원가계산 등 체계적이고 효율적인 관리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924590">
                <a:tc vMerge="1">
                  <a:txBody>
                    <a:bodyPr/>
                    <a:lstStyle/>
                    <a:p>
                      <a:pPr algn="ctr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업무별 개선 방안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3.6.1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사업관리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업무분류 및 기능 정의 </a:t>
                      </a:r>
                      <a:r>
                        <a:rPr lang="ko-KR" altLang="en-US" sz="1000" smtClean="0"/>
                        <a:t>참조</a:t>
                      </a:r>
                      <a:endParaRPr lang="ko-KR" altLang="en-US" sz="1000" b="1" i="0" u="none" strike="noStrike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>
                        <a:spcAft>
                          <a:spcPct val="30000"/>
                        </a:spcAft>
                        <a:buClr>
                          <a:srgbClr val="808080"/>
                        </a:buClr>
                      </a:pPr>
                      <a:r>
                        <a:rPr lang="ko-KR" altLang="en-US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사업계획에서부터 사업종료까지의 사업단계별 정보를 표준화하고 체계적으로 관리하고</a:t>
                      </a:r>
                      <a:r>
                        <a:rPr lang="en-US" altLang="ko-KR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예산</a:t>
                      </a:r>
                      <a:r>
                        <a:rPr lang="en-US" altLang="ko-KR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회계</a:t>
                      </a:r>
                      <a:r>
                        <a:rPr lang="en-US" altLang="ko-KR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구매 등의 내부 시스템과 전자결재 연동</a:t>
                      </a:r>
                      <a:r>
                        <a:rPr lang="en-US" altLang="ko-KR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RPA </a:t>
                      </a:r>
                      <a:r>
                        <a:rPr lang="ko-KR" altLang="en-US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도입에 의한 수주대상 정보의 실시간 취득</a:t>
                      </a:r>
                      <a:r>
                        <a:rPr lang="en-US" altLang="ko-KR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</a:t>
                      </a:r>
                      <a:r>
                        <a:rPr lang="ko-KR" altLang="en-US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표준자료에 의한 사업 실행계획 생성</a:t>
                      </a:r>
                      <a:r>
                        <a:rPr lang="en-US" altLang="ko-KR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세부공정별 실적 취합</a:t>
                      </a:r>
                      <a:r>
                        <a:rPr lang="en-US" altLang="ko-KR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취합된 자료의 각종 보고서 생성</a:t>
                      </a:r>
                      <a:r>
                        <a:rPr lang="en-US" altLang="ko-KR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기성고 신청관리</a:t>
                      </a:r>
                      <a:r>
                        <a:rPr lang="en-US" altLang="ko-KR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사업별 원가계산 등의 기능 구축을 통해서 현장중심의 사업관리 시스템을 구현</a:t>
                      </a:r>
                      <a:endParaRPr lang="en-US" altLang="ko-KR" sz="10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67204475"/>
                  </a:ext>
                </a:extLst>
              </a:tr>
              <a:tr h="1304736">
                <a:tc vMerge="1">
                  <a:txBody>
                    <a:bodyPr/>
                    <a:lstStyle/>
                    <a:p>
                      <a:pPr algn="ctr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rtl="0" fontAlgn="ctr" latinLnBrk="0"/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smtClean="0"/>
                        <a:t>구현을 위한 요구사항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marR="0" lvl="0" indent="-85725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kumimoji="1" lang="en-US" altLang="ko-KR" sz="1000" b="1" kern="0" noProof="0" smtClean="0">
                          <a:solidFill>
                            <a:srgbClr val="0000CC"/>
                          </a:solidFill>
                          <a:latin typeface="+mn-lt"/>
                          <a:ea typeface="+mn-ea"/>
                          <a:cs typeface="+mn-cs"/>
                        </a:rPr>
                        <a:t>Ⅲ-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3.6.1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사업관리</a:t>
                      </a:r>
                      <a:r>
                        <a:rPr lang="en-US" altLang="ko-KR" sz="1000" b="1" smtClean="0">
                          <a:solidFill>
                            <a:srgbClr val="0000CC"/>
                          </a:solidFill>
                        </a:rPr>
                        <a:t> </a:t>
                      </a:r>
                      <a:r>
                        <a:rPr lang="ko-KR" altLang="en-US" sz="1000" b="1" smtClean="0">
                          <a:solidFill>
                            <a:srgbClr val="0000CC"/>
                          </a:solidFill>
                        </a:rPr>
                        <a:t>업무분류 및 기능 정의 </a:t>
                      </a:r>
                      <a:r>
                        <a:rPr lang="ko-KR" altLang="en-US" sz="1000" smtClean="0"/>
                        <a:t>참조</a:t>
                      </a:r>
                      <a:endParaRPr lang="en-US" altLang="ko-KR" sz="1000" smtClean="0"/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1) </a:t>
                      </a:r>
                      <a:r>
                        <a:rPr lang="ko-KR" altLang="en-US" sz="1000" spc="-30" smtClean="0">
                          <a:latin typeface="+mn-ea"/>
                        </a:rPr>
                        <a:t>수주진행 관리 </a:t>
                      </a:r>
                      <a:r>
                        <a:rPr lang="en-US" altLang="ko-KR" sz="1000" spc="-30" smtClean="0">
                          <a:latin typeface="+mn-ea"/>
                        </a:rPr>
                        <a:t>– RPA</a:t>
                      </a:r>
                      <a:r>
                        <a:rPr lang="ko-KR" altLang="en-US" sz="1000" spc="-30" smtClean="0">
                          <a:latin typeface="+mn-ea"/>
                        </a:rPr>
                        <a:t>에 의해 수주대상 사업의 정보를 실시간 취합하여 공유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2) </a:t>
                      </a:r>
                      <a:r>
                        <a:rPr lang="ko-KR" altLang="en-US" sz="1000" spc="-30" smtClean="0">
                          <a:latin typeface="+mn-ea"/>
                        </a:rPr>
                        <a:t>사업부문</a:t>
                      </a:r>
                      <a:r>
                        <a:rPr lang="en-US" altLang="ko-KR" sz="1000" spc="-30" smtClean="0">
                          <a:latin typeface="+mn-ea"/>
                        </a:rPr>
                        <a:t>/</a:t>
                      </a:r>
                      <a:r>
                        <a:rPr lang="ko-KR" altLang="en-US" sz="1000" spc="-30" smtClean="0">
                          <a:latin typeface="+mn-ea"/>
                        </a:rPr>
                        <a:t>유형별 표준자료 관리로 예산편성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일정계획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투입계획 자료 생성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3) </a:t>
                      </a:r>
                      <a:r>
                        <a:rPr lang="ko-KR" altLang="en-US" sz="1000" spc="-30" smtClean="0">
                          <a:latin typeface="+mn-ea"/>
                        </a:rPr>
                        <a:t>실행계획 단위의 세부적인 실적자료 취합 및 보고서 생성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4) </a:t>
                      </a:r>
                      <a:r>
                        <a:rPr lang="ko-KR" altLang="en-US" sz="1000" spc="-30" smtClean="0">
                          <a:latin typeface="+mn-ea"/>
                        </a:rPr>
                        <a:t>사업부문별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부서별</a:t>
                      </a:r>
                      <a:r>
                        <a:rPr lang="en-US" altLang="ko-KR" sz="1000" spc="-30" smtClean="0">
                          <a:latin typeface="+mn-ea"/>
                        </a:rPr>
                        <a:t>, </a:t>
                      </a:r>
                      <a:r>
                        <a:rPr lang="ko-KR" altLang="en-US" sz="1000" spc="-30" smtClean="0">
                          <a:latin typeface="+mn-ea"/>
                        </a:rPr>
                        <a:t>계정별 원가배부기준 관리에 의한 합리적인 원가계산 체계 구축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indent="0" defTabSz="895350">
                        <a:spcBef>
                          <a:spcPts val="300"/>
                        </a:spcBef>
                        <a:buClr>
                          <a:schemeClr val="accent5"/>
                        </a:buClr>
                        <a:buSzPct val="90000"/>
                        <a:buFont typeface="Wingdings" panose="05000000000000000000" pitchFamily="2" charset="2"/>
                        <a:buNone/>
                      </a:pPr>
                      <a:r>
                        <a:rPr lang="en-US" altLang="ko-KR" sz="1000" spc="-30" smtClean="0">
                          <a:latin typeface="+mn-ea"/>
                        </a:rPr>
                        <a:t>5)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기성고 관리에서 발생하는 수입결의서와 사업 결산 전표의 처리 방안 제시 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768793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65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7992888" cy="781320"/>
          </a:xfrm>
        </p:spPr>
        <p:txBody>
          <a:bodyPr>
            <a:noAutofit/>
          </a:bodyPr>
          <a:lstStyle/>
          <a:p>
            <a:r>
              <a:rPr lang="en-US" altLang="ko-KR"/>
              <a:t>1. </a:t>
            </a:r>
            <a:r>
              <a:rPr lang="ko-KR" altLang="en-US"/>
              <a:t>추진 계획 수립 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/>
              <a:t>1</a:t>
            </a:r>
            <a:r>
              <a:rPr lang="en-US" altLang="ko-KR" sz="1800" smtClean="0"/>
              <a:t>.3 </a:t>
            </a:r>
            <a:r>
              <a:rPr lang="ko-KR" altLang="en-US" sz="1800" smtClean="0"/>
              <a:t>추진 로드맵 정의</a:t>
            </a:r>
            <a:r>
              <a:rPr lang="en-US" altLang="ko-KR" sz="1800" smtClean="0"/>
              <a:t>(1</a:t>
            </a:r>
            <a:r>
              <a:rPr lang="ko-KR" altLang="en-US" sz="1800" smtClean="0"/>
              <a:t>안</a:t>
            </a:r>
            <a:r>
              <a:rPr lang="en-US" altLang="ko-KR" sz="1800" smtClean="0"/>
              <a:t>)</a:t>
            </a:r>
            <a:endParaRPr lang="ko-KR" altLang="en-US" sz="18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Ⅳ. </a:t>
            </a:r>
            <a:r>
              <a:rPr lang="ko-KR" altLang="en-US" smtClean="0"/>
              <a:t>이행계획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 </a:t>
            </a:r>
            <a:r>
              <a:rPr lang="ko-KR" altLang="en-US" dirty="0"/>
              <a:t>추진 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1.3 </a:t>
            </a:r>
            <a:r>
              <a:rPr lang="ko-KR" altLang="en-US" smtClean="0"/>
              <a:t>추진</a:t>
            </a:r>
            <a:r>
              <a:rPr lang="en-US" altLang="ko-KR" smtClean="0"/>
              <a:t> </a:t>
            </a:r>
            <a:r>
              <a:rPr lang="ko-KR" altLang="en-US" smtClean="0"/>
              <a:t>로드맵 정의</a:t>
            </a:r>
            <a:endParaRPr lang="en-US" altLang="ko-KR" dirty="0"/>
          </a:p>
        </p:txBody>
      </p:sp>
      <p:graphicFrame>
        <p:nvGraphicFramePr>
          <p:cNvPr id="30" name="표 29">
            <a:extLst>
              <a:ext uri="{FF2B5EF4-FFF2-40B4-BE49-F238E27FC236}">
                <a16:creationId xmlns="" xmlns:a16="http://schemas.microsoft.com/office/drawing/2014/main" id="{A996E3CD-DF24-45D0-BEEC-DBD138CCD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1521327"/>
              </p:ext>
            </p:extLst>
          </p:nvPr>
        </p:nvGraphicFramePr>
        <p:xfrm>
          <a:off x="272480" y="988161"/>
          <a:ext cx="9217024" cy="5508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="" xmlns:a16="http://schemas.microsoft.com/office/drawing/2014/main" val="495227927"/>
                    </a:ext>
                  </a:extLst>
                </a:gridCol>
                <a:gridCol w="2664296">
                  <a:extLst>
                    <a:ext uri="{9D8B030D-6E8A-4147-A177-3AD203B41FA5}">
                      <a16:colId xmlns="" xmlns:a16="http://schemas.microsoft.com/office/drawing/2014/main" val="664219012"/>
                    </a:ext>
                  </a:extLst>
                </a:gridCol>
                <a:gridCol w="216024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504056"/>
                <a:gridCol w="1270450"/>
                <a:gridCol w="457742"/>
                <a:gridCol w="432048"/>
              </a:tblGrid>
              <a:tr h="390937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이행과제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추진 내용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준비사항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소요</a:t>
                      </a:r>
                      <a:endParaRPr lang="en-US" altLang="ko-KR" sz="1200" b="1" i="0" u="none" strike="noStrike" kern="120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기간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수행시기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소요</a:t>
                      </a:r>
                      <a:endParaRPr lang="en-US" altLang="ko-KR" sz="1200" b="1" i="0" u="none" strike="noStrike" kern="120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en-US" altLang="ko-KR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M/M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00398">
                <a:tc rowSpan="7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7">
                  <a:txBody>
                    <a:bodyPr/>
                    <a:lstStyle/>
                    <a:p>
                      <a:pPr lvl="0" latinLnBrk="0">
                        <a:defRPr/>
                      </a:pP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1. DATABASE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설계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표준화 설계 반영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/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개선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7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smtClean="0">
                          <a:solidFill>
                            <a:schemeClr val="tx1"/>
                          </a:solidFill>
                        </a:rPr>
                        <a:t>DATABASE </a:t>
                      </a: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설계와 개발을 표준화하고</a:t>
                      </a:r>
                      <a:r>
                        <a:rPr lang="en-US" altLang="ko-KR" sz="1000" b="1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전사적인 데이터 표준의 사용 및 재사용을 통해 시스템 간 상호 운용성</a:t>
                      </a:r>
                      <a:r>
                        <a:rPr lang="en-US" altLang="ko-KR" sz="1000" b="1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데이터 공유</a:t>
                      </a:r>
                      <a:r>
                        <a:rPr lang="en-US" altLang="ko-KR" sz="1000" b="1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시스템 통합</a:t>
                      </a:r>
                      <a:r>
                        <a:rPr lang="en-US" altLang="ko-KR" sz="1000" b="1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비즈니스 프로세스 개선 등을 지원 </a:t>
                      </a:r>
                      <a:endParaRPr kumimoji="1" lang="ko-KR" altLang="en-US" sz="1000" b="1" kern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1) DATABASE </a:t>
                      </a:r>
                      <a:r>
                        <a:rPr lang="ko-KR" altLang="en-US" sz="1000" smtClean="0"/>
                        <a:t>개발 표준 작성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1.0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2.0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00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2) </a:t>
                      </a:r>
                      <a:r>
                        <a:rPr lang="ko-KR" altLang="en-US" sz="1000" smtClean="0"/>
                        <a:t>현행 </a:t>
                      </a:r>
                      <a:r>
                        <a:rPr lang="en-US" altLang="ko-KR" sz="1000" smtClean="0"/>
                        <a:t>DB </a:t>
                      </a:r>
                      <a:r>
                        <a:rPr lang="ko-KR" altLang="en-US" sz="1000" smtClean="0"/>
                        <a:t>변경사항 도출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1.0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M+1 (</a:t>
                      </a:r>
                      <a:r>
                        <a:rPr lang="ko-KR" altLang="en-US" sz="1000" smtClean="0"/>
                        <a:t>표준 완료 후</a:t>
                      </a:r>
                      <a:r>
                        <a:rPr lang="en-US" altLang="ko-KR" sz="1000" smtClean="0"/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2.0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0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3) </a:t>
                      </a:r>
                      <a:r>
                        <a:rPr lang="ko-KR" altLang="en-US" sz="1000" smtClean="0"/>
                        <a:t>변경 영향도 분석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 (</a:t>
                      </a:r>
                      <a:r>
                        <a:rPr lang="ko-KR" altLang="en-US" sz="1000" smtClean="0"/>
                        <a:t>변경 설계 후</a:t>
                      </a:r>
                      <a:r>
                        <a:rPr lang="en-US" altLang="ko-KR" sz="1000" baseline="0" smtClean="0"/>
                        <a:t>)</a:t>
                      </a:r>
                      <a:endParaRPr lang="en-US" altLang="ko-KR" sz="1000" smtClean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M+2.5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0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4) DATABASE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변경 구축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 (</a:t>
                      </a:r>
                      <a:r>
                        <a:rPr lang="ko-KR" altLang="en-US" sz="1000" smtClean="0"/>
                        <a:t>변경 도출 후</a:t>
                      </a:r>
                      <a:r>
                        <a:rPr lang="en-US" altLang="ko-KR" sz="1000" smtClean="0"/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M+2.5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0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smtClean="0"/>
                        <a:t>5) </a:t>
                      </a:r>
                      <a:r>
                        <a:rPr lang="ko-KR" altLang="en-US" sz="1000" baseline="0" smtClean="0"/>
                        <a:t>관련 기능</a:t>
                      </a:r>
                      <a:r>
                        <a:rPr lang="en-US" altLang="ko-KR" sz="1000" baseline="0" smtClean="0"/>
                        <a:t>/</a:t>
                      </a:r>
                      <a:r>
                        <a:rPr lang="ko-KR" altLang="en-US" sz="1000" baseline="0" smtClean="0"/>
                        <a:t>프로그램 수정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2.0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M+3 (</a:t>
                      </a:r>
                      <a:r>
                        <a:rPr lang="ko-KR" altLang="en-US" sz="1000" smtClean="0"/>
                        <a:t>영향 분석 후</a:t>
                      </a:r>
                      <a:r>
                        <a:rPr lang="en-US" altLang="ko-KR" sz="1000" smtClean="0"/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6.0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0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smtClean="0"/>
                        <a:t>6) </a:t>
                      </a:r>
                      <a:r>
                        <a:rPr lang="ko-KR" altLang="en-US" sz="1000" baseline="0" smtClean="0"/>
                        <a:t>마이그레이션</a:t>
                      </a:r>
                      <a:r>
                        <a:rPr lang="en-US" altLang="ko-KR" sz="1000" baseline="0" smtClean="0"/>
                        <a:t>, </a:t>
                      </a:r>
                      <a:r>
                        <a:rPr lang="ko-KR" altLang="en-US" sz="1000" baseline="0" smtClean="0"/>
                        <a:t>테스트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smtClean="0"/>
                        <a:t>M+5 (</a:t>
                      </a:r>
                      <a:r>
                        <a:rPr lang="ko-KR" altLang="en-US" sz="1000" baseline="0" smtClean="0"/>
                        <a:t>변경 구축 후</a:t>
                      </a:r>
                      <a:r>
                        <a:rPr lang="en-US" altLang="ko-KR" sz="1000" baseline="0" smtClean="0"/>
                        <a:t>)</a:t>
                      </a:r>
                      <a:endParaRPr lang="en-US" altLang="ko-KR" sz="1000" smtClean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M+5.5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0039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smtClean="0"/>
                        <a:t>7) </a:t>
                      </a:r>
                      <a:r>
                        <a:rPr lang="ko-KR" altLang="en-US" sz="1000" baseline="0" smtClean="0"/>
                        <a:t>현행시스템 적용</a:t>
                      </a:r>
                      <a:r>
                        <a:rPr lang="ko-KR" altLang="en-US" sz="1000" smtClean="0"/>
                        <a:t> 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smtClean="0"/>
                        <a:t>M+5 (PGM</a:t>
                      </a:r>
                      <a:r>
                        <a:rPr lang="ko-KR" altLang="en-US" sz="1000" baseline="0" smtClean="0"/>
                        <a:t> 수정 후</a:t>
                      </a:r>
                      <a:r>
                        <a:rPr lang="en-US" altLang="ko-KR" sz="1000" baseline="0" smtClean="0"/>
                        <a:t>)</a:t>
                      </a:r>
                      <a:endParaRPr lang="en-US" altLang="ko-KR" sz="1000" smtClean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M+5.5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27036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자산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회계 데이터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단일화 및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정합성 처리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kumimoji="1" lang="ko-KR" altLang="en-US" sz="1000" b="1" kern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회계에서 감가상각을 위해 관리하는 자산 목록과 시스템에서 관리하는 실물 자산의 목록과 금액을 동일하게 처리 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1) </a:t>
                      </a:r>
                      <a:r>
                        <a:rPr lang="ko-KR" altLang="en-US" sz="1000" smtClean="0"/>
                        <a:t>감가상각</a:t>
                      </a:r>
                      <a:r>
                        <a:rPr lang="en-US" altLang="ko-KR" sz="1000" smtClean="0"/>
                        <a:t> </a:t>
                      </a:r>
                      <a:r>
                        <a:rPr lang="ko-KR" altLang="en-US" sz="1000" smtClean="0"/>
                        <a:t>기능 확인</a:t>
                      </a:r>
                      <a:r>
                        <a:rPr lang="en-US" altLang="ko-KR" sz="1000" smtClean="0"/>
                        <a:t>/</a:t>
                      </a:r>
                      <a:r>
                        <a:rPr lang="ko-KR" altLang="en-US" sz="1000" smtClean="0"/>
                        <a:t>보완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2) </a:t>
                      </a:r>
                      <a:r>
                        <a:rPr lang="ko-KR" altLang="en-US" sz="1000" smtClean="0"/>
                        <a:t>회계 </a:t>
                      </a:r>
                      <a:r>
                        <a:rPr lang="en-US" altLang="ko-KR" sz="1000" smtClean="0"/>
                        <a:t>=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자산 데이터 일원화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3) </a:t>
                      </a:r>
                      <a:r>
                        <a:rPr lang="ko-KR" altLang="en-US" sz="1000" smtClean="0"/>
                        <a:t>감가상각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전표처리 테스트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1.0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M+0.5 (</a:t>
                      </a:r>
                      <a:r>
                        <a:rPr lang="ko-KR" altLang="en-US" sz="1000" smtClean="0"/>
                        <a:t>기능 확인 후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M+1.5 (</a:t>
                      </a:r>
                      <a:r>
                        <a:rPr lang="ko-KR" altLang="en-US" sz="1000" smtClean="0"/>
                        <a:t>일원화 후</a:t>
                      </a:r>
                      <a:r>
                        <a:rPr lang="en-US" altLang="ko-KR" sz="1000" smtClean="0"/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M+0.5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M+1.5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2.0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67204475"/>
                  </a:ext>
                </a:extLst>
              </a:tr>
              <a:tr h="690355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기준정보 체계화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기준정보의 통합 설계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79488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각 업무별로 사용하고 있는 거래처코드</a:t>
                      </a:r>
                      <a:r>
                        <a:rPr kumimoji="1" lang="en-US" altLang="ko-KR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사업코드</a:t>
                      </a:r>
                      <a:r>
                        <a:rPr kumimoji="1" lang="en-US" altLang="ko-KR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사업장 코드</a:t>
                      </a:r>
                      <a:r>
                        <a:rPr kumimoji="1" lang="en-US" altLang="ko-KR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물품코드 등의 기준정보 통합과</a:t>
                      </a:r>
                      <a:r>
                        <a:rPr kumimoji="1" lang="ko-KR" altLang="en-US" sz="1000" b="1" kern="0" baseline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kumimoji="1" lang="ko-KR" altLang="en-US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동일한 성격의 일반코드 단일화</a:t>
                      </a:r>
                      <a:endParaRPr kumimoji="1" lang="ko-KR" altLang="en-US" sz="1000" b="1" kern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1) </a:t>
                      </a:r>
                      <a:r>
                        <a:rPr lang="ko-KR" altLang="en-US" sz="1000" spc="-30" smtClean="0">
                          <a:latin typeface="+mn-ea"/>
                        </a:rPr>
                        <a:t>기준정보 통합 영향도 분석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baseline="0" smtClean="0">
                          <a:latin typeface="+mn-ea"/>
                        </a:rPr>
                        <a:t>2) TABLE, 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코드 생성 </a:t>
                      </a:r>
                      <a:endParaRPr lang="en-US" altLang="ko-KR" sz="1000" spc="-30" baseline="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3)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대상 기능 및 프로그램 수정</a:t>
                      </a:r>
                      <a:endParaRPr lang="en-US" altLang="ko-KR" sz="1000" spc="-30" baseline="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baseline="0" smtClean="0">
                          <a:latin typeface="+mn-ea"/>
                        </a:rPr>
                        <a:t>4) 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테스트 및 적용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0.5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0.5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2.0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M+1 (</a:t>
                      </a:r>
                      <a:r>
                        <a:rPr lang="ko-KR" altLang="en-US" sz="1000" smtClean="0"/>
                        <a:t>영향 분석 후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 (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코드 생성 </a:t>
                      </a:r>
                      <a:r>
                        <a:rPr lang="ko-KR" altLang="en-US" sz="1000" smtClean="0"/>
                        <a:t>후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M+3  (</a:t>
                      </a:r>
                      <a:r>
                        <a:rPr lang="ko-KR" altLang="en-US" sz="1000" spc="-30" smtClean="0">
                          <a:latin typeface="+mn-ea"/>
                        </a:rPr>
                        <a:t>수정 완료 후</a:t>
                      </a:r>
                      <a:r>
                        <a:rPr lang="en-US" altLang="ko-KR" sz="1000" spc="-30" smtClean="0">
                          <a:latin typeface="+mn-ea"/>
                        </a:rPr>
                        <a:t>) 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M+0.5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M+1.5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M+4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M+3.5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1.0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0.5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4.0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0.5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76879302"/>
                  </a:ext>
                </a:extLst>
              </a:tr>
              <a:tr h="690355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업무 흐름에 부합하는 프로그램 기능 설계</a:t>
                      </a:r>
                      <a:r>
                        <a:rPr kumimoji="0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/</a:t>
                      </a: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구축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단위업무 분류별로 기본업무 프로세스를 진행할 수 있는 최소한의 기능을 신속하게 구축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1) </a:t>
                      </a:r>
                      <a:r>
                        <a:rPr lang="ko-KR" altLang="en-US" sz="1000" spc="-30" smtClean="0">
                          <a:latin typeface="+mn-ea"/>
                        </a:rPr>
                        <a:t>업무 프로세스별 요구기능 조사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2) </a:t>
                      </a:r>
                      <a:r>
                        <a:rPr lang="ko-KR" altLang="en-US" sz="1000" spc="-30" smtClean="0">
                          <a:latin typeface="+mn-ea"/>
                        </a:rPr>
                        <a:t>누락기능 설계 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3) </a:t>
                      </a:r>
                      <a:r>
                        <a:rPr lang="ko-KR" altLang="en-US" sz="1000" spc="-30" smtClean="0">
                          <a:latin typeface="+mn-ea"/>
                        </a:rPr>
                        <a:t>누락기능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구축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4) </a:t>
                      </a:r>
                      <a:r>
                        <a:rPr lang="ko-KR" altLang="en-US" sz="1000" spc="-30" smtClean="0">
                          <a:latin typeface="+mn-ea"/>
                        </a:rPr>
                        <a:t>테스트 및 적용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M+1 (</a:t>
                      </a:r>
                      <a:r>
                        <a:rPr lang="ko-KR" altLang="en-US" sz="1000" smtClean="0"/>
                        <a:t>기능 조사 후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M+3 (</a:t>
                      </a:r>
                      <a:r>
                        <a:rPr lang="ko-KR" altLang="en-US" sz="1000" smtClean="0"/>
                        <a:t>설계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1000" smtClean="0"/>
                        <a:t>후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M+5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(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구축 후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)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M+3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M+5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M+6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4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27036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사용자 편의를 제공하는 </a:t>
                      </a:r>
                      <a:r>
                        <a:rPr kumimoji="0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UI-UX </a:t>
                      </a: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표준 설계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사용자가 요구하는 화면과 기능 제공을</a:t>
                      </a: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</a:t>
                      </a:r>
                      <a:r>
                        <a:rPr kumimoji="1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위한  화면 표준을 제시한 후 사용자의 요청에 의한 사용자 중심의 </a:t>
                      </a: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UI-UX</a:t>
                      </a:r>
                      <a:r>
                        <a:rPr kumimoji="1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구현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1)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UI_UX 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표준 작성</a:t>
                      </a:r>
                      <a:endParaRPr lang="en-US" altLang="ko-KR" sz="1000" spc="-30" baseline="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2) </a:t>
                      </a:r>
                      <a:r>
                        <a:rPr lang="ko-KR" altLang="en-US" sz="1000" spc="-30" smtClean="0">
                          <a:latin typeface="+mn-ea"/>
                        </a:rPr>
                        <a:t>화면</a:t>
                      </a:r>
                      <a:r>
                        <a:rPr lang="en-US" altLang="ko-KR" sz="1000" spc="-30" smtClean="0">
                          <a:latin typeface="+mn-ea"/>
                        </a:rPr>
                        <a:t>/</a:t>
                      </a:r>
                      <a:r>
                        <a:rPr lang="ko-KR" altLang="en-US" sz="1000" spc="-30" smtClean="0">
                          <a:latin typeface="+mn-ea"/>
                        </a:rPr>
                        <a:t>기능별 화면 작성</a:t>
                      </a:r>
                      <a:r>
                        <a:rPr lang="en-US" altLang="ko-KR" sz="1000" spc="-30" smtClean="0">
                          <a:latin typeface="+mn-ea"/>
                        </a:rPr>
                        <a:t>/</a:t>
                      </a:r>
                      <a:r>
                        <a:rPr lang="ko-KR" altLang="en-US" sz="1000" spc="-30" smtClean="0">
                          <a:latin typeface="+mn-ea"/>
                        </a:rPr>
                        <a:t>사용자 검토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3) </a:t>
                      </a:r>
                      <a:r>
                        <a:rPr lang="ko-KR" altLang="en-US" sz="1000" spc="-30" smtClean="0">
                          <a:latin typeface="+mn-ea"/>
                        </a:rPr>
                        <a:t>구현 및 테스트</a:t>
                      </a:r>
                      <a:r>
                        <a:rPr lang="en-US" altLang="ko-KR" sz="1000" spc="-30" smtClean="0">
                          <a:latin typeface="+mn-ea"/>
                        </a:rPr>
                        <a:t>/</a:t>
                      </a:r>
                      <a:r>
                        <a:rPr lang="ko-KR" altLang="en-US" sz="1000" spc="-30" smtClean="0">
                          <a:latin typeface="+mn-ea"/>
                        </a:rPr>
                        <a:t>적용 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3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M+1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spc="-30" smtClean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15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90355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업무별 개선사항 적용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업무별로 요구사항을 수렴하여 업무 프로세스를 확정하고</a:t>
                      </a:r>
                      <a:r>
                        <a:rPr lang="en-US" altLang="ko-KR" sz="10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프로세스별 요구기능과 화면 설계</a:t>
                      </a:r>
                      <a:r>
                        <a:rPr lang="en-US" altLang="ko-KR" sz="10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TABLE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설계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DB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기능 설계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구현 및 테스트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업무매뉴얼 작성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교육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운영지원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1) </a:t>
                      </a:r>
                      <a:r>
                        <a:rPr lang="ko-KR" altLang="en-US" sz="1000" spc="-30" smtClean="0">
                          <a:latin typeface="+mn-ea"/>
                        </a:rPr>
                        <a:t>요구사항 수렴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2) </a:t>
                      </a:r>
                      <a:r>
                        <a:rPr lang="ko-KR" altLang="en-US" sz="1000" spc="-30" smtClean="0">
                          <a:latin typeface="+mn-ea"/>
                        </a:rPr>
                        <a:t>프로세스</a:t>
                      </a:r>
                      <a:r>
                        <a:rPr lang="en-US" altLang="ko-KR" sz="1000" spc="-30" smtClean="0">
                          <a:latin typeface="+mn-ea"/>
                        </a:rPr>
                        <a:t>/</a:t>
                      </a:r>
                      <a:r>
                        <a:rPr lang="ko-KR" altLang="en-US" sz="1000" spc="-30" smtClean="0">
                          <a:latin typeface="+mn-ea"/>
                        </a:rPr>
                        <a:t>기능</a:t>
                      </a:r>
                      <a:r>
                        <a:rPr lang="en-US" altLang="ko-KR" sz="1000" spc="-30" smtClean="0">
                          <a:latin typeface="+mn-ea"/>
                        </a:rPr>
                        <a:t>/</a:t>
                      </a:r>
                      <a:r>
                        <a:rPr lang="ko-KR" altLang="en-US" sz="1000" spc="-30" smtClean="0">
                          <a:latin typeface="+mn-ea"/>
                        </a:rPr>
                        <a:t>화면</a:t>
                      </a:r>
                      <a:r>
                        <a:rPr lang="en-US" altLang="ko-KR" sz="1000" spc="-30" smtClean="0">
                          <a:latin typeface="+mn-ea"/>
                        </a:rPr>
                        <a:t>/DB </a:t>
                      </a:r>
                      <a:r>
                        <a:rPr lang="ko-KR" altLang="en-US" sz="1000" spc="-30" smtClean="0">
                          <a:latin typeface="+mn-ea"/>
                        </a:rPr>
                        <a:t>설계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3) </a:t>
                      </a:r>
                      <a:r>
                        <a:rPr lang="ko-KR" altLang="en-US" sz="1000" spc="-30" smtClean="0">
                          <a:latin typeface="+mn-ea"/>
                        </a:rPr>
                        <a:t>구현</a:t>
                      </a:r>
                      <a:r>
                        <a:rPr lang="en-US" altLang="ko-KR" sz="1000" spc="-30" smtClean="0">
                          <a:latin typeface="+mn-ea"/>
                        </a:rPr>
                        <a:t>/</a:t>
                      </a:r>
                      <a:r>
                        <a:rPr lang="ko-KR" altLang="en-US" sz="1000" spc="-30" smtClean="0">
                          <a:latin typeface="+mn-ea"/>
                        </a:rPr>
                        <a:t>테스트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4)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교육 및 운영지원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 (</a:t>
                      </a:r>
                      <a:r>
                        <a:rPr lang="ko-KR" altLang="en-US" sz="1000" smtClean="0"/>
                        <a:t>요구 수렴 후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M+5 (</a:t>
                      </a:r>
                      <a:r>
                        <a:rPr lang="ko-KR" altLang="en-US" sz="1000" smtClean="0"/>
                        <a:t>설계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1000" smtClean="0"/>
                        <a:t>후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M+9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(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구축 후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)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M+5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M+9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M+11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4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9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6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76200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/>
              <a:t>1. </a:t>
            </a:r>
            <a:r>
              <a:rPr lang="ko-KR" altLang="en-US"/>
              <a:t>추진 계획 수립 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/>
              <a:t>1.3 </a:t>
            </a:r>
            <a:r>
              <a:rPr lang="ko-KR" altLang="en-US" sz="1800"/>
              <a:t>추진 로드맵 정의</a:t>
            </a:r>
            <a:r>
              <a:rPr lang="en-US" altLang="ko-KR" sz="1800"/>
              <a:t>(1</a:t>
            </a:r>
            <a:r>
              <a:rPr lang="ko-KR" altLang="en-US" sz="1800"/>
              <a:t>안</a:t>
            </a:r>
            <a:r>
              <a:rPr lang="en-US" altLang="ko-KR" sz="1800" smtClean="0"/>
              <a:t>) - </a:t>
            </a:r>
            <a:r>
              <a:rPr lang="ko-KR" altLang="en-US" sz="1800" smtClean="0">
                <a:latin typeface="+mn-ea"/>
                <a:ea typeface="+mn-ea"/>
              </a:rPr>
              <a:t>단계별 </a:t>
            </a:r>
            <a:r>
              <a:rPr lang="ko-KR" altLang="en-US" sz="1800">
                <a:latin typeface="+mn-ea"/>
                <a:ea typeface="+mn-ea"/>
              </a:rPr>
              <a:t>추진 </a:t>
            </a:r>
            <a:r>
              <a:rPr lang="ko-KR" altLang="en-US" sz="1800" smtClean="0">
                <a:latin typeface="+mn-ea"/>
                <a:ea typeface="+mn-ea"/>
              </a:rPr>
              <a:t>계획표</a:t>
            </a:r>
            <a:endParaRPr lang="ko-KR" altLang="en-US" sz="1800" dirty="0">
              <a:latin typeface="+mn-ea"/>
              <a:ea typeface="+mn-ea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5632703" y="0"/>
            <a:ext cx="3883205" cy="78268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>
                <a:latin typeface="+mn-ea"/>
              </a:rPr>
              <a:t>Ⅳ. </a:t>
            </a:r>
            <a:r>
              <a:rPr lang="ko-KR" altLang="en-US" smtClean="0">
                <a:latin typeface="+mn-ea"/>
              </a:rPr>
              <a:t>이행계획 수립</a:t>
            </a:r>
            <a:endParaRPr lang="en-US" altLang="ko-KR" dirty="0">
              <a:latin typeface="+mn-ea"/>
            </a:endParaRPr>
          </a:p>
          <a:p>
            <a:pPr>
              <a:spcBef>
                <a:spcPct val="20000"/>
              </a:spcBef>
            </a:pPr>
            <a:r>
              <a:rPr lang="en-US" altLang="ko-KR" dirty="0">
                <a:latin typeface="+mn-ea"/>
              </a:rPr>
              <a:t>2. </a:t>
            </a:r>
            <a:r>
              <a:rPr lang="ko-KR" altLang="en-US" dirty="0">
                <a:latin typeface="+mn-ea"/>
              </a:rPr>
              <a:t>추진 계획 수립</a:t>
            </a:r>
            <a:endParaRPr lang="en-US" altLang="ko-KR" dirty="0">
              <a:latin typeface="+mn-ea"/>
            </a:endParaRPr>
          </a:p>
          <a:p>
            <a:pPr>
              <a:spcBef>
                <a:spcPct val="20000"/>
              </a:spcBef>
            </a:pPr>
            <a:r>
              <a:rPr lang="en-US" altLang="ko-KR" smtClean="0">
                <a:latin typeface="+mn-ea"/>
              </a:rPr>
              <a:t>2.3 </a:t>
            </a:r>
            <a:r>
              <a:rPr lang="ko-KR" altLang="en-US" dirty="0">
                <a:latin typeface="+mn-ea"/>
              </a:rPr>
              <a:t>추진 로드맵 정의</a:t>
            </a:r>
            <a:endParaRPr lang="en-US" altLang="ko-KR" dirty="0">
              <a:latin typeface="+mn-ea"/>
            </a:endParaRPr>
          </a:p>
        </p:txBody>
      </p:sp>
      <p:graphicFrame>
        <p:nvGraphicFramePr>
          <p:cNvPr id="571" name="표 57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187656"/>
              </p:ext>
            </p:extLst>
          </p:nvPr>
        </p:nvGraphicFramePr>
        <p:xfrm>
          <a:off x="264279" y="948994"/>
          <a:ext cx="8865182" cy="5377734"/>
        </p:xfrm>
        <a:graphic>
          <a:graphicData uri="http://schemas.openxmlformats.org/drawingml/2006/table">
            <a:tbl>
              <a:tblPr/>
              <a:tblGrid>
                <a:gridCol w="330702"/>
                <a:gridCol w="1255722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1464908"/>
              </a:tblGrid>
              <a:tr h="237632">
                <a:tc rowSpan="2"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 분</a:t>
                      </a:r>
                    </a:p>
                  </a:txBody>
                  <a:tcPr marL="72000" marR="72000" marT="36005" marB="36005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4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 </a:t>
                      </a:r>
                      <a:r>
                        <a:rPr kumimoji="1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 </a:t>
                      </a: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</a:t>
                      </a:r>
                      <a:r>
                        <a:rPr kumimoji="1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개월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5" marB="3600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36005" marB="360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683B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비 고</a:t>
                      </a:r>
                    </a:p>
                  </a:txBody>
                  <a:tcPr marL="72000" marR="72000" marT="36005" marB="3600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243145">
                <a:tc gridSpan="2" v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1E6E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M+1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M+2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M+3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M+4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M+5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M+6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M+7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M+8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M+9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M+10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M+11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M+12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M+13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968953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경영정보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스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템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개선</a:t>
                      </a:r>
                      <a:endParaRPr kumimoji="0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DATABASE </a:t>
                      </a:r>
                      <a:r>
                        <a:rPr lang="ko-KR" altLang="en-US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개선</a:t>
                      </a:r>
                      <a:r>
                        <a:rPr lang="en-US" altLang="ko-KR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 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1) DATABASE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개발 표준 작성</a:t>
                      </a:r>
                    </a:p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현행 </a:t>
                      </a: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DB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변경사항 도출</a:t>
                      </a:r>
                    </a:p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영향도 분석</a:t>
                      </a:r>
                    </a:p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4) DATABASE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변경 구축</a:t>
                      </a:r>
                    </a:p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관련 기능</a:t>
                      </a: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프로그램 수정</a:t>
                      </a:r>
                    </a:p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6)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마이그레이션</a:t>
                      </a: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테스트</a:t>
                      </a:r>
                    </a:p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7)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현행시스템 적용</a:t>
                      </a:r>
                      <a:endParaRPr kumimoji="1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36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319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자산</a:t>
                      </a:r>
                      <a:r>
                        <a:rPr lang="en-US" altLang="ko-KR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회계 데이터</a:t>
                      </a:r>
                      <a:r>
                        <a:rPr lang="en-US" altLang="ko-KR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단일화 및</a:t>
                      </a:r>
                      <a:r>
                        <a:rPr lang="en-US" altLang="ko-KR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정합성 처리</a:t>
                      </a: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mtClean="0"/>
                        <a:t>1) </a:t>
                      </a:r>
                      <a:r>
                        <a:rPr lang="ko-KR" altLang="en-US" sz="800" smtClean="0"/>
                        <a:t>감가상각</a:t>
                      </a:r>
                      <a:r>
                        <a:rPr lang="en-US" altLang="ko-KR" sz="800" smtClean="0"/>
                        <a:t> </a:t>
                      </a:r>
                      <a:r>
                        <a:rPr lang="ko-KR" altLang="en-US" sz="800" smtClean="0"/>
                        <a:t>기능 확인</a:t>
                      </a:r>
                      <a:r>
                        <a:rPr lang="en-US" altLang="ko-KR" sz="800" smtClean="0"/>
                        <a:t>/</a:t>
                      </a:r>
                      <a:r>
                        <a:rPr lang="ko-KR" altLang="en-US" sz="800" smtClean="0"/>
                        <a:t>보완</a:t>
                      </a:r>
                      <a:endParaRPr lang="en-US" altLang="ko-KR" sz="8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mtClean="0"/>
                        <a:t>2) </a:t>
                      </a:r>
                      <a:r>
                        <a:rPr lang="ko-KR" altLang="en-US" sz="800" smtClean="0"/>
                        <a:t>회계</a:t>
                      </a:r>
                      <a:r>
                        <a:rPr lang="en-US" altLang="ko-KR" sz="800" smtClean="0"/>
                        <a:t>=</a:t>
                      </a:r>
                      <a:r>
                        <a:rPr lang="ko-KR" altLang="en-US" sz="800" baseline="0" smtClean="0"/>
                        <a:t>자산 데이터 일원화</a:t>
                      </a:r>
                      <a:endParaRPr lang="en-US" altLang="ko-KR" sz="8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mtClean="0"/>
                        <a:t>3) </a:t>
                      </a:r>
                      <a:r>
                        <a:rPr lang="ko-KR" altLang="en-US" sz="800" smtClean="0"/>
                        <a:t>감가상각</a:t>
                      </a:r>
                      <a:r>
                        <a:rPr lang="en-US" altLang="ko-KR" sz="800" smtClean="0"/>
                        <a:t>, </a:t>
                      </a:r>
                      <a:r>
                        <a:rPr lang="ko-KR" altLang="en-US" sz="800" smtClean="0"/>
                        <a:t>전표처리 테스트</a:t>
                      </a:r>
                      <a:endParaRPr kumimoji="1" lang="en-US" altLang="ko-KR" sz="8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72000" marR="36000" marT="36000" marB="3600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7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기준정보 체계화</a:t>
                      </a:r>
                      <a:r>
                        <a:rPr lang="en-US" altLang="ko-KR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기준정보의 통합 설계</a:t>
                      </a:r>
                      <a:endParaRPr lang="ko-KR" altLang="en-US" sz="10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1) </a:t>
                      </a:r>
                      <a:r>
                        <a:rPr lang="ko-KR" altLang="en-US" sz="800" spc="-30" smtClean="0">
                          <a:latin typeface="+mn-ea"/>
                        </a:rPr>
                        <a:t>기준정보 통합 영향도 분석</a:t>
                      </a:r>
                      <a:endParaRPr lang="en-US" altLang="ko-KR" sz="8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baseline="0" smtClean="0">
                          <a:latin typeface="+mn-ea"/>
                        </a:rPr>
                        <a:t>2) TABLE, </a:t>
                      </a:r>
                      <a:r>
                        <a:rPr lang="ko-KR" altLang="en-US" sz="800" spc="-30" baseline="0" smtClean="0">
                          <a:latin typeface="+mn-ea"/>
                        </a:rPr>
                        <a:t>코드 생성 </a:t>
                      </a:r>
                      <a:endParaRPr lang="en-US" altLang="ko-KR" sz="800" spc="-30" baseline="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3)</a:t>
                      </a:r>
                      <a:r>
                        <a:rPr lang="en-US" altLang="ko-KR" sz="8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800" spc="-30" baseline="0" smtClean="0">
                          <a:latin typeface="+mn-ea"/>
                        </a:rPr>
                        <a:t>대상 기능 및 프로그램 수정</a:t>
                      </a:r>
                      <a:endParaRPr lang="en-US" altLang="ko-KR" sz="800" spc="-30" baseline="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baseline="0" smtClean="0">
                          <a:latin typeface="+mn-ea"/>
                        </a:rPr>
                        <a:t>4) </a:t>
                      </a:r>
                      <a:r>
                        <a:rPr lang="ko-KR" altLang="en-US" sz="800" spc="-30" baseline="0" smtClean="0">
                          <a:latin typeface="+mn-ea"/>
                        </a:rPr>
                        <a:t>테스트 및 적용</a:t>
                      </a:r>
                      <a:endParaRPr kumimoji="1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36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7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업무 흐름에 부합하는 프로그램 기능 설계</a:t>
                      </a:r>
                      <a:r>
                        <a:rPr kumimoji="0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/</a:t>
                      </a: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구축</a:t>
                      </a:r>
                      <a:endParaRPr lang="ko-KR" altLang="en-US" sz="10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1) </a:t>
                      </a:r>
                      <a:r>
                        <a:rPr lang="ko-KR" altLang="en-US" sz="800" spc="-30" smtClean="0">
                          <a:latin typeface="+mn-ea"/>
                        </a:rPr>
                        <a:t>프로세스별 요구기능 조사</a:t>
                      </a:r>
                      <a:endParaRPr lang="en-US" altLang="ko-KR" sz="8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2) </a:t>
                      </a:r>
                      <a:r>
                        <a:rPr lang="ko-KR" altLang="en-US" sz="800" spc="-30" smtClean="0">
                          <a:latin typeface="+mn-ea"/>
                        </a:rPr>
                        <a:t>누락기능 설계 </a:t>
                      </a:r>
                      <a:endParaRPr lang="en-US" altLang="ko-KR" sz="8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3) </a:t>
                      </a:r>
                      <a:r>
                        <a:rPr lang="ko-KR" altLang="en-US" sz="800" spc="-30" smtClean="0">
                          <a:latin typeface="+mn-ea"/>
                        </a:rPr>
                        <a:t>누락기능</a:t>
                      </a:r>
                      <a:r>
                        <a:rPr lang="en-US" altLang="ko-KR" sz="8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800" spc="-30" baseline="0" smtClean="0">
                          <a:latin typeface="+mn-ea"/>
                        </a:rPr>
                        <a:t>구축</a:t>
                      </a:r>
                      <a:endParaRPr lang="en-US" altLang="ko-KR" sz="8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4) </a:t>
                      </a:r>
                      <a:r>
                        <a:rPr lang="ko-KR" altLang="en-US" sz="800" spc="-30" smtClean="0">
                          <a:latin typeface="+mn-ea"/>
                        </a:rPr>
                        <a:t>테스트 및 적용</a:t>
                      </a:r>
                      <a:endParaRPr kumimoji="1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36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275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사용자 편의를 제공하는 </a:t>
                      </a:r>
                      <a:r>
                        <a:rPr kumimoji="0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UI-UX </a:t>
                      </a: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표준 설계</a:t>
                      </a:r>
                      <a:endParaRPr lang="ko-KR" altLang="en-US" sz="10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1)</a:t>
                      </a:r>
                      <a:r>
                        <a:rPr lang="en-US" altLang="ko-KR" sz="800" spc="-30" baseline="0" smtClean="0">
                          <a:latin typeface="+mn-ea"/>
                        </a:rPr>
                        <a:t> UI_UX </a:t>
                      </a:r>
                      <a:r>
                        <a:rPr lang="ko-KR" altLang="en-US" sz="800" spc="-30" baseline="0" smtClean="0">
                          <a:latin typeface="+mn-ea"/>
                        </a:rPr>
                        <a:t>표준 작성</a:t>
                      </a:r>
                      <a:endParaRPr lang="en-US" altLang="ko-KR" sz="800" spc="-30" baseline="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2) </a:t>
                      </a:r>
                      <a:r>
                        <a:rPr lang="ko-KR" altLang="en-US" sz="800" spc="-30" smtClean="0">
                          <a:latin typeface="+mn-ea"/>
                        </a:rPr>
                        <a:t>화면</a:t>
                      </a:r>
                      <a:r>
                        <a:rPr lang="en-US" altLang="ko-KR" sz="800" spc="-30" smtClean="0">
                          <a:latin typeface="+mn-ea"/>
                        </a:rPr>
                        <a:t>/</a:t>
                      </a:r>
                      <a:r>
                        <a:rPr lang="ko-KR" altLang="en-US" sz="800" spc="-30" smtClean="0">
                          <a:latin typeface="+mn-ea"/>
                        </a:rPr>
                        <a:t>기능별 화면 작성</a:t>
                      </a:r>
                      <a:endParaRPr lang="en-US" altLang="ko-KR" sz="8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   /</a:t>
                      </a:r>
                      <a:r>
                        <a:rPr lang="ko-KR" altLang="en-US" sz="800" spc="-30" smtClean="0">
                          <a:latin typeface="+mn-ea"/>
                        </a:rPr>
                        <a:t>사용자 검토</a:t>
                      </a:r>
                      <a:endParaRPr lang="en-US" altLang="ko-KR" sz="8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3) </a:t>
                      </a:r>
                      <a:r>
                        <a:rPr lang="ko-KR" altLang="en-US" sz="800" spc="-30" smtClean="0">
                          <a:latin typeface="+mn-ea"/>
                        </a:rPr>
                        <a:t>구현 및 테스트</a:t>
                      </a:r>
                      <a:r>
                        <a:rPr lang="en-US" altLang="ko-KR" sz="800" spc="-30" smtClean="0">
                          <a:latin typeface="+mn-ea"/>
                        </a:rPr>
                        <a:t>/</a:t>
                      </a:r>
                      <a:r>
                        <a:rPr lang="ko-KR" altLang="en-US" sz="800" spc="-30" smtClean="0">
                          <a:latin typeface="+mn-ea"/>
                        </a:rPr>
                        <a:t>적용 </a:t>
                      </a:r>
                      <a:endParaRPr kumimoji="1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36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824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bg1"/>
                          </a:solidFill>
                          <a:latin typeface="+mn-ea"/>
                        </a:rPr>
                        <a:t>업무별 개선사항 적용</a:t>
                      </a:r>
                      <a:endParaRPr lang="ko-KR" altLang="en-US" sz="1000" b="1" kern="0" dirty="0">
                        <a:solidFill>
                          <a:schemeClr val="bg1"/>
                        </a:solidFill>
                        <a:latin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1) </a:t>
                      </a:r>
                      <a:r>
                        <a:rPr lang="ko-KR" altLang="en-US" sz="800" spc="-30" smtClean="0">
                          <a:latin typeface="+mn-ea"/>
                        </a:rPr>
                        <a:t>요구사항 수렴</a:t>
                      </a:r>
                      <a:endParaRPr lang="en-US" altLang="ko-KR" sz="8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2) </a:t>
                      </a:r>
                      <a:r>
                        <a:rPr lang="ko-KR" altLang="en-US" sz="800" spc="-30" smtClean="0">
                          <a:latin typeface="+mn-ea"/>
                        </a:rPr>
                        <a:t>프로세스</a:t>
                      </a:r>
                      <a:r>
                        <a:rPr lang="en-US" altLang="ko-KR" sz="800" spc="-30" smtClean="0">
                          <a:latin typeface="+mn-ea"/>
                        </a:rPr>
                        <a:t>/</a:t>
                      </a:r>
                      <a:r>
                        <a:rPr lang="ko-KR" altLang="en-US" sz="800" spc="-30" smtClean="0">
                          <a:latin typeface="+mn-ea"/>
                        </a:rPr>
                        <a:t>기능</a:t>
                      </a:r>
                      <a:r>
                        <a:rPr lang="en-US" altLang="ko-KR" sz="800" spc="-30" smtClean="0">
                          <a:latin typeface="+mn-ea"/>
                        </a:rPr>
                        <a:t>/</a:t>
                      </a:r>
                      <a:r>
                        <a:rPr lang="ko-KR" altLang="en-US" sz="800" spc="-30" smtClean="0">
                          <a:latin typeface="+mn-ea"/>
                        </a:rPr>
                        <a:t>화면</a:t>
                      </a:r>
                      <a:r>
                        <a:rPr lang="en-US" altLang="ko-KR" sz="800" spc="-30" smtClean="0">
                          <a:latin typeface="+mn-ea"/>
                        </a:rPr>
                        <a:t>/DB </a:t>
                      </a:r>
                      <a:r>
                        <a:rPr lang="ko-KR" altLang="en-US" sz="800" spc="-30" smtClean="0">
                          <a:latin typeface="+mn-ea"/>
                        </a:rPr>
                        <a:t>설계</a:t>
                      </a:r>
                      <a:endParaRPr lang="en-US" altLang="ko-KR" sz="8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3) </a:t>
                      </a:r>
                      <a:r>
                        <a:rPr lang="ko-KR" altLang="en-US" sz="800" spc="-30" smtClean="0">
                          <a:latin typeface="+mn-ea"/>
                        </a:rPr>
                        <a:t>구현</a:t>
                      </a:r>
                      <a:r>
                        <a:rPr lang="en-US" altLang="ko-KR" sz="800" spc="-30" smtClean="0">
                          <a:latin typeface="+mn-ea"/>
                        </a:rPr>
                        <a:t>/</a:t>
                      </a:r>
                      <a:r>
                        <a:rPr lang="ko-KR" altLang="en-US" sz="800" spc="-30" smtClean="0">
                          <a:latin typeface="+mn-ea"/>
                        </a:rPr>
                        <a:t>테스트</a:t>
                      </a:r>
                      <a:endParaRPr lang="en-US" altLang="ko-KR" sz="8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800" spc="-30" smtClean="0">
                          <a:latin typeface="+mn-ea"/>
                        </a:rPr>
                        <a:t>  4)</a:t>
                      </a:r>
                      <a:r>
                        <a:rPr lang="en-US" altLang="ko-KR" sz="8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800" spc="-30" baseline="0" smtClean="0">
                          <a:latin typeface="+mn-ea"/>
                        </a:rPr>
                        <a:t>교육 및 운영지원</a:t>
                      </a:r>
                      <a:endParaRPr kumimoji="1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36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96049">
                <a:tc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 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D8E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5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85725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36000" marT="36000" marB="3600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583" name="그룹 582"/>
          <p:cNvGrpSpPr/>
          <p:nvPr/>
        </p:nvGrpSpPr>
        <p:grpSpPr>
          <a:xfrm>
            <a:off x="1828081" y="1732423"/>
            <a:ext cx="2528666" cy="269406"/>
            <a:chOff x="2837899" y="2826766"/>
            <a:chExt cx="3343740" cy="371752"/>
          </a:xfrm>
        </p:grpSpPr>
        <p:sp>
          <p:nvSpPr>
            <p:cNvPr id="720" name="오른쪽 대괄호 719"/>
            <p:cNvSpPr/>
            <p:nvPr/>
          </p:nvSpPr>
          <p:spPr bwMode="auto">
            <a:xfrm rot="16200000">
              <a:off x="3575819" y="2780545"/>
              <a:ext cx="228441" cy="508051"/>
            </a:xfrm>
            <a:prstGeom prst="rightBracket">
              <a:avLst>
                <a:gd name="adj" fmla="val 46740"/>
              </a:avLst>
            </a:prstGeom>
            <a:solidFill>
              <a:srgbClr val="FFFFFF"/>
            </a:solidFill>
            <a:ln w="317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eaVert" lIns="0" tIns="0" rIns="0" bIns="0" anchor="ctr" anchorCtr="1">
              <a:normAutofit/>
            </a:bodyPr>
            <a:lstStyle/>
            <a:p>
              <a:pPr algn="ctr" defTabSz="846138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600" kern="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721" name="Rectangle 55"/>
            <p:cNvSpPr>
              <a:spLocks noChangeArrowheads="1"/>
            </p:cNvSpPr>
            <p:nvPr/>
          </p:nvSpPr>
          <p:spPr bwMode="auto">
            <a:xfrm>
              <a:off x="3485205" y="2826766"/>
              <a:ext cx="474814" cy="29728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 anchor="ctr">
              <a:spAutoFit/>
            </a:bodyPr>
            <a:lstStyle>
              <a:lvl1pPr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1pPr>
              <a:lvl2pPr marL="742950" indent="-28575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2pPr>
              <a:lvl3pPr marL="11430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3pPr>
              <a:lvl4pPr marL="16002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4pPr>
              <a:lvl5pPr marL="20574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5pPr>
              <a:lvl6pPr marL="25146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6pPr>
              <a:lvl7pPr marL="29718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7pPr>
              <a:lvl8pPr marL="34290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8pPr>
              <a:lvl9pPr marL="38862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700" kern="0" smtClean="0">
                  <a:latin typeface="+mn-ea"/>
                  <a:ea typeface="+mn-ea"/>
                </a:rPr>
                <a:t>변경사항</a:t>
              </a:r>
              <a:endParaRPr lang="en-US" altLang="ko-KR" sz="700" kern="0" smtClean="0">
                <a:latin typeface="+mn-ea"/>
                <a:ea typeface="+mn-ea"/>
              </a:endParaRPr>
            </a:p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700" kern="0" smtClean="0">
                  <a:latin typeface="+mn-ea"/>
                  <a:ea typeface="+mn-ea"/>
                </a:rPr>
                <a:t>도출</a:t>
              </a:r>
              <a:endParaRPr lang="ko-KR" altLang="ko-KR" sz="700" kern="0" dirty="0" smtClean="0">
                <a:latin typeface="+mn-ea"/>
                <a:ea typeface="+mn-ea"/>
              </a:endParaRPr>
            </a:p>
          </p:txBody>
        </p:sp>
        <p:sp>
          <p:nvSpPr>
            <p:cNvPr id="722" name="오른쪽 대괄호 721"/>
            <p:cNvSpPr/>
            <p:nvPr/>
          </p:nvSpPr>
          <p:spPr bwMode="auto">
            <a:xfrm rot="16200000">
              <a:off x="3016596" y="2782915"/>
              <a:ext cx="229933" cy="504813"/>
            </a:xfrm>
            <a:prstGeom prst="rightBracket">
              <a:avLst>
                <a:gd name="adj" fmla="val 46740"/>
              </a:avLst>
            </a:prstGeom>
            <a:solidFill>
              <a:srgbClr val="FFFFFF"/>
            </a:solidFill>
            <a:ln w="317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eaVert" lIns="0" tIns="0" rIns="0" bIns="0" anchor="ctr" anchorCtr="1">
              <a:normAutofit/>
            </a:bodyPr>
            <a:lstStyle/>
            <a:p>
              <a:pPr algn="ctr" defTabSz="846138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600" kern="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723" name="Rectangle 55"/>
            <p:cNvSpPr>
              <a:spLocks noChangeArrowheads="1"/>
            </p:cNvSpPr>
            <p:nvPr/>
          </p:nvSpPr>
          <p:spPr bwMode="auto">
            <a:xfrm>
              <a:off x="2927715" y="2985594"/>
              <a:ext cx="474814" cy="148644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 anchor="ctr">
              <a:spAutoFit/>
            </a:bodyPr>
            <a:lstStyle>
              <a:lvl1pPr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1pPr>
              <a:lvl2pPr marL="742950" indent="-28575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2pPr>
              <a:lvl3pPr marL="11430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3pPr>
              <a:lvl4pPr marL="16002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4pPr>
              <a:lvl5pPr marL="20574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5pPr>
              <a:lvl6pPr marL="25146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6pPr>
              <a:lvl7pPr marL="29718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7pPr>
              <a:lvl8pPr marL="34290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8pPr>
              <a:lvl9pPr marL="38862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700" kern="0" smtClean="0">
                  <a:latin typeface="+mn-ea"/>
                  <a:ea typeface="+mn-ea"/>
                </a:rPr>
                <a:t>표준정의</a:t>
              </a:r>
              <a:endParaRPr lang="en-US" altLang="ko-KR" sz="700" kern="0" dirty="0" smtClean="0">
                <a:latin typeface="+mn-ea"/>
                <a:ea typeface="+mn-ea"/>
              </a:endParaRPr>
            </a:p>
          </p:txBody>
        </p:sp>
        <p:cxnSp>
          <p:nvCxnSpPr>
            <p:cNvPr id="726" name="AutoShape 348"/>
            <p:cNvCxnSpPr>
              <a:cxnSpLocks noChangeShapeType="1"/>
            </p:cNvCxnSpPr>
            <p:nvPr/>
          </p:nvCxnSpPr>
          <p:spPr bwMode="auto">
            <a:xfrm flipV="1">
              <a:off x="2837899" y="3155214"/>
              <a:ext cx="3343740" cy="6894"/>
            </a:xfrm>
            <a:prstGeom prst="straightConnector1">
              <a:avLst/>
            </a:prstGeom>
            <a:noFill/>
            <a:ln w="28575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727" name="Picture 352" descr="블릿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5682" y="3106952"/>
              <a:ext cx="90000" cy="91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8" name="Picture 352" descr="블릿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1775" y="3106953"/>
              <a:ext cx="90001" cy="915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649" name="AutoShape 348"/>
          <p:cNvCxnSpPr>
            <a:cxnSpLocks noChangeShapeType="1"/>
          </p:cNvCxnSpPr>
          <p:nvPr/>
        </p:nvCxnSpPr>
        <p:spPr bwMode="auto">
          <a:xfrm flipV="1">
            <a:off x="1856656" y="2653660"/>
            <a:ext cx="860306" cy="16554"/>
          </a:xfrm>
          <a:prstGeom prst="straightConnector1">
            <a:avLst/>
          </a:prstGeom>
          <a:noFill/>
          <a:ln w="28575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1" name="Rectangle 55"/>
          <p:cNvSpPr>
            <a:spLocks noChangeArrowheads="1"/>
          </p:cNvSpPr>
          <p:nvPr/>
        </p:nvSpPr>
        <p:spPr bwMode="auto">
          <a:xfrm>
            <a:off x="3891606" y="1735385"/>
            <a:ext cx="269306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MIG/</a:t>
            </a: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656" name="Rectangle 55"/>
          <p:cNvSpPr>
            <a:spLocks noChangeArrowheads="1"/>
          </p:cNvSpPr>
          <p:nvPr/>
        </p:nvSpPr>
        <p:spPr bwMode="auto">
          <a:xfrm>
            <a:off x="2130049" y="2670910"/>
            <a:ext cx="269304" cy="26930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데이터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일원화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60" name="오른쪽 대괄호 659"/>
          <p:cNvSpPr/>
          <p:nvPr/>
        </p:nvSpPr>
        <p:spPr bwMode="auto">
          <a:xfrm rot="16200000" flipH="1">
            <a:off x="2205914" y="2544263"/>
            <a:ext cx="143490" cy="409957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lnSpcReduction="100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661" name="오른쪽 대괄호 660"/>
          <p:cNvSpPr/>
          <p:nvPr/>
        </p:nvSpPr>
        <p:spPr bwMode="auto">
          <a:xfrm rot="16200000" flipH="1">
            <a:off x="2715974" y="1944968"/>
            <a:ext cx="130445" cy="215909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fontScale="925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663" name="Rectangle 55"/>
          <p:cNvSpPr>
            <a:spLocks noChangeArrowheads="1"/>
          </p:cNvSpPr>
          <p:nvPr/>
        </p:nvSpPr>
        <p:spPr bwMode="auto">
          <a:xfrm>
            <a:off x="2676997" y="1737665"/>
            <a:ext cx="269304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영향도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분석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664" name="오른쪽 대괄호 593"/>
          <p:cNvSpPr>
            <a:spLocks/>
          </p:cNvSpPr>
          <p:nvPr/>
        </p:nvSpPr>
        <p:spPr bwMode="auto">
          <a:xfrm rot="16200000">
            <a:off x="3326764" y="1400738"/>
            <a:ext cx="154969" cy="992094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668" name="Rectangle 55"/>
          <p:cNvSpPr>
            <a:spLocks noChangeArrowheads="1"/>
          </p:cNvSpPr>
          <p:nvPr/>
        </p:nvSpPr>
        <p:spPr bwMode="auto">
          <a:xfrm>
            <a:off x="2617530" y="1997804"/>
            <a:ext cx="328771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DB</a:t>
            </a: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변경</a:t>
            </a:r>
            <a:endParaRPr lang="en-US" altLang="ko-KR" sz="700" dirty="0">
              <a:latin typeface="+mn-ea"/>
              <a:ea typeface="+mn-ea"/>
            </a:endParaRPr>
          </a:p>
        </p:txBody>
      </p:sp>
      <p:pic>
        <p:nvPicPr>
          <p:cNvPr id="688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556" y="263499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9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0954" y="1939805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0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4105" y="263499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1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0965" y="263499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1" name="Picture 352" descr="블릿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65" y="1936204"/>
            <a:ext cx="68062" cy="66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3" name="Rectangle 55"/>
          <p:cNvSpPr>
            <a:spLocks noChangeArrowheads="1"/>
          </p:cNvSpPr>
          <p:nvPr/>
        </p:nvSpPr>
        <p:spPr bwMode="auto">
          <a:xfrm>
            <a:off x="3075785" y="1747292"/>
            <a:ext cx="570669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>
                <a:latin typeface="+mn-ea"/>
                <a:ea typeface="+mn-ea"/>
              </a:rPr>
              <a:t>관련 기능</a:t>
            </a:r>
            <a:r>
              <a:rPr lang="en-US" altLang="ko-KR" sz="700" smtClean="0">
                <a:latin typeface="+mn-ea"/>
                <a:ea typeface="+mn-ea"/>
              </a:rPr>
              <a:t>/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smtClean="0">
                <a:latin typeface="+mn-ea"/>
                <a:ea typeface="+mn-ea"/>
              </a:rPr>
              <a:t>프로그램 </a:t>
            </a:r>
            <a:r>
              <a:rPr lang="ko-KR" altLang="en-US" sz="700">
                <a:latin typeface="+mn-ea"/>
                <a:ea typeface="+mn-ea"/>
              </a:rPr>
              <a:t>수정</a:t>
            </a:r>
            <a:endParaRPr lang="ko-KR" altLang="ko-KR" sz="600" kern="0" dirty="0" smtClean="0">
              <a:latin typeface="+mn-ea"/>
              <a:ea typeface="+mn-ea"/>
            </a:endParaRPr>
          </a:p>
        </p:txBody>
      </p:sp>
      <p:pic>
        <p:nvPicPr>
          <p:cNvPr id="738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1707" y="1912646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9" name="오른쪽 대괄호 593"/>
          <p:cNvSpPr>
            <a:spLocks/>
          </p:cNvSpPr>
          <p:nvPr/>
        </p:nvSpPr>
        <p:spPr bwMode="auto">
          <a:xfrm rot="16200000">
            <a:off x="2709996" y="1796998"/>
            <a:ext cx="140881" cy="178404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pic>
        <p:nvPicPr>
          <p:cNvPr id="760" name="Picture 352" descr="블릿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630901" y="3759489"/>
            <a:ext cx="2619" cy="2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5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406" y="1934741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6" name="오른쪽 대괄호 593"/>
          <p:cNvSpPr>
            <a:spLocks/>
          </p:cNvSpPr>
          <p:nvPr/>
        </p:nvSpPr>
        <p:spPr bwMode="auto">
          <a:xfrm rot="16200000">
            <a:off x="3948311" y="1809006"/>
            <a:ext cx="140881" cy="178404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pic>
        <p:nvPicPr>
          <p:cNvPr id="827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7431" y="1944266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9" name="Rectangle 55"/>
          <p:cNvSpPr>
            <a:spLocks noChangeArrowheads="1"/>
          </p:cNvSpPr>
          <p:nvPr/>
        </p:nvSpPr>
        <p:spPr bwMode="auto">
          <a:xfrm>
            <a:off x="4061943" y="2007510"/>
            <a:ext cx="328771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시스템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반영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830" name="오른쪽 대괄호 829"/>
          <p:cNvSpPr/>
          <p:nvPr/>
        </p:nvSpPr>
        <p:spPr bwMode="auto">
          <a:xfrm rot="16200000" flipH="1">
            <a:off x="4150957" y="1936923"/>
            <a:ext cx="130445" cy="210372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fontScale="925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831" name="Rectangle 55"/>
          <p:cNvSpPr>
            <a:spLocks noChangeArrowheads="1"/>
          </p:cNvSpPr>
          <p:nvPr/>
        </p:nvSpPr>
        <p:spPr bwMode="auto">
          <a:xfrm>
            <a:off x="1857623" y="2421468"/>
            <a:ext cx="359073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감가상각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기능확인</a:t>
            </a:r>
            <a:endParaRPr lang="ko-KR" altLang="ko-KR" sz="700" dirty="0">
              <a:latin typeface="+mn-ea"/>
              <a:ea typeface="+mn-ea"/>
            </a:endParaRPr>
          </a:p>
        </p:txBody>
      </p:sp>
      <p:pic>
        <p:nvPicPr>
          <p:cNvPr id="832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8744" y="2638480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4" name="오른쪽 대괄호 593"/>
          <p:cNvSpPr>
            <a:spLocks/>
          </p:cNvSpPr>
          <p:nvPr/>
        </p:nvSpPr>
        <p:spPr bwMode="auto">
          <a:xfrm rot="16200000">
            <a:off x="1884943" y="2496138"/>
            <a:ext cx="140881" cy="178404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838" name="Rectangle 55"/>
          <p:cNvSpPr>
            <a:spLocks noChangeArrowheads="1"/>
          </p:cNvSpPr>
          <p:nvPr/>
        </p:nvSpPr>
        <p:spPr bwMode="auto">
          <a:xfrm>
            <a:off x="2451771" y="2492985"/>
            <a:ext cx="269304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841" name="오른쪽 대괄호 593"/>
          <p:cNvSpPr>
            <a:spLocks/>
          </p:cNvSpPr>
          <p:nvPr/>
        </p:nvSpPr>
        <p:spPr bwMode="auto">
          <a:xfrm rot="16200000">
            <a:off x="2504440" y="2512745"/>
            <a:ext cx="140881" cy="178404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cxnSp>
        <p:nvCxnSpPr>
          <p:cNvPr id="843" name="AutoShape 348"/>
          <p:cNvCxnSpPr>
            <a:cxnSpLocks noChangeShapeType="1"/>
          </p:cNvCxnSpPr>
          <p:nvPr/>
        </p:nvCxnSpPr>
        <p:spPr bwMode="auto">
          <a:xfrm flipV="1">
            <a:off x="1842847" y="3286462"/>
            <a:ext cx="1040971" cy="16554"/>
          </a:xfrm>
          <a:prstGeom prst="straightConnector1">
            <a:avLst/>
          </a:prstGeom>
          <a:noFill/>
          <a:ln w="28575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44" name="Rectangle 55"/>
          <p:cNvSpPr>
            <a:spLocks noChangeArrowheads="1"/>
          </p:cNvSpPr>
          <p:nvPr/>
        </p:nvSpPr>
        <p:spPr bwMode="auto">
          <a:xfrm>
            <a:off x="2286809" y="3038474"/>
            <a:ext cx="397498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프로그램수정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845" name="오른쪽 대괄호 844"/>
          <p:cNvSpPr/>
          <p:nvPr/>
        </p:nvSpPr>
        <p:spPr bwMode="auto">
          <a:xfrm rot="16200000">
            <a:off x="2382313" y="3024022"/>
            <a:ext cx="162596" cy="409957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pic>
        <p:nvPicPr>
          <p:cNvPr id="846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4507" y="3267796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7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0056" y="3267796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8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6916" y="3267796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" name="Rectangle 55"/>
          <p:cNvSpPr>
            <a:spLocks noChangeArrowheads="1"/>
          </p:cNvSpPr>
          <p:nvPr/>
        </p:nvSpPr>
        <p:spPr bwMode="auto">
          <a:xfrm>
            <a:off x="1846289" y="3034448"/>
            <a:ext cx="269304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영향도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분석</a:t>
            </a:r>
            <a:endParaRPr lang="ko-KR" altLang="ko-KR" sz="700" dirty="0">
              <a:latin typeface="+mn-ea"/>
              <a:ea typeface="+mn-ea"/>
            </a:endParaRPr>
          </a:p>
        </p:txBody>
      </p:sp>
      <p:pic>
        <p:nvPicPr>
          <p:cNvPr id="850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4695" y="3271282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51" name="오른쪽 대괄호 593"/>
          <p:cNvSpPr>
            <a:spLocks/>
          </p:cNvSpPr>
          <p:nvPr/>
        </p:nvSpPr>
        <p:spPr bwMode="auto">
          <a:xfrm rot="16200000">
            <a:off x="1875418" y="3128940"/>
            <a:ext cx="140881" cy="178404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852" name="Rectangle 55"/>
          <p:cNvSpPr>
            <a:spLocks noChangeArrowheads="1"/>
          </p:cNvSpPr>
          <p:nvPr/>
        </p:nvSpPr>
        <p:spPr bwMode="auto">
          <a:xfrm>
            <a:off x="2637722" y="3071926"/>
            <a:ext cx="269304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적용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853" name="오른쪽 대괄호 593"/>
          <p:cNvSpPr>
            <a:spLocks/>
          </p:cNvSpPr>
          <p:nvPr/>
        </p:nvSpPr>
        <p:spPr bwMode="auto">
          <a:xfrm rot="16200000">
            <a:off x="2690391" y="3145547"/>
            <a:ext cx="140881" cy="178404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pic>
        <p:nvPicPr>
          <p:cNvPr id="854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081" y="326593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55" name="Rectangle 55"/>
          <p:cNvSpPr>
            <a:spLocks noChangeArrowheads="1"/>
          </p:cNvSpPr>
          <p:nvPr/>
        </p:nvSpPr>
        <p:spPr bwMode="auto">
          <a:xfrm>
            <a:off x="1954054" y="3329867"/>
            <a:ext cx="391134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TABLE</a:t>
            </a: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코드 수정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857" name="오른쪽 대괄호 856"/>
          <p:cNvSpPr/>
          <p:nvPr/>
        </p:nvSpPr>
        <p:spPr bwMode="auto">
          <a:xfrm rot="16200000" flipH="1">
            <a:off x="2078736" y="3268116"/>
            <a:ext cx="130445" cy="210372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fontScale="925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cxnSp>
        <p:nvCxnSpPr>
          <p:cNvPr id="858" name="AutoShape 348"/>
          <p:cNvCxnSpPr>
            <a:cxnSpLocks noChangeShapeType="1"/>
          </p:cNvCxnSpPr>
          <p:nvPr/>
        </p:nvCxnSpPr>
        <p:spPr bwMode="auto">
          <a:xfrm>
            <a:off x="1871422" y="3978793"/>
            <a:ext cx="2897351" cy="2174"/>
          </a:xfrm>
          <a:prstGeom prst="straightConnector1">
            <a:avLst/>
          </a:prstGeom>
          <a:noFill/>
          <a:ln w="28575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59" name="Rectangle 55"/>
          <p:cNvSpPr>
            <a:spLocks noChangeArrowheads="1"/>
          </p:cNvSpPr>
          <p:nvPr/>
        </p:nvSpPr>
        <p:spPr bwMode="auto">
          <a:xfrm>
            <a:off x="3440937" y="3724213"/>
            <a:ext cx="640175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누락 프로그램구축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860" name="오른쪽 대괄호 859"/>
          <p:cNvSpPr/>
          <p:nvPr/>
        </p:nvSpPr>
        <p:spPr bwMode="auto">
          <a:xfrm rot="16200000">
            <a:off x="3624878" y="3280788"/>
            <a:ext cx="153517" cy="1222642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pic>
        <p:nvPicPr>
          <p:cNvPr id="861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696" y="3943573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2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9769" y="3943573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3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430" y="3943573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4" name="Rectangle 55"/>
          <p:cNvSpPr>
            <a:spLocks noChangeArrowheads="1"/>
          </p:cNvSpPr>
          <p:nvPr/>
        </p:nvSpPr>
        <p:spPr bwMode="auto">
          <a:xfrm>
            <a:off x="1908234" y="3718983"/>
            <a:ext cx="359073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요구기능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 조사</a:t>
            </a:r>
            <a:endParaRPr lang="ko-KR" altLang="ko-KR" sz="700" dirty="0">
              <a:latin typeface="+mn-ea"/>
              <a:ea typeface="+mn-ea"/>
            </a:endParaRPr>
          </a:p>
        </p:txBody>
      </p:sp>
      <p:pic>
        <p:nvPicPr>
          <p:cNvPr id="865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6428" y="3947059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6" name="오른쪽 대괄호 593"/>
          <p:cNvSpPr>
            <a:spLocks/>
          </p:cNvSpPr>
          <p:nvPr/>
        </p:nvSpPr>
        <p:spPr bwMode="auto">
          <a:xfrm rot="16200000">
            <a:off x="2006725" y="3735893"/>
            <a:ext cx="140881" cy="316053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867" name="Rectangle 55"/>
          <p:cNvSpPr>
            <a:spLocks noChangeArrowheads="1"/>
          </p:cNvSpPr>
          <p:nvPr/>
        </p:nvSpPr>
        <p:spPr bwMode="auto">
          <a:xfrm>
            <a:off x="4399154" y="3729213"/>
            <a:ext cx="269304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/</a:t>
            </a:r>
            <a:r>
              <a:rPr lang="ko-KR" altLang="en-US" sz="700" smtClean="0">
                <a:latin typeface="+mn-ea"/>
                <a:ea typeface="+mn-ea"/>
              </a:rPr>
              <a:t>적용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868" name="오른쪽 대괄호 593"/>
          <p:cNvSpPr>
            <a:spLocks/>
          </p:cNvSpPr>
          <p:nvPr/>
        </p:nvSpPr>
        <p:spPr bwMode="auto">
          <a:xfrm rot="16200000">
            <a:off x="4465798" y="3719314"/>
            <a:ext cx="140881" cy="382424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pic>
        <p:nvPicPr>
          <p:cNvPr id="869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656" y="3941711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0" name="Rectangle 55"/>
          <p:cNvSpPr>
            <a:spLocks noChangeArrowheads="1"/>
          </p:cNvSpPr>
          <p:nvPr/>
        </p:nvSpPr>
        <p:spPr bwMode="auto">
          <a:xfrm>
            <a:off x="2535552" y="3718983"/>
            <a:ext cx="391133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누락 기능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설계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871" name="오른쪽 대괄호 870"/>
          <p:cNvSpPr/>
          <p:nvPr/>
        </p:nvSpPr>
        <p:spPr bwMode="auto">
          <a:xfrm rot="16200000">
            <a:off x="2598437" y="3504225"/>
            <a:ext cx="160376" cy="798890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cxnSp>
        <p:nvCxnSpPr>
          <p:cNvPr id="882" name="AutoShape 348"/>
          <p:cNvCxnSpPr>
            <a:cxnSpLocks noChangeShapeType="1"/>
          </p:cNvCxnSpPr>
          <p:nvPr/>
        </p:nvCxnSpPr>
        <p:spPr bwMode="auto">
          <a:xfrm>
            <a:off x="1919139" y="4588479"/>
            <a:ext cx="2394505" cy="2174"/>
          </a:xfrm>
          <a:prstGeom prst="straightConnector1">
            <a:avLst/>
          </a:prstGeom>
          <a:noFill/>
          <a:ln w="28575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72" name="Rectangle 55"/>
          <p:cNvSpPr>
            <a:spLocks noChangeArrowheads="1"/>
          </p:cNvSpPr>
          <p:nvPr/>
        </p:nvSpPr>
        <p:spPr bwMode="auto">
          <a:xfrm>
            <a:off x="3440937" y="4334761"/>
            <a:ext cx="640175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ko-KR" altLang="en-US" sz="700" spc="-30">
                <a:latin typeface="+mn-ea"/>
              </a:rPr>
              <a:t>구현 및 테스트</a:t>
            </a:r>
            <a:r>
              <a:rPr lang="en-US" altLang="ko-KR" sz="700" spc="-30">
                <a:latin typeface="+mn-ea"/>
              </a:rPr>
              <a:t>/</a:t>
            </a:r>
            <a:r>
              <a:rPr lang="ko-KR" altLang="en-US" sz="700" spc="-30">
                <a:latin typeface="+mn-ea"/>
              </a:rPr>
              <a:t>적용 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873" name="오른쪽 대괄호 872"/>
          <p:cNvSpPr/>
          <p:nvPr/>
        </p:nvSpPr>
        <p:spPr bwMode="auto">
          <a:xfrm rot="16200000">
            <a:off x="3624878" y="3891336"/>
            <a:ext cx="153517" cy="1222642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pic>
        <p:nvPicPr>
          <p:cNvPr id="874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696" y="4554121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5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9769" y="4554121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76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3430" y="4554121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77" name="Rectangle 55"/>
          <p:cNvSpPr>
            <a:spLocks noChangeArrowheads="1"/>
          </p:cNvSpPr>
          <p:nvPr/>
        </p:nvSpPr>
        <p:spPr bwMode="auto">
          <a:xfrm>
            <a:off x="1908234" y="4318758"/>
            <a:ext cx="371897" cy="236988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en-US" altLang="ko-KR" sz="700" spc="-30" smtClean="0">
                <a:latin typeface="+mn-ea"/>
              </a:rPr>
              <a:t>UI_UX</a:t>
            </a:r>
          </a:p>
          <a:p>
            <a:pPr lvl="0" defTabSz="914400">
              <a:spcBef>
                <a:spcPct val="20000"/>
              </a:spcBef>
              <a:defRPr/>
            </a:pPr>
            <a:r>
              <a:rPr lang="ko-KR" altLang="en-US" sz="700" spc="-30" smtClean="0">
                <a:latin typeface="+mn-ea"/>
              </a:rPr>
              <a:t>표준 </a:t>
            </a:r>
            <a:r>
              <a:rPr lang="ko-KR" altLang="en-US" sz="700" spc="-30">
                <a:latin typeface="+mn-ea"/>
              </a:rPr>
              <a:t>작성</a:t>
            </a:r>
            <a:endParaRPr lang="en-US" altLang="ko-KR" sz="700" spc="-30">
              <a:latin typeface="+mn-ea"/>
            </a:endParaRPr>
          </a:p>
        </p:txBody>
      </p:sp>
      <p:sp>
        <p:nvSpPr>
          <p:cNvPr id="878" name="오른쪽 대괄호 593"/>
          <p:cNvSpPr>
            <a:spLocks/>
          </p:cNvSpPr>
          <p:nvPr/>
        </p:nvSpPr>
        <p:spPr bwMode="auto">
          <a:xfrm rot="16200000">
            <a:off x="2006725" y="4346441"/>
            <a:ext cx="140881" cy="316053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pic>
        <p:nvPicPr>
          <p:cNvPr id="879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656" y="4552259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0" name="Rectangle 55"/>
          <p:cNvSpPr>
            <a:spLocks noChangeArrowheads="1"/>
          </p:cNvSpPr>
          <p:nvPr/>
        </p:nvSpPr>
        <p:spPr bwMode="auto">
          <a:xfrm>
            <a:off x="2363048" y="4318758"/>
            <a:ext cx="657872" cy="236988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ko-KR" altLang="en-US" sz="700" spc="-30">
                <a:latin typeface="+mn-ea"/>
              </a:rPr>
              <a:t>기능별 화면 작성</a:t>
            </a:r>
            <a:endParaRPr lang="en-US" altLang="ko-KR" sz="700" spc="-30">
              <a:latin typeface="+mn-ea"/>
            </a:endParaRPr>
          </a:p>
          <a:p>
            <a:pPr lvl="0" defTabSz="914400">
              <a:spcBef>
                <a:spcPct val="20000"/>
              </a:spcBef>
              <a:defRPr/>
            </a:pPr>
            <a:r>
              <a:rPr lang="en-US" altLang="ko-KR" sz="700" spc="-30">
                <a:latin typeface="+mn-ea"/>
              </a:rPr>
              <a:t>     /</a:t>
            </a:r>
            <a:r>
              <a:rPr lang="ko-KR" altLang="en-US" sz="700" spc="-30">
                <a:latin typeface="+mn-ea"/>
              </a:rPr>
              <a:t>사용자 검토</a:t>
            </a:r>
            <a:endParaRPr lang="en-US" altLang="ko-KR" sz="700" spc="-30">
              <a:latin typeface="+mn-ea"/>
            </a:endParaRPr>
          </a:p>
        </p:txBody>
      </p:sp>
      <p:sp>
        <p:nvSpPr>
          <p:cNvPr id="881" name="오른쪽 대괄호 880"/>
          <p:cNvSpPr/>
          <p:nvPr/>
        </p:nvSpPr>
        <p:spPr bwMode="auto">
          <a:xfrm rot="16200000">
            <a:off x="2598437" y="4114773"/>
            <a:ext cx="160376" cy="798890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cxnSp>
        <p:nvCxnSpPr>
          <p:cNvPr id="883" name="AutoShape 348"/>
          <p:cNvCxnSpPr>
            <a:cxnSpLocks noChangeShapeType="1"/>
            <a:endCxn id="906" idx="1"/>
          </p:cNvCxnSpPr>
          <p:nvPr/>
        </p:nvCxnSpPr>
        <p:spPr bwMode="auto">
          <a:xfrm flipV="1">
            <a:off x="1825947" y="5220575"/>
            <a:ext cx="4980211" cy="7607"/>
          </a:xfrm>
          <a:prstGeom prst="straightConnector1">
            <a:avLst/>
          </a:prstGeom>
          <a:noFill/>
          <a:ln w="28575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85" name="Rectangle 55"/>
          <p:cNvSpPr>
            <a:spLocks noChangeArrowheads="1"/>
          </p:cNvSpPr>
          <p:nvPr/>
        </p:nvSpPr>
        <p:spPr bwMode="auto">
          <a:xfrm>
            <a:off x="2006066" y="5094709"/>
            <a:ext cx="570670" cy="10772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요구사항 수집</a:t>
            </a:r>
            <a:endParaRPr lang="ko-KR" altLang="ko-KR" sz="700" dirty="0">
              <a:latin typeface="+mn-ea"/>
              <a:ea typeface="+mn-ea"/>
            </a:endParaRPr>
          </a:p>
        </p:txBody>
      </p:sp>
      <p:cxnSp>
        <p:nvCxnSpPr>
          <p:cNvPr id="886" name="AutoShape 348"/>
          <p:cNvCxnSpPr>
            <a:cxnSpLocks noChangeShapeType="1"/>
          </p:cNvCxnSpPr>
          <p:nvPr/>
        </p:nvCxnSpPr>
        <p:spPr bwMode="auto">
          <a:xfrm flipV="1">
            <a:off x="6000414" y="5221659"/>
            <a:ext cx="462818" cy="3748"/>
          </a:xfrm>
          <a:prstGeom prst="straightConnector1">
            <a:avLst/>
          </a:prstGeom>
          <a:noFill/>
          <a:ln w="28575">
            <a:solidFill>
              <a:srgbClr val="4D4D4D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87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754" y="5186060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89" name="Rectangle 55"/>
          <p:cNvSpPr>
            <a:spLocks noChangeArrowheads="1"/>
          </p:cNvSpPr>
          <p:nvPr/>
        </p:nvSpPr>
        <p:spPr bwMode="auto">
          <a:xfrm>
            <a:off x="2744616" y="5080406"/>
            <a:ext cx="1091004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lvl="0" defTabSz="914400">
              <a:spcBef>
                <a:spcPct val="20000"/>
              </a:spcBef>
              <a:defRPr/>
            </a:pPr>
            <a:r>
              <a:rPr lang="ko-KR" altLang="en-US" sz="700" spc="-30">
                <a:latin typeface="+mn-ea"/>
              </a:rPr>
              <a:t>프로세스</a:t>
            </a:r>
            <a:r>
              <a:rPr lang="en-US" altLang="ko-KR" sz="700" spc="-30">
                <a:latin typeface="+mn-ea"/>
              </a:rPr>
              <a:t>/</a:t>
            </a:r>
            <a:r>
              <a:rPr lang="ko-KR" altLang="en-US" sz="700" spc="-30">
                <a:latin typeface="+mn-ea"/>
              </a:rPr>
              <a:t>기능</a:t>
            </a:r>
            <a:r>
              <a:rPr lang="en-US" altLang="ko-KR" sz="700" spc="-30">
                <a:latin typeface="+mn-ea"/>
              </a:rPr>
              <a:t>/</a:t>
            </a:r>
            <a:r>
              <a:rPr lang="ko-KR" altLang="en-US" sz="700" spc="-30">
                <a:latin typeface="+mn-ea"/>
              </a:rPr>
              <a:t>화면</a:t>
            </a:r>
            <a:r>
              <a:rPr lang="en-US" altLang="ko-KR" sz="700" spc="-30">
                <a:latin typeface="+mn-ea"/>
              </a:rPr>
              <a:t>/DB </a:t>
            </a:r>
            <a:r>
              <a:rPr lang="ko-KR" altLang="en-US" sz="700" spc="-30">
                <a:latin typeface="+mn-ea"/>
              </a:rPr>
              <a:t>설계</a:t>
            </a:r>
            <a:endParaRPr lang="en-US" altLang="ko-KR" sz="700" spc="-30">
              <a:latin typeface="+mn-ea"/>
            </a:endParaRPr>
          </a:p>
        </p:txBody>
      </p:sp>
      <p:pic>
        <p:nvPicPr>
          <p:cNvPr id="890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614" y="5186060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1" name="오른쪽 대괄호 593"/>
          <p:cNvSpPr>
            <a:spLocks/>
          </p:cNvSpPr>
          <p:nvPr/>
        </p:nvSpPr>
        <p:spPr bwMode="auto">
          <a:xfrm rot="16200000">
            <a:off x="2210158" y="4754849"/>
            <a:ext cx="140881" cy="771685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896" name="오른쪽 대괄호 593"/>
          <p:cNvSpPr>
            <a:spLocks/>
          </p:cNvSpPr>
          <p:nvPr/>
        </p:nvSpPr>
        <p:spPr bwMode="auto">
          <a:xfrm rot="16200000">
            <a:off x="4861083" y="4104849"/>
            <a:ext cx="164982" cy="2095785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898" name="오른쪽 대괄호 897"/>
          <p:cNvSpPr/>
          <p:nvPr/>
        </p:nvSpPr>
        <p:spPr bwMode="auto">
          <a:xfrm rot="16200000">
            <a:off x="3209079" y="4533966"/>
            <a:ext cx="168228" cy="1231746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901" name="Rectangle 55"/>
          <p:cNvSpPr>
            <a:spLocks noChangeArrowheads="1"/>
          </p:cNvSpPr>
          <p:nvPr/>
        </p:nvSpPr>
        <p:spPr bwMode="auto">
          <a:xfrm>
            <a:off x="4588737" y="5083960"/>
            <a:ext cx="580287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   구현</a:t>
            </a:r>
            <a:r>
              <a:rPr lang="en-US" altLang="ko-KR" sz="700" smtClean="0">
                <a:latin typeface="+mn-ea"/>
                <a:ea typeface="+mn-ea"/>
              </a:rPr>
              <a:t>/</a:t>
            </a: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en-US" altLang="ko-KR" sz="700" dirty="0">
              <a:latin typeface="+mn-ea"/>
              <a:ea typeface="+mn-ea"/>
            </a:endParaRPr>
          </a:p>
        </p:txBody>
      </p:sp>
      <p:pic>
        <p:nvPicPr>
          <p:cNvPr id="902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556" y="5192962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3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2880" y="5192962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5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246" y="5192962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6" name="Picture 352" descr="블릿"/>
          <p:cNvPicPr preferRelativeResize="0">
            <a:picLocks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6158" y="5185355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16" name="오른쪽 대괄호 593"/>
          <p:cNvSpPr>
            <a:spLocks/>
          </p:cNvSpPr>
          <p:nvPr/>
        </p:nvSpPr>
        <p:spPr bwMode="auto">
          <a:xfrm rot="16200000">
            <a:off x="6366931" y="4706556"/>
            <a:ext cx="130421" cy="856892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918" name="Rectangle 55"/>
          <p:cNvSpPr>
            <a:spLocks noChangeArrowheads="1"/>
          </p:cNvSpPr>
          <p:nvPr/>
        </p:nvSpPr>
        <p:spPr bwMode="auto">
          <a:xfrm>
            <a:off x="6076553" y="5084772"/>
            <a:ext cx="724557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 교육 및 운영지원</a:t>
            </a:r>
            <a:endParaRPr lang="en-US" altLang="ko-KR" sz="7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91507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7992888" cy="781320"/>
          </a:xfrm>
        </p:spPr>
        <p:txBody>
          <a:bodyPr>
            <a:noAutofit/>
          </a:bodyPr>
          <a:lstStyle/>
          <a:p>
            <a:r>
              <a:rPr lang="en-US" altLang="ko-KR"/>
              <a:t>1. </a:t>
            </a:r>
            <a:r>
              <a:rPr lang="ko-KR" altLang="en-US"/>
              <a:t>추진 계획 수립 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/>
              <a:t>1.3 </a:t>
            </a:r>
            <a:r>
              <a:rPr lang="ko-KR" altLang="en-US" sz="1800"/>
              <a:t>추진 로드맵 정의</a:t>
            </a:r>
            <a:r>
              <a:rPr lang="en-US" altLang="ko-KR" sz="1800" smtClean="0"/>
              <a:t>(2</a:t>
            </a:r>
            <a:r>
              <a:rPr lang="ko-KR" altLang="en-US" sz="1800" smtClean="0"/>
              <a:t>안</a:t>
            </a:r>
            <a:r>
              <a:rPr lang="en-US" altLang="ko-KR" sz="1800"/>
              <a:t>)</a:t>
            </a:r>
            <a:endParaRPr lang="ko-KR" altLang="en-US" sz="1800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Ⅳ. </a:t>
            </a:r>
            <a:r>
              <a:rPr lang="ko-KR" altLang="en-US" smtClean="0"/>
              <a:t>이행계획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dirty="0"/>
              <a:t>2. </a:t>
            </a:r>
            <a:r>
              <a:rPr lang="ko-KR" altLang="en-US" dirty="0"/>
              <a:t>추진 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2.3 </a:t>
            </a:r>
            <a:r>
              <a:rPr lang="ko-KR" altLang="en-US" smtClean="0"/>
              <a:t>추진</a:t>
            </a:r>
            <a:r>
              <a:rPr lang="en-US" altLang="ko-KR" smtClean="0"/>
              <a:t> </a:t>
            </a:r>
            <a:r>
              <a:rPr lang="ko-KR" altLang="en-US" smtClean="0"/>
              <a:t>로드맵 정의</a:t>
            </a:r>
            <a:endParaRPr lang="en-US" altLang="ko-KR" dirty="0"/>
          </a:p>
        </p:txBody>
      </p:sp>
      <p:graphicFrame>
        <p:nvGraphicFramePr>
          <p:cNvPr id="30" name="표 29">
            <a:extLst>
              <a:ext uri="{FF2B5EF4-FFF2-40B4-BE49-F238E27FC236}">
                <a16:creationId xmlns="" xmlns:a16="http://schemas.microsoft.com/office/drawing/2014/main" id="{A996E3CD-DF24-45D0-BEEC-DBD138CCD7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1808856"/>
              </p:ext>
            </p:extLst>
          </p:nvPr>
        </p:nvGraphicFramePr>
        <p:xfrm>
          <a:off x="272480" y="988155"/>
          <a:ext cx="9217024" cy="532056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004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68152">
                  <a:extLst>
                    <a:ext uri="{9D8B030D-6E8A-4147-A177-3AD203B41FA5}">
                      <a16:colId xmlns="" xmlns:a16="http://schemas.microsoft.com/office/drawing/2014/main" val="495227927"/>
                    </a:ext>
                  </a:extLst>
                </a:gridCol>
                <a:gridCol w="2664296">
                  <a:extLst>
                    <a:ext uri="{9D8B030D-6E8A-4147-A177-3AD203B41FA5}">
                      <a16:colId xmlns="" xmlns:a16="http://schemas.microsoft.com/office/drawing/2014/main" val="664219012"/>
                    </a:ext>
                  </a:extLst>
                </a:gridCol>
                <a:gridCol w="2160240">
                  <a:extLst>
                    <a:ext uri="{9D8B030D-6E8A-4147-A177-3AD203B41FA5}">
                      <a16:colId xmlns="" xmlns:a16="http://schemas.microsoft.com/office/drawing/2014/main" val="20006"/>
                    </a:ext>
                  </a:extLst>
                </a:gridCol>
                <a:gridCol w="504056"/>
                <a:gridCol w="1270450"/>
                <a:gridCol w="457742"/>
                <a:gridCol w="432048"/>
              </a:tblGrid>
              <a:tr h="461339"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이행과제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추진 내용</a:t>
                      </a: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준비사항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소요</a:t>
                      </a:r>
                      <a:endParaRPr lang="en-US" altLang="ko-KR" sz="1200" b="1" i="0" u="none" strike="noStrike" kern="120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기간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수행시기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소요</a:t>
                      </a:r>
                      <a:endParaRPr lang="en-US" altLang="ko-KR" sz="1200" b="1" i="0" u="none" strike="noStrike" kern="120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ctr" defTabSz="914400" rtl="0" eaLnBrk="1" fontAlgn="ctr" latinLnBrk="1" hangingPunct="1"/>
                      <a:r>
                        <a:rPr lang="en-US" altLang="ko-KR" sz="1200" b="1" i="0" u="none" strike="noStrike" kern="120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M/M</a:t>
                      </a:r>
                      <a:endParaRPr lang="ko-KR" altLang="en-US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1CFFC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7010">
                <a:tc rowSpan="4"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lvl="0" latinLnBrk="0">
                        <a:defRPr/>
                      </a:pP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1. DATABASE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설계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표준화에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의한 구축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="1" smtClean="0">
                          <a:solidFill>
                            <a:schemeClr val="tx1"/>
                          </a:solidFill>
                        </a:rPr>
                        <a:t>DATABASE </a:t>
                      </a: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설계와 개발을 표준화하고</a:t>
                      </a:r>
                      <a:r>
                        <a:rPr lang="en-US" altLang="ko-KR" sz="1000" b="1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전사적인 데이터 표준의 사용 및 재사용을 통해 시스템 간 상호 운용성</a:t>
                      </a:r>
                      <a:r>
                        <a:rPr lang="en-US" altLang="ko-KR" sz="1000" b="1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데이터 공유</a:t>
                      </a:r>
                      <a:r>
                        <a:rPr lang="en-US" altLang="ko-KR" sz="1000" b="1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시스템 통합</a:t>
                      </a:r>
                      <a:r>
                        <a:rPr lang="en-US" altLang="ko-KR" sz="1000" b="1" smtClean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비즈니스 프로세스 개선 등을 지원 </a:t>
                      </a:r>
                      <a:endParaRPr kumimoji="1" lang="ko-KR" altLang="en-US" sz="1000" b="1" kern="0" noProof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1) DATABASE </a:t>
                      </a:r>
                      <a:r>
                        <a:rPr lang="ko-KR" altLang="en-US" sz="1000" smtClean="0"/>
                        <a:t>개발 표준 작성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1.0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2.0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171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2) DATABASE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구축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1.0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M+1 (</a:t>
                      </a:r>
                      <a:r>
                        <a:rPr lang="ko-KR" altLang="en-US" sz="1000" smtClean="0"/>
                        <a:t>표준 작성 후</a:t>
                      </a:r>
                      <a:r>
                        <a:rPr lang="en-US" altLang="ko-KR" sz="1000" smtClean="0"/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2.0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70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smtClean="0"/>
                        <a:t>3) </a:t>
                      </a:r>
                      <a:r>
                        <a:rPr lang="ko-KR" altLang="en-US" sz="1000" baseline="0" smtClean="0"/>
                        <a:t>마이그레이션</a:t>
                      </a:r>
                      <a:r>
                        <a:rPr lang="en-US" altLang="ko-KR" sz="1000" baseline="0" smtClean="0"/>
                        <a:t>, </a:t>
                      </a:r>
                      <a:r>
                        <a:rPr lang="ko-KR" altLang="en-US" sz="1000" baseline="0" smtClean="0"/>
                        <a:t>테스트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1.0</a:t>
                      </a:r>
                      <a:endParaRPr kumimoji="1" lang="en-US" altLang="ko-KR" sz="1000" b="0" i="0" u="none" strike="noStrike" kern="0" cap="none" spc="0" normalizeH="0" baseline="0" noProof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smtClean="0"/>
                        <a:t>M+2 (DB</a:t>
                      </a:r>
                      <a:r>
                        <a:rPr lang="ko-KR" altLang="en-US" sz="1000" baseline="0" smtClean="0"/>
                        <a:t> 구축 후</a:t>
                      </a:r>
                      <a:r>
                        <a:rPr lang="en-US" altLang="ko-KR" sz="1000" baseline="0" smtClean="0"/>
                        <a:t>)</a:t>
                      </a:r>
                      <a:endParaRPr lang="en-US" altLang="ko-KR" sz="1000" smtClean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M+3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2.0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2670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smtClean="0"/>
                        <a:t>4) </a:t>
                      </a:r>
                      <a:r>
                        <a:rPr lang="ko-KR" altLang="en-US" sz="1000" baseline="0" smtClean="0"/>
                        <a:t>현행 시스템 적용</a:t>
                      </a:r>
                      <a:r>
                        <a:rPr lang="ko-KR" altLang="en-US" sz="1000" smtClean="0"/>
                        <a:t> </a:t>
                      </a:r>
                      <a:r>
                        <a:rPr lang="en-US" altLang="ko-KR" sz="1000" smtClean="0"/>
                        <a:t>(DBA)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9.0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smtClean="0"/>
                        <a:t>M+7 (</a:t>
                      </a:r>
                      <a:r>
                        <a:rPr lang="ko-KR" altLang="en-US" sz="1000" baseline="0" smtClean="0"/>
                        <a:t>구현 지원</a:t>
                      </a:r>
                      <a:r>
                        <a:rPr lang="en-US" altLang="ko-KR" sz="1000" baseline="0" smtClean="0"/>
                        <a:t>)</a:t>
                      </a:r>
                      <a:endParaRPr lang="en-US" altLang="ko-KR" sz="1000" smtClean="0"/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M+11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9.0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702221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자산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회계 데이터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단일화 및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정합성 처리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kumimoji="1" lang="ko-KR" altLang="en-US" sz="1000" b="1" kern="0" noProof="0" smtClean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회계에서 감가상각을 위해 관리하는 자산 목록과 시스템에서 관리하는 실물 자산의 목록과 금액을 동일하게 처리 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1) </a:t>
                      </a:r>
                      <a:r>
                        <a:rPr lang="ko-KR" altLang="en-US" sz="1000" smtClean="0"/>
                        <a:t>감가상각</a:t>
                      </a:r>
                      <a:r>
                        <a:rPr lang="en-US" altLang="ko-KR" sz="1000" smtClean="0"/>
                        <a:t> </a:t>
                      </a:r>
                      <a:r>
                        <a:rPr lang="ko-KR" altLang="en-US" sz="1000" smtClean="0"/>
                        <a:t>기능 확인</a:t>
                      </a:r>
                      <a:r>
                        <a:rPr lang="en-US" altLang="ko-KR" sz="1000" smtClean="0"/>
                        <a:t>/</a:t>
                      </a:r>
                      <a:r>
                        <a:rPr lang="ko-KR" altLang="en-US" sz="1000" smtClean="0"/>
                        <a:t>보완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2) </a:t>
                      </a:r>
                      <a:r>
                        <a:rPr lang="ko-KR" altLang="en-US" sz="1000" smtClean="0"/>
                        <a:t>회계 </a:t>
                      </a:r>
                      <a:r>
                        <a:rPr lang="en-US" altLang="ko-KR" sz="1000" smtClean="0"/>
                        <a:t>=</a:t>
                      </a:r>
                      <a:r>
                        <a:rPr lang="en-US" altLang="ko-KR" sz="1000" baseline="0" smtClean="0"/>
                        <a:t> </a:t>
                      </a:r>
                      <a:r>
                        <a:rPr lang="ko-KR" altLang="en-US" sz="1000" baseline="0" smtClean="0"/>
                        <a:t>자산 데이터 일원화</a:t>
                      </a:r>
                      <a:endParaRPr lang="en-US" altLang="ko-KR" sz="1000" smtClean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3) </a:t>
                      </a:r>
                      <a:r>
                        <a:rPr lang="ko-KR" altLang="en-US" sz="1000" smtClean="0"/>
                        <a:t>감가상각</a:t>
                      </a:r>
                      <a:r>
                        <a:rPr lang="en-US" altLang="ko-KR" sz="1000" smtClean="0"/>
                        <a:t>, </a:t>
                      </a:r>
                      <a:r>
                        <a:rPr lang="ko-KR" altLang="en-US" sz="1000" smtClean="0"/>
                        <a:t>전표처리 테스트</a:t>
                      </a:r>
                      <a:endParaRPr kumimoji="1" lang="en-US" altLang="ko-KR" sz="10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1.0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M+1 (</a:t>
                      </a:r>
                      <a:r>
                        <a:rPr lang="ko-KR" altLang="en-US" sz="1000" smtClean="0"/>
                        <a:t>기능 확인 후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 (</a:t>
                      </a:r>
                      <a:r>
                        <a:rPr lang="ko-KR" altLang="en-US" sz="1000" smtClean="0"/>
                        <a:t>일원화 후</a:t>
                      </a:r>
                      <a:r>
                        <a:rPr lang="en-US" altLang="ko-KR" sz="1000" smtClean="0"/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M+0.5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M+2.5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2.0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</a:rPr>
                        <a:t>0.5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567204475"/>
                  </a:ext>
                </a:extLst>
              </a:tr>
              <a:tr h="811024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기준정보 체계화</a:t>
                      </a:r>
                      <a:r>
                        <a:rPr lang="en-US" altLang="ko-KR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, </a:t>
                      </a: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기준정보의 통합 설계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79488" rtl="0" eaLnBrk="1" fontAlgn="auto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각 업무별로 사용하고 있는 거래처코드</a:t>
                      </a:r>
                      <a:r>
                        <a:rPr kumimoji="1" lang="en-US" altLang="ko-KR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사업코드</a:t>
                      </a:r>
                      <a:r>
                        <a:rPr kumimoji="1" lang="en-US" altLang="ko-KR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사업장 코드</a:t>
                      </a:r>
                      <a:r>
                        <a:rPr kumimoji="1" lang="en-US" altLang="ko-KR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, </a:t>
                      </a:r>
                      <a:r>
                        <a:rPr kumimoji="1" lang="ko-KR" altLang="en-US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물품코드 등의 기준정보 통합과</a:t>
                      </a:r>
                      <a:r>
                        <a:rPr kumimoji="1" lang="ko-KR" altLang="en-US" sz="1000" b="1" kern="0" baseline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 </a:t>
                      </a:r>
                      <a:r>
                        <a:rPr kumimoji="1" lang="ko-KR" altLang="en-US" sz="1000" b="1" kern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+mn-ea"/>
                        </a:rPr>
                        <a:t>동일한 성격의 일반코드 단일화</a:t>
                      </a:r>
                      <a:endParaRPr kumimoji="1" lang="ko-KR" altLang="en-US" sz="1000" b="1" kern="0" dirty="0">
                        <a:solidFill>
                          <a:schemeClr val="tx1"/>
                        </a:solidFill>
                        <a:latin typeface="맑은 고딕" pitchFamily="50" charset="-127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1)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시스템</a:t>
                      </a:r>
                      <a:r>
                        <a:rPr lang="ko-KR" altLang="en-US" sz="1000" spc="-30" smtClean="0">
                          <a:latin typeface="+mn-ea"/>
                        </a:rPr>
                        <a:t> 재 구축  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pc="-30" baseline="0" smtClean="0">
                          <a:latin typeface="+mn-ea"/>
                        </a:rPr>
                        <a:t>   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-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표준을 반영한 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DATABASE 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설계시</a:t>
                      </a:r>
                      <a:endParaRPr lang="en-US" altLang="ko-KR" sz="1000" spc="-30" baseline="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pc="-30" baseline="0" smtClean="0">
                          <a:latin typeface="+mn-ea"/>
                        </a:rPr>
                        <a:t>    포함하여 처리함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spc="-30" smtClean="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076879302"/>
                  </a:ext>
                </a:extLst>
              </a:tr>
              <a:tr h="629686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업무 흐름에 부합하는 프로그램 기능 설계</a:t>
                      </a:r>
                      <a:r>
                        <a:rPr kumimoji="0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/</a:t>
                      </a: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구축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mtClean="0">
                          <a:solidFill>
                            <a:schemeClr val="tx1"/>
                          </a:solidFill>
                        </a:rPr>
                        <a:t>단위업무 분류별로 기본업무 프로세스를 진행할 수 있는 최소한의 기능을 신속하게 구축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1) </a:t>
                      </a:r>
                      <a:r>
                        <a:rPr lang="ko-KR" altLang="en-US" sz="1000" spc="-30" smtClean="0">
                          <a:latin typeface="+mn-ea"/>
                        </a:rPr>
                        <a:t>시스템 재 구축  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pc="-30" smtClean="0">
                          <a:latin typeface="+mn-ea"/>
                        </a:rPr>
                        <a:t>   </a:t>
                      </a:r>
                      <a:r>
                        <a:rPr lang="en-US" altLang="ko-KR" sz="1000" spc="-30" smtClean="0">
                          <a:latin typeface="+mn-ea"/>
                        </a:rPr>
                        <a:t>-</a:t>
                      </a:r>
                      <a:r>
                        <a:rPr lang="ko-KR" altLang="en-US" sz="1000" spc="-30" smtClean="0">
                          <a:latin typeface="+mn-ea"/>
                        </a:rPr>
                        <a:t> 요구사항 수렴</a:t>
                      </a:r>
                      <a:r>
                        <a:rPr lang="en-US" altLang="ko-KR" sz="1000" spc="-30" smtClean="0">
                          <a:latin typeface="+mn-ea"/>
                        </a:rPr>
                        <a:t>&gt;</a:t>
                      </a:r>
                      <a:r>
                        <a:rPr lang="ko-KR" altLang="en-US" sz="1000" spc="-30" smtClean="0">
                          <a:latin typeface="+mn-ea"/>
                        </a:rPr>
                        <a:t>설계</a:t>
                      </a:r>
                      <a:r>
                        <a:rPr lang="en-US" altLang="ko-KR" sz="1000" spc="-30" smtClean="0">
                          <a:latin typeface="+mn-ea"/>
                        </a:rPr>
                        <a:t>&gt;</a:t>
                      </a:r>
                      <a:r>
                        <a:rPr lang="ko-KR" altLang="en-US" sz="1000" spc="-30" smtClean="0">
                          <a:latin typeface="+mn-ea"/>
                        </a:rPr>
                        <a:t>구현에 포함 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678325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사용자 편의를 제공하는 </a:t>
                      </a:r>
                      <a:r>
                        <a:rPr kumimoji="0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UI-UX </a:t>
                      </a:r>
                      <a:r>
                        <a:rPr kumimoji="0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표준 설계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사용자가 요구하는 화면과 기능 제공을</a:t>
                      </a: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</a:t>
                      </a:r>
                      <a:r>
                        <a:rPr kumimoji="1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위한  화면 표준을 제시한 후 사용자의 요청에 의한 사용자 중심의 </a:t>
                      </a:r>
                      <a:r>
                        <a:rPr kumimoji="1" lang="en-US" altLang="ko-KR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UI-UX</a:t>
                      </a:r>
                      <a:r>
                        <a:rPr kumimoji="1" lang="ko-KR" altLang="en-US" sz="1000" b="1" i="0" u="none" strike="noStrike" kern="0" cap="none" spc="0" normalizeH="0" baseline="0" noProof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ea"/>
                        </a:rPr>
                        <a:t> 구현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1) </a:t>
                      </a:r>
                      <a:r>
                        <a:rPr lang="ko-KR" altLang="en-US" sz="1000" spc="-30" smtClean="0">
                          <a:latin typeface="+mn-ea"/>
                        </a:rPr>
                        <a:t>시스템 재 구축  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ko-KR" altLang="en-US" sz="1000" spc="-30" smtClean="0">
                          <a:latin typeface="+mn-ea"/>
                        </a:rPr>
                        <a:t>   </a:t>
                      </a:r>
                      <a:r>
                        <a:rPr lang="en-US" altLang="ko-KR" sz="1000" spc="-30" smtClean="0">
                          <a:latin typeface="+mn-ea"/>
                        </a:rPr>
                        <a:t>-</a:t>
                      </a:r>
                      <a:r>
                        <a:rPr lang="ko-KR" altLang="en-US" sz="1000" spc="-30" smtClean="0">
                          <a:latin typeface="+mn-ea"/>
                        </a:rPr>
                        <a:t> </a:t>
                      </a:r>
                      <a:r>
                        <a:rPr lang="en-US" altLang="ko-KR" sz="1000" spc="-30" smtClean="0">
                          <a:latin typeface="+mn-ea"/>
                        </a:rPr>
                        <a:t>UI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표준 제시 및 설계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/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구현 지원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6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M+2 (</a:t>
                      </a:r>
                      <a:r>
                        <a:rPr lang="ko-KR" altLang="en-US" sz="1000" spc="-30" smtClean="0">
                          <a:latin typeface="+mn-ea"/>
                        </a:rPr>
                        <a:t>요구 수렴 중</a:t>
                      </a:r>
                      <a:r>
                        <a:rPr lang="en-US" altLang="ko-KR" sz="1000" spc="-30" smtClean="0">
                          <a:latin typeface="+mn-ea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M+7</a:t>
                      </a: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6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919827">
                <a:tc>
                  <a:txBody>
                    <a:bodyPr/>
                    <a:lstStyle/>
                    <a:p>
                      <a:pPr algn="ctr" rtl="0" fontAlgn="ctr" latinLnBrk="0"/>
                      <a:r>
                        <a:rPr lang="en-US" altLang="ko-KR" sz="1000" b="1" i="0" u="none" strike="noStrike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endParaRPr lang="ko-KR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kern="0" smtClean="0">
                          <a:solidFill>
                            <a:schemeClr val="tx1"/>
                          </a:solidFill>
                          <a:latin typeface="+mn-ea"/>
                        </a:rPr>
                        <a:t>업무별 개선사항 적용</a:t>
                      </a:r>
                      <a:endParaRPr lang="ko-KR" altLang="en-US" sz="1000" b="1" kern="0" dirty="0">
                        <a:solidFill>
                          <a:schemeClr val="tx1"/>
                        </a:solidFill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 latinLnBrk="0"/>
                      <a:r>
                        <a:rPr lang="ko-KR" altLang="en-US" sz="10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업무별로 요구사항을 수렴하여 업무 프로세스를 확정하고</a:t>
                      </a:r>
                      <a:r>
                        <a:rPr lang="en-US" altLang="ko-KR" sz="10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프로세스별 요구기능과 화면 설계</a:t>
                      </a:r>
                      <a:r>
                        <a:rPr lang="en-US" altLang="ko-KR" sz="1000" b="1" i="0" u="none" strike="noStrike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TABLE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설계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DB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기능 설계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구현 및 테스트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업무매뉴얼 작성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교육</a:t>
                      </a:r>
                      <a:r>
                        <a:rPr lang="en-US" altLang="ko-KR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00" b="1" i="0" u="none" strike="noStrike" baseline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운영지원</a:t>
                      </a:r>
                      <a:endParaRPr lang="ko-KR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1) </a:t>
                      </a:r>
                      <a:r>
                        <a:rPr lang="ko-KR" altLang="en-US" sz="1000" spc="-30" smtClean="0">
                          <a:latin typeface="+mn-ea"/>
                        </a:rPr>
                        <a:t>요구사항 수렴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2) </a:t>
                      </a:r>
                      <a:r>
                        <a:rPr lang="ko-KR" altLang="en-US" sz="1000" spc="-30" smtClean="0">
                          <a:latin typeface="+mn-ea"/>
                        </a:rPr>
                        <a:t>프로세스</a:t>
                      </a:r>
                      <a:r>
                        <a:rPr lang="en-US" altLang="ko-KR" sz="1000" spc="-30" smtClean="0">
                          <a:latin typeface="+mn-ea"/>
                        </a:rPr>
                        <a:t>/</a:t>
                      </a:r>
                      <a:r>
                        <a:rPr lang="ko-KR" altLang="en-US" sz="1000" spc="-30" smtClean="0">
                          <a:latin typeface="+mn-ea"/>
                        </a:rPr>
                        <a:t>기능</a:t>
                      </a:r>
                      <a:r>
                        <a:rPr lang="en-US" altLang="ko-KR" sz="1000" spc="-30" smtClean="0">
                          <a:latin typeface="+mn-ea"/>
                        </a:rPr>
                        <a:t>/</a:t>
                      </a:r>
                      <a:r>
                        <a:rPr lang="ko-KR" altLang="en-US" sz="1000" spc="-30" smtClean="0">
                          <a:latin typeface="+mn-ea"/>
                        </a:rPr>
                        <a:t>화면</a:t>
                      </a:r>
                      <a:r>
                        <a:rPr lang="en-US" altLang="ko-KR" sz="1000" spc="-30" smtClean="0">
                          <a:latin typeface="+mn-ea"/>
                        </a:rPr>
                        <a:t>/DB </a:t>
                      </a:r>
                      <a:r>
                        <a:rPr lang="ko-KR" altLang="en-US" sz="1000" spc="-30" smtClean="0">
                          <a:latin typeface="+mn-ea"/>
                        </a:rPr>
                        <a:t>설계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3) </a:t>
                      </a:r>
                      <a:r>
                        <a:rPr lang="ko-KR" altLang="en-US" sz="1000" spc="-30" smtClean="0">
                          <a:latin typeface="+mn-ea"/>
                        </a:rPr>
                        <a:t>구현</a:t>
                      </a:r>
                      <a:r>
                        <a:rPr lang="en-US" altLang="ko-KR" sz="1000" spc="-30" smtClean="0">
                          <a:latin typeface="+mn-ea"/>
                        </a:rPr>
                        <a:t>/</a:t>
                      </a:r>
                      <a:r>
                        <a:rPr lang="ko-KR" altLang="en-US" sz="1000" spc="-30" smtClean="0">
                          <a:latin typeface="+mn-ea"/>
                        </a:rPr>
                        <a:t>테스트</a:t>
                      </a:r>
                      <a:endParaRPr lang="en-US" altLang="ko-KR" sz="1000" spc="-30" smtClean="0">
                        <a:latin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4)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교육 및 운영지원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3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5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2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M+2 (</a:t>
                      </a:r>
                      <a:r>
                        <a:rPr lang="ko-KR" altLang="en-US" sz="1000" smtClean="0"/>
                        <a:t>요구 수렴 후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mtClean="0"/>
                        <a:t>M+3 (</a:t>
                      </a:r>
                      <a:r>
                        <a:rPr lang="ko-KR" altLang="en-US" sz="1000" smtClean="0"/>
                        <a:t>설계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 </a:t>
                      </a:r>
                      <a:r>
                        <a:rPr lang="ko-KR" altLang="en-US" sz="1000" smtClean="0"/>
                        <a:t>후</a:t>
                      </a:r>
                      <a:r>
                        <a:rPr lang="en-US" altLang="ko-KR" sz="1000" smtClean="0"/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M+9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 (</a:t>
                      </a:r>
                      <a:r>
                        <a:rPr lang="ko-KR" altLang="en-US" sz="1000" spc="-30" baseline="0" smtClean="0">
                          <a:latin typeface="+mn-ea"/>
                        </a:rPr>
                        <a:t>구축 후</a:t>
                      </a:r>
                      <a:r>
                        <a:rPr lang="en-US" altLang="ko-KR" sz="1000" spc="-30" baseline="0" smtClean="0">
                          <a:latin typeface="+mn-ea"/>
                        </a:rPr>
                        <a:t>)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M+2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M+5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M+9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M+11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8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18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30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000" spc="-30" smtClean="0">
                          <a:latin typeface="+mn-ea"/>
                        </a:rPr>
                        <a:t>12</a:t>
                      </a:r>
                      <a:endParaRPr lang="en-US" altLang="ko-KR" sz="1000" spc="-30">
                        <a:latin typeface="+mn-ea"/>
                      </a:endParaRPr>
                    </a:p>
                  </a:txBody>
                  <a:tcPr marL="36000" marR="36000" marT="36000" marB="3600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8712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/>
              <a:t>1. </a:t>
            </a:r>
            <a:r>
              <a:rPr lang="ko-KR" altLang="en-US"/>
              <a:t>추진 계획 수립 </a:t>
            </a:r>
            <a:r>
              <a:rPr lang="en-US" altLang="ko-KR" sz="1800"/>
              <a:t/>
            </a:r>
            <a:br>
              <a:rPr lang="en-US" altLang="ko-KR" sz="1800"/>
            </a:br>
            <a:r>
              <a:rPr lang="en-US" altLang="ko-KR" sz="1800"/>
              <a:t>1.3 </a:t>
            </a:r>
            <a:r>
              <a:rPr lang="ko-KR" altLang="en-US" sz="1800"/>
              <a:t>추진 로드맵 정의</a:t>
            </a:r>
            <a:r>
              <a:rPr lang="en-US" altLang="ko-KR" sz="1800"/>
              <a:t>(2</a:t>
            </a:r>
            <a:r>
              <a:rPr lang="ko-KR" altLang="en-US" sz="1800"/>
              <a:t>안</a:t>
            </a:r>
            <a:r>
              <a:rPr lang="en-US" altLang="ko-KR" sz="1800" smtClean="0"/>
              <a:t>)</a:t>
            </a:r>
            <a:r>
              <a:rPr lang="en-US" altLang="ko-KR" sz="1800" smtClean="0">
                <a:latin typeface="+mn-ea"/>
                <a:ea typeface="+mn-ea"/>
              </a:rPr>
              <a:t> - </a:t>
            </a:r>
            <a:r>
              <a:rPr lang="ko-KR" altLang="en-US" sz="1800" smtClean="0">
                <a:latin typeface="+mn-ea"/>
                <a:ea typeface="+mn-ea"/>
              </a:rPr>
              <a:t>단계별 </a:t>
            </a:r>
            <a:r>
              <a:rPr lang="ko-KR" altLang="en-US" sz="1800">
                <a:latin typeface="+mn-ea"/>
                <a:ea typeface="+mn-ea"/>
              </a:rPr>
              <a:t>추진 </a:t>
            </a:r>
            <a:r>
              <a:rPr lang="ko-KR" altLang="en-US" sz="1800" smtClean="0">
                <a:latin typeface="+mn-ea"/>
                <a:ea typeface="+mn-ea"/>
              </a:rPr>
              <a:t>계획표</a:t>
            </a:r>
            <a:endParaRPr lang="ko-KR" altLang="en-US" sz="1800" dirty="0">
              <a:latin typeface="+mn-ea"/>
              <a:ea typeface="+mn-ea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6200767" y="0"/>
            <a:ext cx="3315142" cy="78268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>
                <a:latin typeface="+mn-ea"/>
              </a:rPr>
              <a:t>Ⅳ. </a:t>
            </a:r>
            <a:r>
              <a:rPr lang="ko-KR" altLang="en-US" smtClean="0">
                <a:latin typeface="+mn-ea"/>
              </a:rPr>
              <a:t>이행계획 수립</a:t>
            </a:r>
            <a:endParaRPr lang="en-US" altLang="ko-KR" dirty="0">
              <a:latin typeface="+mn-ea"/>
            </a:endParaRPr>
          </a:p>
          <a:p>
            <a:pPr>
              <a:spcBef>
                <a:spcPct val="20000"/>
              </a:spcBef>
            </a:pPr>
            <a:r>
              <a:rPr lang="en-US" altLang="ko-KR" dirty="0">
                <a:latin typeface="+mn-ea"/>
              </a:rPr>
              <a:t>2. </a:t>
            </a:r>
            <a:r>
              <a:rPr lang="ko-KR" altLang="en-US" dirty="0">
                <a:latin typeface="+mn-ea"/>
              </a:rPr>
              <a:t>추진 계획 수립</a:t>
            </a:r>
            <a:endParaRPr lang="en-US" altLang="ko-KR" dirty="0">
              <a:latin typeface="+mn-ea"/>
            </a:endParaRPr>
          </a:p>
          <a:p>
            <a:pPr>
              <a:spcBef>
                <a:spcPct val="20000"/>
              </a:spcBef>
            </a:pPr>
            <a:r>
              <a:rPr lang="en-US" altLang="ko-KR" smtClean="0">
                <a:latin typeface="+mn-ea"/>
              </a:rPr>
              <a:t>2.3 </a:t>
            </a:r>
            <a:r>
              <a:rPr lang="ko-KR" altLang="en-US" dirty="0">
                <a:latin typeface="+mn-ea"/>
              </a:rPr>
              <a:t>추진 로드맵 정의</a:t>
            </a:r>
            <a:endParaRPr lang="en-US" altLang="ko-KR" dirty="0">
              <a:latin typeface="+mn-ea"/>
            </a:endParaRPr>
          </a:p>
        </p:txBody>
      </p:sp>
      <p:graphicFrame>
        <p:nvGraphicFramePr>
          <p:cNvPr id="571" name="표 570"/>
          <p:cNvGraphicFramePr>
            <a:graphicFrameLocks noGrp="1"/>
          </p:cNvGraphicFramePr>
          <p:nvPr>
            <p:extLst/>
          </p:nvPr>
        </p:nvGraphicFramePr>
        <p:xfrm>
          <a:off x="264279" y="948991"/>
          <a:ext cx="8865182" cy="5360329"/>
        </p:xfrm>
        <a:graphic>
          <a:graphicData uri="http://schemas.openxmlformats.org/drawingml/2006/table">
            <a:tbl>
              <a:tblPr/>
              <a:tblGrid>
                <a:gridCol w="330702"/>
                <a:gridCol w="1255722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415275"/>
                <a:gridCol w="1464908"/>
              </a:tblGrid>
              <a:tr h="255353">
                <a:tc rowSpan="2"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 분</a:t>
                      </a:r>
                    </a:p>
                  </a:txBody>
                  <a:tcPr marL="72000" marR="72000" marT="36005" marB="36005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14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공 </a:t>
                      </a:r>
                      <a:r>
                        <a:rPr kumimoji="1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정 </a:t>
                      </a: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(12</a:t>
                      </a:r>
                      <a:r>
                        <a:rPr kumimoji="1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개월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36005" marB="3600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4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36005" marB="360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683BA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비 고</a:t>
                      </a:r>
                    </a:p>
                  </a:txBody>
                  <a:tcPr marL="72000" marR="72000" marT="36005" marB="36005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</a:tr>
              <a:tr h="271591">
                <a:tc gridSpan="2" v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울릉도M" pitchFamily="18" charset="-127"/>
                        <a:ea typeface="HY울릉도M" pitchFamily="18" charset="-127"/>
                      </a:endParaRPr>
                    </a:p>
                  </a:txBody>
                  <a:tcPr marL="0" marR="0" marT="0" marB="0" anchor="ctr" horzOverflow="overflow">
                    <a:lnL w="28575" cap="flat" cmpd="sng" algn="ctr">
                      <a:solidFill>
                        <a:srgbClr val="0070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3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3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3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1E6ED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M+1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M+2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M+3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M+4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M+5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M+6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M+7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M+8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M+9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M+10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M+11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M+12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M+13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3925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프로젝트 단계</a:t>
                      </a:r>
                      <a:endParaRPr kumimoji="0" lang="ko-KR" altLang="en-US" sz="11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요구분석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설계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구현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구현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테스트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이관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운영지원</a:t>
                      </a: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>
                          <a:schemeClr val="tx1"/>
                        </a:buClr>
                        <a:buSzPts val="900"/>
                        <a:buFont typeface="굴림" pitchFamily="50" charset="-127"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442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경영정보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시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스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템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구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축</a:t>
                      </a: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3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표준 정의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(DATABASE, UI)</a:t>
                      </a: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표준 정의</a:t>
                      </a:r>
                      <a:endParaRPr kumimoji="1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표준에 의한 </a:t>
                      </a: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PILOT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구축</a:t>
                      </a:r>
                      <a:endParaRPr kumimoji="1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구축시 표준 반영 지원</a:t>
                      </a:r>
                      <a:endParaRPr kumimoji="1" lang="ko-KR" altLang="en-US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91533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시스템 구축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952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1)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요구사항 수집</a:t>
                      </a:r>
                      <a:endParaRPr kumimoji="1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0975" marR="0" lvl="0" indent="-952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2) DB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설계</a:t>
                      </a: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업무흐름분석 결과로 </a:t>
                      </a: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DB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기능 구현</a:t>
                      </a:r>
                      <a:endParaRPr kumimoji="1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0975" marR="0" lvl="0" indent="-952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3)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화면설계 및 구현테스트</a:t>
                      </a:r>
                      <a:endParaRPr kumimoji="1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0975" marR="0" lvl="0" indent="-952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4)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구현기능의 사용자 참여</a:t>
                      </a:r>
                      <a:endParaRPr kumimoji="1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0975" marR="0" lvl="0" indent="-952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테스트 및 의견 즉석반영</a:t>
                      </a:r>
                      <a:endParaRPr kumimoji="1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0975" marR="0" lvl="0" indent="-952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5)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사용자의 의견 반영 결과</a:t>
                      </a:r>
                      <a:endParaRPr kumimoji="1" lang="en-US" altLang="ko-KR" sz="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80975" marR="0" lvl="0" indent="-952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   </a:t>
                      </a:r>
                      <a:r>
                        <a:rPr kumimoji="1" lang="ko-KR" altLang="en-US" sz="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확인</a:t>
                      </a:r>
                      <a:endParaRPr kumimoji="1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047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전자증빙 시스템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952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5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계산서 발행 연계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952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6479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조달청 </a:t>
                      </a:r>
                      <a:r>
                        <a:rPr kumimoji="1" lang="en-US" altLang="ko-KR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RPA </a:t>
                      </a:r>
                      <a:r>
                        <a:rPr kumimoji="1" lang="ko-KR" altLang="en-US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도입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952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9229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데이터 전환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7180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사업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관리</a:t>
                      </a:r>
                      <a:endParaRPr kumimoji="0" lang="en-US" altLang="ko-KR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부문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품질 보증 </a:t>
                      </a: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 </a:t>
                      </a: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위험 관리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3925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지원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교육 훈련 </a:t>
                      </a: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기술이전</a:t>
                      </a:r>
                      <a:r>
                        <a:rPr kumimoji="0" lang="en-US" altLang="ko-KR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27754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HY헤드라인M" panose="02030600000101010101" pitchFamily="18" charset="-127"/>
                        <a:ea typeface="HY헤드라인M" panose="02030600000101010101" pitchFamily="18" charset="-127"/>
                        <a:cs typeface="+mn-cs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사업 안정화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9525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889178">
                <a:tc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 및 산출물 계획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CAD8E8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dash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5725" marR="0" lvl="0" indent="0" algn="l" defTabSz="1279525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73" name="오른쪽 대괄호 593"/>
          <p:cNvSpPr>
            <a:spLocks/>
          </p:cNvSpPr>
          <p:nvPr/>
        </p:nvSpPr>
        <p:spPr bwMode="auto">
          <a:xfrm rot="16200000">
            <a:off x="4255704" y="3011211"/>
            <a:ext cx="140881" cy="4727144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575" name="오른쪽 대괄호 574"/>
          <p:cNvSpPr/>
          <p:nvPr/>
        </p:nvSpPr>
        <p:spPr bwMode="auto">
          <a:xfrm rot="16200000" flipH="1">
            <a:off x="5709930" y="3783161"/>
            <a:ext cx="130445" cy="1442904"/>
          </a:xfrm>
          <a:prstGeom prst="rightBracket">
            <a:avLst>
              <a:gd name="adj" fmla="val 46740"/>
            </a:avLst>
          </a:prstGeom>
          <a:solidFill>
            <a:schemeClr val="bg1"/>
          </a:solidFill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fontScale="925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576" name="오른쪽 대괄호 575"/>
          <p:cNvSpPr/>
          <p:nvPr/>
        </p:nvSpPr>
        <p:spPr bwMode="auto">
          <a:xfrm rot="16200000" flipH="1">
            <a:off x="4235336" y="3774294"/>
            <a:ext cx="130445" cy="1470129"/>
          </a:xfrm>
          <a:prstGeom prst="rightBracket">
            <a:avLst>
              <a:gd name="adj" fmla="val 46740"/>
            </a:avLst>
          </a:prstGeom>
          <a:solidFill>
            <a:schemeClr val="bg1"/>
          </a:solidFill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fontScale="925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577" name="오른쪽 대괄호 576"/>
          <p:cNvSpPr/>
          <p:nvPr/>
        </p:nvSpPr>
        <p:spPr bwMode="auto">
          <a:xfrm rot="16200000" flipH="1">
            <a:off x="2982258" y="4028183"/>
            <a:ext cx="130445" cy="952861"/>
          </a:xfrm>
          <a:prstGeom prst="rightBracket">
            <a:avLst>
              <a:gd name="adj" fmla="val 46740"/>
            </a:avLst>
          </a:prstGeom>
          <a:solidFill>
            <a:schemeClr val="bg1"/>
          </a:solidFill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fontScale="925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578" name="오른쪽 대괄호 593"/>
          <p:cNvSpPr>
            <a:spLocks/>
          </p:cNvSpPr>
          <p:nvPr/>
        </p:nvSpPr>
        <p:spPr bwMode="auto">
          <a:xfrm rot="16200000">
            <a:off x="2002447" y="4092824"/>
            <a:ext cx="140881" cy="435594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579" name="오른쪽 대괄호 593"/>
          <p:cNvSpPr>
            <a:spLocks/>
          </p:cNvSpPr>
          <p:nvPr/>
        </p:nvSpPr>
        <p:spPr bwMode="auto">
          <a:xfrm rot="16200000">
            <a:off x="5473995" y="4079211"/>
            <a:ext cx="140881" cy="462818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580" name="오른쪽 대괄호 593"/>
          <p:cNvSpPr>
            <a:spLocks/>
          </p:cNvSpPr>
          <p:nvPr/>
        </p:nvSpPr>
        <p:spPr bwMode="auto">
          <a:xfrm rot="16200000">
            <a:off x="3023563" y="4392705"/>
            <a:ext cx="147223" cy="797795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581" name="오른쪽 대괄호 593"/>
          <p:cNvSpPr>
            <a:spLocks/>
          </p:cNvSpPr>
          <p:nvPr/>
        </p:nvSpPr>
        <p:spPr bwMode="auto">
          <a:xfrm rot="16200000">
            <a:off x="2392628" y="4562930"/>
            <a:ext cx="140881" cy="435594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582" name="오른쪽 대괄호 593"/>
          <p:cNvSpPr>
            <a:spLocks/>
          </p:cNvSpPr>
          <p:nvPr/>
        </p:nvSpPr>
        <p:spPr bwMode="auto">
          <a:xfrm rot="16200000">
            <a:off x="6546519" y="4587661"/>
            <a:ext cx="140881" cy="382495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grpSp>
        <p:nvGrpSpPr>
          <p:cNvPr id="583" name="그룹 582"/>
          <p:cNvGrpSpPr/>
          <p:nvPr/>
        </p:nvGrpSpPr>
        <p:grpSpPr>
          <a:xfrm>
            <a:off x="1856654" y="1833836"/>
            <a:ext cx="5001004" cy="205180"/>
            <a:chOff x="2875682" y="2920350"/>
            <a:chExt cx="6612995" cy="283126"/>
          </a:xfrm>
        </p:grpSpPr>
        <p:sp>
          <p:nvSpPr>
            <p:cNvPr id="720" name="오른쪽 대괄호 719"/>
            <p:cNvSpPr/>
            <p:nvPr/>
          </p:nvSpPr>
          <p:spPr bwMode="auto">
            <a:xfrm rot="16200000">
              <a:off x="3575819" y="2780545"/>
              <a:ext cx="228441" cy="508051"/>
            </a:xfrm>
            <a:prstGeom prst="rightBracket">
              <a:avLst>
                <a:gd name="adj" fmla="val 46740"/>
              </a:avLst>
            </a:prstGeom>
            <a:solidFill>
              <a:srgbClr val="FFFFFF"/>
            </a:solidFill>
            <a:ln w="317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eaVert" lIns="0" tIns="0" rIns="0" bIns="0" anchor="ctr" anchorCtr="1">
              <a:normAutofit/>
            </a:bodyPr>
            <a:lstStyle/>
            <a:p>
              <a:pPr algn="ctr" defTabSz="846138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600" kern="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721" name="Rectangle 55"/>
            <p:cNvSpPr>
              <a:spLocks noChangeArrowheads="1"/>
            </p:cNvSpPr>
            <p:nvPr/>
          </p:nvSpPr>
          <p:spPr bwMode="auto">
            <a:xfrm>
              <a:off x="3439505" y="2972451"/>
              <a:ext cx="591398" cy="14864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/>
          </p:spPr>
          <p:txBody>
            <a:bodyPr wrap="none" lIns="0" tIns="0" rIns="0" bIns="0" anchor="ctr">
              <a:spAutoFit/>
            </a:bodyPr>
            <a:lstStyle>
              <a:lvl1pPr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1pPr>
              <a:lvl2pPr marL="742950" indent="-28575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2pPr>
              <a:lvl3pPr marL="11430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3pPr>
              <a:lvl4pPr marL="16002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4pPr>
              <a:lvl5pPr marL="20574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5pPr>
              <a:lvl6pPr marL="25146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6pPr>
              <a:lvl7pPr marL="29718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7pPr>
              <a:lvl8pPr marL="34290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8pPr>
              <a:lvl9pPr marL="38862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700" kern="0" smtClean="0">
                  <a:latin typeface="+mn-ea"/>
                  <a:ea typeface="+mn-ea"/>
                </a:rPr>
                <a:t>PILOT </a:t>
              </a:r>
              <a:r>
                <a:rPr lang="ko-KR" altLang="en-US" sz="700" kern="0" smtClean="0">
                  <a:latin typeface="+mn-ea"/>
                  <a:ea typeface="+mn-ea"/>
                </a:rPr>
                <a:t>구축</a:t>
              </a:r>
              <a:endParaRPr lang="ko-KR" altLang="ko-KR" sz="700" kern="0" dirty="0" smtClean="0">
                <a:latin typeface="+mn-ea"/>
                <a:ea typeface="+mn-ea"/>
              </a:endParaRPr>
            </a:p>
          </p:txBody>
        </p:sp>
        <p:sp>
          <p:nvSpPr>
            <p:cNvPr id="722" name="오른쪽 대괄호 721"/>
            <p:cNvSpPr/>
            <p:nvPr/>
          </p:nvSpPr>
          <p:spPr bwMode="auto">
            <a:xfrm rot="16200000">
              <a:off x="3016596" y="2782915"/>
              <a:ext cx="229933" cy="504813"/>
            </a:xfrm>
            <a:prstGeom prst="rightBracket">
              <a:avLst>
                <a:gd name="adj" fmla="val 46740"/>
              </a:avLst>
            </a:prstGeom>
            <a:solidFill>
              <a:srgbClr val="FFFFFF"/>
            </a:solidFill>
            <a:ln w="3175" cap="flat" cmpd="sng" algn="ctr">
              <a:solidFill>
                <a:srgbClr val="808080"/>
              </a:solidFill>
              <a:prstDash val="solid"/>
              <a:round/>
              <a:headEnd type="none" w="med" len="med"/>
              <a:tailEnd type="triangle" w="sm" len="sm"/>
            </a:ln>
            <a:effectLst/>
          </p:spPr>
          <p:txBody>
            <a:bodyPr vert="eaVert" lIns="0" tIns="0" rIns="0" bIns="0" anchor="ctr" anchorCtr="1">
              <a:normAutofit/>
            </a:bodyPr>
            <a:lstStyle/>
            <a:p>
              <a:pPr algn="ctr" defTabSz="846138" eaLnBrk="1" fontAlgn="auto" latinLnBrk="1" hangingPunct="1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600" kern="0" dirty="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723" name="Rectangle 55"/>
            <p:cNvSpPr>
              <a:spLocks noChangeArrowheads="1"/>
            </p:cNvSpPr>
            <p:nvPr/>
          </p:nvSpPr>
          <p:spPr bwMode="auto">
            <a:xfrm>
              <a:off x="2927715" y="2985594"/>
              <a:ext cx="474814" cy="148644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 wrap="none" lIns="0" tIns="0" rIns="0" bIns="0" anchor="ctr">
              <a:spAutoFit/>
            </a:bodyPr>
            <a:lstStyle>
              <a:lvl1pPr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1pPr>
              <a:lvl2pPr marL="742950" indent="-28575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2pPr>
              <a:lvl3pPr marL="11430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3pPr>
              <a:lvl4pPr marL="16002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4pPr>
              <a:lvl5pPr marL="2057400" indent="-228600" defTabSz="1509713" eaLnBrk="0" hangingPunct="0"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5pPr>
              <a:lvl6pPr marL="25146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6pPr>
              <a:lvl7pPr marL="29718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7pPr>
              <a:lvl8pPr marL="34290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8pPr>
              <a:lvl9pPr marL="3886200" indent="-228600" algn="ctr" defTabSz="1509713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</a:defRPr>
              </a:lvl9pPr>
            </a:lstStyle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700" kern="0" smtClean="0">
                  <a:latin typeface="+mn-ea"/>
                  <a:ea typeface="+mn-ea"/>
                </a:rPr>
                <a:t>표준정의</a:t>
              </a:r>
              <a:endParaRPr lang="en-US" altLang="ko-KR" sz="700" kern="0" dirty="0" smtClean="0">
                <a:latin typeface="+mn-ea"/>
                <a:ea typeface="+mn-ea"/>
              </a:endParaRPr>
            </a:p>
          </p:txBody>
        </p:sp>
        <p:cxnSp>
          <p:nvCxnSpPr>
            <p:cNvPr id="726" name="AutoShape 348"/>
            <p:cNvCxnSpPr>
              <a:cxnSpLocks noChangeShapeType="1"/>
            </p:cNvCxnSpPr>
            <p:nvPr/>
          </p:nvCxnSpPr>
          <p:spPr bwMode="auto">
            <a:xfrm flipV="1">
              <a:off x="2917267" y="3155214"/>
              <a:ext cx="6516000" cy="6894"/>
            </a:xfrm>
            <a:prstGeom prst="straightConnector1">
              <a:avLst/>
            </a:prstGeom>
            <a:noFill/>
            <a:ln w="28575">
              <a:solidFill>
                <a:srgbClr val="4D4D4D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727" name="Picture 352" descr="블릿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5682" y="3106952"/>
              <a:ext cx="90000" cy="915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28" name="Picture 352" descr="블릿"/>
            <p:cNvPicPr>
              <a:picLocks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1775" y="3106953"/>
              <a:ext cx="90001" cy="915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30" name="Picture 352" descr="블릿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76759" y="3106952"/>
              <a:ext cx="111918" cy="96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cxnSp>
        <p:nvCxnSpPr>
          <p:cNvPr id="584" name="AutoShape 348"/>
          <p:cNvCxnSpPr>
            <a:cxnSpLocks noChangeShapeType="1"/>
          </p:cNvCxnSpPr>
          <p:nvPr/>
        </p:nvCxnSpPr>
        <p:spPr bwMode="auto">
          <a:xfrm>
            <a:off x="3496072" y="4037971"/>
            <a:ext cx="2205193" cy="0"/>
          </a:xfrm>
          <a:prstGeom prst="straightConnector1">
            <a:avLst/>
          </a:prstGeom>
          <a:noFill/>
          <a:ln w="28575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585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135" y="4002371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6" name="오른쪽 대괄호 647"/>
          <p:cNvSpPr>
            <a:spLocks/>
          </p:cNvSpPr>
          <p:nvPr/>
        </p:nvSpPr>
        <p:spPr bwMode="auto">
          <a:xfrm rot="16200000">
            <a:off x="4488497" y="3728281"/>
            <a:ext cx="140881" cy="444516"/>
          </a:xfrm>
          <a:prstGeom prst="rightBracket">
            <a:avLst>
              <a:gd name="adj" fmla="val 46831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>
              <a:latin typeface="+mn-ea"/>
              <a:ea typeface="+mn-ea"/>
            </a:endParaRPr>
          </a:p>
        </p:txBody>
      </p:sp>
      <p:sp>
        <p:nvSpPr>
          <p:cNvPr id="587" name="Rectangle 55"/>
          <p:cNvSpPr>
            <a:spLocks noChangeArrowheads="1"/>
          </p:cNvSpPr>
          <p:nvPr/>
        </p:nvSpPr>
        <p:spPr bwMode="auto">
          <a:xfrm>
            <a:off x="4382331" y="3799427"/>
            <a:ext cx="570669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마이그레이션 </a:t>
            </a:r>
            <a:endParaRPr lang="en-US" altLang="ko-KR" sz="700" smtClean="0">
              <a:latin typeface="+mn-ea"/>
              <a:ea typeface="+mn-ea"/>
            </a:endParaRPr>
          </a:p>
          <a:p>
            <a:pPr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스크립트 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588" name="오른쪽 대괄호 593"/>
          <p:cNvSpPr>
            <a:spLocks/>
          </p:cNvSpPr>
          <p:nvPr/>
        </p:nvSpPr>
        <p:spPr bwMode="auto">
          <a:xfrm rot="16200000">
            <a:off x="3633741" y="3713692"/>
            <a:ext cx="140881" cy="435594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589" name="Rectangle 55"/>
          <p:cNvSpPr>
            <a:spLocks noChangeArrowheads="1"/>
          </p:cNvSpPr>
          <p:nvPr/>
        </p:nvSpPr>
        <p:spPr bwMode="auto">
          <a:xfrm>
            <a:off x="3306341" y="3906216"/>
            <a:ext cx="583478" cy="78066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 smtClean="0">
                <a:latin typeface="+mn-ea"/>
                <a:ea typeface="+mn-ea"/>
              </a:rPr>
              <a:t>요구사항수집</a:t>
            </a:r>
            <a:endParaRPr lang="ko-KR" altLang="ko-KR" sz="700" dirty="0">
              <a:latin typeface="+mn-ea"/>
              <a:ea typeface="+mn-ea"/>
            </a:endParaRPr>
          </a:p>
        </p:txBody>
      </p:sp>
      <p:cxnSp>
        <p:nvCxnSpPr>
          <p:cNvPr id="590" name="AutoShape 348"/>
          <p:cNvCxnSpPr>
            <a:cxnSpLocks noChangeShapeType="1"/>
            <a:stCxn id="594" idx="3"/>
            <a:endCxn id="592" idx="1"/>
          </p:cNvCxnSpPr>
          <p:nvPr/>
        </p:nvCxnSpPr>
        <p:spPr bwMode="auto">
          <a:xfrm>
            <a:off x="4803037" y="4037971"/>
            <a:ext cx="2498155" cy="0"/>
          </a:xfrm>
          <a:prstGeom prst="straightConnector1">
            <a:avLst/>
          </a:prstGeom>
          <a:noFill/>
          <a:ln w="28575">
            <a:solidFill>
              <a:srgbClr val="4D4D4D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591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4928" y="4002371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2" name="Picture 352" descr="블릿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1192" y="4002371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3989" y="4002371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4" name="Picture 352" descr="블릿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36976" y="4002371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95" name="오른쪽 대괄호 647"/>
          <p:cNvSpPr>
            <a:spLocks/>
          </p:cNvSpPr>
          <p:nvPr/>
        </p:nvSpPr>
        <p:spPr bwMode="auto">
          <a:xfrm rot="16200000">
            <a:off x="5098996" y="3564519"/>
            <a:ext cx="140881" cy="772041"/>
          </a:xfrm>
          <a:prstGeom prst="rightBracket">
            <a:avLst>
              <a:gd name="adj" fmla="val 46831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>
              <a:latin typeface="+mn-ea"/>
              <a:ea typeface="+mn-ea"/>
            </a:endParaRPr>
          </a:p>
        </p:txBody>
      </p:sp>
      <p:sp>
        <p:nvSpPr>
          <p:cNvPr id="596" name="Rectangle 55"/>
          <p:cNvSpPr>
            <a:spLocks noChangeArrowheads="1"/>
          </p:cNvSpPr>
          <p:nvPr/>
        </p:nvSpPr>
        <p:spPr bwMode="auto">
          <a:xfrm>
            <a:off x="4866170" y="3798565"/>
            <a:ext cx="538609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1</a:t>
            </a:r>
            <a:r>
              <a:rPr lang="ko-KR" altLang="en-US" sz="700" smtClean="0">
                <a:latin typeface="+mn-ea"/>
                <a:ea typeface="+mn-ea"/>
              </a:rPr>
              <a:t>차 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마이그레이션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597" name="오른쪽 대괄호 593"/>
          <p:cNvSpPr>
            <a:spLocks/>
          </p:cNvSpPr>
          <p:nvPr/>
        </p:nvSpPr>
        <p:spPr bwMode="auto">
          <a:xfrm rot="16200000">
            <a:off x="4058658" y="3753682"/>
            <a:ext cx="128074" cy="355614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598" name="Rectangle 55"/>
          <p:cNvSpPr>
            <a:spLocks noChangeArrowheads="1"/>
          </p:cNvSpPr>
          <p:nvPr/>
        </p:nvSpPr>
        <p:spPr bwMode="auto">
          <a:xfrm>
            <a:off x="3978796" y="3908000"/>
            <a:ext cx="248512" cy="78066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n-US" altLang="ko-KR" sz="700" dirty="0" smtClean="0">
                <a:latin typeface="+mn-ea"/>
                <a:ea typeface="+mn-ea"/>
              </a:rPr>
              <a:t>DB </a:t>
            </a:r>
            <a:r>
              <a:rPr lang="ko-KR" altLang="en-US" sz="700" dirty="0" smtClean="0">
                <a:latin typeface="+mn-ea"/>
                <a:ea typeface="+mn-ea"/>
              </a:rPr>
              <a:t>분석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599" name="오른쪽 대괄호 707"/>
          <p:cNvSpPr>
            <a:spLocks/>
          </p:cNvSpPr>
          <p:nvPr/>
        </p:nvSpPr>
        <p:spPr bwMode="auto">
          <a:xfrm rot="16200000">
            <a:off x="7156820" y="4856495"/>
            <a:ext cx="156534" cy="819758"/>
          </a:xfrm>
          <a:prstGeom prst="rightBracket">
            <a:avLst>
              <a:gd name="adj" fmla="val 46899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700">
              <a:latin typeface="+mn-ea"/>
              <a:ea typeface="+mn-ea"/>
            </a:endParaRPr>
          </a:p>
        </p:txBody>
      </p:sp>
      <p:sp>
        <p:nvSpPr>
          <p:cNvPr id="600" name="Rectangle 55"/>
          <p:cNvSpPr>
            <a:spLocks noChangeArrowheads="1"/>
          </p:cNvSpPr>
          <p:nvPr/>
        </p:nvSpPr>
        <p:spPr bwMode="auto">
          <a:xfrm>
            <a:off x="6722049" y="5124807"/>
            <a:ext cx="1074906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 smtClean="0">
                <a:latin typeface="+mn-ea"/>
                <a:ea typeface="+mn-ea"/>
              </a:rPr>
              <a:t>시스템</a:t>
            </a:r>
            <a:r>
              <a:rPr lang="en-US" altLang="ko-KR" sz="700" dirty="0">
                <a:latin typeface="+mn-ea"/>
                <a:ea typeface="+mn-ea"/>
              </a:rPr>
              <a:t> </a:t>
            </a:r>
            <a:r>
              <a:rPr lang="ko-KR" altLang="en-US" sz="700" dirty="0" smtClean="0">
                <a:latin typeface="+mn-ea"/>
                <a:ea typeface="+mn-ea"/>
              </a:rPr>
              <a:t>및 </a:t>
            </a:r>
            <a:r>
              <a:rPr lang="ko-KR" altLang="en-US" sz="700" smtClean="0">
                <a:latin typeface="+mn-ea"/>
                <a:ea typeface="+mn-ea"/>
              </a:rPr>
              <a:t>서비스 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안정화</a:t>
            </a:r>
            <a:endParaRPr lang="en-US" altLang="ko-KR" sz="700" dirty="0" smtClean="0">
              <a:latin typeface="+mn-ea"/>
              <a:ea typeface="+mn-ea"/>
            </a:endParaRPr>
          </a:p>
        </p:txBody>
      </p:sp>
      <p:cxnSp>
        <p:nvCxnSpPr>
          <p:cNvPr id="601" name="AutoShape 348"/>
          <p:cNvCxnSpPr>
            <a:cxnSpLocks noChangeShapeType="1"/>
          </p:cNvCxnSpPr>
          <p:nvPr/>
        </p:nvCxnSpPr>
        <p:spPr bwMode="auto">
          <a:xfrm>
            <a:off x="6825383" y="5340172"/>
            <a:ext cx="854396" cy="0"/>
          </a:xfrm>
          <a:prstGeom prst="straightConnector1">
            <a:avLst/>
          </a:prstGeom>
          <a:noFill/>
          <a:ln w="19050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02" name="Picture 352" descr="블릿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9919" y="5302017"/>
            <a:ext cx="82410" cy="7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3" name="Picture 352" descr="블릿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7296" y="5302017"/>
            <a:ext cx="82410" cy="7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04" name="AutoShape 348"/>
          <p:cNvCxnSpPr>
            <a:cxnSpLocks noChangeShapeType="1"/>
          </p:cNvCxnSpPr>
          <p:nvPr/>
        </p:nvCxnSpPr>
        <p:spPr bwMode="auto">
          <a:xfrm flipV="1">
            <a:off x="3368824" y="4879979"/>
            <a:ext cx="3457525" cy="0"/>
          </a:xfrm>
          <a:prstGeom prst="straightConnector1">
            <a:avLst/>
          </a:prstGeom>
          <a:noFill/>
          <a:ln w="19050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05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3555" y="4843753"/>
            <a:ext cx="68743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06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9407" y="4843753"/>
            <a:ext cx="67578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7" name="Rectangle 55"/>
          <p:cNvSpPr>
            <a:spLocks noChangeArrowheads="1"/>
          </p:cNvSpPr>
          <p:nvPr/>
        </p:nvSpPr>
        <p:spPr bwMode="auto">
          <a:xfrm>
            <a:off x="2701702" y="4742650"/>
            <a:ext cx="836705" cy="78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dirty="0">
                <a:latin typeface="+mn-ea"/>
                <a:ea typeface="+mn-ea"/>
              </a:rPr>
              <a:t>관리자</a:t>
            </a:r>
            <a:r>
              <a:rPr lang="en-US" altLang="ko-KR" sz="700" dirty="0">
                <a:latin typeface="+mn-ea"/>
                <a:ea typeface="+mn-ea"/>
              </a:rPr>
              <a:t>/</a:t>
            </a:r>
            <a:r>
              <a:rPr lang="ko-KR" altLang="en-US" sz="700" dirty="0">
                <a:latin typeface="+mn-ea"/>
                <a:ea typeface="+mn-ea"/>
              </a:rPr>
              <a:t>개발자 교육</a:t>
            </a:r>
            <a:endParaRPr lang="en-US" altLang="ko-KR" sz="700" dirty="0">
              <a:latin typeface="+mn-ea"/>
              <a:ea typeface="+mn-ea"/>
            </a:endParaRPr>
          </a:p>
        </p:txBody>
      </p:sp>
      <p:pic>
        <p:nvPicPr>
          <p:cNvPr id="609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2892" y="4843753"/>
            <a:ext cx="67578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0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8642" y="4843753"/>
            <a:ext cx="67578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1" name="Rectangle 55"/>
          <p:cNvSpPr>
            <a:spLocks noChangeArrowheads="1"/>
          </p:cNvSpPr>
          <p:nvPr/>
        </p:nvSpPr>
        <p:spPr bwMode="auto">
          <a:xfrm>
            <a:off x="6395263" y="4756536"/>
            <a:ext cx="375467" cy="78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 smtClean="0">
                <a:latin typeface="+mn-ea"/>
                <a:ea typeface="+mn-ea"/>
              </a:rPr>
              <a:t>기술이전</a:t>
            </a:r>
            <a:endParaRPr lang="en-US" altLang="ko-KR" sz="700" dirty="0">
              <a:latin typeface="+mn-ea"/>
              <a:ea typeface="+mn-ea"/>
            </a:endParaRPr>
          </a:p>
        </p:txBody>
      </p:sp>
      <p:pic>
        <p:nvPicPr>
          <p:cNvPr id="612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6696" y="4843753"/>
            <a:ext cx="67578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613" name="AutoShape 348"/>
          <p:cNvCxnSpPr>
            <a:cxnSpLocks noChangeShapeType="1"/>
          </p:cNvCxnSpPr>
          <p:nvPr/>
        </p:nvCxnSpPr>
        <p:spPr bwMode="auto">
          <a:xfrm>
            <a:off x="2284273" y="4877919"/>
            <a:ext cx="435594" cy="0"/>
          </a:xfrm>
          <a:prstGeom prst="straightConnector1">
            <a:avLst/>
          </a:prstGeom>
          <a:noFill/>
          <a:ln w="19050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14" name="AutoShape 348"/>
          <p:cNvCxnSpPr>
            <a:cxnSpLocks noChangeShapeType="1"/>
          </p:cNvCxnSpPr>
          <p:nvPr/>
        </p:nvCxnSpPr>
        <p:spPr bwMode="auto">
          <a:xfrm flipV="1">
            <a:off x="2720752" y="4879979"/>
            <a:ext cx="734707" cy="3747"/>
          </a:xfrm>
          <a:prstGeom prst="straightConnector1">
            <a:avLst/>
          </a:prstGeom>
          <a:noFill/>
          <a:ln w="19050">
            <a:solidFill>
              <a:srgbClr val="4D4D4D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15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4552" y="4843753"/>
            <a:ext cx="67578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7" name="Rectangle 55"/>
          <p:cNvSpPr>
            <a:spLocks noChangeArrowheads="1"/>
          </p:cNvSpPr>
          <p:nvPr/>
        </p:nvSpPr>
        <p:spPr bwMode="auto">
          <a:xfrm>
            <a:off x="2288704" y="4746622"/>
            <a:ext cx="390943" cy="78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dirty="0" smtClean="0">
                <a:latin typeface="+mn-ea"/>
                <a:ea typeface="+mn-ea"/>
              </a:rPr>
              <a:t>교육계획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18" name="오른쪽 대괄호 140"/>
          <p:cNvSpPr>
            <a:spLocks/>
          </p:cNvSpPr>
          <p:nvPr/>
        </p:nvSpPr>
        <p:spPr bwMode="auto">
          <a:xfrm rot="5400000" flipH="1" flipV="1">
            <a:off x="5778284" y="4652079"/>
            <a:ext cx="156749" cy="269523"/>
          </a:xfrm>
          <a:prstGeom prst="rightBracket">
            <a:avLst>
              <a:gd name="adj" fmla="val 46831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3016250" indent="-73025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3473450" indent="-73025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930650" indent="-73025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4387850" indent="-73025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endParaRPr lang="ko-KR" altLang="en-US" sz="700">
              <a:latin typeface="+mn-ea"/>
              <a:ea typeface="+mn-ea"/>
            </a:endParaRPr>
          </a:p>
        </p:txBody>
      </p:sp>
      <p:sp>
        <p:nvSpPr>
          <p:cNvPr id="619" name="오른쪽 대괄호 647"/>
          <p:cNvSpPr>
            <a:spLocks/>
          </p:cNvSpPr>
          <p:nvPr/>
        </p:nvSpPr>
        <p:spPr bwMode="auto">
          <a:xfrm rot="16200000">
            <a:off x="5205749" y="4366794"/>
            <a:ext cx="140881" cy="812831"/>
          </a:xfrm>
          <a:prstGeom prst="rightBracket">
            <a:avLst>
              <a:gd name="adj" fmla="val 46831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>
              <a:latin typeface="+mn-ea"/>
              <a:ea typeface="+mn-ea"/>
            </a:endParaRPr>
          </a:p>
        </p:txBody>
      </p:sp>
      <p:sp>
        <p:nvSpPr>
          <p:cNvPr id="620" name="오른쪽 대괄호 593"/>
          <p:cNvSpPr>
            <a:spLocks/>
          </p:cNvSpPr>
          <p:nvPr/>
        </p:nvSpPr>
        <p:spPr bwMode="auto">
          <a:xfrm rot="16200000">
            <a:off x="6149002" y="4581962"/>
            <a:ext cx="140881" cy="382495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621" name="Rectangle 55"/>
          <p:cNvSpPr>
            <a:spLocks noChangeArrowheads="1"/>
          </p:cNvSpPr>
          <p:nvPr/>
        </p:nvSpPr>
        <p:spPr bwMode="auto">
          <a:xfrm>
            <a:off x="5962900" y="4656776"/>
            <a:ext cx="48589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사용자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교육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22" name="Rectangle 55"/>
          <p:cNvSpPr>
            <a:spLocks noChangeArrowheads="1"/>
          </p:cNvSpPr>
          <p:nvPr/>
        </p:nvSpPr>
        <p:spPr bwMode="auto">
          <a:xfrm>
            <a:off x="4896930" y="4666300"/>
            <a:ext cx="838633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>
                <a:latin typeface="+mn-ea"/>
                <a:ea typeface="+mn-ea"/>
              </a:rPr>
              <a:t>사용자 </a:t>
            </a:r>
            <a:r>
              <a:rPr lang="en-US" altLang="ko-KR" sz="700" dirty="0">
                <a:latin typeface="+mn-ea"/>
                <a:ea typeface="+mn-ea"/>
              </a:rPr>
              <a:t>/ </a:t>
            </a:r>
            <a:r>
              <a:rPr lang="ko-KR" altLang="en-US" sz="700">
                <a:latin typeface="+mn-ea"/>
                <a:ea typeface="+mn-ea"/>
              </a:rPr>
              <a:t>운영자 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수시 </a:t>
            </a:r>
            <a:r>
              <a:rPr lang="ko-KR" altLang="en-US" sz="700" dirty="0">
                <a:latin typeface="+mn-ea"/>
                <a:ea typeface="+mn-ea"/>
              </a:rPr>
              <a:t>교육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23" name="Rectangle 55"/>
          <p:cNvSpPr>
            <a:spLocks noChangeArrowheads="1"/>
          </p:cNvSpPr>
          <p:nvPr/>
        </p:nvSpPr>
        <p:spPr bwMode="auto">
          <a:xfrm>
            <a:off x="5734003" y="4653136"/>
            <a:ext cx="269304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지침서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개발</a:t>
            </a:r>
            <a:endParaRPr lang="en-US" altLang="ko-KR" sz="700" dirty="0">
              <a:latin typeface="+mn-ea"/>
              <a:ea typeface="+mn-ea"/>
            </a:endParaRPr>
          </a:p>
        </p:txBody>
      </p:sp>
      <p:cxnSp>
        <p:nvCxnSpPr>
          <p:cNvPr id="624" name="AutoShape 348"/>
          <p:cNvCxnSpPr>
            <a:cxnSpLocks noChangeShapeType="1"/>
          </p:cNvCxnSpPr>
          <p:nvPr/>
        </p:nvCxnSpPr>
        <p:spPr bwMode="auto">
          <a:xfrm flipV="1">
            <a:off x="1853710" y="4412703"/>
            <a:ext cx="4655407" cy="3747"/>
          </a:xfrm>
          <a:prstGeom prst="straightConnector1">
            <a:avLst/>
          </a:prstGeom>
          <a:noFill/>
          <a:ln w="19050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5" name="오른쪽 대괄호 624"/>
          <p:cNvSpPr/>
          <p:nvPr/>
        </p:nvSpPr>
        <p:spPr bwMode="auto">
          <a:xfrm rot="16200000">
            <a:off x="3729776" y="2820930"/>
            <a:ext cx="140881" cy="2967482"/>
          </a:xfrm>
          <a:prstGeom prst="rightBracket">
            <a:avLst>
              <a:gd name="adj" fmla="val 46740"/>
            </a:avLst>
          </a:prstGeom>
          <a:solidFill>
            <a:schemeClr val="bg1"/>
          </a:solidFill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lnSpcReduction="100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626" name="오른쪽 대괄호 625"/>
          <p:cNvSpPr/>
          <p:nvPr/>
        </p:nvSpPr>
        <p:spPr bwMode="auto">
          <a:xfrm rot="16200000">
            <a:off x="2992199" y="3603129"/>
            <a:ext cx="109922" cy="1452190"/>
          </a:xfrm>
          <a:prstGeom prst="rightBracket">
            <a:avLst>
              <a:gd name="adj" fmla="val 46740"/>
            </a:avLst>
          </a:prstGeom>
          <a:solidFill>
            <a:schemeClr val="bg1"/>
          </a:solidFill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fontScale="92500" lnSpcReduction="20000"/>
          </a:bodyPr>
          <a:lstStyle/>
          <a:p>
            <a:pPr defTabSz="846138">
              <a:defRPr/>
            </a:pPr>
            <a:endParaRPr lang="ko-KR" altLang="en-US" sz="600" dirty="0">
              <a:latin typeface="+mn-ea"/>
            </a:endParaRPr>
          </a:p>
        </p:txBody>
      </p:sp>
      <p:sp>
        <p:nvSpPr>
          <p:cNvPr id="627" name="Rectangle 55"/>
          <p:cNvSpPr>
            <a:spLocks noChangeArrowheads="1"/>
          </p:cNvSpPr>
          <p:nvPr/>
        </p:nvSpPr>
        <p:spPr bwMode="auto">
          <a:xfrm>
            <a:off x="2504728" y="4295322"/>
            <a:ext cx="868460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>
                <a:latin typeface="+mn-ea"/>
                <a:ea typeface="+mn-ea"/>
              </a:rPr>
              <a:t>관리자</a:t>
            </a:r>
            <a:r>
              <a:rPr lang="en-US" altLang="ko-KR" sz="700" dirty="0">
                <a:latin typeface="+mn-ea"/>
                <a:ea typeface="+mn-ea"/>
              </a:rPr>
              <a:t>/</a:t>
            </a:r>
            <a:r>
              <a:rPr lang="ko-KR" altLang="en-US" sz="700" dirty="0">
                <a:latin typeface="+mn-ea"/>
                <a:ea typeface="+mn-ea"/>
              </a:rPr>
              <a:t>개발자 교육</a:t>
            </a:r>
            <a:endParaRPr lang="en-US" altLang="ko-KR" sz="700" dirty="0">
              <a:latin typeface="+mn-ea"/>
              <a:ea typeface="+mn-ea"/>
            </a:endParaRPr>
          </a:p>
        </p:txBody>
      </p:sp>
      <p:pic>
        <p:nvPicPr>
          <p:cNvPr id="628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556" y="4381476"/>
            <a:ext cx="73240" cy="7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9" name="Rectangle 55"/>
          <p:cNvSpPr>
            <a:spLocks noChangeArrowheads="1"/>
          </p:cNvSpPr>
          <p:nvPr/>
        </p:nvSpPr>
        <p:spPr bwMode="auto">
          <a:xfrm>
            <a:off x="1857187" y="4182510"/>
            <a:ext cx="416860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>
                <a:latin typeface="+mn-ea"/>
                <a:ea typeface="+mn-ea"/>
              </a:rPr>
              <a:t>품질보증</a:t>
            </a:r>
            <a:endParaRPr lang="en-US" altLang="ko-KR" sz="700" dirty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dirty="0">
                <a:latin typeface="+mn-ea"/>
                <a:ea typeface="+mn-ea"/>
              </a:rPr>
              <a:t>활동계획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30" name="Rectangle 55"/>
          <p:cNvSpPr>
            <a:spLocks noChangeArrowheads="1"/>
          </p:cNvSpPr>
          <p:nvPr/>
        </p:nvSpPr>
        <p:spPr bwMode="auto">
          <a:xfrm>
            <a:off x="5385048" y="4454356"/>
            <a:ext cx="780871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>
                <a:latin typeface="+mn-ea"/>
                <a:ea typeface="+mn-ea"/>
              </a:rPr>
              <a:t>서비스 수준</a:t>
            </a:r>
            <a:endParaRPr lang="en-US" altLang="ko-KR" sz="700" dirty="0">
              <a:latin typeface="+mn-ea"/>
              <a:ea typeface="+mn-ea"/>
            </a:endParaRPr>
          </a:p>
        </p:txBody>
      </p:sp>
      <p:pic>
        <p:nvPicPr>
          <p:cNvPr id="631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8204" y="4381476"/>
            <a:ext cx="73240" cy="7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2" name="Rectangle 55"/>
          <p:cNvSpPr>
            <a:spLocks noChangeArrowheads="1"/>
          </p:cNvSpPr>
          <p:nvPr/>
        </p:nvSpPr>
        <p:spPr bwMode="auto">
          <a:xfrm>
            <a:off x="3993131" y="4461928"/>
            <a:ext cx="775642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>
                <a:latin typeface="+mn-ea"/>
                <a:ea typeface="+mn-ea"/>
              </a:rPr>
              <a:t>설계 변경 정도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33" name="오른쪽 대괄호 632"/>
          <p:cNvSpPr/>
          <p:nvPr/>
        </p:nvSpPr>
        <p:spPr bwMode="auto">
          <a:xfrm rot="16200000" flipH="1">
            <a:off x="2238822" y="4275615"/>
            <a:ext cx="130445" cy="462818"/>
          </a:xfrm>
          <a:prstGeom prst="rightBracket">
            <a:avLst>
              <a:gd name="adj" fmla="val 46740"/>
            </a:avLst>
          </a:prstGeom>
          <a:solidFill>
            <a:schemeClr val="bg1"/>
          </a:solidFill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fontScale="925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634" name="Rectangle 55"/>
          <p:cNvSpPr>
            <a:spLocks noChangeArrowheads="1"/>
          </p:cNvSpPr>
          <p:nvPr/>
        </p:nvSpPr>
        <p:spPr bwMode="auto">
          <a:xfrm>
            <a:off x="1979209" y="4453448"/>
            <a:ext cx="668037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>
                <a:latin typeface="+mn-ea"/>
                <a:ea typeface="+mn-ea"/>
              </a:rPr>
              <a:t>업무모델 수준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35" name="Rectangle 55"/>
          <p:cNvSpPr>
            <a:spLocks noChangeArrowheads="1"/>
          </p:cNvSpPr>
          <p:nvPr/>
        </p:nvSpPr>
        <p:spPr bwMode="auto">
          <a:xfrm>
            <a:off x="2881205" y="4454356"/>
            <a:ext cx="425136" cy="10772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>
                <a:latin typeface="+mn-ea"/>
                <a:ea typeface="+mn-ea"/>
              </a:rPr>
              <a:t>요구 수준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36" name="Rectangle 55"/>
          <p:cNvSpPr>
            <a:spLocks noChangeArrowheads="1"/>
          </p:cNvSpPr>
          <p:nvPr/>
        </p:nvSpPr>
        <p:spPr bwMode="auto">
          <a:xfrm>
            <a:off x="3844305" y="4264058"/>
            <a:ext cx="1428636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>
                <a:latin typeface="+mn-ea"/>
                <a:ea typeface="+mn-ea"/>
              </a:rPr>
              <a:t>설계 리뷰 </a:t>
            </a:r>
            <a:r>
              <a:rPr lang="en-US" altLang="ko-KR" sz="700" dirty="0">
                <a:latin typeface="+mn-ea"/>
                <a:ea typeface="+mn-ea"/>
              </a:rPr>
              <a:t>/ </a:t>
            </a:r>
            <a:r>
              <a:rPr lang="ko-KR" altLang="en-US" sz="700" dirty="0">
                <a:latin typeface="+mn-ea"/>
                <a:ea typeface="+mn-ea"/>
              </a:rPr>
              <a:t>형상관리 </a:t>
            </a:r>
            <a:r>
              <a:rPr lang="en-US" altLang="ko-KR" sz="700" dirty="0">
                <a:latin typeface="+mn-ea"/>
                <a:ea typeface="+mn-ea"/>
              </a:rPr>
              <a:t>/ </a:t>
            </a:r>
            <a:r>
              <a:rPr lang="ko-KR" altLang="en-US" sz="700" dirty="0">
                <a:latin typeface="+mn-ea"/>
                <a:ea typeface="+mn-ea"/>
              </a:rPr>
              <a:t>품질관리</a:t>
            </a:r>
            <a:endParaRPr lang="en-US" altLang="ko-KR" sz="700" dirty="0">
              <a:latin typeface="+mn-ea"/>
              <a:ea typeface="+mn-ea"/>
            </a:endParaRPr>
          </a:p>
        </p:txBody>
      </p:sp>
      <p:pic>
        <p:nvPicPr>
          <p:cNvPr id="637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685" y="4381476"/>
            <a:ext cx="74503" cy="7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8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3024" y="4381476"/>
            <a:ext cx="74504" cy="7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9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0658" y="4381476"/>
            <a:ext cx="74504" cy="7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0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1039" y="4376479"/>
            <a:ext cx="73240" cy="7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1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1024" y="4377728"/>
            <a:ext cx="73240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2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9043" y="4377728"/>
            <a:ext cx="73240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3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731" y="4377728"/>
            <a:ext cx="73240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4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7571" y="4376479"/>
            <a:ext cx="74503" cy="7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45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0767" y="4377728"/>
            <a:ext cx="73240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6" name="오른쪽 대괄호 593"/>
          <p:cNvSpPr>
            <a:spLocks/>
          </p:cNvSpPr>
          <p:nvPr/>
        </p:nvSpPr>
        <p:spPr bwMode="auto">
          <a:xfrm rot="16200000">
            <a:off x="5939308" y="4094060"/>
            <a:ext cx="140881" cy="435594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647" name="Rectangle 55"/>
          <p:cNvSpPr>
            <a:spLocks noChangeArrowheads="1"/>
          </p:cNvSpPr>
          <p:nvPr/>
        </p:nvSpPr>
        <p:spPr bwMode="auto">
          <a:xfrm>
            <a:off x="5832081" y="4274227"/>
            <a:ext cx="388488" cy="1077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 smtClean="0">
                <a:latin typeface="+mn-ea"/>
                <a:ea typeface="+mn-ea"/>
              </a:rPr>
              <a:t>품질평가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48" name="Rectangle 55"/>
          <p:cNvSpPr>
            <a:spLocks noChangeArrowheads="1"/>
          </p:cNvSpPr>
          <p:nvPr/>
        </p:nvSpPr>
        <p:spPr bwMode="auto">
          <a:xfrm>
            <a:off x="5347307" y="4295398"/>
            <a:ext cx="430602" cy="78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 smtClean="0">
                <a:latin typeface="+mn-ea"/>
                <a:ea typeface="+mn-ea"/>
              </a:rPr>
              <a:t>품질시험</a:t>
            </a:r>
            <a:endParaRPr lang="en-US" altLang="ko-KR" sz="700" dirty="0">
              <a:latin typeface="+mn-ea"/>
              <a:ea typeface="+mn-ea"/>
            </a:endParaRPr>
          </a:p>
        </p:txBody>
      </p:sp>
      <p:cxnSp>
        <p:nvCxnSpPr>
          <p:cNvPr id="649" name="AutoShape 348"/>
          <p:cNvCxnSpPr>
            <a:cxnSpLocks noChangeShapeType="1"/>
          </p:cNvCxnSpPr>
          <p:nvPr/>
        </p:nvCxnSpPr>
        <p:spPr bwMode="auto">
          <a:xfrm flipV="1">
            <a:off x="1882537" y="2653660"/>
            <a:ext cx="5787717" cy="16554"/>
          </a:xfrm>
          <a:prstGeom prst="straightConnector1">
            <a:avLst/>
          </a:prstGeom>
          <a:noFill/>
          <a:ln w="28575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0" name="Rectangle 55"/>
          <p:cNvSpPr>
            <a:spLocks noChangeArrowheads="1"/>
          </p:cNvSpPr>
          <p:nvPr/>
        </p:nvSpPr>
        <p:spPr bwMode="auto">
          <a:xfrm>
            <a:off x="4376936" y="2846686"/>
            <a:ext cx="1542089" cy="107722"/>
          </a:xfrm>
          <a:prstGeom prst="rect">
            <a:avLst/>
          </a:prstGeom>
          <a:solidFill>
            <a:srgbClr val="FFFF00"/>
          </a:solidFill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b="1" smtClean="0">
                <a:solidFill>
                  <a:srgbClr val="0000CC"/>
                </a:solidFill>
                <a:latin typeface="+mn-ea"/>
                <a:ea typeface="+mn-ea"/>
              </a:rPr>
              <a:t>화면 및 기능 테스트</a:t>
            </a:r>
            <a:r>
              <a:rPr lang="en-US" altLang="ko-KR" sz="700" b="1" smtClean="0">
                <a:solidFill>
                  <a:srgbClr val="0000CC"/>
                </a:solidFill>
                <a:latin typeface="+mn-ea"/>
                <a:ea typeface="+mn-ea"/>
              </a:rPr>
              <a:t>/</a:t>
            </a:r>
            <a:r>
              <a:rPr lang="ko-KR" altLang="en-US" sz="700" b="1" smtClean="0">
                <a:solidFill>
                  <a:srgbClr val="0000CC"/>
                </a:solidFill>
                <a:latin typeface="+mn-ea"/>
                <a:ea typeface="+mn-ea"/>
              </a:rPr>
              <a:t>사용자 의견 반영</a:t>
            </a:r>
            <a:endParaRPr lang="ko-KR" altLang="ko-KR" sz="700" b="1" dirty="0">
              <a:solidFill>
                <a:srgbClr val="0000CC"/>
              </a:solidFill>
              <a:latin typeface="+mn-ea"/>
              <a:ea typeface="+mn-ea"/>
            </a:endParaRPr>
          </a:p>
        </p:txBody>
      </p:sp>
      <p:sp>
        <p:nvSpPr>
          <p:cNvPr id="651" name="Rectangle 55"/>
          <p:cNvSpPr>
            <a:spLocks noChangeArrowheads="1"/>
          </p:cNvSpPr>
          <p:nvPr/>
        </p:nvSpPr>
        <p:spPr bwMode="auto">
          <a:xfrm>
            <a:off x="3018309" y="2276872"/>
            <a:ext cx="359073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메뉴구조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설계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652" name="Rectangle 55"/>
          <p:cNvSpPr>
            <a:spLocks noChangeArrowheads="1"/>
          </p:cNvSpPr>
          <p:nvPr/>
        </p:nvSpPr>
        <p:spPr bwMode="auto">
          <a:xfrm>
            <a:off x="1888793" y="2377133"/>
            <a:ext cx="359073" cy="26930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요구사항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수집</a:t>
            </a:r>
            <a:endParaRPr lang="ko-KR" altLang="ko-KR" sz="700" dirty="0">
              <a:latin typeface="+mn-ea"/>
              <a:ea typeface="+mn-ea"/>
            </a:endParaRPr>
          </a:p>
        </p:txBody>
      </p:sp>
      <p:cxnSp>
        <p:nvCxnSpPr>
          <p:cNvPr id="653" name="AutoShape 348"/>
          <p:cNvCxnSpPr>
            <a:cxnSpLocks noChangeShapeType="1"/>
          </p:cNvCxnSpPr>
          <p:nvPr/>
        </p:nvCxnSpPr>
        <p:spPr bwMode="auto">
          <a:xfrm flipV="1">
            <a:off x="6000414" y="2663691"/>
            <a:ext cx="462818" cy="3748"/>
          </a:xfrm>
          <a:prstGeom prst="straightConnector1">
            <a:avLst/>
          </a:prstGeom>
          <a:noFill/>
          <a:ln w="28575">
            <a:solidFill>
              <a:srgbClr val="4D4D4D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55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754" y="2628092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6" name="Rectangle 55"/>
          <p:cNvSpPr>
            <a:spLocks noChangeArrowheads="1"/>
          </p:cNvSpPr>
          <p:nvPr/>
        </p:nvSpPr>
        <p:spPr bwMode="auto">
          <a:xfrm>
            <a:off x="2293256" y="2689960"/>
            <a:ext cx="359073" cy="269304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업무흐름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 </a:t>
            </a:r>
            <a:r>
              <a:rPr lang="ko-KR" altLang="en-US" sz="700" dirty="0" smtClean="0">
                <a:latin typeface="+mn-ea"/>
                <a:ea typeface="+mn-ea"/>
              </a:rPr>
              <a:t>분석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57" name="Rectangle 55"/>
          <p:cNvSpPr>
            <a:spLocks noChangeArrowheads="1"/>
          </p:cNvSpPr>
          <p:nvPr/>
        </p:nvSpPr>
        <p:spPr bwMode="auto">
          <a:xfrm>
            <a:off x="3591810" y="2707824"/>
            <a:ext cx="271545" cy="78066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dirty="0" smtClean="0">
                <a:latin typeface="+mn-ea"/>
                <a:ea typeface="+mn-ea"/>
              </a:rPr>
              <a:t>화면설계</a:t>
            </a:r>
            <a:endParaRPr lang="ko-KR" altLang="ko-KR" sz="700" dirty="0">
              <a:latin typeface="+mn-ea"/>
              <a:ea typeface="+mn-ea"/>
            </a:endParaRPr>
          </a:p>
        </p:txBody>
      </p:sp>
      <p:pic>
        <p:nvPicPr>
          <p:cNvPr id="658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614" y="2628092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9" name="오른쪽 대괄호 593"/>
          <p:cNvSpPr>
            <a:spLocks/>
          </p:cNvSpPr>
          <p:nvPr/>
        </p:nvSpPr>
        <p:spPr bwMode="auto">
          <a:xfrm rot="16200000">
            <a:off x="1988718" y="2384726"/>
            <a:ext cx="140881" cy="395995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660" name="오른쪽 대괄호 659"/>
          <p:cNvSpPr/>
          <p:nvPr/>
        </p:nvSpPr>
        <p:spPr bwMode="auto">
          <a:xfrm rot="16200000" flipH="1">
            <a:off x="2414005" y="2563313"/>
            <a:ext cx="143490" cy="409957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lnSpcReduction="100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661" name="오른쪽 대괄호 660"/>
          <p:cNvSpPr/>
          <p:nvPr/>
        </p:nvSpPr>
        <p:spPr bwMode="auto">
          <a:xfrm rot="16200000" flipH="1">
            <a:off x="2833847" y="2575944"/>
            <a:ext cx="130445" cy="382495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fontScale="925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663" name="Rectangle 55"/>
          <p:cNvSpPr>
            <a:spLocks noChangeArrowheads="1"/>
          </p:cNvSpPr>
          <p:nvPr/>
        </p:nvSpPr>
        <p:spPr bwMode="auto">
          <a:xfrm>
            <a:off x="2721736" y="2421669"/>
            <a:ext cx="359073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dirty="0" smtClean="0">
                <a:latin typeface="+mn-ea"/>
                <a:ea typeface="+mn-ea"/>
              </a:rPr>
              <a:t>프로세스</a:t>
            </a:r>
            <a:endParaRPr lang="en-US" altLang="ko-KR" sz="700" dirty="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정의 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664" name="오른쪽 대괄호 593"/>
          <p:cNvSpPr>
            <a:spLocks/>
          </p:cNvSpPr>
          <p:nvPr/>
        </p:nvSpPr>
        <p:spPr bwMode="auto">
          <a:xfrm rot="16200000">
            <a:off x="2812984" y="2391476"/>
            <a:ext cx="140881" cy="382495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665" name="오른쪽 대괄호 593"/>
          <p:cNvSpPr>
            <a:spLocks/>
          </p:cNvSpPr>
          <p:nvPr/>
        </p:nvSpPr>
        <p:spPr bwMode="auto">
          <a:xfrm rot="16200000">
            <a:off x="4566724" y="1232850"/>
            <a:ext cx="130421" cy="2689286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pic>
        <p:nvPicPr>
          <p:cNvPr id="666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1095" y="2631527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7" name="오른쪽 대괄호 666"/>
          <p:cNvSpPr/>
          <p:nvPr/>
        </p:nvSpPr>
        <p:spPr bwMode="auto">
          <a:xfrm rot="16200000" flipH="1">
            <a:off x="3646943" y="2128801"/>
            <a:ext cx="137381" cy="1231746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lnSpcReduction="100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668" name="Rectangle 55"/>
          <p:cNvSpPr>
            <a:spLocks noChangeArrowheads="1"/>
          </p:cNvSpPr>
          <p:nvPr/>
        </p:nvSpPr>
        <p:spPr bwMode="auto">
          <a:xfrm>
            <a:off x="2682236" y="2689870"/>
            <a:ext cx="437594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DB</a:t>
            </a:r>
            <a:r>
              <a:rPr lang="ko-KR" altLang="en-US" sz="700" smtClean="0">
                <a:latin typeface="+mn-ea"/>
                <a:ea typeface="+mn-ea"/>
              </a:rPr>
              <a:t>설계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69" name="오른쪽 대괄호 668"/>
          <p:cNvSpPr/>
          <p:nvPr/>
        </p:nvSpPr>
        <p:spPr bwMode="auto">
          <a:xfrm rot="16200000" flipH="1">
            <a:off x="4470770" y="2569012"/>
            <a:ext cx="135822" cy="358489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0000CC"/>
            </a:solidFill>
            <a:prstDash val="dash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lnSpcReduction="100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671" name="Rectangle 55"/>
          <p:cNvSpPr>
            <a:spLocks noChangeArrowheads="1"/>
          </p:cNvSpPr>
          <p:nvPr/>
        </p:nvSpPr>
        <p:spPr bwMode="auto">
          <a:xfrm>
            <a:off x="3946108" y="2525992"/>
            <a:ext cx="817531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dirty="0" smtClean="0">
                <a:latin typeface="+mn-ea"/>
                <a:ea typeface="+mn-ea"/>
              </a:rPr>
              <a:t> </a:t>
            </a:r>
            <a:r>
              <a:rPr lang="ko-KR" altLang="en-US" sz="700">
                <a:latin typeface="+mn-ea"/>
                <a:ea typeface="+mn-ea"/>
              </a:rPr>
              <a:t>시스템 </a:t>
            </a:r>
            <a:r>
              <a:rPr lang="ko-KR" altLang="en-US" sz="700" smtClean="0">
                <a:latin typeface="+mn-ea"/>
                <a:ea typeface="+mn-ea"/>
              </a:rPr>
              <a:t>구현</a:t>
            </a:r>
            <a:r>
              <a:rPr lang="en-US" altLang="ko-KR" sz="700" smtClean="0">
                <a:latin typeface="+mn-ea"/>
                <a:ea typeface="+mn-ea"/>
              </a:rPr>
              <a:t>/</a:t>
            </a: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672" name="Text Box 255"/>
          <p:cNvSpPr txBox="1">
            <a:spLocks noChangeArrowheads="1"/>
          </p:cNvSpPr>
          <p:nvPr/>
        </p:nvSpPr>
        <p:spPr bwMode="auto">
          <a:xfrm>
            <a:off x="1847131" y="5612788"/>
            <a:ext cx="593800" cy="156131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lIns="46282" tIns="0" rIns="36000" bIns="0">
            <a:spAutoFit/>
          </a:bodyPr>
          <a:lstStyle>
            <a:lvl1pPr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 사업수행계획서</a:t>
            </a:r>
          </a:p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 착수보고서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73" name="Text Box 255"/>
          <p:cNvSpPr txBox="1">
            <a:spLocks noChangeArrowheads="1"/>
          </p:cNvSpPr>
          <p:nvPr/>
        </p:nvSpPr>
        <p:spPr bwMode="auto">
          <a:xfrm>
            <a:off x="2602285" y="5464274"/>
            <a:ext cx="934700" cy="754053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 lIns="46282" tIns="0" rIns="36000" bIns="0">
            <a:spAutoFit/>
          </a:bodyPr>
          <a:lstStyle>
            <a:lvl1pPr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시스템 개발 표준 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요구사항기술서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업무흐름도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 프로세스 계층도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인터페이스 정의서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인터페이스 테이블 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/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 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정의서</a:t>
            </a:r>
            <a:endParaRPr lang="ko-KR" altLang="en-US" sz="7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74" name="Text Box 255"/>
          <p:cNvSpPr txBox="1">
            <a:spLocks noChangeArrowheads="1"/>
          </p:cNvSpPr>
          <p:nvPr/>
        </p:nvSpPr>
        <p:spPr bwMode="auto">
          <a:xfrm>
            <a:off x="3492792" y="5524076"/>
            <a:ext cx="855901" cy="646331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square" lIns="46282" tIns="0" rIns="36000" bIns="0">
            <a:spAutoFit/>
          </a:bodyPr>
          <a:lstStyle>
            <a:lvl1pPr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응용기능분해도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코드목록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코드정의서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시험계획서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시스템</a:t>
            </a:r>
            <a:r>
              <a:rPr lang="en-US" altLang="ko-KR" sz="7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데이터</a:t>
            </a: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)</a:t>
            </a:r>
          </a:p>
          <a:p>
            <a:pPr eaLnBrk="1" hangingPunct="1"/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  전환 계획서</a:t>
            </a:r>
            <a:endParaRPr lang="ko-KR" altLang="en-US" sz="7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75" name="Text Box 255"/>
          <p:cNvSpPr txBox="1">
            <a:spLocks noChangeArrowheads="1"/>
          </p:cNvSpPr>
          <p:nvPr/>
        </p:nvSpPr>
        <p:spPr bwMode="auto">
          <a:xfrm>
            <a:off x="4274870" y="5450647"/>
            <a:ext cx="710176" cy="624524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lIns="46282" tIns="0" rIns="36000" bIns="0">
            <a:spAutoFit/>
          </a:bodyPr>
          <a:lstStyle>
            <a:lvl1pPr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UI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설계서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모듈목록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모듈명세서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시스템 구성도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테이블 목록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err="1" smtClean="0">
                <a:solidFill>
                  <a:srgbClr val="000000"/>
                </a:solidFill>
                <a:latin typeface="+mn-ea"/>
                <a:ea typeface="+mn-ea"/>
              </a:rPr>
              <a:t>데이블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 구조명세서 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인덱스 목록</a:t>
            </a:r>
            <a:endParaRPr lang="en-US" altLang="ko-KR" sz="700" dirty="0" smtClean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err="1" smtClean="0">
                <a:solidFill>
                  <a:srgbClr val="000000"/>
                </a:solidFill>
                <a:latin typeface="+mn-ea"/>
                <a:ea typeface="+mn-ea"/>
              </a:rPr>
              <a:t>엔티티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 관계도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76" name="Text Box 255"/>
          <p:cNvSpPr txBox="1">
            <a:spLocks noChangeArrowheads="1"/>
          </p:cNvSpPr>
          <p:nvPr/>
        </p:nvSpPr>
        <p:spPr bwMode="auto">
          <a:xfrm>
            <a:off x="6393160" y="5805264"/>
            <a:ext cx="998692" cy="23419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lIns="46282" tIns="0" rIns="36000" bIns="0">
            <a:spAutoFit/>
          </a:bodyPr>
          <a:lstStyle>
            <a:lvl1pPr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 시스템 </a:t>
            </a:r>
            <a:r>
              <a:rPr lang="ko-KR" altLang="en-US" sz="700" dirty="0" err="1" smtClean="0">
                <a:solidFill>
                  <a:srgbClr val="000000"/>
                </a:solidFill>
                <a:latin typeface="+mn-ea"/>
                <a:ea typeface="+mn-ea"/>
              </a:rPr>
              <a:t>구현물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사용자 지침서</a:t>
            </a:r>
            <a:r>
              <a:rPr lang="en-US" altLang="ko-KR" sz="700" dirty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사용자매뉴얼</a:t>
            </a: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)</a:t>
            </a: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err="1" smtClean="0">
                <a:solidFill>
                  <a:srgbClr val="000000"/>
                </a:solidFill>
                <a:latin typeface="+mn-ea"/>
                <a:ea typeface="+mn-ea"/>
              </a:rPr>
              <a:t>운용자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 지침서</a:t>
            </a: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(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사용자매뉴얼</a:t>
            </a:r>
            <a:r>
              <a:rPr lang="en-US" altLang="ko-KR" sz="700" dirty="0" smtClean="0">
                <a:solidFill>
                  <a:srgbClr val="000000"/>
                </a:solidFill>
                <a:latin typeface="+mn-ea"/>
                <a:ea typeface="+mn-ea"/>
              </a:rPr>
              <a:t>)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77" name="Text Box 255"/>
          <p:cNvSpPr txBox="1">
            <a:spLocks noChangeArrowheads="1"/>
          </p:cNvSpPr>
          <p:nvPr/>
        </p:nvSpPr>
        <p:spPr bwMode="auto">
          <a:xfrm>
            <a:off x="5189568" y="5498289"/>
            <a:ext cx="797458" cy="156131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lIns="46282" tIns="0" rIns="36000" bIns="0">
            <a:spAutoFit/>
          </a:bodyPr>
          <a:lstStyle>
            <a:lvl1pPr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시스템시험설계서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시스템시험결과보고서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78" name="Text Box 255"/>
          <p:cNvSpPr txBox="1">
            <a:spLocks noChangeArrowheads="1"/>
          </p:cNvSpPr>
          <p:nvPr/>
        </p:nvSpPr>
        <p:spPr bwMode="auto">
          <a:xfrm>
            <a:off x="7699020" y="5489550"/>
            <a:ext cx="729572" cy="23419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lIns="46282" tIns="0" rIns="36000" bIns="0">
            <a:spAutoFit/>
          </a:bodyPr>
          <a:lstStyle>
            <a:lvl1pPr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 회의록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프로젝트진척보고서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buFont typeface="Wingdings" pitchFamily="2" charset="2"/>
              <a:buChar char="§"/>
            </a:pPr>
            <a:r>
              <a:rPr lang="en-US" altLang="ko-KR" sz="7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프로젝트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현안목록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79" name="Text Box 255"/>
          <p:cNvSpPr txBox="1">
            <a:spLocks noChangeArrowheads="1"/>
          </p:cNvSpPr>
          <p:nvPr/>
        </p:nvSpPr>
        <p:spPr bwMode="auto">
          <a:xfrm>
            <a:off x="6404119" y="5612788"/>
            <a:ext cx="729572" cy="7806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lIns="46282" tIns="0" rIns="36000" bIns="0">
            <a:spAutoFit/>
          </a:bodyPr>
          <a:lstStyle>
            <a:lvl1pPr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78422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7842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buFont typeface="Wingdings" pitchFamily="2" charset="2"/>
              <a:buChar char="§"/>
            </a:pPr>
            <a:r>
              <a:rPr lang="ko-KR" altLang="en-US" sz="700" dirty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700" dirty="0" smtClean="0">
                <a:solidFill>
                  <a:srgbClr val="000000"/>
                </a:solidFill>
                <a:latin typeface="+mn-ea"/>
                <a:ea typeface="+mn-ea"/>
              </a:rPr>
              <a:t>프로젝트완료보고서</a:t>
            </a:r>
            <a:endParaRPr lang="en-US" altLang="ko-KR" sz="7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80" name="AutoShape 283"/>
          <p:cNvSpPr>
            <a:spLocks noChangeArrowheads="1"/>
          </p:cNvSpPr>
          <p:nvPr/>
        </p:nvSpPr>
        <p:spPr bwMode="auto">
          <a:xfrm>
            <a:off x="1856656" y="5392395"/>
            <a:ext cx="108898" cy="78267"/>
          </a:xfrm>
          <a:prstGeom prst="triangle">
            <a:avLst>
              <a:gd name="adj" fmla="val 48435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700">
              <a:latin typeface="+mn-ea"/>
              <a:ea typeface="+mn-ea"/>
            </a:endParaRPr>
          </a:p>
        </p:txBody>
      </p:sp>
      <p:sp>
        <p:nvSpPr>
          <p:cNvPr id="681" name="Rectangle 282"/>
          <p:cNvSpPr>
            <a:spLocks noChangeArrowheads="1"/>
          </p:cNvSpPr>
          <p:nvPr/>
        </p:nvSpPr>
        <p:spPr bwMode="auto">
          <a:xfrm>
            <a:off x="1962564" y="5498289"/>
            <a:ext cx="271545" cy="78066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lIns="0" tIns="0" rIns="0" bIns="0">
            <a:spAutoFit/>
          </a:bodyPr>
          <a:lstStyle>
            <a:lvl1pPr defTabSz="81597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1597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1597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1597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1597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700" b="1" dirty="0" smtClean="0">
                <a:latin typeface="+mn-ea"/>
                <a:ea typeface="+mn-ea"/>
              </a:rPr>
              <a:t>착수보고</a:t>
            </a:r>
            <a:endParaRPr lang="ko-KR" altLang="en-US" sz="700" b="1" dirty="0">
              <a:latin typeface="+mn-ea"/>
              <a:ea typeface="+mn-ea"/>
            </a:endParaRPr>
          </a:p>
        </p:txBody>
      </p:sp>
      <p:sp>
        <p:nvSpPr>
          <p:cNvPr id="682" name="AutoShape 283"/>
          <p:cNvSpPr>
            <a:spLocks noChangeArrowheads="1"/>
          </p:cNvSpPr>
          <p:nvPr/>
        </p:nvSpPr>
        <p:spPr bwMode="auto">
          <a:xfrm>
            <a:off x="6716310" y="5379149"/>
            <a:ext cx="108898" cy="78267"/>
          </a:xfrm>
          <a:prstGeom prst="triangle">
            <a:avLst>
              <a:gd name="adj" fmla="val 48435"/>
            </a:avLst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27952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700">
              <a:latin typeface="+mn-ea"/>
              <a:ea typeface="+mn-ea"/>
            </a:endParaRPr>
          </a:p>
        </p:txBody>
      </p:sp>
      <p:sp>
        <p:nvSpPr>
          <p:cNvPr id="683" name="Rectangle 282"/>
          <p:cNvSpPr>
            <a:spLocks noChangeArrowheads="1"/>
          </p:cNvSpPr>
          <p:nvPr/>
        </p:nvSpPr>
        <p:spPr bwMode="auto">
          <a:xfrm>
            <a:off x="6472442" y="5485043"/>
            <a:ext cx="271545" cy="780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defTabSz="81597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1597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1597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1597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15975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15975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700" b="1" dirty="0">
                <a:latin typeface="+mn-ea"/>
                <a:ea typeface="+mn-ea"/>
              </a:rPr>
              <a:t>완료보고</a:t>
            </a:r>
          </a:p>
        </p:txBody>
      </p:sp>
      <p:cxnSp>
        <p:nvCxnSpPr>
          <p:cNvPr id="684" name="AutoShape 348"/>
          <p:cNvCxnSpPr>
            <a:cxnSpLocks noChangeShapeType="1"/>
          </p:cNvCxnSpPr>
          <p:nvPr/>
        </p:nvCxnSpPr>
        <p:spPr bwMode="auto">
          <a:xfrm>
            <a:off x="1964859" y="5439938"/>
            <a:ext cx="4776558" cy="0"/>
          </a:xfrm>
          <a:prstGeom prst="straightConnector1">
            <a:avLst/>
          </a:prstGeom>
          <a:noFill/>
          <a:ln w="19050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685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664" y="5404963"/>
            <a:ext cx="76940" cy="7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6" name="Picture 352" descr="블릿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6735" y="5404963"/>
            <a:ext cx="76940" cy="711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7" name="Rectangle 55"/>
          <p:cNvSpPr>
            <a:spLocks noChangeArrowheads="1"/>
          </p:cNvSpPr>
          <p:nvPr/>
        </p:nvSpPr>
        <p:spPr bwMode="auto">
          <a:xfrm>
            <a:off x="3753551" y="5297811"/>
            <a:ext cx="945557" cy="947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lnSpc>
                <a:spcPts val="300"/>
              </a:lnSpc>
              <a:spcBef>
                <a:spcPct val="50000"/>
              </a:spcBef>
            </a:pPr>
            <a:endParaRPr lang="en-US" altLang="ko-KR" sz="700" dirty="0">
              <a:latin typeface="+mn-ea"/>
              <a:ea typeface="+mn-ea"/>
            </a:endParaRPr>
          </a:p>
          <a:p>
            <a:pPr eaLnBrk="1" hangingPunct="1">
              <a:lnSpc>
                <a:spcPts val="300"/>
              </a:lnSpc>
              <a:spcBef>
                <a:spcPct val="50000"/>
              </a:spcBef>
            </a:pPr>
            <a:r>
              <a:rPr lang="ko-KR" altLang="en-US" sz="700" dirty="0">
                <a:latin typeface="+mn-ea"/>
                <a:ea typeface="+mn-ea"/>
              </a:rPr>
              <a:t>업무별 수시 </a:t>
            </a:r>
            <a:r>
              <a:rPr lang="en-US" altLang="ko-KR" sz="700" dirty="0">
                <a:latin typeface="+mn-ea"/>
                <a:ea typeface="+mn-ea"/>
              </a:rPr>
              <a:t>/ </a:t>
            </a:r>
            <a:r>
              <a:rPr lang="ko-KR" altLang="en-US" sz="700" dirty="0">
                <a:latin typeface="+mn-ea"/>
                <a:ea typeface="+mn-ea"/>
              </a:rPr>
              <a:t>주간 </a:t>
            </a:r>
            <a:r>
              <a:rPr lang="en-US" altLang="ko-KR" sz="700" dirty="0">
                <a:latin typeface="+mn-ea"/>
                <a:ea typeface="+mn-ea"/>
              </a:rPr>
              <a:t>/ </a:t>
            </a:r>
            <a:r>
              <a:rPr lang="ko-KR" altLang="en-US" sz="700" dirty="0">
                <a:latin typeface="+mn-ea"/>
                <a:ea typeface="+mn-ea"/>
              </a:rPr>
              <a:t>월간 보고</a:t>
            </a:r>
            <a:endParaRPr lang="ko-KR" altLang="ko-KR" sz="700" dirty="0">
              <a:latin typeface="+mn-ea"/>
              <a:ea typeface="+mn-ea"/>
            </a:endParaRPr>
          </a:p>
        </p:txBody>
      </p:sp>
      <p:pic>
        <p:nvPicPr>
          <p:cNvPr id="688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556" y="263499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9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1742" y="263499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0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0386" y="263499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1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7246" y="263499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02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6782" y="4843753"/>
            <a:ext cx="66412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1" name="Picture 352" descr="블릿"/>
          <p:cNvPicPr>
            <a:picLocks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65" y="1969790"/>
            <a:ext cx="68062" cy="663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2" name="오른쪽 대괄호 731"/>
          <p:cNvSpPr/>
          <p:nvPr/>
        </p:nvSpPr>
        <p:spPr bwMode="auto">
          <a:xfrm rot="16200000">
            <a:off x="4273357" y="282485"/>
            <a:ext cx="101244" cy="3274267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fontScale="62500" lnSpcReduction="20000"/>
          </a:bodyPr>
          <a:lstStyle/>
          <a:p>
            <a:pPr algn="ctr" defTabSz="846138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3" name="Rectangle 55"/>
          <p:cNvSpPr>
            <a:spLocks noChangeArrowheads="1"/>
          </p:cNvSpPr>
          <p:nvPr/>
        </p:nvSpPr>
        <p:spPr bwMode="auto">
          <a:xfrm>
            <a:off x="3630191" y="1881118"/>
            <a:ext cx="602729" cy="107722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smtClean="0">
                <a:latin typeface="+mn-ea"/>
                <a:ea typeface="+mn-ea"/>
              </a:rPr>
              <a:t>표준 이행 지원</a:t>
            </a:r>
            <a:endParaRPr lang="ko-KR" altLang="ko-KR" sz="700" kern="0" dirty="0" smtClean="0">
              <a:latin typeface="+mn-ea"/>
              <a:ea typeface="+mn-ea"/>
            </a:endParaRPr>
          </a:p>
        </p:txBody>
      </p:sp>
      <p:pic>
        <p:nvPicPr>
          <p:cNvPr id="734" name="Picture 352" descr="블릿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112" y="1969790"/>
            <a:ext cx="84637" cy="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5" name="오른쪽 대괄호 734"/>
          <p:cNvSpPr/>
          <p:nvPr/>
        </p:nvSpPr>
        <p:spPr bwMode="auto">
          <a:xfrm rot="16200000">
            <a:off x="6348357" y="1520982"/>
            <a:ext cx="120304" cy="813665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808080"/>
            </a:solidFill>
            <a:prstDash val="solid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fontScale="77500" lnSpcReduction="20000"/>
          </a:bodyPr>
          <a:lstStyle/>
          <a:p>
            <a:pPr algn="ctr" defTabSz="846138" eaLnBrk="1" fontAlgn="auto" latinLnBrk="1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6" name="Rectangle 55"/>
          <p:cNvSpPr>
            <a:spLocks noChangeArrowheads="1"/>
          </p:cNvSpPr>
          <p:nvPr/>
        </p:nvSpPr>
        <p:spPr bwMode="auto">
          <a:xfrm>
            <a:off x="6098274" y="1872889"/>
            <a:ext cx="602729" cy="107722"/>
          </a:xfrm>
          <a:prstGeom prst="rect">
            <a:avLst/>
          </a:prstGeom>
          <a:solidFill>
            <a:schemeClr val="bg1"/>
          </a:solidFill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1pPr>
            <a:lvl2pPr marL="742950" indent="-28575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2pPr>
            <a:lvl3pPr marL="1143000" indent="-22860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3pPr>
            <a:lvl4pPr marL="1600200" indent="-22860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4pPr>
            <a:lvl5pPr marL="2057400" indent="-228600" defTabSz="1509713" eaLnBrk="0" hangingPunct="0"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5pPr>
            <a:lvl6pPr marL="25146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6pPr>
            <a:lvl7pPr marL="29718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7pPr>
            <a:lvl8pPr marL="34290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8pPr>
            <a:lvl9pPr marL="3886200" indent="-228600" algn="ctr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</a:defRPr>
            </a:lvl9pPr>
          </a:lstStyle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smtClean="0">
                <a:latin typeface="+mn-ea"/>
                <a:ea typeface="+mn-ea"/>
              </a:rPr>
              <a:t>표준 이행 점검</a:t>
            </a:r>
            <a:endParaRPr lang="ko-KR" altLang="ko-KR" sz="700" kern="0" dirty="0" smtClean="0">
              <a:latin typeface="+mn-ea"/>
              <a:ea typeface="+mn-ea"/>
            </a:endParaRPr>
          </a:p>
        </p:txBody>
      </p:sp>
      <p:pic>
        <p:nvPicPr>
          <p:cNvPr id="737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6158" y="2627387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38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4808" y="2627387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39" name="오른쪽 대괄호 593"/>
          <p:cNvSpPr>
            <a:spLocks/>
          </p:cNvSpPr>
          <p:nvPr/>
        </p:nvSpPr>
        <p:spPr bwMode="auto">
          <a:xfrm rot="16200000">
            <a:off x="3108761" y="2492127"/>
            <a:ext cx="140881" cy="178404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pic>
        <p:nvPicPr>
          <p:cNvPr id="740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941" y="263738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1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4093" y="2634288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2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091" y="2627387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3" name="오른쪽 대괄호 742"/>
          <p:cNvSpPr/>
          <p:nvPr/>
        </p:nvSpPr>
        <p:spPr bwMode="auto">
          <a:xfrm rot="16200000" flipH="1">
            <a:off x="4886410" y="2569012"/>
            <a:ext cx="135822" cy="358489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0000CC"/>
            </a:solidFill>
            <a:prstDash val="dash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lnSpcReduction="100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744" name="오른쪽 대괄호 743"/>
          <p:cNvSpPr/>
          <p:nvPr/>
        </p:nvSpPr>
        <p:spPr bwMode="auto">
          <a:xfrm rot="16200000" flipH="1">
            <a:off x="5300958" y="2569012"/>
            <a:ext cx="135822" cy="358489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0000CC"/>
            </a:solidFill>
            <a:prstDash val="dash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lnSpcReduction="100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745" name="오른쪽 대괄호 744"/>
          <p:cNvSpPr/>
          <p:nvPr/>
        </p:nvSpPr>
        <p:spPr bwMode="auto">
          <a:xfrm rot="16200000" flipH="1">
            <a:off x="5713956" y="2569012"/>
            <a:ext cx="135822" cy="358489"/>
          </a:xfrm>
          <a:prstGeom prst="rightBracket">
            <a:avLst>
              <a:gd name="adj" fmla="val 46740"/>
            </a:avLst>
          </a:prstGeom>
          <a:noFill/>
          <a:ln w="3175" cap="flat" cmpd="sng" algn="ctr">
            <a:solidFill>
              <a:srgbClr val="0000CC"/>
            </a:solidFill>
            <a:prstDash val="dash"/>
            <a:round/>
            <a:headEnd type="none" w="med" len="med"/>
            <a:tailEnd type="triangle" w="sm" len="sm"/>
          </a:ln>
          <a:effectLst/>
        </p:spPr>
        <p:txBody>
          <a:bodyPr vert="eaVert" lIns="0" tIns="0" rIns="0" bIns="0" anchor="ctr" anchorCtr="1">
            <a:normAutofit lnSpcReduction="10000"/>
          </a:bodyPr>
          <a:lstStyle/>
          <a:p>
            <a:pPr defTabSz="846138">
              <a:defRPr/>
            </a:pPr>
            <a:endParaRPr lang="ko-KR" altLang="en-US" sz="700" dirty="0">
              <a:latin typeface="+mn-ea"/>
            </a:endParaRPr>
          </a:p>
        </p:txBody>
      </p:sp>
      <p:sp>
        <p:nvSpPr>
          <p:cNvPr id="746" name="오른쪽 대괄호 593"/>
          <p:cNvSpPr>
            <a:spLocks/>
          </p:cNvSpPr>
          <p:nvPr/>
        </p:nvSpPr>
        <p:spPr bwMode="auto">
          <a:xfrm rot="16200000">
            <a:off x="6148732" y="2373093"/>
            <a:ext cx="130421" cy="399745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747" name="오른쪽 대괄호 593"/>
          <p:cNvSpPr>
            <a:spLocks/>
          </p:cNvSpPr>
          <p:nvPr/>
        </p:nvSpPr>
        <p:spPr bwMode="auto">
          <a:xfrm rot="16200000">
            <a:off x="6550600" y="2377162"/>
            <a:ext cx="130421" cy="399745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748" name="Rectangle 55"/>
          <p:cNvSpPr>
            <a:spLocks noChangeArrowheads="1"/>
          </p:cNvSpPr>
          <p:nvPr/>
        </p:nvSpPr>
        <p:spPr bwMode="auto">
          <a:xfrm>
            <a:off x="6065844" y="2363738"/>
            <a:ext cx="269304" cy="26930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 통합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749" name="Rectangle 55"/>
          <p:cNvSpPr>
            <a:spLocks noChangeArrowheads="1"/>
          </p:cNvSpPr>
          <p:nvPr/>
        </p:nvSpPr>
        <p:spPr bwMode="auto">
          <a:xfrm>
            <a:off x="6390769" y="2526804"/>
            <a:ext cx="426400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 교육</a:t>
            </a:r>
            <a:r>
              <a:rPr lang="en-US" altLang="ko-KR" sz="700" smtClean="0">
                <a:latin typeface="+mn-ea"/>
                <a:ea typeface="+mn-ea"/>
              </a:rPr>
              <a:t>/</a:t>
            </a:r>
            <a:r>
              <a:rPr lang="ko-KR" altLang="en-US" sz="700" smtClean="0">
                <a:latin typeface="+mn-ea"/>
                <a:ea typeface="+mn-ea"/>
              </a:rPr>
              <a:t>이관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750" name="오른쪽 대괄호 593"/>
          <p:cNvSpPr>
            <a:spLocks/>
          </p:cNvSpPr>
          <p:nvPr/>
        </p:nvSpPr>
        <p:spPr bwMode="auto">
          <a:xfrm rot="16200000">
            <a:off x="7181640" y="2202520"/>
            <a:ext cx="130421" cy="778990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751" name="Rectangle 55"/>
          <p:cNvSpPr>
            <a:spLocks noChangeArrowheads="1"/>
          </p:cNvSpPr>
          <p:nvPr/>
        </p:nvSpPr>
        <p:spPr bwMode="auto">
          <a:xfrm>
            <a:off x="7041232" y="2536329"/>
            <a:ext cx="391134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 운영지원</a:t>
            </a:r>
            <a:endParaRPr lang="en-US" altLang="ko-KR" sz="700" dirty="0">
              <a:latin typeface="+mn-ea"/>
              <a:ea typeface="+mn-ea"/>
            </a:endParaRPr>
          </a:p>
        </p:txBody>
      </p:sp>
      <p:cxnSp>
        <p:nvCxnSpPr>
          <p:cNvPr id="752" name="AutoShape 348"/>
          <p:cNvCxnSpPr>
            <a:cxnSpLocks noChangeShapeType="1"/>
          </p:cNvCxnSpPr>
          <p:nvPr/>
        </p:nvCxnSpPr>
        <p:spPr bwMode="auto">
          <a:xfrm>
            <a:off x="4304928" y="3749939"/>
            <a:ext cx="2205193" cy="0"/>
          </a:xfrm>
          <a:prstGeom prst="straightConnector1">
            <a:avLst/>
          </a:prstGeom>
          <a:noFill/>
          <a:ln w="28575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53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1071" y="3714339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4" name="오른쪽 대괄호 647"/>
          <p:cNvSpPr>
            <a:spLocks/>
          </p:cNvSpPr>
          <p:nvPr/>
        </p:nvSpPr>
        <p:spPr bwMode="auto">
          <a:xfrm rot="16200000">
            <a:off x="5517781" y="3210351"/>
            <a:ext cx="128074" cy="866237"/>
          </a:xfrm>
          <a:prstGeom prst="rightBracket">
            <a:avLst>
              <a:gd name="adj" fmla="val 46831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>
              <a:latin typeface="+mn-ea"/>
              <a:ea typeface="+mn-ea"/>
            </a:endParaRPr>
          </a:p>
        </p:txBody>
      </p:sp>
      <p:sp>
        <p:nvSpPr>
          <p:cNvPr id="755" name="Rectangle 55"/>
          <p:cNvSpPr>
            <a:spLocks noChangeArrowheads="1"/>
          </p:cNvSpPr>
          <p:nvPr/>
        </p:nvSpPr>
        <p:spPr bwMode="auto">
          <a:xfrm>
            <a:off x="5421715" y="3603356"/>
            <a:ext cx="408766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RPA  </a:t>
            </a:r>
            <a:r>
              <a:rPr lang="ko-KR" altLang="en-US" sz="700" smtClean="0">
                <a:latin typeface="+mn-ea"/>
                <a:ea typeface="+mn-ea"/>
              </a:rPr>
              <a:t>개발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756" name="오른쪽 대괄호 593"/>
          <p:cNvSpPr>
            <a:spLocks/>
          </p:cNvSpPr>
          <p:nvPr/>
        </p:nvSpPr>
        <p:spPr bwMode="auto">
          <a:xfrm rot="16200000">
            <a:off x="4460677" y="3425660"/>
            <a:ext cx="140881" cy="435594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757" name="Rectangle 55"/>
          <p:cNvSpPr>
            <a:spLocks noChangeArrowheads="1"/>
          </p:cNvSpPr>
          <p:nvPr/>
        </p:nvSpPr>
        <p:spPr bwMode="auto">
          <a:xfrm>
            <a:off x="4242445" y="3603356"/>
            <a:ext cx="583478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RPA </a:t>
            </a:r>
            <a:r>
              <a:rPr lang="ko-KR" altLang="en-US" sz="700" smtClean="0">
                <a:latin typeface="+mn-ea"/>
                <a:ea typeface="+mn-ea"/>
              </a:rPr>
              <a:t>발주</a:t>
            </a:r>
            <a:endParaRPr lang="ko-KR" altLang="ko-KR" sz="700" dirty="0">
              <a:latin typeface="+mn-ea"/>
              <a:ea typeface="+mn-ea"/>
            </a:endParaRPr>
          </a:p>
        </p:txBody>
      </p:sp>
      <p:cxnSp>
        <p:nvCxnSpPr>
          <p:cNvPr id="758" name="AutoShape 348"/>
          <p:cNvCxnSpPr>
            <a:cxnSpLocks noChangeShapeType="1"/>
          </p:cNvCxnSpPr>
          <p:nvPr/>
        </p:nvCxnSpPr>
        <p:spPr bwMode="auto">
          <a:xfrm>
            <a:off x="6472021" y="3749939"/>
            <a:ext cx="1171224" cy="10962"/>
          </a:xfrm>
          <a:prstGeom prst="straightConnector1">
            <a:avLst/>
          </a:prstGeom>
          <a:noFill/>
          <a:ln w="28575">
            <a:solidFill>
              <a:srgbClr val="4D4D4D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59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1731" y="3714339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0" name="Picture 352" descr="블릿"/>
          <p:cNvPicPr>
            <a:picLocks noChangeAspect="1" noChangeArrowheads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9630901" y="3759489"/>
            <a:ext cx="2619" cy="28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1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925" y="3714339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2" name="Picture 352" descr="블릿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112" y="3714339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5" name="오른쪽 대괄호 593"/>
          <p:cNvSpPr>
            <a:spLocks/>
          </p:cNvSpPr>
          <p:nvPr/>
        </p:nvSpPr>
        <p:spPr bwMode="auto">
          <a:xfrm rot="16200000">
            <a:off x="4883717" y="3447870"/>
            <a:ext cx="128074" cy="391175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766" name="Rectangle 55"/>
          <p:cNvSpPr>
            <a:spLocks noChangeArrowheads="1"/>
          </p:cNvSpPr>
          <p:nvPr/>
        </p:nvSpPr>
        <p:spPr bwMode="auto">
          <a:xfrm>
            <a:off x="4761691" y="3605140"/>
            <a:ext cx="376706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RPA </a:t>
            </a:r>
            <a:r>
              <a:rPr lang="ko-KR" altLang="en-US" sz="700" smtClean="0">
                <a:latin typeface="+mn-ea"/>
                <a:ea typeface="+mn-ea"/>
              </a:rPr>
              <a:t>설계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767" name="오른쪽 대괄호 593"/>
          <p:cNvSpPr>
            <a:spLocks/>
          </p:cNvSpPr>
          <p:nvPr/>
        </p:nvSpPr>
        <p:spPr bwMode="auto">
          <a:xfrm rot="16200000">
            <a:off x="6148732" y="3451949"/>
            <a:ext cx="130421" cy="399745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pic>
        <p:nvPicPr>
          <p:cNvPr id="768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110" y="3718600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1" name="Rectangle 55"/>
          <p:cNvSpPr>
            <a:spLocks noChangeArrowheads="1"/>
          </p:cNvSpPr>
          <p:nvPr/>
        </p:nvSpPr>
        <p:spPr bwMode="auto">
          <a:xfrm>
            <a:off x="6099835" y="3599785"/>
            <a:ext cx="269304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ko-KR" altLang="ko-KR" sz="700" dirty="0">
              <a:latin typeface="+mn-ea"/>
              <a:ea typeface="+mn-ea"/>
            </a:endParaRPr>
          </a:p>
        </p:txBody>
      </p:sp>
      <p:cxnSp>
        <p:nvCxnSpPr>
          <p:cNvPr id="772" name="AutoShape 348"/>
          <p:cNvCxnSpPr>
            <a:cxnSpLocks noChangeShapeType="1"/>
          </p:cNvCxnSpPr>
          <p:nvPr/>
        </p:nvCxnSpPr>
        <p:spPr bwMode="auto">
          <a:xfrm>
            <a:off x="3496462" y="3317891"/>
            <a:ext cx="2205193" cy="0"/>
          </a:xfrm>
          <a:prstGeom prst="straightConnector1">
            <a:avLst/>
          </a:prstGeom>
          <a:noFill/>
          <a:ln w="28575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73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9458" y="3282291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4" name="오른쪽 대괄호 647"/>
          <p:cNvSpPr>
            <a:spLocks/>
          </p:cNvSpPr>
          <p:nvPr/>
        </p:nvSpPr>
        <p:spPr bwMode="auto">
          <a:xfrm rot="16200000">
            <a:off x="4687593" y="2817677"/>
            <a:ext cx="128074" cy="787488"/>
          </a:xfrm>
          <a:prstGeom prst="rightBracket">
            <a:avLst>
              <a:gd name="adj" fmla="val 46831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>
              <a:latin typeface="+mn-ea"/>
              <a:ea typeface="+mn-ea"/>
            </a:endParaRPr>
          </a:p>
        </p:txBody>
      </p:sp>
      <p:sp>
        <p:nvSpPr>
          <p:cNvPr id="775" name="Rectangle 55"/>
          <p:cNvSpPr>
            <a:spLocks noChangeArrowheads="1"/>
          </p:cNvSpPr>
          <p:nvPr/>
        </p:nvSpPr>
        <p:spPr bwMode="auto">
          <a:xfrm>
            <a:off x="4520952" y="3171308"/>
            <a:ext cx="570669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전자증빙 개발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776" name="오른쪽 대괄호 593"/>
          <p:cNvSpPr>
            <a:spLocks/>
          </p:cNvSpPr>
          <p:nvPr/>
        </p:nvSpPr>
        <p:spPr bwMode="auto">
          <a:xfrm rot="16200000">
            <a:off x="3659064" y="2993612"/>
            <a:ext cx="140881" cy="435594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777" name="Rectangle 55"/>
          <p:cNvSpPr>
            <a:spLocks noChangeArrowheads="1"/>
          </p:cNvSpPr>
          <p:nvPr/>
        </p:nvSpPr>
        <p:spPr bwMode="auto">
          <a:xfrm>
            <a:off x="3450357" y="3040385"/>
            <a:ext cx="583478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squar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전자증빙 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발주</a:t>
            </a:r>
            <a:endParaRPr lang="ko-KR" altLang="ko-KR" sz="700" dirty="0">
              <a:latin typeface="+mn-ea"/>
              <a:ea typeface="+mn-ea"/>
            </a:endParaRPr>
          </a:p>
        </p:txBody>
      </p:sp>
      <p:cxnSp>
        <p:nvCxnSpPr>
          <p:cNvPr id="778" name="AutoShape 348"/>
          <p:cNvCxnSpPr>
            <a:cxnSpLocks noChangeShapeType="1"/>
          </p:cNvCxnSpPr>
          <p:nvPr/>
        </p:nvCxnSpPr>
        <p:spPr bwMode="auto">
          <a:xfrm>
            <a:off x="5663555" y="3317891"/>
            <a:ext cx="1171224" cy="10962"/>
          </a:xfrm>
          <a:prstGeom prst="straightConnector1">
            <a:avLst/>
          </a:prstGeom>
          <a:noFill/>
          <a:ln w="28575">
            <a:solidFill>
              <a:srgbClr val="4D4D4D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779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0118" y="3282291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1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9312" y="3282291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3" name="오른쪽 대괄호 593"/>
          <p:cNvSpPr>
            <a:spLocks/>
          </p:cNvSpPr>
          <p:nvPr/>
        </p:nvSpPr>
        <p:spPr bwMode="auto">
          <a:xfrm rot="16200000">
            <a:off x="4082104" y="3015822"/>
            <a:ext cx="128074" cy="391175"/>
          </a:xfrm>
          <a:prstGeom prst="rightBracket">
            <a:avLst>
              <a:gd name="adj" fmla="val 23474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784" name="Rectangle 55"/>
          <p:cNvSpPr>
            <a:spLocks noChangeArrowheads="1"/>
          </p:cNvSpPr>
          <p:nvPr/>
        </p:nvSpPr>
        <p:spPr bwMode="auto">
          <a:xfrm>
            <a:off x="4008338" y="3025527"/>
            <a:ext cx="359073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전자증빙</a:t>
            </a:r>
            <a:endParaRPr lang="en-US" altLang="ko-KR" sz="700" smtClean="0">
              <a:latin typeface="+mn-ea"/>
              <a:ea typeface="+mn-ea"/>
            </a:endParaRPr>
          </a:p>
          <a:p>
            <a:pPr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 </a:t>
            </a:r>
            <a:r>
              <a:rPr lang="ko-KR" altLang="en-US" sz="700" smtClean="0">
                <a:latin typeface="+mn-ea"/>
                <a:ea typeface="+mn-ea"/>
              </a:rPr>
              <a:t>설계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785" name="오른쪽 대괄호 593"/>
          <p:cNvSpPr>
            <a:spLocks/>
          </p:cNvSpPr>
          <p:nvPr/>
        </p:nvSpPr>
        <p:spPr bwMode="auto">
          <a:xfrm rot="16200000">
            <a:off x="5328069" y="3019901"/>
            <a:ext cx="130421" cy="399745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pic>
        <p:nvPicPr>
          <p:cNvPr id="786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2497" y="3286552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87" name="Rectangle 55"/>
          <p:cNvSpPr>
            <a:spLocks noChangeArrowheads="1"/>
          </p:cNvSpPr>
          <p:nvPr/>
        </p:nvSpPr>
        <p:spPr bwMode="auto">
          <a:xfrm>
            <a:off x="5241032" y="3167737"/>
            <a:ext cx="269304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ko-KR" altLang="ko-KR" sz="700" dirty="0">
              <a:latin typeface="+mn-ea"/>
              <a:ea typeface="+mn-ea"/>
            </a:endParaRPr>
          </a:p>
        </p:txBody>
      </p:sp>
      <p:pic>
        <p:nvPicPr>
          <p:cNvPr id="789" name="Picture 352" descr="블릿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7059" y="3284984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90" name="Picture 352" descr="블릿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9459" y="3284984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91" name="오른쪽 대괄호 593"/>
          <p:cNvSpPr>
            <a:spLocks/>
          </p:cNvSpPr>
          <p:nvPr/>
        </p:nvSpPr>
        <p:spPr bwMode="auto">
          <a:xfrm rot="16200000">
            <a:off x="6008194" y="3184945"/>
            <a:ext cx="130422" cy="186485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792" name="Rectangle 55"/>
          <p:cNvSpPr>
            <a:spLocks noChangeArrowheads="1"/>
          </p:cNvSpPr>
          <p:nvPr/>
        </p:nvSpPr>
        <p:spPr bwMode="auto">
          <a:xfrm>
            <a:off x="6051848" y="3025205"/>
            <a:ext cx="269304" cy="26930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 통합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en-US" altLang="ko-KR" sz="700" dirty="0">
              <a:latin typeface="+mn-ea"/>
              <a:ea typeface="+mn-ea"/>
            </a:endParaRPr>
          </a:p>
        </p:txBody>
      </p:sp>
      <p:pic>
        <p:nvPicPr>
          <p:cNvPr id="793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0449" y="328498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794" name="AutoShape 348"/>
          <p:cNvCxnSpPr>
            <a:cxnSpLocks noChangeShapeType="1"/>
          </p:cNvCxnSpPr>
          <p:nvPr/>
        </p:nvCxnSpPr>
        <p:spPr bwMode="auto">
          <a:xfrm>
            <a:off x="5158155" y="3533915"/>
            <a:ext cx="1244775" cy="0"/>
          </a:xfrm>
          <a:prstGeom prst="straightConnector1">
            <a:avLst/>
          </a:prstGeom>
          <a:noFill/>
          <a:ln w="28575">
            <a:solidFill>
              <a:srgbClr val="4D4D4D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96" name="오른쪽 대괄호 647"/>
          <p:cNvSpPr>
            <a:spLocks/>
          </p:cNvSpPr>
          <p:nvPr/>
        </p:nvSpPr>
        <p:spPr bwMode="auto">
          <a:xfrm rot="16200000">
            <a:off x="5504809" y="3033701"/>
            <a:ext cx="128074" cy="787488"/>
          </a:xfrm>
          <a:prstGeom prst="rightBracket">
            <a:avLst>
              <a:gd name="adj" fmla="val 46831"/>
            </a:avLst>
          </a:prstGeom>
          <a:solidFill>
            <a:schemeClr val="bg1"/>
          </a:solidFill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>
              <a:latin typeface="+mn-ea"/>
              <a:ea typeface="+mn-ea"/>
            </a:endParaRPr>
          </a:p>
        </p:txBody>
      </p:sp>
      <p:sp>
        <p:nvSpPr>
          <p:cNvPr id="797" name="Rectangle 55"/>
          <p:cNvSpPr>
            <a:spLocks noChangeArrowheads="1"/>
          </p:cNvSpPr>
          <p:nvPr/>
        </p:nvSpPr>
        <p:spPr bwMode="auto">
          <a:xfrm>
            <a:off x="5241032" y="3387332"/>
            <a:ext cx="660437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계산서발행 연계</a:t>
            </a:r>
            <a:endParaRPr lang="ko-KR" altLang="ko-KR" sz="700" dirty="0">
              <a:latin typeface="+mn-ea"/>
              <a:ea typeface="+mn-ea"/>
            </a:endParaRPr>
          </a:p>
        </p:txBody>
      </p:sp>
      <p:cxnSp>
        <p:nvCxnSpPr>
          <p:cNvPr id="800" name="AutoShape 348"/>
          <p:cNvCxnSpPr>
            <a:cxnSpLocks noChangeShapeType="1"/>
          </p:cNvCxnSpPr>
          <p:nvPr/>
        </p:nvCxnSpPr>
        <p:spPr bwMode="auto">
          <a:xfrm>
            <a:off x="6414701" y="3533915"/>
            <a:ext cx="410507" cy="10962"/>
          </a:xfrm>
          <a:prstGeom prst="straightConnector1">
            <a:avLst/>
          </a:prstGeom>
          <a:noFill/>
          <a:ln w="28575">
            <a:solidFill>
              <a:srgbClr val="4D4D4D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801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7334" y="3498315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6" name="오른쪽 대괄호 593"/>
          <p:cNvSpPr>
            <a:spLocks/>
          </p:cNvSpPr>
          <p:nvPr/>
        </p:nvSpPr>
        <p:spPr bwMode="auto">
          <a:xfrm rot="16200000">
            <a:off x="6145285" y="3235925"/>
            <a:ext cx="130421" cy="399745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pic>
        <p:nvPicPr>
          <p:cNvPr id="807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9713" y="3502576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08" name="Rectangle 55"/>
          <p:cNvSpPr>
            <a:spLocks noChangeArrowheads="1"/>
          </p:cNvSpPr>
          <p:nvPr/>
        </p:nvSpPr>
        <p:spPr bwMode="auto">
          <a:xfrm>
            <a:off x="6058248" y="3383761"/>
            <a:ext cx="269304" cy="107722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ko-KR" altLang="ko-KR" sz="700" dirty="0">
              <a:latin typeface="+mn-ea"/>
              <a:ea typeface="+mn-ea"/>
            </a:endParaRPr>
          </a:p>
        </p:txBody>
      </p:sp>
      <p:sp>
        <p:nvSpPr>
          <p:cNvPr id="812" name="Rectangle 55"/>
          <p:cNvSpPr>
            <a:spLocks noChangeArrowheads="1"/>
          </p:cNvSpPr>
          <p:nvPr/>
        </p:nvSpPr>
        <p:spPr bwMode="auto">
          <a:xfrm>
            <a:off x="6869064" y="3241229"/>
            <a:ext cx="269304" cy="26930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 통합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ct val="50000"/>
              </a:spcBef>
            </a:pPr>
            <a:r>
              <a:rPr lang="ko-KR" altLang="en-US" sz="700" smtClean="0">
                <a:latin typeface="+mn-ea"/>
                <a:ea typeface="+mn-ea"/>
              </a:rPr>
              <a:t>테스트</a:t>
            </a:r>
            <a:endParaRPr lang="en-US" altLang="ko-KR" sz="700" dirty="0">
              <a:latin typeface="+mn-ea"/>
              <a:ea typeface="+mn-ea"/>
            </a:endParaRPr>
          </a:p>
        </p:txBody>
      </p:sp>
      <p:pic>
        <p:nvPicPr>
          <p:cNvPr id="813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7665" y="3501008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4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064" y="4006632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5" name="Picture 352" descr="블릿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112" y="3987513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6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4110" y="399177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7" name="Picture 352" descr="블릿"/>
          <p:cNvPicPr>
            <a:picLocks noChangeAspect="1" noChangeArrowheads="1"/>
          </p:cNvPicPr>
          <p:nvPr/>
        </p:nvPicPr>
        <p:blipFill>
          <a:blip r:embed="rId3" cstate="print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55196" y="3995539"/>
            <a:ext cx="66061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8" name="Rectangle 55"/>
          <p:cNvSpPr>
            <a:spLocks noChangeArrowheads="1"/>
          </p:cNvSpPr>
          <p:nvPr/>
        </p:nvSpPr>
        <p:spPr bwMode="auto">
          <a:xfrm>
            <a:off x="5710535" y="3789040"/>
            <a:ext cx="538609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2</a:t>
            </a:r>
            <a:r>
              <a:rPr lang="ko-KR" altLang="en-US" sz="700" smtClean="0">
                <a:latin typeface="+mn-ea"/>
                <a:ea typeface="+mn-ea"/>
              </a:rPr>
              <a:t>차 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마이그레이션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819" name="오른쪽 대괄호 593"/>
          <p:cNvSpPr>
            <a:spLocks/>
          </p:cNvSpPr>
          <p:nvPr/>
        </p:nvSpPr>
        <p:spPr bwMode="auto">
          <a:xfrm rot="16200000">
            <a:off x="5881438" y="3901007"/>
            <a:ext cx="130421" cy="115793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sp>
        <p:nvSpPr>
          <p:cNvPr id="820" name="Rectangle 55"/>
          <p:cNvSpPr>
            <a:spLocks noChangeArrowheads="1"/>
          </p:cNvSpPr>
          <p:nvPr/>
        </p:nvSpPr>
        <p:spPr bwMode="auto">
          <a:xfrm>
            <a:off x="6537176" y="3822948"/>
            <a:ext cx="538609" cy="215444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>
            <a:spAutoFit/>
          </a:bodyPr>
          <a:lstStyle>
            <a:lvl1pPr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1509713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1509713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ts val="0"/>
              </a:spcBef>
            </a:pPr>
            <a:r>
              <a:rPr lang="en-US" altLang="ko-KR" sz="700" smtClean="0">
                <a:latin typeface="+mn-ea"/>
                <a:ea typeface="+mn-ea"/>
              </a:rPr>
              <a:t>3</a:t>
            </a:r>
            <a:r>
              <a:rPr lang="ko-KR" altLang="en-US" sz="700" smtClean="0">
                <a:latin typeface="+mn-ea"/>
                <a:ea typeface="+mn-ea"/>
              </a:rPr>
              <a:t>차 </a:t>
            </a:r>
            <a:endParaRPr lang="en-US" altLang="ko-KR" sz="700" smtClean="0">
              <a:latin typeface="+mn-ea"/>
              <a:ea typeface="+mn-ea"/>
            </a:endParaRPr>
          </a:p>
          <a:p>
            <a:pPr algn="ctr" eaLnBrk="1" hangingPunct="1">
              <a:spcBef>
                <a:spcPts val="0"/>
              </a:spcBef>
            </a:pPr>
            <a:r>
              <a:rPr lang="ko-KR" altLang="en-US" sz="700" smtClean="0">
                <a:latin typeface="+mn-ea"/>
                <a:ea typeface="+mn-ea"/>
              </a:rPr>
              <a:t>마이그레이션</a:t>
            </a:r>
            <a:endParaRPr lang="en-US" altLang="ko-KR" sz="700" dirty="0">
              <a:latin typeface="+mn-ea"/>
              <a:ea typeface="+mn-ea"/>
            </a:endParaRPr>
          </a:p>
        </p:txBody>
      </p:sp>
      <p:sp>
        <p:nvSpPr>
          <p:cNvPr id="821" name="오른쪽 대괄호 593"/>
          <p:cNvSpPr>
            <a:spLocks/>
          </p:cNvSpPr>
          <p:nvPr/>
        </p:nvSpPr>
        <p:spPr bwMode="auto">
          <a:xfrm rot="16200000">
            <a:off x="6708079" y="3934915"/>
            <a:ext cx="130421" cy="115793"/>
          </a:xfrm>
          <a:prstGeom prst="rightBracket">
            <a:avLst>
              <a:gd name="adj" fmla="val 23474"/>
            </a:avLst>
          </a:prstGeom>
          <a:noFill/>
          <a:ln w="3175" algn="ctr">
            <a:solidFill>
              <a:srgbClr val="808080"/>
            </a:solidFill>
            <a:round/>
            <a:headEnd/>
            <a:tailEnd type="triangle" w="sm" len="sm"/>
          </a:ln>
        </p:spPr>
        <p:txBody>
          <a:bodyPr vert="eaVert" lIns="0" tIns="0" rIns="0" bIns="0" anchor="ctr" anchorCtr="1"/>
          <a:lstStyle>
            <a:lvl1pPr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1pPr>
            <a:lvl2pPr marL="742950" indent="-28575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2pPr>
            <a:lvl3pPr marL="11430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3pPr>
            <a:lvl4pPr marL="16002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4pPr>
            <a:lvl5pPr marL="2057400" indent="-228600" defTabSz="846138"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5pPr>
            <a:lvl6pPr marL="25146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6pPr>
            <a:lvl7pPr marL="29718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7pPr>
            <a:lvl8pPr marL="34290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8pPr>
            <a:lvl9pPr marL="3886200" indent="-228600" defTabSz="846138" eaLnBrk="0" fontAlgn="base" hangingPunct="0">
              <a:spcBef>
                <a:spcPct val="0"/>
              </a:spcBef>
              <a:spcAft>
                <a:spcPct val="0"/>
              </a:spcAft>
              <a:defRPr kumimoji="1" sz="25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</a:defRPr>
            </a:lvl9pPr>
          </a:lstStyle>
          <a:p>
            <a:pPr eaLnBrk="1" hangingPunct="1"/>
            <a:endParaRPr lang="ko-KR" altLang="en-US" sz="600" dirty="0">
              <a:latin typeface="+mn-ea"/>
              <a:ea typeface="+mn-ea"/>
            </a:endParaRPr>
          </a:p>
        </p:txBody>
      </p:sp>
      <p:pic>
        <p:nvPicPr>
          <p:cNvPr id="822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9694" y="400506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3" name="Picture 352" descr="블릿"/>
          <p:cNvPicPr preferRelativeResize="0">
            <a:picLocks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2250" y="4005064"/>
            <a:ext cx="73506" cy="70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24" name="Picture 352" descr="블릿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1300" y="4841393"/>
            <a:ext cx="66412" cy="7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0076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50000"/>
              </a:lnSpc>
              <a:buAutoNum type="arabicPeriod"/>
            </a:pPr>
            <a:r>
              <a:rPr lang="ko-KR" altLang="en-US" smtClean="0">
                <a:solidFill>
                  <a:schemeClr val="bg1">
                    <a:lumMod val="65000"/>
                  </a:schemeClr>
                </a:solidFill>
              </a:rPr>
              <a:t>추진 </a:t>
            </a:r>
            <a:r>
              <a:rPr lang="ko-KR" altLang="en-US" dirty="0">
                <a:solidFill>
                  <a:schemeClr val="bg1">
                    <a:lumMod val="65000"/>
                  </a:schemeClr>
                </a:solidFill>
              </a:rPr>
              <a:t>계획 수립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150000"/>
              </a:lnSpc>
              <a:buAutoNum type="arabicPeriod"/>
            </a:pPr>
            <a:r>
              <a:rPr lang="ko-KR" altLang="en-US" smtClean="0"/>
              <a:t>목표시스템 구성도</a:t>
            </a:r>
            <a:r>
              <a:rPr lang="en-US" altLang="ko-KR">
                <a:solidFill>
                  <a:schemeClr val="bg1">
                    <a:lumMod val="65000"/>
                  </a:schemeClr>
                </a:solidFill>
              </a:rPr>
              <a:t/>
            </a:r>
            <a:br>
              <a:rPr lang="en-US" altLang="ko-KR">
                <a:solidFill>
                  <a:schemeClr val="bg1">
                    <a:lumMod val="65000"/>
                  </a:schemeClr>
                </a:solidFill>
              </a:rPr>
            </a:br>
            <a:r>
              <a:rPr lang="en-US" altLang="ko-KR" smtClean="0"/>
              <a:t>3.1 </a:t>
            </a:r>
            <a:r>
              <a:rPr lang="en-US" altLang="ko-KR"/>
              <a:t>ERP </a:t>
            </a:r>
            <a:r>
              <a:rPr lang="ko-KR" altLang="en-US"/>
              <a:t>업무</a:t>
            </a:r>
            <a:r>
              <a:rPr lang="en-US" altLang="ko-KR"/>
              <a:t> </a:t>
            </a:r>
            <a:r>
              <a:rPr lang="ko-KR" altLang="en-US"/>
              <a:t>구성도</a:t>
            </a:r>
            <a:r>
              <a:rPr lang="en-US" altLang="ko-KR"/>
              <a:t> </a:t>
            </a:r>
            <a:r>
              <a:rPr lang="en-US" altLang="ko-KR">
                <a:solidFill>
                  <a:schemeClr val="bg1">
                    <a:lumMod val="65000"/>
                  </a:schemeClr>
                </a:solidFill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mtClean="0"/>
              <a:t>     3.2 </a:t>
            </a:r>
            <a:r>
              <a:rPr lang="en-US" altLang="ko-KR"/>
              <a:t>ERP </a:t>
            </a:r>
            <a:r>
              <a:rPr lang="ko-KR" altLang="en-US" smtClean="0"/>
              <a:t>서비스</a:t>
            </a:r>
            <a:r>
              <a:rPr lang="en-US" altLang="ko-KR" smtClean="0"/>
              <a:t>  </a:t>
            </a:r>
            <a:r>
              <a:rPr lang="ko-KR" altLang="en-US" smtClean="0"/>
              <a:t>구성도</a:t>
            </a:r>
            <a:endParaRPr lang="en-US" altLang="ko-KR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77000" y="1675837"/>
            <a:ext cx="2484276" cy="276999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lvl="0" algn="ctr">
              <a:lnSpc>
                <a:spcPct val="150000"/>
              </a:lnSpc>
              <a:spcBef>
                <a:spcPct val="20000"/>
              </a:spcBef>
            </a:pPr>
            <a:r>
              <a:rPr lang="en-US" altLang="ko-KR" sz="2400" b="1" spc="-300" smtClean="0">
                <a:solidFill>
                  <a:srgbClr val="00437A"/>
                </a:solidFill>
              </a:rPr>
              <a:t>Ⅳ. </a:t>
            </a:r>
            <a:r>
              <a:rPr lang="ko-KR" altLang="en-US" sz="2400" b="1" spc="-300" smtClean="0">
                <a:solidFill>
                  <a:srgbClr val="00437A"/>
                </a:solidFill>
              </a:rPr>
              <a:t>이행계획 수립</a:t>
            </a:r>
            <a:endParaRPr lang="en-US" altLang="ko-KR" sz="2400" b="1" spc="-300" dirty="0">
              <a:solidFill>
                <a:srgbClr val="00437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988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3</a:t>
            </a:r>
            <a:r>
              <a:rPr lang="en-US" altLang="ko-KR"/>
              <a:t>. </a:t>
            </a:r>
            <a:r>
              <a:rPr lang="ko-KR" altLang="en-US" smtClean="0"/>
              <a:t>목표시스템 구성도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3.1 ERP </a:t>
            </a:r>
            <a:r>
              <a:rPr lang="ko-KR" altLang="en-US" smtClean="0"/>
              <a:t>업무 구성도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Ⅳ. </a:t>
            </a:r>
            <a:r>
              <a:rPr lang="ko-KR" altLang="en-US" smtClean="0"/>
              <a:t>이행계획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3. </a:t>
            </a:r>
            <a:r>
              <a:rPr lang="ko-KR" altLang="en-US" smtClean="0"/>
              <a:t>목표시스템 구성도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3.1 ERP </a:t>
            </a:r>
            <a:r>
              <a:rPr lang="ko-KR" altLang="en-US" smtClean="0"/>
              <a:t>업무 구성도</a:t>
            </a:r>
            <a:endParaRPr lang="en-US" altLang="ko-KR" dirty="0"/>
          </a:p>
        </p:txBody>
      </p:sp>
      <p:sp>
        <p:nvSpPr>
          <p:cNvPr id="8" name="AutoShape 15"/>
          <p:cNvSpPr>
            <a:spLocks noChangeArrowheads="1"/>
          </p:cNvSpPr>
          <p:nvPr/>
        </p:nvSpPr>
        <p:spPr bwMode="auto">
          <a:xfrm>
            <a:off x="273050" y="863467"/>
            <a:ext cx="7778627" cy="5444103"/>
          </a:xfrm>
          <a:prstGeom prst="roundRect">
            <a:avLst>
              <a:gd name="adj" fmla="val 1713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solidFill>
              <a:srgbClr val="A6D2EC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b="0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9" name="AutoShape 16"/>
          <p:cNvSpPr>
            <a:spLocks noChangeArrowheads="1"/>
          </p:cNvSpPr>
          <p:nvPr/>
        </p:nvSpPr>
        <p:spPr bwMode="auto">
          <a:xfrm>
            <a:off x="352424" y="1125847"/>
            <a:ext cx="7636717" cy="5120462"/>
          </a:xfrm>
          <a:prstGeom prst="roundRect">
            <a:avLst>
              <a:gd name="adj" fmla="val 1579"/>
            </a:avLst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28016" tIns="64008" rIns="128016" bIns="64008" anchor="ctr"/>
          <a:lstStyle/>
          <a:p>
            <a:pPr>
              <a:defRPr/>
            </a:pPr>
            <a:endParaRPr lang="ko-KR" altLang="ko-KR" sz="1600" dirty="0">
              <a:latin typeface="+mn-ea"/>
            </a:endParaRPr>
          </a:p>
        </p:txBody>
      </p:sp>
      <p:sp>
        <p:nvSpPr>
          <p:cNvPr id="10" name="Rectangle 88"/>
          <p:cNvSpPr>
            <a:spLocks noChangeArrowheads="1"/>
          </p:cNvSpPr>
          <p:nvPr/>
        </p:nvSpPr>
        <p:spPr bwMode="auto">
          <a:xfrm>
            <a:off x="549655" y="879649"/>
            <a:ext cx="7261495" cy="212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400" smtClean="0">
                <a:solidFill>
                  <a:schemeClr val="bg1"/>
                </a:solidFill>
                <a:latin typeface="+mn-ea"/>
              </a:rPr>
              <a:t>경영정보시스템</a:t>
            </a:r>
            <a:endParaRPr lang="ko-KR" altLang="en-US" sz="14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458856" y="1200507"/>
            <a:ext cx="7471956" cy="2895430"/>
          </a:xfrm>
          <a:prstGeom prst="rect">
            <a:avLst/>
          </a:prstGeom>
          <a:ln w="3175"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>
              <a:defRPr/>
            </a:pPr>
            <a:endParaRPr lang="ko-KR" altLang="en-US" sz="1600">
              <a:latin typeface="+mn-ea"/>
            </a:endParaRPr>
          </a:p>
        </p:txBody>
      </p:sp>
      <p:sp>
        <p:nvSpPr>
          <p:cNvPr id="15" name="AutoShape 15"/>
          <p:cNvSpPr>
            <a:spLocks noChangeArrowheads="1"/>
          </p:cNvSpPr>
          <p:nvPr/>
        </p:nvSpPr>
        <p:spPr bwMode="auto">
          <a:xfrm>
            <a:off x="8489435" y="863467"/>
            <a:ext cx="929635" cy="5445258"/>
          </a:xfrm>
          <a:prstGeom prst="roundRect">
            <a:avLst>
              <a:gd name="adj" fmla="val 11388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solidFill>
              <a:srgbClr val="A6D2EC"/>
            </a:solidFill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sz="1400" b="0" kern="0" dirty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16" name="AutoShape 16"/>
          <p:cNvSpPr>
            <a:spLocks noChangeArrowheads="1"/>
          </p:cNvSpPr>
          <p:nvPr/>
        </p:nvSpPr>
        <p:spPr bwMode="auto">
          <a:xfrm>
            <a:off x="8550769" y="1125847"/>
            <a:ext cx="810574" cy="5121618"/>
          </a:xfrm>
          <a:prstGeom prst="roundRect">
            <a:avLst>
              <a:gd name="adj" fmla="val 8643"/>
            </a:avLst>
          </a:prstGeom>
          <a:solidFill>
            <a:schemeClr val="accent1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28016" tIns="64008" rIns="128016" bIns="64008" anchor="ctr"/>
          <a:lstStyle/>
          <a:p>
            <a:pPr>
              <a:defRPr/>
            </a:pPr>
            <a:endParaRPr lang="ko-KR" altLang="ko-KR" sz="1600" dirty="0">
              <a:latin typeface="+mn-ea"/>
            </a:endParaRPr>
          </a:p>
        </p:txBody>
      </p:sp>
      <p:sp>
        <p:nvSpPr>
          <p:cNvPr id="17" name="Rectangle 88"/>
          <p:cNvSpPr>
            <a:spLocks noChangeArrowheads="1"/>
          </p:cNvSpPr>
          <p:nvPr/>
        </p:nvSpPr>
        <p:spPr bwMode="auto">
          <a:xfrm>
            <a:off x="8517096" y="879649"/>
            <a:ext cx="877922" cy="212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외부연계</a:t>
            </a:r>
          </a:p>
        </p:txBody>
      </p:sp>
      <p:sp>
        <p:nvSpPr>
          <p:cNvPr id="18" name="AutoShape 29"/>
          <p:cNvSpPr>
            <a:spLocks noChangeArrowheads="1"/>
          </p:cNvSpPr>
          <p:nvPr/>
        </p:nvSpPr>
        <p:spPr bwMode="auto">
          <a:xfrm rot="5400000">
            <a:off x="4052533" y="1306408"/>
            <a:ext cx="218458" cy="7476767"/>
          </a:xfrm>
          <a:prstGeom prst="can">
            <a:avLst>
              <a:gd name="adj" fmla="val 34874"/>
            </a:avLst>
          </a:prstGeom>
          <a:gradFill rotWithShape="0">
            <a:gsLst>
              <a:gs pos="0">
                <a:srgbClr val="B2B2B2"/>
              </a:gs>
              <a:gs pos="50000">
                <a:srgbClr val="FFFFFF"/>
              </a:gs>
              <a:gs pos="100000">
                <a:srgbClr val="B2B2B2"/>
              </a:gs>
            </a:gsLst>
            <a:lin ang="0" scaled="1"/>
          </a:gradFill>
          <a:ln w="28575">
            <a:solidFill>
              <a:srgbClr val="B2B2B2"/>
            </a:solidFill>
            <a:round/>
            <a:headEnd/>
            <a:tailEnd/>
          </a:ln>
        </p:spPr>
        <p:txBody>
          <a:bodyPr wrap="none" lIns="81835" tIns="40917" rIns="81835" bIns="40917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endParaRPr lang="ko-KR" altLang="ko-KR" sz="800">
              <a:latin typeface="+mn-ea"/>
              <a:ea typeface="+mn-ea"/>
            </a:endParaRPr>
          </a:p>
        </p:txBody>
      </p:sp>
      <p:sp>
        <p:nvSpPr>
          <p:cNvPr id="19" name="AutoShape 60"/>
          <p:cNvSpPr>
            <a:spLocks noChangeArrowheads="1"/>
          </p:cNvSpPr>
          <p:nvPr/>
        </p:nvSpPr>
        <p:spPr bwMode="auto">
          <a:xfrm>
            <a:off x="6980131" y="4908978"/>
            <a:ext cx="928432" cy="262380"/>
          </a:xfrm>
          <a:prstGeom prst="roundRect">
            <a:avLst>
              <a:gd name="adj" fmla="val 16667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lIns="0" tIns="64008" rIns="0" bIns="64008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sz="1200" kern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  <a:cs typeface="+mn-cs"/>
              </a:defRPr>
            </a:lvl5pPr>
            <a:lvl6pPr marL="22860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  <a:cs typeface="+mn-cs"/>
              </a:defRPr>
            </a:lvl6pPr>
            <a:lvl7pPr marL="27432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  <a:cs typeface="+mn-cs"/>
              </a:defRPr>
            </a:lvl7pPr>
            <a:lvl8pPr marL="32004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  <a:cs typeface="+mn-cs"/>
              </a:defRPr>
            </a:lvl8pPr>
            <a:lvl9pPr marL="3657600" algn="l" defTabSz="914400" rtl="0" eaLnBrk="1" latinLnBrk="1" hangingPunct="1">
              <a:defRPr kumimoji="1" sz="1200" kern="1200">
                <a:solidFill>
                  <a:schemeClr val="tx1"/>
                </a:solidFill>
                <a:latin typeface="가는각진제목체" pitchFamily="18" charset="-127"/>
                <a:ea typeface="가는각진제목체" pitchFamily="18" charset="-127"/>
                <a:cs typeface="+mn-cs"/>
              </a:defRPr>
            </a:lvl9pPr>
          </a:lstStyle>
          <a:p>
            <a:pPr eaLnBrk="0" latinLnBrk="0" hangingPunct="0">
              <a:defRPr/>
            </a:pPr>
            <a:r>
              <a:rPr lang="ko-KR" altLang="en-US" b="1" kern="0" dirty="0" smtClean="0">
                <a:latin typeface="+mn-ea"/>
                <a:ea typeface="+mn-ea"/>
              </a:rPr>
              <a:t>내부연계</a:t>
            </a:r>
            <a:endParaRPr lang="ko-KR" altLang="en-US" b="1" kern="0" dirty="0">
              <a:latin typeface="+mn-ea"/>
              <a:ea typeface="+mn-ea"/>
            </a:endParaRPr>
          </a:p>
        </p:txBody>
      </p:sp>
      <p:sp>
        <p:nvSpPr>
          <p:cNvPr id="20" name="Rectangle 9"/>
          <p:cNvSpPr>
            <a:spLocks noChangeArrowheads="1"/>
          </p:cNvSpPr>
          <p:nvPr/>
        </p:nvSpPr>
        <p:spPr bwMode="auto">
          <a:xfrm>
            <a:off x="546047" y="5189429"/>
            <a:ext cx="989767" cy="210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ko-KR" altLang="en-US" sz="1050">
                <a:solidFill>
                  <a:srgbClr val="FFFFFF"/>
                </a:solidFill>
                <a:latin typeface="+mn-ea"/>
                <a:ea typeface="+mn-ea"/>
              </a:rPr>
              <a:t>전자증빙</a:t>
            </a:r>
          </a:p>
        </p:txBody>
      </p:sp>
      <p:grpSp>
        <p:nvGrpSpPr>
          <p:cNvPr id="21" name="그룹 3"/>
          <p:cNvGrpSpPr>
            <a:grpSpLocks/>
          </p:cNvGrpSpPr>
          <p:nvPr/>
        </p:nvGrpSpPr>
        <p:grpSpPr bwMode="auto">
          <a:xfrm>
            <a:off x="6061320" y="5217300"/>
            <a:ext cx="1227888" cy="985087"/>
            <a:chOff x="8045200" y="7593525"/>
            <a:chExt cx="2025250" cy="1352727"/>
          </a:xfrm>
        </p:grpSpPr>
        <p:sp>
          <p:nvSpPr>
            <p:cNvPr id="445" name="AutoShape 4"/>
            <p:cNvSpPr>
              <a:spLocks noChangeArrowheads="1"/>
            </p:cNvSpPr>
            <p:nvPr/>
          </p:nvSpPr>
          <p:spPr bwMode="gray">
            <a:xfrm>
              <a:off x="8045200" y="7603452"/>
              <a:ext cx="2003430" cy="1342800"/>
            </a:xfrm>
            <a:prstGeom prst="roundRect">
              <a:avLst>
                <a:gd name="adj" fmla="val 2352"/>
              </a:avLst>
            </a:prstGeom>
            <a:ln>
              <a:noFill/>
              <a:headEnd/>
              <a:tailEnd/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sz="12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5pPr>
              <a:lvl6pPr marL="22860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6pPr>
              <a:lvl7pPr marL="27432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7pPr>
              <a:lvl8pPr marL="32004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8pPr>
              <a:lvl9pPr marL="3657600" algn="l" defTabSz="914400" rtl="0" eaLnBrk="1" latinLnBrk="1" hangingPunct="1">
                <a:defRPr kumimoji="1" sz="1200" kern="1200">
                  <a:solidFill>
                    <a:schemeClr val="tx1"/>
                  </a:solidFill>
                  <a:latin typeface="가는각진제목체" pitchFamily="18" charset="-127"/>
                  <a:ea typeface="가는각진제목체" pitchFamily="18" charset="-127"/>
                  <a:cs typeface="+mn-cs"/>
                </a:defRPr>
              </a:lvl9pPr>
            </a:lstStyle>
            <a:p>
              <a:pPr>
                <a:spcBef>
                  <a:spcPct val="20000"/>
                </a:spcBef>
                <a:defRPr/>
              </a:pPr>
              <a:endParaRPr lang="ko-KR" altLang="ko-KR" sz="1100">
                <a:solidFill>
                  <a:srgbClr val="FFFFFF"/>
                </a:solidFill>
                <a:latin typeface="+mn-ea"/>
                <a:ea typeface="+mn-ea"/>
              </a:endParaRPr>
            </a:p>
          </p:txBody>
        </p:sp>
        <p:sp>
          <p:nvSpPr>
            <p:cNvPr id="446" name="AutoShape 5"/>
            <p:cNvSpPr>
              <a:spLocks noChangeArrowheads="1"/>
            </p:cNvSpPr>
            <p:nvPr/>
          </p:nvSpPr>
          <p:spPr bwMode="auto">
            <a:xfrm>
              <a:off x="8086856" y="7868521"/>
              <a:ext cx="1912185" cy="1047574"/>
            </a:xfrm>
            <a:prstGeom prst="roundRect">
              <a:avLst>
                <a:gd name="adj" fmla="val 2380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wrap="none" lIns="81835" tIns="40917" rIns="81835" bIns="40917" anchor="ctr"/>
            <a:lstStyle/>
            <a:p>
              <a:pPr algn="ctr">
                <a:spcBef>
                  <a:spcPts val="600"/>
                </a:spcBef>
                <a:defRPr/>
              </a:pPr>
              <a:endParaRPr lang="ko-KR" altLang="ko-KR" sz="1100">
                <a:solidFill>
                  <a:srgbClr val="000000"/>
                </a:solidFill>
                <a:latin typeface="+mn-ea"/>
              </a:endParaRPr>
            </a:p>
          </p:txBody>
        </p:sp>
        <p:sp>
          <p:nvSpPr>
            <p:cNvPr id="447" name="Rectangle 9"/>
            <p:cNvSpPr>
              <a:spLocks noChangeArrowheads="1"/>
            </p:cNvSpPr>
            <p:nvPr/>
          </p:nvSpPr>
          <p:spPr bwMode="auto">
            <a:xfrm>
              <a:off x="8289841" y="7593525"/>
              <a:ext cx="1633658" cy="2884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>
              <a:spAutoFit/>
            </a:bodyPr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lnSpc>
                  <a:spcPct val="130000"/>
                </a:lnSpc>
                <a:spcBef>
                  <a:spcPct val="50000"/>
                </a:spcBef>
              </a:pPr>
              <a:r>
                <a:rPr lang="ko-KR" altLang="en-US" sz="1050">
                  <a:solidFill>
                    <a:srgbClr val="00B050"/>
                  </a:solidFill>
                  <a:latin typeface="+mn-ea"/>
                  <a:ea typeface="+mn-ea"/>
                </a:rPr>
                <a:t>홈페이지</a:t>
              </a:r>
            </a:p>
          </p:txBody>
        </p:sp>
        <p:sp>
          <p:nvSpPr>
            <p:cNvPr id="448" name="Rectangle 200"/>
            <p:cNvSpPr>
              <a:spLocks noChangeArrowheads="1"/>
            </p:cNvSpPr>
            <p:nvPr/>
          </p:nvSpPr>
          <p:spPr bwMode="auto">
            <a:xfrm>
              <a:off x="8082405" y="7868369"/>
              <a:ext cx="1988045" cy="40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000" tIns="46800" rIns="90000" bIns="46800"/>
            <a:lstStyle>
              <a:lvl1pPr marL="101600" indent="-101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ko-KR" altLang="en-US" sz="700">
                  <a:solidFill>
                    <a:srgbClr val="000000"/>
                  </a:solidFill>
                  <a:latin typeface="+mn-ea"/>
                  <a:ea typeface="+mn-ea"/>
                </a:rPr>
                <a:t>채용정보</a:t>
              </a:r>
              <a:r>
                <a:rPr lang="en-US" altLang="ko-KR" sz="700">
                  <a:solidFill>
                    <a:srgbClr val="000000"/>
                  </a:solidFill>
                  <a:latin typeface="+mn-ea"/>
                  <a:ea typeface="+mn-ea"/>
                </a:rPr>
                <a:t>/</a:t>
              </a:r>
              <a:r>
                <a:rPr lang="ko-KR" altLang="en-US" sz="700">
                  <a:solidFill>
                    <a:srgbClr val="000000"/>
                  </a:solidFill>
                  <a:latin typeface="+mn-ea"/>
                  <a:ea typeface="+mn-ea"/>
                </a:rPr>
                <a:t>인사발령</a:t>
              </a:r>
              <a:endParaRPr lang="en-US" altLang="ko-KR" sz="700">
                <a:solidFill>
                  <a:srgbClr val="000000"/>
                </a:solidFill>
                <a:latin typeface="+mn-ea"/>
                <a:ea typeface="+mn-ea"/>
              </a:endParaRPr>
            </a:p>
            <a:p>
              <a:pPr eaLnBrk="1" hangingPunct="1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ko-KR" altLang="en-US" sz="700">
                  <a:solidFill>
                    <a:srgbClr val="000000"/>
                  </a:solidFill>
                  <a:latin typeface="+mn-ea"/>
                  <a:ea typeface="+mn-ea"/>
                </a:rPr>
                <a:t>입찰공고</a:t>
              </a:r>
              <a:endParaRPr lang="en-US" altLang="ko-KR" sz="700">
                <a:solidFill>
                  <a:srgbClr val="000000"/>
                </a:solidFill>
                <a:latin typeface="+mn-ea"/>
                <a:ea typeface="+mn-ea"/>
              </a:endParaRPr>
            </a:p>
            <a:p>
              <a:pPr eaLnBrk="1" hangingPunct="1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ko-KR" altLang="en-US" sz="700">
                  <a:solidFill>
                    <a:srgbClr val="000000"/>
                  </a:solidFill>
                  <a:latin typeface="+mn-ea"/>
                  <a:ea typeface="+mn-ea"/>
                </a:rPr>
                <a:t>사규</a:t>
              </a:r>
              <a:r>
                <a:rPr lang="en-US" altLang="ko-KR" sz="700">
                  <a:solidFill>
                    <a:srgbClr val="000000"/>
                  </a:solidFill>
                  <a:latin typeface="+mn-ea"/>
                  <a:ea typeface="+mn-ea"/>
                </a:rPr>
                <a:t>/</a:t>
              </a:r>
              <a:r>
                <a:rPr lang="ko-KR" altLang="en-US" sz="700">
                  <a:solidFill>
                    <a:srgbClr val="000000"/>
                  </a:solidFill>
                  <a:latin typeface="+mn-ea"/>
                  <a:ea typeface="+mn-ea"/>
                </a:rPr>
                <a:t>규정</a:t>
              </a:r>
              <a:r>
                <a:rPr lang="en-US" altLang="ko-KR" sz="700">
                  <a:solidFill>
                    <a:srgbClr val="000000"/>
                  </a:solidFill>
                  <a:latin typeface="+mn-ea"/>
                  <a:ea typeface="+mn-ea"/>
                </a:rPr>
                <a:t>/</a:t>
              </a:r>
              <a:r>
                <a:rPr lang="ko-KR" altLang="en-US" sz="700">
                  <a:solidFill>
                    <a:srgbClr val="000000"/>
                  </a:solidFill>
                  <a:latin typeface="+mn-ea"/>
                  <a:ea typeface="+mn-ea"/>
                </a:rPr>
                <a:t>홍보정보</a:t>
              </a:r>
              <a:endParaRPr lang="en-US" altLang="ko-KR" sz="700">
                <a:solidFill>
                  <a:srgbClr val="000000"/>
                </a:solidFill>
                <a:latin typeface="+mn-ea"/>
                <a:ea typeface="+mn-ea"/>
              </a:endParaRPr>
            </a:p>
            <a:p>
              <a:pPr eaLnBrk="1" hangingPunct="1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ko-KR" altLang="en-US" sz="700">
                  <a:solidFill>
                    <a:srgbClr val="000000"/>
                  </a:solidFill>
                  <a:latin typeface="+mn-ea"/>
                  <a:ea typeface="+mn-ea"/>
                </a:rPr>
                <a:t>사회공헌</a:t>
              </a:r>
              <a:endParaRPr lang="en-US" altLang="ko-KR" sz="700">
                <a:solidFill>
                  <a:srgbClr val="000000"/>
                </a:solidFill>
                <a:latin typeface="+mn-ea"/>
                <a:ea typeface="+mn-ea"/>
              </a:endParaRPr>
            </a:p>
            <a:p>
              <a:pPr eaLnBrk="1" hangingPunct="1">
                <a:spcBef>
                  <a:spcPts val="300"/>
                </a:spcBef>
                <a:buFont typeface="Wingdings" panose="05000000000000000000" pitchFamily="2" charset="2"/>
                <a:buChar char="§"/>
              </a:pPr>
              <a:r>
                <a:rPr lang="ko-KR" altLang="en-US" sz="700">
                  <a:solidFill>
                    <a:srgbClr val="000000"/>
                  </a:solidFill>
                  <a:latin typeface="+mn-ea"/>
                  <a:ea typeface="+mn-ea"/>
                </a:rPr>
                <a:t>경영정보</a:t>
              </a:r>
              <a:endParaRPr lang="en-US" altLang="ko-KR" sz="7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22" name="Rectangle 9"/>
          <p:cNvSpPr>
            <a:spLocks noChangeArrowheads="1"/>
          </p:cNvSpPr>
          <p:nvPr/>
        </p:nvSpPr>
        <p:spPr bwMode="auto">
          <a:xfrm>
            <a:off x="2209288" y="5180182"/>
            <a:ext cx="944066" cy="2100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>
              <a:lnSpc>
                <a:spcPct val="130000"/>
              </a:lnSpc>
              <a:spcBef>
                <a:spcPct val="50000"/>
              </a:spcBef>
            </a:pPr>
            <a:r>
              <a:rPr lang="ko-KR" altLang="en-US" sz="1050">
                <a:solidFill>
                  <a:srgbClr val="FFFFFF"/>
                </a:solidFill>
                <a:latin typeface="+mn-ea"/>
                <a:ea typeface="+mn-ea"/>
              </a:rPr>
              <a:t>그룹웨어</a:t>
            </a:r>
          </a:p>
        </p:txBody>
      </p:sp>
      <p:grpSp>
        <p:nvGrpSpPr>
          <p:cNvPr id="23" name="그룹 2285"/>
          <p:cNvGrpSpPr>
            <a:grpSpLocks/>
          </p:cNvGrpSpPr>
          <p:nvPr/>
        </p:nvGrpSpPr>
        <p:grpSpPr bwMode="auto">
          <a:xfrm>
            <a:off x="8606090" y="1169770"/>
            <a:ext cx="709553" cy="709698"/>
            <a:chOff x="11288652" y="1711160"/>
            <a:chExt cx="936000" cy="974725"/>
          </a:xfrm>
        </p:grpSpPr>
        <p:sp>
          <p:nvSpPr>
            <p:cNvPr id="440" name="AutoShape 295"/>
            <p:cNvSpPr>
              <a:spLocks noChangeArrowheads="1"/>
            </p:cNvSpPr>
            <p:nvPr/>
          </p:nvSpPr>
          <p:spPr bwMode="auto">
            <a:xfrm>
              <a:off x="11288652" y="1857210"/>
              <a:ext cx="936000" cy="828675"/>
            </a:xfrm>
            <a:prstGeom prst="roundRect">
              <a:avLst>
                <a:gd name="adj" fmla="val 1023"/>
              </a:avLst>
            </a:prstGeom>
            <a:gradFill rotWithShape="0">
              <a:gsLst>
                <a:gs pos="0">
                  <a:srgbClr val="D7EBF5"/>
                </a:gs>
                <a:gs pos="100000">
                  <a:srgbClr val="EDF4F8"/>
                </a:gs>
              </a:gsLst>
              <a:lin ang="5400000" scaled="1"/>
            </a:gra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endParaRPr lang="ko-KR" altLang="en-US" sz="11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grpSp>
          <p:nvGrpSpPr>
            <p:cNvPr id="441" name="그룹 1097"/>
            <p:cNvGrpSpPr>
              <a:grpSpLocks/>
            </p:cNvGrpSpPr>
            <p:nvPr/>
          </p:nvGrpSpPr>
          <p:grpSpPr bwMode="auto">
            <a:xfrm>
              <a:off x="11294741" y="1711160"/>
              <a:ext cx="911575" cy="288925"/>
              <a:chOff x="4384576" y="5818120"/>
              <a:chExt cx="1094011" cy="433264"/>
            </a:xfrm>
          </p:grpSpPr>
          <p:pic>
            <p:nvPicPr>
              <p:cNvPr id="443" name="Picture 160" descr="아이콘6"/>
              <p:cNvPicPr preferRelativeResize="0"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403083" y="5818120"/>
                <a:ext cx="1075504" cy="433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44" name="Text Box 161"/>
              <p:cNvSpPr txBox="1">
                <a:spLocks noChangeArrowheads="1"/>
              </p:cNvSpPr>
              <p:nvPr/>
            </p:nvSpPr>
            <p:spPr bwMode="auto">
              <a:xfrm>
                <a:off x="4384576" y="5944306"/>
                <a:ext cx="1080120" cy="2160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lnSpc>
                    <a:spcPct val="125000"/>
                  </a:lnSpc>
                </a:pPr>
                <a:r>
                  <a:rPr lang="en-US" altLang="ko-KR" sz="900" smtClean="0">
                    <a:solidFill>
                      <a:srgbClr val="FEFFFB"/>
                    </a:solidFill>
                    <a:latin typeface="+mn-ea"/>
                    <a:ea typeface="+mn-ea"/>
                    <a:cs typeface="Arial" panose="020B0604020202020204" pitchFamily="34" charset="0"/>
                  </a:rPr>
                  <a:t>4</a:t>
                </a:r>
                <a:r>
                  <a:rPr lang="ko-KR" altLang="en-US" sz="900" smtClean="0">
                    <a:solidFill>
                      <a:srgbClr val="FEFFFB"/>
                    </a:solidFill>
                    <a:latin typeface="+mn-ea"/>
                    <a:ea typeface="+mn-ea"/>
                    <a:cs typeface="Arial" panose="020B0604020202020204" pitchFamily="34" charset="0"/>
                  </a:rPr>
                  <a:t>대보험</a:t>
                </a:r>
                <a:endParaRPr lang="ko-KR" altLang="en-US" sz="900">
                  <a:solidFill>
                    <a:srgbClr val="FEFFFB"/>
                  </a:solidFill>
                  <a:latin typeface="+mn-ea"/>
                  <a:ea typeface="+mn-ea"/>
                  <a:cs typeface="Arial" panose="020B0604020202020204" pitchFamily="34" charset="0"/>
                </a:endParaRPr>
              </a:p>
            </p:txBody>
          </p:sp>
        </p:grpSp>
        <p:pic>
          <p:nvPicPr>
            <p:cNvPr id="442" name="Picture 194" descr="사람-돋보기_1-[Converted]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451706" y="2112178"/>
              <a:ext cx="612182" cy="489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4" name="Group 66"/>
          <p:cNvGrpSpPr>
            <a:grpSpLocks/>
          </p:cNvGrpSpPr>
          <p:nvPr/>
        </p:nvGrpSpPr>
        <p:grpSpPr bwMode="auto">
          <a:xfrm rot="16200000">
            <a:off x="7188154" y="5497057"/>
            <a:ext cx="681958" cy="518334"/>
            <a:chOff x="1119" y="2790"/>
            <a:chExt cx="2082" cy="511"/>
          </a:xfrm>
        </p:grpSpPr>
        <p:sp>
          <p:nvSpPr>
            <p:cNvPr id="438" name="AutoShape 142"/>
            <p:cNvSpPr>
              <a:spLocks noChangeAspect="1" noChangeArrowheads="1"/>
            </p:cNvSpPr>
            <p:nvPr/>
          </p:nvSpPr>
          <p:spPr bwMode="auto">
            <a:xfrm rot="5400000">
              <a:off x="1906" y="2003"/>
              <a:ext cx="507" cy="2082"/>
            </a:xfrm>
            <a:prstGeom prst="leftArrow">
              <a:avLst>
                <a:gd name="adj1" fmla="val 73602"/>
                <a:gd name="adj2" fmla="val 32954"/>
              </a:avLst>
            </a:prstGeom>
            <a:gradFill rotWithShape="1">
              <a:gsLst>
                <a:gs pos="0">
                  <a:srgbClr val="336699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vert="eaVert"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0" hangingPunct="1"/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439" name="AutoShape 143"/>
            <p:cNvSpPr>
              <a:spLocks noChangeAspect="1" noChangeArrowheads="1"/>
            </p:cNvSpPr>
            <p:nvPr/>
          </p:nvSpPr>
          <p:spPr bwMode="auto">
            <a:xfrm rot="5400000">
              <a:off x="1917" y="2325"/>
              <a:ext cx="486" cy="1466"/>
            </a:xfrm>
            <a:prstGeom prst="leftArrow">
              <a:avLst>
                <a:gd name="adj1" fmla="val 100000"/>
                <a:gd name="adj2" fmla="val 25514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vert="eaVert"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0" hangingPunct="1"/>
              <a:endParaRPr lang="ko-KR" altLang="ko-KR" sz="1200">
                <a:latin typeface="+mn-ea"/>
                <a:ea typeface="+mn-ea"/>
              </a:endParaRPr>
            </a:p>
          </p:txBody>
        </p:sp>
      </p:grpSp>
      <p:grpSp>
        <p:nvGrpSpPr>
          <p:cNvPr id="25" name="그룹 2291"/>
          <p:cNvGrpSpPr>
            <a:grpSpLocks/>
          </p:cNvGrpSpPr>
          <p:nvPr/>
        </p:nvGrpSpPr>
        <p:grpSpPr bwMode="auto">
          <a:xfrm>
            <a:off x="7407066" y="5551637"/>
            <a:ext cx="482255" cy="421889"/>
            <a:chOff x="9782657" y="7846189"/>
            <a:chExt cx="796925" cy="728115"/>
          </a:xfrm>
        </p:grpSpPr>
        <p:grpSp>
          <p:nvGrpSpPr>
            <p:cNvPr id="434" name="Group 177"/>
            <p:cNvGrpSpPr>
              <a:grpSpLocks noChangeAspect="1"/>
            </p:cNvGrpSpPr>
            <p:nvPr/>
          </p:nvGrpSpPr>
          <p:grpSpPr bwMode="auto">
            <a:xfrm>
              <a:off x="9782657" y="7846189"/>
              <a:ext cx="796925" cy="728115"/>
              <a:chOff x="1303" y="4163"/>
              <a:chExt cx="672" cy="614"/>
            </a:xfrm>
          </p:grpSpPr>
          <p:pic>
            <p:nvPicPr>
              <p:cNvPr id="436" name="Picture 170" descr="도형6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03" y="4534"/>
                <a:ext cx="672" cy="2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37" name="Picture 172" descr="볼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163" t="42601" r="19640"/>
              <a:stretch>
                <a:fillRect/>
              </a:stretch>
            </p:blipFill>
            <p:spPr bwMode="auto">
              <a:xfrm>
                <a:off x="1361" y="4163"/>
                <a:ext cx="548" cy="5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35" name="Picture 141" descr="22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67343" y="7940976"/>
              <a:ext cx="528637" cy="5699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26" name="Group 66"/>
          <p:cNvGrpSpPr>
            <a:grpSpLocks/>
          </p:cNvGrpSpPr>
          <p:nvPr/>
        </p:nvGrpSpPr>
        <p:grpSpPr bwMode="auto">
          <a:xfrm rot="16200000">
            <a:off x="5059494" y="5497057"/>
            <a:ext cx="681958" cy="518334"/>
            <a:chOff x="1119" y="2790"/>
            <a:chExt cx="2082" cy="511"/>
          </a:xfrm>
        </p:grpSpPr>
        <p:sp>
          <p:nvSpPr>
            <p:cNvPr id="432" name="AutoShape 142"/>
            <p:cNvSpPr>
              <a:spLocks noChangeAspect="1" noChangeArrowheads="1"/>
            </p:cNvSpPr>
            <p:nvPr/>
          </p:nvSpPr>
          <p:spPr bwMode="auto">
            <a:xfrm rot="5400000">
              <a:off x="1906" y="2003"/>
              <a:ext cx="507" cy="2082"/>
            </a:xfrm>
            <a:prstGeom prst="leftArrow">
              <a:avLst>
                <a:gd name="adj1" fmla="val 73602"/>
                <a:gd name="adj2" fmla="val 32954"/>
              </a:avLst>
            </a:prstGeom>
            <a:gradFill rotWithShape="1">
              <a:gsLst>
                <a:gs pos="0">
                  <a:srgbClr val="336699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vert="eaVert"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0" hangingPunct="1"/>
              <a:endParaRPr lang="ko-KR" altLang="ko-KR" sz="1200">
                <a:latin typeface="+mn-ea"/>
                <a:ea typeface="+mn-ea"/>
              </a:endParaRPr>
            </a:p>
          </p:txBody>
        </p:sp>
        <p:sp>
          <p:nvSpPr>
            <p:cNvPr id="433" name="AutoShape 143"/>
            <p:cNvSpPr>
              <a:spLocks noChangeAspect="1" noChangeArrowheads="1"/>
            </p:cNvSpPr>
            <p:nvPr/>
          </p:nvSpPr>
          <p:spPr bwMode="auto">
            <a:xfrm rot="5400000">
              <a:off x="1917" y="2325"/>
              <a:ext cx="486" cy="1466"/>
            </a:xfrm>
            <a:prstGeom prst="leftArrow">
              <a:avLst>
                <a:gd name="adj1" fmla="val 100000"/>
                <a:gd name="adj2" fmla="val 25514"/>
              </a:avLst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285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rot="10800000" vert="eaVert"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latinLnBrk="0" hangingPunct="1"/>
              <a:endParaRPr lang="ko-KR" altLang="ko-KR" sz="1200">
                <a:latin typeface="+mn-ea"/>
                <a:ea typeface="+mn-ea"/>
              </a:endParaRPr>
            </a:p>
          </p:txBody>
        </p:sp>
      </p:grpSp>
      <p:grpSp>
        <p:nvGrpSpPr>
          <p:cNvPr id="27" name="그룹 2290"/>
          <p:cNvGrpSpPr>
            <a:grpSpLocks/>
          </p:cNvGrpSpPr>
          <p:nvPr/>
        </p:nvGrpSpPr>
        <p:grpSpPr bwMode="auto">
          <a:xfrm>
            <a:off x="5280812" y="5543545"/>
            <a:ext cx="493079" cy="432292"/>
            <a:chOff x="6756003" y="7843189"/>
            <a:chExt cx="796925" cy="728115"/>
          </a:xfrm>
        </p:grpSpPr>
        <p:grpSp>
          <p:nvGrpSpPr>
            <p:cNvPr id="428" name="Group 177"/>
            <p:cNvGrpSpPr>
              <a:grpSpLocks noChangeAspect="1"/>
            </p:cNvGrpSpPr>
            <p:nvPr/>
          </p:nvGrpSpPr>
          <p:grpSpPr bwMode="auto">
            <a:xfrm>
              <a:off x="6756003" y="7843189"/>
              <a:ext cx="796925" cy="728115"/>
              <a:chOff x="1303" y="4163"/>
              <a:chExt cx="672" cy="614"/>
            </a:xfrm>
          </p:grpSpPr>
          <p:pic>
            <p:nvPicPr>
              <p:cNvPr id="430" name="Picture 170" descr="도형6"/>
              <p:cNvPicPr>
                <a:picLocks noChangeAspect="1" noChangeArrowheads="1"/>
              </p:cNvPicPr>
              <p:nvPr/>
            </p:nvPicPr>
            <p:blipFill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03" y="4534"/>
                <a:ext cx="672" cy="2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431" name="Picture 172" descr="볼"/>
              <p:cNvPicPr>
                <a:picLocks noChangeAspect="1" noChangeArrowheads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163" t="42601" r="19640"/>
              <a:stretch>
                <a:fillRect/>
              </a:stretch>
            </p:blipFill>
            <p:spPr bwMode="auto">
              <a:xfrm>
                <a:off x="1361" y="4163"/>
                <a:ext cx="548" cy="5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pic>
          <p:nvPicPr>
            <p:cNvPr id="429" name="Picture 144" descr="파일검색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465" t="14285" r="7465" b="19257"/>
            <a:stretch>
              <a:fillRect/>
            </a:stretch>
          </p:blipFill>
          <p:spPr bwMode="auto">
            <a:xfrm>
              <a:off x="6920677" y="7920079"/>
              <a:ext cx="495855" cy="4885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8" name="직사각형 27"/>
          <p:cNvSpPr/>
          <p:nvPr/>
        </p:nvSpPr>
        <p:spPr>
          <a:xfrm>
            <a:off x="5233909" y="5985084"/>
            <a:ext cx="692716" cy="1722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내부사용자</a:t>
            </a:r>
          </a:p>
        </p:txBody>
      </p:sp>
      <p:sp>
        <p:nvSpPr>
          <p:cNvPr id="29" name="직사각형 28"/>
          <p:cNvSpPr/>
          <p:nvPr/>
        </p:nvSpPr>
        <p:spPr>
          <a:xfrm>
            <a:off x="7357758" y="5985084"/>
            <a:ext cx="692716" cy="1722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800" dirty="0">
                <a:solidFill>
                  <a:schemeClr val="tx1"/>
                </a:solidFill>
                <a:latin typeface="+mn-ea"/>
              </a:rPr>
              <a:t>외부사용자</a:t>
            </a:r>
          </a:p>
        </p:txBody>
      </p:sp>
      <p:grpSp>
        <p:nvGrpSpPr>
          <p:cNvPr id="30" name="그룹 1708"/>
          <p:cNvGrpSpPr>
            <a:grpSpLocks/>
          </p:cNvGrpSpPr>
          <p:nvPr/>
        </p:nvGrpSpPr>
        <p:grpSpPr bwMode="auto">
          <a:xfrm>
            <a:off x="4132297" y="4896264"/>
            <a:ext cx="790130" cy="293589"/>
            <a:chOff x="3640126" y="7269283"/>
            <a:chExt cx="1041608" cy="462555"/>
          </a:xfrm>
        </p:grpSpPr>
        <p:grpSp>
          <p:nvGrpSpPr>
            <p:cNvPr id="424" name="그룹 1709"/>
            <p:cNvGrpSpPr>
              <a:grpSpLocks noChangeAspect="1"/>
            </p:cNvGrpSpPr>
            <p:nvPr/>
          </p:nvGrpSpPr>
          <p:grpSpPr bwMode="auto">
            <a:xfrm>
              <a:off x="3640126" y="7269283"/>
              <a:ext cx="1041608" cy="462555"/>
              <a:chOff x="6603507" y="2471671"/>
              <a:chExt cx="869051" cy="527254"/>
            </a:xfrm>
          </p:grpSpPr>
          <p:sp>
            <p:nvSpPr>
              <p:cNvPr id="426" name="Freeform 30"/>
              <p:cNvSpPr>
                <a:spLocks/>
              </p:cNvSpPr>
              <p:nvPr/>
            </p:nvSpPr>
            <p:spPr bwMode="auto">
              <a:xfrm rot="3377044" flipH="1">
                <a:off x="7138882" y="2665248"/>
                <a:ext cx="457548" cy="209805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EEBF3"/>
                  </a:gs>
                  <a:gs pos="100000">
                    <a:srgbClr val="77AACD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wrap="none" lIns="82403" tIns="41202" rIns="82403" bIns="41202" anchor="ctr"/>
              <a:lstStyle/>
              <a:p>
                <a:endParaRPr lang="ko-KR" altLang="en-US" sz="1400">
                  <a:latin typeface="+mn-ea"/>
                </a:endParaRPr>
              </a:p>
            </p:txBody>
          </p:sp>
          <p:sp>
            <p:nvSpPr>
              <p:cNvPr id="427" name="Freeform 31"/>
              <p:cNvSpPr>
                <a:spLocks/>
              </p:cNvSpPr>
              <p:nvPr/>
            </p:nvSpPr>
            <p:spPr bwMode="auto">
              <a:xfrm rot="4493605" flipV="1">
                <a:off x="6447245" y="2627933"/>
                <a:ext cx="507280" cy="194755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7AACD"/>
                  </a:gs>
                  <a:gs pos="100000">
                    <a:srgbClr val="DEEBF3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rot="10800000" wrap="none" lIns="82403" tIns="41202" rIns="82403" bIns="41202" anchor="ctr"/>
              <a:lstStyle/>
              <a:p>
                <a:endParaRPr lang="ko-KR" altLang="en-US" sz="1400">
                  <a:latin typeface="+mn-ea"/>
                </a:endParaRPr>
              </a:p>
            </p:txBody>
          </p:sp>
        </p:grpSp>
        <p:sp>
          <p:nvSpPr>
            <p:cNvPr id="425" name="직사각형 424"/>
            <p:cNvSpPr/>
            <p:nvPr/>
          </p:nvSpPr>
          <p:spPr>
            <a:xfrm>
              <a:off x="3687688" y="7369443"/>
              <a:ext cx="914776" cy="23856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00" b="1" dirty="0">
                  <a:solidFill>
                    <a:schemeClr val="tx1"/>
                  </a:solidFill>
                  <a:latin typeface="+mn-ea"/>
                </a:rPr>
                <a:t>SSO</a:t>
              </a:r>
              <a:r>
                <a:rPr lang="ko-KR" altLang="en-US" sz="1000" b="1" dirty="0">
                  <a:solidFill>
                    <a:schemeClr val="tx1"/>
                  </a:solidFill>
                  <a:latin typeface="+mn-ea"/>
                </a:rPr>
                <a:t>연계</a:t>
              </a:r>
            </a:p>
          </p:txBody>
        </p:sp>
      </p:grpSp>
      <p:grpSp>
        <p:nvGrpSpPr>
          <p:cNvPr id="31" name="그룹 1723"/>
          <p:cNvGrpSpPr>
            <a:grpSpLocks/>
          </p:cNvGrpSpPr>
          <p:nvPr/>
        </p:nvGrpSpPr>
        <p:grpSpPr bwMode="auto">
          <a:xfrm>
            <a:off x="2352401" y="4896264"/>
            <a:ext cx="692716" cy="293589"/>
            <a:chOff x="3687646" y="7269284"/>
            <a:chExt cx="914400" cy="462556"/>
          </a:xfrm>
        </p:grpSpPr>
        <p:grpSp>
          <p:nvGrpSpPr>
            <p:cNvPr id="420" name="그룹 1724"/>
            <p:cNvGrpSpPr>
              <a:grpSpLocks noChangeAspect="1"/>
            </p:cNvGrpSpPr>
            <p:nvPr/>
          </p:nvGrpSpPr>
          <p:grpSpPr bwMode="auto">
            <a:xfrm>
              <a:off x="3803827" y="7269284"/>
              <a:ext cx="689611" cy="462556"/>
              <a:chOff x="6740098" y="2471671"/>
              <a:chExt cx="575368" cy="527255"/>
            </a:xfrm>
          </p:grpSpPr>
          <p:sp>
            <p:nvSpPr>
              <p:cNvPr id="422" name="Freeform 30"/>
              <p:cNvSpPr>
                <a:spLocks/>
              </p:cNvSpPr>
              <p:nvPr/>
            </p:nvSpPr>
            <p:spPr bwMode="auto">
              <a:xfrm rot="3377044" flipH="1">
                <a:off x="6981790" y="2665249"/>
                <a:ext cx="457548" cy="209805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EEBF3"/>
                  </a:gs>
                  <a:gs pos="100000">
                    <a:srgbClr val="77AACD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wrap="none" lIns="82403" tIns="41202" rIns="82403" bIns="41202" anchor="ctr"/>
              <a:lstStyle/>
              <a:p>
                <a:endParaRPr lang="ko-KR" altLang="en-US" sz="1400">
                  <a:latin typeface="+mn-ea"/>
                </a:endParaRPr>
              </a:p>
            </p:txBody>
          </p:sp>
          <p:sp>
            <p:nvSpPr>
              <p:cNvPr id="423" name="Freeform 31"/>
              <p:cNvSpPr>
                <a:spLocks/>
              </p:cNvSpPr>
              <p:nvPr/>
            </p:nvSpPr>
            <p:spPr bwMode="auto">
              <a:xfrm rot="4493605" flipV="1">
                <a:off x="6583836" y="2627933"/>
                <a:ext cx="507280" cy="194755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7AACD"/>
                  </a:gs>
                  <a:gs pos="100000">
                    <a:srgbClr val="DEEBF3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rot="10800000" wrap="none" lIns="82403" tIns="41202" rIns="82403" bIns="41202" anchor="ctr"/>
              <a:lstStyle/>
              <a:p>
                <a:endParaRPr lang="ko-KR" altLang="en-US" sz="1400">
                  <a:latin typeface="+mn-ea"/>
                </a:endParaRPr>
              </a:p>
            </p:txBody>
          </p:sp>
        </p:grpSp>
        <p:sp>
          <p:nvSpPr>
            <p:cNvPr id="421" name="직사각형 420"/>
            <p:cNvSpPr/>
            <p:nvPr/>
          </p:nvSpPr>
          <p:spPr>
            <a:xfrm>
              <a:off x="3687646" y="7369444"/>
              <a:ext cx="914400" cy="2385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 b="1" dirty="0">
                  <a:solidFill>
                    <a:schemeClr val="tx1"/>
                  </a:solidFill>
                  <a:latin typeface="+mn-ea"/>
                </a:rPr>
                <a:t>연계</a:t>
              </a:r>
            </a:p>
          </p:txBody>
        </p:sp>
      </p:grpSp>
      <p:grpSp>
        <p:nvGrpSpPr>
          <p:cNvPr id="32" name="그룹 1728"/>
          <p:cNvGrpSpPr>
            <a:grpSpLocks/>
          </p:cNvGrpSpPr>
          <p:nvPr/>
        </p:nvGrpSpPr>
        <p:grpSpPr bwMode="auto">
          <a:xfrm>
            <a:off x="696377" y="4896264"/>
            <a:ext cx="692716" cy="293589"/>
            <a:chOff x="3687646" y="7269284"/>
            <a:chExt cx="914400" cy="462556"/>
          </a:xfrm>
        </p:grpSpPr>
        <p:grpSp>
          <p:nvGrpSpPr>
            <p:cNvPr id="416" name="그룹 1729"/>
            <p:cNvGrpSpPr>
              <a:grpSpLocks noChangeAspect="1"/>
            </p:cNvGrpSpPr>
            <p:nvPr/>
          </p:nvGrpSpPr>
          <p:grpSpPr bwMode="auto">
            <a:xfrm>
              <a:off x="3803827" y="7269284"/>
              <a:ext cx="689611" cy="462556"/>
              <a:chOff x="6740098" y="2471671"/>
              <a:chExt cx="575368" cy="527255"/>
            </a:xfrm>
          </p:grpSpPr>
          <p:sp>
            <p:nvSpPr>
              <p:cNvPr id="418" name="Freeform 30"/>
              <p:cNvSpPr>
                <a:spLocks/>
              </p:cNvSpPr>
              <p:nvPr/>
            </p:nvSpPr>
            <p:spPr bwMode="auto">
              <a:xfrm rot="3377044" flipH="1">
                <a:off x="6981790" y="2665249"/>
                <a:ext cx="457548" cy="209805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EEBF3"/>
                  </a:gs>
                  <a:gs pos="100000">
                    <a:srgbClr val="77AACD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wrap="none" lIns="82403" tIns="41202" rIns="82403" bIns="41202" anchor="ctr"/>
              <a:lstStyle/>
              <a:p>
                <a:endParaRPr lang="ko-KR" altLang="en-US" sz="1400">
                  <a:latin typeface="+mn-ea"/>
                </a:endParaRPr>
              </a:p>
            </p:txBody>
          </p:sp>
          <p:sp>
            <p:nvSpPr>
              <p:cNvPr id="419" name="Freeform 31"/>
              <p:cNvSpPr>
                <a:spLocks/>
              </p:cNvSpPr>
              <p:nvPr/>
            </p:nvSpPr>
            <p:spPr bwMode="auto">
              <a:xfrm rot="4493605" flipV="1">
                <a:off x="6583836" y="2627933"/>
                <a:ext cx="507280" cy="194755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7AACD"/>
                  </a:gs>
                  <a:gs pos="100000">
                    <a:srgbClr val="DEEBF3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rot="10800000" wrap="none" lIns="82403" tIns="41202" rIns="82403" bIns="41202" anchor="ctr"/>
              <a:lstStyle/>
              <a:p>
                <a:endParaRPr lang="ko-KR" altLang="en-US" sz="1400">
                  <a:latin typeface="+mn-ea"/>
                </a:endParaRPr>
              </a:p>
            </p:txBody>
          </p:sp>
        </p:grpSp>
        <p:sp>
          <p:nvSpPr>
            <p:cNvPr id="417" name="직사각형 416"/>
            <p:cNvSpPr/>
            <p:nvPr/>
          </p:nvSpPr>
          <p:spPr>
            <a:xfrm>
              <a:off x="3687646" y="7369444"/>
              <a:ext cx="914400" cy="2385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 b="1" dirty="0">
                  <a:solidFill>
                    <a:schemeClr val="tx1"/>
                  </a:solidFill>
                  <a:latin typeface="+mn-ea"/>
                </a:rPr>
                <a:t>연계</a:t>
              </a:r>
            </a:p>
          </p:txBody>
        </p:sp>
      </p:grpSp>
      <p:grpSp>
        <p:nvGrpSpPr>
          <p:cNvPr id="33" name="그룹 1733"/>
          <p:cNvGrpSpPr>
            <a:grpSpLocks/>
          </p:cNvGrpSpPr>
          <p:nvPr/>
        </p:nvGrpSpPr>
        <p:grpSpPr bwMode="auto">
          <a:xfrm>
            <a:off x="3404705" y="5448765"/>
            <a:ext cx="692716" cy="502800"/>
            <a:chOff x="3843942" y="7657913"/>
            <a:chExt cx="914400" cy="690989"/>
          </a:xfrm>
        </p:grpSpPr>
        <p:grpSp>
          <p:nvGrpSpPr>
            <p:cNvPr id="412" name="그룹 1734"/>
            <p:cNvGrpSpPr>
              <a:grpSpLocks noChangeAspect="1"/>
            </p:cNvGrpSpPr>
            <p:nvPr/>
          </p:nvGrpSpPr>
          <p:grpSpPr bwMode="auto">
            <a:xfrm>
              <a:off x="4065886" y="7657913"/>
              <a:ext cx="445032" cy="690989"/>
              <a:chOff x="6958711" y="2914660"/>
              <a:chExt cx="371305" cy="787640"/>
            </a:xfrm>
          </p:grpSpPr>
          <p:sp>
            <p:nvSpPr>
              <p:cNvPr id="414" name="Freeform 30"/>
              <p:cNvSpPr>
                <a:spLocks/>
              </p:cNvSpPr>
              <p:nvPr/>
            </p:nvSpPr>
            <p:spPr bwMode="auto">
              <a:xfrm rot="8224719" flipH="1">
                <a:off x="6994728" y="3415664"/>
                <a:ext cx="334905" cy="28663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EEBF3"/>
                  </a:gs>
                  <a:gs pos="100000">
                    <a:srgbClr val="77AACD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wrap="none" lIns="82403" tIns="41202" rIns="82403" bIns="41202" anchor="ctr"/>
              <a:lstStyle/>
              <a:p>
                <a:endParaRPr lang="ko-KR" altLang="en-US" sz="1600">
                  <a:latin typeface="+mn-ea"/>
                </a:endParaRPr>
              </a:p>
            </p:txBody>
          </p:sp>
          <p:sp>
            <p:nvSpPr>
              <p:cNvPr id="415" name="Freeform 31"/>
              <p:cNvSpPr>
                <a:spLocks/>
              </p:cNvSpPr>
              <p:nvPr/>
            </p:nvSpPr>
            <p:spPr bwMode="auto">
              <a:xfrm rot="8812549" flipV="1">
                <a:off x="6958711" y="2914660"/>
                <a:ext cx="371305" cy="26607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7AACD"/>
                  </a:gs>
                  <a:gs pos="100000">
                    <a:srgbClr val="DEEBF3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rot="10800000" wrap="none" lIns="82403" tIns="41202" rIns="82403" bIns="41202" anchor="ctr"/>
              <a:lstStyle/>
              <a:p>
                <a:endParaRPr lang="ko-KR" altLang="en-US" sz="1600">
                  <a:latin typeface="+mn-ea"/>
                </a:endParaRPr>
              </a:p>
            </p:txBody>
          </p:sp>
        </p:grpSp>
        <p:sp>
          <p:nvSpPr>
            <p:cNvPr id="413" name="직사각형 412"/>
            <p:cNvSpPr/>
            <p:nvPr/>
          </p:nvSpPr>
          <p:spPr>
            <a:xfrm>
              <a:off x="3843942" y="7875535"/>
              <a:ext cx="914400" cy="23827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000" b="1" dirty="0">
                  <a:solidFill>
                    <a:schemeClr val="tx1"/>
                  </a:solidFill>
                  <a:latin typeface="+mn-ea"/>
                </a:rPr>
                <a:t>SSO</a:t>
              </a:r>
            </a:p>
            <a:p>
              <a:pPr algn="ctr">
                <a:defRPr/>
              </a:pPr>
              <a:r>
                <a:rPr lang="ko-KR" altLang="en-US" sz="1000" b="1" dirty="0">
                  <a:solidFill>
                    <a:schemeClr val="tx1"/>
                  </a:solidFill>
                  <a:latin typeface="+mn-ea"/>
                </a:rPr>
                <a:t>연계</a:t>
              </a:r>
            </a:p>
          </p:txBody>
        </p:sp>
      </p:grpSp>
      <p:grpSp>
        <p:nvGrpSpPr>
          <p:cNvPr id="34" name="그룹 1738"/>
          <p:cNvGrpSpPr>
            <a:grpSpLocks/>
          </p:cNvGrpSpPr>
          <p:nvPr/>
        </p:nvGrpSpPr>
        <p:grpSpPr bwMode="auto">
          <a:xfrm>
            <a:off x="6315076" y="4896264"/>
            <a:ext cx="692716" cy="293589"/>
            <a:chOff x="3687646" y="7269284"/>
            <a:chExt cx="914400" cy="462556"/>
          </a:xfrm>
        </p:grpSpPr>
        <p:grpSp>
          <p:nvGrpSpPr>
            <p:cNvPr id="408" name="그룹 1739"/>
            <p:cNvGrpSpPr>
              <a:grpSpLocks noChangeAspect="1"/>
            </p:cNvGrpSpPr>
            <p:nvPr/>
          </p:nvGrpSpPr>
          <p:grpSpPr bwMode="auto">
            <a:xfrm>
              <a:off x="3803827" y="7269284"/>
              <a:ext cx="689611" cy="462556"/>
              <a:chOff x="6740098" y="2471671"/>
              <a:chExt cx="575368" cy="527255"/>
            </a:xfrm>
          </p:grpSpPr>
          <p:sp>
            <p:nvSpPr>
              <p:cNvPr id="410" name="Freeform 30"/>
              <p:cNvSpPr>
                <a:spLocks/>
              </p:cNvSpPr>
              <p:nvPr/>
            </p:nvSpPr>
            <p:spPr bwMode="auto">
              <a:xfrm rot="3377044" flipH="1">
                <a:off x="6981790" y="2665249"/>
                <a:ext cx="457548" cy="209805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EEBF3"/>
                  </a:gs>
                  <a:gs pos="100000">
                    <a:srgbClr val="77AACD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wrap="none" lIns="82403" tIns="41202" rIns="82403" bIns="41202" anchor="ctr"/>
              <a:lstStyle/>
              <a:p>
                <a:endParaRPr lang="ko-KR" altLang="en-US" sz="1400">
                  <a:latin typeface="+mn-ea"/>
                </a:endParaRPr>
              </a:p>
            </p:txBody>
          </p:sp>
          <p:sp>
            <p:nvSpPr>
              <p:cNvPr id="411" name="Freeform 31"/>
              <p:cNvSpPr>
                <a:spLocks/>
              </p:cNvSpPr>
              <p:nvPr/>
            </p:nvSpPr>
            <p:spPr bwMode="auto">
              <a:xfrm rot="4493605" flipV="1">
                <a:off x="6583836" y="2627933"/>
                <a:ext cx="507280" cy="194755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7AACD"/>
                  </a:gs>
                  <a:gs pos="100000">
                    <a:srgbClr val="DEEBF3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rot="10800000" wrap="none" lIns="82403" tIns="41202" rIns="82403" bIns="41202" anchor="ctr"/>
              <a:lstStyle/>
              <a:p>
                <a:endParaRPr lang="ko-KR" altLang="en-US" sz="1400">
                  <a:latin typeface="+mn-ea"/>
                </a:endParaRPr>
              </a:p>
            </p:txBody>
          </p:sp>
        </p:grpSp>
        <p:sp>
          <p:nvSpPr>
            <p:cNvPr id="409" name="직사각형 408"/>
            <p:cNvSpPr/>
            <p:nvPr/>
          </p:nvSpPr>
          <p:spPr>
            <a:xfrm>
              <a:off x="3687646" y="7369444"/>
              <a:ext cx="914400" cy="23856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1000" b="1" dirty="0">
                  <a:solidFill>
                    <a:schemeClr val="tx1"/>
                  </a:solidFill>
                  <a:latin typeface="+mn-ea"/>
                </a:rPr>
                <a:t>연계</a:t>
              </a:r>
            </a:p>
          </p:txBody>
        </p:sp>
      </p:grpSp>
      <p:grpSp>
        <p:nvGrpSpPr>
          <p:cNvPr id="35" name="그룹 1743"/>
          <p:cNvGrpSpPr>
            <a:grpSpLocks/>
          </p:cNvGrpSpPr>
          <p:nvPr/>
        </p:nvGrpSpPr>
        <p:grpSpPr bwMode="auto">
          <a:xfrm>
            <a:off x="7930211" y="1326967"/>
            <a:ext cx="692716" cy="535164"/>
            <a:chOff x="3843942" y="7630495"/>
            <a:chExt cx="914400" cy="734532"/>
          </a:xfrm>
        </p:grpSpPr>
        <p:grpSp>
          <p:nvGrpSpPr>
            <p:cNvPr id="404" name="그룹 1744"/>
            <p:cNvGrpSpPr>
              <a:grpSpLocks noChangeAspect="1"/>
            </p:cNvGrpSpPr>
            <p:nvPr/>
          </p:nvGrpSpPr>
          <p:grpSpPr bwMode="auto">
            <a:xfrm>
              <a:off x="4065886" y="7630495"/>
              <a:ext cx="445032" cy="734532"/>
              <a:chOff x="6958711" y="2883406"/>
              <a:chExt cx="371305" cy="837273"/>
            </a:xfrm>
          </p:grpSpPr>
          <p:sp>
            <p:nvSpPr>
              <p:cNvPr id="406" name="Freeform 30"/>
              <p:cNvSpPr>
                <a:spLocks/>
              </p:cNvSpPr>
              <p:nvPr/>
            </p:nvSpPr>
            <p:spPr bwMode="auto">
              <a:xfrm rot="8720867" flipH="1">
                <a:off x="6994728" y="3434043"/>
                <a:ext cx="334905" cy="28663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EEBF3"/>
                  </a:gs>
                  <a:gs pos="100000">
                    <a:srgbClr val="77AACD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wrap="none" lIns="82403" tIns="41202" rIns="82403" bIns="41202" anchor="ctr"/>
              <a:lstStyle/>
              <a:p>
                <a:endParaRPr lang="ko-KR" altLang="en-US" sz="1200">
                  <a:latin typeface="+mn-ea"/>
                </a:endParaRPr>
              </a:p>
            </p:txBody>
          </p:sp>
          <p:sp>
            <p:nvSpPr>
              <p:cNvPr id="407" name="Freeform 31"/>
              <p:cNvSpPr>
                <a:spLocks/>
              </p:cNvSpPr>
              <p:nvPr/>
            </p:nvSpPr>
            <p:spPr bwMode="auto">
              <a:xfrm rot="9228400" flipV="1">
                <a:off x="6958711" y="2883406"/>
                <a:ext cx="371305" cy="26607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7AACD"/>
                  </a:gs>
                  <a:gs pos="100000">
                    <a:srgbClr val="DEEBF3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rot="10800000" wrap="none" lIns="82403" tIns="41202" rIns="82403" bIns="41202" anchor="ctr"/>
              <a:lstStyle/>
              <a:p>
                <a:endParaRPr lang="ko-KR" altLang="en-US" sz="1200">
                  <a:latin typeface="+mn-ea"/>
                </a:endParaRPr>
              </a:p>
            </p:txBody>
          </p:sp>
        </p:grpSp>
        <p:sp>
          <p:nvSpPr>
            <p:cNvPr id="405" name="직사각형 404"/>
            <p:cNvSpPr/>
            <p:nvPr/>
          </p:nvSpPr>
          <p:spPr>
            <a:xfrm>
              <a:off x="3843942" y="7876397"/>
              <a:ext cx="914400" cy="2379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700" smtClean="0">
                  <a:solidFill>
                    <a:schemeClr val="tx1"/>
                  </a:solidFill>
                  <a:latin typeface="+mn-ea"/>
                </a:rPr>
                <a:t>가입</a:t>
              </a:r>
              <a:r>
                <a:rPr lang="en-US" altLang="ko-KR" sz="700" smtClean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700" smtClean="0">
                  <a:solidFill>
                    <a:schemeClr val="tx1"/>
                  </a:solidFill>
                  <a:latin typeface="+mn-ea"/>
                </a:rPr>
                <a:t>탈퇴</a:t>
              </a:r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36" name="그룹 1758"/>
          <p:cNvGrpSpPr>
            <a:grpSpLocks/>
          </p:cNvGrpSpPr>
          <p:nvPr/>
        </p:nvGrpSpPr>
        <p:grpSpPr bwMode="auto">
          <a:xfrm>
            <a:off x="7930211" y="2007769"/>
            <a:ext cx="692716" cy="535163"/>
            <a:chOff x="3843942" y="7630495"/>
            <a:chExt cx="914400" cy="734532"/>
          </a:xfrm>
        </p:grpSpPr>
        <p:grpSp>
          <p:nvGrpSpPr>
            <p:cNvPr id="400" name="그룹 1759"/>
            <p:cNvGrpSpPr>
              <a:grpSpLocks noChangeAspect="1"/>
            </p:cNvGrpSpPr>
            <p:nvPr/>
          </p:nvGrpSpPr>
          <p:grpSpPr bwMode="auto">
            <a:xfrm>
              <a:off x="4065886" y="7630495"/>
              <a:ext cx="445032" cy="734532"/>
              <a:chOff x="6958711" y="2883406"/>
              <a:chExt cx="371305" cy="837273"/>
            </a:xfrm>
          </p:grpSpPr>
          <p:sp>
            <p:nvSpPr>
              <p:cNvPr id="402" name="Freeform 30"/>
              <p:cNvSpPr>
                <a:spLocks/>
              </p:cNvSpPr>
              <p:nvPr/>
            </p:nvSpPr>
            <p:spPr bwMode="auto">
              <a:xfrm rot="8720867" flipH="1">
                <a:off x="6994728" y="3434043"/>
                <a:ext cx="334905" cy="28663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EEBF3"/>
                  </a:gs>
                  <a:gs pos="100000">
                    <a:srgbClr val="77AACD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wrap="none" lIns="82403" tIns="41202" rIns="82403" bIns="41202" anchor="ctr"/>
              <a:lstStyle/>
              <a:p>
                <a:endParaRPr lang="ko-KR" altLang="en-US" sz="1200">
                  <a:latin typeface="+mn-ea"/>
                </a:endParaRPr>
              </a:p>
            </p:txBody>
          </p:sp>
          <p:sp>
            <p:nvSpPr>
              <p:cNvPr id="403" name="Freeform 31"/>
              <p:cNvSpPr>
                <a:spLocks/>
              </p:cNvSpPr>
              <p:nvPr/>
            </p:nvSpPr>
            <p:spPr bwMode="auto">
              <a:xfrm rot="9228400" flipV="1">
                <a:off x="6958711" y="2883406"/>
                <a:ext cx="371305" cy="26607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7AACD"/>
                  </a:gs>
                  <a:gs pos="100000">
                    <a:srgbClr val="DEEBF3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rot="10800000" wrap="none" lIns="82403" tIns="41202" rIns="82403" bIns="41202" anchor="ctr"/>
              <a:lstStyle/>
              <a:p>
                <a:endParaRPr lang="ko-KR" altLang="en-US" sz="1200">
                  <a:latin typeface="+mn-ea"/>
                </a:endParaRPr>
              </a:p>
            </p:txBody>
          </p:sp>
        </p:grpSp>
        <p:sp>
          <p:nvSpPr>
            <p:cNvPr id="401" name="직사각형 400"/>
            <p:cNvSpPr/>
            <p:nvPr/>
          </p:nvSpPr>
          <p:spPr>
            <a:xfrm>
              <a:off x="3843942" y="7876396"/>
              <a:ext cx="914400" cy="23796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700" dirty="0">
                  <a:solidFill>
                    <a:schemeClr val="tx1"/>
                  </a:solidFill>
                  <a:latin typeface="+mn-ea"/>
                </a:rPr>
                <a:t>입찰공고</a:t>
              </a:r>
              <a:endParaRPr lang="en-US" altLang="ko-KR" sz="7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defRPr/>
              </a:pPr>
              <a:r>
                <a:rPr lang="ko-KR" altLang="en-US" sz="700" dirty="0">
                  <a:solidFill>
                    <a:schemeClr val="tx1"/>
                  </a:solidFill>
                  <a:latin typeface="+mn-ea"/>
                </a:rPr>
                <a:t>입찰결과</a:t>
              </a:r>
            </a:p>
          </p:txBody>
        </p:sp>
      </p:grpSp>
      <p:grpSp>
        <p:nvGrpSpPr>
          <p:cNvPr id="38" name="그룹 1768"/>
          <p:cNvGrpSpPr>
            <a:grpSpLocks/>
          </p:cNvGrpSpPr>
          <p:nvPr/>
        </p:nvGrpSpPr>
        <p:grpSpPr bwMode="auto">
          <a:xfrm>
            <a:off x="7930211" y="3414451"/>
            <a:ext cx="692716" cy="534008"/>
            <a:chOff x="3843942" y="7630495"/>
            <a:chExt cx="914400" cy="734532"/>
          </a:xfrm>
        </p:grpSpPr>
        <p:grpSp>
          <p:nvGrpSpPr>
            <p:cNvPr id="392" name="그룹 1769"/>
            <p:cNvGrpSpPr>
              <a:grpSpLocks noChangeAspect="1"/>
            </p:cNvGrpSpPr>
            <p:nvPr/>
          </p:nvGrpSpPr>
          <p:grpSpPr bwMode="auto">
            <a:xfrm>
              <a:off x="4065886" y="7630495"/>
              <a:ext cx="445032" cy="734532"/>
              <a:chOff x="6958711" y="2883406"/>
              <a:chExt cx="371305" cy="837273"/>
            </a:xfrm>
          </p:grpSpPr>
          <p:sp>
            <p:nvSpPr>
              <p:cNvPr id="394" name="Freeform 30"/>
              <p:cNvSpPr>
                <a:spLocks/>
              </p:cNvSpPr>
              <p:nvPr/>
            </p:nvSpPr>
            <p:spPr bwMode="auto">
              <a:xfrm rot="8720867" flipH="1">
                <a:off x="6994728" y="3434043"/>
                <a:ext cx="334905" cy="28663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EEBF3"/>
                  </a:gs>
                  <a:gs pos="100000">
                    <a:srgbClr val="77AACD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wrap="none" lIns="82403" tIns="41202" rIns="82403" bIns="41202" anchor="ctr"/>
              <a:lstStyle/>
              <a:p>
                <a:endParaRPr lang="ko-KR" altLang="en-US" sz="1200">
                  <a:latin typeface="+mn-ea"/>
                </a:endParaRPr>
              </a:p>
            </p:txBody>
          </p:sp>
          <p:sp>
            <p:nvSpPr>
              <p:cNvPr id="395" name="Freeform 31"/>
              <p:cNvSpPr>
                <a:spLocks/>
              </p:cNvSpPr>
              <p:nvPr/>
            </p:nvSpPr>
            <p:spPr bwMode="auto">
              <a:xfrm rot="9228400" flipV="1">
                <a:off x="6958711" y="2883406"/>
                <a:ext cx="371305" cy="26607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7AACD"/>
                  </a:gs>
                  <a:gs pos="100000">
                    <a:srgbClr val="DEEBF3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rot="10800000" wrap="none" lIns="82403" tIns="41202" rIns="82403" bIns="41202" anchor="ctr"/>
              <a:lstStyle/>
              <a:p>
                <a:endParaRPr lang="ko-KR" altLang="en-US" sz="1200">
                  <a:latin typeface="+mn-ea"/>
                </a:endParaRPr>
              </a:p>
            </p:txBody>
          </p:sp>
        </p:grpSp>
        <p:sp>
          <p:nvSpPr>
            <p:cNvPr id="393" name="직사각형 392"/>
            <p:cNvSpPr/>
            <p:nvPr/>
          </p:nvSpPr>
          <p:spPr>
            <a:xfrm>
              <a:off x="3843942" y="7875339"/>
              <a:ext cx="914400" cy="2384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700" dirty="0">
                  <a:solidFill>
                    <a:schemeClr val="tx1"/>
                  </a:solidFill>
                  <a:latin typeface="+mn-ea"/>
                </a:rPr>
                <a:t>출금의뢰</a:t>
              </a:r>
              <a:endParaRPr lang="en-US" altLang="ko-KR" sz="7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defRPr/>
              </a:pPr>
              <a:r>
                <a:rPr lang="ko-KR" altLang="en-US" sz="700" smtClean="0">
                  <a:solidFill>
                    <a:schemeClr val="tx1"/>
                  </a:solidFill>
                  <a:latin typeface="+mn-ea"/>
                </a:rPr>
                <a:t>예금주조회</a:t>
              </a:r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39" name="그룹 1813"/>
          <p:cNvGrpSpPr>
            <a:grpSpLocks/>
          </p:cNvGrpSpPr>
          <p:nvPr/>
        </p:nvGrpSpPr>
        <p:grpSpPr bwMode="auto">
          <a:xfrm>
            <a:off x="7930211" y="4148422"/>
            <a:ext cx="692716" cy="534008"/>
            <a:chOff x="3843942" y="7630495"/>
            <a:chExt cx="914400" cy="734532"/>
          </a:xfrm>
        </p:grpSpPr>
        <p:grpSp>
          <p:nvGrpSpPr>
            <p:cNvPr id="388" name="그룹 1814"/>
            <p:cNvGrpSpPr>
              <a:grpSpLocks noChangeAspect="1"/>
            </p:cNvGrpSpPr>
            <p:nvPr/>
          </p:nvGrpSpPr>
          <p:grpSpPr bwMode="auto">
            <a:xfrm>
              <a:off x="4065886" y="7630495"/>
              <a:ext cx="445032" cy="734532"/>
              <a:chOff x="6958711" y="2883406"/>
              <a:chExt cx="371305" cy="837273"/>
            </a:xfrm>
          </p:grpSpPr>
          <p:sp>
            <p:nvSpPr>
              <p:cNvPr id="390" name="Freeform 30"/>
              <p:cNvSpPr>
                <a:spLocks/>
              </p:cNvSpPr>
              <p:nvPr/>
            </p:nvSpPr>
            <p:spPr bwMode="auto">
              <a:xfrm rot="8720867" flipH="1">
                <a:off x="6994728" y="3434043"/>
                <a:ext cx="334905" cy="28663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EEBF3"/>
                  </a:gs>
                  <a:gs pos="100000">
                    <a:srgbClr val="77AACD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wrap="none" lIns="82403" tIns="41202" rIns="82403" bIns="41202" anchor="ctr"/>
              <a:lstStyle/>
              <a:p>
                <a:endParaRPr lang="ko-KR" altLang="en-US" sz="1200">
                  <a:latin typeface="+mn-ea"/>
                </a:endParaRPr>
              </a:p>
            </p:txBody>
          </p:sp>
          <p:sp>
            <p:nvSpPr>
              <p:cNvPr id="391" name="Freeform 31"/>
              <p:cNvSpPr>
                <a:spLocks/>
              </p:cNvSpPr>
              <p:nvPr/>
            </p:nvSpPr>
            <p:spPr bwMode="auto">
              <a:xfrm rot="9228400" flipV="1">
                <a:off x="6958711" y="2883406"/>
                <a:ext cx="371305" cy="26607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7AACD"/>
                  </a:gs>
                  <a:gs pos="100000">
                    <a:srgbClr val="DEEBF3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rot="10800000" wrap="none" lIns="82403" tIns="41202" rIns="82403" bIns="41202" anchor="ctr"/>
              <a:lstStyle/>
              <a:p>
                <a:endParaRPr lang="ko-KR" altLang="en-US" sz="1200">
                  <a:latin typeface="+mn-ea"/>
                </a:endParaRPr>
              </a:p>
            </p:txBody>
          </p:sp>
        </p:grpSp>
        <p:sp>
          <p:nvSpPr>
            <p:cNvPr id="389" name="직사각형 388"/>
            <p:cNvSpPr/>
            <p:nvPr/>
          </p:nvSpPr>
          <p:spPr>
            <a:xfrm>
              <a:off x="3843942" y="7875339"/>
              <a:ext cx="914400" cy="238484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700" dirty="0">
                  <a:solidFill>
                    <a:schemeClr val="tx1"/>
                  </a:solidFill>
                  <a:latin typeface="+mn-ea"/>
                </a:rPr>
                <a:t>원천</a:t>
              </a:r>
              <a:r>
                <a:rPr lang="en-US" altLang="ko-KR" sz="700" dirty="0">
                  <a:solidFill>
                    <a:schemeClr val="tx1"/>
                  </a:solidFill>
                  <a:latin typeface="+mn-ea"/>
                </a:rPr>
                <a:t>/</a:t>
              </a:r>
              <a:r>
                <a:rPr lang="ko-KR" altLang="en-US" sz="700" dirty="0">
                  <a:solidFill>
                    <a:schemeClr val="tx1"/>
                  </a:solidFill>
                  <a:latin typeface="+mn-ea"/>
                </a:rPr>
                <a:t>부가세</a:t>
              </a:r>
              <a:endParaRPr lang="en-US" altLang="ko-KR" sz="700" dirty="0">
                <a:solidFill>
                  <a:schemeClr val="tx1"/>
                </a:solidFill>
                <a:latin typeface="+mn-ea"/>
              </a:endParaRPr>
            </a:p>
            <a:p>
              <a:pPr algn="ctr">
                <a:defRPr/>
              </a:pPr>
              <a:r>
                <a:rPr lang="ko-KR" altLang="en-US" sz="700" dirty="0">
                  <a:solidFill>
                    <a:schemeClr val="tx1"/>
                  </a:solidFill>
                  <a:latin typeface="+mn-ea"/>
                </a:rPr>
                <a:t>세금계산서</a:t>
              </a:r>
            </a:p>
          </p:txBody>
        </p:sp>
      </p:grpSp>
      <p:grpSp>
        <p:nvGrpSpPr>
          <p:cNvPr id="40" name="그룹 1818"/>
          <p:cNvGrpSpPr>
            <a:grpSpLocks/>
          </p:cNvGrpSpPr>
          <p:nvPr/>
        </p:nvGrpSpPr>
        <p:grpSpPr bwMode="auto">
          <a:xfrm>
            <a:off x="7930211" y="2830752"/>
            <a:ext cx="692716" cy="447318"/>
            <a:chOff x="3843942" y="7693579"/>
            <a:chExt cx="914400" cy="614036"/>
          </a:xfrm>
        </p:grpSpPr>
        <p:grpSp>
          <p:nvGrpSpPr>
            <p:cNvPr id="384" name="그룹 1819"/>
            <p:cNvGrpSpPr>
              <a:grpSpLocks noChangeAspect="1"/>
            </p:cNvGrpSpPr>
            <p:nvPr/>
          </p:nvGrpSpPr>
          <p:grpSpPr bwMode="auto">
            <a:xfrm>
              <a:off x="4065886" y="7693579"/>
              <a:ext cx="445032" cy="614036"/>
              <a:chOff x="6958711" y="2955314"/>
              <a:chExt cx="371305" cy="699923"/>
            </a:xfrm>
          </p:grpSpPr>
          <p:sp>
            <p:nvSpPr>
              <p:cNvPr id="386" name="Freeform 30"/>
              <p:cNvSpPr>
                <a:spLocks/>
              </p:cNvSpPr>
              <p:nvPr/>
            </p:nvSpPr>
            <p:spPr bwMode="auto">
              <a:xfrm rot="8720867" flipH="1">
                <a:off x="6994728" y="3368601"/>
                <a:ext cx="334905" cy="28663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DEEBF3"/>
                  </a:gs>
                  <a:gs pos="100000">
                    <a:srgbClr val="77AACD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wrap="none" lIns="82403" tIns="41202" rIns="82403" bIns="41202" anchor="ctr"/>
              <a:lstStyle/>
              <a:p>
                <a:endParaRPr lang="ko-KR" altLang="en-US" sz="1200">
                  <a:latin typeface="+mn-ea"/>
                </a:endParaRPr>
              </a:p>
            </p:txBody>
          </p:sp>
          <p:sp>
            <p:nvSpPr>
              <p:cNvPr id="387" name="Freeform 31"/>
              <p:cNvSpPr>
                <a:spLocks/>
              </p:cNvSpPr>
              <p:nvPr/>
            </p:nvSpPr>
            <p:spPr bwMode="auto">
              <a:xfrm rot="9228400" flipV="1">
                <a:off x="6958711" y="2955314"/>
                <a:ext cx="371305" cy="266076"/>
              </a:xfrm>
              <a:custGeom>
                <a:avLst/>
                <a:gdLst>
                  <a:gd name="T0" fmla="*/ 2147483647 w 676"/>
                  <a:gd name="T1" fmla="*/ 2147483647 h 594"/>
                  <a:gd name="T2" fmla="*/ 2147483647 w 676"/>
                  <a:gd name="T3" fmla="*/ 2147483647 h 594"/>
                  <a:gd name="T4" fmla="*/ 2147483647 w 676"/>
                  <a:gd name="T5" fmla="*/ 2147483647 h 594"/>
                  <a:gd name="T6" fmla="*/ 0 w 676"/>
                  <a:gd name="T7" fmla="*/ 2147483647 h 594"/>
                  <a:gd name="T8" fmla="*/ 2147483647 w 676"/>
                  <a:gd name="T9" fmla="*/ 2147483647 h 594"/>
                  <a:gd name="T10" fmla="*/ 2147483647 w 676"/>
                  <a:gd name="T11" fmla="*/ 2147483647 h 594"/>
                  <a:gd name="T12" fmla="*/ 2147483647 w 676"/>
                  <a:gd name="T13" fmla="*/ 2147483647 h 594"/>
                  <a:gd name="T14" fmla="*/ 2147483647 w 676"/>
                  <a:gd name="T15" fmla="*/ 2147483647 h 59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676"/>
                  <a:gd name="T25" fmla="*/ 0 h 594"/>
                  <a:gd name="T26" fmla="*/ 676 w 676"/>
                  <a:gd name="T27" fmla="*/ 594 h 59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676" h="594">
                    <a:moveTo>
                      <a:pt x="674" y="189"/>
                    </a:moveTo>
                    <a:cubicBezTo>
                      <a:pt x="675" y="193"/>
                      <a:pt x="574" y="91"/>
                      <a:pt x="356" y="126"/>
                    </a:cubicBezTo>
                    <a:cubicBezTo>
                      <a:pt x="139" y="160"/>
                      <a:pt x="88" y="408"/>
                      <a:pt x="86" y="405"/>
                    </a:cubicBezTo>
                    <a:cubicBezTo>
                      <a:pt x="83" y="409"/>
                      <a:pt x="27" y="402"/>
                      <a:pt x="0" y="415"/>
                    </a:cubicBezTo>
                    <a:cubicBezTo>
                      <a:pt x="84" y="507"/>
                      <a:pt x="164" y="593"/>
                      <a:pt x="172" y="594"/>
                    </a:cubicBezTo>
                    <a:cubicBezTo>
                      <a:pt x="240" y="480"/>
                      <a:pt x="389" y="382"/>
                      <a:pt x="389" y="382"/>
                    </a:cubicBezTo>
                    <a:cubicBezTo>
                      <a:pt x="386" y="380"/>
                      <a:pt x="288" y="409"/>
                      <a:pt x="301" y="393"/>
                    </a:cubicBezTo>
                    <a:cubicBezTo>
                      <a:pt x="437" y="0"/>
                      <a:pt x="676" y="189"/>
                      <a:pt x="674" y="189"/>
                    </a:cubicBezTo>
                    <a:close/>
                  </a:path>
                </a:pathLst>
              </a:custGeom>
              <a:gradFill rotWithShape="0">
                <a:gsLst>
                  <a:gs pos="0">
                    <a:srgbClr val="77AACD"/>
                  </a:gs>
                  <a:gs pos="100000">
                    <a:srgbClr val="DEEBF3"/>
                  </a:gs>
                </a:gsLst>
                <a:lin ang="5400000" scaled="1"/>
              </a:gradFill>
              <a:ln w="12700">
                <a:solidFill>
                  <a:srgbClr val="0070C0"/>
                </a:solidFill>
                <a:round/>
                <a:headEnd/>
                <a:tailEnd/>
              </a:ln>
            </p:spPr>
            <p:txBody>
              <a:bodyPr rot="10800000" wrap="none" lIns="82403" tIns="41202" rIns="82403" bIns="41202" anchor="ctr"/>
              <a:lstStyle/>
              <a:p>
                <a:endParaRPr lang="ko-KR" altLang="en-US" sz="1200">
                  <a:latin typeface="+mn-ea"/>
                </a:endParaRPr>
              </a:p>
            </p:txBody>
          </p:sp>
        </p:grpSp>
        <p:sp>
          <p:nvSpPr>
            <p:cNvPr id="385" name="직사각형 384"/>
            <p:cNvSpPr/>
            <p:nvPr/>
          </p:nvSpPr>
          <p:spPr>
            <a:xfrm>
              <a:off x="3843942" y="7876044"/>
              <a:ext cx="914400" cy="237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ko-KR" altLang="en-US" sz="700" smtClean="0">
                  <a:solidFill>
                    <a:schemeClr val="tx1"/>
                  </a:solidFill>
                  <a:latin typeface="+mn-ea"/>
                </a:rPr>
                <a:t>법인카드</a:t>
              </a:r>
              <a:endParaRPr lang="ko-KR" altLang="en-US" sz="700" dirty="0">
                <a:solidFill>
                  <a:schemeClr val="tx1"/>
                </a:solidFill>
                <a:latin typeface="+mn-ea"/>
              </a:endParaRPr>
            </a:p>
          </p:txBody>
        </p:sp>
      </p:grpSp>
      <p:grpSp>
        <p:nvGrpSpPr>
          <p:cNvPr id="42" name="그룹 2286"/>
          <p:cNvGrpSpPr>
            <a:grpSpLocks/>
          </p:cNvGrpSpPr>
          <p:nvPr/>
        </p:nvGrpSpPr>
        <p:grpSpPr bwMode="auto">
          <a:xfrm>
            <a:off x="8597672" y="1877156"/>
            <a:ext cx="708350" cy="708543"/>
            <a:chOff x="11277077" y="2712872"/>
            <a:chExt cx="936000" cy="973138"/>
          </a:xfrm>
        </p:grpSpPr>
        <p:sp>
          <p:nvSpPr>
            <p:cNvPr id="373" name="AutoShape 295"/>
            <p:cNvSpPr>
              <a:spLocks noChangeArrowheads="1"/>
            </p:cNvSpPr>
            <p:nvPr/>
          </p:nvSpPr>
          <p:spPr bwMode="auto">
            <a:xfrm>
              <a:off x="11277077" y="2858922"/>
              <a:ext cx="936000" cy="827088"/>
            </a:xfrm>
            <a:prstGeom prst="roundRect">
              <a:avLst>
                <a:gd name="adj" fmla="val 1023"/>
              </a:avLst>
            </a:prstGeom>
            <a:gradFill rotWithShape="0">
              <a:gsLst>
                <a:gs pos="0">
                  <a:srgbClr val="D7EBF5"/>
                </a:gs>
                <a:gs pos="100000">
                  <a:srgbClr val="EDF4F8"/>
                </a:gs>
              </a:gsLst>
              <a:lin ang="5400000" scaled="1"/>
            </a:gra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endParaRPr lang="ko-KR" altLang="en-US" sz="11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grpSp>
          <p:nvGrpSpPr>
            <p:cNvPr id="374" name="그룹 1444"/>
            <p:cNvGrpSpPr>
              <a:grpSpLocks/>
            </p:cNvGrpSpPr>
            <p:nvPr/>
          </p:nvGrpSpPr>
          <p:grpSpPr bwMode="auto">
            <a:xfrm>
              <a:off x="11294739" y="2712872"/>
              <a:ext cx="900000" cy="287338"/>
              <a:chOff x="4384576" y="5818120"/>
              <a:chExt cx="1080120" cy="433264"/>
            </a:xfrm>
          </p:grpSpPr>
          <p:pic>
            <p:nvPicPr>
              <p:cNvPr id="378" name="Picture 160" descr="아이콘6"/>
              <p:cNvPicPr preferRelativeResize="0"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89192" y="5818120"/>
                <a:ext cx="1075504" cy="433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9" name="Text Box 161"/>
              <p:cNvSpPr txBox="1">
                <a:spLocks noChangeArrowheads="1"/>
              </p:cNvSpPr>
              <p:nvPr/>
            </p:nvSpPr>
            <p:spPr bwMode="auto">
              <a:xfrm>
                <a:off x="4384576" y="5926949"/>
                <a:ext cx="1080120" cy="2160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lnSpc>
                    <a:spcPct val="125000"/>
                  </a:lnSpc>
                </a:pPr>
                <a:r>
                  <a:rPr lang="ko-KR" altLang="en-US" sz="900">
                    <a:solidFill>
                      <a:srgbClr val="FEFFFB"/>
                    </a:solidFill>
                    <a:latin typeface="+mn-ea"/>
                    <a:ea typeface="+mn-ea"/>
                    <a:cs typeface="Arial" panose="020B0604020202020204" pitchFamily="34" charset="0"/>
                  </a:rPr>
                  <a:t>나라장터</a:t>
                </a:r>
              </a:p>
            </p:txBody>
          </p:sp>
        </p:grpSp>
        <p:grpSp>
          <p:nvGrpSpPr>
            <p:cNvPr id="375" name="그룹 2277"/>
            <p:cNvGrpSpPr>
              <a:grpSpLocks/>
            </p:cNvGrpSpPr>
            <p:nvPr/>
          </p:nvGrpSpPr>
          <p:grpSpPr bwMode="auto">
            <a:xfrm>
              <a:off x="11440292" y="3050661"/>
              <a:ext cx="612182" cy="569912"/>
              <a:chOff x="11442427" y="3050661"/>
              <a:chExt cx="612182" cy="569912"/>
            </a:xfrm>
          </p:grpSpPr>
          <p:pic>
            <p:nvPicPr>
              <p:cNvPr id="376" name="Picture 194" descr="사람-돋보기_1-[Converted]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442427" y="3131004"/>
                <a:ext cx="612182" cy="4895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77" name="Picture 188" descr="building10"/>
              <p:cNvPicPr>
                <a:picLocks noChangeAspect="1" noChangeArrowheads="1"/>
              </p:cNvPicPr>
              <p:nvPr/>
            </p:nvPicPr>
            <p:blipFill>
              <a:blip r:embed="rId1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332" t="37270" r="37549" b="39886"/>
              <a:stretch>
                <a:fillRect/>
              </a:stretch>
            </p:blipFill>
            <p:spPr bwMode="auto">
              <a:xfrm>
                <a:off x="11490265" y="3050661"/>
                <a:ext cx="526031" cy="55729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44" name="그룹 2288"/>
          <p:cNvGrpSpPr>
            <a:grpSpLocks/>
          </p:cNvGrpSpPr>
          <p:nvPr/>
        </p:nvGrpSpPr>
        <p:grpSpPr bwMode="auto">
          <a:xfrm>
            <a:off x="8597672" y="3289618"/>
            <a:ext cx="708350" cy="708543"/>
            <a:chOff x="11277077" y="4738522"/>
            <a:chExt cx="936000" cy="973138"/>
          </a:xfrm>
        </p:grpSpPr>
        <p:sp>
          <p:nvSpPr>
            <p:cNvPr id="255" name="AutoShape 295"/>
            <p:cNvSpPr>
              <a:spLocks noChangeArrowheads="1"/>
            </p:cNvSpPr>
            <p:nvPr/>
          </p:nvSpPr>
          <p:spPr bwMode="auto">
            <a:xfrm>
              <a:off x="11277077" y="4884572"/>
              <a:ext cx="936000" cy="827088"/>
            </a:xfrm>
            <a:prstGeom prst="roundRect">
              <a:avLst>
                <a:gd name="adj" fmla="val 1023"/>
              </a:avLst>
            </a:prstGeom>
            <a:gradFill rotWithShape="0">
              <a:gsLst>
                <a:gs pos="0">
                  <a:srgbClr val="D7EBF5"/>
                </a:gs>
                <a:gs pos="100000">
                  <a:srgbClr val="EDF4F8"/>
                </a:gs>
              </a:gsLst>
              <a:lin ang="5400000" scaled="1"/>
            </a:gra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endParaRPr lang="ko-KR" altLang="en-US" sz="11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grpSp>
          <p:nvGrpSpPr>
            <p:cNvPr id="256" name="그룹 1452"/>
            <p:cNvGrpSpPr>
              <a:grpSpLocks/>
            </p:cNvGrpSpPr>
            <p:nvPr/>
          </p:nvGrpSpPr>
          <p:grpSpPr bwMode="auto">
            <a:xfrm>
              <a:off x="11294739" y="4738522"/>
              <a:ext cx="900000" cy="287338"/>
              <a:chOff x="4384576" y="5818120"/>
              <a:chExt cx="1080120" cy="433264"/>
            </a:xfrm>
          </p:grpSpPr>
          <p:pic>
            <p:nvPicPr>
              <p:cNvPr id="260" name="Picture 160" descr="아이콘6"/>
              <p:cNvPicPr preferRelativeResize="0"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89192" y="5818120"/>
                <a:ext cx="1075504" cy="43326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61" name="Text Box 161"/>
              <p:cNvSpPr txBox="1">
                <a:spLocks noChangeArrowheads="1"/>
              </p:cNvSpPr>
              <p:nvPr/>
            </p:nvSpPr>
            <p:spPr bwMode="auto">
              <a:xfrm>
                <a:off x="4384576" y="5926949"/>
                <a:ext cx="1080120" cy="2160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 anchor="ctr" anchorCtr="1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>
                  <a:lnSpc>
                    <a:spcPct val="125000"/>
                  </a:lnSpc>
                </a:pPr>
                <a:r>
                  <a:rPr lang="ko-KR" altLang="en-US" sz="900">
                    <a:solidFill>
                      <a:srgbClr val="FEFFFB"/>
                    </a:solidFill>
                    <a:latin typeface="+mn-ea"/>
                    <a:ea typeface="+mn-ea"/>
                    <a:cs typeface="Arial" panose="020B0604020202020204" pitchFamily="34" charset="0"/>
                  </a:rPr>
                  <a:t>금융기관</a:t>
                </a:r>
              </a:p>
            </p:txBody>
          </p:sp>
        </p:grpSp>
        <p:grpSp>
          <p:nvGrpSpPr>
            <p:cNvPr id="257" name="그룹 2279"/>
            <p:cNvGrpSpPr>
              <a:grpSpLocks/>
            </p:cNvGrpSpPr>
            <p:nvPr/>
          </p:nvGrpSpPr>
          <p:grpSpPr bwMode="auto">
            <a:xfrm>
              <a:off x="11424121" y="5000723"/>
              <a:ext cx="644525" cy="641748"/>
              <a:chOff x="11439287" y="5000723"/>
              <a:chExt cx="644525" cy="641748"/>
            </a:xfrm>
          </p:grpSpPr>
          <p:pic>
            <p:nvPicPr>
              <p:cNvPr id="258" name="Picture 194" descr="사람-돋보기_1-[Converted]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461311" y="5147940"/>
                <a:ext cx="612182" cy="4895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9" name="Picture 15"/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439287" y="5000723"/>
                <a:ext cx="644525" cy="6417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 type="none" w="sm" len="sm"/>
                  </a14:hiddenLine>
                </a:ext>
              </a:extLst>
            </p:spPr>
          </p:pic>
        </p:grpSp>
      </p:grpSp>
      <p:grpSp>
        <p:nvGrpSpPr>
          <p:cNvPr id="45" name="그룹 3"/>
          <p:cNvGrpSpPr>
            <a:grpSpLocks/>
          </p:cNvGrpSpPr>
          <p:nvPr/>
        </p:nvGrpSpPr>
        <p:grpSpPr bwMode="auto">
          <a:xfrm>
            <a:off x="8597672" y="3995849"/>
            <a:ext cx="708350" cy="709698"/>
            <a:chOff x="11358563" y="5732463"/>
            <a:chExt cx="935037" cy="974725"/>
          </a:xfrm>
        </p:grpSpPr>
        <p:grpSp>
          <p:nvGrpSpPr>
            <p:cNvPr id="247" name="그룹 2289"/>
            <p:cNvGrpSpPr>
              <a:grpSpLocks/>
            </p:cNvGrpSpPr>
            <p:nvPr/>
          </p:nvGrpSpPr>
          <p:grpSpPr bwMode="auto">
            <a:xfrm>
              <a:off x="11358563" y="5732463"/>
              <a:ext cx="935037" cy="974725"/>
              <a:chOff x="11277077" y="5751347"/>
              <a:chExt cx="936000" cy="974725"/>
            </a:xfrm>
          </p:grpSpPr>
          <p:sp>
            <p:nvSpPr>
              <p:cNvPr id="251" name="AutoShape 295"/>
              <p:cNvSpPr>
                <a:spLocks noChangeArrowheads="1"/>
              </p:cNvSpPr>
              <p:nvPr/>
            </p:nvSpPr>
            <p:spPr bwMode="auto">
              <a:xfrm>
                <a:off x="11277077" y="5897397"/>
                <a:ext cx="936000" cy="828675"/>
              </a:xfrm>
              <a:prstGeom prst="roundRect">
                <a:avLst>
                  <a:gd name="adj" fmla="val 1023"/>
                </a:avLst>
              </a:prstGeom>
              <a:gradFill rotWithShape="0">
                <a:gsLst>
                  <a:gs pos="0">
                    <a:srgbClr val="D7EBF5"/>
                  </a:gs>
                  <a:gs pos="100000">
                    <a:srgbClr val="EDF4F8"/>
                  </a:gs>
                </a:gsLst>
                <a:lin ang="5400000" scaled="1"/>
              </a:gradFill>
              <a:ln w="9525">
                <a:solidFill>
                  <a:srgbClr val="99CCFF"/>
                </a:solidFill>
                <a:round/>
                <a:headEnd/>
                <a:tailEnd/>
              </a:ln>
            </p:spPr>
            <p:txBody>
              <a:bodyPr wrap="none" lIns="90000" tIns="46800" rIns="90000" bIns="46800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굴림" panose="020B0600000101010101" pitchFamily="50" charset="-127"/>
                    <a:ea typeface="굴림" panose="020B0600000101010101" pitchFamily="50" charset="-127"/>
                  </a:defRPr>
                </a:lvl9pPr>
              </a:lstStyle>
              <a:p>
                <a:pPr algn="ctr" eaLnBrk="1" hangingPunct="1"/>
                <a:endParaRPr lang="ko-KR" altLang="en-US" sz="1100">
                  <a:solidFill>
                    <a:srgbClr val="000000"/>
                  </a:solidFill>
                  <a:latin typeface="+mn-ea"/>
                  <a:ea typeface="+mn-ea"/>
                </a:endParaRPr>
              </a:p>
            </p:txBody>
          </p:sp>
          <p:grpSp>
            <p:nvGrpSpPr>
              <p:cNvPr id="252" name="그룹 1457"/>
              <p:cNvGrpSpPr>
                <a:grpSpLocks/>
              </p:cNvGrpSpPr>
              <p:nvPr/>
            </p:nvGrpSpPr>
            <p:grpSpPr bwMode="auto">
              <a:xfrm>
                <a:off x="11294739" y="5751347"/>
                <a:ext cx="900000" cy="287338"/>
                <a:chOff x="4384576" y="5818120"/>
                <a:chExt cx="1080120" cy="433264"/>
              </a:xfrm>
            </p:grpSpPr>
            <p:pic>
              <p:nvPicPr>
                <p:cNvPr id="253" name="Picture 160" descr="아이콘6"/>
                <p:cNvPicPr preferRelativeResize="0">
                  <a:picLocks noChangeAspect="1" noChangeArrowheads="1"/>
                </p:cNvPicPr>
                <p:nvPr/>
              </p:nvPicPr>
              <p:blipFill>
                <a:blip r:embed="rId11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389192" y="5818120"/>
                  <a:ext cx="1075504" cy="43326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254" name="Text Box 161"/>
                <p:cNvSpPr txBox="1">
                  <a:spLocks noChangeArrowheads="1"/>
                </p:cNvSpPr>
                <p:nvPr/>
              </p:nvSpPr>
              <p:spPr bwMode="auto">
                <a:xfrm>
                  <a:off x="4384576" y="5944403"/>
                  <a:ext cx="1080120" cy="216023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lIns="0" tIns="0" rIns="0" bIns="0" anchor="ctr" anchorCtr="1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굴림" panose="020B0600000101010101" pitchFamily="50" charset="-127"/>
                      <a:ea typeface="굴림" panose="020B0600000101010101" pitchFamily="50" charset="-127"/>
                    </a:defRPr>
                  </a:lvl9pPr>
                </a:lstStyle>
                <a:p>
                  <a:pPr algn="ctr" eaLnBrk="1" hangingPunct="1">
                    <a:lnSpc>
                      <a:spcPct val="125000"/>
                    </a:lnSpc>
                  </a:pPr>
                  <a:r>
                    <a:rPr lang="ko-KR" altLang="en-US" sz="900">
                      <a:solidFill>
                        <a:srgbClr val="FEFFFB"/>
                      </a:solidFill>
                      <a:latin typeface="+mn-ea"/>
                      <a:ea typeface="+mn-ea"/>
                      <a:cs typeface="Arial" panose="020B0604020202020204" pitchFamily="34" charset="0"/>
                    </a:rPr>
                    <a:t>국세청</a:t>
                  </a:r>
                </a:p>
              </p:txBody>
            </p:sp>
          </p:grpSp>
        </p:grpSp>
        <p:grpSp>
          <p:nvGrpSpPr>
            <p:cNvPr id="248" name="그룹 463"/>
            <p:cNvGrpSpPr>
              <a:grpSpLocks/>
            </p:cNvGrpSpPr>
            <p:nvPr/>
          </p:nvGrpSpPr>
          <p:grpSpPr bwMode="auto">
            <a:xfrm>
              <a:off x="11536876" y="6059488"/>
              <a:ext cx="611552" cy="558047"/>
              <a:chOff x="7417781" y="6370835"/>
              <a:chExt cx="611552" cy="558047"/>
            </a:xfrm>
          </p:grpSpPr>
          <p:pic>
            <p:nvPicPr>
              <p:cNvPr id="249" name="Picture 194" descr="사람-돋보기_1-[Converted]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17781" y="6434312"/>
                <a:ext cx="611552" cy="48956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250" name="Picture 193" descr="b1"/>
              <p:cNvPicPr>
                <a:picLocks noChangeAspect="1" noChangeArrowheads="1"/>
              </p:cNvPicPr>
              <p:nvPr/>
            </p:nvPicPr>
            <p:blipFill>
              <a:blip r:embed="rId1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25325" y="6370835"/>
                <a:ext cx="534755" cy="55804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46" name="그룹 2"/>
          <p:cNvGrpSpPr>
            <a:grpSpLocks/>
          </p:cNvGrpSpPr>
          <p:nvPr/>
        </p:nvGrpSpPr>
        <p:grpSpPr bwMode="auto">
          <a:xfrm>
            <a:off x="8597672" y="2564904"/>
            <a:ext cx="708350" cy="750153"/>
            <a:chOff x="11358563" y="6797675"/>
            <a:chExt cx="935037" cy="1030288"/>
          </a:xfrm>
        </p:grpSpPr>
        <p:sp>
          <p:nvSpPr>
            <p:cNvPr id="241" name="AutoShape 295"/>
            <p:cNvSpPr>
              <a:spLocks noChangeArrowheads="1"/>
            </p:cNvSpPr>
            <p:nvPr/>
          </p:nvSpPr>
          <p:spPr bwMode="auto">
            <a:xfrm>
              <a:off x="11358563" y="6999141"/>
              <a:ext cx="935037" cy="828822"/>
            </a:xfrm>
            <a:prstGeom prst="roundRect">
              <a:avLst>
                <a:gd name="adj" fmla="val 1023"/>
              </a:avLst>
            </a:prstGeom>
            <a:gradFill rotWithShape="0">
              <a:gsLst>
                <a:gs pos="0">
                  <a:srgbClr val="D7EBF5"/>
                </a:gs>
                <a:gs pos="100000">
                  <a:srgbClr val="EDF4F8"/>
                </a:gs>
              </a:gsLst>
              <a:lin ang="5400000" scaled="1"/>
            </a:gradFill>
            <a:ln w="9525">
              <a:solidFill>
                <a:srgbClr val="99CCFF"/>
              </a:solidFill>
              <a:round/>
              <a:headEnd/>
              <a:tailEnd/>
            </a:ln>
          </p:spPr>
          <p:txBody>
            <a:bodyPr wrap="none" lIns="90000" tIns="46800" rIns="90000" bIns="4680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endParaRPr lang="ko-KR" altLang="en-US" sz="11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sp>
          <p:nvSpPr>
            <p:cNvPr id="242" name="AutoShape 295"/>
            <p:cNvSpPr>
              <a:spLocks noChangeArrowheads="1"/>
            </p:cNvSpPr>
            <p:nvPr/>
          </p:nvSpPr>
          <p:spPr bwMode="auto">
            <a:xfrm>
              <a:off x="11484839" y="6944749"/>
              <a:ext cx="685094" cy="568258"/>
            </a:xfrm>
            <a:prstGeom prst="roundRect">
              <a:avLst>
                <a:gd name="adj" fmla="val 1023"/>
              </a:avLst>
            </a:prstGeom>
            <a:gradFill rotWithShape="0">
              <a:gsLst>
                <a:gs pos="0">
                  <a:srgbClr val="D7EBF5"/>
                </a:gs>
                <a:gs pos="100000">
                  <a:srgbClr val="EDF4F8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90000" tIns="46800" rIns="90000" bIns="46800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endParaRPr lang="ko-KR" altLang="en-US" sz="1100">
                <a:solidFill>
                  <a:srgbClr val="000000"/>
                </a:solidFill>
                <a:latin typeface="+mn-ea"/>
                <a:ea typeface="+mn-ea"/>
              </a:endParaRPr>
            </a:p>
          </p:txBody>
        </p:sp>
        <p:pic>
          <p:nvPicPr>
            <p:cNvPr id="243" name="Picture 160" descr="아이콘6"/>
            <p:cNvPicPr preferRelativeResize="0"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80049" y="6797675"/>
              <a:ext cx="895232" cy="3874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4" name="Text Box 161"/>
            <p:cNvSpPr txBox="1">
              <a:spLocks noChangeArrowheads="1"/>
            </p:cNvSpPr>
            <p:nvPr/>
          </p:nvSpPr>
          <p:spPr bwMode="auto">
            <a:xfrm>
              <a:off x="11376205" y="6904491"/>
              <a:ext cx="899074" cy="193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 anchor="ctr" anchorCtr="1"/>
            <a:lstStyle>
              <a:lvl1pPr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>
                <a:lnSpc>
                  <a:spcPts val="1000"/>
                </a:lnSpc>
              </a:pPr>
              <a:r>
                <a:rPr lang="ko-KR" altLang="en-US" sz="900" smtClean="0">
                  <a:solidFill>
                    <a:srgbClr val="FEFFFB"/>
                  </a:solidFill>
                  <a:latin typeface="+mn-ea"/>
                  <a:ea typeface="+mn-ea"/>
                  <a:cs typeface="Arial" panose="020B0604020202020204" pitchFamily="34" charset="0"/>
                </a:rPr>
                <a:t>카드사</a:t>
              </a:r>
              <a:endParaRPr lang="ko-KR" altLang="en-US" sz="900">
                <a:solidFill>
                  <a:srgbClr val="FEFFFB"/>
                </a:solidFill>
                <a:latin typeface="+mn-ea"/>
                <a:ea typeface="+mn-ea"/>
                <a:cs typeface="Arial" panose="020B0604020202020204" pitchFamily="34" charset="0"/>
              </a:endParaRPr>
            </a:p>
          </p:txBody>
        </p:sp>
        <p:pic>
          <p:nvPicPr>
            <p:cNvPr id="245" name="Picture 194" descr="사람-돋보기_1-[Converted]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13368" y="7263359"/>
              <a:ext cx="611552" cy="4895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6" name="Picture 169" descr="C:\Users\Administrator\AppData\Local\Microsoft\Windows\Temporary Internet Files\Content.IE5\3RJFPI9I\MC900202496[1].wmf"/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520007" y="7220464"/>
              <a:ext cx="570912" cy="4604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1" name="Rectangle 4"/>
          <p:cNvSpPr>
            <a:spLocks noChangeArrowheads="1"/>
          </p:cNvSpPr>
          <p:nvPr/>
        </p:nvSpPr>
        <p:spPr bwMode="auto">
          <a:xfrm>
            <a:off x="6375207" y="4178475"/>
            <a:ext cx="1453982" cy="665776"/>
          </a:xfrm>
          <a:prstGeom prst="rect">
            <a:avLst/>
          </a:prstGeom>
          <a:ln w="3175"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>
              <a:defRPr/>
            </a:pPr>
            <a:endParaRPr lang="ko-KR" altLang="en-US" sz="1600">
              <a:latin typeface="+mn-ea"/>
            </a:endParaRPr>
          </a:p>
        </p:txBody>
      </p:sp>
      <p:sp>
        <p:nvSpPr>
          <p:cNvPr id="52" name="Rectangle 63"/>
          <p:cNvSpPr>
            <a:spLocks noChangeArrowheads="1"/>
          </p:cNvSpPr>
          <p:nvPr/>
        </p:nvSpPr>
        <p:spPr bwMode="auto">
          <a:xfrm>
            <a:off x="6597694" y="4178475"/>
            <a:ext cx="1007806" cy="14679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50" dirty="0">
                <a:latin typeface="+mn-ea"/>
              </a:rPr>
              <a:t>시스템운영관리</a:t>
            </a:r>
            <a:endParaRPr kumimoji="0" lang="en-US" altLang="ko-KR" sz="1050" dirty="0">
              <a:latin typeface="+mn-ea"/>
            </a:endParaRPr>
          </a:p>
        </p:txBody>
      </p:sp>
      <p:sp>
        <p:nvSpPr>
          <p:cNvPr id="53" name="Rectangle 63"/>
          <p:cNvSpPr>
            <a:spLocks noChangeArrowheads="1"/>
          </p:cNvSpPr>
          <p:nvPr/>
        </p:nvSpPr>
        <p:spPr bwMode="auto">
          <a:xfrm>
            <a:off x="6475026" y="4606143"/>
            <a:ext cx="620558" cy="180314"/>
          </a:xfrm>
          <a:prstGeom prst="rect">
            <a:avLst/>
          </a:prstGeom>
          <a:solidFill>
            <a:schemeClr val="bg1"/>
          </a:solidFill>
          <a:ln w="3175">
            <a:headEnd/>
            <a:tailEnd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schemeClr val="tx1"/>
                </a:solidFill>
                <a:latin typeface="+mn-ea"/>
              </a:rPr>
              <a:t>정보자산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54" name="Rectangle 63"/>
          <p:cNvSpPr>
            <a:spLocks noChangeArrowheads="1"/>
          </p:cNvSpPr>
          <p:nvPr/>
        </p:nvSpPr>
        <p:spPr bwMode="auto">
          <a:xfrm>
            <a:off x="7114826" y="4415426"/>
            <a:ext cx="620558" cy="181470"/>
          </a:xfrm>
          <a:prstGeom prst="rect">
            <a:avLst/>
          </a:prstGeom>
          <a:solidFill>
            <a:schemeClr val="bg1"/>
          </a:solidFill>
          <a:ln w="3175">
            <a:headEnd/>
            <a:tailEnd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schemeClr val="tx1"/>
                </a:solidFill>
                <a:latin typeface="+mn-ea"/>
              </a:rPr>
              <a:t>메뉴권한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5" name="Rectangle 63"/>
          <p:cNvSpPr>
            <a:spLocks noChangeArrowheads="1"/>
          </p:cNvSpPr>
          <p:nvPr/>
        </p:nvSpPr>
        <p:spPr bwMode="auto">
          <a:xfrm>
            <a:off x="7114826" y="4606143"/>
            <a:ext cx="620558" cy="180314"/>
          </a:xfrm>
          <a:prstGeom prst="rect">
            <a:avLst/>
          </a:prstGeom>
          <a:solidFill>
            <a:schemeClr val="bg1"/>
          </a:solidFill>
          <a:ln w="3175">
            <a:headEnd/>
            <a:tailEnd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solidFill>
                  <a:schemeClr val="tx1"/>
                </a:solidFill>
                <a:latin typeface="+mn-ea"/>
              </a:rPr>
              <a:t>현황관리</a:t>
            </a:r>
            <a:endParaRPr kumimoji="0" lang="en-US" altLang="ko-KR" sz="900" dirty="0">
              <a:latin typeface="+mn-ea"/>
            </a:endParaRPr>
          </a:p>
        </p:txBody>
      </p:sp>
      <p:pic>
        <p:nvPicPr>
          <p:cNvPr id="56" name="Picture 2" descr="D:\r2_Work\00 제안서\국회의사당2.png"/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55217" y="1444864"/>
            <a:ext cx="394463" cy="283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7" name="Rectangle 4"/>
          <p:cNvSpPr>
            <a:spLocks noChangeArrowheads="1"/>
          </p:cNvSpPr>
          <p:nvPr/>
        </p:nvSpPr>
        <p:spPr bwMode="auto">
          <a:xfrm>
            <a:off x="429392" y="5243022"/>
            <a:ext cx="1206240" cy="920065"/>
          </a:xfrm>
          <a:prstGeom prst="rect">
            <a:avLst/>
          </a:prstGeom>
          <a:ln w="3175">
            <a:solidFill>
              <a:srgbClr val="3281A8"/>
            </a:solidFill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>
              <a:defRPr/>
            </a:pPr>
            <a:endParaRPr lang="ko-KR" altLang="en-US" sz="1600">
              <a:latin typeface="+mn-ea"/>
            </a:endParaRPr>
          </a:p>
        </p:txBody>
      </p:sp>
      <p:sp>
        <p:nvSpPr>
          <p:cNvPr id="58" name="Rectangle 63"/>
          <p:cNvSpPr>
            <a:spLocks noChangeArrowheads="1"/>
          </p:cNvSpPr>
          <p:nvPr/>
        </p:nvSpPr>
        <p:spPr bwMode="auto">
          <a:xfrm>
            <a:off x="528008" y="5230308"/>
            <a:ext cx="1009008" cy="157197"/>
          </a:xfrm>
          <a:prstGeom prst="rect">
            <a:avLst/>
          </a:prstGeom>
          <a:solidFill>
            <a:srgbClr val="3281A8"/>
          </a:solidFill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50" dirty="0">
                <a:latin typeface="+mn-ea"/>
              </a:rPr>
              <a:t>전자증빙</a:t>
            </a:r>
            <a:endParaRPr kumimoji="0" lang="en-US" altLang="ko-KR" sz="1050" dirty="0">
              <a:latin typeface="+mn-ea"/>
            </a:endParaRPr>
          </a:p>
        </p:txBody>
      </p:sp>
      <p:sp>
        <p:nvSpPr>
          <p:cNvPr id="59" name="Rectangle 200"/>
          <p:cNvSpPr>
            <a:spLocks noChangeArrowheads="1"/>
          </p:cNvSpPr>
          <p:nvPr/>
        </p:nvSpPr>
        <p:spPr bwMode="auto">
          <a:xfrm>
            <a:off x="515982" y="5440674"/>
            <a:ext cx="1030656" cy="293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101600" indent="-101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스캔</a:t>
            </a: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/</a:t>
            </a: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뷰어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증빙관리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문서출력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첨부파일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0" name="Rectangle 4"/>
          <p:cNvSpPr>
            <a:spLocks noChangeArrowheads="1"/>
          </p:cNvSpPr>
          <p:nvPr/>
        </p:nvSpPr>
        <p:spPr bwMode="auto">
          <a:xfrm>
            <a:off x="1727032" y="5230308"/>
            <a:ext cx="1854459" cy="920065"/>
          </a:xfrm>
          <a:prstGeom prst="rect">
            <a:avLst/>
          </a:prstGeom>
          <a:ln w="3175">
            <a:solidFill>
              <a:srgbClr val="3281A8"/>
            </a:solidFill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>
              <a:defRPr/>
            </a:pPr>
            <a:endParaRPr lang="ko-KR" altLang="en-US" sz="1600">
              <a:latin typeface="+mn-ea"/>
            </a:endParaRPr>
          </a:p>
        </p:txBody>
      </p:sp>
      <p:sp>
        <p:nvSpPr>
          <p:cNvPr id="61" name="Rectangle 63"/>
          <p:cNvSpPr>
            <a:spLocks noChangeArrowheads="1"/>
          </p:cNvSpPr>
          <p:nvPr/>
        </p:nvSpPr>
        <p:spPr bwMode="auto">
          <a:xfrm>
            <a:off x="2196059" y="5217593"/>
            <a:ext cx="1009009" cy="157197"/>
          </a:xfrm>
          <a:prstGeom prst="rect">
            <a:avLst/>
          </a:prstGeom>
          <a:solidFill>
            <a:srgbClr val="3281A8"/>
          </a:solidFill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50" dirty="0">
                <a:latin typeface="+mn-ea"/>
              </a:rPr>
              <a:t>그룹웨어</a:t>
            </a:r>
            <a:endParaRPr kumimoji="0" lang="en-US" altLang="ko-KR" sz="1050" dirty="0">
              <a:latin typeface="+mn-ea"/>
            </a:endParaRPr>
          </a:p>
        </p:txBody>
      </p:sp>
      <p:sp>
        <p:nvSpPr>
          <p:cNvPr id="62" name="Rectangle 200"/>
          <p:cNvSpPr>
            <a:spLocks noChangeArrowheads="1"/>
          </p:cNvSpPr>
          <p:nvPr/>
        </p:nvSpPr>
        <p:spPr bwMode="auto">
          <a:xfrm>
            <a:off x="1712640" y="5350074"/>
            <a:ext cx="839076" cy="71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101600" indent="-101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전자문서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문서수발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자원관리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게시판관리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일정관리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3" name="Rectangle 200"/>
          <p:cNvSpPr>
            <a:spLocks noChangeArrowheads="1"/>
          </p:cNvSpPr>
          <p:nvPr/>
        </p:nvSpPr>
        <p:spPr bwMode="auto">
          <a:xfrm>
            <a:off x="2364428" y="5347763"/>
            <a:ext cx="751642" cy="71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101600" indent="-101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전자결재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웹메일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메신저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SMS</a:t>
            </a: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설문조사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4" name="Rectangle 200"/>
          <p:cNvSpPr>
            <a:spLocks noChangeArrowheads="1"/>
          </p:cNvSpPr>
          <p:nvPr/>
        </p:nvSpPr>
        <p:spPr bwMode="auto">
          <a:xfrm>
            <a:off x="2887573" y="5347763"/>
            <a:ext cx="892353" cy="7108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101600" indent="-101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커뮤니티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조직도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My page</a:t>
            </a: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사용자</a:t>
            </a: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/</a:t>
            </a: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권한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시스템관리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5" name="Rectangle 4"/>
          <p:cNvSpPr>
            <a:spLocks noChangeArrowheads="1"/>
          </p:cNvSpPr>
          <p:nvPr/>
        </p:nvSpPr>
        <p:spPr bwMode="auto">
          <a:xfrm>
            <a:off x="3914621" y="5230308"/>
            <a:ext cx="1226685" cy="920065"/>
          </a:xfrm>
          <a:prstGeom prst="rect">
            <a:avLst/>
          </a:prstGeom>
          <a:ln w="3175">
            <a:solidFill>
              <a:srgbClr val="3281A8"/>
            </a:solidFill>
            <a:headEnd/>
            <a:tailEnd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>
              <a:defRPr/>
            </a:pPr>
            <a:endParaRPr lang="ko-KR" altLang="en-US" sz="1600">
              <a:latin typeface="+mn-ea"/>
            </a:endParaRPr>
          </a:p>
        </p:txBody>
      </p:sp>
      <p:sp>
        <p:nvSpPr>
          <p:cNvPr id="66" name="Rectangle 63"/>
          <p:cNvSpPr>
            <a:spLocks noChangeArrowheads="1"/>
          </p:cNvSpPr>
          <p:nvPr/>
        </p:nvSpPr>
        <p:spPr bwMode="auto">
          <a:xfrm>
            <a:off x="4194834" y="5217593"/>
            <a:ext cx="667461" cy="157197"/>
          </a:xfrm>
          <a:prstGeom prst="rect">
            <a:avLst/>
          </a:prstGeom>
          <a:solidFill>
            <a:srgbClr val="3281A8"/>
          </a:solidFill>
          <a:ln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50">
                <a:latin typeface="+mn-ea"/>
              </a:rPr>
              <a:t>포털시스템</a:t>
            </a:r>
            <a:endParaRPr kumimoji="0" lang="en-US" altLang="ko-KR" sz="1050" dirty="0">
              <a:latin typeface="+mn-ea"/>
            </a:endParaRPr>
          </a:p>
        </p:txBody>
      </p:sp>
      <p:sp>
        <p:nvSpPr>
          <p:cNvPr id="67" name="Rectangle 200"/>
          <p:cNvSpPr>
            <a:spLocks noChangeArrowheads="1"/>
          </p:cNvSpPr>
          <p:nvPr/>
        </p:nvSpPr>
        <p:spPr bwMode="auto">
          <a:xfrm>
            <a:off x="3840512" y="5389816"/>
            <a:ext cx="1412758" cy="293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/>
          <a:lstStyle>
            <a:lvl1pPr marL="101600" indent="-101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SSO </a:t>
            </a: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통합로그인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다양한 포틀릿 제공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전자결재</a:t>
            </a: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, </a:t>
            </a: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전자문서</a:t>
            </a:r>
            <a:r>
              <a:rPr lang="en-US" altLang="ko-KR" sz="80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정보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r>
              <a:rPr lang="ko-KR" altLang="en-US" sz="800">
                <a:solidFill>
                  <a:srgbClr val="000000"/>
                </a:solidFill>
                <a:latin typeface="+mn-ea"/>
                <a:ea typeface="+mn-ea"/>
              </a:rPr>
              <a:t>메일정보 및 관리기능</a:t>
            </a: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  <a:p>
            <a:pPr eaLnBrk="1" hangingPunct="1">
              <a:spcBef>
                <a:spcPts val="300"/>
              </a:spcBef>
              <a:buFont typeface="Wingdings" panose="05000000000000000000" pitchFamily="2" charset="2"/>
              <a:buChar char="§"/>
            </a:pPr>
            <a:endParaRPr lang="en-US" altLang="ko-KR" sz="8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72" name="Rectangle 4"/>
          <p:cNvSpPr>
            <a:spLocks noChangeArrowheads="1"/>
          </p:cNvSpPr>
          <p:nvPr/>
        </p:nvSpPr>
        <p:spPr bwMode="auto">
          <a:xfrm>
            <a:off x="2139535" y="4178475"/>
            <a:ext cx="2813465" cy="665776"/>
          </a:xfrm>
          <a:prstGeom prst="rect">
            <a:avLst/>
          </a:prstGeom>
          <a:ln w="3175"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>
              <a:defRPr/>
            </a:pPr>
            <a:endParaRPr lang="ko-KR" altLang="en-US" sz="1600">
              <a:latin typeface="+mn-ea"/>
            </a:endParaRPr>
          </a:p>
        </p:txBody>
      </p:sp>
      <p:sp>
        <p:nvSpPr>
          <p:cNvPr id="73" name="Rectangle 63"/>
          <p:cNvSpPr>
            <a:spLocks noChangeArrowheads="1"/>
          </p:cNvSpPr>
          <p:nvPr/>
        </p:nvSpPr>
        <p:spPr bwMode="auto">
          <a:xfrm>
            <a:off x="3008784" y="4178475"/>
            <a:ext cx="1010211" cy="14679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50" smtClean="0">
                <a:latin typeface="+mn-ea"/>
              </a:rPr>
              <a:t>지속가능 경영</a:t>
            </a:r>
            <a:endParaRPr kumimoji="0" lang="en-US" altLang="ko-KR" sz="1050" dirty="0">
              <a:latin typeface="+mn-ea"/>
            </a:endParaRPr>
          </a:p>
        </p:txBody>
      </p:sp>
      <p:sp>
        <p:nvSpPr>
          <p:cNvPr id="74" name="Rectangle 63"/>
          <p:cNvSpPr>
            <a:spLocks noChangeArrowheads="1"/>
          </p:cNvSpPr>
          <p:nvPr/>
        </p:nvSpPr>
        <p:spPr bwMode="auto">
          <a:xfrm>
            <a:off x="2244164" y="4415426"/>
            <a:ext cx="622964" cy="180314"/>
          </a:xfrm>
          <a:prstGeom prst="rect">
            <a:avLst/>
          </a:prstGeom>
          <a:ln w="3175"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schemeClr val="tx1"/>
                </a:solidFill>
                <a:latin typeface="+mn-ea"/>
              </a:rPr>
              <a:t>경영공시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5" name="Rectangle 63"/>
          <p:cNvSpPr>
            <a:spLocks noChangeArrowheads="1"/>
          </p:cNvSpPr>
          <p:nvPr/>
        </p:nvSpPr>
        <p:spPr bwMode="auto">
          <a:xfrm>
            <a:off x="2876749" y="4415426"/>
            <a:ext cx="622964" cy="180314"/>
          </a:xfrm>
          <a:prstGeom prst="rect">
            <a:avLst/>
          </a:prstGeom>
          <a:ln w="3175"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schemeClr val="tx1"/>
                </a:solidFill>
                <a:latin typeface="+mn-ea"/>
              </a:rPr>
              <a:t>홍보관리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6" name="Rectangle 63"/>
          <p:cNvSpPr>
            <a:spLocks noChangeArrowheads="1"/>
          </p:cNvSpPr>
          <p:nvPr/>
        </p:nvSpPr>
        <p:spPr bwMode="auto">
          <a:xfrm>
            <a:off x="3510537" y="4415426"/>
            <a:ext cx="622964" cy="180314"/>
          </a:xfrm>
          <a:prstGeom prst="rect">
            <a:avLst/>
          </a:prstGeom>
          <a:ln w="3175"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schemeClr val="tx1"/>
                </a:solidFill>
                <a:latin typeface="+mn-ea"/>
              </a:rPr>
              <a:t>비서행정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7" name="Rectangle 63"/>
          <p:cNvSpPr>
            <a:spLocks noChangeArrowheads="1"/>
          </p:cNvSpPr>
          <p:nvPr/>
        </p:nvSpPr>
        <p:spPr bwMode="auto">
          <a:xfrm>
            <a:off x="2244164" y="4604987"/>
            <a:ext cx="622964" cy="180314"/>
          </a:xfrm>
          <a:prstGeom prst="rect">
            <a:avLst/>
          </a:prstGeom>
          <a:ln w="3175"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smtClean="0">
                <a:solidFill>
                  <a:schemeClr val="tx1"/>
                </a:solidFill>
                <a:latin typeface="+mn-ea"/>
              </a:rPr>
              <a:t>경영평가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8" name="Rectangle 63"/>
          <p:cNvSpPr>
            <a:spLocks noChangeArrowheads="1"/>
          </p:cNvSpPr>
          <p:nvPr/>
        </p:nvSpPr>
        <p:spPr bwMode="auto">
          <a:xfrm>
            <a:off x="2876749" y="4604987"/>
            <a:ext cx="622964" cy="180314"/>
          </a:xfrm>
          <a:prstGeom prst="rect">
            <a:avLst/>
          </a:prstGeom>
          <a:ln w="3175"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schemeClr val="tx1"/>
                </a:solidFill>
                <a:latin typeface="+mn-ea"/>
              </a:rPr>
              <a:t>사회가치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9" name="Rectangle 63"/>
          <p:cNvSpPr>
            <a:spLocks noChangeArrowheads="1"/>
          </p:cNvSpPr>
          <p:nvPr/>
        </p:nvSpPr>
        <p:spPr bwMode="auto">
          <a:xfrm>
            <a:off x="3510537" y="4604987"/>
            <a:ext cx="622964" cy="180314"/>
          </a:xfrm>
          <a:prstGeom prst="rect">
            <a:avLst/>
          </a:prstGeom>
          <a:ln w="3175"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schemeClr val="tx1"/>
                </a:solidFill>
                <a:latin typeface="+mn-ea"/>
              </a:rPr>
              <a:t>국정감사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3" name="Rectangle 63"/>
          <p:cNvSpPr>
            <a:spLocks noChangeArrowheads="1"/>
          </p:cNvSpPr>
          <p:nvPr/>
        </p:nvSpPr>
        <p:spPr bwMode="auto">
          <a:xfrm>
            <a:off x="4161744" y="4604987"/>
            <a:ext cx="624166" cy="181470"/>
          </a:xfrm>
          <a:prstGeom prst="rect">
            <a:avLst/>
          </a:prstGeom>
          <a:ln w="3175">
            <a:noFill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900" smtClean="0">
                <a:solidFill>
                  <a:schemeClr val="tx1"/>
                </a:solidFill>
                <a:latin typeface="+mn-ea"/>
              </a:rPr>
              <a:t>VOC/CS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4" name="Rectangle 63"/>
          <p:cNvSpPr>
            <a:spLocks noChangeArrowheads="1"/>
          </p:cNvSpPr>
          <p:nvPr/>
        </p:nvSpPr>
        <p:spPr bwMode="auto">
          <a:xfrm>
            <a:off x="6472620" y="4413114"/>
            <a:ext cx="622964" cy="181470"/>
          </a:xfrm>
          <a:prstGeom prst="rect">
            <a:avLst/>
          </a:prstGeom>
          <a:solidFill>
            <a:schemeClr val="bg1"/>
          </a:solidFill>
          <a:ln w="3175">
            <a:headEnd/>
            <a:tailEnd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latin typeface="+mn-ea"/>
              </a:rPr>
              <a:t>보안신청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87" name="모서리가 둥근 직사각형 86"/>
          <p:cNvSpPr/>
          <p:nvPr/>
        </p:nvSpPr>
        <p:spPr bwMode="auto">
          <a:xfrm>
            <a:off x="579721" y="1365111"/>
            <a:ext cx="1197474" cy="1289939"/>
          </a:xfrm>
          <a:prstGeom prst="roundRect">
            <a:avLst>
              <a:gd name="adj" fmla="val 6702"/>
            </a:avLst>
          </a:prstGeom>
          <a:solidFill>
            <a:schemeClr val="lt1"/>
          </a:solidFill>
          <a:ln w="31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>
              <a:latin typeface="+mn-ea"/>
            </a:endParaRPr>
          </a:p>
        </p:txBody>
      </p:sp>
      <p:sp>
        <p:nvSpPr>
          <p:cNvPr id="94" name="Text Box 121"/>
          <p:cNvSpPr txBox="1">
            <a:spLocks noChangeArrowheads="1"/>
          </p:cNvSpPr>
          <p:nvPr/>
        </p:nvSpPr>
        <p:spPr bwMode="auto">
          <a:xfrm>
            <a:off x="671337" y="1370916"/>
            <a:ext cx="1014897" cy="170311"/>
          </a:xfrm>
          <a:prstGeom prst="rect">
            <a:avLst/>
          </a:prstGeom>
          <a:ln w="3175">
            <a:noFill/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0" anchor="ctr"/>
          <a:lstStyle/>
          <a:p>
            <a:pPr algn="ctr" fontAlgn="auto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b="1" dirty="0">
                <a:latin typeface="+mn-ea"/>
              </a:rPr>
              <a:t>예산관리</a:t>
            </a:r>
          </a:p>
        </p:txBody>
      </p:sp>
      <p:sp>
        <p:nvSpPr>
          <p:cNvPr id="222" name="Rectangle 63"/>
          <p:cNvSpPr>
            <a:spLocks noChangeArrowheads="1"/>
          </p:cNvSpPr>
          <p:nvPr/>
        </p:nvSpPr>
        <p:spPr bwMode="auto">
          <a:xfrm>
            <a:off x="648618" y="1567388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예산기준정보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223" name="Rectangle 63"/>
          <p:cNvSpPr>
            <a:spLocks noChangeArrowheads="1"/>
          </p:cNvSpPr>
          <p:nvPr/>
        </p:nvSpPr>
        <p:spPr bwMode="auto">
          <a:xfrm>
            <a:off x="648618" y="1714182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중기사업계획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224" name="Rectangle 63"/>
          <p:cNvSpPr>
            <a:spLocks noChangeArrowheads="1"/>
          </p:cNvSpPr>
          <p:nvPr/>
        </p:nvSpPr>
        <p:spPr bwMode="auto">
          <a:xfrm>
            <a:off x="648618" y="1860976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예산편성관리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225" name="Rectangle 63"/>
          <p:cNvSpPr>
            <a:spLocks noChangeArrowheads="1"/>
          </p:cNvSpPr>
          <p:nvPr/>
        </p:nvSpPr>
        <p:spPr bwMode="auto">
          <a:xfrm>
            <a:off x="648618" y="2006615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smtClean="0">
                <a:latin typeface="+mn-ea"/>
              </a:rPr>
              <a:t>예산배정관리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226" name="Rectangle 63"/>
          <p:cNvSpPr>
            <a:spLocks noChangeArrowheads="1"/>
          </p:cNvSpPr>
          <p:nvPr/>
        </p:nvSpPr>
        <p:spPr bwMode="auto">
          <a:xfrm>
            <a:off x="648618" y="2153409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절감목표관리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227" name="Rectangle 63"/>
          <p:cNvSpPr>
            <a:spLocks noChangeArrowheads="1"/>
          </p:cNvSpPr>
          <p:nvPr/>
        </p:nvSpPr>
        <p:spPr bwMode="auto">
          <a:xfrm>
            <a:off x="648618" y="2300203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예산변경관리</a:t>
            </a:r>
            <a:endParaRPr kumimoji="0" lang="en-US" altLang="ko-KR" sz="900" dirty="0">
              <a:latin typeface="+mn-ea"/>
            </a:endParaRPr>
          </a:p>
        </p:txBody>
      </p:sp>
      <p:grpSp>
        <p:nvGrpSpPr>
          <p:cNvPr id="450" name="그룹 449"/>
          <p:cNvGrpSpPr/>
          <p:nvPr/>
        </p:nvGrpSpPr>
        <p:grpSpPr>
          <a:xfrm>
            <a:off x="1942530" y="2751954"/>
            <a:ext cx="1527343" cy="1301363"/>
            <a:chOff x="-1829151" y="-298220"/>
            <a:chExt cx="1527343" cy="1301363"/>
          </a:xfrm>
        </p:grpSpPr>
        <p:sp>
          <p:nvSpPr>
            <p:cNvPr id="86" name="모서리가 둥근 직사각형 85"/>
            <p:cNvSpPr/>
            <p:nvPr/>
          </p:nvSpPr>
          <p:spPr bwMode="auto">
            <a:xfrm>
              <a:off x="-1829151" y="-296701"/>
              <a:ext cx="1527343" cy="1299844"/>
            </a:xfrm>
            <a:prstGeom prst="roundRect">
              <a:avLst>
                <a:gd name="adj" fmla="val 6702"/>
              </a:avLst>
            </a:prstGeom>
            <a:solidFill>
              <a:schemeClr val="lt1"/>
            </a:solidFill>
            <a:ln w="3175"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200" dirty="0">
                <a:latin typeface="+mn-ea"/>
              </a:endParaRPr>
            </a:p>
          </p:txBody>
        </p:sp>
        <p:sp>
          <p:nvSpPr>
            <p:cNvPr id="96" name="Text Box 121"/>
            <p:cNvSpPr txBox="1">
              <a:spLocks noChangeArrowheads="1"/>
            </p:cNvSpPr>
            <p:nvPr/>
          </p:nvSpPr>
          <p:spPr bwMode="auto">
            <a:xfrm>
              <a:off x="-1771010" y="-298220"/>
              <a:ext cx="1404000" cy="169200"/>
            </a:xfrm>
            <a:prstGeom prst="rect">
              <a:avLst/>
            </a:prstGeom>
            <a:ln w="3175">
              <a:noFill/>
              <a:headEnd/>
              <a:tailEnd/>
            </a:ln>
            <a:effectLst>
              <a:glow rad="63500">
                <a:schemeClr val="accent1">
                  <a:satMod val="175000"/>
                  <a:alpha val="40000"/>
                </a:schemeClr>
              </a:glow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36000" bIns="0" anchor="ctr"/>
            <a:lstStyle/>
            <a:p>
              <a:pPr algn="ctr" fontAlgn="auto" latinLnBrk="0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>
                  <a:latin typeface="+mn-ea"/>
                </a:rPr>
                <a:t>자산관리</a:t>
              </a:r>
            </a:p>
          </p:txBody>
        </p:sp>
        <p:grpSp>
          <p:nvGrpSpPr>
            <p:cNvPr id="103" name="그룹 561"/>
            <p:cNvGrpSpPr>
              <a:grpSpLocks/>
            </p:cNvGrpSpPr>
            <p:nvPr/>
          </p:nvGrpSpPr>
          <p:grpSpPr bwMode="auto">
            <a:xfrm>
              <a:off x="-1778641" y="-94425"/>
              <a:ext cx="711958" cy="891168"/>
              <a:chOff x="776330" y="2628168"/>
              <a:chExt cx="939758" cy="1224136"/>
            </a:xfrm>
          </p:grpSpPr>
          <p:sp>
            <p:nvSpPr>
              <p:cNvPr id="210" name="Rectangle 63"/>
              <p:cNvSpPr>
                <a:spLocks noChangeArrowheads="1"/>
              </p:cNvSpPr>
              <p:nvPr/>
            </p:nvSpPr>
            <p:spPr bwMode="auto">
              <a:xfrm>
                <a:off x="776330" y="2628168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기초정보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11" name="Rectangle 63"/>
              <p:cNvSpPr>
                <a:spLocks noChangeArrowheads="1"/>
              </p:cNvSpPr>
              <p:nvPr/>
            </p:nvSpPr>
            <p:spPr bwMode="auto">
              <a:xfrm>
                <a:off x="776330" y="2829809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자산이동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12" name="Rectangle 63"/>
              <p:cNvSpPr>
                <a:spLocks noChangeArrowheads="1"/>
              </p:cNvSpPr>
              <p:nvPr/>
            </p:nvSpPr>
            <p:spPr bwMode="auto">
              <a:xfrm>
                <a:off x="776330" y="3031450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 err="1">
                    <a:latin typeface="+mn-ea"/>
                  </a:rPr>
                  <a:t>후속적지출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13" name="Rectangle 63"/>
              <p:cNvSpPr>
                <a:spLocks noChangeArrowheads="1"/>
              </p:cNvSpPr>
              <p:nvPr/>
            </p:nvSpPr>
            <p:spPr bwMode="auto">
              <a:xfrm>
                <a:off x="776330" y="3231504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불용</a:t>
                </a:r>
                <a:r>
                  <a:rPr kumimoji="0" lang="en-US" altLang="ko-KR" sz="900" smtClean="0">
                    <a:latin typeface="+mn-ea"/>
                  </a:rPr>
                  <a:t>/</a:t>
                </a:r>
                <a:r>
                  <a:rPr kumimoji="0" lang="ko-KR" altLang="en-US" sz="900" smtClean="0">
                    <a:latin typeface="+mn-ea"/>
                  </a:rPr>
                  <a:t>처분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14" name="Rectangle 63"/>
              <p:cNvSpPr>
                <a:spLocks noChangeArrowheads="1"/>
              </p:cNvSpPr>
              <p:nvPr/>
            </p:nvSpPr>
            <p:spPr bwMode="auto">
              <a:xfrm>
                <a:off x="776330" y="3433144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손상</a:t>
                </a:r>
                <a:r>
                  <a:rPr kumimoji="0" lang="en-US" altLang="ko-KR" sz="900" dirty="0">
                    <a:latin typeface="+mn-ea"/>
                  </a:rPr>
                  <a:t>/</a:t>
                </a:r>
                <a:r>
                  <a:rPr kumimoji="0" lang="ko-KR" altLang="en-US" sz="900" dirty="0">
                    <a:latin typeface="+mn-ea"/>
                  </a:rPr>
                  <a:t>환입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15" name="Rectangle 63"/>
              <p:cNvSpPr>
                <a:spLocks noChangeArrowheads="1"/>
              </p:cNvSpPr>
              <p:nvPr/>
            </p:nvSpPr>
            <p:spPr bwMode="auto">
              <a:xfrm>
                <a:off x="776330" y="3634786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자산명세서</a:t>
                </a:r>
                <a:endParaRPr kumimoji="0" lang="en-US" altLang="ko-KR" sz="900" dirty="0">
                  <a:latin typeface="+mn-ea"/>
                </a:endParaRPr>
              </a:p>
            </p:txBody>
          </p:sp>
        </p:grpSp>
        <p:grpSp>
          <p:nvGrpSpPr>
            <p:cNvPr id="104" name="그룹 568"/>
            <p:cNvGrpSpPr>
              <a:grpSpLocks/>
            </p:cNvGrpSpPr>
            <p:nvPr/>
          </p:nvGrpSpPr>
          <p:grpSpPr bwMode="auto">
            <a:xfrm>
              <a:off x="-1065479" y="-94425"/>
              <a:ext cx="711958" cy="891168"/>
              <a:chOff x="776330" y="2628168"/>
              <a:chExt cx="939758" cy="1224136"/>
            </a:xfrm>
          </p:grpSpPr>
          <p:sp>
            <p:nvSpPr>
              <p:cNvPr id="204" name="Rectangle 63"/>
              <p:cNvSpPr>
                <a:spLocks noChangeArrowheads="1"/>
              </p:cNvSpPr>
              <p:nvPr/>
            </p:nvSpPr>
            <p:spPr bwMode="auto">
              <a:xfrm>
                <a:off x="776330" y="2628168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자산취득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05" name="Rectangle 63"/>
              <p:cNvSpPr>
                <a:spLocks noChangeArrowheads="1"/>
              </p:cNvSpPr>
              <p:nvPr/>
            </p:nvSpPr>
            <p:spPr bwMode="auto">
              <a:xfrm>
                <a:off x="776330" y="2829809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자산실사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06" name="Rectangle 63"/>
              <p:cNvSpPr>
                <a:spLocks noChangeArrowheads="1"/>
              </p:cNvSpPr>
              <p:nvPr/>
            </p:nvSpPr>
            <p:spPr bwMode="auto">
              <a:xfrm>
                <a:off x="776330" y="3031450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합병</a:t>
                </a:r>
                <a:r>
                  <a:rPr kumimoji="0" lang="en-US" altLang="ko-KR" sz="900" dirty="0">
                    <a:latin typeface="+mn-ea"/>
                  </a:rPr>
                  <a:t>/</a:t>
                </a:r>
                <a:r>
                  <a:rPr kumimoji="0" lang="ko-KR" altLang="en-US" sz="900" dirty="0">
                    <a:latin typeface="+mn-ea"/>
                  </a:rPr>
                  <a:t>분할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07" name="Rectangle 63"/>
              <p:cNvSpPr>
                <a:spLocks noChangeArrowheads="1"/>
              </p:cNvSpPr>
              <p:nvPr/>
            </p:nvSpPr>
            <p:spPr bwMode="auto">
              <a:xfrm>
                <a:off x="776330" y="3231504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감가상각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08" name="Rectangle 63"/>
              <p:cNvSpPr>
                <a:spLocks noChangeArrowheads="1"/>
              </p:cNvSpPr>
              <p:nvPr/>
            </p:nvSpPr>
            <p:spPr bwMode="auto">
              <a:xfrm>
                <a:off x="776330" y="3433144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자산이력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09" name="Rectangle 63"/>
              <p:cNvSpPr>
                <a:spLocks noChangeArrowheads="1"/>
              </p:cNvSpPr>
              <p:nvPr/>
            </p:nvSpPr>
            <p:spPr bwMode="auto">
              <a:xfrm>
                <a:off x="776330" y="3634786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자산결산</a:t>
                </a:r>
                <a:endParaRPr kumimoji="0" lang="en-US" altLang="ko-KR" sz="900" dirty="0">
                  <a:latin typeface="+mn-ea"/>
                </a:endParaRPr>
              </a:p>
            </p:txBody>
          </p:sp>
        </p:grpSp>
      </p:grpSp>
      <p:grpSp>
        <p:nvGrpSpPr>
          <p:cNvPr id="470" name="그룹 469"/>
          <p:cNvGrpSpPr/>
          <p:nvPr/>
        </p:nvGrpSpPr>
        <p:grpSpPr>
          <a:xfrm>
            <a:off x="6176316" y="1376460"/>
            <a:ext cx="1610783" cy="1155860"/>
            <a:chOff x="5152984" y="2744752"/>
            <a:chExt cx="1610783" cy="1155860"/>
          </a:xfrm>
        </p:grpSpPr>
        <p:sp>
          <p:nvSpPr>
            <p:cNvPr id="89" name="모서리가 둥근 직사각형 88"/>
            <p:cNvSpPr/>
            <p:nvPr/>
          </p:nvSpPr>
          <p:spPr bwMode="auto">
            <a:xfrm>
              <a:off x="5152984" y="2744752"/>
              <a:ext cx="1610783" cy="1155860"/>
            </a:xfrm>
            <a:prstGeom prst="roundRect">
              <a:avLst>
                <a:gd name="adj" fmla="val 6702"/>
              </a:avLst>
            </a:prstGeom>
            <a:solidFill>
              <a:schemeClr val="lt1"/>
            </a:solidFill>
            <a:ln w="3175"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200" dirty="0">
                <a:latin typeface="+mn-ea"/>
              </a:endParaRPr>
            </a:p>
          </p:txBody>
        </p:sp>
        <p:sp>
          <p:nvSpPr>
            <p:cNvPr id="97" name="Text Box 121"/>
            <p:cNvSpPr txBox="1">
              <a:spLocks noChangeArrowheads="1"/>
            </p:cNvSpPr>
            <p:nvPr/>
          </p:nvSpPr>
          <p:spPr bwMode="auto">
            <a:xfrm>
              <a:off x="5247573" y="2762143"/>
              <a:ext cx="1404000" cy="169200"/>
            </a:xfrm>
            <a:prstGeom prst="rect">
              <a:avLst/>
            </a:prstGeom>
            <a:ln w="3175">
              <a:noFill/>
              <a:headEnd/>
              <a:tailEnd/>
            </a:ln>
            <a:effectLst>
              <a:glow rad="63500">
                <a:schemeClr val="accent1">
                  <a:satMod val="175000"/>
                  <a:alpha val="40000"/>
                </a:schemeClr>
              </a:glow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36000" bIns="0" anchor="ctr"/>
            <a:lstStyle/>
            <a:p>
              <a:pPr algn="ctr" fontAlgn="auto" latinLnBrk="0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>
                  <a:latin typeface="+mn-ea"/>
                </a:rPr>
                <a:t>인사관리</a:t>
              </a:r>
            </a:p>
          </p:txBody>
        </p:sp>
        <p:grpSp>
          <p:nvGrpSpPr>
            <p:cNvPr id="105" name="그룹 575"/>
            <p:cNvGrpSpPr>
              <a:grpSpLocks/>
            </p:cNvGrpSpPr>
            <p:nvPr/>
          </p:nvGrpSpPr>
          <p:grpSpPr bwMode="auto">
            <a:xfrm>
              <a:off x="5235862" y="2947028"/>
              <a:ext cx="711958" cy="891168"/>
              <a:chOff x="819054" y="2628168"/>
              <a:chExt cx="939758" cy="1224136"/>
            </a:xfrm>
          </p:grpSpPr>
          <p:sp>
            <p:nvSpPr>
              <p:cNvPr id="198" name="Rectangle 63"/>
              <p:cNvSpPr>
                <a:spLocks noChangeArrowheads="1"/>
              </p:cNvSpPr>
              <p:nvPr/>
            </p:nvSpPr>
            <p:spPr bwMode="auto">
              <a:xfrm>
                <a:off x="819054" y="2628168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기초정보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199" name="Rectangle 63"/>
              <p:cNvSpPr>
                <a:spLocks noChangeArrowheads="1"/>
              </p:cNvSpPr>
              <p:nvPr/>
            </p:nvSpPr>
            <p:spPr bwMode="auto">
              <a:xfrm>
                <a:off x="819054" y="2829809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개인신청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00" name="Rectangle 63"/>
              <p:cNvSpPr>
                <a:spLocks noChangeArrowheads="1"/>
              </p:cNvSpPr>
              <p:nvPr/>
            </p:nvSpPr>
            <p:spPr bwMode="auto">
              <a:xfrm>
                <a:off x="819054" y="3031450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포상</a:t>
                </a:r>
                <a:r>
                  <a:rPr kumimoji="0" lang="en-US" altLang="ko-KR" sz="900" dirty="0">
                    <a:latin typeface="+mn-ea"/>
                  </a:rPr>
                  <a:t>/</a:t>
                </a:r>
                <a:r>
                  <a:rPr kumimoji="0" lang="ko-KR" altLang="en-US" sz="900" dirty="0">
                    <a:latin typeface="+mn-ea"/>
                  </a:rPr>
                  <a:t>징계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01" name="Rectangle 63"/>
              <p:cNvSpPr>
                <a:spLocks noChangeArrowheads="1"/>
              </p:cNvSpPr>
              <p:nvPr/>
            </p:nvSpPr>
            <p:spPr bwMode="auto">
              <a:xfrm>
                <a:off x="819054" y="3231504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역량평가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02" name="Rectangle 63"/>
              <p:cNvSpPr>
                <a:spLocks noChangeArrowheads="1"/>
              </p:cNvSpPr>
              <p:nvPr/>
            </p:nvSpPr>
            <p:spPr bwMode="auto">
              <a:xfrm>
                <a:off x="819054" y="3433145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근무평정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203" name="Rectangle 63"/>
              <p:cNvSpPr>
                <a:spLocks noChangeArrowheads="1"/>
              </p:cNvSpPr>
              <p:nvPr/>
            </p:nvSpPr>
            <p:spPr bwMode="auto">
              <a:xfrm>
                <a:off x="819054" y="3634785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종합평가</a:t>
                </a:r>
                <a:endParaRPr kumimoji="0" lang="en-US" altLang="ko-KR" sz="900" dirty="0">
                  <a:latin typeface="+mn-ea"/>
                </a:endParaRPr>
              </a:p>
            </p:txBody>
          </p:sp>
        </p:grpSp>
        <p:grpSp>
          <p:nvGrpSpPr>
            <p:cNvPr id="106" name="그룹 582"/>
            <p:cNvGrpSpPr>
              <a:grpSpLocks/>
            </p:cNvGrpSpPr>
            <p:nvPr/>
          </p:nvGrpSpPr>
          <p:grpSpPr bwMode="auto">
            <a:xfrm>
              <a:off x="5950226" y="2947028"/>
              <a:ext cx="711958" cy="891168"/>
              <a:chOff x="819054" y="2628168"/>
              <a:chExt cx="939758" cy="1224136"/>
            </a:xfrm>
          </p:grpSpPr>
          <p:sp>
            <p:nvSpPr>
              <p:cNvPr id="192" name="Rectangle 63"/>
              <p:cNvSpPr>
                <a:spLocks noChangeArrowheads="1"/>
              </p:cNvSpPr>
              <p:nvPr/>
            </p:nvSpPr>
            <p:spPr bwMode="auto">
              <a:xfrm>
                <a:off x="819054" y="2628168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채용</a:t>
                </a:r>
                <a:r>
                  <a:rPr kumimoji="0" lang="en-US" altLang="ko-KR" sz="900" dirty="0">
                    <a:latin typeface="+mn-ea"/>
                  </a:rPr>
                  <a:t>/</a:t>
                </a:r>
                <a:r>
                  <a:rPr kumimoji="0" lang="ko-KR" altLang="en-US" sz="900" dirty="0">
                    <a:latin typeface="+mn-ea"/>
                  </a:rPr>
                  <a:t>조직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193" name="Rectangle 63"/>
              <p:cNvSpPr>
                <a:spLocks noChangeArrowheads="1"/>
              </p:cNvSpPr>
              <p:nvPr/>
            </p:nvSpPr>
            <p:spPr bwMode="auto">
              <a:xfrm>
                <a:off x="819054" y="2829809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발령</a:t>
                </a:r>
                <a:r>
                  <a:rPr kumimoji="0" lang="en-US" altLang="ko-KR" sz="900" dirty="0">
                    <a:latin typeface="+mn-ea"/>
                  </a:rPr>
                  <a:t>/</a:t>
                </a:r>
                <a:r>
                  <a:rPr kumimoji="0" lang="ko-KR" altLang="en-US" sz="900" dirty="0">
                    <a:latin typeface="+mn-ea"/>
                  </a:rPr>
                  <a:t>기록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194" name="Rectangle 63"/>
              <p:cNvSpPr>
                <a:spLocks noChangeArrowheads="1"/>
              </p:cNvSpPr>
              <p:nvPr/>
            </p:nvSpPr>
            <p:spPr bwMode="auto">
              <a:xfrm>
                <a:off x="819054" y="3031450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통계</a:t>
                </a:r>
                <a:r>
                  <a:rPr kumimoji="0" lang="en-US" altLang="ko-KR" sz="900" dirty="0">
                    <a:latin typeface="+mn-ea"/>
                  </a:rPr>
                  <a:t>/</a:t>
                </a:r>
                <a:r>
                  <a:rPr kumimoji="0" lang="ko-KR" altLang="en-US" sz="900" dirty="0">
                    <a:latin typeface="+mn-ea"/>
                  </a:rPr>
                  <a:t>교육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195" name="Rectangle 63"/>
              <p:cNvSpPr>
                <a:spLocks noChangeArrowheads="1"/>
              </p:cNvSpPr>
              <p:nvPr/>
            </p:nvSpPr>
            <p:spPr bwMode="auto">
              <a:xfrm>
                <a:off x="819054" y="3231504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업적평가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196" name="Rectangle 63"/>
              <p:cNvSpPr>
                <a:spLocks noChangeArrowheads="1"/>
              </p:cNvSpPr>
              <p:nvPr/>
            </p:nvSpPr>
            <p:spPr bwMode="auto">
              <a:xfrm>
                <a:off x="819054" y="3433145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평가진행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197" name="Rectangle 63"/>
              <p:cNvSpPr>
                <a:spLocks noChangeArrowheads="1"/>
              </p:cNvSpPr>
              <p:nvPr/>
            </p:nvSpPr>
            <p:spPr bwMode="auto">
              <a:xfrm>
                <a:off x="819054" y="3634785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dirty="0">
                    <a:latin typeface="+mn-ea"/>
                  </a:rPr>
                  <a:t>근태관리</a:t>
                </a:r>
                <a:endParaRPr kumimoji="0" lang="en-US" altLang="ko-KR" sz="900" dirty="0">
                  <a:latin typeface="+mn-ea"/>
                </a:endParaRPr>
              </a:p>
            </p:txBody>
          </p:sp>
        </p:grpSp>
      </p:grpSp>
      <p:sp>
        <p:nvSpPr>
          <p:cNvPr id="90" name="모서리가 둥근 직사각형 89"/>
          <p:cNvSpPr/>
          <p:nvPr/>
        </p:nvSpPr>
        <p:spPr bwMode="auto">
          <a:xfrm>
            <a:off x="3607853" y="2750753"/>
            <a:ext cx="2251317" cy="1302564"/>
          </a:xfrm>
          <a:prstGeom prst="roundRect">
            <a:avLst>
              <a:gd name="adj" fmla="val 6702"/>
            </a:avLst>
          </a:prstGeom>
          <a:solidFill>
            <a:schemeClr val="lt1"/>
          </a:solidFill>
          <a:ln w="31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>
              <a:latin typeface="+mn-ea"/>
            </a:endParaRPr>
          </a:p>
        </p:txBody>
      </p:sp>
      <p:sp>
        <p:nvSpPr>
          <p:cNvPr id="99" name="Text Box 121"/>
          <p:cNvSpPr txBox="1">
            <a:spLocks noChangeArrowheads="1"/>
          </p:cNvSpPr>
          <p:nvPr/>
        </p:nvSpPr>
        <p:spPr bwMode="auto">
          <a:xfrm>
            <a:off x="3662748" y="2763253"/>
            <a:ext cx="2160000" cy="169200"/>
          </a:xfrm>
          <a:prstGeom prst="rect">
            <a:avLst/>
          </a:prstGeom>
          <a:ln w="3175">
            <a:noFill/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0" anchor="ctr"/>
          <a:lstStyle/>
          <a:p>
            <a:pPr algn="ctr" fontAlgn="auto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smtClean="0">
                <a:latin typeface="+mn-ea"/>
              </a:rPr>
              <a:t>사업관리</a:t>
            </a:r>
            <a:endParaRPr kumimoji="0" lang="ko-KR" altLang="en-US" sz="1000" dirty="0">
              <a:latin typeface="+mn-ea"/>
            </a:endParaRPr>
          </a:p>
        </p:txBody>
      </p:sp>
      <p:grpSp>
        <p:nvGrpSpPr>
          <p:cNvPr id="107" name="그룹 589"/>
          <p:cNvGrpSpPr>
            <a:grpSpLocks/>
          </p:cNvGrpSpPr>
          <p:nvPr/>
        </p:nvGrpSpPr>
        <p:grpSpPr bwMode="auto">
          <a:xfrm>
            <a:off x="4379491" y="2953696"/>
            <a:ext cx="711958" cy="891168"/>
            <a:chOff x="776330" y="2628168"/>
            <a:chExt cx="939758" cy="1224136"/>
          </a:xfrm>
        </p:grpSpPr>
        <p:sp>
          <p:nvSpPr>
            <p:cNvPr id="186" name="Rectangle 63"/>
            <p:cNvSpPr>
              <a:spLocks noChangeArrowheads="1"/>
            </p:cNvSpPr>
            <p:nvPr/>
          </p:nvSpPr>
          <p:spPr bwMode="auto">
            <a:xfrm>
              <a:off x="776330" y="2628168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900">
                  <a:latin typeface="+mn-ea"/>
                </a:rPr>
                <a:t>실행계획관리</a:t>
              </a:r>
              <a:endParaRPr lang="en-US" altLang="ko-KR" sz="900" dirty="0">
                <a:latin typeface="+mn-ea"/>
              </a:endParaRPr>
            </a:p>
          </p:txBody>
        </p:sp>
        <p:sp>
          <p:nvSpPr>
            <p:cNvPr id="187" name="Rectangle 63"/>
            <p:cNvSpPr>
              <a:spLocks noChangeArrowheads="1"/>
            </p:cNvSpPr>
            <p:nvPr/>
          </p:nvSpPr>
          <p:spPr bwMode="auto">
            <a:xfrm>
              <a:off x="776330" y="2829809"/>
              <a:ext cx="939758" cy="217519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투입계획관리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188" name="Rectangle 63"/>
            <p:cNvSpPr>
              <a:spLocks noChangeArrowheads="1"/>
            </p:cNvSpPr>
            <p:nvPr/>
          </p:nvSpPr>
          <p:spPr bwMode="auto">
            <a:xfrm>
              <a:off x="776330" y="3031450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사업실적관리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189" name="Rectangle 63"/>
            <p:cNvSpPr>
              <a:spLocks noChangeArrowheads="1"/>
            </p:cNvSpPr>
            <p:nvPr/>
          </p:nvSpPr>
          <p:spPr bwMode="auto">
            <a:xfrm>
              <a:off x="776330" y="3231504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실적자료관리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190" name="Rectangle 63"/>
            <p:cNvSpPr>
              <a:spLocks noChangeArrowheads="1"/>
            </p:cNvSpPr>
            <p:nvPr/>
          </p:nvSpPr>
          <p:spPr bwMode="auto">
            <a:xfrm>
              <a:off x="776330" y="3433144"/>
              <a:ext cx="939758" cy="217519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실적통계관리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191" name="Rectangle 63"/>
            <p:cNvSpPr>
              <a:spLocks noChangeArrowheads="1"/>
            </p:cNvSpPr>
            <p:nvPr/>
          </p:nvSpPr>
          <p:spPr bwMode="auto">
            <a:xfrm>
              <a:off x="776330" y="3634786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품질정보관리</a:t>
              </a:r>
              <a:endParaRPr kumimoji="0" lang="en-US" altLang="ko-KR" sz="900" dirty="0">
                <a:latin typeface="+mn-ea"/>
              </a:endParaRPr>
            </a:p>
          </p:txBody>
        </p:sp>
      </p:grpSp>
      <p:grpSp>
        <p:nvGrpSpPr>
          <p:cNvPr id="108" name="그룹 596"/>
          <p:cNvGrpSpPr>
            <a:grpSpLocks/>
          </p:cNvGrpSpPr>
          <p:nvPr/>
        </p:nvGrpSpPr>
        <p:grpSpPr bwMode="auto">
          <a:xfrm>
            <a:off x="5110039" y="2953696"/>
            <a:ext cx="711958" cy="891168"/>
            <a:chOff x="776330" y="2628168"/>
            <a:chExt cx="939758" cy="1224136"/>
          </a:xfrm>
        </p:grpSpPr>
        <p:sp>
          <p:nvSpPr>
            <p:cNvPr id="180" name="Rectangle 63"/>
            <p:cNvSpPr>
              <a:spLocks noChangeArrowheads="1"/>
            </p:cNvSpPr>
            <p:nvPr/>
          </p:nvSpPr>
          <p:spPr bwMode="auto">
            <a:xfrm>
              <a:off x="776330" y="2628168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원가기준관리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181" name="Rectangle 63"/>
            <p:cNvSpPr>
              <a:spLocks noChangeArrowheads="1"/>
            </p:cNvSpPr>
            <p:nvPr/>
          </p:nvSpPr>
          <p:spPr bwMode="auto">
            <a:xfrm>
              <a:off x="776330" y="2829809"/>
              <a:ext cx="939758" cy="217519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원가계산관리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182" name="Rectangle 63"/>
            <p:cNvSpPr>
              <a:spLocks noChangeArrowheads="1"/>
            </p:cNvSpPr>
            <p:nvPr/>
          </p:nvSpPr>
          <p:spPr bwMode="auto">
            <a:xfrm>
              <a:off x="776330" y="3031450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원가분석관리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183" name="Rectangle 63"/>
            <p:cNvSpPr>
              <a:spLocks noChangeArrowheads="1"/>
            </p:cNvSpPr>
            <p:nvPr/>
          </p:nvSpPr>
          <p:spPr bwMode="auto">
            <a:xfrm>
              <a:off x="776330" y="3231504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900">
                  <a:latin typeface="+mn-ea"/>
                </a:rPr>
                <a:t>기성신청관리</a:t>
              </a:r>
              <a:endParaRPr lang="en-US" altLang="ko-KR" sz="900" dirty="0">
                <a:latin typeface="+mn-ea"/>
              </a:endParaRPr>
            </a:p>
          </p:txBody>
        </p:sp>
        <p:sp>
          <p:nvSpPr>
            <p:cNvPr id="184" name="Rectangle 63"/>
            <p:cNvSpPr>
              <a:spLocks noChangeArrowheads="1"/>
            </p:cNvSpPr>
            <p:nvPr/>
          </p:nvSpPr>
          <p:spPr bwMode="auto">
            <a:xfrm>
              <a:off x="776330" y="3433144"/>
              <a:ext cx="939758" cy="217519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>
                <a:defRPr/>
              </a:pPr>
              <a:r>
                <a:rPr lang="ko-KR" altLang="en-US" sz="900" smtClean="0">
                  <a:latin typeface="+mn-ea"/>
                </a:rPr>
                <a:t>사업결산관리</a:t>
              </a:r>
              <a:endParaRPr lang="en-US" altLang="ko-KR" sz="900">
                <a:latin typeface="+mn-ea"/>
              </a:endParaRPr>
            </a:p>
          </p:txBody>
        </p:sp>
        <p:sp>
          <p:nvSpPr>
            <p:cNvPr id="185" name="Rectangle 63"/>
            <p:cNvSpPr>
              <a:spLocks noChangeArrowheads="1"/>
            </p:cNvSpPr>
            <p:nvPr/>
          </p:nvSpPr>
          <p:spPr bwMode="auto">
            <a:xfrm>
              <a:off x="776330" y="3634786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en-US" altLang="ko-KR" sz="900" dirty="0">
                <a:latin typeface="+mn-ea"/>
              </a:endParaRPr>
            </a:p>
          </p:txBody>
        </p:sp>
      </p:grpSp>
      <p:sp>
        <p:nvSpPr>
          <p:cNvPr id="469" name="Rectangle 63"/>
          <p:cNvSpPr>
            <a:spLocks noChangeArrowheads="1"/>
          </p:cNvSpPr>
          <p:nvPr/>
        </p:nvSpPr>
        <p:spPr bwMode="auto">
          <a:xfrm>
            <a:off x="648618" y="2456922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예산결산관리</a:t>
            </a:r>
            <a:endParaRPr kumimoji="0" lang="en-US" altLang="ko-KR" sz="900" dirty="0">
              <a:latin typeface="+mn-ea"/>
            </a:endParaRPr>
          </a:p>
        </p:txBody>
      </p:sp>
      <p:grpSp>
        <p:nvGrpSpPr>
          <p:cNvPr id="531" name="그룹 530"/>
          <p:cNvGrpSpPr/>
          <p:nvPr/>
        </p:nvGrpSpPr>
        <p:grpSpPr>
          <a:xfrm>
            <a:off x="1935171" y="1375636"/>
            <a:ext cx="3924000" cy="1296295"/>
            <a:chOff x="1935171" y="1375636"/>
            <a:chExt cx="3924000" cy="1296295"/>
          </a:xfrm>
        </p:grpSpPr>
        <p:sp>
          <p:nvSpPr>
            <p:cNvPr id="453" name="모서리가 둥근 직사각형 452"/>
            <p:cNvSpPr/>
            <p:nvPr/>
          </p:nvSpPr>
          <p:spPr bwMode="auto">
            <a:xfrm>
              <a:off x="1935171" y="1375636"/>
              <a:ext cx="3924000" cy="1296295"/>
            </a:xfrm>
            <a:prstGeom prst="roundRect">
              <a:avLst>
                <a:gd name="adj" fmla="val 6702"/>
              </a:avLst>
            </a:prstGeom>
            <a:solidFill>
              <a:schemeClr val="lt1"/>
            </a:solidFill>
            <a:ln w="3175"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kumimoji="0" lang="ko-KR" altLang="en-US" sz="1200" dirty="0">
                <a:latin typeface="+mn-ea"/>
              </a:endParaRPr>
            </a:p>
          </p:txBody>
        </p:sp>
        <p:sp>
          <p:nvSpPr>
            <p:cNvPr id="454" name="Text Box 121"/>
            <p:cNvSpPr txBox="1">
              <a:spLocks noChangeArrowheads="1"/>
            </p:cNvSpPr>
            <p:nvPr/>
          </p:nvSpPr>
          <p:spPr bwMode="auto">
            <a:xfrm>
              <a:off x="2072680" y="1392666"/>
              <a:ext cx="3636000" cy="169200"/>
            </a:xfrm>
            <a:prstGeom prst="rect">
              <a:avLst/>
            </a:prstGeom>
            <a:ln w="3175">
              <a:noFill/>
              <a:headEnd/>
              <a:tailEnd/>
            </a:ln>
            <a:effectLst>
              <a:glow rad="63500">
                <a:schemeClr val="accent1">
                  <a:satMod val="175000"/>
                  <a:alpha val="40000"/>
                </a:schemeClr>
              </a:glow>
              <a:outerShdw blurRad="50800" dist="127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tIns="36000" bIns="0" anchor="ctr"/>
            <a:lstStyle/>
            <a:p>
              <a:pPr algn="ctr" fontAlgn="auto" latinLnBrk="0">
                <a:lnSpc>
                  <a:spcPct val="75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b="1">
                  <a:latin typeface="+mn-ea"/>
                </a:rPr>
                <a:t>회</a:t>
              </a:r>
              <a:r>
                <a:rPr kumimoji="0" lang="ko-KR" altLang="en-US" sz="1000" b="1" smtClean="0">
                  <a:latin typeface="+mn-ea"/>
                </a:rPr>
                <a:t>계관리</a:t>
              </a:r>
              <a:endParaRPr kumimoji="0" lang="ko-KR" altLang="en-US" sz="1000" b="1" dirty="0">
                <a:latin typeface="+mn-ea"/>
              </a:endParaRPr>
            </a:p>
          </p:txBody>
        </p:sp>
        <p:grpSp>
          <p:nvGrpSpPr>
            <p:cNvPr id="455" name="그룹 561"/>
            <p:cNvGrpSpPr>
              <a:grpSpLocks/>
            </p:cNvGrpSpPr>
            <p:nvPr/>
          </p:nvGrpSpPr>
          <p:grpSpPr bwMode="auto">
            <a:xfrm>
              <a:off x="3534183" y="1737652"/>
              <a:ext cx="711958" cy="891168"/>
              <a:chOff x="776330" y="2628168"/>
              <a:chExt cx="939758" cy="1224136"/>
            </a:xfrm>
          </p:grpSpPr>
          <p:sp>
            <p:nvSpPr>
              <p:cNvPr id="463" name="Rectangle 63"/>
              <p:cNvSpPr>
                <a:spLocks noChangeArrowheads="1"/>
              </p:cNvSpPr>
              <p:nvPr/>
            </p:nvSpPr>
            <p:spPr bwMode="auto">
              <a:xfrm>
                <a:off x="776330" y="2628168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결산전표생성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64" name="Rectangle 63"/>
              <p:cNvSpPr>
                <a:spLocks noChangeArrowheads="1"/>
              </p:cNvSpPr>
              <p:nvPr/>
            </p:nvSpPr>
            <p:spPr bwMode="auto">
              <a:xfrm>
                <a:off x="776330" y="2829809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결산마감관리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65" name="Rectangle 63"/>
              <p:cNvSpPr>
                <a:spLocks noChangeArrowheads="1"/>
              </p:cNvSpPr>
              <p:nvPr/>
            </p:nvSpPr>
            <p:spPr bwMode="auto">
              <a:xfrm>
                <a:off x="776330" y="3031450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재무제표관리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66" name="Rectangle 63"/>
              <p:cNvSpPr>
                <a:spLocks noChangeArrowheads="1"/>
              </p:cNvSpPr>
              <p:nvPr/>
            </p:nvSpPr>
            <p:spPr bwMode="auto">
              <a:xfrm>
                <a:off x="776330" y="3231504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900" smtClean="0">
                    <a:latin typeface="+mn-ea"/>
                  </a:rPr>
                  <a:t>주석</a:t>
                </a:r>
                <a:r>
                  <a:rPr kumimoji="0" lang="ko-KR" altLang="en-US" sz="900" smtClean="0">
                    <a:latin typeface="+mn-ea"/>
                  </a:rPr>
                  <a:t>자료관리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67" name="Rectangle 63"/>
              <p:cNvSpPr>
                <a:spLocks noChangeArrowheads="1"/>
              </p:cNvSpPr>
              <p:nvPr/>
            </p:nvSpPr>
            <p:spPr bwMode="auto">
              <a:xfrm>
                <a:off x="776330" y="3433144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결산주석관리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68" name="Rectangle 63"/>
              <p:cNvSpPr>
                <a:spLocks noChangeArrowheads="1"/>
              </p:cNvSpPr>
              <p:nvPr/>
            </p:nvSpPr>
            <p:spPr bwMode="auto">
              <a:xfrm>
                <a:off x="776330" y="3634786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연결재무제표</a:t>
                </a:r>
                <a:endParaRPr kumimoji="0" lang="en-US" altLang="ko-KR" sz="900" dirty="0">
                  <a:latin typeface="+mn-ea"/>
                </a:endParaRPr>
              </a:p>
            </p:txBody>
          </p:sp>
        </p:grpSp>
        <p:grpSp>
          <p:nvGrpSpPr>
            <p:cNvPr id="456" name="그룹 568"/>
            <p:cNvGrpSpPr>
              <a:grpSpLocks/>
            </p:cNvGrpSpPr>
            <p:nvPr/>
          </p:nvGrpSpPr>
          <p:grpSpPr bwMode="auto">
            <a:xfrm>
              <a:off x="4270447" y="1737652"/>
              <a:ext cx="711958" cy="891168"/>
              <a:chOff x="776330" y="2628168"/>
              <a:chExt cx="939758" cy="1224136"/>
            </a:xfrm>
          </p:grpSpPr>
          <p:sp>
            <p:nvSpPr>
              <p:cNvPr id="457" name="Rectangle 63"/>
              <p:cNvSpPr>
                <a:spLocks noChangeArrowheads="1"/>
              </p:cNvSpPr>
              <p:nvPr/>
            </p:nvSpPr>
            <p:spPr bwMode="auto">
              <a:xfrm>
                <a:off x="776330" y="2628168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자금기초자료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58" name="Rectangle 63"/>
              <p:cNvSpPr>
                <a:spLocks noChangeArrowheads="1"/>
              </p:cNvSpPr>
              <p:nvPr/>
            </p:nvSpPr>
            <p:spPr bwMode="auto">
              <a:xfrm>
                <a:off x="776330" y="2829809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보유계좌관리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59" name="Rectangle 63"/>
              <p:cNvSpPr>
                <a:spLocks noChangeArrowheads="1"/>
              </p:cNvSpPr>
              <p:nvPr/>
            </p:nvSpPr>
            <p:spPr bwMode="auto">
              <a:xfrm>
                <a:off x="776330" y="3031450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입</a:t>
                </a:r>
                <a:r>
                  <a:rPr kumimoji="0" lang="en-US" altLang="ko-KR" sz="900" smtClean="0">
                    <a:latin typeface="+mn-ea"/>
                  </a:rPr>
                  <a:t>.</a:t>
                </a:r>
                <a:r>
                  <a:rPr kumimoji="0" lang="ko-KR" altLang="en-US" sz="900" smtClean="0">
                    <a:latin typeface="+mn-ea"/>
                  </a:rPr>
                  <a:t>출금  현황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60" name="Rectangle 63"/>
              <p:cNvSpPr>
                <a:spLocks noChangeArrowheads="1"/>
              </p:cNvSpPr>
              <p:nvPr/>
            </p:nvSpPr>
            <p:spPr bwMode="auto">
              <a:xfrm>
                <a:off x="776330" y="3231504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자금집행관리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61" name="Rectangle 63"/>
              <p:cNvSpPr>
                <a:spLocks noChangeArrowheads="1"/>
              </p:cNvSpPr>
              <p:nvPr/>
            </p:nvSpPr>
            <p:spPr bwMode="auto">
              <a:xfrm>
                <a:off x="776330" y="3433144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자금현황관리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62" name="Rectangle 63"/>
              <p:cNvSpPr>
                <a:spLocks noChangeArrowheads="1"/>
              </p:cNvSpPr>
              <p:nvPr/>
            </p:nvSpPr>
            <p:spPr bwMode="auto">
              <a:xfrm>
                <a:off x="776330" y="3634786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법인카드관리</a:t>
                </a:r>
                <a:endParaRPr kumimoji="0" lang="en-US" altLang="ko-KR" sz="900" dirty="0">
                  <a:latin typeface="+mn-ea"/>
                </a:endParaRPr>
              </a:p>
            </p:txBody>
          </p:sp>
        </p:grpSp>
        <p:grpSp>
          <p:nvGrpSpPr>
            <p:cNvPr id="488" name="그룹 561"/>
            <p:cNvGrpSpPr>
              <a:grpSpLocks/>
            </p:cNvGrpSpPr>
            <p:nvPr/>
          </p:nvGrpSpPr>
          <p:grpSpPr bwMode="auto">
            <a:xfrm>
              <a:off x="2061117" y="1735314"/>
              <a:ext cx="711958" cy="891168"/>
              <a:chOff x="776330" y="2628168"/>
              <a:chExt cx="939758" cy="1224136"/>
            </a:xfrm>
          </p:grpSpPr>
          <p:sp>
            <p:nvSpPr>
              <p:cNvPr id="489" name="Rectangle 63"/>
              <p:cNvSpPr>
                <a:spLocks noChangeArrowheads="1"/>
              </p:cNvSpPr>
              <p:nvPr/>
            </p:nvSpPr>
            <p:spPr bwMode="auto">
              <a:xfrm>
                <a:off x="776330" y="2628168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900">
                    <a:latin typeface="+mn-ea"/>
                  </a:rPr>
                  <a:t>회</a:t>
                </a:r>
                <a:r>
                  <a:rPr kumimoji="0" lang="ko-KR" altLang="en-US" sz="900" smtClean="0">
                    <a:latin typeface="+mn-ea"/>
                  </a:rPr>
                  <a:t>계기준자료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90" name="Rectangle 63"/>
              <p:cNvSpPr>
                <a:spLocks noChangeArrowheads="1"/>
              </p:cNvSpPr>
              <p:nvPr/>
            </p:nvSpPr>
            <p:spPr bwMode="auto">
              <a:xfrm>
                <a:off x="776330" y="2829809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지출결의서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91" name="Rectangle 63"/>
              <p:cNvSpPr>
                <a:spLocks noChangeArrowheads="1"/>
              </p:cNvSpPr>
              <p:nvPr/>
            </p:nvSpPr>
            <p:spPr bwMode="auto">
              <a:xfrm>
                <a:off x="776330" y="3031450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수입결의서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92" name="Rectangle 63"/>
              <p:cNvSpPr>
                <a:spLocks noChangeArrowheads="1"/>
              </p:cNvSpPr>
              <p:nvPr/>
            </p:nvSpPr>
            <p:spPr bwMode="auto">
              <a:xfrm>
                <a:off x="776330" y="3231504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대체결의서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93" name="Rectangle 63"/>
              <p:cNvSpPr>
                <a:spLocks noChangeArrowheads="1"/>
              </p:cNvSpPr>
              <p:nvPr/>
            </p:nvSpPr>
            <p:spPr bwMode="auto">
              <a:xfrm>
                <a:off x="776330" y="3433144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900" smtClean="0">
                    <a:latin typeface="+mn-ea"/>
                  </a:rPr>
                  <a:t>수납   관리</a:t>
                </a:r>
                <a:endParaRPr lang="en-US" altLang="ko-KR" sz="900" dirty="0">
                  <a:latin typeface="+mn-ea"/>
                </a:endParaRPr>
              </a:p>
            </p:txBody>
          </p:sp>
          <p:sp>
            <p:nvSpPr>
              <p:cNvPr id="494" name="Rectangle 63"/>
              <p:cNvSpPr>
                <a:spLocks noChangeArrowheads="1"/>
              </p:cNvSpPr>
              <p:nvPr/>
            </p:nvSpPr>
            <p:spPr bwMode="auto">
              <a:xfrm>
                <a:off x="776330" y="3634786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결의서 확정</a:t>
                </a:r>
                <a:endParaRPr kumimoji="0" lang="en-US" altLang="ko-KR" sz="900" dirty="0">
                  <a:latin typeface="+mn-ea"/>
                </a:endParaRPr>
              </a:p>
            </p:txBody>
          </p:sp>
        </p:grpSp>
        <p:grpSp>
          <p:nvGrpSpPr>
            <p:cNvPr id="495" name="그룹 561"/>
            <p:cNvGrpSpPr>
              <a:grpSpLocks/>
            </p:cNvGrpSpPr>
            <p:nvPr/>
          </p:nvGrpSpPr>
          <p:grpSpPr bwMode="auto">
            <a:xfrm>
              <a:off x="2798739" y="1736565"/>
              <a:ext cx="711958" cy="891168"/>
              <a:chOff x="776330" y="2628168"/>
              <a:chExt cx="939758" cy="1224136"/>
            </a:xfrm>
          </p:grpSpPr>
          <p:sp>
            <p:nvSpPr>
              <p:cNvPr id="496" name="Rectangle 63"/>
              <p:cNvSpPr>
                <a:spLocks noChangeArrowheads="1"/>
              </p:cNvSpPr>
              <p:nvPr/>
            </p:nvSpPr>
            <p:spPr bwMode="auto">
              <a:xfrm>
                <a:off x="776330" y="2628168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전표현황관리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97" name="Rectangle 63"/>
              <p:cNvSpPr>
                <a:spLocks noChangeArrowheads="1"/>
              </p:cNvSpPr>
              <p:nvPr/>
            </p:nvSpPr>
            <p:spPr bwMode="auto">
              <a:xfrm>
                <a:off x="776330" y="2829809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전표마감관리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98" name="Rectangle 63"/>
              <p:cNvSpPr>
                <a:spLocks noChangeArrowheads="1"/>
              </p:cNvSpPr>
              <p:nvPr/>
            </p:nvSpPr>
            <p:spPr bwMode="auto">
              <a:xfrm>
                <a:off x="776330" y="3031450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재무장부관리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499" name="Rectangle 63"/>
              <p:cNvSpPr>
                <a:spLocks noChangeArrowheads="1"/>
              </p:cNvSpPr>
              <p:nvPr/>
            </p:nvSpPr>
            <p:spPr bwMode="auto">
              <a:xfrm>
                <a:off x="776330" y="3231504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결산전표생성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500" name="Rectangle 63"/>
              <p:cNvSpPr>
                <a:spLocks noChangeArrowheads="1"/>
              </p:cNvSpPr>
              <p:nvPr/>
            </p:nvSpPr>
            <p:spPr bwMode="auto">
              <a:xfrm>
                <a:off x="776330" y="3433144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900" smtClean="0">
                    <a:latin typeface="+mn-ea"/>
                  </a:rPr>
                  <a:t>결산마감관리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501" name="Rectangle 63"/>
              <p:cNvSpPr>
                <a:spLocks noChangeArrowheads="1"/>
              </p:cNvSpPr>
              <p:nvPr/>
            </p:nvSpPr>
            <p:spPr bwMode="auto">
              <a:xfrm>
                <a:off x="776330" y="3634786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재무제표관리</a:t>
                </a:r>
                <a:endParaRPr kumimoji="0" lang="en-US" altLang="ko-KR" sz="900" dirty="0">
                  <a:latin typeface="+mn-ea"/>
                </a:endParaRPr>
              </a:p>
            </p:txBody>
          </p:sp>
        </p:grpSp>
        <p:grpSp>
          <p:nvGrpSpPr>
            <p:cNvPr id="518" name="그룹 568"/>
            <p:cNvGrpSpPr>
              <a:grpSpLocks/>
            </p:cNvGrpSpPr>
            <p:nvPr/>
          </p:nvGrpSpPr>
          <p:grpSpPr bwMode="auto">
            <a:xfrm>
              <a:off x="5006741" y="1728474"/>
              <a:ext cx="711958" cy="451941"/>
              <a:chOff x="776330" y="2628168"/>
              <a:chExt cx="939758" cy="620800"/>
            </a:xfrm>
          </p:grpSpPr>
          <p:sp>
            <p:nvSpPr>
              <p:cNvPr id="519" name="Rectangle 63"/>
              <p:cNvSpPr>
                <a:spLocks noChangeArrowheads="1"/>
              </p:cNvSpPr>
              <p:nvPr/>
            </p:nvSpPr>
            <p:spPr bwMode="auto">
              <a:xfrm>
                <a:off x="776330" y="2628168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ko-KR" altLang="en-US" sz="900" smtClean="0">
                    <a:latin typeface="+mn-ea"/>
                  </a:rPr>
                  <a:t>부가세 신고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520" name="Rectangle 63"/>
              <p:cNvSpPr>
                <a:spLocks noChangeArrowheads="1"/>
              </p:cNvSpPr>
              <p:nvPr/>
            </p:nvSpPr>
            <p:spPr bwMode="auto">
              <a:xfrm>
                <a:off x="776330" y="2829809"/>
                <a:ext cx="939758" cy="217519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원천세 신고</a:t>
                </a:r>
                <a:endParaRPr kumimoji="0" lang="en-US" altLang="ko-KR" sz="900" dirty="0">
                  <a:latin typeface="+mn-ea"/>
                </a:endParaRPr>
              </a:p>
            </p:txBody>
          </p:sp>
          <p:sp>
            <p:nvSpPr>
              <p:cNvPr id="521" name="Rectangle 63"/>
              <p:cNvSpPr>
                <a:spLocks noChangeArrowheads="1"/>
              </p:cNvSpPr>
              <p:nvPr/>
            </p:nvSpPr>
            <p:spPr bwMode="auto">
              <a:xfrm>
                <a:off x="776330" y="3031450"/>
                <a:ext cx="939758" cy="217518"/>
              </a:xfrm>
              <a:prstGeom prst="rect">
                <a:avLst/>
              </a:prstGeom>
              <a:ln w="3175">
                <a:solidFill>
                  <a:schemeClr val="accent1">
                    <a:alpha val="25000"/>
                  </a:schemeClr>
                </a:solidFill>
                <a:headEnd/>
                <a:tailEnd/>
              </a:ln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lIns="128016" tIns="64008" rIns="128016" bIns="64008"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900" smtClean="0">
                    <a:latin typeface="+mn-ea"/>
                  </a:rPr>
                  <a:t>법</a:t>
                </a:r>
                <a:r>
                  <a:rPr lang="ko-KR" altLang="en-US" sz="900" smtClean="0">
                    <a:latin typeface="+mn-ea"/>
                  </a:rPr>
                  <a:t>인세 자료</a:t>
                </a:r>
                <a:endParaRPr kumimoji="0" lang="en-US" altLang="ko-KR" sz="900" dirty="0">
                  <a:latin typeface="+mn-ea"/>
                </a:endParaRPr>
              </a:p>
            </p:txBody>
          </p:sp>
        </p:grpSp>
      </p:grpSp>
      <p:sp>
        <p:nvSpPr>
          <p:cNvPr id="526" name="순서도: 처리 525"/>
          <p:cNvSpPr/>
          <p:nvPr/>
        </p:nvSpPr>
        <p:spPr>
          <a:xfrm>
            <a:off x="2064588" y="1568920"/>
            <a:ext cx="709292" cy="156822"/>
          </a:xfrm>
          <a:prstGeom prst="flowChartProcess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900" smtClean="0">
                <a:solidFill>
                  <a:schemeClr val="tx1"/>
                </a:solidFill>
              </a:rPr>
              <a:t>결의서 관리</a:t>
            </a:r>
            <a:endParaRPr lang="ko-KR" altLang="en-US" sz="900" dirty="0" smtClean="0">
              <a:solidFill>
                <a:schemeClr val="tx1"/>
              </a:solidFill>
            </a:endParaRPr>
          </a:p>
        </p:txBody>
      </p:sp>
      <p:sp>
        <p:nvSpPr>
          <p:cNvPr id="527" name="순서도: 처리 526"/>
          <p:cNvSpPr/>
          <p:nvPr/>
        </p:nvSpPr>
        <p:spPr>
          <a:xfrm>
            <a:off x="2799653" y="1568920"/>
            <a:ext cx="709292" cy="156822"/>
          </a:xfrm>
          <a:prstGeom prst="flowChartProcess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900" smtClean="0">
                <a:solidFill>
                  <a:schemeClr val="tx1"/>
                </a:solidFill>
              </a:rPr>
              <a:t>전표 관리</a:t>
            </a:r>
            <a:endParaRPr lang="ko-KR" altLang="en-US" sz="900" dirty="0" smtClean="0">
              <a:solidFill>
                <a:schemeClr val="tx1"/>
              </a:solidFill>
            </a:endParaRPr>
          </a:p>
        </p:txBody>
      </p:sp>
      <p:sp>
        <p:nvSpPr>
          <p:cNvPr id="528" name="순서도: 처리 527"/>
          <p:cNvSpPr/>
          <p:nvPr/>
        </p:nvSpPr>
        <p:spPr>
          <a:xfrm>
            <a:off x="3534718" y="1568920"/>
            <a:ext cx="709292" cy="156822"/>
          </a:xfrm>
          <a:prstGeom prst="flowChartProcess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900" smtClean="0">
                <a:solidFill>
                  <a:schemeClr val="tx1"/>
                </a:solidFill>
              </a:rPr>
              <a:t>결산 관리</a:t>
            </a:r>
            <a:endParaRPr lang="ko-KR" altLang="en-US" sz="900" dirty="0" smtClean="0">
              <a:solidFill>
                <a:schemeClr val="tx1"/>
              </a:solidFill>
            </a:endParaRPr>
          </a:p>
        </p:txBody>
      </p:sp>
      <p:sp>
        <p:nvSpPr>
          <p:cNvPr id="529" name="순서도: 처리 528"/>
          <p:cNvSpPr/>
          <p:nvPr/>
        </p:nvSpPr>
        <p:spPr>
          <a:xfrm>
            <a:off x="4269783" y="1568920"/>
            <a:ext cx="709292" cy="156822"/>
          </a:xfrm>
          <a:prstGeom prst="flowChartProcess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900" smtClean="0">
                <a:solidFill>
                  <a:schemeClr val="tx1"/>
                </a:solidFill>
              </a:rPr>
              <a:t>자금 관리</a:t>
            </a:r>
            <a:endParaRPr lang="ko-KR" altLang="en-US" sz="900" dirty="0" smtClean="0">
              <a:solidFill>
                <a:schemeClr val="tx1"/>
              </a:solidFill>
            </a:endParaRPr>
          </a:p>
        </p:txBody>
      </p:sp>
      <p:sp>
        <p:nvSpPr>
          <p:cNvPr id="530" name="순서도: 처리 529"/>
          <p:cNvSpPr/>
          <p:nvPr/>
        </p:nvSpPr>
        <p:spPr>
          <a:xfrm>
            <a:off x="5004847" y="1568920"/>
            <a:ext cx="709292" cy="156822"/>
          </a:xfrm>
          <a:prstGeom prst="flowChartProcess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tIns="36000" rIns="0" bIns="36000"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세</a:t>
            </a:r>
            <a:r>
              <a:rPr lang="ko-KR" altLang="en-US" sz="900" smtClean="0">
                <a:solidFill>
                  <a:schemeClr val="tx1"/>
                </a:solidFill>
              </a:rPr>
              <a:t>무 관리</a:t>
            </a:r>
            <a:endParaRPr lang="ko-KR" altLang="en-US" sz="900" dirty="0" smtClean="0">
              <a:solidFill>
                <a:schemeClr val="tx1"/>
              </a:solidFill>
            </a:endParaRPr>
          </a:p>
        </p:txBody>
      </p:sp>
      <p:sp>
        <p:nvSpPr>
          <p:cNvPr id="532" name="모서리가 둥근 직사각형 531"/>
          <p:cNvSpPr/>
          <p:nvPr/>
        </p:nvSpPr>
        <p:spPr bwMode="auto">
          <a:xfrm>
            <a:off x="592926" y="2763541"/>
            <a:ext cx="1197474" cy="1289939"/>
          </a:xfrm>
          <a:prstGeom prst="roundRect">
            <a:avLst>
              <a:gd name="adj" fmla="val 6702"/>
            </a:avLst>
          </a:prstGeom>
          <a:solidFill>
            <a:schemeClr val="lt1"/>
          </a:solidFill>
          <a:ln w="31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>
              <a:latin typeface="+mn-ea"/>
            </a:endParaRPr>
          </a:p>
        </p:txBody>
      </p:sp>
      <p:sp>
        <p:nvSpPr>
          <p:cNvPr id="533" name="Text Box 121"/>
          <p:cNvSpPr txBox="1">
            <a:spLocks noChangeArrowheads="1"/>
          </p:cNvSpPr>
          <p:nvPr/>
        </p:nvSpPr>
        <p:spPr bwMode="auto">
          <a:xfrm>
            <a:off x="684542" y="2769346"/>
            <a:ext cx="1014897" cy="170311"/>
          </a:xfrm>
          <a:prstGeom prst="rect">
            <a:avLst/>
          </a:prstGeom>
          <a:ln w="3175">
            <a:noFill/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12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0" anchor="ctr"/>
          <a:lstStyle/>
          <a:p>
            <a:pPr algn="ctr" fontAlgn="auto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1000" b="1" smtClean="0">
                <a:latin typeface="+mn-ea"/>
              </a:rPr>
              <a:t>구매</a:t>
            </a:r>
            <a:r>
              <a:rPr kumimoji="0" lang="ko-KR" altLang="en-US" sz="1000" b="1" smtClean="0">
                <a:latin typeface="+mn-ea"/>
              </a:rPr>
              <a:t>관리</a:t>
            </a:r>
            <a:endParaRPr kumimoji="0" lang="ko-KR" altLang="en-US" sz="1000" b="1" dirty="0">
              <a:latin typeface="+mn-ea"/>
            </a:endParaRPr>
          </a:p>
        </p:txBody>
      </p:sp>
      <p:sp>
        <p:nvSpPr>
          <p:cNvPr id="534" name="Rectangle 63"/>
          <p:cNvSpPr>
            <a:spLocks noChangeArrowheads="1"/>
          </p:cNvSpPr>
          <p:nvPr/>
        </p:nvSpPr>
        <p:spPr bwMode="auto">
          <a:xfrm>
            <a:off x="661823" y="2965818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구매기초자료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535" name="Rectangle 63"/>
          <p:cNvSpPr>
            <a:spLocks noChangeArrowheads="1"/>
          </p:cNvSpPr>
          <p:nvPr/>
        </p:nvSpPr>
        <p:spPr bwMode="auto">
          <a:xfrm>
            <a:off x="661823" y="3112612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물품청구관리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536" name="Rectangle 63"/>
          <p:cNvSpPr>
            <a:spLocks noChangeArrowheads="1"/>
          </p:cNvSpPr>
          <p:nvPr/>
        </p:nvSpPr>
        <p:spPr bwMode="auto">
          <a:xfrm>
            <a:off x="661823" y="3259406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수리계약관리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537" name="Rectangle 63"/>
          <p:cNvSpPr>
            <a:spLocks noChangeArrowheads="1"/>
          </p:cNvSpPr>
          <p:nvPr/>
        </p:nvSpPr>
        <p:spPr bwMode="auto">
          <a:xfrm>
            <a:off x="661823" y="3405045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smtClean="0">
                <a:latin typeface="+mn-ea"/>
              </a:rPr>
              <a:t>물품구매관리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538" name="Rectangle 63"/>
          <p:cNvSpPr>
            <a:spLocks noChangeArrowheads="1"/>
          </p:cNvSpPr>
          <p:nvPr/>
        </p:nvSpPr>
        <p:spPr bwMode="auto">
          <a:xfrm>
            <a:off x="661823" y="3551839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구매진행관리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539" name="Rectangle 63"/>
          <p:cNvSpPr>
            <a:spLocks noChangeArrowheads="1"/>
          </p:cNvSpPr>
          <p:nvPr/>
        </p:nvSpPr>
        <p:spPr bwMode="auto">
          <a:xfrm>
            <a:off x="661823" y="3698633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행정   서비스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540" name="Rectangle 63"/>
          <p:cNvSpPr>
            <a:spLocks noChangeArrowheads="1"/>
          </p:cNvSpPr>
          <p:nvPr/>
        </p:nvSpPr>
        <p:spPr bwMode="auto">
          <a:xfrm>
            <a:off x="661823" y="3855352"/>
            <a:ext cx="1059646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차량운행관리</a:t>
            </a:r>
            <a:endParaRPr kumimoji="0" lang="en-US" altLang="ko-KR" sz="900" dirty="0">
              <a:latin typeface="+mn-ea"/>
            </a:endParaRPr>
          </a:p>
        </p:txBody>
      </p:sp>
      <p:grpSp>
        <p:nvGrpSpPr>
          <p:cNvPr id="549" name="그룹 589"/>
          <p:cNvGrpSpPr>
            <a:grpSpLocks/>
          </p:cNvGrpSpPr>
          <p:nvPr/>
        </p:nvGrpSpPr>
        <p:grpSpPr bwMode="auto">
          <a:xfrm>
            <a:off x="3648764" y="2953696"/>
            <a:ext cx="711958" cy="891168"/>
            <a:chOff x="776330" y="2628168"/>
            <a:chExt cx="939758" cy="1224136"/>
          </a:xfrm>
        </p:grpSpPr>
        <p:sp>
          <p:nvSpPr>
            <p:cNvPr id="550" name="Rectangle 63"/>
            <p:cNvSpPr>
              <a:spLocks noChangeArrowheads="1"/>
            </p:cNvSpPr>
            <p:nvPr/>
          </p:nvSpPr>
          <p:spPr bwMode="auto">
            <a:xfrm>
              <a:off x="776330" y="2628168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사업코드관리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551" name="Rectangle 63"/>
            <p:cNvSpPr>
              <a:spLocks noChangeArrowheads="1"/>
            </p:cNvSpPr>
            <p:nvPr/>
          </p:nvSpPr>
          <p:spPr bwMode="auto">
            <a:xfrm>
              <a:off x="776330" y="2829809"/>
              <a:ext cx="939758" cy="217519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사업기획관리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552" name="Rectangle 63"/>
            <p:cNvSpPr>
              <a:spLocks noChangeArrowheads="1"/>
            </p:cNvSpPr>
            <p:nvPr/>
          </p:nvSpPr>
          <p:spPr bwMode="auto">
            <a:xfrm>
              <a:off x="776330" y="3031450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사업전략관리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553" name="Rectangle 63"/>
            <p:cNvSpPr>
              <a:spLocks noChangeArrowheads="1"/>
            </p:cNvSpPr>
            <p:nvPr/>
          </p:nvSpPr>
          <p:spPr bwMode="auto">
            <a:xfrm>
              <a:off x="776330" y="3231504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수주진행관리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554" name="Rectangle 63"/>
            <p:cNvSpPr>
              <a:spLocks noChangeArrowheads="1"/>
            </p:cNvSpPr>
            <p:nvPr/>
          </p:nvSpPr>
          <p:spPr bwMode="auto">
            <a:xfrm>
              <a:off x="776330" y="3433144"/>
              <a:ext cx="939758" cy="217519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입찰정보관리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555" name="Rectangle 63"/>
            <p:cNvSpPr>
              <a:spLocks noChangeArrowheads="1"/>
            </p:cNvSpPr>
            <p:nvPr/>
          </p:nvSpPr>
          <p:spPr bwMode="auto">
            <a:xfrm>
              <a:off x="776330" y="3634786"/>
              <a:ext cx="939758" cy="217518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smtClean="0">
                  <a:latin typeface="+mn-ea"/>
                </a:rPr>
                <a:t>입찰결과과리</a:t>
              </a:r>
              <a:endParaRPr kumimoji="0" lang="en-US" altLang="ko-KR" sz="900" dirty="0">
                <a:latin typeface="+mn-ea"/>
              </a:endParaRPr>
            </a:p>
          </p:txBody>
        </p:sp>
      </p:grpSp>
      <p:sp>
        <p:nvSpPr>
          <p:cNvPr id="556" name="Rectangle 63"/>
          <p:cNvSpPr>
            <a:spLocks noChangeArrowheads="1"/>
          </p:cNvSpPr>
          <p:nvPr/>
        </p:nvSpPr>
        <p:spPr bwMode="auto">
          <a:xfrm>
            <a:off x="5008854" y="2166370"/>
            <a:ext cx="711958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계산서 발행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557" name="Rectangle 63"/>
          <p:cNvSpPr>
            <a:spLocks noChangeArrowheads="1"/>
          </p:cNvSpPr>
          <p:nvPr/>
        </p:nvSpPr>
        <p:spPr bwMode="auto">
          <a:xfrm>
            <a:off x="5008854" y="2334543"/>
            <a:ext cx="711958" cy="158353"/>
          </a:xfrm>
          <a:prstGeom prst="rect">
            <a:avLst/>
          </a:prstGeom>
          <a:ln w="3175">
            <a:solidFill>
              <a:schemeClr val="accent1">
                <a:alpha val="25000"/>
              </a:schemeClr>
            </a:solidFill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latin typeface="+mn-ea"/>
              </a:rPr>
              <a:t>전자증빙관리</a:t>
            </a:r>
            <a:endParaRPr kumimoji="0" lang="en-US" altLang="ko-KR" sz="900" dirty="0">
              <a:latin typeface="+mn-ea"/>
            </a:endParaRPr>
          </a:p>
        </p:txBody>
      </p:sp>
      <p:sp>
        <p:nvSpPr>
          <p:cNvPr id="558" name="모서리가 둥근 직사각형 557"/>
          <p:cNvSpPr/>
          <p:nvPr/>
        </p:nvSpPr>
        <p:spPr bwMode="auto">
          <a:xfrm>
            <a:off x="6989501" y="2741710"/>
            <a:ext cx="803359" cy="1271446"/>
          </a:xfrm>
          <a:prstGeom prst="roundRect">
            <a:avLst>
              <a:gd name="adj" fmla="val 6702"/>
            </a:avLst>
          </a:prstGeom>
          <a:solidFill>
            <a:schemeClr val="lt1"/>
          </a:solidFill>
          <a:ln w="3175"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dirty="0">
              <a:latin typeface="+mn-ea"/>
            </a:endParaRPr>
          </a:p>
        </p:txBody>
      </p:sp>
      <p:sp>
        <p:nvSpPr>
          <p:cNvPr id="559" name="Text Box 121"/>
          <p:cNvSpPr txBox="1">
            <a:spLocks noChangeArrowheads="1"/>
          </p:cNvSpPr>
          <p:nvPr/>
        </p:nvSpPr>
        <p:spPr bwMode="auto">
          <a:xfrm>
            <a:off x="7050487" y="2750820"/>
            <a:ext cx="681893" cy="169200"/>
          </a:xfrm>
          <a:prstGeom prst="rect">
            <a:avLst/>
          </a:prstGeom>
          <a:ln w="3175">
            <a:noFill/>
            <a:headEnd/>
            <a:tailEnd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36000" bIns="0" anchor="ctr"/>
          <a:lstStyle/>
          <a:p>
            <a:pPr algn="ctr" fontAlgn="auto" latinLnBrk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>
                <a:latin typeface="+mn-ea"/>
              </a:rPr>
              <a:t>급여관리</a:t>
            </a:r>
          </a:p>
        </p:txBody>
      </p:sp>
      <p:grpSp>
        <p:nvGrpSpPr>
          <p:cNvPr id="560" name="그룹 672"/>
          <p:cNvGrpSpPr>
            <a:grpSpLocks/>
          </p:cNvGrpSpPr>
          <p:nvPr/>
        </p:nvGrpSpPr>
        <p:grpSpPr bwMode="auto">
          <a:xfrm>
            <a:off x="7023930" y="2950921"/>
            <a:ext cx="711958" cy="892324"/>
            <a:chOff x="776330" y="2628168"/>
            <a:chExt cx="939758" cy="1224136"/>
          </a:xfrm>
        </p:grpSpPr>
        <p:sp>
          <p:nvSpPr>
            <p:cNvPr id="561" name="Rectangle 63"/>
            <p:cNvSpPr>
              <a:spLocks noChangeArrowheads="1"/>
            </p:cNvSpPr>
            <p:nvPr/>
          </p:nvSpPr>
          <p:spPr bwMode="auto">
            <a:xfrm>
              <a:off x="776330" y="2628168"/>
              <a:ext cx="939758" cy="217236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>
                  <a:latin typeface="+mn-ea"/>
                </a:rPr>
                <a:t>가족수당신청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562" name="Rectangle 63"/>
            <p:cNvSpPr>
              <a:spLocks noChangeArrowheads="1"/>
            </p:cNvSpPr>
            <p:nvPr/>
          </p:nvSpPr>
          <p:spPr bwMode="auto">
            <a:xfrm>
              <a:off x="776330" y="2829547"/>
              <a:ext cx="939758" cy="217237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>
                  <a:latin typeface="+mn-ea"/>
                </a:rPr>
                <a:t>학자금지원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563" name="Rectangle 63"/>
            <p:cNvSpPr>
              <a:spLocks noChangeArrowheads="1"/>
            </p:cNvSpPr>
            <p:nvPr/>
          </p:nvSpPr>
          <p:spPr bwMode="auto">
            <a:xfrm>
              <a:off x="776330" y="3030928"/>
              <a:ext cx="939758" cy="217236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>
                  <a:latin typeface="+mn-ea"/>
                </a:rPr>
                <a:t>급여</a:t>
              </a:r>
              <a:r>
                <a:rPr kumimoji="0" lang="en-US" altLang="ko-KR" sz="900" dirty="0">
                  <a:latin typeface="+mn-ea"/>
                </a:rPr>
                <a:t>/</a:t>
              </a:r>
              <a:r>
                <a:rPr kumimoji="0" lang="ko-KR" altLang="en-US" sz="900" dirty="0">
                  <a:latin typeface="+mn-ea"/>
                </a:rPr>
                <a:t>상여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564" name="Rectangle 63"/>
            <p:cNvSpPr>
              <a:spLocks noChangeArrowheads="1"/>
            </p:cNvSpPr>
            <p:nvPr/>
          </p:nvSpPr>
          <p:spPr bwMode="auto">
            <a:xfrm>
              <a:off x="776330" y="3232307"/>
              <a:ext cx="939758" cy="217237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>
                  <a:latin typeface="+mn-ea"/>
                </a:rPr>
                <a:t>연말정산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565" name="Rectangle 63"/>
            <p:cNvSpPr>
              <a:spLocks noChangeArrowheads="1"/>
            </p:cNvSpPr>
            <p:nvPr/>
          </p:nvSpPr>
          <p:spPr bwMode="auto">
            <a:xfrm>
              <a:off x="776330" y="3433688"/>
              <a:ext cx="939758" cy="217236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>
                  <a:latin typeface="+mn-ea"/>
                </a:rPr>
                <a:t>퇴직금</a:t>
              </a:r>
              <a:endParaRPr kumimoji="0" lang="en-US" altLang="ko-KR" sz="900" dirty="0">
                <a:latin typeface="+mn-ea"/>
              </a:endParaRPr>
            </a:p>
          </p:txBody>
        </p:sp>
        <p:sp>
          <p:nvSpPr>
            <p:cNvPr id="566" name="Rectangle 63"/>
            <p:cNvSpPr>
              <a:spLocks noChangeArrowheads="1"/>
            </p:cNvSpPr>
            <p:nvPr/>
          </p:nvSpPr>
          <p:spPr bwMode="auto">
            <a:xfrm>
              <a:off x="776330" y="3635067"/>
              <a:ext cx="939758" cy="217237"/>
            </a:xfrm>
            <a:prstGeom prst="rect">
              <a:avLst/>
            </a:prstGeom>
            <a:ln w="3175">
              <a:solidFill>
                <a:schemeClr val="accent1">
                  <a:alpha val="25000"/>
                </a:schemeClr>
              </a:solidFill>
              <a:headEnd/>
              <a:tailEnd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wrap="none" lIns="128016" tIns="64008" rIns="128016" bIns="64008"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900" dirty="0">
                  <a:latin typeface="+mn-ea"/>
                </a:rPr>
                <a:t>급여정보</a:t>
              </a:r>
              <a:endParaRPr kumimoji="0" lang="en-US" altLang="ko-KR" sz="900" dirty="0">
                <a:latin typeface="+mn-ea"/>
              </a:endParaRPr>
            </a:p>
          </p:txBody>
        </p:sp>
      </p:grpSp>
      <p:sp>
        <p:nvSpPr>
          <p:cNvPr id="567" name="Rectangle 4"/>
          <p:cNvSpPr>
            <a:spLocks noChangeArrowheads="1"/>
          </p:cNvSpPr>
          <p:nvPr/>
        </p:nvSpPr>
        <p:spPr bwMode="auto">
          <a:xfrm>
            <a:off x="571542" y="4162230"/>
            <a:ext cx="1472022" cy="665776"/>
          </a:xfrm>
          <a:prstGeom prst="rect">
            <a:avLst/>
          </a:prstGeom>
          <a:ln w="3175">
            <a:headEnd/>
            <a:tailEnd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>
              <a:defRPr/>
            </a:pPr>
            <a:endParaRPr lang="ko-KR" altLang="en-US" sz="1600">
              <a:latin typeface="+mn-ea"/>
            </a:endParaRPr>
          </a:p>
        </p:txBody>
      </p:sp>
      <p:sp>
        <p:nvSpPr>
          <p:cNvPr id="568" name="Rectangle 63"/>
          <p:cNvSpPr>
            <a:spLocks noChangeArrowheads="1"/>
          </p:cNvSpPr>
          <p:nvPr/>
        </p:nvSpPr>
        <p:spPr bwMode="auto">
          <a:xfrm>
            <a:off x="892645" y="4162230"/>
            <a:ext cx="1009008" cy="146794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50" smtClean="0">
                <a:latin typeface="+mn-ea"/>
              </a:rPr>
              <a:t>E H S</a:t>
            </a:r>
            <a:endParaRPr kumimoji="0" lang="en-US" altLang="ko-KR" sz="1050" dirty="0">
              <a:latin typeface="+mn-ea"/>
            </a:endParaRPr>
          </a:p>
        </p:txBody>
      </p:sp>
      <p:sp>
        <p:nvSpPr>
          <p:cNvPr id="569" name="Rectangle 63"/>
          <p:cNvSpPr>
            <a:spLocks noChangeArrowheads="1"/>
          </p:cNvSpPr>
          <p:nvPr/>
        </p:nvSpPr>
        <p:spPr bwMode="auto">
          <a:xfrm>
            <a:off x="679779" y="4589898"/>
            <a:ext cx="622964" cy="180314"/>
          </a:xfrm>
          <a:prstGeom prst="rect">
            <a:avLst/>
          </a:prstGeom>
          <a:ln w="3175"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schemeClr val="tx1"/>
                </a:solidFill>
                <a:latin typeface="+mn-ea"/>
              </a:rPr>
              <a:t>안전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0" name="Rectangle 63"/>
          <p:cNvSpPr>
            <a:spLocks noChangeArrowheads="1"/>
          </p:cNvSpPr>
          <p:nvPr/>
        </p:nvSpPr>
        <p:spPr bwMode="auto">
          <a:xfrm>
            <a:off x="679779" y="4400337"/>
            <a:ext cx="622964" cy="180314"/>
          </a:xfrm>
          <a:prstGeom prst="rect">
            <a:avLst/>
          </a:prstGeom>
          <a:ln w="3175"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900" smtClean="0">
                <a:solidFill>
                  <a:schemeClr val="tx1"/>
                </a:solidFill>
                <a:latin typeface="+mn-ea"/>
              </a:rPr>
              <a:t>환경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1" name="Rectangle 63"/>
          <p:cNvSpPr>
            <a:spLocks noChangeArrowheads="1"/>
          </p:cNvSpPr>
          <p:nvPr/>
        </p:nvSpPr>
        <p:spPr bwMode="auto">
          <a:xfrm>
            <a:off x="1318377" y="4589898"/>
            <a:ext cx="624166" cy="180314"/>
          </a:xfrm>
          <a:prstGeom prst="rect">
            <a:avLst/>
          </a:prstGeom>
          <a:ln w="3175"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schemeClr val="tx1"/>
                </a:solidFill>
                <a:latin typeface="+mn-ea"/>
              </a:rPr>
              <a:t>현황관리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2" name="Rectangle 63"/>
          <p:cNvSpPr>
            <a:spLocks noChangeArrowheads="1"/>
          </p:cNvSpPr>
          <p:nvPr/>
        </p:nvSpPr>
        <p:spPr bwMode="auto">
          <a:xfrm>
            <a:off x="1318377" y="4400337"/>
            <a:ext cx="624166" cy="181470"/>
          </a:xfrm>
          <a:prstGeom prst="rect">
            <a:avLst/>
          </a:prstGeom>
          <a:ln w="3175"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schemeClr val="tx1"/>
                </a:solidFill>
                <a:latin typeface="+mn-ea"/>
              </a:rPr>
              <a:t>보건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3" name="Rectangle 63"/>
          <p:cNvSpPr>
            <a:spLocks noChangeArrowheads="1"/>
          </p:cNvSpPr>
          <p:nvPr/>
        </p:nvSpPr>
        <p:spPr bwMode="auto">
          <a:xfrm>
            <a:off x="4161744" y="4415426"/>
            <a:ext cx="622964" cy="180314"/>
          </a:xfrm>
          <a:prstGeom prst="rect">
            <a:avLst/>
          </a:prstGeom>
          <a:ln w="3175"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 lIns="128016" tIns="64008" rIns="128016" bIns="64008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smtClean="0">
                <a:solidFill>
                  <a:schemeClr val="tx1"/>
                </a:solidFill>
                <a:latin typeface="+mn-ea"/>
              </a:rPr>
              <a:t>규정관리</a:t>
            </a:r>
            <a:endParaRPr kumimoji="0"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575" name="순서도: 처리 574"/>
          <p:cNvSpPr/>
          <p:nvPr/>
        </p:nvSpPr>
        <p:spPr>
          <a:xfrm>
            <a:off x="6116245" y="1206762"/>
            <a:ext cx="1805444" cy="2904367"/>
          </a:xfrm>
          <a:prstGeom prst="flowChartProcess">
            <a:avLst/>
          </a:prstGeom>
          <a:solidFill>
            <a:srgbClr val="FFFFFF">
              <a:alpha val="50196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900" smtClean="0">
              <a:solidFill>
                <a:schemeClr val="tx1"/>
              </a:solidFill>
            </a:endParaRPr>
          </a:p>
        </p:txBody>
      </p:sp>
      <p:sp>
        <p:nvSpPr>
          <p:cNvPr id="576" name="순서도: 처리 575"/>
          <p:cNvSpPr/>
          <p:nvPr/>
        </p:nvSpPr>
        <p:spPr>
          <a:xfrm>
            <a:off x="450373" y="4119076"/>
            <a:ext cx="7471316" cy="2083312"/>
          </a:xfrm>
          <a:prstGeom prst="flowChartProcess">
            <a:avLst/>
          </a:prstGeom>
          <a:solidFill>
            <a:srgbClr val="FFFFFF">
              <a:alpha val="50196"/>
            </a:srgb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9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6661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344488" y="0"/>
            <a:ext cx="4643072" cy="781320"/>
          </a:xfrm>
        </p:spPr>
        <p:txBody>
          <a:bodyPr>
            <a:noAutofit/>
          </a:bodyPr>
          <a:lstStyle/>
          <a:p>
            <a:r>
              <a:rPr lang="en-US" altLang="ko-KR" dirty="0"/>
              <a:t>3</a:t>
            </a:r>
            <a:r>
              <a:rPr lang="en-US" altLang="ko-KR"/>
              <a:t>. </a:t>
            </a:r>
            <a:r>
              <a:rPr lang="ko-KR" altLang="en-US" smtClean="0"/>
              <a:t>목표시스템 구성도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3.2 ERP </a:t>
            </a:r>
            <a:r>
              <a:rPr lang="ko-KR" altLang="en-US" smtClean="0"/>
              <a:t>서비스 구성도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quarter" idx="13"/>
          </p:nvPr>
        </p:nvSpPr>
        <p:spPr>
          <a:xfrm>
            <a:off x="5978883" y="0"/>
            <a:ext cx="3537025" cy="782680"/>
          </a:xfrm>
        </p:spPr>
        <p:txBody>
          <a:bodyPr/>
          <a:lstStyle/>
          <a:p>
            <a:pPr>
              <a:spcBef>
                <a:spcPct val="20000"/>
              </a:spcBef>
            </a:pPr>
            <a:r>
              <a:rPr lang="en-US" altLang="ko-KR" smtClean="0"/>
              <a:t>Ⅳ. </a:t>
            </a:r>
            <a:r>
              <a:rPr lang="ko-KR" altLang="en-US" smtClean="0"/>
              <a:t>이행계획 수립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3. </a:t>
            </a:r>
            <a:r>
              <a:rPr lang="ko-KR" altLang="en-US" smtClean="0"/>
              <a:t>목표시스템 구성도</a:t>
            </a:r>
            <a:endParaRPr lang="en-US" altLang="ko-KR" dirty="0"/>
          </a:p>
          <a:p>
            <a:pPr>
              <a:spcBef>
                <a:spcPct val="20000"/>
              </a:spcBef>
            </a:pPr>
            <a:r>
              <a:rPr lang="en-US" altLang="ko-KR" smtClean="0"/>
              <a:t>3.2 ERP</a:t>
            </a:r>
            <a:r>
              <a:rPr lang="ko-KR" altLang="en-US" smtClean="0"/>
              <a:t> 서비스 구성도</a:t>
            </a:r>
            <a:endParaRPr lang="en-US" altLang="ko-KR" dirty="0"/>
          </a:p>
        </p:txBody>
      </p:sp>
      <p:sp>
        <p:nvSpPr>
          <p:cNvPr id="295" name="AutoShape 15"/>
          <p:cNvSpPr>
            <a:spLocks noChangeArrowheads="1"/>
          </p:cNvSpPr>
          <p:nvPr/>
        </p:nvSpPr>
        <p:spPr bwMode="auto">
          <a:xfrm>
            <a:off x="2741121" y="2773080"/>
            <a:ext cx="980483" cy="2832717"/>
          </a:xfrm>
          <a:prstGeom prst="roundRect">
            <a:avLst>
              <a:gd name="adj" fmla="val 3149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sz="700" b="0" ker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296" name="모서리가 둥근 직사각형 295"/>
          <p:cNvSpPr/>
          <p:nvPr/>
        </p:nvSpPr>
        <p:spPr>
          <a:xfrm>
            <a:off x="3233771" y="5268539"/>
            <a:ext cx="219224" cy="310080"/>
          </a:xfrm>
          <a:prstGeom prst="roundRect">
            <a:avLst>
              <a:gd name="adj" fmla="val 11556"/>
            </a:avLst>
          </a:prstGeom>
          <a:gradFill>
            <a:gsLst>
              <a:gs pos="0">
                <a:srgbClr val="1992AF">
                  <a:lumMod val="66000"/>
                </a:srgbClr>
              </a:gs>
              <a:gs pos="80000">
                <a:schemeClr val="accent5">
                  <a:shade val="93000"/>
                  <a:satMod val="130000"/>
                </a:schemeClr>
              </a:gs>
              <a:gs pos="100000">
                <a:schemeClr val="accent5">
                  <a:shade val="94000"/>
                  <a:satMod val="135000"/>
                  <a:lumMod val="82000"/>
                  <a:lumOff val="18000"/>
                </a:schemeClr>
              </a:gs>
            </a:gsLst>
          </a:gradFill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97" name="모서리가 둥근 직사각형 296"/>
          <p:cNvSpPr/>
          <p:nvPr/>
        </p:nvSpPr>
        <p:spPr>
          <a:xfrm>
            <a:off x="3465040" y="5268539"/>
            <a:ext cx="219224" cy="310080"/>
          </a:xfrm>
          <a:prstGeom prst="roundRect">
            <a:avLst>
              <a:gd name="adj" fmla="val 11556"/>
            </a:avLst>
          </a:prstGeom>
          <a:gradFill>
            <a:gsLst>
              <a:gs pos="0">
                <a:schemeClr val="accent4">
                  <a:shade val="51000"/>
                  <a:satMod val="130000"/>
                  <a:lumMod val="83000"/>
                </a:schemeClr>
              </a:gs>
              <a:gs pos="80000">
                <a:schemeClr val="accent4">
                  <a:shade val="93000"/>
                  <a:satMod val="130000"/>
                </a:schemeClr>
              </a:gs>
              <a:gs pos="100000">
                <a:schemeClr val="accent4"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0" tIns="36000" rIns="0" bIns="36000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98" name="모서리가 둥근 직사각형 297"/>
          <p:cNvSpPr/>
          <p:nvPr/>
        </p:nvSpPr>
        <p:spPr>
          <a:xfrm>
            <a:off x="2771234" y="5268539"/>
            <a:ext cx="219224" cy="310080"/>
          </a:xfrm>
          <a:prstGeom prst="roundRect">
            <a:avLst>
              <a:gd name="adj" fmla="val 11556"/>
            </a:avLst>
          </a:prstGeom>
          <a:gradFill>
            <a:gsLst>
              <a:gs pos="0">
                <a:schemeClr val="accent6">
                  <a:shade val="51000"/>
                  <a:satMod val="130000"/>
                  <a:lumMod val="75000"/>
                </a:schemeClr>
              </a:gs>
              <a:gs pos="80000">
                <a:schemeClr val="accent6">
                  <a:shade val="93000"/>
                  <a:satMod val="130000"/>
                </a:schemeClr>
              </a:gs>
              <a:gs pos="100000">
                <a:schemeClr val="accent6"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tIns="36000" rIns="0" bIns="36000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299" name="모서리가 둥근 직사각형 298"/>
          <p:cNvSpPr/>
          <p:nvPr/>
        </p:nvSpPr>
        <p:spPr>
          <a:xfrm>
            <a:off x="3002503" y="5268539"/>
            <a:ext cx="219224" cy="310080"/>
          </a:xfrm>
          <a:prstGeom prst="roundRect">
            <a:avLst>
              <a:gd name="adj" fmla="val 11556"/>
            </a:avLst>
          </a:prstGeom>
          <a:gradFill>
            <a:gsLst>
              <a:gs pos="0">
                <a:schemeClr val="accent3">
                  <a:shade val="51000"/>
                  <a:satMod val="130000"/>
                  <a:lumMod val="71000"/>
                </a:schemeClr>
              </a:gs>
              <a:gs pos="80000">
                <a:schemeClr val="accent3">
                  <a:shade val="93000"/>
                  <a:satMod val="130000"/>
                </a:schemeClr>
              </a:gs>
              <a:gs pos="100000">
                <a:schemeClr val="accent3">
                  <a:shade val="94000"/>
                  <a:satMod val="135000"/>
                </a:schemeClr>
              </a:gs>
            </a:gsLst>
          </a:gradFill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tIns="36000" rIns="0" bIns="36000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6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00" name="AutoShape 15"/>
          <p:cNvSpPr>
            <a:spLocks noChangeArrowheads="1"/>
          </p:cNvSpPr>
          <p:nvPr/>
        </p:nvSpPr>
        <p:spPr bwMode="auto">
          <a:xfrm>
            <a:off x="297139" y="4669382"/>
            <a:ext cx="2364483" cy="929003"/>
          </a:xfrm>
          <a:prstGeom prst="roundRect">
            <a:avLst>
              <a:gd name="adj" fmla="val 5676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sz="700" b="0" ker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301" name="AutoShape 123"/>
          <p:cNvSpPr>
            <a:spLocks noChangeArrowheads="1"/>
          </p:cNvSpPr>
          <p:nvPr/>
        </p:nvSpPr>
        <p:spPr bwMode="auto">
          <a:xfrm>
            <a:off x="1942521" y="4706443"/>
            <a:ext cx="687784" cy="856115"/>
          </a:xfrm>
          <a:prstGeom prst="roundRect">
            <a:avLst>
              <a:gd name="adj" fmla="val 5963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7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02" name="AutoShape 15"/>
          <p:cNvSpPr>
            <a:spLocks noChangeArrowheads="1"/>
          </p:cNvSpPr>
          <p:nvPr/>
        </p:nvSpPr>
        <p:spPr bwMode="auto">
          <a:xfrm>
            <a:off x="293526" y="1157208"/>
            <a:ext cx="5216797" cy="1398445"/>
          </a:xfrm>
          <a:prstGeom prst="roundRect">
            <a:avLst>
              <a:gd name="adj" fmla="val 5676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sz="1400" b="0" ker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303" name="AutoShape 123"/>
          <p:cNvSpPr>
            <a:spLocks noChangeArrowheads="1"/>
          </p:cNvSpPr>
          <p:nvPr/>
        </p:nvSpPr>
        <p:spPr bwMode="auto">
          <a:xfrm>
            <a:off x="317617" y="1195505"/>
            <a:ext cx="3382306" cy="1326794"/>
          </a:xfrm>
          <a:prstGeom prst="roundRect">
            <a:avLst>
              <a:gd name="adj" fmla="val 4278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304" name="그림 59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889" y="969431"/>
            <a:ext cx="1039505" cy="205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5" name="Rectangle 88"/>
          <p:cNvSpPr>
            <a:spLocks noChangeArrowheads="1"/>
          </p:cNvSpPr>
          <p:nvPr/>
        </p:nvSpPr>
        <p:spPr bwMode="auto">
          <a:xfrm>
            <a:off x="426460" y="1010038"/>
            <a:ext cx="837145" cy="15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예산관리</a:t>
            </a:r>
          </a:p>
        </p:txBody>
      </p:sp>
      <p:sp>
        <p:nvSpPr>
          <p:cNvPr id="306" name="모서리가 둥근 직사각형 305"/>
          <p:cNvSpPr/>
          <p:nvPr/>
        </p:nvSpPr>
        <p:spPr>
          <a:xfrm>
            <a:off x="351344" y="1841606"/>
            <a:ext cx="611899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중장기예산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07" name="모서리가 둥근 직사각형 306"/>
          <p:cNvSpPr/>
          <p:nvPr/>
        </p:nvSpPr>
        <p:spPr>
          <a:xfrm>
            <a:off x="998234" y="1634063"/>
            <a:ext cx="661164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단년도예산편성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08" name="모서리가 둥근 직사각형 307"/>
          <p:cNvSpPr/>
          <p:nvPr/>
        </p:nvSpPr>
        <p:spPr>
          <a:xfrm>
            <a:off x="1028287" y="1841606"/>
            <a:ext cx="611899" cy="14083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예산안승인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09" name="모서리가 둥근 직사각형 308"/>
          <p:cNvSpPr/>
          <p:nvPr/>
        </p:nvSpPr>
        <p:spPr>
          <a:xfrm>
            <a:off x="1706434" y="1841606"/>
            <a:ext cx="611899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예산마감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10" name="모서리가 둥근 직사각형 309"/>
          <p:cNvSpPr/>
          <p:nvPr/>
        </p:nvSpPr>
        <p:spPr>
          <a:xfrm>
            <a:off x="1706434" y="2201101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예산서출력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11" name="모서리가 둥근 직사각형 310"/>
          <p:cNvSpPr/>
          <p:nvPr/>
        </p:nvSpPr>
        <p:spPr>
          <a:xfrm>
            <a:off x="1706434" y="2361700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예실대비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12" name="모서리가 둥근 직사각형 311"/>
          <p:cNvSpPr/>
          <p:nvPr/>
        </p:nvSpPr>
        <p:spPr>
          <a:xfrm>
            <a:off x="2366513" y="1634063"/>
            <a:ext cx="601058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추경예산신청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13" name="모서리가 둥근 직사각형 312"/>
          <p:cNvSpPr/>
          <p:nvPr/>
        </p:nvSpPr>
        <p:spPr>
          <a:xfrm>
            <a:off x="2366513" y="1841606"/>
            <a:ext cx="611899" cy="14083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예산안승인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14" name="모서리가 둥근 직사각형 313"/>
          <p:cNvSpPr/>
          <p:nvPr/>
        </p:nvSpPr>
        <p:spPr>
          <a:xfrm>
            <a:off x="2714621" y="2201101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월별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`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집행계획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15" name="모서리가 둥근 직사각형 314"/>
          <p:cNvSpPr/>
          <p:nvPr/>
        </p:nvSpPr>
        <p:spPr>
          <a:xfrm>
            <a:off x="1028287" y="2361700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연간예산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16" name="모서리가 둥근 직사각형 315"/>
          <p:cNvSpPr/>
          <p:nvPr/>
        </p:nvSpPr>
        <p:spPr>
          <a:xfrm>
            <a:off x="2366513" y="2361700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추경예산편성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17" name="모서리가 둥근 직사각형 316"/>
          <p:cNvSpPr/>
          <p:nvPr/>
        </p:nvSpPr>
        <p:spPr>
          <a:xfrm>
            <a:off x="3051888" y="2361700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전용예산내역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18" name="이등변 삼각형 317"/>
          <p:cNvSpPr/>
          <p:nvPr/>
        </p:nvSpPr>
        <p:spPr>
          <a:xfrm rot="16200000">
            <a:off x="1649667" y="1488104"/>
            <a:ext cx="60533" cy="33727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19" name="이등변 삼각형 318"/>
          <p:cNvSpPr/>
          <p:nvPr/>
        </p:nvSpPr>
        <p:spPr>
          <a:xfrm rot="10800000">
            <a:off x="1293282" y="1584648"/>
            <a:ext cx="59021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0" name="이등변 삼각형 319"/>
          <p:cNvSpPr/>
          <p:nvPr/>
        </p:nvSpPr>
        <p:spPr>
          <a:xfrm rot="10800000">
            <a:off x="1293282" y="1792191"/>
            <a:ext cx="59021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1" name="이등변 삼각형 320"/>
          <p:cNvSpPr/>
          <p:nvPr/>
        </p:nvSpPr>
        <p:spPr>
          <a:xfrm rot="10800000">
            <a:off x="1293282" y="1998499"/>
            <a:ext cx="59021" cy="3459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2" name="이등변 삼각형 321"/>
          <p:cNvSpPr/>
          <p:nvPr/>
        </p:nvSpPr>
        <p:spPr>
          <a:xfrm rot="5400000">
            <a:off x="1642425" y="1890852"/>
            <a:ext cx="61769" cy="34932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3" name="이등변 삼각형 322"/>
          <p:cNvSpPr/>
          <p:nvPr/>
        </p:nvSpPr>
        <p:spPr>
          <a:xfrm rot="5400000">
            <a:off x="1643043" y="2255905"/>
            <a:ext cx="60533" cy="34932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4" name="이등변 삼각형 323"/>
          <p:cNvSpPr/>
          <p:nvPr/>
        </p:nvSpPr>
        <p:spPr>
          <a:xfrm rot="5400000">
            <a:off x="1643043" y="2418974"/>
            <a:ext cx="60533" cy="34932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5" name="이등변 삼각형 324"/>
          <p:cNvSpPr/>
          <p:nvPr/>
        </p:nvSpPr>
        <p:spPr>
          <a:xfrm rot="5400000">
            <a:off x="2981270" y="2418974"/>
            <a:ext cx="60533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6" name="이등변 삼각형 325"/>
          <p:cNvSpPr/>
          <p:nvPr/>
        </p:nvSpPr>
        <p:spPr>
          <a:xfrm rot="10800000">
            <a:off x="2647168" y="1792191"/>
            <a:ext cx="60226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7" name="이등변 삼각형 326"/>
          <p:cNvSpPr/>
          <p:nvPr/>
        </p:nvSpPr>
        <p:spPr>
          <a:xfrm rot="10800000">
            <a:off x="3333747" y="1787250"/>
            <a:ext cx="59021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8" name="이등변 삼각형 327"/>
          <p:cNvSpPr/>
          <p:nvPr/>
        </p:nvSpPr>
        <p:spPr>
          <a:xfrm rot="10800000">
            <a:off x="3333747" y="1998499"/>
            <a:ext cx="59021" cy="3459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29" name="이등변 삼각형 328"/>
          <p:cNvSpPr/>
          <p:nvPr/>
        </p:nvSpPr>
        <p:spPr>
          <a:xfrm rot="10800000">
            <a:off x="2647168" y="1998499"/>
            <a:ext cx="60226" cy="3459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30" name="직사각형 329"/>
          <p:cNvSpPr/>
          <p:nvPr/>
        </p:nvSpPr>
        <p:spPr>
          <a:xfrm>
            <a:off x="324844" y="1204152"/>
            <a:ext cx="3381101" cy="18036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0"/>
                </a:schemeClr>
              </a:gs>
              <a:gs pos="49000">
                <a:srgbClr val="0070C0"/>
              </a:gs>
              <a:gs pos="100000">
                <a:schemeClr val="accent1">
                  <a:shade val="94000"/>
                  <a:satMod val="13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31" name="Rectangle 88"/>
          <p:cNvSpPr>
            <a:spLocks noChangeArrowheads="1"/>
          </p:cNvSpPr>
          <p:nvPr/>
        </p:nvSpPr>
        <p:spPr bwMode="auto">
          <a:xfrm>
            <a:off x="1590799" y="1209094"/>
            <a:ext cx="837145" cy="15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예산편성</a:t>
            </a:r>
          </a:p>
        </p:txBody>
      </p:sp>
      <p:sp>
        <p:nvSpPr>
          <p:cNvPr id="332" name="AutoShape 123"/>
          <p:cNvSpPr>
            <a:spLocks noChangeArrowheads="1"/>
          </p:cNvSpPr>
          <p:nvPr/>
        </p:nvSpPr>
        <p:spPr bwMode="auto">
          <a:xfrm>
            <a:off x="3733650" y="1195505"/>
            <a:ext cx="663693" cy="1326794"/>
          </a:xfrm>
          <a:prstGeom prst="roundRect">
            <a:avLst>
              <a:gd name="adj" fmla="val 4278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33" name="직사각형 332"/>
          <p:cNvSpPr/>
          <p:nvPr/>
        </p:nvSpPr>
        <p:spPr>
          <a:xfrm>
            <a:off x="3734854" y="1204152"/>
            <a:ext cx="655262" cy="18036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0"/>
                </a:schemeClr>
              </a:gs>
              <a:gs pos="49000">
                <a:srgbClr val="0070C0"/>
              </a:gs>
              <a:gs pos="100000">
                <a:schemeClr val="accent1">
                  <a:shade val="94000"/>
                  <a:satMod val="13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34" name="Rectangle 88"/>
          <p:cNvSpPr>
            <a:spLocks noChangeArrowheads="1"/>
          </p:cNvSpPr>
          <p:nvPr/>
        </p:nvSpPr>
        <p:spPr bwMode="auto">
          <a:xfrm>
            <a:off x="3745695" y="1209094"/>
            <a:ext cx="628762" cy="15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예산배정</a:t>
            </a:r>
          </a:p>
        </p:txBody>
      </p:sp>
      <p:sp>
        <p:nvSpPr>
          <p:cNvPr id="335" name="모서리가 둥근 직사각형 334"/>
          <p:cNvSpPr/>
          <p:nvPr/>
        </p:nvSpPr>
        <p:spPr>
          <a:xfrm>
            <a:off x="3762558" y="1831723"/>
            <a:ext cx="601058" cy="139598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분기배정신청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336" name="꺾인 연결선 335"/>
          <p:cNvCxnSpPr/>
          <p:nvPr/>
        </p:nvCxnSpPr>
        <p:spPr>
          <a:xfrm rot="16200000" flipH="1">
            <a:off x="770582" y="1477939"/>
            <a:ext cx="139597" cy="301131"/>
          </a:xfrm>
          <a:prstGeom prst="bentConnector2">
            <a:avLst/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" name="모서리가 둥근 직사각형 336"/>
          <p:cNvSpPr/>
          <p:nvPr/>
        </p:nvSpPr>
        <p:spPr>
          <a:xfrm>
            <a:off x="351344" y="1422814"/>
            <a:ext cx="611899" cy="148245"/>
          </a:xfrm>
          <a:prstGeom prst="roundRect">
            <a:avLst/>
          </a:prstGeom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700" b="1" dirty="0">
                <a:solidFill>
                  <a:prstClr val="white"/>
                </a:solidFill>
                <a:latin typeface="+mn-ea"/>
              </a:rPr>
              <a:t>사업코드</a:t>
            </a:r>
          </a:p>
        </p:txBody>
      </p:sp>
      <p:sp>
        <p:nvSpPr>
          <p:cNvPr id="338" name="모서리가 둥근 직사각형 337"/>
          <p:cNvSpPr/>
          <p:nvPr/>
        </p:nvSpPr>
        <p:spPr>
          <a:xfrm>
            <a:off x="1028287" y="1422814"/>
            <a:ext cx="611899" cy="148245"/>
          </a:xfrm>
          <a:prstGeom prst="roundRect">
            <a:avLst/>
          </a:prstGeom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ko-KR" altLang="en-US" sz="700" b="1" dirty="0">
                <a:solidFill>
                  <a:prstClr val="white"/>
                </a:solidFill>
                <a:latin typeface="+mn-ea"/>
              </a:rPr>
              <a:t>예산과목</a:t>
            </a:r>
          </a:p>
        </p:txBody>
      </p:sp>
      <p:sp>
        <p:nvSpPr>
          <p:cNvPr id="339" name="모서리가 둥근 직사각형 338"/>
          <p:cNvSpPr/>
          <p:nvPr/>
        </p:nvSpPr>
        <p:spPr>
          <a:xfrm>
            <a:off x="1706434" y="1422814"/>
            <a:ext cx="611899" cy="148245"/>
          </a:xfrm>
          <a:prstGeom prst="roundRect">
            <a:avLst/>
          </a:prstGeom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ko-KR" altLang="en-US" sz="700" b="1" dirty="0">
                <a:solidFill>
                  <a:prstClr val="white"/>
                </a:solidFill>
                <a:latin typeface="+mn-ea"/>
              </a:rPr>
              <a:t>예산항목분류</a:t>
            </a:r>
          </a:p>
        </p:txBody>
      </p:sp>
      <p:cxnSp>
        <p:nvCxnSpPr>
          <p:cNvPr id="340" name="직선 연결선 339"/>
          <p:cNvCxnSpPr/>
          <p:nvPr/>
        </p:nvCxnSpPr>
        <p:spPr>
          <a:xfrm>
            <a:off x="652475" y="1552528"/>
            <a:ext cx="0" cy="2446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1" name="이등변 삼각형 340"/>
          <p:cNvSpPr/>
          <p:nvPr/>
        </p:nvSpPr>
        <p:spPr>
          <a:xfrm rot="10800000">
            <a:off x="623566" y="1792191"/>
            <a:ext cx="60226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42" name="이등변 삼각형 341"/>
          <p:cNvSpPr/>
          <p:nvPr/>
        </p:nvSpPr>
        <p:spPr>
          <a:xfrm rot="5400000">
            <a:off x="966100" y="1690103"/>
            <a:ext cx="60533" cy="34932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343" name="꺾인 연결선 342"/>
          <p:cNvCxnSpPr/>
          <p:nvPr/>
        </p:nvCxnSpPr>
        <p:spPr>
          <a:xfrm rot="5400000">
            <a:off x="1759822" y="1439718"/>
            <a:ext cx="161834" cy="355335"/>
          </a:xfrm>
          <a:prstGeom prst="bentConnector2">
            <a:avLst/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" name="꺾인 연결선 343"/>
          <p:cNvCxnSpPr/>
          <p:nvPr/>
        </p:nvCxnSpPr>
        <p:spPr>
          <a:xfrm rot="16200000" flipH="1">
            <a:off x="1424623" y="2035448"/>
            <a:ext cx="140833" cy="328836"/>
          </a:xfrm>
          <a:prstGeom prst="bentConnector2">
            <a:avLst/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" name="모서리가 둥근 직사각형 344"/>
          <p:cNvSpPr/>
          <p:nvPr/>
        </p:nvSpPr>
        <p:spPr>
          <a:xfrm>
            <a:off x="1028287" y="2042973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연간예산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346" name="꺾인 연결선 345"/>
          <p:cNvCxnSpPr/>
          <p:nvPr/>
        </p:nvCxnSpPr>
        <p:spPr>
          <a:xfrm rot="5400000">
            <a:off x="2435545" y="2028638"/>
            <a:ext cx="163070" cy="327631"/>
          </a:xfrm>
          <a:prstGeom prst="bentConnector2">
            <a:avLst/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7" name="모서리가 둥근 직사각형 346"/>
          <p:cNvSpPr/>
          <p:nvPr/>
        </p:nvSpPr>
        <p:spPr>
          <a:xfrm>
            <a:off x="2366513" y="2042973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추경예산편성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48" name="이등변 삼각형 347"/>
          <p:cNvSpPr/>
          <p:nvPr/>
        </p:nvSpPr>
        <p:spPr>
          <a:xfrm rot="16200000">
            <a:off x="2318781" y="2255905"/>
            <a:ext cx="60533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349" name="꺾인 연결선 348"/>
          <p:cNvCxnSpPr/>
          <p:nvPr/>
        </p:nvCxnSpPr>
        <p:spPr>
          <a:xfrm rot="16200000" flipH="1">
            <a:off x="747695" y="1881010"/>
            <a:ext cx="139598" cy="327631"/>
          </a:xfrm>
          <a:prstGeom prst="bentConnector2">
            <a:avLst/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0" name="이등변 삼각형 349"/>
          <p:cNvSpPr/>
          <p:nvPr/>
        </p:nvSpPr>
        <p:spPr>
          <a:xfrm rot="5400000">
            <a:off x="966100" y="2103953"/>
            <a:ext cx="60534" cy="34932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51" name="이등변 삼각형 350"/>
          <p:cNvSpPr/>
          <p:nvPr/>
        </p:nvSpPr>
        <p:spPr>
          <a:xfrm rot="16200000">
            <a:off x="1633993" y="1688250"/>
            <a:ext cx="61769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352" name="꺾인 연결선 351"/>
          <p:cNvCxnSpPr>
            <a:stCxn id="314" idx="3"/>
            <a:endCxn id="356" idx="1"/>
          </p:cNvCxnSpPr>
          <p:nvPr/>
        </p:nvCxnSpPr>
        <p:spPr>
          <a:xfrm flipV="1">
            <a:off x="3326520" y="1704480"/>
            <a:ext cx="436038" cy="565802"/>
          </a:xfrm>
          <a:prstGeom prst="bentConnector3">
            <a:avLst>
              <a:gd name="adj1" fmla="val 65929"/>
            </a:avLst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3" name="모서리가 둥근 직사각형 352"/>
          <p:cNvSpPr/>
          <p:nvPr/>
        </p:nvSpPr>
        <p:spPr>
          <a:xfrm>
            <a:off x="3051888" y="1841606"/>
            <a:ext cx="611899" cy="140833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예산전용승인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54" name="모서리가 둥근 직사각형 353"/>
          <p:cNvSpPr/>
          <p:nvPr/>
        </p:nvSpPr>
        <p:spPr>
          <a:xfrm>
            <a:off x="3051888" y="2042973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전용예산내역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cxnSp>
        <p:nvCxnSpPr>
          <p:cNvPr id="355" name="꺾인 연결선 354"/>
          <p:cNvCxnSpPr/>
          <p:nvPr/>
        </p:nvCxnSpPr>
        <p:spPr>
          <a:xfrm rot="10800000" flipH="1">
            <a:off x="3762558" y="1645182"/>
            <a:ext cx="83112" cy="789405"/>
          </a:xfrm>
          <a:prstGeom prst="bentConnector4">
            <a:avLst>
              <a:gd name="adj1" fmla="val -93106"/>
              <a:gd name="adj2" fmla="val 92315"/>
            </a:avLst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6" name="모서리가 둥근 직사각형 355"/>
          <p:cNvSpPr/>
          <p:nvPr/>
        </p:nvSpPr>
        <p:spPr>
          <a:xfrm>
            <a:off x="3762558" y="1634063"/>
            <a:ext cx="601058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연간월별배정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57" name="모서리가 둥근 직사각형 356"/>
          <p:cNvSpPr/>
          <p:nvPr/>
        </p:nvSpPr>
        <p:spPr>
          <a:xfrm>
            <a:off x="3762558" y="2361700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절감 목표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58" name="이등변 삼각형 357"/>
          <p:cNvSpPr/>
          <p:nvPr/>
        </p:nvSpPr>
        <p:spPr>
          <a:xfrm rot="5400000">
            <a:off x="3716030" y="1690103"/>
            <a:ext cx="60533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359" name="AutoShape 123"/>
          <p:cNvSpPr>
            <a:spLocks noChangeArrowheads="1"/>
          </p:cNvSpPr>
          <p:nvPr/>
        </p:nvSpPr>
        <p:spPr bwMode="auto">
          <a:xfrm>
            <a:off x="4435887" y="1195505"/>
            <a:ext cx="1039505" cy="1326794"/>
          </a:xfrm>
          <a:prstGeom prst="roundRect">
            <a:avLst>
              <a:gd name="adj" fmla="val 4278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60" name="모서리가 둥근 직사각형 359"/>
          <p:cNvSpPr/>
          <p:nvPr/>
        </p:nvSpPr>
        <p:spPr>
          <a:xfrm>
            <a:off x="4464796" y="2361700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예산 한도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361" name="직선 연결선 360"/>
          <p:cNvCxnSpPr/>
          <p:nvPr/>
        </p:nvCxnSpPr>
        <p:spPr>
          <a:xfrm>
            <a:off x="4774359" y="1825547"/>
            <a:ext cx="0" cy="4879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2" name="이등변 삼각형 361"/>
          <p:cNvSpPr/>
          <p:nvPr/>
        </p:nvSpPr>
        <p:spPr>
          <a:xfrm rot="10800000">
            <a:off x="4745451" y="2318461"/>
            <a:ext cx="59021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363" name="그룹 458"/>
          <p:cNvGrpSpPr>
            <a:grpSpLocks/>
          </p:cNvGrpSpPr>
          <p:nvPr/>
        </p:nvGrpSpPr>
        <p:grpSpPr bwMode="auto">
          <a:xfrm>
            <a:off x="3029002" y="1044789"/>
            <a:ext cx="537218" cy="550978"/>
            <a:chOff x="4005363" y="2738998"/>
            <a:chExt cx="708151" cy="708151"/>
          </a:xfrm>
        </p:grpSpPr>
        <p:pic>
          <p:nvPicPr>
            <p:cNvPr id="954" name="그림 95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5363" y="2738998"/>
              <a:ext cx="708151" cy="708151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55" name="Text Box 26"/>
            <p:cNvSpPr txBox="1">
              <a:spLocks noChangeArrowheads="1"/>
            </p:cNvSpPr>
            <p:nvPr/>
          </p:nvSpPr>
          <p:spPr bwMode="auto">
            <a:xfrm>
              <a:off x="4081915" y="2954791"/>
              <a:ext cx="544037" cy="237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ko-KR" altLang="en-US" sz="6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그룹</a:t>
              </a:r>
              <a:endParaRPr lang="en-US" altLang="ko-KR" sz="600" b="1" spc="-100" dirty="0">
                <a:solidFill>
                  <a:prstClr val="white"/>
                </a:solidFill>
                <a:effectLst>
                  <a:glow rad="139700">
                    <a:srgbClr val="C0504D">
                      <a:satMod val="175000"/>
                      <a:alpha val="40000"/>
                    </a:srgbClr>
                  </a:glow>
                </a:effectLst>
                <a:latin typeface="+mn-ea"/>
              </a:endParaRPr>
            </a:p>
            <a:p>
              <a:pPr algn="ctr">
                <a:defRPr/>
              </a:pPr>
              <a:r>
                <a:rPr lang="ko-KR" altLang="en-US" sz="6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웨어</a:t>
              </a:r>
            </a:p>
          </p:txBody>
        </p:sp>
      </p:grpSp>
      <p:cxnSp>
        <p:nvCxnSpPr>
          <p:cNvPr id="364" name="직선 연결선 363"/>
          <p:cNvCxnSpPr/>
          <p:nvPr/>
        </p:nvCxnSpPr>
        <p:spPr>
          <a:xfrm>
            <a:off x="5183898" y="1525350"/>
            <a:ext cx="0" cy="5040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5" name="꺾인 연결선 364"/>
          <p:cNvCxnSpPr/>
          <p:nvPr/>
        </p:nvCxnSpPr>
        <p:spPr>
          <a:xfrm flipV="1">
            <a:off x="4333503" y="2040502"/>
            <a:ext cx="816668" cy="244604"/>
          </a:xfrm>
          <a:prstGeom prst="bentConnector4">
            <a:avLst>
              <a:gd name="adj1" fmla="val 44542"/>
              <a:gd name="adj2" fmla="val 172750"/>
            </a:avLst>
          </a:prstGeom>
          <a:ln w="9525">
            <a:solidFill>
              <a:srgbClr val="EC46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6" name="모서리가 둥근 직사각형 365"/>
          <p:cNvSpPr/>
          <p:nvPr/>
        </p:nvSpPr>
        <p:spPr>
          <a:xfrm>
            <a:off x="3755331" y="2201101"/>
            <a:ext cx="611899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예산 배정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367" name="그룹 52"/>
          <p:cNvGrpSpPr>
            <a:grpSpLocks/>
          </p:cNvGrpSpPr>
          <p:nvPr/>
        </p:nvGrpSpPr>
        <p:grpSpPr bwMode="auto">
          <a:xfrm>
            <a:off x="4537067" y="1646417"/>
            <a:ext cx="554081" cy="300197"/>
            <a:chOff x="4817293" y="5090031"/>
            <a:chExt cx="730444" cy="385994"/>
          </a:xfrm>
        </p:grpSpPr>
        <p:pic>
          <p:nvPicPr>
            <p:cNvPr id="952" name="Picture 434" descr="db02"/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4F9F3"/>
                </a:clrFrom>
                <a:clrTo>
                  <a:srgbClr val="F4F9F3">
                    <a:alpha val="0"/>
                  </a:srgbClr>
                </a:clrTo>
              </a:clrChange>
              <a:lum brigh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7293" y="5090031"/>
              <a:ext cx="730444" cy="385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3" name="Rectangle 435"/>
            <p:cNvSpPr>
              <a:spLocks noChangeArrowheads="1"/>
            </p:cNvSpPr>
            <p:nvPr/>
          </p:nvSpPr>
          <p:spPr bwMode="auto">
            <a:xfrm>
              <a:off x="4932298" y="5287284"/>
              <a:ext cx="418944" cy="169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8412" tIns="44206" rIns="88412" bIns="44206" anchor="ctr"/>
            <a:lstStyle>
              <a:lvl1pPr defTabSz="884238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884238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884238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884238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884238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8842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8842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8842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8842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lnSpc>
                  <a:spcPct val="60000"/>
                </a:lnSpc>
              </a:pPr>
              <a:r>
                <a:rPr kumimoji="0" lang="ko-KR" altLang="en-US" sz="700" b="1">
                  <a:solidFill>
                    <a:srgbClr val="FFFFFF"/>
                  </a:solidFill>
                  <a:latin typeface="+mn-ea"/>
                  <a:ea typeface="+mn-ea"/>
                </a:rPr>
                <a:t>배정</a:t>
              </a:r>
            </a:p>
          </p:txBody>
        </p:sp>
      </p:grpSp>
      <p:cxnSp>
        <p:nvCxnSpPr>
          <p:cNvPr id="368" name="꺾인 연결선 367"/>
          <p:cNvCxnSpPr>
            <a:stCxn id="371" idx="3"/>
          </p:cNvCxnSpPr>
          <p:nvPr/>
        </p:nvCxnSpPr>
        <p:spPr>
          <a:xfrm flipV="1">
            <a:off x="4366025" y="1795898"/>
            <a:ext cx="171043" cy="261900"/>
          </a:xfrm>
          <a:prstGeom prst="bentConnector3">
            <a:avLst>
              <a:gd name="adj1" fmla="val 50000"/>
            </a:avLst>
          </a:prstGeom>
          <a:ln w="9525">
            <a:solidFill>
              <a:srgbClr val="EC46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" name="AutoShape 636"/>
          <p:cNvSpPr>
            <a:spLocks noChangeArrowheads="1"/>
          </p:cNvSpPr>
          <p:nvPr/>
        </p:nvSpPr>
        <p:spPr bwMode="auto">
          <a:xfrm>
            <a:off x="4882766" y="2025678"/>
            <a:ext cx="602262" cy="287842"/>
          </a:xfrm>
          <a:prstGeom prst="flowChartDecision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가용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한도</a:t>
            </a:r>
          </a:p>
        </p:txBody>
      </p:sp>
      <p:sp>
        <p:nvSpPr>
          <p:cNvPr id="370" name="모서리가 둥근 직사각형 369"/>
          <p:cNvSpPr/>
          <p:nvPr/>
        </p:nvSpPr>
        <p:spPr>
          <a:xfrm>
            <a:off x="3051888" y="1634063"/>
            <a:ext cx="601058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예산전용신청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71" name="모서리가 둥근 직사각형 370"/>
          <p:cNvSpPr/>
          <p:nvPr/>
        </p:nvSpPr>
        <p:spPr>
          <a:xfrm>
            <a:off x="3754126" y="1987381"/>
            <a:ext cx="611899" cy="140833"/>
          </a:xfrm>
          <a:prstGeom prst="roundRect">
            <a:avLst/>
          </a:prstGeom>
          <a:ln/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수시배정신청</a:t>
            </a:r>
            <a:endParaRPr lang="ko-KR" altLang="en-US" sz="700" dirty="0">
              <a:solidFill>
                <a:prstClr val="black"/>
              </a:solidFill>
              <a:latin typeface="+mn-ea"/>
            </a:endParaRPr>
          </a:p>
        </p:txBody>
      </p:sp>
      <p:sp>
        <p:nvSpPr>
          <p:cNvPr id="372" name="모서리가 둥근 직사각형 371"/>
          <p:cNvSpPr/>
          <p:nvPr/>
        </p:nvSpPr>
        <p:spPr>
          <a:xfrm>
            <a:off x="3466245" y="1414166"/>
            <a:ext cx="383039" cy="139598"/>
          </a:xfrm>
          <a:prstGeom prst="roundRect">
            <a:avLst/>
          </a:prstGeom>
          <a:solidFill>
            <a:schemeClr val="bg1"/>
          </a:solidFill>
          <a:ln w="19050"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990033"/>
                </a:solidFill>
                <a:latin typeface="+mn-ea"/>
              </a:rPr>
              <a:t>전자결재</a:t>
            </a:r>
            <a:endParaRPr kumimoji="0" lang="en-US" altLang="ko-KR" sz="700" kern="0" dirty="0">
              <a:solidFill>
                <a:srgbClr val="990033"/>
              </a:solidFill>
              <a:latin typeface="+mn-ea"/>
            </a:endParaRPr>
          </a:p>
        </p:txBody>
      </p:sp>
      <p:sp>
        <p:nvSpPr>
          <p:cNvPr id="380" name="AutoShape 15"/>
          <p:cNvSpPr>
            <a:spLocks noChangeArrowheads="1"/>
          </p:cNvSpPr>
          <p:nvPr/>
        </p:nvSpPr>
        <p:spPr bwMode="auto">
          <a:xfrm>
            <a:off x="297139" y="2773080"/>
            <a:ext cx="2369301" cy="1063659"/>
          </a:xfrm>
          <a:prstGeom prst="roundRect">
            <a:avLst>
              <a:gd name="adj" fmla="val 5676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sz="700" b="0" ker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381" name="AutoShape 123"/>
          <p:cNvSpPr>
            <a:spLocks noChangeArrowheads="1"/>
          </p:cNvSpPr>
          <p:nvPr/>
        </p:nvSpPr>
        <p:spPr bwMode="auto">
          <a:xfrm>
            <a:off x="321230" y="2808906"/>
            <a:ext cx="2313893" cy="994477"/>
          </a:xfrm>
          <a:prstGeom prst="roundRect">
            <a:avLst>
              <a:gd name="adj" fmla="val 5963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70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382" name="그림 90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02" y="2580361"/>
            <a:ext cx="1039505" cy="206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3" name="Rectangle 88"/>
          <p:cNvSpPr>
            <a:spLocks noChangeArrowheads="1"/>
          </p:cNvSpPr>
          <p:nvPr/>
        </p:nvSpPr>
        <p:spPr bwMode="auto">
          <a:xfrm>
            <a:off x="429974" y="2615442"/>
            <a:ext cx="837145" cy="15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총무</a:t>
            </a:r>
            <a:r>
              <a:rPr lang="en-US" altLang="ko-KR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/</a:t>
            </a:r>
            <a:r>
              <a:rPr lang="ko-KR" altLang="en-US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급여관리</a:t>
            </a:r>
          </a:p>
        </p:txBody>
      </p:sp>
      <p:sp>
        <p:nvSpPr>
          <p:cNvPr id="396" name="AutoShape 123"/>
          <p:cNvSpPr>
            <a:spLocks noChangeArrowheads="1"/>
          </p:cNvSpPr>
          <p:nvPr/>
        </p:nvSpPr>
        <p:spPr bwMode="auto">
          <a:xfrm>
            <a:off x="2776052" y="2808906"/>
            <a:ext cx="913030" cy="2345978"/>
          </a:xfrm>
          <a:prstGeom prst="roundRect">
            <a:avLst>
              <a:gd name="adj" fmla="val 5963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7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97" name="Rectangle 63"/>
          <p:cNvSpPr>
            <a:spLocks noChangeArrowheads="1"/>
          </p:cNvSpPr>
          <p:nvPr/>
        </p:nvSpPr>
        <p:spPr bwMode="auto">
          <a:xfrm>
            <a:off x="2826642" y="3644020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교육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훈련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98" name="Rectangle 63"/>
          <p:cNvSpPr>
            <a:spLocks noChangeArrowheads="1"/>
          </p:cNvSpPr>
          <p:nvPr/>
        </p:nvSpPr>
        <p:spPr bwMode="auto">
          <a:xfrm>
            <a:off x="2826642" y="3262288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학력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병력사항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99" name="Rectangle 63"/>
          <p:cNvSpPr>
            <a:spLocks noChangeArrowheads="1"/>
          </p:cNvSpPr>
          <p:nvPr/>
        </p:nvSpPr>
        <p:spPr bwMode="auto">
          <a:xfrm>
            <a:off x="2826642" y="3135045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가족사항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49" name="Rectangle 63"/>
          <p:cNvSpPr>
            <a:spLocks noChangeArrowheads="1"/>
          </p:cNvSpPr>
          <p:nvPr/>
        </p:nvSpPr>
        <p:spPr bwMode="auto">
          <a:xfrm>
            <a:off x="2826642" y="3394474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병역사항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51" name="Rectangle 63"/>
          <p:cNvSpPr>
            <a:spLocks noChangeArrowheads="1"/>
          </p:cNvSpPr>
          <p:nvPr/>
        </p:nvSpPr>
        <p:spPr bwMode="auto">
          <a:xfrm>
            <a:off x="2826642" y="3522953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자격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면허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52" name="Rectangle 63"/>
          <p:cNvSpPr>
            <a:spLocks noChangeArrowheads="1"/>
          </p:cNvSpPr>
          <p:nvPr/>
        </p:nvSpPr>
        <p:spPr bwMode="auto">
          <a:xfrm>
            <a:off x="2826642" y="3766322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인사발령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1" name="Rectangle 63"/>
          <p:cNvSpPr>
            <a:spLocks noChangeArrowheads="1"/>
          </p:cNvSpPr>
          <p:nvPr/>
        </p:nvSpPr>
        <p:spPr bwMode="auto">
          <a:xfrm>
            <a:off x="2826642" y="3888624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건강검진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2" name="Rectangle 63"/>
          <p:cNvSpPr>
            <a:spLocks noChangeArrowheads="1"/>
          </p:cNvSpPr>
          <p:nvPr/>
        </p:nvSpPr>
        <p:spPr bwMode="auto">
          <a:xfrm>
            <a:off x="2826642" y="4013397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산업재해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3" name="Rectangle 63"/>
          <p:cNvSpPr>
            <a:spLocks noChangeArrowheads="1"/>
          </p:cNvSpPr>
          <p:nvPr/>
        </p:nvSpPr>
        <p:spPr bwMode="auto">
          <a:xfrm>
            <a:off x="2826642" y="4135699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포상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징계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4" name="Rectangle 63"/>
          <p:cNvSpPr>
            <a:spLocks noChangeArrowheads="1"/>
          </p:cNvSpPr>
          <p:nvPr/>
        </p:nvSpPr>
        <p:spPr bwMode="auto">
          <a:xfrm>
            <a:off x="2826642" y="4259237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증빙관리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5" name="Rectangle 63"/>
          <p:cNvSpPr>
            <a:spLocks noChangeArrowheads="1"/>
          </p:cNvSpPr>
          <p:nvPr/>
        </p:nvSpPr>
        <p:spPr bwMode="auto">
          <a:xfrm>
            <a:off x="2826642" y="2887970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조직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직무관리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6" name="Rectangle 63"/>
          <p:cNvSpPr>
            <a:spLocks noChangeArrowheads="1"/>
          </p:cNvSpPr>
          <p:nvPr/>
        </p:nvSpPr>
        <p:spPr bwMode="auto">
          <a:xfrm>
            <a:off x="2826642" y="4632320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인사검색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7" name="Rectangle 63"/>
          <p:cNvSpPr>
            <a:spLocks noChangeArrowheads="1"/>
          </p:cNvSpPr>
          <p:nvPr/>
        </p:nvSpPr>
        <p:spPr bwMode="auto">
          <a:xfrm>
            <a:off x="2826642" y="4384010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인사기록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8" name="Rectangle 63"/>
          <p:cNvSpPr>
            <a:spLocks noChangeArrowheads="1"/>
          </p:cNvSpPr>
          <p:nvPr/>
        </p:nvSpPr>
        <p:spPr bwMode="auto">
          <a:xfrm>
            <a:off x="2826642" y="4754622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대사우업무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9" name="Rectangle 63"/>
          <p:cNvSpPr>
            <a:spLocks noChangeArrowheads="1"/>
          </p:cNvSpPr>
          <p:nvPr/>
        </p:nvSpPr>
        <p:spPr bwMode="auto">
          <a:xfrm>
            <a:off x="2826642" y="4506312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조직도검색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80" name="Rectangle 63"/>
          <p:cNvSpPr>
            <a:spLocks noChangeArrowheads="1"/>
          </p:cNvSpPr>
          <p:nvPr/>
        </p:nvSpPr>
        <p:spPr bwMode="auto">
          <a:xfrm>
            <a:off x="2826642" y="5000462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근무평가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81" name="Rectangle 63"/>
          <p:cNvSpPr>
            <a:spLocks noChangeArrowheads="1"/>
          </p:cNvSpPr>
          <p:nvPr/>
        </p:nvSpPr>
        <p:spPr bwMode="auto">
          <a:xfrm>
            <a:off x="2826642" y="3006566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채용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0" lang="ko-KR" altLang="en-US" sz="700" kern="0" dirty="0" err="1">
                <a:solidFill>
                  <a:srgbClr val="000000"/>
                </a:solidFill>
                <a:latin typeface="+mn-ea"/>
              </a:rPr>
              <a:t>인적관리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82" name="Rectangle 63"/>
          <p:cNvSpPr>
            <a:spLocks noChangeArrowheads="1"/>
          </p:cNvSpPr>
          <p:nvPr/>
        </p:nvSpPr>
        <p:spPr bwMode="auto">
          <a:xfrm>
            <a:off x="2826642" y="4880631"/>
            <a:ext cx="805828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외부인력관리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483" name="직선 연결선 482"/>
          <p:cNvCxnSpPr/>
          <p:nvPr/>
        </p:nvCxnSpPr>
        <p:spPr>
          <a:xfrm>
            <a:off x="2777257" y="3018920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4" name="직선 연결선 483"/>
          <p:cNvCxnSpPr/>
          <p:nvPr/>
        </p:nvCxnSpPr>
        <p:spPr>
          <a:xfrm>
            <a:off x="2777257" y="3144928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5" name="직선 연결선 484"/>
          <p:cNvCxnSpPr/>
          <p:nvPr/>
        </p:nvCxnSpPr>
        <p:spPr>
          <a:xfrm>
            <a:off x="2777257" y="3272171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6" name="직선 연결선 485"/>
          <p:cNvCxnSpPr/>
          <p:nvPr/>
        </p:nvCxnSpPr>
        <p:spPr>
          <a:xfrm>
            <a:off x="2777257" y="3390767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7" name="직선 연결선 486"/>
          <p:cNvCxnSpPr/>
          <p:nvPr/>
        </p:nvCxnSpPr>
        <p:spPr>
          <a:xfrm>
            <a:off x="2777257" y="3518012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2" name="직선 연결선 501"/>
          <p:cNvCxnSpPr/>
          <p:nvPr/>
        </p:nvCxnSpPr>
        <p:spPr>
          <a:xfrm>
            <a:off x="2777257" y="3645255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3" name="직선 연결선 502"/>
          <p:cNvCxnSpPr/>
          <p:nvPr/>
        </p:nvCxnSpPr>
        <p:spPr>
          <a:xfrm>
            <a:off x="2777257" y="3763851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4" name="직선 연결선 503"/>
          <p:cNvCxnSpPr/>
          <p:nvPr/>
        </p:nvCxnSpPr>
        <p:spPr>
          <a:xfrm>
            <a:off x="2777257" y="3891095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5" name="직선 연결선 504"/>
          <p:cNvCxnSpPr/>
          <p:nvPr/>
        </p:nvCxnSpPr>
        <p:spPr>
          <a:xfrm>
            <a:off x="2777257" y="4018338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6" name="직선 연결선 505"/>
          <p:cNvCxnSpPr/>
          <p:nvPr/>
        </p:nvCxnSpPr>
        <p:spPr>
          <a:xfrm>
            <a:off x="2777257" y="4128287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7" name="직선 연결선 506"/>
          <p:cNvCxnSpPr/>
          <p:nvPr/>
        </p:nvCxnSpPr>
        <p:spPr>
          <a:xfrm>
            <a:off x="2777257" y="4255531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8" name="직선 연결선 507"/>
          <p:cNvCxnSpPr/>
          <p:nvPr/>
        </p:nvCxnSpPr>
        <p:spPr>
          <a:xfrm>
            <a:off x="2777257" y="4382775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9" name="직선 연결선 508"/>
          <p:cNvCxnSpPr/>
          <p:nvPr/>
        </p:nvCxnSpPr>
        <p:spPr>
          <a:xfrm>
            <a:off x="2777257" y="4501371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0" name="직선 연결선 509"/>
          <p:cNvCxnSpPr/>
          <p:nvPr/>
        </p:nvCxnSpPr>
        <p:spPr>
          <a:xfrm>
            <a:off x="2777257" y="4627379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1" name="직선 연결선 510"/>
          <p:cNvCxnSpPr/>
          <p:nvPr/>
        </p:nvCxnSpPr>
        <p:spPr>
          <a:xfrm>
            <a:off x="2777257" y="4754622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2" name="직선 연결선 511"/>
          <p:cNvCxnSpPr/>
          <p:nvPr/>
        </p:nvCxnSpPr>
        <p:spPr>
          <a:xfrm>
            <a:off x="2777257" y="4873218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3" name="직선 연결선 512"/>
          <p:cNvCxnSpPr/>
          <p:nvPr/>
        </p:nvCxnSpPr>
        <p:spPr>
          <a:xfrm>
            <a:off x="2777257" y="5000462"/>
            <a:ext cx="90098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4" name="직선 연결선 513"/>
          <p:cNvCxnSpPr/>
          <p:nvPr/>
        </p:nvCxnSpPr>
        <p:spPr>
          <a:xfrm>
            <a:off x="1280032" y="2922560"/>
            <a:ext cx="3830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5" name="모서리가 둥근 직사각형 514"/>
          <p:cNvSpPr/>
          <p:nvPr/>
        </p:nvSpPr>
        <p:spPr>
          <a:xfrm>
            <a:off x="359775" y="2842261"/>
            <a:ext cx="982892" cy="149481"/>
          </a:xfrm>
          <a:prstGeom prst="roundRect">
            <a:avLst/>
          </a:prstGeom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b="1" kern="0" dirty="0">
                <a:solidFill>
                  <a:prstClr val="white"/>
                </a:solidFill>
                <a:latin typeface="+mn-ea"/>
              </a:rPr>
              <a:t>급여 기초자료</a:t>
            </a:r>
            <a:endParaRPr kumimoji="0" lang="en-US" altLang="ko-KR" sz="700" b="1" kern="0" dirty="0">
              <a:solidFill>
                <a:prstClr val="white"/>
              </a:solidFill>
              <a:latin typeface="+mn-ea"/>
            </a:endParaRPr>
          </a:p>
        </p:txBody>
      </p:sp>
      <p:sp>
        <p:nvSpPr>
          <p:cNvPr id="516" name="이등변 삼각형 515"/>
          <p:cNvSpPr/>
          <p:nvPr/>
        </p:nvSpPr>
        <p:spPr>
          <a:xfrm rot="5400000">
            <a:off x="1562926" y="2913743"/>
            <a:ext cx="61769" cy="34932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517" name="꺾인 연결선 516"/>
          <p:cNvCxnSpPr/>
          <p:nvPr/>
        </p:nvCxnSpPr>
        <p:spPr>
          <a:xfrm rot="5400000">
            <a:off x="1205571" y="2858532"/>
            <a:ext cx="223603" cy="354130"/>
          </a:xfrm>
          <a:prstGeom prst="bentConnector2">
            <a:avLst/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2" name="모서리가 둥근 직사각형 521"/>
          <p:cNvSpPr/>
          <p:nvPr/>
        </p:nvSpPr>
        <p:spPr>
          <a:xfrm>
            <a:off x="359775" y="3031274"/>
            <a:ext cx="982892" cy="252017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복무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(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근태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)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수당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.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공제 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23" name="모서리가 둥근 직사각형 522"/>
          <p:cNvSpPr/>
          <p:nvPr/>
        </p:nvSpPr>
        <p:spPr>
          <a:xfrm>
            <a:off x="1608868" y="2839790"/>
            <a:ext cx="982892" cy="604193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급여관리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연말정산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퇴직관리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24" name="모서리가 둥근 직사각형 523"/>
          <p:cNvSpPr/>
          <p:nvPr/>
        </p:nvSpPr>
        <p:spPr>
          <a:xfrm>
            <a:off x="1752280" y="3581108"/>
            <a:ext cx="812307" cy="153190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동호회관리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525" name="꺾인 연결선 524"/>
          <p:cNvCxnSpPr/>
          <p:nvPr/>
        </p:nvCxnSpPr>
        <p:spPr>
          <a:xfrm rot="5400000">
            <a:off x="1107359" y="3185289"/>
            <a:ext cx="420028" cy="354130"/>
          </a:xfrm>
          <a:prstGeom prst="bentConnector2">
            <a:avLst/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1" name="모서리가 둥근 직사각형 540"/>
          <p:cNvSpPr/>
          <p:nvPr/>
        </p:nvSpPr>
        <p:spPr>
          <a:xfrm>
            <a:off x="359775" y="3315410"/>
            <a:ext cx="982892" cy="464501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가족수당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학자금지원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출장관리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출입증관리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542" name="직선 연결선 541"/>
          <p:cNvCxnSpPr/>
          <p:nvPr/>
        </p:nvCxnSpPr>
        <p:spPr>
          <a:xfrm>
            <a:off x="1494437" y="3335176"/>
            <a:ext cx="0" cy="3273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3" name="직선 연결선 542"/>
          <p:cNvCxnSpPr/>
          <p:nvPr/>
        </p:nvCxnSpPr>
        <p:spPr>
          <a:xfrm>
            <a:off x="1494437" y="3666257"/>
            <a:ext cx="2505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5" name="AutoShape 15"/>
          <p:cNvSpPr>
            <a:spLocks noChangeArrowheads="1"/>
          </p:cNvSpPr>
          <p:nvPr/>
        </p:nvSpPr>
        <p:spPr bwMode="auto">
          <a:xfrm>
            <a:off x="297139" y="4025751"/>
            <a:ext cx="2364483" cy="442265"/>
          </a:xfrm>
          <a:prstGeom prst="roundRect">
            <a:avLst>
              <a:gd name="adj" fmla="val 5676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sz="700" b="0" ker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546" name="AutoShape 123"/>
          <p:cNvSpPr>
            <a:spLocks noChangeArrowheads="1"/>
          </p:cNvSpPr>
          <p:nvPr/>
        </p:nvSpPr>
        <p:spPr bwMode="auto">
          <a:xfrm>
            <a:off x="321230" y="4062812"/>
            <a:ext cx="2309075" cy="378025"/>
          </a:xfrm>
          <a:prstGeom prst="roundRect">
            <a:avLst>
              <a:gd name="adj" fmla="val 5963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70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547" name="그림 10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02" y="3839209"/>
            <a:ext cx="1039505" cy="205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48" name="Rectangle 88"/>
          <p:cNvSpPr>
            <a:spLocks noChangeArrowheads="1"/>
          </p:cNvSpPr>
          <p:nvPr/>
        </p:nvSpPr>
        <p:spPr bwMode="auto">
          <a:xfrm>
            <a:off x="429974" y="3861759"/>
            <a:ext cx="837145" cy="15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smtClean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지속가능경영</a:t>
            </a:r>
            <a:endParaRPr lang="ko-KR" altLang="en-US" sz="900" b="1" dirty="0">
              <a:solidFill>
                <a:prstClr val="white"/>
              </a:solidFill>
              <a:effectLst>
                <a:glow rad="63500">
                  <a:srgbClr val="1F497D">
                    <a:alpha val="40000"/>
                  </a:srgbClr>
                </a:glow>
              </a:effectLst>
              <a:latin typeface="+mn-ea"/>
            </a:endParaRPr>
          </a:p>
        </p:txBody>
      </p:sp>
      <p:sp>
        <p:nvSpPr>
          <p:cNvPr id="574" name="모서리가 둥근 직사각형 573"/>
          <p:cNvSpPr/>
          <p:nvPr/>
        </p:nvSpPr>
        <p:spPr>
          <a:xfrm>
            <a:off x="344488" y="4098638"/>
            <a:ext cx="508583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경영공시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83" name="모서리가 둥근 직사각형 582"/>
          <p:cNvSpPr/>
          <p:nvPr/>
        </p:nvSpPr>
        <p:spPr>
          <a:xfrm>
            <a:off x="344488" y="4259237"/>
            <a:ext cx="508583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경영평가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84" name="모서리가 둥근 직사각형 583"/>
          <p:cNvSpPr/>
          <p:nvPr/>
        </p:nvSpPr>
        <p:spPr>
          <a:xfrm>
            <a:off x="931901" y="4098638"/>
            <a:ext cx="508583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홍보관리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85" name="모서리가 둥근 직사각형 584"/>
          <p:cNvSpPr/>
          <p:nvPr/>
        </p:nvSpPr>
        <p:spPr>
          <a:xfrm>
            <a:off x="931901" y="4259237"/>
            <a:ext cx="508583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사회가치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87" name="AutoShape 123"/>
          <p:cNvSpPr>
            <a:spLocks noChangeArrowheads="1"/>
          </p:cNvSpPr>
          <p:nvPr/>
        </p:nvSpPr>
        <p:spPr bwMode="auto">
          <a:xfrm>
            <a:off x="321230" y="4706443"/>
            <a:ext cx="1589973" cy="856115"/>
          </a:xfrm>
          <a:prstGeom prst="roundRect">
            <a:avLst>
              <a:gd name="adj" fmla="val 5963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70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588" name="그림 10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502" y="4471722"/>
            <a:ext cx="1039505" cy="205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89" name="Rectangle 88"/>
          <p:cNvSpPr>
            <a:spLocks noChangeArrowheads="1"/>
          </p:cNvSpPr>
          <p:nvPr/>
        </p:nvSpPr>
        <p:spPr bwMode="auto">
          <a:xfrm>
            <a:off x="429974" y="4505318"/>
            <a:ext cx="837145" cy="15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7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시스템관리</a:t>
            </a:r>
          </a:p>
        </p:txBody>
      </p:sp>
      <p:sp>
        <p:nvSpPr>
          <p:cNvPr id="590" name="모서리가 둥근 직사각형 589"/>
          <p:cNvSpPr/>
          <p:nvPr/>
        </p:nvSpPr>
        <p:spPr>
          <a:xfrm>
            <a:off x="351344" y="4927575"/>
            <a:ext cx="764873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사용자 정보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91" name="모서리가 둥근 직사각형 590"/>
          <p:cNvSpPr/>
          <p:nvPr/>
        </p:nvSpPr>
        <p:spPr>
          <a:xfrm>
            <a:off x="351344" y="5089410"/>
            <a:ext cx="764873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사용자 직무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92" name="모서리가 둥근 직사각형 591"/>
          <p:cNvSpPr/>
          <p:nvPr/>
        </p:nvSpPr>
        <p:spPr>
          <a:xfrm>
            <a:off x="1973838" y="4927575"/>
            <a:ext cx="614308" cy="140833"/>
          </a:xfrm>
          <a:prstGeom prst="roundRect">
            <a:avLst>
              <a:gd name="adj" fmla="val 11007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각종보안신청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93" name="직사각형 592"/>
          <p:cNvSpPr/>
          <p:nvPr/>
        </p:nvSpPr>
        <p:spPr>
          <a:xfrm>
            <a:off x="309185" y="4715090"/>
            <a:ext cx="1639359" cy="17913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0"/>
                </a:schemeClr>
              </a:gs>
              <a:gs pos="49000">
                <a:srgbClr val="0070C0"/>
              </a:gs>
              <a:gs pos="100000">
                <a:schemeClr val="accent1">
                  <a:shade val="94000"/>
                  <a:satMod val="13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594" name="Rectangle 88"/>
          <p:cNvSpPr>
            <a:spLocks noChangeArrowheads="1"/>
          </p:cNvSpPr>
          <p:nvPr/>
        </p:nvSpPr>
        <p:spPr bwMode="auto">
          <a:xfrm>
            <a:off x="716314" y="4711385"/>
            <a:ext cx="837145" cy="15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700" b="1" dirty="0">
                <a:solidFill>
                  <a:prstClr val="white"/>
                </a:solidFill>
                <a:latin typeface="+mn-ea"/>
              </a:rPr>
              <a:t>전산운영</a:t>
            </a:r>
          </a:p>
        </p:txBody>
      </p:sp>
      <p:sp>
        <p:nvSpPr>
          <p:cNvPr id="595" name="모서리가 둥근 직사각형 594"/>
          <p:cNvSpPr/>
          <p:nvPr/>
        </p:nvSpPr>
        <p:spPr>
          <a:xfrm>
            <a:off x="1973838" y="5089410"/>
            <a:ext cx="614308" cy="139597"/>
          </a:xfrm>
          <a:prstGeom prst="roundRect">
            <a:avLst>
              <a:gd name="adj" fmla="val 11007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정보자산관리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96" name="모서리가 둥근 직사각형 595"/>
          <p:cNvSpPr/>
          <p:nvPr/>
        </p:nvSpPr>
        <p:spPr>
          <a:xfrm>
            <a:off x="1973838" y="5250008"/>
            <a:ext cx="614308" cy="139597"/>
          </a:xfrm>
          <a:prstGeom prst="roundRect">
            <a:avLst>
              <a:gd name="adj" fmla="val 11007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시스템정보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97" name="모서리가 둥근 직사각형 596"/>
          <p:cNvSpPr/>
          <p:nvPr/>
        </p:nvSpPr>
        <p:spPr>
          <a:xfrm>
            <a:off x="1973838" y="5410607"/>
            <a:ext cx="614308" cy="140833"/>
          </a:xfrm>
          <a:prstGeom prst="roundRect">
            <a:avLst>
              <a:gd name="adj" fmla="val 11007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사용현황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통계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98" name="모서리가 둥근 직사각형 597"/>
          <p:cNvSpPr/>
          <p:nvPr/>
        </p:nvSpPr>
        <p:spPr>
          <a:xfrm>
            <a:off x="351344" y="5250008"/>
            <a:ext cx="764873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프로그램 정보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99" name="모서리가 둥근 직사각형 598"/>
          <p:cNvSpPr/>
          <p:nvPr/>
        </p:nvSpPr>
        <p:spPr>
          <a:xfrm>
            <a:off x="1171625" y="4927575"/>
            <a:ext cx="709466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600" kern="0" dirty="0">
                <a:solidFill>
                  <a:srgbClr val="000000"/>
                </a:solidFill>
                <a:latin typeface="+mn-ea"/>
              </a:rPr>
              <a:t>코드사용항목</a:t>
            </a:r>
            <a:endParaRPr kumimoji="0" lang="en-US" altLang="ko-KR" sz="6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00" name="모서리가 둥근 직사각형 599"/>
          <p:cNvSpPr/>
          <p:nvPr/>
        </p:nvSpPr>
        <p:spPr>
          <a:xfrm>
            <a:off x="1171625" y="5089410"/>
            <a:ext cx="709466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항목별 코드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01" name="직사각형 600"/>
          <p:cNvSpPr/>
          <p:nvPr/>
        </p:nvSpPr>
        <p:spPr>
          <a:xfrm>
            <a:off x="1911203" y="4715090"/>
            <a:ext cx="764874" cy="17913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0"/>
                </a:schemeClr>
              </a:gs>
              <a:gs pos="49000">
                <a:srgbClr val="0070C0"/>
              </a:gs>
              <a:gs pos="100000">
                <a:schemeClr val="accent1">
                  <a:shade val="94000"/>
                  <a:satMod val="13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02" name="Rectangle 88"/>
          <p:cNvSpPr>
            <a:spLocks noChangeArrowheads="1"/>
          </p:cNvSpPr>
          <p:nvPr/>
        </p:nvSpPr>
        <p:spPr bwMode="auto">
          <a:xfrm>
            <a:off x="1864227" y="4705207"/>
            <a:ext cx="837144" cy="15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보안관리</a:t>
            </a:r>
          </a:p>
        </p:txBody>
      </p:sp>
      <p:sp>
        <p:nvSpPr>
          <p:cNvPr id="603" name="AutoShape 15"/>
          <p:cNvSpPr>
            <a:spLocks noChangeArrowheads="1"/>
          </p:cNvSpPr>
          <p:nvPr/>
        </p:nvSpPr>
        <p:spPr bwMode="auto">
          <a:xfrm>
            <a:off x="3808330" y="2768138"/>
            <a:ext cx="1710425" cy="1457743"/>
          </a:xfrm>
          <a:prstGeom prst="roundRect">
            <a:avLst>
              <a:gd name="adj" fmla="val 4151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sz="700" b="0" ker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604" name="AutoShape 123"/>
          <p:cNvSpPr>
            <a:spLocks noChangeArrowheads="1"/>
          </p:cNvSpPr>
          <p:nvPr/>
        </p:nvSpPr>
        <p:spPr bwMode="auto">
          <a:xfrm>
            <a:off x="3832421" y="2816318"/>
            <a:ext cx="1652608" cy="1290967"/>
          </a:xfrm>
          <a:prstGeom prst="roundRect">
            <a:avLst>
              <a:gd name="adj" fmla="val 3954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7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05" name="모서리가 둥근 직사각형 604"/>
          <p:cNvSpPr/>
          <p:nvPr/>
        </p:nvSpPr>
        <p:spPr>
          <a:xfrm>
            <a:off x="3869761" y="2838555"/>
            <a:ext cx="667307" cy="111184"/>
          </a:xfrm>
          <a:prstGeom prst="roundRect">
            <a:avLst/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990033"/>
                </a:solidFill>
                <a:latin typeface="+mn-ea"/>
              </a:rPr>
              <a:t>자금시재</a:t>
            </a:r>
            <a:endParaRPr kumimoji="0" lang="en-US" altLang="ko-KR" sz="700" kern="0" dirty="0">
              <a:solidFill>
                <a:srgbClr val="990033"/>
              </a:solidFill>
              <a:latin typeface="+mn-ea"/>
            </a:endParaRPr>
          </a:p>
        </p:txBody>
      </p:sp>
      <p:sp>
        <p:nvSpPr>
          <p:cNvPr id="606" name="모서리가 둥근 직사각형 605"/>
          <p:cNvSpPr/>
          <p:nvPr/>
        </p:nvSpPr>
        <p:spPr>
          <a:xfrm>
            <a:off x="4761109" y="2839790"/>
            <a:ext cx="667307" cy="471914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0" rIns="0" bIns="0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자금수지계획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07" name="모서리가 둥근 직사각형 606"/>
          <p:cNvSpPr/>
          <p:nvPr/>
        </p:nvSpPr>
        <p:spPr>
          <a:xfrm>
            <a:off x="5016468" y="2997918"/>
            <a:ext cx="383039" cy="13959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자금조달</a:t>
            </a:r>
          </a:p>
        </p:txBody>
      </p:sp>
      <p:sp>
        <p:nvSpPr>
          <p:cNvPr id="608" name="모서리가 둥근 직사각형 607"/>
          <p:cNvSpPr/>
          <p:nvPr/>
        </p:nvSpPr>
        <p:spPr>
          <a:xfrm>
            <a:off x="5016468" y="3157282"/>
            <a:ext cx="383039" cy="139597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ko-KR" altLang="en-US" sz="700" dirty="0">
                <a:solidFill>
                  <a:prstClr val="black"/>
                </a:solidFill>
                <a:latin typeface="+mn-ea"/>
              </a:rPr>
              <a:t>자금운용</a:t>
            </a:r>
          </a:p>
        </p:txBody>
      </p:sp>
      <p:sp>
        <p:nvSpPr>
          <p:cNvPr id="609" name="AutoShape 369"/>
          <p:cNvSpPr>
            <a:spLocks noChangeArrowheads="1"/>
          </p:cNvSpPr>
          <p:nvPr/>
        </p:nvSpPr>
        <p:spPr bwMode="auto">
          <a:xfrm>
            <a:off x="4757496" y="2967034"/>
            <a:ext cx="271018" cy="171717"/>
          </a:xfrm>
          <a:prstGeom prst="flowChartDecision">
            <a:avLst/>
          </a:prstGeom>
          <a:solidFill>
            <a:srgbClr val="FFFF00"/>
          </a:solidFill>
          <a:ln w="9525">
            <a:solidFill>
              <a:srgbClr val="76B7D6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700">
                <a:solidFill>
                  <a:srgbClr val="000000"/>
                </a:solidFill>
                <a:latin typeface="+mn-ea"/>
                <a:ea typeface="+mn-ea"/>
              </a:rPr>
              <a:t>부족</a:t>
            </a:r>
          </a:p>
        </p:txBody>
      </p:sp>
      <p:sp>
        <p:nvSpPr>
          <p:cNvPr id="610" name="AutoShape 369"/>
          <p:cNvSpPr>
            <a:spLocks noChangeArrowheads="1"/>
          </p:cNvSpPr>
          <p:nvPr/>
        </p:nvSpPr>
        <p:spPr bwMode="auto">
          <a:xfrm>
            <a:off x="4757496" y="3144928"/>
            <a:ext cx="271018" cy="170482"/>
          </a:xfrm>
          <a:prstGeom prst="flowChartDecision">
            <a:avLst/>
          </a:prstGeom>
          <a:solidFill>
            <a:srgbClr val="FFFF00"/>
          </a:solidFill>
          <a:ln w="9525">
            <a:solidFill>
              <a:srgbClr val="76B7D6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r>
              <a:rPr lang="ko-KR" altLang="en-US" sz="700">
                <a:solidFill>
                  <a:srgbClr val="000000"/>
                </a:solidFill>
                <a:latin typeface="+mn-ea"/>
                <a:ea typeface="+mn-ea"/>
              </a:rPr>
              <a:t>여유</a:t>
            </a:r>
          </a:p>
        </p:txBody>
      </p:sp>
      <p:sp>
        <p:nvSpPr>
          <p:cNvPr id="611" name="모서리가 둥근 직사각형 610"/>
          <p:cNvSpPr/>
          <p:nvPr/>
        </p:nvSpPr>
        <p:spPr>
          <a:xfrm>
            <a:off x="4761109" y="3361118"/>
            <a:ext cx="667307" cy="139598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조달운용확정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12" name="모서리가 둥근 직사각형 611"/>
          <p:cNvSpPr/>
          <p:nvPr/>
        </p:nvSpPr>
        <p:spPr>
          <a:xfrm>
            <a:off x="4761109" y="3548896"/>
            <a:ext cx="667307" cy="140833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자금교부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13" name="모서리가 둥근 직사각형 612"/>
          <p:cNvSpPr/>
          <p:nvPr/>
        </p:nvSpPr>
        <p:spPr>
          <a:xfrm>
            <a:off x="4761109" y="3945452"/>
            <a:ext cx="667307" cy="140833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자금예실대비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14" name="이등변 삼각형 613"/>
          <p:cNvSpPr/>
          <p:nvPr/>
        </p:nvSpPr>
        <p:spPr>
          <a:xfrm rot="10800000">
            <a:off x="5067058" y="3326528"/>
            <a:ext cx="59022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15" name="이등변 삼각형 614"/>
          <p:cNvSpPr/>
          <p:nvPr/>
        </p:nvSpPr>
        <p:spPr>
          <a:xfrm rot="10800000">
            <a:off x="5067058" y="3511834"/>
            <a:ext cx="59022" cy="3459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16" name="이등변 삼각형 615"/>
          <p:cNvSpPr/>
          <p:nvPr/>
        </p:nvSpPr>
        <p:spPr>
          <a:xfrm rot="10800000">
            <a:off x="5067058" y="3903449"/>
            <a:ext cx="59022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617" name="그룹 576"/>
          <p:cNvGrpSpPr>
            <a:grpSpLocks/>
          </p:cNvGrpSpPr>
          <p:nvPr/>
        </p:nvGrpSpPr>
        <p:grpSpPr bwMode="auto">
          <a:xfrm>
            <a:off x="4361207" y="2950974"/>
            <a:ext cx="397493" cy="60534"/>
            <a:chOff x="8627942" y="5265370"/>
            <a:chExt cx="525082" cy="78202"/>
          </a:xfrm>
        </p:grpSpPr>
        <p:cxnSp>
          <p:nvCxnSpPr>
            <p:cNvPr id="950" name="직선 연결선 949"/>
            <p:cNvCxnSpPr/>
            <p:nvPr/>
          </p:nvCxnSpPr>
          <p:spPr>
            <a:xfrm>
              <a:off x="8627942" y="5305269"/>
              <a:ext cx="50439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1" name="이등변 삼각형 950"/>
            <p:cNvSpPr/>
            <p:nvPr/>
          </p:nvSpPr>
          <p:spPr>
            <a:xfrm rot="5400000">
              <a:off x="9090852" y="5281399"/>
              <a:ext cx="78202" cy="46143"/>
            </a:xfrm>
            <a:prstGeom prst="triangle">
              <a:avLst/>
            </a:prstGeom>
            <a:gradFill>
              <a:gsLst>
                <a:gs pos="0">
                  <a:srgbClr val="002060"/>
                </a:gs>
                <a:gs pos="88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  <a:lumMod val="60000"/>
                  </a:schemeClr>
                </a:gs>
              </a:gsLst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700">
                <a:solidFill>
                  <a:prstClr val="white"/>
                </a:solidFill>
                <a:latin typeface="+mn-ea"/>
              </a:endParaRPr>
            </a:p>
          </p:txBody>
        </p:sp>
      </p:grpSp>
      <p:cxnSp>
        <p:nvCxnSpPr>
          <p:cNvPr id="618" name="직선 연결선 617"/>
          <p:cNvCxnSpPr/>
          <p:nvPr/>
        </p:nvCxnSpPr>
        <p:spPr>
          <a:xfrm>
            <a:off x="4637043" y="2980623"/>
            <a:ext cx="0" cy="77087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9" name="직선 연결선 618"/>
          <p:cNvCxnSpPr/>
          <p:nvPr/>
        </p:nvCxnSpPr>
        <p:spPr>
          <a:xfrm>
            <a:off x="4502137" y="3752733"/>
            <a:ext cx="1361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0" name="직선 연결선 619"/>
          <p:cNvCxnSpPr/>
          <p:nvPr/>
        </p:nvCxnSpPr>
        <p:spPr>
          <a:xfrm>
            <a:off x="4502137" y="3413004"/>
            <a:ext cx="1361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1" name="모서리가 둥근 직사각형 620"/>
          <p:cNvSpPr/>
          <p:nvPr/>
        </p:nvSpPr>
        <p:spPr>
          <a:xfrm>
            <a:off x="3869761" y="3309260"/>
            <a:ext cx="667307" cy="139597"/>
          </a:xfrm>
          <a:prstGeom prst="roundRect">
            <a:avLst>
              <a:gd name="adj" fmla="val 39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b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전도금 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622" name="직선 연결선 621"/>
          <p:cNvCxnSpPr/>
          <p:nvPr/>
        </p:nvCxnSpPr>
        <p:spPr>
          <a:xfrm>
            <a:off x="4502137" y="3272171"/>
            <a:ext cx="1361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3" name="직선 연결선 622"/>
          <p:cNvCxnSpPr/>
          <p:nvPr/>
        </p:nvCxnSpPr>
        <p:spPr>
          <a:xfrm>
            <a:off x="4502137" y="3142457"/>
            <a:ext cx="13611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4" name="그룹 1202"/>
          <p:cNvGrpSpPr>
            <a:grpSpLocks/>
          </p:cNvGrpSpPr>
          <p:nvPr/>
        </p:nvGrpSpPr>
        <p:grpSpPr bwMode="auto">
          <a:xfrm rot="20898489">
            <a:off x="4363616" y="3892330"/>
            <a:ext cx="397493" cy="61769"/>
            <a:chOff x="8627941" y="5265370"/>
            <a:chExt cx="525082" cy="78202"/>
          </a:xfrm>
        </p:grpSpPr>
        <p:cxnSp>
          <p:nvCxnSpPr>
            <p:cNvPr id="948" name="직선 연결선 947"/>
            <p:cNvCxnSpPr/>
            <p:nvPr/>
          </p:nvCxnSpPr>
          <p:spPr>
            <a:xfrm>
              <a:off x="8627833" y="5303942"/>
              <a:ext cx="504397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9" name="이등변 삼각형 948"/>
            <p:cNvSpPr/>
            <p:nvPr/>
          </p:nvSpPr>
          <p:spPr>
            <a:xfrm rot="5400000">
              <a:off x="9074817" y="5258171"/>
              <a:ext cx="78202" cy="46143"/>
            </a:xfrm>
            <a:prstGeom prst="triangle">
              <a:avLst/>
            </a:prstGeom>
            <a:gradFill>
              <a:gsLst>
                <a:gs pos="0">
                  <a:srgbClr val="002060"/>
                </a:gs>
                <a:gs pos="88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  <a:lumMod val="60000"/>
                  </a:schemeClr>
                </a:gs>
              </a:gsLst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70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625" name="모서리가 둥근 직사각형 624"/>
          <p:cNvSpPr/>
          <p:nvPr/>
        </p:nvSpPr>
        <p:spPr>
          <a:xfrm>
            <a:off x="3869761" y="3861446"/>
            <a:ext cx="667307" cy="224838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월간자금계획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연간자금계획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626" name="그룹 577"/>
          <p:cNvGrpSpPr>
            <a:grpSpLocks/>
          </p:cNvGrpSpPr>
          <p:nvPr/>
        </p:nvGrpSpPr>
        <p:grpSpPr bwMode="auto">
          <a:xfrm>
            <a:off x="4537059" y="3034979"/>
            <a:ext cx="220430" cy="376790"/>
            <a:chOff x="8922874" y="5215491"/>
            <a:chExt cx="290950" cy="484849"/>
          </a:xfrm>
        </p:grpSpPr>
        <p:cxnSp>
          <p:nvCxnSpPr>
            <p:cNvPr id="944" name="AutoShape 377"/>
            <p:cNvCxnSpPr>
              <a:cxnSpLocks noChangeShapeType="1"/>
              <a:stCxn id="610" idx="1"/>
              <a:endCxn id="888" idx="3"/>
            </p:cNvCxnSpPr>
            <p:nvPr/>
          </p:nvCxnSpPr>
          <p:spPr bwMode="auto">
            <a:xfrm flipH="1" flipV="1">
              <a:off x="8922874" y="5215491"/>
              <a:ext cx="290947" cy="250582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5" name="AutoShape 378"/>
            <p:cNvCxnSpPr>
              <a:cxnSpLocks noChangeShapeType="1"/>
              <a:stCxn id="610" idx="1"/>
              <a:endCxn id="886" idx="3"/>
            </p:cNvCxnSpPr>
            <p:nvPr/>
          </p:nvCxnSpPr>
          <p:spPr bwMode="auto">
            <a:xfrm flipH="1" flipV="1">
              <a:off x="8922877" y="5432076"/>
              <a:ext cx="290947" cy="34584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6" name="AutoShape 379"/>
            <p:cNvCxnSpPr>
              <a:cxnSpLocks noChangeShapeType="1"/>
              <a:stCxn id="610" idx="1"/>
            </p:cNvCxnSpPr>
            <p:nvPr/>
          </p:nvCxnSpPr>
          <p:spPr bwMode="auto">
            <a:xfrm flipH="1" flipV="1">
              <a:off x="8922874" y="5377639"/>
              <a:ext cx="290947" cy="88440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7" name="AutoShape 380"/>
            <p:cNvCxnSpPr>
              <a:cxnSpLocks noChangeShapeType="1"/>
              <a:stCxn id="610" idx="1"/>
            </p:cNvCxnSpPr>
            <p:nvPr/>
          </p:nvCxnSpPr>
          <p:spPr bwMode="auto">
            <a:xfrm flipH="1">
              <a:off x="8922874" y="5466085"/>
              <a:ext cx="290947" cy="234255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627" name="그룹 1213"/>
          <p:cNvGrpSpPr>
            <a:grpSpLocks/>
          </p:cNvGrpSpPr>
          <p:nvPr/>
        </p:nvGrpSpPr>
        <p:grpSpPr bwMode="auto">
          <a:xfrm>
            <a:off x="4537068" y="3034990"/>
            <a:ext cx="220432" cy="168313"/>
            <a:chOff x="5939881" y="5118379"/>
            <a:chExt cx="291439" cy="216626"/>
          </a:xfrm>
        </p:grpSpPr>
        <p:cxnSp>
          <p:nvCxnSpPr>
            <p:cNvPr id="941" name="AutoShape 374"/>
            <p:cNvCxnSpPr>
              <a:cxnSpLocks noChangeShapeType="1"/>
              <a:stCxn id="609" idx="1"/>
              <a:endCxn id="888" idx="3"/>
            </p:cNvCxnSpPr>
            <p:nvPr/>
          </p:nvCxnSpPr>
          <p:spPr bwMode="auto">
            <a:xfrm flipH="1" flipV="1">
              <a:off x="5939886" y="5118379"/>
              <a:ext cx="291434" cy="22475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2" name="AutoShape 375"/>
            <p:cNvCxnSpPr>
              <a:cxnSpLocks noChangeShapeType="1"/>
              <a:stCxn id="609" idx="1"/>
              <a:endCxn id="886" idx="3"/>
            </p:cNvCxnSpPr>
            <p:nvPr/>
          </p:nvCxnSpPr>
          <p:spPr bwMode="auto">
            <a:xfrm flipH="1">
              <a:off x="5939881" y="5141433"/>
              <a:ext cx="291434" cy="193572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43" name="AutoShape 376"/>
            <p:cNvCxnSpPr>
              <a:cxnSpLocks noChangeShapeType="1"/>
              <a:stCxn id="609" idx="1"/>
            </p:cNvCxnSpPr>
            <p:nvPr/>
          </p:nvCxnSpPr>
          <p:spPr bwMode="auto">
            <a:xfrm flipH="1">
              <a:off x="5939886" y="5140855"/>
              <a:ext cx="291434" cy="139703"/>
            </a:xfrm>
            <a:prstGeom prst="straightConnector1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628" name="AutoShape 380"/>
          <p:cNvCxnSpPr>
            <a:cxnSpLocks noChangeShapeType="1"/>
            <a:stCxn id="612" idx="1"/>
            <a:endCxn id="621" idx="3"/>
          </p:cNvCxnSpPr>
          <p:nvPr/>
        </p:nvCxnSpPr>
        <p:spPr bwMode="auto">
          <a:xfrm flipH="1" flipV="1">
            <a:off x="4537068" y="3379059"/>
            <a:ext cx="224041" cy="240254"/>
          </a:xfrm>
          <a:prstGeom prst="straightConnector1">
            <a:avLst/>
          </a:prstGeom>
          <a:noFill/>
          <a:ln w="9525">
            <a:solidFill>
              <a:srgbClr val="0000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9" name="AutoShape 15"/>
          <p:cNvSpPr>
            <a:spLocks noChangeArrowheads="1"/>
          </p:cNvSpPr>
          <p:nvPr/>
        </p:nvSpPr>
        <p:spPr bwMode="auto">
          <a:xfrm>
            <a:off x="3807125" y="4337065"/>
            <a:ext cx="1709221" cy="1274908"/>
          </a:xfrm>
          <a:prstGeom prst="roundRect">
            <a:avLst>
              <a:gd name="adj" fmla="val 5676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sz="700" b="0" ker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630" name="AutoShape 123"/>
          <p:cNvSpPr>
            <a:spLocks noChangeArrowheads="1"/>
          </p:cNvSpPr>
          <p:nvPr/>
        </p:nvSpPr>
        <p:spPr bwMode="auto">
          <a:xfrm>
            <a:off x="3832421" y="4374127"/>
            <a:ext cx="1652608" cy="1204492"/>
          </a:xfrm>
          <a:prstGeom prst="roundRect">
            <a:avLst>
              <a:gd name="adj" fmla="val 5963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70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631" name="그림 122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1693" y="4138170"/>
            <a:ext cx="1039505" cy="2063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2" name="Rectangle 88"/>
          <p:cNvSpPr>
            <a:spLocks noChangeArrowheads="1"/>
          </p:cNvSpPr>
          <p:nvPr/>
        </p:nvSpPr>
        <p:spPr bwMode="auto">
          <a:xfrm>
            <a:off x="3940304" y="4172507"/>
            <a:ext cx="837145" cy="15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구매관리</a:t>
            </a:r>
          </a:p>
        </p:txBody>
      </p:sp>
      <p:sp>
        <p:nvSpPr>
          <p:cNvPr id="633" name="모서리가 둥근 직사각형 632"/>
          <p:cNvSpPr/>
          <p:nvPr/>
        </p:nvSpPr>
        <p:spPr>
          <a:xfrm>
            <a:off x="5033332" y="4177702"/>
            <a:ext cx="381835" cy="139597"/>
          </a:xfrm>
          <a:prstGeom prst="roundRect">
            <a:avLst/>
          </a:prstGeom>
          <a:solidFill>
            <a:schemeClr val="bg1"/>
          </a:solidFill>
          <a:ln w="19050"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990033"/>
                </a:solidFill>
                <a:latin typeface="+mn-ea"/>
              </a:rPr>
              <a:t>전자결재</a:t>
            </a:r>
            <a:endParaRPr kumimoji="0" lang="en-US" altLang="ko-KR" sz="700" kern="0" dirty="0">
              <a:solidFill>
                <a:srgbClr val="990033"/>
              </a:solidFill>
              <a:latin typeface="+mn-ea"/>
            </a:endParaRPr>
          </a:p>
        </p:txBody>
      </p:sp>
      <p:cxnSp>
        <p:nvCxnSpPr>
          <p:cNvPr id="634" name="AutoShape 592"/>
          <p:cNvCxnSpPr>
            <a:cxnSpLocks noChangeShapeType="1"/>
          </p:cNvCxnSpPr>
          <p:nvPr/>
        </p:nvCxnSpPr>
        <p:spPr bwMode="auto">
          <a:xfrm flipV="1">
            <a:off x="4537067" y="4332124"/>
            <a:ext cx="539627" cy="1136546"/>
          </a:xfrm>
          <a:prstGeom prst="curvedConnector2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35" name="모서리가 둥근 직사각형 634"/>
          <p:cNvSpPr/>
          <p:nvPr/>
        </p:nvSpPr>
        <p:spPr>
          <a:xfrm>
            <a:off x="3869761" y="4407482"/>
            <a:ext cx="667307" cy="139597"/>
          </a:xfrm>
          <a:prstGeom prst="roundRect">
            <a:avLst/>
          </a:prstGeom>
          <a:solidFill>
            <a:srgbClr val="92D050"/>
          </a:solidFill>
          <a:ln>
            <a:solidFill>
              <a:srgbClr val="6FAE4C"/>
            </a:solidFill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구매요청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36" name="이등변 삼각형 635"/>
          <p:cNvSpPr/>
          <p:nvPr/>
        </p:nvSpPr>
        <p:spPr>
          <a:xfrm rot="10800000">
            <a:off x="4182937" y="4564374"/>
            <a:ext cx="59022" cy="3459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37" name="모서리가 둥근 직사각형 636"/>
          <p:cNvSpPr/>
          <p:nvPr/>
        </p:nvSpPr>
        <p:spPr>
          <a:xfrm>
            <a:off x="3869761" y="4610084"/>
            <a:ext cx="667307" cy="140833"/>
          </a:xfrm>
          <a:prstGeom prst="roundRect">
            <a:avLst/>
          </a:prstGeom>
          <a:solidFill>
            <a:srgbClr val="92D050"/>
          </a:solidFill>
          <a:ln>
            <a:solidFill>
              <a:srgbClr val="6FAE4C"/>
            </a:solidFill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구매접수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38" name="이등변 삼각형 637"/>
          <p:cNvSpPr/>
          <p:nvPr/>
        </p:nvSpPr>
        <p:spPr>
          <a:xfrm rot="10800000">
            <a:off x="4182937" y="4766976"/>
            <a:ext cx="59022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39" name="이등변 삼각형 638"/>
          <p:cNvSpPr/>
          <p:nvPr/>
        </p:nvSpPr>
        <p:spPr>
          <a:xfrm rot="10800000">
            <a:off x="4182937" y="4970813"/>
            <a:ext cx="59022" cy="3459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40" name="모서리가 둥근 직사각형 639"/>
          <p:cNvSpPr/>
          <p:nvPr/>
        </p:nvSpPr>
        <p:spPr>
          <a:xfrm>
            <a:off x="3869761" y="5016522"/>
            <a:ext cx="667307" cy="140833"/>
          </a:xfrm>
          <a:prstGeom prst="roundRect">
            <a:avLst/>
          </a:prstGeom>
          <a:solidFill>
            <a:srgbClr val="92D050"/>
          </a:solidFill>
          <a:ln>
            <a:solidFill>
              <a:srgbClr val="6FAE4C"/>
            </a:solidFill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견적의뢰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41" name="이등변 삼각형 640"/>
          <p:cNvSpPr/>
          <p:nvPr/>
        </p:nvSpPr>
        <p:spPr>
          <a:xfrm rot="10800000">
            <a:off x="4182937" y="5173415"/>
            <a:ext cx="59022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42" name="모서리가 둥근 직사각형 641"/>
          <p:cNvSpPr/>
          <p:nvPr/>
        </p:nvSpPr>
        <p:spPr>
          <a:xfrm>
            <a:off x="3869761" y="5406901"/>
            <a:ext cx="667307" cy="139598"/>
          </a:xfrm>
          <a:prstGeom prst="roundRect">
            <a:avLst/>
          </a:prstGeom>
          <a:solidFill>
            <a:srgbClr val="92D050"/>
          </a:solidFill>
          <a:ln>
            <a:solidFill>
              <a:srgbClr val="6FAE4C"/>
            </a:solidFill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수입부대비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43" name="이등변 삼각형 642"/>
          <p:cNvSpPr/>
          <p:nvPr/>
        </p:nvSpPr>
        <p:spPr>
          <a:xfrm rot="10800000">
            <a:off x="5016468" y="4766976"/>
            <a:ext cx="60226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44" name="이등변 삼각형 643"/>
          <p:cNvSpPr/>
          <p:nvPr/>
        </p:nvSpPr>
        <p:spPr>
          <a:xfrm rot="10800000">
            <a:off x="5016468" y="4970813"/>
            <a:ext cx="60226" cy="3459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45" name="이등변 삼각형 644"/>
          <p:cNvSpPr/>
          <p:nvPr/>
        </p:nvSpPr>
        <p:spPr>
          <a:xfrm rot="10800000">
            <a:off x="5016468" y="5173415"/>
            <a:ext cx="60226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46" name="모서리가 둥근 직사각형 645"/>
          <p:cNvSpPr/>
          <p:nvPr/>
        </p:nvSpPr>
        <p:spPr>
          <a:xfrm>
            <a:off x="4703292" y="5406901"/>
            <a:ext cx="667307" cy="139598"/>
          </a:xfrm>
          <a:prstGeom prst="roundRect">
            <a:avLst/>
          </a:prstGeom>
          <a:solidFill>
            <a:srgbClr val="92D050"/>
          </a:solidFill>
          <a:ln>
            <a:solidFill>
              <a:srgbClr val="6FAE4C"/>
            </a:solidFill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수불관리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47" name="이등변 삼각형 646"/>
          <p:cNvSpPr/>
          <p:nvPr/>
        </p:nvSpPr>
        <p:spPr>
          <a:xfrm rot="10800000">
            <a:off x="5016468" y="5368604"/>
            <a:ext cx="60226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648" name="그룹 1292"/>
          <p:cNvGrpSpPr>
            <a:grpSpLocks/>
          </p:cNvGrpSpPr>
          <p:nvPr/>
        </p:nvGrpSpPr>
        <p:grpSpPr bwMode="auto">
          <a:xfrm>
            <a:off x="4587657" y="4658263"/>
            <a:ext cx="115634" cy="60534"/>
            <a:chOff x="8999687" y="5265370"/>
            <a:chExt cx="153337" cy="78202"/>
          </a:xfrm>
        </p:grpSpPr>
        <p:cxnSp>
          <p:nvCxnSpPr>
            <p:cNvPr id="939" name="직선 연결선 938"/>
            <p:cNvCxnSpPr/>
            <p:nvPr/>
          </p:nvCxnSpPr>
          <p:spPr>
            <a:xfrm>
              <a:off x="8999687" y="5305269"/>
              <a:ext cx="143753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0" name="이등변 삼각형 939"/>
            <p:cNvSpPr/>
            <p:nvPr/>
          </p:nvSpPr>
          <p:spPr>
            <a:xfrm rot="5400000">
              <a:off x="9090763" y="5281310"/>
              <a:ext cx="78202" cy="46320"/>
            </a:xfrm>
            <a:prstGeom prst="triangle">
              <a:avLst/>
            </a:prstGeom>
            <a:gradFill>
              <a:gsLst>
                <a:gs pos="0">
                  <a:srgbClr val="002060"/>
                </a:gs>
                <a:gs pos="88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  <a:lumMod val="60000"/>
                  </a:schemeClr>
                </a:gs>
              </a:gsLst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700">
                <a:solidFill>
                  <a:prstClr val="white"/>
                </a:solidFill>
                <a:latin typeface="+mn-ea"/>
              </a:endParaRPr>
            </a:p>
          </p:txBody>
        </p:sp>
      </p:grpSp>
      <p:cxnSp>
        <p:nvCxnSpPr>
          <p:cNvPr id="649" name="직선 연결선 648"/>
          <p:cNvCxnSpPr/>
          <p:nvPr/>
        </p:nvCxnSpPr>
        <p:spPr>
          <a:xfrm>
            <a:off x="4591271" y="4684206"/>
            <a:ext cx="0" cy="1964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0" name="직선 연결선 649"/>
          <p:cNvCxnSpPr/>
          <p:nvPr/>
        </p:nvCxnSpPr>
        <p:spPr>
          <a:xfrm>
            <a:off x="4457569" y="4884337"/>
            <a:ext cx="1373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1" name="모서리가 둥근 직사각형 650"/>
          <p:cNvSpPr/>
          <p:nvPr/>
        </p:nvSpPr>
        <p:spPr>
          <a:xfrm>
            <a:off x="3869761" y="4813920"/>
            <a:ext cx="667307" cy="139598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조달구분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652" name="그룹 1298"/>
          <p:cNvGrpSpPr>
            <a:grpSpLocks/>
          </p:cNvGrpSpPr>
          <p:nvPr/>
        </p:nvGrpSpPr>
        <p:grpSpPr bwMode="auto">
          <a:xfrm>
            <a:off x="4622589" y="4862100"/>
            <a:ext cx="81908" cy="60533"/>
            <a:chOff x="9045593" y="5265370"/>
            <a:chExt cx="108000" cy="78202"/>
          </a:xfrm>
        </p:grpSpPr>
        <p:cxnSp>
          <p:nvCxnSpPr>
            <p:cNvPr id="937" name="직선 연결선 936"/>
            <p:cNvCxnSpPr/>
            <p:nvPr/>
          </p:nvCxnSpPr>
          <p:spPr>
            <a:xfrm>
              <a:off x="9045593" y="5305269"/>
              <a:ext cx="1080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8" name="이등변 삼각형 937"/>
            <p:cNvSpPr/>
            <p:nvPr/>
          </p:nvSpPr>
          <p:spPr>
            <a:xfrm rot="5400000">
              <a:off x="9091462" y="5281442"/>
              <a:ext cx="78202" cy="46059"/>
            </a:xfrm>
            <a:prstGeom prst="triangle">
              <a:avLst/>
            </a:prstGeom>
            <a:gradFill>
              <a:gsLst>
                <a:gs pos="0">
                  <a:srgbClr val="002060"/>
                </a:gs>
                <a:gs pos="88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  <a:lumMod val="60000"/>
                  </a:schemeClr>
                </a:gs>
              </a:gsLst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700">
                <a:solidFill>
                  <a:prstClr val="white"/>
                </a:solidFill>
                <a:latin typeface="+mn-ea"/>
              </a:endParaRPr>
            </a:p>
          </p:txBody>
        </p:sp>
      </p:grpSp>
      <p:cxnSp>
        <p:nvCxnSpPr>
          <p:cNvPr id="653" name="직선 연결선 652"/>
          <p:cNvCxnSpPr/>
          <p:nvPr/>
        </p:nvCxnSpPr>
        <p:spPr>
          <a:xfrm>
            <a:off x="4621384" y="4888043"/>
            <a:ext cx="0" cy="391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4" name="직선 연결선 653"/>
          <p:cNvCxnSpPr/>
          <p:nvPr/>
        </p:nvCxnSpPr>
        <p:spPr>
          <a:xfrm>
            <a:off x="4490091" y="5287070"/>
            <a:ext cx="1373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5" name="모서리가 둥근 직사각형 654"/>
          <p:cNvSpPr/>
          <p:nvPr/>
        </p:nvSpPr>
        <p:spPr>
          <a:xfrm>
            <a:off x="3869761" y="5211711"/>
            <a:ext cx="667307" cy="140833"/>
          </a:xfrm>
          <a:prstGeom prst="roundRect">
            <a:avLst/>
          </a:prstGeom>
          <a:solidFill>
            <a:srgbClr val="92D050"/>
          </a:solidFill>
          <a:ln>
            <a:solidFill>
              <a:srgbClr val="6FAE4C"/>
            </a:solidFill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견적접수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656" name="AutoShape 592"/>
          <p:cNvCxnSpPr>
            <a:cxnSpLocks noChangeShapeType="1"/>
          </p:cNvCxnSpPr>
          <p:nvPr/>
        </p:nvCxnSpPr>
        <p:spPr bwMode="auto">
          <a:xfrm flipV="1">
            <a:off x="4544295" y="4309887"/>
            <a:ext cx="472174" cy="185306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7" name="모서리가 둥근 직사각형 656"/>
          <p:cNvSpPr/>
          <p:nvPr/>
        </p:nvSpPr>
        <p:spPr>
          <a:xfrm>
            <a:off x="4605726" y="4409953"/>
            <a:ext cx="381834" cy="139597"/>
          </a:xfrm>
          <a:prstGeom prst="roundRect">
            <a:avLst/>
          </a:prstGeom>
          <a:ln>
            <a:prstDash val="sysDot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6600"/>
                </a:solidFill>
                <a:latin typeface="+mn-ea"/>
              </a:rPr>
              <a:t>구매품의</a:t>
            </a:r>
            <a:endParaRPr kumimoji="0" lang="en-US" altLang="ko-KR" sz="700" kern="0" dirty="0">
              <a:solidFill>
                <a:srgbClr val="006600"/>
              </a:solidFill>
              <a:latin typeface="+mn-ea"/>
            </a:endParaRPr>
          </a:p>
        </p:txBody>
      </p:sp>
      <p:cxnSp>
        <p:nvCxnSpPr>
          <p:cNvPr id="658" name="AutoShape 592"/>
          <p:cNvCxnSpPr>
            <a:cxnSpLocks noChangeShapeType="1"/>
          </p:cNvCxnSpPr>
          <p:nvPr/>
        </p:nvCxnSpPr>
        <p:spPr bwMode="auto">
          <a:xfrm flipH="1" flipV="1">
            <a:off x="5142944" y="4332124"/>
            <a:ext cx="234882" cy="954946"/>
          </a:xfrm>
          <a:prstGeom prst="curvedConnector4">
            <a:avLst>
              <a:gd name="adj1" fmla="val -28130"/>
              <a:gd name="adj2" fmla="val 56630"/>
            </a:avLst>
          </a:prstGeom>
          <a:noFill/>
          <a:ln w="952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59" name="모서리가 둥근 직사각형 658"/>
          <p:cNvSpPr/>
          <p:nvPr/>
        </p:nvSpPr>
        <p:spPr>
          <a:xfrm>
            <a:off x="4703292" y="4610084"/>
            <a:ext cx="667307" cy="140833"/>
          </a:xfrm>
          <a:prstGeom prst="roundRect">
            <a:avLst/>
          </a:prstGeom>
          <a:solidFill>
            <a:srgbClr val="92D050"/>
          </a:solidFill>
          <a:ln>
            <a:solidFill>
              <a:srgbClr val="6FAE4C"/>
            </a:solidFill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조달의뢰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60" name="모서리가 둥근 직사각형 659"/>
          <p:cNvSpPr/>
          <p:nvPr/>
        </p:nvSpPr>
        <p:spPr>
          <a:xfrm>
            <a:off x="4703292" y="4813920"/>
            <a:ext cx="667307" cy="139598"/>
          </a:xfrm>
          <a:prstGeom prst="round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업체선정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61" name="모서리가 둥근 직사각형 660"/>
          <p:cNvSpPr/>
          <p:nvPr/>
        </p:nvSpPr>
        <p:spPr>
          <a:xfrm>
            <a:off x="4703292" y="5016522"/>
            <a:ext cx="667307" cy="140833"/>
          </a:xfrm>
          <a:prstGeom prst="roundRect">
            <a:avLst/>
          </a:prstGeom>
          <a:solidFill>
            <a:srgbClr val="92D050"/>
          </a:solidFill>
          <a:ln>
            <a:solidFill>
              <a:srgbClr val="6FAE4C"/>
            </a:solidFill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계약등록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62" name="모서리가 둥근 직사각형 661"/>
          <p:cNvSpPr/>
          <p:nvPr/>
        </p:nvSpPr>
        <p:spPr>
          <a:xfrm>
            <a:off x="4703292" y="5211711"/>
            <a:ext cx="667307" cy="140833"/>
          </a:xfrm>
          <a:prstGeom prst="roundRect">
            <a:avLst/>
          </a:prstGeom>
          <a:solidFill>
            <a:srgbClr val="92D050"/>
          </a:solidFill>
          <a:ln>
            <a:solidFill>
              <a:srgbClr val="6FAE4C"/>
            </a:solidFill>
          </a:ln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검수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/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입고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63" name="모서리가 둥근 직사각형 662"/>
          <p:cNvSpPr/>
          <p:nvPr/>
        </p:nvSpPr>
        <p:spPr>
          <a:xfrm>
            <a:off x="5034537" y="4409953"/>
            <a:ext cx="383039" cy="139597"/>
          </a:xfrm>
          <a:prstGeom prst="roundRect">
            <a:avLst/>
          </a:prstGeom>
          <a:ln>
            <a:prstDash val="sysDot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6600"/>
                </a:solidFill>
                <a:latin typeface="+mn-ea"/>
              </a:rPr>
              <a:t>구매결의</a:t>
            </a:r>
            <a:endParaRPr kumimoji="0" lang="en-US" altLang="ko-KR" sz="700" kern="0" dirty="0">
              <a:solidFill>
                <a:srgbClr val="006600"/>
              </a:solidFill>
              <a:latin typeface="+mn-ea"/>
            </a:endParaRPr>
          </a:p>
        </p:txBody>
      </p:sp>
      <p:pic>
        <p:nvPicPr>
          <p:cNvPr id="664" name="그림 464"/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6529" y="5377252"/>
            <a:ext cx="191519" cy="119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5" name="그림 465"/>
          <p:cNvPicPr>
            <a:picLocks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5753" y="5388370"/>
            <a:ext cx="218019" cy="111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6" name="그림 70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112" y="5319189"/>
            <a:ext cx="157792" cy="2198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67" name="그림 70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5154" y="5324131"/>
            <a:ext cx="157792" cy="218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69" name="AutoShape 15"/>
          <p:cNvSpPr>
            <a:spLocks noChangeArrowheads="1"/>
          </p:cNvSpPr>
          <p:nvPr/>
        </p:nvSpPr>
        <p:spPr bwMode="auto">
          <a:xfrm>
            <a:off x="8445751" y="1396871"/>
            <a:ext cx="1044323" cy="3556647"/>
          </a:xfrm>
          <a:prstGeom prst="roundRect">
            <a:avLst>
              <a:gd name="adj" fmla="val 5676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sz="1400" b="0" ker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670" name="AutoShape 123"/>
          <p:cNvSpPr>
            <a:spLocks noChangeArrowheads="1"/>
          </p:cNvSpPr>
          <p:nvPr/>
        </p:nvSpPr>
        <p:spPr bwMode="auto">
          <a:xfrm>
            <a:off x="8468637" y="1631592"/>
            <a:ext cx="988915" cy="486531"/>
          </a:xfrm>
          <a:prstGeom prst="roundRect">
            <a:avLst>
              <a:gd name="adj" fmla="val 2620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671" name="그림 1373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5363" y="1196740"/>
            <a:ext cx="819077" cy="205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2" name="Rectangle 88"/>
          <p:cNvSpPr>
            <a:spLocks noChangeArrowheads="1"/>
          </p:cNvSpPr>
          <p:nvPr/>
        </p:nvSpPr>
        <p:spPr bwMode="auto">
          <a:xfrm>
            <a:off x="8656298" y="1236091"/>
            <a:ext cx="640842" cy="15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자산관리</a:t>
            </a:r>
          </a:p>
        </p:txBody>
      </p:sp>
      <p:sp>
        <p:nvSpPr>
          <p:cNvPr id="673" name="모서리가 둥근 직사각형 672"/>
          <p:cNvSpPr/>
          <p:nvPr/>
        </p:nvSpPr>
        <p:spPr>
          <a:xfrm>
            <a:off x="8490318" y="1433932"/>
            <a:ext cx="955189" cy="148245"/>
          </a:xfrm>
          <a:prstGeom prst="roundRect">
            <a:avLst/>
          </a:prstGeom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ko-KR" altLang="en-US" sz="700" b="1" dirty="0">
                <a:solidFill>
                  <a:prstClr val="white"/>
                </a:solidFill>
                <a:latin typeface="+mn-ea"/>
              </a:rPr>
              <a:t>예산항목분류</a:t>
            </a:r>
          </a:p>
        </p:txBody>
      </p:sp>
      <p:sp>
        <p:nvSpPr>
          <p:cNvPr id="674" name="Rectangle 63"/>
          <p:cNvSpPr>
            <a:spLocks noChangeArrowheads="1"/>
          </p:cNvSpPr>
          <p:nvPr/>
        </p:nvSpPr>
        <p:spPr bwMode="auto">
          <a:xfrm>
            <a:off x="8566204" y="1850254"/>
            <a:ext cx="805827" cy="182836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smtClean="0">
                <a:solidFill>
                  <a:srgbClr val="000000"/>
                </a:solidFill>
                <a:latin typeface="+mn-ea"/>
              </a:rPr>
              <a:t>구매</a:t>
            </a:r>
            <a:r>
              <a:rPr lang="en-US" altLang="ko-KR" sz="700" kern="0" smtClean="0">
                <a:solidFill>
                  <a:srgbClr val="000000"/>
                </a:solidFill>
                <a:latin typeface="+mn-ea"/>
              </a:rPr>
              <a:t>.</a:t>
            </a:r>
            <a:r>
              <a:rPr lang="ko-KR" altLang="en-US" sz="700" kern="0" smtClean="0">
                <a:solidFill>
                  <a:srgbClr val="000000"/>
                </a:solidFill>
                <a:latin typeface="+mn-ea"/>
              </a:rPr>
              <a:t>공사용역</a:t>
            </a:r>
            <a:r>
              <a:rPr lang="en-US" altLang="ko-KR" sz="700" kern="0" smtClean="0">
                <a:solidFill>
                  <a:srgbClr val="000000"/>
                </a:solidFill>
                <a:latin typeface="+mn-ea"/>
              </a:rPr>
              <a:t>.</a:t>
            </a: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사용권 자산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75" name="직사각형 674"/>
          <p:cNvSpPr/>
          <p:nvPr/>
        </p:nvSpPr>
        <p:spPr>
          <a:xfrm>
            <a:off x="8475864" y="1637770"/>
            <a:ext cx="984097" cy="179129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0"/>
                </a:schemeClr>
              </a:gs>
              <a:gs pos="49000">
                <a:srgbClr val="0070C0"/>
              </a:gs>
              <a:gs pos="100000">
                <a:schemeClr val="accent1">
                  <a:shade val="94000"/>
                  <a:satMod val="13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76" name="Rectangle 88"/>
          <p:cNvSpPr>
            <a:spLocks noChangeArrowheads="1"/>
          </p:cNvSpPr>
          <p:nvPr/>
        </p:nvSpPr>
        <p:spPr bwMode="auto">
          <a:xfrm>
            <a:off x="8633657" y="1629122"/>
            <a:ext cx="667307" cy="17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자산취득</a:t>
            </a:r>
          </a:p>
        </p:txBody>
      </p:sp>
      <p:sp>
        <p:nvSpPr>
          <p:cNvPr id="677" name="AutoShape 123"/>
          <p:cNvSpPr>
            <a:spLocks noChangeArrowheads="1"/>
          </p:cNvSpPr>
          <p:nvPr/>
        </p:nvSpPr>
        <p:spPr bwMode="auto">
          <a:xfrm>
            <a:off x="8468637" y="2234247"/>
            <a:ext cx="988915" cy="1006832"/>
          </a:xfrm>
          <a:prstGeom prst="roundRect">
            <a:avLst>
              <a:gd name="adj" fmla="val 2620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7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78" name="Rectangle 63"/>
          <p:cNvSpPr>
            <a:spLocks noChangeArrowheads="1"/>
          </p:cNvSpPr>
          <p:nvPr/>
        </p:nvSpPr>
        <p:spPr bwMode="auto">
          <a:xfrm>
            <a:off x="8566204" y="2570270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후속적지출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79" name="Rectangle 63"/>
          <p:cNvSpPr>
            <a:spLocks noChangeArrowheads="1"/>
          </p:cNvSpPr>
          <p:nvPr/>
        </p:nvSpPr>
        <p:spPr bwMode="auto">
          <a:xfrm>
            <a:off x="8566204" y="2444261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자산이동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80" name="Rectangle 63"/>
          <p:cNvSpPr>
            <a:spLocks noChangeArrowheads="1"/>
          </p:cNvSpPr>
          <p:nvPr/>
        </p:nvSpPr>
        <p:spPr bwMode="auto">
          <a:xfrm>
            <a:off x="8566204" y="2697514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재물조사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681" name="직선 연결선 680"/>
          <p:cNvCxnSpPr/>
          <p:nvPr/>
        </p:nvCxnSpPr>
        <p:spPr>
          <a:xfrm>
            <a:off x="8515614" y="2570270"/>
            <a:ext cx="9021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2" name="직선 연결선 681"/>
          <p:cNvCxnSpPr/>
          <p:nvPr/>
        </p:nvCxnSpPr>
        <p:spPr>
          <a:xfrm>
            <a:off x="8515614" y="2697514"/>
            <a:ext cx="9021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3" name="직사각형 682"/>
          <p:cNvSpPr/>
          <p:nvPr/>
        </p:nvSpPr>
        <p:spPr>
          <a:xfrm>
            <a:off x="8475864" y="2242895"/>
            <a:ext cx="984097" cy="179129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0"/>
                </a:schemeClr>
              </a:gs>
              <a:gs pos="49000">
                <a:srgbClr val="0070C0"/>
              </a:gs>
              <a:gs pos="100000">
                <a:schemeClr val="accent1">
                  <a:shade val="94000"/>
                  <a:satMod val="13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84" name="Rectangle 88"/>
          <p:cNvSpPr>
            <a:spLocks noChangeArrowheads="1"/>
          </p:cNvSpPr>
          <p:nvPr/>
        </p:nvSpPr>
        <p:spPr bwMode="auto">
          <a:xfrm>
            <a:off x="8633657" y="2234247"/>
            <a:ext cx="667307" cy="17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자산변동</a:t>
            </a:r>
          </a:p>
        </p:txBody>
      </p:sp>
      <p:sp>
        <p:nvSpPr>
          <p:cNvPr id="685" name="Rectangle 63"/>
          <p:cNvSpPr>
            <a:spLocks noChangeArrowheads="1"/>
          </p:cNvSpPr>
          <p:nvPr/>
        </p:nvSpPr>
        <p:spPr bwMode="auto">
          <a:xfrm>
            <a:off x="8566204" y="2833405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불용처리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686" name="직선 연결선 685"/>
          <p:cNvCxnSpPr/>
          <p:nvPr/>
        </p:nvCxnSpPr>
        <p:spPr>
          <a:xfrm>
            <a:off x="8515614" y="2832169"/>
            <a:ext cx="9021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7" name="Rectangle 63"/>
          <p:cNvSpPr>
            <a:spLocks noChangeArrowheads="1"/>
          </p:cNvSpPr>
          <p:nvPr/>
        </p:nvSpPr>
        <p:spPr bwMode="auto">
          <a:xfrm>
            <a:off x="8566204" y="2968061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매각처분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688" name="직선 연결선 687"/>
          <p:cNvCxnSpPr/>
          <p:nvPr/>
        </p:nvCxnSpPr>
        <p:spPr>
          <a:xfrm>
            <a:off x="8515614" y="2968061"/>
            <a:ext cx="9021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9" name="Rectangle 63"/>
          <p:cNvSpPr>
            <a:spLocks noChangeArrowheads="1"/>
          </p:cNvSpPr>
          <p:nvPr/>
        </p:nvSpPr>
        <p:spPr bwMode="auto">
          <a:xfrm>
            <a:off x="8566204" y="3103952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smtClean="0">
                <a:solidFill>
                  <a:srgbClr val="000000"/>
                </a:solidFill>
                <a:latin typeface="+mn-ea"/>
              </a:rPr>
              <a:t>부외자산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690" name="직선 연결선 689"/>
          <p:cNvCxnSpPr/>
          <p:nvPr/>
        </p:nvCxnSpPr>
        <p:spPr>
          <a:xfrm>
            <a:off x="8515614" y="3103952"/>
            <a:ext cx="9021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1" name="AutoShape 123"/>
          <p:cNvSpPr>
            <a:spLocks noChangeArrowheads="1"/>
          </p:cNvSpPr>
          <p:nvPr/>
        </p:nvSpPr>
        <p:spPr bwMode="auto">
          <a:xfrm>
            <a:off x="8468637" y="3370578"/>
            <a:ext cx="988915" cy="882058"/>
          </a:xfrm>
          <a:prstGeom prst="roundRect">
            <a:avLst>
              <a:gd name="adj" fmla="val 2620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7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692" name="Rectangle 63"/>
          <p:cNvSpPr>
            <a:spLocks noChangeArrowheads="1"/>
          </p:cNvSpPr>
          <p:nvPr/>
        </p:nvSpPr>
        <p:spPr bwMode="auto">
          <a:xfrm>
            <a:off x="8566204" y="3706600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IFRS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감가상각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93" name="Rectangle 63"/>
          <p:cNvSpPr>
            <a:spLocks noChangeArrowheads="1"/>
          </p:cNvSpPr>
          <p:nvPr/>
        </p:nvSpPr>
        <p:spPr bwMode="auto">
          <a:xfrm>
            <a:off x="8566204" y="3580591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상각시뮬레이션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94" name="Rectangle 63"/>
          <p:cNvSpPr>
            <a:spLocks noChangeArrowheads="1"/>
          </p:cNvSpPr>
          <p:nvPr/>
        </p:nvSpPr>
        <p:spPr bwMode="auto">
          <a:xfrm>
            <a:off x="8566204" y="3833844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695" name="직선 연결선 694"/>
          <p:cNvCxnSpPr/>
          <p:nvPr/>
        </p:nvCxnSpPr>
        <p:spPr>
          <a:xfrm>
            <a:off x="8515614" y="3706600"/>
            <a:ext cx="9021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6" name="직선 연결선 695"/>
          <p:cNvCxnSpPr/>
          <p:nvPr/>
        </p:nvCxnSpPr>
        <p:spPr>
          <a:xfrm>
            <a:off x="8515614" y="3833844"/>
            <a:ext cx="9021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7" name="직사각형 696"/>
          <p:cNvSpPr/>
          <p:nvPr/>
        </p:nvSpPr>
        <p:spPr>
          <a:xfrm>
            <a:off x="8475864" y="3380461"/>
            <a:ext cx="984097" cy="17913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0"/>
                </a:schemeClr>
              </a:gs>
              <a:gs pos="49000">
                <a:srgbClr val="0070C0"/>
              </a:gs>
              <a:gs pos="100000">
                <a:schemeClr val="accent1">
                  <a:shade val="94000"/>
                  <a:satMod val="13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698" name="Rectangle 88"/>
          <p:cNvSpPr>
            <a:spLocks noChangeArrowheads="1"/>
          </p:cNvSpPr>
          <p:nvPr/>
        </p:nvSpPr>
        <p:spPr bwMode="auto">
          <a:xfrm>
            <a:off x="8633657" y="3370578"/>
            <a:ext cx="667307" cy="17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자산평가</a:t>
            </a:r>
          </a:p>
        </p:txBody>
      </p:sp>
      <p:sp>
        <p:nvSpPr>
          <p:cNvPr id="699" name="Rectangle 63"/>
          <p:cNvSpPr>
            <a:spLocks noChangeArrowheads="1"/>
          </p:cNvSpPr>
          <p:nvPr/>
        </p:nvSpPr>
        <p:spPr bwMode="auto">
          <a:xfrm>
            <a:off x="8566204" y="3844006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자산손상처리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00" name="직선 연결선 699"/>
          <p:cNvCxnSpPr/>
          <p:nvPr/>
        </p:nvCxnSpPr>
        <p:spPr>
          <a:xfrm>
            <a:off x="8515614" y="3969735"/>
            <a:ext cx="9021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1" name="Rectangle 63"/>
          <p:cNvSpPr>
            <a:spLocks noChangeArrowheads="1"/>
          </p:cNvSpPr>
          <p:nvPr/>
        </p:nvSpPr>
        <p:spPr bwMode="auto">
          <a:xfrm>
            <a:off x="8566204" y="3979897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자산재평가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02" name="직선 연결선 701"/>
          <p:cNvCxnSpPr/>
          <p:nvPr/>
        </p:nvCxnSpPr>
        <p:spPr>
          <a:xfrm>
            <a:off x="8515614" y="4105626"/>
            <a:ext cx="9021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5" name="AutoShape 123"/>
          <p:cNvSpPr>
            <a:spLocks noChangeArrowheads="1"/>
          </p:cNvSpPr>
          <p:nvPr/>
        </p:nvSpPr>
        <p:spPr bwMode="auto">
          <a:xfrm>
            <a:off x="8468637" y="4396652"/>
            <a:ext cx="988915" cy="480562"/>
          </a:xfrm>
          <a:prstGeom prst="roundRect">
            <a:avLst>
              <a:gd name="adj" fmla="val 2620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70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716" name="Rectangle 63"/>
          <p:cNvSpPr>
            <a:spLocks noChangeArrowheads="1"/>
          </p:cNvSpPr>
          <p:nvPr/>
        </p:nvSpPr>
        <p:spPr bwMode="auto">
          <a:xfrm>
            <a:off x="8566204" y="4752440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kern="0" smtClean="0">
                <a:solidFill>
                  <a:srgbClr val="000000"/>
                </a:solidFill>
                <a:latin typeface="+mn-ea"/>
              </a:rPr>
              <a:t>자산명세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17" name="Rectangle 63"/>
          <p:cNvSpPr>
            <a:spLocks noChangeArrowheads="1"/>
          </p:cNvSpPr>
          <p:nvPr/>
        </p:nvSpPr>
        <p:spPr bwMode="auto">
          <a:xfrm>
            <a:off x="8566204" y="4606665"/>
            <a:ext cx="805827" cy="126008"/>
          </a:xfrm>
          <a:prstGeom prst="rect">
            <a:avLst/>
          </a:prstGeom>
          <a:noFill/>
          <a:ln w="6350" cap="flat" cmpd="sng" algn="ctr">
            <a:noFill/>
            <a:prstDash val="solid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자산이력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18" name="직선 연결선 717"/>
          <p:cNvCxnSpPr/>
          <p:nvPr/>
        </p:nvCxnSpPr>
        <p:spPr>
          <a:xfrm>
            <a:off x="8515614" y="4732674"/>
            <a:ext cx="90218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9" name="직사각형 718"/>
          <p:cNvSpPr/>
          <p:nvPr/>
        </p:nvSpPr>
        <p:spPr>
          <a:xfrm>
            <a:off x="8475864" y="4405300"/>
            <a:ext cx="984097" cy="18036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0"/>
                </a:schemeClr>
              </a:gs>
              <a:gs pos="49000">
                <a:srgbClr val="0070C0"/>
              </a:gs>
              <a:gs pos="100000">
                <a:schemeClr val="accent1">
                  <a:shade val="94000"/>
                  <a:satMod val="13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720" name="Rectangle 88"/>
          <p:cNvSpPr>
            <a:spLocks noChangeArrowheads="1"/>
          </p:cNvSpPr>
          <p:nvPr/>
        </p:nvSpPr>
        <p:spPr bwMode="auto">
          <a:xfrm>
            <a:off x="8633657" y="4396652"/>
            <a:ext cx="667307" cy="174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자산관리</a:t>
            </a:r>
          </a:p>
        </p:txBody>
      </p:sp>
      <p:grpSp>
        <p:nvGrpSpPr>
          <p:cNvPr id="721" name="그룹 707"/>
          <p:cNvGrpSpPr>
            <a:grpSpLocks/>
          </p:cNvGrpSpPr>
          <p:nvPr/>
        </p:nvGrpSpPr>
        <p:grpSpPr bwMode="auto">
          <a:xfrm>
            <a:off x="2877232" y="5174650"/>
            <a:ext cx="697420" cy="64240"/>
            <a:chOff x="4286250" y="7853363"/>
            <a:chExt cx="919163" cy="82550"/>
          </a:xfrm>
        </p:grpSpPr>
        <p:cxnSp>
          <p:nvCxnSpPr>
            <p:cNvPr id="931" name="AutoShape 380"/>
            <p:cNvCxnSpPr>
              <a:cxnSpLocks noChangeShapeType="1"/>
            </p:cNvCxnSpPr>
            <p:nvPr/>
          </p:nvCxnSpPr>
          <p:spPr bwMode="auto">
            <a:xfrm flipH="1">
              <a:off x="4286250" y="7853363"/>
              <a:ext cx="460375" cy="82550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2" name="AutoShape 380"/>
            <p:cNvCxnSpPr>
              <a:cxnSpLocks noChangeShapeType="1"/>
            </p:cNvCxnSpPr>
            <p:nvPr/>
          </p:nvCxnSpPr>
          <p:spPr bwMode="auto">
            <a:xfrm flipH="1">
              <a:off x="4584700" y="7853363"/>
              <a:ext cx="161925" cy="79375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3" name="AutoShape 380"/>
            <p:cNvCxnSpPr>
              <a:cxnSpLocks noChangeShapeType="1"/>
            </p:cNvCxnSpPr>
            <p:nvPr/>
          </p:nvCxnSpPr>
          <p:spPr bwMode="auto">
            <a:xfrm>
              <a:off x="4746625" y="7853363"/>
              <a:ext cx="458788" cy="79375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934" name="AutoShape 380"/>
            <p:cNvCxnSpPr>
              <a:cxnSpLocks noChangeShapeType="1"/>
            </p:cNvCxnSpPr>
            <p:nvPr/>
          </p:nvCxnSpPr>
          <p:spPr bwMode="auto">
            <a:xfrm>
              <a:off x="4746625" y="7853363"/>
              <a:ext cx="144463" cy="79375"/>
            </a:xfrm>
            <a:prstGeom prst="straightConnector1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722" name="모서리가 둥근 직사각형 721"/>
          <p:cNvSpPr/>
          <p:nvPr/>
        </p:nvSpPr>
        <p:spPr>
          <a:xfrm>
            <a:off x="5238101" y="5316719"/>
            <a:ext cx="381835" cy="139597"/>
          </a:xfrm>
          <a:prstGeom prst="roundRect">
            <a:avLst/>
          </a:prstGeom>
          <a:ln>
            <a:prstDash val="sysDot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6600"/>
                </a:solidFill>
                <a:latin typeface="+mn-ea"/>
              </a:rPr>
              <a:t>출고전표</a:t>
            </a:r>
            <a:endParaRPr kumimoji="0" lang="en-US" altLang="ko-KR" sz="700" kern="0" dirty="0">
              <a:solidFill>
                <a:srgbClr val="006600"/>
              </a:solidFill>
              <a:latin typeface="+mn-ea"/>
            </a:endParaRPr>
          </a:p>
        </p:txBody>
      </p:sp>
      <p:sp>
        <p:nvSpPr>
          <p:cNvPr id="723" name="AutoShape 15"/>
          <p:cNvSpPr>
            <a:spLocks noChangeArrowheads="1"/>
          </p:cNvSpPr>
          <p:nvPr/>
        </p:nvSpPr>
        <p:spPr bwMode="auto">
          <a:xfrm>
            <a:off x="5978884" y="1396871"/>
            <a:ext cx="2335574" cy="4231162"/>
          </a:xfrm>
          <a:prstGeom prst="roundRect">
            <a:avLst>
              <a:gd name="adj" fmla="val 2383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sz="1400" b="0" ker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724" name="AutoShape 123"/>
          <p:cNvSpPr>
            <a:spLocks noChangeArrowheads="1"/>
          </p:cNvSpPr>
          <p:nvPr/>
        </p:nvSpPr>
        <p:spPr bwMode="auto">
          <a:xfrm>
            <a:off x="6019838" y="1427756"/>
            <a:ext cx="2250053" cy="3095852"/>
          </a:xfrm>
          <a:prstGeom prst="roundRect">
            <a:avLst>
              <a:gd name="adj" fmla="val 1685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725" name="그림 157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0315" y="1196740"/>
            <a:ext cx="1039505" cy="205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6" name="Rectangle 88"/>
          <p:cNvSpPr>
            <a:spLocks noChangeArrowheads="1"/>
          </p:cNvSpPr>
          <p:nvPr/>
        </p:nvSpPr>
        <p:spPr bwMode="auto">
          <a:xfrm>
            <a:off x="6142552" y="1234414"/>
            <a:ext cx="837145" cy="15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회계관리</a:t>
            </a:r>
          </a:p>
        </p:txBody>
      </p:sp>
      <p:grpSp>
        <p:nvGrpSpPr>
          <p:cNvPr id="727" name="그룹 1578"/>
          <p:cNvGrpSpPr>
            <a:grpSpLocks/>
          </p:cNvGrpSpPr>
          <p:nvPr/>
        </p:nvGrpSpPr>
        <p:grpSpPr bwMode="auto">
          <a:xfrm>
            <a:off x="6228220" y="1442580"/>
            <a:ext cx="537218" cy="550978"/>
            <a:chOff x="4005363" y="2738998"/>
            <a:chExt cx="708151" cy="708151"/>
          </a:xfrm>
        </p:grpSpPr>
        <p:pic>
          <p:nvPicPr>
            <p:cNvPr id="929" name="그림 92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5363" y="2738998"/>
              <a:ext cx="708151" cy="708151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30" name="Text Box 26"/>
            <p:cNvSpPr txBox="1">
              <a:spLocks noChangeArrowheads="1"/>
            </p:cNvSpPr>
            <p:nvPr/>
          </p:nvSpPr>
          <p:spPr bwMode="auto">
            <a:xfrm>
              <a:off x="4081915" y="2954791"/>
              <a:ext cx="544037" cy="237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ko-KR" altLang="en-US" sz="6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전자</a:t>
              </a:r>
              <a:endParaRPr lang="en-US" altLang="ko-KR" sz="600" b="1" spc="-100" dirty="0">
                <a:solidFill>
                  <a:prstClr val="white"/>
                </a:solidFill>
                <a:effectLst>
                  <a:glow rad="139700">
                    <a:srgbClr val="C0504D">
                      <a:satMod val="175000"/>
                      <a:alpha val="40000"/>
                    </a:srgbClr>
                  </a:glow>
                </a:effectLst>
                <a:latin typeface="+mn-ea"/>
              </a:endParaRPr>
            </a:p>
            <a:p>
              <a:pPr algn="ctr">
                <a:defRPr/>
              </a:pPr>
              <a:r>
                <a:rPr lang="ko-KR" altLang="en-US" sz="6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증빙</a:t>
              </a:r>
            </a:p>
          </p:txBody>
        </p:sp>
      </p:grpSp>
      <p:sp>
        <p:nvSpPr>
          <p:cNvPr id="728" name="모서리가 둥근 직사각형 727"/>
          <p:cNvSpPr/>
          <p:nvPr/>
        </p:nvSpPr>
        <p:spPr>
          <a:xfrm>
            <a:off x="6308924" y="1963909"/>
            <a:ext cx="383039" cy="139597"/>
          </a:xfrm>
          <a:prstGeom prst="roundRect">
            <a:avLst/>
          </a:prstGeom>
          <a:ln>
            <a:prstDash val="sysDot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800080"/>
                </a:solidFill>
                <a:latin typeface="+mn-ea"/>
              </a:rPr>
              <a:t>각종증빙</a:t>
            </a:r>
            <a:endParaRPr kumimoji="0" lang="en-US" altLang="ko-KR" sz="700" kern="0" dirty="0">
              <a:solidFill>
                <a:srgbClr val="800080"/>
              </a:solidFill>
              <a:latin typeface="+mn-ea"/>
            </a:endParaRPr>
          </a:p>
        </p:txBody>
      </p:sp>
      <p:sp>
        <p:nvSpPr>
          <p:cNvPr id="729" name="AutoShape 123"/>
          <p:cNvSpPr>
            <a:spLocks noChangeArrowheads="1"/>
          </p:cNvSpPr>
          <p:nvPr/>
        </p:nvSpPr>
        <p:spPr bwMode="auto">
          <a:xfrm>
            <a:off x="6021042" y="4750917"/>
            <a:ext cx="2251258" cy="843761"/>
          </a:xfrm>
          <a:prstGeom prst="roundRect">
            <a:avLst>
              <a:gd name="adj" fmla="val 2838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700">
              <a:solidFill>
                <a:srgbClr val="000000"/>
              </a:solidFill>
              <a:latin typeface="+mn-ea"/>
              <a:ea typeface="+mn-ea"/>
            </a:endParaRPr>
          </a:p>
        </p:txBody>
      </p:sp>
      <p:grpSp>
        <p:nvGrpSpPr>
          <p:cNvPr id="730" name="그룹 1649"/>
          <p:cNvGrpSpPr>
            <a:grpSpLocks/>
          </p:cNvGrpSpPr>
          <p:nvPr/>
        </p:nvGrpSpPr>
        <p:grpSpPr bwMode="auto">
          <a:xfrm>
            <a:off x="6883482" y="4365479"/>
            <a:ext cx="537218" cy="550978"/>
            <a:chOff x="4005363" y="2738998"/>
            <a:chExt cx="708151" cy="708151"/>
          </a:xfrm>
        </p:grpSpPr>
        <p:pic>
          <p:nvPicPr>
            <p:cNvPr id="927" name="그림 926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5363" y="2738998"/>
              <a:ext cx="708151" cy="708151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28" name="Text Box 26"/>
            <p:cNvSpPr txBox="1">
              <a:spLocks noChangeArrowheads="1"/>
            </p:cNvSpPr>
            <p:nvPr/>
          </p:nvSpPr>
          <p:spPr bwMode="auto">
            <a:xfrm>
              <a:off x="4081915" y="2954791"/>
              <a:ext cx="544037" cy="237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ko-KR" altLang="en-US" sz="6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은행</a:t>
              </a:r>
              <a:endParaRPr lang="en-US" altLang="ko-KR" sz="600" b="1" spc="-100" dirty="0">
                <a:solidFill>
                  <a:prstClr val="white"/>
                </a:solidFill>
                <a:effectLst>
                  <a:glow rad="139700">
                    <a:srgbClr val="C0504D">
                      <a:satMod val="175000"/>
                      <a:alpha val="40000"/>
                    </a:srgbClr>
                  </a:glow>
                </a:effectLst>
                <a:latin typeface="+mn-ea"/>
              </a:endParaRPr>
            </a:p>
            <a:p>
              <a:pPr algn="ctr">
                <a:defRPr/>
              </a:pPr>
              <a:r>
                <a:rPr lang="en-US" altLang="ko-KR" sz="6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CMS</a:t>
              </a:r>
              <a:endParaRPr lang="ko-KR" altLang="en-US" sz="600" b="1" spc="-100" dirty="0">
                <a:solidFill>
                  <a:prstClr val="white"/>
                </a:solidFill>
                <a:effectLst>
                  <a:glow rad="139700">
                    <a:srgbClr val="C0504D">
                      <a:satMod val="175000"/>
                      <a:alpha val="40000"/>
                    </a:srgbClr>
                  </a:glow>
                </a:effectLst>
                <a:latin typeface="+mn-ea"/>
              </a:endParaRPr>
            </a:p>
          </p:txBody>
        </p:sp>
      </p:grpSp>
      <p:sp>
        <p:nvSpPr>
          <p:cNvPr id="731" name="모서리가 둥근 직사각형 730"/>
          <p:cNvSpPr/>
          <p:nvPr/>
        </p:nvSpPr>
        <p:spPr>
          <a:xfrm>
            <a:off x="6123427" y="4783036"/>
            <a:ext cx="764873" cy="139597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입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.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출금 내역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2" name="모서리가 둥근 직사각형 731"/>
          <p:cNvSpPr/>
          <p:nvPr/>
        </p:nvSpPr>
        <p:spPr>
          <a:xfrm>
            <a:off x="6123427" y="4943635"/>
            <a:ext cx="764873" cy="140833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대체거래내역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3" name="모서리가 둥근 직사각형 732"/>
          <p:cNvSpPr/>
          <p:nvPr/>
        </p:nvSpPr>
        <p:spPr>
          <a:xfrm>
            <a:off x="6123427" y="5111646"/>
            <a:ext cx="764873" cy="140833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지급전표처리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4" name="모서리가 둥근 직사각형 733"/>
          <p:cNvSpPr/>
          <p:nvPr/>
        </p:nvSpPr>
        <p:spPr>
          <a:xfrm>
            <a:off x="6123427" y="5280892"/>
            <a:ext cx="764873" cy="139598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카드승인내역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5" name="모서리가 둥근 직사각형 734"/>
          <p:cNvSpPr/>
          <p:nvPr/>
        </p:nvSpPr>
        <p:spPr>
          <a:xfrm>
            <a:off x="6123427" y="5441491"/>
            <a:ext cx="764873" cy="139598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카드청구내역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6" name="모서리가 둥근 직사각형 735"/>
          <p:cNvSpPr/>
          <p:nvPr/>
        </p:nvSpPr>
        <p:spPr>
          <a:xfrm>
            <a:off x="7397815" y="4783036"/>
            <a:ext cx="764873" cy="139597"/>
          </a:xfrm>
          <a:prstGeom prst="roundRect">
            <a:avLst>
              <a:gd name="adj" fmla="val 819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입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.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출금 전표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7" name="모서리가 둥근 직사각형 736"/>
          <p:cNvSpPr/>
          <p:nvPr/>
        </p:nvSpPr>
        <p:spPr>
          <a:xfrm>
            <a:off x="7397815" y="4943635"/>
            <a:ext cx="764873" cy="140833"/>
          </a:xfrm>
          <a:prstGeom prst="roundRect">
            <a:avLst>
              <a:gd name="adj" fmla="val 819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대체거래전표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8" name="모서리가 둥근 직사각형 737"/>
          <p:cNvSpPr/>
          <p:nvPr/>
        </p:nvSpPr>
        <p:spPr>
          <a:xfrm>
            <a:off x="7397815" y="5111646"/>
            <a:ext cx="764873" cy="140833"/>
          </a:xfrm>
          <a:prstGeom prst="roundRect">
            <a:avLst>
              <a:gd name="adj" fmla="val 819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지급의뢰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39" name="모서리가 둥근 직사각형 738"/>
          <p:cNvSpPr/>
          <p:nvPr/>
        </p:nvSpPr>
        <p:spPr>
          <a:xfrm>
            <a:off x="7397815" y="5280892"/>
            <a:ext cx="764873" cy="139598"/>
          </a:xfrm>
          <a:prstGeom prst="roundRect">
            <a:avLst>
              <a:gd name="adj" fmla="val 819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승인결의연결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40" name="모서리가 둥근 직사각형 739"/>
          <p:cNvSpPr/>
          <p:nvPr/>
        </p:nvSpPr>
        <p:spPr>
          <a:xfrm>
            <a:off x="7397815" y="5441491"/>
            <a:ext cx="764873" cy="139598"/>
          </a:xfrm>
          <a:prstGeom prst="roundRect">
            <a:avLst>
              <a:gd name="adj" fmla="val 8196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청구승인연결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41" name="직선 연결선 740"/>
          <p:cNvCxnSpPr>
            <a:stCxn id="731" idx="3"/>
            <a:endCxn id="736" idx="1"/>
          </p:cNvCxnSpPr>
          <p:nvPr/>
        </p:nvCxnSpPr>
        <p:spPr bwMode="auto">
          <a:xfrm>
            <a:off x="6888300" y="4853452"/>
            <a:ext cx="5095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2" name="직선 연결선 741"/>
          <p:cNvCxnSpPr>
            <a:stCxn id="732" idx="3"/>
            <a:endCxn id="737" idx="1"/>
          </p:cNvCxnSpPr>
          <p:nvPr/>
        </p:nvCxnSpPr>
        <p:spPr bwMode="auto">
          <a:xfrm>
            <a:off x="6888300" y="5014051"/>
            <a:ext cx="5095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3" name="직선 연결선 742"/>
          <p:cNvCxnSpPr>
            <a:stCxn id="733" idx="3"/>
            <a:endCxn id="738" idx="1"/>
          </p:cNvCxnSpPr>
          <p:nvPr/>
        </p:nvCxnSpPr>
        <p:spPr bwMode="auto">
          <a:xfrm>
            <a:off x="6888300" y="5182062"/>
            <a:ext cx="5095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4" name="이등변 삼각형 743"/>
          <p:cNvSpPr/>
          <p:nvPr/>
        </p:nvSpPr>
        <p:spPr bwMode="auto">
          <a:xfrm rot="5400000">
            <a:off x="7351287" y="5162744"/>
            <a:ext cx="60534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745" name="이등변 삼각형 744"/>
          <p:cNvSpPr/>
          <p:nvPr/>
        </p:nvSpPr>
        <p:spPr>
          <a:xfrm rot="16200000">
            <a:off x="6875499" y="5162744"/>
            <a:ext cx="60534" cy="34932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746" name="꺾인 연결선 745"/>
          <p:cNvCxnSpPr>
            <a:stCxn id="740" idx="1"/>
            <a:endCxn id="734" idx="3"/>
          </p:cNvCxnSpPr>
          <p:nvPr/>
        </p:nvCxnSpPr>
        <p:spPr>
          <a:xfrm rot="10800000">
            <a:off x="6888300" y="5351309"/>
            <a:ext cx="509514" cy="160599"/>
          </a:xfrm>
          <a:prstGeom prst="bentConnector3">
            <a:avLst>
              <a:gd name="adj1" fmla="val 50000"/>
            </a:avLst>
          </a:prstGeom>
          <a:ln w="9525"/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7" name="모서리가 둥근 직사각형 746"/>
          <p:cNvSpPr/>
          <p:nvPr/>
        </p:nvSpPr>
        <p:spPr>
          <a:xfrm>
            <a:off x="7352043" y="4351890"/>
            <a:ext cx="763669" cy="140833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결산주석관리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48" name="이등변 삼각형 747"/>
          <p:cNvSpPr/>
          <p:nvPr/>
        </p:nvSpPr>
        <p:spPr>
          <a:xfrm rot="10800000">
            <a:off x="7712195" y="3903449"/>
            <a:ext cx="59022" cy="3459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749" name="직선 연결선 748"/>
          <p:cNvCxnSpPr/>
          <p:nvPr/>
        </p:nvCxnSpPr>
        <p:spPr>
          <a:xfrm>
            <a:off x="6918414" y="2878087"/>
            <a:ext cx="4372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0" name="직선 연결선 749"/>
          <p:cNvCxnSpPr/>
          <p:nvPr/>
        </p:nvCxnSpPr>
        <p:spPr>
          <a:xfrm>
            <a:off x="6918414" y="3336411"/>
            <a:ext cx="4372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1" name="직선 연결선 750"/>
          <p:cNvCxnSpPr/>
          <p:nvPr/>
        </p:nvCxnSpPr>
        <p:spPr>
          <a:xfrm>
            <a:off x="7075002" y="2726135"/>
            <a:ext cx="2734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2" name="직선 연결선 751"/>
          <p:cNvCxnSpPr/>
          <p:nvPr/>
        </p:nvCxnSpPr>
        <p:spPr>
          <a:xfrm>
            <a:off x="7075002" y="3039921"/>
            <a:ext cx="2734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3" name="직선 연결선 752"/>
          <p:cNvCxnSpPr/>
          <p:nvPr/>
        </p:nvCxnSpPr>
        <p:spPr>
          <a:xfrm>
            <a:off x="7075002" y="3183224"/>
            <a:ext cx="2734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4" name="직선 연결선 753"/>
          <p:cNvCxnSpPr/>
          <p:nvPr/>
        </p:nvCxnSpPr>
        <p:spPr>
          <a:xfrm>
            <a:off x="7075002" y="3497010"/>
            <a:ext cx="27342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5" name="모서리가 둥근 직사각형 754"/>
          <p:cNvSpPr/>
          <p:nvPr/>
        </p:nvSpPr>
        <p:spPr>
          <a:xfrm>
            <a:off x="7352043" y="2656954"/>
            <a:ext cx="763669" cy="139598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일일마감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56" name="모서리가 둥근 직사각형 755"/>
          <p:cNvSpPr/>
          <p:nvPr/>
        </p:nvSpPr>
        <p:spPr>
          <a:xfrm>
            <a:off x="7352043" y="2808906"/>
            <a:ext cx="763669" cy="139597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마감장부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57" name="모서리가 둥근 직사각형 756"/>
          <p:cNvSpPr/>
          <p:nvPr/>
        </p:nvSpPr>
        <p:spPr>
          <a:xfrm>
            <a:off x="7352043" y="2960857"/>
            <a:ext cx="763669" cy="140833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재무제표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58" name="모서리가 둥근 직사각형 757"/>
          <p:cNvSpPr/>
          <p:nvPr/>
        </p:nvSpPr>
        <p:spPr>
          <a:xfrm>
            <a:off x="7352043" y="3114043"/>
            <a:ext cx="763669" cy="139598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원천세신고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59" name="모서리가 둥근 직사각형 758"/>
          <p:cNvSpPr/>
          <p:nvPr/>
        </p:nvSpPr>
        <p:spPr>
          <a:xfrm>
            <a:off x="7352043" y="3265995"/>
            <a:ext cx="763669" cy="140833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부가세신고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60" name="모서리가 둥근 직사각형 759"/>
          <p:cNvSpPr/>
          <p:nvPr/>
        </p:nvSpPr>
        <p:spPr>
          <a:xfrm>
            <a:off x="7352043" y="3419182"/>
            <a:ext cx="763669" cy="139597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법인세자료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61" name="직선 연결선 760"/>
          <p:cNvCxnSpPr/>
          <p:nvPr/>
        </p:nvCxnSpPr>
        <p:spPr>
          <a:xfrm>
            <a:off x="7078615" y="2724900"/>
            <a:ext cx="0" cy="313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2" name="직선 연결선 761"/>
          <p:cNvCxnSpPr/>
          <p:nvPr/>
        </p:nvCxnSpPr>
        <p:spPr>
          <a:xfrm>
            <a:off x="7078615" y="3183224"/>
            <a:ext cx="0" cy="3137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3" name="직선 연결선 762"/>
          <p:cNvCxnSpPr/>
          <p:nvPr/>
        </p:nvCxnSpPr>
        <p:spPr>
          <a:xfrm>
            <a:off x="6493216" y="2539594"/>
            <a:ext cx="0" cy="2520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4" name="직선 연결선 763"/>
          <p:cNvCxnSpPr/>
          <p:nvPr/>
        </p:nvCxnSpPr>
        <p:spPr>
          <a:xfrm>
            <a:off x="6493216" y="2941091"/>
            <a:ext cx="0" cy="3088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5" name="직선 연결선 764"/>
          <p:cNvCxnSpPr/>
          <p:nvPr/>
        </p:nvCxnSpPr>
        <p:spPr>
          <a:xfrm>
            <a:off x="6493216" y="3408063"/>
            <a:ext cx="0" cy="699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6" name="직선 연결선 765"/>
          <p:cNvCxnSpPr/>
          <p:nvPr/>
        </p:nvCxnSpPr>
        <p:spPr>
          <a:xfrm flipH="1">
            <a:off x="6493216" y="4130758"/>
            <a:ext cx="1205" cy="1791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7" name="모서리가 둥근 직사각형 766"/>
          <p:cNvSpPr/>
          <p:nvPr/>
        </p:nvSpPr>
        <p:spPr>
          <a:xfrm>
            <a:off x="6111382" y="2522299"/>
            <a:ext cx="764873" cy="139597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>
                <a:solidFill>
                  <a:srgbClr val="000000"/>
                </a:solidFill>
                <a:latin typeface="+mn-ea"/>
              </a:rPr>
              <a:t>회계전표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68" name="모서리가 둥근 직사각형 767"/>
          <p:cNvSpPr/>
          <p:nvPr/>
        </p:nvSpPr>
        <p:spPr>
          <a:xfrm>
            <a:off x="6111382" y="2808906"/>
            <a:ext cx="764873" cy="139597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재무관리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70" name="모서리가 둥근 직사각형 769"/>
          <p:cNvSpPr/>
          <p:nvPr/>
        </p:nvSpPr>
        <p:spPr>
          <a:xfrm>
            <a:off x="6111382" y="4125816"/>
            <a:ext cx="764873" cy="139597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결산마감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71" name="모서리가 둥근 직사각형 770"/>
          <p:cNvSpPr/>
          <p:nvPr/>
        </p:nvSpPr>
        <p:spPr>
          <a:xfrm>
            <a:off x="6111382" y="3265995"/>
            <a:ext cx="764873" cy="140833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세무관리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73" name="직선 연결선 772"/>
          <p:cNvCxnSpPr/>
          <p:nvPr/>
        </p:nvCxnSpPr>
        <p:spPr>
          <a:xfrm>
            <a:off x="6076450" y="4282709"/>
            <a:ext cx="41194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75" name="이등변 삼각형 774"/>
          <p:cNvSpPr/>
          <p:nvPr/>
        </p:nvSpPr>
        <p:spPr>
          <a:xfrm rot="5400000">
            <a:off x="6139518" y="3895295"/>
            <a:ext cx="61769" cy="38545"/>
          </a:xfrm>
          <a:prstGeom prst="triangle">
            <a:avLst/>
          </a:prstGeom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776" name="그룹 1828"/>
          <p:cNvGrpSpPr>
            <a:grpSpLocks/>
          </p:cNvGrpSpPr>
          <p:nvPr/>
        </p:nvGrpSpPr>
        <p:grpSpPr bwMode="auto">
          <a:xfrm>
            <a:off x="7945873" y="1141149"/>
            <a:ext cx="537218" cy="550978"/>
            <a:chOff x="4005363" y="2738998"/>
            <a:chExt cx="708151" cy="708151"/>
          </a:xfrm>
        </p:grpSpPr>
        <p:pic>
          <p:nvPicPr>
            <p:cNvPr id="923" name="그림 92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5363" y="2738998"/>
              <a:ext cx="708151" cy="708151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24" name="Text Box 26"/>
            <p:cNvSpPr txBox="1">
              <a:spLocks noChangeArrowheads="1"/>
            </p:cNvSpPr>
            <p:nvPr/>
          </p:nvSpPr>
          <p:spPr bwMode="auto">
            <a:xfrm>
              <a:off x="4096681" y="2954791"/>
              <a:ext cx="544037" cy="237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ko-KR" altLang="en-US" sz="6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그룹</a:t>
              </a:r>
              <a:endParaRPr lang="en-US" altLang="ko-KR" sz="600" b="1" spc="-100" dirty="0">
                <a:solidFill>
                  <a:prstClr val="white"/>
                </a:solidFill>
                <a:effectLst>
                  <a:glow rad="139700">
                    <a:srgbClr val="C0504D">
                      <a:satMod val="175000"/>
                      <a:alpha val="40000"/>
                    </a:srgbClr>
                  </a:glow>
                </a:effectLst>
                <a:latin typeface="+mn-ea"/>
              </a:endParaRPr>
            </a:p>
            <a:p>
              <a:pPr algn="ctr">
                <a:defRPr/>
              </a:pPr>
              <a:r>
                <a:rPr lang="ko-KR" altLang="en-US" sz="6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웨어</a:t>
              </a:r>
            </a:p>
          </p:txBody>
        </p:sp>
      </p:grpSp>
      <p:sp>
        <p:nvSpPr>
          <p:cNvPr id="777" name="모서리가 둥근 직사각형 776"/>
          <p:cNvSpPr/>
          <p:nvPr/>
        </p:nvSpPr>
        <p:spPr>
          <a:xfrm>
            <a:off x="7555607" y="1375870"/>
            <a:ext cx="383039" cy="140833"/>
          </a:xfrm>
          <a:prstGeom prst="roundRect">
            <a:avLst/>
          </a:prstGeom>
          <a:solidFill>
            <a:schemeClr val="bg1"/>
          </a:solidFill>
          <a:ln w="19050"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600" kern="0" dirty="0">
                <a:solidFill>
                  <a:srgbClr val="990033"/>
                </a:solidFill>
                <a:latin typeface="+mn-ea"/>
              </a:rPr>
              <a:t>전자결재</a:t>
            </a:r>
            <a:endParaRPr kumimoji="0" lang="en-US" altLang="ko-KR" sz="600" kern="0" dirty="0">
              <a:solidFill>
                <a:srgbClr val="990033"/>
              </a:solidFill>
              <a:latin typeface="+mn-ea"/>
            </a:endParaRPr>
          </a:p>
        </p:txBody>
      </p:sp>
      <p:sp>
        <p:nvSpPr>
          <p:cNvPr id="778" name="모서리가 둥근 직사각형 777"/>
          <p:cNvSpPr/>
          <p:nvPr/>
        </p:nvSpPr>
        <p:spPr>
          <a:xfrm>
            <a:off x="6777484" y="3574839"/>
            <a:ext cx="464947" cy="139597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결산작업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79" name="직선 연결선 778"/>
          <p:cNvCxnSpPr/>
          <p:nvPr/>
        </p:nvCxnSpPr>
        <p:spPr>
          <a:xfrm>
            <a:off x="7250862" y="3639078"/>
            <a:ext cx="4914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0" name="직선 연결선 779"/>
          <p:cNvCxnSpPr/>
          <p:nvPr/>
        </p:nvCxnSpPr>
        <p:spPr>
          <a:xfrm>
            <a:off x="6926845" y="4192527"/>
            <a:ext cx="8190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1" name="이등변 삼각형 780"/>
          <p:cNvSpPr/>
          <p:nvPr/>
        </p:nvSpPr>
        <p:spPr>
          <a:xfrm rot="16200000">
            <a:off x="6880904" y="4175061"/>
            <a:ext cx="61769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782" name="직선 연결선 781"/>
          <p:cNvCxnSpPr/>
          <p:nvPr/>
        </p:nvCxnSpPr>
        <p:spPr>
          <a:xfrm>
            <a:off x="7741104" y="3971394"/>
            <a:ext cx="0" cy="223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3" name="모서리가 둥근 직사각형 782"/>
          <p:cNvSpPr/>
          <p:nvPr/>
        </p:nvSpPr>
        <p:spPr>
          <a:xfrm>
            <a:off x="7352043" y="3951628"/>
            <a:ext cx="763669" cy="139598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결산조정작업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84" name="직선 연결선 783"/>
          <p:cNvCxnSpPr/>
          <p:nvPr/>
        </p:nvCxnSpPr>
        <p:spPr>
          <a:xfrm>
            <a:off x="7741104" y="3735438"/>
            <a:ext cx="0" cy="1680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5" name="모서리가 둥근 직사각형 784"/>
          <p:cNvSpPr/>
          <p:nvPr/>
        </p:nvSpPr>
        <p:spPr>
          <a:xfrm>
            <a:off x="7352043" y="3726790"/>
            <a:ext cx="763669" cy="140833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결산일정관리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86" name="직선 연결선 785"/>
          <p:cNvCxnSpPr/>
          <p:nvPr/>
        </p:nvCxnSpPr>
        <p:spPr>
          <a:xfrm>
            <a:off x="7741104" y="3635372"/>
            <a:ext cx="0" cy="568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7" name="이등변 삼각형 786"/>
          <p:cNvSpPr/>
          <p:nvPr/>
        </p:nvSpPr>
        <p:spPr>
          <a:xfrm rot="10800000">
            <a:off x="7712195" y="3682316"/>
            <a:ext cx="59022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788" name="직선 연결선 787"/>
          <p:cNvCxnSpPr/>
          <p:nvPr/>
        </p:nvCxnSpPr>
        <p:spPr>
          <a:xfrm>
            <a:off x="6926845" y="2589009"/>
            <a:ext cx="81907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9" name="직선 연결선 788"/>
          <p:cNvCxnSpPr/>
          <p:nvPr/>
        </p:nvCxnSpPr>
        <p:spPr>
          <a:xfrm>
            <a:off x="7741104" y="2365406"/>
            <a:ext cx="0" cy="2236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0" name="직선 연결선 789"/>
          <p:cNvCxnSpPr/>
          <p:nvPr/>
        </p:nvCxnSpPr>
        <p:spPr>
          <a:xfrm>
            <a:off x="7782058" y="1920670"/>
            <a:ext cx="0" cy="2791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1" name="모서리가 둥근 직사각형 790"/>
          <p:cNvSpPr/>
          <p:nvPr/>
        </p:nvSpPr>
        <p:spPr>
          <a:xfrm>
            <a:off x="7352043" y="2249280"/>
            <a:ext cx="763669" cy="139598"/>
          </a:xfrm>
          <a:prstGeom prst="roundRect">
            <a:avLst/>
          </a:prstGeom>
          <a:ln/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>
                <a:solidFill>
                  <a:srgbClr val="000000"/>
                </a:solidFill>
                <a:latin typeface="+mn-ea"/>
              </a:rPr>
              <a:t>원인행위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92" name="모서리가 둥근 직사각형 791"/>
          <p:cNvSpPr/>
          <p:nvPr/>
        </p:nvSpPr>
        <p:spPr>
          <a:xfrm>
            <a:off x="7352043" y="2409879"/>
            <a:ext cx="763669" cy="140833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자동분개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93" name="이등변 삼각형 792"/>
          <p:cNvSpPr/>
          <p:nvPr/>
        </p:nvSpPr>
        <p:spPr>
          <a:xfrm rot="10800000">
            <a:off x="7756763" y="2203572"/>
            <a:ext cx="59021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794" name="AutoShape 598"/>
          <p:cNvCxnSpPr>
            <a:cxnSpLocks noChangeShapeType="1"/>
          </p:cNvCxnSpPr>
          <p:nvPr/>
        </p:nvCxnSpPr>
        <p:spPr bwMode="auto">
          <a:xfrm rot="16200000" flipH="1">
            <a:off x="7639085" y="2024362"/>
            <a:ext cx="742460" cy="186702"/>
          </a:xfrm>
          <a:prstGeom prst="bentConnector4">
            <a:avLst>
              <a:gd name="adj1" fmla="val 2954"/>
              <a:gd name="adj2" fmla="val 155829"/>
            </a:avLst>
          </a:prstGeom>
          <a:noFill/>
          <a:ln w="9525">
            <a:solidFill>
              <a:srgbClr val="FF3300"/>
            </a:solidFill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95" name="모서리가 둥근 직사각형 794"/>
          <p:cNvSpPr/>
          <p:nvPr/>
        </p:nvSpPr>
        <p:spPr>
          <a:xfrm>
            <a:off x="7349634" y="1564882"/>
            <a:ext cx="764873" cy="381731"/>
          </a:xfrm>
          <a:prstGeom prst="roundRect">
            <a:avLst>
              <a:gd name="adj" fmla="val 10000"/>
            </a:avLst>
          </a:prstGeom>
          <a:solidFill>
            <a:srgbClr val="EEFCDC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lnSpc>
                <a:spcPts val="1200"/>
              </a:lnSpc>
              <a:defRPr/>
            </a:pPr>
            <a:endParaRPr kumimoji="0" lang="en-US" altLang="ko-KR" sz="6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96" name="모서리가 둥근 직사각형 795"/>
          <p:cNvSpPr/>
          <p:nvPr/>
        </p:nvSpPr>
        <p:spPr>
          <a:xfrm>
            <a:off x="7394201" y="1614297"/>
            <a:ext cx="682966" cy="140833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결의서 입력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97" name="모서리가 둥근 직사각형 796"/>
          <p:cNvSpPr/>
          <p:nvPr/>
        </p:nvSpPr>
        <p:spPr>
          <a:xfrm>
            <a:off x="7394201" y="1772425"/>
            <a:ext cx="682966" cy="139598"/>
          </a:xfrm>
          <a:prstGeom prst="roundRect">
            <a:avLst/>
          </a:prstGeom>
          <a:solidFill>
            <a:srgbClr val="DAF3AD"/>
          </a:solidFill>
          <a:ln>
            <a:solidFill>
              <a:schemeClr val="accent3">
                <a:lumMod val="75000"/>
              </a:schemeClr>
            </a:solidFill>
          </a:ln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ko-KR" altLang="en-US" sz="700" kern="0">
                <a:solidFill>
                  <a:srgbClr val="000000"/>
                </a:solidFill>
                <a:latin typeface="+mn-ea"/>
              </a:rPr>
              <a:t>자동생성 결의</a:t>
            </a:r>
            <a:endParaRPr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98" name="직선 연결선 797"/>
          <p:cNvCxnSpPr/>
          <p:nvPr/>
        </p:nvCxnSpPr>
        <p:spPr>
          <a:xfrm>
            <a:off x="6492012" y="2380230"/>
            <a:ext cx="0" cy="1124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9" name="이등변 삼각형 798"/>
          <p:cNvSpPr/>
          <p:nvPr/>
        </p:nvSpPr>
        <p:spPr>
          <a:xfrm rot="10800000">
            <a:off x="6463103" y="2471648"/>
            <a:ext cx="59021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800" name="직선 연결선 799"/>
          <p:cNvCxnSpPr/>
          <p:nvPr/>
        </p:nvCxnSpPr>
        <p:spPr>
          <a:xfrm>
            <a:off x="5775319" y="2381466"/>
            <a:ext cx="71789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1" name="직선 연결선 800"/>
          <p:cNvCxnSpPr/>
          <p:nvPr/>
        </p:nvCxnSpPr>
        <p:spPr>
          <a:xfrm>
            <a:off x="5775319" y="2170216"/>
            <a:ext cx="2409" cy="2124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2" name="직선 연결선 801"/>
          <p:cNvCxnSpPr>
            <a:stCxn id="369" idx="3"/>
          </p:cNvCxnSpPr>
          <p:nvPr/>
        </p:nvCxnSpPr>
        <p:spPr>
          <a:xfrm>
            <a:off x="5485029" y="2170216"/>
            <a:ext cx="29269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3" name="이등변 삼각형 802"/>
          <p:cNvSpPr/>
          <p:nvPr/>
        </p:nvSpPr>
        <p:spPr>
          <a:xfrm rot="5400000">
            <a:off x="7489807" y="1449236"/>
            <a:ext cx="60533" cy="37340"/>
          </a:xfrm>
          <a:prstGeom prst="triangle">
            <a:avLst/>
          </a:prstGeom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04" name="이등변 삼각형 803"/>
          <p:cNvSpPr/>
          <p:nvPr/>
        </p:nvSpPr>
        <p:spPr>
          <a:xfrm rot="5400000">
            <a:off x="7277208" y="1722887"/>
            <a:ext cx="60533" cy="38545"/>
          </a:xfrm>
          <a:prstGeom prst="triangle">
            <a:avLst/>
          </a:prstGeom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805" name="꺾인 연결선 804"/>
          <p:cNvCxnSpPr/>
          <p:nvPr/>
        </p:nvCxnSpPr>
        <p:spPr>
          <a:xfrm rot="5400000" flipH="1" flipV="1">
            <a:off x="7236520" y="1467083"/>
            <a:ext cx="280431" cy="273428"/>
          </a:xfrm>
          <a:prstGeom prst="bentConnector3">
            <a:avLst>
              <a:gd name="adj1" fmla="val 98483"/>
            </a:avLst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06" name="직선 연결선 805"/>
          <p:cNvCxnSpPr/>
          <p:nvPr/>
        </p:nvCxnSpPr>
        <p:spPr>
          <a:xfrm>
            <a:off x="7238817" y="1744012"/>
            <a:ext cx="54203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07" name="직선 연결선 806"/>
          <p:cNvCxnSpPr/>
          <p:nvPr/>
        </p:nvCxnSpPr>
        <p:spPr>
          <a:xfrm>
            <a:off x="8374684" y="1711892"/>
            <a:ext cx="0" cy="3649300"/>
          </a:xfrm>
          <a:prstGeom prst="lin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8" name="직선 연결선 807"/>
          <p:cNvCxnSpPr/>
          <p:nvPr/>
        </p:nvCxnSpPr>
        <p:spPr>
          <a:xfrm>
            <a:off x="8209664" y="5351309"/>
            <a:ext cx="163815" cy="0"/>
          </a:xfrm>
          <a:prstGeom prst="lin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9" name="직선 연결선 808"/>
          <p:cNvCxnSpPr/>
          <p:nvPr/>
        </p:nvCxnSpPr>
        <p:spPr>
          <a:xfrm>
            <a:off x="8209664" y="5183298"/>
            <a:ext cx="163815" cy="0"/>
          </a:xfrm>
          <a:prstGeom prst="lin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0" name="직선 연결선 809"/>
          <p:cNvCxnSpPr/>
          <p:nvPr/>
        </p:nvCxnSpPr>
        <p:spPr>
          <a:xfrm>
            <a:off x="8122939" y="1710656"/>
            <a:ext cx="245723" cy="0"/>
          </a:xfrm>
          <a:prstGeom prst="lin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1" name="직선 연결선 810"/>
          <p:cNvCxnSpPr/>
          <p:nvPr/>
        </p:nvCxnSpPr>
        <p:spPr>
          <a:xfrm>
            <a:off x="8374684" y="1710656"/>
            <a:ext cx="81908" cy="0"/>
          </a:xfrm>
          <a:prstGeom prst="lin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2" name="직선 연결선 811"/>
          <p:cNvCxnSpPr/>
          <p:nvPr/>
        </p:nvCxnSpPr>
        <p:spPr>
          <a:xfrm>
            <a:off x="8374684" y="2172496"/>
            <a:ext cx="81908" cy="0"/>
          </a:xfrm>
          <a:prstGeom prst="lin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3" name="직선 연결선 812"/>
          <p:cNvCxnSpPr/>
          <p:nvPr/>
        </p:nvCxnSpPr>
        <p:spPr>
          <a:xfrm>
            <a:off x="8374684" y="3317352"/>
            <a:ext cx="81908" cy="0"/>
          </a:xfrm>
          <a:prstGeom prst="lin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6" name="직선 연결선 815"/>
          <p:cNvCxnSpPr/>
          <p:nvPr/>
        </p:nvCxnSpPr>
        <p:spPr>
          <a:xfrm>
            <a:off x="8374684" y="4340828"/>
            <a:ext cx="81908" cy="0"/>
          </a:xfrm>
          <a:prstGeom prst="line">
            <a:avLst/>
          </a:prstGeom>
          <a:ln>
            <a:solidFill>
              <a:srgbClr val="0070C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7" name="이등변 삼각형 816"/>
          <p:cNvSpPr/>
          <p:nvPr/>
        </p:nvSpPr>
        <p:spPr>
          <a:xfrm rot="16200000">
            <a:off x="8177127" y="5332608"/>
            <a:ext cx="49415" cy="34932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18" name="이등변 삼각형 817"/>
          <p:cNvSpPr/>
          <p:nvPr/>
        </p:nvSpPr>
        <p:spPr>
          <a:xfrm rot="16200000">
            <a:off x="8177127" y="5163362"/>
            <a:ext cx="49415" cy="34932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819" name="꺾인 연결선 818"/>
          <p:cNvCxnSpPr>
            <a:endCxn id="820" idx="3"/>
          </p:cNvCxnSpPr>
          <p:nvPr/>
        </p:nvCxnSpPr>
        <p:spPr>
          <a:xfrm rot="10800000">
            <a:off x="2608623" y="3020155"/>
            <a:ext cx="157792" cy="58063"/>
          </a:xfrm>
          <a:prstGeom prst="bentConnector3">
            <a:avLst>
              <a:gd name="adj1" fmla="val 50000"/>
            </a:avLst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0" name="이등변 삼각형 819"/>
          <p:cNvSpPr/>
          <p:nvPr/>
        </p:nvSpPr>
        <p:spPr>
          <a:xfrm rot="16200000">
            <a:off x="2561493" y="3003909"/>
            <a:ext cx="60534" cy="33727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821" name="AutoShape 496"/>
          <p:cNvCxnSpPr>
            <a:cxnSpLocks noChangeShapeType="1"/>
            <a:stCxn id="883" idx="3"/>
          </p:cNvCxnSpPr>
          <p:nvPr/>
        </p:nvCxnSpPr>
        <p:spPr bwMode="auto">
          <a:xfrm>
            <a:off x="4537068" y="3652963"/>
            <a:ext cx="2346414" cy="988004"/>
          </a:xfrm>
          <a:prstGeom prst="curvedConnector3">
            <a:avLst>
              <a:gd name="adj1" fmla="val 50000"/>
            </a:avLst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22" name="AutoShape 497"/>
          <p:cNvCxnSpPr>
            <a:cxnSpLocks noChangeShapeType="1"/>
            <a:stCxn id="612" idx="3"/>
          </p:cNvCxnSpPr>
          <p:nvPr/>
        </p:nvCxnSpPr>
        <p:spPr bwMode="auto">
          <a:xfrm>
            <a:off x="5428416" y="3619312"/>
            <a:ext cx="1455066" cy="1021655"/>
          </a:xfrm>
          <a:prstGeom prst="curvedConnector3">
            <a:avLst>
              <a:gd name="adj1" fmla="val 16222"/>
            </a:avLst>
          </a:prstGeom>
          <a:noFill/>
          <a:ln w="9525">
            <a:solidFill>
              <a:srgbClr val="FF33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23" name="모서리가 둥근 직사각형 822"/>
          <p:cNvSpPr/>
          <p:nvPr/>
        </p:nvSpPr>
        <p:spPr>
          <a:xfrm>
            <a:off x="4761109" y="3750262"/>
            <a:ext cx="667307" cy="139597"/>
          </a:xfrm>
          <a:prstGeom prst="roundRect">
            <a:avLst>
              <a:gd name="adj" fmla="val 81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tIns="36000" rIns="0" bIns="36000" anchor="ctr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자금실적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824" name="AutoShape 543"/>
          <p:cNvCxnSpPr>
            <a:cxnSpLocks noChangeShapeType="1"/>
          </p:cNvCxnSpPr>
          <p:nvPr/>
        </p:nvCxnSpPr>
        <p:spPr bwMode="auto">
          <a:xfrm flipV="1">
            <a:off x="5370599" y="2608775"/>
            <a:ext cx="740783" cy="2885838"/>
          </a:xfrm>
          <a:prstGeom prst="bentConnector3">
            <a:avLst>
              <a:gd name="adj1" fmla="val 61707"/>
            </a:avLst>
          </a:prstGeom>
          <a:ln>
            <a:headE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AutoShape 543"/>
          <p:cNvCxnSpPr>
            <a:cxnSpLocks noChangeShapeType="1"/>
          </p:cNvCxnSpPr>
          <p:nvPr/>
        </p:nvCxnSpPr>
        <p:spPr bwMode="auto">
          <a:xfrm rot="5400000" flipH="1" flipV="1">
            <a:off x="4370996" y="4128546"/>
            <a:ext cx="3219389" cy="261382"/>
          </a:xfrm>
          <a:prstGeom prst="bentConnector2">
            <a:avLst/>
          </a:prstGeom>
          <a:ln>
            <a:headE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6" name="AutoShape 15"/>
          <p:cNvSpPr>
            <a:spLocks noChangeArrowheads="1"/>
          </p:cNvSpPr>
          <p:nvPr/>
        </p:nvSpPr>
        <p:spPr bwMode="auto">
          <a:xfrm>
            <a:off x="483841" y="5635446"/>
            <a:ext cx="8994188" cy="778285"/>
          </a:xfrm>
          <a:prstGeom prst="roundRect">
            <a:avLst>
              <a:gd name="adj" fmla="val 5676"/>
            </a:avLst>
          </a:prstGeom>
          <a:gradFill rotWithShape="0">
            <a:gsLst>
              <a:gs pos="0">
                <a:srgbClr val="07488F"/>
              </a:gs>
              <a:gs pos="100000">
                <a:srgbClr val="4F98C5"/>
              </a:gs>
            </a:gsLst>
            <a:lin ang="5400000" scaled="1"/>
          </a:gradFill>
          <a:ln w="9525" algn="ctr">
            <a:noFill/>
            <a:round/>
            <a:headEnd/>
            <a:tailEnd/>
          </a:ln>
        </p:spPr>
        <p:txBody>
          <a:bodyPr wrap="none" anchor="ctr"/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굴림" pitchFamily="50" charset="-127"/>
                <a:ea typeface="굴림" pitchFamily="50" charset="-127"/>
                <a:cs typeface="+mn-cs"/>
              </a:defRPr>
            </a:lvl9pPr>
          </a:lstStyle>
          <a:p>
            <a:pPr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ko-KR" sz="1400" b="0" kern="0">
              <a:solidFill>
                <a:sysClr val="windowText" lastClr="000000"/>
              </a:solidFill>
              <a:latin typeface="+mn-ea"/>
              <a:ea typeface="+mn-ea"/>
            </a:endParaRPr>
          </a:p>
        </p:txBody>
      </p:sp>
      <p:sp>
        <p:nvSpPr>
          <p:cNvPr id="827" name="AutoShape 123"/>
          <p:cNvSpPr>
            <a:spLocks noChangeArrowheads="1"/>
          </p:cNvSpPr>
          <p:nvPr/>
        </p:nvSpPr>
        <p:spPr bwMode="auto">
          <a:xfrm>
            <a:off x="507932" y="5672507"/>
            <a:ext cx="8937575" cy="718986"/>
          </a:xfrm>
          <a:prstGeom prst="roundRect">
            <a:avLst>
              <a:gd name="adj" fmla="val 5963"/>
            </a:avLst>
          </a:prstGeom>
          <a:gradFill rotWithShape="0">
            <a:gsLst>
              <a:gs pos="0">
                <a:srgbClr val="D7EBF5"/>
              </a:gs>
              <a:gs pos="100000">
                <a:srgbClr val="EDF4F8"/>
              </a:gs>
            </a:gsLst>
            <a:lin ang="5400000" scaled="1"/>
          </a:gradFill>
          <a:ln w="9525">
            <a:solidFill>
              <a:srgbClr val="99CCFF"/>
            </a:solidFill>
            <a:round/>
            <a:headEnd/>
            <a:tailEnd/>
          </a:ln>
        </p:spPr>
        <p:txBody>
          <a:bodyPr wrap="none" lIns="90000" tIns="46800" rIns="90000" bIns="4680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ctr" eaLnBrk="1" hangingPunct="1"/>
            <a:endParaRPr lang="ko-KR" altLang="en-US" sz="1000">
              <a:solidFill>
                <a:srgbClr val="000000"/>
              </a:solidFill>
              <a:latin typeface="+mn-ea"/>
              <a:ea typeface="+mn-ea"/>
            </a:endParaRPr>
          </a:p>
        </p:txBody>
      </p:sp>
      <p:pic>
        <p:nvPicPr>
          <p:cNvPr id="829" name="그림 1933"/>
          <p:cNvPicPr>
            <a:picLocks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49" y="5628033"/>
            <a:ext cx="219224" cy="6732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30" name="Rectangle 88"/>
          <p:cNvSpPr>
            <a:spLocks noChangeArrowheads="1"/>
          </p:cNvSpPr>
          <p:nvPr/>
        </p:nvSpPr>
        <p:spPr bwMode="auto">
          <a:xfrm>
            <a:off x="296914" y="5689541"/>
            <a:ext cx="194185" cy="550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사</a:t>
            </a:r>
            <a:endParaRPr lang="en-US" altLang="ko-KR" sz="900" b="1" dirty="0">
              <a:solidFill>
                <a:prstClr val="white"/>
              </a:solidFill>
              <a:effectLst>
                <a:glow rad="63500">
                  <a:srgbClr val="1F497D">
                    <a:alpha val="40000"/>
                  </a:srgbClr>
                </a:glow>
              </a:effectLst>
              <a:latin typeface="+mn-ea"/>
            </a:endParaRPr>
          </a:p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업</a:t>
            </a:r>
            <a:endParaRPr lang="en-US" altLang="ko-KR" sz="900" b="1" dirty="0">
              <a:solidFill>
                <a:prstClr val="white"/>
              </a:solidFill>
              <a:effectLst>
                <a:glow rad="63500">
                  <a:srgbClr val="1F497D">
                    <a:alpha val="40000"/>
                  </a:srgbClr>
                </a:glow>
              </a:effectLst>
              <a:latin typeface="+mn-ea"/>
            </a:endParaRPr>
          </a:p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관</a:t>
            </a:r>
            <a:endParaRPr lang="en-US" altLang="ko-KR" sz="900" b="1" dirty="0">
              <a:solidFill>
                <a:prstClr val="white"/>
              </a:solidFill>
              <a:effectLst>
                <a:glow rad="63500">
                  <a:srgbClr val="1F497D">
                    <a:alpha val="40000"/>
                  </a:srgbClr>
                </a:glow>
              </a:effectLst>
              <a:latin typeface="+mn-ea"/>
            </a:endParaRPr>
          </a:p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리</a:t>
            </a:r>
          </a:p>
        </p:txBody>
      </p:sp>
      <p:sp>
        <p:nvSpPr>
          <p:cNvPr id="844" name="모서리가 둥근 직사각형 843"/>
          <p:cNvSpPr/>
          <p:nvPr/>
        </p:nvSpPr>
        <p:spPr>
          <a:xfrm>
            <a:off x="2341633" y="5661248"/>
            <a:ext cx="764873" cy="140833"/>
          </a:xfrm>
          <a:prstGeom prst="roundRect">
            <a:avLst>
              <a:gd name="adj" fmla="val 8196"/>
            </a:avLst>
          </a:prstGeom>
          <a:ln>
            <a:solidFill>
              <a:srgbClr val="1992AF"/>
            </a:solidFill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차량 사업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45" name="모서리가 둥근 직사각형 844"/>
          <p:cNvSpPr/>
          <p:nvPr/>
        </p:nvSpPr>
        <p:spPr>
          <a:xfrm>
            <a:off x="3757363" y="5661248"/>
            <a:ext cx="764873" cy="140833"/>
          </a:xfrm>
          <a:prstGeom prst="roundRect">
            <a:avLst>
              <a:gd name="adj" fmla="val 8196"/>
            </a:avLst>
          </a:prstGeom>
          <a:ln>
            <a:solidFill>
              <a:srgbClr val="1992AF"/>
            </a:solidFill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시설 사업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46" name="모서리가 둥근 직사각형 845"/>
          <p:cNvSpPr/>
          <p:nvPr/>
        </p:nvSpPr>
        <p:spPr>
          <a:xfrm>
            <a:off x="925903" y="5661248"/>
            <a:ext cx="764873" cy="140833"/>
          </a:xfrm>
          <a:prstGeom prst="roundRect">
            <a:avLst>
              <a:gd name="adj" fmla="val 8196"/>
            </a:avLst>
          </a:prstGeom>
          <a:ln>
            <a:solidFill>
              <a:srgbClr val="1992AF"/>
            </a:solidFill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인증 </a:t>
            </a:r>
            <a:r>
              <a:rPr kumimoji="0" lang="en-US" altLang="ko-KR" sz="700" kern="0" smtClean="0">
                <a:solidFill>
                  <a:srgbClr val="000000"/>
                </a:solidFill>
                <a:latin typeface="+mn-ea"/>
              </a:rPr>
              <a:t>. </a:t>
            </a: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면허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873" name="그룹 1859"/>
          <p:cNvGrpSpPr>
            <a:grpSpLocks/>
          </p:cNvGrpSpPr>
          <p:nvPr/>
        </p:nvGrpSpPr>
        <p:grpSpPr bwMode="auto">
          <a:xfrm>
            <a:off x="5381440" y="3968923"/>
            <a:ext cx="537218" cy="550978"/>
            <a:chOff x="4005363" y="2738998"/>
            <a:chExt cx="708151" cy="708151"/>
          </a:xfrm>
        </p:grpSpPr>
        <p:pic>
          <p:nvPicPr>
            <p:cNvPr id="915" name="그림 9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5363" y="2738998"/>
              <a:ext cx="708151" cy="708151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16" name="Text Box 26"/>
            <p:cNvSpPr txBox="1">
              <a:spLocks noChangeArrowheads="1"/>
            </p:cNvSpPr>
            <p:nvPr/>
          </p:nvSpPr>
          <p:spPr bwMode="auto">
            <a:xfrm>
              <a:off x="4081915" y="2954791"/>
              <a:ext cx="544037" cy="2769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ko-KR" altLang="en-US" sz="7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그룹</a:t>
              </a:r>
              <a:endParaRPr lang="en-US" altLang="ko-KR" sz="700" b="1" spc="-100" dirty="0">
                <a:solidFill>
                  <a:prstClr val="white"/>
                </a:solidFill>
                <a:effectLst>
                  <a:glow rad="139700">
                    <a:srgbClr val="C0504D">
                      <a:satMod val="175000"/>
                      <a:alpha val="40000"/>
                    </a:srgbClr>
                  </a:glow>
                </a:effectLst>
                <a:latin typeface="+mn-ea"/>
              </a:endParaRPr>
            </a:p>
            <a:p>
              <a:pPr algn="ctr">
                <a:defRPr/>
              </a:pPr>
              <a:r>
                <a:rPr lang="ko-KR" altLang="en-US" sz="7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웨어</a:t>
              </a:r>
            </a:p>
          </p:txBody>
        </p:sp>
      </p:grpSp>
      <p:grpSp>
        <p:nvGrpSpPr>
          <p:cNvPr id="874" name="그룹 1862"/>
          <p:cNvGrpSpPr>
            <a:grpSpLocks/>
          </p:cNvGrpSpPr>
          <p:nvPr/>
        </p:nvGrpSpPr>
        <p:grpSpPr bwMode="auto">
          <a:xfrm>
            <a:off x="5382644" y="4503841"/>
            <a:ext cx="538423" cy="550978"/>
            <a:chOff x="4005363" y="2738998"/>
            <a:chExt cx="708151" cy="708151"/>
          </a:xfrm>
        </p:grpSpPr>
        <p:pic>
          <p:nvPicPr>
            <p:cNvPr id="913" name="그림 91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05363" y="2738998"/>
              <a:ext cx="708151" cy="708151"/>
            </a:xfrm>
            <a:prstGeom prst="rect">
              <a:avLst/>
            </a:prstGeom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14" name="Text Box 26"/>
            <p:cNvSpPr txBox="1">
              <a:spLocks noChangeArrowheads="1"/>
            </p:cNvSpPr>
            <p:nvPr/>
          </p:nvSpPr>
          <p:spPr bwMode="auto">
            <a:xfrm>
              <a:off x="4081915" y="2954791"/>
              <a:ext cx="544036" cy="2769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lIns="0" tIns="0" rIns="0" bIns="0">
              <a:spAutoFit/>
            </a:bodyPr>
            <a:lstStyle/>
            <a:p>
              <a:pPr algn="ctr">
                <a:defRPr/>
              </a:pPr>
              <a:r>
                <a:rPr lang="ko-KR" altLang="en-US" sz="7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나라</a:t>
              </a:r>
              <a:endParaRPr lang="en-US" altLang="ko-KR" sz="700" b="1" spc="-100" dirty="0">
                <a:solidFill>
                  <a:prstClr val="white"/>
                </a:solidFill>
                <a:effectLst>
                  <a:glow rad="139700">
                    <a:srgbClr val="C0504D">
                      <a:satMod val="175000"/>
                      <a:alpha val="40000"/>
                    </a:srgbClr>
                  </a:glow>
                </a:effectLst>
                <a:latin typeface="+mn-ea"/>
              </a:endParaRPr>
            </a:p>
            <a:p>
              <a:pPr algn="ctr">
                <a:defRPr/>
              </a:pPr>
              <a:r>
                <a:rPr lang="ko-KR" altLang="en-US" sz="700" b="1" spc="-100" dirty="0">
                  <a:solidFill>
                    <a:prstClr val="white"/>
                  </a:solidFill>
                  <a:effectLst>
                    <a:glow rad="139700">
                      <a:srgbClr val="C0504D">
                        <a:satMod val="175000"/>
                        <a:alpha val="40000"/>
                      </a:srgbClr>
                    </a:glow>
                  </a:effectLst>
                  <a:latin typeface="+mn-ea"/>
                </a:rPr>
                <a:t>장터</a:t>
              </a:r>
            </a:p>
          </p:txBody>
        </p:sp>
      </p:grpSp>
      <p:cxnSp>
        <p:nvCxnSpPr>
          <p:cNvPr id="875" name="AutoShape 579"/>
          <p:cNvCxnSpPr>
            <a:cxnSpLocks noChangeShapeType="1"/>
            <a:stCxn id="523" idx="0"/>
            <a:endCxn id="360" idx="2"/>
          </p:cNvCxnSpPr>
          <p:nvPr/>
        </p:nvCxnSpPr>
        <p:spPr bwMode="auto">
          <a:xfrm rot="5400000" flipH="1" flipV="1">
            <a:off x="3266284" y="1335328"/>
            <a:ext cx="338493" cy="2670432"/>
          </a:xfrm>
          <a:prstGeom prst="bentConnector3">
            <a:avLst>
              <a:gd name="adj1" fmla="val 50000"/>
            </a:avLst>
          </a:prstGeom>
          <a:ln>
            <a:headE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6" name="이등변 삼각형 875"/>
          <p:cNvSpPr/>
          <p:nvPr/>
        </p:nvSpPr>
        <p:spPr>
          <a:xfrm rot="16200000">
            <a:off x="6875499" y="5331991"/>
            <a:ext cx="60533" cy="34932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77" name="이등변 삼각형 876"/>
          <p:cNvSpPr/>
          <p:nvPr/>
        </p:nvSpPr>
        <p:spPr>
          <a:xfrm rot="5400000">
            <a:off x="7346469" y="5490119"/>
            <a:ext cx="60533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78" name="이등변 삼각형 877"/>
          <p:cNvSpPr/>
          <p:nvPr/>
        </p:nvSpPr>
        <p:spPr bwMode="auto">
          <a:xfrm rot="5400000">
            <a:off x="7350669" y="4999057"/>
            <a:ext cx="61769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79" name="이등변 삼각형 878"/>
          <p:cNvSpPr/>
          <p:nvPr/>
        </p:nvSpPr>
        <p:spPr bwMode="auto">
          <a:xfrm rot="5400000">
            <a:off x="7351287" y="4831663"/>
            <a:ext cx="60534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880" name="AutoShape 543"/>
          <p:cNvCxnSpPr>
            <a:cxnSpLocks noChangeShapeType="1"/>
            <a:endCxn id="795" idx="2"/>
          </p:cNvCxnSpPr>
          <p:nvPr/>
        </p:nvCxnSpPr>
        <p:spPr bwMode="auto">
          <a:xfrm>
            <a:off x="4770745" y="1946614"/>
            <a:ext cx="2961927" cy="9883"/>
          </a:xfrm>
          <a:prstGeom prst="bentConnector4">
            <a:avLst>
              <a:gd name="adj1" fmla="val 43543"/>
              <a:gd name="adj2" fmla="val -1700000"/>
            </a:avLst>
          </a:prstGeom>
          <a:ln>
            <a:headEnd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1" name="모서리가 둥근 직사각형 880"/>
          <p:cNvSpPr/>
          <p:nvPr/>
        </p:nvSpPr>
        <p:spPr>
          <a:xfrm>
            <a:off x="6111382" y="2131920"/>
            <a:ext cx="764873" cy="148245"/>
          </a:xfrm>
          <a:prstGeom prst="roundRect">
            <a:avLst/>
          </a:prstGeom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>
              <a:defRPr/>
            </a:pPr>
            <a:r>
              <a:rPr lang="ko-KR" altLang="en-US" sz="700" b="1">
                <a:solidFill>
                  <a:prstClr val="white"/>
                </a:solidFill>
                <a:latin typeface="+mn-ea"/>
              </a:rPr>
              <a:t>회계기준관리</a:t>
            </a:r>
            <a:endParaRPr lang="ko-KR" altLang="en-US" sz="700" b="1" dirty="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882" name="AutoShape 543"/>
          <p:cNvCxnSpPr>
            <a:cxnSpLocks noChangeShapeType="1"/>
          </p:cNvCxnSpPr>
          <p:nvPr/>
        </p:nvCxnSpPr>
        <p:spPr bwMode="auto">
          <a:xfrm rot="10800000" flipV="1">
            <a:off x="5428416" y="2568007"/>
            <a:ext cx="682966" cy="1210668"/>
          </a:xfrm>
          <a:prstGeom prst="bentConnector3">
            <a:avLst>
              <a:gd name="adj1" fmla="val 44921"/>
            </a:avLst>
          </a:prstGeom>
          <a:ln>
            <a:headEnd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3" name="모서리가 둥근 직사각형 882"/>
          <p:cNvSpPr/>
          <p:nvPr/>
        </p:nvSpPr>
        <p:spPr>
          <a:xfrm>
            <a:off x="3869761" y="3541161"/>
            <a:ext cx="667307" cy="223603"/>
          </a:xfrm>
          <a:prstGeom prst="roundRect">
            <a:avLst>
              <a:gd name="adj" fmla="val 7123"/>
            </a:avLst>
          </a:prstGeom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C00000"/>
                </a:solidFill>
                <a:latin typeface="+mn-ea"/>
              </a:rPr>
              <a:t>미수금 수납</a:t>
            </a:r>
            <a:endParaRPr kumimoji="0" lang="en-US" altLang="ko-KR" sz="700" kern="0" dirty="0">
              <a:solidFill>
                <a:srgbClr val="C00000"/>
              </a:solidFill>
              <a:latin typeface="+mn-ea"/>
            </a:endParaRPr>
          </a:p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C00000"/>
                </a:solidFill>
                <a:latin typeface="+mn-ea"/>
              </a:rPr>
              <a:t>미지급 지불</a:t>
            </a:r>
            <a:endParaRPr kumimoji="0" lang="en-US" altLang="ko-KR" sz="700" kern="0" dirty="0">
              <a:solidFill>
                <a:srgbClr val="C00000"/>
              </a:solidFill>
              <a:latin typeface="+mn-ea"/>
            </a:endParaRPr>
          </a:p>
        </p:txBody>
      </p:sp>
      <p:grpSp>
        <p:nvGrpSpPr>
          <p:cNvPr id="884" name="그룹 1202"/>
          <p:cNvGrpSpPr>
            <a:grpSpLocks/>
          </p:cNvGrpSpPr>
          <p:nvPr/>
        </p:nvGrpSpPr>
        <p:grpSpPr bwMode="auto">
          <a:xfrm rot="5400000">
            <a:off x="4806113" y="2622517"/>
            <a:ext cx="302667" cy="60226"/>
            <a:chOff x="8627941" y="5265370"/>
            <a:chExt cx="525082" cy="78202"/>
          </a:xfrm>
        </p:grpSpPr>
        <p:cxnSp>
          <p:nvCxnSpPr>
            <p:cNvPr id="911" name="직선 연결선 910"/>
            <p:cNvCxnSpPr/>
            <p:nvPr/>
          </p:nvCxnSpPr>
          <p:spPr>
            <a:xfrm>
              <a:off x="8627942" y="5304471"/>
              <a:ext cx="50365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2" name="이등변 삼각형 911"/>
            <p:cNvSpPr/>
            <p:nvPr/>
          </p:nvSpPr>
          <p:spPr>
            <a:xfrm rot="5400000">
              <a:off x="9090348" y="5280896"/>
              <a:ext cx="78202" cy="47150"/>
            </a:xfrm>
            <a:prstGeom prst="triangle">
              <a:avLst/>
            </a:prstGeom>
            <a:gradFill>
              <a:gsLst>
                <a:gs pos="0">
                  <a:srgbClr val="002060"/>
                </a:gs>
                <a:gs pos="88000">
                  <a:schemeClr val="accent1">
                    <a:shade val="93000"/>
                    <a:satMod val="130000"/>
                  </a:schemeClr>
                </a:gs>
                <a:gs pos="100000">
                  <a:schemeClr val="accent1">
                    <a:shade val="94000"/>
                    <a:satMod val="135000"/>
                    <a:lumMod val="60000"/>
                  </a:schemeClr>
                </a:gs>
              </a:gsLst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sz="700">
                <a:solidFill>
                  <a:prstClr val="white"/>
                </a:solidFill>
                <a:latin typeface="+mn-ea"/>
              </a:endParaRPr>
            </a:p>
          </p:txBody>
        </p:sp>
      </p:grpSp>
      <p:sp>
        <p:nvSpPr>
          <p:cNvPr id="886" name="모서리가 둥근 직사각형 885"/>
          <p:cNvSpPr/>
          <p:nvPr/>
        </p:nvSpPr>
        <p:spPr>
          <a:xfrm>
            <a:off x="3869761" y="3132876"/>
            <a:ext cx="667307" cy="140833"/>
          </a:xfrm>
          <a:prstGeom prst="roundRect">
            <a:avLst>
              <a:gd name="adj" fmla="val 39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b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금융상품관리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888" name="모서리가 둥근 직사각형 887"/>
          <p:cNvSpPr/>
          <p:nvPr/>
        </p:nvSpPr>
        <p:spPr>
          <a:xfrm>
            <a:off x="3869761" y="2964563"/>
            <a:ext cx="667307" cy="140833"/>
          </a:xfrm>
          <a:prstGeom prst="roundRect">
            <a:avLst>
              <a:gd name="adj" fmla="val 3996"/>
            </a:avLst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lIns="0" tIns="0" rIns="0" bIns="0" anchor="b"/>
          <a:lstStyle/>
          <a:p>
            <a:pPr algn="ctr" fontAlgn="auto" latinLnBrk="0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예</a:t>
            </a:r>
            <a:r>
              <a:rPr kumimoji="0" lang="en-US" altLang="ko-KR" sz="700" kern="0" dirty="0">
                <a:solidFill>
                  <a:srgbClr val="000000"/>
                </a:solidFill>
                <a:latin typeface="+mn-ea"/>
              </a:rPr>
              <a:t>.</a:t>
            </a:r>
            <a:r>
              <a:rPr kumimoji="0" lang="ko-KR" altLang="en-US" sz="700" kern="0" dirty="0">
                <a:solidFill>
                  <a:srgbClr val="000000"/>
                </a:solidFill>
                <a:latin typeface="+mn-ea"/>
              </a:rPr>
              <a:t>적금 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889" name="그룹 8"/>
          <p:cNvGrpSpPr>
            <a:grpSpLocks/>
          </p:cNvGrpSpPr>
          <p:nvPr/>
        </p:nvGrpSpPr>
        <p:grpSpPr bwMode="auto">
          <a:xfrm>
            <a:off x="2826642" y="2577890"/>
            <a:ext cx="837145" cy="205072"/>
            <a:chOff x="3686175" y="4368552"/>
            <a:chExt cx="1103406" cy="263525"/>
          </a:xfrm>
        </p:grpSpPr>
        <p:pic>
          <p:nvPicPr>
            <p:cNvPr id="909" name="그림 938"/>
            <p:cNvPicPr>
              <a:picLocks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6175" y="4368552"/>
              <a:ext cx="1079500" cy="2635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0" name="Rectangle 88"/>
            <p:cNvSpPr>
              <a:spLocks noChangeArrowheads="1"/>
            </p:cNvSpPr>
            <p:nvPr/>
          </p:nvSpPr>
          <p:spPr bwMode="auto">
            <a:xfrm>
              <a:off x="3686268" y="4413880"/>
              <a:ext cx="1103313" cy="2047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>
              <a:prstShdw prst="shdw18" dist="17961" dir="13500000">
                <a:schemeClr val="bg1">
                  <a:gamma/>
                  <a:shade val="60000"/>
                  <a:invGamma/>
                </a:schemeClr>
              </a:prstShdw>
            </a:effectLst>
          </p:spPr>
          <p:txBody>
            <a:bodyPr wrap="none" anchor="ctr"/>
            <a:lstStyle/>
            <a:p>
              <a:pPr algn="ctr">
                <a:defRPr/>
              </a:pPr>
              <a:r>
                <a:rPr lang="ko-KR" altLang="en-US" sz="700" b="1" dirty="0">
                  <a:solidFill>
                    <a:prstClr val="white"/>
                  </a:solidFill>
                  <a:effectLst>
                    <a:glow rad="63500">
                      <a:srgbClr val="1F497D">
                        <a:alpha val="40000"/>
                      </a:srgbClr>
                    </a:glow>
                  </a:effectLst>
                  <a:latin typeface="+mn-ea"/>
                </a:rPr>
                <a:t>인사관리</a:t>
              </a:r>
            </a:p>
          </p:txBody>
        </p:sp>
      </p:grpSp>
      <p:pic>
        <p:nvPicPr>
          <p:cNvPr id="890" name="그림 114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306" y="2572949"/>
            <a:ext cx="1039505" cy="2063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91" name="Rectangle 88"/>
          <p:cNvSpPr>
            <a:spLocks noChangeArrowheads="1"/>
          </p:cNvSpPr>
          <p:nvPr/>
        </p:nvSpPr>
        <p:spPr bwMode="auto">
          <a:xfrm>
            <a:off x="3948736" y="2608570"/>
            <a:ext cx="837145" cy="1593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effectLst>
                  <a:glow rad="63500">
                    <a:srgbClr val="1F497D">
                      <a:alpha val="40000"/>
                    </a:srgbClr>
                  </a:glow>
                </a:effectLst>
                <a:latin typeface="+mn-ea"/>
              </a:rPr>
              <a:t>자금관리</a:t>
            </a:r>
          </a:p>
        </p:txBody>
      </p:sp>
      <p:sp>
        <p:nvSpPr>
          <p:cNvPr id="892" name="직사각형 891"/>
          <p:cNvSpPr/>
          <p:nvPr/>
        </p:nvSpPr>
        <p:spPr>
          <a:xfrm>
            <a:off x="4437092" y="1204152"/>
            <a:ext cx="1038301" cy="180365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51000"/>
                  <a:satMod val="130000"/>
                  <a:alpha val="0"/>
                </a:schemeClr>
              </a:gs>
              <a:gs pos="49000">
                <a:srgbClr val="0070C0"/>
              </a:gs>
              <a:gs pos="100000">
                <a:schemeClr val="accent1">
                  <a:shade val="94000"/>
                  <a:satMod val="135000"/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2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93" name="Rectangle 88"/>
          <p:cNvSpPr>
            <a:spLocks noChangeArrowheads="1"/>
          </p:cNvSpPr>
          <p:nvPr/>
        </p:nvSpPr>
        <p:spPr bwMode="auto">
          <a:xfrm>
            <a:off x="4447933" y="1195505"/>
            <a:ext cx="1010597" cy="159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8" dist="17961" dir="13500000">
              <a:schemeClr val="bg1">
                <a:gamma/>
                <a:shade val="60000"/>
                <a:invGamma/>
              </a:schemeClr>
            </a:prstShdw>
          </a:effectLst>
        </p:spPr>
        <p:txBody>
          <a:bodyPr wrap="none" anchor="ctr"/>
          <a:lstStyle/>
          <a:p>
            <a:pPr algn="ctr">
              <a:defRPr/>
            </a:pPr>
            <a:r>
              <a:rPr lang="ko-KR" altLang="en-US" sz="900" b="1" dirty="0">
                <a:solidFill>
                  <a:prstClr val="white"/>
                </a:solidFill>
                <a:latin typeface="+mn-ea"/>
              </a:rPr>
              <a:t>예산집행</a:t>
            </a:r>
          </a:p>
        </p:txBody>
      </p:sp>
      <p:sp>
        <p:nvSpPr>
          <p:cNvPr id="894" name="이등변 삼각형 893"/>
          <p:cNvSpPr/>
          <p:nvPr/>
        </p:nvSpPr>
        <p:spPr>
          <a:xfrm rot="5400000">
            <a:off x="4497751" y="1779096"/>
            <a:ext cx="61769" cy="38545"/>
          </a:xfrm>
          <a:prstGeom prst="triangle">
            <a:avLst/>
          </a:prstGeom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95" name="이등변 삼각형 894"/>
          <p:cNvSpPr/>
          <p:nvPr/>
        </p:nvSpPr>
        <p:spPr>
          <a:xfrm rot="16200000">
            <a:off x="4359848" y="2037907"/>
            <a:ext cx="60534" cy="38545"/>
          </a:xfrm>
          <a:prstGeom prst="triangle">
            <a:avLst/>
          </a:prstGeom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cxnSp>
        <p:nvCxnSpPr>
          <p:cNvPr id="896" name="AutoShape 158"/>
          <p:cNvCxnSpPr>
            <a:cxnSpLocks noChangeShapeType="1"/>
            <a:stCxn id="370" idx="0"/>
            <a:endCxn id="372" idx="2"/>
          </p:cNvCxnSpPr>
          <p:nvPr/>
        </p:nvCxnSpPr>
        <p:spPr bwMode="auto">
          <a:xfrm rot="5400000" flipH="1" flipV="1">
            <a:off x="3465242" y="1441541"/>
            <a:ext cx="80299" cy="304744"/>
          </a:xfrm>
          <a:prstGeom prst="curvedConnector3">
            <a:avLst>
              <a:gd name="adj1" fmla="val 34583"/>
            </a:avLst>
          </a:prstGeom>
          <a:noFill/>
          <a:ln w="952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97" name="AutoShape 158"/>
          <p:cNvCxnSpPr>
            <a:cxnSpLocks noChangeShapeType="1"/>
            <a:stCxn id="371" idx="1"/>
            <a:endCxn id="372" idx="2"/>
          </p:cNvCxnSpPr>
          <p:nvPr/>
        </p:nvCxnSpPr>
        <p:spPr bwMode="auto">
          <a:xfrm rot="10800000">
            <a:off x="3657764" y="1553764"/>
            <a:ext cx="96362" cy="504033"/>
          </a:xfrm>
          <a:prstGeom prst="curvedConnector2">
            <a:avLst/>
          </a:prstGeom>
          <a:noFill/>
          <a:ln w="9525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898" name="이등변 삼각형 897"/>
          <p:cNvSpPr/>
          <p:nvPr/>
        </p:nvSpPr>
        <p:spPr>
          <a:xfrm rot="10800000">
            <a:off x="6463103" y="2768138"/>
            <a:ext cx="59021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899" name="이등변 삼각형 898"/>
          <p:cNvSpPr/>
          <p:nvPr/>
        </p:nvSpPr>
        <p:spPr>
          <a:xfrm rot="10800000">
            <a:off x="6463103" y="3225227"/>
            <a:ext cx="59021" cy="35826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900" name="이등변 삼각형 899"/>
          <p:cNvSpPr/>
          <p:nvPr/>
        </p:nvSpPr>
        <p:spPr>
          <a:xfrm rot="16200000">
            <a:off x="6880904" y="2569072"/>
            <a:ext cx="61769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901" name="이등변 삼각형 900"/>
          <p:cNvSpPr/>
          <p:nvPr/>
        </p:nvSpPr>
        <p:spPr>
          <a:xfrm rot="16200000">
            <a:off x="6880904" y="2861857"/>
            <a:ext cx="61769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902" name="이등변 삼각형 901"/>
          <p:cNvSpPr/>
          <p:nvPr/>
        </p:nvSpPr>
        <p:spPr>
          <a:xfrm rot="16200000">
            <a:off x="6881522" y="3319563"/>
            <a:ext cx="60534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904" name="이등변 삼각형 903"/>
          <p:cNvSpPr/>
          <p:nvPr/>
        </p:nvSpPr>
        <p:spPr>
          <a:xfrm rot="10800000">
            <a:off x="6463103" y="4081343"/>
            <a:ext cx="59021" cy="3459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sp>
        <p:nvSpPr>
          <p:cNvPr id="905" name="이등변 삼각형 904"/>
          <p:cNvSpPr/>
          <p:nvPr/>
        </p:nvSpPr>
        <p:spPr>
          <a:xfrm rot="16200000">
            <a:off x="8097474" y="1689485"/>
            <a:ext cx="61769" cy="34931"/>
          </a:xfrm>
          <a:prstGeom prst="triangle">
            <a:avLst/>
          </a:prstGeom>
          <a:gradFill>
            <a:gsLst>
              <a:gs pos="0">
                <a:srgbClr val="002060"/>
              </a:gs>
              <a:gs pos="88000">
                <a:schemeClr val="accent1">
                  <a:shade val="93000"/>
                  <a:satMod val="130000"/>
                </a:schemeClr>
              </a:gs>
              <a:gs pos="100000">
                <a:schemeClr val="accent1">
                  <a:shade val="94000"/>
                  <a:satMod val="135000"/>
                  <a:lumMod val="60000"/>
                </a:schemeClr>
              </a:gs>
            </a:gsLst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700">
              <a:solidFill>
                <a:prstClr val="white"/>
              </a:solidFill>
              <a:latin typeface="+mn-ea"/>
            </a:endParaRPr>
          </a:p>
        </p:txBody>
      </p:sp>
      <p:grpSp>
        <p:nvGrpSpPr>
          <p:cNvPr id="906" name="그룹 53"/>
          <p:cNvGrpSpPr>
            <a:grpSpLocks/>
          </p:cNvGrpSpPr>
          <p:nvPr/>
        </p:nvGrpSpPr>
        <p:grpSpPr bwMode="auto">
          <a:xfrm>
            <a:off x="4940584" y="1431462"/>
            <a:ext cx="554081" cy="301432"/>
            <a:chOff x="4817293" y="5813918"/>
            <a:chExt cx="730444" cy="385994"/>
          </a:xfrm>
        </p:grpSpPr>
        <p:pic>
          <p:nvPicPr>
            <p:cNvPr id="907" name="Picture 434" descr="db02"/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4F9F3"/>
                </a:clrFrom>
                <a:clrTo>
                  <a:srgbClr val="F4F9F3">
                    <a:alpha val="0"/>
                  </a:srgbClr>
                </a:clrTo>
              </a:clrChange>
              <a:lum bright="6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7293" y="5813918"/>
              <a:ext cx="730444" cy="3859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08" name="Rectangle 435"/>
            <p:cNvSpPr>
              <a:spLocks noChangeArrowheads="1"/>
            </p:cNvSpPr>
            <p:nvPr/>
          </p:nvSpPr>
          <p:spPr bwMode="auto">
            <a:xfrm>
              <a:off x="4932298" y="6005741"/>
              <a:ext cx="418944" cy="1698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88412" tIns="44206" rIns="88412" bIns="44206" anchor="ctr"/>
            <a:lstStyle>
              <a:lvl1pPr defTabSz="884238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defTabSz="884238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defTabSz="884238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defTabSz="884238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defTabSz="884238" eaLnBrk="0" hangingPunct="0"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defTabSz="8842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defTabSz="8842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defTabSz="8842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defTabSz="884238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latinLnBrk="0">
                <a:lnSpc>
                  <a:spcPct val="60000"/>
                </a:lnSpc>
              </a:pPr>
              <a:r>
                <a:rPr kumimoji="0" lang="ko-KR" altLang="en-US" sz="700" b="1">
                  <a:solidFill>
                    <a:srgbClr val="FFFFFF"/>
                  </a:solidFill>
                  <a:latin typeface="+mn-ea"/>
                  <a:ea typeface="+mn-ea"/>
                </a:rPr>
                <a:t>계약</a:t>
              </a:r>
            </a:p>
          </p:txBody>
        </p:sp>
      </p:grpSp>
      <p:sp>
        <p:nvSpPr>
          <p:cNvPr id="959" name="모서리가 둥근 직사각형 958"/>
          <p:cNvSpPr/>
          <p:nvPr/>
        </p:nvSpPr>
        <p:spPr>
          <a:xfrm>
            <a:off x="5173093" y="5661248"/>
            <a:ext cx="764873" cy="140833"/>
          </a:xfrm>
          <a:prstGeom prst="roundRect">
            <a:avLst>
              <a:gd name="adj" fmla="val 8196"/>
            </a:avLst>
          </a:prstGeom>
          <a:ln>
            <a:solidFill>
              <a:srgbClr val="1992AF"/>
            </a:solidFill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경비 사업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60" name="모서리가 둥근 직사각형 959"/>
          <p:cNvSpPr/>
          <p:nvPr/>
        </p:nvSpPr>
        <p:spPr>
          <a:xfrm>
            <a:off x="6588823" y="5661248"/>
            <a:ext cx="764873" cy="140833"/>
          </a:xfrm>
          <a:prstGeom prst="roundRect">
            <a:avLst>
              <a:gd name="adj" fmla="val 8196"/>
            </a:avLst>
          </a:prstGeom>
          <a:ln>
            <a:solidFill>
              <a:srgbClr val="1992AF"/>
            </a:solidFill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전기 사업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61" name="모서리가 둥근 직사각형 960"/>
          <p:cNvSpPr/>
          <p:nvPr/>
        </p:nvSpPr>
        <p:spPr>
          <a:xfrm>
            <a:off x="8004551" y="5661248"/>
            <a:ext cx="764873" cy="140833"/>
          </a:xfrm>
          <a:prstGeom prst="roundRect">
            <a:avLst>
              <a:gd name="adj" fmla="val 8196"/>
            </a:avLst>
          </a:prstGeom>
          <a:ln>
            <a:solidFill>
              <a:srgbClr val="1992AF"/>
            </a:solidFill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lIns="0" tIns="36000" rIns="0" bIns="3600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환경 사업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6871" y="6165884"/>
            <a:ext cx="8938635" cy="215444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txBody>
          <a:bodyPr wrap="square" lIns="36000" tIns="0" rIns="36000" bIns="0" rtlCol="0">
            <a:spAutoFit/>
          </a:bodyPr>
          <a:lstStyle/>
          <a:p>
            <a:r>
              <a:rPr lang="ko-KR" altLang="en-US" sz="700"/>
              <a:t>친환경청소 </a:t>
            </a:r>
            <a:r>
              <a:rPr lang="ko-KR" altLang="en-US" sz="700" smtClean="0"/>
              <a:t>인증</a:t>
            </a:r>
            <a:r>
              <a:rPr lang="en-US" altLang="ko-KR" sz="700" smtClean="0"/>
              <a:t>,  </a:t>
            </a:r>
            <a:r>
              <a:rPr lang="ko-KR" altLang="en-US" sz="700" smtClean="0"/>
              <a:t>안전보건경영시스템 </a:t>
            </a:r>
            <a:r>
              <a:rPr lang="ko-KR" altLang="en-US" sz="700"/>
              <a:t>인증</a:t>
            </a:r>
            <a:r>
              <a:rPr lang="en-US" altLang="ko-KR" sz="700"/>
              <a:t>(ISO-45001</a:t>
            </a:r>
            <a:r>
              <a:rPr lang="en-US" altLang="ko-KR" sz="700" smtClean="0"/>
              <a:t>),  </a:t>
            </a:r>
            <a:r>
              <a:rPr lang="ko-KR" altLang="en-US" sz="700" smtClean="0"/>
              <a:t>시설경비업</a:t>
            </a:r>
            <a:r>
              <a:rPr lang="en-US" altLang="ko-KR" sz="700"/>
              <a:t>,</a:t>
            </a:r>
            <a:r>
              <a:rPr lang="ko-KR" altLang="en-US" sz="700"/>
              <a:t>건물</a:t>
            </a:r>
            <a:r>
              <a:rPr lang="en-US" altLang="ko-KR" sz="700"/>
              <a:t>(</a:t>
            </a:r>
            <a:r>
              <a:rPr lang="ko-KR" altLang="en-US" sz="700"/>
              <a:t>시설</a:t>
            </a:r>
            <a:r>
              <a:rPr lang="en-US" altLang="ko-KR" sz="700"/>
              <a:t>)</a:t>
            </a:r>
            <a:r>
              <a:rPr lang="ko-KR" altLang="en-US" sz="700"/>
              <a:t>관리 용역업</a:t>
            </a:r>
            <a:r>
              <a:rPr lang="en-US" altLang="ko-KR" sz="700" smtClean="0"/>
              <a:t>,  </a:t>
            </a:r>
            <a:r>
              <a:rPr lang="ko-KR" altLang="en-US" sz="700" smtClean="0"/>
              <a:t>건물위생관리업 </a:t>
            </a:r>
            <a:r>
              <a:rPr lang="en-US" altLang="ko-KR" sz="700" smtClean="0"/>
              <a:t>,   </a:t>
            </a:r>
            <a:r>
              <a:rPr lang="ko-KR" altLang="en-US" sz="700" smtClean="0"/>
              <a:t>소독업</a:t>
            </a:r>
            <a:r>
              <a:rPr lang="en-US" altLang="ko-KR" sz="700" smtClean="0"/>
              <a:t>,   </a:t>
            </a:r>
            <a:r>
              <a:rPr lang="ko-KR" altLang="en-US" sz="700" smtClean="0"/>
              <a:t>금속구조물</a:t>
            </a:r>
            <a:r>
              <a:rPr lang="en-US" altLang="ko-KR" sz="700"/>
              <a:t>, </a:t>
            </a:r>
            <a:r>
              <a:rPr lang="en-US" altLang="ko-KR" sz="700" smtClean="0"/>
              <a:t>  </a:t>
            </a:r>
            <a:r>
              <a:rPr lang="ko-KR" altLang="en-US" sz="700" smtClean="0"/>
              <a:t>창호공사업</a:t>
            </a:r>
            <a:r>
              <a:rPr lang="en-US" altLang="ko-KR" sz="700" smtClean="0"/>
              <a:t>,   </a:t>
            </a:r>
            <a:r>
              <a:rPr lang="ko-KR" altLang="en-US" sz="700" smtClean="0"/>
              <a:t>유해화학물질 </a:t>
            </a:r>
            <a:r>
              <a:rPr lang="ko-KR" altLang="en-US" sz="700"/>
              <a:t>판매업</a:t>
            </a:r>
            <a:r>
              <a:rPr lang="en-US" altLang="ko-KR" sz="700" smtClean="0"/>
              <a:t>,   </a:t>
            </a:r>
            <a:r>
              <a:rPr lang="ko-KR" altLang="en-US" sz="700" smtClean="0"/>
              <a:t>무역업</a:t>
            </a:r>
            <a:r>
              <a:rPr lang="en-US" altLang="ko-KR" sz="700" smtClean="0"/>
              <a:t>,  </a:t>
            </a:r>
            <a:r>
              <a:rPr lang="ko-KR" altLang="en-US" sz="700" smtClean="0"/>
              <a:t>전문감리업</a:t>
            </a:r>
            <a:r>
              <a:rPr lang="en-US" altLang="ko-KR" sz="700" smtClean="0"/>
              <a:t>,   </a:t>
            </a:r>
            <a:r>
              <a:rPr lang="ko-KR" altLang="en-US" sz="700" smtClean="0"/>
              <a:t>전문설계업</a:t>
            </a:r>
            <a:r>
              <a:rPr lang="en-US" altLang="ko-KR" sz="700" smtClean="0"/>
              <a:t>,  </a:t>
            </a:r>
          </a:p>
          <a:p>
            <a:r>
              <a:rPr lang="ko-KR" altLang="en-US" sz="700" smtClean="0"/>
              <a:t>철근콘크리트공사업</a:t>
            </a:r>
            <a:r>
              <a:rPr lang="en-US" altLang="ko-KR" sz="700" smtClean="0"/>
              <a:t>,  </a:t>
            </a:r>
            <a:r>
              <a:rPr lang="ko-KR" altLang="en-US" sz="700" smtClean="0"/>
              <a:t>품질경영시스템 </a:t>
            </a:r>
            <a:r>
              <a:rPr lang="ko-KR" altLang="en-US" sz="700"/>
              <a:t>인증</a:t>
            </a:r>
            <a:r>
              <a:rPr lang="en-US" altLang="ko-KR" sz="700"/>
              <a:t>(KS ISO 9001</a:t>
            </a:r>
            <a:r>
              <a:rPr lang="en-US" altLang="ko-KR" sz="700" smtClean="0"/>
              <a:t>),  </a:t>
            </a:r>
            <a:r>
              <a:rPr lang="ko-KR" altLang="en-US" sz="700" smtClean="0"/>
              <a:t>품질경영시스템 </a:t>
            </a:r>
            <a:r>
              <a:rPr lang="ko-KR" altLang="en-US" sz="700"/>
              <a:t>인증</a:t>
            </a:r>
            <a:r>
              <a:rPr lang="en-US" altLang="ko-KR" sz="700"/>
              <a:t>(KS ISO 14001</a:t>
            </a:r>
            <a:r>
              <a:rPr lang="en-US" altLang="ko-KR" sz="700" smtClean="0"/>
              <a:t>),  </a:t>
            </a:r>
            <a:r>
              <a:rPr lang="ko-KR" altLang="en-US" sz="700" smtClean="0"/>
              <a:t>전문소방시설공사업</a:t>
            </a:r>
            <a:r>
              <a:rPr lang="en-US" altLang="ko-KR" sz="700" smtClean="0"/>
              <a:t>,  </a:t>
            </a:r>
            <a:r>
              <a:rPr lang="ko-KR" altLang="en-US" sz="700" smtClean="0"/>
              <a:t>경비업</a:t>
            </a:r>
            <a:r>
              <a:rPr lang="en-US" altLang="ko-KR" sz="700" smtClean="0"/>
              <a:t>,  </a:t>
            </a:r>
            <a:r>
              <a:rPr lang="ko-KR" altLang="en-US" sz="700" smtClean="0"/>
              <a:t>전기공사업</a:t>
            </a:r>
            <a:r>
              <a:rPr lang="en-US" altLang="ko-KR" sz="700" smtClean="0"/>
              <a:t>,  </a:t>
            </a:r>
            <a:r>
              <a:rPr lang="ko-KR" altLang="en-US" sz="700" smtClean="0"/>
              <a:t>정보통신공사업</a:t>
            </a:r>
            <a:r>
              <a:rPr lang="en-US" altLang="ko-KR" sz="700" smtClean="0"/>
              <a:t>,  </a:t>
            </a:r>
            <a:r>
              <a:rPr lang="ko-KR" altLang="en-US" sz="700" smtClean="0"/>
              <a:t>시설물유지관리업</a:t>
            </a:r>
            <a:r>
              <a:rPr lang="en-US" altLang="ko-KR" sz="700" smtClean="0"/>
              <a:t>,  </a:t>
            </a:r>
            <a:r>
              <a:rPr lang="ko-KR" altLang="en-US" sz="700" smtClean="0"/>
              <a:t>안전진단전문기관</a:t>
            </a:r>
            <a:r>
              <a:rPr lang="en-US" altLang="ko-KR" sz="700"/>
              <a:t>(</a:t>
            </a:r>
            <a:r>
              <a:rPr lang="ko-KR" altLang="en-US" sz="700"/>
              <a:t>교량 및 터널</a:t>
            </a:r>
            <a:r>
              <a:rPr lang="en-US" altLang="ko-KR" sz="700"/>
              <a:t>)</a:t>
            </a:r>
            <a:endParaRPr lang="ko-KR" altLang="en-US" sz="700" dirty="0" err="1" smtClean="0"/>
          </a:p>
        </p:txBody>
      </p:sp>
      <p:cxnSp>
        <p:nvCxnSpPr>
          <p:cNvPr id="7" name="꺾인 연결선 6"/>
          <p:cNvCxnSpPr>
            <a:stCxn id="846" idx="1"/>
          </p:cNvCxnSpPr>
          <p:nvPr/>
        </p:nvCxnSpPr>
        <p:spPr>
          <a:xfrm rot="10800000" flipV="1">
            <a:off x="623567" y="5731664"/>
            <a:ext cx="302337" cy="322571"/>
          </a:xfrm>
          <a:prstGeom prst="bentConnector2">
            <a:avLst/>
          </a:prstGeom>
          <a:ln w="63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401900" y="5877272"/>
            <a:ext cx="822908" cy="10772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txBody>
          <a:bodyPr wrap="none" lIns="36000" tIns="0" rIns="36000" bIns="0" rtlCol="0">
            <a:spAutoFit/>
          </a:bodyPr>
          <a:lstStyle/>
          <a:p>
            <a:r>
              <a:rPr lang="ko-KR" altLang="en-US" sz="700"/>
              <a:t>철도차량 유지보수</a:t>
            </a:r>
            <a:endParaRPr lang="ko-KR" altLang="en-US" sz="700" dirty="0" err="1" smtClean="0"/>
          </a:p>
        </p:txBody>
      </p:sp>
      <p:cxnSp>
        <p:nvCxnSpPr>
          <p:cNvPr id="14" name="꺾인 연결선 13"/>
          <p:cNvCxnSpPr>
            <a:stCxn id="844" idx="1"/>
            <a:endCxn id="12" idx="1"/>
          </p:cNvCxnSpPr>
          <p:nvPr/>
        </p:nvCxnSpPr>
        <p:spPr>
          <a:xfrm rot="10800000" flipH="1" flipV="1">
            <a:off x="2341632" y="5731665"/>
            <a:ext cx="60267" cy="199468"/>
          </a:xfrm>
          <a:prstGeom prst="bentConnector3">
            <a:avLst>
              <a:gd name="adj1" fmla="val -379312"/>
            </a:avLst>
          </a:prstGeom>
          <a:ln w="63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2" name="TextBox 961"/>
          <p:cNvSpPr txBox="1"/>
          <p:nvPr/>
        </p:nvSpPr>
        <p:spPr>
          <a:xfrm>
            <a:off x="3776364" y="6050310"/>
            <a:ext cx="2688804" cy="10772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txBody>
          <a:bodyPr wrap="none" lIns="36000" tIns="0" rIns="36000" bIns="0" rtlCol="0">
            <a:spAutoFit/>
          </a:bodyPr>
          <a:lstStyle/>
          <a:p>
            <a:r>
              <a:rPr lang="ko-KR" altLang="en-US" sz="700"/>
              <a:t>건축물 및 부대시설 유지보수</a:t>
            </a:r>
            <a:r>
              <a:rPr lang="en-US" altLang="ko-KR" sz="700"/>
              <a:t>,  </a:t>
            </a:r>
            <a:r>
              <a:rPr lang="ko-KR" altLang="en-US" sz="700"/>
              <a:t>철도궤도공사</a:t>
            </a:r>
            <a:r>
              <a:rPr lang="en-US" altLang="ko-KR" sz="700"/>
              <a:t>, </a:t>
            </a:r>
            <a:r>
              <a:rPr lang="ko-KR" altLang="en-US" sz="700"/>
              <a:t>터널방재</a:t>
            </a:r>
            <a:r>
              <a:rPr lang="en-US" altLang="ko-KR" sz="700"/>
              <a:t>, </a:t>
            </a:r>
            <a:r>
              <a:rPr lang="ko-KR" altLang="en-US" sz="700"/>
              <a:t>안전진단</a:t>
            </a:r>
            <a:endParaRPr lang="ko-KR" altLang="en-US" sz="700" dirty="0" err="1" smtClean="0"/>
          </a:p>
        </p:txBody>
      </p:sp>
      <p:cxnSp>
        <p:nvCxnSpPr>
          <p:cNvPr id="41" name="꺾인 연결선 40"/>
          <p:cNvCxnSpPr>
            <a:stCxn id="845" idx="1"/>
            <a:endCxn id="962" idx="1"/>
          </p:cNvCxnSpPr>
          <p:nvPr/>
        </p:nvCxnSpPr>
        <p:spPr>
          <a:xfrm rot="10800000" flipH="1" flipV="1">
            <a:off x="3757362" y="5731665"/>
            <a:ext cx="19001" cy="372506"/>
          </a:xfrm>
          <a:prstGeom prst="bentConnector3">
            <a:avLst>
              <a:gd name="adj1" fmla="val -1203095"/>
            </a:avLst>
          </a:prstGeom>
          <a:ln w="63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3" name="TextBox 962"/>
          <p:cNvSpPr txBox="1"/>
          <p:nvPr/>
        </p:nvSpPr>
        <p:spPr>
          <a:xfrm>
            <a:off x="5246637" y="5937842"/>
            <a:ext cx="2098899" cy="10772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txBody>
          <a:bodyPr wrap="none" lIns="36000" tIns="0" rIns="36000" bIns="0" rtlCol="0">
            <a:spAutoFit/>
          </a:bodyPr>
          <a:lstStyle/>
          <a:p>
            <a:r>
              <a:rPr lang="ko-KR" altLang="en-US" sz="700"/>
              <a:t>철도 건널목</a:t>
            </a:r>
            <a:r>
              <a:rPr lang="en-US" altLang="ko-KR" sz="700"/>
              <a:t>, </a:t>
            </a:r>
            <a:r>
              <a:rPr lang="ko-KR" altLang="en-US" sz="700"/>
              <a:t>철도 차량 정비단</a:t>
            </a:r>
            <a:r>
              <a:rPr lang="en-US" altLang="ko-KR" sz="700"/>
              <a:t>, </a:t>
            </a:r>
            <a:r>
              <a:rPr lang="ko-KR" altLang="en-US" sz="700"/>
              <a:t>철도기관 사옥관리</a:t>
            </a:r>
            <a:endParaRPr lang="ko-KR" altLang="en-US" sz="700" dirty="0" err="1" smtClean="0"/>
          </a:p>
        </p:txBody>
      </p:sp>
      <p:cxnSp>
        <p:nvCxnSpPr>
          <p:cNvPr id="47" name="꺾인 연결선 46"/>
          <p:cNvCxnSpPr>
            <a:stCxn id="959" idx="1"/>
            <a:endCxn id="963" idx="1"/>
          </p:cNvCxnSpPr>
          <p:nvPr/>
        </p:nvCxnSpPr>
        <p:spPr>
          <a:xfrm rot="10800000" flipH="1" flipV="1">
            <a:off x="5173093" y="5731665"/>
            <a:ext cx="73544" cy="260038"/>
          </a:xfrm>
          <a:prstGeom prst="bentConnector3">
            <a:avLst>
              <a:gd name="adj1" fmla="val -310834"/>
            </a:avLst>
          </a:prstGeom>
          <a:ln w="63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7" name="TextBox 966"/>
          <p:cNvSpPr txBox="1"/>
          <p:nvPr/>
        </p:nvSpPr>
        <p:spPr>
          <a:xfrm>
            <a:off x="6629588" y="5821448"/>
            <a:ext cx="1925775" cy="10772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txBody>
          <a:bodyPr wrap="none" lIns="36000" tIns="0" rIns="36000" bIns="0" rtlCol="0">
            <a:spAutoFit/>
          </a:bodyPr>
          <a:lstStyle/>
          <a:p>
            <a:r>
              <a:rPr lang="ko-KR" altLang="en-US" sz="700"/>
              <a:t>전철전력</a:t>
            </a:r>
            <a:r>
              <a:rPr lang="en-US" altLang="ko-KR" sz="700"/>
              <a:t>, </a:t>
            </a:r>
            <a:r>
              <a:rPr lang="ko-KR" altLang="en-US" sz="700"/>
              <a:t>정보통신</a:t>
            </a:r>
            <a:r>
              <a:rPr lang="en-US" altLang="ko-KR" sz="700"/>
              <a:t>,  </a:t>
            </a:r>
            <a:r>
              <a:rPr lang="ko-KR" altLang="en-US" sz="700"/>
              <a:t>전기</a:t>
            </a:r>
            <a:r>
              <a:rPr lang="en-US" altLang="ko-KR" sz="700"/>
              <a:t>·</a:t>
            </a:r>
            <a:r>
              <a:rPr lang="ko-KR" altLang="en-US" sz="700"/>
              <a:t>통신공사</a:t>
            </a:r>
            <a:r>
              <a:rPr lang="en-US" altLang="ko-KR" sz="700"/>
              <a:t>,  </a:t>
            </a:r>
            <a:r>
              <a:rPr lang="ko-KR" altLang="en-US" sz="700"/>
              <a:t>신호제어</a:t>
            </a:r>
            <a:endParaRPr lang="ko-KR" altLang="en-US" sz="700" dirty="0" err="1" smtClean="0"/>
          </a:p>
        </p:txBody>
      </p:sp>
      <p:cxnSp>
        <p:nvCxnSpPr>
          <p:cNvPr id="50" name="꺾인 연결선 49"/>
          <p:cNvCxnSpPr>
            <a:stCxn id="960" idx="1"/>
            <a:endCxn id="967" idx="1"/>
          </p:cNvCxnSpPr>
          <p:nvPr/>
        </p:nvCxnSpPr>
        <p:spPr>
          <a:xfrm rot="10800000" flipH="1" flipV="1">
            <a:off x="6588822" y="5731665"/>
            <a:ext cx="40765" cy="143644"/>
          </a:xfrm>
          <a:prstGeom prst="bentConnector3">
            <a:avLst>
              <a:gd name="adj1" fmla="val -560775"/>
            </a:avLst>
          </a:prstGeom>
          <a:ln w="63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8" name="TextBox 967"/>
          <p:cNvSpPr txBox="1"/>
          <p:nvPr/>
        </p:nvSpPr>
        <p:spPr>
          <a:xfrm>
            <a:off x="8583220" y="5957880"/>
            <a:ext cx="752376" cy="107722"/>
          </a:xfrm>
          <a:prstGeom prst="rect">
            <a:avLst/>
          </a:prstGeom>
          <a:noFill/>
          <a:ln>
            <a:solidFill>
              <a:srgbClr val="0000CC"/>
            </a:solidFill>
          </a:ln>
        </p:spPr>
        <p:txBody>
          <a:bodyPr wrap="none" lIns="36000" tIns="0" rIns="36000" bIns="0" rtlCol="0">
            <a:spAutoFit/>
          </a:bodyPr>
          <a:lstStyle/>
          <a:p>
            <a:r>
              <a:rPr lang="ko-KR" altLang="en-US" sz="700" smtClean="0"/>
              <a:t>차량환경</a:t>
            </a:r>
            <a:r>
              <a:rPr lang="en-US" altLang="ko-KR" sz="700" smtClean="0"/>
              <a:t>, </a:t>
            </a:r>
            <a:r>
              <a:rPr lang="ko-KR" altLang="en-US" sz="700" smtClean="0"/>
              <a:t>역환경</a:t>
            </a:r>
            <a:endParaRPr lang="ko-KR" altLang="en-US" sz="700" dirty="0" err="1" smtClean="0"/>
          </a:p>
        </p:txBody>
      </p:sp>
      <p:cxnSp>
        <p:nvCxnSpPr>
          <p:cNvPr id="69" name="꺾인 연결선 68"/>
          <p:cNvCxnSpPr>
            <a:stCxn id="961" idx="3"/>
            <a:endCxn id="968" idx="0"/>
          </p:cNvCxnSpPr>
          <p:nvPr/>
        </p:nvCxnSpPr>
        <p:spPr>
          <a:xfrm>
            <a:off x="8769424" y="5731665"/>
            <a:ext cx="189984" cy="226215"/>
          </a:xfrm>
          <a:prstGeom prst="bentConnector2">
            <a:avLst/>
          </a:prstGeom>
          <a:ln w="6350">
            <a:solidFill>
              <a:srgbClr val="0000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5" name="모서리가 둥근 직사각형 984"/>
          <p:cNvSpPr/>
          <p:nvPr/>
        </p:nvSpPr>
        <p:spPr>
          <a:xfrm>
            <a:off x="1529423" y="4103312"/>
            <a:ext cx="508583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비서행정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86" name="모서리가 둥근 직사각형 985"/>
          <p:cNvSpPr/>
          <p:nvPr/>
        </p:nvSpPr>
        <p:spPr>
          <a:xfrm>
            <a:off x="1529423" y="4263911"/>
            <a:ext cx="508583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국정감사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87" name="모서리가 둥근 직사각형 986"/>
          <p:cNvSpPr/>
          <p:nvPr/>
        </p:nvSpPr>
        <p:spPr>
          <a:xfrm>
            <a:off x="2116836" y="4103312"/>
            <a:ext cx="508583" cy="139597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700" kern="0" smtClean="0">
                <a:solidFill>
                  <a:srgbClr val="000000"/>
                </a:solidFill>
                <a:latin typeface="+mn-ea"/>
              </a:rPr>
              <a:t>규정관리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988" name="모서리가 둥근 직사각형 987"/>
          <p:cNvSpPr/>
          <p:nvPr/>
        </p:nvSpPr>
        <p:spPr>
          <a:xfrm>
            <a:off x="2116836" y="4263911"/>
            <a:ext cx="508583" cy="140833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effectLst/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700" kern="0" smtClean="0">
                <a:solidFill>
                  <a:srgbClr val="000000"/>
                </a:solidFill>
                <a:latin typeface="+mn-ea"/>
              </a:rPr>
              <a:t>VOC/CS</a:t>
            </a:r>
            <a:endParaRPr kumimoji="0" lang="en-US" altLang="ko-KR" sz="700" kern="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6" name="꺾인 연결선 5"/>
          <p:cNvCxnSpPr>
            <a:stCxn id="770" idx="2"/>
            <a:endCxn id="747" idx="1"/>
          </p:cNvCxnSpPr>
          <p:nvPr/>
        </p:nvCxnSpPr>
        <p:spPr>
          <a:xfrm rot="16200000" flipH="1">
            <a:off x="6844484" y="3914748"/>
            <a:ext cx="156894" cy="858224"/>
          </a:xfrm>
          <a:prstGeom prst="bentConnector2">
            <a:avLst/>
          </a:prstGeom>
          <a:ln w="6350">
            <a:solidFill>
              <a:schemeClr val="bg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0652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08CD2"/>
      </a:dk2>
      <a:lt2>
        <a:srgbClr val="4678B4"/>
      </a:lt2>
      <a:accent1>
        <a:srgbClr val="7DAFFA"/>
      </a:accent1>
      <a:accent2>
        <a:srgbClr val="BEDCFF"/>
      </a:accent2>
      <a:accent3>
        <a:srgbClr val="E6F0FF"/>
      </a:accent3>
      <a:accent4>
        <a:srgbClr val="85B692"/>
      </a:accent4>
      <a:accent5>
        <a:srgbClr val="6B94E2"/>
      </a:accent5>
      <a:accent6>
        <a:srgbClr val="819BAB"/>
      </a:accent6>
      <a:hlink>
        <a:srgbClr val="7C0808"/>
      </a:hlink>
      <a:folHlink>
        <a:srgbClr val="0D356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08CD2"/>
      </a:dk2>
      <a:lt2>
        <a:srgbClr val="4678B4"/>
      </a:lt2>
      <a:accent1>
        <a:srgbClr val="7DAFFA"/>
      </a:accent1>
      <a:accent2>
        <a:srgbClr val="BEDCFF"/>
      </a:accent2>
      <a:accent3>
        <a:srgbClr val="E6F0FF"/>
      </a:accent3>
      <a:accent4>
        <a:srgbClr val="85B692"/>
      </a:accent4>
      <a:accent5>
        <a:srgbClr val="6B94E2"/>
      </a:accent5>
      <a:accent6>
        <a:srgbClr val="819BAB"/>
      </a:accent6>
      <a:hlink>
        <a:srgbClr val="7C0808"/>
      </a:hlink>
      <a:folHlink>
        <a:srgbClr val="0D356F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84709</TotalTime>
  <Words>20518</Words>
  <Application>Microsoft Office PowerPoint</Application>
  <PresentationFormat>A4 용지(210x297mm)</PresentationFormat>
  <Paragraphs>4850</Paragraphs>
  <Slides>82</Slides>
  <Notes>28</Notes>
  <HiddenSlides>0</HiddenSlides>
  <MMClips>0</MMClips>
  <ScaleCrop>false</ScaleCrop>
  <HeadingPairs>
    <vt:vector size="8" baseType="variant">
      <vt:variant>
        <vt:lpstr>사용한 글꼴</vt:lpstr>
      </vt:variant>
      <vt:variant>
        <vt:i4>17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82</vt:i4>
      </vt:variant>
    </vt:vector>
  </HeadingPairs>
  <TitlesOfParts>
    <vt:vector size="101" baseType="lpstr">
      <vt:lpstr>DejaVu Sans</vt:lpstr>
      <vt:lpstr>Gill Sans</vt:lpstr>
      <vt:lpstr>Monotype Sorts</vt:lpstr>
      <vt:lpstr>가는각진제목체</vt:lpstr>
      <vt:lpstr>굴림</vt:lpstr>
      <vt:lpstr>나눔고딕</vt:lpstr>
      <vt:lpstr>나눔고딕 ExtraBold</vt:lpstr>
      <vt:lpstr>돋움</vt:lpstr>
      <vt:lpstr>맑은 고딕</vt:lpstr>
      <vt:lpstr>바탕</vt:lpstr>
      <vt:lpstr>산돌고딕 M</vt:lpstr>
      <vt:lpstr>Arial</vt:lpstr>
      <vt:lpstr>Franklin Gothic Medium</vt:lpstr>
      <vt:lpstr>Segoe UI</vt:lpstr>
      <vt:lpstr>Symbol</vt:lpstr>
      <vt:lpstr>Times New Roman</vt:lpstr>
      <vt:lpstr>Wingdings</vt:lpstr>
      <vt:lpstr>Office Theme</vt:lpstr>
      <vt:lpstr>클립</vt:lpstr>
      <vt:lpstr>PowerPoint 프레젠테이션</vt:lpstr>
      <vt:lpstr>PowerPoint 프레젠테이션</vt:lpstr>
      <vt:lpstr>PowerPoint 프레젠테이션</vt:lpstr>
      <vt:lpstr>Ⅰ-1 사업의 소개</vt:lpstr>
      <vt:lpstr>Ⅰ-2 사업추진 배경</vt:lpstr>
      <vt:lpstr>Ⅰ-3 사업추진 절차</vt:lpstr>
      <vt:lpstr>Ⅰ-4 사업추진 일정</vt:lpstr>
      <vt:lpstr>PowerPoint 프레젠테이션</vt:lpstr>
      <vt:lpstr>1.1 시스템 운영환경 분석 </vt:lpstr>
      <vt:lpstr>1.2 시스템 업무기능 분석 </vt:lpstr>
      <vt:lpstr>1.3 시스템 업무기능 분석 1.3.1 현행 업무 구성도</vt:lpstr>
      <vt:lpstr>1.3 시스템 업무기능 분석 1.3.2 업무별 기능 분석(1/4)</vt:lpstr>
      <vt:lpstr>1.3 시스템 업무기능 분석 1.3.2 업무별 기능 분석(2/4)</vt:lpstr>
      <vt:lpstr>1.3 시스템 업무기능 분석 1.3.2 업무별 기능 분석(3/4)</vt:lpstr>
      <vt:lpstr>1.3 시스템 업무기능 분석 1.3.2 업무별 기능 분석(4/4)</vt:lpstr>
      <vt:lpstr>1.3 시스템 업무기능 분석 1.3.3 업무별 문제점 분석(1/6)</vt:lpstr>
      <vt:lpstr>1.3 시스템 업무기능 분석 1.3.3 업무별 문제점 분석(2/6)</vt:lpstr>
      <vt:lpstr>1.3 시스템 업무기능 분석 1.3.3 업무별 문제점 분석(3/6)</vt:lpstr>
      <vt:lpstr>1.3 시스템 업무기능 분석 1.3.3 업무별 문제점 분석(4/6)</vt:lpstr>
      <vt:lpstr>1.3 시스템 업무기능 분석 1.3.3 업무별 문제점 분석(5/6)</vt:lpstr>
      <vt:lpstr>1.3 시스템 업무기능 분석 1.3.3 업무별 문제점 분석(6/6)</vt:lpstr>
      <vt:lpstr>1.4 DATABASE/DATA 분석 1.4.1 DATABASE/DATA 분석 개요</vt:lpstr>
      <vt:lpstr>1.4 DATABASE/DATA 분석 1.4.2 DATABASE/DATA 분석 내역</vt:lpstr>
      <vt:lpstr>1.5 업무 운용성 분석 1.5.1 업무 운용성 분석 개요</vt:lpstr>
      <vt:lpstr>1.6 이해관계자 인터뷰 1.6.1 이해관계자 인터뷰 결과분석</vt:lpstr>
      <vt:lpstr>1.6 이해관계자 인터뷰 1.6.2 이해관계자 인터뷰 결과 통계(1/2)</vt:lpstr>
      <vt:lpstr>1.6 이해관계자 인터뷰 1.6.2 이해관계자 인터뷰 결과 통계(2/2)</vt:lpstr>
      <vt:lpstr>1.7 최신 정보기술 동향 분석 1.7.1 최신 정보기술 동향 분석 개요</vt:lpstr>
      <vt:lpstr>1.7 최신 정보기술 동향 분석 1.7.2 기술적용 가능성 분석  </vt:lpstr>
      <vt:lpstr>1.8 환경분석 결과 종합 1.8.1 시스템 환경 분석 결과</vt:lpstr>
      <vt:lpstr>1.8 환경분석 결과 종합 1.8.2 시스템 업무기능 분석 결과  </vt:lpstr>
      <vt:lpstr>1.8 환경분석 결과 종합 1.8.3 최신 기술동향 분석 결과  </vt:lpstr>
      <vt:lpstr>2.1 분석결과 종합 </vt:lpstr>
      <vt:lpstr>2.2 추진방향 도출 </vt:lpstr>
      <vt:lpstr>2.3 추진범위 정의 </vt:lpstr>
      <vt:lpstr>PowerPoint 프레젠테이션</vt:lpstr>
      <vt:lpstr>1.1 기준정보 관리체계 개선  1.1.1 통합 가능한 기준정보 도출</vt:lpstr>
      <vt:lpstr>1.2 예산관리 개선 및 업무 효율화 1.2.1 예산관리 개선 방안</vt:lpstr>
      <vt:lpstr>1.3 회계관리 개선 및 업무 효율화 1.3.1 회계관리 개선 방안</vt:lpstr>
      <vt:lpstr>1.4 구매관리 업무 효율화 1.4.1 과제 정의서</vt:lpstr>
      <vt:lpstr>1.5 자산관리 개선 및 업무 효율화 1.5.1 과제 정의서</vt:lpstr>
      <vt:lpstr>1.6 사업관리 업무 효율화 1.6.1 과제 정의서</vt:lpstr>
      <vt:lpstr>1.7 응용 아키텍처(AA) 표준 1.7.1 설계 원칙</vt:lpstr>
      <vt:lpstr>1.7 응용 아키텍처(AA) 표준 1.7.2 표준화 구성</vt:lpstr>
      <vt:lpstr>1.7 응용 아키텍처(AA) 표준 1.7.3 아키덱쳐 구성도</vt:lpstr>
      <vt:lpstr>1.8 데이터 아키텍처(DA) 표준 1.8.1 설계 원칙</vt:lpstr>
      <vt:lpstr>1.8 데이터 아키텍처(DA) 표준 1.8.2 데이터 표준관리  </vt:lpstr>
      <vt:lpstr>1.9 데이터관리체계 표준화 방안 수립 1.9.1 과제 정의서</vt:lpstr>
      <vt:lpstr>2.10 데이터관리체계 표준화 방안 수립  2.10.2 데이터 관리체계 AS-IS vs. TO-BE</vt:lpstr>
      <vt:lpstr>PowerPoint 프레젠테이션</vt:lpstr>
      <vt:lpstr>3.1 예산관리 업무분류 및 기능 정의 3.1.1 예산관리 업무분류 구조도</vt:lpstr>
      <vt:lpstr>3.1 예산관리 업무분류 및 기능 정의 3.1.2 예산관리 업무기능 정의 (1/2)</vt:lpstr>
      <vt:lpstr>3.1 예산관리 업무분류 및 기능 정의 3.1.2 예산관리 업무기능 정의 (2/2)</vt:lpstr>
      <vt:lpstr>3.2 회계관리 업무분류 및 기능 정의 3.2.1 회계관리 업무분류 구조도</vt:lpstr>
      <vt:lpstr>3.2 회계관리 업무분류 및 기능 정의 3.2.2 회계관리 업무기능 정의 (1/2)</vt:lpstr>
      <vt:lpstr>3.2 회계관리 업무분류 및 기능 정의 3.2.2 회계관리 업무기능 정의 (2/2)</vt:lpstr>
      <vt:lpstr>3.3 구매관리 업무분류 및 기능 정의 3.3.1 구매관리 업무분류 구조도</vt:lpstr>
      <vt:lpstr>3.3 구매관리 업무분류 및 기능 정의 3.3.2 구매관리 업무기능 정의 (1/2)</vt:lpstr>
      <vt:lpstr>3.3 구매관리 업무분류 및 기능 정의 3.3.2 구매관리 업무기능 정의 (2/2)</vt:lpstr>
      <vt:lpstr>3.4 자산관리 업무분류 및 기능 정의 3.4.1 자산관리 업무분류 구조도</vt:lpstr>
      <vt:lpstr>3.4 자산관리 업무분류 및 기능 정의 3.4.2 자산관리 업무기능 정의 (1/2)</vt:lpstr>
      <vt:lpstr>3.4 자산관리 업무분류 및 기능 정의 3.4.2 자산관리 업무기능 정의 (2/2)</vt:lpstr>
      <vt:lpstr>3.5 사업관리 업무분류 및 기능 정의 3.5.1 사업관리 업무분류 구조도</vt:lpstr>
      <vt:lpstr>3.5 사업관리 업무분류 및 기능 정의 3.5.2 사업관리 업무기능 정의 (1/2)</vt:lpstr>
      <vt:lpstr>3.5 사업관리 업무분류 및 기능 정의 3.5.2 사업관리 업무기능 정의 (2/2)</vt:lpstr>
      <vt:lpstr>3.6 DATABASE 표준화 방안 3.6.1 표준화 적용 개선 방안 </vt:lpstr>
      <vt:lpstr>3.6 DATABASE 표준화 방안 3.6.2 데이터 표준화 대상  </vt:lpstr>
      <vt:lpstr>3.7 데이터 마이그레이션 방안   </vt:lpstr>
      <vt:lpstr>PowerPoint 프레젠테이션</vt:lpstr>
      <vt:lpstr>1. 추진 계획 수립  1.1 우선 이행과제 정의</vt:lpstr>
      <vt:lpstr>1. 추진 계획 수립  1.2 이행과제의 추진방안(1/5)</vt:lpstr>
      <vt:lpstr>1. 추진 계획 수립  1.2 이행과제의 추진방안(2/5)</vt:lpstr>
      <vt:lpstr>1. 추진 계획 수립  1.2 이행과제의 추진방안(3/5)</vt:lpstr>
      <vt:lpstr>1. 추진 계획 수립  1.2 이행과제의 추진방안(4/5)</vt:lpstr>
      <vt:lpstr>1. 추진 계획 수립  1.2 이행과제의 추진방안(5/5)</vt:lpstr>
      <vt:lpstr>1. 추진 계획 수립  1.3 추진 로드맵 정의(1안)</vt:lpstr>
      <vt:lpstr>1. 추진 계획 수립  1.3 추진 로드맵 정의(1안) - 단계별 추진 계획표</vt:lpstr>
      <vt:lpstr>1. 추진 계획 수립  1.3 추진 로드맵 정의(2안)</vt:lpstr>
      <vt:lpstr>1. 추진 계획 수립  1.3 추진 로드맵 정의(2안) - 단계별 추진 계획표</vt:lpstr>
      <vt:lpstr>PowerPoint 프레젠테이션</vt:lpstr>
      <vt:lpstr>3. 목표시스템 구성도 3.1 ERP 업무 구성도</vt:lpstr>
      <vt:lpstr>3. 목표시스템 구성도 3.2 ERP 서비스 구성도</vt:lpstr>
    </vt:vector>
  </TitlesOfParts>
  <Company>VTW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VTW</dc:creator>
  <dc:description/>
  <cp:lastModifiedBy>R2SOFT</cp:lastModifiedBy>
  <cp:revision>1199</cp:revision>
  <cp:lastPrinted>2013-07-11T09:37:39Z</cp:lastPrinted>
  <dcterms:created xsi:type="dcterms:W3CDTF">2002-03-21T10:45:59Z</dcterms:created>
  <dcterms:modified xsi:type="dcterms:W3CDTF">2024-12-09T14:05:44Z</dcterms:modified>
  <dc:language>ko-KR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</vt:i4>
  </property>
  <property fmtid="{D5CDD505-2E9C-101B-9397-08002B2CF9AE}" pid="3" name="PresentationFormat">
    <vt:lpwstr>A4 용지(210x297mm)</vt:lpwstr>
  </property>
  <property fmtid="{D5CDD505-2E9C-101B-9397-08002B2CF9AE}" pid="4" name="Slides">
    <vt:i4>4</vt:i4>
  </property>
</Properties>
</file>