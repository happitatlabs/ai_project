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12"/>
  </p:notesMasterIdLst>
  <p:handoutMasterIdLst>
    <p:handoutMasterId r:id="rId13"/>
  </p:handoutMasterIdLst>
  <p:sldIdLst>
    <p:sldId id="283" r:id="rId5"/>
    <p:sldId id="344" r:id="rId6"/>
    <p:sldId id="287" r:id="rId7"/>
    <p:sldId id="348" r:id="rId8"/>
    <p:sldId id="352" r:id="rId9"/>
    <p:sldId id="350" r:id="rId10"/>
    <p:sldId id="353" r:id="rId1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orient="horz" pos="4201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orient="horz" pos="3339">
          <p15:clr>
            <a:srgbClr val="A4A3A4"/>
          </p15:clr>
        </p15:guide>
        <p15:guide id="7" orient="horz" pos="3271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13" pos="217" userDrawn="1">
          <p15:clr>
            <a:srgbClr val="A4A3A4"/>
          </p15:clr>
        </p15:guide>
        <p15:guide id="16" pos="6000">
          <p15:clr>
            <a:srgbClr val="A4A3A4"/>
          </p15:clr>
        </p15:guide>
        <p15:guide id="17" orient="horz" pos="1230" userDrawn="1">
          <p15:clr>
            <a:srgbClr val="A4A3A4"/>
          </p15:clr>
        </p15:guide>
        <p15:guide id="18" orient="horz" pos="1979">
          <p15:clr>
            <a:srgbClr val="A4A3A4"/>
          </p15:clr>
        </p15:guide>
        <p15:guide id="19" orient="horz" pos="1207">
          <p15:clr>
            <a:srgbClr val="A4A3A4"/>
          </p15:clr>
        </p15:guide>
        <p15:guide id="20" orient="horz" pos="4065" userDrawn="1">
          <p15:clr>
            <a:srgbClr val="A4A3A4"/>
          </p15:clr>
        </p15:guide>
        <p15:guide id="21" orient="horz" pos="346" userDrawn="1">
          <p15:clr>
            <a:srgbClr val="A4A3A4"/>
          </p15:clr>
        </p15:guide>
        <p15:guide id="22" orient="horz" pos="7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355A87"/>
    <a:srgbClr val="508CD2"/>
    <a:srgbClr val="233C5A"/>
    <a:srgbClr val="219BFF"/>
    <a:srgbClr val="C1E3FF"/>
    <a:srgbClr val="027BF4"/>
    <a:srgbClr val="01458C"/>
    <a:srgbClr val="B1CFFC"/>
    <a:srgbClr val="BE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99" autoAdjust="0"/>
  </p:normalViewPr>
  <p:slideViewPr>
    <p:cSldViewPr>
      <p:cViewPr varScale="1">
        <p:scale>
          <a:sx n="111" d="100"/>
          <a:sy n="111" d="100"/>
        </p:scale>
        <p:origin x="198" y="108"/>
      </p:cViewPr>
      <p:guideLst>
        <p:guide orient="horz" pos="3022"/>
        <p:guide orient="horz" pos="4201"/>
        <p:guide orient="horz" pos="527"/>
        <p:guide orient="horz" pos="3974"/>
        <p:guide orient="horz" pos="981"/>
        <p:guide orient="horz" pos="3339"/>
        <p:guide orient="horz" pos="3271"/>
        <p:guide pos="3120"/>
        <p:guide pos="217"/>
        <p:guide pos="6000"/>
        <p:guide orient="horz" pos="1230"/>
        <p:guide orient="horz" pos="1979"/>
        <p:guide orient="horz" pos="1207"/>
        <p:guide orient="horz" pos="4065"/>
        <p:guide orient="horz" pos="346"/>
        <p:guide orient="horz" pos="7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5006"/>
    </p:cViewPr>
  </p:sorterViewPr>
  <p:notesViewPr>
    <p:cSldViewPr showGuides="1">
      <p:cViewPr varScale="1">
        <p:scale>
          <a:sx n="82" d="100"/>
          <a:sy n="82" d="100"/>
        </p:scale>
        <p:origin x="3972" y="114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2024-11-05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10D8B3E8-78D5-42AF-92B2-138AC5B36093}" type="datetimeFigureOut">
              <a:rPr lang="ko-KR" altLang="en-US" smtClean="0"/>
              <a:pPr/>
              <a:t>2024-11-05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90" tIns="45846" rIns="91690" bIns="4584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131" y="4715154"/>
            <a:ext cx="5439415" cy="4466987"/>
          </a:xfrm>
          <a:prstGeom prst="rect">
            <a:avLst/>
          </a:prstGeom>
        </p:spPr>
        <p:txBody>
          <a:bodyPr vert="horz" lIns="91690" tIns="45846" rIns="91690" bIns="45846" rtlCol="0"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29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876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4525963"/>
          </a:xfrm>
        </p:spPr>
        <p:txBody>
          <a:bodyPr>
            <a:normAutofit/>
          </a:bodyPr>
          <a:lstStyle>
            <a:lvl1pPr marL="400050" indent="-400050">
              <a:lnSpc>
                <a:spcPct val="120000"/>
              </a:lnSpc>
              <a:buFont typeface="+mj-lt"/>
              <a:buAutoNum type="romanUcPeriod"/>
              <a:defRPr sz="1800" b="1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defRPr sz="1800" b="1">
                <a:solidFill>
                  <a:srgbClr val="00B0F0"/>
                </a:solidFill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6824603" y="1268760"/>
            <a:ext cx="2187634" cy="1958589"/>
            <a:chOff x="6824603" y="908720"/>
            <a:chExt cx="2187634" cy="1958589"/>
          </a:xfrm>
          <a:solidFill>
            <a:srgbClr val="00437A"/>
          </a:solidFill>
        </p:grpSpPr>
        <p:grpSp>
          <p:nvGrpSpPr>
            <p:cNvPr id="18" name="그룹 17"/>
            <p:cNvGrpSpPr/>
            <p:nvPr/>
          </p:nvGrpSpPr>
          <p:grpSpPr>
            <a:xfrm>
              <a:off x="6825208" y="908720"/>
              <a:ext cx="2187029" cy="230399"/>
              <a:chOff x="7185248" y="1123952"/>
              <a:chExt cx="2187029" cy="230399"/>
            </a:xfrm>
            <a:grpFill/>
          </p:grpSpPr>
          <p:sp>
            <p:nvSpPr>
              <p:cNvPr id="23" name="직사각형 22"/>
              <p:cNvSpPr/>
              <p:nvPr/>
            </p:nvSpPr>
            <p:spPr bwMode="auto">
              <a:xfrm rot="5400000">
                <a:off x="8215185" y="94758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 rot="5400000">
                <a:off x="7139787" y="1178937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 rot="5400000">
                <a:off x="9196865" y="1178938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6824603" y="2636912"/>
              <a:ext cx="2186617" cy="230397"/>
              <a:chOff x="7184643" y="2780929"/>
              <a:chExt cx="2186617" cy="230397"/>
            </a:xfrm>
            <a:grpFill/>
          </p:grpSpPr>
          <p:sp>
            <p:nvSpPr>
              <p:cNvPr id="20" name="직사각형 19"/>
              <p:cNvSpPr/>
              <p:nvPr/>
            </p:nvSpPr>
            <p:spPr bwMode="auto">
              <a:xfrm rot="16200000">
                <a:off x="8214443" y="1855251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 bwMode="auto">
              <a:xfrm rot="16200000">
                <a:off x="9195848" y="2826391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 rot="16200000">
                <a:off x="7139182" y="2826390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</p:grpSp>
      <p:sp>
        <p:nvSpPr>
          <p:cNvPr id="1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0843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>
              <a:buNone/>
              <a:defRPr lang="ko-KR" alt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>
                <a:latin typeface="맑은 고딕" pitchFamily="50" charset="-127"/>
                <a:ea typeface="맑은 고딕" pitchFamily="50" charset="-127"/>
              </a:defRPr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>
                <a:latin typeface="맑은 고딕" pitchFamily="50" charset="-127"/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7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Ⅰ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89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DFF48F6-0499-4B03-AA7D-07684E6940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53076;&#47112;&#51068;&#53580;&#53356;ISP&#48372;&#44256;&#49436;_2.&#48169;&#54693;&#49457;%20&#49688;&#47549;.pptx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/>
          <p:cNvSpPr>
            <a:spLocks noGrp="1"/>
          </p:cNvSpPr>
          <p:nvPr>
            <p:ph idx="1"/>
          </p:nvPr>
        </p:nvSpPr>
        <p:spPr>
          <a:xfrm>
            <a:off x="776536" y="1268760"/>
            <a:ext cx="5760640" cy="4751387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방향성 수립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mtClean="0"/>
              <a:t>목표모델 </a:t>
            </a:r>
            <a:r>
              <a:rPr lang="ko-KR" altLang="en-US" dirty="0" smtClean="0"/>
              <a:t>설계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이행계획 수립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6969224" y="2132856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3600" b="1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  <a:endParaRPr lang="en-US" altLang="ko-KR" sz="3600" b="1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15"/>
          <p:cNvSpPr/>
          <p:nvPr/>
        </p:nvSpPr>
        <p:spPr>
          <a:xfrm>
            <a:off x="4340880" y="116640"/>
            <a:ext cx="5436360" cy="3817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lang="ko-KR" alt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코레일테크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경영정보시스템 </a:t>
            </a:r>
            <a:r>
              <a:rPr 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ISP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컨설팅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62020"/>
            <a:ext cx="1838582" cy="39058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4488" y="6453188"/>
            <a:ext cx="3888432" cy="40481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77000" y="2143889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Ⅰ. </a:t>
            </a:r>
            <a:r>
              <a:rPr lang="ko-KR" altLang="en-US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사업의 개요</a:t>
            </a:r>
            <a:endParaRPr lang="en-US" altLang="ko-KR" sz="2400" b="1" spc="-300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텍스트 개체 틀 4"/>
          <p:cNvSpPr>
            <a:spLocks noGrp="1"/>
          </p:cNvSpPr>
          <p:nvPr>
            <p:ph idx="1"/>
          </p:nvPr>
        </p:nvSpPr>
        <p:spPr>
          <a:xfrm>
            <a:off x="776536" y="1268760"/>
            <a:ext cx="5760640" cy="4751387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1. </a:t>
            </a:r>
            <a:r>
              <a:rPr lang="ko-KR" altLang="en-US" dirty="0" smtClean="0">
                <a:solidFill>
                  <a:srgbClr val="00437A"/>
                </a:solidFill>
              </a:rPr>
              <a:t>사업의 </a:t>
            </a:r>
            <a:r>
              <a:rPr lang="ko-KR" altLang="en-US" dirty="0">
                <a:solidFill>
                  <a:srgbClr val="00437A"/>
                </a:solidFill>
              </a:rPr>
              <a:t>소개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2.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배경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3.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범위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4.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절차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5. </a:t>
            </a:r>
            <a:r>
              <a:rPr lang="ko-KR" altLang="en-US" smtClean="0">
                <a:solidFill>
                  <a:srgbClr val="00437A"/>
                </a:solidFill>
              </a:rPr>
              <a:t>사업추진 일정</a:t>
            </a:r>
            <a:r>
              <a:rPr lang="en-US" altLang="ko-KR" smtClean="0">
                <a:solidFill>
                  <a:srgbClr val="00437A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방향성 수립</a:t>
            </a:r>
            <a:endParaRPr lang="en-US" altLang="ko-KR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목표모델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이행계획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15"/>
          <p:cNvSpPr/>
          <p:nvPr/>
        </p:nvSpPr>
        <p:spPr>
          <a:xfrm>
            <a:off x="4340880" y="116640"/>
            <a:ext cx="5436360" cy="3817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lang="ko-KR" alt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코레일테크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경영정보시스템 </a:t>
            </a:r>
            <a:r>
              <a:rPr 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ISP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컨설팅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60" y="162020"/>
            <a:ext cx="1838582" cy="39058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44488" y="6453188"/>
            <a:ext cx="3888432" cy="40481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6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사업의 소개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사업의 소개</a:t>
            </a:r>
            <a:endParaRPr lang="en-US" altLang="ko-KR" dirty="0" smtClean="0"/>
          </a:p>
        </p:txBody>
      </p:sp>
      <p:sp>
        <p:nvSpPr>
          <p:cNvPr id="31" name="Rectangle 50"/>
          <p:cNvSpPr>
            <a:spLocks noChangeArrowheads="1"/>
          </p:cNvSpPr>
          <p:nvPr/>
        </p:nvSpPr>
        <p:spPr bwMode="auto">
          <a:xfrm>
            <a:off x="344489" y="980728"/>
            <a:ext cx="9073008" cy="5233785"/>
          </a:xfrm>
          <a:prstGeom prst="rect">
            <a:avLst/>
          </a:prstGeom>
          <a:noFill/>
          <a:ln w="76200">
            <a:solidFill>
              <a:srgbClr val="4678B4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lIns="54000" tIns="0" rIns="54000" bIns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Char char="•"/>
              <a:tabLst/>
              <a:defRPr/>
            </a:pP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갈매기형 수장 55"/>
          <p:cNvSpPr/>
          <p:nvPr/>
        </p:nvSpPr>
        <p:spPr bwMode="auto">
          <a:xfrm>
            <a:off x="456761" y="1269596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사업명</a:t>
            </a:r>
          </a:p>
        </p:txBody>
      </p:sp>
      <p:sp>
        <p:nvSpPr>
          <p:cNvPr id="57" name="갈매기형 수장 56"/>
          <p:cNvSpPr/>
          <p:nvPr/>
        </p:nvSpPr>
        <p:spPr bwMode="auto">
          <a:xfrm>
            <a:off x="456761" y="2432510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사업기간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b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참여인력</a:t>
            </a:r>
          </a:p>
        </p:txBody>
      </p:sp>
      <p:sp>
        <p:nvSpPr>
          <p:cNvPr id="60" name="갈매기형 수장 59"/>
          <p:cNvSpPr/>
          <p:nvPr/>
        </p:nvSpPr>
        <p:spPr bwMode="auto">
          <a:xfrm>
            <a:off x="456761" y="3581224"/>
            <a:ext cx="1108167" cy="2368891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주요내용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1680898" y="1268760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z="2000" b="1" smtClean="0">
                <a:latin typeface="맑은 고딕" pitchFamily="50" charset="-127"/>
                <a:ea typeface="맑은 고딕" pitchFamily="50" charset="-127"/>
              </a:rPr>
              <a:t>코레일테크 경영정보시스템 </a:t>
            </a:r>
            <a:r>
              <a:rPr lang="en-US" altLang="ko-KR" sz="2000" b="1" smtClean="0">
                <a:latin typeface="맑은 고딕" pitchFamily="50" charset="-127"/>
                <a:ea typeface="맑은 고딕" pitchFamily="50" charset="-127"/>
              </a:rPr>
              <a:t>ISP </a:t>
            </a:r>
            <a:r>
              <a:rPr lang="ko-KR" altLang="en-US" sz="2000" b="1" smtClean="0">
                <a:latin typeface="맑은 고딕" pitchFamily="50" charset="-127"/>
                <a:ea typeface="맑은 고딕" pitchFamily="50" charset="-127"/>
              </a:rPr>
              <a:t>컨설팅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1680898" y="2431674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en-US" altLang="ko-KR" sz="1800" smtClean="0">
                <a:latin typeface="맑은 고딕" pitchFamily="50" charset="-127"/>
                <a:ea typeface="맑은 고딕" pitchFamily="50" charset="-127"/>
              </a:rPr>
              <a:t>2024. 09. 02 ~ 2024. 11. 15  (11</a:t>
            </a:r>
            <a:r>
              <a:rPr lang="ko-KR" altLang="en-US" sz="1800" smtClean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800" smtClean="0"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1666869" y="3594587"/>
            <a:ext cx="7606611" cy="235552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mtClean="0">
                <a:latin typeface="맑은 고딕" pitchFamily="50" charset="-127"/>
                <a:ea typeface="맑은 고딕" pitchFamily="50" charset="-127"/>
              </a:rPr>
              <a:t>▶ </a:t>
            </a: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현행 경영정보시스템 현황 분석</a:t>
            </a:r>
            <a:endParaRPr lang="en-US" altLang="ko-KR" smtClean="0">
              <a:latin typeface="맑은 고딕" pitchFamily="50" charset="-127"/>
              <a:ea typeface="맑은 고딕" pitchFamily="50" charset="-127"/>
            </a:endParaRP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>
                <a:latin typeface="맑은 고딕" pitchFamily="50" charset="-127"/>
              </a:rPr>
              <a:t>경영정보시스템 </a:t>
            </a:r>
            <a:r>
              <a:rPr lang="ko-KR" altLang="en-US" smtClean="0">
                <a:latin typeface="맑은 고딕" pitchFamily="50" charset="-127"/>
              </a:rPr>
              <a:t>개선 과제 도출</a:t>
            </a:r>
            <a:endParaRPr lang="en-US" altLang="ko-KR" smtClean="0">
              <a:latin typeface="맑은 고딕" pitchFamily="50" charset="-127"/>
              <a:ea typeface="맑은 고딕" pitchFamily="50" charset="-127"/>
            </a:endParaRP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>
                <a:latin typeface="맑은 고딕" pitchFamily="50" charset="-127"/>
              </a:rPr>
              <a:t>경영정보시스템 </a:t>
            </a:r>
            <a:r>
              <a:rPr lang="ko-KR" altLang="en-US" smtClean="0">
                <a:latin typeface="맑은 고딕" pitchFamily="50" charset="-127"/>
              </a:rPr>
              <a:t>개선 방안 수립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:a16="http://schemas.microsoft.com/office/drawing/2014/main" xmlns="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사업추진 배경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사업추진 배경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경영정보시스템의 운영 환경과 기능 분석을 통하여 개선점을 도출하고 최적화된 모델을 구축할 수 있는 구체적인 이행 계획을 </a:t>
            </a:r>
            <a:r>
              <a:rPr lang="ko-KR" altLang="en-US" sz="1600" dirty="0"/>
              <a:t>수립하고자 함</a:t>
            </a: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 flipV="1">
            <a:off x="4817953" y="-401903"/>
            <a:ext cx="196126" cy="4238249"/>
          </a:xfrm>
          <a:prstGeom prst="rect">
            <a:avLst/>
          </a:prstGeom>
        </p:spPr>
      </p:pic>
      <p:sp>
        <p:nvSpPr>
          <p:cNvPr id="62" name="Rectangle 39"/>
          <p:cNvSpPr>
            <a:spLocks noChangeArrowheads="1"/>
          </p:cNvSpPr>
          <p:nvPr/>
        </p:nvSpPr>
        <p:spPr bwMode="auto">
          <a:xfrm>
            <a:off x="1100572" y="1629395"/>
            <a:ext cx="8348932" cy="429846"/>
          </a:xfrm>
          <a:prstGeom prst="rect">
            <a:avLst/>
          </a:prstGeom>
          <a:noFill/>
          <a:extLst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000" b="1" u="sng" kern="0" smtClean="0">
                <a:latin typeface="맑은 고딕" pitchFamily="50" charset="-127"/>
                <a:ea typeface="맑은 고딕" pitchFamily="50" charset="-127"/>
              </a:rPr>
              <a:t>경영정보시스템 개선 방안 및 이행 계획</a:t>
            </a:r>
            <a:r>
              <a:rPr lang="en-US" altLang="ko-KR" sz="2000" b="1" u="sng" kern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u="sng" kern="0" dirty="0">
                <a:latin typeface="맑은 고딕" pitchFamily="50" charset="-127"/>
                <a:ea typeface="맑은 고딕" pitchFamily="50" charset="-127"/>
              </a:rPr>
              <a:t>수립</a:t>
            </a:r>
          </a:p>
        </p:txBody>
      </p:sp>
      <p:sp>
        <p:nvSpPr>
          <p:cNvPr id="63" name="Rectangle 7"/>
          <p:cNvSpPr>
            <a:spLocks noChangeArrowheads="1"/>
          </p:cNvSpPr>
          <p:nvPr/>
        </p:nvSpPr>
        <p:spPr bwMode="auto">
          <a:xfrm>
            <a:off x="488504" y="1622266"/>
            <a:ext cx="559398" cy="482386"/>
          </a:xfrm>
          <a:prstGeom prst="rect">
            <a:avLst/>
          </a:prstGeom>
          <a:solidFill>
            <a:srgbClr val="B1CFFC"/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목표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488504" y="2148378"/>
            <a:ext cx="559398" cy="1930837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목</a:t>
            </a: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적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Rectangle 7"/>
          <p:cNvSpPr>
            <a:spLocks noChangeArrowheads="1"/>
          </p:cNvSpPr>
          <p:nvPr/>
        </p:nvSpPr>
        <p:spPr bwMode="auto">
          <a:xfrm>
            <a:off x="488504" y="4122941"/>
            <a:ext cx="559398" cy="211437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lang="ko-KR" altLang="en-US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배경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Rectangle 76"/>
          <p:cNvSpPr>
            <a:spLocks noChangeArrowheads="1"/>
          </p:cNvSpPr>
          <p:nvPr/>
        </p:nvSpPr>
        <p:spPr bwMode="auto">
          <a:xfrm>
            <a:off x="1141511" y="4717951"/>
            <a:ext cx="4059499" cy="151936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경영정보시스템의 현황 파악을 통한 문제점 파악 및 해결 방안 필요성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제기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업무 프로세스의 개선 방안과 시스템의 업무별 기능 개선 방안 도출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Rectangle 76"/>
          <p:cNvSpPr>
            <a:spLocks noChangeArrowheads="1"/>
          </p:cNvSpPr>
          <p:nvPr/>
        </p:nvSpPr>
        <p:spPr bwMode="auto">
          <a:xfrm>
            <a:off x="5281820" y="4717951"/>
            <a:ext cx="4040419" cy="14913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업무 프로세스 표준화를 통한 업무 효율화 추진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시스템의 업무별 기능 개선 방안에 대한 이행 계획 수립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시스템 효율화 및 업무 편의성을 향상시키는 신기술의 도입 고려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1141512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경영정보시스템의 기능 한계에 대한 해결방안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5281820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개선 방안에 대한 구체적인 이행계획 수립 요구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Rectangle 76"/>
          <p:cNvSpPr>
            <a:spLocks noChangeArrowheads="1"/>
          </p:cNvSpPr>
          <p:nvPr/>
        </p:nvSpPr>
        <p:spPr bwMode="auto">
          <a:xfrm>
            <a:off x="1110773" y="2165587"/>
            <a:ext cx="8306723" cy="17674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76"/>
          <p:cNvSpPr>
            <a:spLocks noChangeArrowheads="1"/>
          </p:cNvSpPr>
          <p:nvPr/>
        </p:nvSpPr>
        <p:spPr bwMode="auto">
          <a:xfrm>
            <a:off x="1175566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 현행 경영정보 시스템의 환경</a:t>
            </a: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운영 현황 분석을 통한 정보시스템의 개선 방안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6720829" y="2243608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최적화된 경영정보시스템을 </a:t>
            </a:r>
            <a:endParaRPr lang="en-US" altLang="ko-KR" sz="1300" b="1" kern="0" smtClean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구축하기 위한 이행계획 수립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Rectangle 76"/>
          <p:cNvSpPr>
            <a:spLocks noChangeArrowheads="1"/>
          </p:cNvSpPr>
          <p:nvPr/>
        </p:nvSpPr>
        <p:spPr bwMode="auto">
          <a:xfrm>
            <a:off x="3916522" y="2882752"/>
            <a:ext cx="2720811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대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내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외 환경변화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및 경영전략 변경에 탄력적으로 대응 가능하고 표준화된 최적 시스템 구축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3948891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경영정보시스템 </a:t>
            </a:r>
            <a:r>
              <a:rPr lang="ko-KR" altLang="en-US" sz="13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관리체계 </a:t>
            </a: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표준화 및 코레일테크 최적화 모델 </a:t>
            </a: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필요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Rectangle 76"/>
          <p:cNvSpPr>
            <a:spLocks noChangeArrowheads="1"/>
          </p:cNvSpPr>
          <p:nvPr/>
        </p:nvSpPr>
        <p:spPr bwMode="auto">
          <a:xfrm>
            <a:off x="6722215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경영정보시스템의 개선안을 추진하기 위한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정보화 마스터 플랜 수립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1175566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경영정보시스템 개선 방안 마련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오른쪽 중괄호 79"/>
          <p:cNvSpPr/>
          <p:nvPr/>
        </p:nvSpPr>
        <p:spPr>
          <a:xfrm rot="16200000">
            <a:off x="4979393" y="18232"/>
            <a:ext cx="555854" cy="8241487"/>
          </a:xfrm>
          <a:prstGeom prst="rightBrace">
            <a:avLst>
              <a:gd name="adj1" fmla="val 51290"/>
              <a:gd name="adj2" fmla="val 50000"/>
            </a:avLst>
          </a:prstGeom>
          <a:gradFill flip="none" rotWithShape="1">
            <a:gsLst>
              <a:gs pos="0">
                <a:srgbClr val="B1CFFC">
                  <a:alpha val="20000"/>
                </a:srgbClr>
              </a:gs>
              <a:gs pos="50000">
                <a:srgbClr val="BEDCFF"/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70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:a16="http://schemas.microsoft.com/office/drawing/2014/main" xmlns="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사업추진 범위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사업추진 범위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사업의 </a:t>
            </a:r>
            <a:r>
              <a:rPr lang="ko-KR" altLang="en-US" sz="1600"/>
              <a:t>범위는 </a:t>
            </a:r>
            <a:r>
              <a:rPr lang="ko-KR" altLang="en-US" sz="1600" smtClean="0"/>
              <a:t>현행 경영정보시스템의 현황 분석</a:t>
            </a:r>
            <a:r>
              <a:rPr lang="en-US" altLang="ko-KR" sz="1600" smtClean="0"/>
              <a:t>, </a:t>
            </a:r>
            <a:r>
              <a:rPr lang="ko-KR" altLang="en-US" sz="1600" smtClean="0"/>
              <a:t>경영정보시스템의 개선안 작성</a:t>
            </a:r>
            <a:r>
              <a:rPr lang="en-US" altLang="ko-KR" sz="1600" smtClean="0"/>
              <a:t>, </a:t>
            </a:r>
            <a:r>
              <a:rPr lang="ko-KR" altLang="en-US" sz="1600" smtClean="0"/>
              <a:t>경영정보시스템 개선 이행계획 </a:t>
            </a:r>
            <a:r>
              <a:rPr lang="ko-KR" altLang="en-US" sz="1600" dirty="0"/>
              <a:t>수립의 영역에 </a:t>
            </a:r>
            <a:r>
              <a:rPr lang="ko-KR" altLang="en-US" sz="1600" dirty="0" smtClean="0"/>
              <a:t>해당되며 </a:t>
            </a:r>
            <a:r>
              <a:rPr lang="ko-KR" altLang="en-US" sz="1600" smtClean="0"/>
              <a:t>하부 </a:t>
            </a:r>
            <a:r>
              <a:rPr lang="en-US" altLang="ko-KR" sz="1600" smtClean="0"/>
              <a:t>3</a:t>
            </a:r>
            <a:r>
              <a:rPr lang="ko-KR" altLang="en-US" sz="1600" smtClean="0"/>
              <a:t>개 </a:t>
            </a:r>
            <a:r>
              <a:rPr lang="ko-KR" altLang="en-US" sz="1600" dirty="0" smtClean="0"/>
              <a:t>업무로 구성됨</a:t>
            </a:r>
            <a:endParaRPr lang="ko-KR" altLang="en-US" sz="1600" dirty="0"/>
          </a:p>
        </p:txBody>
      </p:sp>
      <p:sp>
        <p:nvSpPr>
          <p:cNvPr id="46" name="양쪽 모서리가 둥근 사각형 45"/>
          <p:cNvSpPr/>
          <p:nvPr/>
        </p:nvSpPr>
        <p:spPr>
          <a:xfrm flipV="1">
            <a:off x="6487481" y="2306636"/>
            <a:ext cx="2753335" cy="3858658"/>
          </a:xfrm>
          <a:prstGeom prst="round2SameRect">
            <a:avLst>
              <a:gd name="adj1" fmla="val 6613"/>
              <a:gd name="adj2" fmla="val 0"/>
            </a:avLst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6467211" y="1656245"/>
            <a:ext cx="2795551" cy="591530"/>
          </a:xfrm>
          <a:prstGeom prst="roundRect">
            <a:avLst>
              <a:gd name="adj" fmla="val 8276"/>
            </a:avLst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56599" y="2538439"/>
            <a:ext cx="1971600" cy="91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anchor="ctr"/>
          <a:lstStyle>
            <a:defPPr>
              <a:defRPr lang="ko-KR"/>
            </a:defPPr>
            <a:lvl1pPr marL="152400" indent="-152400" latinLnBrk="0">
              <a:lnSpc>
                <a:spcPct val="110000"/>
              </a:lnSpc>
              <a:spcBef>
                <a:spcPts val="300"/>
              </a:spcBef>
              <a:buClr>
                <a:srgbClr val="94B9D0"/>
              </a:buClr>
              <a:buSzPct val="80000"/>
              <a:buFont typeface="Wingdings" pitchFamily="2" charset="2"/>
              <a:buChar char="£"/>
              <a:defRPr kumimoji="1" sz="1400" b="1" kern="0" spc="-6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경영정보시스템  개선을 </a:t>
            </a:r>
            <a:r>
              <a:rPr lang="ko-KR" altLang="en-US" sz="1300" dirty="0">
                <a:latin typeface="맑은 고딕" pitchFamily="50" charset="-127"/>
                <a:ea typeface="맑은 고딕" pitchFamily="50" charset="-127"/>
              </a:rPr>
              <a:t>위한 구체적인 이행계획 수립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7152584" y="1704966"/>
            <a:ext cx="2151318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경영정보시스템 개선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이행계획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수립</a:t>
            </a:r>
          </a:p>
        </p:txBody>
      </p:sp>
      <p:grpSp>
        <p:nvGrpSpPr>
          <p:cNvPr id="50" name="그룹 105"/>
          <p:cNvGrpSpPr/>
          <p:nvPr/>
        </p:nvGrpSpPr>
        <p:grpSpPr>
          <a:xfrm>
            <a:off x="6465168" y="1710655"/>
            <a:ext cx="703179" cy="430886"/>
            <a:chOff x="2000672" y="4456608"/>
            <a:chExt cx="576983" cy="176062"/>
          </a:xfrm>
        </p:grpSpPr>
        <p:sp>
          <p:nvSpPr>
            <p:cNvPr id="51" name="TextBox 50"/>
            <p:cNvSpPr txBox="1"/>
            <p:nvPr/>
          </p:nvSpPr>
          <p:spPr>
            <a:xfrm>
              <a:off x="2000672" y="4456608"/>
              <a:ext cx="501547" cy="176062"/>
            </a:xfrm>
            <a:prstGeom prst="rect">
              <a:avLst/>
            </a:prstGeom>
            <a:noFill/>
            <a:effectLst>
              <a:reflection blurRad="508000" stA="52000" endA="300" endPos="8000" dir="5400000" sy="-100000" algn="bl" rotWithShape="0"/>
            </a:effectLst>
          </p:spPr>
          <p:txBody>
            <a:bodyPr wrap="square" lIns="0" tIns="0" rIns="0" bIns="0" rtlCol="0" anchor="ctr">
              <a:spAutoFit/>
            </a:bodyPr>
            <a:lstStyle/>
            <a:p>
              <a:pPr algn="r" latinLnBrk="0"/>
              <a:r>
                <a:rPr lang="en-US" altLang="ko-KR" sz="2800" dirty="0">
                  <a:solidFill>
                    <a:prstClr val="white">
                      <a:lumMod val="65000"/>
                    </a:prstClr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en-US" altLang="ko-KR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2800" dirty="0">
                <a:solidFill>
                  <a:srgbClr val="FFFFFF"/>
                </a:solidFill>
                <a:effectLst>
                  <a:reflection blurRad="6350" stA="30000" endPos="20000" dir="5400000" sy="-100000" algn="bl" rotWithShape="0"/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2" name="직선 연결선 51"/>
            <p:cNvCxnSpPr/>
            <p:nvPr/>
          </p:nvCxnSpPr>
          <p:spPr>
            <a:xfrm flipV="1">
              <a:off x="2577655" y="4469284"/>
              <a:ext cx="0" cy="1613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26" y="2734263"/>
            <a:ext cx="650530" cy="67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직사각형 76"/>
          <p:cNvSpPr/>
          <p:nvPr/>
        </p:nvSpPr>
        <p:spPr bwMode="auto">
          <a:xfrm>
            <a:off x="6694148" y="3553340"/>
            <a:ext cx="23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경영정보시스템 개선을 </a:t>
            </a:r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위한 중장기 로드맵 제시</a:t>
            </a:r>
          </a:p>
        </p:txBody>
      </p:sp>
      <p:sp>
        <p:nvSpPr>
          <p:cNvPr id="78" name="직사각형 77"/>
          <p:cNvSpPr/>
          <p:nvPr/>
        </p:nvSpPr>
        <p:spPr bwMode="auto">
          <a:xfrm>
            <a:off x="6694148" y="4215054"/>
            <a:ext cx="23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단계별 구축 이행을 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위한 </a:t>
            </a:r>
            <a:r>
              <a:rPr lang="en-US" altLang="ko-KR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이행계획 </a:t>
            </a:r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수립</a:t>
            </a:r>
          </a:p>
        </p:txBody>
      </p:sp>
      <p:sp>
        <p:nvSpPr>
          <p:cNvPr id="81" name="직사각형 80"/>
          <p:cNvSpPr/>
          <p:nvPr/>
        </p:nvSpPr>
        <p:spPr bwMode="auto">
          <a:xfrm>
            <a:off x="6694148" y="4876768"/>
            <a:ext cx="23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코레일테크 </a:t>
            </a:r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정보시스템 구축 방법론 및 표준 </a:t>
            </a:r>
            <a:r>
              <a:rPr lang="ko-KR" altLang="en-US" sz="12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아키텍처 수립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6694148" y="5538483"/>
            <a:ext cx="23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latinLnBrk="0"/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</a:rPr>
              <a:t>지능형 정보기술 기반의 설계를 통한 혁신적 서비스 제공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34" name="양쪽 모서리가 둥근 사각형 33"/>
          <p:cNvSpPr/>
          <p:nvPr/>
        </p:nvSpPr>
        <p:spPr>
          <a:xfrm flipV="1">
            <a:off x="605763" y="2306646"/>
            <a:ext cx="2644035" cy="3858658"/>
          </a:xfrm>
          <a:prstGeom prst="round2SameRect">
            <a:avLst>
              <a:gd name="adj1" fmla="val 6613"/>
              <a:gd name="adj2" fmla="val 0"/>
            </a:avLst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85494" y="1656245"/>
            <a:ext cx="2684575" cy="591532"/>
          </a:xfrm>
          <a:prstGeom prst="roundRect">
            <a:avLst>
              <a:gd name="adj" fmla="val 8276"/>
            </a:avLst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84968" y="2587929"/>
            <a:ext cx="2011848" cy="817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anchor="ctr"/>
          <a:lstStyle>
            <a:defPPr>
              <a:defRPr lang="ko-KR"/>
            </a:defPPr>
            <a:lvl1pPr marL="180975" indent="-180975" latinLnBrk="0">
              <a:spcBef>
                <a:spcPts val="600"/>
              </a:spcBef>
              <a:buClr>
                <a:srgbClr val="94B9D0"/>
              </a:buClr>
              <a:buSzPct val="80000"/>
              <a:buFont typeface="Wingdings" pitchFamily="2" charset="2"/>
              <a:buChar char="£"/>
              <a:defRPr kumimoji="1" sz="12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152400" indent="-152400">
              <a:lnSpc>
                <a:spcPct val="110000"/>
              </a:lnSpc>
              <a:spcBef>
                <a:spcPts val="300"/>
              </a:spcBef>
            </a:pPr>
            <a:r>
              <a:rPr lang="ko-KR" altLang="en-US" sz="1300" b="1" kern="0" spc="-6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맑은 고딕" pitchFamily="50" charset="-127"/>
                <a:ea typeface="맑은 고딕" pitchFamily="50" charset="-127"/>
              </a:rPr>
              <a:t>현행 경영정보시스템의  환경 및 업무 분석</a:t>
            </a:r>
            <a:r>
              <a:rPr lang="en-US" altLang="ko-KR" sz="1300" b="1" kern="0" spc="-6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b="1" kern="0" spc="-6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맑은 고딕" pitchFamily="50" charset="-127"/>
                <a:ea typeface="맑은 고딕" pitchFamily="50" charset="-127"/>
              </a:rPr>
              <a:t>최신 기술</a:t>
            </a:r>
            <a:r>
              <a:rPr lang="en-US" altLang="ko-KR" sz="1300" b="1" kern="0" spc="-6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b="1" kern="0" spc="-6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맑은 고딕" pitchFamily="50" charset="-127"/>
                <a:ea typeface="맑은 고딕" pitchFamily="50" charset="-127"/>
              </a:rPr>
              <a:t>기법 적용을 통한 개선 방향성 수립</a:t>
            </a:r>
            <a:endParaRPr lang="ko-KR" altLang="en-US" sz="1300" b="1" kern="0" spc="-6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414F5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69184" y="1724554"/>
            <a:ext cx="2027632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경영정보시스템 현황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분석 및 방향성 수립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55"/>
          <p:cNvGrpSpPr/>
          <p:nvPr/>
        </p:nvGrpSpPr>
        <p:grpSpPr>
          <a:xfrm>
            <a:off x="655897" y="1723956"/>
            <a:ext cx="620100" cy="430888"/>
            <a:chOff x="1836492" y="4462047"/>
            <a:chExt cx="650488" cy="176063"/>
          </a:xfrm>
        </p:grpSpPr>
        <p:sp>
          <p:nvSpPr>
            <p:cNvPr id="39" name="TextBox 38"/>
            <p:cNvSpPr txBox="1"/>
            <p:nvPr/>
          </p:nvSpPr>
          <p:spPr>
            <a:xfrm>
              <a:off x="1836492" y="4462047"/>
              <a:ext cx="650488" cy="176063"/>
            </a:xfrm>
            <a:prstGeom prst="rect">
              <a:avLst/>
            </a:prstGeom>
            <a:noFill/>
            <a:effectLst>
              <a:reflection blurRad="508000" stA="52000" endA="300" endPos="8000" dir="5400000" sy="-100000" algn="bl" rotWithShape="0"/>
            </a:effectLst>
          </p:spPr>
          <p:txBody>
            <a:bodyPr wrap="square" lIns="0" tIns="0" rIns="0" bIns="0" rtlCol="0" anchor="ctr">
              <a:spAutoFit/>
            </a:bodyPr>
            <a:lstStyle/>
            <a:p>
              <a:pPr algn="r" latinLnBrk="0"/>
              <a:r>
                <a:rPr lang="en-US" altLang="ko-KR" sz="2800" dirty="0">
                  <a:solidFill>
                    <a:prstClr val="white">
                      <a:lumMod val="65000"/>
                    </a:prstClr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en-US" altLang="ko-KR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2800" dirty="0">
                <a:solidFill>
                  <a:srgbClr val="FFFFFF"/>
                </a:solidFill>
                <a:effectLst>
                  <a:reflection blurRad="6350" stA="30000" endPos="20000" dir="5400000" sy="-100000" algn="bl" rotWithShape="0"/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0" name="직선 연결선 39"/>
            <p:cNvCxnSpPr/>
            <p:nvPr/>
          </p:nvCxnSpPr>
          <p:spPr>
            <a:xfrm flipV="1">
              <a:off x="2479835" y="4474723"/>
              <a:ext cx="0" cy="1613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45" y="2768457"/>
            <a:ext cx="692364" cy="52465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직사각형 41"/>
          <p:cNvSpPr/>
          <p:nvPr/>
        </p:nvSpPr>
        <p:spPr bwMode="auto">
          <a:xfrm>
            <a:off x="757780" y="3553339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현행 시스템의 운영환경 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757780" y="4076625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내부 업무 운영현황 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757780" y="4599911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최신정보기술 적용점 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757780" y="5123197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이해관계자 요구사항 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 bwMode="auto">
          <a:xfrm>
            <a:off x="757780" y="5646483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시스템 개선 방향성 수립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양쪽 모서리가 둥근 사각형 53"/>
          <p:cNvSpPr/>
          <p:nvPr/>
        </p:nvSpPr>
        <p:spPr>
          <a:xfrm flipV="1">
            <a:off x="3480979" y="2306646"/>
            <a:ext cx="2712283" cy="3858658"/>
          </a:xfrm>
          <a:prstGeom prst="round2SameRect">
            <a:avLst>
              <a:gd name="adj1" fmla="val 6613"/>
              <a:gd name="adj2" fmla="val 0"/>
            </a:avLst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3460709" y="1656245"/>
            <a:ext cx="2753869" cy="591532"/>
          </a:xfrm>
          <a:prstGeom prst="roundRect">
            <a:avLst>
              <a:gd name="adj" fmla="val 8276"/>
            </a:avLst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53025" y="2551863"/>
            <a:ext cx="2134696" cy="88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anchor="ctr"/>
          <a:lstStyle>
            <a:defPPr>
              <a:defRPr lang="ko-KR"/>
            </a:defPPr>
            <a:lvl1pPr marL="152400" indent="-152400" latinLnBrk="0">
              <a:lnSpc>
                <a:spcPct val="110000"/>
              </a:lnSpc>
              <a:spcBef>
                <a:spcPts val="300"/>
              </a:spcBef>
              <a:buClr>
                <a:srgbClr val="94B9D0"/>
              </a:buClr>
              <a:buSzPct val="80000"/>
              <a:buFont typeface="Wingdings" pitchFamily="2" charset="2"/>
              <a:buChar char="£"/>
              <a:defRPr kumimoji="1" sz="1100" kern="0" spc="-6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14F5D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r>
              <a:rPr lang="ko-KR" altLang="en-US" sz="1300" b="1" smtClean="0">
                <a:latin typeface="맑은 고딕" pitchFamily="50" charset="-127"/>
                <a:ea typeface="맑은 고딕" pitchFamily="50" charset="-127"/>
              </a:rPr>
              <a:t>최적화된 업무 프로세스  및 개선계획 수립을 통한 업무 효율성 극대화</a:t>
            </a:r>
            <a:endParaRPr lang="ko-KR" altLang="en-US" sz="13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020528" y="1724555"/>
            <a:ext cx="2280746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경영정보시스템  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400" b="1" kern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개선안 작성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8" name="그룹 130"/>
          <p:cNvGrpSpPr/>
          <p:nvPr/>
        </p:nvGrpSpPr>
        <p:grpSpPr>
          <a:xfrm>
            <a:off x="3468507" y="1723974"/>
            <a:ext cx="672526" cy="430886"/>
            <a:chOff x="2000672" y="4462050"/>
            <a:chExt cx="551832" cy="176062"/>
          </a:xfrm>
        </p:grpSpPr>
        <p:sp>
          <p:nvSpPr>
            <p:cNvPr id="59" name="TextBox 58"/>
            <p:cNvSpPr txBox="1"/>
            <p:nvPr/>
          </p:nvSpPr>
          <p:spPr>
            <a:xfrm>
              <a:off x="2000672" y="4462050"/>
              <a:ext cx="501547" cy="176062"/>
            </a:xfrm>
            <a:prstGeom prst="rect">
              <a:avLst/>
            </a:prstGeom>
            <a:noFill/>
            <a:effectLst>
              <a:reflection blurRad="508000" stA="52000" endA="300" endPos="8000" dir="5400000" sy="-100000" algn="bl" rotWithShape="0"/>
            </a:effectLst>
          </p:spPr>
          <p:txBody>
            <a:bodyPr wrap="square" lIns="0" tIns="0" rIns="0" bIns="0" rtlCol="0" anchor="ctr">
              <a:spAutoFit/>
            </a:bodyPr>
            <a:lstStyle/>
            <a:p>
              <a:pPr algn="r" latinLnBrk="0"/>
              <a:r>
                <a:rPr lang="en-US" altLang="ko-KR" sz="2800" dirty="0">
                  <a:solidFill>
                    <a:prstClr val="white">
                      <a:lumMod val="65000"/>
                    </a:prstClr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en-US" altLang="ko-KR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2800" dirty="0">
                <a:solidFill>
                  <a:srgbClr val="FFFFFF"/>
                </a:solidFill>
                <a:effectLst>
                  <a:reflection blurRad="6350" stA="30000" endPos="20000" dir="5400000" sy="-100000" algn="bl" rotWithShape="0"/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 flipV="1">
              <a:off x="2552504" y="4474723"/>
              <a:ext cx="0" cy="1613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6" name="그림 6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958" y="2691781"/>
            <a:ext cx="640022" cy="64331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직사각형 71"/>
          <p:cNvSpPr/>
          <p:nvPr/>
        </p:nvSpPr>
        <p:spPr bwMode="auto">
          <a:xfrm>
            <a:off x="3667120" y="3553340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</a:rPr>
              <a:t>시스템 운영환경 분석</a:t>
            </a:r>
          </a:p>
        </p:txBody>
      </p:sp>
      <p:sp>
        <p:nvSpPr>
          <p:cNvPr id="74" name="직사각형 73"/>
          <p:cNvSpPr/>
          <p:nvPr/>
        </p:nvSpPr>
        <p:spPr bwMode="auto">
          <a:xfrm>
            <a:off x="3667120" y="4076626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>
              <a:buSzPct val="80000"/>
            </a:pPr>
            <a:r>
              <a:rPr lang="ko-KR" altLang="en-US" sz="1200">
                <a:solidFill>
                  <a:schemeClr val="tx1"/>
                </a:solidFill>
              </a:rPr>
              <a:t>시스템 업무기능 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667120" y="4599912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latinLnBrk="0"/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정보기술 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요건 </a:t>
            </a:r>
            <a:r>
              <a:rPr lang="ko-KR" altLang="en-US" sz="12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3667120" y="5123198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latinLnBrk="0">
              <a:buSzPct val="80000"/>
            </a:pPr>
            <a:r>
              <a: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정보시스템 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아키텍처 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직사각형 94"/>
          <p:cNvSpPr/>
          <p:nvPr/>
        </p:nvSpPr>
        <p:spPr bwMode="auto">
          <a:xfrm>
            <a:off x="3667120" y="5646483"/>
            <a:ext cx="234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latinLnBrk="0"/>
            <a:r>
              <a:rPr lang="ko-KR" altLang="en-US" sz="1200" smtClean="0">
                <a:solidFill>
                  <a:schemeClr val="tx1"/>
                </a:solidFill>
                <a:latin typeface="맑은 고딕" pitchFamily="50" charset="-127"/>
              </a:rPr>
              <a:t>효율성 극대화 시스템 아키텍쳐</a:t>
            </a:r>
            <a:endParaRPr lang="ko-KR" altLang="en-US" sz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58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:a16="http://schemas.microsoft.com/office/drawing/2014/main" xmlns="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사업추진 절차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사업추진 절차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본 사업은 현행 경영정보시스템의 문제점을 파악하고 요구사항을 수렴하여 운영 환경 및 최신의 </a:t>
            </a:r>
            <a:r>
              <a:rPr lang="ko-KR" altLang="en-US" sz="1600"/>
              <a:t>업무기법과 </a:t>
            </a:r>
            <a:r>
              <a:rPr lang="ko-KR" altLang="en-US" sz="1600" smtClean="0"/>
              <a:t>정보기술 </a:t>
            </a:r>
            <a:r>
              <a:rPr lang="ko-KR" altLang="en-US" sz="1600"/>
              <a:t>동향을 </a:t>
            </a:r>
            <a:r>
              <a:rPr lang="ko-KR" altLang="en-US" sz="1600" smtClean="0"/>
              <a:t>고려하여 코레일테크에 최적화된 시스템 개선안을 제공하고자 함</a:t>
            </a:r>
            <a:endParaRPr lang="ko-KR" altLang="en-US" sz="1600" dirty="0"/>
          </a:p>
        </p:txBody>
      </p:sp>
      <p:sp>
        <p:nvSpPr>
          <p:cNvPr id="145" name="Rectangle 201"/>
          <p:cNvSpPr>
            <a:spLocks noChangeArrowheads="1"/>
          </p:cNvSpPr>
          <p:nvPr/>
        </p:nvSpPr>
        <p:spPr bwMode="auto">
          <a:xfrm rot="16200000" flipH="1">
            <a:off x="113042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Rectangle 201"/>
          <p:cNvSpPr>
            <a:spLocks noChangeArrowheads="1"/>
          </p:cNvSpPr>
          <p:nvPr/>
        </p:nvSpPr>
        <p:spPr bwMode="auto">
          <a:xfrm flipH="1" flipV="1">
            <a:off x="461888" y="5107797"/>
            <a:ext cx="2829569" cy="1110889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7" name="Rectangle 49"/>
          <p:cNvSpPr>
            <a:spLocks noChangeArrowheads="1"/>
          </p:cNvSpPr>
          <p:nvPr/>
        </p:nvSpPr>
        <p:spPr bwMode="auto">
          <a:xfrm>
            <a:off x="610078" y="485160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Total Consulting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방법론</a:t>
            </a:r>
          </a:p>
        </p:txBody>
      </p:sp>
      <p:sp>
        <p:nvSpPr>
          <p:cNvPr id="142" name="Rectangle 201"/>
          <p:cNvSpPr>
            <a:spLocks noChangeArrowheads="1"/>
          </p:cNvSpPr>
          <p:nvPr/>
        </p:nvSpPr>
        <p:spPr bwMode="auto">
          <a:xfrm rot="5400000">
            <a:off x="421928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Rectangle 201"/>
          <p:cNvSpPr>
            <a:spLocks noChangeArrowheads="1"/>
          </p:cNvSpPr>
          <p:nvPr/>
        </p:nvSpPr>
        <p:spPr bwMode="auto">
          <a:xfrm flipV="1">
            <a:off x="3533331" y="5107797"/>
            <a:ext cx="2837573" cy="1110888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4" name="Rectangle 49"/>
          <p:cNvSpPr>
            <a:spLocks noChangeArrowheads="1"/>
          </p:cNvSpPr>
          <p:nvPr/>
        </p:nvSpPr>
        <p:spPr bwMode="auto">
          <a:xfrm flipH="1">
            <a:off x="3774786" y="4851602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최적화된 업무 및 환경 분석</a:t>
            </a:r>
            <a:endParaRPr kumimoji="1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Rectangle 201"/>
          <p:cNvSpPr>
            <a:spLocks noChangeArrowheads="1"/>
          </p:cNvSpPr>
          <p:nvPr/>
        </p:nvSpPr>
        <p:spPr bwMode="auto">
          <a:xfrm rot="5400000">
            <a:off x="7247271" y="4025525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Rectangle 201"/>
          <p:cNvSpPr>
            <a:spLocks noChangeArrowheads="1"/>
          </p:cNvSpPr>
          <p:nvPr/>
        </p:nvSpPr>
        <p:spPr bwMode="auto">
          <a:xfrm flipV="1">
            <a:off x="6561321" y="5085137"/>
            <a:ext cx="2793129" cy="1080166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1" name="Rectangle 49"/>
          <p:cNvSpPr>
            <a:spLocks noChangeArrowheads="1"/>
          </p:cNvSpPr>
          <p:nvPr/>
        </p:nvSpPr>
        <p:spPr bwMode="auto">
          <a:xfrm flipH="1">
            <a:off x="6842102" y="482894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실효성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있는 </a:t>
            </a:r>
            <a:r>
              <a:rPr kumimoji="1" lang="ko-KR" altLang="en-US" sz="12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추진 방향</a:t>
            </a:r>
            <a:endParaRPr kumimoji="1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한쪽 모서리가 둥근 사각형 171"/>
          <p:cNvSpPr/>
          <p:nvPr/>
        </p:nvSpPr>
        <p:spPr>
          <a:xfrm flipH="1">
            <a:off x="596627" y="5169812"/>
            <a:ext cx="2654043" cy="99549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현행 경영정보시스템의 문제점 및 요구사항 분석을 통하여 개선점을 도출하고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이를 해결하기 위한 환경분석 및 기술동향을 고려하여 개선방안을 제시하고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이행계획 수립안을 제공하고자 함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한쪽 모서리가 둥근 사각형 171"/>
          <p:cNvSpPr/>
          <p:nvPr/>
        </p:nvSpPr>
        <p:spPr>
          <a:xfrm flipH="1">
            <a:off x="3660301" y="5140461"/>
            <a:ext cx="2661551" cy="99549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유사사례 </a:t>
            </a:r>
            <a:r>
              <a:rPr lang="ko-KR" altLang="en-US" sz="1000" spc="-5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공공기관 업무 유형을 고려한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실현 가능한  업무처리 및 운영환경 분석 수행</a:t>
            </a:r>
            <a:endParaRPr lang="en-US" altLang="ko-KR" sz="1000" spc="-5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시스템의 기본 업무처리 기능 및 필수 기능 처리부분을  중점 관리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POINT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로 분석하여 코레일테크에 최적화된 개선안을 도출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한쪽 모서리가 둥근 사각형 171"/>
          <p:cNvSpPr/>
          <p:nvPr/>
        </p:nvSpPr>
        <p:spPr>
          <a:xfrm flipH="1">
            <a:off x="6637684" y="5135084"/>
            <a:ext cx="2693089" cy="96796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</a:rPr>
              <a:t>현행 업무 처리 프로세스와  운영환경을 기반으로 실현가능한 개선안을 도출하는 것을 목표로 사업을 추진</a:t>
            </a:r>
          </a:p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기존의 구축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Know-how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를 활용하여 사업의 위험요소를 최소화하고</a:t>
            </a:r>
            <a:r>
              <a:rPr lang="en-US" altLang="ko-KR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현실적인 목표모델 및 구체적인 이행계획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수립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AutoShape 292"/>
          <p:cNvSpPr>
            <a:spLocks noChangeArrowheads="1"/>
          </p:cNvSpPr>
          <p:nvPr/>
        </p:nvSpPr>
        <p:spPr bwMode="auto">
          <a:xfrm>
            <a:off x="473841" y="1694315"/>
            <a:ext cx="692407" cy="2967450"/>
          </a:xfrm>
          <a:prstGeom prst="roundRect">
            <a:avLst>
              <a:gd name="adj" fmla="val 3481"/>
            </a:avLst>
          </a:prstGeom>
          <a:pattFill prst="wdUpDiag">
            <a:fgClr>
              <a:srgbClr val="F8F8F8"/>
            </a:fgClr>
            <a:bgClr>
              <a:srgbClr val="F0F0F0"/>
            </a:bgClr>
          </a:patt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lvl="1" indent="-142875" algn="ctr" defTabSz="762000" eaLnBrk="0" hangingPunct="0">
              <a:lnSpc>
                <a:spcPct val="90000"/>
              </a:lnSpc>
              <a:buClr>
                <a:srgbClr val="000000"/>
              </a:buClr>
              <a:tabLst>
                <a:tab pos="5648325" algn="l"/>
              </a:tabLst>
            </a:pPr>
            <a:endParaRPr lang="ko-KR" altLang="en-US" sz="1300" dirty="0">
              <a:solidFill>
                <a:srgbClr val="4D4D4D"/>
              </a:solidFill>
              <a:latin typeface="맑은 고딕" pitchFamily="50" charset="-127"/>
              <a:ea typeface="맑은 고딕" pitchFamily="50" charset="-127"/>
              <a:sym typeface="Gill Sans"/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488504" y="2616277"/>
            <a:ext cx="396941" cy="1038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brightRoom" dir="tl"/>
            </a:scene3d>
            <a:sp3d extrusionH="57150" contourW="38100"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smtClean="0">
                <a:latin typeface="맑은 고딕" pitchFamily="50" charset="-127"/>
                <a:ea typeface="맑은 고딕" pitchFamily="50" charset="-127"/>
              </a:rPr>
              <a:t>개</a:t>
            </a:r>
            <a:endParaRPr lang="en-US" altLang="ko-KR" sz="1500" smtClean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smtClean="0">
                <a:latin typeface="맑은 고딕" pitchFamily="50" charset="-127"/>
                <a:ea typeface="맑은 고딕" pitchFamily="50" charset="-127"/>
              </a:rPr>
              <a:t>선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</a:rPr>
              <a:t>방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</a:rPr>
              <a:t>법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 err="1">
                <a:latin typeface="맑은 고딕" pitchFamily="50" charset="-127"/>
                <a:ea typeface="맑은 고딕" pitchFamily="50" charset="-127"/>
              </a:rPr>
              <a:t>론</a:t>
            </a:r>
            <a:endParaRPr lang="en-US" altLang="ko-KR" sz="150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" name="모서리가 둥근 직사각형 152"/>
          <p:cNvSpPr/>
          <p:nvPr/>
        </p:nvSpPr>
        <p:spPr bwMode="auto">
          <a:xfrm>
            <a:off x="907504" y="2398251"/>
            <a:ext cx="258744" cy="1209348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업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무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분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>
                <a:latin typeface="맑은 고딕" pitchFamily="50" charset="-127"/>
                <a:ea typeface="맑은 고딕" pitchFamily="50" charset="-127"/>
              </a:rPr>
              <a:t>석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 bwMode="auto">
          <a:xfrm>
            <a:off x="907504" y="3733069"/>
            <a:ext cx="231978" cy="857257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개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선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계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획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AutoShape 72"/>
          <p:cNvSpPr>
            <a:spLocks noChangeArrowheads="1"/>
          </p:cNvSpPr>
          <p:nvPr/>
        </p:nvSpPr>
        <p:spPr bwMode="auto">
          <a:xfrm>
            <a:off x="1166249" y="1715747"/>
            <a:ext cx="2151297" cy="535546"/>
          </a:xfrm>
          <a:prstGeom prst="chevron">
            <a:avLst>
              <a:gd name="adj" fmla="val 36803"/>
            </a:avLst>
          </a:prstGeom>
          <a:solidFill>
            <a:srgbClr val="C1E3FF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방향성 수립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6" name="AutoShape 72"/>
          <p:cNvSpPr>
            <a:spLocks noChangeArrowheads="1"/>
          </p:cNvSpPr>
          <p:nvPr/>
        </p:nvSpPr>
        <p:spPr bwMode="auto">
          <a:xfrm>
            <a:off x="3279443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508CD2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현황 및 요건 분석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AutoShape 72"/>
          <p:cNvSpPr>
            <a:spLocks noChangeArrowheads="1"/>
          </p:cNvSpPr>
          <p:nvPr/>
        </p:nvSpPr>
        <p:spPr bwMode="auto">
          <a:xfrm>
            <a:off x="5312760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01458C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목표모델 설계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AutoShape 72"/>
          <p:cNvSpPr>
            <a:spLocks noChangeArrowheads="1"/>
          </p:cNvSpPr>
          <p:nvPr/>
        </p:nvSpPr>
        <p:spPr bwMode="auto">
          <a:xfrm>
            <a:off x="7346076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233C5A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>
              <a:defRPr/>
            </a:pPr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이행계획 수립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1321661" y="2401581"/>
            <a:ext cx="1767557" cy="2153899"/>
            <a:chOff x="330455" y="2328166"/>
            <a:chExt cx="1738034" cy="2730346"/>
          </a:xfrm>
        </p:grpSpPr>
        <p:sp>
          <p:nvSpPr>
            <p:cNvPr id="160" name="직사각형 159"/>
            <p:cNvSpPr/>
            <p:nvPr/>
          </p:nvSpPr>
          <p:spPr bwMode="auto">
            <a:xfrm>
              <a:off x="330455" y="2328166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시스템 환경분석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 bwMode="auto">
            <a:xfrm>
              <a:off x="330455" y="2872867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smtClean="0">
                  <a:latin typeface="맑은 고딕" pitchFamily="50" charset="-127"/>
                  <a:ea typeface="맑은 고딕" pitchFamily="50" charset="-127"/>
                </a:rPr>
                <a:t>운영 환경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직사각형 161"/>
            <p:cNvSpPr/>
            <p:nvPr/>
          </p:nvSpPr>
          <p:spPr bwMode="auto">
            <a:xfrm>
              <a:off x="330455" y="3465544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smtClean="0">
                  <a:latin typeface="맑은 고딕" pitchFamily="50" charset="-127"/>
                  <a:ea typeface="맑은 고딕" pitchFamily="50" charset="-127"/>
                </a:rPr>
                <a:t>업무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시스템 기능 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직사각형 162"/>
            <p:cNvSpPr/>
            <p:nvPr/>
          </p:nvSpPr>
          <p:spPr bwMode="auto">
            <a:xfrm>
              <a:off x="330455" y="401024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lvl="0"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kumimoji="1" lang="ko-KR" altLang="en-US" sz="1000" kern="0">
                  <a:latin typeface="맑은 고딕" pitchFamily="50" charset="-127"/>
                </a:rPr>
                <a:t>최신기술동향분석</a:t>
              </a:r>
              <a:endParaRPr kumimoji="1" lang="en-US" altLang="ko-KR" sz="1000" kern="0" dirty="0">
                <a:latin typeface="맑은 고딕" pitchFamily="50" charset="-127"/>
              </a:endParaRPr>
            </a:p>
          </p:txBody>
        </p:sp>
        <p:sp>
          <p:nvSpPr>
            <p:cNvPr id="164" name="직사각형 163"/>
            <p:cNvSpPr/>
            <p:nvPr/>
          </p:nvSpPr>
          <p:spPr bwMode="auto">
            <a:xfrm>
              <a:off x="330455" y="4602922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추진 방향성 수립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65" name="그룹 14"/>
          <p:cNvGrpSpPr/>
          <p:nvPr/>
        </p:nvGrpSpPr>
        <p:grpSpPr>
          <a:xfrm>
            <a:off x="3374498" y="2401581"/>
            <a:ext cx="1767558" cy="2153899"/>
            <a:chOff x="2437280" y="2364125"/>
            <a:chExt cx="1738034" cy="2730346"/>
          </a:xfrm>
        </p:grpSpPr>
        <p:sp>
          <p:nvSpPr>
            <p:cNvPr id="166" name="직사각형 165"/>
            <p:cNvSpPr/>
            <p:nvPr/>
          </p:nvSpPr>
          <p:spPr bwMode="auto">
            <a:xfrm>
              <a:off x="2437280" y="2364125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업무 및 정보화 현황분석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 bwMode="auto">
            <a:xfrm>
              <a:off x="2437280" y="290882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요구사항 수집분석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데이터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직사각형 168"/>
            <p:cNvSpPr/>
            <p:nvPr/>
          </p:nvSpPr>
          <p:spPr bwMode="auto">
            <a:xfrm>
              <a:off x="2437280" y="4046205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인프라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 bwMode="auto">
            <a:xfrm>
              <a:off x="2437280" y="4638881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시사점 및 개선기회종합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1" name="그룹 65"/>
          <p:cNvGrpSpPr/>
          <p:nvPr/>
        </p:nvGrpSpPr>
        <p:grpSpPr>
          <a:xfrm>
            <a:off x="5374762" y="2398253"/>
            <a:ext cx="1767558" cy="2157228"/>
            <a:chOff x="2437280" y="2364126"/>
            <a:chExt cx="1738034" cy="1544992"/>
          </a:xfrm>
        </p:grpSpPr>
        <p:sp>
          <p:nvSpPr>
            <p:cNvPr id="172" name="직사각형 171"/>
            <p:cNvSpPr/>
            <p:nvPr/>
          </p:nvSpPr>
          <p:spPr bwMode="auto">
            <a:xfrm>
              <a:off x="2437280" y="2364126"/>
              <a:ext cx="1738034" cy="337553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목표모델 체계정의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3" name="직사각형 172"/>
            <p:cNvSpPr/>
            <p:nvPr/>
          </p:nvSpPr>
          <p:spPr bwMode="auto">
            <a:xfrm>
              <a:off x="2437280" y="2908826"/>
              <a:ext cx="1738034" cy="3553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개선과제 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업무프로세스 설계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2210922" y="2732939"/>
            <a:ext cx="3" cy="1472020"/>
            <a:chOff x="2238354" y="2857497"/>
            <a:chExt cx="3" cy="1472020"/>
          </a:xfrm>
        </p:grpSpPr>
        <p:cxnSp>
          <p:nvCxnSpPr>
            <p:cNvPr id="177" name="직선 화살표 연결선 176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직선 화살표 연결선 177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직선 화살표 연결선 178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직선 화살표 연결선 179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1" name="그룹 180"/>
          <p:cNvGrpSpPr/>
          <p:nvPr/>
        </p:nvGrpSpPr>
        <p:grpSpPr>
          <a:xfrm>
            <a:off x="4282623" y="2732939"/>
            <a:ext cx="3" cy="1472020"/>
            <a:chOff x="2238354" y="2857497"/>
            <a:chExt cx="3" cy="1472020"/>
          </a:xfrm>
        </p:grpSpPr>
        <p:cxnSp>
          <p:nvCxnSpPr>
            <p:cNvPr id="182" name="직선 화살표 연결선 181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3" name="직선 화살표 연결선 182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직선 화살표 연결선 183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직선 화살표 연결선 184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187" name="직선 화살표 연결선 186"/>
          <p:cNvCxnSpPr>
            <a:stCxn id="172" idx="2"/>
            <a:endCxn id="173" idx="0"/>
          </p:cNvCxnSpPr>
          <p:nvPr/>
        </p:nvCxnSpPr>
        <p:spPr bwMode="auto">
          <a:xfrm>
            <a:off x="6258541" y="2869569"/>
            <a:ext cx="0" cy="28923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8" name="직선 화살표 연결선 187"/>
          <p:cNvCxnSpPr>
            <a:stCxn id="173" idx="2"/>
            <a:endCxn id="174" idx="0"/>
          </p:cNvCxnSpPr>
          <p:nvPr/>
        </p:nvCxnSpPr>
        <p:spPr bwMode="auto">
          <a:xfrm>
            <a:off x="6258541" y="3655023"/>
            <a:ext cx="0" cy="33131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91" name="직사각형 190"/>
          <p:cNvSpPr/>
          <p:nvPr/>
        </p:nvSpPr>
        <p:spPr bwMode="auto">
          <a:xfrm>
            <a:off x="7425769" y="2401627"/>
            <a:ext cx="1847711" cy="46794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6350" algn="ctr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  <a:effectLst/>
        </p:spPr>
        <p:txBody>
          <a:bodyPr rtlCol="0" anchor="ctr" anchorCtr="0"/>
          <a:lstStyle/>
          <a:p>
            <a:pPr algn="ctr" latinLnBrk="0">
              <a:spcBef>
                <a:spcPts val="100"/>
              </a:spcBef>
              <a:spcAft>
                <a:spcPts val="100"/>
              </a:spcAft>
              <a:defRPr/>
            </a:pPr>
            <a:r>
              <a:rPr kumimoji="1" lang="ko-KR" altLang="en-US" sz="1000" kern="0" dirty="0" smtClean="0">
                <a:latin typeface="맑은 고딕" pitchFamily="50" charset="-127"/>
                <a:ea typeface="맑은 고딕" pitchFamily="50" charset="-127"/>
              </a:rPr>
              <a:t>이행과제 및 단계별 </a:t>
            </a:r>
            <a:r>
              <a:rPr kumimoji="1" lang="en-US" altLang="ko-KR" sz="1000" kern="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1" lang="en-US" altLang="ko-KR" sz="1000" kern="0" dirty="0" smtClean="0">
                <a:latin typeface="맑은 고딕" pitchFamily="50" charset="-127"/>
                <a:ea typeface="맑은 고딕" pitchFamily="50" charset="-127"/>
              </a:rPr>
            </a:br>
            <a:r>
              <a:rPr kumimoji="1" lang="ko-KR" altLang="en-US" sz="1000" kern="0" dirty="0" smtClean="0">
                <a:latin typeface="맑은 고딕" pitchFamily="50" charset="-127"/>
                <a:ea typeface="맑은 고딕" pitchFamily="50" charset="-127"/>
              </a:rPr>
              <a:t>로드맵 정의</a:t>
            </a:r>
            <a:endParaRPr kumimoji="1" lang="en-US" altLang="ko-KR" sz="1000" kern="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직사각형 191"/>
          <p:cNvSpPr/>
          <p:nvPr/>
        </p:nvSpPr>
        <p:spPr bwMode="auto">
          <a:xfrm>
            <a:off x="7425769" y="3166846"/>
            <a:ext cx="1847711" cy="48817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6350" algn="ctr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  <a:effectLst/>
        </p:spPr>
        <p:txBody>
          <a:bodyPr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목표 시스템 구성도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6" name="직선 화살표 연결선 195"/>
          <p:cNvCxnSpPr>
            <a:stCxn id="191" idx="2"/>
            <a:endCxn id="192" idx="0"/>
          </p:cNvCxnSpPr>
          <p:nvPr/>
        </p:nvCxnSpPr>
        <p:spPr bwMode="auto">
          <a:xfrm>
            <a:off x="8349625" y="2869569"/>
            <a:ext cx="0" cy="29727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9163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사업추진 일정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5. </a:t>
            </a:r>
            <a:r>
              <a:rPr lang="ko-KR" altLang="en-US" dirty="0" smtClean="0"/>
              <a:t>사업추진 일정</a:t>
            </a:r>
            <a:endParaRPr lang="en-US" altLang="ko-KR" dirty="0" smtClean="0"/>
          </a:p>
        </p:txBody>
      </p:sp>
      <p:sp>
        <p:nvSpPr>
          <p:cNvPr id="29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본 사업은 사업착수 </a:t>
            </a:r>
            <a:r>
              <a:rPr lang="ko-KR" altLang="en-US" sz="1600" smtClean="0"/>
              <a:t>이후 </a:t>
            </a:r>
            <a:r>
              <a:rPr lang="en-US" altLang="ko-KR" sz="1600" smtClean="0"/>
              <a:t>2.5</a:t>
            </a:r>
            <a:r>
              <a:rPr lang="ko-KR" altLang="en-US" sz="1600" smtClean="0"/>
              <a:t>개월 </a:t>
            </a:r>
            <a:r>
              <a:rPr lang="ko-KR" altLang="en-US" sz="1600" dirty="0" smtClean="0"/>
              <a:t>일정이며 방향성수립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현황 및 정보시스템 요건분석</a:t>
            </a:r>
            <a:r>
              <a:rPr lang="en-US" altLang="ko-KR" sz="1600" smtClean="0"/>
              <a:t>, </a:t>
            </a:r>
            <a:r>
              <a:rPr lang="ko-KR" altLang="en-US" sz="1600" smtClean="0"/>
              <a:t>업무 개선안 설계 </a:t>
            </a:r>
            <a:r>
              <a:rPr lang="ko-KR" altLang="en-US" sz="1600" dirty="0" smtClean="0"/>
              <a:t>및 마스터플랜 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이행계획 수립의 일정으로 진행됨</a:t>
            </a:r>
            <a:endParaRPr lang="ko-KR" altLang="en-US" sz="1600" dirty="0"/>
          </a:p>
        </p:txBody>
      </p:sp>
      <p:graphicFrame>
        <p:nvGraphicFramePr>
          <p:cNvPr id="293" name="표 2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57357"/>
              </p:ext>
            </p:extLst>
          </p:nvPr>
        </p:nvGraphicFramePr>
        <p:xfrm>
          <a:off x="354519" y="1628800"/>
          <a:ext cx="9134986" cy="46085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35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0150"/>
                <a:gridCol w="6799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99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996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99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99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7996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2223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9806"/>
                <a:gridCol w="639807"/>
                <a:gridCol w="639807"/>
                <a:gridCol w="639806"/>
              </a:tblGrid>
              <a:tr h="32674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300" b="1" kern="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       </a:t>
                      </a:r>
                    </a:p>
                  </a:txBody>
                  <a:tcPr marL="84406" marR="84406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주          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  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39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사업관리 및 지원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3610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현황 파악</a:t>
                      </a:r>
                      <a:endParaRPr kumimoji="1" lang="en-US" altLang="ko-KR" sz="1300" b="0" kern="1200" spc="-60" baseline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및</a:t>
                      </a:r>
                      <a:endParaRPr kumimoji="1" lang="en-US" altLang="ko-KR" sz="1300" b="0" kern="1200" spc="-60" baseline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방향성 </a:t>
                      </a: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수립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008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현황</a:t>
                      </a: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요건 분석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+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목표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모델 설계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개선안 설계</a:t>
                      </a:r>
                      <a:endParaRPr kumimoji="1" lang="en-US" altLang="ko-KR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marL="3600" marR="36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정보화 </a:t>
                      </a:r>
                      <a: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마스터 플랜 수립</a:t>
                      </a:r>
                      <a:endParaRPr kumimoji="1" lang="en-US" altLang="ko-KR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9798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이행계획 수립</a:t>
                      </a:r>
                      <a:endParaRPr kumimoji="1" lang="ko-KR" altLang="en-US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Line 662"/>
          <p:cNvSpPr>
            <a:spLocks noChangeShapeType="1"/>
          </p:cNvSpPr>
          <p:nvPr/>
        </p:nvSpPr>
        <p:spPr bwMode="gray">
          <a:xfrm>
            <a:off x="2332493" y="2369771"/>
            <a:ext cx="6913798" cy="26917"/>
          </a:xfrm>
          <a:prstGeom prst="line">
            <a:avLst/>
          </a:prstGeom>
          <a:noFill/>
          <a:ln w="25400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2222616" y="2333928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296" name="Text Box 59"/>
          <p:cNvSpPr txBox="1">
            <a:spLocks noChangeArrowheads="1"/>
          </p:cNvSpPr>
          <p:nvPr/>
        </p:nvSpPr>
        <p:spPr bwMode="auto">
          <a:xfrm>
            <a:off x="2366632" y="2187516"/>
            <a:ext cx="564183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착수</a:t>
            </a:r>
            <a:endParaRPr lang="ko-KR" altLang="en-US" sz="10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8" name="Text Box 59"/>
          <p:cNvSpPr txBox="1">
            <a:spLocks noChangeArrowheads="1"/>
          </p:cNvSpPr>
          <p:nvPr/>
        </p:nvSpPr>
        <p:spPr bwMode="auto">
          <a:xfrm>
            <a:off x="8737571" y="2216200"/>
            <a:ext cx="658656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최종보고</a:t>
            </a:r>
          </a:p>
        </p:txBody>
      </p:sp>
      <p:sp>
        <p:nvSpPr>
          <p:cNvPr id="299" name="Text Box 59"/>
          <p:cNvSpPr txBox="1">
            <a:spLocks noChangeArrowheads="1"/>
          </p:cNvSpPr>
          <p:nvPr/>
        </p:nvSpPr>
        <p:spPr bwMode="auto">
          <a:xfrm>
            <a:off x="2374259" y="1992383"/>
            <a:ext cx="1167709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000" spc="-7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환경 </a:t>
            </a:r>
            <a:r>
              <a:rPr lang="ko-KR" altLang="en-US" sz="10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구축 및 </a:t>
            </a:r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계약</a:t>
            </a:r>
          </a:p>
        </p:txBody>
      </p:sp>
      <p:pic>
        <p:nvPicPr>
          <p:cNvPr id="300" name="Picture 117" descr="C:\Users\JJO\Desktop\꾀꼬리\coquette-part-3-icons-set\png\128x128\note_accep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1944233"/>
            <a:ext cx="293952" cy="27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1" name="그룹 86"/>
          <p:cNvGrpSpPr/>
          <p:nvPr/>
        </p:nvGrpSpPr>
        <p:grpSpPr>
          <a:xfrm>
            <a:off x="8959451" y="2564907"/>
            <a:ext cx="421324" cy="192368"/>
            <a:chOff x="8172400" y="2060848"/>
            <a:chExt cx="426262" cy="192368"/>
          </a:xfrm>
        </p:grpSpPr>
        <p:sp>
          <p:nvSpPr>
            <p:cNvPr id="302" name="Text Box 1079"/>
            <p:cNvSpPr txBox="1">
              <a:spLocks noChangeArrowheads="1"/>
            </p:cNvSpPr>
            <p:nvPr/>
          </p:nvSpPr>
          <p:spPr bwMode="auto">
            <a:xfrm>
              <a:off x="8172400" y="2060848"/>
              <a:ext cx="285444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marL="0" marR="0" lvl="0" indent="-90488" defTabSz="593725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ct val="80000"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-7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sym typeface="Monotype Sorts"/>
                </a:rPr>
                <a:t>종료</a:t>
              </a:r>
              <a:endParaRPr kumimoji="1" lang="ko-KR" altLang="en-US" sz="1050" b="0" i="0" u="none" strike="noStrike" kern="0" cap="none" spc="-7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  <p:sp>
          <p:nvSpPr>
            <p:cNvPr id="303" name="이등변 삼각형 302"/>
            <p:cNvSpPr/>
            <p:nvPr/>
          </p:nvSpPr>
          <p:spPr bwMode="auto">
            <a:xfrm rot="10800000" flipV="1">
              <a:off x="8459787" y="2096863"/>
              <a:ext cx="138875" cy="108000"/>
            </a:xfrm>
            <a:prstGeom prst="triangle">
              <a:avLst/>
            </a:prstGeom>
            <a:solidFill>
              <a:srgbClr val="C00000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304" name="그룹 151"/>
          <p:cNvGrpSpPr/>
          <p:nvPr/>
        </p:nvGrpSpPr>
        <p:grpSpPr>
          <a:xfrm>
            <a:off x="2288704" y="3627032"/>
            <a:ext cx="2707426" cy="90000"/>
            <a:chOff x="708283" y="1871012"/>
            <a:chExt cx="2456414" cy="90000"/>
          </a:xfrm>
        </p:grpSpPr>
        <p:sp>
          <p:nvSpPr>
            <p:cNvPr id="305" name="Line 662"/>
            <p:cNvSpPr>
              <a:spLocks noChangeShapeType="1"/>
            </p:cNvSpPr>
            <p:nvPr/>
          </p:nvSpPr>
          <p:spPr bwMode="gray">
            <a:xfrm>
              <a:off x="798281" y="1916012"/>
              <a:ext cx="2276414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6" name="타원 305"/>
            <p:cNvSpPr/>
            <p:nvPr/>
          </p:nvSpPr>
          <p:spPr>
            <a:xfrm>
              <a:off x="708283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07" name="타원 306"/>
            <p:cNvSpPr/>
            <p:nvPr/>
          </p:nvSpPr>
          <p:spPr>
            <a:xfrm>
              <a:off x="3074697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08" name="Text Box 59"/>
          <p:cNvSpPr txBox="1">
            <a:spLocks noChangeArrowheads="1"/>
          </p:cNvSpPr>
          <p:nvPr/>
        </p:nvSpPr>
        <p:spPr bwMode="auto">
          <a:xfrm>
            <a:off x="2463653" y="3431153"/>
            <a:ext cx="2345331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err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정보화전략</a:t>
            </a: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 검토 및 방향성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3" name="Text Box 59"/>
          <p:cNvSpPr txBox="1">
            <a:spLocks noChangeArrowheads="1"/>
          </p:cNvSpPr>
          <p:nvPr/>
        </p:nvSpPr>
        <p:spPr bwMode="auto">
          <a:xfrm>
            <a:off x="3392875" y="4061274"/>
            <a:ext cx="1584720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현행업무프로세스 분석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4" name="Text Box 59"/>
          <p:cNvSpPr txBox="1">
            <a:spLocks noChangeArrowheads="1"/>
          </p:cNvSpPr>
          <p:nvPr/>
        </p:nvSpPr>
        <p:spPr bwMode="auto">
          <a:xfrm>
            <a:off x="5097016" y="3933056"/>
            <a:ext cx="1340963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업무개선과제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정의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기본설계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5" name="Line 662"/>
          <p:cNvSpPr>
            <a:spLocks noChangeShapeType="1"/>
          </p:cNvSpPr>
          <p:nvPr/>
        </p:nvSpPr>
        <p:spPr bwMode="gray">
          <a:xfrm flipV="1">
            <a:off x="3549611" y="5086861"/>
            <a:ext cx="3968487" cy="3845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6" name="타원 315"/>
          <p:cNvSpPr/>
          <p:nvPr/>
        </p:nvSpPr>
        <p:spPr>
          <a:xfrm>
            <a:off x="3480772" y="5045706"/>
            <a:ext cx="99196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17" name="Text Box 59"/>
          <p:cNvSpPr txBox="1">
            <a:spLocks noChangeArrowheads="1"/>
          </p:cNvSpPr>
          <p:nvPr/>
        </p:nvSpPr>
        <p:spPr bwMode="auto">
          <a:xfrm>
            <a:off x="3447707" y="4653136"/>
            <a:ext cx="2142641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현황분석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요건 정의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8" name="타원 317"/>
          <p:cNvSpPr/>
          <p:nvPr/>
        </p:nvSpPr>
        <p:spPr>
          <a:xfrm>
            <a:off x="7518099" y="50388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19" name="Text Box 59"/>
          <p:cNvSpPr txBox="1">
            <a:spLocks noChangeArrowheads="1"/>
          </p:cNvSpPr>
          <p:nvPr/>
        </p:nvSpPr>
        <p:spPr bwMode="auto">
          <a:xfrm>
            <a:off x="5976414" y="4719732"/>
            <a:ext cx="1440160" cy="32316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구조 및 </a:t>
            </a:r>
            <a:r>
              <a:rPr lang="ko-KR" altLang="en-US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상세기능 개선 방안</a:t>
            </a:r>
            <a:endParaRPr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0" name="타원 319"/>
          <p:cNvSpPr/>
          <p:nvPr/>
        </p:nvSpPr>
        <p:spPr>
          <a:xfrm>
            <a:off x="5728579" y="50457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1" name="Line 662"/>
          <p:cNvSpPr>
            <a:spLocks noChangeShapeType="1"/>
          </p:cNvSpPr>
          <p:nvPr/>
        </p:nvSpPr>
        <p:spPr bwMode="gray">
          <a:xfrm>
            <a:off x="2603925" y="4323482"/>
            <a:ext cx="4015939" cy="1724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타원 321">
            <a:hlinkClick r:id="rId3" action="ppaction://hlinkpres?slideindex=1&amp;slidetitle="/>
          </p:cNvPr>
          <p:cNvSpPr/>
          <p:nvPr/>
        </p:nvSpPr>
        <p:spPr>
          <a:xfrm>
            <a:off x="4880992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3" name="타원 322"/>
          <p:cNvSpPr/>
          <p:nvPr/>
        </p:nvSpPr>
        <p:spPr>
          <a:xfrm>
            <a:off x="2504728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4" name="타원 323"/>
          <p:cNvSpPr/>
          <p:nvPr/>
        </p:nvSpPr>
        <p:spPr>
          <a:xfrm>
            <a:off x="6547856" y="4280207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5" name="Text Box 59"/>
          <p:cNvSpPr txBox="1">
            <a:spLocks noChangeArrowheads="1"/>
          </p:cNvSpPr>
          <p:nvPr/>
        </p:nvSpPr>
        <p:spPr bwMode="auto">
          <a:xfrm>
            <a:off x="7761312" y="5852011"/>
            <a:ext cx="1713988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구현방안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6" name="그룹 146"/>
          <p:cNvGrpSpPr/>
          <p:nvPr/>
        </p:nvGrpSpPr>
        <p:grpSpPr>
          <a:xfrm>
            <a:off x="8147230" y="6074996"/>
            <a:ext cx="938152" cy="90000"/>
            <a:chOff x="1325911" y="1779349"/>
            <a:chExt cx="851180" cy="90000"/>
          </a:xfrm>
        </p:grpSpPr>
        <p:sp>
          <p:nvSpPr>
            <p:cNvPr id="327" name="Line 662"/>
            <p:cNvSpPr>
              <a:spLocks noChangeShapeType="1"/>
            </p:cNvSpPr>
            <p:nvPr/>
          </p:nvSpPr>
          <p:spPr bwMode="gray">
            <a:xfrm flipV="1">
              <a:off x="1441785" y="1824349"/>
              <a:ext cx="633152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8" name="타원 327"/>
            <p:cNvSpPr/>
            <p:nvPr/>
          </p:nvSpPr>
          <p:spPr>
            <a:xfrm>
              <a:off x="132591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29" name="타원 328"/>
            <p:cNvSpPr/>
            <p:nvPr/>
          </p:nvSpPr>
          <p:spPr>
            <a:xfrm>
              <a:off x="208709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31" name="Text Box 59"/>
          <p:cNvSpPr txBox="1">
            <a:spLocks noChangeArrowheads="1"/>
          </p:cNvSpPr>
          <p:nvPr/>
        </p:nvSpPr>
        <p:spPr bwMode="auto">
          <a:xfrm>
            <a:off x="7185248" y="5343443"/>
            <a:ext cx="1618315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이행계획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32" name="그룹 146"/>
          <p:cNvGrpSpPr/>
          <p:nvPr/>
        </p:nvGrpSpPr>
        <p:grpSpPr>
          <a:xfrm>
            <a:off x="7523655" y="5556684"/>
            <a:ext cx="936606" cy="90000"/>
            <a:chOff x="1334537" y="1779349"/>
            <a:chExt cx="849778" cy="90000"/>
          </a:xfrm>
        </p:grpSpPr>
        <p:sp>
          <p:nvSpPr>
            <p:cNvPr id="333" name="Line 662"/>
            <p:cNvSpPr>
              <a:spLocks noChangeShapeType="1"/>
            </p:cNvSpPr>
            <p:nvPr/>
          </p:nvSpPr>
          <p:spPr bwMode="gray">
            <a:xfrm flipV="1">
              <a:off x="1441788" y="1824349"/>
              <a:ext cx="648003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4" name="타원 333"/>
            <p:cNvSpPr/>
            <p:nvPr/>
          </p:nvSpPr>
          <p:spPr>
            <a:xfrm>
              <a:off x="1334537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35" name="타원 334"/>
            <p:cNvSpPr/>
            <p:nvPr/>
          </p:nvSpPr>
          <p:spPr>
            <a:xfrm>
              <a:off x="2094315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36" name="Text Box 59"/>
          <p:cNvSpPr txBox="1">
            <a:spLocks noChangeArrowheads="1"/>
          </p:cNvSpPr>
          <p:nvPr/>
        </p:nvSpPr>
        <p:spPr bwMode="auto">
          <a:xfrm>
            <a:off x="7303092" y="5479840"/>
            <a:ext cx="128781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7" name="타원 336"/>
          <p:cNvSpPr/>
          <p:nvPr/>
        </p:nvSpPr>
        <p:spPr>
          <a:xfrm>
            <a:off x="9273480" y="2348880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grpSp>
        <p:nvGrpSpPr>
          <p:cNvPr id="338" name="그룹 126"/>
          <p:cNvGrpSpPr/>
          <p:nvPr/>
        </p:nvGrpSpPr>
        <p:grpSpPr>
          <a:xfrm>
            <a:off x="4953000" y="1967159"/>
            <a:ext cx="271183" cy="237705"/>
            <a:chOff x="3606443" y="1556792"/>
            <a:chExt cx="271183" cy="237705"/>
          </a:xfrm>
        </p:grpSpPr>
        <p:pic>
          <p:nvPicPr>
            <p:cNvPr id="339" name="Picture 4" descr="C:\Users\우성호\Desktop\223]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707904" y="1556792"/>
              <a:ext cx="169722" cy="237705"/>
            </a:xfrm>
            <a:prstGeom prst="rect">
              <a:avLst/>
            </a:prstGeom>
            <a:noFill/>
          </p:spPr>
        </p:pic>
        <p:pic>
          <p:nvPicPr>
            <p:cNvPr id="340" name="Picture 40" descr="Script Editor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606443" y="1627490"/>
              <a:ext cx="159749" cy="14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41" name="그룹 129"/>
          <p:cNvGrpSpPr/>
          <p:nvPr/>
        </p:nvGrpSpPr>
        <p:grpSpPr>
          <a:xfrm>
            <a:off x="8774935" y="1967159"/>
            <a:ext cx="271183" cy="237705"/>
            <a:chOff x="3606443" y="1556792"/>
            <a:chExt cx="271183" cy="237705"/>
          </a:xfrm>
        </p:grpSpPr>
        <p:pic>
          <p:nvPicPr>
            <p:cNvPr id="342" name="Picture 4" descr="C:\Users\우성호\Desktop\223]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707904" y="1556792"/>
              <a:ext cx="169722" cy="237705"/>
            </a:xfrm>
            <a:prstGeom prst="rect">
              <a:avLst/>
            </a:prstGeom>
            <a:noFill/>
          </p:spPr>
        </p:pic>
        <p:pic>
          <p:nvPicPr>
            <p:cNvPr id="343" name="Picture 40" descr="Script Editor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606443" y="1627490"/>
              <a:ext cx="159749" cy="14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4" name="이등변 삼각형 343"/>
          <p:cNvSpPr/>
          <p:nvPr/>
        </p:nvSpPr>
        <p:spPr bwMode="auto">
          <a:xfrm rot="10800000" flipV="1">
            <a:off x="2294625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46" name="이등변 삼각형 345"/>
          <p:cNvSpPr/>
          <p:nvPr/>
        </p:nvSpPr>
        <p:spPr bwMode="auto">
          <a:xfrm rot="10800000" flipV="1">
            <a:off x="8651884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47" name="오각형 346"/>
          <p:cNvSpPr/>
          <p:nvPr/>
        </p:nvSpPr>
        <p:spPr bwMode="auto">
          <a:xfrm>
            <a:off x="2432720" y="4370206"/>
            <a:ext cx="114589" cy="144019"/>
          </a:xfrm>
          <a:prstGeom prst="homePlate">
            <a:avLst/>
          </a:prstGeom>
          <a:solidFill>
            <a:srgbClr val="F79646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9" name="Text Box 1079"/>
          <p:cNvSpPr txBox="1">
            <a:spLocks noChangeArrowheads="1"/>
          </p:cNvSpPr>
          <p:nvPr/>
        </p:nvSpPr>
        <p:spPr bwMode="auto">
          <a:xfrm>
            <a:off x="2550772" y="4354654"/>
            <a:ext cx="57260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현업 미팅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51" name="Text Box 1079"/>
          <p:cNvSpPr txBox="1">
            <a:spLocks noChangeArrowheads="1"/>
          </p:cNvSpPr>
          <p:nvPr/>
        </p:nvSpPr>
        <p:spPr bwMode="auto">
          <a:xfrm>
            <a:off x="2306417" y="2732576"/>
            <a:ext cx="20423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9/2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52" name="Text Box 1079"/>
          <p:cNvSpPr txBox="1">
            <a:spLocks noChangeArrowheads="1"/>
          </p:cNvSpPr>
          <p:nvPr/>
        </p:nvSpPr>
        <p:spPr bwMode="auto">
          <a:xfrm>
            <a:off x="8947944" y="2731099"/>
            <a:ext cx="333754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11/15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grpSp>
        <p:nvGrpSpPr>
          <p:cNvPr id="60" name="그룹 151"/>
          <p:cNvGrpSpPr/>
          <p:nvPr/>
        </p:nvGrpSpPr>
        <p:grpSpPr>
          <a:xfrm>
            <a:off x="2288704" y="3186358"/>
            <a:ext cx="5328592" cy="98626"/>
            <a:chOff x="708283" y="1862386"/>
            <a:chExt cx="4834567" cy="98626"/>
          </a:xfrm>
        </p:grpSpPr>
        <p:sp>
          <p:nvSpPr>
            <p:cNvPr id="61" name="Line 662"/>
            <p:cNvSpPr>
              <a:spLocks noChangeShapeType="1"/>
            </p:cNvSpPr>
            <p:nvPr/>
          </p:nvSpPr>
          <p:spPr bwMode="gray">
            <a:xfrm flipV="1">
              <a:off x="798281" y="1906920"/>
              <a:ext cx="4654567" cy="9092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708283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5452850" y="1862386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64" name="Text Box 59"/>
          <p:cNvSpPr txBox="1">
            <a:spLocks noChangeArrowheads="1"/>
          </p:cNvSpPr>
          <p:nvPr/>
        </p:nvSpPr>
        <p:spPr bwMode="auto">
          <a:xfrm>
            <a:off x="2432720" y="3050968"/>
            <a:ext cx="487037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, TABLE COLUMN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정리</a:t>
            </a:r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프로그램 분석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5" name="Picture 217" descr="이동_ico_Bmp1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769" y="6217592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269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사용자 지정 1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9525">
          <a:solidFill>
            <a:schemeClr val="bg1">
              <a:lumMod val="65000"/>
            </a:schemeClr>
          </a:solidFill>
        </a:ln>
        <a:extLst/>
      </a:spPr>
      <a:bodyPr lIns="72000" tIns="36000" rIns="72000" bIns="36000" rtlCol="0" anchor="ctr"/>
      <a:lstStyle>
        <a:defPPr algn="ctr" latinLnBrk="0">
          <a:defRPr sz="1200" smtClean="0">
            <a:ln>
              <a:solidFill>
                <a:prstClr val="white">
                  <a:alpha val="0"/>
                </a:prstClr>
              </a:solidFill>
            </a:ln>
            <a:solidFill>
              <a:srgbClr val="FF0000"/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0F89B1-6918-4E93-BEE7-D22E1D86D6BD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E596667-FA45-4F74-9119-1A6024EAD1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A00E14-E36D-45A2-BDFD-A782D62A3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80440</TotalTime>
  <Words>705</Words>
  <Application>Microsoft Office PowerPoint</Application>
  <PresentationFormat>A4 용지(210x297mm)</PresentationFormat>
  <Paragraphs>177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Gill Sans</vt:lpstr>
      <vt:lpstr>Monotype Sorts</vt:lpstr>
      <vt:lpstr>굴림</vt:lpstr>
      <vt:lpstr>맑은 고딕</vt:lpstr>
      <vt:lpstr>산돌고딕 M</vt:lpstr>
      <vt:lpstr>Arial</vt:lpstr>
      <vt:lpstr>Times New Roman</vt:lpstr>
      <vt:lpstr>Wingdings</vt:lpstr>
      <vt:lpstr>blank</vt:lpstr>
      <vt:lpstr>PowerPoint 프레젠테이션</vt:lpstr>
      <vt:lpstr>PowerPoint 프레젠테이션</vt:lpstr>
      <vt:lpstr>1. 사업의 소개</vt:lpstr>
      <vt:lpstr>2. 사업추진 배경</vt:lpstr>
      <vt:lpstr>3. 사업추진 범위</vt:lpstr>
      <vt:lpstr>4. 사업추진 절차</vt:lpstr>
      <vt:lpstr>5. 사업추진 일정</vt:lpstr>
    </vt:vector>
  </TitlesOfParts>
  <Company>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R2SOFT</cp:lastModifiedBy>
  <cp:revision>1173</cp:revision>
  <cp:lastPrinted>2018-07-18T01:34:22Z</cp:lastPrinted>
  <dcterms:created xsi:type="dcterms:W3CDTF">2013-11-13T01:08:07Z</dcterms:created>
  <dcterms:modified xsi:type="dcterms:W3CDTF">2024-11-05T02:23:31Z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D5CDD505-2E9C-101B-9397-08002B2CF9AE}" pid="3" name="DeliveryID">
    <vt:lpwstr>244b6fc4-4b4e-4117-b7bb-efd330097824</vt:lpwstr>
  </property>
  <property fmtid="{D5CDD505-2E9C-101B-9397-08002B2CF9AE}" pid="4" name="NSCPROP_SA">
    <vt:lpwstr>D:\블록체인\템플릿예시_PowerPoint.pptx</vt:lpwstr>
  </property>
  <property fmtid="{5C58129F-E5B8-477A-9B38-B3E54BFA04C8}" pid="2">
    <vt:lpwstr>EA5DF722F2DDC2B5142607E7171F90C7D4A6F050E5311B308FB269B1E25EFBC7</vt:lpwstr>
  </property>
</Properties>
</file>